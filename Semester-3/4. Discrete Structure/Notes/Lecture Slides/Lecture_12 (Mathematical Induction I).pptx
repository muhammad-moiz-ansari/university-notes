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jpg" ContentType="image/jp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2932" y="900176"/>
            <a:ext cx="679767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1999" y="842771"/>
            <a:ext cx="8763000" cy="830580"/>
          </a:xfrm>
          <a:custGeom>
            <a:avLst/>
            <a:gdLst/>
            <a:ahLst/>
            <a:cxnLst/>
            <a:rect l="l" t="t" r="r" b="b"/>
            <a:pathLst>
              <a:path w="8763000" h="830580">
                <a:moveTo>
                  <a:pt x="8762999" y="830579"/>
                </a:moveTo>
                <a:lnTo>
                  <a:pt x="8762999" y="0"/>
                </a:lnTo>
                <a:lnTo>
                  <a:pt x="0" y="0"/>
                </a:lnTo>
                <a:lnTo>
                  <a:pt x="0" y="830579"/>
                </a:lnTo>
                <a:lnTo>
                  <a:pt x="8762999" y="830579"/>
                </a:lnTo>
                <a:close/>
              </a:path>
            </a:pathLst>
          </a:custGeom>
          <a:solidFill>
            <a:srgbClr val="1565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70915" y="495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599" y="304799"/>
                </a:moveTo>
                <a:lnTo>
                  <a:pt x="304799" y="0"/>
                </a:lnTo>
                <a:lnTo>
                  <a:pt x="0" y="304799"/>
                </a:lnTo>
                <a:lnTo>
                  <a:pt x="304799" y="609599"/>
                </a:lnTo>
                <a:lnTo>
                  <a:pt x="609599" y="304799"/>
                </a:lnTo>
                <a:close/>
              </a:path>
            </a:pathLst>
          </a:custGeom>
          <a:solidFill>
            <a:srgbClr val="CBDB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585215" y="609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0999" y="190499"/>
                </a:moveTo>
                <a:lnTo>
                  <a:pt x="190499" y="0"/>
                </a:lnTo>
                <a:lnTo>
                  <a:pt x="0" y="190499"/>
                </a:lnTo>
                <a:lnTo>
                  <a:pt x="190499" y="380999"/>
                </a:lnTo>
                <a:lnTo>
                  <a:pt x="380999" y="190499"/>
                </a:lnTo>
                <a:close/>
              </a:path>
            </a:pathLst>
          </a:custGeom>
          <a:solidFill>
            <a:srgbClr val="1565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2932" y="900176"/>
            <a:ext cx="7946643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4664" y="1944117"/>
            <a:ext cx="7772400" cy="3098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008371" y="6924648"/>
            <a:ext cx="342900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png"/><Relationship Id="rId5" Type="http://schemas.openxmlformats.org/officeDocument/2006/relationships/image" Target="../media/image18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Relationship Id="rId7" Type="http://schemas.openxmlformats.org/officeDocument/2006/relationships/image" Target="../media/image24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png"/><Relationship Id="rId5" Type="http://schemas.openxmlformats.org/officeDocument/2006/relationships/image" Target="../media/image31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jpg"/><Relationship Id="rId4" Type="http://schemas.openxmlformats.org/officeDocument/2006/relationships/image" Target="../media/image37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3" Type="http://schemas.openxmlformats.org/officeDocument/2006/relationships/image" Target="../media/image39.jpg"/><Relationship Id="rId4" Type="http://schemas.openxmlformats.org/officeDocument/2006/relationships/image" Target="../media/image40.jpg"/><Relationship Id="rId5" Type="http://schemas.openxmlformats.org/officeDocument/2006/relationships/image" Target="../media/image41.png"/><Relationship Id="rId6" Type="http://schemas.openxmlformats.org/officeDocument/2006/relationships/image" Target="../media/image42.jpg"/><Relationship Id="rId7" Type="http://schemas.openxmlformats.org/officeDocument/2006/relationships/image" Target="../media/image43.jpg"/><Relationship Id="rId8" Type="http://schemas.openxmlformats.org/officeDocument/2006/relationships/image" Target="../media/image44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jpg"/><Relationship Id="rId3" Type="http://schemas.openxmlformats.org/officeDocument/2006/relationships/image" Target="../media/image46.jpg"/><Relationship Id="rId4" Type="http://schemas.openxmlformats.org/officeDocument/2006/relationships/image" Target="../media/image47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jpg"/><Relationship Id="rId3" Type="http://schemas.openxmlformats.org/officeDocument/2006/relationships/image" Target="../media/image49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0.jpg"/><Relationship Id="rId3" Type="http://schemas.openxmlformats.org/officeDocument/2006/relationships/image" Target="../media/image51.jpg"/><Relationship Id="rId4" Type="http://schemas.openxmlformats.org/officeDocument/2006/relationships/image" Target="../media/image52.jpg"/><Relationship Id="rId5" Type="http://schemas.openxmlformats.org/officeDocument/2006/relationships/image" Target="../media/image53.jpg"/><Relationship Id="rId6" Type="http://schemas.openxmlformats.org/officeDocument/2006/relationships/image" Target="../media/image54.jpg"/><Relationship Id="rId7" Type="http://schemas.openxmlformats.org/officeDocument/2006/relationships/image" Target="../media/image55.jpg"/><Relationship Id="rId8" Type="http://schemas.openxmlformats.org/officeDocument/2006/relationships/image" Target="../media/image56.jpg"/><Relationship Id="rId9" Type="http://schemas.openxmlformats.org/officeDocument/2006/relationships/image" Target="../media/image57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8.jpg"/><Relationship Id="rId3" Type="http://schemas.openxmlformats.org/officeDocument/2006/relationships/image" Target="../media/image59.jpg"/><Relationship Id="rId4" Type="http://schemas.openxmlformats.org/officeDocument/2006/relationships/image" Target="../media/image60.jpg"/><Relationship Id="rId5" Type="http://schemas.openxmlformats.org/officeDocument/2006/relationships/image" Target="../media/image61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jpg"/><Relationship Id="rId3" Type="http://schemas.openxmlformats.org/officeDocument/2006/relationships/image" Target="../media/image64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jpg"/><Relationship Id="rId3" Type="http://schemas.openxmlformats.org/officeDocument/2006/relationships/image" Target="../media/image66.png"/><Relationship Id="rId4" Type="http://schemas.openxmlformats.org/officeDocument/2006/relationships/image" Target="../media/image67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image" Target="../media/image69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3" Type="http://schemas.openxmlformats.org/officeDocument/2006/relationships/image" Target="../media/image71.jpg"/><Relationship Id="rId4" Type="http://schemas.openxmlformats.org/officeDocument/2006/relationships/image" Target="../media/image72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jpg"/><Relationship Id="rId3" Type="http://schemas.openxmlformats.org/officeDocument/2006/relationships/image" Target="../media/image76.jpg"/><Relationship Id="rId4" Type="http://schemas.openxmlformats.org/officeDocument/2006/relationships/image" Target="../media/image77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jpg"/><Relationship Id="rId3" Type="http://schemas.openxmlformats.org/officeDocument/2006/relationships/image" Target="../media/image79.jpg"/><Relationship Id="rId4" Type="http://schemas.openxmlformats.org/officeDocument/2006/relationships/image" Target="../media/image80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jpg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jpg"/><Relationship Id="rId3" Type="http://schemas.openxmlformats.org/officeDocument/2006/relationships/image" Target="../media/image85.jpg"/><Relationship Id="rId4" Type="http://schemas.openxmlformats.org/officeDocument/2006/relationships/image" Target="../media/image86.jpg"/><Relationship Id="rId5" Type="http://schemas.openxmlformats.org/officeDocument/2006/relationships/image" Target="../media/image87.jpg"/><Relationship Id="rId6" Type="http://schemas.openxmlformats.org/officeDocument/2006/relationships/image" Target="../media/image88.jpg"/><Relationship Id="rId7" Type="http://schemas.openxmlformats.org/officeDocument/2006/relationships/image" Target="../media/image89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jpg"/><Relationship Id="rId7" Type="http://schemas.openxmlformats.org/officeDocument/2006/relationships/image" Target="../media/image95.jpg"/><Relationship Id="rId8" Type="http://schemas.openxmlformats.org/officeDocument/2006/relationships/image" Target="../media/image96.jpg"/><Relationship Id="rId9" Type="http://schemas.openxmlformats.org/officeDocument/2006/relationships/image" Target="../media/image97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8.jp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9.jpg"/><Relationship Id="rId3" Type="http://schemas.openxmlformats.org/officeDocument/2006/relationships/image" Target="../media/image100.jpg"/><Relationship Id="rId4" Type="http://schemas.openxmlformats.org/officeDocument/2006/relationships/image" Target="../media/image101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2.jpg"/><Relationship Id="rId3" Type="http://schemas.openxmlformats.org/officeDocument/2006/relationships/image" Target="../media/image103.png"/><Relationship Id="rId4" Type="http://schemas.openxmlformats.org/officeDocument/2006/relationships/image" Target="../media/image104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jpg"/><Relationship Id="rId3" Type="http://schemas.openxmlformats.org/officeDocument/2006/relationships/image" Target="../media/image106.jpg"/><Relationship Id="rId4" Type="http://schemas.openxmlformats.org/officeDocument/2006/relationships/image" Target="../media/image107.jpg"/><Relationship Id="rId5" Type="http://schemas.openxmlformats.org/officeDocument/2006/relationships/image" Target="../media/image108.jpg"/><Relationship Id="rId6" Type="http://schemas.openxmlformats.org/officeDocument/2006/relationships/image" Target="../media/image109.jp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0.jpg"/><Relationship Id="rId3" Type="http://schemas.openxmlformats.org/officeDocument/2006/relationships/image" Target="../media/image111.jpg"/><Relationship Id="rId4" Type="http://schemas.openxmlformats.org/officeDocument/2006/relationships/image" Target="../media/image112.jpg"/><Relationship Id="rId5" Type="http://schemas.openxmlformats.org/officeDocument/2006/relationships/image" Target="../media/image113.jp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4.jpg"/><Relationship Id="rId3" Type="http://schemas.openxmlformats.org/officeDocument/2006/relationships/image" Target="../media/image115.jpg"/><Relationship Id="rId4" Type="http://schemas.openxmlformats.org/officeDocument/2006/relationships/image" Target="../media/image116.jpg"/><Relationship Id="rId5" Type="http://schemas.openxmlformats.org/officeDocument/2006/relationships/image" Target="../media/image117.png"/><Relationship Id="rId6" Type="http://schemas.openxmlformats.org/officeDocument/2006/relationships/image" Target="../media/image118.jp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9.jpg"/><Relationship Id="rId3" Type="http://schemas.openxmlformats.org/officeDocument/2006/relationships/image" Target="../media/image120.jpg"/><Relationship Id="rId4" Type="http://schemas.openxmlformats.org/officeDocument/2006/relationships/image" Target="../media/image121.jp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460247"/>
            <a:ext cx="9143999" cy="61859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7349" y="587756"/>
            <a:ext cx="204152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Arial"/>
                <a:cs typeface="Arial"/>
              </a:rPr>
              <a:t>CHAPTER</a:t>
            </a:r>
            <a:r>
              <a:rPr dirty="0" sz="2800" spc="-125" b="1">
                <a:latin typeface="Arial"/>
                <a:cs typeface="Arial"/>
              </a:rPr>
              <a:t> </a:t>
            </a:r>
            <a:r>
              <a:rPr dirty="0" sz="2800" spc="-50" b="1">
                <a:latin typeface="Arial"/>
                <a:cs typeface="Arial"/>
              </a:rPr>
              <a:t>5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317242" y="6823312"/>
            <a:ext cx="4032885" cy="203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65"/>
              </a:lnSpc>
            </a:pPr>
            <a:r>
              <a:rPr dirty="0" sz="1400">
                <a:latin typeface="Arial MT"/>
                <a:cs typeface="Arial MT"/>
              </a:rPr>
              <a:t>Copyright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©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Cengage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Learning.</a:t>
            </a:r>
            <a:r>
              <a:rPr dirty="0" sz="1400" spc="-1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All rights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reserved.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964688" y="1188213"/>
            <a:ext cx="4171950" cy="2463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1905">
              <a:lnSpc>
                <a:spcPct val="100000"/>
              </a:lnSpc>
              <a:spcBef>
                <a:spcPts val="95"/>
              </a:spcBef>
            </a:pPr>
            <a:r>
              <a:rPr dirty="0" sz="4000" spc="-10">
                <a:solidFill>
                  <a:srgbClr val="FFFFFF"/>
                </a:solidFill>
                <a:latin typeface="Arial MT"/>
                <a:cs typeface="Arial MT"/>
              </a:rPr>
              <a:t>SEQUENCES, MATHEMATICAL </a:t>
            </a:r>
            <a:r>
              <a:rPr dirty="0" sz="4000" spc="-25">
                <a:solidFill>
                  <a:srgbClr val="FFFFFF"/>
                </a:solidFill>
                <a:latin typeface="Arial MT"/>
                <a:cs typeface="Arial MT"/>
              </a:rPr>
              <a:t>INDUCTION,</a:t>
            </a:r>
            <a:r>
              <a:rPr dirty="0" sz="4000" spc="-2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000" spc="-25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dirty="0" sz="4000" spc="-10">
                <a:solidFill>
                  <a:srgbClr val="FFFFFF"/>
                </a:solidFill>
                <a:latin typeface="Arial MT"/>
                <a:cs typeface="Arial MT"/>
              </a:rPr>
              <a:t>RECURSION</a:t>
            </a:r>
            <a:endParaRPr sz="4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067306" y="3295906"/>
            <a:ext cx="5534025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15659E"/>
                </a:solidFill>
                <a:latin typeface="Arial MT"/>
                <a:cs typeface="Arial MT"/>
              </a:rPr>
              <a:t>Mathematical</a:t>
            </a:r>
            <a:r>
              <a:rPr dirty="0" sz="4000" spc="-180">
                <a:solidFill>
                  <a:srgbClr val="15659E"/>
                </a:solidFill>
                <a:latin typeface="Arial MT"/>
                <a:cs typeface="Arial MT"/>
              </a:rPr>
              <a:t> </a:t>
            </a:r>
            <a:r>
              <a:rPr dirty="0" sz="4000">
                <a:solidFill>
                  <a:srgbClr val="15659E"/>
                </a:solidFill>
                <a:latin typeface="Arial MT"/>
                <a:cs typeface="Arial MT"/>
              </a:rPr>
              <a:t>Induction</a:t>
            </a:r>
            <a:r>
              <a:rPr dirty="0" sz="4000" spc="-200">
                <a:solidFill>
                  <a:srgbClr val="15659E"/>
                </a:solidFill>
                <a:latin typeface="Arial MT"/>
                <a:cs typeface="Arial MT"/>
              </a:rPr>
              <a:t> </a:t>
            </a:r>
            <a:r>
              <a:rPr dirty="0" sz="4000" spc="-50">
                <a:solidFill>
                  <a:srgbClr val="15659E"/>
                </a:solidFill>
                <a:latin typeface="Arial MT"/>
                <a:cs typeface="Arial MT"/>
              </a:rPr>
              <a:t>I</a:t>
            </a:r>
            <a:endParaRPr sz="40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737615" y="2667000"/>
            <a:ext cx="8563610" cy="1629410"/>
            <a:chOff x="737615" y="2667000"/>
            <a:chExt cx="8563610" cy="1629410"/>
          </a:xfrm>
        </p:grpSpPr>
        <p:sp>
          <p:nvSpPr>
            <p:cNvPr id="4" name="object 4" descr=""/>
            <p:cNvSpPr/>
            <p:nvPr/>
          </p:nvSpPr>
          <p:spPr>
            <a:xfrm>
              <a:off x="2156460" y="2944368"/>
              <a:ext cx="7145020" cy="1351915"/>
            </a:xfrm>
            <a:custGeom>
              <a:avLst/>
              <a:gdLst/>
              <a:ahLst/>
              <a:cxnLst/>
              <a:rect l="l" t="t" r="r" b="b"/>
              <a:pathLst>
                <a:path w="7145020" h="1351914">
                  <a:moveTo>
                    <a:pt x="7144512" y="1107948"/>
                  </a:moveTo>
                  <a:lnTo>
                    <a:pt x="7144512" y="27432"/>
                  </a:lnTo>
                  <a:lnTo>
                    <a:pt x="7142130" y="16716"/>
                  </a:lnTo>
                  <a:lnTo>
                    <a:pt x="7135749" y="8001"/>
                  </a:lnTo>
                  <a:lnTo>
                    <a:pt x="7126509" y="2143"/>
                  </a:lnTo>
                  <a:lnTo>
                    <a:pt x="7115556" y="0"/>
                  </a:lnTo>
                  <a:lnTo>
                    <a:pt x="243840" y="0"/>
                  </a:lnTo>
                  <a:lnTo>
                    <a:pt x="193548" y="4572"/>
                  </a:lnTo>
                  <a:lnTo>
                    <a:pt x="147828" y="19812"/>
                  </a:lnTo>
                  <a:lnTo>
                    <a:pt x="106680" y="42672"/>
                  </a:lnTo>
                  <a:lnTo>
                    <a:pt x="70104" y="71628"/>
                  </a:lnTo>
                  <a:lnTo>
                    <a:pt x="41148" y="108204"/>
                  </a:lnTo>
                  <a:lnTo>
                    <a:pt x="18288" y="150876"/>
                  </a:lnTo>
                  <a:lnTo>
                    <a:pt x="4572" y="196596"/>
                  </a:lnTo>
                  <a:lnTo>
                    <a:pt x="0" y="243840"/>
                  </a:lnTo>
                  <a:lnTo>
                    <a:pt x="0" y="1322832"/>
                  </a:lnTo>
                  <a:lnTo>
                    <a:pt x="2166" y="1334428"/>
                  </a:lnTo>
                  <a:lnTo>
                    <a:pt x="8191" y="1343596"/>
                  </a:lnTo>
                  <a:lnTo>
                    <a:pt x="17359" y="1349621"/>
                  </a:lnTo>
                  <a:lnTo>
                    <a:pt x="28956" y="1351788"/>
                  </a:lnTo>
                  <a:lnTo>
                    <a:pt x="28956" y="1295400"/>
                  </a:lnTo>
                  <a:lnTo>
                    <a:pt x="57912" y="1295400"/>
                  </a:lnTo>
                  <a:lnTo>
                    <a:pt x="57912" y="224028"/>
                  </a:lnTo>
                  <a:lnTo>
                    <a:pt x="60960" y="204216"/>
                  </a:lnTo>
                  <a:lnTo>
                    <a:pt x="80772" y="153924"/>
                  </a:lnTo>
                  <a:lnTo>
                    <a:pt x="112776" y="111252"/>
                  </a:lnTo>
                  <a:lnTo>
                    <a:pt x="156972" y="79248"/>
                  </a:lnTo>
                  <a:lnTo>
                    <a:pt x="208788" y="59436"/>
                  </a:lnTo>
                  <a:lnTo>
                    <a:pt x="7086600" y="56388"/>
                  </a:lnTo>
                  <a:lnTo>
                    <a:pt x="7086600" y="27432"/>
                  </a:lnTo>
                  <a:lnTo>
                    <a:pt x="7115556" y="56388"/>
                  </a:lnTo>
                  <a:lnTo>
                    <a:pt x="7115556" y="1223772"/>
                  </a:lnTo>
                  <a:lnTo>
                    <a:pt x="7124700" y="1200912"/>
                  </a:lnTo>
                  <a:lnTo>
                    <a:pt x="7133844" y="1179576"/>
                  </a:lnTo>
                  <a:lnTo>
                    <a:pt x="7139940" y="1155192"/>
                  </a:lnTo>
                  <a:lnTo>
                    <a:pt x="7142988" y="1130808"/>
                  </a:lnTo>
                  <a:lnTo>
                    <a:pt x="7144512" y="1107948"/>
                  </a:lnTo>
                  <a:close/>
                </a:path>
                <a:path w="7145020" h="1351914">
                  <a:moveTo>
                    <a:pt x="7115556" y="1223772"/>
                  </a:moveTo>
                  <a:lnTo>
                    <a:pt x="7115556" y="56388"/>
                  </a:lnTo>
                  <a:lnTo>
                    <a:pt x="7086600" y="56388"/>
                  </a:lnTo>
                  <a:lnTo>
                    <a:pt x="7086600" y="1107948"/>
                  </a:lnTo>
                  <a:lnTo>
                    <a:pt x="7085076" y="1127760"/>
                  </a:lnTo>
                  <a:lnTo>
                    <a:pt x="7071360" y="1182624"/>
                  </a:lnTo>
                  <a:lnTo>
                    <a:pt x="7042404" y="1228344"/>
                  </a:lnTo>
                  <a:lnTo>
                    <a:pt x="7002780" y="1263396"/>
                  </a:lnTo>
                  <a:lnTo>
                    <a:pt x="6954012" y="1286256"/>
                  </a:lnTo>
                  <a:lnTo>
                    <a:pt x="6897624" y="1295400"/>
                  </a:lnTo>
                  <a:lnTo>
                    <a:pt x="28956" y="1295400"/>
                  </a:lnTo>
                  <a:lnTo>
                    <a:pt x="57912" y="1322832"/>
                  </a:lnTo>
                  <a:lnTo>
                    <a:pt x="57912" y="1351788"/>
                  </a:lnTo>
                  <a:lnTo>
                    <a:pt x="6900672" y="1351788"/>
                  </a:lnTo>
                  <a:lnTo>
                    <a:pt x="6925056" y="1350264"/>
                  </a:lnTo>
                  <a:lnTo>
                    <a:pt x="6973824" y="1341120"/>
                  </a:lnTo>
                  <a:lnTo>
                    <a:pt x="7018020" y="1321308"/>
                  </a:lnTo>
                  <a:lnTo>
                    <a:pt x="7056120" y="1295400"/>
                  </a:lnTo>
                  <a:lnTo>
                    <a:pt x="7103364" y="1243584"/>
                  </a:lnTo>
                  <a:lnTo>
                    <a:pt x="7115556" y="1223772"/>
                  </a:lnTo>
                  <a:close/>
                </a:path>
                <a:path w="7145020" h="1351914">
                  <a:moveTo>
                    <a:pt x="57912" y="1351788"/>
                  </a:moveTo>
                  <a:lnTo>
                    <a:pt x="57912" y="1322832"/>
                  </a:lnTo>
                  <a:lnTo>
                    <a:pt x="28956" y="1295400"/>
                  </a:lnTo>
                  <a:lnTo>
                    <a:pt x="28956" y="1351788"/>
                  </a:lnTo>
                  <a:lnTo>
                    <a:pt x="57912" y="1351788"/>
                  </a:lnTo>
                  <a:close/>
                </a:path>
                <a:path w="7145020" h="1351914">
                  <a:moveTo>
                    <a:pt x="7115556" y="56388"/>
                  </a:moveTo>
                  <a:lnTo>
                    <a:pt x="7086600" y="27432"/>
                  </a:lnTo>
                  <a:lnTo>
                    <a:pt x="7086600" y="56388"/>
                  </a:lnTo>
                  <a:lnTo>
                    <a:pt x="7115556" y="56388"/>
                  </a:lnTo>
                  <a:close/>
                </a:path>
              </a:pathLst>
            </a:custGeom>
            <a:solidFill>
              <a:srgbClr val="CBDB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37615" y="2667000"/>
              <a:ext cx="2438400" cy="609600"/>
            </a:xfrm>
            <a:custGeom>
              <a:avLst/>
              <a:gdLst/>
              <a:ahLst/>
              <a:cxnLst/>
              <a:rect l="l" t="t" r="r" b="b"/>
              <a:pathLst>
                <a:path w="2438400" h="609600">
                  <a:moveTo>
                    <a:pt x="2438399" y="509015"/>
                  </a:moveTo>
                  <a:lnTo>
                    <a:pt x="2438399" y="0"/>
                  </a:lnTo>
                  <a:lnTo>
                    <a:pt x="100583" y="0"/>
                  </a:lnTo>
                  <a:lnTo>
                    <a:pt x="61721" y="8024"/>
                  </a:lnTo>
                  <a:lnTo>
                    <a:pt x="29717" y="29908"/>
                  </a:lnTo>
                  <a:lnTo>
                    <a:pt x="8000" y="62364"/>
                  </a:lnTo>
                  <a:lnTo>
                    <a:pt x="0" y="102107"/>
                  </a:lnTo>
                  <a:lnTo>
                    <a:pt x="0" y="609599"/>
                  </a:lnTo>
                  <a:lnTo>
                    <a:pt x="2336291" y="609599"/>
                  </a:lnTo>
                  <a:lnTo>
                    <a:pt x="2376035" y="601813"/>
                  </a:lnTo>
                  <a:lnTo>
                    <a:pt x="2408491" y="580453"/>
                  </a:lnTo>
                  <a:lnTo>
                    <a:pt x="2430375" y="548520"/>
                  </a:lnTo>
                  <a:lnTo>
                    <a:pt x="2438399" y="509015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921512" y="2750314"/>
            <a:ext cx="204597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solidFill>
                  <a:srgbClr val="FFFFFF"/>
                </a:solidFill>
                <a:latin typeface="Arial"/>
                <a:cs typeface="Arial"/>
              </a:rPr>
              <a:t>SECTION</a:t>
            </a:r>
            <a:r>
              <a:rPr dirty="0" sz="2600" spc="-25" b="1">
                <a:solidFill>
                  <a:srgbClr val="FFFFFF"/>
                </a:solidFill>
                <a:latin typeface="Arial"/>
                <a:cs typeface="Arial"/>
              </a:rPr>
              <a:t> 5.2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317242" y="6823312"/>
            <a:ext cx="4032885" cy="203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65"/>
              </a:lnSpc>
            </a:pPr>
            <a:r>
              <a:rPr dirty="0" sz="1400">
                <a:latin typeface="Arial MT"/>
                <a:cs typeface="Arial MT"/>
              </a:rPr>
              <a:t>Copyright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©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Cengage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Learning.</a:t>
            </a:r>
            <a:r>
              <a:rPr dirty="0" sz="1400" spc="-1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All rights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reserved.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Mathematical</a:t>
            </a:r>
            <a:r>
              <a:rPr dirty="0" spc="-180"/>
              <a:t> </a:t>
            </a:r>
            <a:r>
              <a:rPr dirty="0"/>
              <a:t>Induction</a:t>
            </a:r>
            <a:r>
              <a:rPr dirty="0" spc="-200"/>
              <a:t> </a:t>
            </a:r>
            <a:r>
              <a:rPr dirty="0" spc="-50"/>
              <a:t>I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93140" y="1944117"/>
            <a:ext cx="7989570" cy="4341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17284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Mathematical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induction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more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recently </a:t>
            </a:r>
            <a:r>
              <a:rPr dirty="0" sz="2400">
                <a:latin typeface="Arial MT"/>
                <a:cs typeface="Arial MT"/>
              </a:rPr>
              <a:t>developed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techniques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proof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history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of </a:t>
            </a:r>
            <a:r>
              <a:rPr dirty="0" sz="2400" spc="-10">
                <a:latin typeface="Arial MT"/>
                <a:cs typeface="Arial MT"/>
              </a:rPr>
              <a:t>mathematics.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12700" marR="240029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check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conjectures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about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outcomes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of </a:t>
            </a:r>
            <a:r>
              <a:rPr dirty="0" sz="2400">
                <a:latin typeface="Arial MT"/>
                <a:cs typeface="Arial MT"/>
              </a:rPr>
              <a:t>processes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occur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repeatedly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according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definite patterns.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general,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mathematical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induction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method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proving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property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defined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integers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values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of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greater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equal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some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initial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integer.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Mathematical</a:t>
            </a:r>
            <a:r>
              <a:rPr dirty="0" spc="-180"/>
              <a:t> </a:t>
            </a:r>
            <a:r>
              <a:rPr dirty="0"/>
              <a:t>Induction</a:t>
            </a:r>
            <a:r>
              <a:rPr dirty="0" spc="-200"/>
              <a:t> </a:t>
            </a:r>
            <a:r>
              <a:rPr dirty="0" spc="-50"/>
              <a:t>I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5016503"/>
            <a:ext cx="7921625" cy="156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validity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mathematical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induction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generally </a:t>
            </a:r>
            <a:r>
              <a:rPr dirty="0" sz="2400">
                <a:latin typeface="Arial MT"/>
                <a:cs typeface="Arial MT"/>
              </a:rPr>
              <a:t>taken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axiom.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why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referred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 i="1">
                <a:latin typeface="Arial"/>
                <a:cs typeface="Arial"/>
              </a:rPr>
              <a:t>principle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mathematical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induction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rather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 spc="-10">
                <a:latin typeface="Arial MT"/>
                <a:cs typeface="Arial MT"/>
              </a:rPr>
              <a:t>theorem.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4252" y="1994916"/>
            <a:ext cx="7549895" cy="2735580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Mathematical</a:t>
            </a:r>
            <a:r>
              <a:rPr dirty="0" spc="-180"/>
              <a:t> </a:t>
            </a:r>
            <a:r>
              <a:rPr dirty="0"/>
              <a:t>Induction</a:t>
            </a:r>
            <a:r>
              <a:rPr dirty="0" spc="-200"/>
              <a:t> </a:t>
            </a:r>
            <a:r>
              <a:rPr dirty="0" spc="-50"/>
              <a:t>I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944117"/>
            <a:ext cx="749744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Proving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statement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mathematical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induction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dirty="0" sz="2400" spc="-20">
                <a:latin typeface="Arial MT"/>
                <a:cs typeface="Arial MT"/>
              </a:rPr>
              <a:t>two-</a:t>
            </a:r>
            <a:r>
              <a:rPr dirty="0" sz="2400">
                <a:latin typeface="Arial MT"/>
                <a:cs typeface="Arial MT"/>
              </a:rPr>
              <a:t>step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process.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first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step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called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basis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step</a:t>
            </a:r>
            <a:r>
              <a:rPr dirty="0" sz="2400" spc="-10">
                <a:latin typeface="Arial MT"/>
                <a:cs typeface="Arial MT"/>
              </a:rPr>
              <a:t>,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second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step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called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inductive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step</a:t>
            </a:r>
            <a:r>
              <a:rPr dirty="0" sz="2400" spc="-1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2163" y="3270504"/>
            <a:ext cx="7434071" cy="3517391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Mathematical</a:t>
            </a:r>
            <a:r>
              <a:rPr dirty="0" spc="-180"/>
              <a:t> </a:t>
            </a:r>
            <a:r>
              <a:rPr dirty="0"/>
              <a:t>Induction</a:t>
            </a:r>
            <a:r>
              <a:rPr dirty="0" spc="-200"/>
              <a:t> </a:t>
            </a:r>
            <a:r>
              <a:rPr dirty="0" spc="-50"/>
              <a:t>I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93140" y="1944117"/>
            <a:ext cx="7468234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following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example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how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mathematical </a:t>
            </a:r>
            <a:r>
              <a:rPr dirty="0" sz="2400">
                <a:latin typeface="Arial MT"/>
                <a:cs typeface="Arial MT"/>
              </a:rPr>
              <a:t>induction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prove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formula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sum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first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50" i="1">
                <a:latin typeface="Arial"/>
                <a:cs typeface="Arial"/>
              </a:rPr>
              <a:t>n </a:t>
            </a:r>
            <a:r>
              <a:rPr dirty="0" sz="2400" spc="-10">
                <a:latin typeface="Arial MT"/>
                <a:cs typeface="Arial MT"/>
              </a:rPr>
              <a:t>integers.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959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dirty="0" sz="3500"/>
              <a:t>Example</a:t>
            </a:r>
            <a:r>
              <a:rPr dirty="0" sz="3500" spc="-15"/>
              <a:t> </a:t>
            </a:r>
            <a:r>
              <a:rPr dirty="0" sz="3500"/>
              <a:t>1</a:t>
            </a:r>
            <a:r>
              <a:rPr dirty="0" sz="3500" spc="-10"/>
              <a:t> </a:t>
            </a:r>
            <a:r>
              <a:rPr dirty="0" sz="3500"/>
              <a:t>– </a:t>
            </a:r>
            <a:r>
              <a:rPr dirty="0" sz="3500" i="1">
                <a:latin typeface="Arial"/>
                <a:cs typeface="Arial"/>
              </a:rPr>
              <a:t>Sum</a:t>
            </a:r>
            <a:r>
              <a:rPr dirty="0" sz="3500" spc="-10" i="1">
                <a:latin typeface="Arial"/>
                <a:cs typeface="Arial"/>
              </a:rPr>
              <a:t> </a:t>
            </a:r>
            <a:r>
              <a:rPr dirty="0" sz="3500" i="1">
                <a:latin typeface="Arial"/>
                <a:cs typeface="Arial"/>
              </a:rPr>
              <a:t>of the</a:t>
            </a:r>
            <a:r>
              <a:rPr dirty="0" sz="3500" spc="10" i="1">
                <a:latin typeface="Arial"/>
                <a:cs typeface="Arial"/>
              </a:rPr>
              <a:t> </a:t>
            </a:r>
            <a:r>
              <a:rPr dirty="0" sz="3500" i="1">
                <a:latin typeface="Arial"/>
                <a:cs typeface="Arial"/>
              </a:rPr>
              <a:t>First</a:t>
            </a:r>
            <a:r>
              <a:rPr dirty="0" sz="3500" spc="-10" i="1">
                <a:latin typeface="Arial"/>
                <a:cs typeface="Arial"/>
              </a:rPr>
              <a:t> </a:t>
            </a:r>
            <a:r>
              <a:rPr dirty="0" sz="3500" i="1">
                <a:latin typeface="Arial"/>
                <a:cs typeface="Arial"/>
              </a:rPr>
              <a:t>n </a:t>
            </a:r>
            <a:r>
              <a:rPr dirty="0" sz="3500" spc="-10" i="1">
                <a:latin typeface="Arial"/>
                <a:cs typeface="Arial"/>
              </a:rPr>
              <a:t>Integers</a:t>
            </a:r>
            <a:endParaRPr sz="35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944117"/>
            <a:ext cx="55524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Use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mathematical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induction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prove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94664" y="3699766"/>
            <a:ext cx="798766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00ADEE"/>
                </a:solidFill>
                <a:latin typeface="Arial MT"/>
                <a:cs typeface="Arial MT"/>
              </a:rPr>
              <a:t>Solution: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construct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proof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induction,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you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must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first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identify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property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>
                <a:latin typeface="Arial MT"/>
                <a:cs typeface="Arial MT"/>
              </a:rPr>
              <a:t>).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case,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equation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94664" y="6186937"/>
            <a:ext cx="788352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Arial"/>
                <a:cs typeface="Arial"/>
              </a:rPr>
              <a:t>[To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see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that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is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a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sentence,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note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that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its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subject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is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spc="-20" i="1">
                <a:latin typeface="Arial"/>
                <a:cs typeface="Arial"/>
              </a:rPr>
              <a:t>“the </a:t>
            </a:r>
            <a:r>
              <a:rPr dirty="0" sz="2400" i="1">
                <a:latin typeface="Arial"/>
                <a:cs typeface="Arial"/>
              </a:rPr>
              <a:t>sum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of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the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integers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from</a:t>
            </a:r>
            <a:r>
              <a:rPr dirty="0" sz="2400" spc="-6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1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to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n”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and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its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verb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is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“equals.”]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0699" y="2726353"/>
            <a:ext cx="4888830" cy="48673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1537" y="5157554"/>
            <a:ext cx="3184705" cy="93617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92576" y="5502745"/>
            <a:ext cx="1692317" cy="175708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1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944117"/>
            <a:ext cx="8044180" cy="2585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basis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step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proof,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you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must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property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other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words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(1)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true.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 MT"/>
              <a:cs typeface="Arial MT"/>
            </a:endParaRPr>
          </a:p>
          <a:p>
            <a:pPr marL="12700" marR="108585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Now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(1)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obtained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substituting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place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 i="1">
                <a:latin typeface="Arial"/>
                <a:cs typeface="Arial"/>
              </a:rPr>
              <a:t>P</a:t>
            </a:r>
            <a:r>
              <a:rPr dirty="0" sz="2400" spc="-10">
                <a:latin typeface="Arial MT"/>
                <a:cs typeface="Arial MT"/>
              </a:rPr>
              <a:t>(</a:t>
            </a:r>
            <a:r>
              <a:rPr dirty="0" sz="2400" spc="-10" i="1">
                <a:latin typeface="Arial"/>
                <a:cs typeface="Arial"/>
              </a:rPr>
              <a:t>n</a:t>
            </a:r>
            <a:r>
              <a:rPr dirty="0" sz="2400" spc="-10">
                <a:latin typeface="Arial MT"/>
                <a:cs typeface="Arial MT"/>
              </a:rPr>
              <a:t>).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left-</a:t>
            </a:r>
            <a:r>
              <a:rPr dirty="0" sz="2400">
                <a:latin typeface="Arial MT"/>
                <a:cs typeface="Arial MT"/>
              </a:rPr>
              <a:t>hand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side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(1)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sum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successive </a:t>
            </a:r>
            <a:r>
              <a:rPr dirty="0" sz="2400">
                <a:latin typeface="Arial MT"/>
                <a:cs typeface="Arial MT"/>
              </a:rPr>
              <a:t>integers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starting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ending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1.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just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1.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Thus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(1)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3340" y="4833472"/>
            <a:ext cx="2248977" cy="116910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84781" y="5373933"/>
            <a:ext cx="1251995" cy="179935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1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944117"/>
            <a:ext cx="800735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course,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equation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because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right-</a:t>
            </a:r>
            <a:r>
              <a:rPr dirty="0" sz="2400">
                <a:latin typeface="Arial MT"/>
                <a:cs typeface="Arial MT"/>
              </a:rPr>
              <a:t>hand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side </a:t>
            </a:r>
            <a:r>
              <a:rPr dirty="0" sz="2400" spc="-25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94664" y="3772918"/>
            <a:ext cx="7648575" cy="1927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which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equals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left-</a:t>
            </a:r>
            <a:r>
              <a:rPr dirty="0" sz="2400">
                <a:latin typeface="Arial MT"/>
                <a:cs typeface="Arial MT"/>
              </a:rPr>
              <a:t>hand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side.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inductive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step,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you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assume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a </a:t>
            </a:r>
            <a:r>
              <a:rPr dirty="0" sz="2400">
                <a:latin typeface="Arial MT"/>
                <a:cs typeface="Arial MT"/>
              </a:rPr>
              <a:t>particular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but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arbitrarily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chosen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integer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60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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Arial MT"/>
                <a:cs typeface="Arial MT"/>
              </a:rPr>
              <a:t>1.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 i="1">
                <a:latin typeface="Arial"/>
                <a:cs typeface="Arial"/>
              </a:rPr>
              <a:t>[This </a:t>
            </a:r>
            <a:r>
              <a:rPr dirty="0" sz="2400" i="1">
                <a:latin typeface="Arial"/>
                <a:cs typeface="Arial"/>
              </a:rPr>
              <a:t>assumption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is</a:t>
            </a:r>
            <a:r>
              <a:rPr dirty="0" sz="2400" spc="-7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the</a:t>
            </a:r>
            <a:r>
              <a:rPr dirty="0" sz="2400" spc="-7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inductive</a:t>
            </a:r>
            <a:r>
              <a:rPr dirty="0" sz="2400" spc="-65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hypothesis.]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8046" y="2921188"/>
            <a:ext cx="2528914" cy="612169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1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944117"/>
            <a:ext cx="7860665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You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must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true.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What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20" i="1">
                <a:latin typeface="Arial"/>
                <a:cs typeface="Arial"/>
              </a:rPr>
              <a:t>P</a:t>
            </a:r>
            <a:r>
              <a:rPr dirty="0" sz="2400" spc="-20">
                <a:latin typeface="Arial MT"/>
                <a:cs typeface="Arial MT"/>
              </a:rPr>
              <a:t>(</a:t>
            </a:r>
            <a:r>
              <a:rPr dirty="0" sz="2400" spc="-20" i="1">
                <a:latin typeface="Arial"/>
                <a:cs typeface="Arial"/>
              </a:rPr>
              <a:t>k</a:t>
            </a:r>
            <a:r>
              <a:rPr dirty="0" sz="2400" spc="-20">
                <a:latin typeface="Arial MT"/>
                <a:cs typeface="Arial MT"/>
              </a:rPr>
              <a:t>)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1)?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obtained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substituting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every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50" i="1">
                <a:latin typeface="Arial"/>
                <a:cs typeface="Arial"/>
              </a:rPr>
              <a:t>n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10" i="1">
                <a:latin typeface="Arial"/>
                <a:cs typeface="Arial"/>
              </a:rPr>
              <a:t>P</a:t>
            </a:r>
            <a:r>
              <a:rPr dirty="0" sz="2400" spc="-10">
                <a:latin typeface="Arial MT"/>
                <a:cs typeface="Arial MT"/>
              </a:rPr>
              <a:t>(</a:t>
            </a:r>
            <a:r>
              <a:rPr dirty="0" sz="2400" spc="-10" i="1">
                <a:latin typeface="Arial"/>
                <a:cs typeface="Arial"/>
              </a:rPr>
              <a:t>n</a:t>
            </a:r>
            <a:r>
              <a:rPr dirty="0" sz="2400" spc="-10">
                <a:latin typeface="Arial MT"/>
                <a:cs typeface="Arial MT"/>
              </a:rPr>
              <a:t>).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Thus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94664" y="5601720"/>
            <a:ext cx="767651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Similarly,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obtained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substituting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quantity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every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appears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10" i="1">
                <a:latin typeface="Arial"/>
                <a:cs typeface="Arial"/>
              </a:rPr>
              <a:t>P</a:t>
            </a:r>
            <a:r>
              <a:rPr dirty="0" sz="2400" spc="-10">
                <a:latin typeface="Arial MT"/>
                <a:cs typeface="Arial MT"/>
              </a:rPr>
              <a:t>(</a:t>
            </a:r>
            <a:r>
              <a:rPr dirty="0" sz="2400" spc="-10" i="1">
                <a:latin typeface="Arial"/>
                <a:cs typeface="Arial"/>
              </a:rPr>
              <a:t>n</a:t>
            </a:r>
            <a:r>
              <a:rPr dirty="0" sz="2400" spc="-10">
                <a:latin typeface="Arial MT"/>
                <a:cs typeface="Arial MT"/>
              </a:rPr>
              <a:t>).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3878" y="4263331"/>
            <a:ext cx="3500199" cy="103626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80345" y="4729693"/>
            <a:ext cx="2336690" cy="175179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1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944117"/>
            <a:ext cx="21653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Thus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94664" y="3407158"/>
            <a:ext cx="21570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or,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equivalently,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8495" y="2543318"/>
            <a:ext cx="5649585" cy="63668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0649" y="4189239"/>
            <a:ext cx="4419165" cy="96061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36460" y="4687998"/>
            <a:ext cx="1684128" cy="166890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1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93140" y="1944117"/>
            <a:ext cx="7969250" cy="3463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714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Now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inductive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hypothesis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supposition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is </a:t>
            </a:r>
            <a:r>
              <a:rPr dirty="0" sz="2400">
                <a:latin typeface="Arial MT"/>
                <a:cs typeface="Arial MT"/>
              </a:rPr>
              <a:t>true.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How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supposition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true?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equation, and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truth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an </a:t>
            </a:r>
            <a:r>
              <a:rPr dirty="0" sz="2400">
                <a:latin typeface="Arial MT"/>
                <a:cs typeface="Arial MT"/>
              </a:rPr>
              <a:t>equation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variety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ways.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12700" marR="521334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One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most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straightforward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inductive </a:t>
            </a:r>
            <a:r>
              <a:rPr dirty="0" sz="2400">
                <a:latin typeface="Arial MT"/>
                <a:cs typeface="Arial MT"/>
              </a:rPr>
              <a:t>hypothesis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along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algebra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other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known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facts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to </a:t>
            </a:r>
            <a:r>
              <a:rPr dirty="0" sz="2400">
                <a:latin typeface="Arial MT"/>
                <a:cs typeface="Arial MT"/>
              </a:rPr>
              <a:t>transform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separately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left-</a:t>
            </a:r>
            <a:r>
              <a:rPr dirty="0" sz="2400">
                <a:latin typeface="Arial MT"/>
                <a:cs typeface="Arial MT"/>
              </a:rPr>
              <a:t>hand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right-</a:t>
            </a:r>
            <a:r>
              <a:rPr dirty="0" sz="2400">
                <a:latin typeface="Arial MT"/>
                <a:cs typeface="Arial MT"/>
              </a:rPr>
              <a:t>hand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sides </a:t>
            </a:r>
            <a:r>
              <a:rPr dirty="0" sz="2400">
                <a:latin typeface="Arial MT"/>
                <a:cs typeface="Arial MT"/>
              </a:rPr>
              <a:t>until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you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they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same.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6506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1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944117"/>
            <a:ext cx="6631940" cy="2585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case,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left-</a:t>
            </a:r>
            <a:r>
              <a:rPr dirty="0" sz="2400">
                <a:latin typeface="Arial MT"/>
                <a:cs typeface="Arial MT"/>
              </a:rPr>
              <a:t>hand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side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</a:t>
            </a:r>
            <a:r>
              <a:rPr dirty="0" sz="2400" spc="-25">
                <a:latin typeface="Arial MT"/>
                <a:cs typeface="Arial MT"/>
              </a:rPr>
              <a:t> is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 marL="1010919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Arial MT"/>
                <a:cs typeface="Arial MT"/>
              </a:rPr>
              <a:t>1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2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+·</a:t>
            </a:r>
            <a:r>
              <a:rPr dirty="0" sz="2400" spc="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·</a:t>
            </a:r>
            <a:r>
              <a:rPr dirty="0" sz="2400" spc="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·+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1),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>
                <a:latin typeface="Arial MT"/>
                <a:cs typeface="Arial MT"/>
              </a:rPr>
              <a:t>which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equals</a:t>
            </a:r>
            <a:endParaRPr sz="2400">
              <a:latin typeface="Arial MT"/>
              <a:cs typeface="Arial MT"/>
            </a:endParaRPr>
          </a:p>
          <a:p>
            <a:pPr marL="998219">
              <a:lnSpc>
                <a:spcPct val="100000"/>
              </a:lnSpc>
              <a:spcBef>
                <a:spcPts val="575"/>
              </a:spcBef>
            </a:pPr>
            <a:r>
              <a:rPr dirty="0" sz="2400">
                <a:latin typeface="Arial MT"/>
                <a:cs typeface="Arial MT"/>
              </a:rPr>
              <a:t>(1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2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+·</a:t>
            </a:r>
            <a:r>
              <a:rPr dirty="0" sz="2400" spc="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·</a:t>
            </a:r>
            <a:r>
              <a:rPr dirty="0" sz="2400" spc="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·+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1)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But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substitution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inductive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hypothesis,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6214" y="5511154"/>
            <a:ext cx="2573566" cy="61569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88794" y="5489968"/>
            <a:ext cx="2587179" cy="6083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5517" y="4912384"/>
            <a:ext cx="3101462" cy="26258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81860" y="3494772"/>
            <a:ext cx="3500070" cy="446291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1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0097" y="2160450"/>
            <a:ext cx="2780867" cy="62036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61087" y="3133799"/>
            <a:ext cx="2316325" cy="66149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22525" y="2090283"/>
            <a:ext cx="2735975" cy="69084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14340" y="3394352"/>
            <a:ext cx="2860401" cy="176348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05894" y="4355472"/>
            <a:ext cx="2914847" cy="449407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16072" y="4168692"/>
            <a:ext cx="1729540" cy="698990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1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944117"/>
            <a:ext cx="46234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So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left-</a:t>
            </a:r>
            <a:r>
              <a:rPr dirty="0" sz="2400">
                <a:latin typeface="Arial MT"/>
                <a:cs typeface="Arial MT"/>
              </a:rPr>
              <a:t>hand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side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939793" y="1944117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94664" y="2675638"/>
            <a:ext cx="7961630" cy="2585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91719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Now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right-</a:t>
            </a:r>
            <a:r>
              <a:rPr dirty="0" sz="2400">
                <a:latin typeface="Arial MT"/>
                <a:cs typeface="Arial MT"/>
              </a:rPr>
              <a:t>hand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side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is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multiplying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out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numerator.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Thus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two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sides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equal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each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other,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and </a:t>
            </a:r>
            <a:r>
              <a:rPr dirty="0" sz="2400">
                <a:latin typeface="Arial MT"/>
                <a:cs typeface="Arial MT"/>
              </a:rPr>
              <a:t>so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equation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true.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discussion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summarized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follows: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2952" y="2626646"/>
            <a:ext cx="2727242" cy="532558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43697" y="1878372"/>
            <a:ext cx="1164439" cy="5659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5839" y="5352054"/>
            <a:ext cx="7781543" cy="1431679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1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944117"/>
            <a:ext cx="505587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Proof</a:t>
            </a:r>
            <a:r>
              <a:rPr dirty="0" sz="2400" spc="-8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(by</a:t>
            </a:r>
            <a:r>
              <a:rPr dirty="0" sz="2400" spc="-8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mathematical</a:t>
            </a:r>
            <a:r>
              <a:rPr dirty="0" sz="2400" spc="-65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induction):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Let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property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equation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94664" y="4138679"/>
            <a:ext cx="502412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Show</a:t>
            </a:r>
            <a:r>
              <a:rPr dirty="0" sz="2400" spc="-4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that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 i="1">
                <a:latin typeface="Arial"/>
                <a:cs typeface="Arial"/>
              </a:rPr>
              <a:t>P</a:t>
            </a:r>
            <a:r>
              <a:rPr dirty="0" sz="2400" b="1">
                <a:latin typeface="Arial"/>
                <a:cs typeface="Arial"/>
              </a:rPr>
              <a:t>(1)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is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true: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establish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(1),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must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7415" y="3199990"/>
            <a:ext cx="3649557" cy="57863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25713" y="3441460"/>
            <a:ext cx="603445" cy="166743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66890" y="5498443"/>
            <a:ext cx="1243247" cy="491248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96346" y="5614034"/>
            <a:ext cx="778179" cy="163449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1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944117"/>
            <a:ext cx="7950200" cy="4122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23380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But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left-</a:t>
            </a:r>
            <a:r>
              <a:rPr dirty="0" sz="2400">
                <a:latin typeface="Arial MT"/>
                <a:cs typeface="Arial MT"/>
              </a:rPr>
              <a:t>hand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side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equation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 spc="-20">
                <a:latin typeface="Arial MT"/>
                <a:cs typeface="Arial MT"/>
              </a:rPr>
              <a:t>right-</a:t>
            </a:r>
            <a:r>
              <a:rPr dirty="0" sz="2400">
                <a:latin typeface="Arial MT"/>
                <a:cs typeface="Arial MT"/>
              </a:rPr>
              <a:t>hand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side</a:t>
            </a:r>
            <a:r>
              <a:rPr dirty="0" sz="2400" spc="-25">
                <a:latin typeface="Arial MT"/>
                <a:cs typeface="Arial MT"/>
              </a:rPr>
              <a:t> is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also.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Hence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(1)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true.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 b="1">
                <a:latin typeface="Arial"/>
                <a:cs typeface="Arial"/>
              </a:rPr>
              <a:t>Show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that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for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all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integers</a:t>
            </a:r>
            <a:r>
              <a:rPr dirty="0" sz="2400" spc="-25" b="1">
                <a:latin typeface="Arial"/>
                <a:cs typeface="Arial"/>
              </a:rPr>
              <a:t> </a:t>
            </a:r>
            <a:r>
              <a:rPr dirty="0" sz="2400" b="1" i="1">
                <a:latin typeface="Arial"/>
                <a:cs typeface="Arial"/>
              </a:rPr>
              <a:t>k</a:t>
            </a:r>
            <a:r>
              <a:rPr dirty="0" sz="2400" spc="-35" b="1" i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≥</a:t>
            </a:r>
            <a:r>
              <a:rPr dirty="0" sz="2400" spc="-2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1,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if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 b="1" i="1">
                <a:latin typeface="Arial"/>
                <a:cs typeface="Arial"/>
              </a:rPr>
              <a:t>P</a:t>
            </a:r>
            <a:r>
              <a:rPr dirty="0" sz="2400" b="1">
                <a:latin typeface="Arial"/>
                <a:cs typeface="Arial"/>
              </a:rPr>
              <a:t>(</a:t>
            </a:r>
            <a:r>
              <a:rPr dirty="0" sz="2400" b="1" i="1">
                <a:latin typeface="Arial"/>
                <a:cs typeface="Arial"/>
              </a:rPr>
              <a:t>k</a:t>
            </a:r>
            <a:r>
              <a:rPr dirty="0" sz="2400" b="1">
                <a:latin typeface="Arial"/>
                <a:cs typeface="Arial"/>
              </a:rPr>
              <a:t>)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is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true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spc="-20" b="1">
                <a:latin typeface="Arial"/>
                <a:cs typeface="Arial"/>
              </a:rPr>
              <a:t>then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 b="1" i="1">
                <a:latin typeface="Arial"/>
                <a:cs typeface="Arial"/>
              </a:rPr>
              <a:t>P</a:t>
            </a:r>
            <a:r>
              <a:rPr dirty="0" sz="2400" b="1">
                <a:latin typeface="Arial"/>
                <a:cs typeface="Arial"/>
              </a:rPr>
              <a:t>(</a:t>
            </a:r>
            <a:r>
              <a:rPr dirty="0" sz="2400" b="1" i="1">
                <a:latin typeface="Arial"/>
                <a:cs typeface="Arial"/>
              </a:rPr>
              <a:t>k</a:t>
            </a:r>
            <a:r>
              <a:rPr dirty="0" sz="2400" spc="-20" b="1" i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+</a:t>
            </a:r>
            <a:r>
              <a:rPr dirty="0" sz="2400" spc="-2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1)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is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also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spc="-20" b="1">
                <a:latin typeface="Arial"/>
                <a:cs typeface="Arial"/>
              </a:rPr>
              <a:t>true: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2014"/>
              </a:spcBef>
            </a:pPr>
            <a:r>
              <a:rPr dirty="0" sz="2400" i="1">
                <a:latin typeface="Arial"/>
                <a:cs typeface="Arial"/>
              </a:rPr>
              <a:t>[Suppose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that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is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true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for</a:t>
            </a:r>
            <a:r>
              <a:rPr dirty="0" sz="2400" spc="-6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a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particular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but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arbitrarily </a:t>
            </a:r>
            <a:r>
              <a:rPr dirty="0" sz="2400" i="1">
                <a:latin typeface="Arial"/>
                <a:cs typeface="Arial"/>
              </a:rPr>
              <a:t>chosen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integer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60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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Arial MT"/>
                <a:cs typeface="Arial MT"/>
              </a:rPr>
              <a:t>1</a:t>
            </a:r>
            <a:r>
              <a:rPr dirty="0" sz="2400" i="1">
                <a:latin typeface="Arial"/>
                <a:cs typeface="Arial"/>
              </a:rPr>
              <a:t>.That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is:]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Suppose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any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integer </a:t>
            </a: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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>
                <a:latin typeface="Arial MT"/>
                <a:cs typeface="Arial MT"/>
              </a:rPr>
              <a:t>1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such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4874" y="2751308"/>
            <a:ext cx="1729578" cy="49086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1463" y="6363344"/>
            <a:ext cx="3750444" cy="6162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17034" y="6479241"/>
            <a:ext cx="1514683" cy="404353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1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944117"/>
            <a:ext cx="7311390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Arial"/>
                <a:cs typeface="Arial"/>
              </a:rPr>
              <a:t>[We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must</a:t>
            </a:r>
            <a:r>
              <a:rPr dirty="0" sz="2400" spc="-1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show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that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is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true.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That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is:]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We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must </a:t>
            </a:r>
            <a:r>
              <a:rPr dirty="0" sz="2400">
                <a:latin typeface="Arial MT"/>
                <a:cs typeface="Arial MT"/>
              </a:rPr>
              <a:t>show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2400">
                <a:latin typeface="Arial MT"/>
                <a:cs typeface="Arial MT"/>
              </a:rPr>
              <a:t>or,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equivalently,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94664" y="4760471"/>
            <a:ext cx="804862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Arial"/>
                <a:cs typeface="Arial"/>
              </a:rPr>
              <a:t>[We</a:t>
            </a:r>
            <a:r>
              <a:rPr dirty="0" sz="2400" spc="-7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will</a:t>
            </a:r>
            <a:r>
              <a:rPr dirty="0" sz="2400" spc="-1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show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that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the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left-</a:t>
            </a:r>
            <a:r>
              <a:rPr dirty="0" sz="2400" i="1">
                <a:latin typeface="Arial"/>
                <a:cs typeface="Arial"/>
              </a:rPr>
              <a:t>hand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side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and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the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right-</a:t>
            </a:r>
            <a:r>
              <a:rPr dirty="0" sz="2400" spc="-20" i="1">
                <a:latin typeface="Arial"/>
                <a:cs typeface="Arial"/>
              </a:rPr>
              <a:t>hand</a:t>
            </a:r>
            <a:r>
              <a:rPr dirty="0" sz="2400" spc="60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side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of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are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equal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to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the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same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quantity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and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thus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spc="-25" i="1">
                <a:latin typeface="Arial"/>
                <a:cs typeface="Arial"/>
              </a:rPr>
              <a:t>are </a:t>
            </a:r>
            <a:r>
              <a:rPr dirty="0" sz="2400" i="1">
                <a:latin typeface="Arial"/>
                <a:cs typeface="Arial"/>
              </a:rPr>
              <a:t>equal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to</a:t>
            </a:r>
            <a:r>
              <a:rPr dirty="0" sz="2400" spc="-6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each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other.]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6930" y="2597282"/>
            <a:ext cx="4772608" cy="49553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01463" y="4001942"/>
            <a:ext cx="1031669" cy="20092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52953" y="3869191"/>
            <a:ext cx="5271888" cy="620046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1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944117"/>
            <a:ext cx="42684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left-</a:t>
            </a:r>
            <a:r>
              <a:rPr dirty="0" sz="2400">
                <a:latin typeface="Arial MT"/>
                <a:cs typeface="Arial MT"/>
              </a:rPr>
              <a:t>hand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side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5188" y="2938420"/>
            <a:ext cx="2735557" cy="23768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61688" y="3602953"/>
            <a:ext cx="2096041" cy="36675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65847" y="4297177"/>
            <a:ext cx="1858969" cy="36250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96655" y="3628172"/>
            <a:ext cx="2820224" cy="19568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04969" y="4210008"/>
            <a:ext cx="1821311" cy="446213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68110" y="4925197"/>
            <a:ext cx="2495329" cy="55745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30447" y="5842610"/>
            <a:ext cx="2087572" cy="595775"/>
          </a:xfrm>
          <a:prstGeom prst="rect">
            <a:avLst/>
          </a:prstGeom>
        </p:spPr>
      </p:pic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1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3407158"/>
            <a:ext cx="49803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right-</a:t>
            </a:r>
            <a:r>
              <a:rPr dirty="0" sz="2400">
                <a:latin typeface="Arial MT"/>
                <a:cs typeface="Arial MT"/>
              </a:rPr>
              <a:t>hand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side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6071" y="2348133"/>
            <a:ext cx="865374" cy="23346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59072" y="2186026"/>
            <a:ext cx="1729540" cy="69929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84471" y="4363937"/>
            <a:ext cx="3358847" cy="665233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1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93140" y="1944117"/>
            <a:ext cx="7974965" cy="2366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Thus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two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sides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equal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same </a:t>
            </a:r>
            <a:r>
              <a:rPr dirty="0" sz="2400">
                <a:latin typeface="Arial MT"/>
                <a:cs typeface="Arial MT"/>
              </a:rPr>
              <a:t>quantity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they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equal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each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other.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Therefore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equation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[as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was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to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be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shown]</a:t>
            </a:r>
            <a:r>
              <a:rPr dirty="0" sz="2400" spc="-1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12700" marR="835025">
              <a:lnSpc>
                <a:spcPct val="100000"/>
              </a:lnSpc>
            </a:pPr>
            <a:r>
              <a:rPr dirty="0" sz="2400" i="1">
                <a:latin typeface="Arial"/>
                <a:cs typeface="Arial"/>
              </a:rPr>
              <a:t>[Since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we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have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proved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both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the</a:t>
            </a:r>
            <a:r>
              <a:rPr dirty="0" sz="2400" spc="-6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basis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step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and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spc="-25" i="1">
                <a:latin typeface="Arial"/>
                <a:cs typeface="Arial"/>
              </a:rPr>
              <a:t>the </a:t>
            </a:r>
            <a:r>
              <a:rPr dirty="0" sz="2400" i="1">
                <a:latin typeface="Arial"/>
                <a:cs typeface="Arial"/>
              </a:rPr>
              <a:t>inductive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step,</a:t>
            </a:r>
            <a:r>
              <a:rPr dirty="0" sz="2400" spc="-7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we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conclude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that</a:t>
            </a:r>
            <a:r>
              <a:rPr dirty="0" sz="2400" spc="-6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the</a:t>
            </a:r>
            <a:r>
              <a:rPr dirty="0" sz="2400" spc="-6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theorem</a:t>
            </a:r>
            <a:r>
              <a:rPr dirty="0" sz="2400" spc="-6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is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true.]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6506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Mathematical</a:t>
            </a:r>
            <a:r>
              <a:rPr dirty="0" spc="-180"/>
              <a:t> </a:t>
            </a:r>
            <a:r>
              <a:rPr dirty="0"/>
              <a:t>Induction</a:t>
            </a:r>
            <a:r>
              <a:rPr dirty="0" spc="-200"/>
              <a:t> </a:t>
            </a:r>
            <a:r>
              <a:rPr dirty="0" spc="-50"/>
              <a:t>I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3846071"/>
            <a:ext cx="512445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example,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writing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sum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2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+·</a:t>
            </a:r>
            <a:r>
              <a:rPr dirty="0" sz="2400" spc="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·</a:t>
            </a:r>
            <a:r>
              <a:rPr dirty="0" sz="2400" spc="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·+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closed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form.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577081" y="3846071"/>
            <a:ext cx="192341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expresses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752" y="2194096"/>
            <a:ext cx="7914269" cy="135682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06952" y="3768852"/>
            <a:ext cx="2673095" cy="542544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40" y="1944117"/>
            <a:ext cx="442658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00"/>
                </a:solidFill>
                <a:latin typeface="Arial"/>
                <a:cs typeface="Arial"/>
              </a:rPr>
              <a:t>a.</a:t>
            </a:r>
            <a:r>
              <a:rPr dirty="0" sz="2400" spc="-5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</a:rPr>
              <a:t>Evaluate</a:t>
            </a:r>
            <a:r>
              <a:rPr dirty="0" sz="2400" spc="-3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2</a:t>
            </a:r>
            <a:r>
              <a:rPr dirty="0" sz="2400" spc="-4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+</a:t>
            </a:r>
            <a:r>
              <a:rPr dirty="0" sz="2400" spc="-5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4</a:t>
            </a:r>
            <a:r>
              <a:rPr dirty="0" sz="2400" spc="-5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+</a:t>
            </a:r>
            <a:r>
              <a:rPr dirty="0" sz="2400" spc="-4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6</a:t>
            </a:r>
            <a:r>
              <a:rPr dirty="0" sz="2400" spc="-4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+·</a:t>
            </a:r>
            <a:r>
              <a:rPr dirty="0" sz="2400" spc="8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·</a:t>
            </a:r>
            <a:r>
              <a:rPr dirty="0" sz="2400" spc="6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·+</a:t>
            </a:r>
            <a:r>
              <a:rPr dirty="0" sz="2400" spc="-45">
                <a:solidFill>
                  <a:srgbClr val="000000"/>
                </a:solidFill>
              </a:rPr>
              <a:t> </a:t>
            </a:r>
            <a:r>
              <a:rPr dirty="0" sz="2400" spc="-20">
                <a:solidFill>
                  <a:srgbClr val="000000"/>
                </a:solidFill>
              </a:rPr>
              <a:t>500</a:t>
            </a:r>
            <a:r>
              <a:rPr dirty="0" sz="2400" spc="-20" i="1">
                <a:solidFill>
                  <a:srgbClr val="000000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93140" y="2821942"/>
            <a:ext cx="7318375" cy="1635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b.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Evaluate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5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6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7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8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+·</a:t>
            </a:r>
            <a:r>
              <a:rPr dirty="0" sz="2400" spc="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·</a:t>
            </a:r>
            <a:r>
              <a:rPr dirty="0" sz="2400" spc="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·+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50.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360045" marR="5080" indent="-347980">
              <a:lnSpc>
                <a:spcPct val="100000"/>
              </a:lnSpc>
            </a:pPr>
            <a:r>
              <a:rPr dirty="0" sz="2400" b="1">
                <a:latin typeface="Arial"/>
                <a:cs typeface="Arial"/>
              </a:rPr>
              <a:t>c.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integer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h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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Arial MT"/>
                <a:cs typeface="Arial MT"/>
              </a:rPr>
              <a:t>2,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write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2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+·</a:t>
            </a:r>
            <a:r>
              <a:rPr dirty="0" sz="2400" spc="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·</a:t>
            </a:r>
            <a:r>
              <a:rPr dirty="0" sz="2400" spc="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·+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h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in </a:t>
            </a:r>
            <a:r>
              <a:rPr dirty="0" sz="2400">
                <a:latin typeface="Arial MT"/>
                <a:cs typeface="Arial MT"/>
              </a:rPr>
              <a:t>closed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form.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52932" y="1058672"/>
            <a:ext cx="775462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Arial MT"/>
                <a:cs typeface="Arial MT"/>
              </a:rPr>
              <a:t>Example</a:t>
            </a:r>
            <a:r>
              <a:rPr dirty="0" sz="2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dirty="0" sz="2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dirty="0" sz="2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000" i="1">
                <a:solidFill>
                  <a:srgbClr val="FFFFFF"/>
                </a:solidFill>
                <a:latin typeface="Arial"/>
                <a:cs typeface="Arial"/>
              </a:rPr>
              <a:t>Applying</a:t>
            </a:r>
            <a:r>
              <a:rPr dirty="0" sz="2000" spc="-2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i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-2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i="1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r>
              <a:rPr dirty="0" sz="2000" spc="-1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i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2000" spc="-3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i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-2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i="1">
                <a:solidFill>
                  <a:srgbClr val="FFFFFF"/>
                </a:solidFill>
                <a:latin typeface="Arial"/>
                <a:cs typeface="Arial"/>
              </a:rPr>
              <a:t>Sum</a:t>
            </a:r>
            <a:r>
              <a:rPr dirty="0" sz="2000" spc="-1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i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000" spc="-3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i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-2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i="1">
                <a:solidFill>
                  <a:srgbClr val="FFFFFF"/>
                </a:solidFill>
                <a:latin typeface="Arial"/>
                <a:cs typeface="Arial"/>
              </a:rPr>
              <a:t>First</a:t>
            </a:r>
            <a:r>
              <a:rPr dirty="0" sz="2000" spc="-3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i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2000" spc="-10" i="1">
                <a:solidFill>
                  <a:srgbClr val="FFFFFF"/>
                </a:solidFill>
                <a:latin typeface="Arial"/>
                <a:cs typeface="Arial"/>
              </a:rPr>
              <a:t> Integers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4664" y="1944117"/>
            <a:ext cx="27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latin typeface="Arial"/>
                <a:cs typeface="Arial"/>
              </a:rPr>
              <a:t>a.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4577591"/>
            <a:ext cx="2965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latin typeface="Arial"/>
                <a:cs typeface="Arial"/>
              </a:rPr>
              <a:t>b.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2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656" y="2721353"/>
            <a:ext cx="2009098" cy="70388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5564" y="2846612"/>
            <a:ext cx="2473719" cy="37055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96726" y="5224440"/>
            <a:ext cx="1726481" cy="61577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88023" y="5381095"/>
            <a:ext cx="2561148" cy="396387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29768" y="2053170"/>
            <a:ext cx="6123824" cy="25839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52211" y="3777826"/>
            <a:ext cx="1176891" cy="250613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75209" y="4671721"/>
            <a:ext cx="7602806" cy="23779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193430" y="6284366"/>
            <a:ext cx="952664" cy="249936"/>
          </a:xfrm>
          <a:prstGeom prst="rect">
            <a:avLst/>
          </a:prstGeom>
        </p:spPr>
      </p:pic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4664" y="2108709"/>
            <a:ext cx="27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latin typeface="Arial"/>
                <a:cs typeface="Arial"/>
              </a:rPr>
              <a:t>c.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2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8077" y="2068783"/>
            <a:ext cx="5457989" cy="55846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63856" y="3013337"/>
            <a:ext cx="1368713" cy="55394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52488" y="2119409"/>
            <a:ext cx="2396504" cy="565942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82698" y="3154558"/>
            <a:ext cx="1696201" cy="175381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43864" y="1944117"/>
            <a:ext cx="8134984" cy="3244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 marR="236854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b="1">
                <a:latin typeface="Arial"/>
                <a:cs typeface="Arial"/>
              </a:rPr>
              <a:t>geometric</a:t>
            </a:r>
            <a:r>
              <a:rPr dirty="0" sz="2400" spc="-6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sequence,</a:t>
            </a:r>
            <a:r>
              <a:rPr dirty="0" sz="2400" spc="-45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each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term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obtained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preceding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multiplying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constant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factor.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63500" marR="61468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If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first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term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constant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factor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sequence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1,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450" i="1">
                <a:latin typeface="Arial"/>
                <a:cs typeface="Arial"/>
              </a:rPr>
              <a:t> </a:t>
            </a:r>
            <a:r>
              <a:rPr dirty="0" baseline="24305" sz="2400">
                <a:latin typeface="Arial MT"/>
                <a:cs typeface="Arial MT"/>
              </a:rPr>
              <a:t>2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450" i="1">
                <a:latin typeface="Arial"/>
                <a:cs typeface="Arial"/>
              </a:rPr>
              <a:t> </a:t>
            </a:r>
            <a:r>
              <a:rPr dirty="0" baseline="24305" sz="2400">
                <a:latin typeface="Arial MT"/>
                <a:cs typeface="Arial MT"/>
              </a:rPr>
              <a:t>3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.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.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.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70" i="1">
                <a:latin typeface="Arial"/>
                <a:cs typeface="Arial"/>
              </a:rPr>
              <a:t>r</a:t>
            </a:r>
            <a:r>
              <a:rPr dirty="0" baseline="24305" sz="2400" spc="104" i="1">
                <a:latin typeface="Arial"/>
                <a:cs typeface="Arial"/>
              </a:rPr>
              <a:t>n</a:t>
            </a:r>
            <a:r>
              <a:rPr dirty="0" sz="2400" spc="70">
                <a:latin typeface="Arial MT"/>
                <a:cs typeface="Arial MT"/>
              </a:rPr>
              <a:t>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.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.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.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62865" marR="1778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sum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first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terms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sequence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given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 spc="-10">
                <a:latin typeface="Arial MT"/>
                <a:cs typeface="Arial MT"/>
              </a:rPr>
              <a:t>formula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6113784"/>
            <a:ext cx="73615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integers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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Arial MT"/>
                <a:cs typeface="Arial MT"/>
              </a:rPr>
              <a:t>0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real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numbers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not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equal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1.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Mathematical</a:t>
            </a:r>
            <a:r>
              <a:rPr dirty="0" spc="-180"/>
              <a:t> </a:t>
            </a:r>
            <a:r>
              <a:rPr dirty="0"/>
              <a:t>Induction</a:t>
            </a:r>
            <a:r>
              <a:rPr dirty="0" spc="-200"/>
              <a:t> </a:t>
            </a:r>
            <a:r>
              <a:rPr dirty="0" spc="-50"/>
              <a:t>I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52459" y="5257429"/>
            <a:ext cx="1875488" cy="703239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4664" y="1944117"/>
            <a:ext cx="49225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expanded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form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formula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69264" y="3699766"/>
            <a:ext cx="792670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because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434" i="1">
                <a:latin typeface="Arial"/>
                <a:cs typeface="Arial"/>
              </a:rPr>
              <a:t> </a:t>
            </a:r>
            <a:r>
              <a:rPr dirty="0" baseline="24305" sz="2400">
                <a:latin typeface="Arial MT"/>
                <a:cs typeface="Arial MT"/>
              </a:rPr>
              <a:t>0</a:t>
            </a:r>
            <a:r>
              <a:rPr dirty="0" baseline="24305" sz="2400" spc="277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450" i="1">
                <a:latin typeface="Arial"/>
                <a:cs typeface="Arial"/>
              </a:rPr>
              <a:t> </a:t>
            </a:r>
            <a:r>
              <a:rPr dirty="0" baseline="24305" sz="2400">
                <a:latin typeface="Arial MT"/>
                <a:cs typeface="Arial MT"/>
              </a:rPr>
              <a:t>1</a:t>
            </a:r>
            <a:r>
              <a:rPr dirty="0" baseline="24305" sz="2400" spc="277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formula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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Arial MT"/>
                <a:cs typeface="Arial MT"/>
              </a:rPr>
              <a:t>1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be </a:t>
            </a:r>
            <a:r>
              <a:rPr dirty="0" sz="2400">
                <a:latin typeface="Arial MT"/>
                <a:cs typeface="Arial MT"/>
              </a:rPr>
              <a:t>rewritten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Mathematical</a:t>
            </a:r>
            <a:r>
              <a:rPr dirty="0" spc="-180"/>
              <a:t> </a:t>
            </a:r>
            <a:r>
              <a:rPr dirty="0"/>
              <a:t>Induction</a:t>
            </a:r>
            <a:r>
              <a:rPr dirty="0" spc="-200"/>
              <a:t> </a:t>
            </a:r>
            <a:r>
              <a:rPr dirty="0" spc="-50"/>
              <a:t>I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1655" y="2663765"/>
            <a:ext cx="4315644" cy="65745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82807" y="4825293"/>
            <a:ext cx="4066614" cy="661064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4664" y="1761237"/>
            <a:ext cx="7432675" cy="2585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2999105" algn="l"/>
              </a:tabLst>
            </a:pPr>
            <a:r>
              <a:rPr dirty="0" sz="2400">
                <a:latin typeface="Arial MT"/>
                <a:cs typeface="Arial MT"/>
              </a:rPr>
              <a:t>Prove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that</a:t>
            </a:r>
            <a:r>
              <a:rPr dirty="0" sz="2400">
                <a:latin typeface="Arial MT"/>
                <a:cs typeface="Arial MT"/>
              </a:rPr>
              <a:t>	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integers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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>
                <a:latin typeface="Arial MT"/>
                <a:cs typeface="Arial MT"/>
              </a:rPr>
              <a:t>0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20">
                <a:latin typeface="Arial MT"/>
                <a:cs typeface="Arial MT"/>
              </a:rPr>
              <a:t> real </a:t>
            </a:r>
            <a:r>
              <a:rPr dirty="0" sz="2400">
                <a:latin typeface="Arial MT"/>
                <a:cs typeface="Arial MT"/>
              </a:rPr>
              <a:t>numbers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7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except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1.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400" spc="-10">
                <a:solidFill>
                  <a:srgbClr val="00ADEE"/>
                </a:solidFill>
                <a:latin typeface="Arial MT"/>
                <a:cs typeface="Arial MT"/>
              </a:rPr>
              <a:t>Solution:</a:t>
            </a:r>
            <a:endParaRPr sz="2400">
              <a:latin typeface="Arial MT"/>
              <a:cs typeface="Arial MT"/>
            </a:endParaRPr>
          </a:p>
          <a:p>
            <a:pPr marL="12700" marR="9271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example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property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again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equation, </a:t>
            </a:r>
            <a:r>
              <a:rPr dirty="0" sz="2400">
                <a:latin typeface="Arial MT"/>
                <a:cs typeface="Arial MT"/>
              </a:rPr>
              <a:t>although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case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contains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real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variable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20" i="1">
                <a:latin typeface="Arial"/>
                <a:cs typeface="Arial"/>
              </a:rPr>
              <a:t>r</a:t>
            </a:r>
            <a:r>
              <a:rPr dirty="0" sz="2400" spc="20">
                <a:latin typeface="Arial MT"/>
                <a:cs typeface="Arial MT"/>
              </a:rPr>
              <a:t>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5819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Example</a:t>
            </a:r>
            <a:r>
              <a:rPr dirty="0" sz="3200" spc="-45"/>
              <a:t> </a:t>
            </a:r>
            <a:r>
              <a:rPr dirty="0" sz="3200"/>
              <a:t>3</a:t>
            </a:r>
            <a:r>
              <a:rPr dirty="0" sz="3200" spc="-25"/>
              <a:t> </a:t>
            </a:r>
            <a:r>
              <a:rPr dirty="0" sz="3200"/>
              <a:t>–</a:t>
            </a:r>
            <a:r>
              <a:rPr dirty="0" sz="3200" spc="-25"/>
              <a:t> </a:t>
            </a:r>
            <a:r>
              <a:rPr dirty="0" sz="3200" i="1">
                <a:latin typeface="Arial"/>
                <a:cs typeface="Arial"/>
              </a:rPr>
              <a:t>Sum</a:t>
            </a:r>
            <a:r>
              <a:rPr dirty="0" sz="3200" spc="-25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of</a:t>
            </a:r>
            <a:r>
              <a:rPr dirty="0" sz="3200" spc="-20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a</a:t>
            </a:r>
            <a:r>
              <a:rPr dirty="0" sz="3200" spc="-25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Geometric</a:t>
            </a:r>
            <a:r>
              <a:rPr dirty="0" sz="3200" spc="-30" i="1">
                <a:latin typeface="Arial"/>
                <a:cs typeface="Arial"/>
              </a:rPr>
              <a:t> </a:t>
            </a:r>
            <a:r>
              <a:rPr dirty="0" sz="3200" spc="-10" i="1">
                <a:latin typeface="Arial"/>
                <a:cs typeface="Arial"/>
              </a:rPr>
              <a:t>Sequence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4120" y="1890809"/>
            <a:ext cx="1456944" cy="59923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42446" y="4700345"/>
            <a:ext cx="2245233" cy="114818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97629" y="5094639"/>
            <a:ext cx="1730403" cy="234049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3140" y="1944117"/>
            <a:ext cx="7773034" cy="3609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62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Because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can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any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real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number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other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1,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proof </a:t>
            </a:r>
            <a:r>
              <a:rPr dirty="0" sz="2400">
                <a:latin typeface="Arial MT"/>
                <a:cs typeface="Arial MT"/>
              </a:rPr>
              <a:t>begins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supposing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particular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but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arbitrarily </a:t>
            </a:r>
            <a:r>
              <a:rPr dirty="0" sz="2400">
                <a:latin typeface="Arial MT"/>
                <a:cs typeface="Arial MT"/>
              </a:rPr>
              <a:t>chosen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real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number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equal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1.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proof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continues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mathematical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induction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n</a:t>
            </a:r>
            <a:r>
              <a:rPr dirty="0" sz="2400" spc="-25">
                <a:latin typeface="Arial MT"/>
                <a:cs typeface="Arial MT"/>
              </a:rPr>
              <a:t>, </a:t>
            </a:r>
            <a:r>
              <a:rPr dirty="0" sz="2400">
                <a:latin typeface="Arial MT"/>
                <a:cs typeface="Arial MT"/>
              </a:rPr>
              <a:t>starting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0.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12700" marR="9906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basis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step,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you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must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(0)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true;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is, </a:t>
            </a:r>
            <a:r>
              <a:rPr dirty="0" sz="2400">
                <a:latin typeface="Arial MT"/>
                <a:cs typeface="Arial MT"/>
              </a:rPr>
              <a:t>you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property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0.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3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826506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4664" y="1944117"/>
            <a:ext cx="51257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So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you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substitute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0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each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10" i="1">
                <a:latin typeface="Arial"/>
                <a:cs typeface="Arial"/>
              </a:rPr>
              <a:t>P</a:t>
            </a:r>
            <a:r>
              <a:rPr dirty="0" sz="2400" spc="-10">
                <a:latin typeface="Arial MT"/>
                <a:cs typeface="Arial MT"/>
              </a:rPr>
              <a:t>(</a:t>
            </a:r>
            <a:r>
              <a:rPr dirty="0" sz="2400" spc="-10" i="1">
                <a:latin typeface="Arial"/>
                <a:cs typeface="Arial"/>
              </a:rPr>
              <a:t>n</a:t>
            </a:r>
            <a:r>
              <a:rPr dirty="0" sz="2400" spc="-10">
                <a:latin typeface="Arial MT"/>
                <a:cs typeface="Arial MT"/>
              </a:rPr>
              <a:t>)</a:t>
            </a:r>
            <a:r>
              <a:rPr dirty="0" sz="2400" spc="-10" i="1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4138679"/>
            <a:ext cx="739584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inductive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step,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you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suppose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any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integer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with 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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>
                <a:latin typeface="Arial MT"/>
                <a:cs typeface="Arial MT"/>
              </a:rPr>
              <a:t>0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which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true;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you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suppose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property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k</a:t>
            </a:r>
            <a:r>
              <a:rPr dirty="0" sz="2400" spc="-25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3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4927" y="2626295"/>
            <a:ext cx="2233051" cy="118535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50629" y="3179470"/>
            <a:ext cx="1153075" cy="166624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4664" y="1944117"/>
            <a:ext cx="5107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So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you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substitute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each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10" i="1">
                <a:latin typeface="Arial"/>
                <a:cs typeface="Arial"/>
              </a:rPr>
              <a:t>P</a:t>
            </a:r>
            <a:r>
              <a:rPr dirty="0" sz="2400" spc="-10">
                <a:latin typeface="Arial MT"/>
                <a:cs typeface="Arial MT"/>
              </a:rPr>
              <a:t>(</a:t>
            </a:r>
            <a:r>
              <a:rPr dirty="0" sz="2400" spc="-10" i="1">
                <a:latin typeface="Arial"/>
                <a:cs typeface="Arial"/>
              </a:rPr>
              <a:t>n</a:t>
            </a:r>
            <a:r>
              <a:rPr dirty="0" sz="2400" spc="-10">
                <a:latin typeface="Arial MT"/>
                <a:cs typeface="Arial MT"/>
              </a:rPr>
              <a:t>):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3919223"/>
            <a:ext cx="7705725" cy="1635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you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true;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you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property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1.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So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you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substitute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each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10" i="1">
                <a:latin typeface="Arial"/>
                <a:cs typeface="Arial"/>
              </a:rPr>
              <a:t>P</a:t>
            </a:r>
            <a:r>
              <a:rPr dirty="0" sz="2400" spc="-10">
                <a:latin typeface="Arial MT"/>
                <a:cs typeface="Arial MT"/>
              </a:rPr>
              <a:t>(</a:t>
            </a:r>
            <a:r>
              <a:rPr dirty="0" sz="2400" spc="-10" i="1">
                <a:latin typeface="Arial"/>
                <a:cs typeface="Arial"/>
              </a:rPr>
              <a:t>n</a:t>
            </a:r>
            <a:r>
              <a:rPr dirty="0" sz="2400" spc="-10">
                <a:latin typeface="Arial MT"/>
                <a:cs typeface="Arial MT"/>
              </a:rPr>
              <a:t>):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3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4856" y="2555219"/>
            <a:ext cx="2045883" cy="109030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64352" y="2925889"/>
            <a:ext cx="2316479" cy="20002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81719" y="6062969"/>
            <a:ext cx="2096617" cy="695487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4664" y="1944117"/>
            <a:ext cx="22225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Or,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equivalently,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4138679"/>
            <a:ext cx="7938770" cy="2366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inductive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step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proof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another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common </a:t>
            </a:r>
            <a:r>
              <a:rPr dirty="0" sz="2400">
                <a:latin typeface="Arial MT"/>
                <a:cs typeface="Arial MT"/>
              </a:rPr>
              <a:t>technique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showing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equation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true: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We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start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left-</a:t>
            </a:r>
            <a:r>
              <a:rPr dirty="0" sz="2400">
                <a:latin typeface="Arial MT"/>
                <a:cs typeface="Arial MT"/>
              </a:rPr>
              <a:t>hand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side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transform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it</a:t>
            </a:r>
            <a:endParaRPr sz="2400">
              <a:latin typeface="Arial MT"/>
              <a:cs typeface="Arial MT"/>
            </a:endParaRPr>
          </a:p>
          <a:p>
            <a:pPr marL="12700" marR="371475">
              <a:lnSpc>
                <a:spcPct val="100000"/>
              </a:lnSpc>
            </a:pPr>
            <a:r>
              <a:rPr dirty="0" sz="2400" spc="-10">
                <a:latin typeface="Arial MT"/>
                <a:cs typeface="Arial MT"/>
              </a:rPr>
              <a:t>step-</a:t>
            </a:r>
            <a:r>
              <a:rPr dirty="0" sz="2400" spc="-20">
                <a:latin typeface="Arial MT"/>
                <a:cs typeface="Arial MT"/>
              </a:rPr>
              <a:t>by-</a:t>
            </a:r>
            <a:r>
              <a:rPr dirty="0" sz="2400">
                <a:latin typeface="Arial MT"/>
                <a:cs typeface="Arial MT"/>
              </a:rPr>
              <a:t>step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into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right-</a:t>
            </a:r>
            <a:r>
              <a:rPr dirty="0" sz="2400">
                <a:latin typeface="Arial MT"/>
                <a:cs typeface="Arial MT"/>
              </a:rPr>
              <a:t>hand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side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using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inductive </a:t>
            </a:r>
            <a:r>
              <a:rPr dirty="0" sz="2400">
                <a:latin typeface="Arial MT"/>
                <a:cs typeface="Arial MT"/>
              </a:rPr>
              <a:t>hypothesis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together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algebra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other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known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facts.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3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5679" y="2663300"/>
            <a:ext cx="2236521" cy="118586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22026" y="3167032"/>
            <a:ext cx="1676930" cy="166837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33771" y="6872737"/>
            <a:ext cx="279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Arial MT"/>
                <a:cs typeface="Arial MT"/>
              </a:rPr>
              <a:t>33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70915" y="495300"/>
            <a:ext cx="9054465" cy="1178560"/>
            <a:chOff x="470915" y="495300"/>
            <a:chExt cx="9054465" cy="1178560"/>
          </a:xfrm>
        </p:grpSpPr>
        <p:sp>
          <p:nvSpPr>
            <p:cNvPr id="4" name="object 4" descr=""/>
            <p:cNvSpPr/>
            <p:nvPr/>
          </p:nvSpPr>
          <p:spPr>
            <a:xfrm>
              <a:off x="761999" y="842771"/>
              <a:ext cx="8763000" cy="830580"/>
            </a:xfrm>
            <a:custGeom>
              <a:avLst/>
              <a:gdLst/>
              <a:ahLst/>
              <a:cxnLst/>
              <a:rect l="l" t="t" r="r" b="b"/>
              <a:pathLst>
                <a:path w="8763000" h="830580">
                  <a:moveTo>
                    <a:pt x="8762999" y="830579"/>
                  </a:moveTo>
                  <a:lnTo>
                    <a:pt x="8762999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8762999" y="830579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70915" y="4953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609599" y="304799"/>
                  </a:moveTo>
                  <a:lnTo>
                    <a:pt x="304799" y="0"/>
                  </a:lnTo>
                  <a:lnTo>
                    <a:pt x="0" y="304799"/>
                  </a:lnTo>
                  <a:lnTo>
                    <a:pt x="304799" y="609599"/>
                  </a:lnTo>
                  <a:lnTo>
                    <a:pt x="609599" y="304799"/>
                  </a:lnTo>
                  <a:close/>
                </a:path>
              </a:pathLst>
            </a:custGeom>
            <a:solidFill>
              <a:srgbClr val="CBDB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215" y="6096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0999" y="190499"/>
                  </a:moveTo>
                  <a:lnTo>
                    <a:pt x="190499" y="0"/>
                  </a:lnTo>
                  <a:lnTo>
                    <a:pt x="0" y="190499"/>
                  </a:lnTo>
                  <a:lnTo>
                    <a:pt x="190499" y="380999"/>
                  </a:lnTo>
                  <a:lnTo>
                    <a:pt x="380999" y="190499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994664" y="3919223"/>
            <a:ext cx="7942580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Proof</a:t>
            </a:r>
            <a:r>
              <a:rPr dirty="0" sz="2400" spc="-8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(by</a:t>
            </a:r>
            <a:r>
              <a:rPr dirty="0" sz="2400" spc="-8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mathematical</a:t>
            </a:r>
            <a:r>
              <a:rPr dirty="0" sz="2400" spc="-65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induction):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Suppose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6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particular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but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arbitrarily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chosen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real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number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equal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1,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let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property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 spc="-10">
                <a:latin typeface="Arial MT"/>
                <a:cs typeface="Arial MT"/>
              </a:rPr>
              <a:t>equation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94664" y="6333240"/>
            <a:ext cx="799782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We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must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integers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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Arial MT"/>
                <a:cs typeface="Arial MT"/>
              </a:rPr>
              <a:t>0.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do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mathematical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induction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n</a:t>
            </a:r>
            <a:r>
              <a:rPr dirty="0" sz="2400" spc="-25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3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7758" y="1898904"/>
            <a:ext cx="7914537" cy="1763267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29745" y="5522467"/>
            <a:ext cx="1725515" cy="683158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01394" y="5789824"/>
            <a:ext cx="607607" cy="16679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4664" y="1944117"/>
            <a:ext cx="5024120" cy="1269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Show</a:t>
            </a:r>
            <a:r>
              <a:rPr dirty="0" sz="2400" spc="-4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that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 i="1">
                <a:latin typeface="Arial"/>
                <a:cs typeface="Arial"/>
              </a:rPr>
              <a:t>P</a:t>
            </a:r>
            <a:r>
              <a:rPr dirty="0" sz="2400" b="1">
                <a:latin typeface="Arial"/>
                <a:cs typeface="Arial"/>
              </a:rPr>
              <a:t>(0)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is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true: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establish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(0),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must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69264" y="4138679"/>
            <a:ext cx="692721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left-</a:t>
            </a:r>
            <a:r>
              <a:rPr dirty="0" sz="2400">
                <a:latin typeface="Arial MT"/>
                <a:cs typeface="Arial MT"/>
              </a:rPr>
              <a:t>hand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side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equation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400" i="1">
                <a:latin typeface="Arial"/>
                <a:cs typeface="Arial"/>
              </a:rPr>
              <a:t> </a:t>
            </a:r>
            <a:r>
              <a:rPr dirty="0" baseline="24305" sz="2400">
                <a:latin typeface="Arial MT"/>
                <a:cs typeface="Arial MT"/>
              </a:rPr>
              <a:t>0</a:t>
            </a:r>
            <a:r>
              <a:rPr dirty="0" baseline="24305" sz="2400" spc="277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25">
                <a:latin typeface="Arial MT"/>
                <a:cs typeface="Arial MT"/>
              </a:rPr>
              <a:t> the </a:t>
            </a:r>
            <a:r>
              <a:rPr dirty="0" sz="2400" spc="-20">
                <a:latin typeface="Arial MT"/>
                <a:cs typeface="Arial MT"/>
              </a:rPr>
              <a:t>right-</a:t>
            </a:r>
            <a:r>
              <a:rPr dirty="0" sz="2400">
                <a:latin typeface="Arial MT"/>
                <a:cs typeface="Arial MT"/>
              </a:rPr>
              <a:t>hand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side</a:t>
            </a:r>
            <a:r>
              <a:rPr dirty="0" sz="2400" spc="-25">
                <a:latin typeface="Arial MT"/>
                <a:cs typeface="Arial MT"/>
              </a:rPr>
              <a:t> is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9264" y="5821176"/>
            <a:ext cx="665225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also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because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390" i="1">
                <a:latin typeface="Arial"/>
                <a:cs typeface="Arial"/>
              </a:rPr>
              <a:t> </a:t>
            </a:r>
            <a:r>
              <a:rPr dirty="0" baseline="24305" sz="2400">
                <a:latin typeface="Arial MT"/>
                <a:cs typeface="Arial MT"/>
              </a:rPr>
              <a:t>1</a:t>
            </a:r>
            <a:r>
              <a:rPr dirty="0" baseline="24305" sz="2400" spc="277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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>
                <a:latin typeface="Arial MT"/>
                <a:cs typeface="Arial MT"/>
              </a:rPr>
              <a:t>1.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Hence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(0)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true</a:t>
            </a:r>
            <a:r>
              <a:rPr dirty="0" sz="2400" spc="-10" i="1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3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0176" y="3403806"/>
            <a:ext cx="1530188" cy="61123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96228" y="3640880"/>
            <a:ext cx="698816" cy="20426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03802" y="4999931"/>
            <a:ext cx="2453062" cy="59559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37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Arial"/>
                <a:cs typeface="Arial"/>
              </a:rPr>
              <a:t>Show</a:t>
            </a:r>
            <a:r>
              <a:rPr dirty="0" spc="-4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that</a:t>
            </a:r>
            <a:r>
              <a:rPr dirty="0" spc="-4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for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all</a:t>
            </a:r>
            <a:r>
              <a:rPr dirty="0" spc="-4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integers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b="1" i="1">
                <a:latin typeface="Arial"/>
                <a:cs typeface="Arial"/>
              </a:rPr>
              <a:t>k</a:t>
            </a:r>
            <a:r>
              <a:rPr dirty="0" spc="-35" b="1" i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≥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0,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if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b="1" i="1">
                <a:latin typeface="Arial"/>
                <a:cs typeface="Arial"/>
              </a:rPr>
              <a:t>P</a:t>
            </a:r>
            <a:r>
              <a:rPr dirty="0" b="1">
                <a:latin typeface="Arial"/>
                <a:cs typeface="Arial"/>
              </a:rPr>
              <a:t>(</a:t>
            </a:r>
            <a:r>
              <a:rPr dirty="0" b="1" i="1">
                <a:latin typeface="Arial"/>
                <a:cs typeface="Arial"/>
              </a:rPr>
              <a:t>k</a:t>
            </a:r>
            <a:r>
              <a:rPr dirty="0" b="1">
                <a:latin typeface="Arial"/>
                <a:cs typeface="Arial"/>
              </a:rPr>
              <a:t>)</a:t>
            </a:r>
            <a:r>
              <a:rPr dirty="0" spc="-4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is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true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spc="-20" b="1">
                <a:latin typeface="Arial"/>
                <a:cs typeface="Arial"/>
              </a:rPr>
              <a:t>then</a:t>
            </a:r>
          </a:p>
          <a:p>
            <a:pPr marL="12700">
              <a:lnSpc>
                <a:spcPct val="100000"/>
              </a:lnSpc>
            </a:pPr>
            <a:r>
              <a:rPr dirty="0" b="1" i="1">
                <a:latin typeface="Arial"/>
                <a:cs typeface="Arial"/>
              </a:rPr>
              <a:t>P</a:t>
            </a:r>
            <a:r>
              <a:rPr dirty="0" b="1">
                <a:latin typeface="Arial"/>
                <a:cs typeface="Arial"/>
              </a:rPr>
              <a:t>(</a:t>
            </a:r>
            <a:r>
              <a:rPr dirty="0" b="1" i="1">
                <a:latin typeface="Arial"/>
                <a:cs typeface="Arial"/>
              </a:rPr>
              <a:t>k</a:t>
            </a:r>
            <a:r>
              <a:rPr dirty="0" spc="-20" b="1" i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+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1)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is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also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 spc="-20" b="1">
                <a:latin typeface="Arial"/>
                <a:cs typeface="Arial"/>
              </a:rPr>
              <a:t>true:</a:t>
            </a:r>
          </a:p>
          <a:p>
            <a:pPr marL="12700" marR="5080">
              <a:lnSpc>
                <a:spcPct val="100000"/>
              </a:lnSpc>
              <a:spcBef>
                <a:spcPts val="575"/>
              </a:spcBef>
            </a:pPr>
            <a:r>
              <a:rPr dirty="0" i="1">
                <a:latin typeface="Arial"/>
                <a:cs typeface="Arial"/>
              </a:rPr>
              <a:t>[Suppose</a:t>
            </a:r>
            <a:r>
              <a:rPr dirty="0" spc="-3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that</a:t>
            </a:r>
            <a:r>
              <a:rPr dirty="0" spc="-5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P</a:t>
            </a:r>
            <a:r>
              <a:rPr dirty="0"/>
              <a:t>(</a:t>
            </a:r>
            <a:r>
              <a:rPr dirty="0" i="1">
                <a:latin typeface="Arial"/>
                <a:cs typeface="Arial"/>
              </a:rPr>
              <a:t>k</a:t>
            </a:r>
            <a:r>
              <a:rPr dirty="0"/>
              <a:t>)</a:t>
            </a:r>
            <a:r>
              <a:rPr dirty="0" spc="-55"/>
              <a:t> </a:t>
            </a:r>
            <a:r>
              <a:rPr dirty="0" i="1">
                <a:latin typeface="Arial"/>
                <a:cs typeface="Arial"/>
              </a:rPr>
              <a:t>is</a:t>
            </a:r>
            <a:r>
              <a:rPr dirty="0" spc="-4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true</a:t>
            </a:r>
            <a:r>
              <a:rPr dirty="0" spc="-5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for</a:t>
            </a:r>
            <a:r>
              <a:rPr dirty="0" spc="-6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a</a:t>
            </a:r>
            <a:r>
              <a:rPr dirty="0" spc="-4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particular</a:t>
            </a:r>
            <a:r>
              <a:rPr dirty="0" spc="-3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but</a:t>
            </a:r>
            <a:r>
              <a:rPr dirty="0" spc="-50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arbitrarily </a:t>
            </a:r>
            <a:r>
              <a:rPr dirty="0" i="1">
                <a:latin typeface="Arial"/>
                <a:cs typeface="Arial"/>
              </a:rPr>
              <a:t>chosen</a:t>
            </a:r>
            <a:r>
              <a:rPr dirty="0" spc="-3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integer</a:t>
            </a:r>
            <a:r>
              <a:rPr dirty="0" spc="-3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k</a:t>
            </a:r>
            <a:r>
              <a:rPr dirty="0" spc="-65" i="1">
                <a:latin typeface="Arial"/>
                <a:cs typeface="Arial"/>
              </a:rPr>
              <a:t> </a:t>
            </a:r>
            <a:r>
              <a:rPr dirty="0">
                <a:latin typeface="Symbol"/>
                <a:cs typeface="Symbol"/>
              </a:rPr>
              <a:t></a:t>
            </a:r>
            <a:r>
              <a:rPr dirty="0" spc="20">
                <a:latin typeface="Times New Roman"/>
                <a:cs typeface="Times New Roman"/>
              </a:rPr>
              <a:t> </a:t>
            </a:r>
            <a:r>
              <a:rPr dirty="0"/>
              <a:t>0.</a:t>
            </a:r>
            <a:r>
              <a:rPr dirty="0" spc="-55"/>
              <a:t> </a:t>
            </a:r>
            <a:r>
              <a:rPr dirty="0" i="1">
                <a:latin typeface="Arial"/>
                <a:cs typeface="Arial"/>
              </a:rPr>
              <a:t>That</a:t>
            </a:r>
            <a:r>
              <a:rPr dirty="0" spc="-30" i="1">
                <a:latin typeface="Arial"/>
                <a:cs typeface="Arial"/>
              </a:rPr>
              <a:t> </a:t>
            </a:r>
            <a:r>
              <a:rPr dirty="0" spc="-20" i="1">
                <a:latin typeface="Arial"/>
                <a:cs typeface="Arial"/>
              </a:rPr>
              <a:t>is:]</a:t>
            </a: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/>
              <a:t>Let</a:t>
            </a:r>
            <a:r>
              <a:rPr dirty="0" spc="-45"/>
              <a:t> </a:t>
            </a:r>
            <a:r>
              <a:rPr dirty="0" i="1">
                <a:latin typeface="Arial"/>
                <a:cs typeface="Arial"/>
              </a:rPr>
              <a:t>k</a:t>
            </a:r>
            <a:r>
              <a:rPr dirty="0" spc="-35" i="1">
                <a:latin typeface="Arial"/>
                <a:cs typeface="Arial"/>
              </a:rPr>
              <a:t> </a:t>
            </a:r>
            <a:r>
              <a:rPr dirty="0"/>
              <a:t>be</a:t>
            </a:r>
            <a:r>
              <a:rPr dirty="0" spc="-35"/>
              <a:t> </a:t>
            </a:r>
            <a:r>
              <a:rPr dirty="0"/>
              <a:t>any</a:t>
            </a:r>
            <a:r>
              <a:rPr dirty="0" spc="-35"/>
              <a:t> </a:t>
            </a:r>
            <a:r>
              <a:rPr dirty="0"/>
              <a:t>integer</a:t>
            </a:r>
            <a:r>
              <a:rPr dirty="0" spc="-30"/>
              <a:t> </a:t>
            </a:r>
            <a:r>
              <a:rPr dirty="0"/>
              <a:t>with</a:t>
            </a:r>
            <a:r>
              <a:rPr dirty="0" spc="-35"/>
              <a:t> </a:t>
            </a:r>
            <a:r>
              <a:rPr dirty="0" i="1">
                <a:latin typeface="Arial"/>
                <a:cs typeface="Arial"/>
              </a:rPr>
              <a:t>k</a:t>
            </a:r>
            <a:r>
              <a:rPr dirty="0" spc="-50" i="1">
                <a:latin typeface="Arial"/>
                <a:cs typeface="Arial"/>
              </a:rPr>
              <a:t> </a:t>
            </a:r>
            <a:r>
              <a:rPr dirty="0">
                <a:latin typeface="Symbol"/>
                <a:cs typeface="Symbol"/>
              </a:rPr>
              <a:t></a:t>
            </a:r>
            <a:r>
              <a:rPr dirty="0" spc="25">
                <a:latin typeface="Times New Roman"/>
                <a:cs typeface="Times New Roman"/>
              </a:rPr>
              <a:t> </a:t>
            </a:r>
            <a:r>
              <a:rPr dirty="0"/>
              <a:t>0,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suppose</a:t>
            </a:r>
            <a:r>
              <a:rPr dirty="0" spc="-15"/>
              <a:t> </a:t>
            </a:r>
            <a:r>
              <a:rPr dirty="0" spc="-20"/>
              <a:t>that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5309112"/>
            <a:ext cx="731139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Arial"/>
                <a:cs typeface="Arial"/>
              </a:rPr>
              <a:t>[We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must</a:t>
            </a:r>
            <a:r>
              <a:rPr dirty="0" sz="2400" spc="-1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show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that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is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true.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That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is:]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We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must </a:t>
            </a:r>
            <a:r>
              <a:rPr dirty="0" sz="2400">
                <a:latin typeface="Arial MT"/>
                <a:cs typeface="Arial MT"/>
              </a:rPr>
              <a:t>show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3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4654" y="4380489"/>
            <a:ext cx="1534490" cy="61167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55661" y="4479359"/>
            <a:ext cx="1430469" cy="37962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50765" y="6112556"/>
            <a:ext cx="2503196" cy="787205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37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4664" y="1944117"/>
            <a:ext cx="2821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Or,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equivalently,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3553462"/>
            <a:ext cx="787908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Arial"/>
                <a:cs typeface="Arial"/>
              </a:rPr>
              <a:t>[We</a:t>
            </a:r>
            <a:r>
              <a:rPr dirty="0" sz="2400" spc="-6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will</a:t>
            </a:r>
            <a:r>
              <a:rPr dirty="0" sz="2400" spc="-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show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that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the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left-</a:t>
            </a:r>
            <a:r>
              <a:rPr dirty="0" sz="2400" i="1">
                <a:latin typeface="Arial"/>
                <a:cs typeface="Arial"/>
              </a:rPr>
              <a:t>hand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side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of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equals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 spc="-25" i="1">
                <a:latin typeface="Arial"/>
                <a:cs typeface="Arial"/>
              </a:rPr>
              <a:t>the </a:t>
            </a:r>
            <a:r>
              <a:rPr dirty="0" sz="2400" spc="-20" i="1">
                <a:latin typeface="Arial"/>
                <a:cs typeface="Arial"/>
              </a:rPr>
              <a:t>right-</a:t>
            </a:r>
            <a:r>
              <a:rPr dirty="0" sz="2400" i="1">
                <a:latin typeface="Arial"/>
                <a:cs typeface="Arial"/>
              </a:rPr>
              <a:t>hand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side.]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left-</a:t>
            </a:r>
            <a:r>
              <a:rPr dirty="0" sz="2400">
                <a:latin typeface="Arial MT"/>
                <a:cs typeface="Arial MT"/>
              </a:rPr>
              <a:t>hand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side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3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7126" y="2526914"/>
            <a:ext cx="2303261" cy="86568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67796" y="2813685"/>
            <a:ext cx="919572" cy="162623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88676" y="4517540"/>
            <a:ext cx="2578523" cy="86558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89300" y="4683769"/>
            <a:ext cx="2374241" cy="39582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94435" y="6059493"/>
            <a:ext cx="2216818" cy="661868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00687" y="6213640"/>
            <a:ext cx="1763804" cy="399522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37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4664" y="5455416"/>
            <a:ext cx="7464425" cy="156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7147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which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right-</a:t>
            </a:r>
            <a:r>
              <a:rPr dirty="0" sz="2400">
                <a:latin typeface="Arial MT"/>
                <a:cs typeface="Arial MT"/>
              </a:rPr>
              <a:t>hand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side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[as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was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to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spc="-25" i="1">
                <a:latin typeface="Arial"/>
                <a:cs typeface="Arial"/>
              </a:rPr>
              <a:t>be </a:t>
            </a:r>
            <a:r>
              <a:rPr dirty="0" sz="2400" spc="-10" i="1">
                <a:latin typeface="Arial"/>
                <a:cs typeface="Arial"/>
              </a:rPr>
              <a:t>shown</a:t>
            </a:r>
            <a:r>
              <a:rPr dirty="0" sz="2400" spc="-10">
                <a:latin typeface="Arial MT"/>
                <a:cs typeface="Arial MT"/>
              </a:rPr>
              <a:t>.</a:t>
            </a:r>
            <a:r>
              <a:rPr dirty="0" sz="2400" spc="-10" i="1">
                <a:latin typeface="Arial"/>
                <a:cs typeface="Arial"/>
              </a:rPr>
              <a:t>]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75"/>
              </a:spcBef>
            </a:pPr>
            <a:r>
              <a:rPr dirty="0" sz="2400" i="1">
                <a:latin typeface="Arial"/>
                <a:cs typeface="Arial"/>
              </a:rPr>
              <a:t>[Since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we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have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proved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the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basis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step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and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the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inductive </a:t>
            </a:r>
            <a:r>
              <a:rPr dirty="0" sz="2400" i="1">
                <a:latin typeface="Arial"/>
                <a:cs typeface="Arial"/>
              </a:rPr>
              <a:t>step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we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conclude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that</a:t>
            </a:r>
            <a:r>
              <a:rPr dirty="0" sz="2400" spc="-6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the</a:t>
            </a:r>
            <a:r>
              <a:rPr dirty="0" sz="2400" spc="-6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theorem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is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true</a:t>
            </a:r>
            <a:r>
              <a:rPr dirty="0" sz="2400" spc="-10">
                <a:latin typeface="Arial MT"/>
                <a:cs typeface="Arial MT"/>
              </a:rPr>
              <a:t>.</a:t>
            </a:r>
            <a:r>
              <a:rPr dirty="0" sz="2400" spc="-10" i="1">
                <a:latin typeface="Arial"/>
                <a:cs typeface="Arial"/>
              </a:rPr>
              <a:t>]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3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2803" y="1986616"/>
            <a:ext cx="3018204" cy="63615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65437" y="2983897"/>
            <a:ext cx="3160319" cy="6376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82045" y="3910745"/>
            <a:ext cx="2964577" cy="63642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98946" y="4746596"/>
            <a:ext cx="1297593" cy="63642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19240" y="2115282"/>
            <a:ext cx="3051178" cy="52045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64823" y="3212519"/>
            <a:ext cx="1256312" cy="15439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64819" y="4064669"/>
            <a:ext cx="2403067" cy="316131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593779" y="4987426"/>
            <a:ext cx="1551680" cy="187370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37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0438" y="3753106"/>
            <a:ext cx="440055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0ADEE"/>
                </a:solidFill>
              </a:rPr>
              <a:t>Proving</a:t>
            </a:r>
            <a:r>
              <a:rPr dirty="0" spc="-90">
                <a:solidFill>
                  <a:srgbClr val="00ADEE"/>
                </a:solidFill>
              </a:rPr>
              <a:t> </a:t>
            </a:r>
            <a:r>
              <a:rPr dirty="0">
                <a:solidFill>
                  <a:srgbClr val="00ADEE"/>
                </a:solidFill>
              </a:rPr>
              <a:t>an</a:t>
            </a:r>
            <a:r>
              <a:rPr dirty="0" spc="-100">
                <a:solidFill>
                  <a:srgbClr val="00ADEE"/>
                </a:solidFill>
              </a:rPr>
              <a:t> </a:t>
            </a:r>
            <a:r>
              <a:rPr dirty="0" spc="-10">
                <a:solidFill>
                  <a:srgbClr val="00ADEE"/>
                </a:solidFill>
              </a:rPr>
              <a:t>Equality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37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3140" y="1944117"/>
            <a:ext cx="7936865" cy="4158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proofs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basis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inductive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steps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Examples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1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illustrate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two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different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ways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equation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10">
                <a:latin typeface="Arial MT"/>
                <a:cs typeface="Arial MT"/>
              </a:rPr>
              <a:t> true:</a:t>
            </a:r>
            <a:endParaRPr sz="2400">
              <a:latin typeface="Arial MT"/>
              <a:cs typeface="Arial MT"/>
            </a:endParaRPr>
          </a:p>
          <a:p>
            <a:pPr marL="12700" marR="135890" indent="457200">
              <a:lnSpc>
                <a:spcPct val="100000"/>
              </a:lnSpc>
              <a:spcBef>
                <a:spcPts val="2014"/>
              </a:spcBef>
              <a:buAutoNum type="arabicParenBoth"/>
              <a:tabLst>
                <a:tab pos="469900" algn="l"/>
              </a:tabLst>
            </a:pPr>
            <a:r>
              <a:rPr dirty="0" sz="2400">
                <a:latin typeface="Arial MT"/>
                <a:cs typeface="Arial MT"/>
              </a:rPr>
              <a:t>transforming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left-</a:t>
            </a:r>
            <a:r>
              <a:rPr dirty="0" sz="2400">
                <a:latin typeface="Arial MT"/>
                <a:cs typeface="Arial MT"/>
              </a:rPr>
              <a:t>hand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side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right-</a:t>
            </a:r>
            <a:r>
              <a:rPr dirty="0" sz="2400">
                <a:latin typeface="Arial MT"/>
                <a:cs typeface="Arial MT"/>
              </a:rPr>
              <a:t>hand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side </a:t>
            </a:r>
            <a:r>
              <a:rPr dirty="0" sz="2400">
                <a:latin typeface="Arial MT"/>
                <a:cs typeface="Arial MT"/>
              </a:rPr>
              <a:t>independently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until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they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seen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equal,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and</a:t>
            </a:r>
            <a:endParaRPr sz="2400">
              <a:latin typeface="Arial MT"/>
              <a:cs typeface="Arial MT"/>
            </a:endParaRPr>
          </a:p>
          <a:p>
            <a:pPr marL="12700" marR="152400" indent="457200">
              <a:lnSpc>
                <a:spcPct val="100000"/>
              </a:lnSpc>
              <a:spcBef>
                <a:spcPts val="575"/>
              </a:spcBef>
              <a:buAutoNum type="arabicParenBoth"/>
              <a:tabLst>
                <a:tab pos="469900" algn="l"/>
              </a:tabLst>
            </a:pPr>
            <a:r>
              <a:rPr dirty="0" sz="2400">
                <a:latin typeface="Arial MT"/>
                <a:cs typeface="Arial MT"/>
              </a:rPr>
              <a:t>transforming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side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equation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until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seen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to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same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other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side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equation.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12700" marR="153035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Arial MT"/>
                <a:cs typeface="Arial MT"/>
              </a:rPr>
              <a:t>Sometimes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people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method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they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believe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proves </a:t>
            </a:r>
            <a:r>
              <a:rPr dirty="0" sz="2400">
                <a:latin typeface="Arial MT"/>
                <a:cs typeface="Arial MT"/>
              </a:rPr>
              <a:t>equality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but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actually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invalid.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Proving</a:t>
            </a:r>
            <a:r>
              <a:rPr dirty="0" spc="-90"/>
              <a:t> </a:t>
            </a:r>
            <a:r>
              <a:rPr dirty="0"/>
              <a:t>an</a:t>
            </a:r>
            <a:r>
              <a:rPr dirty="0" spc="-100"/>
              <a:t> </a:t>
            </a:r>
            <a:r>
              <a:rPr dirty="0" spc="-10"/>
              <a:t>Equality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4664" y="1944117"/>
            <a:ext cx="7547609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example,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prove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basis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step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Theorem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5.2.3, </a:t>
            </a:r>
            <a:r>
              <a:rPr dirty="0" sz="2400">
                <a:latin typeface="Arial MT"/>
                <a:cs typeface="Arial MT"/>
              </a:rPr>
              <a:t>they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perform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following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steps: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Proving</a:t>
            </a:r>
            <a:r>
              <a:rPr dirty="0" spc="-90"/>
              <a:t> </a:t>
            </a:r>
            <a:r>
              <a:rPr dirty="0"/>
              <a:t>an</a:t>
            </a:r>
            <a:r>
              <a:rPr dirty="0" spc="-100"/>
              <a:t> </a:t>
            </a:r>
            <a:r>
              <a:rPr dirty="0" spc="-10"/>
              <a:t>Equality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6942" y="3187448"/>
            <a:ext cx="2183229" cy="2790287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37</a:t>
            </a:fld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50"/>
              <a:t> </a:t>
            </a:r>
            <a:r>
              <a:rPr dirty="0"/>
              <a:t>problem</a:t>
            </a:r>
            <a:r>
              <a:rPr dirty="0" spc="-45"/>
              <a:t> </a:t>
            </a:r>
            <a:r>
              <a:rPr dirty="0"/>
              <a:t>with</a:t>
            </a:r>
            <a:r>
              <a:rPr dirty="0" spc="-40"/>
              <a:t> </a:t>
            </a:r>
            <a:r>
              <a:rPr dirty="0"/>
              <a:t>this</a:t>
            </a:r>
            <a:r>
              <a:rPr dirty="0" spc="-55"/>
              <a:t> </a:t>
            </a:r>
            <a:r>
              <a:rPr dirty="0"/>
              <a:t>method</a:t>
            </a:r>
            <a:r>
              <a:rPr dirty="0" spc="-50"/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/>
              <a:t>that</a:t>
            </a:r>
            <a:r>
              <a:rPr dirty="0" spc="-50"/>
              <a:t> </a:t>
            </a:r>
            <a:r>
              <a:rPr dirty="0"/>
              <a:t>starting</a:t>
            </a:r>
            <a:r>
              <a:rPr dirty="0" spc="-60"/>
              <a:t> </a:t>
            </a:r>
            <a:r>
              <a:rPr dirty="0"/>
              <a:t>from</a:t>
            </a:r>
            <a:r>
              <a:rPr dirty="0" spc="-75"/>
              <a:t> </a:t>
            </a:r>
            <a:r>
              <a:rPr dirty="0" spc="-50"/>
              <a:t>a </a:t>
            </a:r>
            <a:r>
              <a:rPr dirty="0"/>
              <a:t>statement</a:t>
            </a:r>
            <a:r>
              <a:rPr dirty="0" spc="-85"/>
              <a:t> </a:t>
            </a:r>
            <a:r>
              <a:rPr dirty="0"/>
              <a:t>and</a:t>
            </a:r>
            <a:r>
              <a:rPr dirty="0" spc="-60"/>
              <a:t> </a:t>
            </a:r>
            <a:r>
              <a:rPr dirty="0"/>
              <a:t>deducing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75"/>
              <a:t> </a:t>
            </a:r>
            <a:r>
              <a:rPr dirty="0"/>
              <a:t>true</a:t>
            </a:r>
            <a:r>
              <a:rPr dirty="0" spc="-80"/>
              <a:t> </a:t>
            </a:r>
            <a:r>
              <a:rPr dirty="0"/>
              <a:t>conclusion</a:t>
            </a:r>
            <a:r>
              <a:rPr dirty="0" spc="-35"/>
              <a:t> </a:t>
            </a:r>
            <a:r>
              <a:rPr dirty="0"/>
              <a:t>does</a:t>
            </a:r>
            <a:r>
              <a:rPr dirty="0" spc="-60"/>
              <a:t> </a:t>
            </a:r>
            <a:r>
              <a:rPr dirty="0"/>
              <a:t>not</a:t>
            </a:r>
            <a:r>
              <a:rPr dirty="0" spc="-70"/>
              <a:t> </a:t>
            </a:r>
            <a:r>
              <a:rPr dirty="0" spc="-10"/>
              <a:t>prove </a:t>
            </a:r>
            <a:r>
              <a:rPr dirty="0"/>
              <a:t>that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/>
              <a:t>statement</a:t>
            </a:r>
            <a:r>
              <a:rPr dirty="0" spc="-55"/>
              <a:t> </a:t>
            </a:r>
            <a:r>
              <a:rPr dirty="0"/>
              <a:t>is</a:t>
            </a:r>
            <a:r>
              <a:rPr dirty="0" spc="-40"/>
              <a:t> </a:t>
            </a:r>
            <a:r>
              <a:rPr dirty="0" spc="-10"/>
              <a:t>true.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/>
          </a:p>
          <a:p>
            <a:pPr marL="12700" marR="498475">
              <a:lnSpc>
                <a:spcPct val="100000"/>
              </a:lnSpc>
            </a:pPr>
            <a:r>
              <a:rPr dirty="0"/>
              <a:t>A</a:t>
            </a:r>
            <a:r>
              <a:rPr dirty="0" spc="-55"/>
              <a:t> </a:t>
            </a:r>
            <a:r>
              <a:rPr dirty="0"/>
              <a:t>true</a:t>
            </a:r>
            <a:r>
              <a:rPr dirty="0" spc="-65"/>
              <a:t> </a:t>
            </a:r>
            <a:r>
              <a:rPr dirty="0"/>
              <a:t>conclusion</a:t>
            </a:r>
            <a:r>
              <a:rPr dirty="0" spc="-20"/>
              <a:t> </a:t>
            </a:r>
            <a:r>
              <a:rPr dirty="0"/>
              <a:t>can</a:t>
            </a:r>
            <a:r>
              <a:rPr dirty="0" spc="-55"/>
              <a:t> </a:t>
            </a:r>
            <a:r>
              <a:rPr dirty="0"/>
              <a:t>also</a:t>
            </a:r>
            <a:r>
              <a:rPr dirty="0" spc="-45"/>
              <a:t> </a:t>
            </a:r>
            <a:r>
              <a:rPr dirty="0"/>
              <a:t>be</a:t>
            </a:r>
            <a:r>
              <a:rPr dirty="0" spc="-50"/>
              <a:t> </a:t>
            </a:r>
            <a:r>
              <a:rPr dirty="0"/>
              <a:t>deduced</a:t>
            </a:r>
            <a:r>
              <a:rPr dirty="0" spc="-35"/>
              <a:t> </a:t>
            </a:r>
            <a:r>
              <a:rPr dirty="0"/>
              <a:t>from</a:t>
            </a:r>
            <a:r>
              <a:rPr dirty="0" spc="-75"/>
              <a:t> </a:t>
            </a:r>
            <a:r>
              <a:rPr dirty="0"/>
              <a:t>a</a:t>
            </a:r>
            <a:r>
              <a:rPr dirty="0" spc="-55"/>
              <a:t> </a:t>
            </a:r>
            <a:r>
              <a:rPr dirty="0" spc="-10"/>
              <a:t>false </a:t>
            </a:r>
            <a:r>
              <a:rPr dirty="0"/>
              <a:t>statement.</a:t>
            </a:r>
            <a:r>
              <a:rPr dirty="0" spc="-75"/>
              <a:t> </a:t>
            </a:r>
            <a:r>
              <a:rPr dirty="0"/>
              <a:t>For</a:t>
            </a:r>
            <a:r>
              <a:rPr dirty="0" spc="-75"/>
              <a:t> </a:t>
            </a:r>
            <a:r>
              <a:rPr dirty="0"/>
              <a:t>instance,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/>
              <a:t>steps</a:t>
            </a:r>
            <a:r>
              <a:rPr dirty="0" spc="-55"/>
              <a:t> </a:t>
            </a:r>
            <a:r>
              <a:rPr dirty="0"/>
              <a:t>below</a:t>
            </a:r>
            <a:r>
              <a:rPr dirty="0" spc="-40"/>
              <a:t> </a:t>
            </a:r>
            <a:r>
              <a:rPr dirty="0"/>
              <a:t>show</a:t>
            </a:r>
            <a:r>
              <a:rPr dirty="0" spc="-55"/>
              <a:t> </a:t>
            </a:r>
            <a:r>
              <a:rPr dirty="0"/>
              <a:t>how</a:t>
            </a:r>
            <a:r>
              <a:rPr dirty="0" spc="-50"/>
              <a:t> </a:t>
            </a:r>
            <a:r>
              <a:rPr dirty="0" spc="-25"/>
              <a:t>to </a:t>
            </a:r>
            <a:r>
              <a:rPr dirty="0"/>
              <a:t>deduce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true</a:t>
            </a:r>
            <a:r>
              <a:rPr dirty="0" spc="-55"/>
              <a:t> </a:t>
            </a:r>
            <a:r>
              <a:rPr dirty="0"/>
              <a:t>conclusion</a:t>
            </a:r>
            <a:r>
              <a:rPr dirty="0" spc="-10"/>
              <a:t> </a:t>
            </a:r>
            <a:r>
              <a:rPr dirty="0"/>
              <a:t>that</a:t>
            </a:r>
            <a:r>
              <a:rPr dirty="0" spc="-60"/>
              <a:t> </a:t>
            </a:r>
            <a:r>
              <a:rPr dirty="0"/>
              <a:t>1</a:t>
            </a:r>
            <a:r>
              <a:rPr dirty="0" spc="-45"/>
              <a:t> </a:t>
            </a:r>
            <a:r>
              <a:rPr dirty="0"/>
              <a:t>=</a:t>
            </a:r>
            <a:r>
              <a:rPr dirty="0" spc="-50"/>
              <a:t> </a:t>
            </a:r>
            <a:r>
              <a:rPr dirty="0"/>
              <a:t>1</a:t>
            </a:r>
            <a:r>
              <a:rPr dirty="0" spc="-45"/>
              <a:t> </a:t>
            </a:r>
            <a:r>
              <a:rPr dirty="0"/>
              <a:t>from</a:t>
            </a:r>
            <a:r>
              <a:rPr dirty="0" spc="-70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 spc="-10"/>
              <a:t>false </a:t>
            </a:r>
            <a:r>
              <a:rPr dirty="0"/>
              <a:t>statement</a:t>
            </a:r>
            <a:r>
              <a:rPr dirty="0" spc="-55"/>
              <a:t> </a:t>
            </a:r>
            <a:r>
              <a:rPr dirty="0"/>
              <a:t>that</a:t>
            </a:r>
            <a:r>
              <a:rPr dirty="0" spc="-40"/>
              <a:t> </a:t>
            </a:r>
            <a:r>
              <a:rPr dirty="0"/>
              <a:t>1</a:t>
            </a:r>
            <a:r>
              <a:rPr dirty="0" spc="-35"/>
              <a:t> </a:t>
            </a:r>
            <a:r>
              <a:rPr dirty="0"/>
              <a:t>=</a:t>
            </a:r>
            <a:r>
              <a:rPr dirty="0" spc="-55"/>
              <a:t> </a:t>
            </a:r>
            <a:r>
              <a:rPr dirty="0" spc="-25"/>
              <a:t>0: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Proving</a:t>
            </a:r>
            <a:r>
              <a:rPr dirty="0" spc="-90"/>
              <a:t> </a:t>
            </a:r>
            <a:r>
              <a:rPr dirty="0"/>
              <a:t>an</a:t>
            </a:r>
            <a:r>
              <a:rPr dirty="0" spc="-100"/>
              <a:t> </a:t>
            </a:r>
            <a:r>
              <a:rPr dirty="0" spc="-10"/>
              <a:t>Equality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9903" y="5440241"/>
            <a:ext cx="653060" cy="20428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20796" y="6021509"/>
            <a:ext cx="653330" cy="20485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93443" y="5489515"/>
            <a:ext cx="587946" cy="138582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37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4664" y="3699766"/>
            <a:ext cx="802767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When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using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mathematical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induction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prove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formulas,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be </a:t>
            </a:r>
            <a:r>
              <a:rPr dirty="0" sz="2400">
                <a:latin typeface="Arial MT"/>
                <a:cs typeface="Arial MT"/>
              </a:rPr>
              <a:t>sure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method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avoids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invalid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reasoning,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both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for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basis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step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inductive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step.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Proving</a:t>
            </a:r>
            <a:r>
              <a:rPr dirty="0" spc="-90"/>
              <a:t> </a:t>
            </a:r>
            <a:r>
              <a:rPr dirty="0"/>
              <a:t>an</a:t>
            </a:r>
            <a:r>
              <a:rPr dirty="0" spc="-100"/>
              <a:t> </a:t>
            </a:r>
            <a:r>
              <a:rPr dirty="0" spc="-10"/>
              <a:t>Equality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5963" y="2156764"/>
            <a:ext cx="1625932" cy="22990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57090" y="2888284"/>
            <a:ext cx="628631" cy="19994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43195" y="2934380"/>
            <a:ext cx="525156" cy="117121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37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4765" y="3753106"/>
            <a:ext cx="677037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>
                <a:solidFill>
                  <a:srgbClr val="00ADEE"/>
                </a:solidFill>
              </a:rPr>
              <a:t>Deducing</a:t>
            </a:r>
            <a:r>
              <a:rPr dirty="0" spc="-260">
                <a:solidFill>
                  <a:srgbClr val="00ADEE"/>
                </a:solidFill>
              </a:rPr>
              <a:t> </a:t>
            </a:r>
            <a:r>
              <a:rPr dirty="0">
                <a:solidFill>
                  <a:srgbClr val="00ADEE"/>
                </a:solidFill>
              </a:rPr>
              <a:t>Additional</a:t>
            </a:r>
            <a:r>
              <a:rPr dirty="0" spc="-150">
                <a:solidFill>
                  <a:srgbClr val="00ADEE"/>
                </a:solidFill>
              </a:rPr>
              <a:t> </a:t>
            </a:r>
            <a:r>
              <a:rPr dirty="0" spc="-10">
                <a:solidFill>
                  <a:srgbClr val="00ADEE"/>
                </a:solidFill>
              </a:rPr>
              <a:t>Formulas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37</a:t>
            </a:fld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3140" y="1944117"/>
            <a:ext cx="7684134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formula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sum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geometric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sequence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be </a:t>
            </a:r>
            <a:r>
              <a:rPr dirty="0" sz="2400">
                <a:latin typeface="Arial MT"/>
                <a:cs typeface="Arial MT"/>
              </a:rPr>
              <a:t>thought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family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different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formulas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for </a:t>
            </a:r>
            <a:r>
              <a:rPr dirty="0" sz="2400">
                <a:latin typeface="Arial MT"/>
                <a:cs typeface="Arial MT"/>
              </a:rPr>
              <a:t>each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real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number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8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except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1.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Deducing</a:t>
            </a:r>
            <a:r>
              <a:rPr dirty="0" spc="-175"/>
              <a:t> </a:t>
            </a:r>
            <a:r>
              <a:rPr dirty="0"/>
              <a:t>Additional</a:t>
            </a:r>
            <a:r>
              <a:rPr dirty="0" spc="-180"/>
              <a:t> </a:t>
            </a:r>
            <a:r>
              <a:rPr dirty="0" spc="-10"/>
              <a:t>Formulas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4664" y="1944117"/>
            <a:ext cx="795210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0000"/>
                </a:solidFill>
              </a:rPr>
              <a:t>In</a:t>
            </a:r>
            <a:r>
              <a:rPr dirty="0" sz="2400" spc="-5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each</a:t>
            </a:r>
            <a:r>
              <a:rPr dirty="0" sz="2400" spc="-3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of</a:t>
            </a:r>
            <a:r>
              <a:rPr dirty="0" sz="2400" spc="-4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(</a:t>
            </a:r>
            <a:r>
              <a:rPr dirty="0" sz="2400" b="1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dirty="0" sz="2400">
                <a:solidFill>
                  <a:srgbClr val="000000"/>
                </a:solidFill>
              </a:rPr>
              <a:t>)</a:t>
            </a:r>
            <a:r>
              <a:rPr dirty="0" sz="2400" spc="-5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and</a:t>
            </a:r>
            <a:r>
              <a:rPr dirty="0" sz="2400" spc="-3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(</a:t>
            </a:r>
            <a:r>
              <a:rPr dirty="0" sz="2400" b="1">
                <a:solidFill>
                  <a:srgbClr val="000000"/>
                </a:solidFill>
                <a:latin typeface="Arial"/>
                <a:cs typeface="Arial"/>
              </a:rPr>
              <a:t>b</a:t>
            </a:r>
            <a:r>
              <a:rPr dirty="0" sz="2400">
                <a:solidFill>
                  <a:srgbClr val="000000"/>
                </a:solidFill>
              </a:rPr>
              <a:t>)</a:t>
            </a:r>
            <a:r>
              <a:rPr dirty="0" sz="2400" spc="-6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below,</a:t>
            </a:r>
            <a:r>
              <a:rPr dirty="0" sz="2400" spc="-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assume</a:t>
            </a:r>
            <a:r>
              <a:rPr dirty="0" sz="2400" spc="-4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that</a:t>
            </a:r>
            <a:r>
              <a:rPr dirty="0" sz="2400" spc="-40">
                <a:solidFill>
                  <a:srgbClr val="000000"/>
                </a:solidFill>
              </a:rPr>
              <a:t> </a:t>
            </a:r>
            <a:r>
              <a:rPr dirty="0" sz="2400" i="1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dirty="0" sz="2400" spc="-50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</a:rPr>
              <a:t>is</a:t>
            </a:r>
            <a:r>
              <a:rPr dirty="0" sz="2400" spc="-3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an</a:t>
            </a:r>
            <a:r>
              <a:rPr dirty="0" sz="2400" spc="-30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integer </a:t>
            </a:r>
            <a:r>
              <a:rPr dirty="0" sz="2400">
                <a:solidFill>
                  <a:srgbClr val="000000"/>
                </a:solidFill>
              </a:rPr>
              <a:t>that</a:t>
            </a:r>
            <a:r>
              <a:rPr dirty="0" sz="2400" spc="-4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is</a:t>
            </a:r>
            <a:r>
              <a:rPr dirty="0" sz="2400" spc="-4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greater</a:t>
            </a:r>
            <a:r>
              <a:rPr dirty="0" sz="2400" spc="-5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than</a:t>
            </a:r>
            <a:r>
              <a:rPr dirty="0" sz="2400" spc="-4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or</a:t>
            </a:r>
            <a:r>
              <a:rPr dirty="0" sz="2400" spc="-5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equal</a:t>
            </a:r>
            <a:r>
              <a:rPr dirty="0" sz="2400" spc="-2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to</a:t>
            </a:r>
            <a:r>
              <a:rPr dirty="0" sz="2400" spc="-5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3</a:t>
            </a:r>
            <a:r>
              <a:rPr dirty="0" sz="2400" i="1">
                <a:solidFill>
                  <a:srgbClr val="000000"/>
                </a:solidFill>
                <a:latin typeface="Arial"/>
                <a:cs typeface="Arial"/>
              </a:rPr>
              <a:t>.</a:t>
            </a:r>
            <a:r>
              <a:rPr dirty="0" sz="2400" spc="-45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0000"/>
                </a:solidFill>
              </a:rPr>
              <a:t>Write</a:t>
            </a:r>
            <a:r>
              <a:rPr dirty="0" sz="2400" spc="-4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each</a:t>
            </a:r>
            <a:r>
              <a:rPr dirty="0" sz="2400" spc="-4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of</a:t>
            </a:r>
            <a:r>
              <a:rPr dirty="0" sz="2400" spc="-4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the</a:t>
            </a:r>
            <a:r>
              <a:rPr dirty="0" sz="2400" spc="-4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sums</a:t>
            </a:r>
            <a:r>
              <a:rPr dirty="0" sz="2400" spc="-55">
                <a:solidFill>
                  <a:srgbClr val="000000"/>
                </a:solidFill>
              </a:rPr>
              <a:t> </a:t>
            </a:r>
            <a:r>
              <a:rPr dirty="0" sz="2400" spc="-25">
                <a:solidFill>
                  <a:srgbClr val="000000"/>
                </a:solidFill>
              </a:rPr>
              <a:t>in </a:t>
            </a:r>
            <a:r>
              <a:rPr dirty="0" sz="2400">
                <a:solidFill>
                  <a:srgbClr val="000000"/>
                </a:solidFill>
              </a:rPr>
              <a:t>closed</a:t>
            </a:r>
            <a:r>
              <a:rPr dirty="0" sz="2400" spc="-75">
                <a:solidFill>
                  <a:srgbClr val="000000"/>
                </a:solidFill>
              </a:rPr>
              <a:t> </a:t>
            </a:r>
            <a:r>
              <a:rPr dirty="0" sz="2400" spc="-20">
                <a:solidFill>
                  <a:srgbClr val="000000"/>
                </a:solidFill>
              </a:rPr>
              <a:t>form.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3023110"/>
            <a:ext cx="1209040" cy="2549525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2400" spc="-25" b="1">
                <a:latin typeface="Arial"/>
                <a:cs typeface="Arial"/>
              </a:rPr>
              <a:t>a.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 spc="-25" b="1">
                <a:latin typeface="Arial"/>
                <a:cs typeface="Arial"/>
              </a:rPr>
              <a:t>b.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 spc="-10">
                <a:solidFill>
                  <a:srgbClr val="00ADEE"/>
                </a:solidFill>
                <a:latin typeface="Arial MT"/>
                <a:cs typeface="Arial MT"/>
              </a:rPr>
              <a:t>Solution: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400" spc="-25" b="1">
                <a:latin typeface="Arial"/>
                <a:cs typeface="Arial"/>
              </a:rPr>
              <a:t>a.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54456" y="1067816"/>
            <a:ext cx="784542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Example</a:t>
            </a:r>
            <a:r>
              <a:rPr dirty="0" sz="1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r>
              <a:rPr dirty="0" sz="1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dirty="0" sz="19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i="1">
                <a:solidFill>
                  <a:srgbClr val="FFFFFF"/>
                </a:solidFill>
                <a:latin typeface="Arial"/>
                <a:cs typeface="Arial"/>
              </a:rPr>
              <a:t>Applying</a:t>
            </a:r>
            <a:r>
              <a:rPr dirty="0" sz="1900" spc="-1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i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900" spc="-3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i="1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r>
              <a:rPr dirty="0" sz="1900" spc="-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i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900" spc="-4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i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900" spc="-3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i="1">
                <a:solidFill>
                  <a:srgbClr val="FFFFFF"/>
                </a:solidFill>
                <a:latin typeface="Arial"/>
                <a:cs typeface="Arial"/>
              </a:rPr>
              <a:t>Sum</a:t>
            </a:r>
            <a:r>
              <a:rPr dirty="0" sz="1900" spc="-4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i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900" spc="-4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i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900" spc="-3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i="1">
                <a:solidFill>
                  <a:srgbClr val="FFFFFF"/>
                </a:solidFill>
                <a:latin typeface="Arial"/>
                <a:cs typeface="Arial"/>
              </a:rPr>
              <a:t>Geometric</a:t>
            </a:r>
            <a:r>
              <a:rPr dirty="0" sz="1900" spc="-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10" i="1">
                <a:solidFill>
                  <a:srgbClr val="FFFFFF"/>
                </a:solidFill>
                <a:latin typeface="Arial"/>
                <a:cs typeface="Arial"/>
              </a:rPr>
              <a:t>Sequence</a:t>
            </a:r>
            <a:endParaRPr sz="19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344" y="3166937"/>
            <a:ext cx="2847903" cy="27471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5609" y="3648190"/>
            <a:ext cx="2860124" cy="30055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5073" y="5070399"/>
            <a:ext cx="4776754" cy="66160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29490" y="5185973"/>
            <a:ext cx="2860532" cy="599932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26376" y="5951665"/>
            <a:ext cx="1505403" cy="656929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37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4664" y="1944117"/>
            <a:ext cx="2965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latin typeface="Arial"/>
                <a:cs typeface="Arial"/>
              </a:rPr>
              <a:t>b.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0"/>
              <a:t> </a:t>
            </a:r>
            <a:r>
              <a:rPr dirty="0"/>
              <a:t>4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75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1972" y="2036331"/>
            <a:ext cx="5649871" cy="26646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14888" y="2771918"/>
            <a:ext cx="1480072" cy="53264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34703" y="2065319"/>
            <a:ext cx="1393596" cy="20818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22236" y="2925276"/>
            <a:ext cx="816557" cy="175731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37</a:t>
            </a:fld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4664" y="1944117"/>
            <a:ext cx="8034655" cy="3683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formula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sum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first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integers,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there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way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think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formula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sum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terms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a </a:t>
            </a:r>
            <a:r>
              <a:rPr dirty="0" sz="2400">
                <a:latin typeface="Arial MT"/>
                <a:cs typeface="Arial MT"/>
              </a:rPr>
              <a:t>geometric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sequence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makes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seem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simple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and </a:t>
            </a:r>
            <a:r>
              <a:rPr dirty="0" sz="2400">
                <a:latin typeface="Arial MT"/>
                <a:cs typeface="Arial MT"/>
              </a:rPr>
              <a:t>intuitive.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Let</a:t>
            </a:r>
            <a:endParaRPr sz="2400">
              <a:latin typeface="Arial MT"/>
              <a:cs typeface="Arial MT"/>
            </a:endParaRPr>
          </a:p>
          <a:p>
            <a:pPr marL="12700" marR="7097395">
              <a:lnSpc>
                <a:spcPct val="300000"/>
              </a:lnSpc>
            </a:pPr>
            <a:r>
              <a:rPr dirty="0" sz="2400" spc="-20">
                <a:latin typeface="Arial MT"/>
                <a:cs typeface="Arial MT"/>
              </a:rPr>
              <a:t>Then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so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Deducing</a:t>
            </a:r>
            <a:r>
              <a:rPr dirty="0" spc="-175"/>
              <a:t> </a:t>
            </a:r>
            <a:r>
              <a:rPr dirty="0"/>
              <a:t>Additional</a:t>
            </a:r>
            <a:r>
              <a:rPr dirty="0" spc="-180"/>
              <a:t> </a:t>
            </a:r>
            <a:r>
              <a:rPr dirty="0" spc="-10"/>
              <a:t>Formulas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7948" y="3773525"/>
            <a:ext cx="3267844" cy="31658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6650" y="4699980"/>
            <a:ext cx="3787131" cy="31366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7901" y="5809094"/>
            <a:ext cx="7001917" cy="275758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30317" y="6421342"/>
            <a:ext cx="1098793" cy="20459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08031" y="6611882"/>
            <a:ext cx="404647" cy="154591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37</a:t>
            </a:fld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4664" y="1944117"/>
            <a:ext cx="482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Arial MT"/>
                <a:cs typeface="Arial MT"/>
              </a:rPr>
              <a:t>But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3260854"/>
            <a:ext cx="729869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Equating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right-</a:t>
            </a:r>
            <a:r>
              <a:rPr dirty="0" sz="2400">
                <a:latin typeface="Arial MT"/>
                <a:cs typeface="Arial MT"/>
              </a:rPr>
              <a:t>hand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sides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equations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(5.2.1)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and </a:t>
            </a:r>
            <a:r>
              <a:rPr dirty="0" sz="2400">
                <a:latin typeface="Arial MT"/>
                <a:cs typeface="Arial MT"/>
              </a:rPr>
              <a:t>(5.2.2)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dividing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gives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94664" y="5382264"/>
            <a:ext cx="74676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derivation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formula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attractive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quite </a:t>
            </a:r>
            <a:r>
              <a:rPr dirty="0" sz="2400">
                <a:latin typeface="Arial MT"/>
                <a:cs typeface="Arial MT"/>
              </a:rPr>
              <a:t>convincing.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However,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logically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airtight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proof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mathematical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induction.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Deducing</a:t>
            </a:r>
            <a:r>
              <a:rPr dirty="0" spc="-175"/>
              <a:t> </a:t>
            </a:r>
            <a:r>
              <a:rPr dirty="0"/>
              <a:t>Additional</a:t>
            </a:r>
            <a:r>
              <a:rPr dirty="0" spc="-180"/>
              <a:t> </a:t>
            </a:r>
            <a:r>
              <a:rPr dirty="0" spc="-10"/>
              <a:t>Formulas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3199" y="4347153"/>
            <a:ext cx="1733968" cy="63689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36328" y="2638327"/>
            <a:ext cx="2307859" cy="221653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21466" y="2784837"/>
            <a:ext cx="404800" cy="149896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37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93140" y="1944117"/>
            <a:ext cx="8036559" cy="4853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go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step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another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previous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calculations,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argument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made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each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term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among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those </a:t>
            </a:r>
            <a:r>
              <a:rPr dirty="0" sz="2400">
                <a:latin typeface="Arial MT"/>
                <a:cs typeface="Arial MT"/>
              </a:rPr>
              <a:t>indicated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ellipsis</a:t>
            </a:r>
            <a:r>
              <a:rPr dirty="0" sz="2400" spc="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(.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.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.)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has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such-</a:t>
            </a:r>
            <a:r>
              <a:rPr dirty="0" sz="2400" spc="-25">
                <a:latin typeface="Arial MT"/>
                <a:cs typeface="Arial MT"/>
              </a:rPr>
              <a:t>and-</a:t>
            </a:r>
            <a:r>
              <a:rPr dirty="0" sz="2400">
                <a:latin typeface="Arial MT"/>
                <a:cs typeface="Arial MT"/>
              </a:rPr>
              <a:t>such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an </a:t>
            </a:r>
            <a:r>
              <a:rPr dirty="0" sz="2400">
                <a:latin typeface="Arial MT"/>
                <a:cs typeface="Arial MT"/>
              </a:rPr>
              <a:t>appearance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when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these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canceled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such-</a:t>
            </a:r>
            <a:r>
              <a:rPr dirty="0" sz="2400" spc="-25">
                <a:latin typeface="Arial MT"/>
                <a:cs typeface="Arial MT"/>
              </a:rPr>
              <a:t>and-</a:t>
            </a:r>
            <a:r>
              <a:rPr dirty="0" sz="2400" spc="-20">
                <a:latin typeface="Arial MT"/>
                <a:cs typeface="Arial MT"/>
              </a:rPr>
              <a:t>such </a:t>
            </a:r>
            <a:r>
              <a:rPr dirty="0" sz="2400" spc="-10">
                <a:latin typeface="Arial MT"/>
                <a:cs typeface="Arial MT"/>
              </a:rPr>
              <a:t>occurs.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Arial MT"/>
              <a:cs typeface="Arial MT"/>
            </a:endParaRPr>
          </a:p>
          <a:p>
            <a:pPr marL="12700" marR="8509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But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impossible actually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each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such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term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and </a:t>
            </a:r>
            <a:r>
              <a:rPr dirty="0" sz="2400">
                <a:latin typeface="Arial MT"/>
                <a:cs typeface="Arial MT"/>
              </a:rPr>
              <a:t>each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such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calculation,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so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accuracy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these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claims </a:t>
            </a:r>
            <a:r>
              <a:rPr dirty="0" sz="2400">
                <a:latin typeface="Arial MT"/>
                <a:cs typeface="Arial MT"/>
              </a:rPr>
              <a:t>cannot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fully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checked.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Arial MT"/>
              <a:cs typeface="Arial MT"/>
            </a:endParaRPr>
          </a:p>
          <a:p>
            <a:pPr marL="12700" marR="273685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mathematical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induction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possible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focus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exactly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what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happens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middle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ellipsis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verify </a:t>
            </a:r>
            <a:r>
              <a:rPr dirty="0" sz="2400">
                <a:latin typeface="Arial MT"/>
                <a:cs typeface="Arial MT"/>
              </a:rPr>
              <a:t>without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doubt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calculations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correct.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Deducing</a:t>
            </a:r>
            <a:r>
              <a:rPr dirty="0" spc="-175"/>
              <a:t> </a:t>
            </a:r>
            <a:r>
              <a:rPr dirty="0"/>
              <a:t>Additional</a:t>
            </a:r>
            <a:r>
              <a:rPr dirty="0" spc="-180"/>
              <a:t> </a:t>
            </a:r>
            <a:r>
              <a:rPr dirty="0" spc="-10"/>
              <a:t>Formulas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Noriko</dc:creator>
  <dc:title>Microsoft PowerPoint - EppDm4_05_02.ppt [Compatibility Mode]</dc:title>
  <dcterms:created xsi:type="dcterms:W3CDTF">2024-09-30T04:42:52Z</dcterms:created>
  <dcterms:modified xsi:type="dcterms:W3CDTF">2024-09-30T04:42:52Z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2016-09-14T00:00:00Z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2024-09-30T00:00:00Z</vt:filetime>
  </property>
  <property fmtid="{D5CDD505-2E9C-101B-9397-08002B2CF9AE}" pid="5" name="Producer">
    <vt:lpwstr>GPL Ghostscript 8.63</vt:lpwstr>
  </property>
</Properties>
</file>