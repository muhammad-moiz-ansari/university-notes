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171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4456" y="932180"/>
            <a:ext cx="8349486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1999" y="842771"/>
            <a:ext cx="8763000" cy="830580"/>
          </a:xfrm>
          <a:custGeom>
            <a:avLst/>
            <a:gdLst/>
            <a:ahLst/>
            <a:cxnLst/>
            <a:rect l="l" t="t" r="r" b="b"/>
            <a:pathLst>
              <a:path w="8763000" h="830580">
                <a:moveTo>
                  <a:pt x="8762999" y="830579"/>
                </a:moveTo>
                <a:lnTo>
                  <a:pt x="8762999" y="0"/>
                </a:lnTo>
                <a:lnTo>
                  <a:pt x="0" y="0"/>
                </a:lnTo>
                <a:lnTo>
                  <a:pt x="0" y="830579"/>
                </a:lnTo>
                <a:lnTo>
                  <a:pt x="8762999" y="830579"/>
                </a:lnTo>
                <a:close/>
              </a:path>
            </a:pathLst>
          </a:custGeom>
          <a:solidFill>
            <a:srgbClr val="156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70915" y="495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599" y="304799"/>
                </a:moveTo>
                <a:lnTo>
                  <a:pt x="304799" y="0"/>
                </a:lnTo>
                <a:lnTo>
                  <a:pt x="0" y="304799"/>
                </a:lnTo>
                <a:lnTo>
                  <a:pt x="304799" y="609599"/>
                </a:lnTo>
                <a:lnTo>
                  <a:pt x="609599" y="304799"/>
                </a:lnTo>
                <a:close/>
              </a:path>
            </a:pathLst>
          </a:custGeom>
          <a:solidFill>
            <a:srgbClr val="CBD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85215" y="609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0999" y="190499"/>
                </a:moveTo>
                <a:lnTo>
                  <a:pt x="190499" y="0"/>
                </a:lnTo>
                <a:lnTo>
                  <a:pt x="0" y="190499"/>
                </a:lnTo>
                <a:lnTo>
                  <a:pt x="190499" y="380999"/>
                </a:lnTo>
                <a:lnTo>
                  <a:pt x="380999" y="190499"/>
                </a:lnTo>
                <a:close/>
              </a:path>
            </a:pathLst>
          </a:custGeom>
          <a:solidFill>
            <a:srgbClr val="156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2932" y="1034288"/>
            <a:ext cx="7680959" cy="376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40" y="1326897"/>
            <a:ext cx="8467725" cy="4958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006847" y="6924648"/>
            <a:ext cx="331470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3" Type="http://schemas.openxmlformats.org/officeDocument/2006/relationships/image" Target="../media/image34.jpg"/><Relationship Id="rId7" Type="http://schemas.openxmlformats.org/officeDocument/2006/relationships/image" Target="../media/image38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g"/><Relationship Id="rId3" Type="http://schemas.openxmlformats.org/officeDocument/2006/relationships/image" Target="../media/image41.jpg"/><Relationship Id="rId7" Type="http://schemas.openxmlformats.org/officeDocument/2006/relationships/image" Target="../media/image45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g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60247"/>
            <a:ext cx="9143999" cy="61859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7349" y="587756"/>
            <a:ext cx="20415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0" spc="-10" dirty="0">
                <a:latin typeface="Arial"/>
                <a:cs typeface="Arial"/>
              </a:rPr>
              <a:t>CHAPTER</a:t>
            </a:r>
            <a:r>
              <a:rPr sz="2800" b="1" i="0" spc="-25" dirty="0">
                <a:latin typeface="Arial"/>
                <a:cs typeface="Arial"/>
              </a:rPr>
              <a:t> </a:t>
            </a:r>
            <a:r>
              <a:rPr sz="2800" b="1" i="0" spc="-5" dirty="0">
                <a:latin typeface="Arial"/>
                <a:cs typeface="Arial"/>
              </a:rPr>
              <a:t>5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17242" y="6823312"/>
            <a:ext cx="403288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z="1400" spc="-5" dirty="0">
                <a:latin typeface="Arial MT"/>
                <a:cs typeface="Arial MT"/>
              </a:rPr>
              <a:t>Copyright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© </a:t>
            </a:r>
            <a:r>
              <a:rPr sz="1400" spc="-5" dirty="0">
                <a:latin typeface="Arial MT"/>
                <a:cs typeface="Arial MT"/>
              </a:rPr>
              <a:t>Cengage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Learning.</a:t>
            </a:r>
            <a:r>
              <a:rPr sz="1400" spc="-1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All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rights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reserved.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64688" y="1188213"/>
            <a:ext cx="417195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SEQUENCES,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60" dirty="0">
                <a:solidFill>
                  <a:srgbClr val="FFFFFF"/>
                </a:solidFill>
                <a:latin typeface="Arial MT"/>
                <a:cs typeface="Arial MT"/>
              </a:rPr>
              <a:t>MATHEMATICAL </a:t>
            </a:r>
            <a:r>
              <a:rPr sz="40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INDUCTION,</a:t>
            </a:r>
            <a:r>
              <a:rPr sz="4000" spc="-2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4000" spc="-10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RECURSION</a:t>
            </a:r>
            <a:endParaRPr sz="4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7242" y="3145030"/>
            <a:ext cx="503555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7175" marR="5080" indent="-151511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15659E"/>
                </a:solidFill>
                <a:latin typeface="Arial MT"/>
                <a:cs typeface="Arial MT"/>
              </a:rPr>
              <a:t>Application:</a:t>
            </a:r>
            <a:r>
              <a:rPr sz="3300" spc="-20" dirty="0">
                <a:solidFill>
                  <a:srgbClr val="15659E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15659E"/>
                </a:solidFill>
                <a:latin typeface="Arial MT"/>
                <a:cs typeface="Arial MT"/>
              </a:rPr>
              <a:t>Correctness</a:t>
            </a:r>
            <a:r>
              <a:rPr sz="3300" spc="-55" dirty="0">
                <a:solidFill>
                  <a:srgbClr val="15659E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15659E"/>
                </a:solidFill>
                <a:latin typeface="Arial MT"/>
                <a:cs typeface="Arial MT"/>
              </a:rPr>
              <a:t>of </a:t>
            </a:r>
            <a:r>
              <a:rPr sz="3300" spc="-900" dirty="0">
                <a:solidFill>
                  <a:srgbClr val="15659E"/>
                </a:solidFill>
                <a:latin typeface="Arial MT"/>
                <a:cs typeface="Arial MT"/>
              </a:rPr>
              <a:t> </a:t>
            </a:r>
            <a:r>
              <a:rPr sz="3300" spc="-5" dirty="0">
                <a:solidFill>
                  <a:srgbClr val="15659E"/>
                </a:solidFill>
                <a:latin typeface="Arial MT"/>
                <a:cs typeface="Arial MT"/>
              </a:rPr>
              <a:t>Algorithms</a:t>
            </a:r>
            <a:endParaRPr sz="33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37615" y="2667000"/>
            <a:ext cx="8563610" cy="1629410"/>
            <a:chOff x="737615" y="2667000"/>
            <a:chExt cx="8563610" cy="1629410"/>
          </a:xfrm>
        </p:grpSpPr>
        <p:sp>
          <p:nvSpPr>
            <p:cNvPr id="4" name="object 4"/>
            <p:cNvSpPr/>
            <p:nvPr/>
          </p:nvSpPr>
          <p:spPr>
            <a:xfrm>
              <a:off x="2156460" y="2944368"/>
              <a:ext cx="7145020" cy="1351915"/>
            </a:xfrm>
            <a:custGeom>
              <a:avLst/>
              <a:gdLst/>
              <a:ahLst/>
              <a:cxnLst/>
              <a:rect l="l" t="t" r="r" b="b"/>
              <a:pathLst>
                <a:path w="7145020" h="1351914">
                  <a:moveTo>
                    <a:pt x="7144512" y="1107948"/>
                  </a:moveTo>
                  <a:lnTo>
                    <a:pt x="7144512" y="27432"/>
                  </a:lnTo>
                  <a:lnTo>
                    <a:pt x="7142130" y="16716"/>
                  </a:lnTo>
                  <a:lnTo>
                    <a:pt x="7135749" y="8001"/>
                  </a:lnTo>
                  <a:lnTo>
                    <a:pt x="7126509" y="2143"/>
                  </a:lnTo>
                  <a:lnTo>
                    <a:pt x="7115556" y="0"/>
                  </a:lnTo>
                  <a:lnTo>
                    <a:pt x="243840" y="0"/>
                  </a:lnTo>
                  <a:lnTo>
                    <a:pt x="193548" y="4572"/>
                  </a:lnTo>
                  <a:lnTo>
                    <a:pt x="147828" y="19812"/>
                  </a:lnTo>
                  <a:lnTo>
                    <a:pt x="106680" y="42672"/>
                  </a:lnTo>
                  <a:lnTo>
                    <a:pt x="70104" y="71628"/>
                  </a:lnTo>
                  <a:lnTo>
                    <a:pt x="41148" y="108204"/>
                  </a:lnTo>
                  <a:lnTo>
                    <a:pt x="18288" y="150876"/>
                  </a:lnTo>
                  <a:lnTo>
                    <a:pt x="4572" y="196596"/>
                  </a:lnTo>
                  <a:lnTo>
                    <a:pt x="0" y="243840"/>
                  </a:lnTo>
                  <a:lnTo>
                    <a:pt x="0" y="1322832"/>
                  </a:lnTo>
                  <a:lnTo>
                    <a:pt x="2166" y="1334428"/>
                  </a:lnTo>
                  <a:lnTo>
                    <a:pt x="8191" y="1343596"/>
                  </a:lnTo>
                  <a:lnTo>
                    <a:pt x="17359" y="1349621"/>
                  </a:lnTo>
                  <a:lnTo>
                    <a:pt x="28956" y="1351788"/>
                  </a:lnTo>
                  <a:lnTo>
                    <a:pt x="28956" y="1295400"/>
                  </a:lnTo>
                  <a:lnTo>
                    <a:pt x="57912" y="1295400"/>
                  </a:lnTo>
                  <a:lnTo>
                    <a:pt x="57912" y="224028"/>
                  </a:lnTo>
                  <a:lnTo>
                    <a:pt x="60960" y="204216"/>
                  </a:lnTo>
                  <a:lnTo>
                    <a:pt x="80772" y="153924"/>
                  </a:lnTo>
                  <a:lnTo>
                    <a:pt x="112776" y="111252"/>
                  </a:lnTo>
                  <a:lnTo>
                    <a:pt x="156972" y="79248"/>
                  </a:lnTo>
                  <a:lnTo>
                    <a:pt x="208788" y="59436"/>
                  </a:lnTo>
                  <a:lnTo>
                    <a:pt x="7086600" y="56388"/>
                  </a:lnTo>
                  <a:lnTo>
                    <a:pt x="7086600" y="27432"/>
                  </a:lnTo>
                  <a:lnTo>
                    <a:pt x="7115556" y="56388"/>
                  </a:lnTo>
                  <a:lnTo>
                    <a:pt x="7115556" y="1223772"/>
                  </a:lnTo>
                  <a:lnTo>
                    <a:pt x="7124700" y="1200912"/>
                  </a:lnTo>
                  <a:lnTo>
                    <a:pt x="7133844" y="1179576"/>
                  </a:lnTo>
                  <a:lnTo>
                    <a:pt x="7139940" y="1155192"/>
                  </a:lnTo>
                  <a:lnTo>
                    <a:pt x="7142988" y="1130808"/>
                  </a:lnTo>
                  <a:lnTo>
                    <a:pt x="7144512" y="1107948"/>
                  </a:lnTo>
                  <a:close/>
                </a:path>
                <a:path w="7145020" h="1351914">
                  <a:moveTo>
                    <a:pt x="7115556" y="1223772"/>
                  </a:moveTo>
                  <a:lnTo>
                    <a:pt x="7115556" y="56388"/>
                  </a:lnTo>
                  <a:lnTo>
                    <a:pt x="7086600" y="56388"/>
                  </a:lnTo>
                  <a:lnTo>
                    <a:pt x="7086600" y="1107948"/>
                  </a:lnTo>
                  <a:lnTo>
                    <a:pt x="7085076" y="1127760"/>
                  </a:lnTo>
                  <a:lnTo>
                    <a:pt x="7071360" y="1182624"/>
                  </a:lnTo>
                  <a:lnTo>
                    <a:pt x="7042404" y="1228344"/>
                  </a:lnTo>
                  <a:lnTo>
                    <a:pt x="7002780" y="1263396"/>
                  </a:lnTo>
                  <a:lnTo>
                    <a:pt x="6954012" y="1286256"/>
                  </a:lnTo>
                  <a:lnTo>
                    <a:pt x="6897624" y="1295400"/>
                  </a:lnTo>
                  <a:lnTo>
                    <a:pt x="28956" y="1295400"/>
                  </a:lnTo>
                  <a:lnTo>
                    <a:pt x="57912" y="1322832"/>
                  </a:lnTo>
                  <a:lnTo>
                    <a:pt x="57912" y="1351788"/>
                  </a:lnTo>
                  <a:lnTo>
                    <a:pt x="6900672" y="1351788"/>
                  </a:lnTo>
                  <a:lnTo>
                    <a:pt x="6925056" y="1350264"/>
                  </a:lnTo>
                  <a:lnTo>
                    <a:pt x="6973824" y="1341120"/>
                  </a:lnTo>
                  <a:lnTo>
                    <a:pt x="7018020" y="1321308"/>
                  </a:lnTo>
                  <a:lnTo>
                    <a:pt x="7056120" y="1295400"/>
                  </a:lnTo>
                  <a:lnTo>
                    <a:pt x="7103364" y="1243584"/>
                  </a:lnTo>
                  <a:lnTo>
                    <a:pt x="7115556" y="1223772"/>
                  </a:lnTo>
                  <a:close/>
                </a:path>
                <a:path w="7145020" h="1351914">
                  <a:moveTo>
                    <a:pt x="57912" y="1351788"/>
                  </a:moveTo>
                  <a:lnTo>
                    <a:pt x="57912" y="1322832"/>
                  </a:lnTo>
                  <a:lnTo>
                    <a:pt x="28956" y="1295400"/>
                  </a:lnTo>
                  <a:lnTo>
                    <a:pt x="28956" y="1351788"/>
                  </a:lnTo>
                  <a:lnTo>
                    <a:pt x="57912" y="1351788"/>
                  </a:lnTo>
                  <a:close/>
                </a:path>
                <a:path w="7145020" h="1351914">
                  <a:moveTo>
                    <a:pt x="7115556" y="56388"/>
                  </a:moveTo>
                  <a:lnTo>
                    <a:pt x="7086600" y="27432"/>
                  </a:lnTo>
                  <a:lnTo>
                    <a:pt x="7086600" y="56388"/>
                  </a:lnTo>
                  <a:lnTo>
                    <a:pt x="7115556" y="56388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7615" y="2667000"/>
              <a:ext cx="2438400" cy="609600"/>
            </a:xfrm>
            <a:custGeom>
              <a:avLst/>
              <a:gdLst/>
              <a:ahLst/>
              <a:cxnLst/>
              <a:rect l="l" t="t" r="r" b="b"/>
              <a:pathLst>
                <a:path w="2438400" h="609600">
                  <a:moveTo>
                    <a:pt x="2438399" y="509015"/>
                  </a:moveTo>
                  <a:lnTo>
                    <a:pt x="2438399" y="0"/>
                  </a:lnTo>
                  <a:lnTo>
                    <a:pt x="100583" y="0"/>
                  </a:lnTo>
                  <a:lnTo>
                    <a:pt x="61721" y="8024"/>
                  </a:lnTo>
                  <a:lnTo>
                    <a:pt x="29717" y="29908"/>
                  </a:lnTo>
                  <a:lnTo>
                    <a:pt x="8000" y="62364"/>
                  </a:lnTo>
                  <a:lnTo>
                    <a:pt x="0" y="102107"/>
                  </a:lnTo>
                  <a:lnTo>
                    <a:pt x="0" y="609599"/>
                  </a:lnTo>
                  <a:lnTo>
                    <a:pt x="2336291" y="609599"/>
                  </a:lnTo>
                  <a:lnTo>
                    <a:pt x="2376035" y="601813"/>
                  </a:lnTo>
                  <a:lnTo>
                    <a:pt x="2408491" y="580453"/>
                  </a:lnTo>
                  <a:lnTo>
                    <a:pt x="2430375" y="548520"/>
                  </a:lnTo>
                  <a:lnTo>
                    <a:pt x="2438399" y="509015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21512" y="2750314"/>
            <a:ext cx="20459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i="0" dirty="0">
                <a:latin typeface="Arial"/>
                <a:cs typeface="Arial"/>
              </a:rPr>
              <a:t>SECTION</a:t>
            </a:r>
            <a:r>
              <a:rPr sz="2600" b="1" i="0" spc="-95" dirty="0">
                <a:latin typeface="Arial"/>
                <a:cs typeface="Arial"/>
              </a:rPr>
              <a:t> </a:t>
            </a:r>
            <a:r>
              <a:rPr sz="2600" b="1" i="0" dirty="0">
                <a:latin typeface="Arial"/>
                <a:cs typeface="Arial"/>
              </a:rPr>
              <a:t>5.5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7242" y="6823312"/>
            <a:ext cx="403288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65"/>
              </a:lnSpc>
            </a:pPr>
            <a:r>
              <a:rPr sz="1400" spc="-5" dirty="0">
                <a:latin typeface="Arial MT"/>
                <a:cs typeface="Arial MT"/>
              </a:rPr>
              <a:t>Copyright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© </a:t>
            </a:r>
            <a:r>
              <a:rPr sz="1400" spc="-5" dirty="0">
                <a:latin typeface="Arial MT"/>
                <a:cs typeface="Arial MT"/>
              </a:rPr>
              <a:t>Cengage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Learning.</a:t>
            </a:r>
            <a:r>
              <a:rPr sz="1400" spc="-1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All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rights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reserved.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24560"/>
            <a:ext cx="799338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i="0" spc="-10" dirty="0">
                <a:latin typeface="Arial MT"/>
                <a:cs typeface="Arial MT"/>
              </a:rPr>
              <a:t>Application:</a:t>
            </a:r>
            <a:r>
              <a:rPr sz="3700" i="0" spc="45" dirty="0">
                <a:latin typeface="Arial MT"/>
                <a:cs typeface="Arial MT"/>
              </a:rPr>
              <a:t> </a:t>
            </a:r>
            <a:r>
              <a:rPr sz="3700" i="0" spc="-5" dirty="0">
                <a:latin typeface="Arial MT"/>
                <a:cs typeface="Arial MT"/>
              </a:rPr>
              <a:t>Correctness</a:t>
            </a:r>
            <a:r>
              <a:rPr sz="3700" i="0" spc="45" dirty="0">
                <a:latin typeface="Arial MT"/>
                <a:cs typeface="Arial MT"/>
              </a:rPr>
              <a:t> </a:t>
            </a:r>
            <a:r>
              <a:rPr sz="3700" i="0" spc="-5" dirty="0">
                <a:latin typeface="Arial MT"/>
                <a:cs typeface="Arial MT"/>
              </a:rPr>
              <a:t>of Algorithms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7903845" cy="470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Each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program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designed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specific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task—calculate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mean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 median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numbers, compute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size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paychecks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 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company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payroll,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rearrange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names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 alphabetical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order,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forth.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 marR="45529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will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program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correct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 it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produces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output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specified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accompanying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documentation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each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input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type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specified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documentation.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 marR="12065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MT"/>
                <a:cs typeface="Arial MT"/>
              </a:rPr>
              <a:t>Most computer programmers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write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their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programs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combination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logical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analysis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trial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error.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24560"/>
            <a:ext cx="799338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i="0" spc="-10" dirty="0">
                <a:latin typeface="Arial MT"/>
                <a:cs typeface="Arial MT"/>
              </a:rPr>
              <a:t>Application:</a:t>
            </a:r>
            <a:r>
              <a:rPr sz="3700" i="0" spc="45" dirty="0">
                <a:latin typeface="Arial MT"/>
                <a:cs typeface="Arial MT"/>
              </a:rPr>
              <a:t> </a:t>
            </a:r>
            <a:r>
              <a:rPr sz="3700" i="0" spc="-5" dirty="0">
                <a:latin typeface="Arial MT"/>
                <a:cs typeface="Arial MT"/>
              </a:rPr>
              <a:t>Correctness</a:t>
            </a:r>
            <a:r>
              <a:rPr sz="3700" i="0" spc="45" dirty="0">
                <a:latin typeface="Arial MT"/>
                <a:cs typeface="Arial MT"/>
              </a:rPr>
              <a:t> </a:t>
            </a:r>
            <a:r>
              <a:rPr sz="3700" i="0" spc="-5" dirty="0">
                <a:latin typeface="Arial MT"/>
                <a:cs typeface="Arial MT"/>
              </a:rPr>
              <a:t>of Algorithms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7905115" cy="4341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556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order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get 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program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run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at all,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programmer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must first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fix all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syntax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errors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(such as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writing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ik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instead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if,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failing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declare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 using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restricted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keyword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 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name).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 marR="36195" algn="just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When the syntax errors have been removed, however, the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program may still contain logical errors that prevent it from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producing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correct output.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MT"/>
                <a:cs typeface="Arial MT"/>
              </a:rPr>
              <a:t>Frequently, programs are tested using sets of sample data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which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correct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output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known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advance.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24560"/>
            <a:ext cx="7993380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i="0" spc="-10" dirty="0">
                <a:latin typeface="Arial MT"/>
                <a:cs typeface="Arial MT"/>
              </a:rPr>
              <a:t>Application:</a:t>
            </a:r>
            <a:r>
              <a:rPr sz="3700" i="0" spc="45" dirty="0">
                <a:latin typeface="Arial MT"/>
                <a:cs typeface="Arial MT"/>
              </a:rPr>
              <a:t> </a:t>
            </a:r>
            <a:r>
              <a:rPr sz="3700" i="0" spc="-5" dirty="0">
                <a:latin typeface="Arial MT"/>
                <a:cs typeface="Arial MT"/>
              </a:rPr>
              <a:t>Correctness</a:t>
            </a:r>
            <a:r>
              <a:rPr sz="3700" i="0" spc="45" dirty="0">
                <a:latin typeface="Arial MT"/>
                <a:cs typeface="Arial MT"/>
              </a:rPr>
              <a:t> </a:t>
            </a:r>
            <a:r>
              <a:rPr sz="3700" i="0" spc="-5" dirty="0">
                <a:latin typeface="Arial MT"/>
                <a:cs typeface="Arial MT"/>
              </a:rPr>
              <a:t>of Algorithms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7974330" cy="3463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939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often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sample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deliberately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chosen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test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correctness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program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under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extreme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circumstances.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But for most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programs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number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possible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input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 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either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infinite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unmanageably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large,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 no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amount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program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testing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give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perfect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confidence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program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will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correct for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possible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legal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input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1707" y="3753106"/>
            <a:ext cx="23964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solidFill>
                  <a:srgbClr val="00ADEE"/>
                </a:solidFill>
                <a:latin typeface="Arial MT"/>
                <a:cs typeface="Arial MT"/>
              </a:rPr>
              <a:t>Assertions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00176"/>
            <a:ext cx="23964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latin typeface="Arial MT"/>
                <a:cs typeface="Arial MT"/>
              </a:rPr>
              <a:t>Assertions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8011795" cy="3463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Consider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algorithm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designed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produce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certain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final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from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certain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initial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state.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Both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initial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final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expressed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predicates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involving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input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output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 marR="19240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Often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predicate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describing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initial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called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b="1" spc="-5" dirty="0">
                <a:latin typeface="Arial"/>
                <a:cs typeface="Arial"/>
              </a:rPr>
              <a:t>pre-condition for the algorithm</a:t>
            </a:r>
            <a:r>
              <a:rPr sz="2400" spc="-5" dirty="0">
                <a:latin typeface="Arial MT"/>
                <a:cs typeface="Arial MT"/>
              </a:rPr>
              <a:t>, and the predicate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describing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final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called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b="1" spc="-5" dirty="0">
                <a:latin typeface="Arial"/>
                <a:cs typeface="Arial"/>
              </a:rPr>
              <a:t>post-condition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for 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the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algorithm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1034288"/>
            <a:ext cx="7680959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0" spc="-5" dirty="0">
                <a:latin typeface="Arial MT"/>
                <a:cs typeface="Arial MT"/>
              </a:rPr>
              <a:t>Example</a:t>
            </a:r>
            <a:r>
              <a:rPr i="0" spc="-2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1</a:t>
            </a:r>
            <a:r>
              <a:rPr i="0" spc="-5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–</a:t>
            </a:r>
            <a:r>
              <a:rPr i="0" spc="10" dirty="0">
                <a:latin typeface="Arial MT"/>
                <a:cs typeface="Arial MT"/>
              </a:rPr>
              <a:t> </a:t>
            </a:r>
            <a:r>
              <a:rPr dirty="0"/>
              <a:t>Algorithm</a:t>
            </a:r>
            <a:r>
              <a:rPr spc="-50" dirty="0"/>
              <a:t> </a:t>
            </a:r>
            <a:r>
              <a:rPr spc="-5" dirty="0"/>
              <a:t>Pre-Conditions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5" dirty="0"/>
              <a:t>Post-Conditions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7854315" cy="360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7124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Here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pre-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post-conditions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some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typical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algorithms.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a.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Algorithm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compute 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product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nonnegative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350520">
              <a:lnSpc>
                <a:spcPct val="100000"/>
              </a:lnSpc>
              <a:spcBef>
                <a:spcPts val="5"/>
              </a:spcBef>
            </a:pPr>
            <a:r>
              <a:rPr sz="2400" i="1" spc="-5" dirty="0">
                <a:latin typeface="Arial"/>
                <a:cs typeface="Arial"/>
              </a:rPr>
              <a:t>Pre-condition: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The input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endParaRPr sz="2400">
              <a:latin typeface="Arial MT"/>
              <a:cs typeface="Arial MT"/>
            </a:endParaRPr>
          </a:p>
          <a:p>
            <a:pPr marR="360045" algn="ctr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nonnegative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500">
              <a:latin typeface="Arial MT"/>
              <a:cs typeface="Arial MT"/>
            </a:endParaRPr>
          </a:p>
          <a:p>
            <a:pPr marL="350520">
              <a:lnSpc>
                <a:spcPct val="100000"/>
              </a:lnSpc>
              <a:spcBef>
                <a:spcPts val="5"/>
              </a:spcBef>
            </a:pPr>
            <a:r>
              <a:rPr sz="2400" i="1" spc="-5" dirty="0">
                <a:latin typeface="Arial"/>
                <a:cs typeface="Arial"/>
              </a:rPr>
              <a:t>Post-condition: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The output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equals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mn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0" spc="-5" dirty="0">
                <a:latin typeface="Arial MT"/>
                <a:cs typeface="Arial MT"/>
              </a:rPr>
              <a:t>Example</a:t>
            </a:r>
            <a:r>
              <a:rPr i="0" spc="-2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1</a:t>
            </a:r>
            <a:r>
              <a:rPr i="0" spc="-5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–</a:t>
            </a:r>
            <a:r>
              <a:rPr i="0" spc="10" dirty="0">
                <a:latin typeface="Arial MT"/>
                <a:cs typeface="Arial MT"/>
              </a:rPr>
              <a:t> </a:t>
            </a:r>
            <a:r>
              <a:rPr dirty="0"/>
              <a:t>Algorithm</a:t>
            </a:r>
            <a:r>
              <a:rPr spc="-50" dirty="0"/>
              <a:t> </a:t>
            </a:r>
            <a:r>
              <a:rPr spc="-5" dirty="0"/>
              <a:t>Pre-Conditions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5" dirty="0"/>
              <a:t>Post-Conditions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cont’d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00"/>
          </a:p>
          <a:p>
            <a:pPr marL="350520" marR="722630" indent="-338455">
              <a:lnSpc>
                <a:spcPct val="100000"/>
              </a:lnSpc>
            </a:pPr>
            <a:r>
              <a:rPr sz="2400" b="1" spc="-5" dirty="0">
                <a:solidFill>
                  <a:srgbClr val="000000"/>
                </a:solidFill>
                <a:latin typeface="Arial"/>
                <a:cs typeface="Arial"/>
              </a:rPr>
              <a:t>b.</a:t>
            </a:r>
            <a:r>
              <a:rPr sz="2400" b="1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Algorithm</a:t>
            </a:r>
            <a:r>
              <a:rPr sz="2400" spc="2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to</a:t>
            </a:r>
            <a:r>
              <a:rPr sz="2400" spc="-1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find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quotient</a:t>
            </a:r>
            <a:r>
              <a:rPr sz="2400" spc="1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and</a:t>
            </a:r>
            <a:r>
              <a:rPr sz="2400" spc="1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remainder</a:t>
            </a:r>
            <a:r>
              <a:rPr sz="2400" spc="2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of</a:t>
            </a:r>
            <a:r>
              <a:rPr sz="2400" spc="-1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the</a:t>
            </a:r>
            <a:r>
              <a:rPr sz="2400" spc="-1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division </a:t>
            </a:r>
            <a:r>
              <a:rPr sz="2400" spc="-65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of</a:t>
            </a:r>
            <a:r>
              <a:rPr sz="2400" spc="-2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one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positive</a:t>
            </a:r>
            <a:r>
              <a:rPr sz="2400" spc="2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integer</a:t>
            </a:r>
            <a:r>
              <a:rPr sz="2400" spc="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by</a:t>
            </a:r>
            <a:r>
              <a:rPr sz="2400" spc="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another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00"/>
          </a:p>
          <a:p>
            <a:pPr marL="2369820" marR="821690" indent="-2019300">
              <a:lnSpc>
                <a:spcPct val="100000"/>
              </a:lnSpc>
            </a:pP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Pre-condition:</a:t>
            </a:r>
            <a:r>
              <a:rPr sz="2400" i="1" spc="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The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input</a:t>
            </a:r>
            <a:r>
              <a:rPr sz="2400" spc="1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variables</a:t>
            </a:r>
            <a:r>
              <a:rPr sz="2400" spc="25" dirty="0">
                <a:solidFill>
                  <a:srgbClr val="000000"/>
                </a:solidFill>
              </a:rPr>
              <a:t>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and</a:t>
            </a:r>
            <a:r>
              <a:rPr sz="2400" spc="5" dirty="0">
                <a:solidFill>
                  <a:srgbClr val="000000"/>
                </a:solidFill>
              </a:rPr>
              <a:t>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sz="2400" i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are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positive </a:t>
            </a:r>
            <a:r>
              <a:rPr sz="2400" spc="-65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integers.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/>
          </a:p>
          <a:p>
            <a:pPr marL="2452370" marR="517525" indent="-2101850">
              <a:lnSpc>
                <a:spcPct val="100000"/>
              </a:lnSpc>
            </a:pP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Post-condition:</a:t>
            </a:r>
            <a:r>
              <a:rPr sz="2400" i="1" spc="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The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output variables</a:t>
            </a:r>
            <a:r>
              <a:rPr sz="2400" spc="35" dirty="0">
                <a:solidFill>
                  <a:srgbClr val="000000"/>
                </a:solidFill>
              </a:rPr>
              <a:t>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q</a:t>
            </a:r>
            <a:r>
              <a:rPr sz="2400" i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and</a:t>
            </a:r>
            <a:r>
              <a:rPr sz="2400" spc="10" dirty="0">
                <a:solidFill>
                  <a:srgbClr val="000000"/>
                </a:solidFill>
              </a:rPr>
              <a:t> </a:t>
            </a:r>
            <a:r>
              <a:rPr sz="2400" i="1" dirty="0">
                <a:solidFill>
                  <a:srgbClr val="000000"/>
                </a:solidFill>
                <a:latin typeface="Arial"/>
                <a:cs typeface="Arial"/>
              </a:rPr>
              <a:t>r</a:t>
            </a:r>
            <a:r>
              <a:rPr sz="2400" i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are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integers </a:t>
            </a:r>
            <a:r>
              <a:rPr sz="2400" spc="-65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such that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400" i="1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00"/>
                </a:solidFill>
              </a:rPr>
              <a:t>=</a:t>
            </a:r>
            <a:r>
              <a:rPr sz="2400" spc="-5" dirty="0">
                <a:solidFill>
                  <a:srgbClr val="000000"/>
                </a:solidFill>
              </a:rPr>
              <a:t>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bq </a:t>
            </a:r>
            <a:r>
              <a:rPr sz="2400" dirty="0">
                <a:solidFill>
                  <a:srgbClr val="000000"/>
                </a:solidFill>
              </a:rPr>
              <a:t>+</a:t>
            </a:r>
            <a:r>
              <a:rPr sz="2400" spc="-5" dirty="0">
                <a:solidFill>
                  <a:srgbClr val="000000"/>
                </a:solidFill>
              </a:rPr>
              <a:t> </a:t>
            </a:r>
            <a:r>
              <a:rPr sz="2400" i="1" dirty="0">
                <a:solidFill>
                  <a:srgbClr val="000000"/>
                </a:solidFill>
                <a:latin typeface="Arial"/>
                <a:cs typeface="Arial"/>
              </a:rPr>
              <a:t>r</a:t>
            </a:r>
            <a:r>
              <a:rPr sz="2400" i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2400" i="1" spc="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0</a:t>
            </a:r>
            <a:r>
              <a:rPr sz="2400" spc="-1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  <a:latin typeface="Symbol"/>
                <a:cs typeface="Symbol"/>
              </a:rPr>
              <a:t></a:t>
            </a:r>
            <a:r>
              <a:rPr sz="2400" spc="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0000"/>
                </a:solidFill>
                <a:latin typeface="Arial"/>
                <a:cs typeface="Arial"/>
              </a:rPr>
              <a:t>r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00"/>
                </a:solidFill>
              </a:rPr>
              <a:t>&lt;</a:t>
            </a:r>
            <a:r>
              <a:rPr sz="2400" spc="-10" dirty="0">
                <a:solidFill>
                  <a:srgbClr val="000000"/>
                </a:solidFill>
              </a:rPr>
              <a:t>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sz="2400" spc="-5" dirty="0">
                <a:solidFill>
                  <a:srgbClr val="000000"/>
                </a:solidFill>
              </a:rPr>
              <a:t>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0" spc="-5" dirty="0">
                <a:latin typeface="Arial MT"/>
                <a:cs typeface="Arial MT"/>
              </a:rPr>
              <a:t>Example</a:t>
            </a:r>
            <a:r>
              <a:rPr i="0" spc="-20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1</a:t>
            </a:r>
            <a:r>
              <a:rPr i="0" spc="-5" dirty="0">
                <a:latin typeface="Arial MT"/>
                <a:cs typeface="Arial MT"/>
              </a:rPr>
              <a:t> </a:t>
            </a:r>
            <a:r>
              <a:rPr i="0" dirty="0">
                <a:latin typeface="Arial MT"/>
                <a:cs typeface="Arial MT"/>
              </a:rPr>
              <a:t>–</a:t>
            </a:r>
            <a:r>
              <a:rPr i="0" spc="10" dirty="0">
                <a:latin typeface="Arial MT"/>
                <a:cs typeface="Arial MT"/>
              </a:rPr>
              <a:t> </a:t>
            </a:r>
            <a:r>
              <a:rPr dirty="0"/>
              <a:t>Algorithm</a:t>
            </a:r>
            <a:r>
              <a:rPr spc="-50" dirty="0"/>
              <a:t> </a:t>
            </a:r>
            <a:r>
              <a:rPr spc="-5" dirty="0"/>
              <a:t>Pre-Conditions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5" dirty="0"/>
              <a:t>Post-Conditions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cont’d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00"/>
          </a:p>
          <a:p>
            <a:pPr marL="355600" marR="1600200" indent="-342900">
              <a:lnSpc>
                <a:spcPct val="100000"/>
              </a:lnSpc>
            </a:pPr>
            <a:r>
              <a:rPr sz="2400" b="1" spc="-5" dirty="0">
                <a:solidFill>
                  <a:srgbClr val="000000"/>
                </a:solidFill>
                <a:latin typeface="Arial"/>
                <a:cs typeface="Arial"/>
              </a:rPr>
              <a:t>c.</a:t>
            </a:r>
            <a:r>
              <a:rPr sz="2400" b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Algorithm</a:t>
            </a:r>
            <a:r>
              <a:rPr sz="2400" spc="2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to</a:t>
            </a:r>
            <a:r>
              <a:rPr sz="2400" spc="-1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sort</a:t>
            </a:r>
            <a:r>
              <a:rPr sz="2400" spc="-1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one-dimensional</a:t>
            </a:r>
            <a:r>
              <a:rPr sz="2400" spc="4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array</a:t>
            </a:r>
            <a:r>
              <a:rPr sz="2400" spc="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of</a:t>
            </a:r>
            <a:r>
              <a:rPr sz="2400" spc="-1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real </a:t>
            </a:r>
            <a:r>
              <a:rPr sz="2400" spc="-65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numbers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/>
          </a:p>
          <a:p>
            <a:pPr marL="2291080" marR="607695" indent="-1940560">
              <a:lnSpc>
                <a:spcPct val="100000"/>
              </a:lnSpc>
            </a:pP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Pre-condition</a:t>
            </a:r>
            <a:r>
              <a:rPr sz="2400" spc="-5" dirty="0">
                <a:solidFill>
                  <a:srgbClr val="000000"/>
                </a:solidFill>
              </a:rPr>
              <a:t>: The input variable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400" spc="-5" dirty="0">
                <a:solidFill>
                  <a:srgbClr val="000000"/>
                </a:solidFill>
              </a:rPr>
              <a:t>[1],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400" spc="-5" dirty="0">
                <a:solidFill>
                  <a:srgbClr val="000000"/>
                </a:solidFill>
              </a:rPr>
              <a:t>[2], </a:t>
            </a:r>
            <a:r>
              <a:rPr sz="2400" dirty="0">
                <a:solidFill>
                  <a:srgbClr val="000000"/>
                </a:solidFill>
              </a:rPr>
              <a:t>. . . ,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400" spc="-5" dirty="0">
                <a:solidFill>
                  <a:srgbClr val="000000"/>
                </a:solidFill>
              </a:rPr>
              <a:t>[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n</a:t>
            </a:r>
            <a:r>
              <a:rPr sz="2400" spc="-5" dirty="0">
                <a:solidFill>
                  <a:srgbClr val="000000"/>
                </a:solidFill>
              </a:rPr>
              <a:t>] is 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</a:t>
            </a:r>
            <a:r>
              <a:rPr sz="2400" spc="-1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one-dimensional</a:t>
            </a:r>
            <a:r>
              <a:rPr sz="2400" spc="5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array</a:t>
            </a:r>
            <a:r>
              <a:rPr sz="2400" spc="-1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of</a:t>
            </a:r>
            <a:r>
              <a:rPr sz="2400" spc="-1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real numbers.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/>
          </a:p>
          <a:p>
            <a:pPr marL="2458720" marR="636905" indent="-2108200">
              <a:lnSpc>
                <a:spcPct val="100000"/>
              </a:lnSpc>
              <a:spcBef>
                <a:spcPts val="5"/>
              </a:spcBef>
            </a:pP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Post-condition</a:t>
            </a:r>
            <a:r>
              <a:rPr sz="2400" spc="-5" dirty="0">
                <a:solidFill>
                  <a:srgbClr val="000000"/>
                </a:solidFill>
              </a:rPr>
              <a:t>: The output variable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sz="2400" spc="-5" dirty="0">
                <a:solidFill>
                  <a:srgbClr val="000000"/>
                </a:solidFill>
              </a:rPr>
              <a:t>[1],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sz="2400" spc="-5" dirty="0">
                <a:solidFill>
                  <a:srgbClr val="000000"/>
                </a:solidFill>
              </a:rPr>
              <a:t>[2], </a:t>
            </a:r>
            <a:r>
              <a:rPr sz="2400" dirty="0">
                <a:solidFill>
                  <a:srgbClr val="000000"/>
                </a:solidFill>
              </a:rPr>
              <a:t>. . . ,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sz="2400" spc="-5" dirty="0">
                <a:solidFill>
                  <a:srgbClr val="000000"/>
                </a:solidFill>
              </a:rPr>
              <a:t>[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n</a:t>
            </a:r>
            <a:r>
              <a:rPr sz="2400" spc="-5" dirty="0">
                <a:solidFill>
                  <a:srgbClr val="000000"/>
                </a:solidFill>
              </a:rPr>
              <a:t>] </a:t>
            </a:r>
            <a:r>
              <a:rPr sz="2400" spc="-65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is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one-dimensional</a:t>
            </a:r>
            <a:r>
              <a:rPr sz="2400" spc="4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array</a:t>
            </a:r>
            <a:r>
              <a:rPr sz="2400" spc="-1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of</a:t>
            </a:r>
            <a:r>
              <a:rPr sz="2400" spc="-1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real 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numbers</a:t>
            </a:r>
            <a:r>
              <a:rPr sz="2400" spc="1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with same elements</a:t>
            </a:r>
            <a:r>
              <a:rPr sz="2400" spc="1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as</a:t>
            </a:r>
            <a:r>
              <a:rPr sz="2400" spc="-15" dirty="0">
                <a:solidFill>
                  <a:srgbClr val="000000"/>
                </a:solidFill>
              </a:rPr>
              <a:t>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400" spc="-5" dirty="0">
                <a:solidFill>
                  <a:srgbClr val="000000"/>
                </a:solidFill>
              </a:rPr>
              <a:t>[1], 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400" spc="-5" dirty="0">
                <a:solidFill>
                  <a:srgbClr val="000000"/>
                </a:solidFill>
              </a:rPr>
              <a:t>[2], </a:t>
            </a:r>
            <a:r>
              <a:rPr sz="2400" dirty="0">
                <a:solidFill>
                  <a:srgbClr val="000000"/>
                </a:solidFill>
              </a:rPr>
              <a:t>. . . ,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2400" spc="-5" dirty="0">
                <a:solidFill>
                  <a:srgbClr val="000000"/>
                </a:solidFill>
              </a:rPr>
              <a:t>[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n</a:t>
            </a:r>
            <a:r>
              <a:rPr sz="2400" spc="-5" dirty="0">
                <a:solidFill>
                  <a:srgbClr val="000000"/>
                </a:solidFill>
              </a:rPr>
              <a:t>] but with the property that </a:t>
            </a:r>
            <a:r>
              <a:rPr sz="2400" spc="-655" dirty="0">
                <a:solidFill>
                  <a:srgbClr val="000000"/>
                </a:solidFill>
              </a:rPr>
              <a:t>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sz="2400" dirty="0">
                <a:solidFill>
                  <a:srgbClr val="000000"/>
                </a:solidFill>
              </a:rPr>
              <a:t>[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i</a:t>
            </a:r>
            <a:r>
              <a:rPr sz="2400" i="1" spc="-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00"/>
                </a:solidFill>
              </a:rPr>
              <a:t>]</a:t>
            </a:r>
            <a:r>
              <a:rPr sz="2400" spc="-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  <a:latin typeface="Symbol"/>
                <a:cs typeface="Symbol"/>
              </a:rPr>
              <a:t></a:t>
            </a:r>
            <a:r>
              <a:rPr sz="240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sz="2400" dirty="0">
                <a:solidFill>
                  <a:srgbClr val="000000"/>
                </a:solidFill>
              </a:rPr>
              <a:t>[</a:t>
            </a:r>
            <a:r>
              <a:rPr sz="2400" spc="-5" dirty="0">
                <a:solidFill>
                  <a:srgbClr val="000000"/>
                </a:solidFill>
              </a:rPr>
              <a:t>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j</a:t>
            </a:r>
            <a:r>
              <a:rPr sz="2400" i="1" spc="-3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00"/>
                </a:solidFill>
              </a:rPr>
              <a:t>]</a:t>
            </a:r>
            <a:r>
              <a:rPr sz="2400" spc="-15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whene</a:t>
            </a:r>
            <a:r>
              <a:rPr sz="2400" spc="-5" dirty="0">
                <a:solidFill>
                  <a:srgbClr val="000000"/>
                </a:solidFill>
              </a:rPr>
              <a:t>v</a:t>
            </a:r>
            <a:r>
              <a:rPr sz="2400" spc="-10" dirty="0">
                <a:solidFill>
                  <a:srgbClr val="000000"/>
                </a:solidFill>
              </a:rPr>
              <a:t>e</a:t>
            </a:r>
            <a:r>
              <a:rPr sz="2400" dirty="0">
                <a:solidFill>
                  <a:srgbClr val="000000"/>
                </a:solidFill>
              </a:rPr>
              <a:t>r</a:t>
            </a:r>
            <a:r>
              <a:rPr sz="2400" spc="30" dirty="0">
                <a:solidFill>
                  <a:srgbClr val="000000"/>
                </a:solidFill>
              </a:rPr>
              <a:t> </a:t>
            </a:r>
            <a:r>
              <a:rPr sz="2400" i="1" spc="-5" dirty="0">
                <a:solidFill>
                  <a:srgbClr val="000000"/>
                </a:solidFill>
                <a:latin typeface="Arial"/>
                <a:cs typeface="Arial"/>
              </a:rPr>
              <a:t>i</a:t>
            </a:r>
            <a:r>
              <a:rPr sz="2400" i="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00"/>
                </a:solidFill>
                <a:latin typeface="Symbol"/>
                <a:cs typeface="Symbol"/>
              </a:rPr>
              <a:t></a:t>
            </a:r>
            <a:r>
              <a:rPr sz="2400" spc="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i="1" spc="-10" dirty="0">
                <a:solidFill>
                  <a:srgbClr val="000000"/>
                </a:solidFill>
                <a:latin typeface="Arial"/>
                <a:cs typeface="Arial"/>
              </a:rPr>
              <a:t>j</a:t>
            </a:r>
            <a:r>
              <a:rPr sz="2400" dirty="0">
                <a:solidFill>
                  <a:srgbClr val="000000"/>
                </a:solidFill>
              </a:rPr>
              <a:t>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1542" y="3753106"/>
            <a:ext cx="34982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10" dirty="0">
                <a:solidFill>
                  <a:srgbClr val="00ADEE"/>
                </a:solidFill>
                <a:latin typeface="Arial MT"/>
                <a:cs typeface="Arial MT"/>
              </a:rPr>
              <a:t>Loop</a:t>
            </a:r>
            <a:r>
              <a:rPr sz="4000" i="0" spc="-4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4000" i="0" spc="-5" dirty="0">
                <a:solidFill>
                  <a:srgbClr val="00ADEE"/>
                </a:solidFill>
                <a:latin typeface="Arial MT"/>
                <a:cs typeface="Arial MT"/>
              </a:rPr>
              <a:t>Invariants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00176"/>
            <a:ext cx="34982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10" dirty="0">
                <a:latin typeface="Arial MT"/>
                <a:cs typeface="Arial MT"/>
              </a:rPr>
              <a:t>Loop</a:t>
            </a:r>
            <a:r>
              <a:rPr sz="4000" i="0" spc="-45" dirty="0">
                <a:latin typeface="Arial MT"/>
                <a:cs typeface="Arial MT"/>
              </a:rPr>
              <a:t> </a:t>
            </a:r>
            <a:r>
              <a:rPr sz="4000" i="0" spc="-5" dirty="0">
                <a:latin typeface="Arial MT"/>
                <a:cs typeface="Arial MT"/>
              </a:rPr>
              <a:t>Invariants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7940675" cy="4268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 method of loop invariants is used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5" dirty="0">
                <a:latin typeface="Arial MT"/>
                <a:cs typeface="Arial MT"/>
              </a:rPr>
              <a:t>prove correctness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a loop with respect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5" dirty="0">
                <a:latin typeface="Arial MT"/>
                <a:cs typeface="Arial MT"/>
              </a:rPr>
              <a:t>certain pre- and post-conditions. </a:t>
            </a:r>
            <a:r>
              <a:rPr sz="2400" dirty="0">
                <a:latin typeface="Arial MT"/>
                <a:cs typeface="Arial MT"/>
              </a:rPr>
              <a:t>It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based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principle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mathematical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induction.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00">
              <a:latin typeface="Arial MT"/>
              <a:cs typeface="Arial MT"/>
            </a:endParaRPr>
          </a:p>
          <a:p>
            <a:pPr marL="12700" marR="190500" algn="just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Suppose that an algorithm contains a </a:t>
            </a:r>
            <a:r>
              <a:rPr sz="2400" b="1" dirty="0">
                <a:latin typeface="Arial"/>
                <a:cs typeface="Arial"/>
              </a:rPr>
              <a:t>while </a:t>
            </a:r>
            <a:r>
              <a:rPr sz="2400" spc="-5" dirty="0">
                <a:latin typeface="Arial MT"/>
                <a:cs typeface="Arial MT"/>
              </a:rPr>
              <a:t>loop and that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entry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5" dirty="0">
                <a:latin typeface="Arial MT"/>
                <a:cs typeface="Arial MT"/>
              </a:rPr>
              <a:t>this loop is restricted by a condition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dirty="0">
                <a:latin typeface="Arial MT"/>
                <a:cs typeface="Arial MT"/>
              </a:rPr>
              <a:t>, </a:t>
            </a:r>
            <a:r>
              <a:rPr sz="2400" spc="-5" dirty="0">
                <a:latin typeface="Arial MT"/>
                <a:cs typeface="Arial MT"/>
              </a:rPr>
              <a:t>called the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b="1" spc="-5" dirty="0">
                <a:latin typeface="Arial"/>
                <a:cs typeface="Arial"/>
              </a:rPr>
              <a:t>guard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 marR="8826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Suppose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also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assertions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describing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current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algorithm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have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been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placed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immediately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preceding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immediately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00176"/>
            <a:ext cx="34982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10" dirty="0">
                <a:latin typeface="Arial MT"/>
                <a:cs typeface="Arial MT"/>
              </a:rPr>
              <a:t>Loop</a:t>
            </a:r>
            <a:r>
              <a:rPr sz="4000" i="0" spc="-45" dirty="0">
                <a:latin typeface="Arial MT"/>
                <a:cs typeface="Arial MT"/>
              </a:rPr>
              <a:t> </a:t>
            </a:r>
            <a:r>
              <a:rPr sz="4000" i="0" spc="-5" dirty="0">
                <a:latin typeface="Arial MT"/>
                <a:cs typeface="Arial MT"/>
              </a:rPr>
              <a:t>Invariants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755904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 assertion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just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preceding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called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pre-condition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for the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loop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just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called the </a:t>
            </a:r>
            <a:r>
              <a:rPr sz="2400" b="1" spc="-5" dirty="0">
                <a:latin typeface="Arial"/>
                <a:cs typeface="Arial"/>
              </a:rPr>
              <a:t>post-condition for the loop</a:t>
            </a:r>
            <a:r>
              <a:rPr sz="2400" spc="-5" dirty="0">
                <a:latin typeface="Arial MT"/>
                <a:cs typeface="Arial MT"/>
              </a:rPr>
              <a:t>. The annotated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following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appearance: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0248" y="3865169"/>
            <a:ext cx="4077665" cy="24326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00176"/>
            <a:ext cx="34982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10" dirty="0">
                <a:latin typeface="Arial MT"/>
                <a:cs typeface="Arial MT"/>
              </a:rPr>
              <a:t>Loop</a:t>
            </a:r>
            <a:r>
              <a:rPr sz="4000" i="0" spc="-45" dirty="0">
                <a:latin typeface="Arial MT"/>
                <a:cs typeface="Arial MT"/>
              </a:rPr>
              <a:t> </a:t>
            </a:r>
            <a:r>
              <a:rPr sz="4000" i="0" spc="-5" dirty="0">
                <a:latin typeface="Arial MT"/>
                <a:cs typeface="Arial MT"/>
              </a:rPr>
              <a:t>Invariants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4138679"/>
            <a:ext cx="790194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Establishing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correctness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concept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invariant.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 </a:t>
            </a:r>
            <a:r>
              <a:rPr sz="2400" b="1" spc="-5" dirty="0">
                <a:latin typeface="Arial"/>
                <a:cs typeface="Arial"/>
              </a:rPr>
              <a:t>loop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invariant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predicate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domain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 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integers,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which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satisfies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condition: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each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iteration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predicate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before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iteration,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 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after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iteration.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085" y="2072695"/>
            <a:ext cx="8217812" cy="170618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00176"/>
            <a:ext cx="34982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10" dirty="0">
                <a:latin typeface="Arial MT"/>
                <a:cs typeface="Arial MT"/>
              </a:rPr>
              <a:t>Loop</a:t>
            </a:r>
            <a:r>
              <a:rPr sz="4000" i="0" spc="-45" dirty="0">
                <a:latin typeface="Arial MT"/>
                <a:cs typeface="Arial MT"/>
              </a:rPr>
              <a:t> </a:t>
            </a:r>
            <a:r>
              <a:rPr sz="4000" i="0" spc="-5" dirty="0">
                <a:latin typeface="Arial MT"/>
                <a:cs typeface="Arial MT"/>
              </a:rPr>
              <a:t>Invariants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8046720" cy="360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Furthermore,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predicate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satisfies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two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additional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conditions,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will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correct with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respect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pre-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post-conditions: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350520" indent="-338455">
              <a:lnSpc>
                <a:spcPct val="100000"/>
              </a:lnSpc>
              <a:buFont typeface="Arial"/>
              <a:buAutoNum type="arabicPeriod"/>
              <a:tabLst>
                <a:tab pos="351155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before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first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iteration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rabicPeriod"/>
            </a:pPr>
            <a:endParaRPr sz="3500">
              <a:latin typeface="Arial MT"/>
              <a:cs typeface="Arial MT"/>
            </a:endParaRPr>
          </a:p>
          <a:p>
            <a:pPr marL="350520" marR="302895" indent="-338455">
              <a:lnSpc>
                <a:spcPct val="100000"/>
              </a:lnSpc>
              <a:spcBef>
                <a:spcPts val="5"/>
              </a:spcBef>
              <a:buFont typeface="Arial"/>
              <a:buAutoNum type="arabicPeriod"/>
              <a:tabLst>
                <a:tab pos="351155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terminates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after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finite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number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iterations,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truth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invariant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ensures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truth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post-condition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56" y="900176"/>
            <a:ext cx="34982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Loop</a:t>
            </a:r>
            <a:r>
              <a:rPr sz="40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FFFFFF"/>
                </a:solidFill>
                <a:latin typeface="Arial MT"/>
                <a:cs typeface="Arial MT"/>
              </a:rPr>
              <a:t>Invariants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7687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theorem, called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loop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invariant</a:t>
            </a:r>
            <a:r>
              <a:rPr sz="2400" i="1" spc="3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theorem</a:t>
            </a:r>
            <a:r>
              <a:rPr sz="2400" spc="-10" dirty="0">
                <a:latin typeface="Arial MT"/>
                <a:cs typeface="Arial MT"/>
              </a:rPr>
              <a:t>,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formalizes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these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ideas.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0952" y="2738627"/>
            <a:ext cx="7071359" cy="432358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56" y="1028192"/>
            <a:ext cx="7853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Example</a:t>
            </a:r>
            <a:r>
              <a:rPr sz="24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FFFFFF"/>
                </a:solidFill>
                <a:latin typeface="Arial"/>
                <a:cs typeface="Arial"/>
              </a:rPr>
              <a:t>Correctness</a:t>
            </a:r>
            <a:r>
              <a:rPr sz="2400" i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FFFFFF"/>
                </a:solidFill>
                <a:latin typeface="Arial"/>
                <a:cs typeface="Arial"/>
              </a:rPr>
              <a:t>Loop</a:t>
            </a:r>
            <a:r>
              <a:rPr sz="2400" i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FFFFFF"/>
                </a:solidFill>
                <a:latin typeface="Arial"/>
                <a:cs typeface="Arial"/>
              </a:rPr>
              <a:t>Compute</a:t>
            </a:r>
            <a:r>
              <a:rPr sz="2400" i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400" i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780542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 following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designed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compute the product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mx </a:t>
            </a:r>
            <a:r>
              <a:rPr sz="2400" i="1" spc="-65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nonnegative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 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real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number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without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built-in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multiplication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operation.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Prior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loop,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product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have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been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introduced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given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initial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0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product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0.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3632" y="4172610"/>
            <a:ext cx="4390742" cy="242460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1028192"/>
            <a:ext cx="7853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0" spc="-10" dirty="0">
                <a:latin typeface="Arial MT"/>
                <a:cs typeface="Arial MT"/>
              </a:rPr>
              <a:t>Example</a:t>
            </a:r>
            <a:r>
              <a:rPr sz="2400" i="0" spc="25" dirty="0">
                <a:latin typeface="Arial MT"/>
                <a:cs typeface="Arial MT"/>
              </a:rPr>
              <a:t> </a:t>
            </a:r>
            <a:r>
              <a:rPr sz="2400" i="0" spc="-5" dirty="0">
                <a:latin typeface="Arial MT"/>
                <a:cs typeface="Arial MT"/>
              </a:rPr>
              <a:t>2</a:t>
            </a:r>
            <a:r>
              <a:rPr sz="2400" i="0" spc="5" dirty="0">
                <a:latin typeface="Arial MT"/>
                <a:cs typeface="Arial MT"/>
              </a:rPr>
              <a:t> </a:t>
            </a:r>
            <a:r>
              <a:rPr sz="2400" i="0" spc="-5" dirty="0">
                <a:latin typeface="Arial MT"/>
                <a:cs typeface="Arial MT"/>
              </a:rPr>
              <a:t>–</a:t>
            </a:r>
            <a:r>
              <a:rPr sz="2400" i="0" dirty="0">
                <a:latin typeface="Arial MT"/>
                <a:cs typeface="Arial MT"/>
              </a:rPr>
              <a:t> </a:t>
            </a:r>
            <a:r>
              <a:rPr sz="2400" spc="-5" dirty="0"/>
              <a:t>Correctness</a:t>
            </a:r>
            <a:r>
              <a:rPr sz="2400" spc="10" dirty="0"/>
              <a:t> </a:t>
            </a:r>
            <a:r>
              <a:rPr sz="2400" spc="-5" dirty="0"/>
              <a:t>of</a:t>
            </a:r>
            <a:r>
              <a:rPr sz="2400" dirty="0"/>
              <a:t> </a:t>
            </a:r>
            <a:r>
              <a:rPr sz="2400" spc="-5" dirty="0"/>
              <a:t>a</a:t>
            </a:r>
            <a:r>
              <a:rPr sz="2400" dirty="0"/>
              <a:t> </a:t>
            </a:r>
            <a:r>
              <a:rPr sz="2400" spc="-5" dirty="0"/>
              <a:t>Loop</a:t>
            </a:r>
            <a:r>
              <a:rPr sz="2400" spc="15" dirty="0"/>
              <a:t> </a:t>
            </a:r>
            <a:r>
              <a:rPr sz="2400" dirty="0"/>
              <a:t>to</a:t>
            </a:r>
            <a:r>
              <a:rPr sz="2400" spc="-5" dirty="0"/>
              <a:t> </a:t>
            </a:r>
            <a:r>
              <a:rPr sz="2400" spc="-10" dirty="0"/>
              <a:t>Compute</a:t>
            </a:r>
            <a:r>
              <a:rPr sz="2400" spc="25" dirty="0"/>
              <a:t> </a:t>
            </a:r>
            <a:r>
              <a:rPr sz="2400" spc="-5" dirty="0"/>
              <a:t>a</a:t>
            </a:r>
            <a:r>
              <a:rPr sz="2400" spc="5" dirty="0"/>
              <a:t> </a:t>
            </a:r>
            <a:r>
              <a:rPr sz="2400" spc="-5" dirty="0"/>
              <a:t>Product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3281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Let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 invariant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664" y="3699766"/>
            <a:ext cx="5699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guard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condition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b="1" dirty="0">
                <a:latin typeface="Arial"/>
                <a:cs typeface="Arial"/>
              </a:rPr>
              <a:t>while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loop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4664" y="5455416"/>
            <a:ext cx="79692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Use the loop invariant theorem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5" dirty="0">
                <a:latin typeface="Arial MT"/>
                <a:cs typeface="Arial MT"/>
              </a:rPr>
              <a:t>prove that the </a:t>
            </a:r>
            <a:r>
              <a:rPr sz="2400" b="1" dirty="0">
                <a:latin typeface="Arial"/>
                <a:cs typeface="Arial"/>
              </a:rPr>
              <a:t>while </a:t>
            </a:r>
            <a:r>
              <a:rPr sz="2400" spc="-5" dirty="0">
                <a:latin typeface="Arial MT"/>
                <a:cs typeface="Arial MT"/>
              </a:rPr>
              <a:t>loop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correct with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respect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given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pre-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post-conditions.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1540" y="2663753"/>
            <a:ext cx="3633303" cy="65736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4378" y="4475995"/>
            <a:ext cx="1546966" cy="7374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’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00176"/>
            <a:ext cx="48247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latin typeface="Arial MT"/>
                <a:cs typeface="Arial MT"/>
              </a:rPr>
              <a:t>Example 2</a:t>
            </a:r>
            <a:r>
              <a:rPr sz="4000" i="0" spc="-30" dirty="0">
                <a:latin typeface="Arial MT"/>
                <a:cs typeface="Arial MT"/>
              </a:rPr>
              <a:t> </a:t>
            </a:r>
            <a:r>
              <a:rPr sz="4000" i="0" spc="-5" dirty="0">
                <a:latin typeface="Arial MT"/>
                <a:cs typeface="Arial MT"/>
              </a:rPr>
              <a:t>–</a:t>
            </a:r>
            <a:r>
              <a:rPr sz="4000" i="0" spc="-25" dirty="0">
                <a:latin typeface="Arial MT"/>
                <a:cs typeface="Arial MT"/>
              </a:rPr>
              <a:t> </a:t>
            </a:r>
            <a:r>
              <a:rPr sz="4000" spc="-5" dirty="0"/>
              <a:t>Solution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7885430" cy="3098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278765" indent="-253365">
              <a:lnSpc>
                <a:spcPct val="100000"/>
              </a:lnSpc>
              <a:spcBef>
                <a:spcPts val="100"/>
              </a:spcBef>
              <a:buAutoNum type="romanUcPeriod"/>
              <a:tabLst>
                <a:tab pos="266065" algn="l"/>
              </a:tabLst>
            </a:pPr>
            <a:r>
              <a:rPr sz="2400" b="1" spc="-5" dirty="0">
                <a:latin typeface="Arial"/>
                <a:cs typeface="Arial"/>
              </a:rPr>
              <a:t>Basis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Property:</a:t>
            </a:r>
            <a:r>
              <a:rPr sz="2400" b="1" spc="3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[I</a:t>
            </a:r>
            <a:r>
              <a:rPr sz="2400" spc="-5" dirty="0">
                <a:latin typeface="Arial MT"/>
                <a:cs typeface="Arial MT"/>
              </a:rPr>
              <a:t>(0)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is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true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before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first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iteration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</a:t>
            </a:r>
            <a:r>
              <a:rPr sz="2400" i="1" spc="-65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loop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i="1" spc="-5" dirty="0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  <a:p>
            <a:pPr marL="265430" marR="33655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spc="-5" dirty="0">
                <a:latin typeface="Arial MT"/>
                <a:cs typeface="Arial MT"/>
              </a:rPr>
              <a:t>(0)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“i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0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product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0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000" b="1" spc="-960" dirty="0">
                <a:latin typeface="Arial"/>
                <a:cs typeface="Arial"/>
              </a:rPr>
              <a:t>🞄</a:t>
            </a:r>
            <a:r>
              <a:rPr sz="2000" b="1" spc="1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x”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which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 before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</a:t>
            </a:r>
            <a:r>
              <a:rPr sz="2400" spc="-10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rst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t</a:t>
            </a:r>
            <a:r>
              <a:rPr sz="2400" spc="-10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r</a:t>
            </a:r>
            <a:r>
              <a:rPr sz="2400" spc="-1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t</a:t>
            </a:r>
            <a:r>
              <a:rPr sz="2400" spc="-10" dirty="0">
                <a:latin typeface="Arial MT"/>
                <a:cs typeface="Arial MT"/>
              </a:rPr>
              <a:t>io</a:t>
            </a:r>
            <a:r>
              <a:rPr sz="2400" spc="-5" dirty="0">
                <a:latin typeface="Arial MT"/>
                <a:cs typeface="Arial MT"/>
              </a:rPr>
              <a:t>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</a:t>
            </a:r>
            <a:r>
              <a:rPr sz="2400" dirty="0">
                <a:latin typeface="Arial MT"/>
                <a:cs typeface="Arial MT"/>
              </a:rPr>
              <a:t>f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</a:t>
            </a:r>
            <a:r>
              <a:rPr sz="2400" spc="-10" dirty="0">
                <a:latin typeface="Arial MT"/>
                <a:cs typeface="Arial MT"/>
              </a:rPr>
              <a:t>h</a:t>
            </a:r>
            <a:r>
              <a:rPr sz="2400" spc="-5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loo</a:t>
            </a:r>
            <a:r>
              <a:rPr sz="2400" spc="-5" dirty="0">
                <a:latin typeface="Arial MT"/>
                <a:cs typeface="Arial MT"/>
              </a:rPr>
              <a:t>p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</a:t>
            </a:r>
            <a:r>
              <a:rPr sz="2400" spc="-5" dirty="0">
                <a:latin typeface="Arial MT"/>
                <a:cs typeface="Arial MT"/>
              </a:rPr>
              <a:t>c</a:t>
            </a:r>
            <a:r>
              <a:rPr sz="2400" spc="-10" dirty="0">
                <a:latin typeface="Arial MT"/>
                <a:cs typeface="Arial MT"/>
              </a:rPr>
              <a:t>au</a:t>
            </a:r>
            <a:r>
              <a:rPr sz="2400" spc="-5" dirty="0">
                <a:latin typeface="Arial MT"/>
                <a:cs typeface="Arial MT"/>
              </a:rPr>
              <a:t>se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0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000" b="1" spc="-1280" dirty="0">
                <a:latin typeface="Arial"/>
                <a:cs typeface="Arial"/>
              </a:rPr>
              <a:t>🞄</a:t>
            </a:r>
            <a:r>
              <a:rPr sz="2000" b="1" spc="1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=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0</a:t>
            </a:r>
            <a:r>
              <a:rPr sz="240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350520" marR="5080" indent="-338455">
              <a:lnSpc>
                <a:spcPct val="100000"/>
              </a:lnSpc>
              <a:buAutoNum type="romanUcPeriod" startAt="2"/>
              <a:tabLst>
                <a:tab pos="349885" algn="l"/>
              </a:tabLst>
            </a:pPr>
            <a:r>
              <a:rPr sz="2400" b="1" spc="-5" dirty="0">
                <a:latin typeface="Arial"/>
                <a:cs typeface="Arial"/>
              </a:rPr>
              <a:t>Inductive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Property:</a:t>
            </a:r>
            <a:r>
              <a:rPr sz="2400" b="1" spc="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[If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is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true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before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loop 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iteration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where</a:t>
            </a:r>
            <a:r>
              <a:rPr sz="2400" i="1" dirty="0">
                <a:latin typeface="Arial"/>
                <a:cs typeface="Arial"/>
              </a:rPr>
              <a:t> k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 MT"/>
                <a:cs typeface="Arial MT"/>
              </a:rPr>
              <a:t>0), </a:t>
            </a:r>
            <a:r>
              <a:rPr sz="2400" i="1" spc="-5" dirty="0">
                <a:latin typeface="Arial"/>
                <a:cs typeface="Arial"/>
              </a:rPr>
              <a:t>then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5" dirty="0">
                <a:latin typeface="Arial MT"/>
                <a:cs typeface="Arial MT"/>
              </a:rPr>
              <a:t> 1)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is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true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after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loop </a:t>
            </a:r>
            <a:r>
              <a:rPr sz="2400" i="1" spc="-65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iteration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i="1" spc="-5" dirty="0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00176"/>
            <a:ext cx="48247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latin typeface="Arial MT"/>
                <a:cs typeface="Arial MT"/>
              </a:rPr>
              <a:t>Example 2</a:t>
            </a:r>
            <a:r>
              <a:rPr sz="4000" i="0" spc="-30" dirty="0">
                <a:latin typeface="Arial MT"/>
                <a:cs typeface="Arial MT"/>
              </a:rPr>
              <a:t> </a:t>
            </a:r>
            <a:r>
              <a:rPr sz="4000" i="0" spc="-5" dirty="0">
                <a:latin typeface="Arial MT"/>
                <a:cs typeface="Arial MT"/>
              </a:rPr>
              <a:t>–</a:t>
            </a:r>
            <a:r>
              <a:rPr sz="4000" i="0" spc="-25" dirty="0">
                <a:latin typeface="Arial MT"/>
                <a:cs typeface="Arial MT"/>
              </a:rPr>
              <a:t> </a:t>
            </a:r>
            <a:r>
              <a:rPr sz="4000" spc="-5" dirty="0"/>
              <a:t>Solution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7712075" cy="236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Suppose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nonnegative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such that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before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iteration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loop.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execution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reaches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top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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Arial"/>
                <a:cs typeface="Arial"/>
              </a:rPr>
              <a:t>m</a:t>
            </a:r>
            <a:r>
              <a:rPr sz="2400" spc="-10" dirty="0">
                <a:latin typeface="Arial MT"/>
                <a:cs typeface="Arial MT"/>
              </a:rPr>
              <a:t>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product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kx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 marR="78168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Since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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Arial"/>
                <a:cs typeface="Arial"/>
              </a:rPr>
              <a:t>m</a:t>
            </a:r>
            <a:r>
              <a:rPr sz="2400" spc="-10" dirty="0">
                <a:latin typeface="Arial MT"/>
                <a:cs typeface="Arial MT"/>
              </a:rPr>
              <a:t>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guard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passed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1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executed.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Before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execution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statement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1,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664" y="5235960"/>
            <a:ext cx="7381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Thus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execution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1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effect: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4665" y="6025741"/>
            <a:ext cx="6052753" cy="30036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’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5688" y="4530157"/>
            <a:ext cx="1538627" cy="23334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00176"/>
            <a:ext cx="48247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latin typeface="Arial MT"/>
                <a:cs typeface="Arial MT"/>
              </a:rPr>
              <a:t>Example 2</a:t>
            </a:r>
            <a:r>
              <a:rPr sz="4000" i="0" spc="-30" dirty="0">
                <a:latin typeface="Arial MT"/>
                <a:cs typeface="Arial MT"/>
              </a:rPr>
              <a:t> </a:t>
            </a:r>
            <a:r>
              <a:rPr sz="4000" i="0" spc="-5" dirty="0">
                <a:latin typeface="Arial MT"/>
                <a:cs typeface="Arial MT"/>
              </a:rPr>
              <a:t>–</a:t>
            </a:r>
            <a:r>
              <a:rPr sz="4000" i="0" spc="-25" dirty="0">
                <a:latin typeface="Arial MT"/>
                <a:cs typeface="Arial MT"/>
              </a:rPr>
              <a:t> </a:t>
            </a:r>
            <a:r>
              <a:rPr sz="4000" spc="-5" dirty="0"/>
              <a:t>Solution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5598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Similarly,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before statement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2 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executed,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664" y="3260854"/>
            <a:ext cx="4531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so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after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execution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2,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4664" y="5016503"/>
            <a:ext cx="75755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Hence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after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iteration,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5" dirty="0">
                <a:latin typeface="Arial MT"/>
                <a:cs typeface="Arial MT"/>
              </a:rPr>
              <a:t> 1),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namely, (</a:t>
            </a:r>
            <a:r>
              <a:rPr sz="2400" i="1" spc="-5" dirty="0">
                <a:latin typeface="Arial"/>
                <a:cs typeface="Arial"/>
              </a:rPr>
              <a:t>i </a:t>
            </a:r>
            <a:r>
              <a:rPr sz="2400" dirty="0">
                <a:latin typeface="Arial MT"/>
                <a:cs typeface="Arial MT"/>
              </a:rPr>
              <a:t>= </a:t>
            </a:r>
            <a:r>
              <a:rPr sz="2400" i="1" dirty="0">
                <a:latin typeface="Arial"/>
                <a:cs typeface="Arial"/>
              </a:rPr>
              <a:t>k </a:t>
            </a:r>
            <a:r>
              <a:rPr sz="2400" dirty="0">
                <a:latin typeface="Arial MT"/>
                <a:cs typeface="Arial MT"/>
              </a:rPr>
              <a:t>+ </a:t>
            </a:r>
            <a:r>
              <a:rPr sz="2400" spc="-5" dirty="0">
                <a:latin typeface="Arial MT"/>
                <a:cs typeface="Arial MT"/>
              </a:rPr>
              <a:t>1 and </a:t>
            </a:r>
            <a:r>
              <a:rPr sz="2400" i="1" spc="-5" dirty="0">
                <a:latin typeface="Arial"/>
                <a:cs typeface="Arial"/>
              </a:rPr>
              <a:t>product </a:t>
            </a:r>
            <a:r>
              <a:rPr sz="2400" dirty="0">
                <a:latin typeface="Arial MT"/>
                <a:cs typeface="Arial MT"/>
              </a:rPr>
              <a:t>= (</a:t>
            </a:r>
            <a:r>
              <a:rPr sz="2400" i="1" dirty="0">
                <a:latin typeface="Arial"/>
                <a:cs typeface="Arial"/>
              </a:rPr>
              <a:t>k </a:t>
            </a:r>
            <a:r>
              <a:rPr sz="2400" dirty="0">
                <a:latin typeface="Arial MT"/>
                <a:cs typeface="Arial MT"/>
              </a:rPr>
              <a:t>+ </a:t>
            </a:r>
            <a:r>
              <a:rPr sz="2400" spc="-5" dirty="0">
                <a:latin typeface="Arial MT"/>
                <a:cs typeface="Arial MT"/>
              </a:rPr>
              <a:t>1)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 MT"/>
                <a:cs typeface="Arial MT"/>
              </a:rPr>
              <a:t>), is true. This is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what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needed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show.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817" y="2684983"/>
            <a:ext cx="952345" cy="2541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0964" y="4251639"/>
            <a:ext cx="2827799" cy="30030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’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00176"/>
            <a:ext cx="48247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latin typeface="Arial MT"/>
                <a:cs typeface="Arial MT"/>
              </a:rPr>
              <a:t>Example 2</a:t>
            </a:r>
            <a:r>
              <a:rPr sz="4000" i="0" spc="-30" dirty="0">
                <a:latin typeface="Arial MT"/>
                <a:cs typeface="Arial MT"/>
              </a:rPr>
              <a:t> </a:t>
            </a:r>
            <a:r>
              <a:rPr sz="4000" i="0" spc="-5" dirty="0">
                <a:latin typeface="Arial MT"/>
                <a:cs typeface="Arial MT"/>
              </a:rPr>
              <a:t>–</a:t>
            </a:r>
            <a:r>
              <a:rPr sz="4000" i="0" spc="-25" dirty="0">
                <a:latin typeface="Arial MT"/>
                <a:cs typeface="Arial MT"/>
              </a:rPr>
              <a:t> </a:t>
            </a:r>
            <a:r>
              <a:rPr sz="4000" spc="-5" dirty="0"/>
              <a:t>Solution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7524750" cy="478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3070" marR="58419" indent="-42100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III.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Eventual</a:t>
            </a:r>
            <a:r>
              <a:rPr sz="2400" b="1" spc="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Falsity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of Guard: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[After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finite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number</a:t>
            </a:r>
            <a:r>
              <a:rPr sz="2400" i="1" spc="5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</a:t>
            </a:r>
            <a:r>
              <a:rPr sz="2400" i="1" spc="-65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iterations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the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loop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becomes</a:t>
            </a:r>
            <a:r>
              <a:rPr sz="2400" i="1" spc="4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false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i="1" spc="-5" dirty="0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  <a:p>
            <a:pPr marL="518159" marR="936625" indent="-85725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Arial MT"/>
                <a:cs typeface="Arial MT"/>
              </a:rPr>
              <a:t>The guard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condition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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Arial"/>
                <a:cs typeface="Arial"/>
              </a:rPr>
              <a:t>m</a:t>
            </a:r>
            <a:r>
              <a:rPr sz="2400" spc="-10" dirty="0">
                <a:latin typeface="Arial MT"/>
                <a:cs typeface="Arial MT"/>
              </a:rPr>
              <a:t>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nonnegative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>
              <a:latin typeface="Arial MT"/>
              <a:cs typeface="Arial MT"/>
            </a:endParaRPr>
          </a:p>
          <a:p>
            <a:pPr marL="518159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II,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known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 MT"/>
                <a:cs typeface="Arial MT"/>
              </a:rPr>
              <a:t>0,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iterated</a:t>
            </a:r>
            <a:endParaRPr sz="2400">
              <a:latin typeface="Arial MT"/>
              <a:cs typeface="Arial MT"/>
            </a:endParaRPr>
          </a:p>
          <a:p>
            <a:pPr marL="937260">
              <a:lnSpc>
                <a:spcPct val="100000"/>
              </a:lnSpc>
              <a:spcBef>
                <a:spcPts val="580"/>
              </a:spcBef>
            </a:pP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spc="-5" dirty="0">
                <a:latin typeface="Arial MT"/>
                <a:cs typeface="Arial MT"/>
              </a:rPr>
              <a:t>times,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product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nx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>
              <a:latin typeface="Arial MT"/>
              <a:cs typeface="Arial MT"/>
            </a:endParaRPr>
          </a:p>
          <a:p>
            <a:pPr marL="518159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after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iterations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loop,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m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 MT"/>
              <a:cs typeface="Arial MT"/>
            </a:endParaRPr>
          </a:p>
          <a:p>
            <a:pPr marL="518159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Thus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becomes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false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after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iterations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’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00176"/>
            <a:ext cx="48247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latin typeface="Arial MT"/>
                <a:cs typeface="Arial MT"/>
              </a:rPr>
              <a:t>Example 2</a:t>
            </a:r>
            <a:r>
              <a:rPr sz="4000" i="0" spc="-30" dirty="0">
                <a:latin typeface="Arial MT"/>
                <a:cs typeface="Arial MT"/>
              </a:rPr>
              <a:t> </a:t>
            </a:r>
            <a:r>
              <a:rPr sz="4000" i="0" spc="-5" dirty="0">
                <a:latin typeface="Arial MT"/>
                <a:cs typeface="Arial MT"/>
              </a:rPr>
              <a:t>–</a:t>
            </a:r>
            <a:r>
              <a:rPr sz="4000" i="0" spc="-25" dirty="0">
                <a:latin typeface="Arial MT"/>
                <a:cs typeface="Arial MT"/>
              </a:rPr>
              <a:t> </a:t>
            </a:r>
            <a:r>
              <a:rPr sz="4000" spc="-5" dirty="0"/>
              <a:t>Solution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7887970" cy="478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3070" marR="5080" indent="-42100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IV. Correctness of the Post-Condition: </a:t>
            </a:r>
            <a:r>
              <a:rPr sz="2400" i="1" dirty="0">
                <a:latin typeface="Arial"/>
                <a:cs typeface="Arial"/>
              </a:rPr>
              <a:t>[If </a:t>
            </a:r>
            <a:r>
              <a:rPr sz="2400" i="1" spc="-5" dirty="0">
                <a:latin typeface="Arial"/>
                <a:cs typeface="Arial"/>
              </a:rPr>
              <a:t>N is the least 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number</a:t>
            </a:r>
            <a:r>
              <a:rPr sz="2400" i="1" spc="3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iterations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after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which</a:t>
            </a:r>
            <a:r>
              <a:rPr sz="2400" i="1" spc="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is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false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and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 MT"/>
                <a:cs typeface="Arial MT"/>
              </a:rPr>
              <a:t>) </a:t>
            </a:r>
            <a:r>
              <a:rPr sz="2400" i="1" spc="-5" dirty="0">
                <a:latin typeface="Arial"/>
                <a:cs typeface="Arial"/>
              </a:rPr>
              <a:t>is 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true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then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value</a:t>
            </a:r>
            <a:r>
              <a:rPr sz="2400" i="1" spc="2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the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algorithm</a:t>
            </a:r>
            <a:r>
              <a:rPr sz="2400" i="1" spc="2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variables</a:t>
            </a:r>
            <a:r>
              <a:rPr sz="2400" i="1" spc="2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will</a:t>
            </a:r>
            <a:r>
              <a:rPr sz="2400" i="1" spc="3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be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as </a:t>
            </a:r>
            <a:r>
              <a:rPr sz="2400" i="1" spc="-65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specified</a:t>
            </a:r>
            <a:r>
              <a:rPr sz="2400" i="1" spc="2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in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post-condition</a:t>
            </a:r>
            <a:r>
              <a:rPr sz="2400" i="1" spc="2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the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loop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i="1" spc="-5" dirty="0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  <a:p>
            <a:pPr marL="43307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Arial MT"/>
                <a:cs typeface="Arial MT"/>
              </a:rPr>
              <a:t>According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post-condition,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i="1" spc="-5" dirty="0">
                <a:latin typeface="Arial"/>
                <a:cs typeface="Arial"/>
              </a:rPr>
              <a:t>product</a:t>
            </a:r>
            <a:endParaRPr sz="2400">
              <a:latin typeface="Arial"/>
              <a:cs typeface="Arial"/>
            </a:endParaRPr>
          </a:p>
          <a:p>
            <a:pPr marL="43307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after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execution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should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 </a:t>
            </a:r>
            <a:r>
              <a:rPr sz="2400" i="1" spc="-10" dirty="0">
                <a:latin typeface="Arial"/>
                <a:cs typeface="Arial"/>
              </a:rPr>
              <a:t>mx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43307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But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becomes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false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after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iterations,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m</a:t>
            </a:r>
            <a:r>
              <a:rPr sz="2400" spc="-10" dirty="0">
                <a:latin typeface="Arial MT"/>
                <a:cs typeface="Arial MT"/>
              </a:rPr>
              <a:t>.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</a:t>
            </a:r>
            <a:endParaRPr sz="2400">
              <a:latin typeface="Arial MT"/>
              <a:cs typeface="Arial MT"/>
            </a:endParaRPr>
          </a:p>
          <a:p>
            <a:pPr marL="43307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product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Nx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Arial MT"/>
              <a:cs typeface="Arial MT"/>
            </a:endParaRPr>
          </a:p>
          <a:p>
            <a:pPr marL="433070" marR="78422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Since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both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conditions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false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 MT"/>
                <a:cs typeface="Arial MT"/>
              </a:rPr>
              <a:t>) true)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satisfied,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product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mx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required.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’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9861" y="3754630"/>
            <a:ext cx="7520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5" dirty="0">
                <a:solidFill>
                  <a:srgbClr val="00ADEE"/>
                </a:solidFill>
                <a:latin typeface="Arial MT"/>
                <a:cs typeface="Arial MT"/>
              </a:rPr>
              <a:t>Correctness</a:t>
            </a:r>
            <a:r>
              <a:rPr sz="3600" i="0" spc="-1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3600" i="0" dirty="0">
                <a:solidFill>
                  <a:srgbClr val="00ADEE"/>
                </a:solidFill>
                <a:latin typeface="Arial MT"/>
                <a:cs typeface="Arial MT"/>
              </a:rPr>
              <a:t>of</a:t>
            </a:r>
            <a:r>
              <a:rPr sz="3600" i="0" spc="-5" dirty="0">
                <a:solidFill>
                  <a:srgbClr val="00ADEE"/>
                </a:solidFill>
                <a:latin typeface="Arial MT"/>
                <a:cs typeface="Arial MT"/>
              </a:rPr>
              <a:t> the</a:t>
            </a:r>
            <a:r>
              <a:rPr sz="3600" i="0" spc="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3600" i="0" spc="-5" dirty="0">
                <a:solidFill>
                  <a:srgbClr val="00ADEE"/>
                </a:solidFill>
                <a:latin typeface="Arial MT"/>
                <a:cs typeface="Arial MT"/>
              </a:rPr>
              <a:t>Division</a:t>
            </a:r>
            <a:r>
              <a:rPr sz="3600" i="0" spc="-215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3600" i="0" spc="-5" dirty="0">
                <a:solidFill>
                  <a:srgbClr val="00ADEE"/>
                </a:solidFill>
                <a:latin typeface="Arial MT"/>
                <a:cs typeface="Arial MT"/>
              </a:rPr>
              <a:t>Algorithm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15416"/>
            <a:ext cx="796099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i="0" dirty="0">
                <a:latin typeface="Arial MT"/>
                <a:cs typeface="Arial MT"/>
              </a:rPr>
              <a:t>Correctness</a:t>
            </a:r>
            <a:r>
              <a:rPr sz="3800" i="0" spc="-55" dirty="0">
                <a:latin typeface="Arial MT"/>
                <a:cs typeface="Arial MT"/>
              </a:rPr>
              <a:t> </a:t>
            </a:r>
            <a:r>
              <a:rPr sz="3800" i="0" spc="-5" dirty="0">
                <a:latin typeface="Arial MT"/>
                <a:cs typeface="Arial MT"/>
              </a:rPr>
              <a:t>of</a:t>
            </a:r>
            <a:r>
              <a:rPr sz="3800" i="0" spc="-30" dirty="0">
                <a:latin typeface="Arial MT"/>
                <a:cs typeface="Arial MT"/>
              </a:rPr>
              <a:t> </a:t>
            </a:r>
            <a:r>
              <a:rPr sz="3800" i="0" spc="-5" dirty="0">
                <a:latin typeface="Arial MT"/>
                <a:cs typeface="Arial MT"/>
              </a:rPr>
              <a:t>the</a:t>
            </a:r>
            <a:r>
              <a:rPr sz="3800" i="0" spc="-25" dirty="0">
                <a:latin typeface="Arial MT"/>
                <a:cs typeface="Arial MT"/>
              </a:rPr>
              <a:t> </a:t>
            </a:r>
            <a:r>
              <a:rPr sz="3800" i="0" dirty="0">
                <a:latin typeface="Arial MT"/>
                <a:cs typeface="Arial MT"/>
              </a:rPr>
              <a:t>Division</a:t>
            </a:r>
            <a:r>
              <a:rPr sz="3800" i="0" spc="-5" dirty="0">
                <a:latin typeface="Arial MT"/>
                <a:cs typeface="Arial MT"/>
              </a:rPr>
              <a:t> Algorithm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8042275" cy="236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 division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algorithm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supposed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take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nonnegative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positive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compute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nonnegative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q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dq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0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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&lt;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 marR="20447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Initially,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variables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q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introduced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given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i="1" spc="-5" dirty="0">
                <a:latin typeface="Arial"/>
                <a:cs typeface="Arial"/>
              </a:rPr>
              <a:t>q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0.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56" y="915416"/>
            <a:ext cx="796099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dirty="0">
                <a:solidFill>
                  <a:srgbClr val="FFFFFF"/>
                </a:solidFill>
                <a:latin typeface="Arial MT"/>
                <a:cs typeface="Arial MT"/>
              </a:rPr>
              <a:t>Correctness</a:t>
            </a:r>
            <a:r>
              <a:rPr sz="3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00" spc="-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3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00" dirty="0">
                <a:solidFill>
                  <a:srgbClr val="FFFFFF"/>
                </a:solidFill>
                <a:latin typeface="Arial MT"/>
                <a:cs typeface="Arial MT"/>
              </a:rPr>
              <a:t>Division</a:t>
            </a:r>
            <a:r>
              <a:rPr sz="3800" spc="-5" dirty="0">
                <a:solidFill>
                  <a:srgbClr val="FFFFFF"/>
                </a:solidFill>
                <a:latin typeface="Arial MT"/>
                <a:cs typeface="Arial MT"/>
              </a:rPr>
              <a:t> Algorithm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776985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 crucial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annotated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pre-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post-conditions,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following: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1492" y="2967227"/>
            <a:ext cx="5820155" cy="32842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15416"/>
            <a:ext cx="796099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i="0" dirty="0">
                <a:latin typeface="Arial MT"/>
                <a:cs typeface="Arial MT"/>
              </a:rPr>
              <a:t>Correctness</a:t>
            </a:r>
            <a:r>
              <a:rPr sz="3800" i="0" spc="-55" dirty="0">
                <a:latin typeface="Arial MT"/>
                <a:cs typeface="Arial MT"/>
              </a:rPr>
              <a:t> </a:t>
            </a:r>
            <a:r>
              <a:rPr sz="3800" i="0" spc="-5" dirty="0">
                <a:latin typeface="Arial MT"/>
                <a:cs typeface="Arial MT"/>
              </a:rPr>
              <a:t>of</a:t>
            </a:r>
            <a:r>
              <a:rPr sz="3800" i="0" spc="-30" dirty="0">
                <a:latin typeface="Arial MT"/>
                <a:cs typeface="Arial MT"/>
              </a:rPr>
              <a:t> </a:t>
            </a:r>
            <a:r>
              <a:rPr sz="3800" i="0" spc="-5" dirty="0">
                <a:latin typeface="Arial MT"/>
                <a:cs typeface="Arial MT"/>
              </a:rPr>
              <a:t>the</a:t>
            </a:r>
            <a:r>
              <a:rPr sz="3800" i="0" spc="-25" dirty="0">
                <a:latin typeface="Arial MT"/>
                <a:cs typeface="Arial MT"/>
              </a:rPr>
              <a:t> </a:t>
            </a:r>
            <a:r>
              <a:rPr sz="3800" i="0" dirty="0">
                <a:latin typeface="Arial MT"/>
                <a:cs typeface="Arial MT"/>
              </a:rPr>
              <a:t>Division</a:t>
            </a:r>
            <a:r>
              <a:rPr sz="3800" i="0" spc="-5" dirty="0">
                <a:latin typeface="Arial MT"/>
                <a:cs typeface="Arial MT"/>
              </a:rPr>
              <a:t> Algorithm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1870965"/>
            <a:ext cx="7800340" cy="12693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Arial"/>
                <a:cs typeface="Arial"/>
              </a:rPr>
              <a:t>Proof: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Arial MT"/>
                <a:cs typeface="Arial MT"/>
              </a:rPr>
              <a:t>To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prove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correctness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let 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invariant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664" y="4065527"/>
            <a:ext cx="4071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guard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while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loop is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8148" y="3009138"/>
            <a:ext cx="4473020" cy="7369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35212" y="4833607"/>
            <a:ext cx="1506157" cy="71605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15416"/>
            <a:ext cx="796099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i="0" dirty="0">
                <a:latin typeface="Arial MT"/>
                <a:cs typeface="Arial MT"/>
              </a:rPr>
              <a:t>Correctness</a:t>
            </a:r>
            <a:r>
              <a:rPr sz="3800" i="0" spc="-55" dirty="0">
                <a:latin typeface="Arial MT"/>
                <a:cs typeface="Arial MT"/>
              </a:rPr>
              <a:t> </a:t>
            </a:r>
            <a:r>
              <a:rPr sz="3800" i="0" spc="-5" dirty="0">
                <a:latin typeface="Arial MT"/>
                <a:cs typeface="Arial MT"/>
              </a:rPr>
              <a:t>of</a:t>
            </a:r>
            <a:r>
              <a:rPr sz="3800" i="0" spc="-30" dirty="0">
                <a:latin typeface="Arial MT"/>
                <a:cs typeface="Arial MT"/>
              </a:rPr>
              <a:t> </a:t>
            </a:r>
            <a:r>
              <a:rPr sz="3800" i="0" spc="-5" dirty="0">
                <a:latin typeface="Arial MT"/>
                <a:cs typeface="Arial MT"/>
              </a:rPr>
              <a:t>the</a:t>
            </a:r>
            <a:r>
              <a:rPr sz="3800" i="0" spc="-25" dirty="0">
                <a:latin typeface="Arial MT"/>
                <a:cs typeface="Arial MT"/>
              </a:rPr>
              <a:t> </a:t>
            </a:r>
            <a:r>
              <a:rPr sz="3800" i="0" dirty="0">
                <a:latin typeface="Arial MT"/>
                <a:cs typeface="Arial MT"/>
              </a:rPr>
              <a:t>Division</a:t>
            </a:r>
            <a:r>
              <a:rPr sz="3800" i="0" spc="-5" dirty="0">
                <a:latin typeface="Arial MT"/>
                <a:cs typeface="Arial MT"/>
              </a:rPr>
              <a:t> Algorithm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7810500" cy="4341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220345" indent="-253365">
              <a:lnSpc>
                <a:spcPct val="100000"/>
              </a:lnSpc>
              <a:spcBef>
                <a:spcPts val="100"/>
              </a:spcBef>
              <a:buAutoNum type="romanUcPeriod"/>
              <a:tabLst>
                <a:tab pos="266065" algn="l"/>
              </a:tabLst>
            </a:pPr>
            <a:r>
              <a:rPr sz="2400" b="1" spc="-5" dirty="0">
                <a:latin typeface="Arial"/>
                <a:cs typeface="Arial"/>
              </a:rPr>
              <a:t>Basis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property:</a:t>
            </a:r>
            <a:r>
              <a:rPr sz="2400" b="1" spc="3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[I</a:t>
            </a:r>
            <a:r>
              <a:rPr sz="2400" spc="-5" dirty="0">
                <a:latin typeface="Arial MT"/>
                <a:cs typeface="Arial MT"/>
              </a:rPr>
              <a:t>(0)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is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true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before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 first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iteration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</a:t>
            </a:r>
            <a:r>
              <a:rPr sz="2400" i="1" spc="-65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loop.]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romanUcPeriod"/>
            </a:pPr>
            <a:endParaRPr sz="3500">
              <a:latin typeface="Arial"/>
              <a:cs typeface="Arial"/>
            </a:endParaRPr>
          </a:p>
          <a:p>
            <a:pPr marL="265430" marR="1359535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I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spc="-10" dirty="0">
                <a:latin typeface="Arial MT"/>
                <a:cs typeface="Arial MT"/>
              </a:rPr>
              <a:t>0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–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0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000" b="1" spc="-1280" dirty="0">
                <a:latin typeface="Arial"/>
                <a:cs typeface="Arial"/>
              </a:rPr>
              <a:t>🞄</a:t>
            </a:r>
            <a:r>
              <a:rPr sz="2000" b="1" spc="1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 MT"/>
                <a:cs typeface="Arial MT"/>
              </a:rPr>
              <a:t>0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</a:t>
            </a:r>
            <a:r>
              <a:rPr sz="2400" spc="-5" dirty="0">
                <a:latin typeface="Arial MT"/>
                <a:cs typeface="Arial MT"/>
              </a:rPr>
              <a:t>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q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0</a:t>
            </a:r>
            <a:r>
              <a:rPr sz="2400" dirty="0">
                <a:latin typeface="Arial MT"/>
                <a:cs typeface="Arial MT"/>
              </a:rPr>
              <a:t>.”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</a:t>
            </a:r>
            <a:r>
              <a:rPr sz="2400" spc="-10" dirty="0">
                <a:latin typeface="Arial MT"/>
                <a:cs typeface="Arial MT"/>
              </a:rPr>
              <a:t>u</a:t>
            </a:r>
            <a:r>
              <a:rPr sz="2400" dirty="0">
                <a:latin typeface="Arial MT"/>
                <a:cs typeface="Arial MT"/>
              </a:rPr>
              <a:t>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</a:t>
            </a:r>
            <a:r>
              <a:rPr sz="2400" dirty="0">
                <a:latin typeface="Arial MT"/>
                <a:cs typeface="Arial MT"/>
              </a:rPr>
              <a:t>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</a:t>
            </a:r>
            <a:r>
              <a:rPr sz="2400" spc="-10" dirty="0">
                <a:latin typeface="Arial MT"/>
                <a:cs typeface="Arial MT"/>
              </a:rPr>
              <a:t>h</a:t>
            </a:r>
            <a:r>
              <a:rPr sz="2400" spc="-5" dirty="0">
                <a:latin typeface="Arial MT"/>
                <a:cs typeface="Arial MT"/>
              </a:rPr>
              <a:t>e  pre-condition,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 MT"/>
                <a:cs typeface="Arial MT"/>
              </a:rPr>
              <a:t>0, 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q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0. So since</a:t>
            </a:r>
            <a:endParaRPr sz="2400">
              <a:latin typeface="Arial MT"/>
              <a:cs typeface="Arial MT"/>
            </a:endParaRPr>
          </a:p>
          <a:p>
            <a:pPr marL="265430" marR="508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–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0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000" b="1" spc="-960" dirty="0">
                <a:latin typeface="Arial"/>
                <a:cs typeface="Arial"/>
              </a:rPr>
              <a:t>🞄</a:t>
            </a:r>
            <a:r>
              <a:rPr sz="2000" b="1" spc="114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 MT"/>
                <a:cs typeface="Arial MT"/>
              </a:rPr>
              <a:t>, then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–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0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000" b="1" spc="-960" dirty="0">
                <a:latin typeface="Arial"/>
                <a:cs typeface="Arial"/>
              </a:rPr>
              <a:t>🞄</a:t>
            </a:r>
            <a:r>
              <a:rPr sz="2000" b="1" spc="1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spc="-5" dirty="0">
                <a:latin typeface="Arial MT"/>
                <a:cs typeface="Arial MT"/>
              </a:rPr>
              <a:t>(0)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before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first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iteration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350520" marR="281940" indent="-338455">
              <a:lnSpc>
                <a:spcPct val="100000"/>
              </a:lnSpc>
              <a:spcBef>
                <a:spcPts val="5"/>
              </a:spcBef>
              <a:buAutoNum type="romanUcPeriod" startAt="2"/>
              <a:tabLst>
                <a:tab pos="349885" algn="l"/>
              </a:tabLst>
            </a:pPr>
            <a:r>
              <a:rPr sz="2400" b="1" spc="-5" dirty="0">
                <a:latin typeface="Arial"/>
                <a:cs typeface="Arial"/>
              </a:rPr>
              <a:t>Inductive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Property:</a:t>
            </a:r>
            <a:r>
              <a:rPr sz="2400" b="1" spc="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[If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is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true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before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an 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iteration of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loop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where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 MT"/>
                <a:cs typeface="Arial MT"/>
              </a:rPr>
              <a:t>0),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then</a:t>
            </a:r>
            <a:r>
              <a:rPr sz="2400" i="1" dirty="0">
                <a:latin typeface="Arial"/>
                <a:cs typeface="Arial"/>
              </a:rPr>
              <a:t> I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5" dirty="0">
                <a:latin typeface="Arial MT"/>
                <a:cs typeface="Arial MT"/>
              </a:rPr>
              <a:t> 1)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is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true </a:t>
            </a:r>
            <a:r>
              <a:rPr sz="2400" i="1" spc="-65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after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iteration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the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loop.]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15416"/>
            <a:ext cx="796099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i="0" dirty="0">
                <a:latin typeface="Arial MT"/>
                <a:cs typeface="Arial MT"/>
              </a:rPr>
              <a:t>Correctness</a:t>
            </a:r>
            <a:r>
              <a:rPr sz="3800" i="0" spc="-55" dirty="0">
                <a:latin typeface="Arial MT"/>
                <a:cs typeface="Arial MT"/>
              </a:rPr>
              <a:t> </a:t>
            </a:r>
            <a:r>
              <a:rPr sz="3800" i="0" spc="-5" dirty="0">
                <a:latin typeface="Arial MT"/>
                <a:cs typeface="Arial MT"/>
              </a:rPr>
              <a:t>of</a:t>
            </a:r>
            <a:r>
              <a:rPr sz="3800" i="0" spc="-30" dirty="0">
                <a:latin typeface="Arial MT"/>
                <a:cs typeface="Arial MT"/>
              </a:rPr>
              <a:t> </a:t>
            </a:r>
            <a:r>
              <a:rPr sz="3800" i="0" spc="-5" dirty="0">
                <a:latin typeface="Arial MT"/>
                <a:cs typeface="Arial MT"/>
              </a:rPr>
              <a:t>the</a:t>
            </a:r>
            <a:r>
              <a:rPr sz="3800" i="0" spc="-25" dirty="0">
                <a:latin typeface="Arial MT"/>
                <a:cs typeface="Arial MT"/>
              </a:rPr>
              <a:t> </a:t>
            </a:r>
            <a:r>
              <a:rPr sz="3800" i="0" dirty="0">
                <a:latin typeface="Arial MT"/>
                <a:cs typeface="Arial MT"/>
              </a:rPr>
              <a:t>Division</a:t>
            </a:r>
            <a:r>
              <a:rPr sz="3800" i="0" spc="-5" dirty="0">
                <a:latin typeface="Arial MT"/>
                <a:cs typeface="Arial MT"/>
              </a:rPr>
              <a:t> Algorithm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7649" y="1944117"/>
            <a:ext cx="754380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Suppose </a:t>
            </a:r>
            <a:r>
              <a:rPr sz="2400" i="1" dirty="0">
                <a:latin typeface="Arial"/>
                <a:cs typeface="Arial"/>
              </a:rPr>
              <a:t>k </a:t>
            </a:r>
            <a:r>
              <a:rPr sz="2400" spc="-5" dirty="0">
                <a:latin typeface="Arial MT"/>
                <a:cs typeface="Arial MT"/>
              </a:rPr>
              <a:t>is a nonnegative integer such that </a:t>
            </a:r>
            <a:r>
              <a:rPr sz="2400" i="1" dirty="0">
                <a:latin typeface="Arial"/>
                <a:cs typeface="Arial"/>
              </a:rPr>
              <a:t>G </a:t>
            </a:r>
            <a:r>
              <a:rPr sz="2400" spc="45" dirty="0">
                <a:latin typeface="Cambria Math"/>
                <a:cs typeface="Cambria Math"/>
              </a:rPr>
              <a:t>𝖠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dirty="0">
                <a:latin typeface="Arial MT"/>
                <a:cs typeface="Arial MT"/>
              </a:rPr>
              <a:t>) </a:t>
            </a:r>
            <a:r>
              <a:rPr sz="2400" spc="-5" dirty="0">
                <a:latin typeface="Arial MT"/>
                <a:cs typeface="Arial MT"/>
              </a:rPr>
              <a:t>is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 before an iteration of the loop. Since </a:t>
            </a:r>
            <a:r>
              <a:rPr sz="2400" i="1" dirty="0">
                <a:latin typeface="Arial"/>
                <a:cs typeface="Arial"/>
              </a:rPr>
              <a:t>G </a:t>
            </a:r>
            <a:r>
              <a:rPr sz="2400" spc="-5" dirty="0">
                <a:latin typeface="Arial MT"/>
                <a:cs typeface="Arial MT"/>
              </a:rPr>
              <a:t>is true, </a:t>
            </a:r>
            <a:r>
              <a:rPr sz="2400" i="1" dirty="0">
                <a:latin typeface="Arial"/>
                <a:cs typeface="Arial"/>
              </a:rPr>
              <a:t>r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Arial"/>
                <a:cs typeface="Arial"/>
              </a:rPr>
              <a:t>d </a:t>
            </a:r>
            <a:r>
              <a:rPr sz="2400" i="1" spc="-65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 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entered.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Also since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true,</a:t>
            </a:r>
            <a:endParaRPr sz="2400">
              <a:latin typeface="Arial MT"/>
              <a:cs typeface="Arial MT"/>
            </a:endParaRPr>
          </a:p>
          <a:p>
            <a:pPr marL="12700" marR="581660" algn="just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r </a:t>
            </a:r>
            <a:r>
              <a:rPr sz="2400" dirty="0">
                <a:latin typeface="Arial MT"/>
                <a:cs typeface="Arial MT"/>
              </a:rPr>
              <a:t>= </a:t>
            </a:r>
            <a:r>
              <a:rPr sz="2400" i="1" spc="-5" dirty="0">
                <a:latin typeface="Arial"/>
                <a:cs typeface="Arial"/>
              </a:rPr>
              <a:t>a </a:t>
            </a:r>
            <a:r>
              <a:rPr sz="2400" spc="-5" dirty="0">
                <a:latin typeface="Arial MT"/>
                <a:cs typeface="Arial MT"/>
              </a:rPr>
              <a:t>– </a:t>
            </a:r>
            <a:r>
              <a:rPr sz="2400" i="1" spc="-5" dirty="0">
                <a:latin typeface="Arial"/>
                <a:cs typeface="Arial"/>
              </a:rPr>
              <a:t>kd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 MT"/>
                <a:cs typeface="Arial MT"/>
              </a:rPr>
              <a:t>0 </a:t>
            </a:r>
            <a:r>
              <a:rPr sz="2400" i="1" spc="-5" dirty="0">
                <a:latin typeface="Arial"/>
                <a:cs typeface="Arial"/>
              </a:rPr>
              <a:t>and </a:t>
            </a:r>
            <a:r>
              <a:rPr sz="2400" i="1" dirty="0">
                <a:latin typeface="Arial"/>
                <a:cs typeface="Arial"/>
              </a:rPr>
              <a:t>k </a:t>
            </a:r>
            <a:r>
              <a:rPr sz="2400" dirty="0">
                <a:latin typeface="Arial MT"/>
                <a:cs typeface="Arial MT"/>
              </a:rPr>
              <a:t>= </a:t>
            </a:r>
            <a:r>
              <a:rPr sz="2400" i="1" spc="-5" dirty="0">
                <a:latin typeface="Arial"/>
                <a:cs typeface="Arial"/>
              </a:rPr>
              <a:t>q</a:t>
            </a:r>
            <a:r>
              <a:rPr sz="2400" spc="-5" dirty="0">
                <a:latin typeface="Arial MT"/>
                <a:cs typeface="Arial MT"/>
              </a:rPr>
              <a:t>. Hence, before execution of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1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2,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2993" y="4870200"/>
            <a:ext cx="6191250" cy="126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When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1 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2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 executed,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then,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26225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8984" y="4138893"/>
            <a:ext cx="5021686" cy="2670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9628" y="6271531"/>
            <a:ext cx="2523427" cy="24216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3786" y="5514727"/>
            <a:ext cx="5067676" cy="2378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99704" y="5518321"/>
            <a:ext cx="532643" cy="20067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99704" y="6321552"/>
            <a:ext cx="500149" cy="20013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15416"/>
            <a:ext cx="796099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i="0" dirty="0">
                <a:latin typeface="Arial MT"/>
                <a:cs typeface="Arial MT"/>
              </a:rPr>
              <a:t>Correctness</a:t>
            </a:r>
            <a:r>
              <a:rPr sz="3800" i="0" spc="-55" dirty="0">
                <a:latin typeface="Arial MT"/>
                <a:cs typeface="Arial MT"/>
              </a:rPr>
              <a:t> </a:t>
            </a:r>
            <a:r>
              <a:rPr sz="3800" i="0" spc="-5" dirty="0">
                <a:latin typeface="Arial MT"/>
                <a:cs typeface="Arial MT"/>
              </a:rPr>
              <a:t>of</a:t>
            </a:r>
            <a:r>
              <a:rPr sz="3800" i="0" spc="-30" dirty="0">
                <a:latin typeface="Arial MT"/>
                <a:cs typeface="Arial MT"/>
              </a:rPr>
              <a:t> </a:t>
            </a:r>
            <a:r>
              <a:rPr sz="3800" i="0" spc="-5" dirty="0">
                <a:latin typeface="Arial MT"/>
                <a:cs typeface="Arial MT"/>
              </a:rPr>
              <a:t>the</a:t>
            </a:r>
            <a:r>
              <a:rPr sz="3800" i="0" spc="-25" dirty="0">
                <a:latin typeface="Arial MT"/>
                <a:cs typeface="Arial MT"/>
              </a:rPr>
              <a:t> </a:t>
            </a:r>
            <a:r>
              <a:rPr sz="3800" i="0" dirty="0">
                <a:latin typeface="Arial MT"/>
                <a:cs typeface="Arial MT"/>
              </a:rPr>
              <a:t>Division</a:t>
            </a:r>
            <a:r>
              <a:rPr sz="3800" i="0" spc="-5" dirty="0">
                <a:latin typeface="Arial MT"/>
                <a:cs typeface="Arial MT"/>
              </a:rPr>
              <a:t> Algorithm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2249" y="1944117"/>
            <a:ext cx="757935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In </a:t>
            </a:r>
            <a:r>
              <a:rPr sz="2400" spc="-5" dirty="0">
                <a:latin typeface="Arial MT"/>
                <a:cs typeface="Arial MT"/>
              </a:rPr>
              <a:t>addition, since </a:t>
            </a:r>
            <a:r>
              <a:rPr sz="2400" i="1" spc="-5" dirty="0">
                <a:latin typeface="Arial"/>
                <a:cs typeface="Arial"/>
              </a:rPr>
              <a:t>r</a:t>
            </a:r>
            <a:r>
              <a:rPr sz="2400" spc="-7" baseline="-20833" dirty="0">
                <a:latin typeface="Arial MT"/>
                <a:cs typeface="Arial MT"/>
              </a:rPr>
              <a:t>old</a:t>
            </a:r>
            <a:r>
              <a:rPr sz="2400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Arial"/>
                <a:cs typeface="Arial"/>
              </a:rPr>
              <a:t>d </a:t>
            </a:r>
            <a:r>
              <a:rPr sz="2400" spc="-5" dirty="0">
                <a:latin typeface="Arial MT"/>
                <a:cs typeface="Arial MT"/>
              </a:rPr>
              <a:t>before execution of statements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1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2, after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execution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these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statements,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7649" y="3626614"/>
            <a:ext cx="7242809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Putting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equations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(5.5.2),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(5.5.3),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(5.5.4) together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shows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after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iteration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loop,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2400" spc="-5" dirty="0">
                <a:latin typeface="Arial MT"/>
                <a:cs typeface="Arial MT"/>
              </a:rPr>
              <a:t>Hence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1)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 true.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82" y="4626019"/>
            <a:ext cx="6285495" cy="26653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59082" y="2967227"/>
            <a:ext cx="3126926" cy="26686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88276" y="3046316"/>
            <a:ext cx="366184" cy="13320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15416"/>
            <a:ext cx="796099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i="0" dirty="0">
                <a:latin typeface="Arial MT"/>
                <a:cs typeface="Arial MT"/>
              </a:rPr>
              <a:t>Correctness</a:t>
            </a:r>
            <a:r>
              <a:rPr sz="3800" i="0" spc="-55" dirty="0">
                <a:latin typeface="Arial MT"/>
                <a:cs typeface="Arial MT"/>
              </a:rPr>
              <a:t> </a:t>
            </a:r>
            <a:r>
              <a:rPr sz="3800" i="0" spc="-5" dirty="0">
                <a:latin typeface="Arial MT"/>
                <a:cs typeface="Arial MT"/>
              </a:rPr>
              <a:t>of</a:t>
            </a:r>
            <a:r>
              <a:rPr sz="3800" i="0" spc="-30" dirty="0">
                <a:latin typeface="Arial MT"/>
                <a:cs typeface="Arial MT"/>
              </a:rPr>
              <a:t> </a:t>
            </a:r>
            <a:r>
              <a:rPr sz="3800" i="0" spc="-5" dirty="0">
                <a:latin typeface="Arial MT"/>
                <a:cs typeface="Arial MT"/>
              </a:rPr>
              <a:t>the</a:t>
            </a:r>
            <a:r>
              <a:rPr sz="3800" i="0" spc="-25" dirty="0">
                <a:latin typeface="Arial MT"/>
                <a:cs typeface="Arial MT"/>
              </a:rPr>
              <a:t> </a:t>
            </a:r>
            <a:r>
              <a:rPr sz="3800" i="0" dirty="0">
                <a:latin typeface="Arial MT"/>
                <a:cs typeface="Arial MT"/>
              </a:rPr>
              <a:t>Division</a:t>
            </a:r>
            <a:r>
              <a:rPr sz="3800" i="0" spc="-5" dirty="0">
                <a:latin typeface="Arial MT"/>
                <a:cs typeface="Arial MT"/>
              </a:rPr>
              <a:t> Algorithm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80440" y="1944117"/>
            <a:ext cx="8037830" cy="3975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770" marR="17780" indent="-42100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III.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Eventual</a:t>
            </a:r>
            <a:r>
              <a:rPr sz="2400" b="1" spc="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Falsity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of the Guard: </a:t>
            </a:r>
            <a:r>
              <a:rPr sz="2400" i="1" spc="-5" dirty="0">
                <a:latin typeface="Arial"/>
                <a:cs typeface="Arial"/>
              </a:rPr>
              <a:t>[After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finite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number</a:t>
            </a:r>
            <a:r>
              <a:rPr sz="2400" i="1" spc="3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</a:t>
            </a:r>
            <a:r>
              <a:rPr sz="2400" i="1" spc="-65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iterations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the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loop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becomes</a:t>
            </a:r>
            <a:r>
              <a:rPr sz="2400" i="1" spc="4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false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i="1" spc="-5" dirty="0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"/>
              <a:cs typeface="Arial"/>
            </a:endParaRPr>
          </a:p>
          <a:p>
            <a:pPr marL="445770" marR="18288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The guard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is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condition</a:t>
            </a:r>
            <a:r>
              <a:rPr sz="2400" i="1" spc="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 MT"/>
                <a:cs typeface="Arial MT"/>
              </a:rPr>
              <a:t>. Each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iteration of the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reduces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yet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leaves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 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nonnegative</a:t>
            </a:r>
            <a:r>
              <a:rPr sz="2400" i="1" spc="-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"/>
              <a:cs typeface="Arial"/>
            </a:endParaRPr>
          </a:p>
          <a:p>
            <a:pPr marL="445770" marR="6350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MT"/>
                <a:cs typeface="Arial MT"/>
              </a:rPr>
              <a:t>Thus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form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decreasing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sequence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nonnegative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integers,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 so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(by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well-ordering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principle)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must be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smallest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r</a:t>
            </a:r>
            <a:r>
              <a:rPr sz="2400" spc="-7" baseline="-20833" dirty="0">
                <a:latin typeface="Arial MT"/>
                <a:cs typeface="Arial MT"/>
              </a:rPr>
              <a:t>min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15416"/>
            <a:ext cx="796099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i="0" dirty="0">
                <a:latin typeface="Arial MT"/>
                <a:cs typeface="Arial MT"/>
              </a:rPr>
              <a:t>Correctness</a:t>
            </a:r>
            <a:r>
              <a:rPr sz="3800" i="0" spc="-55" dirty="0">
                <a:latin typeface="Arial MT"/>
                <a:cs typeface="Arial MT"/>
              </a:rPr>
              <a:t> </a:t>
            </a:r>
            <a:r>
              <a:rPr sz="3800" i="0" spc="-5" dirty="0">
                <a:latin typeface="Arial MT"/>
                <a:cs typeface="Arial MT"/>
              </a:rPr>
              <a:t>of</a:t>
            </a:r>
            <a:r>
              <a:rPr sz="3800" i="0" spc="-30" dirty="0">
                <a:latin typeface="Arial MT"/>
                <a:cs typeface="Arial MT"/>
              </a:rPr>
              <a:t> </a:t>
            </a:r>
            <a:r>
              <a:rPr sz="3800" i="0" spc="-5" dirty="0">
                <a:latin typeface="Arial MT"/>
                <a:cs typeface="Arial MT"/>
              </a:rPr>
              <a:t>the</a:t>
            </a:r>
            <a:r>
              <a:rPr sz="3800" i="0" spc="-25" dirty="0">
                <a:latin typeface="Arial MT"/>
                <a:cs typeface="Arial MT"/>
              </a:rPr>
              <a:t> </a:t>
            </a:r>
            <a:r>
              <a:rPr sz="3800" i="0" dirty="0">
                <a:latin typeface="Arial MT"/>
                <a:cs typeface="Arial MT"/>
              </a:rPr>
              <a:t>Division</a:t>
            </a:r>
            <a:r>
              <a:rPr sz="3800" i="0" spc="-5" dirty="0">
                <a:latin typeface="Arial MT"/>
                <a:cs typeface="Arial MT"/>
              </a:rPr>
              <a:t> Algorithm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32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375665" y="1944117"/>
            <a:ext cx="7621905" cy="3829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Then </a:t>
            </a:r>
            <a:r>
              <a:rPr sz="2400" i="1" spc="-5" dirty="0">
                <a:latin typeface="Arial"/>
                <a:cs typeface="Arial"/>
              </a:rPr>
              <a:t>r</a:t>
            </a:r>
            <a:r>
              <a:rPr sz="2400" spc="-7" baseline="-20833" dirty="0">
                <a:latin typeface="Arial MT"/>
                <a:cs typeface="Arial MT"/>
              </a:rPr>
              <a:t>min </a:t>
            </a:r>
            <a:r>
              <a:rPr sz="2400" dirty="0">
                <a:latin typeface="Arial MT"/>
                <a:cs typeface="Arial MT"/>
              </a:rPr>
              <a:t>&lt;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 MT"/>
                <a:cs typeface="Arial MT"/>
              </a:rPr>
              <a:t>. </a:t>
            </a:r>
            <a:r>
              <a:rPr sz="2400" i="1" dirty="0">
                <a:latin typeface="Arial"/>
                <a:cs typeface="Arial"/>
              </a:rPr>
              <a:t>[If </a:t>
            </a:r>
            <a:r>
              <a:rPr sz="2400" i="1" spc="-5" dirty="0">
                <a:latin typeface="Arial"/>
                <a:cs typeface="Arial"/>
              </a:rPr>
              <a:t>r</a:t>
            </a:r>
            <a:r>
              <a:rPr sz="2400" spc="-7" baseline="-20833" dirty="0">
                <a:latin typeface="Arial MT"/>
                <a:cs typeface="Arial MT"/>
              </a:rPr>
              <a:t>min </a:t>
            </a:r>
            <a:r>
              <a:rPr sz="2400" i="1" spc="-5" dirty="0">
                <a:latin typeface="Arial"/>
                <a:cs typeface="Arial"/>
              </a:rPr>
              <a:t>were greater than d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the loop would </a:t>
            </a:r>
            <a:r>
              <a:rPr sz="2400" i="1" spc="-65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iterate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another</a:t>
            </a:r>
            <a:r>
              <a:rPr sz="2400" i="1" spc="2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time,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and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 new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value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equal</a:t>
            </a:r>
            <a:r>
              <a:rPr sz="2400" i="1" spc="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to</a:t>
            </a:r>
            <a:endParaRPr sz="2400">
              <a:latin typeface="Arial"/>
              <a:cs typeface="Arial"/>
            </a:endParaRPr>
          </a:p>
          <a:p>
            <a:pPr marL="50800" marR="52069" algn="just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r</a:t>
            </a:r>
            <a:r>
              <a:rPr sz="2400" spc="-7" baseline="-20833" dirty="0">
                <a:latin typeface="Arial MT"/>
                <a:cs typeface="Arial MT"/>
              </a:rPr>
              <a:t>min </a:t>
            </a:r>
            <a:r>
              <a:rPr sz="2400" spc="-5" dirty="0">
                <a:latin typeface="Arial MT"/>
                <a:cs typeface="Arial MT"/>
              </a:rPr>
              <a:t>– </a:t>
            </a:r>
            <a:r>
              <a:rPr sz="2400" i="1" spc="-5" dirty="0">
                <a:latin typeface="Arial"/>
                <a:cs typeface="Arial"/>
              </a:rPr>
              <a:t>d would be obtained</a:t>
            </a:r>
            <a:r>
              <a:rPr sz="2400" spc="-5" dirty="0">
                <a:latin typeface="Arial MT"/>
                <a:cs typeface="Arial MT"/>
              </a:rPr>
              <a:t>. </a:t>
            </a:r>
            <a:r>
              <a:rPr sz="2400" i="1" spc="-5" dirty="0">
                <a:latin typeface="Arial"/>
                <a:cs typeface="Arial"/>
              </a:rPr>
              <a:t>But this new value would be 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smaller </a:t>
            </a:r>
            <a:r>
              <a:rPr sz="2400" i="1" spc="-5" dirty="0">
                <a:latin typeface="Arial"/>
                <a:cs typeface="Arial"/>
              </a:rPr>
              <a:t>than r</a:t>
            </a:r>
            <a:r>
              <a:rPr sz="2400" spc="-7" baseline="-20833" dirty="0">
                <a:latin typeface="Arial MT"/>
                <a:cs typeface="Arial MT"/>
              </a:rPr>
              <a:t>min </a:t>
            </a:r>
            <a:r>
              <a:rPr sz="2400" i="1" spc="-5" dirty="0">
                <a:latin typeface="Arial"/>
                <a:cs typeface="Arial"/>
              </a:rPr>
              <a:t>which would contradict the fact that r</a:t>
            </a:r>
            <a:r>
              <a:rPr sz="2400" spc="-7" baseline="-20833" dirty="0">
                <a:latin typeface="Arial MT"/>
                <a:cs typeface="Arial MT"/>
              </a:rPr>
              <a:t>min </a:t>
            </a:r>
            <a:r>
              <a:rPr sz="2400" spc="-644" baseline="-20833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is the </a:t>
            </a:r>
            <a:r>
              <a:rPr sz="2400" i="1" spc="-10" dirty="0">
                <a:latin typeface="Arial"/>
                <a:cs typeface="Arial"/>
              </a:rPr>
              <a:t>smallest remainder </a:t>
            </a:r>
            <a:r>
              <a:rPr sz="2400" i="1" spc="-5" dirty="0">
                <a:latin typeface="Arial"/>
                <a:cs typeface="Arial"/>
              </a:rPr>
              <a:t>obtained by repeated iteration </a:t>
            </a:r>
            <a:r>
              <a:rPr sz="2400" i="1" spc="-65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loop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i="1" spc="-5" dirty="0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"/>
              <a:cs typeface="Arial"/>
            </a:endParaRPr>
          </a:p>
          <a:p>
            <a:pPr marL="50800" marR="34480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Hence as soon as the value </a:t>
            </a:r>
            <a:r>
              <a:rPr sz="2400" i="1" dirty="0">
                <a:latin typeface="Arial"/>
                <a:cs typeface="Arial"/>
              </a:rPr>
              <a:t>r </a:t>
            </a:r>
            <a:r>
              <a:rPr sz="2400" dirty="0">
                <a:latin typeface="Arial MT"/>
                <a:cs typeface="Arial MT"/>
              </a:rPr>
              <a:t>= </a:t>
            </a:r>
            <a:r>
              <a:rPr sz="2400" i="1" spc="-5" dirty="0">
                <a:latin typeface="Arial"/>
                <a:cs typeface="Arial"/>
              </a:rPr>
              <a:t>r</a:t>
            </a:r>
            <a:r>
              <a:rPr sz="2400" spc="-7" baseline="-20833" dirty="0">
                <a:latin typeface="Arial MT"/>
                <a:cs typeface="Arial MT"/>
              </a:rPr>
              <a:t>min</a:t>
            </a:r>
            <a:r>
              <a:rPr sz="2400" baseline="-20833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 computed, the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becomes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less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 MT"/>
                <a:cs typeface="Arial MT"/>
              </a:rPr>
              <a:t>, 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guard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false.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15416"/>
            <a:ext cx="796099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i="0" dirty="0">
                <a:latin typeface="Arial MT"/>
                <a:cs typeface="Arial MT"/>
              </a:rPr>
              <a:t>Correctness</a:t>
            </a:r>
            <a:r>
              <a:rPr sz="3800" i="0" spc="-55" dirty="0">
                <a:latin typeface="Arial MT"/>
                <a:cs typeface="Arial MT"/>
              </a:rPr>
              <a:t> </a:t>
            </a:r>
            <a:r>
              <a:rPr sz="3800" i="0" spc="-5" dirty="0">
                <a:latin typeface="Arial MT"/>
                <a:cs typeface="Arial MT"/>
              </a:rPr>
              <a:t>of</a:t>
            </a:r>
            <a:r>
              <a:rPr sz="3800" i="0" spc="-30" dirty="0">
                <a:latin typeface="Arial MT"/>
                <a:cs typeface="Arial MT"/>
              </a:rPr>
              <a:t> </a:t>
            </a:r>
            <a:r>
              <a:rPr sz="3800" i="0" spc="-5" dirty="0">
                <a:latin typeface="Arial MT"/>
                <a:cs typeface="Arial MT"/>
              </a:rPr>
              <a:t>the</a:t>
            </a:r>
            <a:r>
              <a:rPr sz="3800" i="0" spc="-25" dirty="0">
                <a:latin typeface="Arial MT"/>
                <a:cs typeface="Arial MT"/>
              </a:rPr>
              <a:t> </a:t>
            </a:r>
            <a:r>
              <a:rPr sz="3800" i="0" dirty="0">
                <a:latin typeface="Arial MT"/>
                <a:cs typeface="Arial MT"/>
              </a:rPr>
              <a:t>Division</a:t>
            </a:r>
            <a:r>
              <a:rPr sz="3800" i="0" spc="-5" dirty="0">
                <a:latin typeface="Arial MT"/>
                <a:cs typeface="Arial MT"/>
              </a:rPr>
              <a:t> Algorithm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8020684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8159" marR="302895" indent="-50609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IV. Correctness of the Post-Condition: </a:t>
            </a:r>
            <a:r>
              <a:rPr sz="2400" i="1" dirty="0">
                <a:latin typeface="Arial"/>
                <a:cs typeface="Arial"/>
              </a:rPr>
              <a:t>[If </a:t>
            </a:r>
            <a:r>
              <a:rPr sz="2400" i="1" spc="-5" dirty="0">
                <a:latin typeface="Arial"/>
                <a:cs typeface="Arial"/>
              </a:rPr>
              <a:t>N is the least </a:t>
            </a:r>
            <a:r>
              <a:rPr sz="2400" i="1" spc="-65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number</a:t>
            </a:r>
            <a:r>
              <a:rPr sz="2400" i="1" spc="3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iterations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after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which</a:t>
            </a:r>
            <a:r>
              <a:rPr sz="2400" i="1" spc="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5" dirty="0">
                <a:latin typeface="Arial"/>
                <a:cs typeface="Arial"/>
              </a:rPr>
              <a:t> is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false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and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 MT"/>
                <a:cs typeface="Arial MT"/>
              </a:rPr>
              <a:t>) </a:t>
            </a:r>
            <a:r>
              <a:rPr sz="2400" i="1" spc="-5" dirty="0">
                <a:latin typeface="Arial"/>
                <a:cs typeface="Arial"/>
              </a:rPr>
              <a:t>is 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true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then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values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the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algorithm</a:t>
            </a:r>
            <a:r>
              <a:rPr sz="2400" i="1" spc="2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variables</a:t>
            </a:r>
            <a:r>
              <a:rPr sz="2400" i="1" spc="4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will</a:t>
            </a:r>
            <a:r>
              <a:rPr sz="2400" i="1" spc="2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be </a:t>
            </a:r>
            <a:r>
              <a:rPr sz="2400" i="1" spc="-65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as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specified</a:t>
            </a:r>
            <a:r>
              <a:rPr sz="2400" i="1" spc="2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in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post-condition</a:t>
            </a:r>
            <a:r>
              <a:rPr sz="2400" i="1" spc="2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the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loop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i="1" spc="-5" dirty="0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"/>
              <a:cs typeface="Arial"/>
            </a:endParaRPr>
          </a:p>
          <a:p>
            <a:pPr marL="433070" marR="508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Suppose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 some nonnegative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false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true.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&lt;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 </a:t>
            </a:r>
            <a:r>
              <a:rPr sz="2400" spc="-5" dirty="0">
                <a:latin typeface="Arial MT"/>
                <a:cs typeface="Arial MT"/>
              </a:rPr>
              <a:t>–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Nd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Arial"/>
                <a:cs typeface="Arial"/>
              </a:rPr>
              <a:t>0</a:t>
            </a:r>
            <a:r>
              <a:rPr sz="2400" spc="-5" dirty="0">
                <a:latin typeface="Arial MT"/>
                <a:cs typeface="Arial MT"/>
              </a:rPr>
              <a:t>, and </a:t>
            </a:r>
            <a:r>
              <a:rPr sz="2400" i="1" spc="-5" dirty="0">
                <a:latin typeface="Arial"/>
                <a:cs typeface="Arial"/>
              </a:rPr>
              <a:t>q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 MT"/>
                <a:cs typeface="Arial MT"/>
              </a:rPr>
              <a:t>.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Since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q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 MT"/>
                <a:cs typeface="Arial MT"/>
              </a:rPr>
              <a:t>, by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substitution,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 marL="433070">
              <a:lnSpc>
                <a:spcPct val="100000"/>
              </a:lnSpc>
              <a:spcBef>
                <a:spcPts val="1850"/>
              </a:spcBef>
            </a:pPr>
            <a:r>
              <a:rPr sz="2400" dirty="0">
                <a:latin typeface="Arial MT"/>
                <a:cs typeface="Arial MT"/>
              </a:rPr>
              <a:t>Or,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adding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qd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both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sides,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0941" y="5236544"/>
            <a:ext cx="1289483" cy="2460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35408" y="6284236"/>
            <a:ext cx="1260690" cy="24154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33</a:t>
            </a:fld>
            <a:endParaRPr spc="-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15416"/>
            <a:ext cx="796099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i="0" dirty="0">
                <a:latin typeface="Arial MT"/>
                <a:cs typeface="Arial MT"/>
              </a:rPr>
              <a:t>Correctness</a:t>
            </a:r>
            <a:r>
              <a:rPr sz="3800" i="0" spc="-55" dirty="0">
                <a:latin typeface="Arial MT"/>
                <a:cs typeface="Arial MT"/>
              </a:rPr>
              <a:t> </a:t>
            </a:r>
            <a:r>
              <a:rPr sz="3800" i="0" spc="-5" dirty="0">
                <a:latin typeface="Arial MT"/>
                <a:cs typeface="Arial MT"/>
              </a:rPr>
              <a:t>of</a:t>
            </a:r>
            <a:r>
              <a:rPr sz="3800" i="0" spc="-30" dirty="0">
                <a:latin typeface="Arial MT"/>
                <a:cs typeface="Arial MT"/>
              </a:rPr>
              <a:t> </a:t>
            </a:r>
            <a:r>
              <a:rPr sz="3800" i="0" spc="-5" dirty="0">
                <a:latin typeface="Arial MT"/>
                <a:cs typeface="Arial MT"/>
              </a:rPr>
              <a:t>the</a:t>
            </a:r>
            <a:r>
              <a:rPr sz="3800" i="0" spc="-25" dirty="0">
                <a:latin typeface="Arial MT"/>
                <a:cs typeface="Arial MT"/>
              </a:rPr>
              <a:t> </a:t>
            </a:r>
            <a:r>
              <a:rPr sz="3800" i="0" dirty="0">
                <a:latin typeface="Arial MT"/>
                <a:cs typeface="Arial MT"/>
              </a:rPr>
              <a:t>Division</a:t>
            </a:r>
            <a:r>
              <a:rPr sz="3800" i="0" spc="-5" dirty="0">
                <a:latin typeface="Arial MT"/>
                <a:cs typeface="Arial MT"/>
              </a:rPr>
              <a:t> Algorithm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2993" y="1944117"/>
            <a:ext cx="6417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Combining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two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inequalities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involving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gives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2993" y="3260854"/>
            <a:ext cx="68033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But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these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i="1" spc="-5" dirty="0">
                <a:latin typeface="Arial"/>
                <a:cs typeface="Arial"/>
              </a:rPr>
              <a:t>q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specified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post-condition,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proof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complete.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4885" y="2664197"/>
            <a:ext cx="1148370" cy="22476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6017" y="3753106"/>
            <a:ext cx="654875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60600" marR="5080" indent="-22479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solidFill>
                  <a:srgbClr val="00ADEE"/>
                </a:solidFill>
                <a:latin typeface="Arial MT"/>
                <a:cs typeface="Arial MT"/>
              </a:rPr>
              <a:t>Correctness of the Euclidean </a:t>
            </a:r>
            <a:r>
              <a:rPr sz="4000" i="0" spc="-1100" dirty="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sz="4000" i="0" spc="-10" dirty="0">
                <a:solidFill>
                  <a:srgbClr val="00ADEE"/>
                </a:solidFill>
                <a:latin typeface="Arial MT"/>
                <a:cs typeface="Arial MT"/>
              </a:rPr>
              <a:t>Theorem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35</a:t>
            </a:fld>
            <a:endParaRPr spc="-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32180"/>
            <a:ext cx="7849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5" dirty="0">
                <a:latin typeface="Arial MT"/>
                <a:cs typeface="Arial MT"/>
              </a:rPr>
              <a:t>Correctness</a:t>
            </a:r>
            <a:r>
              <a:rPr sz="3600" i="0" spc="-15" dirty="0">
                <a:latin typeface="Arial MT"/>
                <a:cs typeface="Arial MT"/>
              </a:rPr>
              <a:t> </a:t>
            </a:r>
            <a:r>
              <a:rPr sz="3600" i="0" dirty="0">
                <a:latin typeface="Arial MT"/>
                <a:cs typeface="Arial MT"/>
              </a:rPr>
              <a:t>of</a:t>
            </a:r>
            <a:r>
              <a:rPr sz="3600" i="0" spc="-5" dirty="0">
                <a:latin typeface="Arial MT"/>
                <a:cs typeface="Arial MT"/>
              </a:rPr>
              <a:t> the</a:t>
            </a:r>
            <a:r>
              <a:rPr sz="3600" i="0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Euclidean</a:t>
            </a:r>
            <a:r>
              <a:rPr sz="3600" i="0" spc="-25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Theorem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804354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 Euclidean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algorithm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supposed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take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integers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B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 </a:t>
            </a:r>
            <a:r>
              <a:rPr sz="2400" dirty="0">
                <a:latin typeface="Arial MT"/>
                <a:cs typeface="Arial MT"/>
              </a:rPr>
              <a:t>&gt;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 MT"/>
                <a:cs typeface="Arial MT"/>
              </a:rPr>
              <a:t>0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compute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their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greatest common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divisor.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Just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before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crucial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5" dirty="0">
                <a:latin typeface="Arial MT"/>
                <a:cs typeface="Arial MT"/>
              </a:rPr>
              <a:t>, 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 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have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introduced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=</a:t>
            </a:r>
            <a:r>
              <a:rPr sz="2400" i="1" spc="-5" dirty="0">
                <a:latin typeface="Arial"/>
                <a:cs typeface="Arial"/>
              </a:rPr>
              <a:t> A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i="1" dirty="0">
                <a:latin typeface="Arial"/>
                <a:cs typeface="Arial"/>
              </a:rPr>
              <a:t> =</a:t>
            </a:r>
            <a:r>
              <a:rPr sz="2400" i="1" spc="-5" dirty="0">
                <a:latin typeface="Arial"/>
                <a:cs typeface="Arial"/>
              </a:rPr>
              <a:t> B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=</a:t>
            </a:r>
            <a:r>
              <a:rPr sz="2400" i="1" spc="-5" dirty="0">
                <a:latin typeface="Arial"/>
                <a:cs typeface="Arial"/>
              </a:rPr>
              <a:t> B.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456" y="932180"/>
            <a:ext cx="7849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Correctness</a:t>
            </a:r>
            <a:r>
              <a:rPr sz="3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the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Euclidean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Theorem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776985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 crucial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annotated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pre-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post-conditions,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following: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6985" y="3203764"/>
            <a:ext cx="4556290" cy="30436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37</a:t>
            </a:fld>
            <a:endParaRPr spc="-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32180"/>
            <a:ext cx="7849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5" dirty="0">
                <a:latin typeface="Arial MT"/>
                <a:cs typeface="Arial MT"/>
              </a:rPr>
              <a:t>Correctness</a:t>
            </a:r>
            <a:r>
              <a:rPr sz="3600" i="0" spc="-15" dirty="0">
                <a:latin typeface="Arial MT"/>
                <a:cs typeface="Arial MT"/>
              </a:rPr>
              <a:t> </a:t>
            </a:r>
            <a:r>
              <a:rPr sz="3600" i="0" dirty="0">
                <a:latin typeface="Arial MT"/>
                <a:cs typeface="Arial MT"/>
              </a:rPr>
              <a:t>of</a:t>
            </a:r>
            <a:r>
              <a:rPr sz="3600" i="0" spc="-5" dirty="0">
                <a:latin typeface="Arial MT"/>
                <a:cs typeface="Arial MT"/>
              </a:rPr>
              <a:t> the</a:t>
            </a:r>
            <a:r>
              <a:rPr sz="3600" i="0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Euclidean</a:t>
            </a:r>
            <a:r>
              <a:rPr sz="3600" i="0" spc="-25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Theorem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1870965"/>
            <a:ext cx="7565390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Arial"/>
                <a:cs typeface="Arial"/>
              </a:rPr>
              <a:t>Proof: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Arial MT"/>
                <a:cs typeface="Arial MT"/>
              </a:rPr>
              <a:t>To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prove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correctness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invariant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4664" y="4138679"/>
            <a:ext cx="4071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guard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while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loop is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8599" y="2996613"/>
            <a:ext cx="5698779" cy="7399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9319" y="4866968"/>
            <a:ext cx="1579767" cy="74056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38</a:t>
            </a:fld>
            <a:endParaRPr spc="-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32180"/>
            <a:ext cx="7849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5" dirty="0">
                <a:latin typeface="Arial MT"/>
                <a:cs typeface="Arial MT"/>
              </a:rPr>
              <a:t>Correctness</a:t>
            </a:r>
            <a:r>
              <a:rPr sz="3600" i="0" spc="-15" dirty="0">
                <a:latin typeface="Arial MT"/>
                <a:cs typeface="Arial MT"/>
              </a:rPr>
              <a:t> </a:t>
            </a:r>
            <a:r>
              <a:rPr sz="3600" i="0" dirty="0">
                <a:latin typeface="Arial MT"/>
                <a:cs typeface="Arial MT"/>
              </a:rPr>
              <a:t>of</a:t>
            </a:r>
            <a:r>
              <a:rPr sz="3600" i="0" spc="-5" dirty="0">
                <a:latin typeface="Arial MT"/>
                <a:cs typeface="Arial MT"/>
              </a:rPr>
              <a:t> the</a:t>
            </a:r>
            <a:r>
              <a:rPr sz="3600" i="0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Euclidean</a:t>
            </a:r>
            <a:r>
              <a:rPr sz="3600" i="0" spc="-25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Theorem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7611745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5080" indent="-25336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I.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Basis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Property:</a:t>
            </a:r>
            <a:r>
              <a:rPr sz="2400" b="1" spc="3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[I</a:t>
            </a:r>
            <a:r>
              <a:rPr sz="2400" spc="-5" dirty="0">
                <a:latin typeface="Arial MT"/>
                <a:cs typeface="Arial MT"/>
              </a:rPr>
              <a:t>(0)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is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true before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first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iteration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</a:t>
            </a:r>
            <a:r>
              <a:rPr sz="2400" i="1" spc="-65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loop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i="1" spc="-5" dirty="0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spc="-5" dirty="0">
                <a:latin typeface="Arial MT"/>
                <a:cs typeface="Arial MT"/>
              </a:rPr>
              <a:t>(0)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7649" y="4504439"/>
            <a:ext cx="41579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According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pre-condition,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7649" y="5821176"/>
            <a:ext cx="76473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Hence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gcd(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gcd(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i="1" spc="-5" dirty="0">
                <a:latin typeface="Arial"/>
                <a:cs typeface="Arial"/>
              </a:rPr>
              <a:t>.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Since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0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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&lt;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then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0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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&lt;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spc="-5" dirty="0">
                <a:latin typeface="Arial MT"/>
                <a:cs typeface="Arial MT"/>
              </a:rPr>
              <a:t>. Hence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spc="-5" dirty="0">
                <a:latin typeface="Arial MT"/>
                <a:cs typeface="Arial MT"/>
              </a:rPr>
              <a:t>(0)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3701" y="3811359"/>
            <a:ext cx="4477200" cy="2455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3148" y="5224420"/>
            <a:ext cx="5104806" cy="22517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39</a:t>
            </a:fld>
            <a:endParaRPr spc="-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32180"/>
            <a:ext cx="7849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5" dirty="0">
                <a:latin typeface="Arial MT"/>
                <a:cs typeface="Arial MT"/>
              </a:rPr>
              <a:t>Correctness</a:t>
            </a:r>
            <a:r>
              <a:rPr sz="3600" i="0" spc="-15" dirty="0">
                <a:latin typeface="Arial MT"/>
                <a:cs typeface="Arial MT"/>
              </a:rPr>
              <a:t> </a:t>
            </a:r>
            <a:r>
              <a:rPr sz="3600" i="0" dirty="0">
                <a:latin typeface="Arial MT"/>
                <a:cs typeface="Arial MT"/>
              </a:rPr>
              <a:t>of</a:t>
            </a:r>
            <a:r>
              <a:rPr sz="3600" i="0" spc="-5" dirty="0">
                <a:latin typeface="Arial MT"/>
                <a:cs typeface="Arial MT"/>
              </a:rPr>
              <a:t> the</a:t>
            </a:r>
            <a:r>
              <a:rPr sz="3600" i="0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Euclidean</a:t>
            </a:r>
            <a:r>
              <a:rPr sz="3600" i="0" spc="-25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Theorem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1964" y="1944117"/>
            <a:ext cx="7991475" cy="3463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220" marR="450215" indent="-33845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II.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Inductive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Property:</a:t>
            </a:r>
            <a:r>
              <a:rPr sz="2400" b="1" spc="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[If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is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true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before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an 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iteration of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loop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(where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Arial"/>
                <a:cs typeface="Arial"/>
              </a:rPr>
              <a:t>0),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then</a:t>
            </a:r>
            <a:r>
              <a:rPr sz="2400" i="1" dirty="0">
                <a:latin typeface="Arial"/>
                <a:cs typeface="Arial"/>
              </a:rPr>
              <a:t> I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5" dirty="0">
                <a:latin typeface="Arial MT"/>
                <a:cs typeface="Arial MT"/>
              </a:rPr>
              <a:t> 1)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is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true </a:t>
            </a:r>
            <a:r>
              <a:rPr sz="2400" i="1" spc="-65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after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iteration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the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loop.]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"/>
              <a:cs typeface="Arial"/>
            </a:endParaRPr>
          </a:p>
          <a:p>
            <a:pPr marL="363220" marR="4318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Suppose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nonnegative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before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iteration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loop.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[We</a:t>
            </a:r>
            <a:r>
              <a:rPr sz="2400" i="1" spc="-10" dirty="0">
                <a:latin typeface="Arial"/>
                <a:cs typeface="Arial"/>
              </a:rPr>
              <a:t> must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show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that </a:t>
            </a:r>
            <a:r>
              <a:rPr sz="2400" i="1" dirty="0">
                <a:latin typeface="Arial"/>
                <a:cs typeface="Arial"/>
              </a:rPr>
              <a:t> I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5" dirty="0">
                <a:latin typeface="Arial MT"/>
                <a:cs typeface="Arial MT"/>
              </a:rPr>
              <a:t> 1) </a:t>
            </a:r>
            <a:r>
              <a:rPr sz="2400" i="1" spc="-5" dirty="0">
                <a:latin typeface="Arial"/>
                <a:cs typeface="Arial"/>
              </a:rPr>
              <a:t>is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true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after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iteration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the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loop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i="1" spc="-5" dirty="0">
                <a:latin typeface="Arial"/>
                <a:cs typeface="Arial"/>
              </a:rPr>
              <a:t>]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Since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true,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7" baseline="-20833" dirty="0">
                <a:latin typeface="Arial MT"/>
                <a:cs typeface="Arial MT"/>
              </a:rPr>
              <a:t>old</a:t>
            </a:r>
            <a:r>
              <a:rPr sz="2400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Symbol"/>
                <a:cs typeface="Symbol"/>
              </a:rPr>
              <a:t>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 MT"/>
                <a:cs typeface="Arial MT"/>
              </a:rPr>
              <a:t>0 and the loop is entered. And since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dirty="0">
                <a:latin typeface="Arial MT"/>
                <a:cs typeface="Arial MT"/>
              </a:rPr>
              <a:t>) </a:t>
            </a:r>
            <a:r>
              <a:rPr sz="2400" spc="-5" dirty="0">
                <a:latin typeface="Arial MT"/>
                <a:cs typeface="Arial MT"/>
              </a:rPr>
              <a:t>is true,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immediately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before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1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executed,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3353" y="5851737"/>
            <a:ext cx="5355256" cy="2665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3874" y="5926126"/>
            <a:ext cx="407754" cy="15448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40</a:t>
            </a:fld>
            <a:endParaRPr spc="-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32180"/>
            <a:ext cx="7849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5" dirty="0">
                <a:latin typeface="Arial MT"/>
                <a:cs typeface="Arial MT"/>
              </a:rPr>
              <a:t>Correctness</a:t>
            </a:r>
            <a:r>
              <a:rPr sz="3600" i="0" spc="-15" dirty="0">
                <a:latin typeface="Arial MT"/>
                <a:cs typeface="Arial MT"/>
              </a:rPr>
              <a:t> </a:t>
            </a:r>
            <a:r>
              <a:rPr sz="3600" i="0" dirty="0">
                <a:latin typeface="Arial MT"/>
                <a:cs typeface="Arial MT"/>
              </a:rPr>
              <a:t>of</a:t>
            </a:r>
            <a:r>
              <a:rPr sz="3600" i="0" spc="-5" dirty="0">
                <a:latin typeface="Arial MT"/>
                <a:cs typeface="Arial MT"/>
              </a:rPr>
              <a:t> the</a:t>
            </a:r>
            <a:r>
              <a:rPr sz="3600" i="0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Euclidean</a:t>
            </a:r>
            <a:r>
              <a:rPr sz="3600" i="0" spc="-25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Theorem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4149" y="1944117"/>
            <a:ext cx="5736590" cy="3902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After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execution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1,</a:t>
            </a:r>
            <a:endParaRPr sz="2400">
              <a:latin typeface="Arial MT"/>
              <a:cs typeface="Arial MT"/>
            </a:endParaRPr>
          </a:p>
          <a:p>
            <a:pPr marL="76200" marR="43180">
              <a:lnSpc>
                <a:spcPct val="240000"/>
              </a:lnSpc>
            </a:pPr>
            <a:r>
              <a:rPr sz="2400" spc="-5" dirty="0">
                <a:latin typeface="Arial MT"/>
                <a:cs typeface="Arial MT"/>
              </a:rPr>
              <a:t>Thus,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quotient-remainder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theorem,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i="1" spc="-5" dirty="0">
                <a:latin typeface="Arial"/>
                <a:cs typeface="Arial"/>
              </a:rPr>
              <a:t>r</a:t>
            </a:r>
            <a:r>
              <a:rPr sz="2400" spc="-7" baseline="-20833" dirty="0">
                <a:latin typeface="Arial MT"/>
                <a:cs typeface="Arial MT"/>
              </a:rPr>
              <a:t>new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property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Lemma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4.8.2,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MT"/>
                <a:cs typeface="Arial MT"/>
              </a:rPr>
              <a:t>So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equation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(5.5.5),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7962" y="2514651"/>
            <a:ext cx="2145685" cy="23372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2103" y="3332516"/>
            <a:ext cx="4277967" cy="2461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90944" y="4251639"/>
            <a:ext cx="1696171" cy="26694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82802" y="5091244"/>
            <a:ext cx="3389300" cy="2997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75174" y="6005661"/>
            <a:ext cx="3027592" cy="2998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13111" y="4305222"/>
            <a:ext cx="412923" cy="15482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54664" y="6034758"/>
            <a:ext cx="407657" cy="15024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41</a:t>
            </a:fld>
            <a:endParaRPr spc="-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32180"/>
            <a:ext cx="7849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5" dirty="0">
                <a:latin typeface="Arial MT"/>
                <a:cs typeface="Arial MT"/>
              </a:rPr>
              <a:t>Correctness</a:t>
            </a:r>
            <a:r>
              <a:rPr sz="3600" i="0" spc="-15" dirty="0">
                <a:latin typeface="Arial MT"/>
                <a:cs typeface="Arial MT"/>
              </a:rPr>
              <a:t> </a:t>
            </a:r>
            <a:r>
              <a:rPr sz="3600" i="0" dirty="0">
                <a:latin typeface="Arial MT"/>
                <a:cs typeface="Arial MT"/>
              </a:rPr>
              <a:t>of</a:t>
            </a:r>
            <a:r>
              <a:rPr sz="3600" i="0" spc="-5" dirty="0">
                <a:latin typeface="Arial MT"/>
                <a:cs typeface="Arial MT"/>
              </a:rPr>
              <a:t> the</a:t>
            </a:r>
            <a:r>
              <a:rPr sz="3600" i="0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Euclidean</a:t>
            </a:r>
            <a:r>
              <a:rPr sz="3600" i="0" spc="-25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Theorem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7649" y="1944117"/>
            <a:ext cx="7650480" cy="4634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When statements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2 and 3 are executed,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Substituting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equations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(5.5.8)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equation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(5.5.7)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yields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 marR="8763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substituting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from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equations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(5.5.8)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into inequality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(5.5.6)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gives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 marR="15494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Hence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after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iteration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equation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(5.5.9)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 inequality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(5.5.10),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MT"/>
                <a:cs typeface="Arial MT"/>
              </a:rPr>
              <a:t>which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I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1). </a:t>
            </a:r>
            <a:r>
              <a:rPr sz="2400" i="1" spc="-5" dirty="0">
                <a:latin typeface="Arial"/>
                <a:cs typeface="Arial"/>
              </a:rPr>
              <a:t>[This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is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what</a:t>
            </a:r>
            <a:r>
              <a:rPr sz="2400" i="1" spc="2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we needed</a:t>
            </a:r>
            <a:r>
              <a:rPr sz="2400" i="1" spc="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to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show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i="1" spc="-5" dirty="0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8099" y="2468650"/>
            <a:ext cx="3329895" cy="2372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4537" y="3383127"/>
            <a:ext cx="3127052" cy="2670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79992" y="4596733"/>
            <a:ext cx="1759018" cy="23291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51604" y="5839419"/>
            <a:ext cx="4473593" cy="24651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17278" y="2539545"/>
            <a:ext cx="408681" cy="1543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38137" y="3403546"/>
            <a:ext cx="412923" cy="15531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21421" y="4630108"/>
            <a:ext cx="520699" cy="150433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42</a:t>
            </a:fld>
            <a:endParaRPr spc="-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32180"/>
            <a:ext cx="7849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5" dirty="0">
                <a:latin typeface="Arial MT"/>
                <a:cs typeface="Arial MT"/>
              </a:rPr>
              <a:t>Correctness</a:t>
            </a:r>
            <a:r>
              <a:rPr sz="3600" i="0" spc="-15" dirty="0">
                <a:latin typeface="Arial MT"/>
                <a:cs typeface="Arial MT"/>
              </a:rPr>
              <a:t> </a:t>
            </a:r>
            <a:r>
              <a:rPr sz="3600" i="0" dirty="0">
                <a:latin typeface="Arial MT"/>
                <a:cs typeface="Arial MT"/>
              </a:rPr>
              <a:t>of</a:t>
            </a:r>
            <a:r>
              <a:rPr sz="3600" i="0" spc="-5" dirty="0">
                <a:latin typeface="Arial MT"/>
                <a:cs typeface="Arial MT"/>
              </a:rPr>
              <a:t> the</a:t>
            </a:r>
            <a:r>
              <a:rPr sz="3600" i="0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Euclidean</a:t>
            </a:r>
            <a:r>
              <a:rPr sz="3600" i="0" spc="-25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Theorem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pc="-5" dirty="0"/>
              <a:t>43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140" y="1944117"/>
            <a:ext cx="8211820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3070" marR="204470" indent="-42100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III.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Eventual</a:t>
            </a:r>
            <a:r>
              <a:rPr sz="2400" b="1" spc="1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Falsity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of the Guard: </a:t>
            </a:r>
            <a:r>
              <a:rPr sz="2400" i="1" spc="-5" dirty="0">
                <a:latin typeface="Arial"/>
                <a:cs typeface="Arial"/>
              </a:rPr>
              <a:t>[After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finite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number</a:t>
            </a:r>
            <a:r>
              <a:rPr sz="2400" i="1" spc="3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</a:t>
            </a:r>
            <a:r>
              <a:rPr sz="2400" i="1" spc="-65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iterations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the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loop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becomes</a:t>
            </a:r>
            <a:r>
              <a:rPr sz="2400" i="1" spc="4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false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i="1" spc="-5" dirty="0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"/>
              <a:cs typeface="Arial"/>
            </a:endParaRPr>
          </a:p>
          <a:p>
            <a:pPr marL="43307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Each value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obtained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repeated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iteration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  <a:p>
            <a:pPr marL="43307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loop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nonnegative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less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previous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32247" y="6872737"/>
            <a:ext cx="279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4</a:t>
            </a: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70915" y="495300"/>
            <a:ext cx="9054465" cy="1178560"/>
            <a:chOff x="470915" y="495300"/>
            <a:chExt cx="9054465" cy="1178560"/>
          </a:xfrm>
        </p:grpSpPr>
        <p:sp>
          <p:nvSpPr>
            <p:cNvPr id="4" name="object 4"/>
            <p:cNvSpPr/>
            <p:nvPr/>
          </p:nvSpPr>
          <p:spPr>
            <a:xfrm>
              <a:off x="761999" y="842771"/>
              <a:ext cx="8763000" cy="830580"/>
            </a:xfrm>
            <a:custGeom>
              <a:avLst/>
              <a:gdLst/>
              <a:ahLst/>
              <a:cxnLst/>
              <a:rect l="l" t="t" r="r" b="b"/>
              <a:pathLst>
                <a:path w="8763000" h="830580">
                  <a:moveTo>
                    <a:pt x="8762999" y="830579"/>
                  </a:moveTo>
                  <a:lnTo>
                    <a:pt x="8762999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8762999" y="83057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0915" y="495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599" y="304799"/>
                  </a:moveTo>
                  <a:lnTo>
                    <a:pt x="304799" y="0"/>
                  </a:lnTo>
                  <a:lnTo>
                    <a:pt x="0" y="304799"/>
                  </a:lnTo>
                  <a:lnTo>
                    <a:pt x="304799" y="609599"/>
                  </a:lnTo>
                  <a:lnTo>
                    <a:pt x="609599" y="304799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5215" y="609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0999" y="190499"/>
                  </a:moveTo>
                  <a:lnTo>
                    <a:pt x="190499" y="0"/>
                  </a:lnTo>
                  <a:lnTo>
                    <a:pt x="0" y="190499"/>
                  </a:lnTo>
                  <a:lnTo>
                    <a:pt x="190499" y="380999"/>
                  </a:lnTo>
                  <a:lnTo>
                    <a:pt x="380999" y="19049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52932" y="932180"/>
            <a:ext cx="7849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5" dirty="0">
                <a:latin typeface="Arial MT"/>
                <a:cs typeface="Arial MT"/>
              </a:rPr>
              <a:t>Correctness</a:t>
            </a:r>
            <a:r>
              <a:rPr sz="3600" i="0" spc="-15" dirty="0">
                <a:latin typeface="Arial MT"/>
                <a:cs typeface="Arial MT"/>
              </a:rPr>
              <a:t> </a:t>
            </a:r>
            <a:r>
              <a:rPr sz="3600" i="0" dirty="0">
                <a:latin typeface="Arial MT"/>
                <a:cs typeface="Arial MT"/>
              </a:rPr>
              <a:t>of</a:t>
            </a:r>
            <a:r>
              <a:rPr sz="3600" i="0" spc="-5" dirty="0">
                <a:latin typeface="Arial MT"/>
                <a:cs typeface="Arial MT"/>
              </a:rPr>
              <a:t> the</a:t>
            </a:r>
            <a:r>
              <a:rPr sz="3600" i="0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Euclidean</a:t>
            </a:r>
            <a:r>
              <a:rPr sz="3600" i="0" spc="-25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Theorem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4204" y="1944117"/>
            <a:ext cx="7934959" cy="3829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Thus,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well-ordering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principle,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least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</a:t>
            </a:r>
            <a:endParaRPr sz="2400">
              <a:latin typeface="Arial MT"/>
              <a:cs typeface="Arial MT"/>
            </a:endParaRPr>
          </a:p>
          <a:p>
            <a:pPr marL="13462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7" baseline="-20833" dirty="0">
                <a:latin typeface="Arial MT"/>
                <a:cs typeface="Arial MT"/>
              </a:rPr>
              <a:t>min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fact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7" baseline="-20833" dirty="0">
                <a:latin typeface="Arial MT"/>
                <a:cs typeface="Arial MT"/>
              </a:rPr>
              <a:t>min</a:t>
            </a:r>
            <a:r>
              <a:rPr sz="2400" spc="315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0.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 MT"/>
              <a:cs typeface="Arial MT"/>
            </a:endParaRPr>
          </a:p>
          <a:p>
            <a:pPr marL="50800" marR="43180" indent="83820">
              <a:lnSpc>
                <a:spcPct val="100000"/>
              </a:lnSpc>
              <a:tabLst>
                <a:tab pos="4387850" algn="l"/>
              </a:tabLst>
            </a:pPr>
            <a:r>
              <a:rPr sz="2400" i="1" dirty="0">
                <a:latin typeface="Arial"/>
                <a:cs typeface="Arial"/>
              </a:rPr>
              <a:t>[If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7" baseline="-20833" dirty="0">
                <a:latin typeface="Arial MT"/>
                <a:cs typeface="Arial MT"/>
              </a:rPr>
              <a:t>min</a:t>
            </a:r>
            <a:r>
              <a:rPr sz="2400" baseline="-20833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is not </a:t>
            </a:r>
            <a:r>
              <a:rPr sz="2400" spc="-5" dirty="0">
                <a:latin typeface="Arial MT"/>
                <a:cs typeface="Arial MT"/>
              </a:rPr>
              <a:t>0, </a:t>
            </a:r>
            <a:r>
              <a:rPr sz="2400" i="1" spc="-5" dirty="0">
                <a:latin typeface="Arial"/>
                <a:cs typeface="Arial"/>
              </a:rPr>
              <a:t>then the guard is true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and so the loop is 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iterated another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time</a:t>
            </a:r>
            <a:r>
              <a:rPr sz="2400" spc="-10" dirty="0">
                <a:latin typeface="Arial MT"/>
                <a:cs typeface="Arial MT"/>
              </a:rPr>
              <a:t>.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In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this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iteration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value</a:t>
            </a:r>
            <a:r>
              <a:rPr sz="2400" i="1" spc="2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</a:t>
            </a:r>
            <a:r>
              <a:rPr sz="2400" i="1" dirty="0">
                <a:latin typeface="Arial"/>
                <a:cs typeface="Arial"/>
              </a:rPr>
              <a:t>r</a:t>
            </a:r>
            <a:r>
              <a:rPr sz="2400" i="1" spc="-5" dirty="0">
                <a:latin typeface="Arial"/>
                <a:cs typeface="Arial"/>
              </a:rPr>
              <a:t> is 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calculated</a:t>
            </a:r>
            <a:r>
              <a:rPr sz="2400" i="1" spc="2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that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is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less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than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previous</a:t>
            </a:r>
            <a:r>
              <a:rPr sz="2400" i="1" spc="3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value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b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7" baseline="-20833" dirty="0">
                <a:latin typeface="Arial MT"/>
                <a:cs typeface="Arial MT"/>
              </a:rPr>
              <a:t>min</a:t>
            </a:r>
            <a:r>
              <a:rPr sz="2400" spc="-5" dirty="0">
                <a:latin typeface="Arial MT"/>
                <a:cs typeface="Arial MT"/>
              </a:rPr>
              <a:t>.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Then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 value</a:t>
            </a:r>
            <a:r>
              <a:rPr sz="2400" i="1" spc="3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is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changed	</a:t>
            </a:r>
            <a:r>
              <a:rPr sz="2400" i="1" dirty="0">
                <a:latin typeface="Arial"/>
                <a:cs typeface="Arial"/>
              </a:rPr>
              <a:t>to r</a:t>
            </a:r>
            <a:r>
              <a:rPr sz="2400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which is less than 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7" baseline="-20833" dirty="0">
                <a:latin typeface="Arial MT"/>
                <a:cs typeface="Arial MT"/>
              </a:rPr>
              <a:t>min</a:t>
            </a:r>
            <a:r>
              <a:rPr sz="2400" spc="-5" dirty="0">
                <a:latin typeface="Arial MT"/>
                <a:cs typeface="Arial MT"/>
              </a:rPr>
              <a:t>. </a:t>
            </a:r>
            <a:r>
              <a:rPr sz="2400" i="1" spc="-5" dirty="0">
                <a:latin typeface="Arial"/>
                <a:cs typeface="Arial"/>
              </a:rPr>
              <a:t>This contradicts the fact that b</a:t>
            </a:r>
            <a:r>
              <a:rPr sz="2400" spc="-7" baseline="-20833" dirty="0">
                <a:latin typeface="Arial MT"/>
                <a:cs typeface="Arial MT"/>
              </a:rPr>
              <a:t>min</a:t>
            </a:r>
            <a:r>
              <a:rPr sz="2400" baseline="-20833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is the least value of </a:t>
            </a:r>
            <a:r>
              <a:rPr sz="2400" i="1" spc="-65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obtained</a:t>
            </a:r>
            <a:r>
              <a:rPr sz="2400" i="1" spc="2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by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repeated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iteration of the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loop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Hence</a:t>
            </a:r>
            <a:endParaRPr sz="24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7" baseline="-20833" dirty="0">
                <a:latin typeface="Arial MT"/>
                <a:cs typeface="Arial MT"/>
              </a:rPr>
              <a:t>min</a:t>
            </a:r>
            <a:r>
              <a:rPr sz="2400" spc="284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0.</a:t>
            </a:r>
            <a:r>
              <a:rPr sz="2400" i="1" spc="-5" dirty="0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0725" y="6260089"/>
            <a:ext cx="7407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Since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7" baseline="-20833" dirty="0">
                <a:latin typeface="Arial MT"/>
                <a:cs typeface="Arial MT"/>
              </a:rPr>
              <a:t>min</a:t>
            </a:r>
            <a:r>
              <a:rPr sz="2400" spc="322" baseline="-208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0, 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guard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false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immediately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following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loop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iteration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which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7" baseline="-20833" dirty="0">
                <a:latin typeface="Arial MT"/>
                <a:cs typeface="Arial MT"/>
              </a:rPr>
              <a:t>min</a:t>
            </a:r>
            <a:r>
              <a:rPr sz="2400" spc="322" baseline="-20833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calculated</a:t>
            </a:r>
            <a:r>
              <a:rPr sz="2400" i="1" spc="-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32180"/>
            <a:ext cx="7849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5" dirty="0">
                <a:latin typeface="Arial MT"/>
                <a:cs typeface="Arial MT"/>
              </a:rPr>
              <a:t>Correctness</a:t>
            </a:r>
            <a:r>
              <a:rPr sz="3600" i="0" spc="-15" dirty="0">
                <a:latin typeface="Arial MT"/>
                <a:cs typeface="Arial MT"/>
              </a:rPr>
              <a:t> </a:t>
            </a:r>
            <a:r>
              <a:rPr sz="3600" i="0" dirty="0">
                <a:latin typeface="Arial MT"/>
                <a:cs typeface="Arial MT"/>
              </a:rPr>
              <a:t>of</a:t>
            </a:r>
            <a:r>
              <a:rPr sz="3600" i="0" spc="-5" dirty="0">
                <a:latin typeface="Arial MT"/>
                <a:cs typeface="Arial MT"/>
              </a:rPr>
              <a:t> the</a:t>
            </a:r>
            <a:r>
              <a:rPr sz="3600" i="0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Euclidean</a:t>
            </a:r>
            <a:r>
              <a:rPr sz="3600" i="0" spc="-25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Theorem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664" y="1944117"/>
            <a:ext cx="7777480" cy="3463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8159" marR="59690" indent="-50609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IV. Correctness of the Post-Condition: </a:t>
            </a:r>
            <a:r>
              <a:rPr sz="2400" i="1" dirty="0">
                <a:latin typeface="Arial"/>
                <a:cs typeface="Arial"/>
              </a:rPr>
              <a:t>[If </a:t>
            </a:r>
            <a:r>
              <a:rPr sz="2400" i="1" spc="-5" dirty="0">
                <a:latin typeface="Arial"/>
                <a:cs typeface="Arial"/>
              </a:rPr>
              <a:t>N is the least </a:t>
            </a:r>
            <a:r>
              <a:rPr sz="2400" i="1" spc="-65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number</a:t>
            </a:r>
            <a:r>
              <a:rPr sz="2400" i="1" spc="3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iterations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after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which</a:t>
            </a:r>
            <a:r>
              <a:rPr sz="2400" i="1" spc="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5" dirty="0">
                <a:latin typeface="Arial"/>
                <a:cs typeface="Arial"/>
              </a:rPr>
              <a:t> is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false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and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 MT"/>
                <a:cs typeface="Arial MT"/>
              </a:rPr>
              <a:t>) </a:t>
            </a:r>
            <a:r>
              <a:rPr sz="2400" i="1" spc="-5" dirty="0">
                <a:latin typeface="Arial"/>
                <a:cs typeface="Arial"/>
              </a:rPr>
              <a:t>is 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true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then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values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the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algorithm</a:t>
            </a:r>
            <a:r>
              <a:rPr sz="2400" i="1" spc="2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variables</a:t>
            </a:r>
            <a:r>
              <a:rPr sz="2400" i="1" spc="4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will</a:t>
            </a:r>
            <a:r>
              <a:rPr sz="2400" i="1" spc="2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be </a:t>
            </a:r>
            <a:r>
              <a:rPr sz="2400" i="1" spc="-65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as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specified</a:t>
            </a:r>
            <a:r>
              <a:rPr sz="2400" i="1" spc="2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in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post-condition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i="1" spc="-5" dirty="0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>
              <a:latin typeface="Arial"/>
              <a:cs typeface="Arial"/>
            </a:endParaRPr>
          </a:p>
          <a:p>
            <a:pPr marL="518159" marR="508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Suppose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for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some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nonnegative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integer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dirty="0">
                <a:latin typeface="Arial"/>
                <a:cs typeface="Arial"/>
              </a:rPr>
              <a:t>G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false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I(N)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</a:t>
            </a:r>
            <a:r>
              <a:rPr sz="2400" i="1" spc="-5" dirty="0">
                <a:latin typeface="Arial"/>
                <a:cs typeface="Arial"/>
              </a:rPr>
              <a:t>.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[We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must</a:t>
            </a:r>
            <a:r>
              <a:rPr sz="2400" i="1" spc="2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show</a:t>
            </a:r>
            <a:r>
              <a:rPr sz="2400" i="1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the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truth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of the 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post-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condition:</a:t>
            </a:r>
            <a:r>
              <a:rPr sz="2400" i="1" spc="3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gcd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5" dirty="0">
                <a:latin typeface="Arial MT"/>
                <a:cs typeface="Arial MT"/>
              </a:rPr>
              <a:t>).</a:t>
            </a:r>
            <a:r>
              <a:rPr sz="2400" i="1" spc="-5" dirty="0">
                <a:latin typeface="Arial"/>
                <a:cs typeface="Arial"/>
              </a:rPr>
              <a:t>]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Since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false,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0,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 since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</a:t>
            </a:r>
            <a:r>
              <a:rPr sz="2400" spc="-5" dirty="0">
                <a:latin typeface="Arial MT"/>
                <a:cs typeface="Arial MT"/>
              </a:rPr>
              <a:t>(</a:t>
            </a:r>
            <a:r>
              <a:rPr sz="2400" i="1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true,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5601" y="5802128"/>
            <a:ext cx="2473540" cy="2459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50571" y="5847795"/>
            <a:ext cx="503953" cy="1504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08371" y="6924648"/>
            <a:ext cx="3302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z="1800" spc="-5" dirty="0">
                <a:latin typeface="Arial MT"/>
                <a:cs typeface="Arial MT"/>
              </a:rPr>
              <a:t>45</a:t>
            </a:fld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32180"/>
            <a:ext cx="7849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5" dirty="0">
                <a:latin typeface="Arial MT"/>
                <a:cs typeface="Arial MT"/>
              </a:rPr>
              <a:t>Correctness</a:t>
            </a:r>
            <a:r>
              <a:rPr sz="3600" i="0" spc="-15" dirty="0">
                <a:latin typeface="Arial MT"/>
                <a:cs typeface="Arial MT"/>
              </a:rPr>
              <a:t> </a:t>
            </a:r>
            <a:r>
              <a:rPr sz="3600" i="0" dirty="0">
                <a:latin typeface="Arial MT"/>
                <a:cs typeface="Arial MT"/>
              </a:rPr>
              <a:t>of</a:t>
            </a:r>
            <a:r>
              <a:rPr sz="3600" i="0" spc="-5" dirty="0">
                <a:latin typeface="Arial MT"/>
                <a:cs typeface="Arial MT"/>
              </a:rPr>
              <a:t> the</a:t>
            </a:r>
            <a:r>
              <a:rPr sz="3600" i="0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Euclidean</a:t>
            </a:r>
            <a:r>
              <a:rPr sz="3600" i="0" spc="-25" dirty="0">
                <a:latin typeface="Arial MT"/>
                <a:cs typeface="Arial MT"/>
              </a:rPr>
              <a:t> </a:t>
            </a:r>
            <a:r>
              <a:rPr sz="3600" i="0" spc="-5" dirty="0">
                <a:latin typeface="Arial MT"/>
                <a:cs typeface="Arial MT"/>
              </a:rPr>
              <a:t>Theorem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7649" y="1944117"/>
            <a:ext cx="6150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Substituting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0 into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equation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(5.5.11)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gives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7649" y="3260854"/>
            <a:ext cx="2837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But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Lemma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4.8.1,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7649" y="4577591"/>
            <a:ext cx="5790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Hence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gcd</a:t>
            </a:r>
            <a:r>
              <a:rPr sz="2400" i="1" spc="-5" dirty="0">
                <a:latin typeface="Arial"/>
                <a:cs typeface="Arial"/>
              </a:rPr>
              <a:t>(A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B)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[as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was</a:t>
            </a:r>
            <a:r>
              <a:rPr sz="2400" i="1" dirty="0">
                <a:latin typeface="Arial"/>
                <a:cs typeface="Arial"/>
              </a:rPr>
              <a:t> to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be shown].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8534" y="2576625"/>
            <a:ext cx="2465811" cy="24141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69671" y="3885612"/>
            <a:ext cx="1522453" cy="24165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08371" y="6924648"/>
            <a:ext cx="3302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sz="1800" spc="-5" dirty="0">
                <a:latin typeface="Arial MT"/>
                <a:cs typeface="Arial MT"/>
              </a:rPr>
              <a:t>46</a:t>
            </a:fld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4619643F-9269-3039-E616-1176338D4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1"/>
            <a:ext cx="96774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703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</TotalTime>
  <Words>2916</Words>
  <Application>Microsoft Office PowerPoint</Application>
  <PresentationFormat>Custom</PresentationFormat>
  <Paragraphs>271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Arial MT</vt:lpstr>
      <vt:lpstr>Calibri</vt:lpstr>
      <vt:lpstr>Cambria Math</vt:lpstr>
      <vt:lpstr>Symbol</vt:lpstr>
      <vt:lpstr>Times New Roman</vt:lpstr>
      <vt:lpstr>Office Theme</vt:lpstr>
      <vt:lpstr>CHAPTER 5</vt:lpstr>
      <vt:lpstr>SECTION 5.5</vt:lpstr>
      <vt:lpstr>Application: Correctness of Algorithms</vt:lpstr>
      <vt:lpstr>Application: Correctness of Algorithms</vt:lpstr>
      <vt:lpstr>Application: Correctness of Algorithms</vt:lpstr>
      <vt:lpstr>Assertions</vt:lpstr>
      <vt:lpstr>Assertions</vt:lpstr>
      <vt:lpstr>Example 1 – Algorithm Pre-Conditions and Post-Conditions</vt:lpstr>
      <vt:lpstr>Example 1 – Algorithm Pre-Conditions and Post-Conditions</vt:lpstr>
      <vt:lpstr>Example 1 – Algorithm Pre-Conditions and Post-Conditions</vt:lpstr>
      <vt:lpstr>Loop Invariants</vt:lpstr>
      <vt:lpstr>Loop Invariants</vt:lpstr>
      <vt:lpstr>Loop Invariants</vt:lpstr>
      <vt:lpstr>Loop Invariants</vt:lpstr>
      <vt:lpstr>Loop Invariants</vt:lpstr>
      <vt:lpstr>PowerPoint Presentation</vt:lpstr>
      <vt:lpstr>PowerPoint Presentation</vt:lpstr>
      <vt:lpstr>Example 2 – Correctness of a Loop to Compute a Product</vt:lpstr>
      <vt:lpstr>Example 2 – Solution</vt:lpstr>
      <vt:lpstr>Example 2 – Solution</vt:lpstr>
      <vt:lpstr>Example 2 – Solution</vt:lpstr>
      <vt:lpstr>Example 2 – Solution</vt:lpstr>
      <vt:lpstr>Example 2 – Solution</vt:lpstr>
      <vt:lpstr>Correctness of the Division Algorithm</vt:lpstr>
      <vt:lpstr>Correctness of the Division Algorithm</vt:lpstr>
      <vt:lpstr>PowerPoint Presentation</vt:lpstr>
      <vt:lpstr>Correctness of the Division Algorithm</vt:lpstr>
      <vt:lpstr>Correctness of the Division Algorithm</vt:lpstr>
      <vt:lpstr>Correctness of the Division Algorithm</vt:lpstr>
      <vt:lpstr>Correctness of the Division Algorithm</vt:lpstr>
      <vt:lpstr>Correctness of the Division Algorithm</vt:lpstr>
      <vt:lpstr>Correctness of the Division Algorithm</vt:lpstr>
      <vt:lpstr>Correctness of the Division Algorithm</vt:lpstr>
      <vt:lpstr>Correctness of the Division Algorithm</vt:lpstr>
      <vt:lpstr>Correctness of the Euclidean  Theorem</vt:lpstr>
      <vt:lpstr>Correctness of the Euclidean Theorem</vt:lpstr>
      <vt:lpstr>PowerPoint Presentation</vt:lpstr>
      <vt:lpstr>Correctness of the Euclidean Theorem</vt:lpstr>
      <vt:lpstr>Correctness of the Euclidean Theorem</vt:lpstr>
      <vt:lpstr>Correctness of the Euclidean Theorem</vt:lpstr>
      <vt:lpstr>Correctness of the Euclidean Theorem</vt:lpstr>
      <vt:lpstr>Correctness of the Euclidean Theorem</vt:lpstr>
      <vt:lpstr>Correctness of the Euclidean Theorem</vt:lpstr>
      <vt:lpstr>Correctness of the Euclidean Theorem</vt:lpstr>
      <vt:lpstr>Correctness of the Euclidean Theorem</vt:lpstr>
      <vt:lpstr>Correctness of the Euclidean Theorem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EppDm4_05_05.ppt [Compatibility Mode]</dc:title>
  <dc:creator>Noriko</dc:creator>
  <cp:lastModifiedBy>Fehmida Usmani</cp:lastModifiedBy>
  <cp:revision>2</cp:revision>
  <dcterms:created xsi:type="dcterms:W3CDTF">2024-10-02T04:44:11Z</dcterms:created>
  <dcterms:modified xsi:type="dcterms:W3CDTF">2024-10-07T05:13:11Z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2016-09-14T00:00:00Z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2024-10-02T00:00:00Z</vt:filetime>
  </property>
</Properties>
</file>