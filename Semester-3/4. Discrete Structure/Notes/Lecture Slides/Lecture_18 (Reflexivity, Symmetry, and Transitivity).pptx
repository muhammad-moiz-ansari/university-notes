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0058400" cy="7772400"/>
  <p:notesSz cx="10058400" cy="7772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4456" y="919988"/>
            <a:ext cx="8071484" cy="598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61999" y="842771"/>
            <a:ext cx="8763000" cy="830580"/>
          </a:xfrm>
          <a:custGeom>
            <a:avLst/>
            <a:gdLst/>
            <a:ahLst/>
            <a:cxnLst/>
            <a:rect l="l" t="t" r="r" b="b"/>
            <a:pathLst>
              <a:path w="8763000" h="830580">
                <a:moveTo>
                  <a:pt x="8762999" y="830579"/>
                </a:moveTo>
                <a:lnTo>
                  <a:pt x="8762999" y="0"/>
                </a:lnTo>
                <a:lnTo>
                  <a:pt x="0" y="0"/>
                </a:lnTo>
                <a:lnTo>
                  <a:pt x="0" y="830579"/>
                </a:lnTo>
                <a:lnTo>
                  <a:pt x="8762999" y="83057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70915" y="495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609599" y="304799"/>
                </a:moveTo>
                <a:lnTo>
                  <a:pt x="304799" y="0"/>
                </a:lnTo>
                <a:lnTo>
                  <a:pt x="0" y="304799"/>
                </a:lnTo>
                <a:lnTo>
                  <a:pt x="304799" y="609599"/>
                </a:lnTo>
                <a:lnTo>
                  <a:pt x="609599" y="304799"/>
                </a:lnTo>
                <a:close/>
              </a:path>
            </a:pathLst>
          </a:custGeom>
          <a:solidFill>
            <a:srgbClr val="CBDB2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585215" y="60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0999" y="190499"/>
                </a:moveTo>
                <a:lnTo>
                  <a:pt x="190499" y="0"/>
                </a:lnTo>
                <a:lnTo>
                  <a:pt x="0" y="190499"/>
                </a:lnTo>
                <a:lnTo>
                  <a:pt x="190499" y="380999"/>
                </a:lnTo>
                <a:lnTo>
                  <a:pt x="380999" y="190499"/>
                </a:lnTo>
                <a:close/>
              </a:path>
            </a:pathLst>
          </a:custGeom>
          <a:solidFill>
            <a:srgbClr val="1565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2932" y="907796"/>
            <a:ext cx="7938134" cy="619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4664" y="1944117"/>
            <a:ext cx="8010525" cy="4719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006847" y="6924648"/>
            <a:ext cx="344423" cy="254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457200"/>
            <a:ext cx="9143999" cy="618591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97349" y="587756"/>
            <a:ext cx="20415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CHAPTER</a:t>
            </a:r>
            <a:r>
              <a:rPr dirty="0" sz="28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0" b="1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65"/>
              </a:lnSpc>
            </a:pPr>
            <a:r>
              <a:rPr dirty="0" sz="1400">
                <a:latin typeface="Arial MT"/>
                <a:cs typeface="Arial MT"/>
              </a:rPr>
              <a:t>Copyright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©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Cengage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Learning.</a:t>
            </a:r>
            <a:r>
              <a:rPr dirty="0" sz="1400" spc="-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All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rights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572508" y="1162304"/>
            <a:ext cx="286194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35">
                <a:solidFill>
                  <a:srgbClr val="FFFFFF"/>
                </a:solidFill>
                <a:latin typeface="Arial MT"/>
                <a:cs typeface="Arial MT"/>
              </a:rPr>
              <a:t>RELATIONS</a:t>
            </a:r>
            <a:endParaRPr sz="4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219706" y="2991106"/>
            <a:ext cx="5663565" cy="11842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85925" marR="5080" indent="-1673860">
              <a:lnSpc>
                <a:spcPct val="100000"/>
              </a:lnSpc>
              <a:spcBef>
                <a:spcPts val="105"/>
              </a:spcBef>
            </a:pPr>
            <a:r>
              <a:rPr dirty="0" sz="3800" spc="-20">
                <a:solidFill>
                  <a:srgbClr val="15659E"/>
                </a:solidFill>
                <a:latin typeface="Arial MT"/>
                <a:cs typeface="Arial MT"/>
              </a:rPr>
              <a:t>Reflexivity,</a:t>
            </a:r>
            <a:r>
              <a:rPr dirty="0" sz="3800" spc="-19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dirty="0" sz="3800" spc="-10">
                <a:solidFill>
                  <a:srgbClr val="15659E"/>
                </a:solidFill>
                <a:latin typeface="Arial MT"/>
                <a:cs typeface="Arial MT"/>
              </a:rPr>
              <a:t>Symmetry,</a:t>
            </a:r>
            <a:r>
              <a:rPr dirty="0" sz="3800" spc="-200">
                <a:solidFill>
                  <a:srgbClr val="15659E"/>
                </a:solidFill>
                <a:latin typeface="Arial MT"/>
                <a:cs typeface="Arial MT"/>
              </a:rPr>
              <a:t> </a:t>
            </a:r>
            <a:r>
              <a:rPr dirty="0" sz="3800" spc="-25">
                <a:solidFill>
                  <a:srgbClr val="15659E"/>
                </a:solidFill>
                <a:latin typeface="Arial MT"/>
                <a:cs typeface="Arial MT"/>
              </a:rPr>
              <a:t>and </a:t>
            </a:r>
            <a:r>
              <a:rPr dirty="0" sz="3800" spc="-10">
                <a:solidFill>
                  <a:srgbClr val="15659E"/>
                </a:solidFill>
                <a:latin typeface="Arial MT"/>
                <a:cs typeface="Arial MT"/>
              </a:rPr>
              <a:t>Transitivity</a:t>
            </a:r>
            <a:endParaRPr sz="3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737615" y="2667000"/>
            <a:ext cx="8563610" cy="1629410"/>
            <a:chOff x="737615" y="2667000"/>
            <a:chExt cx="8563610" cy="1629410"/>
          </a:xfrm>
        </p:grpSpPr>
        <p:sp>
          <p:nvSpPr>
            <p:cNvPr id="4" name="object 4" descr=""/>
            <p:cNvSpPr/>
            <p:nvPr/>
          </p:nvSpPr>
          <p:spPr>
            <a:xfrm>
              <a:off x="2156460" y="2944368"/>
              <a:ext cx="7145020" cy="1351915"/>
            </a:xfrm>
            <a:custGeom>
              <a:avLst/>
              <a:gdLst/>
              <a:ahLst/>
              <a:cxnLst/>
              <a:rect l="l" t="t" r="r" b="b"/>
              <a:pathLst>
                <a:path w="7145020" h="1351914">
                  <a:moveTo>
                    <a:pt x="7144512" y="1107948"/>
                  </a:moveTo>
                  <a:lnTo>
                    <a:pt x="7144512" y="27432"/>
                  </a:lnTo>
                  <a:lnTo>
                    <a:pt x="7142130" y="16716"/>
                  </a:lnTo>
                  <a:lnTo>
                    <a:pt x="7135749" y="8001"/>
                  </a:lnTo>
                  <a:lnTo>
                    <a:pt x="7126509" y="2143"/>
                  </a:lnTo>
                  <a:lnTo>
                    <a:pt x="7115556" y="0"/>
                  </a:lnTo>
                  <a:lnTo>
                    <a:pt x="243840" y="0"/>
                  </a:lnTo>
                  <a:lnTo>
                    <a:pt x="193548" y="4572"/>
                  </a:lnTo>
                  <a:lnTo>
                    <a:pt x="147828" y="19812"/>
                  </a:lnTo>
                  <a:lnTo>
                    <a:pt x="106680" y="42672"/>
                  </a:lnTo>
                  <a:lnTo>
                    <a:pt x="70104" y="71628"/>
                  </a:lnTo>
                  <a:lnTo>
                    <a:pt x="41148" y="108204"/>
                  </a:lnTo>
                  <a:lnTo>
                    <a:pt x="18288" y="150876"/>
                  </a:lnTo>
                  <a:lnTo>
                    <a:pt x="4572" y="196596"/>
                  </a:lnTo>
                  <a:lnTo>
                    <a:pt x="0" y="243840"/>
                  </a:lnTo>
                  <a:lnTo>
                    <a:pt x="0" y="1322832"/>
                  </a:lnTo>
                  <a:lnTo>
                    <a:pt x="2166" y="1334428"/>
                  </a:lnTo>
                  <a:lnTo>
                    <a:pt x="8191" y="1343596"/>
                  </a:lnTo>
                  <a:lnTo>
                    <a:pt x="17359" y="1349621"/>
                  </a:lnTo>
                  <a:lnTo>
                    <a:pt x="28956" y="1351788"/>
                  </a:lnTo>
                  <a:lnTo>
                    <a:pt x="28956" y="1295400"/>
                  </a:lnTo>
                  <a:lnTo>
                    <a:pt x="57912" y="1295400"/>
                  </a:lnTo>
                  <a:lnTo>
                    <a:pt x="57912" y="224028"/>
                  </a:lnTo>
                  <a:lnTo>
                    <a:pt x="60960" y="204216"/>
                  </a:lnTo>
                  <a:lnTo>
                    <a:pt x="80772" y="153924"/>
                  </a:lnTo>
                  <a:lnTo>
                    <a:pt x="112776" y="111252"/>
                  </a:lnTo>
                  <a:lnTo>
                    <a:pt x="156972" y="79248"/>
                  </a:lnTo>
                  <a:lnTo>
                    <a:pt x="208788" y="59436"/>
                  </a:lnTo>
                  <a:lnTo>
                    <a:pt x="7086600" y="56388"/>
                  </a:lnTo>
                  <a:lnTo>
                    <a:pt x="7086600" y="27432"/>
                  </a:lnTo>
                  <a:lnTo>
                    <a:pt x="7115556" y="56388"/>
                  </a:lnTo>
                  <a:lnTo>
                    <a:pt x="7115556" y="1223772"/>
                  </a:lnTo>
                  <a:lnTo>
                    <a:pt x="7124700" y="1200912"/>
                  </a:lnTo>
                  <a:lnTo>
                    <a:pt x="7133844" y="1179576"/>
                  </a:lnTo>
                  <a:lnTo>
                    <a:pt x="7139940" y="1155192"/>
                  </a:lnTo>
                  <a:lnTo>
                    <a:pt x="7142988" y="1130808"/>
                  </a:lnTo>
                  <a:lnTo>
                    <a:pt x="7144512" y="1107948"/>
                  </a:lnTo>
                  <a:close/>
                </a:path>
                <a:path w="7145020" h="1351914">
                  <a:moveTo>
                    <a:pt x="7115556" y="1223772"/>
                  </a:moveTo>
                  <a:lnTo>
                    <a:pt x="7115556" y="56388"/>
                  </a:lnTo>
                  <a:lnTo>
                    <a:pt x="7086600" y="56388"/>
                  </a:lnTo>
                  <a:lnTo>
                    <a:pt x="7086600" y="1107948"/>
                  </a:lnTo>
                  <a:lnTo>
                    <a:pt x="7085076" y="1127760"/>
                  </a:lnTo>
                  <a:lnTo>
                    <a:pt x="7071360" y="1182624"/>
                  </a:lnTo>
                  <a:lnTo>
                    <a:pt x="7042404" y="1228344"/>
                  </a:lnTo>
                  <a:lnTo>
                    <a:pt x="7002780" y="1263396"/>
                  </a:lnTo>
                  <a:lnTo>
                    <a:pt x="6954012" y="1286256"/>
                  </a:lnTo>
                  <a:lnTo>
                    <a:pt x="6897624" y="1295400"/>
                  </a:lnTo>
                  <a:lnTo>
                    <a:pt x="28956" y="1295400"/>
                  </a:lnTo>
                  <a:lnTo>
                    <a:pt x="57912" y="1322832"/>
                  </a:lnTo>
                  <a:lnTo>
                    <a:pt x="57912" y="1351788"/>
                  </a:lnTo>
                  <a:lnTo>
                    <a:pt x="6900672" y="1351788"/>
                  </a:lnTo>
                  <a:lnTo>
                    <a:pt x="6925056" y="1350264"/>
                  </a:lnTo>
                  <a:lnTo>
                    <a:pt x="6973824" y="1341120"/>
                  </a:lnTo>
                  <a:lnTo>
                    <a:pt x="7018020" y="1321308"/>
                  </a:lnTo>
                  <a:lnTo>
                    <a:pt x="7056120" y="1295400"/>
                  </a:lnTo>
                  <a:lnTo>
                    <a:pt x="7103364" y="1243584"/>
                  </a:lnTo>
                  <a:lnTo>
                    <a:pt x="7115556" y="1223772"/>
                  </a:lnTo>
                  <a:close/>
                </a:path>
                <a:path w="7145020" h="1351914">
                  <a:moveTo>
                    <a:pt x="57912" y="1351788"/>
                  </a:moveTo>
                  <a:lnTo>
                    <a:pt x="57912" y="1322832"/>
                  </a:lnTo>
                  <a:lnTo>
                    <a:pt x="28956" y="1295400"/>
                  </a:lnTo>
                  <a:lnTo>
                    <a:pt x="28956" y="1351788"/>
                  </a:lnTo>
                  <a:lnTo>
                    <a:pt x="57912" y="1351788"/>
                  </a:lnTo>
                  <a:close/>
                </a:path>
                <a:path w="7145020" h="1351914">
                  <a:moveTo>
                    <a:pt x="7115556" y="56388"/>
                  </a:moveTo>
                  <a:lnTo>
                    <a:pt x="7086600" y="27432"/>
                  </a:lnTo>
                  <a:lnTo>
                    <a:pt x="7086600" y="56388"/>
                  </a:lnTo>
                  <a:lnTo>
                    <a:pt x="7115556" y="56388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737615" y="2667000"/>
              <a:ext cx="2438400" cy="609600"/>
            </a:xfrm>
            <a:custGeom>
              <a:avLst/>
              <a:gdLst/>
              <a:ahLst/>
              <a:cxnLst/>
              <a:rect l="l" t="t" r="r" b="b"/>
              <a:pathLst>
                <a:path w="2438400" h="609600">
                  <a:moveTo>
                    <a:pt x="2438399" y="509015"/>
                  </a:moveTo>
                  <a:lnTo>
                    <a:pt x="2438399" y="0"/>
                  </a:lnTo>
                  <a:lnTo>
                    <a:pt x="100583" y="0"/>
                  </a:lnTo>
                  <a:lnTo>
                    <a:pt x="61721" y="8024"/>
                  </a:lnTo>
                  <a:lnTo>
                    <a:pt x="29717" y="29908"/>
                  </a:lnTo>
                  <a:lnTo>
                    <a:pt x="8000" y="62364"/>
                  </a:lnTo>
                  <a:lnTo>
                    <a:pt x="0" y="102107"/>
                  </a:lnTo>
                  <a:lnTo>
                    <a:pt x="0" y="609599"/>
                  </a:lnTo>
                  <a:lnTo>
                    <a:pt x="2336291" y="609599"/>
                  </a:lnTo>
                  <a:lnTo>
                    <a:pt x="2376035" y="601813"/>
                  </a:lnTo>
                  <a:lnTo>
                    <a:pt x="2408491" y="580453"/>
                  </a:lnTo>
                  <a:lnTo>
                    <a:pt x="2430375" y="548520"/>
                  </a:lnTo>
                  <a:lnTo>
                    <a:pt x="2438399" y="509015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21512" y="2750314"/>
            <a:ext cx="2045970" cy="42227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00" b="1">
                <a:latin typeface="Arial"/>
                <a:cs typeface="Arial"/>
              </a:rPr>
              <a:t>SECTION</a:t>
            </a:r>
            <a:r>
              <a:rPr dirty="0" sz="2600" spc="-70" b="1">
                <a:latin typeface="Arial"/>
                <a:cs typeface="Arial"/>
              </a:rPr>
              <a:t> </a:t>
            </a:r>
            <a:r>
              <a:rPr dirty="0" sz="2600" spc="-25" b="1">
                <a:latin typeface="Arial"/>
                <a:cs typeface="Arial"/>
              </a:rPr>
              <a:t>8.2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317242" y="6823312"/>
            <a:ext cx="4032885" cy="20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465"/>
              </a:lnSpc>
            </a:pPr>
            <a:r>
              <a:rPr dirty="0" sz="1400">
                <a:latin typeface="Arial MT"/>
                <a:cs typeface="Arial MT"/>
              </a:rPr>
              <a:t>Copyright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©</a:t>
            </a:r>
            <a:r>
              <a:rPr dirty="0" sz="1400" spc="-1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Cengage</a:t>
            </a:r>
            <a:r>
              <a:rPr dirty="0" sz="1400" spc="-4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Learning.</a:t>
            </a:r>
            <a:r>
              <a:rPr dirty="0" sz="1400" spc="-1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All</a:t>
            </a:r>
            <a:r>
              <a:rPr dirty="0" sz="1400" spc="-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rights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reserved.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9988"/>
            <a:ext cx="8071484" cy="5981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Reflexivity,</a:t>
            </a:r>
            <a:r>
              <a:rPr dirty="0" sz="3750" spc="-80"/>
              <a:t> </a:t>
            </a:r>
            <a:r>
              <a:rPr dirty="0" sz="3750"/>
              <a:t>Symmetry,</a:t>
            </a:r>
            <a:r>
              <a:rPr dirty="0" sz="3750" spc="-80"/>
              <a:t> </a:t>
            </a:r>
            <a:r>
              <a:rPr dirty="0" sz="3750"/>
              <a:t>and</a:t>
            </a:r>
            <a:r>
              <a:rPr dirty="0" sz="3750" spc="-45"/>
              <a:t> </a:t>
            </a:r>
            <a:r>
              <a:rPr dirty="0" sz="3750" spc="-10"/>
              <a:t>Transitivity</a:t>
            </a:r>
            <a:endParaRPr sz="3750"/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418705" cy="478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Let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{2,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6,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7,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9}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as </a:t>
            </a:r>
            <a:r>
              <a:rPr dirty="0" sz="2400">
                <a:latin typeface="Arial MT"/>
                <a:cs typeface="Arial MT"/>
              </a:rPr>
              <a:t>follows: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Arial"/>
                <a:cs typeface="Arial"/>
              </a:rPr>
              <a:t>A</a:t>
            </a:r>
            <a:r>
              <a:rPr dirty="0" sz="2400" spc="-25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because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0.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Similarly,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3,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4,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6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6,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7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7,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9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9.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Also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6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because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6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3.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6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because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6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–(6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–3,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(–3).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Similarly,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9,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9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3,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6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9,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9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6,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7,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7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4.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8035" y="2917253"/>
            <a:ext cx="2840425" cy="26686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9988"/>
            <a:ext cx="8071484" cy="5981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Reflexivity,</a:t>
            </a:r>
            <a:r>
              <a:rPr dirty="0" sz="3750" spc="-80"/>
              <a:t> </a:t>
            </a:r>
            <a:r>
              <a:rPr dirty="0" sz="3750"/>
              <a:t>Symmetry,</a:t>
            </a:r>
            <a:r>
              <a:rPr dirty="0" sz="3750" spc="-80"/>
              <a:t> </a:t>
            </a:r>
            <a:r>
              <a:rPr dirty="0" sz="3750"/>
              <a:t>and</a:t>
            </a:r>
            <a:r>
              <a:rPr dirty="0" sz="3750" spc="-45"/>
              <a:t> </a:t>
            </a:r>
            <a:r>
              <a:rPr dirty="0" sz="3750" spc="-10"/>
              <a:t>Transitivity</a:t>
            </a:r>
            <a:endParaRPr sz="3750"/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481570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6542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directed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graph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has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appearance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330835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graph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three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important properties: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348615" marR="20955" indent="-336550">
              <a:lnSpc>
                <a:spcPct val="100000"/>
              </a:lnSpc>
              <a:buAutoNum type="arabicPeriod"/>
              <a:tabLst>
                <a:tab pos="350520" algn="l"/>
              </a:tabLst>
            </a:pP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graph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looping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around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back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itself.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348615" marR="5080" indent="-336550">
              <a:lnSpc>
                <a:spcPct val="100000"/>
              </a:lnSpc>
              <a:buAutoNum type="arabicPeriod"/>
              <a:tabLst>
                <a:tab pos="350520" algn="l"/>
              </a:tabLst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case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where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one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back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first.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30870" y="2086085"/>
            <a:ext cx="3126395" cy="202871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9988"/>
            <a:ext cx="8071484" cy="5981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Reflexivity,</a:t>
            </a:r>
            <a:r>
              <a:rPr dirty="0" sz="3750" spc="-80"/>
              <a:t> </a:t>
            </a:r>
            <a:r>
              <a:rPr dirty="0" sz="3750"/>
              <a:t>Symmetry,</a:t>
            </a:r>
            <a:r>
              <a:rPr dirty="0" sz="3750" spc="-80"/>
              <a:t> </a:t>
            </a:r>
            <a:r>
              <a:rPr dirty="0" sz="3750"/>
              <a:t>and</a:t>
            </a:r>
            <a:r>
              <a:rPr dirty="0" sz="3750" spc="-45"/>
              <a:t> </a:t>
            </a:r>
            <a:r>
              <a:rPr dirty="0" sz="3750" spc="-10"/>
              <a:t>Transitivity</a:t>
            </a:r>
            <a:endParaRPr sz="3750"/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647940" cy="3164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3.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case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where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one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third,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third.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is,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“incomplete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directed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triangles”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in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graph.</a:t>
            </a:r>
            <a:endParaRPr sz="2400">
              <a:latin typeface="Arial MT"/>
              <a:cs typeface="Arial MT"/>
            </a:endParaRPr>
          </a:p>
          <a:p>
            <a:pPr marL="12700" marR="373380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latin typeface="Arial MT"/>
                <a:cs typeface="Arial MT"/>
              </a:rPr>
              <a:t>Properties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(1),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(2),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(3)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correspond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properties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general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relations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reflexivity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symmetry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 spc="-10" i="1">
                <a:latin typeface="Arial"/>
                <a:cs typeface="Arial"/>
              </a:rPr>
              <a:t>transitivity</a:t>
            </a:r>
            <a:r>
              <a:rPr dirty="0" sz="2400" spc="-1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0555" y="5181600"/>
            <a:ext cx="7216140" cy="186356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Reflexivity,</a:t>
            </a:r>
            <a:r>
              <a:rPr dirty="0" sz="3750" spc="-80"/>
              <a:t> </a:t>
            </a:r>
            <a:r>
              <a:rPr dirty="0" sz="3750"/>
              <a:t>Symmetry,</a:t>
            </a:r>
            <a:r>
              <a:rPr dirty="0" sz="3750" spc="-80"/>
              <a:t> </a:t>
            </a:r>
            <a:r>
              <a:rPr dirty="0" sz="3750"/>
              <a:t>and</a:t>
            </a:r>
            <a:r>
              <a:rPr dirty="0" sz="3750" spc="-45"/>
              <a:t> </a:t>
            </a:r>
            <a:r>
              <a:rPr dirty="0" sz="3750" spc="-10"/>
              <a:t>Transitivity</a:t>
            </a:r>
            <a:endParaRPr sz="3750"/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86066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Because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equivalence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expressions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reflexive,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symmetric,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transitive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properties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also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written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follows: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52" y="3503417"/>
            <a:ext cx="7848735" cy="1663484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19988"/>
            <a:ext cx="8071484" cy="5981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Reflexivity,</a:t>
            </a:r>
            <a:r>
              <a:rPr dirty="0" sz="3750" spc="-80"/>
              <a:t> </a:t>
            </a:r>
            <a:r>
              <a:rPr dirty="0" sz="3750"/>
              <a:t>Symmetry,</a:t>
            </a:r>
            <a:r>
              <a:rPr dirty="0" sz="3750" spc="-80"/>
              <a:t> </a:t>
            </a:r>
            <a:r>
              <a:rPr dirty="0" sz="3750"/>
              <a:t>and</a:t>
            </a:r>
            <a:r>
              <a:rPr dirty="0" sz="3750" spc="-45"/>
              <a:t> </a:t>
            </a:r>
            <a:r>
              <a:rPr dirty="0" sz="3750" spc="-10"/>
              <a:t>Transitivity</a:t>
            </a:r>
            <a:endParaRPr sz="375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7795895" cy="478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informal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terms,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properties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(1)–(3)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following: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349250" indent="-336550">
              <a:lnSpc>
                <a:spcPct val="100000"/>
              </a:lnSpc>
              <a:buFont typeface="Arial MT"/>
              <a:buAutoNum type="arabicPeriod"/>
              <a:tabLst>
                <a:tab pos="349250" algn="l"/>
              </a:tabLst>
            </a:pPr>
            <a:r>
              <a:rPr dirty="0" sz="2400" b="1">
                <a:latin typeface="Arial"/>
                <a:cs typeface="Arial"/>
              </a:rPr>
              <a:t>Reflexive: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itself.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348615" marR="5080" indent="-336550">
              <a:lnSpc>
                <a:spcPct val="100000"/>
              </a:lnSpc>
              <a:buFont typeface="Arial MT"/>
              <a:buAutoNum type="arabicPeriod"/>
              <a:tabLst>
                <a:tab pos="358140" algn="l"/>
              </a:tabLst>
            </a:pPr>
            <a:r>
              <a:rPr dirty="0" sz="2400" b="1">
                <a:latin typeface="Arial"/>
                <a:cs typeface="Arial"/>
              </a:rPr>
              <a:t>Symmetric: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other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element,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first.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 MT"/>
              <a:buAutoNum type="arabicPeriod"/>
            </a:pPr>
            <a:endParaRPr sz="2400">
              <a:latin typeface="Arial MT"/>
              <a:cs typeface="Arial MT"/>
            </a:endParaRPr>
          </a:p>
          <a:p>
            <a:pPr marL="348615" marR="226060" indent="-336550">
              <a:lnSpc>
                <a:spcPct val="100000"/>
              </a:lnSpc>
              <a:buFont typeface="Arial MT"/>
              <a:buAutoNum type="arabicPeriod"/>
              <a:tabLst>
                <a:tab pos="358140" algn="l"/>
              </a:tabLst>
            </a:pPr>
            <a:r>
              <a:rPr dirty="0" sz="2400" b="1">
                <a:latin typeface="Arial"/>
                <a:cs typeface="Arial"/>
              </a:rPr>
              <a:t>Transitive: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second </a:t>
            </a:r>
            <a:r>
              <a:rPr dirty="0" sz="2400" spc="-10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third,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 spc="-25">
                <a:latin typeface="Arial MT"/>
                <a:cs typeface="Arial MT"/>
              </a:rPr>
              <a:t>	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third.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358140" marR="375920" indent="-762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Note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reflexivity,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symmetry,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transitivity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universal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statements.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9988"/>
            <a:ext cx="8071484" cy="5981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Reflexivity,</a:t>
            </a:r>
            <a:r>
              <a:rPr dirty="0" sz="3750" spc="-80"/>
              <a:t> </a:t>
            </a:r>
            <a:r>
              <a:rPr dirty="0" sz="3750"/>
              <a:t>Symmetry,</a:t>
            </a:r>
            <a:r>
              <a:rPr dirty="0" sz="3750" spc="-80"/>
              <a:t> </a:t>
            </a:r>
            <a:r>
              <a:rPr dirty="0" sz="3750"/>
              <a:t>and</a:t>
            </a:r>
            <a:r>
              <a:rPr dirty="0" sz="3750" spc="-45"/>
              <a:t> </a:t>
            </a:r>
            <a:r>
              <a:rPr dirty="0" sz="3750" spc="-10"/>
              <a:t>Transitivity</a:t>
            </a:r>
            <a:endParaRPr sz="375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175260">
              <a:lnSpc>
                <a:spcPct val="100000"/>
              </a:lnSpc>
              <a:spcBef>
                <a:spcPts val="100"/>
              </a:spcBef>
            </a:pPr>
            <a:r>
              <a:rPr dirty="0"/>
              <a:t>This</a:t>
            </a:r>
            <a:r>
              <a:rPr dirty="0" spc="-40"/>
              <a:t> </a:t>
            </a:r>
            <a:r>
              <a:rPr dirty="0"/>
              <a:t>means</a:t>
            </a:r>
            <a:r>
              <a:rPr dirty="0" spc="-35"/>
              <a:t> </a:t>
            </a:r>
            <a:r>
              <a:rPr dirty="0"/>
              <a:t>that</a:t>
            </a:r>
            <a:r>
              <a:rPr dirty="0" spc="-55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prove</a:t>
            </a:r>
            <a:r>
              <a:rPr dirty="0" spc="-45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/>
              <a:t>relation</a:t>
            </a:r>
            <a:r>
              <a:rPr dirty="0" spc="-35"/>
              <a:t> </a:t>
            </a:r>
            <a:r>
              <a:rPr dirty="0"/>
              <a:t>has</a:t>
            </a:r>
            <a:r>
              <a:rPr dirty="0" spc="-30"/>
              <a:t> </a:t>
            </a:r>
            <a:r>
              <a:rPr dirty="0"/>
              <a:t>one</a:t>
            </a:r>
            <a:r>
              <a:rPr dirty="0" spc="-45"/>
              <a:t> </a:t>
            </a:r>
            <a:r>
              <a:rPr dirty="0"/>
              <a:t>of</a:t>
            </a:r>
            <a:r>
              <a:rPr dirty="0" spc="-45"/>
              <a:t> </a:t>
            </a:r>
            <a:r>
              <a:rPr dirty="0" spc="-25"/>
              <a:t>the </a:t>
            </a:r>
            <a:r>
              <a:rPr dirty="0"/>
              <a:t>properties,</a:t>
            </a:r>
            <a:r>
              <a:rPr dirty="0" spc="-55"/>
              <a:t> </a:t>
            </a:r>
            <a:r>
              <a:rPr dirty="0"/>
              <a:t>you</a:t>
            </a:r>
            <a:r>
              <a:rPr dirty="0" spc="-65"/>
              <a:t> </a:t>
            </a:r>
            <a:r>
              <a:rPr dirty="0"/>
              <a:t>use</a:t>
            </a:r>
            <a:r>
              <a:rPr dirty="0" spc="-65"/>
              <a:t> </a:t>
            </a:r>
            <a:r>
              <a:rPr dirty="0"/>
              <a:t>either</a:t>
            </a:r>
            <a:r>
              <a:rPr dirty="0" spc="-45"/>
              <a:t>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method</a:t>
            </a:r>
            <a:r>
              <a:rPr dirty="0" spc="-65"/>
              <a:t> </a:t>
            </a:r>
            <a:r>
              <a:rPr dirty="0"/>
              <a:t>of</a:t>
            </a:r>
            <a:r>
              <a:rPr dirty="0" spc="-70"/>
              <a:t> </a:t>
            </a:r>
            <a:r>
              <a:rPr dirty="0"/>
              <a:t>exhaustion</a:t>
            </a:r>
            <a:r>
              <a:rPr dirty="0" spc="-30"/>
              <a:t> </a:t>
            </a:r>
            <a:r>
              <a:rPr dirty="0"/>
              <a:t>or</a:t>
            </a:r>
            <a:r>
              <a:rPr dirty="0" spc="-65"/>
              <a:t> </a:t>
            </a:r>
            <a:r>
              <a:rPr dirty="0" spc="-25"/>
              <a:t>the </a:t>
            </a:r>
            <a:r>
              <a:rPr dirty="0"/>
              <a:t>method</a:t>
            </a:r>
            <a:r>
              <a:rPr dirty="0" spc="-75"/>
              <a:t> </a:t>
            </a:r>
            <a:r>
              <a:rPr dirty="0"/>
              <a:t>of</a:t>
            </a:r>
            <a:r>
              <a:rPr dirty="0" spc="-80"/>
              <a:t> </a:t>
            </a:r>
            <a:r>
              <a:rPr dirty="0"/>
              <a:t>generalizing</a:t>
            </a:r>
            <a:r>
              <a:rPr dirty="0" spc="-30"/>
              <a:t> </a:t>
            </a:r>
            <a:r>
              <a:rPr dirty="0"/>
              <a:t>from</a:t>
            </a:r>
            <a:r>
              <a:rPr dirty="0" spc="-90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generic</a:t>
            </a:r>
            <a:r>
              <a:rPr dirty="0" spc="-60"/>
              <a:t> </a:t>
            </a:r>
            <a:r>
              <a:rPr dirty="0" spc="-10"/>
              <a:t>particular.</a:t>
            </a:r>
          </a:p>
          <a:p>
            <a:pPr>
              <a:lnSpc>
                <a:spcPct val="100000"/>
              </a:lnSpc>
              <a:spcBef>
                <a:spcPts val="120"/>
              </a:spcBef>
            </a:pPr>
          </a:p>
          <a:p>
            <a:pPr marL="12700" marR="210820">
              <a:lnSpc>
                <a:spcPct val="100000"/>
              </a:lnSpc>
            </a:pPr>
            <a:r>
              <a:rPr dirty="0"/>
              <a:t>Now</a:t>
            </a:r>
            <a:r>
              <a:rPr dirty="0" spc="-45"/>
              <a:t> </a:t>
            </a:r>
            <a:r>
              <a:rPr dirty="0"/>
              <a:t>consider</a:t>
            </a:r>
            <a:r>
              <a:rPr dirty="0" spc="-25"/>
              <a:t> </a:t>
            </a:r>
            <a:r>
              <a:rPr dirty="0"/>
              <a:t>what</a:t>
            </a:r>
            <a:r>
              <a:rPr dirty="0" spc="-40"/>
              <a:t> </a:t>
            </a:r>
            <a:r>
              <a:rPr dirty="0"/>
              <a:t>it</a:t>
            </a:r>
            <a:r>
              <a:rPr dirty="0" spc="-55"/>
              <a:t> </a:t>
            </a:r>
            <a:r>
              <a:rPr dirty="0"/>
              <a:t>means</a:t>
            </a:r>
            <a:r>
              <a:rPr dirty="0" spc="-50"/>
              <a:t> </a:t>
            </a:r>
            <a:r>
              <a:rPr dirty="0"/>
              <a:t>for</a:t>
            </a:r>
            <a:r>
              <a:rPr dirty="0" spc="-55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relation</a:t>
            </a:r>
            <a:r>
              <a:rPr dirty="0" spc="-40"/>
              <a:t> </a:t>
            </a:r>
            <a:r>
              <a:rPr dirty="0" i="1">
                <a:latin typeface="Arial"/>
                <a:cs typeface="Arial"/>
              </a:rPr>
              <a:t>not</a:t>
            </a:r>
            <a:r>
              <a:rPr dirty="0" spc="-60" i="1">
                <a:latin typeface="Arial"/>
                <a:cs typeface="Arial"/>
              </a:rPr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have</a:t>
            </a:r>
            <a:r>
              <a:rPr dirty="0" spc="-40"/>
              <a:t> </a:t>
            </a:r>
            <a:r>
              <a:rPr dirty="0" spc="-25"/>
              <a:t>one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/>
              <a:t>the</a:t>
            </a:r>
            <a:r>
              <a:rPr dirty="0" spc="-75"/>
              <a:t> </a:t>
            </a:r>
            <a:r>
              <a:rPr dirty="0"/>
              <a:t>properties</a:t>
            </a:r>
            <a:r>
              <a:rPr dirty="0" spc="-55"/>
              <a:t> </a:t>
            </a:r>
            <a:r>
              <a:rPr dirty="0"/>
              <a:t>defined</a:t>
            </a:r>
            <a:r>
              <a:rPr dirty="0" spc="-50"/>
              <a:t> </a:t>
            </a:r>
            <a:r>
              <a:rPr dirty="0"/>
              <a:t>previously.</a:t>
            </a:r>
            <a:r>
              <a:rPr dirty="0" spc="-50"/>
              <a:t> </a:t>
            </a:r>
            <a:r>
              <a:rPr dirty="0"/>
              <a:t>We</a:t>
            </a:r>
            <a:r>
              <a:rPr dirty="0" spc="-75"/>
              <a:t> </a:t>
            </a:r>
            <a:r>
              <a:rPr dirty="0"/>
              <a:t>have</a:t>
            </a:r>
            <a:r>
              <a:rPr dirty="0" spc="-60"/>
              <a:t> </a:t>
            </a:r>
            <a:r>
              <a:rPr dirty="0"/>
              <a:t>known</a:t>
            </a:r>
            <a:r>
              <a:rPr dirty="0" spc="-60"/>
              <a:t> </a:t>
            </a:r>
            <a:r>
              <a:rPr dirty="0" spc="-20"/>
              <a:t>that </a:t>
            </a:r>
            <a:r>
              <a:rPr dirty="0"/>
              <a:t>the</a:t>
            </a:r>
            <a:r>
              <a:rPr dirty="0" spc="-70"/>
              <a:t> </a:t>
            </a:r>
            <a:r>
              <a:rPr dirty="0"/>
              <a:t>negation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60"/>
              <a:t> </a:t>
            </a:r>
            <a:r>
              <a:rPr dirty="0"/>
              <a:t>universal</a:t>
            </a:r>
            <a:r>
              <a:rPr dirty="0" spc="-40"/>
              <a:t> </a:t>
            </a:r>
            <a:r>
              <a:rPr dirty="0"/>
              <a:t>statement</a:t>
            </a:r>
            <a:r>
              <a:rPr dirty="0" spc="-70"/>
              <a:t> </a:t>
            </a:r>
            <a:r>
              <a:rPr dirty="0"/>
              <a:t>is</a:t>
            </a:r>
            <a:r>
              <a:rPr dirty="0" spc="-50"/>
              <a:t> </a:t>
            </a:r>
            <a:r>
              <a:rPr dirty="0" spc="-10"/>
              <a:t>existential.</a:t>
            </a: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dirty="0"/>
              <a:t>Hence</a:t>
            </a:r>
            <a:r>
              <a:rPr dirty="0" spc="-25"/>
              <a:t> </a:t>
            </a:r>
            <a:r>
              <a:rPr dirty="0"/>
              <a:t>if</a:t>
            </a:r>
            <a:r>
              <a:rPr dirty="0" spc="-20"/>
              <a:t> </a:t>
            </a:r>
            <a:r>
              <a:rPr dirty="0" i="1">
                <a:latin typeface="Arial"/>
                <a:cs typeface="Arial"/>
              </a:rPr>
              <a:t>R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40"/>
              <a:t> </a:t>
            </a:r>
            <a:r>
              <a:rPr dirty="0"/>
              <a:t>relation</a:t>
            </a:r>
            <a:r>
              <a:rPr dirty="0" spc="-5"/>
              <a:t> </a:t>
            </a:r>
            <a:r>
              <a:rPr dirty="0"/>
              <a:t>on</a:t>
            </a:r>
            <a:r>
              <a:rPr dirty="0" spc="-35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/>
              <a:t>set</a:t>
            </a:r>
            <a:r>
              <a:rPr dirty="0" spc="-45"/>
              <a:t> </a:t>
            </a:r>
            <a:r>
              <a:rPr dirty="0" i="1">
                <a:latin typeface="Arial"/>
                <a:cs typeface="Arial"/>
              </a:rPr>
              <a:t>A</a:t>
            </a:r>
            <a:r>
              <a:rPr dirty="0"/>
              <a:t>,</a:t>
            </a:r>
            <a:r>
              <a:rPr dirty="0" spc="-35"/>
              <a:t> </a:t>
            </a:r>
            <a:r>
              <a:rPr dirty="0" spc="-20"/>
              <a:t>then</a:t>
            </a:r>
          </a:p>
          <a:p>
            <a:pPr>
              <a:lnSpc>
                <a:spcPct val="100000"/>
              </a:lnSpc>
              <a:spcBef>
                <a:spcPts val="120"/>
              </a:spcBef>
            </a:pPr>
          </a:p>
          <a:p>
            <a:pPr marL="12700">
              <a:lnSpc>
                <a:spcPct val="100000"/>
              </a:lnSpc>
              <a:tabLst>
                <a:tab pos="3092450" algn="l"/>
                <a:tab pos="3828415" algn="l"/>
              </a:tabLst>
            </a:pPr>
            <a:r>
              <a:rPr dirty="0" spc="-10"/>
              <a:t>1.</a:t>
            </a:r>
            <a:r>
              <a:rPr dirty="0" spc="-5"/>
              <a:t> </a:t>
            </a:r>
            <a:r>
              <a:rPr dirty="0" spc="-20" i="1">
                <a:latin typeface="Arial"/>
                <a:cs typeface="Arial"/>
              </a:rPr>
              <a:t>R</a:t>
            </a:r>
            <a:r>
              <a:rPr dirty="0" i="1">
                <a:latin typeface="Arial"/>
                <a:cs typeface="Arial"/>
              </a:rPr>
              <a:t> </a:t>
            </a:r>
            <a:r>
              <a:rPr dirty="0" spc="-10"/>
              <a:t>is</a:t>
            </a:r>
            <a:r>
              <a:rPr dirty="0" spc="5"/>
              <a:t> </a:t>
            </a:r>
            <a:r>
              <a:rPr dirty="0" spc="-10" b="1">
                <a:latin typeface="Arial"/>
                <a:cs typeface="Arial"/>
              </a:rPr>
              <a:t>not</a:t>
            </a:r>
            <a:r>
              <a:rPr dirty="0" spc="-15" b="1">
                <a:latin typeface="Arial"/>
                <a:cs typeface="Arial"/>
              </a:rPr>
              <a:t> reflexive</a:t>
            </a:r>
            <a:r>
              <a:rPr dirty="0" b="1">
                <a:latin typeface="Arial"/>
                <a:cs typeface="Arial"/>
              </a:rPr>
              <a:t>	</a:t>
            </a:r>
            <a:r>
              <a:rPr dirty="0" spc="5220">
                <a:latin typeface="Cambria Math"/>
                <a:cs typeface="Cambria Math"/>
              </a:rPr>
              <a:t>⇔</a:t>
            </a:r>
            <a:r>
              <a:rPr dirty="0">
                <a:latin typeface="Cambria Math"/>
                <a:cs typeface="Cambria Math"/>
              </a:rPr>
              <a:t>	</a:t>
            </a:r>
            <a:r>
              <a:rPr dirty="0" spc="-15"/>
              <a:t>there</a:t>
            </a:r>
            <a:r>
              <a:rPr dirty="0"/>
              <a:t> </a:t>
            </a:r>
            <a:r>
              <a:rPr dirty="0" spc="-10"/>
              <a:t>is</a:t>
            </a:r>
            <a:r>
              <a:rPr dirty="0" spc="5"/>
              <a:t> </a:t>
            </a:r>
            <a:r>
              <a:rPr dirty="0" spc="-20"/>
              <a:t>an</a:t>
            </a:r>
            <a:r>
              <a:rPr dirty="0"/>
              <a:t> </a:t>
            </a:r>
            <a:r>
              <a:rPr dirty="0" spc="-15"/>
              <a:t>element</a:t>
            </a:r>
            <a:r>
              <a:rPr dirty="0" spc="10"/>
              <a:t> </a:t>
            </a:r>
            <a:r>
              <a:rPr dirty="0" i="1">
                <a:latin typeface="Arial"/>
                <a:cs typeface="Arial"/>
              </a:rPr>
              <a:t>x</a:t>
            </a:r>
            <a:r>
              <a:rPr dirty="0" spc="5" i="1">
                <a:latin typeface="Arial"/>
                <a:cs typeface="Arial"/>
              </a:rPr>
              <a:t> </a:t>
            </a:r>
            <a:r>
              <a:rPr dirty="0" spc="-15"/>
              <a:t>in</a:t>
            </a:r>
            <a:r>
              <a:rPr dirty="0"/>
              <a:t> </a:t>
            </a:r>
            <a:r>
              <a:rPr dirty="0" i="1">
                <a:latin typeface="Arial"/>
                <a:cs typeface="Arial"/>
              </a:rPr>
              <a:t>A </a:t>
            </a:r>
            <a:r>
              <a:rPr dirty="0" spc="-15"/>
              <a:t>such</a:t>
            </a:r>
          </a:p>
          <a:p>
            <a:pPr marL="3797935">
              <a:lnSpc>
                <a:spcPct val="100000"/>
              </a:lnSpc>
              <a:tabLst>
                <a:tab pos="5231765" algn="l"/>
              </a:tabLst>
            </a:pPr>
            <a:r>
              <a:rPr dirty="0" spc="-20"/>
              <a:t>that</a:t>
            </a:r>
            <a:r>
              <a:rPr dirty="0"/>
              <a:t>	</a:t>
            </a:r>
            <a:r>
              <a:rPr dirty="0" i="1">
                <a:latin typeface="Arial"/>
                <a:cs typeface="Arial"/>
              </a:rPr>
              <a:t>[that</a:t>
            </a:r>
            <a:r>
              <a:rPr dirty="0" spc="-5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is</a:t>
            </a:r>
            <a:r>
              <a:rPr dirty="0"/>
              <a:t>,</a:t>
            </a:r>
            <a:r>
              <a:rPr dirty="0" spc="-40"/>
              <a:t> </a:t>
            </a:r>
            <a:r>
              <a:rPr dirty="0" i="1">
                <a:latin typeface="Arial"/>
                <a:cs typeface="Arial"/>
              </a:rPr>
              <a:t>such</a:t>
            </a:r>
            <a:r>
              <a:rPr dirty="0" spc="-35" i="1">
                <a:latin typeface="Arial"/>
                <a:cs typeface="Arial"/>
              </a:rPr>
              <a:t> </a:t>
            </a:r>
            <a:r>
              <a:rPr dirty="0" spc="-20" i="1">
                <a:latin typeface="Arial"/>
                <a:cs typeface="Arial"/>
              </a:rPr>
              <a:t>that</a:t>
            </a:r>
          </a:p>
          <a:p>
            <a:pPr marL="3797935">
              <a:lnSpc>
                <a:spcPct val="100000"/>
              </a:lnSpc>
              <a:tabLst>
                <a:tab pos="4727575" algn="l"/>
              </a:tabLst>
            </a:pPr>
            <a:r>
              <a:rPr dirty="0"/>
              <a:t>(</a:t>
            </a:r>
            <a:r>
              <a:rPr dirty="0" i="1">
                <a:latin typeface="Arial"/>
                <a:cs typeface="Arial"/>
              </a:rPr>
              <a:t>x</a:t>
            </a:r>
            <a:r>
              <a:rPr dirty="0"/>
              <a:t>,</a:t>
            </a:r>
            <a:r>
              <a:rPr dirty="0" spc="-25"/>
              <a:t> </a:t>
            </a:r>
            <a:r>
              <a:rPr dirty="0" spc="-25" i="1">
                <a:latin typeface="Arial"/>
                <a:cs typeface="Arial"/>
              </a:rPr>
              <a:t>x</a:t>
            </a:r>
            <a:r>
              <a:rPr dirty="0" spc="-25"/>
              <a:t>)</a:t>
            </a:r>
            <a:r>
              <a:rPr dirty="0"/>
              <a:t>	</a:t>
            </a:r>
            <a:r>
              <a:rPr dirty="0" spc="-25" i="1">
                <a:latin typeface="Arial"/>
                <a:cs typeface="Arial"/>
              </a:rPr>
              <a:t>R]</a:t>
            </a:r>
            <a:r>
              <a:rPr dirty="0" spc="-25"/>
              <a:t>.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5080" y="6021976"/>
            <a:ext cx="675017" cy="204825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36310" y="6371234"/>
            <a:ext cx="134111" cy="249936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19988"/>
            <a:ext cx="8071484" cy="5981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750"/>
              <a:t>Reflexivity,</a:t>
            </a:r>
            <a:r>
              <a:rPr dirty="0" sz="3750" spc="-80"/>
              <a:t> </a:t>
            </a:r>
            <a:r>
              <a:rPr dirty="0" sz="3750"/>
              <a:t>Symmetry,</a:t>
            </a:r>
            <a:r>
              <a:rPr dirty="0" sz="3750" spc="-80"/>
              <a:t> </a:t>
            </a:r>
            <a:r>
              <a:rPr dirty="0" sz="3750"/>
              <a:t>and</a:t>
            </a:r>
            <a:r>
              <a:rPr dirty="0" sz="3750" spc="-45"/>
              <a:t> </a:t>
            </a:r>
            <a:r>
              <a:rPr dirty="0" sz="3750" spc="-10"/>
              <a:t>Transitivity</a:t>
            </a:r>
            <a:endParaRPr sz="3750"/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37947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5829" algn="l"/>
              </a:tabLst>
            </a:pPr>
            <a:r>
              <a:rPr dirty="0" sz="2400">
                <a:latin typeface="Arial MT"/>
                <a:cs typeface="Arial MT"/>
              </a:rPr>
              <a:t>2.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not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symmetric</a:t>
            </a:r>
            <a:r>
              <a:rPr dirty="0" sz="2400" b="1">
                <a:latin typeface="Arial"/>
                <a:cs typeface="Arial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⇔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5159760" y="1944117"/>
            <a:ext cx="3660140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50" i="1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but</a:t>
            </a:r>
            <a:endParaRPr sz="2400">
              <a:latin typeface="Arial MT"/>
              <a:cs typeface="Arial MT"/>
            </a:endParaRPr>
          </a:p>
          <a:p>
            <a:pPr marL="855344">
              <a:lnSpc>
                <a:spcPct val="100000"/>
              </a:lnSpc>
            </a:pPr>
            <a:r>
              <a:rPr dirty="0" sz="2400" i="1">
                <a:latin typeface="Arial"/>
                <a:cs typeface="Arial"/>
              </a:rPr>
              <a:t>[that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such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spc="-20" i="1">
                <a:latin typeface="Arial"/>
                <a:cs typeface="Arial"/>
              </a:rPr>
              <a:t>that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901950" algn="l"/>
              </a:tabLst>
            </a:pP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but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x</a:t>
            </a:r>
            <a:r>
              <a:rPr dirty="0" sz="2400" spc="-25">
                <a:latin typeface="Arial MT"/>
                <a:cs typeface="Arial MT"/>
              </a:rPr>
              <a:t>)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25" i="1">
                <a:latin typeface="Arial"/>
                <a:cs typeface="Arial"/>
              </a:rPr>
              <a:t>R]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94664" y="3772918"/>
            <a:ext cx="288671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3.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not</a:t>
            </a:r>
            <a:r>
              <a:rPr dirty="0" sz="2400" spc="-30" b="1">
                <a:latin typeface="Arial"/>
                <a:cs typeface="Arial"/>
              </a:rPr>
              <a:t> </a:t>
            </a:r>
            <a:r>
              <a:rPr dirty="0" sz="2400" spc="-10" b="1">
                <a:latin typeface="Arial"/>
                <a:cs typeface="Arial"/>
              </a:rPr>
              <a:t>transitive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45003" y="3772918"/>
            <a:ext cx="45764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15570">
              <a:lnSpc>
                <a:spcPct val="100000"/>
              </a:lnSpc>
              <a:spcBef>
                <a:spcPts val="100"/>
              </a:spcBef>
              <a:tabLst>
                <a:tab pos="735965" algn="l"/>
              </a:tabLst>
            </a:pPr>
            <a:r>
              <a:rPr dirty="0" sz="2400" spc="1630">
                <a:latin typeface="Cambria Math"/>
                <a:cs typeface="Cambria Math"/>
              </a:rPr>
              <a:t>-</a:t>
            </a:r>
            <a:r>
              <a:rPr dirty="0" sz="2400">
                <a:latin typeface="Cambria Math"/>
                <a:cs typeface="Cambria Math"/>
              </a:rPr>
              <a:t>	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727075">
              <a:lnSpc>
                <a:spcPct val="100000"/>
              </a:lnSpc>
            </a:pP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  <a:p>
            <a:pPr marL="727075">
              <a:lnSpc>
                <a:spcPct val="100000"/>
              </a:lnSpc>
              <a:tabLst>
                <a:tab pos="2856230" algn="l"/>
              </a:tabLst>
            </a:pP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but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i="1">
                <a:latin typeface="Arial"/>
                <a:cs typeface="Arial"/>
              </a:rPr>
              <a:t>[that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is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0" i="1">
                <a:latin typeface="Arial"/>
                <a:cs typeface="Arial"/>
              </a:rPr>
              <a:t>such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4664" y="4870200"/>
            <a:ext cx="7684134" cy="17170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77665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and</a:t>
            </a:r>
            <a:endParaRPr sz="2400">
              <a:latin typeface="Arial"/>
              <a:cs typeface="Arial"/>
            </a:endParaRPr>
          </a:p>
          <a:p>
            <a:pPr marL="4177665">
              <a:lnSpc>
                <a:spcPct val="100000"/>
              </a:lnSpc>
              <a:tabLst>
                <a:tab pos="7066915" algn="l"/>
              </a:tabLst>
            </a:pP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but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z</a:t>
            </a:r>
            <a:r>
              <a:rPr dirty="0" sz="2400" spc="-25">
                <a:latin typeface="Arial MT"/>
                <a:cs typeface="Arial MT"/>
              </a:rPr>
              <a:t>)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25" i="1">
                <a:latin typeface="Arial"/>
                <a:cs typeface="Arial"/>
              </a:rPr>
              <a:t>R]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800"/>
              </a:spcBef>
            </a:pP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does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not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spc="-20">
                <a:latin typeface="Arial MT"/>
                <a:cs typeface="Arial MT"/>
              </a:rPr>
              <a:t>have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properties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finding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counterexample.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2310" y="3158642"/>
            <a:ext cx="134111" cy="249936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19700" y="2738627"/>
            <a:ext cx="720851" cy="33832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79232" y="4605206"/>
            <a:ext cx="724524" cy="22902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822310" y="5369613"/>
            <a:ext cx="134111" cy="250256"/>
          </a:xfrm>
          <a:prstGeom prst="rect">
            <a:avLst/>
          </a:prstGeom>
        </p:spPr>
      </p:pic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96188"/>
            <a:ext cx="79819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Example</a:t>
            </a:r>
            <a:r>
              <a:rPr dirty="0" sz="2800" spc="-35"/>
              <a:t> </a:t>
            </a:r>
            <a:r>
              <a:rPr dirty="0" sz="2800"/>
              <a:t>1</a:t>
            </a:r>
            <a:r>
              <a:rPr dirty="0" sz="2800" spc="-45"/>
              <a:t> </a:t>
            </a:r>
            <a:r>
              <a:rPr dirty="0" sz="2800"/>
              <a:t>–</a:t>
            </a:r>
            <a:r>
              <a:rPr dirty="0" sz="2800" spc="-45"/>
              <a:t> </a:t>
            </a:r>
            <a:r>
              <a:rPr dirty="0" sz="2800" i="1">
                <a:latin typeface="Arial"/>
                <a:cs typeface="Arial"/>
              </a:rPr>
              <a:t>Properties</a:t>
            </a:r>
            <a:r>
              <a:rPr dirty="0" sz="2800" spc="-4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of</a:t>
            </a:r>
            <a:r>
              <a:rPr dirty="0" sz="2800" spc="-6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Relations</a:t>
            </a:r>
            <a:r>
              <a:rPr dirty="0" sz="2800" spc="-30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on</a:t>
            </a:r>
            <a:r>
              <a:rPr dirty="0" sz="2800" spc="-45" i="1">
                <a:latin typeface="Arial"/>
                <a:cs typeface="Arial"/>
              </a:rPr>
              <a:t> </a:t>
            </a:r>
            <a:r>
              <a:rPr dirty="0" sz="2800" i="1">
                <a:latin typeface="Arial"/>
                <a:cs typeface="Arial"/>
              </a:rPr>
              <a:t>Finite</a:t>
            </a:r>
            <a:r>
              <a:rPr dirty="0" sz="2800" spc="-45" i="1">
                <a:latin typeface="Arial"/>
                <a:cs typeface="Arial"/>
              </a:rPr>
              <a:t> </a:t>
            </a:r>
            <a:r>
              <a:rPr dirty="0" sz="2800" spc="-20" i="1">
                <a:latin typeface="Arial"/>
                <a:cs typeface="Arial"/>
              </a:rPr>
              <a:t>Sets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8000365" cy="438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508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Let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{0,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3}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relations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as </a:t>
            </a:r>
            <a:r>
              <a:rPr dirty="0" sz="2400" spc="-10">
                <a:latin typeface="Arial MT"/>
                <a:cs typeface="Arial MT"/>
              </a:rPr>
              <a:t>follows:</a:t>
            </a:r>
            <a:endParaRPr sz="24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1440"/>
              </a:spcBef>
            </a:pP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{(0,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0),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0),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(3,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0),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(3,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3)},</a:t>
            </a:r>
            <a:endParaRPr sz="24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600"/>
              </a:spcBef>
            </a:pP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{(0,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0),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3)},</a:t>
            </a:r>
            <a:endParaRPr sz="2400">
              <a:latin typeface="Arial MT"/>
              <a:cs typeface="Arial MT"/>
            </a:endParaRPr>
          </a:p>
          <a:p>
            <a:pPr marL="265430">
              <a:lnSpc>
                <a:spcPct val="100000"/>
              </a:lnSpc>
              <a:spcBef>
                <a:spcPts val="600"/>
              </a:spcBef>
            </a:pP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{(0,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(2,</a:t>
            </a:r>
            <a:r>
              <a:rPr dirty="0" sz="2400" spc="-20">
                <a:latin typeface="Arial MT"/>
                <a:cs typeface="Arial MT"/>
              </a:rPr>
              <a:t> 3)}.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349250" indent="-336550">
              <a:lnSpc>
                <a:spcPct val="100000"/>
              </a:lnSpc>
              <a:buFont typeface="Arial"/>
              <a:buAutoNum type="alphaLcPeriod"/>
              <a:tabLst>
                <a:tab pos="349250" algn="l"/>
              </a:tabLst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7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reflexive?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symmetric?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transitive?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lphaLcPeriod"/>
            </a:pPr>
            <a:endParaRPr sz="2400">
              <a:latin typeface="Arial MT"/>
              <a:cs typeface="Arial MT"/>
            </a:endParaRPr>
          </a:p>
          <a:p>
            <a:pPr marL="365125" indent="-352425">
              <a:lnSpc>
                <a:spcPct val="100000"/>
              </a:lnSpc>
              <a:buFont typeface="Arial"/>
              <a:buAutoNum type="alphaLcPeriod"/>
              <a:tabLst>
                <a:tab pos="365125" algn="l"/>
              </a:tabLst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 spc="-7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reflexive?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symmetric?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transitive?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lphaLcPeriod"/>
            </a:pPr>
            <a:endParaRPr sz="2400">
              <a:latin typeface="Arial MT"/>
              <a:cs typeface="Arial MT"/>
            </a:endParaRPr>
          </a:p>
          <a:p>
            <a:pPr marL="349250" indent="-336550">
              <a:lnSpc>
                <a:spcPct val="100000"/>
              </a:lnSpc>
              <a:buFont typeface="Arial"/>
              <a:buAutoNum type="alphaLcPeriod"/>
              <a:tabLst>
                <a:tab pos="349250" algn="l"/>
              </a:tabLst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7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reflexive?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symmetric?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transitive?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1(a)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940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directed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graph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has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appearance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below.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5235960"/>
            <a:ext cx="795528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R</a:t>
            </a:r>
            <a:r>
              <a:rPr dirty="0" sz="2400" spc="-4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reflexive: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loop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directed </a:t>
            </a:r>
            <a:r>
              <a:rPr dirty="0" sz="2400">
                <a:latin typeface="Arial MT"/>
                <a:cs typeface="Arial MT"/>
              </a:rPr>
              <a:t>graph.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itself,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reflexive.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2365" y="2809718"/>
            <a:ext cx="2490482" cy="2149377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33771" y="6872737"/>
            <a:ext cx="279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 MT"/>
                <a:cs typeface="Arial MT"/>
              </a:rPr>
              <a:t>12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70915" y="495300"/>
            <a:ext cx="9054465" cy="1178560"/>
            <a:chOff x="470915" y="495300"/>
            <a:chExt cx="9054465" cy="1178560"/>
          </a:xfrm>
        </p:grpSpPr>
        <p:sp>
          <p:nvSpPr>
            <p:cNvPr id="4" name="object 4" descr=""/>
            <p:cNvSpPr/>
            <p:nvPr/>
          </p:nvSpPr>
          <p:spPr>
            <a:xfrm>
              <a:off x="761999" y="8427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0915" y="495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215" y="60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1(a)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94664" y="1944117"/>
            <a:ext cx="8039734" cy="3774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74955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R</a:t>
            </a:r>
            <a:r>
              <a:rPr dirty="0" sz="2400" spc="-5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symmetric:</a:t>
            </a:r>
            <a:r>
              <a:rPr dirty="0" sz="2400" spc="-2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each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case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where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arrow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graph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point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back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first.</a:t>
            </a:r>
            <a:endParaRPr sz="2400">
              <a:latin typeface="Arial MT"/>
              <a:cs typeface="Arial MT"/>
            </a:endParaRPr>
          </a:p>
          <a:p>
            <a:pPr algn="just" marL="12700" marR="5080">
              <a:lnSpc>
                <a:spcPct val="100000"/>
              </a:lnSpc>
              <a:spcBef>
                <a:spcPts val="1800"/>
              </a:spcBef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whenever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50" i="1">
                <a:latin typeface="Arial"/>
                <a:cs typeface="Arial"/>
              </a:rPr>
              <a:t>R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first.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50" i="1">
                <a:latin typeface="Arial"/>
                <a:cs typeface="Arial"/>
              </a:rPr>
              <a:t>R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symmetric.</a:t>
            </a:r>
            <a:endParaRPr sz="2400">
              <a:latin typeface="Arial MT"/>
              <a:cs typeface="Arial MT"/>
            </a:endParaRPr>
          </a:p>
          <a:p>
            <a:pPr marL="12700" marR="88900">
              <a:lnSpc>
                <a:spcPct val="100000"/>
              </a:lnSpc>
              <a:spcBef>
                <a:spcPts val="1800"/>
              </a:spcBef>
            </a:pPr>
            <a:r>
              <a:rPr dirty="0" sz="2400" b="1" i="1">
                <a:latin typeface="Arial"/>
                <a:cs typeface="Arial"/>
              </a:rPr>
              <a:t>R</a:t>
            </a:r>
            <a:r>
              <a:rPr dirty="0" sz="2400" spc="-4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not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transitive: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0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going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3.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94666" y="5921760"/>
            <a:ext cx="747585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125085" algn="l"/>
              </a:tabLst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 i="1">
                <a:latin typeface="Arial"/>
                <a:cs typeface="Arial"/>
              </a:rPr>
              <a:t>A</a:t>
            </a:r>
            <a:r>
              <a:rPr dirty="0" sz="2400" spc="-20">
                <a:latin typeface="Arial MT"/>
                <a:cs typeface="Arial MT"/>
              </a:rPr>
              <a:t>—</a:t>
            </a:r>
            <a:r>
              <a:rPr dirty="0" sz="2400">
                <a:latin typeface="Arial MT"/>
                <a:cs typeface="Arial MT"/>
              </a:rPr>
              <a:t>0,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3—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50">
                <a:latin typeface="Arial MT"/>
                <a:cs typeface="Arial MT"/>
              </a:rPr>
              <a:t>1</a:t>
            </a:r>
            <a:r>
              <a:rPr dirty="0" sz="2400">
                <a:latin typeface="Arial MT"/>
                <a:cs typeface="Arial MT"/>
              </a:rPr>
              <a:t>	3.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not </a:t>
            </a:r>
            <a:r>
              <a:rPr dirty="0" sz="2400" spc="-10">
                <a:latin typeface="Arial MT"/>
                <a:cs typeface="Arial MT"/>
              </a:rPr>
              <a:t>transitive.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72620" y="6391275"/>
            <a:ext cx="262500" cy="20535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1(b)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92225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directed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graph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has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appearance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below.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4504439"/>
            <a:ext cx="7943850" cy="2219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95325">
              <a:lnSpc>
                <a:spcPct val="100000"/>
              </a:lnSpc>
              <a:spcBef>
                <a:spcPts val="100"/>
              </a:spcBef>
              <a:tabLst>
                <a:tab pos="1823085" algn="l"/>
              </a:tabLst>
            </a:pPr>
            <a:r>
              <a:rPr dirty="0" sz="2400" b="1" i="1">
                <a:latin typeface="Arial"/>
                <a:cs typeface="Arial"/>
              </a:rPr>
              <a:t>S</a:t>
            </a:r>
            <a:r>
              <a:rPr dirty="0" sz="2400" spc="-3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6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not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reflexive: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loop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example. </a:t>
            </a: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1)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reflexive.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tabLst>
                <a:tab pos="5542915" algn="l"/>
              </a:tabLst>
            </a:pPr>
            <a:r>
              <a:rPr dirty="0" sz="2400" b="1" i="1">
                <a:latin typeface="Arial"/>
                <a:cs typeface="Arial"/>
              </a:rPr>
              <a:t>S</a:t>
            </a:r>
            <a:r>
              <a:rPr dirty="0" sz="2400" spc="-40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6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not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symmetric: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not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0.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0)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not </a:t>
            </a:r>
            <a:r>
              <a:rPr dirty="0" sz="2400" spc="-10">
                <a:latin typeface="Arial MT"/>
                <a:cs typeface="Arial MT"/>
              </a:rPr>
              <a:t>symmetric.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6562" y="2655126"/>
            <a:ext cx="2686655" cy="1667889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09950" y="4958486"/>
            <a:ext cx="137591" cy="249936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04971" y="6055384"/>
            <a:ext cx="146225" cy="275091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1(b)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dirty="0" spc="-25"/>
              <a:t>13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0795" marR="57150">
              <a:lnSpc>
                <a:spcPct val="100000"/>
              </a:lnSpc>
              <a:spcBef>
                <a:spcPts val="100"/>
              </a:spcBef>
            </a:pPr>
            <a:r>
              <a:rPr dirty="0" b="1" i="1">
                <a:latin typeface="Arial"/>
                <a:cs typeface="Arial"/>
              </a:rPr>
              <a:t>S</a:t>
            </a:r>
            <a:r>
              <a:rPr dirty="0" spc="-50" b="1" i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is</a:t>
            </a:r>
            <a:r>
              <a:rPr dirty="0" spc="-7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transitive:</a:t>
            </a:r>
            <a:r>
              <a:rPr dirty="0" spc="-50" b="1">
                <a:latin typeface="Arial"/>
                <a:cs typeface="Arial"/>
              </a:rPr>
              <a:t> </a:t>
            </a:r>
            <a:r>
              <a:rPr dirty="0"/>
              <a:t>There</a:t>
            </a:r>
            <a:r>
              <a:rPr dirty="0" spc="-50"/>
              <a:t> </a:t>
            </a:r>
            <a:r>
              <a:rPr dirty="0"/>
              <a:t>are</a:t>
            </a:r>
            <a:r>
              <a:rPr dirty="0" spc="-45"/>
              <a:t> </a:t>
            </a:r>
            <a:r>
              <a:rPr dirty="0"/>
              <a:t>three</a:t>
            </a:r>
            <a:r>
              <a:rPr dirty="0" spc="-60"/>
              <a:t> </a:t>
            </a:r>
            <a:r>
              <a:rPr dirty="0"/>
              <a:t>cases</a:t>
            </a:r>
            <a:r>
              <a:rPr dirty="0" spc="-40"/>
              <a:t> </a:t>
            </a:r>
            <a:r>
              <a:rPr dirty="0"/>
              <a:t>for</a:t>
            </a:r>
            <a:r>
              <a:rPr dirty="0" spc="-55"/>
              <a:t> </a:t>
            </a:r>
            <a:r>
              <a:rPr dirty="0"/>
              <a:t>which</a:t>
            </a:r>
            <a:r>
              <a:rPr dirty="0" spc="-20"/>
              <a:t> </a:t>
            </a:r>
            <a:r>
              <a:rPr dirty="0"/>
              <a:t>there</a:t>
            </a:r>
            <a:r>
              <a:rPr dirty="0" spc="-60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 spc="-25"/>
              <a:t>an </a:t>
            </a:r>
            <a:r>
              <a:rPr dirty="0"/>
              <a:t>arrow</a:t>
            </a:r>
            <a:r>
              <a:rPr dirty="0" spc="-55"/>
              <a:t> </a:t>
            </a:r>
            <a:r>
              <a:rPr dirty="0"/>
              <a:t>going</a:t>
            </a:r>
            <a:r>
              <a:rPr dirty="0" spc="-25"/>
              <a:t> </a:t>
            </a:r>
            <a:r>
              <a:rPr dirty="0"/>
              <a:t>from</a:t>
            </a:r>
            <a:r>
              <a:rPr dirty="0" spc="-65"/>
              <a:t> </a:t>
            </a:r>
            <a:r>
              <a:rPr dirty="0"/>
              <a:t>one</a:t>
            </a:r>
            <a:r>
              <a:rPr dirty="0" spc="-40"/>
              <a:t> </a:t>
            </a:r>
            <a:r>
              <a:rPr dirty="0"/>
              <a:t>point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5"/>
              <a:t> </a:t>
            </a:r>
            <a:r>
              <a:rPr dirty="0"/>
              <a:t>graph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60"/>
              <a:t> </a:t>
            </a:r>
            <a:r>
              <a:rPr dirty="0"/>
              <a:t>a</a:t>
            </a:r>
            <a:r>
              <a:rPr dirty="0" spc="-50"/>
              <a:t> </a:t>
            </a:r>
            <a:r>
              <a:rPr dirty="0"/>
              <a:t>second</a:t>
            </a:r>
            <a:r>
              <a:rPr dirty="0" spc="-40"/>
              <a:t> </a:t>
            </a:r>
            <a:r>
              <a:rPr dirty="0" spc="-25"/>
              <a:t>and </a:t>
            </a:r>
            <a:r>
              <a:rPr dirty="0"/>
              <a:t>from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second</a:t>
            </a:r>
            <a:r>
              <a:rPr dirty="0" spc="-35"/>
              <a:t> </a:t>
            </a:r>
            <a:r>
              <a:rPr dirty="0"/>
              <a:t>point</a:t>
            </a:r>
            <a:r>
              <a:rPr dirty="0" spc="-3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/>
              <a:t>a</a:t>
            </a:r>
            <a:r>
              <a:rPr dirty="0" spc="-45"/>
              <a:t> </a:t>
            </a:r>
            <a:r>
              <a:rPr dirty="0" spc="-10"/>
              <a:t>third:</a:t>
            </a:r>
          </a:p>
          <a:p>
            <a:pPr marL="10795" marR="5080">
              <a:lnSpc>
                <a:spcPct val="100000"/>
              </a:lnSpc>
              <a:spcBef>
                <a:spcPts val="1800"/>
              </a:spcBef>
            </a:pPr>
            <a:r>
              <a:rPr dirty="0"/>
              <a:t>Namely,</a:t>
            </a:r>
            <a:r>
              <a:rPr dirty="0" spc="-25"/>
              <a:t> </a:t>
            </a:r>
            <a:r>
              <a:rPr dirty="0"/>
              <a:t>there</a:t>
            </a:r>
            <a:r>
              <a:rPr dirty="0" spc="-55"/>
              <a:t> </a:t>
            </a:r>
            <a:r>
              <a:rPr dirty="0"/>
              <a:t>are</a:t>
            </a:r>
            <a:r>
              <a:rPr dirty="0" spc="-40"/>
              <a:t> </a:t>
            </a:r>
            <a:r>
              <a:rPr dirty="0"/>
              <a:t>arrows</a:t>
            </a:r>
            <a:r>
              <a:rPr dirty="0" spc="-40"/>
              <a:t> </a:t>
            </a:r>
            <a:r>
              <a:rPr dirty="0"/>
              <a:t>going</a:t>
            </a:r>
            <a:r>
              <a:rPr dirty="0" spc="-15"/>
              <a:t> </a:t>
            </a:r>
            <a:r>
              <a:rPr dirty="0"/>
              <a:t>from</a:t>
            </a:r>
            <a:r>
              <a:rPr dirty="0" spc="-60"/>
              <a:t> </a:t>
            </a:r>
            <a:r>
              <a:rPr dirty="0"/>
              <a:t>0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/>
              <a:t>2</a:t>
            </a:r>
            <a:r>
              <a:rPr dirty="0" spc="-5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from</a:t>
            </a:r>
            <a:r>
              <a:rPr dirty="0" spc="-55"/>
              <a:t> </a:t>
            </a:r>
            <a:r>
              <a:rPr dirty="0"/>
              <a:t>2</a:t>
            </a:r>
            <a:r>
              <a:rPr dirty="0" spc="-40"/>
              <a:t> </a:t>
            </a:r>
            <a:r>
              <a:rPr dirty="0"/>
              <a:t>to</a:t>
            </a:r>
            <a:r>
              <a:rPr dirty="0" spc="-55"/>
              <a:t> </a:t>
            </a:r>
            <a:r>
              <a:rPr dirty="0" spc="-25"/>
              <a:t>3; </a:t>
            </a:r>
            <a:r>
              <a:rPr dirty="0"/>
              <a:t>there</a:t>
            </a:r>
            <a:r>
              <a:rPr dirty="0" spc="-60"/>
              <a:t> </a:t>
            </a:r>
            <a:r>
              <a:rPr dirty="0"/>
              <a:t>are</a:t>
            </a:r>
            <a:r>
              <a:rPr dirty="0" spc="-35"/>
              <a:t> </a:t>
            </a:r>
            <a:r>
              <a:rPr dirty="0"/>
              <a:t>arrows</a:t>
            </a:r>
            <a:r>
              <a:rPr dirty="0" spc="-25"/>
              <a:t> </a:t>
            </a:r>
            <a:r>
              <a:rPr dirty="0"/>
              <a:t>going</a:t>
            </a:r>
            <a:r>
              <a:rPr dirty="0" spc="-25"/>
              <a:t> </a:t>
            </a:r>
            <a:r>
              <a:rPr dirty="0"/>
              <a:t>from</a:t>
            </a:r>
            <a:r>
              <a:rPr dirty="0" spc="-45"/>
              <a:t> </a:t>
            </a:r>
            <a:r>
              <a:rPr dirty="0"/>
              <a:t>0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0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35"/>
              <a:t> </a:t>
            </a:r>
            <a:r>
              <a:rPr dirty="0"/>
              <a:t>from</a:t>
            </a:r>
            <a:r>
              <a:rPr dirty="0" spc="-45"/>
              <a:t> </a:t>
            </a:r>
            <a:r>
              <a:rPr dirty="0"/>
              <a:t>0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2;</a:t>
            </a:r>
            <a:r>
              <a:rPr dirty="0" spc="-40"/>
              <a:t> </a:t>
            </a:r>
            <a:r>
              <a:rPr dirty="0" spc="-25"/>
              <a:t>and </a:t>
            </a:r>
            <a:r>
              <a:rPr dirty="0"/>
              <a:t>there</a:t>
            </a:r>
            <a:r>
              <a:rPr dirty="0" spc="-50"/>
              <a:t> </a:t>
            </a:r>
            <a:r>
              <a:rPr dirty="0"/>
              <a:t>are</a:t>
            </a:r>
            <a:r>
              <a:rPr dirty="0" spc="-40"/>
              <a:t> </a:t>
            </a:r>
            <a:r>
              <a:rPr dirty="0"/>
              <a:t>arrows</a:t>
            </a:r>
            <a:r>
              <a:rPr dirty="0" spc="-25"/>
              <a:t> </a:t>
            </a:r>
            <a:r>
              <a:rPr dirty="0"/>
              <a:t>going</a:t>
            </a:r>
            <a:r>
              <a:rPr dirty="0" spc="-30"/>
              <a:t> </a:t>
            </a:r>
            <a:r>
              <a:rPr dirty="0"/>
              <a:t>from</a:t>
            </a:r>
            <a:r>
              <a:rPr dirty="0" spc="-40"/>
              <a:t> </a:t>
            </a:r>
            <a:r>
              <a:rPr dirty="0"/>
              <a:t>0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45"/>
              <a:t> </a:t>
            </a:r>
            <a:r>
              <a:rPr dirty="0"/>
              <a:t>0</a:t>
            </a:r>
            <a:r>
              <a:rPr dirty="0" spc="-40"/>
              <a:t> </a:t>
            </a:r>
            <a:r>
              <a:rPr dirty="0"/>
              <a:t>and</a:t>
            </a:r>
            <a:r>
              <a:rPr dirty="0" spc="-40"/>
              <a:t> </a:t>
            </a:r>
            <a:r>
              <a:rPr dirty="0"/>
              <a:t>from</a:t>
            </a:r>
            <a:r>
              <a:rPr dirty="0" spc="-45"/>
              <a:t> </a:t>
            </a:r>
            <a:r>
              <a:rPr dirty="0"/>
              <a:t>0</a:t>
            </a:r>
            <a:r>
              <a:rPr dirty="0" spc="-45"/>
              <a:t> </a:t>
            </a:r>
            <a:r>
              <a:rPr dirty="0"/>
              <a:t>to</a:t>
            </a:r>
            <a:r>
              <a:rPr dirty="0" spc="-50"/>
              <a:t> </a:t>
            </a:r>
            <a:r>
              <a:rPr dirty="0" spc="-25"/>
              <a:t>3.</a:t>
            </a:r>
          </a:p>
          <a:p>
            <a:pPr marL="10795" marR="241300">
              <a:lnSpc>
                <a:spcPct val="100000"/>
              </a:lnSpc>
              <a:spcBef>
                <a:spcPts val="1800"/>
              </a:spcBef>
            </a:pPr>
            <a:r>
              <a:rPr dirty="0"/>
              <a:t>In</a:t>
            </a:r>
            <a:r>
              <a:rPr dirty="0" spc="-55"/>
              <a:t> </a:t>
            </a:r>
            <a:r>
              <a:rPr dirty="0"/>
              <a:t>each</a:t>
            </a:r>
            <a:r>
              <a:rPr dirty="0" spc="-45"/>
              <a:t> </a:t>
            </a:r>
            <a:r>
              <a:rPr dirty="0"/>
              <a:t>case</a:t>
            </a:r>
            <a:r>
              <a:rPr dirty="0" spc="-40"/>
              <a:t> </a:t>
            </a:r>
            <a:r>
              <a:rPr dirty="0"/>
              <a:t>there</a:t>
            </a:r>
            <a:r>
              <a:rPr dirty="0" spc="-55"/>
              <a:t> </a:t>
            </a:r>
            <a:r>
              <a:rPr dirty="0"/>
              <a:t>is</a:t>
            </a:r>
            <a:r>
              <a:rPr dirty="0" spc="-40"/>
              <a:t> </a:t>
            </a:r>
            <a:r>
              <a:rPr dirty="0"/>
              <a:t>an</a:t>
            </a:r>
            <a:r>
              <a:rPr dirty="0" spc="-45"/>
              <a:t> </a:t>
            </a:r>
            <a:r>
              <a:rPr dirty="0"/>
              <a:t>arrow</a:t>
            </a:r>
            <a:r>
              <a:rPr dirty="0" spc="-45"/>
              <a:t> </a:t>
            </a:r>
            <a:r>
              <a:rPr dirty="0"/>
              <a:t>going</a:t>
            </a:r>
            <a:r>
              <a:rPr dirty="0" spc="-20"/>
              <a:t> </a:t>
            </a:r>
            <a:r>
              <a:rPr dirty="0"/>
              <a:t>from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45"/>
              <a:t> </a:t>
            </a:r>
            <a:r>
              <a:rPr dirty="0"/>
              <a:t>first</a:t>
            </a:r>
            <a:r>
              <a:rPr dirty="0" spc="-60"/>
              <a:t> </a:t>
            </a:r>
            <a:r>
              <a:rPr dirty="0"/>
              <a:t>point</a:t>
            </a:r>
            <a:r>
              <a:rPr dirty="0" spc="-35"/>
              <a:t> </a:t>
            </a:r>
            <a:r>
              <a:rPr dirty="0" spc="-25"/>
              <a:t>to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third.</a:t>
            </a:r>
            <a:r>
              <a:rPr dirty="0" spc="-60"/>
              <a:t> </a:t>
            </a:r>
            <a:r>
              <a:rPr dirty="0"/>
              <a:t>(Note</a:t>
            </a:r>
            <a:r>
              <a:rPr dirty="0" spc="-55"/>
              <a:t> </a:t>
            </a:r>
            <a:r>
              <a:rPr dirty="0"/>
              <a:t>again</a:t>
            </a:r>
            <a:r>
              <a:rPr dirty="0" spc="-35"/>
              <a:t> </a:t>
            </a:r>
            <a:r>
              <a:rPr dirty="0"/>
              <a:t>that</a:t>
            </a:r>
            <a:r>
              <a:rPr dirty="0" spc="-60"/>
              <a:t> </a:t>
            </a:r>
            <a:r>
              <a:rPr dirty="0"/>
              <a:t>the</a:t>
            </a:r>
            <a:r>
              <a:rPr dirty="0" spc="-65"/>
              <a:t> </a:t>
            </a:r>
            <a:r>
              <a:rPr dirty="0"/>
              <a:t>“first,”</a:t>
            </a:r>
            <a:r>
              <a:rPr dirty="0" spc="-90"/>
              <a:t> </a:t>
            </a:r>
            <a:r>
              <a:rPr dirty="0"/>
              <a:t>“second,”</a:t>
            </a:r>
            <a:r>
              <a:rPr dirty="0" spc="-45"/>
              <a:t> </a:t>
            </a:r>
            <a:r>
              <a:rPr dirty="0"/>
              <a:t>and</a:t>
            </a:r>
            <a:r>
              <a:rPr dirty="0" spc="-45"/>
              <a:t> </a:t>
            </a:r>
            <a:r>
              <a:rPr dirty="0" spc="-10"/>
              <a:t>“third” </a:t>
            </a:r>
            <a:r>
              <a:rPr dirty="0"/>
              <a:t>points</a:t>
            </a:r>
            <a:r>
              <a:rPr dirty="0" spc="-40"/>
              <a:t> </a:t>
            </a:r>
            <a:r>
              <a:rPr dirty="0"/>
              <a:t>need</a:t>
            </a:r>
            <a:r>
              <a:rPr dirty="0" spc="-40"/>
              <a:t> </a:t>
            </a:r>
            <a:r>
              <a:rPr dirty="0"/>
              <a:t>not</a:t>
            </a:r>
            <a:r>
              <a:rPr dirty="0" spc="-55"/>
              <a:t> </a:t>
            </a:r>
            <a:r>
              <a:rPr dirty="0"/>
              <a:t>be</a:t>
            </a:r>
            <a:r>
              <a:rPr dirty="0" spc="-50"/>
              <a:t> </a:t>
            </a:r>
            <a:r>
              <a:rPr dirty="0" spc="-10"/>
              <a:t>distinct.)</a:t>
            </a:r>
          </a:p>
          <a:p>
            <a:pPr marL="10795" marR="123825">
              <a:lnSpc>
                <a:spcPct val="100000"/>
              </a:lnSpc>
              <a:spcBef>
                <a:spcPts val="1800"/>
              </a:spcBef>
            </a:pPr>
            <a:r>
              <a:rPr dirty="0"/>
              <a:t>This</a:t>
            </a:r>
            <a:r>
              <a:rPr dirty="0" spc="-30"/>
              <a:t> </a:t>
            </a:r>
            <a:r>
              <a:rPr dirty="0"/>
              <a:t>means</a:t>
            </a:r>
            <a:r>
              <a:rPr dirty="0" spc="-15"/>
              <a:t> </a:t>
            </a:r>
            <a:r>
              <a:rPr dirty="0"/>
              <a:t>that</a:t>
            </a:r>
            <a:r>
              <a:rPr dirty="0" spc="-45"/>
              <a:t> </a:t>
            </a:r>
            <a:r>
              <a:rPr dirty="0"/>
              <a:t>whenever</a:t>
            </a:r>
            <a:r>
              <a:rPr dirty="0" spc="-5"/>
              <a:t> </a:t>
            </a:r>
            <a:r>
              <a:rPr dirty="0"/>
              <a:t>(</a:t>
            </a:r>
            <a:r>
              <a:rPr dirty="0" i="1">
                <a:latin typeface="Arial"/>
                <a:cs typeface="Arial"/>
              </a:rPr>
              <a:t>x</a:t>
            </a:r>
            <a:r>
              <a:rPr dirty="0"/>
              <a:t>,</a:t>
            </a:r>
            <a:r>
              <a:rPr dirty="0" spc="-45"/>
              <a:t> </a:t>
            </a:r>
            <a:r>
              <a:rPr dirty="0" i="1">
                <a:latin typeface="Arial"/>
                <a:cs typeface="Arial"/>
              </a:rPr>
              <a:t>y</a:t>
            </a:r>
            <a:r>
              <a:rPr dirty="0"/>
              <a:t>)</a:t>
            </a:r>
            <a:r>
              <a:rPr dirty="0" spc="-35"/>
              <a:t> </a:t>
            </a:r>
            <a:r>
              <a:rPr dirty="0">
                <a:latin typeface="Symbol"/>
                <a:cs typeface="Symbol"/>
              </a:rPr>
              <a:t></a:t>
            </a:r>
            <a:r>
              <a:rPr dirty="0" spc="30">
                <a:latin typeface="Times New Roman"/>
                <a:cs typeface="Times New Roman"/>
              </a:rPr>
              <a:t> </a:t>
            </a:r>
            <a:r>
              <a:rPr dirty="0" i="1">
                <a:latin typeface="Arial"/>
                <a:cs typeface="Arial"/>
              </a:rPr>
              <a:t>S</a:t>
            </a:r>
            <a:r>
              <a:rPr dirty="0" spc="-30" i="1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dirty="0" spc="-30"/>
              <a:t> </a:t>
            </a:r>
            <a:r>
              <a:rPr dirty="0"/>
              <a:t>(</a:t>
            </a:r>
            <a:r>
              <a:rPr dirty="0" i="1">
                <a:latin typeface="Arial"/>
                <a:cs typeface="Arial"/>
              </a:rPr>
              <a:t>y</a:t>
            </a:r>
            <a:r>
              <a:rPr dirty="0"/>
              <a:t>,</a:t>
            </a:r>
            <a:r>
              <a:rPr dirty="0" spc="-45"/>
              <a:t> </a:t>
            </a:r>
            <a:r>
              <a:rPr dirty="0" i="1">
                <a:latin typeface="Arial"/>
                <a:cs typeface="Arial"/>
              </a:rPr>
              <a:t>z</a:t>
            </a:r>
            <a:r>
              <a:rPr dirty="0"/>
              <a:t>)</a:t>
            </a:r>
            <a:r>
              <a:rPr dirty="0" spc="-35"/>
              <a:t> </a:t>
            </a:r>
            <a:r>
              <a:rPr dirty="0">
                <a:latin typeface="Symbol"/>
                <a:cs typeface="Symbol"/>
              </a:rPr>
              <a:t></a:t>
            </a:r>
            <a:r>
              <a:rPr dirty="0" spc="25">
                <a:latin typeface="Times New Roman"/>
                <a:cs typeface="Times New Roman"/>
              </a:rPr>
              <a:t> </a:t>
            </a:r>
            <a:r>
              <a:rPr dirty="0" i="1">
                <a:latin typeface="Arial"/>
                <a:cs typeface="Arial"/>
              </a:rPr>
              <a:t>S</a:t>
            </a:r>
            <a:r>
              <a:rPr dirty="0"/>
              <a:t>,</a:t>
            </a:r>
            <a:r>
              <a:rPr dirty="0" spc="-35"/>
              <a:t> </a:t>
            </a:r>
            <a:r>
              <a:rPr dirty="0" spc="-20"/>
              <a:t>then </a:t>
            </a:r>
            <a:r>
              <a:rPr dirty="0"/>
              <a:t>(</a:t>
            </a:r>
            <a:r>
              <a:rPr dirty="0" i="1">
                <a:latin typeface="Arial"/>
                <a:cs typeface="Arial"/>
              </a:rPr>
              <a:t>x</a:t>
            </a:r>
            <a:r>
              <a:rPr dirty="0"/>
              <a:t>,</a:t>
            </a:r>
            <a:r>
              <a:rPr dirty="0" spc="-35"/>
              <a:t> </a:t>
            </a:r>
            <a:r>
              <a:rPr dirty="0" i="1">
                <a:latin typeface="Arial"/>
                <a:cs typeface="Arial"/>
              </a:rPr>
              <a:t>z</a:t>
            </a:r>
            <a:r>
              <a:rPr dirty="0"/>
              <a:t>)</a:t>
            </a:r>
            <a:r>
              <a:rPr dirty="0" spc="-20"/>
              <a:t> </a:t>
            </a:r>
            <a:r>
              <a:rPr dirty="0">
                <a:latin typeface="Symbol"/>
                <a:cs typeface="Symbol"/>
              </a:rPr>
              <a:t></a:t>
            </a:r>
            <a:r>
              <a:rPr dirty="0" spc="45">
                <a:latin typeface="Times New Roman"/>
                <a:cs typeface="Times New Roman"/>
              </a:rPr>
              <a:t> </a:t>
            </a:r>
            <a:r>
              <a:rPr dirty="0" i="1">
                <a:latin typeface="Arial"/>
                <a:cs typeface="Arial"/>
              </a:rPr>
              <a:t>S</a:t>
            </a:r>
            <a:r>
              <a:rPr dirty="0"/>
              <a:t>,</a:t>
            </a:r>
            <a:r>
              <a:rPr dirty="0" spc="-20"/>
              <a:t> </a:t>
            </a:r>
            <a:r>
              <a:rPr dirty="0"/>
              <a:t>for</a:t>
            </a:r>
            <a:r>
              <a:rPr dirty="0" spc="-30"/>
              <a:t> </a:t>
            </a:r>
            <a:r>
              <a:rPr dirty="0"/>
              <a:t>all</a:t>
            </a:r>
            <a:r>
              <a:rPr dirty="0" spc="-5"/>
              <a:t> </a:t>
            </a:r>
            <a:r>
              <a:rPr dirty="0" i="1">
                <a:latin typeface="Arial"/>
                <a:cs typeface="Arial"/>
              </a:rPr>
              <a:t>x</a:t>
            </a:r>
            <a:r>
              <a:rPr dirty="0"/>
              <a:t>,</a:t>
            </a:r>
            <a:r>
              <a:rPr dirty="0" spc="-20"/>
              <a:t> </a:t>
            </a:r>
            <a:r>
              <a:rPr dirty="0" i="1">
                <a:latin typeface="Arial"/>
                <a:cs typeface="Arial"/>
              </a:rPr>
              <a:t>y</a:t>
            </a:r>
            <a:r>
              <a:rPr dirty="0"/>
              <a:t>,</a:t>
            </a:r>
            <a:r>
              <a:rPr dirty="0" spc="-30"/>
              <a:t> </a:t>
            </a:r>
            <a:r>
              <a:rPr dirty="0" i="1">
                <a:latin typeface="Arial"/>
                <a:cs typeface="Arial"/>
              </a:rPr>
              <a:t>z</a:t>
            </a:r>
            <a:r>
              <a:rPr dirty="0" spc="-25" i="1">
                <a:latin typeface="Arial"/>
                <a:cs typeface="Arial"/>
              </a:rPr>
              <a:t> </a:t>
            </a:r>
            <a:r>
              <a:rPr dirty="0">
                <a:latin typeface="Symbol"/>
                <a:cs typeface="Symbol"/>
              </a:rPr>
              <a:t></a:t>
            </a:r>
            <a:r>
              <a:rPr dirty="0" spc="45">
                <a:latin typeface="Times New Roman"/>
                <a:cs typeface="Times New Roman"/>
              </a:rPr>
              <a:t> </a:t>
            </a:r>
            <a:r>
              <a:rPr dirty="0"/>
              <a:t>{0,</a:t>
            </a:r>
            <a:r>
              <a:rPr dirty="0" spc="-20"/>
              <a:t> </a:t>
            </a:r>
            <a:r>
              <a:rPr dirty="0"/>
              <a:t>1,</a:t>
            </a:r>
            <a:r>
              <a:rPr dirty="0" spc="-20"/>
              <a:t> </a:t>
            </a:r>
            <a:r>
              <a:rPr dirty="0"/>
              <a:t>2,</a:t>
            </a:r>
            <a:r>
              <a:rPr dirty="0" spc="-20"/>
              <a:t> </a:t>
            </a:r>
            <a:r>
              <a:rPr dirty="0"/>
              <a:t>3},</a:t>
            </a:r>
            <a:r>
              <a:rPr dirty="0" spc="-30"/>
              <a:t> </a:t>
            </a:r>
            <a:r>
              <a:rPr dirty="0"/>
              <a:t>and</a:t>
            </a:r>
            <a:r>
              <a:rPr dirty="0" spc="-5"/>
              <a:t> </a:t>
            </a:r>
            <a:r>
              <a:rPr dirty="0"/>
              <a:t>so</a:t>
            </a:r>
            <a:r>
              <a:rPr dirty="0" spc="-25"/>
              <a:t> </a:t>
            </a:r>
            <a:r>
              <a:rPr dirty="0" i="1">
                <a:latin typeface="Arial"/>
                <a:cs typeface="Arial"/>
              </a:rPr>
              <a:t>S</a:t>
            </a:r>
            <a:r>
              <a:rPr dirty="0" spc="-15" i="1">
                <a:latin typeface="Arial"/>
                <a:cs typeface="Arial"/>
              </a:rPr>
              <a:t> </a:t>
            </a:r>
            <a:r>
              <a:rPr dirty="0"/>
              <a:t>is</a:t>
            </a:r>
            <a:r>
              <a:rPr dirty="0" spc="-15"/>
              <a:t> </a:t>
            </a:r>
            <a:r>
              <a:rPr dirty="0" spc="-10"/>
              <a:t>transitive.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5"/>
              <a:t> </a:t>
            </a:r>
            <a:r>
              <a:rPr dirty="0"/>
              <a:t>1(c)</a:t>
            </a:r>
            <a:r>
              <a:rPr dirty="0" spc="-75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8002270" cy="2280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485" marR="3736340" indent="-58419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directed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graph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spc="-25">
                <a:latin typeface="Arial MT"/>
                <a:cs typeface="Arial MT"/>
              </a:rPr>
              <a:t>has</a:t>
            </a:r>
            <a:r>
              <a:rPr dirty="0" sz="2400" spc="60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appearance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right.</a:t>
            </a:r>
            <a:endParaRPr sz="2400">
              <a:latin typeface="Arial MT"/>
              <a:cs typeface="Arial MT"/>
            </a:endParaRPr>
          </a:p>
          <a:p>
            <a:pPr marL="70485" marR="5080" indent="-58419">
              <a:lnSpc>
                <a:spcPct val="100000"/>
              </a:lnSpc>
              <a:spcBef>
                <a:spcPts val="1680"/>
              </a:spcBef>
              <a:tabLst>
                <a:tab pos="1118870" algn="l"/>
              </a:tabLst>
            </a:pPr>
            <a:r>
              <a:rPr dirty="0" sz="2400" b="1" i="1">
                <a:latin typeface="Arial"/>
                <a:cs typeface="Arial"/>
              </a:rPr>
              <a:t>T</a:t>
            </a:r>
            <a:r>
              <a:rPr dirty="0" sz="2400" spc="-5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not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reflexive: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loop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example.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Thus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0)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reflexive.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dirty="0" sz="2400" b="1" i="1">
                <a:latin typeface="Arial"/>
                <a:cs typeface="Arial"/>
              </a:rPr>
              <a:t>T</a:t>
            </a:r>
            <a:r>
              <a:rPr dirty="0" sz="2400" spc="-50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not</a:t>
            </a:r>
            <a:r>
              <a:rPr dirty="0" sz="2400" spc="-4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symmetric:</a:t>
            </a:r>
            <a:r>
              <a:rPr dirty="0" sz="2400" spc="-1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not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360672" y="4199639"/>
            <a:ext cx="23780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not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94664" y="4199639"/>
            <a:ext cx="801370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485" marR="29641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0.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2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0) </a:t>
            </a:r>
            <a:r>
              <a:rPr dirty="0" sz="2400" spc="-10">
                <a:latin typeface="Arial MT"/>
                <a:cs typeface="Arial MT"/>
              </a:rPr>
              <a:t>symmetric.</a:t>
            </a:r>
            <a:endParaRPr sz="2400">
              <a:latin typeface="Arial MT"/>
              <a:cs typeface="Arial MT"/>
            </a:endParaRPr>
          </a:p>
          <a:p>
            <a:pPr marL="70485" marR="215900" indent="-58419">
              <a:lnSpc>
                <a:spcPct val="100000"/>
              </a:lnSpc>
              <a:spcBef>
                <a:spcPts val="1680"/>
              </a:spcBef>
            </a:pPr>
            <a:r>
              <a:rPr dirty="0" sz="2400" b="1" i="1">
                <a:latin typeface="Arial"/>
                <a:cs typeface="Arial"/>
              </a:rPr>
              <a:t>T</a:t>
            </a:r>
            <a:r>
              <a:rPr dirty="0" sz="2400" spc="-7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transitive:</a:t>
            </a:r>
            <a:r>
              <a:rPr dirty="0" sz="2400" spc="-7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transitivity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condition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vacuously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true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transitivity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condition </a:t>
            </a:r>
            <a:r>
              <a:rPr dirty="0" sz="2400">
                <a:latin typeface="Arial MT"/>
                <a:cs typeface="Arial MT"/>
              </a:rPr>
              <a:t>says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Arial"/>
                <a:cs typeface="Arial"/>
              </a:rPr>
              <a:t>T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30035" y="2023797"/>
            <a:ext cx="1705798" cy="137383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6334" y="2522765"/>
            <a:ext cx="1717647" cy="133202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4227" y="3270503"/>
            <a:ext cx="237743" cy="345947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55141" y="4289019"/>
            <a:ext cx="151116" cy="274766"/>
          </a:xfrm>
          <a:prstGeom prst="rect">
            <a:avLst/>
          </a:prstGeom>
        </p:spPr>
      </p:pic>
      <p:sp>
        <p:nvSpPr>
          <p:cNvPr id="11" name="object 1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dirty="0" spc="-25"/>
              <a:t>13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33771" y="6872737"/>
            <a:ext cx="279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 MT"/>
                <a:cs typeface="Arial MT"/>
              </a:rPr>
              <a:t>16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70915" y="495300"/>
            <a:ext cx="9054465" cy="1178560"/>
            <a:chOff x="470915" y="495300"/>
            <a:chExt cx="9054465" cy="1178560"/>
          </a:xfrm>
        </p:grpSpPr>
        <p:sp>
          <p:nvSpPr>
            <p:cNvPr id="4" name="object 4" descr=""/>
            <p:cNvSpPr/>
            <p:nvPr/>
          </p:nvSpPr>
          <p:spPr>
            <a:xfrm>
              <a:off x="761999" y="8427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0915" y="495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215" y="60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5"/>
              <a:t> </a:t>
            </a:r>
            <a:r>
              <a:rPr dirty="0"/>
              <a:t>1(c)</a:t>
            </a:r>
            <a:r>
              <a:rPr dirty="0" spc="-75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94664" y="1944117"/>
            <a:ext cx="7973695" cy="3439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39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only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way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false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would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exist </a:t>
            </a:r>
            <a:r>
              <a:rPr dirty="0" sz="2400">
                <a:latin typeface="Arial MT"/>
                <a:cs typeface="Arial MT"/>
              </a:rPr>
              <a:t>elements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make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hypothesis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conclusion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false.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would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have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50" i="1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6198235" algn="l"/>
              </a:tabLst>
            </a:pP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z</a:t>
            </a:r>
            <a:r>
              <a:rPr dirty="0" sz="2400" spc="-25">
                <a:latin typeface="Arial MT"/>
                <a:cs typeface="Arial MT"/>
              </a:rPr>
              <a:t>)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spc="-25" i="1">
                <a:latin typeface="Arial"/>
                <a:cs typeface="Arial"/>
              </a:rPr>
              <a:t>T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920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words,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would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have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two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ordered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pairs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in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have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potential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“link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up”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having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 i="1">
                <a:latin typeface="Arial"/>
                <a:cs typeface="Arial"/>
              </a:rPr>
              <a:t>second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pair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first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element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pair.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94664" y="5601720"/>
            <a:ext cx="7769225" cy="1488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only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elements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these </a:t>
            </a:r>
            <a:r>
              <a:rPr dirty="0" sz="2400">
                <a:latin typeface="Arial MT"/>
                <a:cs typeface="Arial MT"/>
              </a:rPr>
              <a:t>do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have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potential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link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up.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hypothesis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never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true.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impossible for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not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be </a:t>
            </a:r>
            <a:r>
              <a:rPr dirty="0" sz="2400">
                <a:latin typeface="Arial MT"/>
                <a:cs typeface="Arial MT"/>
              </a:rPr>
              <a:t>transitive,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70134" y="3757143"/>
            <a:ext cx="150154" cy="27476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44345" y="3753106"/>
            <a:ext cx="5871845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607820" marR="5080" indent="-159575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ADEE"/>
                </a:solidFill>
              </a:rPr>
              <a:t>Properties</a:t>
            </a:r>
            <a:r>
              <a:rPr dirty="0" spc="-11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of</a:t>
            </a:r>
            <a:r>
              <a:rPr dirty="0" spc="-135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Relations</a:t>
            </a:r>
            <a:r>
              <a:rPr dirty="0" spc="-110">
                <a:solidFill>
                  <a:srgbClr val="00ADEE"/>
                </a:solidFill>
              </a:rPr>
              <a:t> </a:t>
            </a:r>
            <a:r>
              <a:rPr dirty="0" spc="-25">
                <a:solidFill>
                  <a:srgbClr val="00ADEE"/>
                </a:solidFill>
              </a:rPr>
              <a:t>on </a:t>
            </a:r>
            <a:r>
              <a:rPr dirty="0">
                <a:solidFill>
                  <a:srgbClr val="00ADEE"/>
                </a:solidFill>
              </a:rPr>
              <a:t>Infinite</a:t>
            </a:r>
            <a:r>
              <a:rPr dirty="0" spc="-114">
                <a:solidFill>
                  <a:srgbClr val="00ADEE"/>
                </a:solidFill>
              </a:rPr>
              <a:t> </a:t>
            </a:r>
            <a:r>
              <a:rPr dirty="0" spc="-20">
                <a:solidFill>
                  <a:srgbClr val="00ADEE"/>
                </a:solidFill>
              </a:rPr>
              <a:t>Sets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24560"/>
            <a:ext cx="8023859" cy="589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/>
              <a:t>Properties</a:t>
            </a:r>
            <a:r>
              <a:rPr dirty="0" sz="3700" spc="-55"/>
              <a:t> </a:t>
            </a:r>
            <a:r>
              <a:rPr dirty="0" sz="3700"/>
              <a:t>of</a:t>
            </a:r>
            <a:r>
              <a:rPr dirty="0" sz="3700" spc="-100"/>
              <a:t> </a:t>
            </a:r>
            <a:r>
              <a:rPr dirty="0" sz="3700"/>
              <a:t>Relations</a:t>
            </a:r>
            <a:r>
              <a:rPr dirty="0" sz="3700" spc="-55"/>
              <a:t> </a:t>
            </a:r>
            <a:r>
              <a:rPr dirty="0" sz="3700"/>
              <a:t>on</a:t>
            </a:r>
            <a:r>
              <a:rPr dirty="0" sz="3700" spc="-75"/>
              <a:t> </a:t>
            </a:r>
            <a:r>
              <a:rPr dirty="0" sz="3700"/>
              <a:t>Infinite</a:t>
            </a:r>
            <a:r>
              <a:rPr dirty="0" sz="3700" spc="-85"/>
              <a:t> </a:t>
            </a:r>
            <a:r>
              <a:rPr dirty="0" sz="3700" spc="-20"/>
              <a:t>Sets</a:t>
            </a:r>
            <a:endParaRPr sz="37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8058150" cy="478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9240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Suppose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defined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infinite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prove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reflexive,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symmetric,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transitive,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first </a:t>
            </a:r>
            <a:r>
              <a:rPr dirty="0" sz="2400">
                <a:latin typeface="Arial MT"/>
                <a:cs typeface="Arial MT"/>
              </a:rPr>
              <a:t>write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down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what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proved.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instance,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for </a:t>
            </a:r>
            <a:r>
              <a:rPr dirty="0" sz="2400">
                <a:latin typeface="Arial MT"/>
                <a:cs typeface="Arial MT"/>
              </a:rPr>
              <a:t>symmetry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need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algn="ctr" marL="513080">
              <a:lnSpc>
                <a:spcPct val="100000"/>
              </a:lnSpc>
            </a:pPr>
            <a:r>
              <a:rPr dirty="0" sz="2400">
                <a:latin typeface="Symbol"/>
                <a:cs typeface="Symbol"/>
              </a:rPr>
              <a:t>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x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rewrite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statement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particular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case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question.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instance,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“equality”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numbers,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rewritten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110">
                <a:latin typeface="Arial MT"/>
                <a:cs typeface="Arial MT"/>
              </a:rPr>
              <a:t> </a:t>
            </a:r>
            <a:r>
              <a:rPr dirty="0" sz="2400" spc="-35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algn="ctr" marL="446405">
              <a:lnSpc>
                <a:spcPct val="100000"/>
              </a:lnSpc>
            </a:pPr>
            <a:r>
              <a:rPr dirty="0" sz="2400">
                <a:latin typeface="Symbol"/>
                <a:cs typeface="Symbol"/>
              </a:rPr>
              <a:t>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x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2932" y="924560"/>
            <a:ext cx="8023859" cy="5892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00"/>
              <a:t>Properties</a:t>
            </a:r>
            <a:r>
              <a:rPr dirty="0" sz="3700" spc="-55"/>
              <a:t> </a:t>
            </a:r>
            <a:r>
              <a:rPr dirty="0" sz="3700"/>
              <a:t>of</a:t>
            </a:r>
            <a:r>
              <a:rPr dirty="0" sz="3700" spc="-100"/>
              <a:t> </a:t>
            </a:r>
            <a:r>
              <a:rPr dirty="0" sz="3700"/>
              <a:t>Relations</a:t>
            </a:r>
            <a:r>
              <a:rPr dirty="0" sz="3700" spc="-55"/>
              <a:t> </a:t>
            </a:r>
            <a:r>
              <a:rPr dirty="0" sz="3700"/>
              <a:t>on</a:t>
            </a:r>
            <a:r>
              <a:rPr dirty="0" sz="3700" spc="-75"/>
              <a:t> </a:t>
            </a:r>
            <a:r>
              <a:rPr dirty="0" sz="3700"/>
              <a:t>Infinite</a:t>
            </a:r>
            <a:r>
              <a:rPr dirty="0" sz="3700" spc="-85"/>
              <a:t> </a:t>
            </a:r>
            <a:r>
              <a:rPr dirty="0" sz="3700" spc="-20"/>
              <a:t>Sets</a:t>
            </a:r>
            <a:endParaRPr sz="37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7939405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73533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Sometimes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truth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rewritten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will</a:t>
            </a:r>
            <a:r>
              <a:rPr dirty="0" sz="2400" spc="-25">
                <a:latin typeface="Arial MT"/>
                <a:cs typeface="Arial MT"/>
              </a:rPr>
              <a:t> be </a:t>
            </a:r>
            <a:r>
              <a:rPr dirty="0" sz="2400">
                <a:latin typeface="Arial MT"/>
                <a:cs typeface="Arial MT"/>
              </a:rPr>
              <a:t>immediately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obvious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(as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here).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other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times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will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prove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using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method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of </a:t>
            </a:r>
            <a:r>
              <a:rPr dirty="0" sz="2400">
                <a:latin typeface="Arial MT"/>
                <a:cs typeface="Arial MT"/>
              </a:rPr>
              <a:t>generalizing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9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generic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particular.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20891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We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begin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with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equality,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simplest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yet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most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important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relations.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2</a:t>
            </a:r>
            <a:r>
              <a:rPr dirty="0" spc="-8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i="1">
                <a:latin typeface="Arial"/>
                <a:cs typeface="Arial"/>
              </a:rPr>
              <a:t>Properties</a:t>
            </a:r>
            <a:r>
              <a:rPr dirty="0" spc="-60" i="1">
                <a:latin typeface="Arial"/>
                <a:cs typeface="Arial"/>
              </a:rPr>
              <a:t> </a:t>
            </a:r>
            <a:r>
              <a:rPr dirty="0" i="1">
                <a:latin typeface="Arial"/>
                <a:cs typeface="Arial"/>
              </a:rPr>
              <a:t>of</a:t>
            </a:r>
            <a:r>
              <a:rPr dirty="0" spc="-75" i="1">
                <a:latin typeface="Arial"/>
                <a:cs typeface="Arial"/>
              </a:rPr>
              <a:t> </a:t>
            </a:r>
            <a:r>
              <a:rPr dirty="0" spc="-10" i="1">
                <a:latin typeface="Arial"/>
                <a:cs typeface="Arial"/>
              </a:rPr>
              <a:t>Equality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48284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Define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R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(the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numbers)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as </a:t>
            </a:r>
            <a:r>
              <a:rPr dirty="0" sz="2400">
                <a:latin typeface="Arial MT"/>
                <a:cs typeface="Arial MT"/>
              </a:rPr>
              <a:t>follows: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y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3772918"/>
            <a:ext cx="256476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9250" indent="-336550">
              <a:lnSpc>
                <a:spcPct val="100000"/>
              </a:lnSpc>
              <a:spcBef>
                <a:spcPts val="100"/>
              </a:spcBef>
              <a:buFont typeface="Arial"/>
              <a:buAutoNum type="alphaLcPeriod"/>
              <a:tabLst>
                <a:tab pos="349250" algn="l"/>
              </a:tabLst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reflexive?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lphaLcPeriod"/>
            </a:pPr>
            <a:endParaRPr sz="2400">
              <a:latin typeface="Arial MT"/>
              <a:cs typeface="Arial MT"/>
            </a:endParaRPr>
          </a:p>
          <a:p>
            <a:pPr marL="365125" indent="-352425">
              <a:lnSpc>
                <a:spcPct val="100000"/>
              </a:lnSpc>
              <a:buFont typeface="Arial"/>
              <a:buAutoNum type="alphaLcPeriod"/>
              <a:tabLst>
                <a:tab pos="365125" algn="l"/>
              </a:tabLst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symmetric?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lphaLcPeriod"/>
            </a:pPr>
            <a:endParaRPr sz="2400">
              <a:latin typeface="Arial MT"/>
              <a:cs typeface="Arial MT"/>
            </a:endParaRPr>
          </a:p>
          <a:p>
            <a:pPr marL="349250" indent="-336550">
              <a:lnSpc>
                <a:spcPct val="100000"/>
              </a:lnSpc>
              <a:buFont typeface="Arial"/>
              <a:buAutoNum type="alphaLcPeriod"/>
              <a:tabLst>
                <a:tab pos="349250" algn="l"/>
              </a:tabLst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transitive?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43870" y="2979730"/>
            <a:ext cx="2325052" cy="654294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17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2(a)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7529830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1275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R</a:t>
            </a:r>
            <a:r>
              <a:rPr dirty="0" sz="2400" spc="-40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reflexive: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reflexive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only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following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true:</a:t>
            </a:r>
            <a:endParaRPr sz="2400">
              <a:latin typeface="Arial MT"/>
              <a:cs typeface="Arial MT"/>
            </a:endParaRPr>
          </a:p>
          <a:p>
            <a:pPr algn="ctr"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x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 marR="390525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Since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just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same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as </a:t>
            </a:r>
            <a:r>
              <a:rPr dirty="0" sz="2400" spc="-10">
                <a:latin typeface="Arial MT"/>
                <a:cs typeface="Arial MT"/>
              </a:rPr>
              <a:t>saying</a:t>
            </a:r>
            <a:endParaRPr sz="2400">
              <a:latin typeface="Arial MT"/>
              <a:cs typeface="Arial MT"/>
            </a:endParaRPr>
          </a:p>
          <a:p>
            <a:pPr algn="ctr" marR="2159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x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certainly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true;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every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 </a:t>
            </a:r>
            <a:r>
              <a:rPr dirty="0" sz="2400">
                <a:latin typeface="Arial MT"/>
                <a:cs typeface="Arial MT"/>
              </a:rPr>
              <a:t>equal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itself.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2(b)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17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8034655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R</a:t>
            </a:r>
            <a:r>
              <a:rPr dirty="0" sz="2400" spc="-4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symmetric:</a:t>
            </a:r>
            <a:r>
              <a:rPr dirty="0" sz="2400" spc="-15" b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symmetric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only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following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true: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algn="ctr" marL="68135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DEE"/>
                </a:solidFill>
                <a:latin typeface="Arial MT"/>
                <a:cs typeface="Arial MT"/>
              </a:rPr>
              <a:t>if</a:t>
            </a:r>
            <a:r>
              <a:rPr dirty="0" sz="2400" spc="-2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x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14986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 of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means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symmetric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only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if,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algn="ctr" marL="59626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DEE"/>
                </a:solidFill>
                <a:latin typeface="Arial MT"/>
                <a:cs typeface="Arial MT"/>
              </a:rPr>
              <a:t>if</a:t>
            </a:r>
            <a:r>
              <a:rPr dirty="0" sz="2400" spc="-15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x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27241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certainly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true;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equal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first.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32247" y="6872737"/>
            <a:ext cx="279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 MT"/>
                <a:cs typeface="Arial MT"/>
              </a:rPr>
              <a:t>23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70915" y="495300"/>
            <a:ext cx="9054465" cy="1178560"/>
            <a:chOff x="470915" y="495300"/>
            <a:chExt cx="9054465" cy="1178560"/>
          </a:xfrm>
        </p:grpSpPr>
        <p:sp>
          <p:nvSpPr>
            <p:cNvPr id="4" name="object 4" descr=""/>
            <p:cNvSpPr/>
            <p:nvPr/>
          </p:nvSpPr>
          <p:spPr>
            <a:xfrm>
              <a:off x="761999" y="8427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0915" y="495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215" y="60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5"/>
              <a:t> </a:t>
            </a:r>
            <a:r>
              <a:rPr dirty="0"/>
              <a:t>2(c)</a:t>
            </a:r>
            <a:r>
              <a:rPr dirty="0" spc="-75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93140" y="1944117"/>
            <a:ext cx="7974330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8448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R</a:t>
            </a:r>
            <a:r>
              <a:rPr dirty="0" sz="2400" spc="-40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transitive: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only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following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true: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10680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DEE"/>
                </a:solidFill>
                <a:latin typeface="Arial MT"/>
                <a:cs typeface="Arial MT"/>
              </a:rPr>
              <a:t>if</a:t>
            </a:r>
            <a:r>
              <a:rPr dirty="0" sz="2400" spc="-5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z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 of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20">
                <a:latin typeface="Arial MT"/>
                <a:cs typeface="Arial MT"/>
              </a:rPr>
              <a:t> that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transitive</a:t>
            </a:r>
            <a:r>
              <a:rPr dirty="0" sz="2400" spc="-25">
                <a:latin typeface="Arial MT"/>
                <a:cs typeface="Arial MT"/>
              </a:rPr>
              <a:t> if,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only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following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true: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02298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DEE"/>
                </a:solidFill>
                <a:latin typeface="Arial MT"/>
                <a:cs typeface="Arial MT"/>
              </a:rPr>
              <a:t>if</a:t>
            </a:r>
            <a:r>
              <a:rPr dirty="0" sz="2400" spc="-2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z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x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z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93140" y="5967480"/>
            <a:ext cx="7604759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statement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certainly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true: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real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number </a:t>
            </a:r>
            <a:r>
              <a:rPr dirty="0" sz="2400">
                <a:latin typeface="Arial MT"/>
                <a:cs typeface="Arial MT"/>
              </a:rPr>
              <a:t>equals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second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third,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first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equals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third.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87044"/>
            <a:ext cx="7985125" cy="4679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/>
              <a:t>Example</a:t>
            </a:r>
            <a:r>
              <a:rPr dirty="0" sz="2900" spc="-40"/>
              <a:t> </a:t>
            </a:r>
            <a:r>
              <a:rPr dirty="0" sz="2900"/>
              <a:t>4</a:t>
            </a:r>
            <a:r>
              <a:rPr dirty="0" sz="2900" spc="-15"/>
              <a:t> </a:t>
            </a:r>
            <a:r>
              <a:rPr dirty="0" sz="2900"/>
              <a:t>–</a:t>
            </a:r>
            <a:r>
              <a:rPr dirty="0" sz="2900" spc="-10"/>
              <a:t> </a:t>
            </a:r>
            <a:r>
              <a:rPr dirty="0" sz="2900" i="1">
                <a:latin typeface="Arial"/>
                <a:cs typeface="Arial"/>
              </a:rPr>
              <a:t>Properties</a:t>
            </a:r>
            <a:r>
              <a:rPr dirty="0" sz="2900" spc="-55" i="1">
                <a:latin typeface="Arial"/>
                <a:cs typeface="Arial"/>
              </a:rPr>
              <a:t> </a:t>
            </a:r>
            <a:r>
              <a:rPr dirty="0" sz="2900" i="1">
                <a:latin typeface="Arial"/>
                <a:cs typeface="Arial"/>
              </a:rPr>
              <a:t>of</a:t>
            </a:r>
            <a:r>
              <a:rPr dirty="0" sz="2900" spc="-20" i="1">
                <a:latin typeface="Arial"/>
                <a:cs typeface="Arial"/>
              </a:rPr>
              <a:t> </a:t>
            </a:r>
            <a:r>
              <a:rPr dirty="0" sz="2900" i="1">
                <a:latin typeface="Arial"/>
                <a:cs typeface="Arial"/>
              </a:rPr>
              <a:t>Congruence</a:t>
            </a:r>
            <a:r>
              <a:rPr dirty="0" sz="2900" spc="-50" i="1">
                <a:latin typeface="Arial"/>
                <a:cs typeface="Arial"/>
              </a:rPr>
              <a:t> </a:t>
            </a:r>
            <a:r>
              <a:rPr dirty="0" sz="2900" i="1">
                <a:latin typeface="Arial"/>
                <a:cs typeface="Arial"/>
              </a:rPr>
              <a:t>Modulo</a:t>
            </a:r>
            <a:r>
              <a:rPr dirty="0" sz="2900" spc="-35" i="1">
                <a:latin typeface="Arial"/>
                <a:cs typeface="Arial"/>
              </a:rPr>
              <a:t> </a:t>
            </a:r>
            <a:r>
              <a:rPr dirty="0" sz="2900" spc="-50" i="1">
                <a:latin typeface="Arial"/>
                <a:cs typeface="Arial"/>
              </a:rPr>
              <a:t>3</a:t>
            </a:r>
            <a:endParaRPr sz="29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817484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Define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Z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(the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integers)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follows: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n</a:t>
            </a:r>
            <a:r>
              <a:rPr dirty="0" sz="2400" spc="-25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3772918"/>
            <a:ext cx="6207760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b="1">
                <a:latin typeface="Arial"/>
                <a:cs typeface="Arial"/>
              </a:rPr>
              <a:t>congruence</a:t>
            </a:r>
            <a:r>
              <a:rPr dirty="0" sz="2400" spc="-5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modulo</a:t>
            </a:r>
            <a:r>
              <a:rPr dirty="0" sz="2400" spc="-80" b="1">
                <a:latin typeface="Arial"/>
                <a:cs typeface="Arial"/>
              </a:rPr>
              <a:t> </a:t>
            </a:r>
            <a:r>
              <a:rPr dirty="0" sz="2400" spc="-25" b="1">
                <a:latin typeface="Arial"/>
                <a:cs typeface="Arial"/>
              </a:rPr>
              <a:t>3.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"/>
              <a:cs typeface="Arial"/>
            </a:endParaRPr>
          </a:p>
          <a:p>
            <a:pPr marL="349250" indent="-336550">
              <a:lnSpc>
                <a:spcPct val="100000"/>
              </a:lnSpc>
              <a:buFont typeface="Arial"/>
              <a:buAutoNum type="alphaLcPeriod"/>
              <a:tabLst>
                <a:tab pos="349250" algn="l"/>
              </a:tabLst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reflexive?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lphaLcPeriod"/>
            </a:pPr>
            <a:endParaRPr sz="2400">
              <a:latin typeface="Arial MT"/>
              <a:cs typeface="Arial MT"/>
            </a:endParaRPr>
          </a:p>
          <a:p>
            <a:pPr marL="365125" indent="-352425">
              <a:lnSpc>
                <a:spcPct val="100000"/>
              </a:lnSpc>
              <a:buFont typeface="Arial"/>
              <a:buAutoNum type="alphaLcPeriod"/>
              <a:tabLst>
                <a:tab pos="365125" algn="l"/>
              </a:tabLst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symmetric?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Font typeface="Arial"/>
              <a:buAutoNum type="alphaLcPeriod"/>
            </a:pPr>
            <a:endParaRPr sz="2400">
              <a:latin typeface="Arial MT"/>
              <a:cs typeface="Arial MT"/>
            </a:endParaRPr>
          </a:p>
          <a:p>
            <a:pPr marL="349250" indent="-336550">
              <a:lnSpc>
                <a:spcPct val="100000"/>
              </a:lnSpc>
              <a:buFont typeface="Arial"/>
              <a:buAutoNum type="alphaLcPeriod"/>
              <a:tabLst>
                <a:tab pos="349250" algn="l"/>
              </a:tabLst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transitive?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6665" y="2829953"/>
            <a:ext cx="3229907" cy="745055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dirty="0" spc="-25"/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4(a)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8037830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T</a:t>
            </a:r>
            <a:r>
              <a:rPr dirty="0" sz="2400" spc="-5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reflexive: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reflexive,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necessary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4664" y="2568958"/>
            <a:ext cx="4531360" cy="1671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439670">
              <a:lnSpc>
                <a:spcPct val="15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Arial"/>
                <a:cs typeface="Arial"/>
              </a:rPr>
              <a:t>Z</a:t>
            </a:r>
            <a:r>
              <a:rPr dirty="0" sz="2400" spc="-25">
                <a:latin typeface="Arial MT"/>
                <a:cs typeface="Arial MT"/>
              </a:rPr>
              <a:t>,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marL="245237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Arial"/>
                <a:cs typeface="Arial"/>
              </a:rPr>
              <a:t>Z</a:t>
            </a:r>
            <a:r>
              <a:rPr dirty="0" sz="2400" spc="-25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865372" y="2751838"/>
            <a:ext cx="9702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spc="-25" i="1">
                <a:latin typeface="Arial"/>
                <a:cs typeface="Arial"/>
              </a:rPr>
              <a:t>m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50716" y="3849118"/>
            <a:ext cx="15735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m</a:t>
            </a:r>
            <a:r>
              <a:rPr dirty="0" sz="2400" spc="-25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4664" y="4184399"/>
            <a:ext cx="7635875" cy="1549400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  <a:tabLst>
                <a:tab pos="3351529" algn="l"/>
                <a:tab pos="5530850" algn="l"/>
              </a:tabLst>
            </a:pPr>
            <a:r>
              <a:rPr dirty="0" sz="2400">
                <a:latin typeface="Arial MT"/>
                <a:cs typeface="Arial MT"/>
              </a:rPr>
              <a:t>Or,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since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5">
                <a:latin typeface="Arial MT"/>
                <a:cs typeface="Arial MT"/>
              </a:rPr>
              <a:t> 0,</a:t>
            </a:r>
            <a:r>
              <a:rPr dirty="0" sz="2400">
                <a:latin typeface="Arial MT"/>
                <a:cs typeface="Arial MT"/>
              </a:rPr>
              <a:t>	For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Arial"/>
                <a:cs typeface="Arial"/>
              </a:rPr>
              <a:t>Z</a:t>
            </a:r>
            <a:r>
              <a:rPr dirty="0" sz="2400" spc="-25">
                <a:latin typeface="Arial MT"/>
                <a:cs typeface="Arial MT"/>
              </a:rPr>
              <a:t>,</a:t>
            </a:r>
            <a:r>
              <a:rPr dirty="0" sz="2400">
                <a:latin typeface="Arial MT"/>
                <a:cs typeface="Arial MT"/>
              </a:rPr>
              <a:t>	3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0.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true: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since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000" spc="-780" b="1">
                <a:latin typeface="Arial"/>
                <a:cs typeface="Arial"/>
              </a:rPr>
              <a:t>🞄</a:t>
            </a:r>
            <a:r>
              <a:rPr dirty="0" sz="2000" spc="10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0.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reflexive.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reasoning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formalized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following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proof.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615" y="5880998"/>
            <a:ext cx="7840007" cy="1061231"/>
          </a:xfrm>
          <a:prstGeom prst="rect">
            <a:avLst/>
          </a:prstGeom>
        </p:spPr>
      </p:pic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dirty="0" spc="-25"/>
              <a:t>24</a:t>
            </a:fld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4(b)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9370">
              <a:lnSpc>
                <a:spcPts val="1850"/>
              </a:lnSpc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7827645" cy="4841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068705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T</a:t>
            </a:r>
            <a:r>
              <a:rPr dirty="0" sz="2400" spc="-5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symmetric:</a:t>
            </a:r>
            <a:r>
              <a:rPr dirty="0" sz="2400" spc="-15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symmetric,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is </a:t>
            </a:r>
            <a:r>
              <a:rPr dirty="0" sz="2400">
                <a:latin typeface="Arial MT"/>
                <a:cs typeface="Arial MT"/>
              </a:rPr>
              <a:t>necessary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algn="ctr" marL="548640">
              <a:lnSpc>
                <a:spcPct val="100000"/>
              </a:lnSpc>
              <a:spcBef>
                <a:spcPts val="2400"/>
              </a:spcBef>
              <a:tabLst>
                <a:tab pos="2897505" algn="l"/>
              </a:tabLst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Arial"/>
                <a:cs typeface="Arial"/>
              </a:rPr>
              <a:t>Z</a:t>
            </a:r>
            <a:r>
              <a:rPr dirty="0" sz="2400" spc="-25">
                <a:latin typeface="Arial MT"/>
                <a:cs typeface="Arial MT"/>
              </a:rPr>
              <a:t>,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>
                <a:solidFill>
                  <a:srgbClr val="00ADEE"/>
                </a:solidFill>
                <a:latin typeface="Arial MT"/>
                <a:cs typeface="Arial MT"/>
              </a:rPr>
              <a:t>if</a:t>
            </a:r>
            <a:r>
              <a:rPr dirty="0" sz="2400" spc="-35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25" i="1">
                <a:latin typeface="Arial"/>
                <a:cs typeface="Arial"/>
              </a:rPr>
              <a:t> m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algn="ctr" marL="666115">
              <a:lnSpc>
                <a:spcPct val="100000"/>
              </a:lnSpc>
              <a:spcBef>
                <a:spcPts val="240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Z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DEE"/>
                </a:solidFill>
                <a:latin typeface="Arial MT"/>
                <a:cs typeface="Arial MT"/>
              </a:rPr>
              <a:t>if</a:t>
            </a:r>
            <a:r>
              <a:rPr dirty="0" sz="2400" spc="-10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m</a:t>
            </a:r>
            <a:r>
              <a:rPr dirty="0" sz="2400" spc="-25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 marL="12700" marR="46355">
              <a:lnSpc>
                <a:spcPct val="100000"/>
              </a:lnSpc>
              <a:spcBef>
                <a:spcPts val="2400"/>
              </a:spcBef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true?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Suppose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particular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arbitrarily </a:t>
            </a:r>
            <a:r>
              <a:rPr dirty="0" sz="2400">
                <a:latin typeface="Arial MT"/>
                <a:cs typeface="Arial MT"/>
              </a:rPr>
              <a:t>chosen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n</a:t>
            </a:r>
            <a:r>
              <a:rPr dirty="0" sz="2400" spc="-25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2400"/>
              </a:spcBef>
            </a:pP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>
                <a:latin typeface="Arial MT"/>
                <a:cs typeface="Arial MT"/>
              </a:rPr>
              <a:t>)?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[In</a:t>
            </a:r>
            <a:r>
              <a:rPr dirty="0" sz="2400" spc="-6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other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words,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can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we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spc="-20" i="1">
                <a:latin typeface="Arial"/>
                <a:cs typeface="Arial"/>
              </a:rPr>
              <a:t>find </a:t>
            </a:r>
            <a:r>
              <a:rPr dirty="0" sz="2400" i="1">
                <a:latin typeface="Arial"/>
                <a:cs typeface="Arial"/>
              </a:rPr>
              <a:t>an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integer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so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000" spc="-780" b="1">
                <a:latin typeface="Arial"/>
                <a:cs typeface="Arial"/>
              </a:rPr>
              <a:t>🞄</a:t>
            </a:r>
            <a:r>
              <a:rPr dirty="0" sz="2000" spc="100" b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(that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integer)?]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4(b)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27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7923530" cy="478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378587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“divides,”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since</a:t>
            </a:r>
            <a:endParaRPr sz="2400">
              <a:latin typeface="Arial MT"/>
              <a:cs typeface="Arial MT"/>
            </a:endParaRPr>
          </a:p>
          <a:p>
            <a:pPr algn="r" marR="3826510">
              <a:lnSpc>
                <a:spcPct val="100000"/>
              </a:lnSpc>
              <a:spcBef>
                <a:spcPts val="1920"/>
              </a:spcBef>
            </a:pP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n</a:t>
            </a:r>
            <a:r>
              <a:rPr dirty="0" sz="2400" spc="-25">
                <a:latin typeface="Arial MT"/>
                <a:cs typeface="Arial MT"/>
              </a:rPr>
              <a:t>),</a:t>
            </a:r>
            <a:endParaRPr sz="2400">
              <a:latin typeface="Arial MT"/>
              <a:cs typeface="Arial MT"/>
            </a:endParaRPr>
          </a:p>
          <a:p>
            <a:pPr marL="12700" indent="505459">
              <a:lnSpc>
                <a:spcPct val="100000"/>
              </a:lnSpc>
              <a:spcBef>
                <a:spcPts val="1920"/>
              </a:spcBef>
              <a:tabLst>
                <a:tab pos="2540635" algn="l"/>
                <a:tab pos="4980305" algn="l"/>
              </a:tabLst>
            </a:pPr>
            <a:r>
              <a:rPr dirty="0" sz="2400" spc="-20">
                <a:latin typeface="Arial MT"/>
                <a:cs typeface="Arial MT"/>
              </a:rPr>
              <a:t>then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3</a:t>
            </a:r>
            <a:r>
              <a:rPr dirty="0" sz="2400" spc="-25" i="1">
                <a:latin typeface="Arial"/>
                <a:cs typeface="Arial"/>
              </a:rPr>
              <a:t>k</a:t>
            </a:r>
            <a:r>
              <a:rPr dirty="0" sz="2400" i="1">
                <a:latin typeface="Arial"/>
                <a:cs typeface="Arial"/>
              </a:rPr>
              <a:t>	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k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192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crucial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observation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).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Hence, </a:t>
            </a:r>
            <a:r>
              <a:rPr dirty="0" sz="2400">
                <a:latin typeface="Arial MT"/>
                <a:cs typeface="Arial MT"/>
              </a:rPr>
              <a:t>you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multiply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both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sides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–1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obtain</a:t>
            </a:r>
            <a:endParaRPr sz="2400">
              <a:latin typeface="Arial MT"/>
              <a:cs typeface="Arial MT"/>
            </a:endParaRPr>
          </a:p>
          <a:p>
            <a:pPr algn="ctr" marR="110489">
              <a:lnSpc>
                <a:spcPct val="100000"/>
              </a:lnSpc>
              <a:spcBef>
                <a:spcPts val="1920"/>
              </a:spcBef>
            </a:pPr>
            <a:r>
              <a:rPr dirty="0" sz="2400">
                <a:latin typeface="Arial MT"/>
                <a:cs typeface="Arial MT"/>
              </a:rPr>
              <a:t>–(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–3</a:t>
            </a:r>
            <a:r>
              <a:rPr dirty="0" sz="2400" spc="-20" i="1">
                <a:latin typeface="Arial"/>
                <a:cs typeface="Arial"/>
              </a:rPr>
              <a:t>k</a:t>
            </a:r>
            <a:r>
              <a:rPr dirty="0" sz="2400" spc="-2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  <a:tabLst>
                <a:tab pos="3250565" algn="l"/>
              </a:tabLst>
            </a:pP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equivalent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to</a:t>
            </a: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3(–</a:t>
            </a:r>
            <a:r>
              <a:rPr dirty="0" sz="2400" spc="-10" i="1">
                <a:latin typeface="Arial"/>
                <a:cs typeface="Arial"/>
              </a:rPr>
              <a:t>k</a:t>
            </a:r>
            <a:r>
              <a:rPr dirty="0" sz="2400" spc="-10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 marL="12700" marR="988694">
              <a:lnSpc>
                <a:spcPct val="100000"/>
              </a:lnSpc>
              <a:spcBef>
                <a:spcPts val="1920"/>
              </a:spcBef>
            </a:pPr>
            <a:r>
              <a:rPr dirty="0" sz="2400" i="1">
                <a:latin typeface="Arial"/>
                <a:cs typeface="Arial"/>
              </a:rPr>
              <a:t>[Thus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we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have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found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integer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namely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so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spc="-20" i="1">
                <a:latin typeface="Arial"/>
                <a:cs typeface="Arial"/>
              </a:rPr>
              <a:t>that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000" spc="-780" b="1">
                <a:latin typeface="Arial"/>
                <a:cs typeface="Arial"/>
              </a:rPr>
              <a:t>🞄</a:t>
            </a:r>
            <a:r>
              <a:rPr dirty="0" sz="2000" spc="10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integer</a:t>
            </a:r>
            <a:r>
              <a:rPr dirty="0" sz="2400" spc="-10">
                <a:latin typeface="Arial MT"/>
                <a:cs typeface="Arial MT"/>
              </a:rPr>
              <a:t>).</a:t>
            </a:r>
            <a:r>
              <a:rPr dirty="0" sz="2400" spc="-10" i="1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60"/>
              <a:t> </a:t>
            </a:r>
            <a:r>
              <a:rPr dirty="0"/>
              <a:t>4(b)</a:t>
            </a:r>
            <a:r>
              <a:rPr dirty="0" spc="-70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761237"/>
            <a:ext cx="6741159" cy="240284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dirty="0" sz="2400">
                <a:latin typeface="Arial MT"/>
                <a:cs typeface="Arial MT"/>
              </a:rPr>
              <a:t>Since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i="1">
                <a:latin typeface="Arial"/>
                <a:cs typeface="Arial"/>
              </a:rPr>
              <a:t>k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algn="ctr" marR="27305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m</a:t>
            </a:r>
            <a:r>
              <a:rPr dirty="0" sz="2400" spc="-25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symmetric.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reasoning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formalized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following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proof.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6975" y="4425980"/>
            <a:ext cx="7520380" cy="1800798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27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32247" y="6872737"/>
            <a:ext cx="2794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 MT"/>
                <a:cs typeface="Arial MT"/>
              </a:rPr>
              <a:t>29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70915" y="495300"/>
            <a:ext cx="9054465" cy="1178560"/>
            <a:chOff x="470915" y="495300"/>
            <a:chExt cx="9054465" cy="1178560"/>
          </a:xfrm>
        </p:grpSpPr>
        <p:sp>
          <p:nvSpPr>
            <p:cNvPr id="4" name="object 4" descr=""/>
            <p:cNvSpPr/>
            <p:nvPr/>
          </p:nvSpPr>
          <p:spPr>
            <a:xfrm>
              <a:off x="761999" y="842771"/>
              <a:ext cx="8763000" cy="830580"/>
            </a:xfrm>
            <a:custGeom>
              <a:avLst/>
              <a:gdLst/>
              <a:ahLst/>
              <a:cxnLst/>
              <a:rect l="l" t="t" r="r" b="b"/>
              <a:pathLst>
                <a:path w="8763000" h="830580">
                  <a:moveTo>
                    <a:pt x="8762999" y="830579"/>
                  </a:moveTo>
                  <a:lnTo>
                    <a:pt x="8762999" y="0"/>
                  </a:lnTo>
                  <a:lnTo>
                    <a:pt x="0" y="0"/>
                  </a:lnTo>
                  <a:lnTo>
                    <a:pt x="0" y="830579"/>
                  </a:lnTo>
                  <a:lnTo>
                    <a:pt x="8762999" y="83057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0915" y="495300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609599" y="304799"/>
                  </a:moveTo>
                  <a:lnTo>
                    <a:pt x="304799" y="0"/>
                  </a:lnTo>
                  <a:lnTo>
                    <a:pt x="0" y="304799"/>
                  </a:lnTo>
                  <a:lnTo>
                    <a:pt x="304799" y="609599"/>
                  </a:lnTo>
                  <a:lnTo>
                    <a:pt x="609599" y="304799"/>
                  </a:lnTo>
                  <a:close/>
                </a:path>
              </a:pathLst>
            </a:custGeom>
            <a:solidFill>
              <a:srgbClr val="CBDB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85215" y="60960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80999" y="190499"/>
                  </a:moveTo>
                  <a:lnTo>
                    <a:pt x="190499" y="0"/>
                  </a:lnTo>
                  <a:lnTo>
                    <a:pt x="0" y="190499"/>
                  </a:lnTo>
                  <a:lnTo>
                    <a:pt x="190499" y="380999"/>
                  </a:lnTo>
                  <a:lnTo>
                    <a:pt x="380999" y="190499"/>
                  </a:lnTo>
                  <a:close/>
                </a:path>
              </a:pathLst>
            </a:custGeom>
            <a:solidFill>
              <a:srgbClr val="15659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5"/>
              <a:t> </a:t>
            </a:r>
            <a:r>
              <a:rPr dirty="0"/>
              <a:t>4(c)</a:t>
            </a:r>
            <a:r>
              <a:rPr dirty="0" spc="-75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993140" y="1944117"/>
            <a:ext cx="8038465" cy="4170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4605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latin typeface="Arial"/>
                <a:cs typeface="Arial"/>
              </a:rPr>
              <a:t>T</a:t>
            </a:r>
            <a:r>
              <a:rPr dirty="0" sz="2400" spc="-45" b="1" i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is</a:t>
            </a:r>
            <a:r>
              <a:rPr dirty="0" sz="2400" spc="-45" b="1">
                <a:latin typeface="Arial"/>
                <a:cs typeface="Arial"/>
              </a:rPr>
              <a:t> </a:t>
            </a:r>
            <a:r>
              <a:rPr dirty="0" sz="2400" b="1">
                <a:latin typeface="Arial"/>
                <a:cs typeface="Arial"/>
              </a:rPr>
              <a:t>transitive:</a:t>
            </a:r>
            <a:r>
              <a:rPr dirty="0" sz="2400" spc="-5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transitive,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necessary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marL="769620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0">
                <a:latin typeface="Times New Roman"/>
                <a:cs typeface="Times New Roman"/>
              </a:rPr>
              <a:t> </a:t>
            </a:r>
            <a:r>
              <a:rPr dirty="0" sz="2400" b="1">
                <a:latin typeface="Arial"/>
                <a:cs typeface="Arial"/>
              </a:rPr>
              <a:t>Z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solidFill>
                  <a:srgbClr val="00ADEE"/>
                </a:solidFill>
                <a:latin typeface="Arial MT"/>
                <a:cs typeface="Arial MT"/>
              </a:rPr>
              <a:t>if</a:t>
            </a:r>
            <a:r>
              <a:rPr dirty="0" sz="2400" spc="-25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spc="-35" i="1">
                <a:latin typeface="Arial"/>
                <a:cs typeface="Arial"/>
              </a:rPr>
              <a:t>p</a:t>
            </a:r>
            <a:r>
              <a:rPr dirty="0" sz="2400" spc="-3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769620" marR="3595370" indent="-757555">
              <a:lnSpc>
                <a:spcPct val="158300"/>
              </a:lnSpc>
            </a:pP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means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all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0">
                <a:latin typeface="Times New Roman"/>
                <a:cs typeface="Times New Roman"/>
              </a:rPr>
              <a:t> </a:t>
            </a:r>
            <a:r>
              <a:rPr dirty="0" sz="2400" spc="-25" b="1">
                <a:latin typeface="Arial"/>
                <a:cs typeface="Arial"/>
              </a:rPr>
              <a:t>Z</a:t>
            </a:r>
            <a:r>
              <a:rPr dirty="0" sz="2400" spc="-25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2200910">
              <a:lnSpc>
                <a:spcPct val="100000"/>
              </a:lnSpc>
            </a:pPr>
            <a:r>
              <a:rPr dirty="0" sz="2400">
                <a:solidFill>
                  <a:srgbClr val="00ADEE"/>
                </a:solidFill>
                <a:latin typeface="Arial MT"/>
                <a:cs typeface="Arial MT"/>
              </a:rPr>
              <a:t>if</a:t>
            </a:r>
            <a:r>
              <a:rPr dirty="0" sz="2400" spc="-25">
                <a:solidFill>
                  <a:srgbClr val="00ADEE"/>
                </a:solidFill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p</a:t>
            </a:r>
            <a:r>
              <a:rPr dirty="0" sz="2400" spc="-25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 algn="just" marL="12700" marR="1143635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true?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Suppose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particular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but </a:t>
            </a:r>
            <a:r>
              <a:rPr dirty="0" sz="2400">
                <a:latin typeface="Arial MT"/>
                <a:cs typeface="Arial MT"/>
              </a:rPr>
              <a:t>arbitrarily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chosen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such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and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p</a:t>
            </a:r>
            <a:r>
              <a:rPr dirty="0" sz="2400" spc="-25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93140" y="6302761"/>
            <a:ext cx="782764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)?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[In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other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words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can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we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spc="-20" i="1">
                <a:latin typeface="Arial"/>
                <a:cs typeface="Arial"/>
              </a:rPr>
              <a:t>find </a:t>
            </a:r>
            <a:r>
              <a:rPr dirty="0" sz="2400" i="1">
                <a:latin typeface="Arial"/>
                <a:cs typeface="Arial"/>
              </a:rPr>
              <a:t>an</a:t>
            </a:r>
            <a:r>
              <a:rPr dirty="0" sz="2400" spc="-5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integer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so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000" spc="-780" b="1">
                <a:latin typeface="Arial"/>
                <a:cs typeface="Arial"/>
              </a:rPr>
              <a:t>🞄</a:t>
            </a:r>
            <a:r>
              <a:rPr dirty="0" sz="2000" spc="100" b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spc="-10" i="1">
                <a:latin typeface="Arial"/>
                <a:cs typeface="Arial"/>
              </a:rPr>
              <a:t>integer</a:t>
            </a:r>
            <a:r>
              <a:rPr dirty="0" sz="2400" spc="-10">
                <a:latin typeface="Arial MT"/>
                <a:cs typeface="Arial MT"/>
              </a:rPr>
              <a:t>)</a:t>
            </a:r>
            <a:r>
              <a:rPr dirty="0" sz="2400" spc="-10" i="1">
                <a:latin typeface="Arial"/>
                <a:cs typeface="Arial"/>
              </a:rPr>
              <a:t>?]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5"/>
              <a:t> </a:t>
            </a:r>
            <a:r>
              <a:rPr dirty="0"/>
              <a:t>4(c)</a:t>
            </a:r>
            <a:r>
              <a:rPr dirty="0" spc="-75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776477"/>
            <a:ext cx="5321300" cy="109220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“divides,”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since</a:t>
            </a:r>
            <a:endParaRPr sz="2400">
              <a:latin typeface="Arial MT"/>
              <a:cs typeface="Arial MT"/>
            </a:endParaRPr>
          </a:p>
          <a:p>
            <a:pPr marL="1864360">
              <a:lnSpc>
                <a:spcPct val="100000"/>
              </a:lnSpc>
              <a:spcBef>
                <a:spcPts val="1320"/>
              </a:spcBef>
            </a:pP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p</a:t>
            </a:r>
            <a:r>
              <a:rPr dirty="0" sz="2400" spc="-25">
                <a:latin typeface="Arial MT"/>
                <a:cs typeface="Arial MT"/>
              </a:rPr>
              <a:t>),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93140" y="2843278"/>
            <a:ext cx="619125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5800"/>
              </a:lnSpc>
              <a:spcBef>
                <a:spcPts val="100"/>
              </a:spcBef>
            </a:pPr>
            <a:r>
              <a:rPr dirty="0" sz="2400" spc="-20">
                <a:latin typeface="Arial MT"/>
                <a:cs typeface="Arial MT"/>
              </a:rPr>
              <a:t>then </a:t>
            </a:r>
            <a:r>
              <a:rPr dirty="0" sz="2400" spc="-25">
                <a:latin typeface="Arial MT"/>
                <a:cs typeface="Arial MT"/>
              </a:rPr>
              <a:t>and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428750" y="2843278"/>
            <a:ext cx="1404620" cy="109220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3</a:t>
            </a:r>
            <a:r>
              <a:rPr dirty="0" sz="2400" spc="-25" i="1">
                <a:latin typeface="Arial"/>
                <a:cs typeface="Arial"/>
              </a:rPr>
              <a:t>r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 spc="-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3</a:t>
            </a:r>
            <a:r>
              <a:rPr dirty="0" sz="2400" spc="-25" i="1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617215" y="2843278"/>
            <a:ext cx="2548890" cy="1092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3020">
              <a:lnSpc>
                <a:spcPct val="1458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r</a:t>
            </a:r>
            <a:r>
              <a:rPr dirty="0" sz="2400" spc="-25">
                <a:latin typeface="Arial MT"/>
                <a:cs typeface="Arial MT"/>
              </a:rPr>
              <a:t>, </a:t>
            </a: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some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s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93140" y="3925319"/>
            <a:ext cx="7546340" cy="2860040"/>
          </a:xfrm>
          <a:prstGeom prst="rect">
            <a:avLst/>
          </a:prstGeom>
        </p:spPr>
        <p:txBody>
          <a:bodyPr wrap="square" lIns="0" tIns="1651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0"/>
              </a:spcBef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crucial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observation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p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dirty="0" sz="2400">
                <a:latin typeface="Arial MT"/>
                <a:cs typeface="Arial MT"/>
              </a:rPr>
              <a:t>Add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these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two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equations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together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obtain</a:t>
            </a:r>
            <a:endParaRPr sz="2400">
              <a:latin typeface="Arial MT"/>
              <a:cs typeface="Arial MT"/>
            </a:endParaRPr>
          </a:p>
          <a:p>
            <a:pPr marL="12700" marR="2196465" indent="1765935">
              <a:lnSpc>
                <a:spcPct val="145800"/>
              </a:lnSpc>
            </a:pP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n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>
                <a:latin typeface="Arial MT"/>
                <a:cs typeface="Arial MT"/>
              </a:rPr>
              <a:t>)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25">
                <a:latin typeface="Arial MT"/>
                <a:cs typeface="Arial MT"/>
              </a:rPr>
              <a:t> 3</a:t>
            </a:r>
            <a:r>
              <a:rPr dirty="0" sz="2400" spc="-25" i="1">
                <a:latin typeface="Arial"/>
                <a:cs typeface="Arial"/>
              </a:rPr>
              <a:t>s</a:t>
            </a:r>
            <a:r>
              <a:rPr dirty="0" sz="2400" spc="-25">
                <a:latin typeface="Arial MT"/>
                <a:cs typeface="Arial MT"/>
              </a:rPr>
              <a:t>, </a:t>
            </a:r>
            <a:r>
              <a:rPr dirty="0" sz="2400">
                <a:latin typeface="Arial MT"/>
                <a:cs typeface="Arial MT"/>
              </a:rPr>
              <a:t>which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equivalent to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3(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s</a:t>
            </a:r>
            <a:r>
              <a:rPr dirty="0" sz="2400" spc="-25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 marL="12700" marR="21590">
              <a:lnSpc>
                <a:spcPct val="100000"/>
              </a:lnSpc>
            </a:pPr>
            <a:r>
              <a:rPr dirty="0" sz="2400" i="1">
                <a:latin typeface="Arial"/>
                <a:cs typeface="Arial"/>
              </a:rPr>
              <a:t>[Thus</a:t>
            </a:r>
            <a:r>
              <a:rPr dirty="0" sz="2400" spc="-7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we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have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found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an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integer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so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that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p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000" spc="-780" b="1">
                <a:latin typeface="Arial"/>
                <a:cs typeface="Arial"/>
              </a:rPr>
              <a:t>🞄</a:t>
            </a:r>
            <a:r>
              <a:rPr dirty="0" sz="2000" spc="110" b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(</a:t>
            </a:r>
            <a:r>
              <a:rPr dirty="0" sz="2400" spc="-10" i="1">
                <a:latin typeface="Arial"/>
                <a:cs typeface="Arial"/>
              </a:rPr>
              <a:t>that integer</a:t>
            </a:r>
            <a:r>
              <a:rPr dirty="0" sz="2400" spc="-10">
                <a:latin typeface="Arial MT"/>
                <a:cs typeface="Arial MT"/>
              </a:rPr>
              <a:t>).</a:t>
            </a:r>
            <a:r>
              <a:rPr dirty="0" sz="2400" spc="-10" i="1">
                <a:latin typeface="Arial"/>
                <a:cs typeface="Arial"/>
              </a:rPr>
              <a:t>]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826506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55"/>
              <a:t> </a:t>
            </a:r>
            <a:r>
              <a:rPr dirty="0"/>
              <a:t>4(c)</a:t>
            </a:r>
            <a:r>
              <a:rPr dirty="0" spc="-75"/>
              <a:t> </a:t>
            </a:r>
            <a:r>
              <a:rPr dirty="0"/>
              <a:t>–</a:t>
            </a:r>
            <a:r>
              <a:rPr dirty="0" spc="-8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115175" cy="2585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Since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integers,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+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s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integer.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So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this </a:t>
            </a:r>
            <a:r>
              <a:rPr dirty="0" sz="2400">
                <a:latin typeface="Arial MT"/>
                <a:cs typeface="Arial MT"/>
              </a:rPr>
              <a:t>equation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shows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that</a:t>
            </a:r>
            <a:endParaRPr sz="2400">
              <a:latin typeface="Arial MT"/>
              <a:cs typeface="Arial MT"/>
            </a:endParaRPr>
          </a:p>
          <a:p>
            <a:pPr marL="312610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3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|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</a:t>
            </a:r>
            <a:r>
              <a:rPr dirty="0" sz="2400" i="1">
                <a:latin typeface="Arial"/>
                <a:cs typeface="Arial"/>
              </a:rPr>
              <a:t>m</a:t>
            </a:r>
            <a:r>
              <a:rPr dirty="0" sz="2400" spc="-3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–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p</a:t>
            </a:r>
            <a:r>
              <a:rPr dirty="0" sz="2400" spc="-25">
                <a:latin typeface="Arial MT"/>
                <a:cs typeface="Arial MT"/>
              </a:rPr>
              <a:t>).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T</a:t>
            </a:r>
            <a:r>
              <a:rPr dirty="0" sz="2400" spc="-3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reasoning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formalized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following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proof.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52" y="4725791"/>
            <a:ext cx="7719196" cy="2128878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093" y="3753106"/>
            <a:ext cx="6096000" cy="12446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117090" marR="5080" indent="-210502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ADEE"/>
                </a:solidFill>
              </a:rPr>
              <a:t>The</a:t>
            </a:r>
            <a:r>
              <a:rPr dirty="0" spc="-170">
                <a:solidFill>
                  <a:srgbClr val="00ADEE"/>
                </a:solidFill>
              </a:rPr>
              <a:t> </a:t>
            </a:r>
            <a:r>
              <a:rPr dirty="0" spc="-10">
                <a:solidFill>
                  <a:srgbClr val="00ADEE"/>
                </a:solidFill>
              </a:rPr>
              <a:t>Transitive</a:t>
            </a:r>
            <a:r>
              <a:rPr dirty="0" spc="-110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Closure</a:t>
            </a:r>
            <a:r>
              <a:rPr dirty="0" spc="-105">
                <a:solidFill>
                  <a:srgbClr val="00ADEE"/>
                </a:solidFill>
              </a:rPr>
              <a:t> </a:t>
            </a:r>
            <a:r>
              <a:rPr dirty="0">
                <a:solidFill>
                  <a:srgbClr val="00ADEE"/>
                </a:solidFill>
              </a:rPr>
              <a:t>of</a:t>
            </a:r>
            <a:r>
              <a:rPr dirty="0" spc="-105">
                <a:solidFill>
                  <a:srgbClr val="00ADEE"/>
                </a:solidFill>
              </a:rPr>
              <a:t> </a:t>
            </a:r>
            <a:r>
              <a:rPr dirty="0" spc="-50">
                <a:solidFill>
                  <a:srgbClr val="00ADEE"/>
                </a:solidFill>
              </a:rPr>
              <a:t>a </a:t>
            </a:r>
            <a:r>
              <a:rPr dirty="0" spc="-10">
                <a:solidFill>
                  <a:srgbClr val="00ADEE"/>
                </a:solidFill>
              </a:rPr>
              <a:t>Relation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/>
              <a:t>The</a:t>
            </a:r>
            <a:r>
              <a:rPr dirty="0" sz="3900" spc="-55"/>
              <a:t> </a:t>
            </a:r>
            <a:r>
              <a:rPr dirty="0" sz="3900"/>
              <a:t>Transitive</a:t>
            </a:r>
            <a:r>
              <a:rPr dirty="0" sz="3900" spc="-55"/>
              <a:t> </a:t>
            </a:r>
            <a:r>
              <a:rPr dirty="0" sz="3900"/>
              <a:t>Closure</a:t>
            </a:r>
            <a:r>
              <a:rPr dirty="0" sz="3900" spc="-55"/>
              <a:t> </a:t>
            </a:r>
            <a:r>
              <a:rPr dirty="0" sz="3900"/>
              <a:t>of</a:t>
            </a:r>
            <a:r>
              <a:rPr dirty="0" sz="3900" spc="-60"/>
              <a:t> </a:t>
            </a:r>
            <a:r>
              <a:rPr dirty="0" sz="3900"/>
              <a:t>a</a:t>
            </a:r>
            <a:r>
              <a:rPr dirty="0" sz="3900" spc="-55"/>
              <a:t> </a:t>
            </a:r>
            <a:r>
              <a:rPr dirty="0" sz="3900" spc="-10"/>
              <a:t>Relation</a:t>
            </a:r>
            <a:endParaRPr sz="39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993140" y="1944117"/>
            <a:ext cx="8028940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191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Generally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speaking,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fails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because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fails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contain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certain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ordered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pairs.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4508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For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example,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(3,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4)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pair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4)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must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if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be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1079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obtain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transitive, </a:t>
            </a:r>
            <a:r>
              <a:rPr dirty="0" sz="2400">
                <a:latin typeface="Arial MT"/>
                <a:cs typeface="Arial MT"/>
              </a:rPr>
              <a:t>it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necessary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ordered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pairs.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Roughly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speaking,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obtained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adding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least </a:t>
            </a:r>
            <a:r>
              <a:rPr dirty="0" sz="2400">
                <a:latin typeface="Arial MT"/>
                <a:cs typeface="Arial MT"/>
              </a:rPr>
              <a:t>number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ordered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pairs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ensure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transitivity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called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 i="1">
                <a:latin typeface="Arial"/>
                <a:cs typeface="Arial"/>
              </a:rPr>
              <a:t>transitive</a:t>
            </a:r>
            <a:r>
              <a:rPr dirty="0" sz="2400" spc="-6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closure</a:t>
            </a:r>
            <a:r>
              <a:rPr dirty="0" sz="2400" spc="-5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relation.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900"/>
              <a:t>The</a:t>
            </a:r>
            <a:r>
              <a:rPr dirty="0" sz="3900" spc="-55"/>
              <a:t> </a:t>
            </a:r>
            <a:r>
              <a:rPr dirty="0" sz="3900"/>
              <a:t>Transitive</a:t>
            </a:r>
            <a:r>
              <a:rPr dirty="0" sz="3900" spc="-55"/>
              <a:t> </a:t>
            </a:r>
            <a:r>
              <a:rPr dirty="0" sz="3900"/>
              <a:t>Closure</a:t>
            </a:r>
            <a:r>
              <a:rPr dirty="0" sz="3900" spc="-55"/>
              <a:t> </a:t>
            </a:r>
            <a:r>
              <a:rPr dirty="0" sz="3900"/>
              <a:t>of</a:t>
            </a:r>
            <a:r>
              <a:rPr dirty="0" sz="3900" spc="-60"/>
              <a:t> </a:t>
            </a:r>
            <a:r>
              <a:rPr dirty="0" sz="3900"/>
              <a:t>a</a:t>
            </a:r>
            <a:r>
              <a:rPr dirty="0" sz="3900" spc="-55"/>
              <a:t> </a:t>
            </a:r>
            <a:r>
              <a:rPr dirty="0" sz="3900" spc="-10"/>
              <a:t>Relation</a:t>
            </a:r>
            <a:endParaRPr sz="3900"/>
          </a:p>
        </p:txBody>
      </p:sp>
      <p:sp>
        <p:nvSpPr>
          <p:cNvPr id="3" name="object 3" descr=""/>
          <p:cNvSpPr txBox="1"/>
          <p:nvPr/>
        </p:nvSpPr>
        <p:spPr>
          <a:xfrm>
            <a:off x="994664" y="1944117"/>
            <a:ext cx="731202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sense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made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precise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by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formal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definition,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the </a:t>
            </a:r>
            <a:r>
              <a:rPr dirty="0" sz="2400">
                <a:latin typeface="Arial MT"/>
                <a:cs typeface="Arial MT"/>
              </a:rPr>
              <a:t>transitive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closure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smallest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transitive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contains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relation.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3752" y="3412235"/>
            <a:ext cx="7798307" cy="232867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4456" y="962660"/>
            <a:ext cx="8056245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/>
              <a:t>Example</a:t>
            </a:r>
            <a:r>
              <a:rPr dirty="0" sz="3200" spc="-40"/>
              <a:t> </a:t>
            </a:r>
            <a:r>
              <a:rPr dirty="0" sz="3200"/>
              <a:t>5</a:t>
            </a:r>
            <a:r>
              <a:rPr dirty="0" sz="3200" spc="-30"/>
              <a:t> </a:t>
            </a:r>
            <a:r>
              <a:rPr dirty="0" sz="3200"/>
              <a:t>–</a:t>
            </a:r>
            <a:r>
              <a:rPr dirty="0" sz="3200" spc="-35"/>
              <a:t> </a:t>
            </a:r>
            <a:r>
              <a:rPr dirty="0" sz="3200" i="1">
                <a:latin typeface="Arial"/>
                <a:cs typeface="Arial"/>
              </a:rPr>
              <a:t>Transitive</a:t>
            </a:r>
            <a:r>
              <a:rPr dirty="0" sz="3200" spc="-5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Closure</a:t>
            </a:r>
            <a:r>
              <a:rPr dirty="0" sz="3200" spc="-4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of</a:t>
            </a:r>
            <a:r>
              <a:rPr dirty="0" sz="3200" spc="-2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a</a:t>
            </a:r>
            <a:r>
              <a:rPr dirty="0" sz="3200" spc="-30" i="1">
                <a:latin typeface="Arial"/>
                <a:cs typeface="Arial"/>
              </a:rPr>
              <a:t> </a:t>
            </a:r>
            <a:r>
              <a:rPr dirty="0" sz="3200" spc="-10" i="1">
                <a:latin typeface="Arial"/>
                <a:cs typeface="Arial"/>
              </a:rPr>
              <a:t>Relation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43864" y="1944117"/>
            <a:ext cx="8074659" cy="4414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Let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A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{0,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3}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consider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defined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50" i="1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follows:</a:t>
            </a:r>
            <a:endParaRPr sz="2400">
              <a:latin typeface="Arial MT"/>
              <a:cs typeface="Arial MT"/>
            </a:endParaRPr>
          </a:p>
          <a:p>
            <a:pPr marL="2084070">
              <a:lnSpc>
                <a:spcPct val="100000"/>
              </a:lnSpc>
            </a:pP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0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=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{(0,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3)}.</a:t>
            </a:r>
            <a:endParaRPr sz="2400">
              <a:latin typeface="Arial MT"/>
              <a:cs typeface="Arial MT"/>
            </a:endParaRPr>
          </a:p>
          <a:p>
            <a:pPr marL="62865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Find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7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closure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 spc="-25" i="1">
                <a:latin typeface="Arial"/>
                <a:cs typeface="Arial"/>
              </a:rPr>
              <a:t>R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dirty="0" sz="2400" spc="-10">
                <a:solidFill>
                  <a:srgbClr val="00ADEE"/>
                </a:solidFill>
                <a:latin typeface="Arial MT"/>
                <a:cs typeface="Arial MT"/>
              </a:rPr>
              <a:t>Solution:</a:t>
            </a:r>
            <a:endParaRPr sz="2400">
              <a:latin typeface="Arial MT"/>
              <a:cs typeface="Arial MT"/>
            </a:endParaRPr>
          </a:p>
          <a:p>
            <a:pPr marL="820419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Every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ordered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pair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in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so</a:t>
            </a:r>
            <a:endParaRPr sz="2400">
              <a:latin typeface="Arial MT"/>
              <a:cs typeface="Arial MT"/>
            </a:endParaRPr>
          </a:p>
          <a:p>
            <a:pPr marL="1494155">
              <a:lnSpc>
                <a:spcPct val="100000"/>
              </a:lnSpc>
              <a:spcBef>
                <a:spcPts val="1440"/>
              </a:spcBef>
            </a:pPr>
            <a:r>
              <a:rPr dirty="0" sz="2400">
                <a:latin typeface="Arial MT"/>
                <a:cs typeface="Arial MT"/>
              </a:rPr>
              <a:t>{(0,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3)}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Cambria Math"/>
                <a:cs typeface="Cambria Math"/>
              </a:rPr>
              <a:t>⊆</a:t>
            </a:r>
            <a:r>
              <a:rPr dirty="0" sz="2400" spc="105">
                <a:latin typeface="Cambria Math"/>
                <a:cs typeface="Cambria Math"/>
              </a:rPr>
              <a:t> </a:t>
            </a:r>
            <a:r>
              <a:rPr dirty="0" sz="2400" spc="-25" i="1">
                <a:latin typeface="Arial"/>
                <a:cs typeface="Arial"/>
              </a:rPr>
              <a:t>R</a:t>
            </a:r>
            <a:r>
              <a:rPr dirty="0" baseline="24305" sz="2400" spc="-37" i="1">
                <a:latin typeface="Arial"/>
                <a:cs typeface="Arial"/>
              </a:rPr>
              <a:t>t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Arial MT"/>
              <a:cs typeface="Arial MT"/>
            </a:endParaRPr>
          </a:p>
          <a:p>
            <a:pPr marL="63500" marR="2920365">
              <a:lnSpc>
                <a:spcPct val="100000"/>
              </a:lnSpc>
            </a:pP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directed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graph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spc="-10">
                <a:latin typeface="Arial MT"/>
                <a:cs typeface="Arial MT"/>
              </a:rPr>
              <a:t>contains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shown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6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right.</a:t>
            </a:r>
            <a:endParaRPr sz="24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24495" y="5469525"/>
            <a:ext cx="1867137" cy="1155979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dirty="0" spc="-40"/>
              <a:t> </a:t>
            </a:r>
            <a:r>
              <a:rPr dirty="0"/>
              <a:t>5</a:t>
            </a:r>
            <a:r>
              <a:rPr dirty="0" spc="-65"/>
              <a:t> </a:t>
            </a:r>
            <a:r>
              <a:rPr dirty="0"/>
              <a:t>–</a:t>
            </a:r>
            <a:r>
              <a:rPr dirty="0" spc="-60"/>
              <a:t> </a:t>
            </a:r>
            <a:r>
              <a:rPr dirty="0" spc="-10" i="1">
                <a:latin typeface="Arial"/>
                <a:cs typeface="Arial"/>
              </a:rPr>
              <a:t>Solution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43864" y="1944117"/>
            <a:ext cx="7785100" cy="474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 MT"/>
                <a:cs typeface="Arial MT"/>
              </a:rPr>
              <a:t>Since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are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arrows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2,</a:t>
            </a:r>
            <a:endParaRPr sz="24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baseline="24305" sz="2400" spc="292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must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have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an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arrow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going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from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0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to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2.</a:t>
            </a:r>
            <a:endParaRPr sz="2400">
              <a:latin typeface="Arial MT"/>
              <a:cs typeface="Arial MT"/>
            </a:endParaRPr>
          </a:p>
          <a:p>
            <a:pPr marL="63500" marR="462915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latin typeface="Arial MT"/>
                <a:cs typeface="Arial MT"/>
              </a:rPr>
              <a:t>Hence (0,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 (0,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50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baseline="24305" sz="2400" spc="315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 (2,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5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so </a:t>
            </a:r>
            <a:r>
              <a:rPr dirty="0" sz="2400">
                <a:latin typeface="Arial MT"/>
                <a:cs typeface="Arial MT"/>
              </a:rPr>
              <a:t>since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baseline="24305" sz="2400" spc="307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transitive,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35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Arial"/>
                <a:cs typeface="Arial"/>
              </a:rPr>
              <a:t>R</a:t>
            </a:r>
            <a:r>
              <a:rPr dirty="0" baseline="24305" sz="2400" spc="-37" i="1">
                <a:latin typeface="Arial"/>
                <a:cs typeface="Arial"/>
              </a:rPr>
              <a:t>t</a:t>
            </a:r>
            <a:r>
              <a:rPr dirty="0" sz="2400" spc="-25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63500" marR="378460">
              <a:lnSpc>
                <a:spcPct val="158300"/>
              </a:lnSpc>
            </a:pPr>
            <a:r>
              <a:rPr dirty="0" sz="2400">
                <a:latin typeface="Arial MT"/>
                <a:cs typeface="Arial MT"/>
              </a:rPr>
              <a:t>Also,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since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baseline="24305" sz="2400" spc="322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and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(2,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sz="2400">
                <a:latin typeface="Arial MT"/>
                <a:cs typeface="Arial MT"/>
              </a:rPr>
              <a:t>,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then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>
                <a:latin typeface="Symbol"/>
                <a:cs typeface="Symbol"/>
              </a:rPr>
              <a:t></a:t>
            </a:r>
            <a:r>
              <a:rPr dirty="0" sz="2400" spc="45">
                <a:latin typeface="Times New Roman"/>
                <a:cs typeface="Times New Roman"/>
              </a:rPr>
              <a:t> </a:t>
            </a:r>
            <a:r>
              <a:rPr dirty="0" sz="2400" spc="-25" i="1">
                <a:latin typeface="Arial"/>
                <a:cs typeface="Arial"/>
              </a:rPr>
              <a:t>R</a:t>
            </a:r>
            <a:r>
              <a:rPr dirty="0" baseline="24305" sz="2400" spc="-37" i="1">
                <a:latin typeface="Arial"/>
                <a:cs typeface="Arial"/>
              </a:rPr>
              <a:t>t</a:t>
            </a:r>
            <a:r>
              <a:rPr dirty="0" sz="2400" spc="-25">
                <a:latin typeface="Arial MT"/>
                <a:cs typeface="Arial MT"/>
              </a:rPr>
              <a:t>. </a:t>
            </a:r>
            <a:r>
              <a:rPr dirty="0" sz="2400">
                <a:latin typeface="Arial MT"/>
                <a:cs typeface="Arial MT"/>
              </a:rPr>
              <a:t>Thus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baseline="24305" sz="2400" spc="277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contains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least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following</a:t>
            </a:r>
            <a:r>
              <a:rPr dirty="0" sz="2400" spc="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ordered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pairs:</a:t>
            </a:r>
            <a:endParaRPr sz="2400">
              <a:latin typeface="Arial MT"/>
              <a:cs typeface="Arial MT"/>
            </a:endParaRPr>
          </a:p>
          <a:p>
            <a:pPr marL="988060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latin typeface="Arial MT"/>
                <a:cs typeface="Arial MT"/>
              </a:rPr>
              <a:t>{(0,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1),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(0,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2),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(1,</a:t>
            </a:r>
            <a:r>
              <a:rPr dirty="0" sz="2400" spc="-3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3),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(2,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 spc="-20">
                <a:latin typeface="Arial MT"/>
                <a:cs typeface="Arial MT"/>
              </a:rPr>
              <a:t>3)}.</a:t>
            </a:r>
            <a:endParaRPr sz="2400">
              <a:latin typeface="Arial MT"/>
              <a:cs typeface="Arial MT"/>
            </a:endParaRPr>
          </a:p>
          <a:p>
            <a:pPr marL="63500" marR="2489835">
              <a:lnSpc>
                <a:spcPct val="100000"/>
              </a:lnSpc>
              <a:spcBef>
                <a:spcPts val="1680"/>
              </a:spcBef>
            </a:pPr>
            <a:r>
              <a:rPr dirty="0" sz="2400">
                <a:latin typeface="Arial MT"/>
                <a:cs typeface="Arial MT"/>
              </a:rPr>
              <a:t>But</a:t>
            </a:r>
            <a:r>
              <a:rPr dirty="0" sz="2400" spc="-6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this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relation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5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transitive;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hence</a:t>
            </a:r>
            <a:r>
              <a:rPr dirty="0" sz="2400" spc="-50">
                <a:latin typeface="Arial MT"/>
                <a:cs typeface="Arial MT"/>
              </a:rPr>
              <a:t> </a:t>
            </a:r>
            <a:r>
              <a:rPr dirty="0" sz="2400" spc="-25">
                <a:latin typeface="Arial MT"/>
                <a:cs typeface="Arial MT"/>
              </a:rPr>
              <a:t>it </a:t>
            </a:r>
            <a:r>
              <a:rPr dirty="0" sz="2400">
                <a:latin typeface="Arial MT"/>
                <a:cs typeface="Arial MT"/>
              </a:rPr>
              <a:t>equals</a:t>
            </a:r>
            <a:r>
              <a:rPr dirty="0" sz="2400" spc="-15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sz="2400">
                <a:latin typeface="Arial MT"/>
                <a:cs typeface="Arial MT"/>
              </a:rPr>
              <a:t>.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Note</a:t>
            </a:r>
            <a:r>
              <a:rPr dirty="0" sz="2400" spc="-3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that</a:t>
            </a:r>
            <a:r>
              <a:rPr dirty="0" sz="2400" spc="-4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4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directed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graph </a:t>
            </a:r>
            <a:r>
              <a:rPr dirty="0" sz="2400">
                <a:latin typeface="Arial MT"/>
                <a:cs typeface="Arial MT"/>
              </a:rPr>
              <a:t>of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i="1">
                <a:latin typeface="Arial"/>
                <a:cs typeface="Arial"/>
              </a:rPr>
              <a:t>R</a:t>
            </a:r>
            <a:r>
              <a:rPr dirty="0" baseline="24305" sz="2400" i="1">
                <a:latin typeface="Arial"/>
                <a:cs typeface="Arial"/>
              </a:rPr>
              <a:t>t</a:t>
            </a:r>
            <a:r>
              <a:rPr dirty="0" baseline="24305" sz="2400" spc="322" i="1">
                <a:latin typeface="Arial"/>
                <a:cs typeface="Arial"/>
              </a:rPr>
              <a:t> </a:t>
            </a:r>
            <a:r>
              <a:rPr dirty="0" sz="2400">
                <a:latin typeface="Arial MT"/>
                <a:cs typeface="Arial MT"/>
              </a:rPr>
              <a:t>is</a:t>
            </a:r>
            <a:r>
              <a:rPr dirty="0" sz="2400" spc="-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as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shown</a:t>
            </a:r>
            <a:r>
              <a:rPr dirty="0" sz="2400" spc="1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at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the</a:t>
            </a:r>
            <a:r>
              <a:rPr dirty="0" sz="2400" spc="-2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right.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828030" y="1326897"/>
            <a:ext cx="63436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FFFF"/>
                </a:solidFill>
                <a:latin typeface="Arial MT"/>
                <a:cs typeface="Arial MT"/>
              </a:rPr>
              <a:t>cont’d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7020" y="5561091"/>
            <a:ext cx="2366181" cy="1471870"/>
          </a:xfrm>
          <a:prstGeom prst="rect">
            <a:avLst/>
          </a:prstGeom>
        </p:spPr>
      </p:pic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850"/>
              </a:lnSpc>
            </a:pPr>
            <a:fld id="{81D60167-4931-47E6-BA6A-407CBD079E47}" type="slidenum">
              <a:rPr dirty="0" spc="-25"/>
              <a:t>30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Noriko</dc:creator>
  <dc:title>Microsoft PowerPoint - EppDm4_08_02.ppt [Compatibility Mode]</dc:title>
  <dcterms:created xsi:type="dcterms:W3CDTF">2024-10-16T02:33:56Z</dcterms:created>
  <dcterms:modified xsi:type="dcterms:W3CDTF">2024-10-16T02:33:56Z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2016-10-18T00:00:00Z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2024-10-16T00:00:00Z</vt:filetime>
  </property>
  <property fmtid="{D5CDD505-2E9C-101B-9397-08002B2CF9AE}" pid="5" name="Producer">
    <vt:lpwstr>GPL Ghostscript 8.63</vt:lpwstr>
  </property>
</Properties>
</file>