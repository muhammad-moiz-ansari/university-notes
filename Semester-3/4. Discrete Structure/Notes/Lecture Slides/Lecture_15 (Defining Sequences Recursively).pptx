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4" r:id="rId26"/>
    <p:sldId id="285" r:id="rId27"/>
    <p:sldId id="286" r:id="rId28"/>
    <p:sldId id="287" r:id="rId29"/>
    <p:sldId id="288" r:id="rId30"/>
    <p:sldId id="289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65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7256" y="442976"/>
            <a:ext cx="482473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2552" y="3840480"/>
            <a:ext cx="64052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517" y="1577340"/>
            <a:ext cx="398040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12430" y="1577340"/>
            <a:ext cx="398040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99" y="385571"/>
            <a:ext cx="8763000" cy="830580"/>
          </a:xfrm>
          <a:custGeom>
            <a:avLst/>
            <a:gdLst/>
            <a:ahLst/>
            <a:cxnLst/>
            <a:rect l="l" t="t" r="r" b="b"/>
            <a:pathLst>
              <a:path w="8763000" h="830580">
                <a:moveTo>
                  <a:pt x="8762999" y="830579"/>
                </a:moveTo>
                <a:lnTo>
                  <a:pt x="8762999" y="0"/>
                </a:lnTo>
                <a:lnTo>
                  <a:pt x="0" y="0"/>
                </a:lnTo>
                <a:lnTo>
                  <a:pt x="0" y="830579"/>
                </a:lnTo>
                <a:lnTo>
                  <a:pt x="8762999" y="83057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715" y="380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304799"/>
                </a:moveTo>
                <a:lnTo>
                  <a:pt x="304799" y="0"/>
                </a:lnTo>
                <a:lnTo>
                  <a:pt x="0" y="304799"/>
                </a:lnTo>
                <a:lnTo>
                  <a:pt x="304799" y="609599"/>
                </a:lnTo>
                <a:lnTo>
                  <a:pt x="609599" y="304799"/>
                </a:lnTo>
                <a:close/>
              </a:path>
            </a:pathLst>
          </a:custGeom>
          <a:solidFill>
            <a:srgbClr val="CBD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8015" y="1523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0999" y="190499"/>
                </a:moveTo>
                <a:lnTo>
                  <a:pt x="190499" y="0"/>
                </a:lnTo>
                <a:lnTo>
                  <a:pt x="0" y="190499"/>
                </a:lnTo>
                <a:lnTo>
                  <a:pt x="190499" y="380999"/>
                </a:lnTo>
                <a:lnTo>
                  <a:pt x="380999" y="19049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7256" y="449072"/>
            <a:ext cx="7788909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486917"/>
            <a:ext cx="7935595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11119" y="6377940"/>
            <a:ext cx="292811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517" y="6377940"/>
            <a:ext cx="21045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9647" y="6429481"/>
            <a:ext cx="344423" cy="290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"/>
            <a:ext cx="9143999" cy="6185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40149" y="130556"/>
            <a:ext cx="2041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CHAPTER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0042" y="6336498"/>
            <a:ext cx="4032885" cy="2317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Arial"/>
                <a:cs typeface="Arial"/>
              </a:rPr>
              <a:t>Copyright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©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Cengage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Learning.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rights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reserved.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7487" y="731012"/>
            <a:ext cx="417195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SEQUENCES, MATHEMATICAL </a:t>
            </a: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INDUCTION,</a:t>
            </a:r>
            <a:r>
              <a:rPr sz="4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RECURSION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75154" y="2658874"/>
            <a:ext cx="4004945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3440" marR="5080" indent="-841375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15659E"/>
                </a:solidFill>
                <a:latin typeface="Arial"/>
                <a:cs typeface="Arial"/>
              </a:rPr>
              <a:t>Defining</a:t>
            </a:r>
            <a:r>
              <a:rPr sz="3500" spc="-105" dirty="0">
                <a:solidFill>
                  <a:srgbClr val="15659E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15659E"/>
                </a:solidFill>
                <a:latin typeface="Arial"/>
                <a:cs typeface="Arial"/>
              </a:rPr>
              <a:t>Sequences Recursively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0415" y="2209799"/>
            <a:ext cx="8563610" cy="1629410"/>
            <a:chOff x="280415" y="2209799"/>
            <a:chExt cx="8563610" cy="1629410"/>
          </a:xfrm>
        </p:grpSpPr>
        <p:sp>
          <p:nvSpPr>
            <p:cNvPr id="4" name="object 4"/>
            <p:cNvSpPr/>
            <p:nvPr/>
          </p:nvSpPr>
          <p:spPr>
            <a:xfrm>
              <a:off x="1699259" y="2487167"/>
              <a:ext cx="7145020" cy="1351915"/>
            </a:xfrm>
            <a:custGeom>
              <a:avLst/>
              <a:gdLst/>
              <a:ahLst/>
              <a:cxnLst/>
              <a:rect l="l" t="t" r="r" b="b"/>
              <a:pathLst>
                <a:path w="7145020" h="1351914">
                  <a:moveTo>
                    <a:pt x="7144512" y="1107948"/>
                  </a:moveTo>
                  <a:lnTo>
                    <a:pt x="7144512" y="27432"/>
                  </a:lnTo>
                  <a:lnTo>
                    <a:pt x="7142130" y="16716"/>
                  </a:lnTo>
                  <a:lnTo>
                    <a:pt x="7135749" y="8001"/>
                  </a:lnTo>
                  <a:lnTo>
                    <a:pt x="7126509" y="2143"/>
                  </a:lnTo>
                  <a:lnTo>
                    <a:pt x="7115556" y="0"/>
                  </a:lnTo>
                  <a:lnTo>
                    <a:pt x="243840" y="0"/>
                  </a:lnTo>
                  <a:lnTo>
                    <a:pt x="193548" y="4572"/>
                  </a:lnTo>
                  <a:lnTo>
                    <a:pt x="147828" y="19812"/>
                  </a:lnTo>
                  <a:lnTo>
                    <a:pt x="106680" y="42672"/>
                  </a:lnTo>
                  <a:lnTo>
                    <a:pt x="70104" y="71628"/>
                  </a:lnTo>
                  <a:lnTo>
                    <a:pt x="41148" y="108204"/>
                  </a:lnTo>
                  <a:lnTo>
                    <a:pt x="18288" y="150876"/>
                  </a:lnTo>
                  <a:lnTo>
                    <a:pt x="4572" y="196596"/>
                  </a:lnTo>
                  <a:lnTo>
                    <a:pt x="0" y="243840"/>
                  </a:lnTo>
                  <a:lnTo>
                    <a:pt x="0" y="1322832"/>
                  </a:lnTo>
                  <a:lnTo>
                    <a:pt x="2166" y="1334428"/>
                  </a:lnTo>
                  <a:lnTo>
                    <a:pt x="8191" y="1343596"/>
                  </a:lnTo>
                  <a:lnTo>
                    <a:pt x="17359" y="1349621"/>
                  </a:lnTo>
                  <a:lnTo>
                    <a:pt x="28956" y="1351788"/>
                  </a:lnTo>
                  <a:lnTo>
                    <a:pt x="28956" y="1295400"/>
                  </a:lnTo>
                  <a:lnTo>
                    <a:pt x="57912" y="1295400"/>
                  </a:lnTo>
                  <a:lnTo>
                    <a:pt x="57912" y="224028"/>
                  </a:lnTo>
                  <a:lnTo>
                    <a:pt x="60960" y="204216"/>
                  </a:lnTo>
                  <a:lnTo>
                    <a:pt x="80772" y="153924"/>
                  </a:lnTo>
                  <a:lnTo>
                    <a:pt x="112776" y="111252"/>
                  </a:lnTo>
                  <a:lnTo>
                    <a:pt x="156972" y="79248"/>
                  </a:lnTo>
                  <a:lnTo>
                    <a:pt x="208788" y="59436"/>
                  </a:lnTo>
                  <a:lnTo>
                    <a:pt x="7086600" y="56388"/>
                  </a:lnTo>
                  <a:lnTo>
                    <a:pt x="7086600" y="27432"/>
                  </a:lnTo>
                  <a:lnTo>
                    <a:pt x="7115556" y="56388"/>
                  </a:lnTo>
                  <a:lnTo>
                    <a:pt x="7115556" y="1223772"/>
                  </a:lnTo>
                  <a:lnTo>
                    <a:pt x="7124700" y="1200912"/>
                  </a:lnTo>
                  <a:lnTo>
                    <a:pt x="7133844" y="1179576"/>
                  </a:lnTo>
                  <a:lnTo>
                    <a:pt x="7139940" y="1155192"/>
                  </a:lnTo>
                  <a:lnTo>
                    <a:pt x="7142988" y="1130808"/>
                  </a:lnTo>
                  <a:lnTo>
                    <a:pt x="7144512" y="1107948"/>
                  </a:lnTo>
                  <a:close/>
                </a:path>
                <a:path w="7145020" h="1351914">
                  <a:moveTo>
                    <a:pt x="7115556" y="1223772"/>
                  </a:moveTo>
                  <a:lnTo>
                    <a:pt x="7115556" y="56388"/>
                  </a:lnTo>
                  <a:lnTo>
                    <a:pt x="7086600" y="56388"/>
                  </a:lnTo>
                  <a:lnTo>
                    <a:pt x="7086600" y="1107948"/>
                  </a:lnTo>
                  <a:lnTo>
                    <a:pt x="7085076" y="1127760"/>
                  </a:lnTo>
                  <a:lnTo>
                    <a:pt x="7071360" y="1182624"/>
                  </a:lnTo>
                  <a:lnTo>
                    <a:pt x="7042404" y="1228344"/>
                  </a:lnTo>
                  <a:lnTo>
                    <a:pt x="7002780" y="1263396"/>
                  </a:lnTo>
                  <a:lnTo>
                    <a:pt x="6954012" y="1286256"/>
                  </a:lnTo>
                  <a:lnTo>
                    <a:pt x="6897624" y="1295400"/>
                  </a:lnTo>
                  <a:lnTo>
                    <a:pt x="28956" y="1295400"/>
                  </a:lnTo>
                  <a:lnTo>
                    <a:pt x="57912" y="1322832"/>
                  </a:lnTo>
                  <a:lnTo>
                    <a:pt x="57912" y="1351788"/>
                  </a:lnTo>
                  <a:lnTo>
                    <a:pt x="6900672" y="1351788"/>
                  </a:lnTo>
                  <a:lnTo>
                    <a:pt x="6925056" y="1350264"/>
                  </a:lnTo>
                  <a:lnTo>
                    <a:pt x="6973824" y="1341120"/>
                  </a:lnTo>
                  <a:lnTo>
                    <a:pt x="7018020" y="1321308"/>
                  </a:lnTo>
                  <a:lnTo>
                    <a:pt x="7056120" y="1295400"/>
                  </a:lnTo>
                  <a:lnTo>
                    <a:pt x="7103364" y="1243584"/>
                  </a:lnTo>
                  <a:lnTo>
                    <a:pt x="7115556" y="1223772"/>
                  </a:lnTo>
                  <a:close/>
                </a:path>
                <a:path w="7145020" h="1351914">
                  <a:moveTo>
                    <a:pt x="57912" y="1351788"/>
                  </a:moveTo>
                  <a:lnTo>
                    <a:pt x="57912" y="1322832"/>
                  </a:lnTo>
                  <a:lnTo>
                    <a:pt x="28956" y="1295400"/>
                  </a:lnTo>
                  <a:lnTo>
                    <a:pt x="28956" y="1351788"/>
                  </a:lnTo>
                  <a:lnTo>
                    <a:pt x="57912" y="1351788"/>
                  </a:lnTo>
                  <a:close/>
                </a:path>
                <a:path w="7145020" h="1351914">
                  <a:moveTo>
                    <a:pt x="7115556" y="56388"/>
                  </a:moveTo>
                  <a:lnTo>
                    <a:pt x="7086600" y="27432"/>
                  </a:lnTo>
                  <a:lnTo>
                    <a:pt x="7086600" y="56388"/>
                  </a:lnTo>
                  <a:lnTo>
                    <a:pt x="7115556" y="56388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0415" y="2209799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438399" y="509015"/>
                  </a:moveTo>
                  <a:lnTo>
                    <a:pt x="2438399" y="0"/>
                  </a:lnTo>
                  <a:lnTo>
                    <a:pt x="100583" y="0"/>
                  </a:lnTo>
                  <a:lnTo>
                    <a:pt x="61721" y="8024"/>
                  </a:lnTo>
                  <a:lnTo>
                    <a:pt x="29717" y="29908"/>
                  </a:lnTo>
                  <a:lnTo>
                    <a:pt x="8000" y="62364"/>
                  </a:lnTo>
                  <a:lnTo>
                    <a:pt x="0" y="102107"/>
                  </a:lnTo>
                  <a:lnTo>
                    <a:pt x="0" y="609599"/>
                  </a:lnTo>
                  <a:lnTo>
                    <a:pt x="2336291" y="609599"/>
                  </a:lnTo>
                  <a:lnTo>
                    <a:pt x="2376035" y="601813"/>
                  </a:lnTo>
                  <a:lnTo>
                    <a:pt x="2408491" y="580453"/>
                  </a:lnTo>
                  <a:lnTo>
                    <a:pt x="2430375" y="548520"/>
                  </a:lnTo>
                  <a:lnTo>
                    <a:pt x="2438399" y="509015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4312" y="2293113"/>
            <a:ext cx="20459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Arial"/>
                <a:cs typeface="Arial"/>
              </a:rPr>
              <a:t>SECTION</a:t>
            </a:r>
            <a:r>
              <a:rPr sz="2600" b="1" spc="-70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5.6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0042" y="6336498"/>
            <a:ext cx="4032885" cy="2317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Arial"/>
                <a:cs typeface="Arial"/>
              </a:rPr>
              <a:t>Copyright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©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Cengage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Learning.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rights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reserved.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Defining</a:t>
            </a:r>
            <a:r>
              <a:rPr spc="-165" dirty="0"/>
              <a:t> </a:t>
            </a:r>
            <a:r>
              <a:rPr dirty="0"/>
              <a:t>Sequences</a:t>
            </a:r>
            <a:r>
              <a:rPr spc="-165" dirty="0"/>
              <a:t> </a:t>
            </a:r>
            <a:r>
              <a:rPr spc="-10" dirty="0"/>
              <a:t>Recursively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856220" cy="470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variety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ways.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46799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One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informal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write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expectation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general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pattern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obvious.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might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say,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instance,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“consider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</a:t>
            </a:r>
            <a:endParaRPr sz="2400">
              <a:latin typeface="Arial"/>
              <a:cs typeface="Arial"/>
            </a:endParaRPr>
          </a:p>
          <a:p>
            <a:pPr marL="12700" marR="18097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3,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7,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..”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Unfortunately,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misunderstandings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occur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approach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used.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could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9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odd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integers,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could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odd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prime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numbers.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Defining</a:t>
            </a:r>
            <a:r>
              <a:rPr spc="-165" dirty="0"/>
              <a:t> </a:t>
            </a:r>
            <a:r>
              <a:rPr dirty="0"/>
              <a:t>Sequences</a:t>
            </a:r>
            <a:r>
              <a:rPr spc="-165" dirty="0"/>
              <a:t> </a:t>
            </a:r>
            <a:r>
              <a:rPr spc="-10" dirty="0"/>
              <a:t>Recursively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7937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second</a:t>
            </a:r>
            <a:r>
              <a:rPr spc="-35" dirty="0"/>
              <a:t> </a:t>
            </a:r>
            <a:r>
              <a:rPr dirty="0"/>
              <a:t>way</a:t>
            </a:r>
            <a:r>
              <a:rPr spc="-3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define</a:t>
            </a:r>
            <a:r>
              <a:rPr spc="-3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sequence</a:t>
            </a:r>
            <a:r>
              <a:rPr spc="-2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give</a:t>
            </a:r>
            <a:r>
              <a:rPr spc="-35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spc="-10" dirty="0"/>
              <a:t>explicit </a:t>
            </a:r>
            <a:r>
              <a:rPr dirty="0"/>
              <a:t>formula</a:t>
            </a:r>
            <a:r>
              <a:rPr spc="-4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its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n</a:t>
            </a:r>
            <a:r>
              <a:rPr dirty="0"/>
              <a:t>th</a:t>
            </a:r>
            <a:r>
              <a:rPr spc="-50" dirty="0"/>
              <a:t> </a:t>
            </a:r>
            <a:r>
              <a:rPr spc="-20" dirty="0"/>
              <a:t>term.</a:t>
            </a:r>
          </a:p>
          <a:p>
            <a:pPr marL="13970" marR="30480">
              <a:lnSpc>
                <a:spcPct val="100000"/>
              </a:lnSpc>
              <a:spcBef>
                <a:spcPts val="575"/>
              </a:spcBef>
            </a:pPr>
            <a:r>
              <a:rPr dirty="0"/>
              <a:t>For</a:t>
            </a:r>
            <a:r>
              <a:rPr spc="-50" dirty="0"/>
              <a:t> </a:t>
            </a:r>
            <a:r>
              <a:rPr dirty="0"/>
              <a:t>example,</a:t>
            </a:r>
            <a:r>
              <a:rPr spc="-1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sequence</a:t>
            </a:r>
            <a:r>
              <a:rPr spc="-20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sz="2400" baseline="-20833" dirty="0"/>
              <a:t>0</a:t>
            </a:r>
            <a:r>
              <a:rPr sz="2400" dirty="0"/>
              <a:t>,</a:t>
            </a:r>
            <a:r>
              <a:rPr sz="2400" spc="-55" dirty="0"/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/>
              <a:t>1</a:t>
            </a:r>
            <a:r>
              <a:rPr sz="2400" dirty="0"/>
              <a:t>,</a:t>
            </a:r>
            <a:r>
              <a:rPr sz="2400" spc="-50" dirty="0"/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/>
              <a:t>2</a:t>
            </a:r>
            <a:r>
              <a:rPr sz="2400" spc="277" baseline="-20833" dirty="0"/>
              <a:t> </a:t>
            </a:r>
            <a:r>
              <a:rPr sz="2400" dirty="0"/>
              <a:t>.</a:t>
            </a:r>
            <a:r>
              <a:rPr sz="2400" spc="-55" dirty="0"/>
              <a:t> </a:t>
            </a:r>
            <a:r>
              <a:rPr sz="2400" dirty="0"/>
              <a:t>.</a:t>
            </a:r>
            <a:r>
              <a:rPr sz="2400" spc="-50" dirty="0"/>
              <a:t> </a:t>
            </a:r>
            <a:r>
              <a:rPr sz="2400" dirty="0"/>
              <a:t>.</a:t>
            </a:r>
            <a:r>
              <a:rPr sz="2400" spc="-55" dirty="0"/>
              <a:t> </a:t>
            </a:r>
            <a:r>
              <a:rPr sz="2400" dirty="0"/>
              <a:t>can</a:t>
            </a:r>
            <a:r>
              <a:rPr sz="2400" spc="-45" dirty="0"/>
              <a:t> </a:t>
            </a:r>
            <a:r>
              <a:rPr sz="2400" dirty="0"/>
              <a:t>be</a:t>
            </a:r>
            <a:r>
              <a:rPr sz="2400" spc="-40" dirty="0"/>
              <a:t> </a:t>
            </a:r>
            <a:r>
              <a:rPr sz="2400" dirty="0"/>
              <a:t>specified</a:t>
            </a:r>
            <a:r>
              <a:rPr sz="2400" spc="-20" dirty="0"/>
              <a:t> </a:t>
            </a:r>
            <a:r>
              <a:rPr sz="2400" spc="-25" dirty="0"/>
              <a:t>by </a:t>
            </a:r>
            <a:r>
              <a:rPr sz="2400" spc="-10" dirty="0"/>
              <a:t>writing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4412999"/>
            <a:ext cx="780542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advantage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explicit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uniquely </a:t>
            </a:r>
            <a:r>
              <a:rPr sz="2400" dirty="0">
                <a:latin typeface="Arial"/>
                <a:cs typeface="Arial"/>
              </a:rPr>
              <a:t>determined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computed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fixed,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finite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number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steps,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substitution.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057" y="3324896"/>
            <a:ext cx="4236649" cy="6411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Defining</a:t>
            </a:r>
            <a:r>
              <a:rPr spc="-165" dirty="0"/>
              <a:t> </a:t>
            </a:r>
            <a:r>
              <a:rPr dirty="0"/>
              <a:t>Sequences</a:t>
            </a:r>
            <a:r>
              <a:rPr spc="-165" dirty="0"/>
              <a:t> </a:t>
            </a:r>
            <a:r>
              <a:rPr spc="-10" dirty="0"/>
              <a:t>Recursively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792084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third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recursion.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requires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both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equation,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recurrence </a:t>
            </a:r>
            <a:r>
              <a:rPr sz="2400" i="1" dirty="0">
                <a:latin typeface="Arial"/>
                <a:cs typeface="Arial"/>
              </a:rPr>
              <a:t>relation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later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dirty="0">
                <a:latin typeface="Arial"/>
                <a:cs typeface="Arial"/>
              </a:rPr>
              <a:t>reference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earlier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also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initial </a:t>
            </a:r>
            <a:r>
              <a:rPr sz="2400" dirty="0">
                <a:latin typeface="Arial"/>
                <a:cs typeface="Arial"/>
              </a:rPr>
              <a:t>values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551" y="4176771"/>
            <a:ext cx="7847629" cy="18964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593852"/>
            <a:ext cx="79298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/>
              <a:t>Example</a:t>
            </a:r>
            <a:r>
              <a:rPr sz="2100" spc="-40" dirty="0"/>
              <a:t> </a:t>
            </a:r>
            <a:r>
              <a:rPr sz="2100" dirty="0"/>
              <a:t>1</a:t>
            </a:r>
            <a:r>
              <a:rPr sz="2100" spc="-25" dirty="0"/>
              <a:t> </a:t>
            </a:r>
            <a:r>
              <a:rPr sz="2100" dirty="0"/>
              <a:t>–</a:t>
            </a:r>
            <a:r>
              <a:rPr sz="2100" spc="-20" dirty="0"/>
              <a:t> </a:t>
            </a:r>
            <a:r>
              <a:rPr sz="2100" i="1" dirty="0">
                <a:latin typeface="Arial"/>
                <a:cs typeface="Arial"/>
              </a:rPr>
              <a:t>Computing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Terms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of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a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Recursively</a:t>
            </a:r>
            <a:r>
              <a:rPr sz="2100" i="1" spc="-5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Defined</a:t>
            </a:r>
            <a:r>
              <a:rPr sz="2100" i="1" spc="-40" dirty="0">
                <a:latin typeface="Arial"/>
                <a:cs typeface="Arial"/>
              </a:rPr>
              <a:t> </a:t>
            </a:r>
            <a:r>
              <a:rPr sz="2100" i="1" spc="-10" dirty="0">
                <a:latin typeface="Arial"/>
                <a:cs typeface="Arial"/>
              </a:rPr>
              <a:t>Sequence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80175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Define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follows: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2,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4" y="3608327"/>
            <a:ext cx="2590165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</a:t>
            </a:r>
            <a:r>
              <a:rPr sz="2400" spc="-37" baseline="-20833" dirty="0">
                <a:latin typeface="Arial"/>
                <a:cs typeface="Arial"/>
              </a:rPr>
              <a:t>4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Arial"/>
                <a:cs typeface="Arial"/>
              </a:rPr>
              <a:t>Solution: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6659" y="2543643"/>
            <a:ext cx="4777108" cy="6289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406" y="5099303"/>
            <a:ext cx="5121187" cy="3003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01874" y="5669127"/>
            <a:ext cx="4756375" cy="23362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608" y="1704182"/>
            <a:ext cx="1638266" cy="2291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185" y="2385331"/>
            <a:ext cx="5067704" cy="2296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3329" y="3133660"/>
            <a:ext cx="5284099" cy="2084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8325" y="3822848"/>
            <a:ext cx="1780283" cy="2295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5613" y="4425289"/>
            <a:ext cx="4976806" cy="259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3594" y="5098568"/>
            <a:ext cx="5296154" cy="21441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3940" y="5759749"/>
            <a:ext cx="1767650" cy="23386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0" marR="5080" indent="-1473835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Example</a:t>
            </a:r>
            <a:r>
              <a:rPr sz="2000" spc="-25" dirty="0"/>
              <a:t> </a:t>
            </a:r>
            <a:r>
              <a:rPr sz="2000" dirty="0"/>
              <a:t>4</a:t>
            </a:r>
            <a:r>
              <a:rPr sz="2000" spc="-30" dirty="0"/>
              <a:t> </a:t>
            </a:r>
            <a:r>
              <a:rPr sz="2000" dirty="0"/>
              <a:t>–</a:t>
            </a:r>
            <a:r>
              <a:rPr sz="2000" spc="-20" dirty="0"/>
              <a:t> </a:t>
            </a:r>
            <a:r>
              <a:rPr sz="2000" i="1" dirty="0">
                <a:latin typeface="Arial"/>
                <a:cs typeface="Arial"/>
              </a:rPr>
              <a:t>Showing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That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Sequence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Given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by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Explicit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Formula </a:t>
            </a:r>
            <a:r>
              <a:rPr sz="2000" i="1" dirty="0">
                <a:latin typeface="Arial"/>
                <a:cs typeface="Arial"/>
              </a:rPr>
              <a:t>Satisfies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Certain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Recurrence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Relation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6664" y="1486917"/>
            <a:ext cx="7442200" cy="3223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77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Catalan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numbers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named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after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Belgian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mathematician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Eugène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Catalan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(1814–1894), </a:t>
            </a:r>
            <a:r>
              <a:rPr sz="2400" dirty="0">
                <a:latin typeface="Arial"/>
                <a:cs typeface="Arial"/>
              </a:rPr>
              <a:t>arises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remarkable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variety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contexts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discrete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mathematics.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follows: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1,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400" dirty="0">
              <a:latin typeface="Arial"/>
              <a:cs typeface="Arial"/>
            </a:endParaRPr>
          </a:p>
          <a:p>
            <a:pPr marL="400050" indent="-336550">
              <a:lnSpc>
                <a:spcPct val="100000"/>
              </a:lnSpc>
              <a:buFont typeface="Arial"/>
              <a:buAutoNum type="alphaLcPeriod"/>
              <a:tabLst>
                <a:tab pos="400050" algn="l"/>
              </a:tabLst>
            </a:pPr>
            <a:r>
              <a:rPr sz="2400" dirty="0">
                <a:latin typeface="Arial"/>
                <a:cs typeface="Arial"/>
              </a:rPr>
              <a:t>Find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</a:t>
            </a:r>
            <a:r>
              <a:rPr sz="2400" spc="-37" baseline="-20833" dirty="0">
                <a:latin typeface="Arial"/>
                <a:cs typeface="Arial"/>
              </a:rPr>
              <a:t>3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803" y="3349613"/>
            <a:ext cx="2278884" cy="7036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4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651509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/>
                <a:cs typeface="Arial"/>
              </a:rPr>
              <a:t>a.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246" y="1566613"/>
            <a:ext cx="2968561" cy="7036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241" y="2693143"/>
            <a:ext cx="2968184" cy="7029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706" y="3885526"/>
            <a:ext cx="3034942" cy="68688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97" y="3295906"/>
            <a:ext cx="74783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8880" marR="5080" indent="-245681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ADEE"/>
                </a:solidFill>
              </a:rPr>
              <a:t>Examples</a:t>
            </a:r>
            <a:r>
              <a:rPr spc="-12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of</a:t>
            </a:r>
            <a:r>
              <a:rPr spc="-13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Recursively</a:t>
            </a:r>
            <a:r>
              <a:rPr spc="-120" dirty="0">
                <a:solidFill>
                  <a:srgbClr val="00ADEE"/>
                </a:solidFill>
              </a:rPr>
              <a:t> </a:t>
            </a:r>
            <a:r>
              <a:rPr spc="-10" dirty="0">
                <a:solidFill>
                  <a:srgbClr val="00ADEE"/>
                </a:solidFill>
              </a:rPr>
              <a:t>Defined Sequences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732" y="514604"/>
            <a:ext cx="787717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/>
              <a:t>Examples</a:t>
            </a:r>
            <a:r>
              <a:rPr sz="3100" spc="-105" dirty="0"/>
              <a:t> </a:t>
            </a:r>
            <a:r>
              <a:rPr sz="3100" dirty="0"/>
              <a:t>of</a:t>
            </a:r>
            <a:r>
              <a:rPr sz="3100" spc="-114" dirty="0"/>
              <a:t> </a:t>
            </a:r>
            <a:r>
              <a:rPr sz="3100" dirty="0"/>
              <a:t>Recursively</a:t>
            </a:r>
            <a:r>
              <a:rPr sz="3100" spc="-90" dirty="0"/>
              <a:t> </a:t>
            </a:r>
            <a:r>
              <a:rPr sz="3100" dirty="0"/>
              <a:t>Defined</a:t>
            </a:r>
            <a:r>
              <a:rPr sz="3100" spc="-90" dirty="0"/>
              <a:t> </a:t>
            </a:r>
            <a:r>
              <a:rPr sz="3100" spc="-10" dirty="0"/>
              <a:t>Sequences</a:t>
            </a:r>
            <a:endParaRPr sz="31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8060690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Recursion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central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computer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science.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solve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break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down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subproblems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original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problem—</a:t>
            </a:r>
            <a:r>
              <a:rPr sz="2400" dirty="0">
                <a:latin typeface="Arial"/>
                <a:cs typeface="Arial"/>
              </a:rPr>
              <a:t>and 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such</a:t>
            </a:r>
            <a:r>
              <a:rPr sz="2400" spc="60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repeated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last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subproblems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easy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solve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solutions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subproblems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woven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together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solution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original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problem.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5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Tower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Hanoi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940040" cy="375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1883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French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mathematician,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Édouard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Lucas,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invented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puzzle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Hanoi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(La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Tour </a:t>
            </a:r>
            <a:r>
              <a:rPr sz="2400" spc="-10" dirty="0">
                <a:latin typeface="Arial"/>
                <a:cs typeface="Arial"/>
              </a:rPr>
              <a:t>D’Hanoï).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"/>
              <a:cs typeface="Arial"/>
            </a:endParaRPr>
          </a:p>
          <a:p>
            <a:pPr marL="12700" marR="55244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puzzle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consisted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eight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wood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holes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their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centers,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piled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decreasing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size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Those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played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game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supposed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one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never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placing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smaller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one.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5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Tower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Hanoi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puzzle</a:t>
            </a:r>
            <a:r>
              <a:rPr spc="-45" dirty="0"/>
              <a:t> </a:t>
            </a:r>
            <a:r>
              <a:rPr dirty="0"/>
              <a:t>offered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prize</a:t>
            </a:r>
            <a:r>
              <a:rPr spc="-4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ten</a:t>
            </a:r>
            <a:r>
              <a:rPr spc="-65" dirty="0"/>
              <a:t> </a:t>
            </a:r>
            <a:r>
              <a:rPr dirty="0"/>
              <a:t>thousand</a:t>
            </a:r>
            <a:r>
              <a:rPr spc="-45" dirty="0"/>
              <a:t> </a:t>
            </a:r>
            <a:r>
              <a:rPr dirty="0"/>
              <a:t>francs</a:t>
            </a:r>
            <a:r>
              <a:rPr spc="-65" dirty="0"/>
              <a:t> </a:t>
            </a:r>
            <a:r>
              <a:rPr spc="-10" dirty="0"/>
              <a:t>(about</a:t>
            </a:r>
          </a:p>
          <a:p>
            <a:pPr marL="13970" marR="5080">
              <a:lnSpc>
                <a:spcPct val="100000"/>
              </a:lnSpc>
            </a:pPr>
            <a:r>
              <a:rPr dirty="0"/>
              <a:t>$34,000</a:t>
            </a:r>
            <a:r>
              <a:rPr spc="-50" dirty="0"/>
              <a:t> </a:t>
            </a:r>
            <a:r>
              <a:rPr dirty="0"/>
              <a:t>US</a:t>
            </a:r>
            <a:r>
              <a:rPr spc="-50" dirty="0"/>
              <a:t> </a:t>
            </a:r>
            <a:r>
              <a:rPr dirty="0"/>
              <a:t>today)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anyone</a:t>
            </a:r>
            <a:r>
              <a:rPr spc="-50" dirty="0"/>
              <a:t> </a:t>
            </a:r>
            <a:r>
              <a:rPr dirty="0"/>
              <a:t>who</a:t>
            </a:r>
            <a:r>
              <a:rPr spc="-50" dirty="0"/>
              <a:t> </a:t>
            </a:r>
            <a:r>
              <a:rPr dirty="0"/>
              <a:t>could</a:t>
            </a:r>
            <a:r>
              <a:rPr spc="-35" dirty="0"/>
              <a:t> </a:t>
            </a:r>
            <a:r>
              <a:rPr dirty="0"/>
              <a:t>move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tower</a:t>
            </a:r>
            <a:r>
              <a:rPr spc="-50" dirty="0"/>
              <a:t> </a:t>
            </a:r>
            <a:r>
              <a:rPr spc="-25" dirty="0"/>
              <a:t>of </a:t>
            </a:r>
            <a:r>
              <a:rPr dirty="0"/>
              <a:t>64</a:t>
            </a:r>
            <a:r>
              <a:rPr spc="-50" dirty="0"/>
              <a:t> </a:t>
            </a:r>
            <a:r>
              <a:rPr dirty="0"/>
              <a:t>disks</a:t>
            </a:r>
            <a:r>
              <a:rPr spc="-35" dirty="0"/>
              <a:t> </a:t>
            </a:r>
            <a:r>
              <a:rPr dirty="0"/>
              <a:t>by</a:t>
            </a:r>
            <a:r>
              <a:rPr spc="-55" dirty="0"/>
              <a:t> </a:t>
            </a:r>
            <a:r>
              <a:rPr dirty="0"/>
              <a:t>hand</a:t>
            </a:r>
            <a:r>
              <a:rPr spc="-40" dirty="0"/>
              <a:t> </a:t>
            </a:r>
            <a:r>
              <a:rPr dirty="0"/>
              <a:t>while</a:t>
            </a:r>
            <a:r>
              <a:rPr spc="-15" dirty="0"/>
              <a:t> </a:t>
            </a:r>
            <a:r>
              <a:rPr dirty="0"/>
              <a:t>following</a:t>
            </a:r>
            <a:r>
              <a:rPr spc="-1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rules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game. </a:t>
            </a:r>
            <a:r>
              <a:rPr dirty="0"/>
              <a:t>(See</a:t>
            </a:r>
            <a:r>
              <a:rPr spc="-65" dirty="0"/>
              <a:t> </a:t>
            </a:r>
            <a:r>
              <a:rPr dirty="0"/>
              <a:t>Figure</a:t>
            </a:r>
            <a:r>
              <a:rPr spc="-55" dirty="0"/>
              <a:t> </a:t>
            </a:r>
            <a:r>
              <a:rPr dirty="0"/>
              <a:t>5.6.2)</a:t>
            </a:r>
            <a:r>
              <a:rPr spc="-70" dirty="0"/>
              <a:t> </a:t>
            </a:r>
            <a:r>
              <a:rPr dirty="0"/>
              <a:t>Assuming</a:t>
            </a:r>
            <a:r>
              <a:rPr spc="-55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dirty="0"/>
              <a:t>you</a:t>
            </a:r>
            <a:r>
              <a:rPr spc="-65" dirty="0"/>
              <a:t> </a:t>
            </a:r>
            <a:r>
              <a:rPr dirty="0"/>
              <a:t>transferred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disks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efficiently</a:t>
            </a:r>
            <a:r>
              <a:rPr spc="-60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possible,</a:t>
            </a:r>
            <a:r>
              <a:rPr spc="-35" dirty="0"/>
              <a:t> </a:t>
            </a:r>
            <a:r>
              <a:rPr dirty="0"/>
              <a:t>how</a:t>
            </a:r>
            <a:r>
              <a:rPr spc="-55" dirty="0"/>
              <a:t> </a:t>
            </a:r>
            <a:r>
              <a:rPr dirty="0"/>
              <a:t>many</a:t>
            </a:r>
            <a:r>
              <a:rPr spc="-75" dirty="0"/>
              <a:t> </a:t>
            </a:r>
            <a:r>
              <a:rPr dirty="0"/>
              <a:t>moves</a:t>
            </a:r>
            <a:r>
              <a:rPr spc="-55" dirty="0"/>
              <a:t> </a:t>
            </a:r>
            <a:r>
              <a:rPr dirty="0"/>
              <a:t>would</a:t>
            </a:r>
            <a:r>
              <a:rPr spc="-45" dirty="0"/>
              <a:t> </a:t>
            </a:r>
            <a:r>
              <a:rPr spc="-25" dirty="0"/>
              <a:t>be </a:t>
            </a:r>
            <a:r>
              <a:rPr dirty="0"/>
              <a:t>required</a:t>
            </a:r>
            <a:r>
              <a:rPr spc="-3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win</a:t>
            </a:r>
            <a:r>
              <a:rPr spc="-2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prize?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262" y="4102078"/>
            <a:ext cx="3825132" cy="20955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2563" y="6387696"/>
            <a:ext cx="9182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30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5.6.2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948930" cy="390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80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elegant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efficient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solve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think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recursively.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"/>
              <a:cs typeface="Arial"/>
            </a:endParaRPr>
          </a:p>
          <a:p>
            <a:pPr marL="12700" marR="14604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Suppose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somehow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found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most </a:t>
            </a:r>
            <a:r>
              <a:rPr sz="2400" dirty="0">
                <a:latin typeface="Arial"/>
                <a:cs typeface="Arial"/>
              </a:rPr>
              <a:t>efficient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possible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one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obeying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restriction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never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one.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efficient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disks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another?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802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answer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sketched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5.6.3,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target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described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2962" y="5293872"/>
            <a:ext cx="5266690" cy="991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Position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after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Transferring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k </a:t>
            </a:r>
            <a:r>
              <a:rPr sz="1400" dirty="0">
                <a:latin typeface="Arial"/>
                <a:cs typeface="Arial"/>
              </a:rPr>
              <a:t>–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Disks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i="1" spc="-50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  <a:p>
            <a:pPr marL="1350010" algn="ctr">
              <a:lnSpc>
                <a:spcPct val="100000"/>
              </a:lnSpc>
            </a:pPr>
            <a:r>
              <a:rPr sz="1400" spc="-25" dirty="0">
                <a:latin typeface="Arial"/>
                <a:cs typeface="Arial"/>
              </a:rPr>
              <a:t>(b)</a:t>
            </a:r>
            <a:endParaRPr sz="1400">
              <a:latin typeface="Arial"/>
              <a:cs typeface="Arial"/>
            </a:endParaRPr>
          </a:p>
          <a:p>
            <a:pPr marR="2930525" algn="ctr">
              <a:lnSpc>
                <a:spcPct val="100000"/>
              </a:lnSpc>
              <a:spcBef>
                <a:spcPts val="740"/>
              </a:spcBef>
            </a:pPr>
            <a:r>
              <a:rPr sz="1400" dirty="0">
                <a:latin typeface="Arial"/>
                <a:cs typeface="Arial"/>
              </a:rPr>
              <a:t>Moves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Hanoi</a:t>
            </a:r>
            <a:endParaRPr sz="1400">
              <a:latin typeface="Arial"/>
              <a:cs typeface="Arial"/>
            </a:endParaRPr>
          </a:p>
          <a:p>
            <a:pPr marR="2969260" algn="ctr">
              <a:lnSpc>
                <a:spcPct val="100000"/>
              </a:lnSpc>
              <a:spcBef>
                <a:spcPts val="380"/>
              </a:spcBef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30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5.6.3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472" y="3092195"/>
            <a:ext cx="3858193" cy="2095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5366" y="3067042"/>
            <a:ext cx="3858470" cy="20961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09065" y="5284728"/>
            <a:ext cx="112458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Initial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 </a:t>
            </a:r>
            <a:r>
              <a:rPr sz="1400" spc="-25" dirty="0">
                <a:latin typeface="Arial"/>
                <a:cs typeface="Arial"/>
              </a:rPr>
              <a:t>(a)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4339847"/>
            <a:ext cx="806704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1895" marR="5080" indent="-11798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Step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B</a:t>
            </a:r>
            <a:r>
              <a:rPr sz="2400" spc="-25" dirty="0">
                <a:latin typeface="Arial"/>
                <a:cs typeface="Arial"/>
              </a:rPr>
              <a:t>.</a:t>
            </a:r>
            <a:r>
              <a:rPr sz="2400" spc="60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require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individual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poles.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thinking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recursively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caught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imagining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details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how </a:t>
            </a:r>
            <a:r>
              <a:rPr sz="2400" dirty="0">
                <a:latin typeface="Arial"/>
                <a:cs typeface="Arial"/>
              </a:rPr>
              <a:t>those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occur.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6762" y="3568913"/>
            <a:ext cx="2328545" cy="5835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400" dirty="0">
                <a:latin typeface="Arial"/>
                <a:cs typeface="Arial"/>
              </a:rPr>
              <a:t>Moves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Hanoi</a:t>
            </a:r>
            <a:endParaRPr sz="1400">
              <a:latin typeface="Arial"/>
              <a:cs typeface="Arial"/>
            </a:endParaRPr>
          </a:p>
          <a:p>
            <a:pPr marR="30480" algn="ctr">
              <a:lnSpc>
                <a:spcPct val="100000"/>
              </a:lnSpc>
              <a:spcBef>
                <a:spcPts val="585"/>
              </a:spcBef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30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5.6.3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687" y="1441703"/>
            <a:ext cx="3092741" cy="16963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436" y="1474981"/>
            <a:ext cx="3089411" cy="16888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5064" y="3312671"/>
            <a:ext cx="39230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Position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after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Moving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Bottom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Disk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256538" y="3526031"/>
            <a:ext cx="2343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Arial"/>
                <a:cs typeface="Arial"/>
              </a:rPr>
              <a:t>(c)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0867" y="3303527"/>
            <a:ext cx="3918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Position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after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Transferring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k </a:t>
            </a:r>
            <a:r>
              <a:rPr sz="1400" dirty="0">
                <a:latin typeface="Arial"/>
                <a:cs typeface="Arial"/>
              </a:rPr>
              <a:t>–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Disks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B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i="1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52341" y="3516887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Arial"/>
                <a:cs typeface="Arial"/>
              </a:rPr>
              <a:t>(d)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814309" cy="390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Step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bottom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191895" marR="5080" indent="-1179830" algn="just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Step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</a:t>
            </a:r>
            <a:r>
              <a:rPr sz="2400" spc="-25" dirty="0">
                <a:latin typeface="Arial"/>
                <a:cs typeface="Arial"/>
              </a:rPr>
              <a:t>. </a:t>
            </a:r>
            <a:r>
              <a:rPr sz="2400" dirty="0">
                <a:latin typeface="Arial"/>
                <a:cs typeface="Arial"/>
              </a:rPr>
              <a:t>(Again,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require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move.)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"/>
              <a:cs typeface="Arial"/>
            </a:endParaRPr>
          </a:p>
          <a:p>
            <a:pPr marL="12700" marR="558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efficient, </a:t>
            </a:r>
            <a:r>
              <a:rPr sz="2400" dirty="0">
                <a:latin typeface="Arial"/>
                <a:cs typeface="Arial"/>
              </a:rPr>
              <a:t>observe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bottom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stack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disks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third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way.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9306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Thus</a:t>
            </a:r>
            <a:r>
              <a:rPr spc="-35" dirty="0"/>
              <a:t> </a:t>
            </a:r>
            <a:r>
              <a:rPr dirty="0"/>
              <a:t>transferring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stack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k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dirty="0"/>
              <a:t>disks</a:t>
            </a:r>
            <a:r>
              <a:rPr spc="-35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pole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pole</a:t>
            </a:r>
            <a:r>
              <a:rPr spc="-15" dirty="0"/>
              <a:t> </a:t>
            </a:r>
            <a:r>
              <a:rPr i="1" spc="-50" dirty="0">
                <a:latin typeface="Arial"/>
                <a:cs typeface="Arial"/>
              </a:rPr>
              <a:t>C</a:t>
            </a:r>
          </a:p>
          <a:p>
            <a:pPr marL="12700">
              <a:lnSpc>
                <a:spcPct val="100000"/>
              </a:lnSpc>
            </a:pPr>
            <a:r>
              <a:rPr dirty="0"/>
              <a:t>requires</a:t>
            </a:r>
            <a:r>
              <a:rPr spc="-25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dirty="0"/>
              <a:t>least</a:t>
            </a:r>
            <a:r>
              <a:rPr spc="-25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dirty="0"/>
              <a:t>transfers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top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k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spc="-10" dirty="0"/>
              <a:t>disks:</a:t>
            </a:r>
          </a:p>
          <a:p>
            <a:pPr marL="12700" marR="141605">
              <a:lnSpc>
                <a:spcPct val="100000"/>
              </a:lnSpc>
              <a:spcBef>
                <a:spcPts val="2014"/>
              </a:spcBef>
            </a:pPr>
            <a:r>
              <a:rPr dirty="0"/>
              <a:t>one</a:t>
            </a:r>
            <a:r>
              <a:rPr spc="-3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transfer</a:t>
            </a:r>
            <a:r>
              <a:rPr spc="-45" dirty="0"/>
              <a:t> </a:t>
            </a:r>
            <a:r>
              <a:rPr dirty="0"/>
              <a:t>them</a:t>
            </a:r>
            <a:r>
              <a:rPr spc="-45" dirty="0"/>
              <a:t> </a:t>
            </a:r>
            <a:r>
              <a:rPr dirty="0"/>
              <a:t>off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bottom</a:t>
            </a:r>
            <a:r>
              <a:rPr spc="-45" dirty="0"/>
              <a:t> </a:t>
            </a:r>
            <a:r>
              <a:rPr dirty="0"/>
              <a:t>disk</a:t>
            </a:r>
            <a:r>
              <a:rPr spc="-3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free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bottom </a:t>
            </a:r>
            <a:r>
              <a:rPr dirty="0"/>
              <a:t>disk</a:t>
            </a:r>
            <a:r>
              <a:rPr spc="-45" dirty="0"/>
              <a:t> </a:t>
            </a:r>
            <a:r>
              <a:rPr dirty="0"/>
              <a:t>so</a:t>
            </a:r>
            <a:r>
              <a:rPr spc="-4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it</a:t>
            </a:r>
            <a:r>
              <a:rPr spc="-50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45" dirty="0"/>
              <a:t> </a:t>
            </a:r>
            <a:r>
              <a:rPr dirty="0"/>
              <a:t>moved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another</a:t>
            </a:r>
            <a:r>
              <a:rPr spc="-3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transfer</a:t>
            </a:r>
            <a:r>
              <a:rPr spc="-50" dirty="0"/>
              <a:t> </a:t>
            </a:r>
            <a:r>
              <a:rPr spc="-20" dirty="0"/>
              <a:t>them </a:t>
            </a:r>
            <a:r>
              <a:rPr dirty="0"/>
              <a:t>back</a:t>
            </a:r>
            <a:r>
              <a:rPr spc="-3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top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bottom</a:t>
            </a:r>
            <a:r>
              <a:rPr spc="-55" dirty="0"/>
              <a:t> </a:t>
            </a:r>
            <a:r>
              <a:rPr dirty="0"/>
              <a:t>disk</a:t>
            </a:r>
            <a:r>
              <a:rPr spc="-25" dirty="0"/>
              <a:t> </a:t>
            </a:r>
            <a:r>
              <a:rPr dirty="0"/>
              <a:t>after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bottom</a:t>
            </a:r>
            <a:r>
              <a:rPr spc="-45" dirty="0"/>
              <a:t> </a:t>
            </a:r>
            <a:r>
              <a:rPr dirty="0"/>
              <a:t>disk</a:t>
            </a:r>
            <a:r>
              <a:rPr spc="-25" dirty="0"/>
              <a:t> has </a:t>
            </a:r>
            <a:r>
              <a:rPr dirty="0"/>
              <a:t>been</a:t>
            </a:r>
            <a:r>
              <a:rPr spc="-50" dirty="0"/>
              <a:t> </a:t>
            </a:r>
            <a:r>
              <a:rPr dirty="0"/>
              <a:t>moved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pole</a:t>
            </a:r>
            <a:r>
              <a:rPr spc="-30" dirty="0"/>
              <a:t> </a:t>
            </a:r>
            <a:r>
              <a:rPr i="1" spc="-25" dirty="0">
                <a:latin typeface="Arial"/>
                <a:cs typeface="Arial"/>
              </a:rPr>
              <a:t>C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69306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936230" cy="445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86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bottom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least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two </a:t>
            </a:r>
            <a:r>
              <a:rPr sz="2400" dirty="0">
                <a:latin typeface="Arial"/>
                <a:cs typeface="Arial"/>
              </a:rPr>
              <a:t>additional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be </a:t>
            </a:r>
            <a:r>
              <a:rPr sz="2400" spc="-10" dirty="0">
                <a:latin typeface="Arial"/>
                <a:cs typeface="Arial"/>
              </a:rPr>
              <a:t>necessary: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014"/>
              </a:spcBef>
            </a:pPr>
            <a:r>
              <a:rPr sz="2400" dirty="0">
                <a:latin typeface="Arial"/>
                <a:cs typeface="Arial"/>
              </a:rPr>
              <a:t>one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bottom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could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bottom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could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be </a:t>
            </a:r>
            <a:r>
              <a:rPr sz="2400" dirty="0">
                <a:latin typeface="Arial"/>
                <a:cs typeface="Arial"/>
              </a:rPr>
              <a:t>moved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18859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result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less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efficient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transfer.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9306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Thus</a:t>
            </a:r>
            <a:r>
              <a:rPr spc="-6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minimum</a:t>
            </a:r>
            <a:r>
              <a:rPr spc="-50" dirty="0"/>
              <a:t> </a:t>
            </a:r>
            <a:r>
              <a:rPr dirty="0"/>
              <a:t>sequence</a:t>
            </a:r>
            <a:r>
              <a:rPr spc="-4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moves</a:t>
            </a:r>
            <a:r>
              <a:rPr spc="-60" dirty="0"/>
              <a:t> </a:t>
            </a:r>
            <a:r>
              <a:rPr dirty="0"/>
              <a:t>must</a:t>
            </a:r>
            <a:r>
              <a:rPr spc="-85" dirty="0"/>
              <a:t> </a:t>
            </a:r>
            <a:r>
              <a:rPr dirty="0"/>
              <a:t>include</a:t>
            </a:r>
            <a:r>
              <a:rPr spc="-35" dirty="0"/>
              <a:t> </a:t>
            </a:r>
            <a:r>
              <a:rPr spc="-10" dirty="0"/>
              <a:t>going </a:t>
            </a:r>
            <a:r>
              <a:rPr dirty="0"/>
              <a:t>from</a:t>
            </a:r>
            <a:r>
              <a:rPr spc="-7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initial</a:t>
            </a:r>
            <a:r>
              <a:rPr spc="-35" dirty="0"/>
              <a:t> </a:t>
            </a:r>
            <a:r>
              <a:rPr dirty="0"/>
              <a:t>position</a:t>
            </a:r>
            <a:r>
              <a:rPr spc="-30" dirty="0"/>
              <a:t> </a:t>
            </a:r>
            <a:r>
              <a:rPr dirty="0"/>
              <a:t>(a)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position</a:t>
            </a:r>
            <a:r>
              <a:rPr spc="-25" dirty="0"/>
              <a:t> </a:t>
            </a:r>
            <a:r>
              <a:rPr dirty="0"/>
              <a:t>(b)</a:t>
            </a:r>
            <a:r>
              <a:rPr spc="-6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position</a:t>
            </a:r>
            <a:r>
              <a:rPr spc="-30" dirty="0"/>
              <a:t> </a:t>
            </a:r>
            <a:r>
              <a:rPr dirty="0"/>
              <a:t>(c)</a:t>
            </a:r>
            <a:r>
              <a:rPr spc="-55" dirty="0"/>
              <a:t> </a:t>
            </a:r>
            <a:r>
              <a:rPr spc="-25" dirty="0"/>
              <a:t>to </a:t>
            </a:r>
            <a:r>
              <a:rPr dirty="0"/>
              <a:t>position</a:t>
            </a:r>
            <a:r>
              <a:rPr spc="-80" dirty="0"/>
              <a:t> </a:t>
            </a:r>
            <a:r>
              <a:rPr spc="-20" dirty="0"/>
              <a:t>(d).</a:t>
            </a:r>
          </a:p>
          <a:p>
            <a:pPr marL="13970">
              <a:lnSpc>
                <a:spcPct val="100000"/>
              </a:lnSpc>
              <a:spcBef>
                <a:spcPts val="2305"/>
              </a:spcBef>
            </a:pPr>
            <a:r>
              <a:rPr dirty="0"/>
              <a:t>It</a:t>
            </a:r>
            <a:r>
              <a:rPr spc="-55" dirty="0"/>
              <a:t> </a:t>
            </a:r>
            <a:r>
              <a:rPr dirty="0"/>
              <a:t>follows</a:t>
            </a:r>
            <a:r>
              <a:rPr spc="-25" dirty="0"/>
              <a:t> </a:t>
            </a:r>
            <a:r>
              <a:rPr spc="-20" dirty="0"/>
              <a:t>that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7464" y="5144520"/>
            <a:ext cx="3495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1,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531" y="3574246"/>
            <a:ext cx="7283289" cy="12640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3647" y="5797880"/>
            <a:ext cx="4971802" cy="4955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85140" y="1486917"/>
            <a:ext cx="7936230" cy="470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8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Note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baseline="-20833" dirty="0">
                <a:latin typeface="Arial"/>
                <a:cs typeface="Arial"/>
              </a:rPr>
              <a:t>n</a:t>
            </a:r>
            <a:r>
              <a:rPr sz="2400" i="1" spc="27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independent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labeling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poles;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takes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minimum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moves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transfer</a:t>
            </a:r>
            <a:endParaRPr sz="2400">
              <a:latin typeface="Arial"/>
              <a:cs typeface="Arial"/>
            </a:endParaRPr>
          </a:p>
          <a:p>
            <a:pPr marL="63500" algn="just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example.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63500" marR="338455" algn="just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Also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baseline="-20833" dirty="0">
                <a:latin typeface="Arial"/>
                <a:cs typeface="Arial"/>
              </a:rPr>
              <a:t>n</a:t>
            </a:r>
            <a:r>
              <a:rPr sz="2400" i="1" spc="27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independent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larger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below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provided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these </a:t>
            </a:r>
            <a:r>
              <a:rPr sz="2400" dirty="0">
                <a:latin typeface="Arial"/>
                <a:cs typeface="Arial"/>
              </a:rPr>
              <a:t>remain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stationary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while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moved.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63500" marR="18796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Because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bottom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ones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though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bottom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present.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9306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364" y="1486917"/>
            <a:ext cx="8111490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Going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(a)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requires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spc="-30" dirty="0">
                <a:latin typeface="Arial"/>
                <a:cs typeface="Arial"/>
              </a:rPr>
              <a:t>m</a:t>
            </a:r>
            <a:r>
              <a:rPr sz="2400" i="1" spc="-44" baseline="-20833" dirty="0">
                <a:latin typeface="Arial"/>
                <a:cs typeface="Arial"/>
              </a:rPr>
              <a:t>k</a:t>
            </a:r>
            <a:r>
              <a:rPr sz="2400" i="1" spc="-300" baseline="-20833" dirty="0">
                <a:latin typeface="Arial"/>
                <a:cs typeface="Arial"/>
              </a:rPr>
              <a:t> </a:t>
            </a:r>
            <a:r>
              <a:rPr sz="2400" spc="-15" baseline="-20833" dirty="0">
                <a:latin typeface="Arial"/>
                <a:cs typeface="Arial"/>
              </a:rPr>
              <a:t>–</a:t>
            </a:r>
            <a:r>
              <a:rPr sz="2400" spc="-345" baseline="-20833" dirty="0">
                <a:latin typeface="Arial"/>
                <a:cs typeface="Arial"/>
              </a:rPr>
              <a:t> 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spc="247" baseline="-20833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moves, </a:t>
            </a:r>
            <a:r>
              <a:rPr sz="2400" dirty="0">
                <a:latin typeface="Arial"/>
                <a:cs typeface="Arial"/>
              </a:rPr>
              <a:t>going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(b)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(c)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requires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one </a:t>
            </a:r>
            <a:r>
              <a:rPr sz="2400" dirty="0">
                <a:latin typeface="Arial"/>
                <a:cs typeface="Arial"/>
              </a:rPr>
              <a:t>move,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(c)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(d)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requires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i="1" spc="-30" dirty="0">
                <a:latin typeface="Arial"/>
                <a:cs typeface="Arial"/>
              </a:rPr>
              <a:t>m</a:t>
            </a:r>
            <a:r>
              <a:rPr sz="2400" i="1" spc="-44" baseline="-20833" dirty="0">
                <a:latin typeface="Arial"/>
                <a:cs typeface="Arial"/>
              </a:rPr>
              <a:t>k</a:t>
            </a:r>
            <a:r>
              <a:rPr sz="2400" i="1" spc="-300" baseline="-20833" dirty="0">
                <a:latin typeface="Arial"/>
                <a:cs typeface="Arial"/>
              </a:rPr>
              <a:t> </a:t>
            </a:r>
            <a:r>
              <a:rPr sz="2400" spc="-15" baseline="-20833" dirty="0">
                <a:latin typeface="Arial"/>
                <a:cs typeface="Arial"/>
              </a:rPr>
              <a:t>–</a:t>
            </a:r>
            <a:r>
              <a:rPr sz="2400" spc="-330" baseline="-20833" dirty="0">
                <a:latin typeface="Arial"/>
                <a:cs typeface="Arial"/>
              </a:rPr>
              <a:t> </a:t>
            </a:r>
            <a:r>
              <a:rPr sz="2400" baseline="-20833" dirty="0">
                <a:latin typeface="Arial"/>
                <a:cs typeface="Arial"/>
              </a:rPr>
              <a:t>1 </a:t>
            </a:r>
            <a:r>
              <a:rPr sz="2400" spc="-10" dirty="0">
                <a:latin typeface="Arial"/>
                <a:cs typeface="Arial"/>
              </a:rPr>
              <a:t>moves.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substitution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(5.6.1),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therefore,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5583432"/>
            <a:ext cx="7703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condition,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found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6414" y="4176910"/>
            <a:ext cx="2764608" cy="2500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0165" y="4912394"/>
            <a:ext cx="5197207" cy="2709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687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Because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from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another,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064" y="4047239"/>
            <a:ext cx="67214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Hence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complete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specification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2,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6768" y="2788802"/>
            <a:ext cx="6729820" cy="6367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8380" y="5623170"/>
            <a:ext cx="4223663" cy="2666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3323" y="6126380"/>
            <a:ext cx="4015806" cy="2295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6571" y="6415537"/>
            <a:ext cx="279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27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5" y="38099"/>
            <a:ext cx="9054465" cy="1178560"/>
            <a:chOff x="13715" y="38099"/>
            <a:chExt cx="9054465" cy="1178560"/>
          </a:xfrm>
        </p:grpSpPr>
        <p:sp>
          <p:nvSpPr>
            <p:cNvPr id="4" name="object 4"/>
            <p:cNvSpPr/>
            <p:nvPr/>
          </p:nvSpPr>
          <p:spPr>
            <a:xfrm>
              <a:off x="304799" y="3855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5" y="380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015" y="152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7464" y="1486917"/>
            <a:ext cx="67500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Here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computation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sequence: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28" y="2389761"/>
            <a:ext cx="5446299" cy="22916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1483" y="4559457"/>
            <a:ext cx="5487874" cy="2334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6428" y="2934207"/>
            <a:ext cx="5446299" cy="22910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6428" y="3474415"/>
            <a:ext cx="5446299" cy="23327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6428" y="4018868"/>
            <a:ext cx="5446299" cy="2335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40" y="3295906"/>
            <a:ext cx="75361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3060" marR="5080" indent="-288036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ADEE"/>
                </a:solidFill>
              </a:rPr>
              <a:t>Recursive</a:t>
            </a:r>
            <a:r>
              <a:rPr spc="-114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Definitions</a:t>
            </a:r>
            <a:r>
              <a:rPr spc="-10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of</a:t>
            </a:r>
            <a:r>
              <a:rPr spc="-120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Sum</a:t>
            </a:r>
            <a:r>
              <a:rPr spc="-110" dirty="0">
                <a:solidFill>
                  <a:srgbClr val="00ADEE"/>
                </a:solidFill>
              </a:rPr>
              <a:t> </a:t>
            </a:r>
            <a:r>
              <a:rPr spc="-25" dirty="0">
                <a:solidFill>
                  <a:srgbClr val="00ADEE"/>
                </a:solidFill>
              </a:rPr>
              <a:t>and </a:t>
            </a:r>
            <a:r>
              <a:rPr spc="-10" dirty="0">
                <a:solidFill>
                  <a:srgbClr val="00ADEE"/>
                </a:solidFill>
              </a:rPr>
              <a:t>Product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491744"/>
            <a:ext cx="80124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Recursive</a:t>
            </a:r>
            <a:r>
              <a:rPr sz="3400" spc="-30" dirty="0"/>
              <a:t> </a:t>
            </a:r>
            <a:r>
              <a:rPr sz="3400" dirty="0"/>
              <a:t>Definitions</a:t>
            </a:r>
            <a:r>
              <a:rPr sz="3400" spc="-30" dirty="0"/>
              <a:t> </a:t>
            </a:r>
            <a:r>
              <a:rPr sz="3400" dirty="0"/>
              <a:t>of</a:t>
            </a:r>
            <a:r>
              <a:rPr sz="3400" spc="-35" dirty="0"/>
              <a:t> </a:t>
            </a:r>
            <a:r>
              <a:rPr sz="3400" dirty="0"/>
              <a:t>Sum</a:t>
            </a:r>
            <a:r>
              <a:rPr sz="3400" spc="-20" dirty="0"/>
              <a:t> </a:t>
            </a:r>
            <a:r>
              <a:rPr sz="3400" dirty="0"/>
              <a:t>and</a:t>
            </a:r>
            <a:r>
              <a:rPr sz="3400" spc="-30" dirty="0"/>
              <a:t> </a:t>
            </a:r>
            <a:r>
              <a:rPr sz="3400" spc="-10" dirty="0"/>
              <a:t>Product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800735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Addition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multiplication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binary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operations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multiplied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time.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Careful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definitions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sums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than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recursion.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227" y="3049523"/>
            <a:ext cx="7781543" cy="34305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491744"/>
            <a:ext cx="80124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Recursive</a:t>
            </a:r>
            <a:r>
              <a:rPr sz="3400" spc="-30" dirty="0"/>
              <a:t> </a:t>
            </a:r>
            <a:r>
              <a:rPr sz="3400" dirty="0"/>
              <a:t>Definitions</a:t>
            </a:r>
            <a:r>
              <a:rPr sz="3400" spc="-30" dirty="0"/>
              <a:t> </a:t>
            </a:r>
            <a:r>
              <a:rPr sz="3400" dirty="0"/>
              <a:t>of</a:t>
            </a:r>
            <a:r>
              <a:rPr sz="3400" spc="-35" dirty="0"/>
              <a:t> </a:t>
            </a:r>
            <a:r>
              <a:rPr sz="3400" dirty="0"/>
              <a:t>Sum</a:t>
            </a:r>
            <a:r>
              <a:rPr sz="3400" spc="-20" dirty="0"/>
              <a:t> </a:t>
            </a:r>
            <a:r>
              <a:rPr sz="3400" dirty="0"/>
              <a:t>and</a:t>
            </a:r>
            <a:r>
              <a:rPr sz="3400" spc="-30" dirty="0"/>
              <a:t> </a:t>
            </a:r>
            <a:r>
              <a:rPr sz="3400" spc="-10" dirty="0"/>
              <a:t>Product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6187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effect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definitions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order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sums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 </a:t>
            </a:r>
            <a:r>
              <a:rPr sz="2400" dirty="0">
                <a:latin typeface="Arial"/>
                <a:cs typeface="Arial"/>
              </a:rPr>
              <a:t>computed.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example,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4412999"/>
            <a:ext cx="75545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definitions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mathematical </a:t>
            </a:r>
            <a:r>
              <a:rPr sz="2400" dirty="0">
                <a:latin typeface="Arial"/>
                <a:cs typeface="Arial"/>
              </a:rPr>
              <a:t>induction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establish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various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properties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general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finite </a:t>
            </a:r>
            <a:r>
              <a:rPr sz="2400" dirty="0">
                <a:latin typeface="Arial"/>
                <a:cs typeface="Arial"/>
              </a:rPr>
              <a:t>sums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238" y="3145931"/>
            <a:ext cx="7112477" cy="6990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EE94-A03A-101B-3070-5353C64C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</a:p>
        </p:txBody>
      </p:sp>
      <p:pic>
        <p:nvPicPr>
          <p:cNvPr id="5" name="Picture 4" descr="A close up of a text&#10;&#10;Description automatically generated">
            <a:extLst>
              <a:ext uri="{FF2B5EF4-FFF2-40B4-BE49-F238E27FC236}">
                <a16:creationId xmlns:a16="http://schemas.microsoft.com/office/drawing/2014/main" id="{8DDD6014-4A36-2C21-898B-BFE2D34A8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84707"/>
            <a:ext cx="8839200" cy="31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12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A949-9363-5707-8A36-D02FCE65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78F8E-B853-CD11-6C44-5D19EB205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486917"/>
            <a:ext cx="7935595" cy="36933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A4721AB-9DFA-E7FC-4530-6AAF4DC72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78" y="1071569"/>
            <a:ext cx="8735644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63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5908D-CAE1-8285-4F43-34BBDB17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CAC6-6986-83CA-0906-832D7DB9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B61E9-FEDF-41AF-B2EC-C35949541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486917"/>
            <a:ext cx="7935595" cy="36933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 descr="A paper with numbers and equations&#10;&#10;Description automatically generated">
            <a:extLst>
              <a:ext uri="{FF2B5EF4-FFF2-40B4-BE49-F238E27FC236}">
                <a16:creationId xmlns:a16="http://schemas.microsoft.com/office/drawing/2014/main" id="{8C5D31F3-DF4E-D0F8-92BD-8E1166DB3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1" y="1295400"/>
            <a:ext cx="8754697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4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1621</Words>
  <Application>Microsoft Office PowerPoint</Application>
  <PresentationFormat>On-screen Show (4:3)</PresentationFormat>
  <Paragraphs>154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Symbol</vt:lpstr>
      <vt:lpstr>Times New Roman</vt:lpstr>
      <vt:lpstr>Office Theme</vt:lpstr>
      <vt:lpstr>CHAPTER 5</vt:lpstr>
      <vt:lpstr>SECTION 5.6</vt:lpstr>
      <vt:lpstr>Defining Sequences Recursively</vt:lpstr>
      <vt:lpstr>Defining Sequences Recursively</vt:lpstr>
      <vt:lpstr>Defining Sequences Recursively</vt:lpstr>
      <vt:lpstr>Example 1 – Computing Terms of a Recursively Defined Sequence</vt:lpstr>
      <vt:lpstr>Example 1 – Solution</vt:lpstr>
      <vt:lpstr>Example 4 – Showing That a Sequence Given by an Explicit Formula Satisfies a Certain Recurrence Relation</vt:lpstr>
      <vt:lpstr>Example 4 – Solution</vt:lpstr>
      <vt:lpstr>Examples of Recursively Defined Sequences</vt:lpstr>
      <vt:lpstr>Examples of Recursively Defined Sequences</vt:lpstr>
      <vt:lpstr>Example 5 – The Tower of Hanoi</vt:lpstr>
      <vt:lpstr>Example 5 – The Tower of Hanoi</vt:lpstr>
      <vt:lpstr>Example 5 – Solution</vt:lpstr>
      <vt:lpstr>Example 5 – Solution</vt:lpstr>
      <vt:lpstr>Example 5 – Solution</vt:lpstr>
      <vt:lpstr>Example 5 – Solution</vt:lpstr>
      <vt:lpstr>Example 5 – Solution</vt:lpstr>
      <vt:lpstr>Example 5 – Solution</vt:lpstr>
      <vt:lpstr>Example 5 – Solution</vt:lpstr>
      <vt:lpstr>Example 5 – Solution</vt:lpstr>
      <vt:lpstr>Example 5 – Solution</vt:lpstr>
      <vt:lpstr>Example 5 – Solution</vt:lpstr>
      <vt:lpstr>Example 5 – Solution</vt:lpstr>
      <vt:lpstr>Recursive Definitions of Sum and Product</vt:lpstr>
      <vt:lpstr>Recursive Definitions of Sum and Product</vt:lpstr>
      <vt:lpstr>Recursive Definitions of Sum and Product</vt:lpstr>
      <vt:lpstr>Compound Interest</vt:lpstr>
      <vt:lpstr>Solution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EppDm4_05_06.ppt [Compatibility Mode]</dc:title>
  <dc:creator>Noriko</dc:creator>
  <cp:lastModifiedBy>Fehmida Usmani</cp:lastModifiedBy>
  <cp:revision>11</cp:revision>
  <dcterms:created xsi:type="dcterms:W3CDTF">2024-10-09T01:09:23Z</dcterms:created>
  <dcterms:modified xsi:type="dcterms:W3CDTF">2024-10-09T06:41:25Z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2024-10-09T00:00:00Z</vt:filetime>
  </property>
  <property fmtid="{D5CDD505-2E9C-101B-9397-08002B2CF9AE}" pid="5" name="Producer">
    <vt:lpwstr>3-Heights(TM) PDF Security Shell 4.8.25.2 (http://www.pdf-tools.com)</vt:lpwstr>
  </property>
</Properties>
</file>