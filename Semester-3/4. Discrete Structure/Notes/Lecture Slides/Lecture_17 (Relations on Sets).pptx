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4456" y="900176"/>
            <a:ext cx="48247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" y="8427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0915" y="49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85215" y="60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900176"/>
            <a:ext cx="73367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40" y="1944117"/>
            <a:ext cx="8018145" cy="505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06847" y="6924648"/>
            <a:ext cx="344423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602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97349" y="587756"/>
            <a:ext cx="204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dirty="0">
                <a:latin typeface="Arial MT"/>
                <a:cs typeface="Arial MT"/>
              </a:rPr>
              <a:t>Copyright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Cengage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2508" y="1162304"/>
            <a:ext cx="2861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FFFFFF"/>
                </a:solidFill>
                <a:latin typeface="Arial MT"/>
                <a:cs typeface="Arial MT"/>
              </a:rPr>
              <a:t>RELATIONS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0830" y="3209038"/>
            <a:ext cx="4006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5659E"/>
                </a:solidFill>
                <a:latin typeface="Arial MT"/>
                <a:cs typeface="Arial MT"/>
              </a:rPr>
              <a:t>Relations</a:t>
            </a:r>
            <a:r>
              <a:rPr sz="4000" spc="-105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5659E"/>
                </a:solidFill>
                <a:latin typeface="Arial MT"/>
                <a:cs typeface="Arial MT"/>
              </a:rPr>
              <a:t>on</a:t>
            </a:r>
            <a:r>
              <a:rPr sz="4000" spc="-110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4000" spc="-20" dirty="0">
                <a:solidFill>
                  <a:srgbClr val="15659E"/>
                </a:solidFill>
                <a:latin typeface="Arial MT"/>
                <a:cs typeface="Arial MT"/>
              </a:rPr>
              <a:t>Sets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7615" y="2667000"/>
            <a:ext cx="8563610" cy="1629410"/>
            <a:chOff x="737615" y="2667000"/>
            <a:chExt cx="8563610" cy="1629410"/>
          </a:xfrm>
        </p:grpSpPr>
        <p:sp>
          <p:nvSpPr>
            <p:cNvPr id="4" name="object 4"/>
            <p:cNvSpPr/>
            <p:nvPr/>
          </p:nvSpPr>
          <p:spPr>
            <a:xfrm>
              <a:off x="2156460" y="2944368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7615" y="2667000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1512" y="2750314"/>
            <a:ext cx="2045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2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8.1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dirty="0">
                <a:latin typeface="Arial MT"/>
                <a:cs typeface="Arial MT"/>
              </a:rPr>
              <a:t>Copyright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Cengage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Relations</a:t>
            </a:r>
            <a:r>
              <a:rPr i="0" spc="-10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on</a:t>
            </a:r>
            <a:r>
              <a:rPr i="0" spc="-110" dirty="0">
                <a:latin typeface="Arial MT"/>
                <a:cs typeface="Arial MT"/>
              </a:rPr>
              <a:t> </a:t>
            </a:r>
            <a:r>
              <a:rPr i="0" spc="-20" dirty="0">
                <a:latin typeface="Arial MT"/>
                <a:cs typeface="Arial MT"/>
              </a:rPr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57515" cy="470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binary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relation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Cartesian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n</a:t>
            </a:r>
            <a:r>
              <a:rPr sz="2400" spc="-20" dirty="0">
                <a:latin typeface="Arial MT"/>
                <a:cs typeface="Arial MT"/>
              </a:rPr>
              <a:t>-</a:t>
            </a:r>
            <a:r>
              <a:rPr sz="2400" i="1" dirty="0">
                <a:latin typeface="Arial"/>
                <a:cs typeface="Arial"/>
              </a:rPr>
              <a:t>ary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relation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subset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Cartesian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sets,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greater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two.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27749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fundamental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databases.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However,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relation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itself,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87044"/>
            <a:ext cx="79895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i="0" dirty="0">
                <a:latin typeface="Arial MT"/>
                <a:cs typeface="Arial MT"/>
              </a:rPr>
              <a:t>Example</a:t>
            </a:r>
            <a:r>
              <a:rPr sz="2900" i="0" spc="-40" dirty="0">
                <a:latin typeface="Arial MT"/>
                <a:cs typeface="Arial MT"/>
              </a:rPr>
              <a:t> </a:t>
            </a:r>
            <a:r>
              <a:rPr sz="2900" i="0" dirty="0">
                <a:latin typeface="Arial MT"/>
                <a:cs typeface="Arial MT"/>
              </a:rPr>
              <a:t>2</a:t>
            </a:r>
            <a:r>
              <a:rPr sz="2900" i="0" spc="-15" dirty="0">
                <a:latin typeface="Arial MT"/>
                <a:cs typeface="Arial MT"/>
              </a:rPr>
              <a:t> </a:t>
            </a:r>
            <a:r>
              <a:rPr sz="2900" i="0" dirty="0">
                <a:latin typeface="Arial MT"/>
                <a:cs typeface="Arial MT"/>
              </a:rPr>
              <a:t>–</a:t>
            </a:r>
            <a:r>
              <a:rPr sz="2900" i="0" spc="-15" dirty="0">
                <a:latin typeface="Arial MT"/>
                <a:cs typeface="Arial MT"/>
              </a:rPr>
              <a:t> </a:t>
            </a:r>
            <a:r>
              <a:rPr sz="2900" dirty="0"/>
              <a:t>The</a:t>
            </a:r>
            <a:r>
              <a:rPr sz="2900" spc="-15" dirty="0"/>
              <a:t> </a:t>
            </a:r>
            <a:r>
              <a:rPr sz="2900" dirty="0"/>
              <a:t>Congruence</a:t>
            </a:r>
            <a:r>
              <a:rPr sz="2900" spc="-50" dirty="0"/>
              <a:t> </a:t>
            </a:r>
            <a:r>
              <a:rPr sz="2900" dirty="0"/>
              <a:t>Modulo</a:t>
            </a:r>
            <a:r>
              <a:rPr sz="2900" spc="-50" dirty="0"/>
              <a:t> </a:t>
            </a:r>
            <a:r>
              <a:rPr sz="2900" dirty="0"/>
              <a:t>2</a:t>
            </a:r>
            <a:r>
              <a:rPr sz="2900" spc="-15" dirty="0"/>
              <a:t> </a:t>
            </a:r>
            <a:r>
              <a:rPr sz="2900" spc="-10" dirty="0"/>
              <a:t>Relation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6604000" cy="456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76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Z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Z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follows: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all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Z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Arial"/>
                <a:cs typeface="Arial"/>
              </a:rPr>
              <a:t>Z</a:t>
            </a:r>
            <a:r>
              <a:rPr sz="2400" spc="-25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20"/>
              </a:spcBef>
            </a:pPr>
            <a:endParaRPr sz="2400" dirty="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  <a:tabLst>
                <a:tab pos="349250" algn="l"/>
              </a:tabLst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0? 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6?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(–3)?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2?</a:t>
            </a:r>
            <a:endParaRPr sz="2400" dirty="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65125" algn="l"/>
              </a:tabLst>
            </a:pPr>
            <a:r>
              <a:rPr sz="2400" dirty="0">
                <a:latin typeface="Arial MT"/>
                <a:cs typeface="Arial MT"/>
              </a:rPr>
              <a:t>List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1.</a:t>
            </a:r>
            <a:endParaRPr sz="2400" dirty="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49250" algn="l"/>
              </a:tabLst>
            </a:pP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odd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1.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sz="2400" dirty="0">
                <a:latin typeface="Arial MT"/>
                <a:cs typeface="Arial MT"/>
              </a:rPr>
              <a:t>Yes,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1775"/>
              </a:spcBef>
            </a:pPr>
            <a:r>
              <a:rPr sz="2400" dirty="0">
                <a:latin typeface="Arial MT"/>
                <a:cs typeface="Arial MT"/>
              </a:rPr>
              <a:t>Yes,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–4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–4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760" y="2763621"/>
            <a:ext cx="3293699" cy="2291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2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1944117"/>
            <a:ext cx="7011034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Yes,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(–3)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(–3)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2590"/>
              </a:spcBef>
              <a:tabLst>
                <a:tab pos="1499870" algn="l"/>
              </a:tabLst>
            </a:pPr>
            <a:r>
              <a:rPr sz="2400" dirty="0">
                <a:latin typeface="Arial MT"/>
                <a:cs typeface="Arial MT"/>
              </a:rPr>
              <a:t>No,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5</a:t>
            </a:r>
            <a:r>
              <a:rPr sz="2400" dirty="0">
                <a:latin typeface="Arial MT"/>
                <a:cs typeface="Arial MT"/>
              </a:rPr>
              <a:t>	2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b.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lists.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even,</a:t>
            </a:r>
            <a:endParaRPr sz="2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2255"/>
              </a:spcBef>
            </a:pPr>
            <a:r>
              <a:rPr sz="2400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even,</a:t>
            </a:r>
            <a:endParaRPr sz="2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2255"/>
              </a:spcBef>
            </a:pPr>
            <a:r>
              <a:rPr sz="2400" dirty="0">
                <a:latin typeface="Arial MT"/>
                <a:cs typeface="Arial MT"/>
              </a:rPr>
              <a:t>5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even,</a:t>
            </a:r>
            <a:endParaRPr sz="2400">
              <a:latin typeface="Arial MT"/>
              <a:cs typeface="Arial MT"/>
            </a:endParaRPr>
          </a:p>
          <a:p>
            <a:pPr marL="2318385">
              <a:lnSpc>
                <a:spcPct val="100000"/>
              </a:lnSpc>
              <a:spcBef>
                <a:spcPts val="2495"/>
              </a:spcBef>
            </a:pPr>
            <a:r>
              <a:rPr sz="2400" dirty="0">
                <a:latin typeface="Arial MT"/>
                <a:cs typeface="Arial MT"/>
              </a:rPr>
              <a:t>–1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even,</a:t>
            </a:r>
            <a:endParaRPr sz="2400">
              <a:latin typeface="Arial MT"/>
              <a:cs typeface="Arial MT"/>
            </a:endParaRPr>
          </a:p>
          <a:p>
            <a:pPr marL="2318385">
              <a:lnSpc>
                <a:spcPct val="100000"/>
              </a:lnSpc>
              <a:spcBef>
                <a:spcPts val="2500"/>
              </a:spcBef>
            </a:pPr>
            <a:r>
              <a:rPr sz="2400" dirty="0">
                <a:latin typeface="Arial MT"/>
                <a:cs typeface="Arial MT"/>
              </a:rPr>
              <a:t>–3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–4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0305" y="2692124"/>
            <a:ext cx="212445" cy="280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1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40" y="1870965"/>
            <a:ext cx="7856855" cy="5109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Arial"/>
                <a:cs typeface="Arial"/>
              </a:rPr>
              <a:t>c.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Proof: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odd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integer.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735"/>
              </a:spcBef>
            </a:pP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62560" algn="ctr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 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2</a:t>
            </a:r>
            <a:r>
              <a:rPr sz="2400" i="1" spc="-25" dirty="0">
                <a:latin typeface="Arial"/>
                <a:cs typeface="Arial"/>
              </a:rPr>
              <a:t>k</a:t>
            </a:r>
            <a:r>
              <a:rPr sz="2400" spc="-2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55600" marR="2586355" indent="-5080">
              <a:lnSpc>
                <a:spcPts val="6340"/>
              </a:lnSpc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even. </a:t>
            </a: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[as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was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be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shown]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1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40" y="1944117"/>
            <a:ext cx="766635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if,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mod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mod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25" dirty="0">
                <a:latin typeface="Arial MT"/>
                <a:cs typeface="Arial MT"/>
              </a:rPr>
              <a:t> or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odd).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61722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said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congruent </a:t>
            </a:r>
            <a:r>
              <a:rPr sz="2400" b="1" dirty="0">
                <a:latin typeface="Arial"/>
                <a:cs typeface="Arial"/>
              </a:rPr>
              <a:t>modulo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2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1213" y="3753106"/>
            <a:ext cx="5699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i="0" spc="-5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Inverse</a:t>
            </a:r>
            <a:r>
              <a:rPr i="0" spc="-6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of</a:t>
            </a:r>
            <a:r>
              <a:rPr i="0" spc="-5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i="0" spc="-6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spc="-10" dirty="0">
                <a:solidFill>
                  <a:srgbClr val="00ADEE"/>
                </a:solidFill>
                <a:latin typeface="Arial MT"/>
                <a:cs typeface="Arial MT"/>
              </a:rPr>
              <a:t>Relation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The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Inverse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of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a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spc="-10" dirty="0">
                <a:latin typeface="Arial MT"/>
                <a:cs typeface="Arial MT"/>
              </a:rPr>
              <a:t>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264" y="1944117"/>
            <a:ext cx="80264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 from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spc="-7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50" dirty="0">
                <a:latin typeface="Arial"/>
                <a:cs typeface="Arial"/>
              </a:rPr>
              <a:t>A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interchanging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ordered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R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528568"/>
            <a:ext cx="7212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operationally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27" y="3287015"/>
            <a:ext cx="8222666" cy="16512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6962" y="6209348"/>
            <a:ext cx="6035588" cy="70294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62660"/>
            <a:ext cx="8032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latin typeface="Arial MT"/>
                <a:cs typeface="Arial MT"/>
              </a:rPr>
              <a:t>Example</a:t>
            </a:r>
            <a:r>
              <a:rPr sz="3200" i="0" spc="-40" dirty="0">
                <a:latin typeface="Arial MT"/>
                <a:cs typeface="Arial MT"/>
              </a:rPr>
              <a:t> </a:t>
            </a:r>
            <a:r>
              <a:rPr sz="3200" i="0" dirty="0">
                <a:latin typeface="Arial MT"/>
                <a:cs typeface="Arial MT"/>
              </a:rPr>
              <a:t>4</a:t>
            </a:r>
            <a:r>
              <a:rPr sz="3200" i="0" spc="-30" dirty="0">
                <a:latin typeface="Arial MT"/>
                <a:cs typeface="Arial MT"/>
              </a:rPr>
              <a:t> </a:t>
            </a:r>
            <a:r>
              <a:rPr sz="3200" i="0" dirty="0">
                <a:latin typeface="Arial MT"/>
                <a:cs typeface="Arial MT"/>
              </a:rPr>
              <a:t>–</a:t>
            </a:r>
            <a:r>
              <a:rPr sz="3200" i="0" spc="-25" dirty="0">
                <a:latin typeface="Arial MT"/>
                <a:cs typeface="Arial MT"/>
              </a:rPr>
              <a:t> </a:t>
            </a:r>
            <a:r>
              <a:rPr sz="3200" dirty="0"/>
              <a:t>The</a:t>
            </a:r>
            <a:r>
              <a:rPr sz="3200" spc="-40" dirty="0"/>
              <a:t> </a:t>
            </a:r>
            <a:r>
              <a:rPr sz="3200" dirty="0"/>
              <a:t>Inverse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25" dirty="0"/>
              <a:t> </a:t>
            </a:r>
            <a:r>
              <a:rPr sz="3200" dirty="0"/>
              <a:t>a</a:t>
            </a:r>
            <a:r>
              <a:rPr sz="3200" spc="-25" dirty="0"/>
              <a:t> </a:t>
            </a:r>
            <a:r>
              <a:rPr sz="3200" dirty="0"/>
              <a:t>Finite</a:t>
            </a:r>
            <a:r>
              <a:rPr sz="3200" spc="-30" dirty="0"/>
              <a:t> </a:t>
            </a:r>
            <a:r>
              <a:rPr sz="3200" spc="-10" dirty="0"/>
              <a:t>Relation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879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{2,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4}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{2,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8}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“divides”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Arial"/>
                <a:cs typeface="Arial"/>
              </a:rPr>
              <a:t>B</a:t>
            </a:r>
            <a:r>
              <a:rPr sz="2400" spc="-25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164" y="3626614"/>
            <a:ext cx="7563484" cy="336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 indent="336550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412750" algn="l"/>
              </a:tabLst>
            </a:pPr>
            <a:r>
              <a:rPr sz="2400" dirty="0">
                <a:latin typeface="Arial MT"/>
                <a:cs typeface="Arial MT"/>
              </a:rPr>
              <a:t>State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explicitly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R</a:t>
            </a:r>
            <a:r>
              <a:rPr sz="2400" spc="-30" baseline="24305" dirty="0">
                <a:latin typeface="Arial MT"/>
                <a:cs typeface="Arial MT"/>
              </a:rPr>
              <a:t>–1</a:t>
            </a:r>
            <a:r>
              <a:rPr sz="2400" spc="-20" dirty="0">
                <a:latin typeface="Arial MT"/>
                <a:cs typeface="Arial MT"/>
              </a:rPr>
              <a:t>,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draw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diagrams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R</a:t>
            </a:r>
            <a:r>
              <a:rPr sz="2400" spc="-30" baseline="24305" dirty="0">
                <a:latin typeface="Arial MT"/>
                <a:cs typeface="Arial MT"/>
              </a:rPr>
              <a:t>–1</a:t>
            </a:r>
            <a:r>
              <a:rPr sz="2400" spc="-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428625" indent="-352425">
              <a:lnSpc>
                <a:spcPct val="100000"/>
              </a:lnSpc>
              <a:spcBef>
                <a:spcPts val="1775"/>
              </a:spcBef>
              <a:buFont typeface="Arial"/>
              <a:buAutoNum type="alphaLcPeriod"/>
              <a:tabLst>
                <a:tab pos="428625" algn="l"/>
              </a:tabLst>
            </a:pPr>
            <a:r>
              <a:rPr sz="2400" dirty="0">
                <a:latin typeface="Arial MT"/>
                <a:cs typeface="Arial MT"/>
              </a:rPr>
              <a:t>Describe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spc="292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words.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412750" indent="-336550">
              <a:lnSpc>
                <a:spcPct val="100000"/>
              </a:lnSpc>
              <a:buFont typeface="Arial"/>
              <a:buAutoNum type="alphaLcPeriod"/>
              <a:tabLst>
                <a:tab pos="412750" algn="l"/>
              </a:tabLst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{(2,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6),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(3,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(4,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8)}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Arial MT"/>
              <a:cs typeface="Arial MT"/>
            </a:endParaRPr>
          </a:p>
          <a:p>
            <a:pPr marL="41402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spc="292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{(2,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2),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(6,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2),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(8,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2),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(6,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3),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(8,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4)}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948" y="3000516"/>
            <a:ext cx="4324266" cy="2995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3" name="object 3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4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937" y="2160789"/>
            <a:ext cx="2528000" cy="1564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9264" y="4138679"/>
            <a:ext cx="7991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draw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diagram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copy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arrow </a:t>
            </a:r>
            <a:r>
              <a:rPr sz="2400" dirty="0">
                <a:latin typeface="Arial MT"/>
                <a:cs typeface="Arial MT"/>
              </a:rPr>
              <a:t>diagram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reverse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directions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arrows.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0424" y="5211836"/>
            <a:ext cx="2528546" cy="15643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664" y="1944117"/>
            <a:ext cx="7327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redraw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diagram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left.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264" y="4748279"/>
            <a:ext cx="6147435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920" marR="152400" indent="-3384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b.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spc="300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described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follows: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Arial"/>
                <a:cs typeface="Arial"/>
              </a:rPr>
              <a:t>A</a:t>
            </a:r>
            <a:r>
              <a:rPr sz="2400" spc="-2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2183765">
              <a:lnSpc>
                <a:spcPct val="100000"/>
              </a:lnSpc>
              <a:spcBef>
                <a:spcPts val="1200"/>
              </a:spcBef>
            </a:pP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baseline="24305" dirty="0">
                <a:latin typeface="Arial MT"/>
                <a:cs typeface="Arial MT"/>
              </a:rPr>
              <a:t>–1</a:t>
            </a:r>
            <a:r>
              <a:rPr sz="2400" spc="307" baseline="2430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⇔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x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4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8396" y="2576557"/>
            <a:ext cx="2394598" cy="156343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8689" y="3753106"/>
            <a:ext cx="6463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Directed</a:t>
            </a:r>
            <a:r>
              <a:rPr i="0" spc="-8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Graph</a:t>
            </a:r>
            <a:r>
              <a:rPr i="0" spc="-6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of</a:t>
            </a:r>
            <a:r>
              <a:rPr i="0" spc="-8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i="0" spc="-8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spc="-10" dirty="0">
                <a:solidFill>
                  <a:srgbClr val="00ADEE"/>
                </a:solidFill>
                <a:latin typeface="Arial MT"/>
                <a:cs typeface="Arial MT"/>
              </a:rPr>
              <a:t>Relation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Arial MT"/>
                <a:cs typeface="Arial MT"/>
              </a:rPr>
              <a:t>Directed</a:t>
            </a:r>
            <a:r>
              <a:rPr sz="3600" i="0" spc="-3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Graph</a:t>
            </a:r>
            <a:r>
              <a:rPr sz="3600" i="0" spc="-20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30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a</a:t>
            </a:r>
            <a:r>
              <a:rPr sz="3600" i="0" spc="-20" dirty="0">
                <a:latin typeface="Arial MT"/>
                <a:cs typeface="Arial MT"/>
              </a:rPr>
              <a:t> </a:t>
            </a:r>
            <a:r>
              <a:rPr sz="3600" i="0" spc="-10" dirty="0">
                <a:latin typeface="Arial MT"/>
                <a:cs typeface="Arial MT"/>
              </a:rPr>
              <a:t>Relation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3260854"/>
            <a:ext cx="7937500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on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diagram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modified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becomes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b="1" dirty="0">
                <a:latin typeface="Arial"/>
                <a:cs typeface="Arial"/>
              </a:rPr>
              <a:t>directed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graph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7048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Instead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points, </a:t>
            </a:r>
            <a:r>
              <a:rPr sz="2400" dirty="0">
                <a:latin typeface="Arial MT"/>
                <a:cs typeface="Arial MT"/>
              </a:rPr>
              <a:t>represent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once,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draw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3" y="2052827"/>
            <a:ext cx="8231123" cy="8199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Arial MT"/>
                <a:cs typeface="Arial MT"/>
              </a:rPr>
              <a:t>Directed</a:t>
            </a:r>
            <a:r>
              <a:rPr sz="3600" i="0" spc="-3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Graph</a:t>
            </a:r>
            <a:r>
              <a:rPr sz="3600" i="0" spc="-20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30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a</a:t>
            </a:r>
            <a:r>
              <a:rPr sz="3600" i="0" spc="-20" dirty="0">
                <a:latin typeface="Arial MT"/>
                <a:cs typeface="Arial MT"/>
              </a:rPr>
              <a:t> </a:t>
            </a:r>
            <a:r>
              <a:rPr sz="3600" i="0" spc="-10" dirty="0">
                <a:latin typeface="Arial MT"/>
                <a:cs typeface="Arial MT"/>
              </a:rPr>
              <a:t>Relation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473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ordinary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diagram,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4138679"/>
            <a:ext cx="8038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itself,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loop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drawn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extends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out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603" y="2517537"/>
            <a:ext cx="6534627" cy="10366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48944"/>
            <a:ext cx="80149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i="0" dirty="0">
                <a:latin typeface="Arial MT"/>
                <a:cs typeface="Arial MT"/>
              </a:rPr>
              <a:t>Example</a:t>
            </a:r>
            <a:r>
              <a:rPr sz="3400" i="0" spc="-30" dirty="0">
                <a:latin typeface="Arial MT"/>
                <a:cs typeface="Arial MT"/>
              </a:rPr>
              <a:t> </a:t>
            </a:r>
            <a:r>
              <a:rPr sz="3400" i="0" dirty="0">
                <a:latin typeface="Arial MT"/>
                <a:cs typeface="Arial MT"/>
              </a:rPr>
              <a:t>6</a:t>
            </a:r>
            <a:r>
              <a:rPr sz="3400" i="0" spc="-15" dirty="0">
                <a:latin typeface="Arial MT"/>
                <a:cs typeface="Arial MT"/>
              </a:rPr>
              <a:t> </a:t>
            </a:r>
            <a:r>
              <a:rPr sz="3400" i="0" dirty="0">
                <a:latin typeface="Arial MT"/>
                <a:cs typeface="Arial MT"/>
              </a:rPr>
              <a:t>–</a:t>
            </a:r>
            <a:r>
              <a:rPr sz="3400" i="0" spc="-30" dirty="0">
                <a:latin typeface="Arial MT"/>
                <a:cs typeface="Arial MT"/>
              </a:rPr>
              <a:t> </a:t>
            </a:r>
            <a:r>
              <a:rPr sz="3400" dirty="0"/>
              <a:t>Directed</a:t>
            </a:r>
            <a:r>
              <a:rPr sz="3400" spc="-15" dirty="0"/>
              <a:t> </a:t>
            </a:r>
            <a:r>
              <a:rPr sz="3400" dirty="0"/>
              <a:t>Graph</a:t>
            </a:r>
            <a:r>
              <a:rPr sz="3400" spc="5" dirty="0"/>
              <a:t> </a:t>
            </a:r>
            <a:r>
              <a:rPr sz="3400" dirty="0"/>
              <a:t>of</a:t>
            </a:r>
            <a:r>
              <a:rPr sz="3400" spc="-10" dirty="0"/>
              <a:t> </a:t>
            </a:r>
            <a:r>
              <a:rPr sz="3400" dirty="0"/>
              <a:t>a</a:t>
            </a:r>
            <a:r>
              <a:rPr sz="3400" spc="-30" dirty="0"/>
              <a:t> </a:t>
            </a:r>
            <a:r>
              <a:rPr sz="3400" spc="-10" dirty="0"/>
              <a:t>Relation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3885">
              <a:lnSpc>
                <a:spcPct val="100000"/>
              </a:lnSpc>
              <a:spcBef>
                <a:spcPts val="100"/>
              </a:spcBef>
            </a:pPr>
            <a:r>
              <a:rPr dirty="0"/>
              <a:t>Let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{3,</a:t>
            </a:r>
            <a:r>
              <a:rPr spc="-40" dirty="0"/>
              <a:t> </a:t>
            </a:r>
            <a:r>
              <a:rPr dirty="0"/>
              <a:t>4,</a:t>
            </a:r>
            <a:r>
              <a:rPr spc="-35" dirty="0"/>
              <a:t> </a:t>
            </a:r>
            <a:r>
              <a:rPr dirty="0"/>
              <a:t>5,</a:t>
            </a:r>
            <a:r>
              <a:rPr spc="-30" dirty="0"/>
              <a:t> </a:t>
            </a:r>
            <a:r>
              <a:rPr dirty="0"/>
              <a:t>6,</a:t>
            </a:r>
            <a:r>
              <a:rPr spc="-30" dirty="0"/>
              <a:t> </a:t>
            </a:r>
            <a:r>
              <a:rPr dirty="0"/>
              <a:t>7,</a:t>
            </a:r>
            <a:r>
              <a:rPr spc="-35" dirty="0"/>
              <a:t> </a:t>
            </a:r>
            <a:r>
              <a:rPr dirty="0"/>
              <a:t>8}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define</a:t>
            </a:r>
            <a:r>
              <a:rPr spc="-1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relation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spc="-25" dirty="0"/>
              <a:t>as </a:t>
            </a:r>
            <a:r>
              <a:rPr dirty="0"/>
              <a:t>follows:</a:t>
            </a:r>
            <a:r>
              <a:rPr spc="-1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dirty="0">
                <a:latin typeface="Cambria Math"/>
                <a:cs typeface="Cambria Math"/>
              </a:rPr>
              <a:t>∈</a:t>
            </a:r>
            <a:r>
              <a:rPr spc="105" dirty="0">
                <a:latin typeface="Cambria Math"/>
                <a:cs typeface="Cambria Math"/>
              </a:rPr>
              <a:t> </a:t>
            </a:r>
            <a:r>
              <a:rPr i="1" spc="-25" dirty="0">
                <a:latin typeface="Arial"/>
                <a:cs typeface="Arial"/>
              </a:rPr>
              <a:t>A</a:t>
            </a:r>
            <a:r>
              <a:rPr spc="-25" dirty="0"/>
              <a:t>,</a:t>
            </a:r>
          </a:p>
          <a:p>
            <a:pPr marL="20320" algn="ctr">
              <a:lnSpc>
                <a:spcPct val="100000"/>
              </a:lnSpc>
              <a:spcBef>
                <a:spcPts val="1585"/>
              </a:spcBef>
            </a:pPr>
            <a:r>
              <a:rPr i="1" dirty="0">
                <a:latin typeface="Arial"/>
                <a:cs typeface="Arial"/>
              </a:rPr>
              <a:t>x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dirty="0">
                <a:latin typeface="Cambria Math"/>
                <a:cs typeface="Cambria Math"/>
              </a:rPr>
              <a:t>⇔</a:t>
            </a:r>
            <a:r>
              <a:rPr spc="130" dirty="0">
                <a:latin typeface="Cambria Math"/>
                <a:cs typeface="Cambria Math"/>
              </a:rPr>
              <a:t> </a:t>
            </a:r>
            <a:r>
              <a:rPr dirty="0"/>
              <a:t>2</a:t>
            </a:r>
            <a:r>
              <a:rPr spc="-10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i="1" spc="-25" dirty="0">
                <a:latin typeface="Arial"/>
                <a:cs typeface="Arial"/>
              </a:rPr>
              <a:t>y</a:t>
            </a:r>
            <a:r>
              <a:rPr spc="-25" dirty="0"/>
              <a:t>).</a:t>
            </a:r>
          </a:p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dirty="0"/>
              <a:t>Draw</a:t>
            </a:r>
            <a:r>
              <a:rPr spc="-5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directed</a:t>
            </a:r>
            <a:r>
              <a:rPr spc="-45" dirty="0"/>
              <a:t> </a:t>
            </a:r>
            <a:r>
              <a:rPr dirty="0"/>
              <a:t>graph</a:t>
            </a:r>
            <a:r>
              <a:rPr spc="-4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i="1" spc="-25" dirty="0">
                <a:latin typeface="Arial"/>
                <a:cs typeface="Arial"/>
              </a:rPr>
              <a:t>R</a:t>
            </a:r>
            <a:r>
              <a:rPr spc="-25" dirty="0"/>
              <a:t>.</a:t>
            </a: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pc="-25" dirty="0"/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ADEE"/>
                </a:solidFill>
              </a:rPr>
              <a:t>Solution:</a:t>
            </a:r>
          </a:p>
          <a:p>
            <a:pPr marL="12700" marR="85090">
              <a:lnSpc>
                <a:spcPct val="100000"/>
              </a:lnSpc>
            </a:pPr>
            <a:r>
              <a:rPr dirty="0"/>
              <a:t>Note</a:t>
            </a:r>
            <a:r>
              <a:rPr spc="-5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because 3</a:t>
            </a:r>
            <a:r>
              <a:rPr spc="-3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0</a:t>
            </a:r>
            <a:r>
              <a:rPr spc="-2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0</a:t>
            </a:r>
            <a:r>
              <a:rPr spc="-35" dirty="0"/>
              <a:t> </a:t>
            </a:r>
            <a:r>
              <a:rPr dirty="0"/>
              <a:t>since</a:t>
            </a:r>
            <a:r>
              <a:rPr spc="-10" dirty="0"/>
              <a:t> </a:t>
            </a:r>
            <a:r>
              <a:rPr dirty="0"/>
              <a:t>0</a:t>
            </a:r>
            <a:r>
              <a:rPr spc="-2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pc="-25" dirty="0"/>
              <a:t>0. </a:t>
            </a:r>
            <a:r>
              <a:rPr dirty="0"/>
              <a:t>Thus</a:t>
            </a:r>
            <a:r>
              <a:rPr spc="-30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loop</a:t>
            </a:r>
            <a:r>
              <a:rPr spc="-10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3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itself.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2595"/>
              </a:spcBef>
            </a:pPr>
            <a:r>
              <a:rPr dirty="0"/>
              <a:t>Similarly,</a:t>
            </a:r>
            <a:r>
              <a:rPr spc="-10" dirty="0"/>
              <a:t> </a:t>
            </a:r>
            <a:r>
              <a:rPr dirty="0"/>
              <a:t>there</a:t>
            </a:r>
            <a:r>
              <a:rPr spc="-5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loop</a:t>
            </a:r>
            <a:r>
              <a:rPr spc="-25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4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itself,</a:t>
            </a:r>
            <a:r>
              <a:rPr spc="-45" dirty="0"/>
              <a:t> </a:t>
            </a:r>
            <a:r>
              <a:rPr dirty="0"/>
              <a:t>from</a:t>
            </a:r>
            <a:r>
              <a:rPr spc="-50" dirty="0"/>
              <a:t> </a:t>
            </a:r>
            <a:r>
              <a:rPr dirty="0"/>
              <a:t>5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itself,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dirty="0"/>
              <a:t>so</a:t>
            </a:r>
            <a:r>
              <a:rPr spc="-55" dirty="0"/>
              <a:t> </a:t>
            </a:r>
            <a:r>
              <a:rPr dirty="0"/>
              <a:t>forth,</a:t>
            </a:r>
            <a:r>
              <a:rPr spc="-80" dirty="0"/>
              <a:t> </a:t>
            </a:r>
            <a:r>
              <a:rPr dirty="0"/>
              <a:t>since</a:t>
            </a:r>
            <a:r>
              <a:rPr spc="-4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difference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each</a:t>
            </a:r>
            <a:r>
              <a:rPr spc="-50" dirty="0"/>
              <a:t> </a:t>
            </a:r>
            <a:r>
              <a:rPr dirty="0"/>
              <a:t>integer</a:t>
            </a:r>
            <a:r>
              <a:rPr spc="-3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itself</a:t>
            </a:r>
            <a:r>
              <a:rPr spc="-4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25" dirty="0"/>
              <a:t>0,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spc="-25" dirty="0"/>
              <a:t>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6</a:t>
            </a:r>
            <a:r>
              <a:rPr i="0" spc="-6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93140" y="1944117"/>
            <a:ext cx="8018145" cy="2587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Note</a:t>
            </a:r>
            <a:r>
              <a:rPr spc="-65" dirty="0"/>
              <a:t> </a:t>
            </a:r>
            <a:r>
              <a:rPr dirty="0"/>
              <a:t>also</a:t>
            </a:r>
            <a:r>
              <a:rPr spc="-1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3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/>
              <a:t>5</a:t>
            </a:r>
            <a:r>
              <a:rPr spc="-25" dirty="0"/>
              <a:t> </a:t>
            </a:r>
            <a:r>
              <a:rPr dirty="0"/>
              <a:t>because</a:t>
            </a:r>
            <a:r>
              <a:rPr spc="-15" dirty="0"/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–2</a:t>
            </a:r>
            <a:r>
              <a:rPr spc="-2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lang="en-US" spc="-25" dirty="0"/>
              <a:t>. </a:t>
            </a:r>
            <a:r>
              <a:rPr spc="-10" dirty="0"/>
              <a:t>(–1).</a:t>
            </a:r>
            <a:r>
              <a:rPr spc="-155" dirty="0"/>
              <a:t> </a:t>
            </a:r>
            <a:r>
              <a:rPr spc="-25" dirty="0"/>
              <a:t>And</a:t>
            </a:r>
            <a:endParaRPr sz="20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/>
              <a:t>5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because</a:t>
            </a:r>
            <a:r>
              <a:rPr spc="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3</a:t>
            </a:r>
            <a:r>
              <a:rPr spc="-2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2</a:t>
            </a:r>
            <a:r>
              <a:rPr spc="-20" dirty="0"/>
              <a:t> </a:t>
            </a:r>
            <a:r>
              <a:rPr lang="en-US" spc="-20" dirty="0"/>
              <a:t>.</a:t>
            </a:r>
            <a:r>
              <a:rPr spc="-25" dirty="0"/>
              <a:t>1.</a:t>
            </a:r>
            <a:endParaRPr sz="2000" dirty="0">
              <a:latin typeface="Arial"/>
              <a:cs typeface="Arial"/>
            </a:endParaRPr>
          </a:p>
          <a:p>
            <a:pPr marL="13970" marR="5080">
              <a:lnSpc>
                <a:spcPct val="100000"/>
              </a:lnSpc>
              <a:spcBef>
                <a:spcPts val="1440"/>
              </a:spcBef>
            </a:pPr>
            <a:r>
              <a:rPr dirty="0"/>
              <a:t>Hence</a:t>
            </a:r>
            <a:r>
              <a:rPr spc="-35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arrow</a:t>
            </a:r>
            <a:r>
              <a:rPr spc="-45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3</a:t>
            </a:r>
            <a:r>
              <a:rPr spc="-4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5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arrow</a:t>
            </a:r>
            <a:r>
              <a:rPr spc="-35" dirty="0"/>
              <a:t> </a:t>
            </a:r>
            <a:r>
              <a:rPr spc="-20" dirty="0"/>
              <a:t>from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35" dirty="0"/>
              <a:t>3.</a:t>
            </a:r>
          </a:p>
          <a:p>
            <a:pPr marL="13970" marR="414655">
              <a:lnSpc>
                <a:spcPct val="100000"/>
              </a:lnSpc>
              <a:spcBef>
                <a:spcPts val="144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other</a:t>
            </a:r>
            <a:r>
              <a:rPr spc="-60" dirty="0"/>
              <a:t> </a:t>
            </a:r>
            <a:r>
              <a:rPr dirty="0"/>
              <a:t>arrows</a:t>
            </a:r>
            <a:r>
              <a:rPr spc="-4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directed</a:t>
            </a:r>
            <a:r>
              <a:rPr spc="-55" dirty="0"/>
              <a:t> </a:t>
            </a:r>
            <a:r>
              <a:rPr dirty="0"/>
              <a:t>graph,</a:t>
            </a:r>
            <a:r>
              <a:rPr spc="-4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shown</a:t>
            </a:r>
            <a:r>
              <a:rPr spc="-45" dirty="0"/>
              <a:t> </a:t>
            </a:r>
            <a:r>
              <a:rPr spc="-10" dirty="0"/>
              <a:t>below,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obtained</a:t>
            </a:r>
            <a:r>
              <a:rPr spc="-45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dirty="0"/>
              <a:t>similar</a:t>
            </a:r>
            <a:r>
              <a:rPr spc="-35" dirty="0"/>
              <a:t> </a:t>
            </a:r>
            <a:r>
              <a:rPr spc="-10" dirty="0"/>
              <a:t>reasoning.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5428" y="4588505"/>
            <a:ext cx="2129331" cy="24286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3137" y="3753106"/>
            <a:ext cx="69138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3455" marR="5080" indent="-2231390">
              <a:lnSpc>
                <a:spcPct val="100000"/>
              </a:lnSpc>
              <a:spcBef>
                <a:spcPts val="95"/>
              </a:spcBef>
            </a:pPr>
            <a:r>
              <a:rPr i="0" spc="-35" dirty="0">
                <a:solidFill>
                  <a:srgbClr val="00ADEE"/>
                </a:solidFill>
                <a:latin typeface="Arial MT"/>
                <a:cs typeface="Arial MT"/>
              </a:rPr>
              <a:t>N-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ary</a:t>
            </a:r>
            <a:r>
              <a:rPr i="0" spc="-8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Relations</a:t>
            </a:r>
            <a:r>
              <a:rPr i="0" spc="-7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dirty="0">
                <a:solidFill>
                  <a:srgbClr val="00ADEE"/>
                </a:solidFill>
                <a:latin typeface="Arial MT"/>
                <a:cs typeface="Arial MT"/>
              </a:rPr>
              <a:t>and</a:t>
            </a:r>
            <a:r>
              <a:rPr i="0" spc="-9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i="0" spc="-10" dirty="0">
                <a:solidFill>
                  <a:srgbClr val="00ADEE"/>
                </a:solidFill>
                <a:latin typeface="Arial MT"/>
                <a:cs typeface="Arial MT"/>
              </a:rPr>
              <a:t>Relational Databases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1AD8-7DB1-CEEE-0449-79840478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32" y="900176"/>
            <a:ext cx="7336790" cy="1231106"/>
          </a:xfrm>
        </p:spPr>
        <p:txBody>
          <a:bodyPr/>
          <a:lstStyle/>
          <a:p>
            <a:r>
              <a:rPr lang="en-US" sz="4000" i="0" spc="-20" dirty="0">
                <a:latin typeface="Arial MT"/>
                <a:cs typeface="Arial MT"/>
              </a:rPr>
              <a:t>N-</a:t>
            </a:r>
            <a:r>
              <a:rPr lang="en-US" sz="4000" i="0" dirty="0" err="1">
                <a:latin typeface="Arial MT"/>
                <a:cs typeface="Arial MT"/>
              </a:rPr>
              <a:t>ary</a:t>
            </a:r>
            <a:r>
              <a:rPr lang="en-US" sz="4000" i="0" spc="-5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Relations</a:t>
            </a:r>
            <a:r>
              <a:rPr lang="en-US" sz="4000" i="0" spc="-25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and</a:t>
            </a:r>
            <a:r>
              <a:rPr lang="en-US" sz="4000" i="0" spc="-20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Relational</a:t>
            </a:r>
            <a:r>
              <a:rPr lang="en-US" sz="4000" i="0" spc="-15" dirty="0">
                <a:latin typeface="Arial MT"/>
                <a:cs typeface="Arial MT"/>
              </a:rPr>
              <a:t> </a:t>
            </a:r>
            <a:r>
              <a:rPr lang="en-US" sz="4000" i="0" spc="-10" dirty="0">
                <a:latin typeface="Arial MT"/>
                <a:cs typeface="Arial MT"/>
              </a:rPr>
              <a:t>Databases</a:t>
            </a:r>
            <a:endParaRPr lang="en-US" dirty="0"/>
          </a:p>
        </p:txBody>
      </p:sp>
      <p:pic>
        <p:nvPicPr>
          <p:cNvPr id="7" name="Picture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8307DDF2-C4EE-08C2-03AC-7930D0F78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81201"/>
            <a:ext cx="9448800" cy="2790948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461F2E7-7962-FC34-AF14-F678F0B5E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72149"/>
            <a:ext cx="9448800" cy="21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74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26CD3-0D30-83F7-AFC1-D8F83E22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5344-E9C2-DCB9-45A6-9B6AAE70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32" y="900176"/>
            <a:ext cx="7336790" cy="1231106"/>
          </a:xfrm>
        </p:spPr>
        <p:txBody>
          <a:bodyPr/>
          <a:lstStyle/>
          <a:p>
            <a:r>
              <a:rPr lang="en-US" sz="4000" i="0" spc="-20" dirty="0">
                <a:latin typeface="Arial MT"/>
                <a:cs typeface="Arial MT"/>
              </a:rPr>
              <a:t>N-</a:t>
            </a:r>
            <a:r>
              <a:rPr lang="en-US" sz="4000" i="0" dirty="0" err="1">
                <a:latin typeface="Arial MT"/>
                <a:cs typeface="Arial MT"/>
              </a:rPr>
              <a:t>ary</a:t>
            </a:r>
            <a:r>
              <a:rPr lang="en-US" sz="4000" i="0" spc="-5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Relations</a:t>
            </a:r>
            <a:r>
              <a:rPr lang="en-US" sz="4000" i="0" spc="-25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and</a:t>
            </a:r>
            <a:r>
              <a:rPr lang="en-US" sz="4000" i="0" spc="-20" dirty="0">
                <a:latin typeface="Arial MT"/>
                <a:cs typeface="Arial MT"/>
              </a:rPr>
              <a:t> </a:t>
            </a:r>
            <a:r>
              <a:rPr lang="en-US" sz="4000" i="0" dirty="0">
                <a:latin typeface="Arial MT"/>
                <a:cs typeface="Arial MT"/>
              </a:rPr>
              <a:t>Relational</a:t>
            </a:r>
            <a:r>
              <a:rPr lang="en-US" sz="4000" i="0" spc="-15" dirty="0">
                <a:latin typeface="Arial MT"/>
                <a:cs typeface="Arial MT"/>
              </a:rPr>
              <a:t> </a:t>
            </a:r>
            <a:r>
              <a:rPr lang="en-US" sz="4000" i="0" spc="-10" dirty="0">
                <a:latin typeface="Arial MT"/>
                <a:cs typeface="Arial MT"/>
              </a:rPr>
              <a:t>Databases</a:t>
            </a:r>
            <a:endParaRPr lang="en-US" dirty="0"/>
          </a:p>
        </p:txBody>
      </p:sp>
      <p:pic>
        <p:nvPicPr>
          <p:cNvPr id="4" name="Picture 3" descr="A close up of a text&#10;&#10;Description automatically generated">
            <a:extLst>
              <a:ext uri="{FF2B5EF4-FFF2-40B4-BE49-F238E27FC236}">
                <a16:creationId xmlns:a16="http://schemas.microsoft.com/office/drawing/2014/main" id="{6425BE21-26A6-4A19-802F-60B1CEA0F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38400"/>
            <a:ext cx="9220200" cy="193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5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48944"/>
            <a:ext cx="805624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i="0" spc="-20" dirty="0">
                <a:latin typeface="Arial MT"/>
                <a:cs typeface="Arial MT"/>
              </a:rPr>
              <a:t>N-</a:t>
            </a:r>
            <a:r>
              <a:rPr sz="3400" i="0" dirty="0">
                <a:latin typeface="Arial MT"/>
                <a:cs typeface="Arial MT"/>
              </a:rPr>
              <a:t>ary</a:t>
            </a:r>
            <a:r>
              <a:rPr sz="3400" i="0" spc="-5" dirty="0">
                <a:latin typeface="Arial MT"/>
                <a:cs typeface="Arial MT"/>
              </a:rPr>
              <a:t> </a:t>
            </a:r>
            <a:r>
              <a:rPr sz="3400" i="0" dirty="0">
                <a:latin typeface="Arial MT"/>
                <a:cs typeface="Arial MT"/>
              </a:rPr>
              <a:t>Relations</a:t>
            </a:r>
            <a:r>
              <a:rPr sz="3400" i="0" spc="-25" dirty="0">
                <a:latin typeface="Arial MT"/>
                <a:cs typeface="Arial MT"/>
              </a:rPr>
              <a:t> </a:t>
            </a:r>
            <a:r>
              <a:rPr sz="3400" i="0" dirty="0">
                <a:latin typeface="Arial MT"/>
                <a:cs typeface="Arial MT"/>
              </a:rPr>
              <a:t>and</a:t>
            </a:r>
            <a:r>
              <a:rPr sz="3400" i="0" spc="-20" dirty="0">
                <a:latin typeface="Arial MT"/>
                <a:cs typeface="Arial MT"/>
              </a:rPr>
              <a:t> </a:t>
            </a:r>
            <a:r>
              <a:rPr sz="3400" i="0" dirty="0">
                <a:latin typeface="Arial MT"/>
                <a:cs typeface="Arial MT"/>
              </a:rPr>
              <a:t>Relational</a:t>
            </a:r>
            <a:r>
              <a:rPr sz="3400" i="0" spc="-15" dirty="0">
                <a:latin typeface="Arial MT"/>
                <a:cs typeface="Arial MT"/>
              </a:rPr>
              <a:t> </a:t>
            </a:r>
            <a:r>
              <a:rPr sz="3400" i="0" spc="-10" dirty="0">
                <a:latin typeface="Arial MT"/>
                <a:cs typeface="Arial MT"/>
              </a:rPr>
              <a:t>Databases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75271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7865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Arial"/>
                <a:cs typeface="Arial"/>
              </a:rPr>
              <a:t>N</a:t>
            </a:r>
            <a:r>
              <a:rPr sz="2400" spc="-25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ary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foundation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theory.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Cartesian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two </a:t>
            </a:r>
            <a:r>
              <a:rPr sz="2400" dirty="0">
                <a:latin typeface="Arial MT"/>
                <a:cs typeface="Arial MT"/>
              </a:rPr>
              <a:t>sets,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similarly,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n-</a:t>
            </a:r>
            <a:r>
              <a:rPr sz="2400" i="1" dirty="0">
                <a:latin typeface="Arial"/>
                <a:cs typeface="Arial"/>
              </a:rPr>
              <a:t>ary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subset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Cartesian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 MT"/>
                <a:cs typeface="Arial MT"/>
              </a:rPr>
              <a:t>sets.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827" y="4567428"/>
            <a:ext cx="8247053" cy="146358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2340" y="1944117"/>
            <a:ext cx="8133080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441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radically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simplified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version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database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might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hospital.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63500" marR="558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spc="27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alphabetic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3</a:t>
            </a:r>
            <a:r>
              <a:rPr sz="2400" spc="24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numeric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4</a:t>
            </a:r>
            <a:r>
              <a:rPr sz="2400" spc="24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alphabetic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strings.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62865" marR="8089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quaternary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30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spc="30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3</a:t>
            </a:r>
            <a:r>
              <a:rPr sz="2400" spc="30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4</a:t>
            </a:r>
            <a:r>
              <a:rPr sz="2400" spc="300" baseline="-20833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spc="-10" dirty="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7740" y="5821176"/>
            <a:ext cx="289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3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4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8603" y="5821176"/>
            <a:ext cx="49041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 marR="30480" indent="-1079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patient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patient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a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, </a:t>
            </a:r>
            <a:r>
              <a:rPr sz="2400" dirty="0">
                <a:latin typeface="Arial MT"/>
                <a:cs typeface="Arial MT"/>
              </a:rPr>
              <a:t>named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admitted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a</a:t>
            </a:r>
            <a:r>
              <a:rPr sz="2400" spc="-37" baseline="-20833" dirty="0">
                <a:latin typeface="Arial MT"/>
                <a:cs typeface="Arial MT"/>
              </a:rPr>
              <a:t>3</a:t>
            </a:r>
            <a:r>
              <a:rPr sz="2400" spc="-25" dirty="0">
                <a:latin typeface="Arial MT"/>
                <a:cs typeface="Arial MT"/>
              </a:rPr>
              <a:t>,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diagnosis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a</a:t>
            </a:r>
            <a:r>
              <a:rPr sz="2400" spc="-37" baseline="-20833" dirty="0">
                <a:latin typeface="Arial MT"/>
                <a:cs typeface="Arial MT"/>
              </a:rPr>
              <a:t>4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At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particular</a:t>
            </a:r>
            <a:r>
              <a:rPr spc="-40" dirty="0"/>
              <a:t> </a:t>
            </a:r>
            <a:r>
              <a:rPr dirty="0"/>
              <a:t>hospital,</a:t>
            </a:r>
            <a:r>
              <a:rPr spc="-50" dirty="0"/>
              <a:t> </a:t>
            </a:r>
            <a:r>
              <a:rPr dirty="0"/>
              <a:t>this</a:t>
            </a:r>
            <a:r>
              <a:rPr spc="-70" dirty="0"/>
              <a:t> </a:t>
            </a:r>
            <a:r>
              <a:rPr dirty="0"/>
              <a:t>relation</a:t>
            </a:r>
            <a:r>
              <a:rPr spc="-45" dirty="0"/>
              <a:t> </a:t>
            </a:r>
            <a:r>
              <a:rPr dirty="0"/>
              <a:t>might</a:t>
            </a:r>
            <a:r>
              <a:rPr spc="-55" dirty="0"/>
              <a:t> </a:t>
            </a:r>
            <a:r>
              <a:rPr dirty="0"/>
              <a:t>contain</a:t>
            </a:r>
            <a:r>
              <a:rPr spc="-60" dirty="0"/>
              <a:t> </a:t>
            </a:r>
            <a:r>
              <a:rPr spc="-25" dirty="0"/>
              <a:t>the </a:t>
            </a:r>
            <a:r>
              <a:rPr dirty="0"/>
              <a:t>following</a:t>
            </a:r>
            <a:r>
              <a:rPr spc="-75" dirty="0"/>
              <a:t> </a:t>
            </a:r>
            <a:r>
              <a:rPr spc="-20" dirty="0"/>
              <a:t>4-</a:t>
            </a:r>
            <a:r>
              <a:rPr spc="-10" dirty="0"/>
              <a:t>tuples:</a:t>
            </a: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/>
              <a:t>(011985,</a:t>
            </a:r>
            <a:r>
              <a:rPr spc="-75" dirty="0"/>
              <a:t> </a:t>
            </a:r>
            <a:r>
              <a:rPr dirty="0"/>
              <a:t>John</a:t>
            </a:r>
            <a:r>
              <a:rPr spc="-95" dirty="0"/>
              <a:t> </a:t>
            </a:r>
            <a:r>
              <a:rPr dirty="0"/>
              <a:t>Schmidt,</a:t>
            </a:r>
            <a:r>
              <a:rPr spc="-80" dirty="0"/>
              <a:t> </a:t>
            </a:r>
            <a:r>
              <a:rPr dirty="0"/>
              <a:t>020710,</a:t>
            </a:r>
            <a:r>
              <a:rPr spc="-75" dirty="0"/>
              <a:t> </a:t>
            </a:r>
            <a:r>
              <a:rPr spc="-10" dirty="0"/>
              <a:t>asthma)</a:t>
            </a: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/>
              <a:t>(574329,</a:t>
            </a:r>
            <a:r>
              <a:rPr spc="-80" dirty="0"/>
              <a:t> </a:t>
            </a:r>
            <a:r>
              <a:rPr dirty="0"/>
              <a:t>Tak</a:t>
            </a:r>
            <a:r>
              <a:rPr spc="-105" dirty="0"/>
              <a:t> </a:t>
            </a:r>
            <a:r>
              <a:rPr dirty="0"/>
              <a:t>Kurosawa,</a:t>
            </a:r>
            <a:r>
              <a:rPr spc="-80" dirty="0"/>
              <a:t> </a:t>
            </a:r>
            <a:r>
              <a:rPr dirty="0"/>
              <a:t>0114910,</a:t>
            </a:r>
            <a:r>
              <a:rPr spc="-70" dirty="0"/>
              <a:t> </a:t>
            </a:r>
            <a:r>
              <a:rPr spc="-10" dirty="0"/>
              <a:t>pneumonia)</a:t>
            </a: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/>
              <a:t>(466581,</a:t>
            </a:r>
            <a:r>
              <a:rPr spc="-75" dirty="0"/>
              <a:t> </a:t>
            </a:r>
            <a:r>
              <a:rPr dirty="0"/>
              <a:t>Mary</a:t>
            </a:r>
            <a:r>
              <a:rPr spc="-100" dirty="0"/>
              <a:t> </a:t>
            </a:r>
            <a:r>
              <a:rPr dirty="0"/>
              <a:t>Lazars,</a:t>
            </a:r>
            <a:r>
              <a:rPr spc="-95" dirty="0"/>
              <a:t> </a:t>
            </a:r>
            <a:r>
              <a:rPr dirty="0"/>
              <a:t>0103910,</a:t>
            </a:r>
            <a:r>
              <a:rPr spc="-65" dirty="0"/>
              <a:t> </a:t>
            </a:r>
            <a:r>
              <a:rPr spc="-10" dirty="0"/>
              <a:t>appendicitis)</a:t>
            </a: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/>
              <a:t>(008352,</a:t>
            </a:r>
            <a:r>
              <a:rPr spc="-80" dirty="0"/>
              <a:t> </a:t>
            </a:r>
            <a:r>
              <a:rPr dirty="0"/>
              <a:t>Joan</a:t>
            </a:r>
            <a:r>
              <a:rPr spc="-90" dirty="0"/>
              <a:t> </a:t>
            </a:r>
            <a:r>
              <a:rPr dirty="0"/>
              <a:t>Kaplan,</a:t>
            </a:r>
            <a:r>
              <a:rPr spc="-65" dirty="0"/>
              <a:t> </a:t>
            </a:r>
            <a:r>
              <a:rPr dirty="0"/>
              <a:t>112409,</a:t>
            </a:r>
            <a:r>
              <a:rPr spc="-75" dirty="0"/>
              <a:t> </a:t>
            </a:r>
            <a:r>
              <a:rPr spc="-10" dirty="0"/>
              <a:t>gastritis)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(011985,</a:t>
            </a:r>
            <a:r>
              <a:rPr spc="-75" dirty="0"/>
              <a:t> </a:t>
            </a:r>
            <a:r>
              <a:rPr dirty="0"/>
              <a:t>John</a:t>
            </a:r>
            <a:r>
              <a:rPr spc="-95" dirty="0"/>
              <a:t> </a:t>
            </a:r>
            <a:r>
              <a:rPr dirty="0"/>
              <a:t>Schmidt,</a:t>
            </a:r>
            <a:r>
              <a:rPr spc="-80" dirty="0"/>
              <a:t> </a:t>
            </a:r>
            <a:r>
              <a:rPr dirty="0"/>
              <a:t>021710,</a:t>
            </a:r>
            <a:r>
              <a:rPr spc="-75" dirty="0"/>
              <a:t> </a:t>
            </a:r>
            <a:r>
              <a:rPr spc="-10" dirty="0"/>
              <a:t>pneumonia)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(244388,</a:t>
            </a:r>
            <a:r>
              <a:rPr spc="-65" dirty="0"/>
              <a:t> </a:t>
            </a:r>
            <a:r>
              <a:rPr dirty="0"/>
              <a:t>Sarah</a:t>
            </a:r>
            <a:r>
              <a:rPr spc="-75" dirty="0"/>
              <a:t> </a:t>
            </a:r>
            <a:r>
              <a:rPr dirty="0"/>
              <a:t>Wu,</a:t>
            </a:r>
            <a:r>
              <a:rPr spc="-85" dirty="0"/>
              <a:t> </a:t>
            </a:r>
            <a:r>
              <a:rPr dirty="0"/>
              <a:t>010310,</a:t>
            </a:r>
            <a:r>
              <a:rPr spc="-60" dirty="0"/>
              <a:t> </a:t>
            </a:r>
            <a:r>
              <a:rPr dirty="0"/>
              <a:t>broken</a:t>
            </a:r>
            <a:r>
              <a:rPr spc="-70" dirty="0"/>
              <a:t> </a:t>
            </a:r>
            <a:r>
              <a:rPr spc="-20" dirty="0"/>
              <a:t>leg)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(778400,</a:t>
            </a:r>
            <a:r>
              <a:rPr spc="-80" dirty="0"/>
              <a:t> </a:t>
            </a:r>
            <a:r>
              <a:rPr dirty="0"/>
              <a:t>Jamal</a:t>
            </a:r>
            <a:r>
              <a:rPr spc="-90" dirty="0"/>
              <a:t> </a:t>
            </a:r>
            <a:r>
              <a:rPr dirty="0"/>
              <a:t>Baskers,</a:t>
            </a:r>
            <a:r>
              <a:rPr spc="-85" dirty="0"/>
              <a:t> </a:t>
            </a:r>
            <a:r>
              <a:rPr dirty="0"/>
              <a:t>122709,</a:t>
            </a:r>
            <a:r>
              <a:rPr spc="-75" dirty="0"/>
              <a:t> </a:t>
            </a:r>
            <a:r>
              <a:rPr spc="-10" dirty="0"/>
              <a:t>appendicitis)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70445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81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discussions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tuples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normally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thought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tables.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table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corresponds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tuple,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header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descriptive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column.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10052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 </a:t>
            </a:r>
            <a:r>
              <a:rPr sz="2400" dirty="0">
                <a:latin typeface="Arial MT"/>
                <a:cs typeface="Arial MT"/>
              </a:rPr>
              <a:t>manipulated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ways.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940040" cy="426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17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SQL,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above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denoted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query</a:t>
            </a:r>
            <a:endParaRPr sz="2400">
              <a:latin typeface="Arial MT"/>
              <a:cs typeface="Arial MT"/>
            </a:endParaRPr>
          </a:p>
          <a:p>
            <a:pPr marL="1384300" marR="215900">
              <a:lnSpc>
                <a:spcPct val="120000"/>
              </a:lnSpc>
              <a:spcBef>
                <a:spcPts val="2014"/>
              </a:spcBef>
            </a:pP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Patient_ID#,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WHERE </a:t>
            </a:r>
            <a:r>
              <a:rPr sz="2400" dirty="0">
                <a:latin typeface="Arial MT"/>
                <a:cs typeface="Arial MT"/>
              </a:rPr>
              <a:t>Admission_Date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010310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patients </a:t>
            </a:r>
            <a:r>
              <a:rPr sz="2400" dirty="0">
                <a:latin typeface="Arial MT"/>
                <a:cs typeface="Arial MT"/>
              </a:rPr>
              <a:t>admitted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01-03-</a:t>
            </a:r>
            <a:r>
              <a:rPr sz="2400" spc="-25" dirty="0">
                <a:latin typeface="Arial MT"/>
                <a:cs typeface="Arial MT"/>
              </a:rPr>
              <a:t>10:</a:t>
            </a:r>
            <a:endParaRPr sz="2400">
              <a:latin typeface="Arial MT"/>
              <a:cs typeface="Arial MT"/>
            </a:endParaRPr>
          </a:p>
          <a:p>
            <a:pPr marL="2226945">
              <a:lnSpc>
                <a:spcPct val="100000"/>
              </a:lnSpc>
              <a:spcBef>
                <a:spcPts val="2595"/>
              </a:spcBef>
              <a:tabLst>
                <a:tab pos="3497579" algn="l"/>
              </a:tabLst>
            </a:pPr>
            <a:r>
              <a:rPr sz="2400" spc="-10" dirty="0">
                <a:latin typeface="Arial MT"/>
                <a:cs typeface="Arial MT"/>
              </a:rPr>
              <a:t>466581</a:t>
            </a:r>
            <a:r>
              <a:rPr sz="2400" dirty="0">
                <a:latin typeface="Arial MT"/>
                <a:cs typeface="Arial MT"/>
              </a:rPr>
              <a:t>	Mary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Lazars,</a:t>
            </a:r>
            <a:endParaRPr sz="2400">
              <a:latin typeface="Arial MT"/>
              <a:cs typeface="Arial MT"/>
            </a:endParaRPr>
          </a:p>
          <a:p>
            <a:pPr marL="2226945">
              <a:lnSpc>
                <a:spcPct val="100000"/>
              </a:lnSpc>
              <a:spcBef>
                <a:spcPts val="575"/>
              </a:spcBef>
              <a:tabLst>
                <a:tab pos="3497579" algn="l"/>
              </a:tabLst>
            </a:pPr>
            <a:r>
              <a:rPr sz="2400" spc="-10" dirty="0">
                <a:latin typeface="Arial MT"/>
                <a:cs typeface="Arial MT"/>
              </a:rPr>
              <a:t>244388</a:t>
            </a:r>
            <a:r>
              <a:rPr sz="2400" dirty="0">
                <a:latin typeface="Arial MT"/>
                <a:cs typeface="Arial MT"/>
              </a:rPr>
              <a:t>	Sarah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Wu.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9640" y="1944117"/>
            <a:ext cx="7083425" cy="430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intersection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set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26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{010310}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 MT"/>
                <a:cs typeface="Arial MT"/>
              </a:rPr>
              <a:t>4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then </a:t>
            </a:r>
            <a:r>
              <a:rPr sz="2400" dirty="0">
                <a:latin typeface="Arial MT"/>
                <a:cs typeface="Arial MT"/>
              </a:rPr>
              <a:t>projecting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coordinates.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76200" marR="5334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Similarly,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all </a:t>
            </a:r>
            <a:r>
              <a:rPr sz="2400" dirty="0">
                <a:latin typeface="Arial MT"/>
                <a:cs typeface="Arial MT"/>
              </a:rPr>
              <a:t>admission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patient.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7620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John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Schmidt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marL="2661920">
              <a:lnSpc>
                <a:spcPct val="100000"/>
              </a:lnSpc>
              <a:spcBef>
                <a:spcPts val="1300"/>
              </a:spcBef>
              <a:tabLst>
                <a:tab pos="4137025" algn="l"/>
              </a:tabLst>
            </a:pPr>
            <a:r>
              <a:rPr sz="2400" spc="-20" dirty="0">
                <a:latin typeface="Arial MT"/>
                <a:cs typeface="Arial MT"/>
              </a:rPr>
              <a:t>02-07-</a:t>
            </a:r>
            <a:r>
              <a:rPr sz="2400" spc="-25" dirty="0">
                <a:latin typeface="Arial MT"/>
                <a:cs typeface="Arial MT"/>
              </a:rPr>
              <a:t>10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2661920">
              <a:lnSpc>
                <a:spcPct val="100000"/>
              </a:lnSpc>
              <a:spcBef>
                <a:spcPts val="1870"/>
              </a:spcBef>
            </a:pPr>
            <a:r>
              <a:rPr sz="2400" spc="-20" dirty="0">
                <a:latin typeface="Arial MT"/>
                <a:cs typeface="Arial MT"/>
              </a:rPr>
              <a:t>02-17-</a:t>
            </a:r>
            <a:r>
              <a:rPr sz="2400" spc="-25" dirty="0">
                <a:latin typeface="Arial MT"/>
                <a:cs typeface="Arial MT"/>
              </a:rPr>
              <a:t>10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Arial MT"/>
                <a:cs typeface="Arial MT"/>
              </a:rPr>
              <a:t>Example</a:t>
            </a:r>
            <a:r>
              <a:rPr i="0" spc="-4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7</a:t>
            </a:r>
            <a:r>
              <a:rPr i="0" spc="-6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-55" dirty="0"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820025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1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added,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</a:t>
            </a:r>
            <a:r>
              <a:rPr sz="2400" dirty="0">
                <a:latin typeface="Arial MT"/>
                <a:cs typeface="Arial MT"/>
              </a:rPr>
              <a:t>updated,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sort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entries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various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ways.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merged,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entries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new </a:t>
            </a:r>
            <a:r>
              <a:rPr sz="2400" spc="-10" dirty="0">
                <a:latin typeface="Arial MT"/>
                <a:cs typeface="Arial MT"/>
              </a:rPr>
              <a:t>database.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1641</Words>
  <Application>Microsoft Office PowerPoint</Application>
  <PresentationFormat>Custom</PresentationFormat>
  <Paragraphs>169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MT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Relations on Sets</vt:lpstr>
      <vt:lpstr>Example 2 – The Congruence Modulo 2 Relation</vt:lpstr>
      <vt:lpstr>Example 2 – Solution</vt:lpstr>
      <vt:lpstr>Example 1 – Solution</vt:lpstr>
      <vt:lpstr>Example 1 – Solution</vt:lpstr>
      <vt:lpstr>The Inverse of a Relation</vt:lpstr>
      <vt:lpstr>The Inverse of a Relation</vt:lpstr>
      <vt:lpstr>Example 4 – The Inverse of a Finite Relation</vt:lpstr>
      <vt:lpstr>Example 4 – Solution</vt:lpstr>
      <vt:lpstr>Example 4 – Solution</vt:lpstr>
      <vt:lpstr>Directed Graph of a Relation</vt:lpstr>
      <vt:lpstr>Directed Graph of a Relation</vt:lpstr>
      <vt:lpstr>Directed Graph of a Relation</vt:lpstr>
      <vt:lpstr>Example 6 – Directed Graph of a Relation</vt:lpstr>
      <vt:lpstr>Example 6 – Solution</vt:lpstr>
      <vt:lpstr>N-ary Relations and Relational Databases</vt:lpstr>
      <vt:lpstr>N-ary Relations and Relational Databases</vt:lpstr>
      <vt:lpstr>N-ary Relations and Relational Databases</vt:lpstr>
      <vt:lpstr>N-ary Relations and Relational Databases</vt:lpstr>
      <vt:lpstr>Example 7 – A Simple Database</vt:lpstr>
      <vt:lpstr>Example 7 – A Simple Database</vt:lpstr>
      <vt:lpstr>Example 7 – A Simple Database</vt:lpstr>
      <vt:lpstr>Example 7 – A Simple Database</vt:lpstr>
      <vt:lpstr>Example 7 – A Simple Database</vt:lpstr>
      <vt:lpstr>Example 7 – A Simple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EppDm4_08_01.ppt [Compatibility Mode]</dc:title>
  <dc:creator>Noriko</dc:creator>
  <cp:lastModifiedBy>Fehmida Usmani</cp:lastModifiedBy>
  <cp:revision>6</cp:revision>
  <dcterms:created xsi:type="dcterms:W3CDTF">2024-10-14T02:03:33Z</dcterms:created>
  <dcterms:modified xsi:type="dcterms:W3CDTF">2024-10-14T02:44:39Z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2024-10-14T00:00:00Z</vt:filetime>
  </property>
  <property fmtid="{D5CDD505-2E9C-101B-9397-08002B2CF9AE}" pid="5" name="Producer">
    <vt:lpwstr>GPL Ghostscript 8.63</vt:lpwstr>
  </property>
</Properties>
</file>