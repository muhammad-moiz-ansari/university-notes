
<file path=[Content_Types].xml><?xml version="1.0" encoding="utf-8"?>
<Types xmlns="http://schemas.openxmlformats.org/package/2006/content-types"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522" r:id="rId3"/>
    <p:sldId id="521" r:id="rId4"/>
    <p:sldId id="523" r:id="rId5"/>
    <p:sldId id="524" r:id="rId6"/>
    <p:sldId id="525" r:id="rId7"/>
    <p:sldId id="526" r:id="rId8"/>
    <p:sldId id="527" r:id="rId9"/>
    <p:sldId id="528" r:id="rId10"/>
    <p:sldId id="529" r:id="rId11"/>
    <p:sldId id="530" r:id="rId12"/>
    <p:sldId id="531" r:id="rId13"/>
    <p:sldId id="532" r:id="rId14"/>
    <p:sldId id="533" r:id="rId15"/>
    <p:sldId id="534" r:id="rId16"/>
    <p:sldId id="536" r:id="rId17"/>
    <p:sldId id="537" r:id="rId18"/>
    <p:sldId id="538" r:id="rId19"/>
    <p:sldId id="557" r:id="rId20"/>
    <p:sldId id="539" r:id="rId21"/>
    <p:sldId id="540" r:id="rId22"/>
    <p:sldId id="541" r:id="rId23"/>
    <p:sldId id="542" r:id="rId24"/>
    <p:sldId id="544" r:id="rId25"/>
    <p:sldId id="548" r:id="rId26"/>
    <p:sldId id="550" r:id="rId27"/>
    <p:sldId id="552" r:id="rId28"/>
    <p:sldId id="551" r:id="rId29"/>
    <p:sldId id="553" r:id="rId30"/>
    <p:sldId id="554" r:id="rId31"/>
    <p:sldId id="556" r:id="rId32"/>
    <p:sldId id="558" r:id="rId33"/>
    <p:sldId id="555" r:id="rId34"/>
    <p:sldId id="520" r:id="rId35"/>
    <p:sldId id="543" r:id="rId36"/>
  </p:sldIdLst>
  <p:sldSz cx="9144000" cy="6858000" type="screen4x3"/>
  <p:notesSz cx="7099300" cy="10234613"/>
  <p:embeddedFontLst>
    <p:embeddedFont>
      <p:font typeface="Tahoma" panose="020B0604030504040204" pitchFamily="34" charset="0"/>
      <p:regular r:id="rId38"/>
      <p:bold r:id="rId39"/>
    </p:embeddedFont>
    <p:embeddedFont>
      <p:font typeface="ＭＳ Ｐゴシック" panose="020B0600070205080204" pitchFamily="34" charset="-128"/>
      <p:regular r:id="rId40"/>
    </p:embeddedFont>
    <p:embeddedFont>
      <p:font typeface="Consolas" panose="020B0609020204030204" pitchFamily="49" charset="0"/>
      <p:regular r:id="rId41"/>
      <p:bold r:id="rId42"/>
      <p:italic r:id="rId43"/>
      <p:boldItalic r:id="rId44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3399"/>
    <a:srgbClr val="FF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9" autoAdjust="0"/>
    <p:restoredTop sz="93614" autoAdjust="0"/>
  </p:normalViewPr>
  <p:slideViewPr>
    <p:cSldViewPr>
      <p:cViewPr varScale="1">
        <p:scale>
          <a:sx n="82" d="100"/>
          <a:sy n="82" d="100"/>
        </p:scale>
        <p:origin x="1560" y="6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265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E307F30-E95D-4DC1-945B-D02103101FA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8168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3B227E-7079-4B80-BA2E-DD57F6C58329}" type="slidenum">
              <a:rPr lang="en-GB"/>
              <a:pPr/>
              <a:t>1</a:t>
            </a:fld>
            <a:endParaRPr lang="en-GB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029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844675"/>
            <a:ext cx="7772400" cy="1470025"/>
          </a:xfrm>
        </p:spPr>
        <p:txBody>
          <a:bodyPr/>
          <a:lstStyle>
            <a:lvl1pPr algn="ctr">
              <a:defRPr>
                <a:solidFill>
                  <a:srgbClr val="0070C0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716338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8-Array Sorting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30464EE-74C5-42DE-B41A-1E7939C181C3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20486" name="Line 6"/>
          <p:cNvSpPr>
            <a:spLocks noChangeShapeType="1"/>
          </p:cNvSpPr>
          <p:nvPr userDrawn="1"/>
        </p:nvSpPr>
        <p:spPr bwMode="auto">
          <a:xfrm>
            <a:off x="323850" y="3500438"/>
            <a:ext cx="8642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511256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62088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C8D6E8-E2D4-466A-B54E-56FCD6F950CE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3227E4-7A49-48B5-9005-D3E138ABBA16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50" y="1124744"/>
            <a:ext cx="4171950" cy="5001419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171950" cy="5001419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8-Array Sorting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D7F138-CABA-494C-B139-3348C3F117E5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4776" cy="1143000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8-Array Sorting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A79DA3-BF4E-40A8-8F6E-F5109A9F2DA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8-Array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5293E3-F4F3-4363-BC2F-E6A2CD940E4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8-Array Sorting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FD2D0C-D78B-4496-B32C-58738062D58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8-Array Sorting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03EBF0-A890-4352-8C84-0E2FE7968D9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8-Array Sorting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6CAE48C-F1F9-47E0-96BC-AD3F31B5CC0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4776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1CE2B5B-3ECC-4073-85E0-5A38BE95B70D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6075" y="274638"/>
            <a:ext cx="2124075" cy="5851525"/>
          </a:xfrm>
        </p:spPr>
        <p:txBody>
          <a:bodyPr vert="eaVert"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3850" y="274638"/>
            <a:ext cx="6219825" cy="5851525"/>
          </a:xfrm>
        </p:spPr>
        <p:txBody>
          <a:bodyPr vert="eaVert"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66920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8</a:t>
            </a:r>
            <a:r>
              <a:rPr lang="en-GB"/>
              <a:t>-Array </a:t>
            </a:r>
            <a:r>
              <a:rPr lang="en-GB" dirty="0"/>
              <a:t>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FC10656-B5F6-4C2B-B258-D0013A6A1799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2237" y="188640"/>
            <a:ext cx="849477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24744"/>
            <a:ext cx="849630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59832" y="6381750"/>
            <a:ext cx="30241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GB" dirty="0"/>
              <a:t>8-Array Sorting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C9CEF86-67DF-4174-BD01-46D228FA3D60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250825" y="1052736"/>
            <a:ext cx="8642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rgbClr val="0070C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Font typeface="Tahoma" pitchFamily="34" charset="0"/>
        <a:buChar char="–"/>
        <a:defRPr sz="19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Ø"/>
        <a:defRPr sz="17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Tahoma" pitchFamily="34" charset="0"/>
        <a:buChar char="»"/>
        <a:defRPr sz="16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5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0464EE-74C5-42DE-B41A-1E7939C181C3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Data Structures</a:t>
            </a: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b="1" dirty="0"/>
              <a:t>8. Array Sorting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1800200"/>
          </a:xfrm>
        </p:spPr>
        <p:txBody>
          <a:bodyPr/>
          <a:lstStyle/>
          <a:p>
            <a:r>
              <a:rPr lang="en-US" dirty="0"/>
              <a:t>Sorting takes an </a:t>
            </a:r>
            <a:r>
              <a:rPr lang="en-US" dirty="0">
                <a:solidFill>
                  <a:srgbClr val="0070C0"/>
                </a:solidFill>
              </a:rPr>
              <a:t>unordered collection </a:t>
            </a:r>
            <a:r>
              <a:rPr lang="en-US" dirty="0"/>
              <a:t>and makes its an </a:t>
            </a:r>
            <a:r>
              <a:rPr lang="en-US" dirty="0">
                <a:solidFill>
                  <a:srgbClr val="0070C0"/>
                </a:solidFill>
              </a:rPr>
              <a:t>ordered</a:t>
            </a:r>
            <a:r>
              <a:rPr lang="en-US" dirty="0"/>
              <a:t> one</a:t>
            </a:r>
          </a:p>
          <a:p>
            <a:r>
              <a:rPr lang="en-US" dirty="0"/>
              <a:t>Let A be a list of n elements </a:t>
            </a:r>
            <a:r>
              <a:rPr lang="en-US" dirty="0">
                <a:latin typeface="Consolas" panose="020B0609020204030204" pitchFamily="49" charset="0"/>
              </a:rPr>
              <a:t>A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, A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, … A</a:t>
            </a:r>
            <a:r>
              <a:rPr lang="en-US" baseline="-25000" dirty="0">
                <a:latin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in memory</a:t>
            </a:r>
          </a:p>
          <a:p>
            <a:r>
              <a:rPr lang="en-US" dirty="0"/>
              <a:t>Sorting A refers to the operation of rearranging the contents of A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Ascending order </a:t>
            </a:r>
            <a:r>
              <a:rPr lang="en-US" dirty="0"/>
              <a:t>(numerically or lexicographically)</a:t>
            </a:r>
          </a:p>
          <a:p>
            <a:pPr lvl="2"/>
            <a:r>
              <a:rPr lang="en-US" dirty="0">
                <a:latin typeface="Consolas" panose="020B0609020204030204" pitchFamily="49" charset="0"/>
              </a:rPr>
              <a:t>A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&lt;= A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 &lt;= … &lt;= A</a:t>
            </a:r>
            <a:r>
              <a:rPr lang="en-US" baseline="-25000" dirty="0">
                <a:latin typeface="Consolas" panose="020B0609020204030204" pitchFamily="49" charset="0"/>
              </a:rPr>
              <a:t>n</a:t>
            </a:r>
            <a:endParaRPr lang="en-US" dirty="0"/>
          </a:p>
          <a:p>
            <a:pPr lvl="1"/>
            <a:r>
              <a:rPr lang="en-US" dirty="0">
                <a:solidFill>
                  <a:srgbClr val="0070C0"/>
                </a:solidFill>
              </a:rPr>
              <a:t>Descending order</a:t>
            </a:r>
            <a:r>
              <a:rPr lang="en-US" dirty="0"/>
              <a:t> (numerically or lexicographically)</a:t>
            </a:r>
          </a:p>
          <a:p>
            <a:pPr lvl="2"/>
            <a:r>
              <a:rPr lang="en-US" dirty="0">
                <a:latin typeface="Consolas" panose="020B0609020204030204" pitchFamily="49" charset="0"/>
              </a:rPr>
              <a:t>A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&gt;= A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 &gt;= … &gt;= A</a:t>
            </a:r>
            <a:r>
              <a:rPr lang="en-US" baseline="-25000" dirty="0">
                <a:latin typeface="Consolas" panose="020B0609020204030204" pitchFamily="49" charset="0"/>
              </a:rPr>
              <a:t>n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1771799" y="5289480"/>
            <a:ext cx="5919471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+mn-lt"/>
              </a:rPr>
              <a:t>1           2           3           4             5            6</a:t>
            </a:r>
          </a:p>
        </p:txBody>
      </p:sp>
      <p:grpSp>
        <p:nvGrpSpPr>
          <p:cNvPr id="19" name="Group 17"/>
          <p:cNvGrpSpPr>
            <a:grpSpLocks/>
          </p:cNvGrpSpPr>
          <p:nvPr/>
        </p:nvGrpSpPr>
        <p:grpSpPr bwMode="auto">
          <a:xfrm>
            <a:off x="1498487" y="5685177"/>
            <a:ext cx="6238375" cy="461963"/>
            <a:chOff x="560" y="4010"/>
            <a:chExt cx="2942" cy="388"/>
          </a:xfrm>
        </p:grpSpPr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560" y="4010"/>
              <a:ext cx="2942" cy="3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000">
                <a:latin typeface="+mn-lt"/>
              </a:endParaRPr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1015" y="4023"/>
              <a:ext cx="0" cy="3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 flipH="1">
              <a:off x="1491" y="4023"/>
              <a:ext cx="4" cy="3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 flipH="1">
              <a:off x="1979" y="4023"/>
              <a:ext cx="0" cy="3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2508" y="4023"/>
              <a:ext cx="0" cy="3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3052" y="4034"/>
              <a:ext cx="0" cy="3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679" y="4061"/>
              <a:ext cx="153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000">
                  <a:latin typeface="+mn-lt"/>
                </a:rPr>
                <a:t>5</a:t>
              </a: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1106" y="4050"/>
              <a:ext cx="219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000">
                  <a:latin typeface="+mn-lt"/>
                </a:rPr>
                <a:t>12</a:t>
              </a: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1586" y="4040"/>
              <a:ext cx="219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000" dirty="0">
                  <a:latin typeface="+mn-lt"/>
                </a:rPr>
                <a:t>35</a:t>
              </a: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2087" y="4061"/>
              <a:ext cx="219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000">
                  <a:latin typeface="+mn-lt"/>
                </a:rPr>
                <a:t>42</a:t>
              </a:r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2621" y="4050"/>
              <a:ext cx="219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000">
                  <a:latin typeface="+mn-lt"/>
                </a:rPr>
                <a:t>77</a:t>
              </a: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3112" y="4050"/>
              <a:ext cx="285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000" dirty="0">
                  <a:latin typeface="+mn-lt"/>
                </a:rPr>
                <a:t>101</a:t>
              </a:r>
            </a:p>
          </p:txBody>
        </p:sp>
      </p:grpSp>
      <p:sp>
        <p:nvSpPr>
          <p:cNvPr id="33" name="Line 34"/>
          <p:cNvSpPr>
            <a:spLocks noChangeShapeType="1"/>
          </p:cNvSpPr>
          <p:nvPr/>
        </p:nvSpPr>
        <p:spPr bwMode="auto">
          <a:xfrm>
            <a:off x="4507411" y="4992035"/>
            <a:ext cx="0" cy="594890"/>
          </a:xfrm>
          <a:prstGeom prst="line">
            <a:avLst/>
          </a:prstGeom>
          <a:noFill/>
          <a:ln w="76200">
            <a:solidFill>
              <a:srgbClr val="0070C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34" name="Rectangle 16"/>
          <p:cNvSpPr>
            <a:spLocks noChangeArrowheads="1"/>
          </p:cNvSpPr>
          <p:nvPr/>
        </p:nvSpPr>
        <p:spPr bwMode="auto">
          <a:xfrm>
            <a:off x="1794373" y="4077072"/>
            <a:ext cx="5919471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+mn-lt"/>
              </a:rPr>
              <a:t>1           2           3           4             5            6</a:t>
            </a:r>
          </a:p>
        </p:txBody>
      </p:sp>
      <p:grpSp>
        <p:nvGrpSpPr>
          <p:cNvPr id="35" name="Group 17"/>
          <p:cNvGrpSpPr>
            <a:grpSpLocks/>
          </p:cNvGrpSpPr>
          <p:nvPr/>
        </p:nvGrpSpPr>
        <p:grpSpPr bwMode="auto">
          <a:xfrm>
            <a:off x="1476532" y="4463423"/>
            <a:ext cx="6263820" cy="459581"/>
            <a:chOff x="539" y="4012"/>
            <a:chExt cx="2954" cy="386"/>
          </a:xfrm>
        </p:grpSpPr>
        <p:sp>
          <p:nvSpPr>
            <p:cNvPr id="36" name="Rectangle 18"/>
            <p:cNvSpPr>
              <a:spLocks noChangeArrowheads="1"/>
            </p:cNvSpPr>
            <p:nvPr/>
          </p:nvSpPr>
          <p:spPr bwMode="auto">
            <a:xfrm>
              <a:off x="539" y="4012"/>
              <a:ext cx="2954" cy="38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000">
                <a:latin typeface="+mn-lt"/>
              </a:endParaRPr>
            </a:p>
          </p:txBody>
        </p:sp>
        <p:sp>
          <p:nvSpPr>
            <p:cNvPr id="37" name="Line 19"/>
            <p:cNvSpPr>
              <a:spLocks noChangeShapeType="1"/>
            </p:cNvSpPr>
            <p:nvPr/>
          </p:nvSpPr>
          <p:spPr bwMode="auto">
            <a:xfrm>
              <a:off x="1015" y="4040"/>
              <a:ext cx="0" cy="3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8" name="Line 20"/>
            <p:cNvSpPr>
              <a:spLocks noChangeShapeType="1"/>
            </p:cNvSpPr>
            <p:nvPr/>
          </p:nvSpPr>
          <p:spPr bwMode="auto">
            <a:xfrm flipH="1">
              <a:off x="1491" y="4027"/>
              <a:ext cx="4" cy="3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9" name="Line 21"/>
            <p:cNvSpPr>
              <a:spLocks noChangeShapeType="1"/>
            </p:cNvSpPr>
            <p:nvPr/>
          </p:nvSpPr>
          <p:spPr bwMode="auto">
            <a:xfrm flipH="1">
              <a:off x="1979" y="4027"/>
              <a:ext cx="0" cy="3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40" name="Line 22"/>
            <p:cNvSpPr>
              <a:spLocks noChangeShapeType="1"/>
            </p:cNvSpPr>
            <p:nvPr/>
          </p:nvSpPr>
          <p:spPr bwMode="auto">
            <a:xfrm>
              <a:off x="2508" y="4027"/>
              <a:ext cx="0" cy="3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41" name="Line 23"/>
            <p:cNvSpPr>
              <a:spLocks noChangeShapeType="1"/>
            </p:cNvSpPr>
            <p:nvPr/>
          </p:nvSpPr>
          <p:spPr bwMode="auto">
            <a:xfrm>
              <a:off x="3052" y="4020"/>
              <a:ext cx="0" cy="3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42" name="Rectangle 24"/>
            <p:cNvSpPr>
              <a:spLocks noChangeArrowheads="1"/>
            </p:cNvSpPr>
            <p:nvPr/>
          </p:nvSpPr>
          <p:spPr bwMode="auto">
            <a:xfrm>
              <a:off x="679" y="4061"/>
              <a:ext cx="219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000" dirty="0">
                  <a:latin typeface="+mn-lt"/>
                </a:rPr>
                <a:t>77</a:t>
              </a:r>
            </a:p>
          </p:txBody>
        </p:sp>
        <p:sp>
          <p:nvSpPr>
            <p:cNvPr id="43" name="Rectangle 25"/>
            <p:cNvSpPr>
              <a:spLocks noChangeArrowheads="1"/>
            </p:cNvSpPr>
            <p:nvPr/>
          </p:nvSpPr>
          <p:spPr bwMode="auto">
            <a:xfrm>
              <a:off x="1106" y="4050"/>
              <a:ext cx="219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000" dirty="0">
                  <a:latin typeface="+mn-lt"/>
                </a:rPr>
                <a:t>42</a:t>
              </a:r>
            </a:p>
          </p:txBody>
        </p:sp>
        <p:sp>
          <p:nvSpPr>
            <p:cNvPr id="44" name="Rectangle 26"/>
            <p:cNvSpPr>
              <a:spLocks noChangeArrowheads="1"/>
            </p:cNvSpPr>
            <p:nvPr/>
          </p:nvSpPr>
          <p:spPr bwMode="auto">
            <a:xfrm>
              <a:off x="1586" y="4040"/>
              <a:ext cx="219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000" dirty="0">
                  <a:latin typeface="+mn-lt"/>
                </a:rPr>
                <a:t>35</a:t>
              </a:r>
            </a:p>
          </p:txBody>
        </p:sp>
        <p:sp>
          <p:nvSpPr>
            <p:cNvPr id="45" name="Rectangle 27"/>
            <p:cNvSpPr>
              <a:spLocks noChangeArrowheads="1"/>
            </p:cNvSpPr>
            <p:nvPr/>
          </p:nvSpPr>
          <p:spPr bwMode="auto">
            <a:xfrm>
              <a:off x="2087" y="4061"/>
              <a:ext cx="219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000" dirty="0">
                  <a:latin typeface="+mn-lt"/>
                </a:rPr>
                <a:t>12</a:t>
              </a:r>
            </a:p>
          </p:txBody>
        </p:sp>
        <p:sp>
          <p:nvSpPr>
            <p:cNvPr id="46" name="Rectangle 28"/>
            <p:cNvSpPr>
              <a:spLocks noChangeArrowheads="1"/>
            </p:cNvSpPr>
            <p:nvPr/>
          </p:nvSpPr>
          <p:spPr bwMode="auto">
            <a:xfrm>
              <a:off x="2621" y="4050"/>
              <a:ext cx="285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000" dirty="0">
                  <a:latin typeface="+mn-lt"/>
                </a:rPr>
                <a:t>101</a:t>
              </a:r>
            </a:p>
          </p:txBody>
        </p:sp>
        <p:sp>
          <p:nvSpPr>
            <p:cNvPr id="47" name="Rectangle 29"/>
            <p:cNvSpPr>
              <a:spLocks noChangeArrowheads="1"/>
            </p:cNvSpPr>
            <p:nvPr/>
          </p:nvSpPr>
          <p:spPr bwMode="auto">
            <a:xfrm>
              <a:off x="3112" y="4050"/>
              <a:ext cx="153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000" dirty="0">
                  <a:latin typeface="+mn-lt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281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arrange a set of items in sequence</a:t>
            </a:r>
          </a:p>
          <a:p>
            <a:endParaRPr lang="en-US" dirty="0"/>
          </a:p>
          <a:p>
            <a:r>
              <a:rPr lang="en-US" dirty="0"/>
              <a:t>25~50% of all computing power is used for sorting activities. </a:t>
            </a:r>
          </a:p>
          <a:p>
            <a:endParaRPr lang="en-US" dirty="0"/>
          </a:p>
          <a:p>
            <a:r>
              <a:rPr lang="en-US" dirty="0"/>
              <a:t>Possible reasons: </a:t>
            </a:r>
          </a:p>
          <a:p>
            <a:pPr lvl="1"/>
            <a:r>
              <a:rPr lang="en-US" dirty="0"/>
              <a:t>Many applications require sorting</a:t>
            </a:r>
          </a:p>
          <a:p>
            <a:pPr lvl="1"/>
            <a:r>
              <a:rPr lang="en-US" dirty="0"/>
              <a:t>Many applications perform sorting when they don't have to</a:t>
            </a:r>
          </a:p>
          <a:p>
            <a:pPr lvl="1"/>
            <a:r>
              <a:rPr lang="en-US" dirty="0"/>
              <a:t>Many applications use inefficient sorting algorithms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5-Array Sorting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75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– Example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prepare a list of student ID, names, and scores in a table (sorted by ID or name) for easy checking</a:t>
            </a:r>
          </a:p>
          <a:p>
            <a:endParaRPr lang="en-US" dirty="0"/>
          </a:p>
          <a:p>
            <a:r>
              <a:rPr lang="en-US" dirty="0"/>
              <a:t>To prepare a list of scores before letter grade assignment</a:t>
            </a:r>
          </a:p>
          <a:p>
            <a:endParaRPr lang="en-US" dirty="0"/>
          </a:p>
          <a:p>
            <a:r>
              <a:rPr lang="en-US" dirty="0"/>
              <a:t>To produce a list of horses after a race (sorted by the finishing times) for payoff calculation</a:t>
            </a:r>
          </a:p>
          <a:p>
            <a:endParaRPr lang="en-US" dirty="0"/>
          </a:p>
          <a:p>
            <a:r>
              <a:rPr lang="en-US" dirty="0"/>
              <a:t>To prepare an originally unsorted array for ordered binary searching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2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  <a:p>
            <a:endParaRPr lang="en-US" dirty="0"/>
          </a:p>
          <a:p>
            <a:r>
              <a:rPr lang="en-US" dirty="0"/>
              <a:t>Selection sort</a:t>
            </a:r>
          </a:p>
          <a:p>
            <a:endParaRPr lang="en-US" dirty="0"/>
          </a:p>
          <a:p>
            <a:r>
              <a:rPr lang="en-US" dirty="0"/>
              <a:t>Insertion sort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Merge sort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Quick sort (very efficient method for most applications)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87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763688" y="3410332"/>
            <a:ext cx="56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0070C0"/>
                </a:solidFill>
              </a:rPr>
              <a:t>Bubble Sort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15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Bubbling Up the Largest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Traverse a collection of elements</a:t>
            </a:r>
          </a:p>
          <a:p>
            <a:endParaRPr lang="en-US" dirty="0"/>
          </a:p>
          <a:p>
            <a:r>
              <a:rPr lang="en-US" dirty="0"/>
              <a:t>Move from the </a:t>
            </a:r>
            <a:r>
              <a:rPr lang="en-US" dirty="0">
                <a:solidFill>
                  <a:srgbClr val="0070C0"/>
                </a:solidFill>
              </a:rPr>
              <a:t>front to the end</a:t>
            </a:r>
          </a:p>
          <a:p>
            <a:endParaRPr lang="en-US" dirty="0"/>
          </a:p>
          <a:p>
            <a:r>
              <a:rPr lang="en-US" dirty="0"/>
              <a:t>“Bubble” the </a:t>
            </a:r>
            <a:r>
              <a:rPr lang="en-US" dirty="0">
                <a:solidFill>
                  <a:srgbClr val="0070C0"/>
                </a:solidFill>
              </a:rPr>
              <a:t>largest value </a:t>
            </a:r>
            <a:r>
              <a:rPr lang="en-US" dirty="0"/>
              <a:t>to the end using the operations</a:t>
            </a:r>
          </a:p>
          <a:p>
            <a:pPr lvl="1"/>
            <a:r>
              <a:rPr lang="en-US" dirty="0"/>
              <a:t>Pair-wise </a:t>
            </a:r>
            <a:r>
              <a:rPr lang="en-US" dirty="0">
                <a:solidFill>
                  <a:srgbClr val="0070C0"/>
                </a:solidFill>
              </a:rPr>
              <a:t>comparison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Swapping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</a:t>
            </a:fld>
            <a:endParaRPr lang="en-GB"/>
          </a:p>
        </p:txBody>
      </p:sp>
      <p:grpSp>
        <p:nvGrpSpPr>
          <p:cNvPr id="6" name="Group 1"/>
          <p:cNvGrpSpPr>
            <a:grpSpLocks/>
          </p:cNvGrpSpPr>
          <p:nvPr/>
        </p:nvGrpSpPr>
        <p:grpSpPr bwMode="auto">
          <a:xfrm>
            <a:off x="1066800" y="4132263"/>
            <a:ext cx="7086600" cy="1181100"/>
            <a:chOff x="1066800" y="4132263"/>
            <a:chExt cx="7086600" cy="1181100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1211263" y="4592638"/>
              <a:ext cx="6518275" cy="71596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2220913" y="4587875"/>
              <a:ext cx="0" cy="7127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3238500" y="4587875"/>
              <a:ext cx="0" cy="725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4276725" y="4587875"/>
              <a:ext cx="0" cy="725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5386388" y="4587875"/>
              <a:ext cx="0" cy="725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6540500" y="4600575"/>
              <a:ext cx="0" cy="7000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6958013" y="4767263"/>
              <a:ext cx="381515" cy="523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5</a:t>
              </a: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4516438" y="4754563"/>
              <a:ext cx="577081" cy="523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12</a:t>
              </a: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3430588" y="4767263"/>
              <a:ext cx="577081" cy="523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35</a:t>
              </a: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2344738" y="4767263"/>
              <a:ext cx="577081" cy="523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42</a:t>
              </a: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1376363" y="4781550"/>
              <a:ext cx="577081" cy="523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77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5559425" y="4752975"/>
              <a:ext cx="772647" cy="523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101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1066800" y="4132263"/>
              <a:ext cx="7086600" cy="523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    1       2        3        4        5         6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274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Bubbling Up the Largest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Traverse a collection of elements</a:t>
            </a:r>
          </a:p>
          <a:p>
            <a:endParaRPr lang="en-US" dirty="0"/>
          </a:p>
          <a:p>
            <a:r>
              <a:rPr lang="en-US" dirty="0"/>
              <a:t>Move from the </a:t>
            </a:r>
            <a:r>
              <a:rPr lang="en-US" dirty="0">
                <a:solidFill>
                  <a:srgbClr val="0070C0"/>
                </a:solidFill>
              </a:rPr>
              <a:t>front to the end</a:t>
            </a:r>
          </a:p>
          <a:p>
            <a:endParaRPr lang="en-US" dirty="0"/>
          </a:p>
          <a:p>
            <a:r>
              <a:rPr lang="en-US" dirty="0"/>
              <a:t>“Bubble” the </a:t>
            </a:r>
            <a:r>
              <a:rPr lang="en-US" dirty="0">
                <a:solidFill>
                  <a:srgbClr val="0070C0"/>
                </a:solidFill>
              </a:rPr>
              <a:t>largest value </a:t>
            </a:r>
            <a:r>
              <a:rPr lang="en-US" dirty="0"/>
              <a:t>to the end using the operations</a:t>
            </a:r>
          </a:p>
          <a:p>
            <a:pPr lvl="1"/>
            <a:r>
              <a:rPr lang="en-US" dirty="0"/>
              <a:t>Pair-wise </a:t>
            </a:r>
            <a:r>
              <a:rPr lang="en-US" dirty="0">
                <a:solidFill>
                  <a:srgbClr val="0070C0"/>
                </a:solidFill>
              </a:rPr>
              <a:t>comparison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Swapping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20" name="Rectangle 2052"/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21" name="Line 2053"/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22" name="Line 2054"/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23" name="Line 2055"/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24" name="Line 2056"/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25" name="Line 2057"/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26" name="Rectangle 2058"/>
          <p:cNvSpPr>
            <a:spLocks noChangeArrowheads="1"/>
          </p:cNvSpPr>
          <p:nvPr/>
        </p:nvSpPr>
        <p:spPr bwMode="auto">
          <a:xfrm>
            <a:off x="6958013" y="4767263"/>
            <a:ext cx="38151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5</a:t>
            </a:r>
          </a:p>
        </p:txBody>
      </p:sp>
      <p:sp>
        <p:nvSpPr>
          <p:cNvPr id="27" name="Rectangle 2059"/>
          <p:cNvSpPr>
            <a:spLocks noChangeArrowheads="1"/>
          </p:cNvSpPr>
          <p:nvPr/>
        </p:nvSpPr>
        <p:spPr bwMode="auto">
          <a:xfrm>
            <a:off x="4516438" y="47545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12</a:t>
            </a:r>
          </a:p>
        </p:txBody>
      </p:sp>
      <p:sp>
        <p:nvSpPr>
          <p:cNvPr id="28" name="Rectangle 2060"/>
          <p:cNvSpPr>
            <a:spLocks noChangeArrowheads="1"/>
          </p:cNvSpPr>
          <p:nvPr/>
        </p:nvSpPr>
        <p:spPr bwMode="auto">
          <a:xfrm>
            <a:off x="3430588" y="47672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35</a:t>
            </a:r>
          </a:p>
        </p:txBody>
      </p:sp>
      <p:sp>
        <p:nvSpPr>
          <p:cNvPr id="29" name="Rectangle 2061"/>
          <p:cNvSpPr>
            <a:spLocks noChangeArrowheads="1"/>
          </p:cNvSpPr>
          <p:nvPr/>
        </p:nvSpPr>
        <p:spPr bwMode="auto">
          <a:xfrm>
            <a:off x="2344738" y="47672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33"/>
                </a:solidFill>
                <a:latin typeface="+mn-lt"/>
              </a:rPr>
              <a:t>42</a:t>
            </a:r>
          </a:p>
        </p:txBody>
      </p:sp>
      <p:sp>
        <p:nvSpPr>
          <p:cNvPr id="30" name="Rectangle 2062"/>
          <p:cNvSpPr>
            <a:spLocks noChangeArrowheads="1"/>
          </p:cNvSpPr>
          <p:nvPr/>
        </p:nvSpPr>
        <p:spPr bwMode="auto">
          <a:xfrm>
            <a:off x="1376363" y="4781550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33"/>
                </a:solidFill>
                <a:latin typeface="+mn-lt"/>
              </a:rPr>
              <a:t>77</a:t>
            </a:r>
          </a:p>
        </p:txBody>
      </p:sp>
      <p:sp>
        <p:nvSpPr>
          <p:cNvPr id="31" name="Rectangle 2063"/>
          <p:cNvSpPr>
            <a:spLocks noChangeArrowheads="1"/>
          </p:cNvSpPr>
          <p:nvPr/>
        </p:nvSpPr>
        <p:spPr bwMode="auto">
          <a:xfrm>
            <a:off x="5559425" y="4752975"/>
            <a:ext cx="772647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101</a:t>
            </a:r>
          </a:p>
        </p:txBody>
      </p:sp>
      <p:sp>
        <p:nvSpPr>
          <p:cNvPr id="32" name="Rectangle 2064"/>
          <p:cNvSpPr>
            <a:spLocks noChangeArrowheads="1"/>
          </p:cNvSpPr>
          <p:nvPr/>
        </p:nvSpPr>
        <p:spPr bwMode="auto">
          <a:xfrm>
            <a:off x="1524000" y="4132263"/>
            <a:ext cx="607217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</a:rPr>
              <a:t>1       2       3        4         5         6</a:t>
            </a:r>
          </a:p>
        </p:txBody>
      </p:sp>
      <p:sp>
        <p:nvSpPr>
          <p:cNvPr id="33" name="Rectangle 2065"/>
          <p:cNvSpPr>
            <a:spLocks noChangeArrowheads="1"/>
          </p:cNvSpPr>
          <p:nvPr/>
        </p:nvSpPr>
        <p:spPr bwMode="auto">
          <a:xfrm>
            <a:off x="1211263" y="46005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34" name="Rectangle 2066"/>
          <p:cNvSpPr>
            <a:spLocks noChangeArrowheads="1"/>
          </p:cNvSpPr>
          <p:nvPr/>
        </p:nvSpPr>
        <p:spPr bwMode="auto">
          <a:xfrm>
            <a:off x="2220913" y="46005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35" name="AutoShape 2067"/>
          <p:cNvSpPr>
            <a:spLocks noChangeArrowheads="1"/>
          </p:cNvSpPr>
          <p:nvPr/>
        </p:nvSpPr>
        <p:spPr bwMode="auto">
          <a:xfrm>
            <a:off x="1011238" y="4132263"/>
            <a:ext cx="241935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+mn-lt"/>
              </a:rPr>
              <a:t>Swap</a:t>
            </a:r>
          </a:p>
        </p:txBody>
      </p:sp>
      <p:grpSp>
        <p:nvGrpSpPr>
          <p:cNvPr id="36" name="Group 2070"/>
          <p:cNvGrpSpPr>
            <a:grpSpLocks/>
          </p:cNvGrpSpPr>
          <p:nvPr/>
        </p:nvGrpSpPr>
        <p:grpSpPr bwMode="auto">
          <a:xfrm>
            <a:off x="1206500" y="4595813"/>
            <a:ext cx="2019300" cy="708025"/>
            <a:chOff x="760" y="2895"/>
            <a:chExt cx="1272" cy="446"/>
          </a:xfrm>
        </p:grpSpPr>
        <p:sp>
          <p:nvSpPr>
            <p:cNvPr id="37" name="Rectangle 2068"/>
            <p:cNvSpPr>
              <a:spLocks noChangeArrowheads="1"/>
            </p:cNvSpPr>
            <p:nvPr/>
          </p:nvSpPr>
          <p:spPr bwMode="auto"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>
                  <a:latin typeface="+mn-lt"/>
                </a:rPr>
                <a:t>42</a:t>
              </a:r>
            </a:p>
          </p:txBody>
        </p:sp>
        <p:sp>
          <p:nvSpPr>
            <p:cNvPr id="38" name="Rectangle 2069"/>
            <p:cNvSpPr>
              <a:spLocks noChangeArrowheads="1"/>
            </p:cNvSpPr>
            <p:nvPr/>
          </p:nvSpPr>
          <p:spPr bwMode="auto"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>
                  <a:latin typeface="+mn-lt"/>
                </a:rPr>
                <a:t>77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884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Bubbling Up the Largest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Traverse a collection of elements</a:t>
            </a:r>
          </a:p>
          <a:p>
            <a:endParaRPr lang="en-US" dirty="0"/>
          </a:p>
          <a:p>
            <a:r>
              <a:rPr lang="en-US" dirty="0"/>
              <a:t>Move from the </a:t>
            </a:r>
            <a:r>
              <a:rPr lang="en-US" dirty="0">
                <a:solidFill>
                  <a:srgbClr val="0070C0"/>
                </a:solidFill>
              </a:rPr>
              <a:t>front to the end</a:t>
            </a:r>
          </a:p>
          <a:p>
            <a:endParaRPr lang="en-US" dirty="0"/>
          </a:p>
          <a:p>
            <a:r>
              <a:rPr lang="en-US" dirty="0"/>
              <a:t>“Bubble” the </a:t>
            </a:r>
            <a:r>
              <a:rPr lang="en-US" dirty="0">
                <a:solidFill>
                  <a:srgbClr val="0070C0"/>
                </a:solidFill>
              </a:rPr>
              <a:t>largest value </a:t>
            </a:r>
            <a:r>
              <a:rPr lang="en-US" dirty="0"/>
              <a:t>to the end using the operations</a:t>
            </a:r>
          </a:p>
          <a:p>
            <a:pPr lvl="1"/>
            <a:r>
              <a:rPr lang="en-US" dirty="0"/>
              <a:t>Pair-wise </a:t>
            </a:r>
            <a:r>
              <a:rPr lang="en-US" dirty="0">
                <a:solidFill>
                  <a:srgbClr val="0070C0"/>
                </a:solidFill>
              </a:rPr>
              <a:t>comparison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Swapping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40" name="Line 5"/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1" name="Line 6"/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2" name="Line 7"/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3" name="Line 8"/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4" name="Line 9"/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5" name="Rectangle 10"/>
          <p:cNvSpPr>
            <a:spLocks noChangeArrowheads="1"/>
          </p:cNvSpPr>
          <p:nvPr/>
        </p:nvSpPr>
        <p:spPr bwMode="auto">
          <a:xfrm>
            <a:off x="6958013" y="4767263"/>
            <a:ext cx="38151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5</a:t>
            </a:r>
          </a:p>
        </p:txBody>
      </p:sp>
      <p:sp>
        <p:nvSpPr>
          <p:cNvPr id="46" name="Rectangle 11"/>
          <p:cNvSpPr>
            <a:spLocks noChangeArrowheads="1"/>
          </p:cNvSpPr>
          <p:nvPr/>
        </p:nvSpPr>
        <p:spPr bwMode="auto">
          <a:xfrm>
            <a:off x="4516438" y="47545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12</a:t>
            </a:r>
          </a:p>
        </p:txBody>
      </p:sp>
      <p:sp>
        <p:nvSpPr>
          <p:cNvPr id="47" name="Rectangle 12"/>
          <p:cNvSpPr>
            <a:spLocks noChangeArrowheads="1"/>
          </p:cNvSpPr>
          <p:nvPr/>
        </p:nvSpPr>
        <p:spPr bwMode="auto">
          <a:xfrm>
            <a:off x="3430588" y="47672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33"/>
                </a:solidFill>
                <a:latin typeface="+mn-lt"/>
              </a:rPr>
              <a:t>35</a:t>
            </a:r>
          </a:p>
        </p:txBody>
      </p:sp>
      <p:sp>
        <p:nvSpPr>
          <p:cNvPr id="48" name="Rectangle 13"/>
          <p:cNvSpPr>
            <a:spLocks noChangeArrowheads="1"/>
          </p:cNvSpPr>
          <p:nvPr/>
        </p:nvSpPr>
        <p:spPr bwMode="auto">
          <a:xfrm>
            <a:off x="2344738" y="47672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33"/>
                </a:solidFill>
                <a:latin typeface="+mn-lt"/>
              </a:rPr>
              <a:t>77</a:t>
            </a:r>
          </a:p>
        </p:txBody>
      </p:sp>
      <p:sp>
        <p:nvSpPr>
          <p:cNvPr id="49" name="Rectangle 14"/>
          <p:cNvSpPr>
            <a:spLocks noChangeArrowheads="1"/>
          </p:cNvSpPr>
          <p:nvPr/>
        </p:nvSpPr>
        <p:spPr bwMode="auto">
          <a:xfrm>
            <a:off x="1376363" y="4781550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42</a:t>
            </a:r>
          </a:p>
        </p:txBody>
      </p:sp>
      <p:sp>
        <p:nvSpPr>
          <p:cNvPr id="50" name="Rectangle 15"/>
          <p:cNvSpPr>
            <a:spLocks noChangeArrowheads="1"/>
          </p:cNvSpPr>
          <p:nvPr/>
        </p:nvSpPr>
        <p:spPr bwMode="auto">
          <a:xfrm>
            <a:off x="5559425" y="4752975"/>
            <a:ext cx="772647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101</a:t>
            </a:r>
          </a:p>
        </p:txBody>
      </p:sp>
      <p:sp>
        <p:nvSpPr>
          <p:cNvPr id="51" name="Rectangle 16"/>
          <p:cNvSpPr>
            <a:spLocks noChangeArrowheads="1"/>
          </p:cNvSpPr>
          <p:nvPr/>
        </p:nvSpPr>
        <p:spPr bwMode="auto">
          <a:xfrm>
            <a:off x="1524000" y="4132263"/>
            <a:ext cx="607217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</a:rPr>
              <a:t>1        2       3        4        5         6</a:t>
            </a:r>
          </a:p>
        </p:txBody>
      </p:sp>
      <p:sp>
        <p:nvSpPr>
          <p:cNvPr id="52" name="Rectangle 17"/>
          <p:cNvSpPr>
            <a:spLocks noChangeArrowheads="1"/>
          </p:cNvSpPr>
          <p:nvPr/>
        </p:nvSpPr>
        <p:spPr bwMode="auto">
          <a:xfrm>
            <a:off x="2220913" y="45878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53" name="Rectangle 18"/>
          <p:cNvSpPr>
            <a:spLocks noChangeArrowheads="1"/>
          </p:cNvSpPr>
          <p:nvPr/>
        </p:nvSpPr>
        <p:spPr bwMode="auto">
          <a:xfrm>
            <a:off x="3259138" y="45878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54" name="AutoShape 19"/>
          <p:cNvSpPr>
            <a:spLocks noChangeArrowheads="1"/>
          </p:cNvSpPr>
          <p:nvPr/>
        </p:nvSpPr>
        <p:spPr bwMode="auto">
          <a:xfrm>
            <a:off x="2062163" y="4141788"/>
            <a:ext cx="241935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+mn-lt"/>
              </a:rPr>
              <a:t>Swap</a:t>
            </a:r>
          </a:p>
        </p:txBody>
      </p:sp>
      <p:grpSp>
        <p:nvGrpSpPr>
          <p:cNvPr id="55" name="Group 20"/>
          <p:cNvGrpSpPr>
            <a:grpSpLocks/>
          </p:cNvGrpSpPr>
          <p:nvPr/>
        </p:nvGrpSpPr>
        <p:grpSpPr bwMode="auto">
          <a:xfrm>
            <a:off x="2257425" y="4605338"/>
            <a:ext cx="2019300" cy="708025"/>
            <a:chOff x="760" y="2895"/>
            <a:chExt cx="1272" cy="446"/>
          </a:xfrm>
        </p:grpSpPr>
        <p:sp>
          <p:nvSpPr>
            <p:cNvPr id="56" name="Rectangle 21"/>
            <p:cNvSpPr>
              <a:spLocks noChangeArrowheads="1"/>
            </p:cNvSpPr>
            <p:nvPr/>
          </p:nvSpPr>
          <p:spPr bwMode="auto"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>
                  <a:latin typeface="+mn-lt"/>
                </a:rPr>
                <a:t>35</a:t>
              </a:r>
            </a:p>
          </p:txBody>
        </p:sp>
        <p:sp>
          <p:nvSpPr>
            <p:cNvPr id="57" name="Rectangle 22"/>
            <p:cNvSpPr>
              <a:spLocks noChangeArrowheads="1"/>
            </p:cNvSpPr>
            <p:nvPr/>
          </p:nvSpPr>
          <p:spPr bwMode="auto"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>
                  <a:latin typeface="+mn-lt"/>
                </a:rPr>
                <a:t>77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6607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Bubbling Up the Largest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Traverse a collection of elements</a:t>
            </a:r>
          </a:p>
          <a:p>
            <a:endParaRPr lang="en-US" dirty="0"/>
          </a:p>
          <a:p>
            <a:r>
              <a:rPr lang="en-US" dirty="0"/>
              <a:t>Move from the </a:t>
            </a:r>
            <a:r>
              <a:rPr lang="en-US" dirty="0">
                <a:solidFill>
                  <a:srgbClr val="0070C0"/>
                </a:solidFill>
              </a:rPr>
              <a:t>front to the end</a:t>
            </a:r>
          </a:p>
          <a:p>
            <a:endParaRPr lang="en-US" dirty="0"/>
          </a:p>
          <a:p>
            <a:r>
              <a:rPr lang="en-US" dirty="0"/>
              <a:t>“Bubble” the </a:t>
            </a:r>
            <a:r>
              <a:rPr lang="en-US" dirty="0">
                <a:solidFill>
                  <a:srgbClr val="0070C0"/>
                </a:solidFill>
              </a:rPr>
              <a:t>largest value </a:t>
            </a:r>
            <a:r>
              <a:rPr lang="en-US" dirty="0"/>
              <a:t>to the end using the operations</a:t>
            </a:r>
          </a:p>
          <a:p>
            <a:pPr lvl="1"/>
            <a:r>
              <a:rPr lang="en-US" dirty="0"/>
              <a:t>Pair-wise </a:t>
            </a:r>
            <a:r>
              <a:rPr lang="en-US" dirty="0">
                <a:solidFill>
                  <a:srgbClr val="0070C0"/>
                </a:solidFill>
              </a:rPr>
              <a:t>comparison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Swapping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26" name="Line 5"/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27" name="Line 6"/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29" name="Line 8"/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30" name="Line 9"/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31" name="Rectangle 10"/>
          <p:cNvSpPr>
            <a:spLocks noChangeArrowheads="1"/>
          </p:cNvSpPr>
          <p:nvPr/>
        </p:nvSpPr>
        <p:spPr bwMode="auto">
          <a:xfrm>
            <a:off x="6958013" y="4767263"/>
            <a:ext cx="38151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5</a:t>
            </a:r>
          </a:p>
        </p:txBody>
      </p:sp>
      <p:sp>
        <p:nvSpPr>
          <p:cNvPr id="32" name="Rectangle 11"/>
          <p:cNvSpPr>
            <a:spLocks noChangeArrowheads="1"/>
          </p:cNvSpPr>
          <p:nvPr/>
        </p:nvSpPr>
        <p:spPr bwMode="auto">
          <a:xfrm>
            <a:off x="4516438" y="47545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33"/>
                </a:solidFill>
                <a:latin typeface="+mn-lt"/>
              </a:rPr>
              <a:t>12</a:t>
            </a:r>
          </a:p>
        </p:txBody>
      </p:sp>
      <p:sp>
        <p:nvSpPr>
          <p:cNvPr id="33" name="Rectangle 12"/>
          <p:cNvSpPr>
            <a:spLocks noChangeArrowheads="1"/>
          </p:cNvSpPr>
          <p:nvPr/>
        </p:nvSpPr>
        <p:spPr bwMode="auto">
          <a:xfrm>
            <a:off x="3430588" y="47672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33"/>
                </a:solidFill>
                <a:latin typeface="+mn-lt"/>
              </a:rPr>
              <a:t>77</a:t>
            </a:r>
          </a:p>
        </p:txBody>
      </p:sp>
      <p:sp>
        <p:nvSpPr>
          <p:cNvPr id="34" name="Rectangle 13"/>
          <p:cNvSpPr>
            <a:spLocks noChangeArrowheads="1"/>
          </p:cNvSpPr>
          <p:nvPr/>
        </p:nvSpPr>
        <p:spPr bwMode="auto">
          <a:xfrm>
            <a:off x="2445213" y="4777346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</a:rPr>
              <a:t>35</a:t>
            </a:r>
          </a:p>
        </p:txBody>
      </p:sp>
      <p:sp>
        <p:nvSpPr>
          <p:cNvPr id="35" name="Rectangle 14"/>
          <p:cNvSpPr>
            <a:spLocks noChangeArrowheads="1"/>
          </p:cNvSpPr>
          <p:nvPr/>
        </p:nvSpPr>
        <p:spPr bwMode="auto">
          <a:xfrm>
            <a:off x="1376363" y="4781550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42</a:t>
            </a:r>
          </a:p>
        </p:txBody>
      </p:sp>
      <p:sp>
        <p:nvSpPr>
          <p:cNvPr id="36" name="Rectangle 15"/>
          <p:cNvSpPr>
            <a:spLocks noChangeArrowheads="1"/>
          </p:cNvSpPr>
          <p:nvPr/>
        </p:nvSpPr>
        <p:spPr bwMode="auto">
          <a:xfrm>
            <a:off x="5559425" y="4752975"/>
            <a:ext cx="772647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101</a:t>
            </a:r>
          </a:p>
        </p:txBody>
      </p:sp>
      <p:sp>
        <p:nvSpPr>
          <p:cNvPr id="37" name="Rectangle 16"/>
          <p:cNvSpPr>
            <a:spLocks noChangeArrowheads="1"/>
          </p:cNvSpPr>
          <p:nvPr/>
        </p:nvSpPr>
        <p:spPr bwMode="auto">
          <a:xfrm>
            <a:off x="1524000" y="4132263"/>
            <a:ext cx="595996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</a:rPr>
              <a:t>1        2       3        4        5         6</a:t>
            </a:r>
          </a:p>
        </p:txBody>
      </p:sp>
      <p:sp>
        <p:nvSpPr>
          <p:cNvPr id="38" name="Rectangle 17"/>
          <p:cNvSpPr>
            <a:spLocks noChangeArrowheads="1"/>
          </p:cNvSpPr>
          <p:nvPr/>
        </p:nvSpPr>
        <p:spPr bwMode="auto">
          <a:xfrm>
            <a:off x="3267075" y="46005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58" name="Rectangle 18"/>
          <p:cNvSpPr>
            <a:spLocks noChangeArrowheads="1"/>
          </p:cNvSpPr>
          <p:nvPr/>
        </p:nvSpPr>
        <p:spPr bwMode="auto">
          <a:xfrm>
            <a:off x="4276725" y="4600575"/>
            <a:ext cx="1095375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59" name="AutoShape 19"/>
          <p:cNvSpPr>
            <a:spLocks noChangeArrowheads="1"/>
          </p:cNvSpPr>
          <p:nvPr/>
        </p:nvSpPr>
        <p:spPr bwMode="auto">
          <a:xfrm>
            <a:off x="3057525" y="4132263"/>
            <a:ext cx="250190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+mn-lt"/>
              </a:rPr>
              <a:t>Swap</a:t>
            </a:r>
          </a:p>
        </p:txBody>
      </p:sp>
      <p:grpSp>
        <p:nvGrpSpPr>
          <p:cNvPr id="60" name="Group 20"/>
          <p:cNvGrpSpPr>
            <a:grpSpLocks/>
          </p:cNvGrpSpPr>
          <p:nvPr/>
        </p:nvGrpSpPr>
        <p:grpSpPr bwMode="auto">
          <a:xfrm>
            <a:off x="3267075" y="4595813"/>
            <a:ext cx="2087563" cy="708025"/>
            <a:chOff x="760" y="2895"/>
            <a:chExt cx="1272" cy="446"/>
          </a:xfrm>
        </p:grpSpPr>
        <p:sp>
          <p:nvSpPr>
            <p:cNvPr id="61" name="Rectangle 21"/>
            <p:cNvSpPr>
              <a:spLocks noChangeArrowheads="1"/>
            </p:cNvSpPr>
            <p:nvPr/>
          </p:nvSpPr>
          <p:spPr bwMode="auto"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>
                  <a:latin typeface="+mn-lt"/>
                </a:rPr>
                <a:t>12</a:t>
              </a:r>
            </a:p>
          </p:txBody>
        </p:sp>
        <p:sp>
          <p:nvSpPr>
            <p:cNvPr id="62" name="Rectangle 22"/>
            <p:cNvSpPr>
              <a:spLocks noChangeArrowheads="1"/>
            </p:cNvSpPr>
            <p:nvPr/>
          </p:nvSpPr>
          <p:spPr bwMode="auto"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>
                  <a:latin typeface="+mn-lt"/>
                </a:rPr>
                <a:t>77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331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Bubbling Up the Largest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Traverse a collection of elements</a:t>
            </a:r>
          </a:p>
          <a:p>
            <a:endParaRPr lang="en-US" dirty="0"/>
          </a:p>
          <a:p>
            <a:r>
              <a:rPr lang="en-US" dirty="0"/>
              <a:t>Move from the </a:t>
            </a:r>
            <a:r>
              <a:rPr lang="en-US" dirty="0">
                <a:solidFill>
                  <a:srgbClr val="0070C0"/>
                </a:solidFill>
              </a:rPr>
              <a:t>front to the end</a:t>
            </a:r>
          </a:p>
          <a:p>
            <a:endParaRPr lang="en-US" dirty="0"/>
          </a:p>
          <a:p>
            <a:r>
              <a:rPr lang="en-US" dirty="0"/>
              <a:t>“Bubble” the </a:t>
            </a:r>
            <a:r>
              <a:rPr lang="en-US" dirty="0">
                <a:solidFill>
                  <a:srgbClr val="0070C0"/>
                </a:solidFill>
              </a:rPr>
              <a:t>largest value </a:t>
            </a:r>
            <a:r>
              <a:rPr lang="en-US" dirty="0"/>
              <a:t>to the end using the operations</a:t>
            </a:r>
          </a:p>
          <a:p>
            <a:pPr lvl="1"/>
            <a:r>
              <a:rPr lang="en-US" dirty="0"/>
              <a:t>Pair-wise </a:t>
            </a:r>
            <a:r>
              <a:rPr lang="en-US" dirty="0">
                <a:solidFill>
                  <a:srgbClr val="0070C0"/>
                </a:solidFill>
              </a:rPr>
              <a:t>comparison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Swapping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39" name="Rectangle 1028"/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40" name="Line 1029"/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1" name="Line 1030"/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2" name="Line 1031"/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3" name="Line 1032"/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4" name="Line 1033"/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5" name="Rectangle 1034"/>
          <p:cNvSpPr>
            <a:spLocks noChangeArrowheads="1"/>
          </p:cNvSpPr>
          <p:nvPr/>
        </p:nvSpPr>
        <p:spPr bwMode="auto">
          <a:xfrm>
            <a:off x="6958013" y="4767263"/>
            <a:ext cx="38151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5</a:t>
            </a:r>
          </a:p>
        </p:txBody>
      </p:sp>
      <p:sp>
        <p:nvSpPr>
          <p:cNvPr id="46" name="Rectangle 1035"/>
          <p:cNvSpPr>
            <a:spLocks noChangeArrowheads="1"/>
          </p:cNvSpPr>
          <p:nvPr/>
        </p:nvSpPr>
        <p:spPr bwMode="auto">
          <a:xfrm>
            <a:off x="4516438" y="47545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33"/>
                </a:solidFill>
                <a:latin typeface="+mn-lt"/>
              </a:rPr>
              <a:t>77</a:t>
            </a:r>
          </a:p>
        </p:txBody>
      </p:sp>
      <p:sp>
        <p:nvSpPr>
          <p:cNvPr id="47" name="Rectangle 1036"/>
          <p:cNvSpPr>
            <a:spLocks noChangeArrowheads="1"/>
          </p:cNvSpPr>
          <p:nvPr/>
        </p:nvSpPr>
        <p:spPr bwMode="auto">
          <a:xfrm>
            <a:off x="3430588" y="47672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12</a:t>
            </a:r>
          </a:p>
        </p:txBody>
      </p:sp>
      <p:sp>
        <p:nvSpPr>
          <p:cNvPr id="48" name="Rectangle 1037"/>
          <p:cNvSpPr>
            <a:spLocks noChangeArrowheads="1"/>
          </p:cNvSpPr>
          <p:nvPr/>
        </p:nvSpPr>
        <p:spPr bwMode="auto">
          <a:xfrm>
            <a:off x="2344738" y="47672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35</a:t>
            </a:r>
          </a:p>
        </p:txBody>
      </p:sp>
      <p:sp>
        <p:nvSpPr>
          <p:cNvPr id="49" name="Rectangle 1038"/>
          <p:cNvSpPr>
            <a:spLocks noChangeArrowheads="1"/>
          </p:cNvSpPr>
          <p:nvPr/>
        </p:nvSpPr>
        <p:spPr bwMode="auto">
          <a:xfrm>
            <a:off x="1376363" y="4781550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42</a:t>
            </a:r>
          </a:p>
        </p:txBody>
      </p:sp>
      <p:sp>
        <p:nvSpPr>
          <p:cNvPr id="50" name="Rectangle 1039"/>
          <p:cNvSpPr>
            <a:spLocks noChangeArrowheads="1"/>
          </p:cNvSpPr>
          <p:nvPr/>
        </p:nvSpPr>
        <p:spPr bwMode="auto">
          <a:xfrm>
            <a:off x="5559425" y="4752975"/>
            <a:ext cx="772647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33"/>
                </a:solidFill>
                <a:latin typeface="+mn-lt"/>
              </a:rPr>
              <a:t>101</a:t>
            </a:r>
          </a:p>
        </p:txBody>
      </p:sp>
      <p:sp>
        <p:nvSpPr>
          <p:cNvPr id="51" name="Rectangle 1040"/>
          <p:cNvSpPr>
            <a:spLocks noChangeArrowheads="1"/>
          </p:cNvSpPr>
          <p:nvPr/>
        </p:nvSpPr>
        <p:spPr bwMode="auto">
          <a:xfrm>
            <a:off x="1524000" y="4132263"/>
            <a:ext cx="584775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</a:rPr>
              <a:t>1       2        3       4         5         6</a:t>
            </a:r>
          </a:p>
        </p:txBody>
      </p:sp>
      <p:sp>
        <p:nvSpPr>
          <p:cNvPr id="52" name="Rectangle 1041"/>
          <p:cNvSpPr>
            <a:spLocks noChangeArrowheads="1"/>
          </p:cNvSpPr>
          <p:nvPr/>
        </p:nvSpPr>
        <p:spPr bwMode="auto">
          <a:xfrm>
            <a:off x="4291013" y="4587875"/>
            <a:ext cx="1081087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53" name="Rectangle 1042"/>
          <p:cNvSpPr>
            <a:spLocks noChangeArrowheads="1"/>
          </p:cNvSpPr>
          <p:nvPr/>
        </p:nvSpPr>
        <p:spPr bwMode="auto">
          <a:xfrm>
            <a:off x="5386388" y="4587875"/>
            <a:ext cx="1152525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54" name="Text Box 1047"/>
          <p:cNvSpPr txBox="1">
            <a:spLocks noChangeArrowheads="1"/>
          </p:cNvSpPr>
          <p:nvPr/>
        </p:nvSpPr>
        <p:spPr bwMode="auto">
          <a:xfrm>
            <a:off x="4157663" y="5454650"/>
            <a:ext cx="28617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3333FF"/>
                </a:solidFill>
                <a:latin typeface="+mn-lt"/>
              </a:rPr>
              <a:t>No need to swap</a:t>
            </a:r>
          </a:p>
        </p:txBody>
      </p:sp>
    </p:spTree>
    <p:extLst>
      <p:ext uri="{BB962C8B-B14F-4D97-AF65-F5344CB8AC3E}">
        <p14:creationId xmlns:p14="http://schemas.microsoft.com/office/powerpoint/2010/main" val="338986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Bubbling Up the Largest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Traverse a collection of elements</a:t>
            </a:r>
          </a:p>
          <a:p>
            <a:endParaRPr lang="en-US" dirty="0"/>
          </a:p>
          <a:p>
            <a:r>
              <a:rPr lang="en-US" dirty="0"/>
              <a:t>Move from the </a:t>
            </a:r>
            <a:r>
              <a:rPr lang="en-US" dirty="0">
                <a:solidFill>
                  <a:srgbClr val="0070C0"/>
                </a:solidFill>
              </a:rPr>
              <a:t>front to the end</a:t>
            </a:r>
          </a:p>
          <a:p>
            <a:endParaRPr lang="en-US" dirty="0"/>
          </a:p>
          <a:p>
            <a:r>
              <a:rPr lang="en-US" dirty="0"/>
              <a:t>“Bubble” the </a:t>
            </a:r>
            <a:r>
              <a:rPr lang="en-US" dirty="0">
                <a:solidFill>
                  <a:srgbClr val="0070C0"/>
                </a:solidFill>
              </a:rPr>
              <a:t>largest value </a:t>
            </a:r>
            <a:r>
              <a:rPr lang="en-US" dirty="0"/>
              <a:t>to the end using the operations</a:t>
            </a:r>
          </a:p>
          <a:p>
            <a:pPr lvl="1"/>
            <a:r>
              <a:rPr lang="en-US" dirty="0"/>
              <a:t>Pair-wise </a:t>
            </a:r>
            <a:r>
              <a:rPr lang="en-US" dirty="0">
                <a:solidFill>
                  <a:srgbClr val="0070C0"/>
                </a:solidFill>
              </a:rPr>
              <a:t>comparison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Swapping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23" name="Line 5"/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24" name="Line 6"/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26" name="Line 8"/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27" name="Line 9"/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28" name="Rectangle 10"/>
          <p:cNvSpPr>
            <a:spLocks noChangeArrowheads="1"/>
          </p:cNvSpPr>
          <p:nvPr/>
        </p:nvSpPr>
        <p:spPr bwMode="auto">
          <a:xfrm>
            <a:off x="6958013" y="4767263"/>
            <a:ext cx="38151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33"/>
                </a:solidFill>
                <a:latin typeface="+mn-lt"/>
              </a:rPr>
              <a:t>5</a:t>
            </a:r>
          </a:p>
        </p:txBody>
      </p:sp>
      <p:sp>
        <p:nvSpPr>
          <p:cNvPr id="29" name="Rectangle 11"/>
          <p:cNvSpPr>
            <a:spLocks noChangeArrowheads="1"/>
          </p:cNvSpPr>
          <p:nvPr/>
        </p:nvSpPr>
        <p:spPr bwMode="auto">
          <a:xfrm>
            <a:off x="4516438" y="47545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77</a:t>
            </a:r>
          </a:p>
        </p:txBody>
      </p:sp>
      <p:sp>
        <p:nvSpPr>
          <p:cNvPr id="30" name="Rectangle 12"/>
          <p:cNvSpPr>
            <a:spLocks noChangeArrowheads="1"/>
          </p:cNvSpPr>
          <p:nvPr/>
        </p:nvSpPr>
        <p:spPr bwMode="auto">
          <a:xfrm>
            <a:off x="3430588" y="47672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12</a:t>
            </a:r>
          </a:p>
        </p:txBody>
      </p:sp>
      <p:sp>
        <p:nvSpPr>
          <p:cNvPr id="31" name="Rectangle 13"/>
          <p:cNvSpPr>
            <a:spLocks noChangeArrowheads="1"/>
          </p:cNvSpPr>
          <p:nvPr/>
        </p:nvSpPr>
        <p:spPr bwMode="auto">
          <a:xfrm>
            <a:off x="2344738" y="47672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35</a:t>
            </a: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1376363" y="4781550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42</a:t>
            </a:r>
          </a:p>
        </p:txBody>
      </p:sp>
      <p:sp>
        <p:nvSpPr>
          <p:cNvPr id="33" name="Rectangle 15"/>
          <p:cNvSpPr>
            <a:spLocks noChangeArrowheads="1"/>
          </p:cNvSpPr>
          <p:nvPr/>
        </p:nvSpPr>
        <p:spPr bwMode="auto">
          <a:xfrm>
            <a:off x="5559425" y="4752975"/>
            <a:ext cx="772647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33"/>
                </a:solidFill>
                <a:latin typeface="+mn-lt"/>
              </a:rPr>
              <a:t>101</a:t>
            </a:r>
          </a:p>
        </p:txBody>
      </p:sp>
      <p:sp>
        <p:nvSpPr>
          <p:cNvPr id="34" name="Rectangle 16"/>
          <p:cNvSpPr>
            <a:spLocks noChangeArrowheads="1"/>
          </p:cNvSpPr>
          <p:nvPr/>
        </p:nvSpPr>
        <p:spPr bwMode="auto">
          <a:xfrm>
            <a:off x="1524000" y="4132263"/>
            <a:ext cx="607217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</a:rPr>
              <a:t>1       2        3        4        5         6</a:t>
            </a:r>
          </a:p>
        </p:txBody>
      </p:sp>
      <p:sp>
        <p:nvSpPr>
          <p:cNvPr id="35" name="Rectangle 17"/>
          <p:cNvSpPr>
            <a:spLocks noChangeArrowheads="1"/>
          </p:cNvSpPr>
          <p:nvPr/>
        </p:nvSpPr>
        <p:spPr bwMode="auto">
          <a:xfrm>
            <a:off x="5400675" y="4584700"/>
            <a:ext cx="1139825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36" name="Rectangle 18"/>
          <p:cNvSpPr>
            <a:spLocks noChangeArrowheads="1"/>
          </p:cNvSpPr>
          <p:nvPr/>
        </p:nvSpPr>
        <p:spPr bwMode="auto">
          <a:xfrm>
            <a:off x="6553200" y="4584700"/>
            <a:ext cx="1152525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37" name="AutoShape 19"/>
          <p:cNvSpPr>
            <a:spLocks noChangeArrowheads="1"/>
          </p:cNvSpPr>
          <p:nvPr/>
        </p:nvSpPr>
        <p:spPr bwMode="auto">
          <a:xfrm>
            <a:off x="5289550" y="4156075"/>
            <a:ext cx="250190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+mn-lt"/>
              </a:rPr>
              <a:t>Swap</a:t>
            </a:r>
          </a:p>
        </p:txBody>
      </p:sp>
      <p:grpSp>
        <p:nvGrpSpPr>
          <p:cNvPr id="38" name="Group 20"/>
          <p:cNvGrpSpPr>
            <a:grpSpLocks/>
          </p:cNvGrpSpPr>
          <p:nvPr/>
        </p:nvGrpSpPr>
        <p:grpSpPr bwMode="auto">
          <a:xfrm>
            <a:off x="5400675" y="4591050"/>
            <a:ext cx="2328863" cy="708025"/>
            <a:chOff x="760" y="2895"/>
            <a:chExt cx="1272" cy="446"/>
          </a:xfrm>
        </p:grpSpPr>
        <p:sp>
          <p:nvSpPr>
            <p:cNvPr id="55" name="Rectangle 21"/>
            <p:cNvSpPr>
              <a:spLocks noChangeArrowheads="1"/>
            </p:cNvSpPr>
            <p:nvPr/>
          </p:nvSpPr>
          <p:spPr bwMode="auto"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>
                  <a:latin typeface="+mn-lt"/>
                </a:rPr>
                <a:t>5</a:t>
              </a:r>
            </a:p>
          </p:txBody>
        </p:sp>
        <p:sp>
          <p:nvSpPr>
            <p:cNvPr id="56" name="Rectangle 22"/>
            <p:cNvSpPr>
              <a:spLocks noChangeArrowheads="1"/>
            </p:cNvSpPr>
            <p:nvPr/>
          </p:nvSpPr>
          <p:spPr bwMode="auto"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>
                  <a:latin typeface="+mn-lt"/>
                </a:rPr>
                <a:t>101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150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Bubbling Up the Largest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Traverse a collection of elements</a:t>
            </a:r>
          </a:p>
          <a:p>
            <a:endParaRPr lang="en-US" dirty="0"/>
          </a:p>
          <a:p>
            <a:r>
              <a:rPr lang="en-US" dirty="0"/>
              <a:t>Move from the </a:t>
            </a:r>
            <a:r>
              <a:rPr lang="en-US" dirty="0">
                <a:solidFill>
                  <a:srgbClr val="0070C0"/>
                </a:solidFill>
              </a:rPr>
              <a:t>front to the end</a:t>
            </a:r>
          </a:p>
          <a:p>
            <a:endParaRPr lang="en-US" dirty="0"/>
          </a:p>
          <a:p>
            <a:r>
              <a:rPr lang="en-US" dirty="0"/>
              <a:t>“Bubble” the </a:t>
            </a:r>
            <a:r>
              <a:rPr lang="en-US" dirty="0">
                <a:solidFill>
                  <a:srgbClr val="0070C0"/>
                </a:solidFill>
              </a:rPr>
              <a:t>largest value </a:t>
            </a:r>
            <a:r>
              <a:rPr lang="en-US" dirty="0"/>
              <a:t>to the end using the operations</a:t>
            </a:r>
          </a:p>
          <a:p>
            <a:pPr lvl="1"/>
            <a:r>
              <a:rPr lang="en-US" dirty="0"/>
              <a:t>Pair-wise </a:t>
            </a:r>
            <a:r>
              <a:rPr lang="en-US" dirty="0">
                <a:solidFill>
                  <a:srgbClr val="0070C0"/>
                </a:solidFill>
              </a:rPr>
              <a:t>comparison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Swapping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40" name="Line 5"/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1" name="Line 6"/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2" name="Line 7"/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3" name="Line 8"/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4" name="Line 9"/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5" name="Rectangle 11"/>
          <p:cNvSpPr>
            <a:spLocks noChangeArrowheads="1"/>
          </p:cNvSpPr>
          <p:nvPr/>
        </p:nvSpPr>
        <p:spPr bwMode="auto">
          <a:xfrm>
            <a:off x="4516438" y="47545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77</a:t>
            </a:r>
          </a:p>
        </p:txBody>
      </p:sp>
      <p:sp>
        <p:nvSpPr>
          <p:cNvPr id="46" name="Rectangle 12"/>
          <p:cNvSpPr>
            <a:spLocks noChangeArrowheads="1"/>
          </p:cNvSpPr>
          <p:nvPr/>
        </p:nvSpPr>
        <p:spPr bwMode="auto">
          <a:xfrm>
            <a:off x="3430588" y="47672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12</a:t>
            </a:r>
          </a:p>
        </p:txBody>
      </p:sp>
      <p:sp>
        <p:nvSpPr>
          <p:cNvPr id="47" name="Rectangle 13"/>
          <p:cNvSpPr>
            <a:spLocks noChangeArrowheads="1"/>
          </p:cNvSpPr>
          <p:nvPr/>
        </p:nvSpPr>
        <p:spPr bwMode="auto">
          <a:xfrm>
            <a:off x="2426996" y="47672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</a:rPr>
              <a:t>35</a:t>
            </a:r>
          </a:p>
        </p:txBody>
      </p:sp>
      <p:sp>
        <p:nvSpPr>
          <p:cNvPr id="48" name="Rectangle 14"/>
          <p:cNvSpPr>
            <a:spLocks noChangeArrowheads="1"/>
          </p:cNvSpPr>
          <p:nvPr/>
        </p:nvSpPr>
        <p:spPr bwMode="auto">
          <a:xfrm>
            <a:off x="1376363" y="4781550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42</a:t>
            </a:r>
          </a:p>
        </p:txBody>
      </p:sp>
      <p:sp>
        <p:nvSpPr>
          <p:cNvPr id="49" name="Rectangle 15"/>
          <p:cNvSpPr>
            <a:spLocks noChangeArrowheads="1"/>
          </p:cNvSpPr>
          <p:nvPr/>
        </p:nvSpPr>
        <p:spPr bwMode="auto">
          <a:xfrm>
            <a:off x="5559425" y="4752975"/>
            <a:ext cx="60593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  5</a:t>
            </a:r>
          </a:p>
        </p:txBody>
      </p:sp>
      <p:sp>
        <p:nvSpPr>
          <p:cNvPr id="50" name="Rectangle 16"/>
          <p:cNvSpPr>
            <a:spLocks noChangeArrowheads="1"/>
          </p:cNvSpPr>
          <p:nvPr/>
        </p:nvSpPr>
        <p:spPr bwMode="auto">
          <a:xfrm>
            <a:off x="1524000" y="4132263"/>
            <a:ext cx="607217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</a:rPr>
              <a:t>1       2        3       4         5         6</a:t>
            </a:r>
          </a:p>
        </p:txBody>
      </p:sp>
      <p:sp>
        <p:nvSpPr>
          <p:cNvPr id="51" name="Rectangle 18"/>
          <p:cNvSpPr>
            <a:spLocks noChangeArrowheads="1"/>
          </p:cNvSpPr>
          <p:nvPr/>
        </p:nvSpPr>
        <p:spPr bwMode="auto">
          <a:xfrm>
            <a:off x="6553200" y="4584700"/>
            <a:ext cx="1152525" cy="708025"/>
          </a:xfrm>
          <a:prstGeom prst="rect">
            <a:avLst/>
          </a:prstGeom>
          <a:noFill/>
          <a:ln w="762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3333FF"/>
                </a:solidFill>
                <a:latin typeface="+mn-lt"/>
              </a:rPr>
              <a:t>101</a:t>
            </a:r>
          </a:p>
        </p:txBody>
      </p:sp>
      <p:sp>
        <p:nvSpPr>
          <p:cNvPr id="52" name="Text Box 23"/>
          <p:cNvSpPr txBox="1">
            <a:spLocks noChangeArrowheads="1"/>
          </p:cNvSpPr>
          <p:nvPr/>
        </p:nvSpPr>
        <p:spPr bwMode="auto">
          <a:xfrm>
            <a:off x="1990725" y="5524500"/>
            <a:ext cx="48951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3333FF"/>
                </a:solidFill>
                <a:latin typeface="+mn-lt"/>
              </a:rPr>
              <a:t>Largest value correctly placed</a:t>
            </a:r>
          </a:p>
        </p:txBody>
      </p:sp>
    </p:spTree>
    <p:extLst>
      <p:ext uri="{BB962C8B-B14F-4D97-AF65-F5344CB8AC3E}">
        <p14:creationId xmlns:p14="http://schemas.microsoft.com/office/powerpoint/2010/main" val="15653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 “Bubble Up”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Notice that only the largest value is correctly placed</a:t>
            </a:r>
          </a:p>
          <a:p>
            <a:endParaRPr lang="en-US" dirty="0"/>
          </a:p>
          <a:p>
            <a:r>
              <a:rPr lang="en-US" dirty="0"/>
              <a:t>All </a:t>
            </a:r>
            <a:r>
              <a:rPr lang="en-US" dirty="0">
                <a:solidFill>
                  <a:srgbClr val="0070C0"/>
                </a:solidFill>
              </a:rPr>
              <a:t>other values </a:t>
            </a:r>
            <a:r>
              <a:rPr lang="en-US" dirty="0"/>
              <a:t>are still </a:t>
            </a:r>
            <a:r>
              <a:rPr lang="en-US" dirty="0">
                <a:solidFill>
                  <a:srgbClr val="0070C0"/>
                </a:solidFill>
              </a:rPr>
              <a:t>out of order</a:t>
            </a:r>
          </a:p>
          <a:p>
            <a:endParaRPr lang="en-US" dirty="0"/>
          </a:p>
          <a:p>
            <a:r>
              <a:rPr lang="en-US" dirty="0"/>
              <a:t>So we need to </a:t>
            </a:r>
            <a:r>
              <a:rPr lang="en-US" dirty="0">
                <a:solidFill>
                  <a:srgbClr val="0070C0"/>
                </a:solidFill>
              </a:rPr>
              <a:t>repeat this process </a:t>
            </a:r>
            <a:r>
              <a:rPr lang="en-US" dirty="0"/>
              <a:t>,i.e., repeat “bubble up”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516438" y="47545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77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3430588" y="47672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12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2344738" y="4767263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35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1376363" y="4781550"/>
            <a:ext cx="577081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42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5559425" y="4752975"/>
            <a:ext cx="60593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  5</a:t>
            </a:r>
          </a:p>
        </p:txBody>
      </p: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1524000" y="4132263"/>
            <a:ext cx="607217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</a:rPr>
              <a:t>1       2        3        4        5         6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553200" y="4584700"/>
            <a:ext cx="1152525" cy="708025"/>
          </a:xfrm>
          <a:prstGeom prst="rect">
            <a:avLst/>
          </a:prstGeom>
          <a:noFill/>
          <a:ln w="762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3333FF"/>
                </a:solidFill>
                <a:latin typeface="+mn-lt"/>
              </a:rPr>
              <a:t>101</a:t>
            </a: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1990725" y="5524500"/>
            <a:ext cx="48951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3333FF"/>
                </a:solidFill>
                <a:latin typeface="+mn-lt"/>
              </a:rPr>
              <a:t>Largest value correctly placed</a:t>
            </a:r>
          </a:p>
        </p:txBody>
      </p:sp>
    </p:spTree>
    <p:extLst>
      <p:ext uri="{BB962C8B-B14F-4D97-AF65-F5344CB8AC3E}">
        <p14:creationId xmlns:p14="http://schemas.microsoft.com/office/powerpoint/2010/main" val="286829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Times to Repeat “Bubble Up”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time we bubble an element, we place it in its correct location</a:t>
            </a:r>
          </a:p>
          <a:p>
            <a:endParaRPr lang="en-US" dirty="0"/>
          </a:p>
          <a:p>
            <a:r>
              <a:rPr lang="en-US" dirty="0"/>
              <a:t>If we have n elements…</a:t>
            </a:r>
          </a:p>
          <a:p>
            <a:pPr lvl="1"/>
            <a:r>
              <a:rPr lang="en-US" dirty="0"/>
              <a:t>Then we </a:t>
            </a:r>
            <a:r>
              <a:rPr lang="en-US" dirty="0">
                <a:solidFill>
                  <a:srgbClr val="0070C0"/>
                </a:solidFill>
              </a:rPr>
              <a:t>repeat</a:t>
            </a:r>
            <a:r>
              <a:rPr lang="en-US" dirty="0"/>
              <a:t> the “bubble up” process </a:t>
            </a:r>
            <a:r>
              <a:rPr lang="en-US" dirty="0">
                <a:solidFill>
                  <a:srgbClr val="0070C0"/>
                </a:solidFill>
              </a:rPr>
              <a:t>n – 1 times</a:t>
            </a:r>
          </a:p>
          <a:p>
            <a:pPr lvl="1"/>
            <a:r>
              <a:rPr lang="en-US" dirty="0"/>
              <a:t>This </a:t>
            </a:r>
            <a:r>
              <a:rPr lang="en-US" dirty="0">
                <a:solidFill>
                  <a:srgbClr val="0070C0"/>
                </a:solidFill>
              </a:rPr>
              <a:t>guarantees</a:t>
            </a:r>
            <a:r>
              <a:rPr lang="en-US" dirty="0"/>
              <a:t> all n elements are </a:t>
            </a:r>
            <a:r>
              <a:rPr lang="en-US" dirty="0">
                <a:solidFill>
                  <a:srgbClr val="0070C0"/>
                </a:solidFill>
              </a:rPr>
              <a:t>correctly placed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Why?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750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“Bubbling” All the Elements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16</a:t>
            </a:fld>
            <a:endParaRPr lang="en-GB"/>
          </a:p>
        </p:txBody>
      </p:sp>
      <p:grpSp>
        <p:nvGrpSpPr>
          <p:cNvPr id="6" name="Group 71"/>
          <p:cNvGrpSpPr>
            <a:grpSpLocks/>
          </p:cNvGrpSpPr>
          <p:nvPr/>
        </p:nvGrpSpPr>
        <p:grpSpPr bwMode="auto">
          <a:xfrm>
            <a:off x="1400527" y="1268760"/>
            <a:ext cx="6518275" cy="949326"/>
            <a:chOff x="644" y="1072"/>
            <a:chExt cx="4106" cy="598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644" y="1332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1280" y="1330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1921" y="1330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2575" y="1330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3274" y="1330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4001" y="1335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2726" y="1335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77</a:t>
              </a: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2042" y="1340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12</a:t>
              </a: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1358" y="1340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35</a:t>
              </a: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748" y="1337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42</a:t>
              </a: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3383" y="1335"/>
              <a:ext cx="38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 5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841" y="1072"/>
              <a:ext cx="382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1       2        3        4        5          6</a:t>
              </a: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4132" y="1335"/>
              <a:ext cx="55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 </a:t>
              </a:r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101</a:t>
              </a:r>
            </a:p>
          </p:txBody>
        </p:sp>
      </p:grpSp>
      <p:grpSp>
        <p:nvGrpSpPr>
          <p:cNvPr id="20" name="Group 72"/>
          <p:cNvGrpSpPr>
            <a:grpSpLocks/>
          </p:cNvGrpSpPr>
          <p:nvPr/>
        </p:nvGrpSpPr>
        <p:grpSpPr bwMode="auto">
          <a:xfrm>
            <a:off x="1395765" y="2187923"/>
            <a:ext cx="6518275" cy="949326"/>
            <a:chOff x="641" y="1651"/>
            <a:chExt cx="4106" cy="598"/>
          </a:xfrm>
        </p:grpSpPr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641" y="191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1277" y="190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1918" y="190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2572" y="190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3271" y="190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3998" y="191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2723" y="1914"/>
              <a:ext cx="31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5</a:t>
              </a: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2039" y="1919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42</a:t>
              </a: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1355" y="1919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12</a:t>
              </a:r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745" y="1916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35</a:t>
              </a: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3380" y="1914"/>
              <a:ext cx="4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 </a:t>
              </a:r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77</a:t>
              </a:r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838" y="1651"/>
              <a:ext cx="382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1       2        3        4        5          6</a:t>
              </a:r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4129" y="1914"/>
              <a:ext cx="55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 101</a:t>
              </a:r>
            </a:p>
          </p:txBody>
        </p:sp>
      </p:grpSp>
      <p:grpSp>
        <p:nvGrpSpPr>
          <p:cNvPr id="34" name="Group 73"/>
          <p:cNvGrpSpPr>
            <a:grpSpLocks/>
          </p:cNvGrpSpPr>
          <p:nvPr/>
        </p:nvGrpSpPr>
        <p:grpSpPr bwMode="auto">
          <a:xfrm>
            <a:off x="1400527" y="3099150"/>
            <a:ext cx="6518275" cy="949326"/>
            <a:chOff x="644" y="2225"/>
            <a:chExt cx="4106" cy="598"/>
          </a:xfrm>
        </p:grpSpPr>
        <p:sp>
          <p:nvSpPr>
            <p:cNvPr id="35" name="Rectangle 32"/>
            <p:cNvSpPr>
              <a:spLocks noChangeArrowheads="1"/>
            </p:cNvSpPr>
            <p:nvPr/>
          </p:nvSpPr>
          <p:spPr bwMode="auto">
            <a:xfrm>
              <a:off x="644" y="2485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36" name="Line 33"/>
            <p:cNvSpPr>
              <a:spLocks noChangeShapeType="1"/>
            </p:cNvSpPr>
            <p:nvPr/>
          </p:nvSpPr>
          <p:spPr bwMode="auto">
            <a:xfrm>
              <a:off x="1280" y="2483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>
              <a:off x="1921" y="2483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>
              <a:off x="2575" y="2483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9" name="Line 36"/>
            <p:cNvSpPr>
              <a:spLocks noChangeShapeType="1"/>
            </p:cNvSpPr>
            <p:nvPr/>
          </p:nvSpPr>
          <p:spPr bwMode="auto">
            <a:xfrm>
              <a:off x="3274" y="2483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0" name="Line 37"/>
            <p:cNvSpPr>
              <a:spLocks noChangeShapeType="1"/>
            </p:cNvSpPr>
            <p:nvPr/>
          </p:nvSpPr>
          <p:spPr bwMode="auto">
            <a:xfrm>
              <a:off x="4001" y="2488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1" name="Rectangle 38"/>
            <p:cNvSpPr>
              <a:spLocks noChangeArrowheads="1"/>
            </p:cNvSpPr>
            <p:nvPr/>
          </p:nvSpPr>
          <p:spPr bwMode="auto">
            <a:xfrm>
              <a:off x="2726" y="2488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42</a:t>
              </a:r>
            </a:p>
          </p:txBody>
        </p:sp>
        <p:sp>
          <p:nvSpPr>
            <p:cNvPr id="42" name="Rectangle 39"/>
            <p:cNvSpPr>
              <a:spLocks noChangeArrowheads="1"/>
            </p:cNvSpPr>
            <p:nvPr/>
          </p:nvSpPr>
          <p:spPr bwMode="auto">
            <a:xfrm>
              <a:off x="2042" y="2493"/>
              <a:ext cx="31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5</a:t>
              </a:r>
            </a:p>
          </p:txBody>
        </p:sp>
        <p:sp>
          <p:nvSpPr>
            <p:cNvPr id="43" name="Rectangle 40"/>
            <p:cNvSpPr>
              <a:spLocks noChangeArrowheads="1"/>
            </p:cNvSpPr>
            <p:nvPr/>
          </p:nvSpPr>
          <p:spPr bwMode="auto">
            <a:xfrm>
              <a:off x="1358" y="2493"/>
              <a:ext cx="4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35</a:t>
              </a:r>
            </a:p>
          </p:txBody>
        </p:sp>
        <p:sp>
          <p:nvSpPr>
            <p:cNvPr id="44" name="Rectangle 41"/>
            <p:cNvSpPr>
              <a:spLocks noChangeArrowheads="1"/>
            </p:cNvSpPr>
            <p:nvPr/>
          </p:nvSpPr>
          <p:spPr bwMode="auto">
            <a:xfrm>
              <a:off x="748" y="2490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12</a:t>
              </a:r>
            </a:p>
          </p:txBody>
        </p:sp>
        <p:sp>
          <p:nvSpPr>
            <p:cNvPr id="45" name="Rectangle 42"/>
            <p:cNvSpPr>
              <a:spLocks noChangeArrowheads="1"/>
            </p:cNvSpPr>
            <p:nvPr/>
          </p:nvSpPr>
          <p:spPr bwMode="auto">
            <a:xfrm>
              <a:off x="3383" y="2488"/>
              <a:ext cx="4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 </a:t>
              </a:r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77</a:t>
              </a:r>
            </a:p>
          </p:txBody>
        </p:sp>
        <p:sp>
          <p:nvSpPr>
            <p:cNvPr id="46" name="Rectangle 43"/>
            <p:cNvSpPr>
              <a:spLocks noChangeArrowheads="1"/>
            </p:cNvSpPr>
            <p:nvPr/>
          </p:nvSpPr>
          <p:spPr bwMode="auto">
            <a:xfrm>
              <a:off x="841" y="2225"/>
              <a:ext cx="389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1       2        3        4        5          6</a:t>
              </a:r>
            </a:p>
          </p:txBody>
        </p:sp>
        <p:sp>
          <p:nvSpPr>
            <p:cNvPr id="47" name="Rectangle 44"/>
            <p:cNvSpPr>
              <a:spLocks noChangeArrowheads="1"/>
            </p:cNvSpPr>
            <p:nvPr/>
          </p:nvSpPr>
          <p:spPr bwMode="auto">
            <a:xfrm>
              <a:off x="4132" y="2488"/>
              <a:ext cx="55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 </a:t>
              </a:r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101</a:t>
              </a:r>
            </a:p>
          </p:txBody>
        </p:sp>
      </p:grpSp>
      <p:grpSp>
        <p:nvGrpSpPr>
          <p:cNvPr id="48" name="Group 74"/>
          <p:cNvGrpSpPr>
            <a:grpSpLocks/>
          </p:cNvGrpSpPr>
          <p:nvPr/>
        </p:nvGrpSpPr>
        <p:grpSpPr bwMode="auto">
          <a:xfrm>
            <a:off x="1395765" y="3981800"/>
            <a:ext cx="6518275" cy="949326"/>
            <a:chOff x="641" y="2781"/>
            <a:chExt cx="4106" cy="598"/>
          </a:xfrm>
        </p:grpSpPr>
        <p:sp>
          <p:nvSpPr>
            <p:cNvPr id="49" name="Rectangle 45"/>
            <p:cNvSpPr>
              <a:spLocks noChangeArrowheads="1"/>
            </p:cNvSpPr>
            <p:nvPr/>
          </p:nvSpPr>
          <p:spPr bwMode="auto">
            <a:xfrm>
              <a:off x="641" y="304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50" name="Line 46"/>
            <p:cNvSpPr>
              <a:spLocks noChangeShapeType="1"/>
            </p:cNvSpPr>
            <p:nvPr/>
          </p:nvSpPr>
          <p:spPr bwMode="auto">
            <a:xfrm>
              <a:off x="1277" y="303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1" name="Line 47"/>
            <p:cNvSpPr>
              <a:spLocks noChangeShapeType="1"/>
            </p:cNvSpPr>
            <p:nvPr/>
          </p:nvSpPr>
          <p:spPr bwMode="auto">
            <a:xfrm>
              <a:off x="1918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2" name="Line 48"/>
            <p:cNvSpPr>
              <a:spLocks noChangeShapeType="1"/>
            </p:cNvSpPr>
            <p:nvPr/>
          </p:nvSpPr>
          <p:spPr bwMode="auto">
            <a:xfrm>
              <a:off x="2572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3" name="Line 49"/>
            <p:cNvSpPr>
              <a:spLocks noChangeShapeType="1"/>
            </p:cNvSpPr>
            <p:nvPr/>
          </p:nvSpPr>
          <p:spPr bwMode="auto">
            <a:xfrm>
              <a:off x="3271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4" name="Line 50"/>
            <p:cNvSpPr>
              <a:spLocks noChangeShapeType="1"/>
            </p:cNvSpPr>
            <p:nvPr/>
          </p:nvSpPr>
          <p:spPr bwMode="auto">
            <a:xfrm>
              <a:off x="3998" y="304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5" name="Rectangle 51"/>
            <p:cNvSpPr>
              <a:spLocks noChangeArrowheads="1"/>
            </p:cNvSpPr>
            <p:nvPr/>
          </p:nvSpPr>
          <p:spPr bwMode="auto">
            <a:xfrm>
              <a:off x="2723" y="3044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42</a:t>
              </a:r>
            </a:p>
          </p:txBody>
        </p:sp>
        <p:sp>
          <p:nvSpPr>
            <p:cNvPr id="56" name="Rectangle 52"/>
            <p:cNvSpPr>
              <a:spLocks noChangeArrowheads="1"/>
            </p:cNvSpPr>
            <p:nvPr/>
          </p:nvSpPr>
          <p:spPr bwMode="auto">
            <a:xfrm>
              <a:off x="2039" y="3049"/>
              <a:ext cx="4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 </a:t>
              </a:r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35</a:t>
              </a:r>
            </a:p>
          </p:txBody>
        </p:sp>
        <p:sp>
          <p:nvSpPr>
            <p:cNvPr id="57" name="Rectangle 53"/>
            <p:cNvSpPr>
              <a:spLocks noChangeArrowheads="1"/>
            </p:cNvSpPr>
            <p:nvPr/>
          </p:nvSpPr>
          <p:spPr bwMode="auto">
            <a:xfrm>
              <a:off x="1355" y="3049"/>
              <a:ext cx="38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 5</a:t>
              </a:r>
            </a:p>
          </p:txBody>
        </p:sp>
        <p:sp>
          <p:nvSpPr>
            <p:cNvPr id="58" name="Rectangle 54"/>
            <p:cNvSpPr>
              <a:spLocks noChangeArrowheads="1"/>
            </p:cNvSpPr>
            <p:nvPr/>
          </p:nvSpPr>
          <p:spPr bwMode="auto">
            <a:xfrm>
              <a:off x="745" y="3046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12</a:t>
              </a:r>
            </a:p>
          </p:txBody>
        </p:sp>
        <p:sp>
          <p:nvSpPr>
            <p:cNvPr id="59" name="Rectangle 55"/>
            <p:cNvSpPr>
              <a:spLocks noChangeArrowheads="1"/>
            </p:cNvSpPr>
            <p:nvPr/>
          </p:nvSpPr>
          <p:spPr bwMode="auto">
            <a:xfrm>
              <a:off x="3380" y="3044"/>
              <a:ext cx="4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 </a:t>
              </a:r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77</a:t>
              </a:r>
            </a:p>
          </p:txBody>
        </p:sp>
        <p:sp>
          <p:nvSpPr>
            <p:cNvPr id="60" name="Rectangle 56"/>
            <p:cNvSpPr>
              <a:spLocks noChangeArrowheads="1"/>
            </p:cNvSpPr>
            <p:nvPr/>
          </p:nvSpPr>
          <p:spPr bwMode="auto">
            <a:xfrm>
              <a:off x="838" y="2781"/>
              <a:ext cx="382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1       2        3        4        5          6</a:t>
              </a:r>
            </a:p>
          </p:txBody>
        </p:sp>
        <p:sp>
          <p:nvSpPr>
            <p:cNvPr id="61" name="Rectangle 57"/>
            <p:cNvSpPr>
              <a:spLocks noChangeArrowheads="1"/>
            </p:cNvSpPr>
            <p:nvPr/>
          </p:nvSpPr>
          <p:spPr bwMode="auto">
            <a:xfrm>
              <a:off x="4129" y="3044"/>
              <a:ext cx="55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 </a:t>
              </a:r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101</a:t>
              </a:r>
            </a:p>
          </p:txBody>
        </p:sp>
      </p:grpSp>
      <p:grpSp>
        <p:nvGrpSpPr>
          <p:cNvPr id="62" name="Group 75"/>
          <p:cNvGrpSpPr>
            <a:grpSpLocks/>
          </p:cNvGrpSpPr>
          <p:nvPr/>
        </p:nvGrpSpPr>
        <p:grpSpPr bwMode="auto">
          <a:xfrm>
            <a:off x="1395765" y="4902552"/>
            <a:ext cx="6518275" cy="949326"/>
            <a:chOff x="641" y="3361"/>
            <a:chExt cx="4106" cy="598"/>
          </a:xfrm>
        </p:grpSpPr>
        <p:sp>
          <p:nvSpPr>
            <p:cNvPr id="63" name="Rectangle 58"/>
            <p:cNvSpPr>
              <a:spLocks noChangeArrowheads="1"/>
            </p:cNvSpPr>
            <p:nvPr/>
          </p:nvSpPr>
          <p:spPr bwMode="auto">
            <a:xfrm>
              <a:off x="641" y="362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64" name="Line 59"/>
            <p:cNvSpPr>
              <a:spLocks noChangeShapeType="1"/>
            </p:cNvSpPr>
            <p:nvPr/>
          </p:nvSpPr>
          <p:spPr bwMode="auto">
            <a:xfrm>
              <a:off x="1277" y="361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" name="Line 60"/>
            <p:cNvSpPr>
              <a:spLocks noChangeShapeType="1"/>
            </p:cNvSpPr>
            <p:nvPr/>
          </p:nvSpPr>
          <p:spPr bwMode="auto">
            <a:xfrm>
              <a:off x="1918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>
              <a:off x="2572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>
              <a:off x="3271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>
              <a:off x="3998" y="362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" name="Rectangle 64"/>
            <p:cNvSpPr>
              <a:spLocks noChangeArrowheads="1"/>
            </p:cNvSpPr>
            <p:nvPr/>
          </p:nvSpPr>
          <p:spPr bwMode="auto">
            <a:xfrm>
              <a:off x="2723" y="3624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42</a:t>
              </a:r>
            </a:p>
          </p:txBody>
        </p:sp>
        <p:sp>
          <p:nvSpPr>
            <p:cNvPr id="70" name="Rectangle 65"/>
            <p:cNvSpPr>
              <a:spLocks noChangeArrowheads="1"/>
            </p:cNvSpPr>
            <p:nvPr/>
          </p:nvSpPr>
          <p:spPr bwMode="auto">
            <a:xfrm>
              <a:off x="2039" y="3629"/>
              <a:ext cx="4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 </a:t>
              </a:r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35</a:t>
              </a:r>
            </a:p>
          </p:txBody>
        </p:sp>
        <p:sp>
          <p:nvSpPr>
            <p:cNvPr id="71" name="Rectangle 66"/>
            <p:cNvSpPr>
              <a:spLocks noChangeArrowheads="1"/>
            </p:cNvSpPr>
            <p:nvPr/>
          </p:nvSpPr>
          <p:spPr bwMode="auto">
            <a:xfrm>
              <a:off x="1355" y="3629"/>
              <a:ext cx="4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 </a:t>
              </a:r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12</a:t>
              </a:r>
            </a:p>
          </p:txBody>
        </p:sp>
        <p:sp>
          <p:nvSpPr>
            <p:cNvPr id="72" name="Rectangle 67"/>
            <p:cNvSpPr>
              <a:spLocks noChangeArrowheads="1"/>
            </p:cNvSpPr>
            <p:nvPr/>
          </p:nvSpPr>
          <p:spPr bwMode="auto">
            <a:xfrm>
              <a:off x="745" y="3626"/>
              <a:ext cx="31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 5</a:t>
              </a:r>
            </a:p>
          </p:txBody>
        </p:sp>
        <p:sp>
          <p:nvSpPr>
            <p:cNvPr id="73" name="Rectangle 68"/>
            <p:cNvSpPr>
              <a:spLocks noChangeArrowheads="1"/>
            </p:cNvSpPr>
            <p:nvPr/>
          </p:nvSpPr>
          <p:spPr bwMode="auto">
            <a:xfrm>
              <a:off x="3380" y="3624"/>
              <a:ext cx="4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 </a:t>
              </a:r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77</a:t>
              </a:r>
            </a:p>
          </p:txBody>
        </p:sp>
        <p:sp>
          <p:nvSpPr>
            <p:cNvPr id="74" name="Rectangle 69"/>
            <p:cNvSpPr>
              <a:spLocks noChangeArrowheads="1"/>
            </p:cNvSpPr>
            <p:nvPr/>
          </p:nvSpPr>
          <p:spPr bwMode="auto">
            <a:xfrm>
              <a:off x="838" y="3361"/>
              <a:ext cx="382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1       2        3        4        5          6</a:t>
              </a:r>
            </a:p>
          </p:txBody>
        </p:sp>
        <p:sp>
          <p:nvSpPr>
            <p:cNvPr id="75" name="Rectangle 70"/>
            <p:cNvSpPr>
              <a:spLocks noChangeArrowheads="1"/>
            </p:cNvSpPr>
            <p:nvPr/>
          </p:nvSpPr>
          <p:spPr bwMode="auto">
            <a:xfrm>
              <a:off x="4129" y="3624"/>
              <a:ext cx="55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 </a:t>
              </a:r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101</a:t>
              </a:r>
            </a:p>
          </p:txBody>
        </p:sp>
      </p:grpSp>
      <p:grpSp>
        <p:nvGrpSpPr>
          <p:cNvPr id="76" name="Group 78"/>
          <p:cNvGrpSpPr>
            <a:grpSpLocks/>
          </p:cNvGrpSpPr>
          <p:nvPr/>
        </p:nvGrpSpPr>
        <p:grpSpPr bwMode="auto">
          <a:xfrm>
            <a:off x="222602" y="1694208"/>
            <a:ext cx="1044574" cy="4106863"/>
            <a:chOff x="204" y="1350"/>
            <a:chExt cx="658" cy="2587"/>
          </a:xfrm>
        </p:grpSpPr>
        <p:sp>
          <p:nvSpPr>
            <p:cNvPr id="77" name="AutoShape 76"/>
            <p:cNvSpPr>
              <a:spLocks/>
            </p:cNvSpPr>
            <p:nvPr/>
          </p:nvSpPr>
          <p:spPr bwMode="auto">
            <a:xfrm>
              <a:off x="477" y="1350"/>
              <a:ext cx="385" cy="2587"/>
            </a:xfrm>
            <a:prstGeom prst="leftBrace">
              <a:avLst>
                <a:gd name="adj1" fmla="val 55996"/>
                <a:gd name="adj2" fmla="val 50000"/>
              </a:avLst>
            </a:prstGeom>
            <a:noFill/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78" name="Text Box 77"/>
            <p:cNvSpPr txBox="1">
              <a:spLocks noChangeArrowheads="1"/>
            </p:cNvSpPr>
            <p:nvPr/>
          </p:nvSpPr>
          <p:spPr bwMode="auto">
            <a:xfrm rot="16200000">
              <a:off x="62" y="2477"/>
              <a:ext cx="61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3333FF"/>
                  </a:solidFill>
                  <a:latin typeface="+mn-lt"/>
                </a:rPr>
                <a:t>N - 1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814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Number of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17</a:t>
            </a:fld>
            <a:endParaRPr lang="en-GB"/>
          </a:p>
        </p:txBody>
      </p:sp>
      <p:grpSp>
        <p:nvGrpSpPr>
          <p:cNvPr id="6" name="Group 59"/>
          <p:cNvGrpSpPr>
            <a:grpSpLocks/>
          </p:cNvGrpSpPr>
          <p:nvPr/>
        </p:nvGrpSpPr>
        <p:grpSpPr bwMode="auto">
          <a:xfrm>
            <a:off x="971600" y="1392412"/>
            <a:ext cx="6518275" cy="949326"/>
            <a:chOff x="641" y="3361"/>
            <a:chExt cx="4106" cy="598"/>
          </a:xfrm>
        </p:grpSpPr>
        <p:sp>
          <p:nvSpPr>
            <p:cNvPr id="7" name="Rectangle 60"/>
            <p:cNvSpPr>
              <a:spLocks noChangeArrowheads="1"/>
            </p:cNvSpPr>
            <p:nvPr/>
          </p:nvSpPr>
          <p:spPr bwMode="auto">
            <a:xfrm>
              <a:off x="641" y="362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8" name="Line 61"/>
            <p:cNvSpPr>
              <a:spLocks noChangeShapeType="1"/>
            </p:cNvSpPr>
            <p:nvPr/>
          </p:nvSpPr>
          <p:spPr bwMode="auto">
            <a:xfrm>
              <a:off x="1277" y="361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9" name="Line 62"/>
            <p:cNvSpPr>
              <a:spLocks noChangeShapeType="1"/>
            </p:cNvSpPr>
            <p:nvPr/>
          </p:nvSpPr>
          <p:spPr bwMode="auto">
            <a:xfrm>
              <a:off x="1918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" name="Line 63"/>
            <p:cNvSpPr>
              <a:spLocks noChangeShapeType="1"/>
            </p:cNvSpPr>
            <p:nvPr/>
          </p:nvSpPr>
          <p:spPr bwMode="auto">
            <a:xfrm>
              <a:off x="2572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" name="Line 64"/>
            <p:cNvSpPr>
              <a:spLocks noChangeShapeType="1"/>
            </p:cNvSpPr>
            <p:nvPr/>
          </p:nvSpPr>
          <p:spPr bwMode="auto">
            <a:xfrm>
              <a:off x="3271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" name="Line 65"/>
            <p:cNvSpPr>
              <a:spLocks noChangeShapeType="1"/>
            </p:cNvSpPr>
            <p:nvPr/>
          </p:nvSpPr>
          <p:spPr bwMode="auto">
            <a:xfrm>
              <a:off x="3998" y="362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3" name="Rectangle 66"/>
            <p:cNvSpPr>
              <a:spLocks noChangeArrowheads="1"/>
            </p:cNvSpPr>
            <p:nvPr/>
          </p:nvSpPr>
          <p:spPr bwMode="auto">
            <a:xfrm>
              <a:off x="2723" y="3624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12</a:t>
              </a:r>
            </a:p>
          </p:txBody>
        </p:sp>
        <p:sp>
          <p:nvSpPr>
            <p:cNvPr id="14" name="Rectangle 67"/>
            <p:cNvSpPr>
              <a:spLocks noChangeArrowheads="1"/>
            </p:cNvSpPr>
            <p:nvPr/>
          </p:nvSpPr>
          <p:spPr bwMode="auto">
            <a:xfrm>
              <a:off x="2039" y="3629"/>
              <a:ext cx="4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35</a:t>
              </a:r>
            </a:p>
          </p:txBody>
        </p:sp>
        <p:sp>
          <p:nvSpPr>
            <p:cNvPr id="15" name="Rectangle 68"/>
            <p:cNvSpPr>
              <a:spLocks noChangeArrowheads="1"/>
            </p:cNvSpPr>
            <p:nvPr/>
          </p:nvSpPr>
          <p:spPr bwMode="auto">
            <a:xfrm>
              <a:off x="1355" y="3629"/>
              <a:ext cx="4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42</a:t>
              </a:r>
            </a:p>
          </p:txBody>
        </p:sp>
        <p:sp>
          <p:nvSpPr>
            <p:cNvPr id="16" name="Rectangle 69"/>
            <p:cNvSpPr>
              <a:spLocks noChangeArrowheads="1"/>
            </p:cNvSpPr>
            <p:nvPr/>
          </p:nvSpPr>
          <p:spPr bwMode="auto">
            <a:xfrm>
              <a:off x="745" y="3626"/>
              <a:ext cx="4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77</a:t>
              </a:r>
            </a:p>
          </p:txBody>
        </p:sp>
        <p:sp>
          <p:nvSpPr>
            <p:cNvPr id="17" name="Rectangle 70"/>
            <p:cNvSpPr>
              <a:spLocks noChangeArrowheads="1"/>
            </p:cNvSpPr>
            <p:nvPr/>
          </p:nvSpPr>
          <p:spPr bwMode="auto">
            <a:xfrm>
              <a:off x="3380" y="3624"/>
              <a:ext cx="55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101</a:t>
              </a:r>
            </a:p>
          </p:txBody>
        </p:sp>
        <p:sp>
          <p:nvSpPr>
            <p:cNvPr id="18" name="Rectangle 71"/>
            <p:cNvSpPr>
              <a:spLocks noChangeArrowheads="1"/>
            </p:cNvSpPr>
            <p:nvPr/>
          </p:nvSpPr>
          <p:spPr bwMode="auto">
            <a:xfrm>
              <a:off x="838" y="3361"/>
              <a:ext cx="36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1       2        3        4         5       6</a:t>
              </a:r>
            </a:p>
          </p:txBody>
        </p:sp>
        <p:sp>
          <p:nvSpPr>
            <p:cNvPr id="19" name="Rectangle 72"/>
            <p:cNvSpPr>
              <a:spLocks noChangeArrowheads="1"/>
            </p:cNvSpPr>
            <p:nvPr/>
          </p:nvSpPr>
          <p:spPr bwMode="auto">
            <a:xfrm>
              <a:off x="4129" y="3624"/>
              <a:ext cx="31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5</a:t>
              </a:r>
            </a:p>
          </p:txBody>
        </p:sp>
      </p:grpSp>
      <p:grpSp>
        <p:nvGrpSpPr>
          <p:cNvPr id="20" name="Group 84"/>
          <p:cNvGrpSpPr>
            <a:grpSpLocks/>
          </p:cNvGrpSpPr>
          <p:nvPr/>
        </p:nvGrpSpPr>
        <p:grpSpPr bwMode="auto">
          <a:xfrm>
            <a:off x="981125" y="2240133"/>
            <a:ext cx="6523038" cy="949326"/>
            <a:chOff x="668" y="1594"/>
            <a:chExt cx="4109" cy="598"/>
          </a:xfrm>
        </p:grpSpPr>
        <p:grpSp>
          <p:nvGrpSpPr>
            <p:cNvPr id="21" name="Group 3"/>
            <p:cNvGrpSpPr>
              <a:grpSpLocks/>
            </p:cNvGrpSpPr>
            <p:nvPr/>
          </p:nvGrpSpPr>
          <p:grpSpPr bwMode="auto">
            <a:xfrm>
              <a:off x="671" y="1594"/>
              <a:ext cx="4106" cy="598"/>
              <a:chOff x="644" y="1072"/>
              <a:chExt cx="4106" cy="598"/>
            </a:xfrm>
          </p:grpSpPr>
          <p:sp>
            <p:nvSpPr>
              <p:cNvPr id="23" name="Rectangle 4"/>
              <p:cNvSpPr>
                <a:spLocks noChangeArrowheads="1"/>
              </p:cNvSpPr>
              <p:nvPr/>
            </p:nvSpPr>
            <p:spPr bwMode="auto">
              <a:xfrm>
                <a:off x="644" y="1332"/>
                <a:ext cx="4106" cy="2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>
                  <a:latin typeface="+mn-lt"/>
                </a:endParaRPr>
              </a:p>
            </p:txBody>
          </p:sp>
          <p:sp>
            <p:nvSpPr>
              <p:cNvPr id="24" name="Line 5"/>
              <p:cNvSpPr>
                <a:spLocks noChangeShapeType="1"/>
              </p:cNvSpPr>
              <p:nvPr/>
            </p:nvSpPr>
            <p:spPr bwMode="auto">
              <a:xfrm>
                <a:off x="1280" y="1330"/>
                <a:ext cx="0" cy="2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5" name="Line 6"/>
              <p:cNvSpPr>
                <a:spLocks noChangeShapeType="1"/>
              </p:cNvSpPr>
              <p:nvPr/>
            </p:nvSpPr>
            <p:spPr bwMode="auto">
              <a:xfrm>
                <a:off x="1921" y="1330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6" name="Line 7"/>
              <p:cNvSpPr>
                <a:spLocks noChangeShapeType="1"/>
              </p:cNvSpPr>
              <p:nvPr/>
            </p:nvSpPr>
            <p:spPr bwMode="auto">
              <a:xfrm>
                <a:off x="2575" y="1330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7" name="Line 8"/>
              <p:cNvSpPr>
                <a:spLocks noChangeShapeType="1"/>
              </p:cNvSpPr>
              <p:nvPr/>
            </p:nvSpPr>
            <p:spPr bwMode="auto">
              <a:xfrm>
                <a:off x="3274" y="1330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8" name="Line 9"/>
              <p:cNvSpPr>
                <a:spLocks noChangeShapeType="1"/>
              </p:cNvSpPr>
              <p:nvPr/>
            </p:nvSpPr>
            <p:spPr bwMode="auto">
              <a:xfrm>
                <a:off x="4001" y="1335"/>
                <a:ext cx="0" cy="2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9" name="Rectangle 10"/>
              <p:cNvSpPr>
                <a:spLocks noChangeArrowheads="1"/>
              </p:cNvSpPr>
              <p:nvPr/>
            </p:nvSpPr>
            <p:spPr bwMode="auto">
              <a:xfrm>
                <a:off x="2726" y="1335"/>
                <a:ext cx="36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>
                    <a:latin typeface="+mn-lt"/>
                  </a:rPr>
                  <a:t>77</a:t>
                </a:r>
              </a:p>
            </p:txBody>
          </p:sp>
          <p:sp>
            <p:nvSpPr>
              <p:cNvPr id="30" name="Rectangle 11"/>
              <p:cNvSpPr>
                <a:spLocks noChangeArrowheads="1"/>
              </p:cNvSpPr>
              <p:nvPr/>
            </p:nvSpPr>
            <p:spPr bwMode="auto">
              <a:xfrm>
                <a:off x="2042" y="1340"/>
                <a:ext cx="36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>
                    <a:latin typeface="+mn-lt"/>
                  </a:rPr>
                  <a:t>12</a:t>
                </a:r>
              </a:p>
            </p:txBody>
          </p:sp>
          <p:sp>
            <p:nvSpPr>
              <p:cNvPr id="31" name="Rectangle 12"/>
              <p:cNvSpPr>
                <a:spLocks noChangeArrowheads="1"/>
              </p:cNvSpPr>
              <p:nvPr/>
            </p:nvSpPr>
            <p:spPr bwMode="auto">
              <a:xfrm>
                <a:off x="1358" y="1340"/>
                <a:ext cx="36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>
                    <a:latin typeface="+mn-lt"/>
                  </a:rPr>
                  <a:t>35</a:t>
                </a:r>
              </a:p>
            </p:txBody>
          </p:sp>
          <p:sp>
            <p:nvSpPr>
              <p:cNvPr id="32" name="Rectangle 13"/>
              <p:cNvSpPr>
                <a:spLocks noChangeArrowheads="1"/>
              </p:cNvSpPr>
              <p:nvPr/>
            </p:nvSpPr>
            <p:spPr bwMode="auto">
              <a:xfrm>
                <a:off x="748" y="1337"/>
                <a:ext cx="36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>
                    <a:latin typeface="+mn-lt"/>
                  </a:rPr>
                  <a:t>42</a:t>
                </a:r>
              </a:p>
            </p:txBody>
          </p:sp>
          <p:sp>
            <p:nvSpPr>
              <p:cNvPr id="33" name="Rectangle 14"/>
              <p:cNvSpPr>
                <a:spLocks noChangeArrowheads="1"/>
              </p:cNvSpPr>
              <p:nvPr/>
            </p:nvSpPr>
            <p:spPr bwMode="auto">
              <a:xfrm>
                <a:off x="3383" y="1335"/>
                <a:ext cx="38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>
                    <a:latin typeface="+mn-lt"/>
                  </a:rPr>
                  <a:t>  5</a:t>
                </a:r>
              </a:p>
            </p:txBody>
          </p:sp>
          <p:sp>
            <p:nvSpPr>
              <p:cNvPr id="34" name="Rectangle 15"/>
              <p:cNvSpPr>
                <a:spLocks noChangeArrowheads="1"/>
              </p:cNvSpPr>
              <p:nvPr/>
            </p:nvSpPr>
            <p:spPr bwMode="auto">
              <a:xfrm>
                <a:off x="841" y="1072"/>
                <a:ext cx="375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latin typeface="+mn-lt"/>
                  </a:rPr>
                  <a:t>1       2        3        4         5       6</a:t>
                </a:r>
              </a:p>
            </p:txBody>
          </p:sp>
          <p:sp>
            <p:nvSpPr>
              <p:cNvPr id="35" name="Rectangle 16"/>
              <p:cNvSpPr>
                <a:spLocks noChangeArrowheads="1"/>
              </p:cNvSpPr>
              <p:nvPr/>
            </p:nvSpPr>
            <p:spPr bwMode="auto">
              <a:xfrm>
                <a:off x="4132" y="1335"/>
                <a:ext cx="557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latin typeface="+mn-lt"/>
                  </a:rPr>
                  <a:t> </a:t>
                </a:r>
                <a:r>
                  <a:rPr lang="en-US" altLang="en-US" dirty="0">
                    <a:solidFill>
                      <a:srgbClr val="0070C0"/>
                    </a:solidFill>
                    <a:latin typeface="+mn-lt"/>
                  </a:rPr>
                  <a:t>101</a:t>
                </a:r>
              </a:p>
            </p:txBody>
          </p:sp>
        </p:grpSp>
        <p:sp>
          <p:nvSpPr>
            <p:cNvPr id="22" name="Rectangle 76"/>
            <p:cNvSpPr>
              <a:spLocks noChangeArrowheads="1"/>
            </p:cNvSpPr>
            <p:nvPr/>
          </p:nvSpPr>
          <p:spPr bwMode="auto">
            <a:xfrm>
              <a:off x="668" y="1852"/>
              <a:ext cx="3360" cy="291"/>
            </a:xfrm>
            <a:prstGeom prst="rect">
              <a:avLst/>
            </a:prstGeom>
            <a:noFill/>
            <a:ln w="762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</p:grpSp>
      <p:grpSp>
        <p:nvGrpSpPr>
          <p:cNvPr id="36" name="Group 80"/>
          <p:cNvGrpSpPr>
            <a:grpSpLocks/>
          </p:cNvGrpSpPr>
          <p:nvPr/>
        </p:nvGrpSpPr>
        <p:grpSpPr bwMode="auto">
          <a:xfrm>
            <a:off x="976363" y="3159296"/>
            <a:ext cx="6523037" cy="949326"/>
            <a:chOff x="940" y="1661"/>
            <a:chExt cx="4109" cy="598"/>
          </a:xfrm>
        </p:grpSpPr>
        <p:grpSp>
          <p:nvGrpSpPr>
            <p:cNvPr id="37" name="Group 17"/>
            <p:cNvGrpSpPr>
              <a:grpSpLocks/>
            </p:cNvGrpSpPr>
            <p:nvPr/>
          </p:nvGrpSpPr>
          <p:grpSpPr bwMode="auto">
            <a:xfrm>
              <a:off x="943" y="1661"/>
              <a:ext cx="4106" cy="598"/>
              <a:chOff x="641" y="1651"/>
              <a:chExt cx="4106" cy="598"/>
            </a:xfrm>
          </p:grpSpPr>
          <p:sp>
            <p:nvSpPr>
              <p:cNvPr id="39" name="Rectangle 18"/>
              <p:cNvSpPr>
                <a:spLocks noChangeArrowheads="1"/>
              </p:cNvSpPr>
              <p:nvPr/>
            </p:nvSpPr>
            <p:spPr bwMode="auto">
              <a:xfrm>
                <a:off x="641" y="1911"/>
                <a:ext cx="4106" cy="2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>
                  <a:latin typeface="+mn-lt"/>
                </a:endParaRPr>
              </a:p>
            </p:txBody>
          </p:sp>
          <p:sp>
            <p:nvSpPr>
              <p:cNvPr id="40" name="Line 19"/>
              <p:cNvSpPr>
                <a:spLocks noChangeShapeType="1"/>
              </p:cNvSpPr>
              <p:nvPr/>
            </p:nvSpPr>
            <p:spPr bwMode="auto">
              <a:xfrm>
                <a:off x="1277" y="1909"/>
                <a:ext cx="0" cy="2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41" name="Line 20"/>
              <p:cNvSpPr>
                <a:spLocks noChangeShapeType="1"/>
              </p:cNvSpPr>
              <p:nvPr/>
            </p:nvSpPr>
            <p:spPr bwMode="auto">
              <a:xfrm>
                <a:off x="1918" y="190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42" name="Line 21"/>
              <p:cNvSpPr>
                <a:spLocks noChangeShapeType="1"/>
              </p:cNvSpPr>
              <p:nvPr/>
            </p:nvSpPr>
            <p:spPr bwMode="auto">
              <a:xfrm>
                <a:off x="2572" y="190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43" name="Line 22"/>
              <p:cNvSpPr>
                <a:spLocks noChangeShapeType="1"/>
              </p:cNvSpPr>
              <p:nvPr/>
            </p:nvSpPr>
            <p:spPr bwMode="auto">
              <a:xfrm>
                <a:off x="3271" y="190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44" name="Line 23"/>
              <p:cNvSpPr>
                <a:spLocks noChangeShapeType="1"/>
              </p:cNvSpPr>
              <p:nvPr/>
            </p:nvSpPr>
            <p:spPr bwMode="auto">
              <a:xfrm>
                <a:off x="3998" y="1914"/>
                <a:ext cx="0" cy="2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45" name="Rectangle 24"/>
              <p:cNvSpPr>
                <a:spLocks noChangeArrowheads="1"/>
              </p:cNvSpPr>
              <p:nvPr/>
            </p:nvSpPr>
            <p:spPr bwMode="auto">
              <a:xfrm>
                <a:off x="2723" y="1914"/>
                <a:ext cx="31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>
                    <a:latin typeface="+mn-lt"/>
                  </a:rPr>
                  <a:t> 5</a:t>
                </a:r>
              </a:p>
            </p:txBody>
          </p:sp>
          <p:sp>
            <p:nvSpPr>
              <p:cNvPr id="46" name="Rectangle 25"/>
              <p:cNvSpPr>
                <a:spLocks noChangeArrowheads="1"/>
              </p:cNvSpPr>
              <p:nvPr/>
            </p:nvSpPr>
            <p:spPr bwMode="auto">
              <a:xfrm>
                <a:off x="2039" y="1919"/>
                <a:ext cx="36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>
                    <a:latin typeface="+mn-lt"/>
                  </a:rPr>
                  <a:t>42</a:t>
                </a:r>
              </a:p>
            </p:txBody>
          </p:sp>
          <p:sp>
            <p:nvSpPr>
              <p:cNvPr id="47" name="Rectangle 26"/>
              <p:cNvSpPr>
                <a:spLocks noChangeArrowheads="1"/>
              </p:cNvSpPr>
              <p:nvPr/>
            </p:nvSpPr>
            <p:spPr bwMode="auto">
              <a:xfrm>
                <a:off x="1355" y="1919"/>
                <a:ext cx="36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>
                    <a:latin typeface="+mn-lt"/>
                  </a:rPr>
                  <a:t>12</a:t>
                </a:r>
              </a:p>
            </p:txBody>
          </p:sp>
          <p:sp>
            <p:nvSpPr>
              <p:cNvPr id="48" name="Rectangle 27"/>
              <p:cNvSpPr>
                <a:spLocks noChangeArrowheads="1"/>
              </p:cNvSpPr>
              <p:nvPr/>
            </p:nvSpPr>
            <p:spPr bwMode="auto">
              <a:xfrm>
                <a:off x="745" y="1916"/>
                <a:ext cx="36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>
                    <a:latin typeface="+mn-lt"/>
                  </a:rPr>
                  <a:t>35</a:t>
                </a:r>
              </a:p>
            </p:txBody>
          </p:sp>
          <p:sp>
            <p:nvSpPr>
              <p:cNvPr id="49" name="Rectangle 28"/>
              <p:cNvSpPr>
                <a:spLocks noChangeArrowheads="1"/>
              </p:cNvSpPr>
              <p:nvPr/>
            </p:nvSpPr>
            <p:spPr bwMode="auto">
              <a:xfrm>
                <a:off x="3380" y="1914"/>
                <a:ext cx="43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rgbClr val="0070C0"/>
                    </a:solidFill>
                    <a:latin typeface="+mn-lt"/>
                  </a:rPr>
                  <a:t> 77</a:t>
                </a:r>
              </a:p>
            </p:txBody>
          </p:sp>
          <p:sp>
            <p:nvSpPr>
              <p:cNvPr id="50" name="Rectangle 29"/>
              <p:cNvSpPr>
                <a:spLocks noChangeArrowheads="1"/>
              </p:cNvSpPr>
              <p:nvPr/>
            </p:nvSpPr>
            <p:spPr bwMode="auto">
              <a:xfrm>
                <a:off x="838" y="1651"/>
                <a:ext cx="382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latin typeface="+mn-lt"/>
                  </a:rPr>
                  <a:t>1       2        3        4        5          6</a:t>
                </a:r>
              </a:p>
            </p:txBody>
          </p:sp>
          <p:sp>
            <p:nvSpPr>
              <p:cNvPr id="51" name="Rectangle 30"/>
              <p:cNvSpPr>
                <a:spLocks noChangeArrowheads="1"/>
              </p:cNvSpPr>
              <p:nvPr/>
            </p:nvSpPr>
            <p:spPr bwMode="auto">
              <a:xfrm>
                <a:off x="4129" y="1914"/>
                <a:ext cx="557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rgbClr val="0070C0"/>
                    </a:solidFill>
                    <a:latin typeface="+mn-lt"/>
                  </a:rPr>
                  <a:t> 101</a:t>
                </a:r>
              </a:p>
            </p:txBody>
          </p:sp>
        </p:grpSp>
        <p:sp>
          <p:nvSpPr>
            <p:cNvPr id="38" name="Rectangle 77"/>
            <p:cNvSpPr>
              <a:spLocks noChangeArrowheads="1"/>
            </p:cNvSpPr>
            <p:nvPr/>
          </p:nvSpPr>
          <p:spPr bwMode="auto">
            <a:xfrm>
              <a:off x="940" y="1919"/>
              <a:ext cx="2633" cy="291"/>
            </a:xfrm>
            <a:prstGeom prst="rect">
              <a:avLst/>
            </a:prstGeom>
            <a:noFill/>
            <a:ln w="762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</p:grpSp>
      <p:grpSp>
        <p:nvGrpSpPr>
          <p:cNvPr id="52" name="Group 81"/>
          <p:cNvGrpSpPr>
            <a:grpSpLocks/>
          </p:cNvGrpSpPr>
          <p:nvPr/>
        </p:nvGrpSpPr>
        <p:grpSpPr bwMode="auto">
          <a:xfrm>
            <a:off x="976363" y="4070523"/>
            <a:ext cx="6527800" cy="949326"/>
            <a:chOff x="940" y="2235"/>
            <a:chExt cx="4112" cy="598"/>
          </a:xfrm>
        </p:grpSpPr>
        <p:grpSp>
          <p:nvGrpSpPr>
            <p:cNvPr id="53" name="Group 31"/>
            <p:cNvGrpSpPr>
              <a:grpSpLocks/>
            </p:cNvGrpSpPr>
            <p:nvPr/>
          </p:nvGrpSpPr>
          <p:grpSpPr bwMode="auto">
            <a:xfrm>
              <a:off x="946" y="2235"/>
              <a:ext cx="4106" cy="598"/>
              <a:chOff x="644" y="2225"/>
              <a:chExt cx="4106" cy="598"/>
            </a:xfrm>
          </p:grpSpPr>
          <p:sp>
            <p:nvSpPr>
              <p:cNvPr id="55" name="Rectangle 32"/>
              <p:cNvSpPr>
                <a:spLocks noChangeArrowheads="1"/>
              </p:cNvSpPr>
              <p:nvPr/>
            </p:nvSpPr>
            <p:spPr bwMode="auto">
              <a:xfrm>
                <a:off x="644" y="2485"/>
                <a:ext cx="4106" cy="2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>
                  <a:latin typeface="+mn-lt"/>
                </a:endParaRPr>
              </a:p>
            </p:txBody>
          </p:sp>
          <p:sp>
            <p:nvSpPr>
              <p:cNvPr id="56" name="Line 33"/>
              <p:cNvSpPr>
                <a:spLocks noChangeShapeType="1"/>
              </p:cNvSpPr>
              <p:nvPr/>
            </p:nvSpPr>
            <p:spPr bwMode="auto">
              <a:xfrm>
                <a:off x="1280" y="2483"/>
                <a:ext cx="0" cy="2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57" name="Line 34"/>
              <p:cNvSpPr>
                <a:spLocks noChangeShapeType="1"/>
              </p:cNvSpPr>
              <p:nvPr/>
            </p:nvSpPr>
            <p:spPr bwMode="auto">
              <a:xfrm>
                <a:off x="1921" y="2483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58" name="Line 35"/>
              <p:cNvSpPr>
                <a:spLocks noChangeShapeType="1"/>
              </p:cNvSpPr>
              <p:nvPr/>
            </p:nvSpPr>
            <p:spPr bwMode="auto">
              <a:xfrm>
                <a:off x="2575" y="2483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59" name="Line 36"/>
              <p:cNvSpPr>
                <a:spLocks noChangeShapeType="1"/>
              </p:cNvSpPr>
              <p:nvPr/>
            </p:nvSpPr>
            <p:spPr bwMode="auto">
              <a:xfrm>
                <a:off x="3274" y="2483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60" name="Line 37"/>
              <p:cNvSpPr>
                <a:spLocks noChangeShapeType="1"/>
              </p:cNvSpPr>
              <p:nvPr/>
            </p:nvSpPr>
            <p:spPr bwMode="auto">
              <a:xfrm>
                <a:off x="4001" y="2488"/>
                <a:ext cx="0" cy="2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61" name="Rectangle 38"/>
              <p:cNvSpPr>
                <a:spLocks noChangeArrowheads="1"/>
              </p:cNvSpPr>
              <p:nvPr/>
            </p:nvSpPr>
            <p:spPr bwMode="auto">
              <a:xfrm>
                <a:off x="2726" y="2488"/>
                <a:ext cx="36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rgbClr val="0070C0"/>
                    </a:solidFill>
                    <a:latin typeface="+mn-lt"/>
                  </a:rPr>
                  <a:t>42</a:t>
                </a:r>
              </a:p>
            </p:txBody>
          </p:sp>
          <p:sp>
            <p:nvSpPr>
              <p:cNvPr id="62" name="Rectangle 39"/>
              <p:cNvSpPr>
                <a:spLocks noChangeArrowheads="1"/>
              </p:cNvSpPr>
              <p:nvPr/>
            </p:nvSpPr>
            <p:spPr bwMode="auto">
              <a:xfrm>
                <a:off x="2042" y="2493"/>
                <a:ext cx="31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>
                    <a:latin typeface="+mn-lt"/>
                  </a:rPr>
                  <a:t> 5</a:t>
                </a:r>
              </a:p>
            </p:txBody>
          </p:sp>
          <p:sp>
            <p:nvSpPr>
              <p:cNvPr id="63" name="Rectangle 40"/>
              <p:cNvSpPr>
                <a:spLocks noChangeArrowheads="1"/>
              </p:cNvSpPr>
              <p:nvPr/>
            </p:nvSpPr>
            <p:spPr bwMode="auto">
              <a:xfrm>
                <a:off x="1358" y="2493"/>
                <a:ext cx="43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>
                    <a:latin typeface="+mn-lt"/>
                  </a:rPr>
                  <a:t> 35</a:t>
                </a:r>
              </a:p>
            </p:txBody>
          </p:sp>
          <p:sp>
            <p:nvSpPr>
              <p:cNvPr id="64" name="Rectangle 41"/>
              <p:cNvSpPr>
                <a:spLocks noChangeArrowheads="1"/>
              </p:cNvSpPr>
              <p:nvPr/>
            </p:nvSpPr>
            <p:spPr bwMode="auto">
              <a:xfrm>
                <a:off x="748" y="2490"/>
                <a:ext cx="36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>
                    <a:latin typeface="+mn-lt"/>
                  </a:rPr>
                  <a:t>12</a:t>
                </a:r>
              </a:p>
            </p:txBody>
          </p:sp>
          <p:sp>
            <p:nvSpPr>
              <p:cNvPr id="65" name="Rectangle 42"/>
              <p:cNvSpPr>
                <a:spLocks noChangeArrowheads="1"/>
              </p:cNvSpPr>
              <p:nvPr/>
            </p:nvSpPr>
            <p:spPr bwMode="auto">
              <a:xfrm>
                <a:off x="3383" y="2488"/>
                <a:ext cx="43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rgbClr val="0070C0"/>
                    </a:solidFill>
                    <a:latin typeface="+mn-lt"/>
                  </a:rPr>
                  <a:t> 77</a:t>
                </a:r>
              </a:p>
            </p:txBody>
          </p:sp>
          <p:sp>
            <p:nvSpPr>
              <p:cNvPr id="66" name="Rectangle 43"/>
              <p:cNvSpPr>
                <a:spLocks noChangeArrowheads="1"/>
              </p:cNvSpPr>
              <p:nvPr/>
            </p:nvSpPr>
            <p:spPr bwMode="auto">
              <a:xfrm>
                <a:off x="841" y="2225"/>
                <a:ext cx="382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latin typeface="+mn-lt"/>
                  </a:rPr>
                  <a:t>1        2       3        4        5          6</a:t>
                </a:r>
              </a:p>
            </p:txBody>
          </p:sp>
          <p:sp>
            <p:nvSpPr>
              <p:cNvPr id="67" name="Rectangle 44"/>
              <p:cNvSpPr>
                <a:spLocks noChangeArrowheads="1"/>
              </p:cNvSpPr>
              <p:nvPr/>
            </p:nvSpPr>
            <p:spPr bwMode="auto">
              <a:xfrm>
                <a:off x="4132" y="2488"/>
                <a:ext cx="557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rgbClr val="0070C0"/>
                    </a:solidFill>
                    <a:latin typeface="+mn-lt"/>
                  </a:rPr>
                  <a:t> 101</a:t>
                </a:r>
              </a:p>
            </p:txBody>
          </p:sp>
        </p:grpSp>
        <p:sp>
          <p:nvSpPr>
            <p:cNvPr id="54" name="Rectangle 78"/>
            <p:cNvSpPr>
              <a:spLocks noChangeArrowheads="1"/>
            </p:cNvSpPr>
            <p:nvPr/>
          </p:nvSpPr>
          <p:spPr bwMode="auto">
            <a:xfrm>
              <a:off x="940" y="2500"/>
              <a:ext cx="1937" cy="291"/>
            </a:xfrm>
            <a:prstGeom prst="rect">
              <a:avLst/>
            </a:prstGeom>
            <a:noFill/>
            <a:ln w="762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</p:grpSp>
      <p:grpSp>
        <p:nvGrpSpPr>
          <p:cNvPr id="68" name="Group 82"/>
          <p:cNvGrpSpPr>
            <a:grpSpLocks/>
          </p:cNvGrpSpPr>
          <p:nvPr/>
        </p:nvGrpSpPr>
        <p:grpSpPr bwMode="auto">
          <a:xfrm>
            <a:off x="971600" y="4953167"/>
            <a:ext cx="6527800" cy="949324"/>
            <a:chOff x="937" y="2791"/>
            <a:chExt cx="4112" cy="598"/>
          </a:xfrm>
        </p:grpSpPr>
        <p:grpSp>
          <p:nvGrpSpPr>
            <p:cNvPr id="69" name="Group 45"/>
            <p:cNvGrpSpPr>
              <a:grpSpLocks/>
            </p:cNvGrpSpPr>
            <p:nvPr/>
          </p:nvGrpSpPr>
          <p:grpSpPr bwMode="auto">
            <a:xfrm>
              <a:off x="943" y="2791"/>
              <a:ext cx="4106" cy="598"/>
              <a:chOff x="641" y="2781"/>
              <a:chExt cx="4106" cy="598"/>
            </a:xfrm>
          </p:grpSpPr>
          <p:sp>
            <p:nvSpPr>
              <p:cNvPr id="71" name="Rectangle 46"/>
              <p:cNvSpPr>
                <a:spLocks noChangeArrowheads="1"/>
              </p:cNvSpPr>
              <p:nvPr/>
            </p:nvSpPr>
            <p:spPr bwMode="auto">
              <a:xfrm>
                <a:off x="641" y="3041"/>
                <a:ext cx="4106" cy="2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>
                  <a:latin typeface="+mn-lt"/>
                </a:endParaRPr>
              </a:p>
            </p:txBody>
          </p:sp>
          <p:sp>
            <p:nvSpPr>
              <p:cNvPr id="72" name="Line 47"/>
              <p:cNvSpPr>
                <a:spLocks noChangeShapeType="1"/>
              </p:cNvSpPr>
              <p:nvPr/>
            </p:nvSpPr>
            <p:spPr bwMode="auto">
              <a:xfrm>
                <a:off x="1277" y="3039"/>
                <a:ext cx="0" cy="2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73" name="Line 48"/>
              <p:cNvSpPr>
                <a:spLocks noChangeShapeType="1"/>
              </p:cNvSpPr>
              <p:nvPr/>
            </p:nvSpPr>
            <p:spPr bwMode="auto">
              <a:xfrm>
                <a:off x="1918" y="303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74" name="Line 49"/>
              <p:cNvSpPr>
                <a:spLocks noChangeShapeType="1"/>
              </p:cNvSpPr>
              <p:nvPr/>
            </p:nvSpPr>
            <p:spPr bwMode="auto">
              <a:xfrm>
                <a:off x="2572" y="303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75" name="Line 50"/>
              <p:cNvSpPr>
                <a:spLocks noChangeShapeType="1"/>
              </p:cNvSpPr>
              <p:nvPr/>
            </p:nvSpPr>
            <p:spPr bwMode="auto">
              <a:xfrm>
                <a:off x="3271" y="303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76" name="Line 51"/>
              <p:cNvSpPr>
                <a:spLocks noChangeShapeType="1"/>
              </p:cNvSpPr>
              <p:nvPr/>
            </p:nvSpPr>
            <p:spPr bwMode="auto">
              <a:xfrm>
                <a:off x="3998" y="3044"/>
                <a:ext cx="0" cy="2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77" name="Rectangle 52"/>
              <p:cNvSpPr>
                <a:spLocks noChangeArrowheads="1"/>
              </p:cNvSpPr>
              <p:nvPr/>
            </p:nvSpPr>
            <p:spPr bwMode="auto">
              <a:xfrm>
                <a:off x="2723" y="3044"/>
                <a:ext cx="36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rgbClr val="0070C0"/>
                    </a:solidFill>
                    <a:latin typeface="+mn-lt"/>
                  </a:rPr>
                  <a:t>42</a:t>
                </a:r>
              </a:p>
            </p:txBody>
          </p:sp>
          <p:sp>
            <p:nvSpPr>
              <p:cNvPr id="78" name="Rectangle 53"/>
              <p:cNvSpPr>
                <a:spLocks noChangeArrowheads="1"/>
              </p:cNvSpPr>
              <p:nvPr/>
            </p:nvSpPr>
            <p:spPr bwMode="auto">
              <a:xfrm>
                <a:off x="2039" y="3049"/>
                <a:ext cx="43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rgbClr val="0070C0"/>
                    </a:solidFill>
                    <a:latin typeface="+mn-lt"/>
                  </a:rPr>
                  <a:t> 35</a:t>
                </a:r>
              </a:p>
            </p:txBody>
          </p:sp>
          <p:sp>
            <p:nvSpPr>
              <p:cNvPr id="79" name="Rectangle 54"/>
              <p:cNvSpPr>
                <a:spLocks noChangeArrowheads="1"/>
              </p:cNvSpPr>
              <p:nvPr/>
            </p:nvSpPr>
            <p:spPr bwMode="auto">
              <a:xfrm>
                <a:off x="1355" y="3049"/>
                <a:ext cx="38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>
                    <a:latin typeface="+mn-lt"/>
                  </a:rPr>
                  <a:t>  5</a:t>
                </a:r>
              </a:p>
            </p:txBody>
          </p:sp>
          <p:sp>
            <p:nvSpPr>
              <p:cNvPr id="80" name="Rectangle 55"/>
              <p:cNvSpPr>
                <a:spLocks noChangeArrowheads="1"/>
              </p:cNvSpPr>
              <p:nvPr/>
            </p:nvSpPr>
            <p:spPr bwMode="auto">
              <a:xfrm>
                <a:off x="745" y="3046"/>
                <a:ext cx="36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>
                    <a:latin typeface="+mn-lt"/>
                  </a:rPr>
                  <a:t>12</a:t>
                </a:r>
              </a:p>
            </p:txBody>
          </p:sp>
          <p:sp>
            <p:nvSpPr>
              <p:cNvPr id="81" name="Rectangle 56"/>
              <p:cNvSpPr>
                <a:spLocks noChangeArrowheads="1"/>
              </p:cNvSpPr>
              <p:nvPr/>
            </p:nvSpPr>
            <p:spPr bwMode="auto">
              <a:xfrm>
                <a:off x="3380" y="3044"/>
                <a:ext cx="43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rgbClr val="0070C0"/>
                    </a:solidFill>
                    <a:latin typeface="+mn-lt"/>
                  </a:rPr>
                  <a:t> 77</a:t>
                </a:r>
              </a:p>
            </p:txBody>
          </p:sp>
          <p:sp>
            <p:nvSpPr>
              <p:cNvPr id="82" name="Rectangle 57"/>
              <p:cNvSpPr>
                <a:spLocks noChangeArrowheads="1"/>
              </p:cNvSpPr>
              <p:nvPr/>
            </p:nvSpPr>
            <p:spPr bwMode="auto">
              <a:xfrm>
                <a:off x="838" y="2781"/>
                <a:ext cx="382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latin typeface="+mn-lt"/>
                  </a:rPr>
                  <a:t>1        2       3        4        5          6</a:t>
                </a:r>
              </a:p>
            </p:txBody>
          </p:sp>
          <p:sp>
            <p:nvSpPr>
              <p:cNvPr id="83" name="Rectangle 58"/>
              <p:cNvSpPr>
                <a:spLocks noChangeArrowheads="1"/>
              </p:cNvSpPr>
              <p:nvPr/>
            </p:nvSpPr>
            <p:spPr bwMode="auto">
              <a:xfrm>
                <a:off x="4129" y="3044"/>
                <a:ext cx="557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rgbClr val="0070C0"/>
                    </a:solidFill>
                    <a:latin typeface="+mn-lt"/>
                  </a:rPr>
                  <a:t> 101</a:t>
                </a:r>
              </a:p>
            </p:txBody>
          </p:sp>
        </p:grpSp>
        <p:sp>
          <p:nvSpPr>
            <p:cNvPr id="70" name="Rectangle 79"/>
            <p:cNvSpPr>
              <a:spLocks noChangeArrowheads="1"/>
            </p:cNvSpPr>
            <p:nvPr/>
          </p:nvSpPr>
          <p:spPr bwMode="auto">
            <a:xfrm>
              <a:off x="937" y="3059"/>
              <a:ext cx="1283" cy="291"/>
            </a:xfrm>
            <a:prstGeom prst="rect">
              <a:avLst/>
            </a:prstGeom>
            <a:noFill/>
            <a:ln w="762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</p:grpSp>
      <p:sp>
        <p:nvSpPr>
          <p:cNvPr id="84" name="Rectangle 83"/>
          <p:cNvSpPr>
            <a:spLocks noChangeArrowheads="1"/>
          </p:cNvSpPr>
          <p:nvPr/>
        </p:nvSpPr>
        <p:spPr bwMode="auto">
          <a:xfrm>
            <a:off x="985888" y="1817856"/>
            <a:ext cx="6518275" cy="461963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701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Number of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the </a:t>
            </a:r>
            <a:r>
              <a:rPr lang="en-US" dirty="0">
                <a:solidFill>
                  <a:srgbClr val="0070C0"/>
                </a:solidFill>
              </a:rPr>
              <a:t>k</a:t>
            </a:r>
            <a:r>
              <a:rPr lang="en-US" baseline="30000" dirty="0">
                <a:solidFill>
                  <a:srgbClr val="0070C0"/>
                </a:solidFill>
              </a:rPr>
              <a:t>th</a:t>
            </a:r>
            <a:r>
              <a:rPr lang="en-US" dirty="0">
                <a:solidFill>
                  <a:srgbClr val="0070C0"/>
                </a:solidFill>
              </a:rPr>
              <a:t> “bubble up”</a:t>
            </a:r>
            <a:r>
              <a:rPr lang="en-US" dirty="0"/>
              <a:t>, we only need to do </a:t>
            </a:r>
            <a:r>
              <a:rPr lang="en-US" dirty="0">
                <a:solidFill>
                  <a:srgbClr val="0070C0"/>
                </a:solidFill>
              </a:rPr>
              <a:t>SIZE - k comparisons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This is the 4</a:t>
            </a:r>
            <a:r>
              <a:rPr lang="en-US" baseline="30000" dirty="0"/>
              <a:t>th</a:t>
            </a:r>
            <a:r>
              <a:rPr lang="en-US" dirty="0"/>
              <a:t> “bubble up”</a:t>
            </a:r>
          </a:p>
          <a:p>
            <a:pPr lvl="1"/>
            <a:r>
              <a:rPr lang="en-US" dirty="0"/>
              <a:t>SIZE of the array is 6</a:t>
            </a:r>
          </a:p>
          <a:p>
            <a:pPr lvl="1"/>
            <a:r>
              <a:rPr lang="en-US" dirty="0"/>
              <a:t>Thus we have 2 comparisons to do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18</a:t>
            </a:fld>
            <a:endParaRPr lang="en-GB"/>
          </a:p>
        </p:txBody>
      </p: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1284288" y="3789040"/>
            <a:ext cx="6518275" cy="949326"/>
            <a:chOff x="641" y="2781"/>
            <a:chExt cx="4106" cy="598"/>
          </a:xfrm>
        </p:grpSpPr>
        <p:sp>
          <p:nvSpPr>
            <p:cNvPr id="7" name="Rectangle 20"/>
            <p:cNvSpPr>
              <a:spLocks noChangeArrowheads="1"/>
            </p:cNvSpPr>
            <p:nvPr/>
          </p:nvSpPr>
          <p:spPr bwMode="auto">
            <a:xfrm>
              <a:off x="641" y="304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8" name="Line 21"/>
            <p:cNvSpPr>
              <a:spLocks noChangeShapeType="1"/>
            </p:cNvSpPr>
            <p:nvPr/>
          </p:nvSpPr>
          <p:spPr bwMode="auto">
            <a:xfrm>
              <a:off x="1277" y="303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9" name="Line 22"/>
            <p:cNvSpPr>
              <a:spLocks noChangeShapeType="1"/>
            </p:cNvSpPr>
            <p:nvPr/>
          </p:nvSpPr>
          <p:spPr bwMode="auto">
            <a:xfrm>
              <a:off x="1918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" name="Line 23"/>
            <p:cNvSpPr>
              <a:spLocks noChangeShapeType="1"/>
            </p:cNvSpPr>
            <p:nvPr/>
          </p:nvSpPr>
          <p:spPr bwMode="auto">
            <a:xfrm>
              <a:off x="2572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" name="Line 24"/>
            <p:cNvSpPr>
              <a:spLocks noChangeShapeType="1"/>
            </p:cNvSpPr>
            <p:nvPr/>
          </p:nvSpPr>
          <p:spPr bwMode="auto">
            <a:xfrm>
              <a:off x="3271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" name="Line 25"/>
            <p:cNvSpPr>
              <a:spLocks noChangeShapeType="1"/>
            </p:cNvSpPr>
            <p:nvPr/>
          </p:nvSpPr>
          <p:spPr bwMode="auto">
            <a:xfrm>
              <a:off x="3998" y="304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3" name="Rectangle 26"/>
            <p:cNvSpPr>
              <a:spLocks noChangeArrowheads="1"/>
            </p:cNvSpPr>
            <p:nvPr/>
          </p:nvSpPr>
          <p:spPr bwMode="auto">
            <a:xfrm>
              <a:off x="2723" y="3044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42</a:t>
              </a:r>
            </a:p>
          </p:txBody>
        </p:sp>
        <p:sp>
          <p:nvSpPr>
            <p:cNvPr id="14" name="Rectangle 27"/>
            <p:cNvSpPr>
              <a:spLocks noChangeArrowheads="1"/>
            </p:cNvSpPr>
            <p:nvPr/>
          </p:nvSpPr>
          <p:spPr bwMode="auto">
            <a:xfrm>
              <a:off x="2039" y="3049"/>
              <a:ext cx="31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5</a:t>
              </a:r>
            </a:p>
          </p:txBody>
        </p:sp>
        <p:sp>
          <p:nvSpPr>
            <p:cNvPr id="15" name="Rectangle 28"/>
            <p:cNvSpPr>
              <a:spLocks noChangeArrowheads="1"/>
            </p:cNvSpPr>
            <p:nvPr/>
          </p:nvSpPr>
          <p:spPr bwMode="auto">
            <a:xfrm>
              <a:off x="1355" y="3049"/>
              <a:ext cx="50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 35</a:t>
              </a:r>
            </a:p>
          </p:txBody>
        </p:sp>
        <p:sp>
          <p:nvSpPr>
            <p:cNvPr id="16" name="Rectangle 29"/>
            <p:cNvSpPr>
              <a:spLocks noChangeArrowheads="1"/>
            </p:cNvSpPr>
            <p:nvPr/>
          </p:nvSpPr>
          <p:spPr bwMode="auto">
            <a:xfrm>
              <a:off x="745" y="3046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12</a:t>
              </a:r>
            </a:p>
          </p:txBody>
        </p:sp>
        <p:sp>
          <p:nvSpPr>
            <p:cNvPr id="17" name="Rectangle 30"/>
            <p:cNvSpPr>
              <a:spLocks noChangeArrowheads="1"/>
            </p:cNvSpPr>
            <p:nvPr/>
          </p:nvSpPr>
          <p:spPr bwMode="auto">
            <a:xfrm>
              <a:off x="3380" y="3044"/>
              <a:ext cx="4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 </a:t>
              </a:r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77</a:t>
              </a:r>
            </a:p>
          </p:txBody>
        </p:sp>
        <p:sp>
          <p:nvSpPr>
            <p:cNvPr id="18" name="Rectangle 31"/>
            <p:cNvSpPr>
              <a:spLocks noChangeArrowheads="1"/>
            </p:cNvSpPr>
            <p:nvPr/>
          </p:nvSpPr>
          <p:spPr bwMode="auto">
            <a:xfrm>
              <a:off x="838" y="2781"/>
              <a:ext cx="382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1         2      3        4        5          6</a:t>
              </a:r>
            </a:p>
          </p:txBody>
        </p:sp>
        <p:sp>
          <p:nvSpPr>
            <p:cNvPr id="19" name="Rectangle 32"/>
            <p:cNvSpPr>
              <a:spLocks noChangeArrowheads="1"/>
            </p:cNvSpPr>
            <p:nvPr/>
          </p:nvSpPr>
          <p:spPr bwMode="auto">
            <a:xfrm>
              <a:off x="4129" y="3044"/>
              <a:ext cx="55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 </a:t>
              </a:r>
              <a:r>
                <a:rPr lang="en-US" altLang="en-US" dirty="0">
                  <a:solidFill>
                    <a:srgbClr val="0070C0"/>
                  </a:solidFill>
                  <a:latin typeface="+mn-lt"/>
                </a:rPr>
                <a:t>101</a:t>
              </a:r>
            </a:p>
          </p:txBody>
        </p:sp>
      </p:grpSp>
      <p:sp>
        <p:nvSpPr>
          <p:cNvPr id="20" name="Rectangle 33"/>
          <p:cNvSpPr>
            <a:spLocks noChangeArrowheads="1"/>
          </p:cNvSpPr>
          <p:nvPr/>
        </p:nvSpPr>
        <p:spPr bwMode="auto">
          <a:xfrm>
            <a:off x="1274763" y="4214486"/>
            <a:ext cx="3074987" cy="461963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21" name="AutoShape 34"/>
          <p:cNvSpPr>
            <a:spLocks/>
          </p:cNvSpPr>
          <p:nvPr/>
        </p:nvSpPr>
        <p:spPr bwMode="auto">
          <a:xfrm rot="16200000">
            <a:off x="2132013" y="4279573"/>
            <a:ext cx="273050" cy="1343025"/>
          </a:xfrm>
          <a:prstGeom prst="leftBrace">
            <a:avLst>
              <a:gd name="adj1" fmla="val 40988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22" name="AutoShape 35"/>
          <p:cNvSpPr>
            <a:spLocks/>
          </p:cNvSpPr>
          <p:nvPr/>
        </p:nvSpPr>
        <p:spPr bwMode="auto">
          <a:xfrm rot="16200000">
            <a:off x="3175001" y="4552623"/>
            <a:ext cx="273050" cy="1343025"/>
          </a:xfrm>
          <a:prstGeom prst="leftBrace">
            <a:avLst>
              <a:gd name="adj1" fmla="val 40988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1245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BubbleSort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a[], </a:t>
            </a:r>
            <a:r>
              <a:rPr lang="en-US" alt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const</a:t>
            </a:r>
            <a:r>
              <a:rPr lang="en-US" alt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ARRAY_SIZE)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pass = 1; pass &lt; ARRAY_SIZE; pass++)</a:t>
            </a:r>
            <a:r>
              <a:rPr lang="en-US" altLang="en-US" sz="16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N – 1 passes</a:t>
            </a:r>
          </a:p>
          <a:p>
            <a:pPr>
              <a:buFontTx/>
              <a:buNone/>
            </a:pP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= 0; </a:t>
            </a:r>
            <a:r>
              <a:rPr lang="en-US" alt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&lt; ARRAY_SIZE - pass; </a:t>
            </a:r>
            <a:r>
              <a:rPr lang="en-US" alt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++)</a:t>
            </a:r>
            <a:r>
              <a:rPr lang="en-US" altLang="en-US" sz="16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//0–&gt;(SIZE-PASS) steps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{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(a[</a:t>
            </a:r>
            <a:r>
              <a:rPr lang="en-US" alt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 &gt; a[i+1])</a:t>
            </a:r>
            <a:r>
              <a:rPr lang="en-US" altLang="en-US" sz="1600" dirty="0">
                <a:solidFill>
                  <a:srgbClr val="92D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swap</a:t>
            </a:r>
          </a:p>
          <a:p>
            <a:pPr>
              <a:buFontTx/>
              <a:buNone/>
            </a:pP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= a[</a:t>
            </a:r>
            <a:r>
              <a:rPr lang="en-US" alt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a[</a:t>
            </a:r>
            <a:r>
              <a:rPr lang="en-US" alt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 = a[i+1];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a[i+1] = </a:t>
            </a:r>
            <a:r>
              <a:rPr lang="en-US" alt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}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}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8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75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Already Sorted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the </a:t>
            </a:r>
            <a:r>
              <a:rPr lang="en-US" dirty="0">
                <a:solidFill>
                  <a:srgbClr val="0070C0"/>
                </a:solidFill>
              </a:rPr>
              <a:t>elements were already sorted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What if only a few elements are out of place and after a couple of “bubble ups,” the collection is sorted?</a:t>
            </a:r>
          </a:p>
          <a:p>
            <a:endParaRPr lang="en-US" dirty="0"/>
          </a:p>
          <a:p>
            <a:r>
              <a:rPr lang="en-US" dirty="0"/>
              <a:t>We want to be </a:t>
            </a:r>
            <a:r>
              <a:rPr lang="en-US" dirty="0">
                <a:solidFill>
                  <a:srgbClr val="0070C0"/>
                </a:solidFill>
              </a:rPr>
              <a:t>able to detect </a:t>
            </a:r>
            <a:r>
              <a:rPr lang="en-US" dirty="0"/>
              <a:t>this and </a:t>
            </a:r>
            <a:r>
              <a:rPr lang="en-US" dirty="0">
                <a:solidFill>
                  <a:srgbClr val="0070C0"/>
                </a:solidFill>
              </a:rPr>
              <a:t>“stop early”!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20</a:t>
            </a:fld>
            <a:endParaRPr lang="en-GB"/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1274113" y="4149086"/>
            <a:ext cx="6518275" cy="949326"/>
            <a:chOff x="641" y="3361"/>
            <a:chExt cx="4106" cy="598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641" y="362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1277" y="361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1918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2572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271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3998" y="362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2723" y="3624"/>
              <a:ext cx="3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42</a:t>
              </a: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2039" y="3629"/>
              <a:ext cx="4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35</a:t>
              </a: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1355" y="3629"/>
              <a:ext cx="4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12</a:t>
              </a: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745" y="3626"/>
              <a:ext cx="31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5</a:t>
              </a: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3380" y="3624"/>
              <a:ext cx="43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77</a:t>
              </a: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838" y="3361"/>
              <a:ext cx="382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+mn-lt"/>
                </a:rPr>
                <a:t>1        2       3       4         5          6</a:t>
              </a: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4129" y="3624"/>
              <a:ext cx="55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latin typeface="+mn-lt"/>
                </a:rPr>
                <a:t> 101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562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Boolean Flag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a </a:t>
            </a:r>
            <a:r>
              <a:rPr lang="en-US" dirty="0" err="1"/>
              <a:t>boolean</a:t>
            </a:r>
            <a:r>
              <a:rPr lang="en-US" dirty="0"/>
              <a:t> variable to determine if any swapping occurred during the “bubble up”</a:t>
            </a:r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dirty="0">
                <a:solidFill>
                  <a:srgbClr val="0070C0"/>
                </a:solidFill>
              </a:rPr>
              <a:t>no swapping occurred</a:t>
            </a:r>
            <a:r>
              <a:rPr lang="en-US" dirty="0"/>
              <a:t>, then we know that the collection is </a:t>
            </a:r>
            <a:r>
              <a:rPr lang="en-US" dirty="0">
                <a:solidFill>
                  <a:srgbClr val="0070C0"/>
                </a:solidFill>
              </a:rPr>
              <a:t>already sorted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/>
              <a:t>This </a:t>
            </a:r>
            <a:r>
              <a:rPr lang="en-US" dirty="0" err="1"/>
              <a:t>boolean</a:t>
            </a:r>
            <a:r>
              <a:rPr lang="en-US" dirty="0"/>
              <a:t> “flag” needs to be </a:t>
            </a:r>
            <a:r>
              <a:rPr lang="en-US" dirty="0">
                <a:solidFill>
                  <a:srgbClr val="0070C0"/>
                </a:solidFill>
              </a:rPr>
              <a:t>reset after each “bubble up”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66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pass =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exchanges;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nsolas" panose="020B060902020403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exchanges = false;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b="1" dirty="0"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US" altLang="en-US" sz="20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0; 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&lt; ARRAY_SIZE-pass; 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++)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000" b="1" dirty="0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(a[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] &gt; a[i+1])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2000" b="1" dirty="0">
                <a:latin typeface="Consolas" panose="020B060902020403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a[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 a[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] = a[i+1];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 a[i+1] = 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exchanges = true;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pass++;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r>
              <a:rPr lang="en-US" alt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(exchanges);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457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763688" y="3410332"/>
            <a:ext cx="56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0070C0"/>
                </a:solidFill>
              </a:rPr>
              <a:t>Selection Sort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933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the entire array as the unsorted portion of the array</a:t>
            </a:r>
          </a:p>
          <a:p>
            <a:endParaRPr lang="en-US" dirty="0"/>
          </a:p>
          <a:p>
            <a:r>
              <a:rPr lang="en-US" dirty="0"/>
              <a:t>While the unsorted portion of the array has more than one element:</a:t>
            </a:r>
          </a:p>
          <a:p>
            <a:pPr lvl="1"/>
            <a:r>
              <a:rPr lang="en-US" dirty="0"/>
              <a:t>Find its largest element</a:t>
            </a:r>
          </a:p>
          <a:p>
            <a:pPr lvl="1"/>
            <a:r>
              <a:rPr lang="en-US" dirty="0"/>
              <a:t>Swap with last element (assuming their values are different)</a:t>
            </a:r>
          </a:p>
          <a:p>
            <a:pPr lvl="1"/>
            <a:r>
              <a:rPr lang="en-US" dirty="0"/>
              <a:t>Reduce the size of the unsorted portion of the array by 1.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515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-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445489" y="1340768"/>
            <a:ext cx="8352928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Original Array          14       2       10        5        1       3       </a:t>
            </a:r>
            <a:r>
              <a:rPr lang="en-US" sz="2000" b="1" dirty="0">
                <a:solidFill>
                  <a:srgbClr val="0070C0"/>
                </a:solidFill>
              </a:rPr>
              <a:t>17</a:t>
            </a:r>
            <a:r>
              <a:rPr lang="en-US" sz="2000" dirty="0"/>
              <a:t>       7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2533721" y="1340768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386666" y="1340768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117897" y="1340768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909985" y="1340768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702073" y="1340768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433304" y="1339034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142233" y="1340768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7934321" y="1329617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/>
          <p:cNvGrpSpPr/>
          <p:nvPr/>
        </p:nvGrpSpPr>
        <p:grpSpPr>
          <a:xfrm>
            <a:off x="445489" y="2358297"/>
            <a:ext cx="8352928" cy="422631"/>
            <a:chOff x="445489" y="2358297"/>
            <a:chExt cx="8352928" cy="422631"/>
          </a:xfrm>
        </p:grpSpPr>
        <p:sp>
          <p:nvSpPr>
            <p:cNvPr id="35" name="TextBox 34"/>
            <p:cNvSpPr txBox="1"/>
            <p:nvPr/>
          </p:nvSpPr>
          <p:spPr>
            <a:xfrm>
              <a:off x="445489" y="2369448"/>
              <a:ext cx="8352928" cy="40011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Pass 1                    </a:t>
              </a:r>
              <a:r>
                <a:rPr lang="en-US" sz="2000" b="1" dirty="0">
                  <a:solidFill>
                    <a:srgbClr val="0070C0"/>
                  </a:solidFill>
                </a:rPr>
                <a:t>14 </a:t>
              </a:r>
              <a:r>
                <a:rPr lang="en-US" sz="2000" dirty="0"/>
                <a:t>      2       10        5        1       3        7       17</a:t>
              </a:r>
            </a:p>
          </p:txBody>
        </p:sp>
        <p:cxnSp>
          <p:nvCxnSpPr>
            <p:cNvPr id="36" name="Straight Connector 35"/>
            <p:cNvCxnSpPr/>
            <p:nvPr/>
          </p:nvCxnSpPr>
          <p:spPr>
            <a:xfrm>
              <a:off x="2533721" y="2369448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386666" y="2369448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4117897" y="2369448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4909985" y="2369448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5702073" y="2369448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433304" y="2367714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142233" y="2369448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7978925" y="2358297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51291" y="3366409"/>
            <a:ext cx="8352928" cy="422631"/>
            <a:chOff x="451291" y="3366409"/>
            <a:chExt cx="8352928" cy="422631"/>
          </a:xfrm>
        </p:grpSpPr>
        <p:sp>
          <p:nvSpPr>
            <p:cNvPr id="44" name="TextBox 43"/>
            <p:cNvSpPr txBox="1"/>
            <p:nvPr/>
          </p:nvSpPr>
          <p:spPr>
            <a:xfrm>
              <a:off x="451291" y="3377560"/>
              <a:ext cx="8352928" cy="40011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Pass 2                    7        2       </a:t>
              </a:r>
              <a:r>
                <a:rPr lang="en-US" sz="2000" b="1" dirty="0">
                  <a:solidFill>
                    <a:srgbClr val="0070C0"/>
                  </a:solidFill>
                </a:rPr>
                <a:t>10 </a:t>
              </a:r>
              <a:r>
                <a:rPr lang="en-US" sz="2000" dirty="0"/>
                <a:t>       5        1       3       14       17</a:t>
              </a:r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2539523" y="3377560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3392468" y="3377560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4123699" y="3377560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4915787" y="3377560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5707875" y="3377560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6439106" y="3375826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7148035" y="3377560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7940123" y="3366409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/>
          <p:cNvGrpSpPr/>
          <p:nvPr/>
        </p:nvGrpSpPr>
        <p:grpSpPr>
          <a:xfrm>
            <a:off x="456393" y="4446529"/>
            <a:ext cx="8352928" cy="422631"/>
            <a:chOff x="456393" y="4446529"/>
            <a:chExt cx="8352928" cy="422631"/>
          </a:xfrm>
        </p:grpSpPr>
        <p:sp>
          <p:nvSpPr>
            <p:cNvPr id="53" name="TextBox 52"/>
            <p:cNvSpPr txBox="1"/>
            <p:nvPr/>
          </p:nvSpPr>
          <p:spPr>
            <a:xfrm>
              <a:off x="456393" y="4457680"/>
              <a:ext cx="8352928" cy="40011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Pass 3                    </a:t>
              </a:r>
              <a:r>
                <a:rPr lang="en-US" sz="2000" b="1" dirty="0">
                  <a:solidFill>
                    <a:srgbClr val="0070C0"/>
                  </a:solidFill>
                </a:rPr>
                <a:t>7</a:t>
              </a:r>
              <a:r>
                <a:rPr lang="en-US" sz="2000" dirty="0"/>
                <a:t>         2        3        5        1      10      14       17</a:t>
              </a:r>
            </a:p>
          </p:txBody>
        </p:sp>
        <p:cxnSp>
          <p:nvCxnSpPr>
            <p:cNvPr id="54" name="Straight Connector 53"/>
            <p:cNvCxnSpPr/>
            <p:nvPr/>
          </p:nvCxnSpPr>
          <p:spPr>
            <a:xfrm>
              <a:off x="2544625" y="4457680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397570" y="4457680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4128801" y="4457680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4920889" y="4457680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5712977" y="4457680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6444208" y="4455946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7153137" y="4457680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7945225" y="4446529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/>
          <p:cNvGrpSpPr/>
          <p:nvPr/>
        </p:nvGrpSpPr>
        <p:grpSpPr>
          <a:xfrm>
            <a:off x="456393" y="5598657"/>
            <a:ext cx="8352928" cy="422631"/>
            <a:chOff x="456393" y="5598657"/>
            <a:chExt cx="8352928" cy="422631"/>
          </a:xfrm>
        </p:grpSpPr>
        <p:sp>
          <p:nvSpPr>
            <p:cNvPr id="62" name="TextBox 61"/>
            <p:cNvSpPr txBox="1"/>
            <p:nvPr/>
          </p:nvSpPr>
          <p:spPr>
            <a:xfrm>
              <a:off x="456393" y="5609808"/>
              <a:ext cx="8352928" cy="40011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Pass 4                    1         2        3        5        7      10       14       17</a:t>
              </a:r>
            </a:p>
          </p:txBody>
        </p:sp>
        <p:cxnSp>
          <p:nvCxnSpPr>
            <p:cNvPr id="63" name="Straight Connector 62"/>
            <p:cNvCxnSpPr/>
            <p:nvPr/>
          </p:nvCxnSpPr>
          <p:spPr>
            <a:xfrm>
              <a:off x="2544625" y="5609808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3397570" y="5609808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4128801" y="5609808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4920889" y="5609808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5712977" y="5609808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6444208" y="5608074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7153137" y="5609808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7945225" y="5598657"/>
              <a:ext cx="0" cy="4114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/>
          <p:cNvGrpSpPr/>
          <p:nvPr/>
        </p:nvGrpSpPr>
        <p:grpSpPr>
          <a:xfrm>
            <a:off x="3032552" y="2790345"/>
            <a:ext cx="5765865" cy="983089"/>
            <a:chOff x="3032552" y="2790345"/>
            <a:chExt cx="5765865" cy="983089"/>
          </a:xfrm>
        </p:grpSpPr>
        <p:cxnSp>
          <p:nvCxnSpPr>
            <p:cNvPr id="77" name="Straight Arrow Connector 76"/>
            <p:cNvCxnSpPr/>
            <p:nvPr/>
          </p:nvCxnSpPr>
          <p:spPr>
            <a:xfrm>
              <a:off x="3032552" y="2790345"/>
              <a:ext cx="4613737" cy="574111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 flipH="1">
              <a:off x="3032552" y="2799358"/>
              <a:ext cx="4613737" cy="565098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97"/>
            <p:cNvSpPr/>
            <p:nvPr/>
          </p:nvSpPr>
          <p:spPr>
            <a:xfrm>
              <a:off x="7153137" y="3387928"/>
              <a:ext cx="1645280" cy="385506"/>
            </a:xfrm>
            <a:prstGeom prst="rect">
              <a:avLst/>
            </a:prstGeom>
            <a:solidFill>
              <a:schemeClr val="bg1">
                <a:lumMod val="8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4499992" y="3796573"/>
            <a:ext cx="4319387" cy="1066035"/>
            <a:chOff x="4499992" y="3796573"/>
            <a:chExt cx="4319387" cy="1066035"/>
          </a:xfrm>
        </p:grpSpPr>
        <p:cxnSp>
          <p:nvCxnSpPr>
            <p:cNvPr id="83" name="Straight Arrow Connector 82"/>
            <p:cNvCxnSpPr/>
            <p:nvPr/>
          </p:nvCxnSpPr>
          <p:spPr>
            <a:xfrm>
              <a:off x="4499992" y="3796573"/>
              <a:ext cx="2383369" cy="638586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endCxn id="53" idx="0"/>
            </p:cNvCxnSpPr>
            <p:nvPr/>
          </p:nvCxnSpPr>
          <p:spPr>
            <a:xfrm flipH="1">
              <a:off x="4632857" y="3809827"/>
              <a:ext cx="2099731" cy="647853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tangle 98"/>
            <p:cNvSpPr/>
            <p:nvPr/>
          </p:nvSpPr>
          <p:spPr>
            <a:xfrm>
              <a:off x="6444208" y="4477102"/>
              <a:ext cx="2375171" cy="385506"/>
            </a:xfrm>
            <a:prstGeom prst="rect">
              <a:avLst/>
            </a:prstGeom>
            <a:solidFill>
              <a:schemeClr val="bg1">
                <a:lumMod val="8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7487812" y="1752029"/>
            <a:ext cx="1312749" cy="1025212"/>
            <a:chOff x="7487812" y="1752029"/>
            <a:chExt cx="1312749" cy="1025212"/>
          </a:xfrm>
        </p:grpSpPr>
        <p:cxnSp>
          <p:nvCxnSpPr>
            <p:cNvPr id="72" name="Straight Arrow Connector 71"/>
            <p:cNvCxnSpPr/>
            <p:nvPr/>
          </p:nvCxnSpPr>
          <p:spPr>
            <a:xfrm>
              <a:off x="7759754" y="1752029"/>
              <a:ext cx="670127" cy="591244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 flipH="1">
              <a:off x="7487812" y="1760788"/>
              <a:ext cx="893017" cy="609040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Rectangle 96"/>
            <p:cNvSpPr/>
            <p:nvPr/>
          </p:nvSpPr>
          <p:spPr>
            <a:xfrm>
              <a:off x="7981069" y="2391735"/>
              <a:ext cx="819492" cy="385506"/>
            </a:xfrm>
            <a:prstGeom prst="rect">
              <a:avLst/>
            </a:prstGeom>
            <a:solidFill>
              <a:schemeClr val="bg1">
                <a:lumMod val="8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2533721" y="4857791"/>
            <a:ext cx="6274753" cy="1152127"/>
            <a:chOff x="2533721" y="4857791"/>
            <a:chExt cx="6274753" cy="1152127"/>
          </a:xfrm>
        </p:grpSpPr>
        <p:cxnSp>
          <p:nvCxnSpPr>
            <p:cNvPr id="91" name="Straight Arrow Connector 90"/>
            <p:cNvCxnSpPr/>
            <p:nvPr/>
          </p:nvCxnSpPr>
          <p:spPr>
            <a:xfrm>
              <a:off x="2893515" y="4857791"/>
              <a:ext cx="3192761" cy="738913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 flipH="1">
              <a:off x="3001856" y="4880311"/>
              <a:ext cx="3084420" cy="727544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Rectangle 99"/>
            <p:cNvSpPr/>
            <p:nvPr/>
          </p:nvSpPr>
          <p:spPr>
            <a:xfrm>
              <a:off x="2533721" y="5624412"/>
              <a:ext cx="6274753" cy="385506"/>
            </a:xfrm>
            <a:prstGeom prst="rect">
              <a:avLst/>
            </a:prstGeom>
            <a:solidFill>
              <a:schemeClr val="bg1">
                <a:lumMod val="8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947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55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Sort array of integers in ascending order</a:t>
            </a:r>
          </a:p>
          <a:p>
            <a:pPr marL="0" indent="0">
              <a:buNone/>
            </a:pPr>
            <a:r>
              <a:rPr lang="en-US" sz="1550" b="1" dirty="0"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select(</a:t>
            </a:r>
            <a:r>
              <a:rPr lang="en-US" sz="1550" b="1" dirty="0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data[], </a:t>
            </a:r>
            <a:r>
              <a:rPr lang="en-US" sz="155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55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size){  </a:t>
            </a:r>
          </a:p>
          <a:p>
            <a:pPr marL="0" indent="0">
              <a:buNone/>
            </a:pP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55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temp;       </a:t>
            </a:r>
            <a:r>
              <a:rPr lang="en-US" sz="155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for swap</a:t>
            </a:r>
          </a:p>
          <a:p>
            <a:pPr marL="0" indent="0">
              <a:buNone/>
            </a:pP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55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50" dirty="0" err="1">
                <a:latin typeface="Consolas" panose="020B0609020204030204" pitchFamily="49" charset="0"/>
                <a:cs typeface="Courier New" panose="02070309020205020404" pitchFamily="49" charset="0"/>
              </a:rPr>
              <a:t>max_index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;  </a:t>
            </a:r>
            <a:r>
              <a:rPr lang="en-US" sz="155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index of max value</a:t>
            </a:r>
          </a:p>
          <a:p>
            <a:pPr marL="0" indent="0">
              <a:buNone/>
            </a:pP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550" b="1" dirty="0"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US" sz="155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rightmost=size-1; rightmost&gt;0; rightmost--){</a:t>
            </a:r>
          </a:p>
          <a:p>
            <a:pPr marL="0" indent="0">
              <a:buNone/>
            </a:pPr>
            <a:r>
              <a:rPr lang="en-US" sz="155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//find the largest item in the unsorted portion</a:t>
            </a:r>
          </a:p>
          <a:p>
            <a:pPr marL="0" indent="0">
              <a:buNone/>
            </a:pPr>
            <a:r>
              <a:rPr lang="en-US" sz="155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//rightmost is the end point of the unsorted part of array</a:t>
            </a:r>
          </a:p>
          <a:p>
            <a:pPr marL="0" indent="0">
              <a:buNone/>
            </a:pP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550" dirty="0" err="1">
                <a:latin typeface="Consolas" panose="020B0609020204030204" pitchFamily="49" charset="0"/>
                <a:cs typeface="Courier New" panose="02070309020205020404" pitchFamily="49" charset="0"/>
              </a:rPr>
              <a:t>max_index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= 0; </a:t>
            </a:r>
            <a:r>
              <a:rPr lang="en-US" sz="155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//points the largest element</a:t>
            </a:r>
          </a:p>
          <a:p>
            <a:pPr marL="0" indent="0">
              <a:buNone/>
            </a:pP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550" b="1" dirty="0"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( </a:t>
            </a:r>
            <a:r>
              <a:rPr lang="en-US" sz="155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current=1; current&lt;=rightmost; current++)</a:t>
            </a:r>
          </a:p>
          <a:p>
            <a:pPr marL="0" indent="0">
              <a:buNone/>
            </a:pP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	   </a:t>
            </a:r>
            <a:r>
              <a:rPr lang="en-US" sz="1550" b="1" dirty="0">
                <a:latin typeface="Consolas" panose="020B0609020204030204" pitchFamily="49" charset="0"/>
                <a:cs typeface="Courier New" panose="02070309020205020404" pitchFamily="49" charset="0"/>
              </a:rPr>
              <a:t> if 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(data[current] &gt; data[</a:t>
            </a:r>
            <a:r>
              <a:rPr lang="en-US" sz="1550" dirty="0" err="1">
                <a:latin typeface="Consolas" panose="020B0609020204030204" pitchFamily="49" charset="0"/>
                <a:cs typeface="Courier New" panose="02070309020205020404" pitchFamily="49" charset="0"/>
              </a:rPr>
              <a:t>max_index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buNone/>
            </a:pP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  	        </a:t>
            </a:r>
            <a:r>
              <a:rPr lang="en-US" sz="1550" dirty="0" err="1">
                <a:latin typeface="Consolas" panose="020B0609020204030204" pitchFamily="49" charset="0"/>
                <a:cs typeface="Courier New" panose="02070309020205020404" pitchFamily="49" charset="0"/>
              </a:rPr>
              <a:t>max_index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= current;</a:t>
            </a:r>
          </a:p>
          <a:p>
            <a:pPr marL="0" indent="0">
              <a:buNone/>
            </a:pPr>
            <a:r>
              <a:rPr lang="en-US" sz="155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55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//swap the largest item with last item if necessary</a:t>
            </a:r>
          </a:p>
          <a:p>
            <a:pPr marL="0" indent="0">
              <a:buNone/>
            </a:pP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	</a:t>
            </a:r>
            <a:r>
              <a:rPr lang="en-US" sz="1550" b="1" dirty="0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(data[</a:t>
            </a:r>
            <a:r>
              <a:rPr lang="en-US" sz="1550" dirty="0" err="1">
                <a:latin typeface="Consolas" panose="020B0609020204030204" pitchFamily="49" charset="0"/>
                <a:cs typeface="Courier New" panose="02070309020205020404" pitchFamily="49" charset="0"/>
              </a:rPr>
              <a:t>max_index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] &gt; data[rightmost]){</a:t>
            </a:r>
          </a:p>
          <a:p>
            <a:pPr marL="0" indent="0">
              <a:buNone/>
            </a:pP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	    temp = data[</a:t>
            </a:r>
            <a:r>
              <a:rPr lang="en-US" sz="1550" dirty="0" err="1">
                <a:latin typeface="Consolas" panose="020B0609020204030204" pitchFamily="49" charset="0"/>
                <a:cs typeface="Courier New" panose="02070309020205020404" pitchFamily="49" charset="0"/>
              </a:rPr>
              <a:t>max_index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];   </a:t>
            </a:r>
            <a:r>
              <a:rPr lang="en-US" sz="155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swap</a:t>
            </a:r>
          </a:p>
          <a:p>
            <a:pPr marL="0" indent="0">
              <a:buNone/>
            </a:pP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	    data[</a:t>
            </a:r>
            <a:r>
              <a:rPr lang="en-US" sz="1550" dirty="0" err="1">
                <a:latin typeface="Consolas" panose="020B0609020204030204" pitchFamily="49" charset="0"/>
                <a:cs typeface="Courier New" panose="02070309020205020404" pitchFamily="49" charset="0"/>
              </a:rPr>
              <a:t>max_index</a:t>
            </a: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] = data[rightmost];</a:t>
            </a:r>
          </a:p>
          <a:p>
            <a:pPr marL="0" indent="0">
              <a:buNone/>
            </a:pP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	    data[rightmost] = temp;</a:t>
            </a:r>
          </a:p>
          <a:p>
            <a:pPr marL="0" indent="0">
              <a:buNone/>
            </a:pP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55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55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15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vs. 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bubble sort is inefficient for large arrays </a:t>
            </a:r>
          </a:p>
          <a:p>
            <a:pPr lvl="1"/>
            <a:r>
              <a:rPr lang="en-US" dirty="0"/>
              <a:t>Items only move by one element at a time</a:t>
            </a:r>
          </a:p>
          <a:p>
            <a:endParaRPr lang="en-US" dirty="0"/>
          </a:p>
          <a:p>
            <a:r>
              <a:rPr lang="en-US" dirty="0"/>
              <a:t>The selection sort moves each item only once to its final position </a:t>
            </a:r>
          </a:p>
          <a:p>
            <a:pPr lvl="1"/>
            <a:r>
              <a:rPr lang="en-US" dirty="0"/>
              <a:t>Makes fewer exchanges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331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763688" y="3410332"/>
            <a:ext cx="56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0070C0"/>
                </a:solidFill>
              </a:rPr>
              <a:t>Insertion Sort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42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list is divided into two parts: sorted and unsorted </a:t>
            </a:r>
          </a:p>
          <a:p>
            <a:endParaRPr lang="en-US" dirty="0"/>
          </a:p>
          <a:p>
            <a:r>
              <a:rPr lang="en-US" dirty="0"/>
              <a:t>In each pass, the following steps are performed </a:t>
            </a:r>
          </a:p>
          <a:p>
            <a:pPr lvl="1"/>
            <a:r>
              <a:rPr lang="en-US" dirty="0"/>
              <a:t>First element of the unsorted part (i.e., sub-list) is picked up</a:t>
            </a:r>
          </a:p>
          <a:p>
            <a:pPr lvl="1"/>
            <a:r>
              <a:rPr lang="en-US" dirty="0"/>
              <a:t>Transferred to the sorted sub-list </a:t>
            </a:r>
          </a:p>
          <a:p>
            <a:pPr lvl="1"/>
            <a:r>
              <a:rPr lang="en-US" dirty="0"/>
              <a:t>Inserted at the appropriate place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A list of n elements will take at most n-1 passes to sort the data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231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– Example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5-Array Sorting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30</a:t>
            </a:fld>
            <a:endParaRPr lang="en-GB"/>
          </a:p>
        </p:txBody>
      </p:sp>
      <p:graphicFrame>
        <p:nvGraphicFramePr>
          <p:cNvPr id="6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673935"/>
              </p:ext>
            </p:extLst>
          </p:nvPr>
        </p:nvGraphicFramePr>
        <p:xfrm>
          <a:off x="738496" y="1640160"/>
          <a:ext cx="5670936" cy="5029200"/>
        </p:xfrm>
        <a:graphic>
          <a:graphicData uri="http://schemas.openxmlformats.org/drawingml/2006/table">
            <a:tbl>
              <a:tblPr/>
              <a:tblGrid>
                <a:gridCol w="9451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451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0833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819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4515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4515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25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23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78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56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5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5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1524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78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56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5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5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1524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78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56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25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5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1524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78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56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25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25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1524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78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56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25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240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25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1524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56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78</a:t>
                      </a:r>
                    </a:p>
                  </a:txBody>
                  <a:tcPr marL="1524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6648944" y="1700808"/>
            <a:ext cx="17145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+mn-lt"/>
                <a:cs typeface="Times New Roman" panose="02020603050405020304" pitchFamily="18" charset="0"/>
              </a:rPr>
              <a:t>Original Array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6733082" y="2617413"/>
            <a:ext cx="17145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+mn-lt"/>
              </a:rPr>
              <a:t>After pass 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dirty="0">
              <a:latin typeface="+mn-lt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6654984" y="3504729"/>
            <a:ext cx="17145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+mn-lt"/>
                <a:cs typeface="Times New Roman" panose="02020603050405020304" pitchFamily="18" charset="0"/>
              </a:rPr>
              <a:t>After pass 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6732588" y="4451071"/>
            <a:ext cx="17145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+mn-lt"/>
              </a:rPr>
              <a:t>After pass 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dirty="0">
              <a:latin typeface="+mn-lt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6732588" y="5397413"/>
            <a:ext cx="17145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+mn-lt"/>
              </a:rPr>
              <a:t>After pass 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dirty="0">
              <a:latin typeface="+mn-lt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6732588" y="6284729"/>
            <a:ext cx="17145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+mn-lt"/>
              </a:rPr>
              <a:t>After pass 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dirty="0">
              <a:latin typeface="+mn-lt"/>
            </a:endParaRP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419872" y="1207714"/>
            <a:ext cx="17145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+mn-lt"/>
                <a:cs typeface="Times New Roman" panose="02020603050405020304" pitchFamily="18" charset="0"/>
              </a:rPr>
              <a:t>Unsorted Array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467544" y="1166237"/>
            <a:ext cx="17145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+mn-lt"/>
                <a:cs typeface="Times New Roman" panose="02020603050405020304" pitchFamily="18" charset="0"/>
              </a:rPr>
              <a:t>Sorted Array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56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&lt;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class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Item&gt;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insertionSort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(Item a[], 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n) 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, j;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( 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= 1; 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&lt; n; 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++) {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    Item 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= a[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( j=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; j&gt;0 &amp;&amp; 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&lt; a[j-1]; j--){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a[j] = a[j-1];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    a[j] = 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41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vs. 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Insertion sort will perform less comparisons than selection sort, depending on the degree of "</a:t>
            </a:r>
            <a:r>
              <a:rPr lang="en-US" dirty="0" err="1"/>
              <a:t>sortedness</a:t>
            </a:r>
            <a:r>
              <a:rPr lang="en-US" dirty="0"/>
              <a:t>" of the array</a:t>
            </a:r>
          </a:p>
          <a:p>
            <a:pPr lvl="1"/>
            <a:r>
              <a:rPr lang="en-US" dirty="0"/>
              <a:t>Selection sort must scan the remaining unsorted part of the array when placing an element</a:t>
            </a:r>
          </a:p>
          <a:p>
            <a:pPr lvl="1"/>
            <a:r>
              <a:rPr lang="en-US" dirty="0"/>
              <a:t>Insertion sort only scans as many elements as necessary</a:t>
            </a:r>
          </a:p>
          <a:p>
            <a:pPr lvl="1"/>
            <a:r>
              <a:rPr lang="en-US" dirty="0"/>
              <a:t>When the array is already sorted or almost sorted, insertion sort performs in O(n) time</a:t>
            </a:r>
          </a:p>
          <a:p>
            <a:endParaRPr lang="en-US" dirty="0"/>
          </a:p>
          <a:p>
            <a:r>
              <a:rPr lang="en-US" dirty="0"/>
              <a:t>Number of swaps by Selection sort is in O(n), while in insertion sort it is in 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8-Array Sorting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859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Sorting Algorithms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33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31" y="1412776"/>
            <a:ext cx="8715969" cy="226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47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 So Far?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8-Array Sorting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34</a:t>
            </a:fld>
            <a:endParaRPr lang="en-GB"/>
          </a:p>
        </p:txBody>
      </p:sp>
      <p:pic>
        <p:nvPicPr>
          <p:cNvPr id="6" name="Picture 3" descr="MCj0384172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8725" y="1412875"/>
            <a:ext cx="3641725" cy="4679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186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Selection sort performs sorting by repeatedly putting the largest element in the unsorted portion of the array to the end of this unsorted portion until the whole array is sorted. </a:t>
            </a:r>
          </a:p>
          <a:p>
            <a:endParaRPr lang="en-US" dirty="0"/>
          </a:p>
          <a:p>
            <a:r>
              <a:rPr lang="en-US" dirty="0"/>
              <a:t>It is similar to the way that many people do their sorting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5-Array Sorting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077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3679</TotalTime>
  <Words>1845</Words>
  <Application>Microsoft Office PowerPoint</Application>
  <PresentationFormat>On-screen Show (4:3)</PresentationFormat>
  <Paragraphs>520</Paragraphs>
  <Slides>35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Tahoma</vt:lpstr>
      <vt:lpstr>ＭＳ Ｐゴシック</vt:lpstr>
      <vt:lpstr>Consolas</vt:lpstr>
      <vt:lpstr>Courier New</vt:lpstr>
      <vt:lpstr>Wingdings</vt:lpstr>
      <vt:lpstr>Times New Roman</vt:lpstr>
      <vt:lpstr>Default Design</vt:lpstr>
      <vt:lpstr>Data Structures</vt:lpstr>
      <vt:lpstr>Sorting</vt:lpstr>
      <vt:lpstr>Sorting</vt:lpstr>
      <vt:lpstr>Sorting – Example Applications</vt:lpstr>
      <vt:lpstr>Sorting Algorithms</vt:lpstr>
      <vt:lpstr>PowerPoint Presentation</vt:lpstr>
      <vt:lpstr>Idea: Bubbling Up the Largest Element</vt:lpstr>
      <vt:lpstr>Idea: Bubbling Up the Largest Element</vt:lpstr>
      <vt:lpstr>Idea: Bubbling Up the Largest Element</vt:lpstr>
      <vt:lpstr>Idea: Bubbling Up the Largest Element</vt:lpstr>
      <vt:lpstr>Idea: Bubbling Up the Largest Element</vt:lpstr>
      <vt:lpstr>Idea: Bubbling Up the Largest Element</vt:lpstr>
      <vt:lpstr>Idea: Bubbling Up the Largest Element</vt:lpstr>
      <vt:lpstr>Repeat “Bubble Up”</vt:lpstr>
      <vt:lpstr>How Many Times to Repeat “Bubble Up”</vt:lpstr>
      <vt:lpstr>“Bubbling” All the Elements</vt:lpstr>
      <vt:lpstr>Reducing Number of Comparisons</vt:lpstr>
      <vt:lpstr>Reducing Number of Comparisons</vt:lpstr>
      <vt:lpstr>Bubble Sort Algorithm</vt:lpstr>
      <vt:lpstr>Already Sorted Elements</vt:lpstr>
      <vt:lpstr>Using a Boolean Flag</vt:lpstr>
      <vt:lpstr>Bubble Sort Algorithm</vt:lpstr>
      <vt:lpstr>PowerPoint Presentation</vt:lpstr>
      <vt:lpstr>Selection Sort</vt:lpstr>
      <vt:lpstr>Selection Sort - Example</vt:lpstr>
      <vt:lpstr>Selection Sort Algorithm</vt:lpstr>
      <vt:lpstr>Selection Sort vs. Bubble Sort</vt:lpstr>
      <vt:lpstr>PowerPoint Presentation</vt:lpstr>
      <vt:lpstr>Insertion Sort</vt:lpstr>
      <vt:lpstr>Insertion Sort – Example </vt:lpstr>
      <vt:lpstr>Insertion Sort Algorithm</vt:lpstr>
      <vt:lpstr>Selection Sort vs. Insertion Sort</vt:lpstr>
      <vt:lpstr>Comparison of Sorting Algorithms</vt:lpstr>
      <vt:lpstr>Any Question So Far?</vt:lpstr>
      <vt:lpstr>PowerPoint Presentation</vt:lpstr>
    </vt:vector>
  </TitlesOfParts>
  <Company>IPVS - Universität Stuttgart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der Betriebssysteme</dc:title>
  <dc:creator>koldehbs</dc:creator>
  <cp:lastModifiedBy>Microsoft account</cp:lastModifiedBy>
  <cp:revision>1178</cp:revision>
  <cp:lastPrinted>2013-10-17T07:59:38Z</cp:lastPrinted>
  <dcterms:created xsi:type="dcterms:W3CDTF">2007-03-29T10:37:57Z</dcterms:created>
  <dcterms:modified xsi:type="dcterms:W3CDTF">2024-09-04T09:24:13Z</dcterms:modified>
</cp:coreProperties>
</file>