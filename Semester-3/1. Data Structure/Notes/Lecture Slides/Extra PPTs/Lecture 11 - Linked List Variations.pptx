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5"/>
  </p:notesMasterIdLst>
  <p:sldIdLst>
    <p:sldId id="256" r:id="rId2"/>
    <p:sldId id="548" r:id="rId3"/>
    <p:sldId id="610" r:id="rId4"/>
    <p:sldId id="611" r:id="rId5"/>
    <p:sldId id="637" r:id="rId6"/>
    <p:sldId id="612" r:id="rId7"/>
    <p:sldId id="638" r:id="rId8"/>
    <p:sldId id="639" r:id="rId9"/>
    <p:sldId id="614" r:id="rId10"/>
    <p:sldId id="574" r:id="rId11"/>
    <p:sldId id="616" r:id="rId12"/>
    <p:sldId id="615" r:id="rId13"/>
    <p:sldId id="617" r:id="rId14"/>
    <p:sldId id="618" r:id="rId15"/>
    <p:sldId id="619" r:id="rId16"/>
    <p:sldId id="620" r:id="rId17"/>
    <p:sldId id="621" r:id="rId18"/>
    <p:sldId id="622" r:id="rId19"/>
    <p:sldId id="623" r:id="rId20"/>
    <p:sldId id="624" r:id="rId21"/>
    <p:sldId id="625" r:id="rId22"/>
    <p:sldId id="626" r:id="rId23"/>
    <p:sldId id="627" r:id="rId24"/>
    <p:sldId id="628" r:id="rId25"/>
    <p:sldId id="629" r:id="rId26"/>
    <p:sldId id="630" r:id="rId27"/>
    <p:sldId id="631" r:id="rId28"/>
    <p:sldId id="633" r:id="rId29"/>
    <p:sldId id="632" r:id="rId30"/>
    <p:sldId id="634" r:id="rId31"/>
    <p:sldId id="635" r:id="rId32"/>
    <p:sldId id="520" r:id="rId33"/>
    <p:sldId id="640" r:id="rId34"/>
  </p:sldIdLst>
  <p:sldSz cx="9144000" cy="6858000" type="screen4x3"/>
  <p:notesSz cx="7099300" cy="10234613"/>
  <p:embeddedFontLst>
    <p:embeddedFont>
      <p:font typeface="Consolas" panose="020B0609020204030204" pitchFamily="49" charset="0"/>
      <p:regular r:id="rId36"/>
      <p:bold r:id="rId37"/>
      <p:italic r:id="rId38"/>
      <p:boldItalic r:id="rId39"/>
    </p:embeddedFont>
    <p:embeddedFont>
      <p:font typeface="Tahoma" panose="020B0604030504040204" pitchFamily="34" charset="0"/>
      <p:regular r:id="rId40"/>
      <p:bold r:id="rId41"/>
    </p:embeddedFont>
  </p:embeddedFontLst>
  <p:defaultTextStyle>
    <a:defPPr>
      <a:defRPr lang="en-GB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  <a:srgbClr val="003399"/>
    <a:srgbClr val="FF0066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39" autoAdjust="0"/>
    <p:restoredTop sz="93614" autoAdjust="0"/>
  </p:normalViewPr>
  <p:slideViewPr>
    <p:cSldViewPr>
      <p:cViewPr varScale="1">
        <p:scale>
          <a:sx n="103" d="100"/>
          <a:sy n="103" d="100"/>
        </p:scale>
        <p:origin x="1962" y="114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94" d="100"/>
          <a:sy n="94" d="100"/>
        </p:scale>
        <p:origin x="2652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20" Type="http://schemas.openxmlformats.org/officeDocument/2006/relationships/slide" Target="slides/slide19.xml"/><Relationship Id="rId41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GB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294" y="0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endParaRPr lang="en-GB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930" y="4861441"/>
            <a:ext cx="5679440" cy="4605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106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GB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294" y="9721106"/>
            <a:ext cx="3076363" cy="5117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6E307F30-E95D-4DC1-945B-D02103101FA8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181685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43B227E-7079-4B80-BA2E-DD57F6C58329}" type="slidenum">
              <a:rPr lang="en-GB"/>
              <a:pPr/>
              <a:t>1</a:t>
            </a:fld>
            <a:endParaRPr lang="en-GB"/>
          </a:p>
        </p:txBody>
      </p:sp>
      <p:sp>
        <p:nvSpPr>
          <p:cNvPr id="40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710290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4213" y="1844675"/>
            <a:ext cx="7772400" cy="1470025"/>
          </a:xfrm>
        </p:spPr>
        <p:txBody>
          <a:bodyPr/>
          <a:lstStyle>
            <a:lvl1pPr algn="ctr">
              <a:defRPr>
                <a:solidFill>
                  <a:srgbClr val="0070C0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03350" y="3716338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</p:spPr>
        <p:txBody>
          <a:bodyPr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GB" dirty="0"/>
              <a:t>11-Linked List Variations</a:t>
            </a:r>
          </a:p>
        </p:txBody>
      </p:sp>
      <p:sp>
        <p:nvSpPr>
          <p:cNvPr id="20485" name="Rectangle 5"/>
          <p:cNvSpPr>
            <a:spLocks noGrp="1" noChangeArrowheads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fld id="{930464EE-74C5-42DE-B41A-1E7939C181C3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20486" name="Line 6"/>
          <p:cNvSpPr>
            <a:spLocks noChangeShapeType="1"/>
          </p:cNvSpPr>
          <p:nvPr userDrawn="1"/>
        </p:nvSpPr>
        <p:spPr bwMode="auto">
          <a:xfrm>
            <a:off x="323850" y="3500438"/>
            <a:ext cx="86423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20487" name="Rectangle 7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</p:spPr>
        <p:txBody>
          <a:bodyPr/>
          <a:lstStyle>
            <a:lvl1pPr>
              <a:defRPr/>
            </a:lvl1pPr>
          </a:lstStyle>
          <a:p>
            <a:endParaRPr lang="en-GB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  <p15:guide id="2" pos="29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8496944" cy="77787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50" y="1124744"/>
            <a:ext cx="8496300" cy="5112568"/>
          </a:xfrm>
        </p:spPr>
        <p:txBody>
          <a:bodyPr/>
          <a:lstStyle>
            <a:lvl1pPr>
              <a:defRPr sz="2100"/>
            </a:lvl1pPr>
            <a:lvl2pPr>
              <a:defRPr sz="1900"/>
            </a:lvl2pPr>
            <a:lvl3pPr>
              <a:defRPr sz="1700"/>
            </a:lvl3pPr>
            <a:lvl5pPr>
              <a:defRPr sz="15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3062088" y="6381750"/>
            <a:ext cx="3024188" cy="476250"/>
          </a:xfrm>
        </p:spPr>
        <p:txBody>
          <a:bodyPr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GB" dirty="0"/>
              <a:t>11-Linked List Variations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63C8D6E8-E2D4-466A-B54E-56FCD6F950CE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3059832" y="6381750"/>
            <a:ext cx="3024188" cy="476250"/>
          </a:xfrm>
        </p:spPr>
        <p:txBody>
          <a:bodyPr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GB" dirty="0"/>
              <a:t>11-Linked List Variations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93227E4-7A49-48B5-9005-D3E138ABBA16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8496944" cy="77787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23850" y="1124744"/>
            <a:ext cx="4171950" cy="5001419"/>
          </a:xfrm>
        </p:spPr>
        <p:txBody>
          <a:bodyPr/>
          <a:lstStyle>
            <a:lvl1pPr>
              <a:defRPr sz="2100"/>
            </a:lvl1pPr>
            <a:lvl2pPr>
              <a:defRPr sz="1900"/>
            </a:lvl2pPr>
            <a:lvl3pPr>
              <a:defRPr sz="1700"/>
            </a:lvl3pPr>
            <a:lvl4pPr>
              <a:defRPr sz="1600"/>
            </a:lvl4pPr>
            <a:lvl5pPr>
              <a:defRPr sz="15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24744"/>
            <a:ext cx="4171950" cy="5001419"/>
          </a:xfrm>
        </p:spPr>
        <p:txBody>
          <a:bodyPr/>
          <a:lstStyle>
            <a:lvl1pPr>
              <a:defRPr sz="2100"/>
            </a:lvl1pPr>
            <a:lvl2pPr>
              <a:defRPr sz="1900"/>
            </a:lvl2pPr>
            <a:lvl3pPr>
              <a:defRPr sz="1700"/>
            </a:lvl3pPr>
            <a:lvl4pPr>
              <a:defRPr sz="1600"/>
            </a:lvl4pPr>
            <a:lvl5pPr>
              <a:defRPr sz="15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3059832" y="6381750"/>
            <a:ext cx="3024188" cy="476250"/>
          </a:xfrm>
        </p:spPr>
        <p:txBody>
          <a:bodyPr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GB" dirty="0"/>
              <a:t>11-Linked List Variations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24D7F138-CABA-494C-B139-3348C3F117E5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8494776" cy="1143000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100"/>
            </a:lvl1pPr>
            <a:lvl2pPr>
              <a:defRPr sz="1900"/>
            </a:lvl2pPr>
            <a:lvl3pPr>
              <a:defRPr sz="1700"/>
            </a:lvl3pPr>
            <a:lvl4pPr>
              <a:defRPr sz="1600"/>
            </a:lvl4pPr>
            <a:lvl5pPr>
              <a:defRPr sz="15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100"/>
            </a:lvl1pPr>
            <a:lvl2pPr>
              <a:defRPr sz="1900"/>
            </a:lvl2pPr>
            <a:lvl3pPr>
              <a:defRPr sz="1700"/>
            </a:lvl3pPr>
            <a:lvl4pPr>
              <a:defRPr sz="1600"/>
            </a:lvl4pPr>
            <a:lvl5pPr>
              <a:defRPr sz="15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>
          <a:xfrm>
            <a:off x="3059832" y="6381750"/>
            <a:ext cx="3024188" cy="476250"/>
          </a:xfrm>
        </p:spPr>
        <p:txBody>
          <a:bodyPr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GB" dirty="0"/>
              <a:t>11-Linked List Variations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AA79DA3-BF4E-40A8-8F6E-F5109A9F2DA7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8496944" cy="77787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3059832" y="6381750"/>
            <a:ext cx="3024188" cy="476250"/>
          </a:xfrm>
        </p:spPr>
        <p:txBody>
          <a:bodyPr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GB" dirty="0"/>
              <a:t>11-Linked List Variations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E65293E3-F4F3-4363-BC2F-E6A2CD940E4C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3059832" y="6381750"/>
            <a:ext cx="3024188" cy="476250"/>
          </a:xfrm>
        </p:spPr>
        <p:txBody>
          <a:bodyPr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GB" dirty="0"/>
              <a:t>11-Linked List Variations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EFD2D0C-D78B-4496-B32C-58738062D587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3059832" y="6381750"/>
            <a:ext cx="3024188" cy="476250"/>
          </a:xfrm>
        </p:spPr>
        <p:txBody>
          <a:bodyPr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GB" dirty="0"/>
              <a:t>11-Linked List Variations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1703EBF0-A890-4352-8C84-0E2FE7968D9C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3059832" y="6381750"/>
            <a:ext cx="3024188" cy="476250"/>
          </a:xfrm>
        </p:spPr>
        <p:txBody>
          <a:bodyPr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GB" dirty="0"/>
              <a:t>11-Linked List Variations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6CAE48C-F1F9-47E0-96BC-AD3F31B5CC07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88640"/>
            <a:ext cx="8494776" cy="777875"/>
          </a:xfr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 sz="2100"/>
            </a:lvl1pPr>
            <a:lvl2pPr>
              <a:defRPr sz="1900"/>
            </a:lvl2pPr>
            <a:lvl3pPr>
              <a:defRPr sz="1700"/>
            </a:lvl3pPr>
            <a:lvl4pPr>
              <a:defRPr sz="1600"/>
            </a:lvl4pPr>
            <a:lvl5pPr>
              <a:defRPr sz="15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3059832" y="6381750"/>
            <a:ext cx="3024188" cy="476250"/>
          </a:xfrm>
        </p:spPr>
        <p:txBody>
          <a:bodyPr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GB" dirty="0"/>
              <a:t>11-Linked List Variations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01CE2B5B-3ECC-4073-85E0-5A38BE95B70D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 dirty="0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96075" y="274638"/>
            <a:ext cx="2124075" cy="5851525"/>
          </a:xfrm>
        </p:spPr>
        <p:txBody>
          <a:bodyPr vert="eaVert"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23850" y="274638"/>
            <a:ext cx="6219825" cy="5851525"/>
          </a:xfrm>
        </p:spPr>
        <p:txBody>
          <a:bodyPr vert="eaVert"/>
          <a:lstStyle>
            <a:lvl1pPr>
              <a:defRPr sz="2100"/>
            </a:lvl1pPr>
            <a:lvl2pPr>
              <a:defRPr sz="1900"/>
            </a:lvl2pPr>
            <a:lvl3pPr>
              <a:defRPr sz="1700"/>
            </a:lvl3pPr>
            <a:lvl5pPr>
              <a:defRPr sz="15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>
          <a:xfrm>
            <a:off x="3066920" y="6381750"/>
            <a:ext cx="3024188" cy="476250"/>
          </a:xfrm>
        </p:spPr>
        <p:txBody>
          <a:bodyPr/>
          <a:lstStyle>
            <a:lvl1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lvl1pPr>
          </a:lstStyle>
          <a:p>
            <a:r>
              <a:rPr lang="en-GB" dirty="0"/>
              <a:t>11-Linked List Variations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FC10656-B5F6-4C2B-B258-D0013A6A1799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endParaRPr lang="en-GB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32237" y="188640"/>
            <a:ext cx="8494776" cy="7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3850" y="1124744"/>
            <a:ext cx="8496300" cy="51125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59832" y="6381750"/>
            <a:ext cx="3024188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r>
              <a:rPr lang="en-GB" dirty="0"/>
              <a:t>11-Linked List Variations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32588" y="63817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3C9CEF86-67DF-4174-BD01-46D228FA3D60}" type="slidenum">
              <a:rPr lang="en-GB"/>
              <a:pPr/>
              <a:t>‹#›</a:t>
            </a:fld>
            <a:endParaRPr lang="en-GB"/>
          </a:p>
        </p:txBody>
      </p:sp>
      <p:sp>
        <p:nvSpPr>
          <p:cNvPr id="1031" name="Line 7"/>
          <p:cNvSpPr>
            <a:spLocks noChangeShapeType="1"/>
          </p:cNvSpPr>
          <p:nvPr userDrawn="1"/>
        </p:nvSpPr>
        <p:spPr bwMode="auto">
          <a:xfrm>
            <a:off x="250825" y="1052736"/>
            <a:ext cx="86423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endParaRPr lang="en-US"/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68313" y="6381750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GB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rtl="0" fontAlgn="base">
        <a:spcBef>
          <a:spcPct val="0"/>
        </a:spcBef>
        <a:spcAft>
          <a:spcPct val="0"/>
        </a:spcAft>
        <a:defRPr sz="2800">
          <a:solidFill>
            <a:srgbClr val="0070C0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2800">
          <a:solidFill>
            <a:srgbClr val="0033CC"/>
          </a:solidFill>
          <a:latin typeface="Tahoma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2800">
          <a:solidFill>
            <a:srgbClr val="0033CC"/>
          </a:solidFill>
          <a:latin typeface="Tahoma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2800">
          <a:solidFill>
            <a:srgbClr val="0033CC"/>
          </a:solidFill>
          <a:latin typeface="Tahoma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2800">
          <a:solidFill>
            <a:srgbClr val="0033CC"/>
          </a:solidFill>
          <a:latin typeface="Tahoma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>
          <a:solidFill>
            <a:srgbClr val="0033CC"/>
          </a:solidFill>
          <a:latin typeface="Tahoma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>
          <a:solidFill>
            <a:srgbClr val="0033CC"/>
          </a:solidFill>
          <a:latin typeface="Tahoma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>
          <a:solidFill>
            <a:srgbClr val="0033CC"/>
          </a:solidFill>
          <a:latin typeface="Tahoma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>
          <a:solidFill>
            <a:srgbClr val="0033CC"/>
          </a:solidFill>
          <a:latin typeface="Tahoma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1"/>
        </a:buClr>
        <a:buChar char="•"/>
        <a:defRPr sz="21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Font typeface="Tahoma" pitchFamily="34" charset="0"/>
        <a:buChar char="–"/>
        <a:defRPr sz="19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Ø"/>
        <a:defRPr sz="17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Tahoma" pitchFamily="34" charset="0"/>
        <a:buChar char="»"/>
        <a:defRPr sz="16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v"/>
        <a:defRPr sz="15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v"/>
        <a:defRPr sz="16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v"/>
        <a:defRPr sz="16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v"/>
        <a:defRPr sz="16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Font typeface="Wingdings" pitchFamily="2" charset="2"/>
        <a:buChar char="v"/>
        <a:defRPr sz="1600">
          <a:solidFill>
            <a:schemeClr val="tx1"/>
          </a:solidFill>
          <a:latin typeface="+mn-lt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dirty="0"/>
              <a:t>11-Linked List Variations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0464EE-74C5-42DE-B41A-1E7939C181C3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Data Structures</a:t>
            </a:r>
            <a:endParaRPr lang="en-US" sz="2100" dirty="0">
              <a:solidFill>
                <a:schemeClr val="tx1"/>
              </a:solidFill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b="1" dirty="0"/>
              <a:t>11. Linked List Variations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List as an ADT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An array-based implementation of lists</a:t>
            </a:r>
          </a:p>
          <a:p>
            <a:endParaRPr lang="en-US" dirty="0"/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Introduction to linked lists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A pointer-based implementation in C++</a:t>
            </a:r>
          </a:p>
          <a:p>
            <a:r>
              <a:rPr lang="en-US" dirty="0"/>
              <a:t>Variations of linked lists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11-Linked List Variations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08343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– Advantages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Access any item as long as external link to first item maintained</a:t>
            </a:r>
          </a:p>
          <a:p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Insert</a:t>
            </a:r>
            <a:r>
              <a:rPr lang="en-US" dirty="0"/>
              <a:t> new item </a:t>
            </a:r>
            <a:r>
              <a:rPr lang="en-US" dirty="0">
                <a:solidFill>
                  <a:srgbClr val="0070C0"/>
                </a:solidFill>
              </a:rPr>
              <a:t>without shifting</a:t>
            </a:r>
          </a:p>
          <a:p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Delete</a:t>
            </a:r>
            <a:r>
              <a:rPr lang="en-US" dirty="0"/>
              <a:t> existing item </a:t>
            </a:r>
            <a:r>
              <a:rPr lang="en-US" dirty="0">
                <a:solidFill>
                  <a:srgbClr val="0070C0"/>
                </a:solidFill>
              </a:rPr>
              <a:t>without shifting</a:t>
            </a:r>
          </a:p>
          <a:p>
            <a:endParaRPr lang="en-US" dirty="0"/>
          </a:p>
          <a:p>
            <a:r>
              <a:rPr lang="en-US" dirty="0"/>
              <a:t>Can </a:t>
            </a:r>
            <a:r>
              <a:rPr lang="en-US" dirty="0">
                <a:solidFill>
                  <a:srgbClr val="0070C0"/>
                </a:solidFill>
              </a:rPr>
              <a:t>expand/contract</a:t>
            </a:r>
            <a:r>
              <a:rPr lang="en-US" dirty="0"/>
              <a:t> (flexible) as necessary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11-Linked List Variations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16197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– Disadvantages (1)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Overhead of links </a:t>
            </a:r>
          </a:p>
          <a:p>
            <a:pPr lvl="1"/>
            <a:r>
              <a:rPr lang="en-US" dirty="0"/>
              <a:t>Used only internally, pure overhead</a:t>
            </a:r>
          </a:p>
          <a:p>
            <a:pPr lvl="3"/>
            <a:endParaRPr lang="en-US" dirty="0"/>
          </a:p>
          <a:p>
            <a:r>
              <a:rPr lang="en-US" dirty="0"/>
              <a:t>If dynamic, must provide </a:t>
            </a:r>
          </a:p>
          <a:p>
            <a:pPr lvl="1"/>
            <a:r>
              <a:rPr lang="en-US" dirty="0"/>
              <a:t>Destructor</a:t>
            </a:r>
          </a:p>
          <a:p>
            <a:pPr lvl="1"/>
            <a:r>
              <a:rPr lang="en-US" dirty="0"/>
              <a:t>Copy constructor</a:t>
            </a:r>
          </a:p>
          <a:p>
            <a:pPr lvl="1"/>
            <a:r>
              <a:rPr lang="en-US" dirty="0"/>
              <a:t>Assignment operator</a:t>
            </a:r>
          </a:p>
          <a:p>
            <a:pPr lvl="3"/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No </a:t>
            </a:r>
            <a:r>
              <a:rPr lang="en-US" dirty="0"/>
              <a:t>longer have </a:t>
            </a:r>
            <a:r>
              <a:rPr lang="en-US" dirty="0">
                <a:solidFill>
                  <a:srgbClr val="0070C0"/>
                </a:solidFill>
              </a:rPr>
              <a:t>direct access</a:t>
            </a:r>
            <a:r>
              <a:rPr lang="en-US" dirty="0"/>
              <a:t> to each element of the list</a:t>
            </a:r>
          </a:p>
          <a:p>
            <a:pPr lvl="1"/>
            <a:r>
              <a:rPr lang="en-US" dirty="0"/>
              <a:t>Many sorting algorithms need direct access</a:t>
            </a:r>
          </a:p>
          <a:p>
            <a:pPr lvl="1"/>
            <a:r>
              <a:rPr lang="en-US" dirty="0"/>
              <a:t>Binary search needs direct access</a:t>
            </a:r>
          </a:p>
          <a:p>
            <a:pPr lvl="3"/>
            <a:endParaRPr lang="en-US" dirty="0"/>
          </a:p>
          <a:p>
            <a:r>
              <a:rPr lang="en-US" dirty="0">
                <a:solidFill>
                  <a:srgbClr val="0070C0"/>
                </a:solidFill>
              </a:rPr>
              <a:t>Access</a:t>
            </a:r>
            <a:r>
              <a:rPr lang="en-US" dirty="0"/>
              <a:t> of n</a:t>
            </a:r>
            <a:r>
              <a:rPr lang="en-US" baseline="30000" dirty="0"/>
              <a:t>th</a:t>
            </a:r>
            <a:r>
              <a:rPr lang="en-US" dirty="0"/>
              <a:t> item now </a:t>
            </a:r>
            <a:r>
              <a:rPr lang="en-US" dirty="0">
                <a:solidFill>
                  <a:srgbClr val="0070C0"/>
                </a:solidFill>
              </a:rPr>
              <a:t>less efficient </a:t>
            </a:r>
          </a:p>
          <a:p>
            <a:pPr lvl="1"/>
            <a:r>
              <a:rPr lang="en-US" dirty="0"/>
              <a:t>Must go through first element, then second, and then third, etc.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11-Linked List Variations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8380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– Disadvantages (2)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50" y="1124744"/>
            <a:ext cx="8496300" cy="1224136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List-processing algorithms </a:t>
            </a:r>
            <a:r>
              <a:rPr lang="en-US" dirty="0"/>
              <a:t>that require </a:t>
            </a:r>
            <a:r>
              <a:rPr lang="en-US" dirty="0">
                <a:solidFill>
                  <a:srgbClr val="0070C0"/>
                </a:solidFill>
              </a:rPr>
              <a:t>fast access to each element cannot be done as efficiently </a:t>
            </a:r>
            <a:r>
              <a:rPr lang="en-US" dirty="0"/>
              <a:t>with linked lists</a:t>
            </a:r>
          </a:p>
          <a:p>
            <a:r>
              <a:rPr lang="en-US" dirty="0"/>
              <a:t>Consider adding an element at the end of the list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11-Linked List Variations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5</a:t>
            </a:fld>
            <a:endParaRPr lang="en-GB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6102212"/>
              </p:ext>
            </p:extLst>
          </p:nvPr>
        </p:nvGraphicFramePr>
        <p:xfrm>
          <a:off x="467544" y="2520791"/>
          <a:ext cx="7992888" cy="741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9964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964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Array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Linked List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a[size++] = value;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3200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– Disadvantages (3)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50" y="1124744"/>
            <a:ext cx="8496300" cy="1224136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List-processing algorithms </a:t>
            </a:r>
            <a:r>
              <a:rPr lang="en-US" dirty="0"/>
              <a:t>that require </a:t>
            </a:r>
            <a:r>
              <a:rPr lang="en-US" dirty="0">
                <a:solidFill>
                  <a:srgbClr val="0070C0"/>
                </a:solidFill>
              </a:rPr>
              <a:t>fast access to each element cannot be done as efficiently </a:t>
            </a:r>
            <a:r>
              <a:rPr lang="en-US" dirty="0"/>
              <a:t>with linked lists</a:t>
            </a:r>
          </a:p>
          <a:p>
            <a:r>
              <a:rPr lang="en-US" dirty="0"/>
              <a:t>Consider adding an element at the end of the list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11-Linked List Variations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6</a:t>
            </a:fld>
            <a:endParaRPr lang="en-GB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6199380"/>
              </p:ext>
            </p:extLst>
          </p:nvPr>
        </p:nvGraphicFramePr>
        <p:xfrm>
          <a:off x="467544" y="2520791"/>
          <a:ext cx="7992888" cy="139496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9964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964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Array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Linked List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a[size++] = value;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ea typeface="ＭＳ Ｐゴシック" charset="0"/>
                        </a:rPr>
                        <a:t>Get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</a:rPr>
                        <a:t> a new node;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ea typeface="ＭＳ Ｐゴシック" charset="0"/>
                        </a:rPr>
                        <a:t>Set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ea typeface="ＭＳ Ｐゴシック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</a:rPr>
                        <a:t>data part = value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</a:rPr>
                        <a:t>      next part = </a:t>
                      </a:r>
                      <a:r>
                        <a:rPr kumimoji="0" lang="en-US" sz="1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</a:rPr>
                        <a:t>null_value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40274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– Disadvantages (4)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50" y="1124744"/>
            <a:ext cx="8496300" cy="1224136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List-processing algorithms </a:t>
            </a:r>
            <a:r>
              <a:rPr lang="en-US" dirty="0"/>
              <a:t>that require </a:t>
            </a:r>
            <a:r>
              <a:rPr lang="en-US" dirty="0">
                <a:solidFill>
                  <a:srgbClr val="0070C0"/>
                </a:solidFill>
              </a:rPr>
              <a:t>fast access to each element cannot be done as efficiently </a:t>
            </a:r>
            <a:r>
              <a:rPr lang="en-US" dirty="0"/>
              <a:t>with linked lists</a:t>
            </a:r>
          </a:p>
          <a:p>
            <a:r>
              <a:rPr lang="en-US" dirty="0"/>
              <a:t>Consider adding an element at the end of the list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11-Linked List Variations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7</a:t>
            </a:fld>
            <a:endParaRPr lang="en-GB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9649644"/>
              </p:ext>
            </p:extLst>
          </p:nvPr>
        </p:nvGraphicFramePr>
        <p:xfrm>
          <a:off x="467544" y="2520791"/>
          <a:ext cx="7992888" cy="205333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9964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964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Array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Linked List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a[size++] = value;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ea typeface="ＭＳ Ｐゴシック" charset="0"/>
                        </a:rPr>
                        <a:t>Get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</a:rPr>
                        <a:t> a new node;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ea typeface="ＭＳ Ｐゴシック" charset="0"/>
                        </a:rPr>
                        <a:t>Set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ea typeface="ＭＳ Ｐゴシック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</a:rPr>
                        <a:t>data part = value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</a:rPr>
                        <a:t>      next part = </a:t>
                      </a:r>
                      <a:r>
                        <a:rPr kumimoji="0" lang="en-US" sz="1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</a:rPr>
                        <a:t>null_value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ea typeface="ＭＳ Ｐゴシック" charset="0"/>
                        </a:rPr>
                        <a:t>If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</a:rPr>
                        <a:t> list is empty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</a:rPr>
                        <a:t>   Set head to point to new node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3282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– Disadvantages (5)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50" y="1124744"/>
            <a:ext cx="8496300" cy="1224136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List-processing algorithms </a:t>
            </a:r>
            <a:r>
              <a:rPr lang="en-US" dirty="0"/>
              <a:t>that require </a:t>
            </a:r>
            <a:r>
              <a:rPr lang="en-US" dirty="0">
                <a:solidFill>
                  <a:srgbClr val="0070C0"/>
                </a:solidFill>
              </a:rPr>
              <a:t>fast access to each element cannot be done as efficiently </a:t>
            </a:r>
            <a:r>
              <a:rPr lang="en-US" dirty="0"/>
              <a:t>with linked lists</a:t>
            </a:r>
          </a:p>
          <a:p>
            <a:r>
              <a:rPr lang="en-US" dirty="0"/>
              <a:t>Consider adding an element at the end of the list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11-Linked List Variations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8</a:t>
            </a:fld>
            <a:endParaRPr lang="en-GB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5654496"/>
              </p:ext>
            </p:extLst>
          </p:nvPr>
        </p:nvGraphicFramePr>
        <p:xfrm>
          <a:off x="467544" y="2520791"/>
          <a:ext cx="7992888" cy="364439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9964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964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Array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Linked List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70C0"/>
                          </a:solidFill>
                          <a:latin typeface="Consolas" panose="020B0609020204030204" pitchFamily="49" charset="0"/>
                          <a:cs typeface="Courier New" panose="02070309020205020404" pitchFamily="49" charset="0"/>
                        </a:rPr>
                        <a:t>a[size++] = value;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ea typeface="ＭＳ Ｐゴシック" charset="0"/>
                        </a:rPr>
                        <a:t>Get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</a:rPr>
                        <a:t> a new node;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ea typeface="ＭＳ Ｐゴシック" charset="0"/>
                        </a:rPr>
                        <a:t>Set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ea typeface="ＭＳ Ｐゴシック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</a:rPr>
                        <a:t>data part = value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</a:rPr>
                        <a:t>      next part = </a:t>
                      </a:r>
                      <a:r>
                        <a:rPr kumimoji="0" lang="en-US" sz="1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</a:rPr>
                        <a:t>null_value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ea typeface="ＭＳ Ｐゴシック" charset="0"/>
                        </a:rPr>
                        <a:t>If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</a:rPr>
                        <a:t> list is empty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</a:rPr>
                        <a:t>   Set head to point to new node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ea typeface="ＭＳ Ｐゴシック" charset="0"/>
                        </a:rPr>
                        <a:t>Else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</a:rPr>
                        <a:t>   Traverse list to find last node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</a:rPr>
                        <a:t>   Set next part of last node to point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</a:rPr>
                        <a:t>   to new node</a:t>
                      </a:r>
                    </a:p>
                    <a:p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7" name="Group 15"/>
          <p:cNvGrpSpPr>
            <a:grpSpLocks/>
          </p:cNvGrpSpPr>
          <p:nvPr/>
        </p:nvGrpSpPr>
        <p:grpSpPr bwMode="auto">
          <a:xfrm>
            <a:off x="755576" y="4869160"/>
            <a:ext cx="3998913" cy="839788"/>
            <a:chOff x="448" y="3332"/>
            <a:chExt cx="2519" cy="529"/>
          </a:xfrm>
        </p:grpSpPr>
        <p:sp>
          <p:nvSpPr>
            <p:cNvPr id="8" name="Oval 16"/>
            <p:cNvSpPr>
              <a:spLocks noChangeArrowheads="1"/>
            </p:cNvSpPr>
            <p:nvPr/>
          </p:nvSpPr>
          <p:spPr bwMode="auto">
            <a:xfrm>
              <a:off x="2803" y="3332"/>
              <a:ext cx="164" cy="3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fr-FR" sz="1600">
                <a:latin typeface="+mn-lt"/>
                <a:ea typeface="ＭＳ Ｐゴシック" charset="0"/>
              </a:endParaRPr>
            </a:p>
          </p:txBody>
        </p:sp>
        <p:sp>
          <p:nvSpPr>
            <p:cNvPr id="9" name="Text Box 17"/>
            <p:cNvSpPr txBox="1">
              <a:spLocks noChangeArrowheads="1"/>
            </p:cNvSpPr>
            <p:nvPr/>
          </p:nvSpPr>
          <p:spPr bwMode="auto">
            <a:xfrm>
              <a:off x="448" y="3648"/>
              <a:ext cx="1769" cy="21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63500" dist="107763" dir="2700000" algn="ctr" rotWithShape="0">
                <a:schemeClr val="bg2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sz="1600" dirty="0">
                  <a:latin typeface="+mn-lt"/>
                  <a:ea typeface="ＭＳ Ｐゴシック" charset="0"/>
                </a:rPr>
                <a:t>This is the inefficient part</a:t>
              </a:r>
            </a:p>
          </p:txBody>
        </p:sp>
        <p:sp>
          <p:nvSpPr>
            <p:cNvPr id="10" name="Line 18"/>
            <p:cNvSpPr>
              <a:spLocks noChangeShapeType="1"/>
            </p:cNvSpPr>
            <p:nvPr/>
          </p:nvSpPr>
          <p:spPr bwMode="auto">
            <a:xfrm flipV="1">
              <a:off x="2217" y="3469"/>
              <a:ext cx="586" cy="2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defRPr/>
              </a:pPr>
              <a:endParaRPr lang="fr-FR" sz="1600">
                <a:latin typeface="+mn-lt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78981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50" y="1124744"/>
            <a:ext cx="8496300" cy="3960440"/>
          </a:xfrm>
        </p:spPr>
        <p:txBody>
          <a:bodyPr/>
          <a:lstStyle/>
          <a:p>
            <a:r>
              <a:rPr lang="en-US" dirty="0"/>
              <a:t>Applications that maintain a Most Recently Used (MRU) list</a:t>
            </a:r>
          </a:p>
          <a:p>
            <a:pPr lvl="1"/>
            <a:r>
              <a:rPr lang="en-US" dirty="0"/>
              <a:t>For example, a linked list of file names</a:t>
            </a:r>
          </a:p>
          <a:p>
            <a:endParaRPr lang="en-US" dirty="0"/>
          </a:p>
          <a:p>
            <a:r>
              <a:rPr lang="en-US" dirty="0"/>
              <a:t>Cache in the browser that allows to hit the BACK button </a:t>
            </a:r>
          </a:p>
          <a:p>
            <a:pPr lvl="1"/>
            <a:r>
              <a:rPr lang="en-US" dirty="0"/>
              <a:t>A linked list of URLs</a:t>
            </a:r>
          </a:p>
          <a:p>
            <a:endParaRPr lang="en-US" dirty="0"/>
          </a:p>
          <a:p>
            <a:r>
              <a:rPr lang="en-US" dirty="0"/>
              <a:t>Undo functionality in Photoshop or Word </a:t>
            </a:r>
          </a:p>
          <a:p>
            <a:pPr lvl="1"/>
            <a:r>
              <a:rPr lang="en-US" dirty="0"/>
              <a:t> A linked list of state</a:t>
            </a:r>
          </a:p>
          <a:p>
            <a:endParaRPr lang="en-US" dirty="0"/>
          </a:p>
          <a:p>
            <a:r>
              <a:rPr lang="en-US" dirty="0"/>
              <a:t>A list in the GPS of the turns along your route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11-Linked List Variations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9</a:t>
            </a:fld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899592" y="5364135"/>
            <a:ext cx="6984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0070C0"/>
                </a:solidFill>
              </a:rPr>
              <a:t>Can we traverse the linked list in the reverse direction!</a:t>
            </a:r>
          </a:p>
        </p:txBody>
      </p:sp>
    </p:spTree>
    <p:extLst>
      <p:ext uri="{BB962C8B-B14F-4D97-AF65-F5344CB8AC3E}">
        <p14:creationId xmlns:p14="http://schemas.microsoft.com/office/powerpoint/2010/main" val="30477077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11-Linked List Variations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10</a:t>
            </a:fld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1043608" y="3284984"/>
            <a:ext cx="6840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dirty="0">
                <a:solidFill>
                  <a:srgbClr val="0070C0"/>
                </a:solidFill>
              </a:rPr>
              <a:t>Doubly Linked List</a:t>
            </a:r>
            <a:endParaRPr lang="en-US" sz="2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9009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Doubly Linked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50" y="1124744"/>
            <a:ext cx="8496300" cy="1296144"/>
          </a:xfrm>
        </p:spPr>
        <p:txBody>
          <a:bodyPr/>
          <a:lstStyle/>
          <a:p>
            <a:r>
              <a:rPr lang="en-US" dirty="0"/>
              <a:t>Every node contains the </a:t>
            </a:r>
            <a:r>
              <a:rPr lang="en-US" dirty="0">
                <a:solidFill>
                  <a:srgbClr val="0070C0"/>
                </a:solidFill>
              </a:rPr>
              <a:t>address of the previous node </a:t>
            </a:r>
            <a:r>
              <a:rPr lang="en-US" dirty="0"/>
              <a:t>except the first node</a:t>
            </a:r>
          </a:p>
          <a:p>
            <a:pPr lvl="1"/>
            <a:r>
              <a:rPr lang="en-US" dirty="0"/>
              <a:t>Both forward and backward traversal of the list is possible</a:t>
            </a:r>
          </a:p>
          <a:p>
            <a:endParaRPr lang="en-US" dirty="0">
              <a:solidFill>
                <a:srgbClr val="0070C0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11-Linked List Variations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11</a:t>
            </a:fld>
            <a:endParaRPr lang="en-GB"/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1057076" y="3318079"/>
            <a:ext cx="10668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/>
          <a:lstStyle/>
          <a:p>
            <a:pPr algn="ctr"/>
            <a:endParaRPr lang="zh-CN" sz="2400">
              <a:latin typeface="+mn-lt"/>
              <a:ea typeface="SimSun" pitchFamily="2" charset="-122"/>
            </a:endParaRP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3038276" y="3318079"/>
            <a:ext cx="10668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/>
          <a:lstStyle/>
          <a:p>
            <a:pPr algn="ctr"/>
            <a:r>
              <a:rPr lang="en-US" altLang="zh-CN" sz="2400">
                <a:latin typeface="+mn-lt"/>
                <a:ea typeface="SimSun" pitchFamily="2" charset="-122"/>
              </a:rPr>
              <a:t>a</a:t>
            </a: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5019476" y="3318079"/>
            <a:ext cx="10668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/>
          <a:lstStyle/>
          <a:p>
            <a:pPr algn="ctr"/>
            <a:r>
              <a:rPr lang="en-US" altLang="zh-CN" sz="2400">
                <a:latin typeface="+mn-lt"/>
                <a:ea typeface="SimSun" pitchFamily="2" charset="-122"/>
              </a:rPr>
              <a:t>b</a:t>
            </a: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7000676" y="3318079"/>
            <a:ext cx="10668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/>
          <a:lstStyle/>
          <a:p>
            <a:pPr algn="ctr"/>
            <a:r>
              <a:rPr lang="en-US" altLang="zh-CN" sz="2400">
                <a:latin typeface="+mn-lt"/>
                <a:ea typeface="SimSun" pitchFamily="2" charset="-122"/>
              </a:rPr>
              <a:t>c</a:t>
            </a: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980876" y="4613479"/>
            <a:ext cx="990600" cy="461665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n-lt"/>
                <a:ea typeface="SimSun" pitchFamily="2" charset="-122"/>
              </a:rPr>
              <a:t>head</a:t>
            </a:r>
          </a:p>
        </p:txBody>
      </p:sp>
      <p:sp>
        <p:nvSpPr>
          <p:cNvPr id="12" name="Line 12"/>
          <p:cNvSpPr>
            <a:spLocks noChangeShapeType="1"/>
          </p:cNvSpPr>
          <p:nvPr/>
        </p:nvSpPr>
        <p:spPr bwMode="auto">
          <a:xfrm>
            <a:off x="1971476" y="3508579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3" name="Line 13"/>
          <p:cNvSpPr>
            <a:spLocks noChangeShapeType="1"/>
          </p:cNvSpPr>
          <p:nvPr/>
        </p:nvSpPr>
        <p:spPr bwMode="auto">
          <a:xfrm>
            <a:off x="3952676" y="3508579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4" name="Line 14"/>
          <p:cNvSpPr>
            <a:spLocks noChangeShapeType="1"/>
          </p:cNvSpPr>
          <p:nvPr/>
        </p:nvSpPr>
        <p:spPr bwMode="auto">
          <a:xfrm flipH="1" flipV="1">
            <a:off x="1057076" y="4080079"/>
            <a:ext cx="2286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5" name="Line 15"/>
          <p:cNvSpPr>
            <a:spLocks noChangeShapeType="1"/>
          </p:cNvSpPr>
          <p:nvPr/>
        </p:nvSpPr>
        <p:spPr bwMode="auto">
          <a:xfrm>
            <a:off x="5933876" y="3508579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6" name="Oval 16"/>
          <p:cNvSpPr>
            <a:spLocks noChangeAspect="1" noChangeArrowheads="1"/>
          </p:cNvSpPr>
          <p:nvPr/>
        </p:nvSpPr>
        <p:spPr bwMode="auto">
          <a:xfrm>
            <a:off x="7838876" y="3470479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endParaRPr lang="zh-CN" altLang="en-US">
              <a:latin typeface="+mn-lt"/>
              <a:ea typeface="SimSun" pitchFamily="2" charset="-122"/>
            </a:endParaRPr>
          </a:p>
        </p:txBody>
      </p:sp>
      <p:grpSp>
        <p:nvGrpSpPr>
          <p:cNvPr id="17" name="Group 18"/>
          <p:cNvGrpSpPr>
            <a:grpSpLocks/>
          </p:cNvGrpSpPr>
          <p:nvPr/>
        </p:nvGrpSpPr>
        <p:grpSpPr bwMode="auto">
          <a:xfrm>
            <a:off x="1742876" y="3318079"/>
            <a:ext cx="381000" cy="381000"/>
            <a:chOff x="1104" y="1008"/>
            <a:chExt cx="240" cy="240"/>
          </a:xfrm>
        </p:grpSpPr>
        <p:sp>
          <p:nvSpPr>
            <p:cNvPr id="18" name="Line 4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9" name="Line 17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20" name="Group 19"/>
          <p:cNvGrpSpPr>
            <a:grpSpLocks/>
          </p:cNvGrpSpPr>
          <p:nvPr/>
        </p:nvGrpSpPr>
        <p:grpSpPr bwMode="auto">
          <a:xfrm>
            <a:off x="3724076" y="3318079"/>
            <a:ext cx="381000" cy="381000"/>
            <a:chOff x="1104" y="1008"/>
            <a:chExt cx="240" cy="240"/>
          </a:xfrm>
        </p:grpSpPr>
        <p:sp>
          <p:nvSpPr>
            <p:cNvPr id="21" name="Line 20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2" name="Line 21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23" name="Group 22"/>
          <p:cNvGrpSpPr>
            <a:grpSpLocks/>
          </p:cNvGrpSpPr>
          <p:nvPr/>
        </p:nvGrpSpPr>
        <p:grpSpPr bwMode="auto">
          <a:xfrm>
            <a:off x="5705276" y="3318079"/>
            <a:ext cx="381000" cy="381000"/>
            <a:chOff x="1104" y="1008"/>
            <a:chExt cx="240" cy="240"/>
          </a:xfrm>
        </p:grpSpPr>
        <p:sp>
          <p:nvSpPr>
            <p:cNvPr id="24" name="Line 23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5" name="Line 24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26" name="Group 25"/>
          <p:cNvGrpSpPr>
            <a:grpSpLocks/>
          </p:cNvGrpSpPr>
          <p:nvPr/>
        </p:nvGrpSpPr>
        <p:grpSpPr bwMode="auto">
          <a:xfrm>
            <a:off x="7686476" y="3318079"/>
            <a:ext cx="381000" cy="381000"/>
            <a:chOff x="1104" y="1008"/>
            <a:chExt cx="240" cy="240"/>
          </a:xfrm>
        </p:grpSpPr>
        <p:sp>
          <p:nvSpPr>
            <p:cNvPr id="27" name="Line 26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8" name="Line 27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29" name="Group 28"/>
          <p:cNvGrpSpPr>
            <a:grpSpLocks/>
          </p:cNvGrpSpPr>
          <p:nvPr/>
        </p:nvGrpSpPr>
        <p:grpSpPr bwMode="auto">
          <a:xfrm flipH="1" flipV="1">
            <a:off x="1057076" y="3699079"/>
            <a:ext cx="381000" cy="381000"/>
            <a:chOff x="1104" y="1008"/>
            <a:chExt cx="240" cy="240"/>
          </a:xfrm>
        </p:grpSpPr>
        <p:sp>
          <p:nvSpPr>
            <p:cNvPr id="30" name="Line 29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31" name="Line 30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32" name="Group 31"/>
          <p:cNvGrpSpPr>
            <a:grpSpLocks/>
          </p:cNvGrpSpPr>
          <p:nvPr/>
        </p:nvGrpSpPr>
        <p:grpSpPr bwMode="auto">
          <a:xfrm flipH="1" flipV="1">
            <a:off x="3038276" y="3699079"/>
            <a:ext cx="381000" cy="381000"/>
            <a:chOff x="1104" y="1008"/>
            <a:chExt cx="240" cy="240"/>
          </a:xfrm>
        </p:grpSpPr>
        <p:sp>
          <p:nvSpPr>
            <p:cNvPr id="33" name="Line 32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34" name="Line 33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35" name="Group 34"/>
          <p:cNvGrpSpPr>
            <a:grpSpLocks/>
          </p:cNvGrpSpPr>
          <p:nvPr/>
        </p:nvGrpSpPr>
        <p:grpSpPr bwMode="auto">
          <a:xfrm flipH="1" flipV="1">
            <a:off x="5019476" y="3699079"/>
            <a:ext cx="381000" cy="381000"/>
            <a:chOff x="1104" y="1008"/>
            <a:chExt cx="240" cy="240"/>
          </a:xfrm>
        </p:grpSpPr>
        <p:sp>
          <p:nvSpPr>
            <p:cNvPr id="36" name="Line 35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37" name="Line 36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38" name="Group 37"/>
          <p:cNvGrpSpPr>
            <a:grpSpLocks/>
          </p:cNvGrpSpPr>
          <p:nvPr/>
        </p:nvGrpSpPr>
        <p:grpSpPr bwMode="auto">
          <a:xfrm flipH="1" flipV="1">
            <a:off x="7000676" y="3699079"/>
            <a:ext cx="381000" cy="381000"/>
            <a:chOff x="1104" y="1008"/>
            <a:chExt cx="240" cy="240"/>
          </a:xfrm>
        </p:grpSpPr>
        <p:sp>
          <p:nvSpPr>
            <p:cNvPr id="39" name="Line 38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40" name="Line 39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sp>
        <p:nvSpPr>
          <p:cNvPr id="41" name="Line 40"/>
          <p:cNvSpPr>
            <a:spLocks noChangeShapeType="1"/>
          </p:cNvSpPr>
          <p:nvPr/>
        </p:nvSpPr>
        <p:spPr bwMode="auto">
          <a:xfrm flipH="1">
            <a:off x="2123876" y="3908629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42" name="Line 41"/>
          <p:cNvSpPr>
            <a:spLocks noChangeShapeType="1"/>
          </p:cNvSpPr>
          <p:nvPr/>
        </p:nvSpPr>
        <p:spPr bwMode="auto">
          <a:xfrm flipH="1">
            <a:off x="4105076" y="3908629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43" name="Line 42"/>
          <p:cNvSpPr>
            <a:spLocks noChangeShapeType="1"/>
          </p:cNvSpPr>
          <p:nvPr/>
        </p:nvSpPr>
        <p:spPr bwMode="auto">
          <a:xfrm flipH="1">
            <a:off x="6086276" y="3908629"/>
            <a:ext cx="1066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44" name="Oval 43"/>
          <p:cNvSpPr>
            <a:spLocks noChangeAspect="1" noChangeArrowheads="1"/>
          </p:cNvSpPr>
          <p:nvPr/>
        </p:nvSpPr>
        <p:spPr bwMode="auto">
          <a:xfrm>
            <a:off x="1209476" y="3851479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endParaRPr lang="zh-CN" altLang="en-US">
              <a:latin typeface="+mn-lt"/>
              <a:ea typeface="SimSun" pitchFamily="2" charset="-122"/>
            </a:endParaRPr>
          </a:p>
        </p:txBody>
      </p:sp>
      <p:sp>
        <p:nvSpPr>
          <p:cNvPr id="45" name="Line 44"/>
          <p:cNvSpPr>
            <a:spLocks noChangeShapeType="1"/>
          </p:cNvSpPr>
          <p:nvPr/>
        </p:nvSpPr>
        <p:spPr bwMode="auto">
          <a:xfrm flipH="1" flipV="1">
            <a:off x="7000676" y="4080079"/>
            <a:ext cx="76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46" name="Text Box 45"/>
          <p:cNvSpPr txBox="1">
            <a:spLocks noChangeArrowheads="1"/>
          </p:cNvSpPr>
          <p:nvPr/>
        </p:nvSpPr>
        <p:spPr bwMode="auto">
          <a:xfrm>
            <a:off x="6886376" y="4689679"/>
            <a:ext cx="590546" cy="461665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+mn-lt"/>
                <a:ea typeface="SimSun" pitchFamily="2" charset="-122"/>
              </a:rPr>
              <a:t>tail</a:t>
            </a:r>
          </a:p>
        </p:txBody>
      </p:sp>
      <p:sp>
        <p:nvSpPr>
          <p:cNvPr id="47" name="Text Box 11"/>
          <p:cNvSpPr txBox="1">
            <a:spLocks noChangeArrowheads="1"/>
          </p:cNvSpPr>
          <p:nvPr/>
        </p:nvSpPr>
        <p:spPr bwMode="auto">
          <a:xfrm>
            <a:off x="4790876" y="4583316"/>
            <a:ext cx="914400" cy="461665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square">
            <a:spAutoFit/>
          </a:bodyPr>
          <a:lstStyle/>
          <a:p>
            <a:r>
              <a:rPr lang="en-US" altLang="zh-CN" sz="2400" dirty="0" err="1">
                <a:latin typeface="+mn-lt"/>
                <a:ea typeface="SimSun" pitchFamily="2" charset="-122"/>
              </a:rPr>
              <a:t>prev</a:t>
            </a:r>
            <a:endParaRPr lang="en-US" altLang="zh-CN" sz="2400" dirty="0">
              <a:latin typeface="+mn-lt"/>
              <a:ea typeface="SimSun" pitchFamily="2" charset="-122"/>
            </a:endParaRPr>
          </a:p>
        </p:txBody>
      </p:sp>
      <p:sp>
        <p:nvSpPr>
          <p:cNvPr id="48" name="Line 14"/>
          <p:cNvSpPr>
            <a:spLocks noChangeShapeType="1"/>
          </p:cNvSpPr>
          <p:nvPr/>
        </p:nvSpPr>
        <p:spPr bwMode="auto">
          <a:xfrm flipV="1">
            <a:off x="5171876" y="3973716"/>
            <a:ext cx="3175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49" name="Text Box 11"/>
          <p:cNvSpPr txBox="1">
            <a:spLocks noChangeArrowheads="1"/>
          </p:cNvSpPr>
          <p:nvPr/>
        </p:nvSpPr>
        <p:spPr bwMode="auto">
          <a:xfrm>
            <a:off x="3571676" y="2449716"/>
            <a:ext cx="1000324" cy="461665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n-lt"/>
                <a:ea typeface="SimSun" pitchFamily="2" charset="-122"/>
              </a:rPr>
              <a:t>next</a:t>
            </a:r>
          </a:p>
        </p:txBody>
      </p:sp>
      <p:sp>
        <p:nvSpPr>
          <p:cNvPr id="50" name="Line 14"/>
          <p:cNvSpPr>
            <a:spLocks noChangeShapeType="1"/>
          </p:cNvSpPr>
          <p:nvPr/>
        </p:nvSpPr>
        <p:spPr bwMode="auto">
          <a:xfrm flipH="1">
            <a:off x="3952674" y="2906916"/>
            <a:ext cx="2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647696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Node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DoubleListNode</a:t>
            </a:r>
            <a:r>
              <a:rPr lang="en-US" dirty="0"/>
              <a:t> class contains three data members</a:t>
            </a:r>
          </a:p>
          <a:p>
            <a:pPr lvl="1"/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data</a:t>
            </a:r>
            <a:r>
              <a:rPr lang="en-US" dirty="0"/>
              <a:t>: double-type data in this example</a:t>
            </a:r>
          </a:p>
          <a:p>
            <a:pPr lvl="1"/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next</a:t>
            </a:r>
            <a:r>
              <a:rPr lang="en-US" dirty="0"/>
              <a:t>: a pointer to the next node in the list</a:t>
            </a:r>
          </a:p>
          <a:p>
            <a:pPr lvl="1"/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Prev</a:t>
            </a:r>
            <a:r>
              <a:rPr lang="en-US" dirty="0"/>
              <a:t>: a pointer to the pervious node in the list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11-Linked List Variations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12</a:t>
            </a:fld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1151620" y="3429000"/>
            <a:ext cx="6840760" cy="1754326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eaLnBrk="1" hangingPunct="1"/>
            <a:r>
              <a:rPr lang="en-US" altLang="zh-CN" b="1" dirty="0">
                <a:latin typeface="Consolas" panose="020B0609020204030204" pitchFamily="49" charset="0"/>
                <a:cs typeface="Courier New" panose="02070309020205020404" pitchFamily="49" charset="0"/>
              </a:rPr>
              <a:t>class</a:t>
            </a:r>
            <a:r>
              <a:rPr lang="en-US" altLang="zh-CN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DoubleListNode</a:t>
            </a:r>
            <a:r>
              <a:rPr lang="en-US" altLang="zh-CN" dirty="0">
                <a:latin typeface="Consolas" panose="020B0609020204030204" pitchFamily="49" charset="0"/>
                <a:cs typeface="Courier New" panose="02070309020205020404" pitchFamily="49" charset="0"/>
              </a:rPr>
              <a:t> {</a:t>
            </a:r>
          </a:p>
          <a:p>
            <a:pPr eaLnBrk="1" hangingPunct="1"/>
            <a:r>
              <a:rPr lang="en-US" altLang="zh-CN" dirty="0">
                <a:latin typeface="Consolas" panose="020B0609020204030204" pitchFamily="49" charset="0"/>
                <a:cs typeface="Courier New" panose="02070309020205020404" pitchFamily="49" charset="0"/>
              </a:rPr>
              <a:t>   public:</a:t>
            </a:r>
          </a:p>
          <a:p>
            <a:pPr eaLnBrk="1" hangingPunct="1"/>
            <a:r>
              <a:rPr lang="en-US" altLang="zh-CN" dirty="0">
                <a:latin typeface="Consolas" panose="020B0609020204030204" pitchFamily="49" charset="0"/>
                <a:cs typeface="Courier New" panose="02070309020205020404" pitchFamily="49" charset="0"/>
              </a:rPr>
              <a:t>      double data;            </a:t>
            </a:r>
            <a:r>
              <a:rPr lang="en-US" altLang="zh-CN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 data</a:t>
            </a:r>
          </a:p>
          <a:p>
            <a:pPr eaLnBrk="1" hangingPunct="1"/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  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DoubleListNode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altLang="zh-CN" dirty="0">
                <a:latin typeface="Consolas" panose="020B0609020204030204" pitchFamily="49" charset="0"/>
                <a:cs typeface="Courier New" panose="02070309020205020404" pitchFamily="49" charset="0"/>
              </a:rPr>
              <a:t>* next;  </a:t>
            </a:r>
            <a:r>
              <a:rPr lang="en-US" altLang="zh-CN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 pointer to next</a:t>
            </a:r>
          </a:p>
          <a:p>
            <a:pPr eaLnBrk="1" hangingPunct="1"/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  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DoubleListNode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altLang="zh-CN" dirty="0">
                <a:latin typeface="Consolas" panose="020B0609020204030204" pitchFamily="49" charset="0"/>
                <a:cs typeface="Courier New" panose="02070309020205020404" pitchFamily="49" charset="0"/>
              </a:rPr>
              <a:t>* </a:t>
            </a:r>
            <a:r>
              <a:rPr lang="en-US" altLang="zh-CN" dirty="0" err="1">
                <a:latin typeface="Consolas" panose="020B0609020204030204" pitchFamily="49" charset="0"/>
                <a:cs typeface="Courier New" panose="02070309020205020404" pitchFamily="49" charset="0"/>
              </a:rPr>
              <a:t>prev</a:t>
            </a:r>
            <a:r>
              <a:rPr lang="en-US" altLang="zh-CN" dirty="0">
                <a:latin typeface="Consolas" panose="020B0609020204030204" pitchFamily="49" charset="0"/>
                <a:cs typeface="Courier New" panose="02070309020205020404" pitchFamily="49" charset="0"/>
              </a:rPr>
              <a:t>;  </a:t>
            </a:r>
            <a:r>
              <a:rPr lang="en-US" altLang="zh-CN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 pointer to previous</a:t>
            </a:r>
          </a:p>
          <a:p>
            <a:pPr eaLnBrk="1" hangingPunct="1"/>
            <a:r>
              <a:rPr lang="en-US" altLang="zh-CN" dirty="0">
                <a:latin typeface="Consolas" panose="020B0609020204030204" pitchFamily="49" charset="0"/>
                <a:cs typeface="Courier New" panose="020703090202050204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2677308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Class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List class contains two pointers</a:t>
            </a:r>
          </a:p>
          <a:p>
            <a:pPr lvl="1"/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head</a:t>
            </a:r>
            <a:r>
              <a:rPr lang="en-US" dirty="0"/>
              <a:t>: a pointer to the first node in the list </a:t>
            </a:r>
          </a:p>
          <a:p>
            <a:pPr lvl="1"/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tail</a:t>
            </a:r>
            <a:r>
              <a:rPr lang="en-US" dirty="0"/>
              <a:t>: a pointer to the last node in the list</a:t>
            </a:r>
          </a:p>
          <a:p>
            <a:pPr lvl="1"/>
            <a:r>
              <a:rPr lang="en-US" dirty="0"/>
              <a:t>Since the list is empty initially, 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head</a:t>
            </a:r>
            <a:r>
              <a:rPr lang="en-US" dirty="0"/>
              <a:t> and 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tail</a:t>
            </a:r>
            <a:r>
              <a:rPr lang="en-US" dirty="0"/>
              <a:t> are set to 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NULL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11-Linked List Variations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13</a:t>
            </a:fld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503548" y="2924944"/>
            <a:ext cx="8136904" cy="3139321"/>
          </a:xfrm>
          <a:prstGeom prst="rect">
            <a:avLst/>
          </a:prstGeom>
          <a:noFill/>
          <a:ln w="12700"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class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List {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public: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   List(void) {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head = NULL; tail = NULL; 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} 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 constructor</a:t>
            </a:r>
          </a:p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~List(void);	                          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 destructor</a:t>
            </a:r>
          </a:p>
          <a:p>
            <a:endParaRPr lang="en-US" dirty="0">
              <a:solidFill>
                <a:srgbClr val="00B05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. . .</a:t>
            </a:r>
          </a:p>
          <a:p>
            <a:endParaRPr lang="en-US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  private:</a:t>
            </a:r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DoubleListNode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* head;</a:t>
            </a:r>
          </a:p>
          <a:p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     </a:t>
            </a:r>
            <a:r>
              <a:rPr lang="en-US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DoubleListNode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* tail;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};</a:t>
            </a:r>
          </a:p>
        </p:txBody>
      </p:sp>
    </p:spTree>
    <p:extLst>
      <p:ext uri="{BB962C8B-B14F-4D97-AF65-F5344CB8AC3E}">
        <p14:creationId xmlns:p14="http://schemas.microsoft.com/office/powerpoint/2010/main" val="41008118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Adding First Node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11-Linked List Variations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14</a:t>
            </a:fld>
            <a:endParaRPr lang="en-GB"/>
          </a:p>
        </p:txBody>
      </p:sp>
      <p:grpSp>
        <p:nvGrpSpPr>
          <p:cNvPr id="6" name="Group 5"/>
          <p:cNvGrpSpPr/>
          <p:nvPr/>
        </p:nvGrpSpPr>
        <p:grpSpPr>
          <a:xfrm>
            <a:off x="2411761" y="1752600"/>
            <a:ext cx="3828495" cy="762000"/>
            <a:chOff x="-255239" y="1752600"/>
            <a:chExt cx="3828495" cy="762000"/>
          </a:xfrm>
        </p:grpSpPr>
        <p:sp>
          <p:nvSpPr>
            <p:cNvPr id="7" name="Rectangle 3"/>
            <p:cNvSpPr>
              <a:spLocks noChangeArrowheads="1"/>
            </p:cNvSpPr>
            <p:nvPr/>
          </p:nvSpPr>
          <p:spPr bwMode="auto">
            <a:xfrm>
              <a:off x="1181100" y="1752600"/>
              <a:ext cx="1066800" cy="762000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 type="none" w="lg" len="lg"/>
            </a:ln>
          </p:spPr>
          <p:txBody>
            <a:bodyPr wrap="none" anchor="ctr"/>
            <a:lstStyle/>
            <a:p>
              <a:pPr algn="ctr"/>
              <a:endParaRPr lang="zh-CN" sz="2400">
                <a:latin typeface="+mn-lt"/>
                <a:ea typeface="SimSun" pitchFamily="2" charset="-122"/>
              </a:endParaRPr>
            </a:p>
          </p:txBody>
        </p:sp>
        <p:sp>
          <p:nvSpPr>
            <p:cNvPr id="8" name="Text Box 7"/>
            <p:cNvSpPr txBox="1">
              <a:spLocks noChangeArrowheads="1"/>
            </p:cNvSpPr>
            <p:nvPr/>
          </p:nvSpPr>
          <p:spPr bwMode="auto">
            <a:xfrm>
              <a:off x="-255239" y="1905000"/>
              <a:ext cx="941040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lg" len="lg"/>
            </a:ln>
          </p:spPr>
          <p:txBody>
            <a:bodyPr wrap="square">
              <a:spAutoFit/>
            </a:bodyPr>
            <a:lstStyle/>
            <a:p>
              <a:r>
                <a:rPr lang="en-US" altLang="zh-CN" sz="2400" dirty="0">
                  <a:latin typeface="+mn-lt"/>
                  <a:ea typeface="SimSun" pitchFamily="2" charset="-122"/>
                </a:rPr>
                <a:t>head</a:t>
              </a:r>
            </a:p>
          </p:txBody>
        </p:sp>
        <p:grpSp>
          <p:nvGrpSpPr>
            <p:cNvPr id="9" name="Group 13"/>
            <p:cNvGrpSpPr>
              <a:grpSpLocks/>
            </p:cNvGrpSpPr>
            <p:nvPr/>
          </p:nvGrpSpPr>
          <p:grpSpPr bwMode="auto">
            <a:xfrm>
              <a:off x="1866900" y="1752600"/>
              <a:ext cx="381000" cy="381000"/>
              <a:chOff x="1104" y="1008"/>
              <a:chExt cx="240" cy="240"/>
            </a:xfrm>
          </p:grpSpPr>
          <p:sp>
            <p:nvSpPr>
              <p:cNvPr id="17" name="Line 14"/>
              <p:cNvSpPr>
                <a:spLocks noChangeShapeType="1"/>
              </p:cNvSpPr>
              <p:nvPr/>
            </p:nvSpPr>
            <p:spPr bwMode="auto">
              <a:xfrm>
                <a:off x="1104" y="1008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 type="none" w="lg" len="lg"/>
              </a:ln>
            </p:spPr>
            <p:txBody>
              <a:bodyPr/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18" name="Line 15"/>
              <p:cNvSpPr>
                <a:spLocks noChangeShapeType="1"/>
              </p:cNvSpPr>
              <p:nvPr/>
            </p:nvSpPr>
            <p:spPr bwMode="auto">
              <a:xfrm rot="-5400000">
                <a:off x="1224" y="1128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 type="none" w="lg" len="lg"/>
              </a:ln>
            </p:spPr>
            <p:txBody>
              <a:bodyPr/>
              <a:lstStyle/>
              <a:p>
                <a:endParaRPr lang="en-US">
                  <a:latin typeface="+mn-lt"/>
                </a:endParaRPr>
              </a:p>
            </p:txBody>
          </p:sp>
        </p:grpSp>
        <p:grpSp>
          <p:nvGrpSpPr>
            <p:cNvPr id="10" name="Group 25"/>
            <p:cNvGrpSpPr>
              <a:grpSpLocks/>
            </p:cNvGrpSpPr>
            <p:nvPr/>
          </p:nvGrpSpPr>
          <p:grpSpPr bwMode="auto">
            <a:xfrm flipH="1" flipV="1">
              <a:off x="1181100" y="2133600"/>
              <a:ext cx="381000" cy="381000"/>
              <a:chOff x="1104" y="1008"/>
              <a:chExt cx="240" cy="240"/>
            </a:xfrm>
          </p:grpSpPr>
          <p:sp>
            <p:nvSpPr>
              <p:cNvPr id="15" name="Line 26"/>
              <p:cNvSpPr>
                <a:spLocks noChangeShapeType="1"/>
              </p:cNvSpPr>
              <p:nvPr/>
            </p:nvSpPr>
            <p:spPr bwMode="auto">
              <a:xfrm>
                <a:off x="1104" y="1008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 type="none" w="lg" len="lg"/>
              </a:ln>
            </p:spPr>
            <p:txBody>
              <a:bodyPr/>
              <a:lstStyle/>
              <a:p>
                <a:endParaRPr lang="en-US">
                  <a:latin typeface="+mn-lt"/>
                </a:endParaRPr>
              </a:p>
            </p:txBody>
          </p:sp>
          <p:sp>
            <p:nvSpPr>
              <p:cNvPr id="16" name="Line 27"/>
              <p:cNvSpPr>
                <a:spLocks noChangeShapeType="1"/>
              </p:cNvSpPr>
              <p:nvPr/>
            </p:nvSpPr>
            <p:spPr bwMode="auto">
              <a:xfrm rot="-5400000">
                <a:off x="1224" y="1128"/>
                <a:ext cx="0" cy="24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ysDot"/>
                <a:round/>
                <a:headEnd/>
                <a:tailEnd type="none" w="lg" len="lg"/>
              </a:ln>
            </p:spPr>
            <p:txBody>
              <a:bodyPr/>
              <a:lstStyle/>
              <a:p>
                <a:endParaRPr lang="en-US">
                  <a:latin typeface="+mn-lt"/>
                </a:endParaRPr>
              </a:p>
            </p:txBody>
          </p:sp>
        </p:grpSp>
        <p:sp>
          <p:nvSpPr>
            <p:cNvPr id="11" name="Oval 40"/>
            <p:cNvSpPr>
              <a:spLocks noChangeAspect="1" noChangeArrowheads="1"/>
            </p:cNvSpPr>
            <p:nvPr/>
          </p:nvSpPr>
          <p:spPr bwMode="auto">
            <a:xfrm>
              <a:off x="1333500" y="2286000"/>
              <a:ext cx="76200" cy="76200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 type="none" w="lg" len="lg"/>
            </a:ln>
          </p:spPr>
          <p:txBody>
            <a:bodyPr wrap="none" anchor="ctr"/>
            <a:lstStyle/>
            <a:p>
              <a:endParaRPr lang="zh-CN" altLang="en-US">
                <a:latin typeface="+mn-lt"/>
                <a:ea typeface="SimSun" pitchFamily="2" charset="-122"/>
              </a:endParaRPr>
            </a:p>
          </p:txBody>
        </p:sp>
        <p:sp>
          <p:nvSpPr>
            <p:cNvPr id="12" name="Line 41"/>
            <p:cNvSpPr>
              <a:spLocks noChangeShapeType="1"/>
            </p:cNvSpPr>
            <p:nvPr/>
          </p:nvSpPr>
          <p:spPr bwMode="auto">
            <a:xfrm flipH="1" flipV="1">
              <a:off x="2247900" y="2133600"/>
              <a:ext cx="685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3" name="Text Box 42"/>
            <p:cNvSpPr txBox="1">
              <a:spLocks noChangeArrowheads="1"/>
            </p:cNvSpPr>
            <p:nvPr/>
          </p:nvSpPr>
          <p:spPr bwMode="auto">
            <a:xfrm>
              <a:off x="2982710" y="1900535"/>
              <a:ext cx="590546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 type="none" w="lg" len="lg"/>
            </a:ln>
          </p:spPr>
          <p:txBody>
            <a:bodyPr wrap="none">
              <a:spAutoFit/>
            </a:bodyPr>
            <a:lstStyle/>
            <a:p>
              <a:r>
                <a:rPr lang="en-US" altLang="zh-CN" sz="2400" dirty="0">
                  <a:latin typeface="+mn-lt"/>
                  <a:ea typeface="SimSun" pitchFamily="2" charset="-122"/>
                </a:rPr>
                <a:t>tail</a:t>
              </a:r>
            </a:p>
          </p:txBody>
        </p:sp>
        <p:sp>
          <p:nvSpPr>
            <p:cNvPr id="14" name="Line 41"/>
            <p:cNvSpPr>
              <a:spLocks noChangeShapeType="1"/>
            </p:cNvSpPr>
            <p:nvPr/>
          </p:nvSpPr>
          <p:spPr bwMode="auto">
            <a:xfrm flipV="1">
              <a:off x="609600" y="2133600"/>
              <a:ext cx="5715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19757" y="4218546"/>
            <a:ext cx="446449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 Adding first node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head = </a:t>
            </a:r>
            <a:r>
              <a:rPr lang="en-US" b="1" dirty="0">
                <a:latin typeface="Consolas" panose="020B0609020204030204" pitchFamily="49" charset="0"/>
                <a:cs typeface="Courier New" panose="02070309020205020404" pitchFamily="49" charset="0"/>
              </a:rPr>
              <a:t>new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DoubleListNode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head-&gt;next = null;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head-&gt;</a:t>
            </a:r>
            <a:r>
              <a:rPr lang="en-US" dirty="0" err="1">
                <a:latin typeface="Consolas" panose="020B0609020204030204" pitchFamily="49" charset="0"/>
                <a:cs typeface="Courier New" panose="02070309020205020404" pitchFamily="49" charset="0"/>
              </a:rPr>
              <a:t>prev</a:t>
            </a:r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 = null;</a:t>
            </a:r>
          </a:p>
          <a:p>
            <a:r>
              <a:rPr lang="en-US" dirty="0">
                <a:latin typeface="Consolas" panose="020B0609020204030204" pitchFamily="49" charset="0"/>
                <a:cs typeface="Courier New" panose="02070309020205020404" pitchFamily="49" charset="0"/>
              </a:rPr>
              <a:t>tail = head;</a:t>
            </a:r>
          </a:p>
        </p:txBody>
      </p:sp>
      <p:sp>
        <p:nvSpPr>
          <p:cNvPr id="20" name="Oval 40"/>
          <p:cNvSpPr>
            <a:spLocks noChangeAspect="1" noChangeArrowheads="1"/>
          </p:cNvSpPr>
          <p:nvPr/>
        </p:nvSpPr>
        <p:spPr bwMode="auto">
          <a:xfrm>
            <a:off x="4639816" y="191264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endParaRPr lang="zh-CN" altLang="en-US">
              <a:latin typeface="+mn-lt"/>
              <a:ea typeface="SimSun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16961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Inserting a Node in Doubly Linked List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add a new item after the linked list node pointed by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current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11-Linked List Variations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15</a:t>
            </a:fld>
            <a:endParaRPr lang="en-GB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918592" y="1811288"/>
            <a:ext cx="10668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/>
          <a:lstStyle/>
          <a:p>
            <a:pPr algn="ctr"/>
            <a:endParaRPr lang="zh-CN" sz="2400">
              <a:latin typeface="+mn-lt"/>
              <a:ea typeface="SimSun" pitchFamily="2" charset="-122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3433192" y="1811288"/>
            <a:ext cx="10668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/>
          <a:lstStyle/>
          <a:p>
            <a:pPr algn="ctr"/>
            <a:r>
              <a:rPr lang="en-US" altLang="zh-CN" sz="2400" dirty="0">
                <a:latin typeface="+mn-lt"/>
                <a:ea typeface="SimSun" pitchFamily="2" charset="-122"/>
              </a:rPr>
              <a:t>a</a:t>
            </a: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7319392" y="1811288"/>
            <a:ext cx="10668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/>
          <a:lstStyle/>
          <a:p>
            <a:pPr algn="ctr"/>
            <a:r>
              <a:rPr lang="en-US" altLang="zh-CN" sz="2400">
                <a:latin typeface="+mn-lt"/>
                <a:ea typeface="SimSun" pitchFamily="2" charset="-122"/>
              </a:rPr>
              <a:t>c</a:t>
            </a: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842392" y="3106688"/>
            <a:ext cx="845567" cy="461665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n-lt"/>
                <a:ea typeface="SimSun" pitchFamily="2" charset="-122"/>
              </a:rPr>
              <a:t>head</a:t>
            </a:r>
          </a:p>
        </p:txBody>
      </p:sp>
      <p:sp>
        <p:nvSpPr>
          <p:cNvPr id="10" name="Line 8"/>
          <p:cNvSpPr>
            <a:spLocks noChangeShapeType="1"/>
          </p:cNvSpPr>
          <p:nvPr/>
        </p:nvSpPr>
        <p:spPr bwMode="auto">
          <a:xfrm flipV="1">
            <a:off x="1832992" y="2001788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1" name="Line 9"/>
          <p:cNvSpPr>
            <a:spLocks noChangeShapeType="1"/>
          </p:cNvSpPr>
          <p:nvPr/>
        </p:nvSpPr>
        <p:spPr bwMode="auto">
          <a:xfrm>
            <a:off x="4347592" y="2039888"/>
            <a:ext cx="297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2" name="Line 10"/>
          <p:cNvSpPr>
            <a:spLocks noChangeShapeType="1"/>
          </p:cNvSpPr>
          <p:nvPr/>
        </p:nvSpPr>
        <p:spPr bwMode="auto">
          <a:xfrm flipH="1" flipV="1">
            <a:off x="918592" y="2573288"/>
            <a:ext cx="2286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3" name="Oval 12"/>
          <p:cNvSpPr>
            <a:spLocks noChangeAspect="1" noChangeArrowheads="1"/>
          </p:cNvSpPr>
          <p:nvPr/>
        </p:nvSpPr>
        <p:spPr bwMode="auto">
          <a:xfrm>
            <a:off x="8157592" y="1963688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endParaRPr lang="zh-CN" altLang="en-US">
              <a:latin typeface="+mn-lt"/>
              <a:ea typeface="SimSun" pitchFamily="2" charset="-122"/>
            </a:endParaRPr>
          </a:p>
        </p:txBody>
      </p:sp>
      <p:grpSp>
        <p:nvGrpSpPr>
          <p:cNvPr id="14" name="Group 13"/>
          <p:cNvGrpSpPr>
            <a:grpSpLocks/>
          </p:cNvGrpSpPr>
          <p:nvPr/>
        </p:nvGrpSpPr>
        <p:grpSpPr bwMode="auto">
          <a:xfrm>
            <a:off x="1604392" y="1811288"/>
            <a:ext cx="381000" cy="381000"/>
            <a:chOff x="1104" y="1008"/>
            <a:chExt cx="240" cy="240"/>
          </a:xfrm>
        </p:grpSpPr>
        <p:sp>
          <p:nvSpPr>
            <p:cNvPr id="15" name="Line 14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6" name="Line 15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17" name="Group 16"/>
          <p:cNvGrpSpPr>
            <a:grpSpLocks/>
          </p:cNvGrpSpPr>
          <p:nvPr/>
        </p:nvGrpSpPr>
        <p:grpSpPr bwMode="auto">
          <a:xfrm>
            <a:off x="4118992" y="1811288"/>
            <a:ext cx="381000" cy="381000"/>
            <a:chOff x="1104" y="1008"/>
            <a:chExt cx="240" cy="240"/>
          </a:xfrm>
        </p:grpSpPr>
        <p:sp>
          <p:nvSpPr>
            <p:cNvPr id="18" name="Line 17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9" name="Line 18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20" name="Group 22"/>
          <p:cNvGrpSpPr>
            <a:grpSpLocks/>
          </p:cNvGrpSpPr>
          <p:nvPr/>
        </p:nvGrpSpPr>
        <p:grpSpPr bwMode="auto">
          <a:xfrm>
            <a:off x="8005192" y="1811288"/>
            <a:ext cx="381000" cy="381000"/>
            <a:chOff x="1104" y="1008"/>
            <a:chExt cx="240" cy="240"/>
          </a:xfrm>
        </p:grpSpPr>
        <p:sp>
          <p:nvSpPr>
            <p:cNvPr id="21" name="Line 23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2" name="Line 24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23" name="Group 25"/>
          <p:cNvGrpSpPr>
            <a:grpSpLocks/>
          </p:cNvGrpSpPr>
          <p:nvPr/>
        </p:nvGrpSpPr>
        <p:grpSpPr bwMode="auto">
          <a:xfrm flipH="1" flipV="1">
            <a:off x="918592" y="2192288"/>
            <a:ext cx="381000" cy="381000"/>
            <a:chOff x="1104" y="1008"/>
            <a:chExt cx="240" cy="240"/>
          </a:xfrm>
        </p:grpSpPr>
        <p:sp>
          <p:nvSpPr>
            <p:cNvPr id="24" name="Line 26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5" name="Line 27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26" name="Group 28"/>
          <p:cNvGrpSpPr>
            <a:grpSpLocks/>
          </p:cNvGrpSpPr>
          <p:nvPr/>
        </p:nvGrpSpPr>
        <p:grpSpPr bwMode="auto">
          <a:xfrm flipH="1" flipV="1">
            <a:off x="3433192" y="2192288"/>
            <a:ext cx="381000" cy="381000"/>
            <a:chOff x="1104" y="1008"/>
            <a:chExt cx="240" cy="240"/>
          </a:xfrm>
        </p:grpSpPr>
        <p:sp>
          <p:nvSpPr>
            <p:cNvPr id="27" name="Line 29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8" name="Line 30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29" name="Group 34"/>
          <p:cNvGrpSpPr>
            <a:grpSpLocks/>
          </p:cNvGrpSpPr>
          <p:nvPr/>
        </p:nvGrpSpPr>
        <p:grpSpPr bwMode="auto">
          <a:xfrm flipH="1" flipV="1">
            <a:off x="7319392" y="2192288"/>
            <a:ext cx="381000" cy="381000"/>
            <a:chOff x="1104" y="1008"/>
            <a:chExt cx="240" cy="240"/>
          </a:xfrm>
        </p:grpSpPr>
        <p:sp>
          <p:nvSpPr>
            <p:cNvPr id="30" name="Line 35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31" name="Line 36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sp>
        <p:nvSpPr>
          <p:cNvPr id="32" name="Line 37"/>
          <p:cNvSpPr>
            <a:spLocks noChangeShapeType="1"/>
          </p:cNvSpPr>
          <p:nvPr/>
        </p:nvSpPr>
        <p:spPr bwMode="auto">
          <a:xfrm flipH="1">
            <a:off x="1985392" y="2382788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33" name="Line 38"/>
          <p:cNvSpPr>
            <a:spLocks noChangeShapeType="1"/>
          </p:cNvSpPr>
          <p:nvPr/>
        </p:nvSpPr>
        <p:spPr bwMode="auto">
          <a:xfrm flipH="1">
            <a:off x="4499992" y="2420888"/>
            <a:ext cx="297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34" name="Oval 40"/>
          <p:cNvSpPr>
            <a:spLocks noChangeAspect="1" noChangeArrowheads="1"/>
          </p:cNvSpPr>
          <p:nvPr/>
        </p:nvSpPr>
        <p:spPr bwMode="auto">
          <a:xfrm>
            <a:off x="1070992" y="2344688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endParaRPr lang="zh-CN" altLang="en-US">
              <a:latin typeface="+mn-lt"/>
              <a:ea typeface="SimSun" pitchFamily="2" charset="-122"/>
            </a:endParaRPr>
          </a:p>
        </p:txBody>
      </p:sp>
      <p:sp>
        <p:nvSpPr>
          <p:cNvPr id="35" name="Line 41"/>
          <p:cNvSpPr>
            <a:spLocks noChangeShapeType="1"/>
          </p:cNvSpPr>
          <p:nvPr/>
        </p:nvSpPr>
        <p:spPr bwMode="auto">
          <a:xfrm flipH="1" flipV="1">
            <a:off x="7319392" y="2573288"/>
            <a:ext cx="76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36" name="Text Box 42"/>
          <p:cNvSpPr txBox="1">
            <a:spLocks noChangeArrowheads="1"/>
          </p:cNvSpPr>
          <p:nvPr/>
        </p:nvSpPr>
        <p:spPr bwMode="auto">
          <a:xfrm>
            <a:off x="7205092" y="3182888"/>
            <a:ext cx="590546" cy="461665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+mn-lt"/>
                <a:ea typeface="SimSun" pitchFamily="2" charset="-122"/>
              </a:rPr>
              <a:t>tail</a:t>
            </a:r>
          </a:p>
        </p:txBody>
      </p:sp>
      <p:sp>
        <p:nvSpPr>
          <p:cNvPr id="37" name="Text Box 52"/>
          <p:cNvSpPr txBox="1">
            <a:spLocks noChangeArrowheads="1"/>
          </p:cNvSpPr>
          <p:nvPr/>
        </p:nvSpPr>
        <p:spPr bwMode="auto">
          <a:xfrm>
            <a:off x="3112517" y="3487688"/>
            <a:ext cx="1154611" cy="461665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+mn-lt"/>
                <a:ea typeface="SimSun" pitchFamily="2" charset="-122"/>
              </a:rPr>
              <a:t>current</a:t>
            </a:r>
          </a:p>
        </p:txBody>
      </p:sp>
      <p:sp>
        <p:nvSpPr>
          <p:cNvPr id="38" name="Line 53"/>
          <p:cNvSpPr>
            <a:spLocks noChangeShapeType="1"/>
          </p:cNvSpPr>
          <p:nvPr/>
        </p:nvSpPr>
        <p:spPr bwMode="auto">
          <a:xfrm flipH="1" flipV="1">
            <a:off x="3433192" y="2573288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67544" y="4205867"/>
            <a:ext cx="572238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newNode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= </a:t>
            </a:r>
            <a:r>
              <a:rPr lang="en-US" sz="2000" b="1" dirty="0">
                <a:latin typeface="Consolas" panose="020B0609020204030204" pitchFamily="49" charset="0"/>
                <a:cs typeface="Courier New" panose="02070309020205020404" pitchFamily="49" charset="0"/>
              </a:rPr>
              <a:t>new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DoublyLinkedListNode</a:t>
            </a:r>
            <a:endParaRPr lang="en-US" sz="20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newNode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prev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= current;</a:t>
            </a:r>
          </a:p>
          <a:p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newNode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-&gt;next = current-&gt;next;</a:t>
            </a:r>
          </a:p>
          <a:p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newNode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prev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-&gt;next = 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newNode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newNode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-&gt;next-&gt;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prev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= 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newNode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current = 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newNode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119463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Inserting a Node in Doubly Linked List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add a new item after the linked list node pointed by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current</a:t>
            </a:r>
            <a:endParaRPr lang="en-US" dirty="0"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11-Linked List Variations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16</a:t>
            </a:fld>
            <a:endParaRPr lang="en-GB" dirty="0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918592" y="1811288"/>
            <a:ext cx="10668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/>
          <a:lstStyle/>
          <a:p>
            <a:pPr algn="ctr"/>
            <a:endParaRPr lang="zh-CN" sz="2400">
              <a:latin typeface="+mn-lt"/>
              <a:ea typeface="SimSun" pitchFamily="2" charset="-122"/>
            </a:endParaRPr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3433192" y="1811288"/>
            <a:ext cx="10668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/>
          <a:lstStyle/>
          <a:p>
            <a:pPr algn="ctr"/>
            <a:r>
              <a:rPr lang="en-US" altLang="zh-CN" sz="2400" dirty="0">
                <a:latin typeface="+mn-lt"/>
                <a:ea typeface="SimSun" pitchFamily="2" charset="-122"/>
              </a:rPr>
              <a:t>a</a:t>
            </a:r>
          </a:p>
        </p:txBody>
      </p:sp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7319392" y="1811288"/>
            <a:ext cx="10668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/>
          <a:lstStyle/>
          <a:p>
            <a:pPr algn="ctr"/>
            <a:r>
              <a:rPr lang="en-US" altLang="zh-CN" sz="2400">
                <a:latin typeface="+mn-lt"/>
                <a:ea typeface="SimSun" pitchFamily="2" charset="-122"/>
              </a:rPr>
              <a:t>c</a:t>
            </a:r>
          </a:p>
        </p:txBody>
      </p:sp>
      <p:sp>
        <p:nvSpPr>
          <p:cNvPr id="9" name="Text Box 7"/>
          <p:cNvSpPr txBox="1">
            <a:spLocks noChangeArrowheads="1"/>
          </p:cNvSpPr>
          <p:nvPr/>
        </p:nvSpPr>
        <p:spPr bwMode="auto">
          <a:xfrm>
            <a:off x="842392" y="3106688"/>
            <a:ext cx="845567" cy="461665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n-lt"/>
                <a:ea typeface="SimSun" pitchFamily="2" charset="-122"/>
              </a:rPr>
              <a:t>head</a:t>
            </a:r>
          </a:p>
        </p:txBody>
      </p:sp>
      <p:sp>
        <p:nvSpPr>
          <p:cNvPr id="10" name="Line 8"/>
          <p:cNvSpPr>
            <a:spLocks noChangeShapeType="1"/>
          </p:cNvSpPr>
          <p:nvPr/>
        </p:nvSpPr>
        <p:spPr bwMode="auto">
          <a:xfrm flipV="1">
            <a:off x="1832992" y="2001788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1" name="Line 9"/>
          <p:cNvSpPr>
            <a:spLocks noChangeShapeType="1"/>
          </p:cNvSpPr>
          <p:nvPr/>
        </p:nvSpPr>
        <p:spPr bwMode="auto">
          <a:xfrm>
            <a:off x="4347592" y="2039888"/>
            <a:ext cx="297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2" name="Line 10"/>
          <p:cNvSpPr>
            <a:spLocks noChangeShapeType="1"/>
          </p:cNvSpPr>
          <p:nvPr/>
        </p:nvSpPr>
        <p:spPr bwMode="auto">
          <a:xfrm flipH="1" flipV="1">
            <a:off x="918592" y="2573288"/>
            <a:ext cx="2286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3" name="Oval 12"/>
          <p:cNvSpPr>
            <a:spLocks noChangeAspect="1" noChangeArrowheads="1"/>
          </p:cNvSpPr>
          <p:nvPr/>
        </p:nvSpPr>
        <p:spPr bwMode="auto">
          <a:xfrm>
            <a:off x="8157592" y="1963688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endParaRPr lang="zh-CN" altLang="en-US">
              <a:latin typeface="+mn-lt"/>
              <a:ea typeface="SimSun" pitchFamily="2" charset="-122"/>
            </a:endParaRPr>
          </a:p>
        </p:txBody>
      </p:sp>
      <p:grpSp>
        <p:nvGrpSpPr>
          <p:cNvPr id="14" name="Group 13"/>
          <p:cNvGrpSpPr>
            <a:grpSpLocks/>
          </p:cNvGrpSpPr>
          <p:nvPr/>
        </p:nvGrpSpPr>
        <p:grpSpPr bwMode="auto">
          <a:xfrm>
            <a:off x="1604392" y="1811288"/>
            <a:ext cx="381000" cy="381000"/>
            <a:chOff x="1104" y="1008"/>
            <a:chExt cx="240" cy="240"/>
          </a:xfrm>
        </p:grpSpPr>
        <p:sp>
          <p:nvSpPr>
            <p:cNvPr id="15" name="Line 14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6" name="Line 15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17" name="Group 16"/>
          <p:cNvGrpSpPr>
            <a:grpSpLocks/>
          </p:cNvGrpSpPr>
          <p:nvPr/>
        </p:nvGrpSpPr>
        <p:grpSpPr bwMode="auto">
          <a:xfrm>
            <a:off x="4118992" y="1811288"/>
            <a:ext cx="381000" cy="381000"/>
            <a:chOff x="1104" y="1008"/>
            <a:chExt cx="240" cy="240"/>
          </a:xfrm>
        </p:grpSpPr>
        <p:sp>
          <p:nvSpPr>
            <p:cNvPr id="18" name="Line 17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9" name="Line 18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20" name="Group 22"/>
          <p:cNvGrpSpPr>
            <a:grpSpLocks/>
          </p:cNvGrpSpPr>
          <p:nvPr/>
        </p:nvGrpSpPr>
        <p:grpSpPr bwMode="auto">
          <a:xfrm>
            <a:off x="8005192" y="1811288"/>
            <a:ext cx="381000" cy="381000"/>
            <a:chOff x="1104" y="1008"/>
            <a:chExt cx="240" cy="240"/>
          </a:xfrm>
        </p:grpSpPr>
        <p:sp>
          <p:nvSpPr>
            <p:cNvPr id="21" name="Line 23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2" name="Line 24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23" name="Group 25"/>
          <p:cNvGrpSpPr>
            <a:grpSpLocks/>
          </p:cNvGrpSpPr>
          <p:nvPr/>
        </p:nvGrpSpPr>
        <p:grpSpPr bwMode="auto">
          <a:xfrm flipH="1" flipV="1">
            <a:off x="918592" y="2192288"/>
            <a:ext cx="381000" cy="381000"/>
            <a:chOff x="1104" y="1008"/>
            <a:chExt cx="240" cy="240"/>
          </a:xfrm>
        </p:grpSpPr>
        <p:sp>
          <p:nvSpPr>
            <p:cNvPr id="24" name="Line 26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5" name="Line 27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26" name="Group 28"/>
          <p:cNvGrpSpPr>
            <a:grpSpLocks/>
          </p:cNvGrpSpPr>
          <p:nvPr/>
        </p:nvGrpSpPr>
        <p:grpSpPr bwMode="auto">
          <a:xfrm flipH="1" flipV="1">
            <a:off x="3433192" y="2192288"/>
            <a:ext cx="381000" cy="381000"/>
            <a:chOff x="1104" y="1008"/>
            <a:chExt cx="240" cy="240"/>
          </a:xfrm>
        </p:grpSpPr>
        <p:sp>
          <p:nvSpPr>
            <p:cNvPr id="27" name="Line 29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28" name="Line 30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29" name="Group 34"/>
          <p:cNvGrpSpPr>
            <a:grpSpLocks/>
          </p:cNvGrpSpPr>
          <p:nvPr/>
        </p:nvGrpSpPr>
        <p:grpSpPr bwMode="auto">
          <a:xfrm flipH="1" flipV="1">
            <a:off x="7319392" y="2192288"/>
            <a:ext cx="381000" cy="381000"/>
            <a:chOff x="1104" y="1008"/>
            <a:chExt cx="240" cy="240"/>
          </a:xfrm>
        </p:grpSpPr>
        <p:sp>
          <p:nvSpPr>
            <p:cNvPr id="30" name="Line 35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31" name="Line 36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sp>
        <p:nvSpPr>
          <p:cNvPr id="32" name="Line 37"/>
          <p:cNvSpPr>
            <a:spLocks noChangeShapeType="1"/>
          </p:cNvSpPr>
          <p:nvPr/>
        </p:nvSpPr>
        <p:spPr bwMode="auto">
          <a:xfrm flipH="1">
            <a:off x="1985392" y="2382788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33" name="Line 38"/>
          <p:cNvSpPr>
            <a:spLocks noChangeShapeType="1"/>
          </p:cNvSpPr>
          <p:nvPr/>
        </p:nvSpPr>
        <p:spPr bwMode="auto">
          <a:xfrm flipH="1">
            <a:off x="4499992" y="2420888"/>
            <a:ext cx="297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34" name="Oval 40"/>
          <p:cNvSpPr>
            <a:spLocks noChangeAspect="1" noChangeArrowheads="1"/>
          </p:cNvSpPr>
          <p:nvPr/>
        </p:nvSpPr>
        <p:spPr bwMode="auto">
          <a:xfrm>
            <a:off x="1070992" y="2344688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endParaRPr lang="zh-CN" altLang="en-US">
              <a:latin typeface="+mn-lt"/>
              <a:ea typeface="SimSun" pitchFamily="2" charset="-122"/>
            </a:endParaRPr>
          </a:p>
        </p:txBody>
      </p:sp>
      <p:sp>
        <p:nvSpPr>
          <p:cNvPr id="35" name="Line 41"/>
          <p:cNvSpPr>
            <a:spLocks noChangeShapeType="1"/>
          </p:cNvSpPr>
          <p:nvPr/>
        </p:nvSpPr>
        <p:spPr bwMode="auto">
          <a:xfrm flipH="1" flipV="1">
            <a:off x="7319392" y="2573288"/>
            <a:ext cx="76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36" name="Text Box 42"/>
          <p:cNvSpPr txBox="1">
            <a:spLocks noChangeArrowheads="1"/>
          </p:cNvSpPr>
          <p:nvPr/>
        </p:nvSpPr>
        <p:spPr bwMode="auto">
          <a:xfrm>
            <a:off x="7205092" y="3182888"/>
            <a:ext cx="590546" cy="461665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+mn-lt"/>
                <a:ea typeface="SimSun" pitchFamily="2" charset="-122"/>
              </a:rPr>
              <a:t>tail</a:t>
            </a:r>
          </a:p>
        </p:txBody>
      </p:sp>
      <p:sp>
        <p:nvSpPr>
          <p:cNvPr id="37" name="Text Box 52"/>
          <p:cNvSpPr txBox="1">
            <a:spLocks noChangeArrowheads="1"/>
          </p:cNvSpPr>
          <p:nvPr/>
        </p:nvSpPr>
        <p:spPr bwMode="auto">
          <a:xfrm>
            <a:off x="3112517" y="3487688"/>
            <a:ext cx="1154611" cy="461665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+mn-lt"/>
                <a:ea typeface="SimSun" pitchFamily="2" charset="-122"/>
              </a:rPr>
              <a:t>current</a:t>
            </a:r>
          </a:p>
        </p:txBody>
      </p:sp>
      <p:sp>
        <p:nvSpPr>
          <p:cNvPr id="38" name="Line 53"/>
          <p:cNvSpPr>
            <a:spLocks noChangeShapeType="1"/>
          </p:cNvSpPr>
          <p:nvPr/>
        </p:nvSpPr>
        <p:spPr bwMode="auto">
          <a:xfrm flipH="1" flipV="1">
            <a:off x="3433192" y="2573288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67544" y="4205867"/>
            <a:ext cx="572238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newNode</a:t>
            </a:r>
            <a:r>
              <a:rPr lang="en-US" sz="20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= new </a:t>
            </a:r>
            <a:r>
              <a:rPr lang="en-US" sz="2000" b="1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DoublyLinkedListNode</a:t>
            </a:r>
            <a:endParaRPr lang="en-US" sz="2000" b="1" dirty="0">
              <a:solidFill>
                <a:srgbClr val="0070C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newNode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prev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= current;</a:t>
            </a:r>
          </a:p>
          <a:p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newNode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-&gt;next = current-&gt;next;</a:t>
            </a:r>
          </a:p>
          <a:p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newNode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prev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-&gt;next = 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newNode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newNode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-&gt;next-&gt;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prev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= 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newNode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current = 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newNode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40" name="Rectangle 36"/>
          <p:cNvSpPr>
            <a:spLocks noChangeArrowheads="1"/>
          </p:cNvSpPr>
          <p:nvPr/>
        </p:nvSpPr>
        <p:spPr bwMode="auto">
          <a:xfrm>
            <a:off x="5123124" y="2902960"/>
            <a:ext cx="10668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/>
          <a:lstStyle/>
          <a:p>
            <a:pPr algn="ctr"/>
            <a:r>
              <a:rPr lang="en-US" altLang="zh-CN" sz="2400">
                <a:latin typeface="+mn-lt"/>
                <a:ea typeface="SimSun" pitchFamily="2" charset="-122"/>
              </a:rPr>
              <a:t>b</a:t>
            </a:r>
          </a:p>
        </p:txBody>
      </p:sp>
      <p:grpSp>
        <p:nvGrpSpPr>
          <p:cNvPr id="41" name="Group 37"/>
          <p:cNvGrpSpPr>
            <a:grpSpLocks/>
          </p:cNvGrpSpPr>
          <p:nvPr/>
        </p:nvGrpSpPr>
        <p:grpSpPr bwMode="auto">
          <a:xfrm>
            <a:off x="5808924" y="2902960"/>
            <a:ext cx="381000" cy="381000"/>
            <a:chOff x="1104" y="1008"/>
            <a:chExt cx="240" cy="240"/>
          </a:xfrm>
        </p:grpSpPr>
        <p:sp>
          <p:nvSpPr>
            <p:cNvPr id="42" name="Line 38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43" name="Line 39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44" name="Group 40"/>
          <p:cNvGrpSpPr>
            <a:grpSpLocks/>
          </p:cNvGrpSpPr>
          <p:nvPr/>
        </p:nvGrpSpPr>
        <p:grpSpPr bwMode="auto">
          <a:xfrm flipH="1" flipV="1">
            <a:off x="5123124" y="3283960"/>
            <a:ext cx="381000" cy="381000"/>
            <a:chOff x="1104" y="1008"/>
            <a:chExt cx="240" cy="240"/>
          </a:xfrm>
        </p:grpSpPr>
        <p:sp>
          <p:nvSpPr>
            <p:cNvPr id="45" name="Line 41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46" name="Line 42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339506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Inserting a Node in Doubly Linked List (3)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add a new item after the linked list node pointed by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current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11-Linked List Variations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17</a:t>
            </a:fld>
            <a:endParaRPr lang="en-GB" dirty="0"/>
          </a:p>
        </p:txBody>
      </p:sp>
      <p:sp>
        <p:nvSpPr>
          <p:cNvPr id="39" name="TextBox 38"/>
          <p:cNvSpPr txBox="1"/>
          <p:nvPr/>
        </p:nvSpPr>
        <p:spPr>
          <a:xfrm>
            <a:off x="467544" y="4205867"/>
            <a:ext cx="572238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newNode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= new 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DoublyLinkedListNode</a:t>
            </a:r>
            <a:endParaRPr lang="en-US" sz="20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2000" b="1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newNode</a:t>
            </a:r>
            <a:r>
              <a:rPr lang="en-US" sz="20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en-US" sz="2000" b="1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prev</a:t>
            </a:r>
            <a:r>
              <a:rPr lang="en-US" sz="20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= current;</a:t>
            </a:r>
          </a:p>
          <a:p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newNode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-&gt;next = current-&gt;next;</a:t>
            </a:r>
          </a:p>
          <a:p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newNode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prev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-&gt;next = 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newNode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newNode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-&gt;next-&gt;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prev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= 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newNode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current = 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newNode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47" name="Rectangle 3"/>
          <p:cNvSpPr>
            <a:spLocks noChangeArrowheads="1"/>
          </p:cNvSpPr>
          <p:nvPr/>
        </p:nvSpPr>
        <p:spPr bwMode="auto">
          <a:xfrm>
            <a:off x="800472" y="1838520"/>
            <a:ext cx="10668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/>
          <a:lstStyle/>
          <a:p>
            <a:pPr algn="ctr"/>
            <a:endParaRPr lang="zh-CN" sz="2400">
              <a:latin typeface="+mn-lt"/>
              <a:ea typeface="SimSun" pitchFamily="2" charset="-122"/>
            </a:endParaRPr>
          </a:p>
        </p:txBody>
      </p:sp>
      <p:sp>
        <p:nvSpPr>
          <p:cNvPr id="48" name="Rectangle 4"/>
          <p:cNvSpPr>
            <a:spLocks noChangeArrowheads="1"/>
          </p:cNvSpPr>
          <p:nvPr/>
        </p:nvSpPr>
        <p:spPr bwMode="auto">
          <a:xfrm>
            <a:off x="3315072" y="1838520"/>
            <a:ext cx="10668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/>
          <a:lstStyle/>
          <a:p>
            <a:pPr algn="ctr"/>
            <a:r>
              <a:rPr lang="en-US" altLang="zh-CN" sz="2400">
                <a:latin typeface="+mn-lt"/>
                <a:ea typeface="SimSun" pitchFamily="2" charset="-122"/>
              </a:rPr>
              <a:t>a</a:t>
            </a:r>
          </a:p>
        </p:txBody>
      </p:sp>
      <p:sp>
        <p:nvSpPr>
          <p:cNvPr id="49" name="Rectangle 5"/>
          <p:cNvSpPr>
            <a:spLocks noChangeArrowheads="1"/>
          </p:cNvSpPr>
          <p:nvPr/>
        </p:nvSpPr>
        <p:spPr bwMode="auto">
          <a:xfrm>
            <a:off x="7201272" y="1838520"/>
            <a:ext cx="10668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/>
          <a:lstStyle/>
          <a:p>
            <a:pPr algn="ctr"/>
            <a:r>
              <a:rPr lang="en-US" altLang="zh-CN" sz="2400">
                <a:latin typeface="+mn-lt"/>
                <a:ea typeface="SimSun" pitchFamily="2" charset="-122"/>
              </a:rPr>
              <a:t>c</a:t>
            </a:r>
          </a:p>
        </p:txBody>
      </p:sp>
      <p:sp>
        <p:nvSpPr>
          <p:cNvPr id="50" name="Text Box 6"/>
          <p:cNvSpPr txBox="1">
            <a:spLocks noChangeArrowheads="1"/>
          </p:cNvSpPr>
          <p:nvPr/>
        </p:nvSpPr>
        <p:spPr bwMode="auto">
          <a:xfrm>
            <a:off x="724272" y="3133920"/>
            <a:ext cx="990600" cy="461665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n-lt"/>
                <a:ea typeface="SimSun" pitchFamily="2" charset="-122"/>
              </a:rPr>
              <a:t>head</a:t>
            </a:r>
          </a:p>
        </p:txBody>
      </p:sp>
      <p:sp>
        <p:nvSpPr>
          <p:cNvPr id="51" name="Line 7"/>
          <p:cNvSpPr>
            <a:spLocks noChangeShapeType="1"/>
          </p:cNvSpPr>
          <p:nvPr/>
        </p:nvSpPr>
        <p:spPr bwMode="auto">
          <a:xfrm flipV="1">
            <a:off x="1714872" y="202902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52" name="Line 8"/>
          <p:cNvSpPr>
            <a:spLocks noChangeShapeType="1"/>
          </p:cNvSpPr>
          <p:nvPr/>
        </p:nvSpPr>
        <p:spPr bwMode="auto">
          <a:xfrm>
            <a:off x="4229472" y="2067120"/>
            <a:ext cx="297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53" name="Line 9"/>
          <p:cNvSpPr>
            <a:spLocks noChangeShapeType="1"/>
          </p:cNvSpPr>
          <p:nvPr/>
        </p:nvSpPr>
        <p:spPr bwMode="auto">
          <a:xfrm flipH="1" flipV="1">
            <a:off x="800472" y="2600520"/>
            <a:ext cx="2286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54" name="Oval 10"/>
          <p:cNvSpPr>
            <a:spLocks noChangeAspect="1" noChangeArrowheads="1"/>
          </p:cNvSpPr>
          <p:nvPr/>
        </p:nvSpPr>
        <p:spPr bwMode="auto">
          <a:xfrm>
            <a:off x="8039472" y="199092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endParaRPr lang="zh-CN" altLang="en-US">
              <a:latin typeface="+mn-lt"/>
              <a:ea typeface="SimSun" pitchFamily="2" charset="-122"/>
            </a:endParaRPr>
          </a:p>
        </p:txBody>
      </p:sp>
      <p:grpSp>
        <p:nvGrpSpPr>
          <p:cNvPr id="55" name="Group 11"/>
          <p:cNvGrpSpPr>
            <a:grpSpLocks/>
          </p:cNvGrpSpPr>
          <p:nvPr/>
        </p:nvGrpSpPr>
        <p:grpSpPr bwMode="auto">
          <a:xfrm>
            <a:off x="1486272" y="1838520"/>
            <a:ext cx="381000" cy="381000"/>
            <a:chOff x="1104" y="1008"/>
            <a:chExt cx="240" cy="240"/>
          </a:xfrm>
        </p:grpSpPr>
        <p:sp>
          <p:nvSpPr>
            <p:cNvPr id="56" name="Line 12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57" name="Line 13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58" name="Group 14"/>
          <p:cNvGrpSpPr>
            <a:grpSpLocks/>
          </p:cNvGrpSpPr>
          <p:nvPr/>
        </p:nvGrpSpPr>
        <p:grpSpPr bwMode="auto">
          <a:xfrm>
            <a:off x="4000872" y="1838520"/>
            <a:ext cx="381000" cy="381000"/>
            <a:chOff x="1104" y="1008"/>
            <a:chExt cx="240" cy="240"/>
          </a:xfrm>
        </p:grpSpPr>
        <p:sp>
          <p:nvSpPr>
            <p:cNvPr id="59" name="Line 15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0" name="Line 16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61" name="Group 17"/>
          <p:cNvGrpSpPr>
            <a:grpSpLocks/>
          </p:cNvGrpSpPr>
          <p:nvPr/>
        </p:nvGrpSpPr>
        <p:grpSpPr bwMode="auto">
          <a:xfrm>
            <a:off x="7887072" y="1838520"/>
            <a:ext cx="381000" cy="381000"/>
            <a:chOff x="1104" y="1008"/>
            <a:chExt cx="240" cy="240"/>
          </a:xfrm>
        </p:grpSpPr>
        <p:sp>
          <p:nvSpPr>
            <p:cNvPr id="62" name="Line 18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3" name="Line 19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64" name="Group 20"/>
          <p:cNvGrpSpPr>
            <a:grpSpLocks/>
          </p:cNvGrpSpPr>
          <p:nvPr/>
        </p:nvGrpSpPr>
        <p:grpSpPr bwMode="auto">
          <a:xfrm flipH="1" flipV="1">
            <a:off x="800472" y="2219520"/>
            <a:ext cx="381000" cy="381000"/>
            <a:chOff x="1104" y="1008"/>
            <a:chExt cx="240" cy="240"/>
          </a:xfrm>
        </p:grpSpPr>
        <p:sp>
          <p:nvSpPr>
            <p:cNvPr id="65" name="Line 21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6" name="Line 22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67" name="Group 23"/>
          <p:cNvGrpSpPr>
            <a:grpSpLocks/>
          </p:cNvGrpSpPr>
          <p:nvPr/>
        </p:nvGrpSpPr>
        <p:grpSpPr bwMode="auto">
          <a:xfrm flipH="1" flipV="1">
            <a:off x="3315072" y="2219520"/>
            <a:ext cx="381000" cy="381000"/>
            <a:chOff x="1104" y="1008"/>
            <a:chExt cx="240" cy="240"/>
          </a:xfrm>
        </p:grpSpPr>
        <p:sp>
          <p:nvSpPr>
            <p:cNvPr id="68" name="Line 24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9" name="Line 25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70" name="Group 26"/>
          <p:cNvGrpSpPr>
            <a:grpSpLocks/>
          </p:cNvGrpSpPr>
          <p:nvPr/>
        </p:nvGrpSpPr>
        <p:grpSpPr bwMode="auto">
          <a:xfrm flipH="1" flipV="1">
            <a:off x="7201272" y="2219520"/>
            <a:ext cx="381000" cy="381000"/>
            <a:chOff x="1104" y="1008"/>
            <a:chExt cx="240" cy="240"/>
          </a:xfrm>
        </p:grpSpPr>
        <p:sp>
          <p:nvSpPr>
            <p:cNvPr id="71" name="Line 27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72" name="Line 28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sp>
        <p:nvSpPr>
          <p:cNvPr id="73" name="Line 29"/>
          <p:cNvSpPr>
            <a:spLocks noChangeShapeType="1"/>
          </p:cNvSpPr>
          <p:nvPr/>
        </p:nvSpPr>
        <p:spPr bwMode="auto">
          <a:xfrm flipH="1">
            <a:off x="1867272" y="2410020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74" name="Line 30"/>
          <p:cNvSpPr>
            <a:spLocks noChangeShapeType="1"/>
          </p:cNvSpPr>
          <p:nvPr/>
        </p:nvSpPr>
        <p:spPr bwMode="auto">
          <a:xfrm flipH="1">
            <a:off x="4381872" y="2448120"/>
            <a:ext cx="297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75" name="Oval 31"/>
          <p:cNvSpPr>
            <a:spLocks noChangeAspect="1" noChangeArrowheads="1"/>
          </p:cNvSpPr>
          <p:nvPr/>
        </p:nvSpPr>
        <p:spPr bwMode="auto">
          <a:xfrm>
            <a:off x="952872" y="237192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endParaRPr lang="zh-CN" altLang="en-US">
              <a:latin typeface="+mn-lt"/>
              <a:ea typeface="SimSun" pitchFamily="2" charset="-122"/>
            </a:endParaRPr>
          </a:p>
        </p:txBody>
      </p:sp>
      <p:sp>
        <p:nvSpPr>
          <p:cNvPr id="76" name="Line 32"/>
          <p:cNvSpPr>
            <a:spLocks noChangeShapeType="1"/>
          </p:cNvSpPr>
          <p:nvPr/>
        </p:nvSpPr>
        <p:spPr bwMode="auto">
          <a:xfrm flipH="1" flipV="1">
            <a:off x="7201272" y="2600520"/>
            <a:ext cx="76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77" name="Text Box 33"/>
          <p:cNvSpPr txBox="1">
            <a:spLocks noChangeArrowheads="1"/>
          </p:cNvSpPr>
          <p:nvPr/>
        </p:nvSpPr>
        <p:spPr bwMode="auto">
          <a:xfrm>
            <a:off x="7086972" y="3210120"/>
            <a:ext cx="590546" cy="461665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 altLang="zh-CN" sz="2400">
                <a:latin typeface="+mn-lt"/>
                <a:ea typeface="SimSun" pitchFamily="2" charset="-122"/>
              </a:rPr>
              <a:t>tail</a:t>
            </a:r>
          </a:p>
        </p:txBody>
      </p:sp>
      <p:sp>
        <p:nvSpPr>
          <p:cNvPr id="78" name="Rectangle 35"/>
          <p:cNvSpPr>
            <a:spLocks noChangeArrowheads="1"/>
          </p:cNvSpPr>
          <p:nvPr/>
        </p:nvSpPr>
        <p:spPr bwMode="auto">
          <a:xfrm>
            <a:off x="5220072" y="3057720"/>
            <a:ext cx="10668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/>
          <a:lstStyle/>
          <a:p>
            <a:pPr algn="ctr"/>
            <a:r>
              <a:rPr lang="en-US" altLang="zh-CN" sz="2400">
                <a:latin typeface="+mn-lt"/>
                <a:ea typeface="SimSun" pitchFamily="2" charset="-122"/>
              </a:rPr>
              <a:t>b</a:t>
            </a:r>
          </a:p>
        </p:txBody>
      </p:sp>
      <p:grpSp>
        <p:nvGrpSpPr>
          <p:cNvPr id="79" name="Group 36"/>
          <p:cNvGrpSpPr>
            <a:grpSpLocks/>
          </p:cNvGrpSpPr>
          <p:nvPr/>
        </p:nvGrpSpPr>
        <p:grpSpPr bwMode="auto">
          <a:xfrm>
            <a:off x="5905872" y="3057720"/>
            <a:ext cx="381000" cy="381000"/>
            <a:chOff x="1104" y="1008"/>
            <a:chExt cx="240" cy="240"/>
          </a:xfrm>
        </p:grpSpPr>
        <p:sp>
          <p:nvSpPr>
            <p:cNvPr id="80" name="Line 37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81" name="Line 38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82" name="Group 39"/>
          <p:cNvGrpSpPr>
            <a:grpSpLocks/>
          </p:cNvGrpSpPr>
          <p:nvPr/>
        </p:nvGrpSpPr>
        <p:grpSpPr bwMode="auto">
          <a:xfrm flipH="1" flipV="1">
            <a:off x="5220072" y="3438720"/>
            <a:ext cx="381000" cy="381000"/>
            <a:chOff x="1104" y="1008"/>
            <a:chExt cx="240" cy="240"/>
          </a:xfrm>
        </p:grpSpPr>
        <p:sp>
          <p:nvSpPr>
            <p:cNvPr id="83" name="Line 40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84" name="Line 41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sp>
        <p:nvSpPr>
          <p:cNvPr id="85" name="Text Box 43"/>
          <p:cNvSpPr txBox="1">
            <a:spLocks noChangeArrowheads="1"/>
          </p:cNvSpPr>
          <p:nvPr/>
        </p:nvSpPr>
        <p:spPr bwMode="auto">
          <a:xfrm>
            <a:off x="2994397" y="3514920"/>
            <a:ext cx="1154611" cy="461665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 altLang="zh-CN" sz="2400">
                <a:latin typeface="+mn-lt"/>
                <a:ea typeface="SimSun" pitchFamily="2" charset="-122"/>
              </a:rPr>
              <a:t>current</a:t>
            </a:r>
          </a:p>
        </p:txBody>
      </p:sp>
      <p:sp>
        <p:nvSpPr>
          <p:cNvPr id="86" name="Line 44"/>
          <p:cNvSpPr>
            <a:spLocks noChangeShapeType="1"/>
          </p:cNvSpPr>
          <p:nvPr/>
        </p:nvSpPr>
        <p:spPr bwMode="auto">
          <a:xfrm flipH="1" flipV="1">
            <a:off x="3315072" y="260052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87" name="Line 45"/>
          <p:cNvSpPr>
            <a:spLocks noChangeShapeType="1"/>
          </p:cNvSpPr>
          <p:nvPr/>
        </p:nvSpPr>
        <p:spPr bwMode="auto">
          <a:xfrm flipH="1" flipV="1">
            <a:off x="4381872" y="2600520"/>
            <a:ext cx="1066800" cy="10668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76235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Inserting a Node in Doubly Linked List (3)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add a new item after the linked list node pointed by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current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11-Linked List Variations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18</a:t>
            </a:fld>
            <a:endParaRPr lang="en-GB" dirty="0"/>
          </a:p>
        </p:txBody>
      </p:sp>
      <p:sp>
        <p:nvSpPr>
          <p:cNvPr id="39" name="TextBox 38"/>
          <p:cNvSpPr txBox="1"/>
          <p:nvPr/>
        </p:nvSpPr>
        <p:spPr>
          <a:xfrm>
            <a:off x="467544" y="4205867"/>
            <a:ext cx="572238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newNode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= new 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DoublyLinkedListNode</a:t>
            </a:r>
            <a:endParaRPr lang="en-US" sz="20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newNode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prev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= current;</a:t>
            </a:r>
          </a:p>
          <a:p>
            <a:r>
              <a:rPr lang="en-US" sz="2000" b="1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newNode</a:t>
            </a:r>
            <a:r>
              <a:rPr lang="en-US" sz="20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-&gt;next = current-&gt;next;</a:t>
            </a:r>
          </a:p>
          <a:p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newNode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prev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-&gt;next = 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newNode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newNode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-&gt;next-&gt;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prev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= 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newNode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current = 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newNode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88" name="Rectangle 3"/>
          <p:cNvSpPr>
            <a:spLocks noChangeArrowheads="1"/>
          </p:cNvSpPr>
          <p:nvPr/>
        </p:nvSpPr>
        <p:spPr bwMode="auto">
          <a:xfrm>
            <a:off x="905272" y="1843100"/>
            <a:ext cx="10668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/>
          <a:lstStyle/>
          <a:p>
            <a:pPr algn="ctr"/>
            <a:endParaRPr lang="zh-CN" sz="2400">
              <a:latin typeface="+mn-lt"/>
              <a:ea typeface="SimSun" pitchFamily="2" charset="-122"/>
            </a:endParaRPr>
          </a:p>
        </p:txBody>
      </p:sp>
      <p:sp>
        <p:nvSpPr>
          <p:cNvPr id="89" name="Rectangle 4"/>
          <p:cNvSpPr>
            <a:spLocks noChangeArrowheads="1"/>
          </p:cNvSpPr>
          <p:nvPr/>
        </p:nvSpPr>
        <p:spPr bwMode="auto">
          <a:xfrm>
            <a:off x="3419872" y="1843100"/>
            <a:ext cx="10668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/>
          <a:lstStyle/>
          <a:p>
            <a:pPr algn="ctr"/>
            <a:r>
              <a:rPr lang="en-US" altLang="zh-CN" sz="2400">
                <a:latin typeface="+mn-lt"/>
                <a:ea typeface="SimSun" pitchFamily="2" charset="-122"/>
              </a:rPr>
              <a:t>a</a:t>
            </a:r>
          </a:p>
        </p:txBody>
      </p:sp>
      <p:sp>
        <p:nvSpPr>
          <p:cNvPr id="90" name="Rectangle 5"/>
          <p:cNvSpPr>
            <a:spLocks noChangeArrowheads="1"/>
          </p:cNvSpPr>
          <p:nvPr/>
        </p:nvSpPr>
        <p:spPr bwMode="auto">
          <a:xfrm>
            <a:off x="7306072" y="1843100"/>
            <a:ext cx="10668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/>
          <a:lstStyle/>
          <a:p>
            <a:pPr algn="ctr"/>
            <a:r>
              <a:rPr lang="en-US" altLang="zh-CN" sz="2400">
                <a:latin typeface="+mn-lt"/>
                <a:ea typeface="SimSun" pitchFamily="2" charset="-122"/>
              </a:rPr>
              <a:t>c</a:t>
            </a:r>
          </a:p>
        </p:txBody>
      </p:sp>
      <p:sp>
        <p:nvSpPr>
          <p:cNvPr id="91" name="Text Box 6"/>
          <p:cNvSpPr txBox="1">
            <a:spLocks noChangeArrowheads="1"/>
          </p:cNvSpPr>
          <p:nvPr/>
        </p:nvSpPr>
        <p:spPr bwMode="auto">
          <a:xfrm>
            <a:off x="829072" y="3138500"/>
            <a:ext cx="990600" cy="461665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n-lt"/>
                <a:ea typeface="SimSun" pitchFamily="2" charset="-122"/>
              </a:rPr>
              <a:t>head</a:t>
            </a:r>
          </a:p>
        </p:txBody>
      </p:sp>
      <p:sp>
        <p:nvSpPr>
          <p:cNvPr id="92" name="Line 7"/>
          <p:cNvSpPr>
            <a:spLocks noChangeShapeType="1"/>
          </p:cNvSpPr>
          <p:nvPr/>
        </p:nvSpPr>
        <p:spPr bwMode="auto">
          <a:xfrm flipV="1">
            <a:off x="1819672" y="20336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93" name="Line 8"/>
          <p:cNvSpPr>
            <a:spLocks noChangeShapeType="1"/>
          </p:cNvSpPr>
          <p:nvPr/>
        </p:nvSpPr>
        <p:spPr bwMode="auto">
          <a:xfrm>
            <a:off x="4334272" y="2071700"/>
            <a:ext cx="297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94" name="Line 9"/>
          <p:cNvSpPr>
            <a:spLocks noChangeShapeType="1"/>
          </p:cNvSpPr>
          <p:nvPr/>
        </p:nvSpPr>
        <p:spPr bwMode="auto">
          <a:xfrm flipH="1" flipV="1">
            <a:off x="905272" y="2605100"/>
            <a:ext cx="2286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95" name="Oval 10"/>
          <p:cNvSpPr>
            <a:spLocks noChangeAspect="1" noChangeArrowheads="1"/>
          </p:cNvSpPr>
          <p:nvPr/>
        </p:nvSpPr>
        <p:spPr bwMode="auto">
          <a:xfrm>
            <a:off x="8144272" y="19955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endParaRPr lang="zh-CN" altLang="en-US">
              <a:latin typeface="+mn-lt"/>
              <a:ea typeface="SimSun" pitchFamily="2" charset="-122"/>
            </a:endParaRPr>
          </a:p>
        </p:txBody>
      </p:sp>
      <p:grpSp>
        <p:nvGrpSpPr>
          <p:cNvPr id="96" name="Group 11"/>
          <p:cNvGrpSpPr>
            <a:grpSpLocks/>
          </p:cNvGrpSpPr>
          <p:nvPr/>
        </p:nvGrpSpPr>
        <p:grpSpPr bwMode="auto">
          <a:xfrm>
            <a:off x="1591072" y="1843100"/>
            <a:ext cx="381000" cy="381000"/>
            <a:chOff x="1104" y="1008"/>
            <a:chExt cx="240" cy="240"/>
          </a:xfrm>
        </p:grpSpPr>
        <p:sp>
          <p:nvSpPr>
            <p:cNvPr id="97" name="Line 12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98" name="Line 13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99" name="Group 14"/>
          <p:cNvGrpSpPr>
            <a:grpSpLocks/>
          </p:cNvGrpSpPr>
          <p:nvPr/>
        </p:nvGrpSpPr>
        <p:grpSpPr bwMode="auto">
          <a:xfrm>
            <a:off x="4105672" y="1843100"/>
            <a:ext cx="381000" cy="381000"/>
            <a:chOff x="1104" y="1008"/>
            <a:chExt cx="240" cy="240"/>
          </a:xfrm>
        </p:grpSpPr>
        <p:sp>
          <p:nvSpPr>
            <p:cNvPr id="100" name="Line 15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01" name="Line 16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102" name="Group 17"/>
          <p:cNvGrpSpPr>
            <a:grpSpLocks/>
          </p:cNvGrpSpPr>
          <p:nvPr/>
        </p:nvGrpSpPr>
        <p:grpSpPr bwMode="auto">
          <a:xfrm>
            <a:off x="7991872" y="1843100"/>
            <a:ext cx="381000" cy="381000"/>
            <a:chOff x="1104" y="1008"/>
            <a:chExt cx="240" cy="240"/>
          </a:xfrm>
        </p:grpSpPr>
        <p:sp>
          <p:nvSpPr>
            <p:cNvPr id="103" name="Line 18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04" name="Line 19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105" name="Group 20"/>
          <p:cNvGrpSpPr>
            <a:grpSpLocks/>
          </p:cNvGrpSpPr>
          <p:nvPr/>
        </p:nvGrpSpPr>
        <p:grpSpPr bwMode="auto">
          <a:xfrm flipH="1" flipV="1">
            <a:off x="905272" y="2224100"/>
            <a:ext cx="381000" cy="381000"/>
            <a:chOff x="1104" y="1008"/>
            <a:chExt cx="240" cy="240"/>
          </a:xfrm>
        </p:grpSpPr>
        <p:sp>
          <p:nvSpPr>
            <p:cNvPr id="106" name="Line 21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07" name="Line 22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108" name="Group 23"/>
          <p:cNvGrpSpPr>
            <a:grpSpLocks/>
          </p:cNvGrpSpPr>
          <p:nvPr/>
        </p:nvGrpSpPr>
        <p:grpSpPr bwMode="auto">
          <a:xfrm flipH="1" flipV="1">
            <a:off x="3419872" y="2224100"/>
            <a:ext cx="381000" cy="381000"/>
            <a:chOff x="1104" y="1008"/>
            <a:chExt cx="240" cy="240"/>
          </a:xfrm>
        </p:grpSpPr>
        <p:sp>
          <p:nvSpPr>
            <p:cNvPr id="109" name="Line 24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10" name="Line 25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111" name="Group 26"/>
          <p:cNvGrpSpPr>
            <a:grpSpLocks/>
          </p:cNvGrpSpPr>
          <p:nvPr/>
        </p:nvGrpSpPr>
        <p:grpSpPr bwMode="auto">
          <a:xfrm flipH="1" flipV="1">
            <a:off x="7306072" y="2224100"/>
            <a:ext cx="381000" cy="381000"/>
            <a:chOff x="1104" y="1008"/>
            <a:chExt cx="240" cy="240"/>
          </a:xfrm>
        </p:grpSpPr>
        <p:sp>
          <p:nvSpPr>
            <p:cNvPr id="112" name="Line 27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13" name="Line 28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sp>
        <p:nvSpPr>
          <p:cNvPr id="114" name="Line 29"/>
          <p:cNvSpPr>
            <a:spLocks noChangeShapeType="1"/>
          </p:cNvSpPr>
          <p:nvPr/>
        </p:nvSpPr>
        <p:spPr bwMode="auto">
          <a:xfrm flipH="1">
            <a:off x="1972072" y="2414600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15" name="Line 30"/>
          <p:cNvSpPr>
            <a:spLocks noChangeShapeType="1"/>
          </p:cNvSpPr>
          <p:nvPr/>
        </p:nvSpPr>
        <p:spPr bwMode="auto">
          <a:xfrm flipH="1">
            <a:off x="4486672" y="2452700"/>
            <a:ext cx="297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16" name="Oval 31"/>
          <p:cNvSpPr>
            <a:spLocks noChangeAspect="1" noChangeArrowheads="1"/>
          </p:cNvSpPr>
          <p:nvPr/>
        </p:nvSpPr>
        <p:spPr bwMode="auto">
          <a:xfrm>
            <a:off x="1057672" y="23765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endParaRPr lang="zh-CN" altLang="en-US">
              <a:latin typeface="+mn-lt"/>
              <a:ea typeface="SimSun" pitchFamily="2" charset="-122"/>
            </a:endParaRPr>
          </a:p>
        </p:txBody>
      </p:sp>
      <p:sp>
        <p:nvSpPr>
          <p:cNvPr id="117" name="Line 32"/>
          <p:cNvSpPr>
            <a:spLocks noChangeShapeType="1"/>
          </p:cNvSpPr>
          <p:nvPr/>
        </p:nvSpPr>
        <p:spPr bwMode="auto">
          <a:xfrm flipH="1" flipV="1">
            <a:off x="7306072" y="2605100"/>
            <a:ext cx="76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18" name="Text Box 33"/>
          <p:cNvSpPr txBox="1">
            <a:spLocks noChangeArrowheads="1"/>
          </p:cNvSpPr>
          <p:nvPr/>
        </p:nvSpPr>
        <p:spPr bwMode="auto">
          <a:xfrm>
            <a:off x="7191772" y="3214700"/>
            <a:ext cx="590546" cy="461665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 altLang="zh-CN" sz="2400">
                <a:latin typeface="+mn-lt"/>
                <a:ea typeface="SimSun" pitchFamily="2" charset="-122"/>
              </a:rPr>
              <a:t>tail</a:t>
            </a:r>
          </a:p>
        </p:txBody>
      </p:sp>
      <p:sp>
        <p:nvSpPr>
          <p:cNvPr id="119" name="Rectangle 35"/>
          <p:cNvSpPr>
            <a:spLocks noChangeArrowheads="1"/>
          </p:cNvSpPr>
          <p:nvPr/>
        </p:nvSpPr>
        <p:spPr bwMode="auto">
          <a:xfrm>
            <a:off x="5324872" y="3062300"/>
            <a:ext cx="10668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/>
          <a:lstStyle/>
          <a:p>
            <a:pPr algn="ctr"/>
            <a:r>
              <a:rPr lang="en-US" altLang="zh-CN" sz="2400">
                <a:latin typeface="+mn-lt"/>
                <a:ea typeface="SimSun" pitchFamily="2" charset="-122"/>
              </a:rPr>
              <a:t>b</a:t>
            </a:r>
          </a:p>
        </p:txBody>
      </p:sp>
      <p:grpSp>
        <p:nvGrpSpPr>
          <p:cNvPr id="120" name="Group 36"/>
          <p:cNvGrpSpPr>
            <a:grpSpLocks/>
          </p:cNvGrpSpPr>
          <p:nvPr/>
        </p:nvGrpSpPr>
        <p:grpSpPr bwMode="auto">
          <a:xfrm>
            <a:off x="6010672" y="3062300"/>
            <a:ext cx="381000" cy="381000"/>
            <a:chOff x="1104" y="1008"/>
            <a:chExt cx="240" cy="240"/>
          </a:xfrm>
        </p:grpSpPr>
        <p:sp>
          <p:nvSpPr>
            <p:cNvPr id="121" name="Line 37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22" name="Line 38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123" name="Group 39"/>
          <p:cNvGrpSpPr>
            <a:grpSpLocks/>
          </p:cNvGrpSpPr>
          <p:nvPr/>
        </p:nvGrpSpPr>
        <p:grpSpPr bwMode="auto">
          <a:xfrm flipH="1" flipV="1">
            <a:off x="5324872" y="3443300"/>
            <a:ext cx="381000" cy="381000"/>
            <a:chOff x="1104" y="1008"/>
            <a:chExt cx="240" cy="240"/>
          </a:xfrm>
        </p:grpSpPr>
        <p:sp>
          <p:nvSpPr>
            <p:cNvPr id="124" name="Line 40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25" name="Line 41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sp>
        <p:nvSpPr>
          <p:cNvPr id="126" name="Text Box 43"/>
          <p:cNvSpPr txBox="1">
            <a:spLocks noChangeArrowheads="1"/>
          </p:cNvSpPr>
          <p:nvPr/>
        </p:nvSpPr>
        <p:spPr bwMode="auto">
          <a:xfrm>
            <a:off x="3099197" y="3519500"/>
            <a:ext cx="1154611" cy="461665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 altLang="zh-CN" sz="2400">
                <a:latin typeface="+mn-lt"/>
                <a:ea typeface="SimSun" pitchFamily="2" charset="-122"/>
              </a:rPr>
              <a:t>current</a:t>
            </a:r>
          </a:p>
        </p:txBody>
      </p:sp>
      <p:sp>
        <p:nvSpPr>
          <p:cNvPr id="127" name="Line 44"/>
          <p:cNvSpPr>
            <a:spLocks noChangeShapeType="1"/>
          </p:cNvSpPr>
          <p:nvPr/>
        </p:nvSpPr>
        <p:spPr bwMode="auto">
          <a:xfrm flipH="1" flipV="1">
            <a:off x="3419872" y="260510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28" name="Line 45"/>
          <p:cNvSpPr>
            <a:spLocks noChangeShapeType="1"/>
          </p:cNvSpPr>
          <p:nvPr/>
        </p:nvSpPr>
        <p:spPr bwMode="auto">
          <a:xfrm flipH="1" flipV="1">
            <a:off x="4486672" y="2605100"/>
            <a:ext cx="10668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29" name="Line 47"/>
          <p:cNvSpPr>
            <a:spLocks noChangeShapeType="1"/>
          </p:cNvSpPr>
          <p:nvPr/>
        </p:nvSpPr>
        <p:spPr bwMode="auto">
          <a:xfrm flipV="1">
            <a:off x="6239272" y="2224100"/>
            <a:ext cx="1066800" cy="9906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28084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Inserting a Node in Doubly Linked List (3)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50" y="1124744"/>
            <a:ext cx="8496300" cy="601907"/>
          </a:xfrm>
        </p:spPr>
        <p:txBody>
          <a:bodyPr/>
          <a:lstStyle/>
          <a:p>
            <a:r>
              <a:rPr lang="en-US" dirty="0"/>
              <a:t>To add a new item after the linked list node pointed by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current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11-Linked List Variations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19</a:t>
            </a:fld>
            <a:endParaRPr lang="en-GB" dirty="0"/>
          </a:p>
        </p:txBody>
      </p:sp>
      <p:sp>
        <p:nvSpPr>
          <p:cNvPr id="39" name="TextBox 38"/>
          <p:cNvSpPr txBox="1"/>
          <p:nvPr/>
        </p:nvSpPr>
        <p:spPr>
          <a:xfrm>
            <a:off x="467544" y="4205867"/>
            <a:ext cx="572238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newNode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= new 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DoublyLinkedListNode</a:t>
            </a:r>
            <a:endParaRPr lang="en-US" sz="20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newNode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prev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= current;</a:t>
            </a:r>
          </a:p>
          <a:p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newNode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-&gt;next = current-&gt;next;</a:t>
            </a:r>
          </a:p>
          <a:p>
            <a:r>
              <a:rPr lang="en-US" sz="2000" b="1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newNode</a:t>
            </a:r>
            <a:r>
              <a:rPr lang="en-US" sz="20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en-US" sz="2000" b="1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prev</a:t>
            </a:r>
            <a:r>
              <a:rPr lang="en-US" sz="20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-&gt;next = </a:t>
            </a:r>
            <a:r>
              <a:rPr lang="en-US" sz="2000" b="1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newNode</a:t>
            </a:r>
            <a:r>
              <a:rPr lang="en-US" sz="20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newNode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-&gt;next-&gt;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prev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= 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newNode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current = 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newNode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49" name="Rectangle 3"/>
          <p:cNvSpPr>
            <a:spLocks noChangeArrowheads="1"/>
          </p:cNvSpPr>
          <p:nvPr/>
        </p:nvSpPr>
        <p:spPr bwMode="auto">
          <a:xfrm>
            <a:off x="926976" y="1845416"/>
            <a:ext cx="10668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/>
          <a:lstStyle/>
          <a:p>
            <a:pPr algn="ctr"/>
            <a:endParaRPr lang="zh-CN" sz="2400">
              <a:latin typeface="+mn-lt"/>
              <a:ea typeface="SimSun" pitchFamily="2" charset="-122"/>
            </a:endParaRPr>
          </a:p>
        </p:txBody>
      </p:sp>
      <p:sp>
        <p:nvSpPr>
          <p:cNvPr id="50" name="Rectangle 4"/>
          <p:cNvSpPr>
            <a:spLocks noChangeArrowheads="1"/>
          </p:cNvSpPr>
          <p:nvPr/>
        </p:nvSpPr>
        <p:spPr bwMode="auto">
          <a:xfrm>
            <a:off x="3441576" y="1845416"/>
            <a:ext cx="10668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/>
          <a:lstStyle/>
          <a:p>
            <a:pPr algn="ctr"/>
            <a:r>
              <a:rPr lang="en-US" altLang="zh-CN" sz="2400">
                <a:latin typeface="+mn-lt"/>
                <a:ea typeface="SimSun" pitchFamily="2" charset="-122"/>
              </a:rPr>
              <a:t>a</a:t>
            </a:r>
          </a:p>
        </p:txBody>
      </p:sp>
      <p:sp>
        <p:nvSpPr>
          <p:cNvPr id="51" name="Rectangle 5"/>
          <p:cNvSpPr>
            <a:spLocks noChangeArrowheads="1"/>
          </p:cNvSpPr>
          <p:nvPr/>
        </p:nvSpPr>
        <p:spPr bwMode="auto">
          <a:xfrm>
            <a:off x="7327776" y="1845416"/>
            <a:ext cx="10668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/>
          <a:lstStyle/>
          <a:p>
            <a:pPr algn="ctr"/>
            <a:r>
              <a:rPr lang="en-US" altLang="zh-CN" sz="2400">
                <a:latin typeface="+mn-lt"/>
                <a:ea typeface="SimSun" pitchFamily="2" charset="-122"/>
              </a:rPr>
              <a:t>c</a:t>
            </a:r>
          </a:p>
        </p:txBody>
      </p:sp>
      <p:sp>
        <p:nvSpPr>
          <p:cNvPr id="52" name="Text Box 6"/>
          <p:cNvSpPr txBox="1">
            <a:spLocks noChangeArrowheads="1"/>
          </p:cNvSpPr>
          <p:nvPr/>
        </p:nvSpPr>
        <p:spPr bwMode="auto">
          <a:xfrm>
            <a:off x="850776" y="3140816"/>
            <a:ext cx="853951" cy="461665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n-lt"/>
                <a:ea typeface="SimSun" pitchFamily="2" charset="-122"/>
              </a:rPr>
              <a:t>head</a:t>
            </a:r>
          </a:p>
        </p:txBody>
      </p:sp>
      <p:sp>
        <p:nvSpPr>
          <p:cNvPr id="53" name="Line 7"/>
          <p:cNvSpPr>
            <a:spLocks noChangeShapeType="1"/>
          </p:cNvSpPr>
          <p:nvPr/>
        </p:nvSpPr>
        <p:spPr bwMode="auto">
          <a:xfrm flipV="1">
            <a:off x="1841376" y="2035916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54" name="Line 8"/>
          <p:cNvSpPr>
            <a:spLocks noChangeShapeType="1"/>
          </p:cNvSpPr>
          <p:nvPr/>
        </p:nvSpPr>
        <p:spPr bwMode="auto">
          <a:xfrm>
            <a:off x="4355976" y="2074016"/>
            <a:ext cx="2971800" cy="0"/>
          </a:xfrm>
          <a:prstGeom prst="line">
            <a:avLst/>
          </a:prstGeom>
          <a:noFill/>
          <a:ln w="12700">
            <a:solidFill>
              <a:srgbClr val="0070C0"/>
            </a:solidFill>
            <a:prstDash val="dash"/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55" name="Line 9"/>
          <p:cNvSpPr>
            <a:spLocks noChangeShapeType="1"/>
          </p:cNvSpPr>
          <p:nvPr/>
        </p:nvSpPr>
        <p:spPr bwMode="auto">
          <a:xfrm flipH="1" flipV="1">
            <a:off x="926976" y="2607416"/>
            <a:ext cx="2286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56" name="Oval 10"/>
          <p:cNvSpPr>
            <a:spLocks noChangeAspect="1" noChangeArrowheads="1"/>
          </p:cNvSpPr>
          <p:nvPr/>
        </p:nvSpPr>
        <p:spPr bwMode="auto">
          <a:xfrm>
            <a:off x="8165976" y="1997816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endParaRPr lang="zh-CN" altLang="en-US">
              <a:latin typeface="+mn-lt"/>
              <a:ea typeface="SimSun" pitchFamily="2" charset="-122"/>
            </a:endParaRPr>
          </a:p>
        </p:txBody>
      </p:sp>
      <p:grpSp>
        <p:nvGrpSpPr>
          <p:cNvPr id="57" name="Group 11"/>
          <p:cNvGrpSpPr>
            <a:grpSpLocks/>
          </p:cNvGrpSpPr>
          <p:nvPr/>
        </p:nvGrpSpPr>
        <p:grpSpPr bwMode="auto">
          <a:xfrm>
            <a:off x="1612776" y="1845416"/>
            <a:ext cx="381000" cy="381000"/>
            <a:chOff x="1104" y="1008"/>
            <a:chExt cx="240" cy="240"/>
          </a:xfrm>
        </p:grpSpPr>
        <p:sp>
          <p:nvSpPr>
            <p:cNvPr id="58" name="Line 12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59" name="Line 13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60" name="Group 14"/>
          <p:cNvGrpSpPr>
            <a:grpSpLocks/>
          </p:cNvGrpSpPr>
          <p:nvPr/>
        </p:nvGrpSpPr>
        <p:grpSpPr bwMode="auto">
          <a:xfrm>
            <a:off x="4127376" y="1845416"/>
            <a:ext cx="381000" cy="381000"/>
            <a:chOff x="1104" y="1008"/>
            <a:chExt cx="240" cy="240"/>
          </a:xfrm>
        </p:grpSpPr>
        <p:sp>
          <p:nvSpPr>
            <p:cNvPr id="61" name="Line 15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2" name="Line 16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63" name="Group 17"/>
          <p:cNvGrpSpPr>
            <a:grpSpLocks/>
          </p:cNvGrpSpPr>
          <p:nvPr/>
        </p:nvGrpSpPr>
        <p:grpSpPr bwMode="auto">
          <a:xfrm>
            <a:off x="8013576" y="1845416"/>
            <a:ext cx="381000" cy="381000"/>
            <a:chOff x="1104" y="1008"/>
            <a:chExt cx="240" cy="240"/>
          </a:xfrm>
        </p:grpSpPr>
        <p:sp>
          <p:nvSpPr>
            <p:cNvPr id="64" name="Line 18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5" name="Line 19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66" name="Group 20"/>
          <p:cNvGrpSpPr>
            <a:grpSpLocks/>
          </p:cNvGrpSpPr>
          <p:nvPr/>
        </p:nvGrpSpPr>
        <p:grpSpPr bwMode="auto">
          <a:xfrm flipH="1" flipV="1">
            <a:off x="926976" y="2226416"/>
            <a:ext cx="381000" cy="381000"/>
            <a:chOff x="1104" y="1008"/>
            <a:chExt cx="240" cy="240"/>
          </a:xfrm>
        </p:grpSpPr>
        <p:sp>
          <p:nvSpPr>
            <p:cNvPr id="67" name="Line 21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8" name="Line 22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69" name="Group 23"/>
          <p:cNvGrpSpPr>
            <a:grpSpLocks/>
          </p:cNvGrpSpPr>
          <p:nvPr/>
        </p:nvGrpSpPr>
        <p:grpSpPr bwMode="auto">
          <a:xfrm flipH="1" flipV="1">
            <a:off x="3441576" y="2226416"/>
            <a:ext cx="381000" cy="381000"/>
            <a:chOff x="1104" y="1008"/>
            <a:chExt cx="240" cy="240"/>
          </a:xfrm>
        </p:grpSpPr>
        <p:sp>
          <p:nvSpPr>
            <p:cNvPr id="70" name="Line 24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71" name="Line 25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72" name="Group 26"/>
          <p:cNvGrpSpPr>
            <a:grpSpLocks/>
          </p:cNvGrpSpPr>
          <p:nvPr/>
        </p:nvGrpSpPr>
        <p:grpSpPr bwMode="auto">
          <a:xfrm flipH="1" flipV="1">
            <a:off x="7327776" y="2226416"/>
            <a:ext cx="381000" cy="381000"/>
            <a:chOff x="1104" y="1008"/>
            <a:chExt cx="240" cy="240"/>
          </a:xfrm>
        </p:grpSpPr>
        <p:sp>
          <p:nvSpPr>
            <p:cNvPr id="73" name="Line 27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74" name="Line 28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sp>
        <p:nvSpPr>
          <p:cNvPr id="75" name="Line 29"/>
          <p:cNvSpPr>
            <a:spLocks noChangeShapeType="1"/>
          </p:cNvSpPr>
          <p:nvPr/>
        </p:nvSpPr>
        <p:spPr bwMode="auto">
          <a:xfrm flipH="1">
            <a:off x="1993776" y="2416916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76" name="Line 30"/>
          <p:cNvSpPr>
            <a:spLocks noChangeShapeType="1"/>
          </p:cNvSpPr>
          <p:nvPr/>
        </p:nvSpPr>
        <p:spPr bwMode="auto">
          <a:xfrm flipH="1">
            <a:off x="4508376" y="2455016"/>
            <a:ext cx="297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77" name="Oval 31"/>
          <p:cNvSpPr>
            <a:spLocks noChangeAspect="1" noChangeArrowheads="1"/>
          </p:cNvSpPr>
          <p:nvPr/>
        </p:nvSpPr>
        <p:spPr bwMode="auto">
          <a:xfrm>
            <a:off x="1079376" y="2378816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endParaRPr lang="zh-CN" altLang="en-US">
              <a:latin typeface="+mn-lt"/>
              <a:ea typeface="SimSun" pitchFamily="2" charset="-122"/>
            </a:endParaRPr>
          </a:p>
        </p:txBody>
      </p:sp>
      <p:sp>
        <p:nvSpPr>
          <p:cNvPr id="78" name="Line 32"/>
          <p:cNvSpPr>
            <a:spLocks noChangeShapeType="1"/>
          </p:cNvSpPr>
          <p:nvPr/>
        </p:nvSpPr>
        <p:spPr bwMode="auto">
          <a:xfrm flipH="1" flipV="1">
            <a:off x="7327776" y="2607416"/>
            <a:ext cx="76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79" name="Text Box 33"/>
          <p:cNvSpPr txBox="1">
            <a:spLocks noChangeArrowheads="1"/>
          </p:cNvSpPr>
          <p:nvPr/>
        </p:nvSpPr>
        <p:spPr bwMode="auto">
          <a:xfrm>
            <a:off x="7213476" y="3217016"/>
            <a:ext cx="590546" cy="461665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 altLang="zh-CN" sz="2400">
                <a:latin typeface="+mn-lt"/>
                <a:ea typeface="SimSun" pitchFamily="2" charset="-122"/>
              </a:rPr>
              <a:t>tail</a:t>
            </a:r>
          </a:p>
        </p:txBody>
      </p:sp>
      <p:sp>
        <p:nvSpPr>
          <p:cNvPr id="80" name="Rectangle 35"/>
          <p:cNvSpPr>
            <a:spLocks noChangeArrowheads="1"/>
          </p:cNvSpPr>
          <p:nvPr/>
        </p:nvSpPr>
        <p:spPr bwMode="auto">
          <a:xfrm>
            <a:off x="5346576" y="3064616"/>
            <a:ext cx="10668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/>
          <a:lstStyle/>
          <a:p>
            <a:pPr algn="ctr"/>
            <a:r>
              <a:rPr lang="en-US" altLang="zh-CN" sz="2400">
                <a:latin typeface="+mn-lt"/>
                <a:ea typeface="SimSun" pitchFamily="2" charset="-122"/>
              </a:rPr>
              <a:t>b</a:t>
            </a:r>
          </a:p>
        </p:txBody>
      </p:sp>
      <p:grpSp>
        <p:nvGrpSpPr>
          <p:cNvPr id="81" name="Group 36"/>
          <p:cNvGrpSpPr>
            <a:grpSpLocks/>
          </p:cNvGrpSpPr>
          <p:nvPr/>
        </p:nvGrpSpPr>
        <p:grpSpPr bwMode="auto">
          <a:xfrm>
            <a:off x="6032376" y="3064616"/>
            <a:ext cx="381000" cy="381000"/>
            <a:chOff x="1104" y="1008"/>
            <a:chExt cx="240" cy="240"/>
          </a:xfrm>
        </p:grpSpPr>
        <p:sp>
          <p:nvSpPr>
            <p:cNvPr id="82" name="Line 37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83" name="Line 38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84" name="Group 39"/>
          <p:cNvGrpSpPr>
            <a:grpSpLocks/>
          </p:cNvGrpSpPr>
          <p:nvPr/>
        </p:nvGrpSpPr>
        <p:grpSpPr bwMode="auto">
          <a:xfrm flipH="1" flipV="1">
            <a:off x="5346576" y="3445616"/>
            <a:ext cx="381000" cy="381000"/>
            <a:chOff x="1104" y="1008"/>
            <a:chExt cx="240" cy="240"/>
          </a:xfrm>
        </p:grpSpPr>
        <p:sp>
          <p:nvSpPr>
            <p:cNvPr id="85" name="Line 40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86" name="Line 41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sp>
        <p:nvSpPr>
          <p:cNvPr id="87" name="Text Box 43"/>
          <p:cNvSpPr txBox="1">
            <a:spLocks noChangeArrowheads="1"/>
          </p:cNvSpPr>
          <p:nvPr/>
        </p:nvSpPr>
        <p:spPr bwMode="auto">
          <a:xfrm>
            <a:off x="3120901" y="3521816"/>
            <a:ext cx="1154611" cy="461665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 altLang="zh-CN" sz="2400">
                <a:latin typeface="+mn-lt"/>
                <a:ea typeface="SimSun" pitchFamily="2" charset="-122"/>
              </a:rPr>
              <a:t>current</a:t>
            </a:r>
          </a:p>
        </p:txBody>
      </p:sp>
      <p:sp>
        <p:nvSpPr>
          <p:cNvPr id="130" name="Line 44"/>
          <p:cNvSpPr>
            <a:spLocks noChangeShapeType="1"/>
          </p:cNvSpPr>
          <p:nvPr/>
        </p:nvSpPr>
        <p:spPr bwMode="auto">
          <a:xfrm flipH="1" flipV="1">
            <a:off x="3441576" y="2607416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31" name="Line 45"/>
          <p:cNvSpPr>
            <a:spLocks noChangeShapeType="1"/>
          </p:cNvSpPr>
          <p:nvPr/>
        </p:nvSpPr>
        <p:spPr bwMode="auto">
          <a:xfrm flipH="1" flipV="1">
            <a:off x="4508376" y="2607416"/>
            <a:ext cx="10668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32" name="Line 46"/>
          <p:cNvSpPr>
            <a:spLocks noChangeShapeType="1"/>
          </p:cNvSpPr>
          <p:nvPr/>
        </p:nvSpPr>
        <p:spPr bwMode="auto">
          <a:xfrm>
            <a:off x="4355976" y="2074016"/>
            <a:ext cx="990600" cy="9906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33" name="Line 48"/>
          <p:cNvSpPr>
            <a:spLocks noChangeShapeType="1"/>
          </p:cNvSpPr>
          <p:nvPr/>
        </p:nvSpPr>
        <p:spPr bwMode="auto">
          <a:xfrm flipV="1">
            <a:off x="6260976" y="2226416"/>
            <a:ext cx="10668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955704" y="5121848"/>
            <a:ext cx="3677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//Current-&gt;next = </a:t>
            </a:r>
            <a:r>
              <a:rPr lang="en-US" b="1" dirty="0" err="1">
                <a:solidFill>
                  <a:srgbClr val="00B05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newNode</a:t>
            </a:r>
            <a:endParaRPr lang="en-US" b="1" dirty="0">
              <a:solidFill>
                <a:srgbClr val="00B050"/>
              </a:solidFill>
              <a:latin typeface="Consolas" panose="020B06090202040302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0639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Inserting a Node in Doubly Linked List (3)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50" y="1124744"/>
            <a:ext cx="8496300" cy="601907"/>
          </a:xfrm>
        </p:spPr>
        <p:txBody>
          <a:bodyPr/>
          <a:lstStyle/>
          <a:p>
            <a:r>
              <a:rPr lang="en-US" dirty="0"/>
              <a:t>To add a new item after the linked list node pointed by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current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11-Linked List Variations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20</a:t>
            </a:fld>
            <a:endParaRPr lang="en-GB" dirty="0"/>
          </a:p>
        </p:txBody>
      </p:sp>
      <p:sp>
        <p:nvSpPr>
          <p:cNvPr id="39" name="TextBox 38"/>
          <p:cNvSpPr txBox="1"/>
          <p:nvPr/>
        </p:nvSpPr>
        <p:spPr>
          <a:xfrm>
            <a:off x="467544" y="4205867"/>
            <a:ext cx="572238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newNode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= new 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DoublyLinkedListNode</a:t>
            </a:r>
            <a:endParaRPr lang="en-US" sz="20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newNode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prev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= current;</a:t>
            </a:r>
          </a:p>
          <a:p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newNode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-&gt;next = current-&gt;next;</a:t>
            </a:r>
          </a:p>
          <a:p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newNode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prev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-&gt;next = 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newNode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000" b="1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newNode</a:t>
            </a:r>
            <a:r>
              <a:rPr lang="en-US" sz="20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-&gt;next-&gt;</a:t>
            </a:r>
            <a:r>
              <a:rPr lang="en-US" sz="2000" b="1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prev</a:t>
            </a:r>
            <a:r>
              <a:rPr lang="en-US" sz="20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= </a:t>
            </a:r>
            <a:r>
              <a:rPr lang="en-US" sz="2000" b="1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newNode</a:t>
            </a:r>
            <a:r>
              <a:rPr lang="en-US" sz="20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current = 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newNode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88" name="Rectangle 3"/>
          <p:cNvSpPr>
            <a:spLocks noChangeArrowheads="1"/>
          </p:cNvSpPr>
          <p:nvPr/>
        </p:nvSpPr>
        <p:spPr bwMode="auto">
          <a:xfrm>
            <a:off x="977280" y="1848550"/>
            <a:ext cx="10668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/>
          <a:lstStyle/>
          <a:p>
            <a:pPr algn="ctr"/>
            <a:endParaRPr lang="zh-CN" sz="2400">
              <a:latin typeface="+mn-lt"/>
              <a:ea typeface="SimSun" pitchFamily="2" charset="-122"/>
            </a:endParaRPr>
          </a:p>
        </p:txBody>
      </p:sp>
      <p:sp>
        <p:nvSpPr>
          <p:cNvPr id="89" name="Rectangle 4"/>
          <p:cNvSpPr>
            <a:spLocks noChangeArrowheads="1"/>
          </p:cNvSpPr>
          <p:nvPr/>
        </p:nvSpPr>
        <p:spPr bwMode="auto">
          <a:xfrm>
            <a:off x="3491880" y="1848550"/>
            <a:ext cx="10668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/>
          <a:lstStyle/>
          <a:p>
            <a:pPr algn="ctr"/>
            <a:r>
              <a:rPr lang="en-US" altLang="zh-CN" sz="2400">
                <a:latin typeface="+mn-lt"/>
                <a:ea typeface="SimSun" pitchFamily="2" charset="-122"/>
              </a:rPr>
              <a:t>a</a:t>
            </a:r>
          </a:p>
        </p:txBody>
      </p:sp>
      <p:sp>
        <p:nvSpPr>
          <p:cNvPr id="90" name="Rectangle 5"/>
          <p:cNvSpPr>
            <a:spLocks noChangeArrowheads="1"/>
          </p:cNvSpPr>
          <p:nvPr/>
        </p:nvSpPr>
        <p:spPr bwMode="auto">
          <a:xfrm>
            <a:off x="7378080" y="1848550"/>
            <a:ext cx="10668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/>
          <a:lstStyle/>
          <a:p>
            <a:pPr algn="ctr"/>
            <a:r>
              <a:rPr lang="en-US" altLang="zh-CN" sz="2400">
                <a:latin typeface="+mn-lt"/>
                <a:ea typeface="SimSun" pitchFamily="2" charset="-122"/>
              </a:rPr>
              <a:t>c</a:t>
            </a:r>
          </a:p>
        </p:txBody>
      </p:sp>
      <p:sp>
        <p:nvSpPr>
          <p:cNvPr id="91" name="Text Box 6"/>
          <p:cNvSpPr txBox="1">
            <a:spLocks noChangeArrowheads="1"/>
          </p:cNvSpPr>
          <p:nvPr/>
        </p:nvSpPr>
        <p:spPr bwMode="auto">
          <a:xfrm>
            <a:off x="901080" y="3143950"/>
            <a:ext cx="934616" cy="461665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n-lt"/>
                <a:ea typeface="SimSun" pitchFamily="2" charset="-122"/>
              </a:rPr>
              <a:t>head</a:t>
            </a:r>
          </a:p>
        </p:txBody>
      </p:sp>
      <p:sp>
        <p:nvSpPr>
          <p:cNvPr id="92" name="Line 7"/>
          <p:cNvSpPr>
            <a:spLocks noChangeShapeType="1"/>
          </p:cNvSpPr>
          <p:nvPr/>
        </p:nvSpPr>
        <p:spPr bwMode="auto">
          <a:xfrm flipV="1">
            <a:off x="1891680" y="203905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93" name="Line 9"/>
          <p:cNvSpPr>
            <a:spLocks noChangeShapeType="1"/>
          </p:cNvSpPr>
          <p:nvPr/>
        </p:nvSpPr>
        <p:spPr bwMode="auto">
          <a:xfrm flipH="1" flipV="1">
            <a:off x="977280" y="2610550"/>
            <a:ext cx="2286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94" name="Oval 10"/>
          <p:cNvSpPr>
            <a:spLocks noChangeAspect="1" noChangeArrowheads="1"/>
          </p:cNvSpPr>
          <p:nvPr/>
        </p:nvSpPr>
        <p:spPr bwMode="auto">
          <a:xfrm>
            <a:off x="8216280" y="200095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endParaRPr lang="zh-CN" altLang="en-US">
              <a:latin typeface="+mn-lt"/>
              <a:ea typeface="SimSun" pitchFamily="2" charset="-122"/>
            </a:endParaRPr>
          </a:p>
        </p:txBody>
      </p:sp>
      <p:grpSp>
        <p:nvGrpSpPr>
          <p:cNvPr id="95" name="Group 11"/>
          <p:cNvGrpSpPr>
            <a:grpSpLocks/>
          </p:cNvGrpSpPr>
          <p:nvPr/>
        </p:nvGrpSpPr>
        <p:grpSpPr bwMode="auto">
          <a:xfrm>
            <a:off x="1663080" y="1848550"/>
            <a:ext cx="381000" cy="381000"/>
            <a:chOff x="1104" y="1008"/>
            <a:chExt cx="240" cy="240"/>
          </a:xfrm>
        </p:grpSpPr>
        <p:sp>
          <p:nvSpPr>
            <p:cNvPr id="96" name="Line 12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97" name="Line 13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98" name="Group 14"/>
          <p:cNvGrpSpPr>
            <a:grpSpLocks/>
          </p:cNvGrpSpPr>
          <p:nvPr/>
        </p:nvGrpSpPr>
        <p:grpSpPr bwMode="auto">
          <a:xfrm>
            <a:off x="4177680" y="1848550"/>
            <a:ext cx="381000" cy="381000"/>
            <a:chOff x="1104" y="1008"/>
            <a:chExt cx="240" cy="240"/>
          </a:xfrm>
        </p:grpSpPr>
        <p:sp>
          <p:nvSpPr>
            <p:cNvPr id="99" name="Line 15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00" name="Line 16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101" name="Group 17"/>
          <p:cNvGrpSpPr>
            <a:grpSpLocks/>
          </p:cNvGrpSpPr>
          <p:nvPr/>
        </p:nvGrpSpPr>
        <p:grpSpPr bwMode="auto">
          <a:xfrm>
            <a:off x="8063880" y="1848550"/>
            <a:ext cx="381000" cy="381000"/>
            <a:chOff x="1104" y="1008"/>
            <a:chExt cx="240" cy="240"/>
          </a:xfrm>
        </p:grpSpPr>
        <p:sp>
          <p:nvSpPr>
            <p:cNvPr id="102" name="Line 18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03" name="Line 19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104" name="Group 20"/>
          <p:cNvGrpSpPr>
            <a:grpSpLocks/>
          </p:cNvGrpSpPr>
          <p:nvPr/>
        </p:nvGrpSpPr>
        <p:grpSpPr bwMode="auto">
          <a:xfrm flipH="1" flipV="1">
            <a:off x="977280" y="2229550"/>
            <a:ext cx="381000" cy="381000"/>
            <a:chOff x="1104" y="1008"/>
            <a:chExt cx="240" cy="240"/>
          </a:xfrm>
        </p:grpSpPr>
        <p:sp>
          <p:nvSpPr>
            <p:cNvPr id="105" name="Line 21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06" name="Line 22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107" name="Group 23"/>
          <p:cNvGrpSpPr>
            <a:grpSpLocks/>
          </p:cNvGrpSpPr>
          <p:nvPr/>
        </p:nvGrpSpPr>
        <p:grpSpPr bwMode="auto">
          <a:xfrm flipH="1" flipV="1">
            <a:off x="3491880" y="2229550"/>
            <a:ext cx="381000" cy="381000"/>
            <a:chOff x="1104" y="1008"/>
            <a:chExt cx="240" cy="240"/>
          </a:xfrm>
        </p:grpSpPr>
        <p:sp>
          <p:nvSpPr>
            <p:cNvPr id="108" name="Line 24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09" name="Line 25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110" name="Group 26"/>
          <p:cNvGrpSpPr>
            <a:grpSpLocks/>
          </p:cNvGrpSpPr>
          <p:nvPr/>
        </p:nvGrpSpPr>
        <p:grpSpPr bwMode="auto">
          <a:xfrm flipH="1" flipV="1">
            <a:off x="7378080" y="2229550"/>
            <a:ext cx="381000" cy="381000"/>
            <a:chOff x="1104" y="1008"/>
            <a:chExt cx="240" cy="240"/>
          </a:xfrm>
        </p:grpSpPr>
        <p:sp>
          <p:nvSpPr>
            <p:cNvPr id="111" name="Line 27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12" name="Line 28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sp>
        <p:nvSpPr>
          <p:cNvPr id="113" name="Line 29"/>
          <p:cNvSpPr>
            <a:spLocks noChangeShapeType="1"/>
          </p:cNvSpPr>
          <p:nvPr/>
        </p:nvSpPr>
        <p:spPr bwMode="auto">
          <a:xfrm flipH="1">
            <a:off x="2044080" y="2420050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14" name="Oval 31"/>
          <p:cNvSpPr>
            <a:spLocks noChangeAspect="1" noChangeArrowheads="1"/>
          </p:cNvSpPr>
          <p:nvPr/>
        </p:nvSpPr>
        <p:spPr bwMode="auto">
          <a:xfrm>
            <a:off x="1129680" y="238195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endParaRPr lang="zh-CN" altLang="en-US">
              <a:latin typeface="+mn-lt"/>
              <a:ea typeface="SimSun" pitchFamily="2" charset="-122"/>
            </a:endParaRPr>
          </a:p>
        </p:txBody>
      </p:sp>
      <p:sp>
        <p:nvSpPr>
          <p:cNvPr id="115" name="Line 32"/>
          <p:cNvSpPr>
            <a:spLocks noChangeShapeType="1"/>
          </p:cNvSpPr>
          <p:nvPr/>
        </p:nvSpPr>
        <p:spPr bwMode="auto">
          <a:xfrm flipH="1" flipV="1">
            <a:off x="7378080" y="2610550"/>
            <a:ext cx="76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16" name="Text Box 33"/>
          <p:cNvSpPr txBox="1">
            <a:spLocks noChangeArrowheads="1"/>
          </p:cNvSpPr>
          <p:nvPr/>
        </p:nvSpPr>
        <p:spPr bwMode="auto">
          <a:xfrm>
            <a:off x="7263780" y="3220150"/>
            <a:ext cx="590546" cy="461665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 altLang="zh-CN" sz="2400">
                <a:latin typeface="+mn-lt"/>
                <a:ea typeface="SimSun" pitchFamily="2" charset="-122"/>
              </a:rPr>
              <a:t>tail</a:t>
            </a:r>
          </a:p>
        </p:txBody>
      </p:sp>
      <p:sp>
        <p:nvSpPr>
          <p:cNvPr id="117" name="Rectangle 35"/>
          <p:cNvSpPr>
            <a:spLocks noChangeArrowheads="1"/>
          </p:cNvSpPr>
          <p:nvPr/>
        </p:nvSpPr>
        <p:spPr bwMode="auto">
          <a:xfrm>
            <a:off x="5396880" y="3067750"/>
            <a:ext cx="10668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/>
          <a:lstStyle/>
          <a:p>
            <a:pPr algn="ctr"/>
            <a:r>
              <a:rPr lang="en-US" altLang="zh-CN" sz="2400">
                <a:latin typeface="+mn-lt"/>
                <a:ea typeface="SimSun" pitchFamily="2" charset="-122"/>
              </a:rPr>
              <a:t>b</a:t>
            </a:r>
          </a:p>
        </p:txBody>
      </p:sp>
      <p:grpSp>
        <p:nvGrpSpPr>
          <p:cNvPr id="118" name="Group 36"/>
          <p:cNvGrpSpPr>
            <a:grpSpLocks/>
          </p:cNvGrpSpPr>
          <p:nvPr/>
        </p:nvGrpSpPr>
        <p:grpSpPr bwMode="auto">
          <a:xfrm>
            <a:off x="6082680" y="3067750"/>
            <a:ext cx="381000" cy="381000"/>
            <a:chOff x="1104" y="1008"/>
            <a:chExt cx="240" cy="240"/>
          </a:xfrm>
        </p:grpSpPr>
        <p:sp>
          <p:nvSpPr>
            <p:cNvPr id="119" name="Line 37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20" name="Line 38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121" name="Group 39"/>
          <p:cNvGrpSpPr>
            <a:grpSpLocks/>
          </p:cNvGrpSpPr>
          <p:nvPr/>
        </p:nvGrpSpPr>
        <p:grpSpPr bwMode="auto">
          <a:xfrm flipH="1" flipV="1">
            <a:off x="5396880" y="3448750"/>
            <a:ext cx="381000" cy="381000"/>
            <a:chOff x="1104" y="1008"/>
            <a:chExt cx="240" cy="240"/>
          </a:xfrm>
        </p:grpSpPr>
        <p:sp>
          <p:nvSpPr>
            <p:cNvPr id="122" name="Line 40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23" name="Line 41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sp>
        <p:nvSpPr>
          <p:cNvPr id="124" name="Text Box 43"/>
          <p:cNvSpPr txBox="1">
            <a:spLocks noChangeArrowheads="1"/>
          </p:cNvSpPr>
          <p:nvPr/>
        </p:nvSpPr>
        <p:spPr bwMode="auto">
          <a:xfrm>
            <a:off x="3171205" y="3524950"/>
            <a:ext cx="1154611" cy="461665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 altLang="zh-CN" sz="2400">
                <a:latin typeface="+mn-lt"/>
                <a:ea typeface="SimSun" pitchFamily="2" charset="-122"/>
              </a:rPr>
              <a:t>current</a:t>
            </a:r>
          </a:p>
        </p:txBody>
      </p:sp>
      <p:sp>
        <p:nvSpPr>
          <p:cNvPr id="125" name="Line 44"/>
          <p:cNvSpPr>
            <a:spLocks noChangeShapeType="1"/>
          </p:cNvSpPr>
          <p:nvPr/>
        </p:nvSpPr>
        <p:spPr bwMode="auto">
          <a:xfrm flipH="1" flipV="1">
            <a:off x="3491880" y="2610550"/>
            <a:ext cx="0" cy="914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26" name="Line 45"/>
          <p:cNvSpPr>
            <a:spLocks noChangeShapeType="1"/>
          </p:cNvSpPr>
          <p:nvPr/>
        </p:nvSpPr>
        <p:spPr bwMode="auto">
          <a:xfrm flipH="1" flipV="1">
            <a:off x="4558680" y="2610550"/>
            <a:ext cx="10668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27" name="Line 46"/>
          <p:cNvSpPr>
            <a:spLocks noChangeShapeType="1"/>
          </p:cNvSpPr>
          <p:nvPr/>
        </p:nvSpPr>
        <p:spPr bwMode="auto">
          <a:xfrm>
            <a:off x="4406280" y="2077150"/>
            <a:ext cx="9906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28" name="Line 47"/>
          <p:cNvSpPr>
            <a:spLocks noChangeShapeType="1"/>
          </p:cNvSpPr>
          <p:nvPr/>
        </p:nvSpPr>
        <p:spPr bwMode="auto">
          <a:xfrm flipV="1">
            <a:off x="6311280" y="2077150"/>
            <a:ext cx="10668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29" name="Line 49"/>
          <p:cNvSpPr>
            <a:spLocks noChangeShapeType="1"/>
          </p:cNvSpPr>
          <p:nvPr/>
        </p:nvSpPr>
        <p:spPr bwMode="auto">
          <a:xfrm flipH="1">
            <a:off x="6463680" y="2458150"/>
            <a:ext cx="1066800" cy="121920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34" name="Line 50"/>
          <p:cNvSpPr>
            <a:spLocks noChangeShapeType="1"/>
          </p:cNvSpPr>
          <p:nvPr/>
        </p:nvSpPr>
        <p:spPr bwMode="auto">
          <a:xfrm flipH="1">
            <a:off x="4558680" y="2458150"/>
            <a:ext cx="2971800" cy="0"/>
          </a:xfrm>
          <a:prstGeom prst="line">
            <a:avLst/>
          </a:prstGeom>
          <a:noFill/>
          <a:ln w="12700">
            <a:solidFill>
              <a:srgbClr val="0070C0"/>
            </a:solidFill>
            <a:prstDash val="dash"/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3821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Inserting a Node in Doubly Linked List (3)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50" y="1124744"/>
            <a:ext cx="8496300" cy="601907"/>
          </a:xfrm>
        </p:spPr>
        <p:txBody>
          <a:bodyPr/>
          <a:lstStyle/>
          <a:p>
            <a:r>
              <a:rPr lang="en-US" dirty="0"/>
              <a:t>To add a new item after the linked list node pointed by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current</a:t>
            </a:r>
            <a:endParaRPr lang="en-US" dirty="0">
              <a:latin typeface="Consolas" panose="020B0609020204030204" pitchFamily="49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11-Linked List Variations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21</a:t>
            </a:fld>
            <a:endParaRPr lang="en-GB" dirty="0"/>
          </a:p>
        </p:txBody>
      </p:sp>
      <p:sp>
        <p:nvSpPr>
          <p:cNvPr id="39" name="TextBox 38"/>
          <p:cNvSpPr txBox="1"/>
          <p:nvPr/>
        </p:nvSpPr>
        <p:spPr>
          <a:xfrm>
            <a:off x="467544" y="4205867"/>
            <a:ext cx="572238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newNode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= new 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DoublyLinkedListNode</a:t>
            </a:r>
            <a:endParaRPr lang="en-US" sz="2000" dirty="0">
              <a:latin typeface="Consolas" panose="020B0609020204030204" pitchFamily="49" charset="0"/>
              <a:cs typeface="Courier New" panose="02070309020205020404" pitchFamily="49" charset="0"/>
            </a:endParaRPr>
          </a:p>
          <a:p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newNode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prev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= current;</a:t>
            </a:r>
          </a:p>
          <a:p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newNode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-&gt;next = current-&gt;next;</a:t>
            </a:r>
          </a:p>
          <a:p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newNode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prev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-&gt;next = 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newNode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newNode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-&gt;next-&gt;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prev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= 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newNode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0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current = </a:t>
            </a:r>
            <a:r>
              <a:rPr lang="en-US" sz="2000" b="1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newNode</a:t>
            </a:r>
            <a:r>
              <a:rPr lang="en-US" sz="20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50" name="Rectangle 4"/>
          <p:cNvSpPr>
            <a:spLocks noChangeArrowheads="1"/>
          </p:cNvSpPr>
          <p:nvPr/>
        </p:nvSpPr>
        <p:spPr bwMode="auto">
          <a:xfrm>
            <a:off x="977280" y="1875752"/>
            <a:ext cx="10668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/>
          <a:lstStyle/>
          <a:p>
            <a:pPr algn="ctr"/>
            <a:endParaRPr lang="zh-CN" sz="2400">
              <a:latin typeface="+mn-lt"/>
              <a:ea typeface="SimSun" pitchFamily="2" charset="-122"/>
            </a:endParaRPr>
          </a:p>
        </p:txBody>
      </p:sp>
      <p:sp>
        <p:nvSpPr>
          <p:cNvPr id="51" name="Rectangle 5"/>
          <p:cNvSpPr>
            <a:spLocks noChangeArrowheads="1"/>
          </p:cNvSpPr>
          <p:nvPr/>
        </p:nvSpPr>
        <p:spPr bwMode="auto">
          <a:xfrm>
            <a:off x="3491880" y="1875752"/>
            <a:ext cx="10668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/>
          <a:lstStyle/>
          <a:p>
            <a:pPr algn="ctr"/>
            <a:r>
              <a:rPr lang="en-US" altLang="zh-CN" sz="2400">
                <a:latin typeface="+mn-lt"/>
                <a:ea typeface="SimSun" pitchFamily="2" charset="-122"/>
              </a:rPr>
              <a:t>a</a:t>
            </a:r>
          </a:p>
        </p:txBody>
      </p:sp>
      <p:sp>
        <p:nvSpPr>
          <p:cNvPr id="52" name="Rectangle 6"/>
          <p:cNvSpPr>
            <a:spLocks noChangeArrowheads="1"/>
          </p:cNvSpPr>
          <p:nvPr/>
        </p:nvSpPr>
        <p:spPr bwMode="auto">
          <a:xfrm>
            <a:off x="7378080" y="1875752"/>
            <a:ext cx="10668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/>
          <a:lstStyle/>
          <a:p>
            <a:pPr algn="ctr"/>
            <a:r>
              <a:rPr lang="en-US" altLang="zh-CN" sz="2400">
                <a:latin typeface="+mn-lt"/>
                <a:ea typeface="SimSun" pitchFamily="2" charset="-122"/>
              </a:rPr>
              <a:t>c</a:t>
            </a:r>
          </a:p>
        </p:txBody>
      </p:sp>
      <p:sp>
        <p:nvSpPr>
          <p:cNvPr id="53" name="Text Box 7"/>
          <p:cNvSpPr txBox="1">
            <a:spLocks noChangeArrowheads="1"/>
          </p:cNvSpPr>
          <p:nvPr/>
        </p:nvSpPr>
        <p:spPr bwMode="auto">
          <a:xfrm>
            <a:off x="901080" y="3171152"/>
            <a:ext cx="990600" cy="461665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n-lt"/>
                <a:ea typeface="SimSun" pitchFamily="2" charset="-122"/>
              </a:rPr>
              <a:t>head</a:t>
            </a:r>
          </a:p>
        </p:txBody>
      </p:sp>
      <p:sp>
        <p:nvSpPr>
          <p:cNvPr id="54" name="Line 8"/>
          <p:cNvSpPr>
            <a:spLocks noChangeShapeType="1"/>
          </p:cNvSpPr>
          <p:nvPr/>
        </p:nvSpPr>
        <p:spPr bwMode="auto">
          <a:xfrm flipV="1">
            <a:off x="1891680" y="2066252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55" name="Line 10"/>
          <p:cNvSpPr>
            <a:spLocks noChangeShapeType="1"/>
          </p:cNvSpPr>
          <p:nvPr/>
        </p:nvSpPr>
        <p:spPr bwMode="auto">
          <a:xfrm flipH="1" flipV="1">
            <a:off x="977280" y="2637752"/>
            <a:ext cx="2286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56" name="Oval 11"/>
          <p:cNvSpPr>
            <a:spLocks noChangeAspect="1" noChangeArrowheads="1"/>
          </p:cNvSpPr>
          <p:nvPr/>
        </p:nvSpPr>
        <p:spPr bwMode="auto">
          <a:xfrm>
            <a:off x="8216280" y="2028152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endParaRPr lang="zh-CN" altLang="en-US">
              <a:latin typeface="+mn-lt"/>
              <a:ea typeface="SimSun" pitchFamily="2" charset="-122"/>
            </a:endParaRPr>
          </a:p>
        </p:txBody>
      </p:sp>
      <p:grpSp>
        <p:nvGrpSpPr>
          <p:cNvPr id="57" name="Group 12"/>
          <p:cNvGrpSpPr>
            <a:grpSpLocks/>
          </p:cNvGrpSpPr>
          <p:nvPr/>
        </p:nvGrpSpPr>
        <p:grpSpPr bwMode="auto">
          <a:xfrm>
            <a:off x="1663080" y="1875752"/>
            <a:ext cx="381000" cy="381000"/>
            <a:chOff x="1104" y="1008"/>
            <a:chExt cx="240" cy="240"/>
          </a:xfrm>
        </p:grpSpPr>
        <p:sp>
          <p:nvSpPr>
            <p:cNvPr id="58" name="Line 13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59" name="Line 14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60" name="Group 15"/>
          <p:cNvGrpSpPr>
            <a:grpSpLocks/>
          </p:cNvGrpSpPr>
          <p:nvPr/>
        </p:nvGrpSpPr>
        <p:grpSpPr bwMode="auto">
          <a:xfrm>
            <a:off x="4177680" y="1875752"/>
            <a:ext cx="381000" cy="381000"/>
            <a:chOff x="1104" y="1008"/>
            <a:chExt cx="240" cy="240"/>
          </a:xfrm>
        </p:grpSpPr>
        <p:sp>
          <p:nvSpPr>
            <p:cNvPr id="61" name="Line 16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2" name="Line 17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63" name="Group 18"/>
          <p:cNvGrpSpPr>
            <a:grpSpLocks/>
          </p:cNvGrpSpPr>
          <p:nvPr/>
        </p:nvGrpSpPr>
        <p:grpSpPr bwMode="auto">
          <a:xfrm>
            <a:off x="8063880" y="1875752"/>
            <a:ext cx="381000" cy="381000"/>
            <a:chOff x="1104" y="1008"/>
            <a:chExt cx="240" cy="240"/>
          </a:xfrm>
        </p:grpSpPr>
        <p:sp>
          <p:nvSpPr>
            <p:cNvPr id="64" name="Line 19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5" name="Line 20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66" name="Group 21"/>
          <p:cNvGrpSpPr>
            <a:grpSpLocks/>
          </p:cNvGrpSpPr>
          <p:nvPr/>
        </p:nvGrpSpPr>
        <p:grpSpPr bwMode="auto">
          <a:xfrm flipH="1" flipV="1">
            <a:off x="977280" y="2256752"/>
            <a:ext cx="381000" cy="381000"/>
            <a:chOff x="1104" y="1008"/>
            <a:chExt cx="240" cy="240"/>
          </a:xfrm>
        </p:grpSpPr>
        <p:sp>
          <p:nvSpPr>
            <p:cNvPr id="67" name="Line 22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8" name="Line 23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69" name="Group 24"/>
          <p:cNvGrpSpPr>
            <a:grpSpLocks/>
          </p:cNvGrpSpPr>
          <p:nvPr/>
        </p:nvGrpSpPr>
        <p:grpSpPr bwMode="auto">
          <a:xfrm flipH="1" flipV="1">
            <a:off x="3491880" y="2256752"/>
            <a:ext cx="381000" cy="381000"/>
            <a:chOff x="1104" y="1008"/>
            <a:chExt cx="240" cy="240"/>
          </a:xfrm>
        </p:grpSpPr>
        <p:sp>
          <p:nvSpPr>
            <p:cNvPr id="70" name="Line 25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71" name="Line 26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72" name="Group 27"/>
          <p:cNvGrpSpPr>
            <a:grpSpLocks/>
          </p:cNvGrpSpPr>
          <p:nvPr/>
        </p:nvGrpSpPr>
        <p:grpSpPr bwMode="auto">
          <a:xfrm flipH="1" flipV="1">
            <a:off x="7378080" y="2256752"/>
            <a:ext cx="381000" cy="381000"/>
            <a:chOff x="1104" y="1008"/>
            <a:chExt cx="240" cy="240"/>
          </a:xfrm>
        </p:grpSpPr>
        <p:sp>
          <p:nvSpPr>
            <p:cNvPr id="73" name="Line 28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74" name="Line 29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sp>
        <p:nvSpPr>
          <p:cNvPr id="75" name="Line 30"/>
          <p:cNvSpPr>
            <a:spLocks noChangeShapeType="1"/>
          </p:cNvSpPr>
          <p:nvPr/>
        </p:nvSpPr>
        <p:spPr bwMode="auto">
          <a:xfrm flipH="1">
            <a:off x="2044080" y="2447252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76" name="Oval 32"/>
          <p:cNvSpPr>
            <a:spLocks noChangeAspect="1" noChangeArrowheads="1"/>
          </p:cNvSpPr>
          <p:nvPr/>
        </p:nvSpPr>
        <p:spPr bwMode="auto">
          <a:xfrm>
            <a:off x="1129680" y="2409152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endParaRPr lang="zh-CN" altLang="en-US">
              <a:latin typeface="+mn-lt"/>
              <a:ea typeface="SimSun" pitchFamily="2" charset="-122"/>
            </a:endParaRPr>
          </a:p>
        </p:txBody>
      </p:sp>
      <p:sp>
        <p:nvSpPr>
          <p:cNvPr id="77" name="Line 33"/>
          <p:cNvSpPr>
            <a:spLocks noChangeShapeType="1"/>
          </p:cNvSpPr>
          <p:nvPr/>
        </p:nvSpPr>
        <p:spPr bwMode="auto">
          <a:xfrm flipH="1" flipV="1">
            <a:off x="7378080" y="2637752"/>
            <a:ext cx="762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78" name="Text Box 34"/>
          <p:cNvSpPr txBox="1">
            <a:spLocks noChangeArrowheads="1"/>
          </p:cNvSpPr>
          <p:nvPr/>
        </p:nvSpPr>
        <p:spPr bwMode="auto">
          <a:xfrm>
            <a:off x="7263780" y="3247352"/>
            <a:ext cx="590546" cy="461665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 altLang="zh-CN" sz="2400">
                <a:latin typeface="+mn-lt"/>
                <a:ea typeface="SimSun" pitchFamily="2" charset="-122"/>
              </a:rPr>
              <a:t>tail</a:t>
            </a:r>
          </a:p>
        </p:txBody>
      </p:sp>
      <p:sp>
        <p:nvSpPr>
          <p:cNvPr id="79" name="Rectangle 36"/>
          <p:cNvSpPr>
            <a:spLocks noChangeArrowheads="1"/>
          </p:cNvSpPr>
          <p:nvPr/>
        </p:nvSpPr>
        <p:spPr bwMode="auto">
          <a:xfrm>
            <a:off x="5396880" y="3094952"/>
            <a:ext cx="10668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/>
          <a:lstStyle/>
          <a:p>
            <a:pPr algn="ctr"/>
            <a:r>
              <a:rPr lang="en-US" altLang="zh-CN" sz="2400">
                <a:latin typeface="+mn-lt"/>
                <a:ea typeface="SimSun" pitchFamily="2" charset="-122"/>
              </a:rPr>
              <a:t>b</a:t>
            </a:r>
          </a:p>
        </p:txBody>
      </p:sp>
      <p:grpSp>
        <p:nvGrpSpPr>
          <p:cNvPr id="80" name="Group 37"/>
          <p:cNvGrpSpPr>
            <a:grpSpLocks/>
          </p:cNvGrpSpPr>
          <p:nvPr/>
        </p:nvGrpSpPr>
        <p:grpSpPr bwMode="auto">
          <a:xfrm>
            <a:off x="6082680" y="3094952"/>
            <a:ext cx="381000" cy="381000"/>
            <a:chOff x="1104" y="1008"/>
            <a:chExt cx="240" cy="240"/>
          </a:xfrm>
        </p:grpSpPr>
        <p:sp>
          <p:nvSpPr>
            <p:cNvPr id="81" name="Line 38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82" name="Line 39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83" name="Group 40"/>
          <p:cNvGrpSpPr>
            <a:grpSpLocks/>
          </p:cNvGrpSpPr>
          <p:nvPr/>
        </p:nvGrpSpPr>
        <p:grpSpPr bwMode="auto">
          <a:xfrm flipH="1" flipV="1">
            <a:off x="5396880" y="3475952"/>
            <a:ext cx="381000" cy="381000"/>
            <a:chOff x="1104" y="1008"/>
            <a:chExt cx="240" cy="240"/>
          </a:xfrm>
        </p:grpSpPr>
        <p:sp>
          <p:nvSpPr>
            <p:cNvPr id="84" name="Line 41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85" name="Line 42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sp>
        <p:nvSpPr>
          <p:cNvPr id="86" name="Text Box 43"/>
          <p:cNvSpPr txBox="1">
            <a:spLocks noChangeArrowheads="1"/>
          </p:cNvSpPr>
          <p:nvPr/>
        </p:nvSpPr>
        <p:spPr bwMode="auto">
          <a:xfrm>
            <a:off x="3171205" y="3552152"/>
            <a:ext cx="1154611" cy="461665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 altLang="zh-CN" sz="2400">
                <a:latin typeface="+mn-lt"/>
                <a:ea typeface="SimSun" pitchFamily="2" charset="-122"/>
              </a:rPr>
              <a:t>current</a:t>
            </a:r>
          </a:p>
        </p:txBody>
      </p:sp>
      <p:sp>
        <p:nvSpPr>
          <p:cNvPr id="87" name="Line 44"/>
          <p:cNvSpPr>
            <a:spLocks noChangeShapeType="1"/>
          </p:cNvSpPr>
          <p:nvPr/>
        </p:nvSpPr>
        <p:spPr bwMode="auto">
          <a:xfrm flipV="1">
            <a:off x="4253880" y="3552152"/>
            <a:ext cx="1066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30" name="Line 45"/>
          <p:cNvSpPr>
            <a:spLocks noChangeShapeType="1"/>
          </p:cNvSpPr>
          <p:nvPr/>
        </p:nvSpPr>
        <p:spPr bwMode="auto">
          <a:xfrm flipH="1" flipV="1">
            <a:off x="4558680" y="2637752"/>
            <a:ext cx="10668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31" name="Line 46"/>
          <p:cNvSpPr>
            <a:spLocks noChangeShapeType="1"/>
          </p:cNvSpPr>
          <p:nvPr/>
        </p:nvSpPr>
        <p:spPr bwMode="auto">
          <a:xfrm>
            <a:off x="4406280" y="2104352"/>
            <a:ext cx="9906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32" name="Line 48"/>
          <p:cNvSpPr>
            <a:spLocks noChangeShapeType="1"/>
          </p:cNvSpPr>
          <p:nvPr/>
        </p:nvSpPr>
        <p:spPr bwMode="auto">
          <a:xfrm flipV="1">
            <a:off x="6311280" y="2104352"/>
            <a:ext cx="10668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33" name="Line 49"/>
          <p:cNvSpPr>
            <a:spLocks noChangeShapeType="1"/>
          </p:cNvSpPr>
          <p:nvPr/>
        </p:nvSpPr>
        <p:spPr bwMode="auto">
          <a:xfrm flipH="1">
            <a:off x="6463680" y="2485352"/>
            <a:ext cx="106680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9480990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Deleting a Node From Doubly Linked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50" y="1124744"/>
            <a:ext cx="8496300" cy="576064"/>
          </a:xfrm>
        </p:spPr>
        <p:txBody>
          <a:bodyPr/>
          <a:lstStyle/>
          <a:p>
            <a:r>
              <a:rPr lang="en-US" dirty="0"/>
              <a:t>Suppose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current</a:t>
            </a:r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 </a:t>
            </a:r>
            <a:r>
              <a:rPr lang="en-US" dirty="0"/>
              <a:t>points to the node to be deleted from the list 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11-Linked List Variations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22</a:t>
            </a:fld>
            <a:endParaRPr lang="en-GB"/>
          </a:p>
        </p:txBody>
      </p:sp>
      <p:sp>
        <p:nvSpPr>
          <p:cNvPr id="47" name="TextBox 46"/>
          <p:cNvSpPr txBox="1"/>
          <p:nvPr/>
        </p:nvSpPr>
        <p:spPr>
          <a:xfrm>
            <a:off x="467544" y="4581128"/>
            <a:ext cx="583264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oldNode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= current; </a:t>
            </a:r>
          </a:p>
          <a:p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oldNode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prev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-&gt;next = 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oldNode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-&gt;next; </a:t>
            </a:r>
          </a:p>
          <a:p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oldNode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-&gt;next-&gt;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prev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= 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oldNode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prev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current = 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oldNode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prev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delete 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oldNode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48" name="Rectangle 4"/>
          <p:cNvSpPr>
            <a:spLocks noChangeArrowheads="1"/>
          </p:cNvSpPr>
          <p:nvPr/>
        </p:nvSpPr>
        <p:spPr bwMode="auto">
          <a:xfrm>
            <a:off x="869268" y="2011894"/>
            <a:ext cx="10668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/>
          <a:lstStyle/>
          <a:p>
            <a:pPr algn="ctr"/>
            <a:endParaRPr lang="zh-CN" sz="2400">
              <a:latin typeface="+mn-lt"/>
              <a:ea typeface="SimSun" pitchFamily="2" charset="-122"/>
            </a:endParaRPr>
          </a:p>
        </p:txBody>
      </p:sp>
      <p:sp>
        <p:nvSpPr>
          <p:cNvPr id="49" name="Rectangle 5"/>
          <p:cNvSpPr>
            <a:spLocks noChangeArrowheads="1"/>
          </p:cNvSpPr>
          <p:nvPr/>
        </p:nvSpPr>
        <p:spPr bwMode="auto">
          <a:xfrm>
            <a:off x="3383868" y="2011894"/>
            <a:ext cx="10668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/>
          <a:lstStyle/>
          <a:p>
            <a:pPr algn="ctr"/>
            <a:r>
              <a:rPr lang="en-US" altLang="zh-CN" sz="2400">
                <a:latin typeface="+mn-lt"/>
                <a:ea typeface="SimSun" pitchFamily="2" charset="-122"/>
              </a:rPr>
              <a:t>a</a:t>
            </a:r>
          </a:p>
        </p:txBody>
      </p:sp>
      <p:sp>
        <p:nvSpPr>
          <p:cNvPr id="50" name="Rectangle 6"/>
          <p:cNvSpPr>
            <a:spLocks noChangeArrowheads="1"/>
          </p:cNvSpPr>
          <p:nvPr/>
        </p:nvSpPr>
        <p:spPr bwMode="auto">
          <a:xfrm>
            <a:off x="7270068" y="2011894"/>
            <a:ext cx="10668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/>
          <a:lstStyle/>
          <a:p>
            <a:pPr algn="ctr"/>
            <a:r>
              <a:rPr lang="en-US" altLang="zh-CN" sz="2400">
                <a:latin typeface="+mn-lt"/>
                <a:ea typeface="SimSun" pitchFamily="2" charset="-122"/>
              </a:rPr>
              <a:t>c</a:t>
            </a:r>
          </a:p>
        </p:txBody>
      </p:sp>
      <p:sp>
        <p:nvSpPr>
          <p:cNvPr id="51" name="Text Box 7"/>
          <p:cNvSpPr txBox="1">
            <a:spLocks noChangeArrowheads="1"/>
          </p:cNvSpPr>
          <p:nvPr/>
        </p:nvSpPr>
        <p:spPr bwMode="auto">
          <a:xfrm>
            <a:off x="793068" y="3307294"/>
            <a:ext cx="990600" cy="461665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n-lt"/>
                <a:ea typeface="SimSun" pitchFamily="2" charset="-122"/>
              </a:rPr>
              <a:t>head</a:t>
            </a:r>
          </a:p>
        </p:txBody>
      </p:sp>
      <p:sp>
        <p:nvSpPr>
          <p:cNvPr id="52" name="Line 8"/>
          <p:cNvSpPr>
            <a:spLocks noChangeShapeType="1"/>
          </p:cNvSpPr>
          <p:nvPr/>
        </p:nvSpPr>
        <p:spPr bwMode="auto">
          <a:xfrm flipV="1">
            <a:off x="1783668" y="2202394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53" name="Line 9"/>
          <p:cNvSpPr>
            <a:spLocks noChangeShapeType="1"/>
          </p:cNvSpPr>
          <p:nvPr/>
        </p:nvSpPr>
        <p:spPr bwMode="auto">
          <a:xfrm flipH="1" flipV="1">
            <a:off x="869268" y="2773894"/>
            <a:ext cx="2286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54" name="Oval 10"/>
          <p:cNvSpPr>
            <a:spLocks noChangeAspect="1" noChangeArrowheads="1"/>
          </p:cNvSpPr>
          <p:nvPr/>
        </p:nvSpPr>
        <p:spPr bwMode="auto">
          <a:xfrm>
            <a:off x="8108268" y="2164294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endParaRPr lang="zh-CN" altLang="en-US">
              <a:latin typeface="+mn-lt"/>
              <a:ea typeface="SimSun" pitchFamily="2" charset="-122"/>
            </a:endParaRPr>
          </a:p>
        </p:txBody>
      </p:sp>
      <p:grpSp>
        <p:nvGrpSpPr>
          <p:cNvPr id="55" name="Group 11"/>
          <p:cNvGrpSpPr>
            <a:grpSpLocks/>
          </p:cNvGrpSpPr>
          <p:nvPr/>
        </p:nvGrpSpPr>
        <p:grpSpPr bwMode="auto">
          <a:xfrm>
            <a:off x="1555068" y="2011894"/>
            <a:ext cx="381000" cy="381000"/>
            <a:chOff x="1104" y="1008"/>
            <a:chExt cx="240" cy="240"/>
          </a:xfrm>
        </p:grpSpPr>
        <p:sp>
          <p:nvSpPr>
            <p:cNvPr id="56" name="Line 12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57" name="Line 13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58" name="Group 14"/>
          <p:cNvGrpSpPr>
            <a:grpSpLocks/>
          </p:cNvGrpSpPr>
          <p:nvPr/>
        </p:nvGrpSpPr>
        <p:grpSpPr bwMode="auto">
          <a:xfrm>
            <a:off x="4069668" y="2011894"/>
            <a:ext cx="381000" cy="381000"/>
            <a:chOff x="1104" y="1008"/>
            <a:chExt cx="240" cy="240"/>
          </a:xfrm>
        </p:grpSpPr>
        <p:sp>
          <p:nvSpPr>
            <p:cNvPr id="59" name="Line 15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0" name="Line 16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61" name="Group 17"/>
          <p:cNvGrpSpPr>
            <a:grpSpLocks/>
          </p:cNvGrpSpPr>
          <p:nvPr/>
        </p:nvGrpSpPr>
        <p:grpSpPr bwMode="auto">
          <a:xfrm>
            <a:off x="7955868" y="2011894"/>
            <a:ext cx="381000" cy="381000"/>
            <a:chOff x="1104" y="1008"/>
            <a:chExt cx="240" cy="240"/>
          </a:xfrm>
        </p:grpSpPr>
        <p:sp>
          <p:nvSpPr>
            <p:cNvPr id="62" name="Line 18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3" name="Line 19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64" name="Group 20"/>
          <p:cNvGrpSpPr>
            <a:grpSpLocks/>
          </p:cNvGrpSpPr>
          <p:nvPr/>
        </p:nvGrpSpPr>
        <p:grpSpPr bwMode="auto">
          <a:xfrm flipH="1" flipV="1">
            <a:off x="869268" y="2392894"/>
            <a:ext cx="381000" cy="381000"/>
            <a:chOff x="1104" y="1008"/>
            <a:chExt cx="240" cy="240"/>
          </a:xfrm>
        </p:grpSpPr>
        <p:sp>
          <p:nvSpPr>
            <p:cNvPr id="65" name="Line 21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6" name="Line 22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67" name="Group 23"/>
          <p:cNvGrpSpPr>
            <a:grpSpLocks/>
          </p:cNvGrpSpPr>
          <p:nvPr/>
        </p:nvGrpSpPr>
        <p:grpSpPr bwMode="auto">
          <a:xfrm flipH="1" flipV="1">
            <a:off x="3383868" y="2392894"/>
            <a:ext cx="381000" cy="381000"/>
            <a:chOff x="1104" y="1008"/>
            <a:chExt cx="240" cy="240"/>
          </a:xfrm>
        </p:grpSpPr>
        <p:sp>
          <p:nvSpPr>
            <p:cNvPr id="68" name="Line 24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9" name="Line 25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70" name="Group 26"/>
          <p:cNvGrpSpPr>
            <a:grpSpLocks/>
          </p:cNvGrpSpPr>
          <p:nvPr/>
        </p:nvGrpSpPr>
        <p:grpSpPr bwMode="auto">
          <a:xfrm flipH="1" flipV="1">
            <a:off x="7270068" y="2392894"/>
            <a:ext cx="381000" cy="381000"/>
            <a:chOff x="1104" y="1008"/>
            <a:chExt cx="240" cy="240"/>
          </a:xfrm>
        </p:grpSpPr>
        <p:sp>
          <p:nvSpPr>
            <p:cNvPr id="71" name="Line 27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72" name="Line 28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sp>
        <p:nvSpPr>
          <p:cNvPr id="73" name="Line 29"/>
          <p:cNvSpPr>
            <a:spLocks noChangeShapeType="1"/>
          </p:cNvSpPr>
          <p:nvPr/>
        </p:nvSpPr>
        <p:spPr bwMode="auto">
          <a:xfrm flipH="1">
            <a:off x="1936068" y="2583394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74" name="Oval 30"/>
          <p:cNvSpPr>
            <a:spLocks noChangeAspect="1" noChangeArrowheads="1"/>
          </p:cNvSpPr>
          <p:nvPr/>
        </p:nvSpPr>
        <p:spPr bwMode="auto">
          <a:xfrm>
            <a:off x="1021668" y="2545294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endParaRPr lang="zh-CN" altLang="en-US">
              <a:latin typeface="+mn-lt"/>
              <a:ea typeface="SimSun" pitchFamily="2" charset="-122"/>
            </a:endParaRPr>
          </a:p>
        </p:txBody>
      </p:sp>
      <p:sp>
        <p:nvSpPr>
          <p:cNvPr id="75" name="Rectangle 31"/>
          <p:cNvSpPr>
            <a:spLocks noChangeArrowheads="1"/>
          </p:cNvSpPr>
          <p:nvPr/>
        </p:nvSpPr>
        <p:spPr bwMode="auto">
          <a:xfrm>
            <a:off x="5288868" y="3231094"/>
            <a:ext cx="10668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/>
          <a:lstStyle/>
          <a:p>
            <a:pPr algn="ctr"/>
            <a:r>
              <a:rPr lang="en-US" altLang="zh-CN" sz="2400">
                <a:latin typeface="+mn-lt"/>
                <a:ea typeface="SimSun" pitchFamily="2" charset="-122"/>
              </a:rPr>
              <a:t>b</a:t>
            </a:r>
          </a:p>
        </p:txBody>
      </p:sp>
      <p:grpSp>
        <p:nvGrpSpPr>
          <p:cNvPr id="76" name="Group 32"/>
          <p:cNvGrpSpPr>
            <a:grpSpLocks/>
          </p:cNvGrpSpPr>
          <p:nvPr/>
        </p:nvGrpSpPr>
        <p:grpSpPr bwMode="auto">
          <a:xfrm>
            <a:off x="5974668" y="3231094"/>
            <a:ext cx="381000" cy="381000"/>
            <a:chOff x="1104" y="1008"/>
            <a:chExt cx="240" cy="240"/>
          </a:xfrm>
        </p:grpSpPr>
        <p:sp>
          <p:nvSpPr>
            <p:cNvPr id="77" name="Line 33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78" name="Line 34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79" name="Group 35"/>
          <p:cNvGrpSpPr>
            <a:grpSpLocks/>
          </p:cNvGrpSpPr>
          <p:nvPr/>
        </p:nvGrpSpPr>
        <p:grpSpPr bwMode="auto">
          <a:xfrm flipH="1" flipV="1">
            <a:off x="5288868" y="3612094"/>
            <a:ext cx="381000" cy="381000"/>
            <a:chOff x="1104" y="1008"/>
            <a:chExt cx="240" cy="240"/>
          </a:xfrm>
        </p:grpSpPr>
        <p:sp>
          <p:nvSpPr>
            <p:cNvPr id="80" name="Line 36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81" name="Line 37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sp>
        <p:nvSpPr>
          <p:cNvPr id="82" name="Text Box 38"/>
          <p:cNvSpPr txBox="1">
            <a:spLocks noChangeArrowheads="1"/>
          </p:cNvSpPr>
          <p:nvPr/>
        </p:nvSpPr>
        <p:spPr bwMode="auto">
          <a:xfrm>
            <a:off x="3063193" y="3688294"/>
            <a:ext cx="1154611" cy="461665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 altLang="zh-CN" sz="2400">
                <a:latin typeface="+mn-lt"/>
                <a:ea typeface="SimSun" pitchFamily="2" charset="-122"/>
              </a:rPr>
              <a:t>current</a:t>
            </a:r>
          </a:p>
        </p:txBody>
      </p:sp>
      <p:sp>
        <p:nvSpPr>
          <p:cNvPr id="83" name="Line 39"/>
          <p:cNvSpPr>
            <a:spLocks noChangeShapeType="1"/>
          </p:cNvSpPr>
          <p:nvPr/>
        </p:nvSpPr>
        <p:spPr bwMode="auto">
          <a:xfrm flipV="1">
            <a:off x="4145868" y="3688294"/>
            <a:ext cx="1066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84" name="Line 40"/>
          <p:cNvSpPr>
            <a:spLocks noChangeShapeType="1"/>
          </p:cNvSpPr>
          <p:nvPr/>
        </p:nvSpPr>
        <p:spPr bwMode="auto">
          <a:xfrm flipH="1" flipV="1">
            <a:off x="4450668" y="2773894"/>
            <a:ext cx="10668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85" name="Line 41"/>
          <p:cNvSpPr>
            <a:spLocks noChangeShapeType="1"/>
          </p:cNvSpPr>
          <p:nvPr/>
        </p:nvSpPr>
        <p:spPr bwMode="auto">
          <a:xfrm>
            <a:off x="4298268" y="2240494"/>
            <a:ext cx="9906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86" name="Line 42"/>
          <p:cNvSpPr>
            <a:spLocks noChangeShapeType="1"/>
          </p:cNvSpPr>
          <p:nvPr/>
        </p:nvSpPr>
        <p:spPr bwMode="auto">
          <a:xfrm flipV="1">
            <a:off x="6203268" y="2240494"/>
            <a:ext cx="10668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87" name="Line 43"/>
          <p:cNvSpPr>
            <a:spLocks noChangeShapeType="1"/>
          </p:cNvSpPr>
          <p:nvPr/>
        </p:nvSpPr>
        <p:spPr bwMode="auto">
          <a:xfrm flipH="1">
            <a:off x="6355668" y="2621494"/>
            <a:ext cx="106680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88617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Deleting a Node From Doubly Linked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50" y="1124744"/>
            <a:ext cx="8496300" cy="576064"/>
          </a:xfrm>
        </p:spPr>
        <p:txBody>
          <a:bodyPr/>
          <a:lstStyle/>
          <a:p>
            <a:r>
              <a:rPr lang="en-US" dirty="0"/>
              <a:t>Suppose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current</a:t>
            </a:r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 </a:t>
            </a:r>
            <a:r>
              <a:rPr lang="en-US" dirty="0"/>
              <a:t>points to the node to be deleted from the list 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11-Linked List Variations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23</a:t>
            </a:fld>
            <a:endParaRPr lang="en-GB"/>
          </a:p>
        </p:txBody>
      </p:sp>
      <p:sp>
        <p:nvSpPr>
          <p:cNvPr id="47" name="TextBox 46"/>
          <p:cNvSpPr txBox="1"/>
          <p:nvPr/>
        </p:nvSpPr>
        <p:spPr>
          <a:xfrm>
            <a:off x="467544" y="4581128"/>
            <a:ext cx="583264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oldNode</a:t>
            </a:r>
            <a:r>
              <a:rPr lang="en-US" sz="20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= current; </a:t>
            </a:r>
          </a:p>
          <a:p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oldNode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prev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-&gt;next = 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oldNode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-&gt;next; </a:t>
            </a:r>
          </a:p>
          <a:p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oldNode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-&gt;next-&gt;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prev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= 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oldNode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prev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current = 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oldNode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prev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delete 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oldNode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130" name="Rectangle 5"/>
          <p:cNvSpPr>
            <a:spLocks noChangeArrowheads="1"/>
          </p:cNvSpPr>
          <p:nvPr/>
        </p:nvSpPr>
        <p:spPr bwMode="auto">
          <a:xfrm>
            <a:off x="609600" y="2057400"/>
            <a:ext cx="10668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/>
          <a:lstStyle/>
          <a:p>
            <a:pPr algn="ctr"/>
            <a:endParaRPr lang="zh-CN" sz="2400">
              <a:latin typeface="+mn-lt"/>
              <a:ea typeface="SimSun" pitchFamily="2" charset="-122"/>
            </a:endParaRPr>
          </a:p>
        </p:txBody>
      </p:sp>
      <p:sp>
        <p:nvSpPr>
          <p:cNvPr id="131" name="Rectangle 6"/>
          <p:cNvSpPr>
            <a:spLocks noChangeArrowheads="1"/>
          </p:cNvSpPr>
          <p:nvPr/>
        </p:nvSpPr>
        <p:spPr bwMode="auto">
          <a:xfrm>
            <a:off x="3124200" y="2057400"/>
            <a:ext cx="10668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/>
          <a:lstStyle/>
          <a:p>
            <a:pPr algn="ctr"/>
            <a:r>
              <a:rPr lang="en-US" altLang="zh-CN" sz="2400">
                <a:latin typeface="+mn-lt"/>
                <a:ea typeface="SimSun" pitchFamily="2" charset="-122"/>
              </a:rPr>
              <a:t>a</a:t>
            </a:r>
          </a:p>
        </p:txBody>
      </p:sp>
      <p:sp>
        <p:nvSpPr>
          <p:cNvPr id="132" name="Rectangle 7"/>
          <p:cNvSpPr>
            <a:spLocks noChangeArrowheads="1"/>
          </p:cNvSpPr>
          <p:nvPr/>
        </p:nvSpPr>
        <p:spPr bwMode="auto">
          <a:xfrm>
            <a:off x="7010400" y="2057400"/>
            <a:ext cx="10668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/>
          <a:lstStyle/>
          <a:p>
            <a:pPr algn="ctr"/>
            <a:r>
              <a:rPr lang="en-US" altLang="zh-CN" sz="2400">
                <a:latin typeface="+mn-lt"/>
                <a:ea typeface="SimSun" pitchFamily="2" charset="-122"/>
              </a:rPr>
              <a:t>c</a:t>
            </a:r>
          </a:p>
        </p:txBody>
      </p:sp>
      <p:sp>
        <p:nvSpPr>
          <p:cNvPr id="133" name="Text Box 8"/>
          <p:cNvSpPr txBox="1">
            <a:spLocks noChangeArrowheads="1"/>
          </p:cNvSpPr>
          <p:nvPr/>
        </p:nvSpPr>
        <p:spPr bwMode="auto">
          <a:xfrm>
            <a:off x="533400" y="3352800"/>
            <a:ext cx="990600" cy="461665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n-lt"/>
                <a:ea typeface="SimSun" pitchFamily="2" charset="-122"/>
              </a:rPr>
              <a:t>head</a:t>
            </a:r>
          </a:p>
        </p:txBody>
      </p:sp>
      <p:sp>
        <p:nvSpPr>
          <p:cNvPr id="134" name="Line 9"/>
          <p:cNvSpPr>
            <a:spLocks noChangeShapeType="1"/>
          </p:cNvSpPr>
          <p:nvPr/>
        </p:nvSpPr>
        <p:spPr bwMode="auto">
          <a:xfrm flipV="1">
            <a:off x="1524000" y="22479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35" name="Line 10"/>
          <p:cNvSpPr>
            <a:spLocks noChangeShapeType="1"/>
          </p:cNvSpPr>
          <p:nvPr/>
        </p:nvSpPr>
        <p:spPr bwMode="auto">
          <a:xfrm flipH="1" flipV="1">
            <a:off x="609600" y="2819400"/>
            <a:ext cx="2286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36" name="Oval 11"/>
          <p:cNvSpPr>
            <a:spLocks noChangeAspect="1" noChangeArrowheads="1"/>
          </p:cNvSpPr>
          <p:nvPr/>
        </p:nvSpPr>
        <p:spPr bwMode="auto">
          <a:xfrm>
            <a:off x="7848600" y="22098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endParaRPr lang="zh-CN" altLang="en-US">
              <a:latin typeface="+mn-lt"/>
              <a:ea typeface="SimSun" pitchFamily="2" charset="-122"/>
            </a:endParaRPr>
          </a:p>
        </p:txBody>
      </p:sp>
      <p:grpSp>
        <p:nvGrpSpPr>
          <p:cNvPr id="137" name="Group 12"/>
          <p:cNvGrpSpPr>
            <a:grpSpLocks/>
          </p:cNvGrpSpPr>
          <p:nvPr/>
        </p:nvGrpSpPr>
        <p:grpSpPr bwMode="auto">
          <a:xfrm>
            <a:off x="1295400" y="2057400"/>
            <a:ext cx="381000" cy="381000"/>
            <a:chOff x="1104" y="1008"/>
            <a:chExt cx="240" cy="240"/>
          </a:xfrm>
        </p:grpSpPr>
        <p:sp>
          <p:nvSpPr>
            <p:cNvPr id="138" name="Line 13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39" name="Line 14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140" name="Group 15"/>
          <p:cNvGrpSpPr>
            <a:grpSpLocks/>
          </p:cNvGrpSpPr>
          <p:nvPr/>
        </p:nvGrpSpPr>
        <p:grpSpPr bwMode="auto">
          <a:xfrm>
            <a:off x="3810000" y="2057400"/>
            <a:ext cx="381000" cy="381000"/>
            <a:chOff x="1104" y="1008"/>
            <a:chExt cx="240" cy="240"/>
          </a:xfrm>
        </p:grpSpPr>
        <p:sp>
          <p:nvSpPr>
            <p:cNvPr id="141" name="Line 16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42" name="Line 17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143" name="Group 18"/>
          <p:cNvGrpSpPr>
            <a:grpSpLocks/>
          </p:cNvGrpSpPr>
          <p:nvPr/>
        </p:nvGrpSpPr>
        <p:grpSpPr bwMode="auto">
          <a:xfrm>
            <a:off x="7696200" y="2057400"/>
            <a:ext cx="381000" cy="381000"/>
            <a:chOff x="1104" y="1008"/>
            <a:chExt cx="240" cy="240"/>
          </a:xfrm>
        </p:grpSpPr>
        <p:sp>
          <p:nvSpPr>
            <p:cNvPr id="144" name="Line 19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45" name="Line 20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146" name="Group 21"/>
          <p:cNvGrpSpPr>
            <a:grpSpLocks/>
          </p:cNvGrpSpPr>
          <p:nvPr/>
        </p:nvGrpSpPr>
        <p:grpSpPr bwMode="auto">
          <a:xfrm flipH="1" flipV="1">
            <a:off x="609600" y="2438400"/>
            <a:ext cx="381000" cy="381000"/>
            <a:chOff x="1104" y="1008"/>
            <a:chExt cx="240" cy="240"/>
          </a:xfrm>
        </p:grpSpPr>
        <p:sp>
          <p:nvSpPr>
            <p:cNvPr id="147" name="Line 22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48" name="Line 23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149" name="Group 24"/>
          <p:cNvGrpSpPr>
            <a:grpSpLocks/>
          </p:cNvGrpSpPr>
          <p:nvPr/>
        </p:nvGrpSpPr>
        <p:grpSpPr bwMode="auto">
          <a:xfrm flipH="1" flipV="1">
            <a:off x="3124200" y="2438400"/>
            <a:ext cx="381000" cy="381000"/>
            <a:chOff x="1104" y="1008"/>
            <a:chExt cx="240" cy="240"/>
          </a:xfrm>
        </p:grpSpPr>
        <p:sp>
          <p:nvSpPr>
            <p:cNvPr id="150" name="Line 25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51" name="Line 26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152" name="Group 27"/>
          <p:cNvGrpSpPr>
            <a:grpSpLocks/>
          </p:cNvGrpSpPr>
          <p:nvPr/>
        </p:nvGrpSpPr>
        <p:grpSpPr bwMode="auto">
          <a:xfrm flipH="1" flipV="1">
            <a:off x="7010400" y="2438400"/>
            <a:ext cx="381000" cy="381000"/>
            <a:chOff x="1104" y="1008"/>
            <a:chExt cx="240" cy="240"/>
          </a:xfrm>
        </p:grpSpPr>
        <p:sp>
          <p:nvSpPr>
            <p:cNvPr id="153" name="Line 28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54" name="Line 29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sp>
        <p:nvSpPr>
          <p:cNvPr id="155" name="Line 30"/>
          <p:cNvSpPr>
            <a:spLocks noChangeShapeType="1"/>
          </p:cNvSpPr>
          <p:nvPr/>
        </p:nvSpPr>
        <p:spPr bwMode="auto">
          <a:xfrm flipH="1">
            <a:off x="1676400" y="2628900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56" name="Oval 31"/>
          <p:cNvSpPr>
            <a:spLocks noChangeAspect="1" noChangeArrowheads="1"/>
          </p:cNvSpPr>
          <p:nvPr/>
        </p:nvSpPr>
        <p:spPr bwMode="auto">
          <a:xfrm>
            <a:off x="762000" y="25908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endParaRPr lang="zh-CN" altLang="en-US">
              <a:latin typeface="+mn-lt"/>
              <a:ea typeface="SimSun" pitchFamily="2" charset="-122"/>
            </a:endParaRPr>
          </a:p>
        </p:txBody>
      </p:sp>
      <p:sp>
        <p:nvSpPr>
          <p:cNvPr id="157" name="Rectangle 32"/>
          <p:cNvSpPr>
            <a:spLocks noChangeArrowheads="1"/>
          </p:cNvSpPr>
          <p:nvPr/>
        </p:nvSpPr>
        <p:spPr bwMode="auto">
          <a:xfrm>
            <a:off x="5029200" y="3276600"/>
            <a:ext cx="10668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/>
          <a:lstStyle/>
          <a:p>
            <a:pPr algn="ctr"/>
            <a:r>
              <a:rPr lang="en-US" altLang="zh-CN" sz="2400">
                <a:latin typeface="+mn-lt"/>
                <a:ea typeface="SimSun" pitchFamily="2" charset="-122"/>
              </a:rPr>
              <a:t>b</a:t>
            </a:r>
          </a:p>
        </p:txBody>
      </p:sp>
      <p:grpSp>
        <p:nvGrpSpPr>
          <p:cNvPr id="158" name="Group 33"/>
          <p:cNvGrpSpPr>
            <a:grpSpLocks/>
          </p:cNvGrpSpPr>
          <p:nvPr/>
        </p:nvGrpSpPr>
        <p:grpSpPr bwMode="auto">
          <a:xfrm>
            <a:off x="5715000" y="3276600"/>
            <a:ext cx="381000" cy="381000"/>
            <a:chOff x="1104" y="1008"/>
            <a:chExt cx="240" cy="240"/>
          </a:xfrm>
        </p:grpSpPr>
        <p:sp>
          <p:nvSpPr>
            <p:cNvPr id="159" name="Line 34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60" name="Line 35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161" name="Group 36"/>
          <p:cNvGrpSpPr>
            <a:grpSpLocks/>
          </p:cNvGrpSpPr>
          <p:nvPr/>
        </p:nvGrpSpPr>
        <p:grpSpPr bwMode="auto">
          <a:xfrm flipH="1" flipV="1">
            <a:off x="5029200" y="3657600"/>
            <a:ext cx="381000" cy="381000"/>
            <a:chOff x="1104" y="1008"/>
            <a:chExt cx="240" cy="240"/>
          </a:xfrm>
        </p:grpSpPr>
        <p:sp>
          <p:nvSpPr>
            <p:cNvPr id="162" name="Line 37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63" name="Line 38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sp>
        <p:nvSpPr>
          <p:cNvPr id="164" name="Text Box 39"/>
          <p:cNvSpPr txBox="1">
            <a:spLocks noChangeArrowheads="1"/>
          </p:cNvSpPr>
          <p:nvPr/>
        </p:nvSpPr>
        <p:spPr bwMode="auto">
          <a:xfrm>
            <a:off x="2803525" y="3733800"/>
            <a:ext cx="1154611" cy="461665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+mn-lt"/>
                <a:ea typeface="SimSun" pitchFamily="2" charset="-122"/>
              </a:rPr>
              <a:t>current</a:t>
            </a:r>
          </a:p>
        </p:txBody>
      </p:sp>
      <p:sp>
        <p:nvSpPr>
          <p:cNvPr id="165" name="Line 40"/>
          <p:cNvSpPr>
            <a:spLocks noChangeShapeType="1"/>
          </p:cNvSpPr>
          <p:nvPr/>
        </p:nvSpPr>
        <p:spPr bwMode="auto">
          <a:xfrm flipV="1">
            <a:off x="3886200" y="3733800"/>
            <a:ext cx="1066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66" name="Line 41"/>
          <p:cNvSpPr>
            <a:spLocks noChangeShapeType="1"/>
          </p:cNvSpPr>
          <p:nvPr/>
        </p:nvSpPr>
        <p:spPr bwMode="auto">
          <a:xfrm flipH="1" flipV="1">
            <a:off x="4191000" y="2819400"/>
            <a:ext cx="10668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67" name="Line 42"/>
          <p:cNvSpPr>
            <a:spLocks noChangeShapeType="1"/>
          </p:cNvSpPr>
          <p:nvPr/>
        </p:nvSpPr>
        <p:spPr bwMode="auto">
          <a:xfrm>
            <a:off x="4038600" y="2286000"/>
            <a:ext cx="990600" cy="990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68" name="Line 43"/>
          <p:cNvSpPr>
            <a:spLocks noChangeShapeType="1"/>
          </p:cNvSpPr>
          <p:nvPr/>
        </p:nvSpPr>
        <p:spPr bwMode="auto">
          <a:xfrm flipV="1">
            <a:off x="5943600" y="2286000"/>
            <a:ext cx="10668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69" name="Line 44"/>
          <p:cNvSpPr>
            <a:spLocks noChangeShapeType="1"/>
          </p:cNvSpPr>
          <p:nvPr/>
        </p:nvSpPr>
        <p:spPr bwMode="auto">
          <a:xfrm flipH="1">
            <a:off x="6096000" y="2667000"/>
            <a:ext cx="106680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71" name="Line 46"/>
          <p:cNvSpPr>
            <a:spLocks noChangeShapeType="1"/>
          </p:cNvSpPr>
          <p:nvPr/>
        </p:nvSpPr>
        <p:spPr bwMode="auto">
          <a:xfrm flipH="1" flipV="1">
            <a:off x="6172200" y="3962400"/>
            <a:ext cx="685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72" name="Text Box 39"/>
          <p:cNvSpPr txBox="1">
            <a:spLocks noChangeArrowheads="1"/>
          </p:cNvSpPr>
          <p:nvPr/>
        </p:nvSpPr>
        <p:spPr bwMode="auto">
          <a:xfrm>
            <a:off x="6820828" y="4002831"/>
            <a:ext cx="1295547" cy="461665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 altLang="zh-CN" sz="2400" dirty="0" err="1">
                <a:latin typeface="+mn-lt"/>
                <a:ea typeface="SimSun" pitchFamily="2" charset="-122"/>
              </a:rPr>
              <a:t>oldNode</a:t>
            </a:r>
            <a:endParaRPr lang="en-US" altLang="zh-CN" sz="2400" dirty="0">
              <a:latin typeface="+mn-lt"/>
              <a:ea typeface="SimSun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956980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Deleting a Node From Doubly Linked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50" y="1124744"/>
            <a:ext cx="8496300" cy="576064"/>
          </a:xfrm>
        </p:spPr>
        <p:txBody>
          <a:bodyPr/>
          <a:lstStyle/>
          <a:p>
            <a:r>
              <a:rPr lang="en-US" dirty="0"/>
              <a:t>Suppose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current</a:t>
            </a:r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 </a:t>
            </a:r>
            <a:r>
              <a:rPr lang="en-US" dirty="0"/>
              <a:t>points to the node to be deleted from the list 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11-Linked List Variations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24</a:t>
            </a:fld>
            <a:endParaRPr lang="en-GB"/>
          </a:p>
        </p:txBody>
      </p:sp>
      <p:sp>
        <p:nvSpPr>
          <p:cNvPr id="47" name="TextBox 46"/>
          <p:cNvSpPr txBox="1"/>
          <p:nvPr/>
        </p:nvSpPr>
        <p:spPr>
          <a:xfrm>
            <a:off x="467544" y="4581128"/>
            <a:ext cx="583264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oldNode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= current; </a:t>
            </a:r>
          </a:p>
          <a:p>
            <a:r>
              <a:rPr lang="en-US" sz="2000" b="1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oldNode</a:t>
            </a:r>
            <a:r>
              <a:rPr lang="en-US" sz="20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en-US" sz="2000" b="1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prev</a:t>
            </a:r>
            <a:r>
              <a:rPr lang="en-US" sz="20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-&gt;next = </a:t>
            </a:r>
            <a:r>
              <a:rPr lang="en-US" sz="2000" b="1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oldNode</a:t>
            </a:r>
            <a:r>
              <a:rPr lang="en-US" sz="20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-&gt;next; </a:t>
            </a:r>
          </a:p>
          <a:p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oldNode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-&gt;next-&gt;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prev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= 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oldNode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prev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current = 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oldNode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prev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delete 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oldNode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172" name="Text Box 39"/>
          <p:cNvSpPr txBox="1">
            <a:spLocks noChangeArrowheads="1"/>
          </p:cNvSpPr>
          <p:nvPr/>
        </p:nvSpPr>
        <p:spPr bwMode="auto">
          <a:xfrm>
            <a:off x="6820828" y="4002831"/>
            <a:ext cx="1295547" cy="461665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 altLang="zh-CN" sz="2400" dirty="0" err="1">
                <a:latin typeface="+mn-lt"/>
                <a:ea typeface="SimSun" pitchFamily="2" charset="-122"/>
              </a:rPr>
              <a:t>oldNode</a:t>
            </a:r>
            <a:endParaRPr lang="en-US" altLang="zh-CN" sz="2400" dirty="0">
              <a:latin typeface="+mn-lt"/>
              <a:ea typeface="SimSun" pitchFamily="2" charset="-122"/>
            </a:endParaRPr>
          </a:p>
        </p:txBody>
      </p:sp>
      <p:sp>
        <p:nvSpPr>
          <p:cNvPr id="49" name="Rectangle 5"/>
          <p:cNvSpPr>
            <a:spLocks noChangeArrowheads="1"/>
          </p:cNvSpPr>
          <p:nvPr/>
        </p:nvSpPr>
        <p:spPr bwMode="auto">
          <a:xfrm>
            <a:off x="609600" y="2057400"/>
            <a:ext cx="10668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/>
          <a:lstStyle/>
          <a:p>
            <a:pPr algn="ctr"/>
            <a:endParaRPr lang="zh-CN" sz="2400">
              <a:latin typeface="+mn-lt"/>
              <a:ea typeface="SimSun" pitchFamily="2" charset="-122"/>
            </a:endParaRPr>
          </a:p>
        </p:txBody>
      </p:sp>
      <p:sp>
        <p:nvSpPr>
          <p:cNvPr id="50" name="Rectangle 6"/>
          <p:cNvSpPr>
            <a:spLocks noChangeArrowheads="1"/>
          </p:cNvSpPr>
          <p:nvPr/>
        </p:nvSpPr>
        <p:spPr bwMode="auto">
          <a:xfrm>
            <a:off x="3124200" y="2057400"/>
            <a:ext cx="10668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/>
          <a:lstStyle/>
          <a:p>
            <a:pPr algn="ctr"/>
            <a:r>
              <a:rPr lang="en-US" altLang="zh-CN" sz="2400">
                <a:latin typeface="+mn-lt"/>
                <a:ea typeface="SimSun" pitchFamily="2" charset="-122"/>
              </a:rPr>
              <a:t>a</a:t>
            </a:r>
          </a:p>
        </p:txBody>
      </p:sp>
      <p:sp>
        <p:nvSpPr>
          <p:cNvPr id="51" name="Rectangle 7"/>
          <p:cNvSpPr>
            <a:spLocks noChangeArrowheads="1"/>
          </p:cNvSpPr>
          <p:nvPr/>
        </p:nvSpPr>
        <p:spPr bwMode="auto">
          <a:xfrm>
            <a:off x="7010400" y="2057400"/>
            <a:ext cx="10668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/>
          <a:lstStyle/>
          <a:p>
            <a:pPr algn="ctr"/>
            <a:r>
              <a:rPr lang="en-US" altLang="zh-CN" sz="2400">
                <a:latin typeface="+mn-lt"/>
                <a:ea typeface="SimSun" pitchFamily="2" charset="-122"/>
              </a:rPr>
              <a:t>c</a:t>
            </a:r>
          </a:p>
        </p:txBody>
      </p:sp>
      <p:sp>
        <p:nvSpPr>
          <p:cNvPr id="52" name="Text Box 8"/>
          <p:cNvSpPr txBox="1">
            <a:spLocks noChangeArrowheads="1"/>
          </p:cNvSpPr>
          <p:nvPr/>
        </p:nvSpPr>
        <p:spPr bwMode="auto">
          <a:xfrm>
            <a:off x="533400" y="3352800"/>
            <a:ext cx="990600" cy="461665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square">
            <a:spAutoFit/>
          </a:bodyPr>
          <a:lstStyle/>
          <a:p>
            <a:r>
              <a:rPr lang="en-US" altLang="zh-CN" sz="2400">
                <a:latin typeface="+mn-lt"/>
                <a:ea typeface="SimSun" pitchFamily="2" charset="-122"/>
              </a:rPr>
              <a:t>head</a:t>
            </a:r>
          </a:p>
        </p:txBody>
      </p:sp>
      <p:sp>
        <p:nvSpPr>
          <p:cNvPr id="53" name="Line 9"/>
          <p:cNvSpPr>
            <a:spLocks noChangeShapeType="1"/>
          </p:cNvSpPr>
          <p:nvPr/>
        </p:nvSpPr>
        <p:spPr bwMode="auto">
          <a:xfrm flipV="1">
            <a:off x="1524000" y="22479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54" name="Line 10"/>
          <p:cNvSpPr>
            <a:spLocks noChangeShapeType="1"/>
          </p:cNvSpPr>
          <p:nvPr/>
        </p:nvSpPr>
        <p:spPr bwMode="auto">
          <a:xfrm flipH="1" flipV="1">
            <a:off x="609600" y="2819400"/>
            <a:ext cx="2286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55" name="Oval 11"/>
          <p:cNvSpPr>
            <a:spLocks noChangeAspect="1" noChangeArrowheads="1"/>
          </p:cNvSpPr>
          <p:nvPr/>
        </p:nvSpPr>
        <p:spPr bwMode="auto">
          <a:xfrm>
            <a:off x="7848600" y="22098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endParaRPr lang="zh-CN" altLang="en-US">
              <a:latin typeface="+mn-lt"/>
              <a:ea typeface="SimSun" pitchFamily="2" charset="-122"/>
            </a:endParaRPr>
          </a:p>
        </p:txBody>
      </p:sp>
      <p:grpSp>
        <p:nvGrpSpPr>
          <p:cNvPr id="56" name="Group 12"/>
          <p:cNvGrpSpPr>
            <a:grpSpLocks/>
          </p:cNvGrpSpPr>
          <p:nvPr/>
        </p:nvGrpSpPr>
        <p:grpSpPr bwMode="auto">
          <a:xfrm>
            <a:off x="1295400" y="2057400"/>
            <a:ext cx="381000" cy="381000"/>
            <a:chOff x="1104" y="1008"/>
            <a:chExt cx="240" cy="240"/>
          </a:xfrm>
        </p:grpSpPr>
        <p:sp>
          <p:nvSpPr>
            <p:cNvPr id="57" name="Line 13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58" name="Line 14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59" name="Group 15"/>
          <p:cNvGrpSpPr>
            <a:grpSpLocks/>
          </p:cNvGrpSpPr>
          <p:nvPr/>
        </p:nvGrpSpPr>
        <p:grpSpPr bwMode="auto">
          <a:xfrm>
            <a:off x="3810000" y="2057400"/>
            <a:ext cx="381000" cy="381000"/>
            <a:chOff x="1104" y="1008"/>
            <a:chExt cx="240" cy="240"/>
          </a:xfrm>
        </p:grpSpPr>
        <p:sp>
          <p:nvSpPr>
            <p:cNvPr id="60" name="Line 16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1" name="Line 17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62" name="Group 18"/>
          <p:cNvGrpSpPr>
            <a:grpSpLocks/>
          </p:cNvGrpSpPr>
          <p:nvPr/>
        </p:nvGrpSpPr>
        <p:grpSpPr bwMode="auto">
          <a:xfrm>
            <a:off x="7696200" y="2057400"/>
            <a:ext cx="381000" cy="381000"/>
            <a:chOff x="1104" y="1008"/>
            <a:chExt cx="240" cy="240"/>
          </a:xfrm>
        </p:grpSpPr>
        <p:sp>
          <p:nvSpPr>
            <p:cNvPr id="63" name="Line 19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4" name="Line 20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65" name="Group 21"/>
          <p:cNvGrpSpPr>
            <a:grpSpLocks/>
          </p:cNvGrpSpPr>
          <p:nvPr/>
        </p:nvGrpSpPr>
        <p:grpSpPr bwMode="auto">
          <a:xfrm flipH="1" flipV="1">
            <a:off x="609600" y="2438400"/>
            <a:ext cx="381000" cy="381000"/>
            <a:chOff x="1104" y="1008"/>
            <a:chExt cx="240" cy="240"/>
          </a:xfrm>
        </p:grpSpPr>
        <p:sp>
          <p:nvSpPr>
            <p:cNvPr id="66" name="Line 22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67" name="Line 23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68" name="Group 24"/>
          <p:cNvGrpSpPr>
            <a:grpSpLocks/>
          </p:cNvGrpSpPr>
          <p:nvPr/>
        </p:nvGrpSpPr>
        <p:grpSpPr bwMode="auto">
          <a:xfrm flipH="1" flipV="1">
            <a:off x="3124200" y="2438400"/>
            <a:ext cx="381000" cy="381000"/>
            <a:chOff x="1104" y="1008"/>
            <a:chExt cx="240" cy="240"/>
          </a:xfrm>
        </p:grpSpPr>
        <p:sp>
          <p:nvSpPr>
            <p:cNvPr id="69" name="Line 25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70" name="Line 26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71" name="Group 27"/>
          <p:cNvGrpSpPr>
            <a:grpSpLocks/>
          </p:cNvGrpSpPr>
          <p:nvPr/>
        </p:nvGrpSpPr>
        <p:grpSpPr bwMode="auto">
          <a:xfrm flipH="1" flipV="1">
            <a:off x="7010400" y="2438400"/>
            <a:ext cx="381000" cy="381000"/>
            <a:chOff x="1104" y="1008"/>
            <a:chExt cx="240" cy="240"/>
          </a:xfrm>
        </p:grpSpPr>
        <p:sp>
          <p:nvSpPr>
            <p:cNvPr id="72" name="Line 28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73" name="Line 29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sp>
        <p:nvSpPr>
          <p:cNvPr id="74" name="Line 30"/>
          <p:cNvSpPr>
            <a:spLocks noChangeShapeType="1"/>
          </p:cNvSpPr>
          <p:nvPr/>
        </p:nvSpPr>
        <p:spPr bwMode="auto">
          <a:xfrm flipH="1">
            <a:off x="1676400" y="2628900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75" name="Oval 31"/>
          <p:cNvSpPr>
            <a:spLocks noChangeAspect="1" noChangeArrowheads="1"/>
          </p:cNvSpPr>
          <p:nvPr/>
        </p:nvSpPr>
        <p:spPr bwMode="auto">
          <a:xfrm>
            <a:off x="762000" y="25908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endParaRPr lang="zh-CN" altLang="en-US">
              <a:latin typeface="+mn-lt"/>
              <a:ea typeface="SimSun" pitchFamily="2" charset="-122"/>
            </a:endParaRPr>
          </a:p>
        </p:txBody>
      </p:sp>
      <p:sp>
        <p:nvSpPr>
          <p:cNvPr id="76" name="Rectangle 32"/>
          <p:cNvSpPr>
            <a:spLocks noChangeArrowheads="1"/>
          </p:cNvSpPr>
          <p:nvPr/>
        </p:nvSpPr>
        <p:spPr bwMode="auto">
          <a:xfrm>
            <a:off x="5029200" y="3276600"/>
            <a:ext cx="10668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/>
          <a:lstStyle/>
          <a:p>
            <a:pPr algn="ctr"/>
            <a:r>
              <a:rPr lang="en-US" altLang="zh-CN" sz="2400">
                <a:latin typeface="+mn-lt"/>
                <a:ea typeface="SimSun" pitchFamily="2" charset="-122"/>
              </a:rPr>
              <a:t>b</a:t>
            </a:r>
          </a:p>
        </p:txBody>
      </p:sp>
      <p:grpSp>
        <p:nvGrpSpPr>
          <p:cNvPr id="77" name="Group 33"/>
          <p:cNvGrpSpPr>
            <a:grpSpLocks/>
          </p:cNvGrpSpPr>
          <p:nvPr/>
        </p:nvGrpSpPr>
        <p:grpSpPr bwMode="auto">
          <a:xfrm>
            <a:off x="5715000" y="3276600"/>
            <a:ext cx="381000" cy="381000"/>
            <a:chOff x="1104" y="1008"/>
            <a:chExt cx="240" cy="240"/>
          </a:xfrm>
        </p:grpSpPr>
        <p:sp>
          <p:nvSpPr>
            <p:cNvPr id="78" name="Line 34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79" name="Line 35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80" name="Group 36"/>
          <p:cNvGrpSpPr>
            <a:grpSpLocks/>
          </p:cNvGrpSpPr>
          <p:nvPr/>
        </p:nvGrpSpPr>
        <p:grpSpPr bwMode="auto">
          <a:xfrm flipH="1" flipV="1">
            <a:off x="5029200" y="3657600"/>
            <a:ext cx="381000" cy="381000"/>
            <a:chOff x="1104" y="1008"/>
            <a:chExt cx="240" cy="240"/>
          </a:xfrm>
        </p:grpSpPr>
        <p:sp>
          <p:nvSpPr>
            <p:cNvPr id="81" name="Line 37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82" name="Line 38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sp>
        <p:nvSpPr>
          <p:cNvPr id="83" name="Text Box 39"/>
          <p:cNvSpPr txBox="1">
            <a:spLocks noChangeArrowheads="1"/>
          </p:cNvSpPr>
          <p:nvPr/>
        </p:nvSpPr>
        <p:spPr bwMode="auto">
          <a:xfrm>
            <a:off x="2803525" y="3733800"/>
            <a:ext cx="1154611" cy="461665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 altLang="zh-CN" sz="2400">
                <a:latin typeface="+mn-lt"/>
                <a:ea typeface="SimSun" pitchFamily="2" charset="-122"/>
              </a:rPr>
              <a:t>current</a:t>
            </a:r>
          </a:p>
        </p:txBody>
      </p:sp>
      <p:sp>
        <p:nvSpPr>
          <p:cNvPr id="84" name="Line 40"/>
          <p:cNvSpPr>
            <a:spLocks noChangeShapeType="1"/>
          </p:cNvSpPr>
          <p:nvPr/>
        </p:nvSpPr>
        <p:spPr bwMode="auto">
          <a:xfrm flipV="1">
            <a:off x="3886200" y="3733800"/>
            <a:ext cx="1066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85" name="Line 41"/>
          <p:cNvSpPr>
            <a:spLocks noChangeShapeType="1"/>
          </p:cNvSpPr>
          <p:nvPr/>
        </p:nvSpPr>
        <p:spPr bwMode="auto">
          <a:xfrm flipH="1" flipV="1">
            <a:off x="4191000" y="2819400"/>
            <a:ext cx="10668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86" name="Line 42"/>
          <p:cNvSpPr>
            <a:spLocks noChangeShapeType="1"/>
          </p:cNvSpPr>
          <p:nvPr/>
        </p:nvSpPr>
        <p:spPr bwMode="auto">
          <a:xfrm>
            <a:off x="4038600" y="2286000"/>
            <a:ext cx="990600" cy="990600"/>
          </a:xfrm>
          <a:prstGeom prst="line">
            <a:avLst/>
          </a:prstGeom>
          <a:noFill/>
          <a:ln w="12700">
            <a:solidFill>
              <a:srgbClr val="0070C0"/>
            </a:solidFill>
            <a:prstDash val="dash"/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87" name="Line 43"/>
          <p:cNvSpPr>
            <a:spLocks noChangeShapeType="1"/>
          </p:cNvSpPr>
          <p:nvPr/>
        </p:nvSpPr>
        <p:spPr bwMode="auto">
          <a:xfrm flipV="1">
            <a:off x="5943600" y="2286000"/>
            <a:ext cx="10668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88" name="Line 44"/>
          <p:cNvSpPr>
            <a:spLocks noChangeShapeType="1"/>
          </p:cNvSpPr>
          <p:nvPr/>
        </p:nvSpPr>
        <p:spPr bwMode="auto">
          <a:xfrm flipH="1">
            <a:off x="6096000" y="2667000"/>
            <a:ext cx="1066800" cy="1219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89" name="Line 46"/>
          <p:cNvSpPr>
            <a:spLocks noChangeShapeType="1"/>
          </p:cNvSpPr>
          <p:nvPr/>
        </p:nvSpPr>
        <p:spPr bwMode="auto">
          <a:xfrm flipH="1" flipV="1">
            <a:off x="6172200" y="3962400"/>
            <a:ext cx="685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90" name="Line 47"/>
          <p:cNvSpPr>
            <a:spLocks noChangeShapeType="1"/>
          </p:cNvSpPr>
          <p:nvPr/>
        </p:nvSpPr>
        <p:spPr bwMode="auto">
          <a:xfrm>
            <a:off x="4038600" y="2209800"/>
            <a:ext cx="2971800" cy="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898048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Deleting a Node From Doubly Linked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50" y="1124744"/>
            <a:ext cx="8496300" cy="576064"/>
          </a:xfrm>
        </p:spPr>
        <p:txBody>
          <a:bodyPr/>
          <a:lstStyle/>
          <a:p>
            <a:r>
              <a:rPr lang="en-US" dirty="0"/>
              <a:t>Suppose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current</a:t>
            </a:r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 </a:t>
            </a:r>
            <a:r>
              <a:rPr lang="en-US" dirty="0"/>
              <a:t>points to the node to be deleted from the list 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11-Linked List Variations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25</a:t>
            </a:fld>
            <a:endParaRPr lang="en-GB"/>
          </a:p>
        </p:txBody>
      </p:sp>
      <p:sp>
        <p:nvSpPr>
          <p:cNvPr id="47" name="TextBox 46"/>
          <p:cNvSpPr txBox="1"/>
          <p:nvPr/>
        </p:nvSpPr>
        <p:spPr>
          <a:xfrm>
            <a:off x="467544" y="4581128"/>
            <a:ext cx="583264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oldNode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= current; </a:t>
            </a:r>
          </a:p>
          <a:p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oldNode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prev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-&gt;next = 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oldNode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-&gt;next; </a:t>
            </a:r>
          </a:p>
          <a:p>
            <a:r>
              <a:rPr lang="en-US" sz="2000" b="1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oldNode</a:t>
            </a:r>
            <a:r>
              <a:rPr lang="en-US" sz="20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-&gt;next-&gt;</a:t>
            </a:r>
            <a:r>
              <a:rPr lang="en-US" sz="2000" b="1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prev</a:t>
            </a:r>
            <a:r>
              <a:rPr lang="en-US" sz="20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= </a:t>
            </a:r>
            <a:r>
              <a:rPr lang="en-US" sz="2000" b="1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oldNode</a:t>
            </a:r>
            <a:r>
              <a:rPr lang="en-US" sz="20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en-US" sz="2000" b="1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prev</a:t>
            </a:r>
            <a:r>
              <a:rPr lang="en-US" sz="20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current = 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oldNode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prev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delete 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oldNode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172" name="Text Box 39"/>
          <p:cNvSpPr txBox="1">
            <a:spLocks noChangeArrowheads="1"/>
          </p:cNvSpPr>
          <p:nvPr/>
        </p:nvSpPr>
        <p:spPr bwMode="auto">
          <a:xfrm>
            <a:off x="6820828" y="4002831"/>
            <a:ext cx="1295547" cy="461665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 altLang="zh-CN" sz="2400" dirty="0" err="1">
                <a:latin typeface="+mn-lt"/>
                <a:ea typeface="SimSun" pitchFamily="2" charset="-122"/>
              </a:rPr>
              <a:t>oldNode</a:t>
            </a:r>
            <a:endParaRPr lang="en-US" altLang="zh-CN" sz="2400" dirty="0">
              <a:latin typeface="+mn-lt"/>
              <a:ea typeface="SimSun" pitchFamily="2" charset="-122"/>
            </a:endParaRPr>
          </a:p>
        </p:txBody>
      </p:sp>
      <p:sp>
        <p:nvSpPr>
          <p:cNvPr id="91" name="Rectangle 4"/>
          <p:cNvSpPr>
            <a:spLocks noChangeArrowheads="1"/>
          </p:cNvSpPr>
          <p:nvPr/>
        </p:nvSpPr>
        <p:spPr bwMode="auto">
          <a:xfrm>
            <a:off x="609600" y="2057400"/>
            <a:ext cx="10668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/>
          <a:lstStyle/>
          <a:p>
            <a:pPr algn="ctr"/>
            <a:endParaRPr lang="zh-CN" sz="2400">
              <a:latin typeface="+mn-lt"/>
              <a:ea typeface="SimSun" pitchFamily="2" charset="-122"/>
            </a:endParaRPr>
          </a:p>
        </p:txBody>
      </p:sp>
      <p:sp>
        <p:nvSpPr>
          <p:cNvPr id="92" name="Rectangle 5"/>
          <p:cNvSpPr>
            <a:spLocks noChangeArrowheads="1"/>
          </p:cNvSpPr>
          <p:nvPr/>
        </p:nvSpPr>
        <p:spPr bwMode="auto">
          <a:xfrm>
            <a:off x="3124200" y="2057400"/>
            <a:ext cx="10668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/>
          <a:lstStyle/>
          <a:p>
            <a:pPr algn="ctr"/>
            <a:r>
              <a:rPr lang="en-US" altLang="zh-CN" sz="2400">
                <a:latin typeface="+mn-lt"/>
                <a:ea typeface="SimSun" pitchFamily="2" charset="-122"/>
              </a:rPr>
              <a:t>a</a:t>
            </a:r>
          </a:p>
        </p:txBody>
      </p:sp>
      <p:sp>
        <p:nvSpPr>
          <p:cNvPr id="93" name="Rectangle 6"/>
          <p:cNvSpPr>
            <a:spLocks noChangeArrowheads="1"/>
          </p:cNvSpPr>
          <p:nvPr/>
        </p:nvSpPr>
        <p:spPr bwMode="auto">
          <a:xfrm>
            <a:off x="7010400" y="2057400"/>
            <a:ext cx="10668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/>
          <a:lstStyle/>
          <a:p>
            <a:pPr algn="ctr"/>
            <a:r>
              <a:rPr lang="en-US" altLang="zh-CN" sz="2400">
                <a:latin typeface="+mn-lt"/>
                <a:ea typeface="SimSun" pitchFamily="2" charset="-122"/>
              </a:rPr>
              <a:t>c</a:t>
            </a:r>
          </a:p>
        </p:txBody>
      </p:sp>
      <p:sp>
        <p:nvSpPr>
          <p:cNvPr id="94" name="Text Box 7"/>
          <p:cNvSpPr txBox="1">
            <a:spLocks noChangeArrowheads="1"/>
          </p:cNvSpPr>
          <p:nvPr/>
        </p:nvSpPr>
        <p:spPr bwMode="auto">
          <a:xfrm>
            <a:off x="533400" y="3352800"/>
            <a:ext cx="990600" cy="461665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n-lt"/>
                <a:ea typeface="SimSun" pitchFamily="2" charset="-122"/>
              </a:rPr>
              <a:t>head</a:t>
            </a:r>
          </a:p>
        </p:txBody>
      </p:sp>
      <p:sp>
        <p:nvSpPr>
          <p:cNvPr id="95" name="Line 8"/>
          <p:cNvSpPr>
            <a:spLocks noChangeShapeType="1"/>
          </p:cNvSpPr>
          <p:nvPr/>
        </p:nvSpPr>
        <p:spPr bwMode="auto">
          <a:xfrm flipV="1">
            <a:off x="1524000" y="22479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96" name="Line 9"/>
          <p:cNvSpPr>
            <a:spLocks noChangeShapeType="1"/>
          </p:cNvSpPr>
          <p:nvPr/>
        </p:nvSpPr>
        <p:spPr bwMode="auto">
          <a:xfrm flipH="1" flipV="1">
            <a:off x="609600" y="2819400"/>
            <a:ext cx="2286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97" name="Oval 10"/>
          <p:cNvSpPr>
            <a:spLocks noChangeAspect="1" noChangeArrowheads="1"/>
          </p:cNvSpPr>
          <p:nvPr/>
        </p:nvSpPr>
        <p:spPr bwMode="auto">
          <a:xfrm>
            <a:off x="7848600" y="22098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endParaRPr lang="zh-CN" altLang="en-US">
              <a:latin typeface="+mn-lt"/>
              <a:ea typeface="SimSun" pitchFamily="2" charset="-122"/>
            </a:endParaRPr>
          </a:p>
        </p:txBody>
      </p:sp>
      <p:grpSp>
        <p:nvGrpSpPr>
          <p:cNvPr id="98" name="Group 11"/>
          <p:cNvGrpSpPr>
            <a:grpSpLocks/>
          </p:cNvGrpSpPr>
          <p:nvPr/>
        </p:nvGrpSpPr>
        <p:grpSpPr bwMode="auto">
          <a:xfrm>
            <a:off x="1295400" y="2057400"/>
            <a:ext cx="381000" cy="381000"/>
            <a:chOff x="1104" y="1008"/>
            <a:chExt cx="240" cy="240"/>
          </a:xfrm>
        </p:grpSpPr>
        <p:sp>
          <p:nvSpPr>
            <p:cNvPr id="99" name="Line 12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00" name="Line 13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101" name="Group 14"/>
          <p:cNvGrpSpPr>
            <a:grpSpLocks/>
          </p:cNvGrpSpPr>
          <p:nvPr/>
        </p:nvGrpSpPr>
        <p:grpSpPr bwMode="auto">
          <a:xfrm>
            <a:off x="3810000" y="2057400"/>
            <a:ext cx="381000" cy="381000"/>
            <a:chOff x="1104" y="1008"/>
            <a:chExt cx="240" cy="240"/>
          </a:xfrm>
        </p:grpSpPr>
        <p:sp>
          <p:nvSpPr>
            <p:cNvPr id="102" name="Line 15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03" name="Line 16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104" name="Group 17"/>
          <p:cNvGrpSpPr>
            <a:grpSpLocks/>
          </p:cNvGrpSpPr>
          <p:nvPr/>
        </p:nvGrpSpPr>
        <p:grpSpPr bwMode="auto">
          <a:xfrm>
            <a:off x="7696200" y="2057400"/>
            <a:ext cx="381000" cy="381000"/>
            <a:chOff x="1104" y="1008"/>
            <a:chExt cx="240" cy="240"/>
          </a:xfrm>
        </p:grpSpPr>
        <p:sp>
          <p:nvSpPr>
            <p:cNvPr id="105" name="Line 18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06" name="Line 19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107" name="Group 20"/>
          <p:cNvGrpSpPr>
            <a:grpSpLocks/>
          </p:cNvGrpSpPr>
          <p:nvPr/>
        </p:nvGrpSpPr>
        <p:grpSpPr bwMode="auto">
          <a:xfrm flipH="1" flipV="1">
            <a:off x="609600" y="2438400"/>
            <a:ext cx="381000" cy="381000"/>
            <a:chOff x="1104" y="1008"/>
            <a:chExt cx="240" cy="240"/>
          </a:xfrm>
        </p:grpSpPr>
        <p:sp>
          <p:nvSpPr>
            <p:cNvPr id="108" name="Line 21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09" name="Line 22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110" name="Group 23"/>
          <p:cNvGrpSpPr>
            <a:grpSpLocks/>
          </p:cNvGrpSpPr>
          <p:nvPr/>
        </p:nvGrpSpPr>
        <p:grpSpPr bwMode="auto">
          <a:xfrm flipH="1" flipV="1">
            <a:off x="3124200" y="2438400"/>
            <a:ext cx="381000" cy="381000"/>
            <a:chOff x="1104" y="1008"/>
            <a:chExt cx="240" cy="240"/>
          </a:xfrm>
        </p:grpSpPr>
        <p:sp>
          <p:nvSpPr>
            <p:cNvPr id="111" name="Line 24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12" name="Line 25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113" name="Group 26"/>
          <p:cNvGrpSpPr>
            <a:grpSpLocks/>
          </p:cNvGrpSpPr>
          <p:nvPr/>
        </p:nvGrpSpPr>
        <p:grpSpPr bwMode="auto">
          <a:xfrm flipH="1" flipV="1">
            <a:off x="7010400" y="2438400"/>
            <a:ext cx="381000" cy="381000"/>
            <a:chOff x="1104" y="1008"/>
            <a:chExt cx="240" cy="240"/>
          </a:xfrm>
        </p:grpSpPr>
        <p:sp>
          <p:nvSpPr>
            <p:cNvPr id="114" name="Line 27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15" name="Line 28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sp>
        <p:nvSpPr>
          <p:cNvPr id="116" name="Line 29"/>
          <p:cNvSpPr>
            <a:spLocks noChangeShapeType="1"/>
          </p:cNvSpPr>
          <p:nvPr/>
        </p:nvSpPr>
        <p:spPr bwMode="auto">
          <a:xfrm flipH="1">
            <a:off x="1676400" y="2628900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17" name="Oval 30"/>
          <p:cNvSpPr>
            <a:spLocks noChangeAspect="1" noChangeArrowheads="1"/>
          </p:cNvSpPr>
          <p:nvPr/>
        </p:nvSpPr>
        <p:spPr bwMode="auto">
          <a:xfrm>
            <a:off x="762000" y="25908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endParaRPr lang="zh-CN" altLang="en-US">
              <a:latin typeface="+mn-lt"/>
              <a:ea typeface="SimSun" pitchFamily="2" charset="-122"/>
            </a:endParaRPr>
          </a:p>
        </p:txBody>
      </p:sp>
      <p:sp>
        <p:nvSpPr>
          <p:cNvPr id="118" name="Rectangle 31"/>
          <p:cNvSpPr>
            <a:spLocks noChangeArrowheads="1"/>
          </p:cNvSpPr>
          <p:nvPr/>
        </p:nvSpPr>
        <p:spPr bwMode="auto">
          <a:xfrm>
            <a:off x="5029200" y="3276600"/>
            <a:ext cx="10668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/>
          <a:lstStyle/>
          <a:p>
            <a:pPr algn="ctr"/>
            <a:r>
              <a:rPr lang="en-US" altLang="zh-CN" sz="2400">
                <a:latin typeface="+mn-lt"/>
                <a:ea typeface="SimSun" pitchFamily="2" charset="-122"/>
              </a:rPr>
              <a:t>b</a:t>
            </a:r>
          </a:p>
        </p:txBody>
      </p:sp>
      <p:grpSp>
        <p:nvGrpSpPr>
          <p:cNvPr id="119" name="Group 32"/>
          <p:cNvGrpSpPr>
            <a:grpSpLocks/>
          </p:cNvGrpSpPr>
          <p:nvPr/>
        </p:nvGrpSpPr>
        <p:grpSpPr bwMode="auto">
          <a:xfrm>
            <a:off x="5715000" y="3276600"/>
            <a:ext cx="381000" cy="381000"/>
            <a:chOff x="1104" y="1008"/>
            <a:chExt cx="240" cy="240"/>
          </a:xfrm>
        </p:grpSpPr>
        <p:sp>
          <p:nvSpPr>
            <p:cNvPr id="120" name="Line 33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21" name="Line 34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122" name="Group 35"/>
          <p:cNvGrpSpPr>
            <a:grpSpLocks/>
          </p:cNvGrpSpPr>
          <p:nvPr/>
        </p:nvGrpSpPr>
        <p:grpSpPr bwMode="auto">
          <a:xfrm flipH="1" flipV="1">
            <a:off x="5029200" y="3657600"/>
            <a:ext cx="381000" cy="381000"/>
            <a:chOff x="1104" y="1008"/>
            <a:chExt cx="240" cy="240"/>
          </a:xfrm>
        </p:grpSpPr>
        <p:sp>
          <p:nvSpPr>
            <p:cNvPr id="123" name="Line 36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24" name="Line 37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sp>
        <p:nvSpPr>
          <p:cNvPr id="125" name="Text Box 38"/>
          <p:cNvSpPr txBox="1">
            <a:spLocks noChangeArrowheads="1"/>
          </p:cNvSpPr>
          <p:nvPr/>
        </p:nvSpPr>
        <p:spPr bwMode="auto">
          <a:xfrm>
            <a:off x="2803525" y="3733800"/>
            <a:ext cx="1154611" cy="461665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 altLang="zh-CN" sz="2400">
                <a:latin typeface="+mn-lt"/>
                <a:ea typeface="SimSun" pitchFamily="2" charset="-122"/>
              </a:rPr>
              <a:t>current</a:t>
            </a:r>
          </a:p>
        </p:txBody>
      </p:sp>
      <p:sp>
        <p:nvSpPr>
          <p:cNvPr id="126" name="Line 39"/>
          <p:cNvSpPr>
            <a:spLocks noChangeShapeType="1"/>
          </p:cNvSpPr>
          <p:nvPr/>
        </p:nvSpPr>
        <p:spPr bwMode="auto">
          <a:xfrm flipV="1">
            <a:off x="3886200" y="3733800"/>
            <a:ext cx="1066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27" name="Line 40"/>
          <p:cNvSpPr>
            <a:spLocks noChangeShapeType="1"/>
          </p:cNvSpPr>
          <p:nvPr/>
        </p:nvSpPr>
        <p:spPr bwMode="auto">
          <a:xfrm flipH="1" flipV="1">
            <a:off x="4191000" y="2819400"/>
            <a:ext cx="10668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28" name="Line 41"/>
          <p:cNvSpPr>
            <a:spLocks noChangeShapeType="1"/>
          </p:cNvSpPr>
          <p:nvPr/>
        </p:nvSpPr>
        <p:spPr bwMode="auto">
          <a:xfrm flipV="1">
            <a:off x="5943600" y="2286000"/>
            <a:ext cx="10668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29" name="Line 42"/>
          <p:cNvSpPr>
            <a:spLocks noChangeShapeType="1"/>
          </p:cNvSpPr>
          <p:nvPr/>
        </p:nvSpPr>
        <p:spPr bwMode="auto">
          <a:xfrm flipH="1">
            <a:off x="6096000" y="2667000"/>
            <a:ext cx="1066800" cy="1219200"/>
          </a:xfrm>
          <a:prstGeom prst="line">
            <a:avLst/>
          </a:prstGeom>
          <a:noFill/>
          <a:ln w="12700">
            <a:solidFill>
              <a:srgbClr val="0070C0"/>
            </a:solidFill>
            <a:prstDash val="dash"/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30" name="Line 45"/>
          <p:cNvSpPr>
            <a:spLocks noChangeShapeType="1"/>
          </p:cNvSpPr>
          <p:nvPr/>
        </p:nvSpPr>
        <p:spPr bwMode="auto">
          <a:xfrm>
            <a:off x="4038600" y="2209800"/>
            <a:ext cx="297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31" name="Line 47"/>
          <p:cNvSpPr>
            <a:spLocks noChangeShapeType="1"/>
          </p:cNvSpPr>
          <p:nvPr/>
        </p:nvSpPr>
        <p:spPr bwMode="auto">
          <a:xfrm flipH="1">
            <a:off x="4191000" y="2667000"/>
            <a:ext cx="2895600" cy="0"/>
          </a:xfrm>
          <a:prstGeom prst="line">
            <a:avLst/>
          </a:prstGeom>
          <a:noFill/>
          <a:ln w="12700">
            <a:solidFill>
              <a:srgbClr val="FF0000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32" name="Line 46"/>
          <p:cNvSpPr>
            <a:spLocks noChangeShapeType="1"/>
          </p:cNvSpPr>
          <p:nvPr/>
        </p:nvSpPr>
        <p:spPr bwMode="auto">
          <a:xfrm flipH="1" flipV="1">
            <a:off x="6172200" y="3962400"/>
            <a:ext cx="685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293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Deleting a Node From Doubly Linked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50" y="1124744"/>
            <a:ext cx="8496300" cy="576064"/>
          </a:xfrm>
        </p:spPr>
        <p:txBody>
          <a:bodyPr/>
          <a:lstStyle/>
          <a:p>
            <a:r>
              <a:rPr lang="en-US" dirty="0"/>
              <a:t>Suppose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current</a:t>
            </a:r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 </a:t>
            </a:r>
            <a:r>
              <a:rPr lang="en-US" dirty="0"/>
              <a:t>points to the node to be deleted from the list 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11-Linked List Variations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26</a:t>
            </a:fld>
            <a:endParaRPr lang="en-GB"/>
          </a:p>
        </p:txBody>
      </p:sp>
      <p:sp>
        <p:nvSpPr>
          <p:cNvPr id="47" name="TextBox 46"/>
          <p:cNvSpPr txBox="1"/>
          <p:nvPr/>
        </p:nvSpPr>
        <p:spPr>
          <a:xfrm>
            <a:off x="467544" y="4581128"/>
            <a:ext cx="583264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oldNode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= current; </a:t>
            </a:r>
          </a:p>
          <a:p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oldNode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prev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-&gt;next = 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oldNode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-&gt;next; </a:t>
            </a:r>
          </a:p>
          <a:p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oldNode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-&gt;next-&gt;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prev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= 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oldNode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prev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US" sz="20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current = </a:t>
            </a:r>
            <a:r>
              <a:rPr lang="en-US" sz="2000" b="1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oldNode</a:t>
            </a:r>
            <a:r>
              <a:rPr lang="en-US" sz="20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en-US" sz="2000" b="1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prev</a:t>
            </a:r>
            <a:r>
              <a:rPr lang="en-US" sz="20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delete 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oldNode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172" name="Text Box 39"/>
          <p:cNvSpPr txBox="1">
            <a:spLocks noChangeArrowheads="1"/>
          </p:cNvSpPr>
          <p:nvPr/>
        </p:nvSpPr>
        <p:spPr bwMode="auto">
          <a:xfrm>
            <a:off x="6820828" y="4002831"/>
            <a:ext cx="1295547" cy="461665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 altLang="zh-CN" sz="2400" dirty="0" err="1">
                <a:latin typeface="+mn-lt"/>
                <a:ea typeface="SimSun" pitchFamily="2" charset="-122"/>
              </a:rPr>
              <a:t>oldNode</a:t>
            </a:r>
            <a:endParaRPr lang="en-US" altLang="zh-CN" sz="2400" dirty="0">
              <a:latin typeface="+mn-lt"/>
              <a:ea typeface="SimSun" pitchFamily="2" charset="-122"/>
            </a:endParaRPr>
          </a:p>
        </p:txBody>
      </p:sp>
      <p:sp>
        <p:nvSpPr>
          <p:cNvPr id="91" name="Rectangle 4"/>
          <p:cNvSpPr>
            <a:spLocks noChangeArrowheads="1"/>
          </p:cNvSpPr>
          <p:nvPr/>
        </p:nvSpPr>
        <p:spPr bwMode="auto">
          <a:xfrm>
            <a:off x="609600" y="2057400"/>
            <a:ext cx="10668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/>
          <a:lstStyle/>
          <a:p>
            <a:pPr algn="ctr"/>
            <a:endParaRPr lang="zh-CN" sz="2400">
              <a:latin typeface="+mn-lt"/>
              <a:ea typeface="SimSun" pitchFamily="2" charset="-122"/>
            </a:endParaRPr>
          </a:p>
        </p:txBody>
      </p:sp>
      <p:sp>
        <p:nvSpPr>
          <p:cNvPr id="92" name="Rectangle 5"/>
          <p:cNvSpPr>
            <a:spLocks noChangeArrowheads="1"/>
          </p:cNvSpPr>
          <p:nvPr/>
        </p:nvSpPr>
        <p:spPr bwMode="auto">
          <a:xfrm>
            <a:off x="3124200" y="2057400"/>
            <a:ext cx="10668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/>
          <a:lstStyle/>
          <a:p>
            <a:pPr algn="ctr"/>
            <a:r>
              <a:rPr lang="en-US" altLang="zh-CN" sz="2400">
                <a:latin typeface="+mn-lt"/>
                <a:ea typeface="SimSun" pitchFamily="2" charset="-122"/>
              </a:rPr>
              <a:t>a</a:t>
            </a:r>
          </a:p>
        </p:txBody>
      </p:sp>
      <p:sp>
        <p:nvSpPr>
          <p:cNvPr id="93" name="Rectangle 6"/>
          <p:cNvSpPr>
            <a:spLocks noChangeArrowheads="1"/>
          </p:cNvSpPr>
          <p:nvPr/>
        </p:nvSpPr>
        <p:spPr bwMode="auto">
          <a:xfrm>
            <a:off x="7010400" y="2057400"/>
            <a:ext cx="10668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/>
          <a:lstStyle/>
          <a:p>
            <a:pPr algn="ctr"/>
            <a:r>
              <a:rPr lang="en-US" altLang="zh-CN" sz="2400">
                <a:latin typeface="+mn-lt"/>
                <a:ea typeface="SimSun" pitchFamily="2" charset="-122"/>
              </a:rPr>
              <a:t>c</a:t>
            </a:r>
          </a:p>
        </p:txBody>
      </p:sp>
      <p:sp>
        <p:nvSpPr>
          <p:cNvPr id="94" name="Text Box 7"/>
          <p:cNvSpPr txBox="1">
            <a:spLocks noChangeArrowheads="1"/>
          </p:cNvSpPr>
          <p:nvPr/>
        </p:nvSpPr>
        <p:spPr bwMode="auto">
          <a:xfrm>
            <a:off x="533400" y="3352800"/>
            <a:ext cx="990600" cy="461665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n-lt"/>
                <a:ea typeface="SimSun" pitchFamily="2" charset="-122"/>
              </a:rPr>
              <a:t>head</a:t>
            </a:r>
          </a:p>
        </p:txBody>
      </p:sp>
      <p:sp>
        <p:nvSpPr>
          <p:cNvPr id="95" name="Line 8"/>
          <p:cNvSpPr>
            <a:spLocks noChangeShapeType="1"/>
          </p:cNvSpPr>
          <p:nvPr/>
        </p:nvSpPr>
        <p:spPr bwMode="auto">
          <a:xfrm flipV="1">
            <a:off x="1524000" y="22479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96" name="Line 9"/>
          <p:cNvSpPr>
            <a:spLocks noChangeShapeType="1"/>
          </p:cNvSpPr>
          <p:nvPr/>
        </p:nvSpPr>
        <p:spPr bwMode="auto">
          <a:xfrm flipH="1" flipV="1">
            <a:off x="609600" y="2819400"/>
            <a:ext cx="2286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97" name="Oval 10"/>
          <p:cNvSpPr>
            <a:spLocks noChangeAspect="1" noChangeArrowheads="1"/>
          </p:cNvSpPr>
          <p:nvPr/>
        </p:nvSpPr>
        <p:spPr bwMode="auto">
          <a:xfrm>
            <a:off x="7848600" y="22098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endParaRPr lang="zh-CN" altLang="en-US">
              <a:latin typeface="+mn-lt"/>
              <a:ea typeface="SimSun" pitchFamily="2" charset="-122"/>
            </a:endParaRPr>
          </a:p>
        </p:txBody>
      </p:sp>
      <p:grpSp>
        <p:nvGrpSpPr>
          <p:cNvPr id="98" name="Group 11"/>
          <p:cNvGrpSpPr>
            <a:grpSpLocks/>
          </p:cNvGrpSpPr>
          <p:nvPr/>
        </p:nvGrpSpPr>
        <p:grpSpPr bwMode="auto">
          <a:xfrm>
            <a:off x="1295400" y="2057400"/>
            <a:ext cx="381000" cy="381000"/>
            <a:chOff x="1104" y="1008"/>
            <a:chExt cx="240" cy="240"/>
          </a:xfrm>
        </p:grpSpPr>
        <p:sp>
          <p:nvSpPr>
            <p:cNvPr id="99" name="Line 12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00" name="Line 13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101" name="Group 14"/>
          <p:cNvGrpSpPr>
            <a:grpSpLocks/>
          </p:cNvGrpSpPr>
          <p:nvPr/>
        </p:nvGrpSpPr>
        <p:grpSpPr bwMode="auto">
          <a:xfrm>
            <a:off x="3810000" y="2057400"/>
            <a:ext cx="381000" cy="381000"/>
            <a:chOff x="1104" y="1008"/>
            <a:chExt cx="240" cy="240"/>
          </a:xfrm>
        </p:grpSpPr>
        <p:sp>
          <p:nvSpPr>
            <p:cNvPr id="102" name="Line 15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03" name="Line 16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104" name="Group 17"/>
          <p:cNvGrpSpPr>
            <a:grpSpLocks/>
          </p:cNvGrpSpPr>
          <p:nvPr/>
        </p:nvGrpSpPr>
        <p:grpSpPr bwMode="auto">
          <a:xfrm>
            <a:off x="7696200" y="2057400"/>
            <a:ext cx="381000" cy="381000"/>
            <a:chOff x="1104" y="1008"/>
            <a:chExt cx="240" cy="240"/>
          </a:xfrm>
        </p:grpSpPr>
        <p:sp>
          <p:nvSpPr>
            <p:cNvPr id="105" name="Line 18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06" name="Line 19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107" name="Group 20"/>
          <p:cNvGrpSpPr>
            <a:grpSpLocks/>
          </p:cNvGrpSpPr>
          <p:nvPr/>
        </p:nvGrpSpPr>
        <p:grpSpPr bwMode="auto">
          <a:xfrm flipH="1" flipV="1">
            <a:off x="609600" y="2438400"/>
            <a:ext cx="381000" cy="381000"/>
            <a:chOff x="1104" y="1008"/>
            <a:chExt cx="240" cy="240"/>
          </a:xfrm>
        </p:grpSpPr>
        <p:sp>
          <p:nvSpPr>
            <p:cNvPr id="108" name="Line 21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09" name="Line 22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110" name="Group 23"/>
          <p:cNvGrpSpPr>
            <a:grpSpLocks/>
          </p:cNvGrpSpPr>
          <p:nvPr/>
        </p:nvGrpSpPr>
        <p:grpSpPr bwMode="auto">
          <a:xfrm flipH="1" flipV="1">
            <a:off x="3124200" y="2438400"/>
            <a:ext cx="381000" cy="381000"/>
            <a:chOff x="1104" y="1008"/>
            <a:chExt cx="240" cy="240"/>
          </a:xfrm>
        </p:grpSpPr>
        <p:sp>
          <p:nvSpPr>
            <p:cNvPr id="111" name="Line 24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12" name="Line 25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113" name="Group 26"/>
          <p:cNvGrpSpPr>
            <a:grpSpLocks/>
          </p:cNvGrpSpPr>
          <p:nvPr/>
        </p:nvGrpSpPr>
        <p:grpSpPr bwMode="auto">
          <a:xfrm flipH="1" flipV="1">
            <a:off x="7010400" y="2438400"/>
            <a:ext cx="381000" cy="381000"/>
            <a:chOff x="1104" y="1008"/>
            <a:chExt cx="240" cy="240"/>
          </a:xfrm>
        </p:grpSpPr>
        <p:sp>
          <p:nvSpPr>
            <p:cNvPr id="114" name="Line 27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15" name="Line 28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sp>
        <p:nvSpPr>
          <p:cNvPr id="116" name="Line 29"/>
          <p:cNvSpPr>
            <a:spLocks noChangeShapeType="1"/>
          </p:cNvSpPr>
          <p:nvPr/>
        </p:nvSpPr>
        <p:spPr bwMode="auto">
          <a:xfrm flipH="1">
            <a:off x="1676400" y="2628900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17" name="Oval 30"/>
          <p:cNvSpPr>
            <a:spLocks noChangeAspect="1" noChangeArrowheads="1"/>
          </p:cNvSpPr>
          <p:nvPr/>
        </p:nvSpPr>
        <p:spPr bwMode="auto">
          <a:xfrm>
            <a:off x="762000" y="25908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endParaRPr lang="zh-CN" altLang="en-US">
              <a:latin typeface="+mn-lt"/>
              <a:ea typeface="SimSun" pitchFamily="2" charset="-122"/>
            </a:endParaRPr>
          </a:p>
        </p:txBody>
      </p:sp>
      <p:sp>
        <p:nvSpPr>
          <p:cNvPr id="118" name="Rectangle 31"/>
          <p:cNvSpPr>
            <a:spLocks noChangeArrowheads="1"/>
          </p:cNvSpPr>
          <p:nvPr/>
        </p:nvSpPr>
        <p:spPr bwMode="auto">
          <a:xfrm>
            <a:off x="5029200" y="3276600"/>
            <a:ext cx="10668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/>
          <a:lstStyle/>
          <a:p>
            <a:pPr algn="ctr"/>
            <a:r>
              <a:rPr lang="en-US" altLang="zh-CN" sz="2400">
                <a:latin typeface="+mn-lt"/>
                <a:ea typeface="SimSun" pitchFamily="2" charset="-122"/>
              </a:rPr>
              <a:t>b</a:t>
            </a:r>
          </a:p>
        </p:txBody>
      </p:sp>
      <p:grpSp>
        <p:nvGrpSpPr>
          <p:cNvPr id="119" name="Group 32"/>
          <p:cNvGrpSpPr>
            <a:grpSpLocks/>
          </p:cNvGrpSpPr>
          <p:nvPr/>
        </p:nvGrpSpPr>
        <p:grpSpPr bwMode="auto">
          <a:xfrm>
            <a:off x="5715000" y="3276600"/>
            <a:ext cx="381000" cy="381000"/>
            <a:chOff x="1104" y="1008"/>
            <a:chExt cx="240" cy="240"/>
          </a:xfrm>
        </p:grpSpPr>
        <p:sp>
          <p:nvSpPr>
            <p:cNvPr id="120" name="Line 33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21" name="Line 34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122" name="Group 35"/>
          <p:cNvGrpSpPr>
            <a:grpSpLocks/>
          </p:cNvGrpSpPr>
          <p:nvPr/>
        </p:nvGrpSpPr>
        <p:grpSpPr bwMode="auto">
          <a:xfrm flipH="1" flipV="1">
            <a:off x="5029200" y="3657600"/>
            <a:ext cx="381000" cy="381000"/>
            <a:chOff x="1104" y="1008"/>
            <a:chExt cx="240" cy="240"/>
          </a:xfrm>
        </p:grpSpPr>
        <p:sp>
          <p:nvSpPr>
            <p:cNvPr id="123" name="Line 36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24" name="Line 37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sp>
        <p:nvSpPr>
          <p:cNvPr id="125" name="Text Box 38"/>
          <p:cNvSpPr txBox="1">
            <a:spLocks noChangeArrowheads="1"/>
          </p:cNvSpPr>
          <p:nvPr/>
        </p:nvSpPr>
        <p:spPr bwMode="auto">
          <a:xfrm>
            <a:off x="2803525" y="3733800"/>
            <a:ext cx="1154611" cy="461665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 altLang="zh-CN" sz="2400">
                <a:latin typeface="+mn-lt"/>
                <a:ea typeface="SimSun" pitchFamily="2" charset="-122"/>
              </a:rPr>
              <a:t>current</a:t>
            </a:r>
          </a:p>
        </p:txBody>
      </p:sp>
      <p:sp>
        <p:nvSpPr>
          <p:cNvPr id="126" name="Line 39"/>
          <p:cNvSpPr>
            <a:spLocks noChangeShapeType="1"/>
          </p:cNvSpPr>
          <p:nvPr/>
        </p:nvSpPr>
        <p:spPr bwMode="auto">
          <a:xfrm flipV="1">
            <a:off x="3225438" y="2918742"/>
            <a:ext cx="410458" cy="84465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27" name="Line 40"/>
          <p:cNvSpPr>
            <a:spLocks noChangeShapeType="1"/>
          </p:cNvSpPr>
          <p:nvPr/>
        </p:nvSpPr>
        <p:spPr bwMode="auto">
          <a:xfrm flipH="1" flipV="1">
            <a:off x="4191000" y="2819400"/>
            <a:ext cx="1066800" cy="1066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28" name="Line 41"/>
          <p:cNvSpPr>
            <a:spLocks noChangeShapeType="1"/>
          </p:cNvSpPr>
          <p:nvPr/>
        </p:nvSpPr>
        <p:spPr bwMode="auto">
          <a:xfrm flipV="1">
            <a:off x="5943600" y="2286000"/>
            <a:ext cx="1066800" cy="1143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30" name="Line 45"/>
          <p:cNvSpPr>
            <a:spLocks noChangeShapeType="1"/>
          </p:cNvSpPr>
          <p:nvPr/>
        </p:nvSpPr>
        <p:spPr bwMode="auto">
          <a:xfrm>
            <a:off x="4038600" y="2209800"/>
            <a:ext cx="297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31" name="Line 47"/>
          <p:cNvSpPr>
            <a:spLocks noChangeShapeType="1"/>
          </p:cNvSpPr>
          <p:nvPr/>
        </p:nvSpPr>
        <p:spPr bwMode="auto">
          <a:xfrm flipH="1">
            <a:off x="4191000" y="2667000"/>
            <a:ext cx="2895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32" name="Line 46"/>
          <p:cNvSpPr>
            <a:spLocks noChangeShapeType="1"/>
          </p:cNvSpPr>
          <p:nvPr/>
        </p:nvSpPr>
        <p:spPr bwMode="auto">
          <a:xfrm flipH="1" flipV="1">
            <a:off x="6172200" y="3962400"/>
            <a:ext cx="68580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7260446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Deleting a Node From Doubly Linked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50" y="1124744"/>
            <a:ext cx="8496300" cy="576064"/>
          </a:xfrm>
        </p:spPr>
        <p:txBody>
          <a:bodyPr/>
          <a:lstStyle/>
          <a:p>
            <a:r>
              <a:rPr lang="en-US" dirty="0"/>
              <a:t>Suppose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current</a:t>
            </a:r>
            <a:r>
              <a:rPr lang="en-US" dirty="0">
                <a:solidFill>
                  <a:srgbClr val="0070C0"/>
                </a:solidFill>
                <a:cs typeface="Courier New" panose="02070309020205020404" pitchFamily="49" charset="0"/>
              </a:rPr>
              <a:t> </a:t>
            </a:r>
            <a:r>
              <a:rPr lang="en-US" dirty="0"/>
              <a:t>points to the node to be deleted from the list 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11-Linked List Variations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27</a:t>
            </a:fld>
            <a:endParaRPr lang="en-GB"/>
          </a:p>
        </p:txBody>
      </p:sp>
      <p:sp>
        <p:nvSpPr>
          <p:cNvPr id="47" name="TextBox 46"/>
          <p:cNvSpPr txBox="1"/>
          <p:nvPr/>
        </p:nvSpPr>
        <p:spPr>
          <a:xfrm>
            <a:off x="467544" y="4581128"/>
            <a:ext cx="583264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oldNode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= current; </a:t>
            </a:r>
          </a:p>
          <a:p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oldNode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prev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-&gt;next = 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oldNode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-&gt;next; </a:t>
            </a:r>
          </a:p>
          <a:p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oldNode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-&gt;next-&gt;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prev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 = 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oldNode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prev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; </a:t>
            </a:r>
          </a:p>
          <a:p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current = 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oldNode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-&gt;</a:t>
            </a:r>
            <a:r>
              <a:rPr lang="en-US" sz="2000" dirty="0" err="1">
                <a:latin typeface="Consolas" panose="020B0609020204030204" pitchFamily="49" charset="0"/>
                <a:cs typeface="Courier New" panose="02070309020205020404" pitchFamily="49" charset="0"/>
              </a:rPr>
              <a:t>prev</a:t>
            </a:r>
            <a:r>
              <a:rPr lang="en-US" sz="2000" dirty="0"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  <a:p>
            <a:r>
              <a:rPr lang="en-US" sz="20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delete </a:t>
            </a:r>
            <a:r>
              <a:rPr lang="en-US" sz="2000" b="1" dirty="0" err="1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oldNode</a:t>
            </a:r>
            <a:r>
              <a:rPr lang="en-US" sz="2000" b="1" dirty="0">
                <a:solidFill>
                  <a:srgbClr val="0070C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;</a:t>
            </a:r>
          </a:p>
        </p:txBody>
      </p:sp>
      <p:sp>
        <p:nvSpPr>
          <p:cNvPr id="91" name="Rectangle 4"/>
          <p:cNvSpPr>
            <a:spLocks noChangeArrowheads="1"/>
          </p:cNvSpPr>
          <p:nvPr/>
        </p:nvSpPr>
        <p:spPr bwMode="auto">
          <a:xfrm>
            <a:off x="609600" y="2057400"/>
            <a:ext cx="10668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/>
          <a:lstStyle/>
          <a:p>
            <a:pPr algn="ctr"/>
            <a:endParaRPr lang="zh-CN" sz="2400">
              <a:latin typeface="+mn-lt"/>
              <a:ea typeface="SimSun" pitchFamily="2" charset="-122"/>
            </a:endParaRPr>
          </a:p>
        </p:txBody>
      </p:sp>
      <p:sp>
        <p:nvSpPr>
          <p:cNvPr id="92" name="Rectangle 5"/>
          <p:cNvSpPr>
            <a:spLocks noChangeArrowheads="1"/>
          </p:cNvSpPr>
          <p:nvPr/>
        </p:nvSpPr>
        <p:spPr bwMode="auto">
          <a:xfrm>
            <a:off x="3124200" y="2057400"/>
            <a:ext cx="10668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/>
          <a:lstStyle/>
          <a:p>
            <a:pPr algn="ctr"/>
            <a:r>
              <a:rPr lang="en-US" altLang="zh-CN" sz="2400">
                <a:latin typeface="+mn-lt"/>
                <a:ea typeface="SimSun" pitchFamily="2" charset="-122"/>
              </a:rPr>
              <a:t>a</a:t>
            </a:r>
          </a:p>
        </p:txBody>
      </p:sp>
      <p:sp>
        <p:nvSpPr>
          <p:cNvPr id="93" name="Rectangle 6"/>
          <p:cNvSpPr>
            <a:spLocks noChangeArrowheads="1"/>
          </p:cNvSpPr>
          <p:nvPr/>
        </p:nvSpPr>
        <p:spPr bwMode="auto">
          <a:xfrm>
            <a:off x="7010400" y="2057400"/>
            <a:ext cx="10668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/>
          <a:lstStyle/>
          <a:p>
            <a:pPr algn="ctr"/>
            <a:r>
              <a:rPr lang="en-US" altLang="zh-CN" sz="2400">
                <a:latin typeface="+mn-lt"/>
                <a:ea typeface="SimSun" pitchFamily="2" charset="-122"/>
              </a:rPr>
              <a:t>c</a:t>
            </a:r>
          </a:p>
        </p:txBody>
      </p:sp>
      <p:sp>
        <p:nvSpPr>
          <p:cNvPr id="94" name="Text Box 7"/>
          <p:cNvSpPr txBox="1">
            <a:spLocks noChangeArrowheads="1"/>
          </p:cNvSpPr>
          <p:nvPr/>
        </p:nvSpPr>
        <p:spPr bwMode="auto">
          <a:xfrm>
            <a:off x="533400" y="3352800"/>
            <a:ext cx="990600" cy="461665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+mn-lt"/>
                <a:ea typeface="SimSun" pitchFamily="2" charset="-122"/>
              </a:rPr>
              <a:t>head</a:t>
            </a:r>
          </a:p>
        </p:txBody>
      </p:sp>
      <p:sp>
        <p:nvSpPr>
          <p:cNvPr id="95" name="Line 8"/>
          <p:cNvSpPr>
            <a:spLocks noChangeShapeType="1"/>
          </p:cNvSpPr>
          <p:nvPr/>
        </p:nvSpPr>
        <p:spPr bwMode="auto">
          <a:xfrm flipV="1">
            <a:off x="1524000" y="2247900"/>
            <a:ext cx="1600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96" name="Line 9"/>
          <p:cNvSpPr>
            <a:spLocks noChangeShapeType="1"/>
          </p:cNvSpPr>
          <p:nvPr/>
        </p:nvSpPr>
        <p:spPr bwMode="auto">
          <a:xfrm flipH="1" flipV="1">
            <a:off x="609600" y="2819400"/>
            <a:ext cx="2286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97" name="Oval 10"/>
          <p:cNvSpPr>
            <a:spLocks noChangeAspect="1" noChangeArrowheads="1"/>
          </p:cNvSpPr>
          <p:nvPr/>
        </p:nvSpPr>
        <p:spPr bwMode="auto">
          <a:xfrm>
            <a:off x="7848600" y="22098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endParaRPr lang="zh-CN" altLang="en-US">
              <a:latin typeface="+mn-lt"/>
              <a:ea typeface="SimSun" pitchFamily="2" charset="-122"/>
            </a:endParaRPr>
          </a:p>
        </p:txBody>
      </p:sp>
      <p:grpSp>
        <p:nvGrpSpPr>
          <p:cNvPr id="98" name="Group 11"/>
          <p:cNvGrpSpPr>
            <a:grpSpLocks/>
          </p:cNvGrpSpPr>
          <p:nvPr/>
        </p:nvGrpSpPr>
        <p:grpSpPr bwMode="auto">
          <a:xfrm>
            <a:off x="1295400" y="2057400"/>
            <a:ext cx="381000" cy="381000"/>
            <a:chOff x="1104" y="1008"/>
            <a:chExt cx="240" cy="240"/>
          </a:xfrm>
        </p:grpSpPr>
        <p:sp>
          <p:nvSpPr>
            <p:cNvPr id="99" name="Line 12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00" name="Line 13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101" name="Group 14"/>
          <p:cNvGrpSpPr>
            <a:grpSpLocks/>
          </p:cNvGrpSpPr>
          <p:nvPr/>
        </p:nvGrpSpPr>
        <p:grpSpPr bwMode="auto">
          <a:xfrm>
            <a:off x="3810000" y="2057400"/>
            <a:ext cx="381000" cy="381000"/>
            <a:chOff x="1104" y="1008"/>
            <a:chExt cx="240" cy="240"/>
          </a:xfrm>
        </p:grpSpPr>
        <p:sp>
          <p:nvSpPr>
            <p:cNvPr id="102" name="Line 15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03" name="Line 16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104" name="Group 17"/>
          <p:cNvGrpSpPr>
            <a:grpSpLocks/>
          </p:cNvGrpSpPr>
          <p:nvPr/>
        </p:nvGrpSpPr>
        <p:grpSpPr bwMode="auto">
          <a:xfrm>
            <a:off x="7696200" y="2057400"/>
            <a:ext cx="381000" cy="381000"/>
            <a:chOff x="1104" y="1008"/>
            <a:chExt cx="240" cy="240"/>
          </a:xfrm>
        </p:grpSpPr>
        <p:sp>
          <p:nvSpPr>
            <p:cNvPr id="105" name="Line 18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06" name="Line 19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107" name="Group 20"/>
          <p:cNvGrpSpPr>
            <a:grpSpLocks/>
          </p:cNvGrpSpPr>
          <p:nvPr/>
        </p:nvGrpSpPr>
        <p:grpSpPr bwMode="auto">
          <a:xfrm flipH="1" flipV="1">
            <a:off x="609600" y="2438400"/>
            <a:ext cx="381000" cy="381000"/>
            <a:chOff x="1104" y="1008"/>
            <a:chExt cx="240" cy="240"/>
          </a:xfrm>
        </p:grpSpPr>
        <p:sp>
          <p:nvSpPr>
            <p:cNvPr id="108" name="Line 21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09" name="Line 22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110" name="Group 23"/>
          <p:cNvGrpSpPr>
            <a:grpSpLocks/>
          </p:cNvGrpSpPr>
          <p:nvPr/>
        </p:nvGrpSpPr>
        <p:grpSpPr bwMode="auto">
          <a:xfrm flipH="1" flipV="1">
            <a:off x="3124200" y="2438400"/>
            <a:ext cx="381000" cy="381000"/>
            <a:chOff x="1104" y="1008"/>
            <a:chExt cx="240" cy="240"/>
          </a:xfrm>
        </p:grpSpPr>
        <p:sp>
          <p:nvSpPr>
            <p:cNvPr id="111" name="Line 24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12" name="Line 25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grpSp>
        <p:nvGrpSpPr>
          <p:cNvPr id="113" name="Group 26"/>
          <p:cNvGrpSpPr>
            <a:grpSpLocks/>
          </p:cNvGrpSpPr>
          <p:nvPr/>
        </p:nvGrpSpPr>
        <p:grpSpPr bwMode="auto">
          <a:xfrm flipH="1" flipV="1">
            <a:off x="7010400" y="2438400"/>
            <a:ext cx="381000" cy="381000"/>
            <a:chOff x="1104" y="1008"/>
            <a:chExt cx="240" cy="240"/>
          </a:xfrm>
        </p:grpSpPr>
        <p:sp>
          <p:nvSpPr>
            <p:cNvPr id="114" name="Line 27"/>
            <p:cNvSpPr>
              <a:spLocks noChangeShapeType="1"/>
            </p:cNvSpPr>
            <p:nvPr/>
          </p:nvSpPr>
          <p:spPr bwMode="auto">
            <a:xfrm>
              <a:off x="1104" y="100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  <p:sp>
          <p:nvSpPr>
            <p:cNvPr id="115" name="Line 28"/>
            <p:cNvSpPr>
              <a:spLocks noChangeShapeType="1"/>
            </p:cNvSpPr>
            <p:nvPr/>
          </p:nvSpPr>
          <p:spPr bwMode="auto">
            <a:xfrm rot="-5400000">
              <a:off x="1224" y="1128"/>
              <a:ext cx="0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ysDot"/>
              <a:round/>
              <a:headEnd/>
              <a:tailEnd type="none" w="lg" len="lg"/>
            </a:ln>
          </p:spPr>
          <p:txBody>
            <a:bodyPr/>
            <a:lstStyle/>
            <a:p>
              <a:endParaRPr lang="en-US">
                <a:latin typeface="+mn-lt"/>
              </a:endParaRPr>
            </a:p>
          </p:txBody>
        </p:sp>
      </p:grpSp>
      <p:sp>
        <p:nvSpPr>
          <p:cNvPr id="116" name="Line 29"/>
          <p:cNvSpPr>
            <a:spLocks noChangeShapeType="1"/>
          </p:cNvSpPr>
          <p:nvPr/>
        </p:nvSpPr>
        <p:spPr bwMode="auto">
          <a:xfrm flipH="1">
            <a:off x="1676400" y="2628900"/>
            <a:ext cx="1676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17" name="Oval 30"/>
          <p:cNvSpPr>
            <a:spLocks noChangeAspect="1" noChangeArrowheads="1"/>
          </p:cNvSpPr>
          <p:nvPr/>
        </p:nvSpPr>
        <p:spPr bwMode="auto">
          <a:xfrm>
            <a:off x="762000" y="2590800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/>
          <a:p>
            <a:endParaRPr lang="zh-CN" altLang="en-US">
              <a:latin typeface="+mn-lt"/>
              <a:ea typeface="SimSun" pitchFamily="2" charset="-122"/>
            </a:endParaRPr>
          </a:p>
        </p:txBody>
      </p:sp>
      <p:sp>
        <p:nvSpPr>
          <p:cNvPr id="125" name="Text Box 38"/>
          <p:cNvSpPr txBox="1">
            <a:spLocks noChangeArrowheads="1"/>
          </p:cNvSpPr>
          <p:nvPr/>
        </p:nvSpPr>
        <p:spPr bwMode="auto">
          <a:xfrm>
            <a:off x="2803525" y="3733800"/>
            <a:ext cx="1154611" cy="461665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 wrap="none">
            <a:spAutoFit/>
          </a:bodyPr>
          <a:lstStyle/>
          <a:p>
            <a:r>
              <a:rPr lang="en-US" altLang="zh-CN" sz="2400">
                <a:latin typeface="+mn-lt"/>
                <a:ea typeface="SimSun" pitchFamily="2" charset="-122"/>
              </a:rPr>
              <a:t>current</a:t>
            </a:r>
          </a:p>
        </p:txBody>
      </p:sp>
      <p:sp>
        <p:nvSpPr>
          <p:cNvPr id="126" name="Line 39"/>
          <p:cNvSpPr>
            <a:spLocks noChangeShapeType="1"/>
          </p:cNvSpPr>
          <p:nvPr/>
        </p:nvSpPr>
        <p:spPr bwMode="auto">
          <a:xfrm flipV="1">
            <a:off x="3225438" y="2918742"/>
            <a:ext cx="410458" cy="84465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30" name="Line 45"/>
          <p:cNvSpPr>
            <a:spLocks noChangeShapeType="1"/>
          </p:cNvSpPr>
          <p:nvPr/>
        </p:nvSpPr>
        <p:spPr bwMode="auto">
          <a:xfrm>
            <a:off x="4038600" y="2209800"/>
            <a:ext cx="297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31" name="Line 47"/>
          <p:cNvSpPr>
            <a:spLocks noChangeShapeType="1"/>
          </p:cNvSpPr>
          <p:nvPr/>
        </p:nvSpPr>
        <p:spPr bwMode="auto">
          <a:xfrm flipH="1">
            <a:off x="4191000" y="2667000"/>
            <a:ext cx="2895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255903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11-Linked List Variations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28</a:t>
            </a:fld>
            <a:endParaRPr lang="en-GB"/>
          </a:p>
        </p:txBody>
      </p:sp>
      <p:sp>
        <p:nvSpPr>
          <p:cNvPr id="6" name="TextBox 5"/>
          <p:cNvSpPr txBox="1"/>
          <p:nvPr/>
        </p:nvSpPr>
        <p:spPr>
          <a:xfrm>
            <a:off x="1043608" y="3284984"/>
            <a:ext cx="68407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800" dirty="0">
                <a:solidFill>
                  <a:srgbClr val="0070C0"/>
                </a:solidFill>
              </a:rPr>
              <a:t>Circular Linked List</a:t>
            </a:r>
            <a:endParaRPr lang="en-US" sz="28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29053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Circular Linked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50" y="1124744"/>
            <a:ext cx="8496300" cy="764641"/>
          </a:xfrm>
        </p:spPr>
        <p:txBody>
          <a:bodyPr/>
          <a:lstStyle/>
          <a:p>
            <a:r>
              <a:rPr lang="en-US" dirty="0"/>
              <a:t>A linked list in which the last node points to the first node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11-Linked List Variations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29</a:t>
            </a:fld>
            <a:endParaRPr lang="en-GB"/>
          </a:p>
        </p:txBody>
      </p:sp>
      <p:sp>
        <p:nvSpPr>
          <p:cNvPr id="19" name="Rectangle 3"/>
          <p:cNvSpPr>
            <a:spLocks noChangeArrowheads="1"/>
          </p:cNvSpPr>
          <p:nvPr/>
        </p:nvSpPr>
        <p:spPr bwMode="auto">
          <a:xfrm>
            <a:off x="1080888" y="1915782"/>
            <a:ext cx="10668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400" dirty="0">
                <a:latin typeface="+mn-lt"/>
                <a:ea typeface="SimSun" panose="02010600030101010101" pitchFamily="2" charset="-122"/>
              </a:rPr>
              <a:t>A0   </a:t>
            </a:r>
          </a:p>
        </p:txBody>
      </p:sp>
      <p:sp>
        <p:nvSpPr>
          <p:cNvPr id="20" name="Line 4"/>
          <p:cNvSpPr>
            <a:spLocks noChangeShapeType="1"/>
          </p:cNvSpPr>
          <p:nvPr/>
        </p:nvSpPr>
        <p:spPr bwMode="auto">
          <a:xfrm>
            <a:off x="1766688" y="1915782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21" name="Rectangle 5"/>
          <p:cNvSpPr>
            <a:spLocks noChangeArrowheads="1"/>
          </p:cNvSpPr>
          <p:nvPr/>
        </p:nvSpPr>
        <p:spPr bwMode="auto">
          <a:xfrm>
            <a:off x="3062088" y="1915782"/>
            <a:ext cx="10668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400">
                <a:latin typeface="+mn-lt"/>
                <a:ea typeface="SimSun" panose="02010600030101010101" pitchFamily="2" charset="-122"/>
              </a:rPr>
              <a:t>A1   </a:t>
            </a:r>
          </a:p>
        </p:txBody>
      </p:sp>
      <p:sp>
        <p:nvSpPr>
          <p:cNvPr id="22" name="Line 6"/>
          <p:cNvSpPr>
            <a:spLocks noChangeShapeType="1"/>
          </p:cNvSpPr>
          <p:nvPr/>
        </p:nvSpPr>
        <p:spPr bwMode="auto">
          <a:xfrm>
            <a:off x="3747888" y="1915782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23" name="Rectangle 7"/>
          <p:cNvSpPr>
            <a:spLocks noChangeArrowheads="1"/>
          </p:cNvSpPr>
          <p:nvPr/>
        </p:nvSpPr>
        <p:spPr bwMode="auto">
          <a:xfrm>
            <a:off x="5043288" y="1915782"/>
            <a:ext cx="10668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400">
                <a:latin typeface="+mn-lt"/>
                <a:ea typeface="SimSun" panose="02010600030101010101" pitchFamily="2" charset="-122"/>
              </a:rPr>
              <a:t>A2   </a:t>
            </a:r>
          </a:p>
        </p:txBody>
      </p:sp>
      <p:sp>
        <p:nvSpPr>
          <p:cNvPr id="24" name="Line 8"/>
          <p:cNvSpPr>
            <a:spLocks noChangeShapeType="1"/>
          </p:cNvSpPr>
          <p:nvPr/>
        </p:nvSpPr>
        <p:spPr bwMode="auto">
          <a:xfrm>
            <a:off x="5729088" y="1915782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25" name="Rectangle 9"/>
          <p:cNvSpPr>
            <a:spLocks noChangeArrowheads="1"/>
          </p:cNvSpPr>
          <p:nvPr/>
        </p:nvSpPr>
        <p:spPr bwMode="auto">
          <a:xfrm>
            <a:off x="7024488" y="1915782"/>
            <a:ext cx="10668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400" dirty="0">
                <a:latin typeface="+mn-lt"/>
                <a:ea typeface="SimSun" panose="02010600030101010101" pitchFamily="2" charset="-122"/>
              </a:rPr>
              <a:t>A3   </a:t>
            </a:r>
          </a:p>
        </p:txBody>
      </p:sp>
      <p:sp>
        <p:nvSpPr>
          <p:cNvPr id="26" name="Line 10"/>
          <p:cNvSpPr>
            <a:spLocks noChangeShapeType="1"/>
          </p:cNvSpPr>
          <p:nvPr/>
        </p:nvSpPr>
        <p:spPr bwMode="auto">
          <a:xfrm>
            <a:off x="7786488" y="1915782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27" name="Line 13"/>
          <p:cNvSpPr>
            <a:spLocks noChangeShapeType="1"/>
          </p:cNvSpPr>
          <p:nvPr/>
        </p:nvSpPr>
        <p:spPr bwMode="auto">
          <a:xfrm>
            <a:off x="1995288" y="2296782"/>
            <a:ext cx="1066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28" name="Line 14"/>
          <p:cNvSpPr>
            <a:spLocks noChangeShapeType="1"/>
          </p:cNvSpPr>
          <p:nvPr/>
        </p:nvSpPr>
        <p:spPr bwMode="auto">
          <a:xfrm>
            <a:off x="3976488" y="2296782"/>
            <a:ext cx="1066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29" name="Line 17"/>
          <p:cNvSpPr>
            <a:spLocks noChangeShapeType="1"/>
          </p:cNvSpPr>
          <p:nvPr/>
        </p:nvSpPr>
        <p:spPr bwMode="auto">
          <a:xfrm>
            <a:off x="5957688" y="2296782"/>
            <a:ext cx="1066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30" name="Oval 18"/>
          <p:cNvSpPr>
            <a:spLocks noChangeAspect="1" noChangeArrowheads="1"/>
          </p:cNvSpPr>
          <p:nvPr/>
        </p:nvSpPr>
        <p:spPr bwMode="auto">
          <a:xfrm>
            <a:off x="7938888" y="2296782"/>
            <a:ext cx="76200" cy="76200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 type="none" w="lg" len="lg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zh-CN" altLang="en-US">
              <a:latin typeface="+mn-lt"/>
              <a:ea typeface="SimSun" panose="02010600030101010101" pitchFamily="2" charset="-122"/>
            </a:endParaRPr>
          </a:p>
        </p:txBody>
      </p:sp>
      <p:sp>
        <p:nvSpPr>
          <p:cNvPr id="31" name="Rectangle 3"/>
          <p:cNvSpPr>
            <a:spLocks noChangeArrowheads="1"/>
          </p:cNvSpPr>
          <p:nvPr/>
        </p:nvSpPr>
        <p:spPr bwMode="auto">
          <a:xfrm>
            <a:off x="1080888" y="4360783"/>
            <a:ext cx="10668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400" dirty="0">
                <a:latin typeface="+mn-lt"/>
                <a:ea typeface="SimSun" panose="02010600030101010101" pitchFamily="2" charset="-122"/>
              </a:rPr>
              <a:t>A0   </a:t>
            </a:r>
          </a:p>
        </p:txBody>
      </p:sp>
      <p:sp>
        <p:nvSpPr>
          <p:cNvPr id="32" name="Line 4"/>
          <p:cNvSpPr>
            <a:spLocks noChangeShapeType="1"/>
          </p:cNvSpPr>
          <p:nvPr/>
        </p:nvSpPr>
        <p:spPr bwMode="auto">
          <a:xfrm>
            <a:off x="1766688" y="436078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33" name="Rectangle 5"/>
          <p:cNvSpPr>
            <a:spLocks noChangeArrowheads="1"/>
          </p:cNvSpPr>
          <p:nvPr/>
        </p:nvSpPr>
        <p:spPr bwMode="auto">
          <a:xfrm>
            <a:off x="3062088" y="4360783"/>
            <a:ext cx="10668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400">
                <a:latin typeface="+mn-lt"/>
                <a:ea typeface="SimSun" panose="02010600030101010101" pitchFamily="2" charset="-122"/>
              </a:rPr>
              <a:t>A1   </a:t>
            </a:r>
          </a:p>
        </p:txBody>
      </p:sp>
      <p:sp>
        <p:nvSpPr>
          <p:cNvPr id="34" name="Line 6"/>
          <p:cNvSpPr>
            <a:spLocks noChangeShapeType="1"/>
          </p:cNvSpPr>
          <p:nvPr/>
        </p:nvSpPr>
        <p:spPr bwMode="auto">
          <a:xfrm>
            <a:off x="3747888" y="436078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35" name="Rectangle 7"/>
          <p:cNvSpPr>
            <a:spLocks noChangeArrowheads="1"/>
          </p:cNvSpPr>
          <p:nvPr/>
        </p:nvSpPr>
        <p:spPr bwMode="auto">
          <a:xfrm>
            <a:off x="5043288" y="4360783"/>
            <a:ext cx="10668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400">
                <a:latin typeface="+mn-lt"/>
                <a:ea typeface="SimSun" panose="02010600030101010101" pitchFamily="2" charset="-122"/>
              </a:rPr>
              <a:t>A2   </a:t>
            </a:r>
          </a:p>
        </p:txBody>
      </p:sp>
      <p:sp>
        <p:nvSpPr>
          <p:cNvPr id="36" name="Line 8"/>
          <p:cNvSpPr>
            <a:spLocks noChangeShapeType="1"/>
          </p:cNvSpPr>
          <p:nvPr/>
        </p:nvSpPr>
        <p:spPr bwMode="auto">
          <a:xfrm>
            <a:off x="5729088" y="436078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37" name="Rectangle 9"/>
          <p:cNvSpPr>
            <a:spLocks noChangeArrowheads="1"/>
          </p:cNvSpPr>
          <p:nvPr/>
        </p:nvSpPr>
        <p:spPr bwMode="auto">
          <a:xfrm>
            <a:off x="7024488" y="4360783"/>
            <a:ext cx="1066800" cy="7620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r>
              <a:rPr lang="en-US" altLang="zh-CN" sz="2400" dirty="0">
                <a:latin typeface="+mn-lt"/>
                <a:ea typeface="SimSun" panose="02010600030101010101" pitchFamily="2" charset="-122"/>
              </a:rPr>
              <a:t>A3   </a:t>
            </a:r>
          </a:p>
        </p:txBody>
      </p:sp>
      <p:sp>
        <p:nvSpPr>
          <p:cNvPr id="38" name="Line 10"/>
          <p:cNvSpPr>
            <a:spLocks noChangeShapeType="1"/>
          </p:cNvSpPr>
          <p:nvPr/>
        </p:nvSpPr>
        <p:spPr bwMode="auto">
          <a:xfrm>
            <a:off x="7786488" y="4360783"/>
            <a:ext cx="0" cy="762000"/>
          </a:xfrm>
          <a:prstGeom prst="line">
            <a:avLst/>
          </a:prstGeom>
          <a:noFill/>
          <a:ln w="9525">
            <a:solidFill>
              <a:schemeClr val="tx1"/>
            </a:solidFill>
            <a:prstDash val="sysDot"/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39" name="Line 13"/>
          <p:cNvSpPr>
            <a:spLocks noChangeShapeType="1"/>
          </p:cNvSpPr>
          <p:nvPr/>
        </p:nvSpPr>
        <p:spPr bwMode="auto">
          <a:xfrm>
            <a:off x="1995288" y="4741783"/>
            <a:ext cx="1066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40" name="Line 14"/>
          <p:cNvSpPr>
            <a:spLocks noChangeShapeType="1"/>
          </p:cNvSpPr>
          <p:nvPr/>
        </p:nvSpPr>
        <p:spPr bwMode="auto">
          <a:xfrm>
            <a:off x="3976488" y="4741783"/>
            <a:ext cx="1066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41" name="Line 17"/>
          <p:cNvSpPr>
            <a:spLocks noChangeShapeType="1"/>
          </p:cNvSpPr>
          <p:nvPr/>
        </p:nvSpPr>
        <p:spPr bwMode="auto">
          <a:xfrm>
            <a:off x="5957688" y="4741783"/>
            <a:ext cx="1066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>
              <a:latin typeface="+mn-lt"/>
            </a:endParaRPr>
          </a:p>
        </p:txBody>
      </p:sp>
      <p:sp>
        <p:nvSpPr>
          <p:cNvPr id="17" name="Line 38"/>
          <p:cNvSpPr>
            <a:spLocks noChangeShapeType="1"/>
          </p:cNvSpPr>
          <p:nvPr/>
        </p:nvSpPr>
        <p:spPr bwMode="auto">
          <a:xfrm flipV="1">
            <a:off x="7938888" y="4009698"/>
            <a:ext cx="0" cy="5334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18" name="Line 39"/>
          <p:cNvSpPr>
            <a:spLocks noChangeShapeType="1"/>
          </p:cNvSpPr>
          <p:nvPr/>
        </p:nvSpPr>
        <p:spPr bwMode="auto">
          <a:xfrm flipH="1">
            <a:off x="1309488" y="4009698"/>
            <a:ext cx="66294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non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43" name="Line 40"/>
          <p:cNvSpPr>
            <a:spLocks noChangeShapeType="1"/>
          </p:cNvSpPr>
          <p:nvPr/>
        </p:nvSpPr>
        <p:spPr bwMode="auto">
          <a:xfrm>
            <a:off x="1309488" y="4009698"/>
            <a:ext cx="0" cy="3048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Box 6"/>
          <p:cNvSpPr txBox="1">
            <a:spLocks noChangeArrowheads="1"/>
          </p:cNvSpPr>
          <p:nvPr/>
        </p:nvSpPr>
        <p:spPr bwMode="auto">
          <a:xfrm>
            <a:off x="701475" y="2870217"/>
            <a:ext cx="758825" cy="45720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>
            <a:spAutoFit/>
          </a:bodyPr>
          <a:lstStyle/>
          <a:p>
            <a:r>
              <a:rPr lang="en-US" altLang="zh-CN" sz="2400" dirty="0">
                <a:latin typeface="Times New Roman" pitchFamily="18" charset="0"/>
                <a:ea typeface="SimSun" pitchFamily="2" charset="-122"/>
              </a:rPr>
              <a:t>head</a:t>
            </a:r>
          </a:p>
        </p:txBody>
      </p:sp>
      <p:sp>
        <p:nvSpPr>
          <p:cNvPr id="45" name="Line 9"/>
          <p:cNvSpPr>
            <a:spLocks noChangeShapeType="1"/>
          </p:cNvSpPr>
          <p:nvPr/>
        </p:nvSpPr>
        <p:spPr bwMode="auto">
          <a:xfrm flipV="1">
            <a:off x="1080888" y="2686573"/>
            <a:ext cx="0" cy="34229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Box 6"/>
          <p:cNvSpPr txBox="1">
            <a:spLocks noChangeArrowheads="1"/>
          </p:cNvSpPr>
          <p:nvPr/>
        </p:nvSpPr>
        <p:spPr bwMode="auto">
          <a:xfrm>
            <a:off x="701475" y="5423082"/>
            <a:ext cx="758825" cy="457200"/>
          </a:xfrm>
          <a:prstGeom prst="rect">
            <a:avLst/>
          </a:prstGeom>
          <a:noFill/>
          <a:ln w="9525">
            <a:noFill/>
            <a:miter lim="800000"/>
            <a:headEnd/>
            <a:tailEnd type="none" w="lg" len="lg"/>
          </a:ln>
        </p:spPr>
        <p:txBody>
          <a:bodyPr>
            <a:spAutoFit/>
          </a:bodyPr>
          <a:lstStyle/>
          <a:p>
            <a:r>
              <a:rPr lang="en-US" altLang="zh-CN" sz="2400" dirty="0">
                <a:latin typeface="Times New Roman" pitchFamily="18" charset="0"/>
                <a:ea typeface="SimSun" pitchFamily="2" charset="-122"/>
              </a:rPr>
              <a:t>head</a:t>
            </a:r>
          </a:p>
        </p:txBody>
      </p:sp>
      <p:sp>
        <p:nvSpPr>
          <p:cNvPr id="49" name="Line 9"/>
          <p:cNvSpPr>
            <a:spLocks noChangeShapeType="1"/>
          </p:cNvSpPr>
          <p:nvPr/>
        </p:nvSpPr>
        <p:spPr bwMode="auto">
          <a:xfrm flipV="1">
            <a:off x="1080888" y="5239438"/>
            <a:ext cx="0" cy="34229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Box 49"/>
          <p:cNvSpPr txBox="1"/>
          <p:nvPr/>
        </p:nvSpPr>
        <p:spPr>
          <a:xfrm>
            <a:off x="2731776" y="3077441"/>
            <a:ext cx="41532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70C0"/>
                </a:solidFill>
              </a:rPr>
              <a:t>Simple (singly) linked list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547582" y="5521434"/>
            <a:ext cx="41532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0070C0"/>
                </a:solidFill>
              </a:rPr>
              <a:t>Circular linked list</a:t>
            </a:r>
          </a:p>
        </p:txBody>
      </p:sp>
    </p:spTree>
    <p:extLst>
      <p:ext uri="{BB962C8B-B14F-4D97-AF65-F5344CB8AC3E}">
        <p14:creationId xmlns:p14="http://schemas.microsoft.com/office/powerpoint/2010/main" val="5571030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17" grpId="0" animBg="1"/>
      <p:bldP spid="18" grpId="0" animBg="1"/>
      <p:bldP spid="43" grpId="0" animBg="1"/>
      <p:bldP spid="48" grpId="0"/>
      <p:bldP spid="49" grpId="0" animBg="1"/>
      <p:bldP spid="5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Advantages of Circular Linked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Whole list can be traversed by starting from any point</a:t>
            </a:r>
          </a:p>
          <a:p>
            <a:pPr lvl="1"/>
            <a:r>
              <a:rPr lang="en-US" dirty="0"/>
              <a:t>Any node can be starting point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What is the stopping condition?</a:t>
            </a:r>
          </a:p>
          <a:p>
            <a:endParaRPr lang="en-US" dirty="0"/>
          </a:p>
          <a:p>
            <a:r>
              <a:rPr lang="en-US" dirty="0"/>
              <a:t>Fewer special cases to consider during implementation</a:t>
            </a:r>
          </a:p>
          <a:p>
            <a:pPr lvl="1"/>
            <a:r>
              <a:rPr lang="en-US" dirty="0"/>
              <a:t>All nodes have a node before and </a:t>
            </a:r>
            <a:r>
              <a:rPr lang="en-US"/>
              <a:t>after them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Used in the implementation of other data structures</a:t>
            </a:r>
          </a:p>
          <a:p>
            <a:pPr lvl="1"/>
            <a:r>
              <a:rPr lang="en-US" dirty="0"/>
              <a:t>Circular linked lists are used to create circular queues</a:t>
            </a:r>
          </a:p>
          <a:p>
            <a:pPr lvl="1"/>
            <a:r>
              <a:rPr lang="en-US" dirty="0"/>
              <a:t>Circular doubly linked lists are used for implementing Fibonacci heaps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11-Linked List Variations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273008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Disadvantages of Circular Linked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Finding end of list and loop control is harder </a:t>
            </a:r>
          </a:p>
          <a:p>
            <a:pPr lvl="1"/>
            <a:r>
              <a:rPr lang="en-US" dirty="0"/>
              <a:t>No NULL to mark beginning and end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11-Linked List Variations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980715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Any Question So Far?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11-Linked List Variations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32</a:t>
            </a:fld>
            <a:endParaRPr lang="en-GB"/>
          </a:p>
        </p:txBody>
      </p:sp>
      <p:pic>
        <p:nvPicPr>
          <p:cNvPr id="6" name="Picture 3" descr="MCj03841720000[1]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498725" y="1412875"/>
            <a:ext cx="3641725" cy="467995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7186293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Linked List – Disadvantages (2)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850" y="1124744"/>
            <a:ext cx="8496300" cy="1224136"/>
          </a:xfrm>
        </p:spPr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List-processing algorithms </a:t>
            </a:r>
            <a:r>
              <a:rPr lang="en-US" dirty="0"/>
              <a:t>that require </a:t>
            </a:r>
            <a:r>
              <a:rPr lang="en-US" dirty="0">
                <a:solidFill>
                  <a:srgbClr val="0070C0"/>
                </a:solidFill>
              </a:rPr>
              <a:t>fast access to each element cannot be done as efficiently </a:t>
            </a:r>
            <a:r>
              <a:rPr lang="en-US" dirty="0"/>
              <a:t>with linked lists</a:t>
            </a:r>
          </a:p>
          <a:p>
            <a:r>
              <a:rPr lang="en-US" dirty="0"/>
              <a:t>Consider adding an element at the end of the list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 dirty="0"/>
              <a:t>11-Linked List Variations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3C8D6E8-E2D4-466A-B54E-56FCD6F950CE}" type="slidenum">
              <a:rPr lang="en-GB" smtClean="0"/>
              <a:pPr/>
              <a:t>33</a:t>
            </a:fld>
            <a:endParaRPr lang="en-GB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67544" y="2520791"/>
          <a:ext cx="7992888" cy="364439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9964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964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Array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tx1"/>
                          </a:solidFill>
                        </a:rPr>
                        <a:t>Linked List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rgbClr val="0070C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a[size++] = value;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ea typeface="ＭＳ Ｐゴシック" charset="0"/>
                        </a:rPr>
                        <a:t>Get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</a:rPr>
                        <a:t> a new node;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ea typeface="ＭＳ Ｐゴシック" charset="0"/>
                        </a:rPr>
                        <a:t>Set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ea typeface="ＭＳ Ｐゴシック" charset="0"/>
                        </a:rPr>
                        <a:t> 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</a:rPr>
                        <a:t>data part = value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</a:rPr>
                        <a:t>      next part = </a:t>
                      </a:r>
                      <a:r>
                        <a:rPr kumimoji="0" lang="en-US" sz="1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</a:rPr>
                        <a:t>null_value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  <a:ea typeface="ＭＳ Ｐゴシック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ea typeface="ＭＳ Ｐゴシック" charset="0"/>
                        </a:rPr>
                        <a:t>If</a:t>
                      </a: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</a:rPr>
                        <a:t> list is empty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</a:rPr>
                        <a:t>   Set head to point to new node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70C0"/>
                          </a:solidFill>
                          <a:effectLst/>
                          <a:latin typeface="+mn-lt"/>
                          <a:ea typeface="ＭＳ Ｐゴシック" charset="0"/>
                        </a:rPr>
                        <a:t>Else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</a:rPr>
                        <a:t>   Traverse list to find last node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</a:rPr>
                        <a:t>   Set next part of last node to point  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ＭＳ Ｐゴシック" charset="0"/>
                        </a:rPr>
                        <a:t>   to new node</a:t>
                      </a:r>
                    </a:p>
                    <a:p>
                      <a:endParaRPr lang="en-US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7" name="Group 15"/>
          <p:cNvGrpSpPr>
            <a:grpSpLocks/>
          </p:cNvGrpSpPr>
          <p:nvPr/>
        </p:nvGrpSpPr>
        <p:grpSpPr bwMode="auto">
          <a:xfrm>
            <a:off x="755576" y="4869160"/>
            <a:ext cx="3998913" cy="839788"/>
            <a:chOff x="448" y="3332"/>
            <a:chExt cx="2519" cy="529"/>
          </a:xfrm>
        </p:grpSpPr>
        <p:sp>
          <p:nvSpPr>
            <p:cNvPr id="8" name="Oval 16"/>
            <p:cNvSpPr>
              <a:spLocks noChangeArrowheads="1"/>
            </p:cNvSpPr>
            <p:nvPr/>
          </p:nvSpPr>
          <p:spPr bwMode="auto">
            <a:xfrm>
              <a:off x="2803" y="3332"/>
              <a:ext cx="164" cy="3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pPr>
                <a:defRPr/>
              </a:pPr>
              <a:endParaRPr lang="fr-FR" sz="1600">
                <a:latin typeface="+mn-lt"/>
                <a:ea typeface="ＭＳ Ｐゴシック" charset="0"/>
              </a:endParaRPr>
            </a:p>
          </p:txBody>
        </p:sp>
        <p:sp>
          <p:nvSpPr>
            <p:cNvPr id="9" name="Text Box 17"/>
            <p:cNvSpPr txBox="1">
              <a:spLocks noChangeArrowheads="1"/>
            </p:cNvSpPr>
            <p:nvPr/>
          </p:nvSpPr>
          <p:spPr bwMode="auto">
            <a:xfrm>
              <a:off x="448" y="3648"/>
              <a:ext cx="1769" cy="21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>
              <a:outerShdw blurRad="63500" dist="107763" dir="2700000" algn="ctr" rotWithShape="0">
                <a:schemeClr val="bg2">
                  <a:alpha val="50000"/>
                </a:schemeClr>
              </a:outerShdw>
            </a:effectLst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 algn="ctr">
                <a:spcBef>
                  <a:spcPct val="50000"/>
                </a:spcBef>
                <a:defRPr/>
              </a:pPr>
              <a:r>
                <a:rPr lang="en-US" sz="1600" dirty="0">
                  <a:latin typeface="+mn-lt"/>
                  <a:ea typeface="ＭＳ Ｐゴシック" charset="0"/>
                </a:rPr>
                <a:t>This is the inefficient part</a:t>
              </a:r>
            </a:p>
          </p:txBody>
        </p:sp>
        <p:sp>
          <p:nvSpPr>
            <p:cNvPr id="10" name="Line 18"/>
            <p:cNvSpPr>
              <a:spLocks noChangeShapeType="1"/>
            </p:cNvSpPr>
            <p:nvPr/>
          </p:nvSpPr>
          <p:spPr bwMode="auto">
            <a:xfrm flipV="1">
              <a:off x="2217" y="3469"/>
              <a:ext cx="586" cy="2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>
                <a:defRPr/>
              </a:pPr>
              <a:endParaRPr lang="fr-FR" sz="1600">
                <a:latin typeface="+mn-lt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75984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2876</TotalTime>
  <Words>1898</Words>
  <Application>Microsoft Office PowerPoint</Application>
  <PresentationFormat>On-screen Show (4:3)</PresentationFormat>
  <Paragraphs>418</Paragraphs>
  <Slides>33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Tahoma</vt:lpstr>
      <vt:lpstr>Times New Roman</vt:lpstr>
      <vt:lpstr>Wingdings</vt:lpstr>
      <vt:lpstr>Consolas</vt:lpstr>
      <vt:lpstr>Courier New</vt:lpstr>
      <vt:lpstr>Default Design</vt:lpstr>
      <vt:lpstr>Data Structures</vt:lpstr>
      <vt:lpstr>Roadmap</vt:lpstr>
      <vt:lpstr>Linked List – Advantages </vt:lpstr>
      <vt:lpstr>Linked List – Disadvantages (1) </vt:lpstr>
      <vt:lpstr>Linked List – Disadvantages (2) </vt:lpstr>
      <vt:lpstr>Linked List – Disadvantages (3) </vt:lpstr>
      <vt:lpstr>Linked List – Disadvantages (4) </vt:lpstr>
      <vt:lpstr>Linked List – Disadvantages (5) </vt:lpstr>
      <vt:lpstr>Some Applications</vt:lpstr>
      <vt:lpstr>PowerPoint Presentation</vt:lpstr>
      <vt:lpstr>Doubly Linked List</vt:lpstr>
      <vt:lpstr>Node Class</vt:lpstr>
      <vt:lpstr>List Class</vt:lpstr>
      <vt:lpstr>Adding First Node</vt:lpstr>
      <vt:lpstr>Inserting a Node in Doubly Linked List (1)</vt:lpstr>
      <vt:lpstr>Inserting a Node in Doubly Linked List (2)</vt:lpstr>
      <vt:lpstr>Inserting a Node in Doubly Linked List (3)</vt:lpstr>
      <vt:lpstr>Inserting a Node in Doubly Linked List (3)</vt:lpstr>
      <vt:lpstr>Inserting a Node in Doubly Linked List (3)</vt:lpstr>
      <vt:lpstr>Inserting a Node in Doubly Linked List (3)</vt:lpstr>
      <vt:lpstr>Inserting a Node in Doubly Linked List (3)</vt:lpstr>
      <vt:lpstr>Deleting a Node From Doubly Linked List</vt:lpstr>
      <vt:lpstr>Deleting a Node From Doubly Linked List</vt:lpstr>
      <vt:lpstr>Deleting a Node From Doubly Linked List</vt:lpstr>
      <vt:lpstr>Deleting a Node From Doubly Linked List</vt:lpstr>
      <vt:lpstr>Deleting a Node From Doubly Linked List</vt:lpstr>
      <vt:lpstr>Deleting a Node From Doubly Linked List</vt:lpstr>
      <vt:lpstr>PowerPoint Presentation</vt:lpstr>
      <vt:lpstr>Circular Linked List</vt:lpstr>
      <vt:lpstr>Advantages of Circular Linked List</vt:lpstr>
      <vt:lpstr>Disadvantages of Circular Linked List</vt:lpstr>
      <vt:lpstr>Any Question So Far?</vt:lpstr>
      <vt:lpstr>Linked List – Disadvantages (2) </vt:lpstr>
    </vt:vector>
  </TitlesOfParts>
  <Company>IPVS - Universität Stuttgart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Grundlagen der Betriebssysteme</dc:title>
  <dc:creator>koldehbs</dc:creator>
  <cp:lastModifiedBy>Mr.Muhammad Owais Idrees</cp:lastModifiedBy>
  <cp:revision>1565</cp:revision>
  <cp:lastPrinted>2013-10-17T07:59:38Z</cp:lastPrinted>
  <dcterms:created xsi:type="dcterms:W3CDTF">2007-03-29T10:37:57Z</dcterms:created>
  <dcterms:modified xsi:type="dcterms:W3CDTF">2023-09-26T18:48:11Z</dcterms:modified>
</cp:coreProperties>
</file>