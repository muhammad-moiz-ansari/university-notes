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527" r:id="rId3"/>
    <p:sldId id="528" r:id="rId4"/>
    <p:sldId id="530" r:id="rId5"/>
    <p:sldId id="529" r:id="rId6"/>
    <p:sldId id="532" r:id="rId7"/>
    <p:sldId id="533" r:id="rId8"/>
    <p:sldId id="534" r:id="rId9"/>
    <p:sldId id="536" r:id="rId10"/>
    <p:sldId id="537" r:id="rId11"/>
    <p:sldId id="538" r:id="rId12"/>
    <p:sldId id="539" r:id="rId13"/>
    <p:sldId id="540" r:id="rId14"/>
    <p:sldId id="541" r:id="rId15"/>
    <p:sldId id="542" r:id="rId16"/>
    <p:sldId id="543" r:id="rId17"/>
    <p:sldId id="544" r:id="rId18"/>
    <p:sldId id="545" r:id="rId19"/>
    <p:sldId id="535" r:id="rId20"/>
    <p:sldId id="546" r:id="rId21"/>
    <p:sldId id="547" r:id="rId22"/>
    <p:sldId id="548" r:id="rId23"/>
    <p:sldId id="550" r:id="rId24"/>
    <p:sldId id="505" r:id="rId25"/>
  </p:sldIdLst>
  <p:sldSz cx="9144000" cy="6858000" type="screen4x3"/>
  <p:notesSz cx="7099300" cy="10234613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Tahoma" panose="020B0604030504040204" pitchFamily="34" charset="0"/>
      <p:regular r:id="rId31"/>
      <p:bold r:id="rId32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3399"/>
    <a:srgbClr val="FF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9" autoAdjust="0"/>
    <p:restoredTop sz="84124" autoAdjust="0"/>
  </p:normalViewPr>
  <p:slideViewPr>
    <p:cSldViewPr>
      <p:cViewPr varScale="1">
        <p:scale>
          <a:sx n="93" d="100"/>
          <a:sy n="93" d="100"/>
        </p:scale>
        <p:origin x="2232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265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E307F30-E95D-4DC1-945B-D02103101FA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8168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3B227E-7079-4B80-BA2E-DD57F6C58329}" type="slidenum">
              <a:rPr lang="en-GB"/>
              <a:pPr/>
              <a:t>1</a:t>
            </a:fld>
            <a:endParaRPr lang="en-GB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029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844675"/>
            <a:ext cx="7772400" cy="1470025"/>
          </a:xfrm>
        </p:spPr>
        <p:txBody>
          <a:bodyPr/>
          <a:lstStyle>
            <a:lvl1pPr algn="ctr">
              <a:defRPr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716338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5-Class Templates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30464EE-74C5-42DE-B41A-1E7939C181C3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20486" name="Line 6"/>
          <p:cNvSpPr>
            <a:spLocks noChangeShapeType="1"/>
          </p:cNvSpPr>
          <p:nvPr userDrawn="1"/>
        </p:nvSpPr>
        <p:spPr bwMode="auto">
          <a:xfrm>
            <a:off x="323850" y="3500438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11256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2088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5-Class Templates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C8D6E8-E2D4-466A-B54E-56FCD6F950CE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5-Class Templates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3227E4-7A49-48B5-9005-D3E138ABBA16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5-Class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D7F138-CABA-494C-B139-3348C3F117E5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1143000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5-Class Templates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A79DA3-BF4E-40A8-8F6E-F5109A9F2DA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5-Class Templates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5293E3-F4F3-4363-BC2F-E6A2CD940E4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5-Class Templates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FD2D0C-D78B-4496-B32C-58738062D58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5-Class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03EBF0-A890-4352-8C84-0E2FE7968D9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5-Class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6CAE48C-F1F9-47E0-96BC-AD3F31B5CC0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5-Class Templates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CE2B5B-3ECC-4073-85E0-5A38BE95B70D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6075" y="274638"/>
            <a:ext cx="2124075" cy="5851525"/>
          </a:xfrm>
        </p:spPr>
        <p:txBody>
          <a:bodyPr vert="eaVert"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850" y="274638"/>
            <a:ext cx="6219825" cy="5851525"/>
          </a:xfrm>
        </p:spPr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6920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5-Class Templates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C10656-B5F6-4C2B-B258-D0013A6A1799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2237" y="188640"/>
            <a:ext cx="849477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24744"/>
            <a:ext cx="849630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9832" y="6381750"/>
            <a:ext cx="30241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GB" dirty="0"/>
              <a:t>5-Class Templates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C9CEF86-67DF-4174-BD01-46D228FA3D60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250825" y="1052736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rgbClr val="0070C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Font typeface="Tahoma" pitchFamily="34" charset="0"/>
        <a:buChar char="–"/>
        <a:defRPr sz="19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17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ahoma" pitchFamily="34" charset="0"/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5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5-Class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0464EE-74C5-42DE-B41A-1E7939C181C3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Data Structures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b="1" dirty="0"/>
              <a:t>5. Class Templates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template provides functionality to operate on different types of data</a:t>
            </a:r>
          </a:p>
          <a:p>
            <a:pPr lvl="1"/>
            <a:r>
              <a:rPr lang="en-US" dirty="0"/>
              <a:t>Facilitates reuse of classes</a:t>
            </a:r>
          </a:p>
          <a:p>
            <a:endParaRPr lang="en-US" dirty="0"/>
          </a:p>
          <a:p>
            <a:r>
              <a:rPr lang="en-US" dirty="0"/>
              <a:t>Declaration: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958889" y="3134284"/>
            <a:ext cx="3168030" cy="7920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b="1" kern="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template</a:t>
            </a:r>
            <a:r>
              <a:rPr lang="en-US" kern="0" dirty="0">
                <a:latin typeface="Consolas" panose="020B0609020204030204" pitchFamily="49" charset="0"/>
                <a:cs typeface="Courier New" pitchFamily="49" charset="0"/>
              </a:rPr>
              <a:t>&lt; </a:t>
            </a:r>
            <a:r>
              <a:rPr lang="en-US" b="1" kern="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class</a:t>
            </a:r>
            <a:r>
              <a:rPr lang="en-US" kern="0" dirty="0">
                <a:latin typeface="Consolas" panose="020B0609020204030204" pitchFamily="49" charset="0"/>
                <a:cs typeface="Courier New" pitchFamily="49" charset="0"/>
              </a:rPr>
              <a:t> T 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kern="0" dirty="0">
                <a:latin typeface="Consolas" panose="020B0609020204030204" pitchFamily="49" charset="0"/>
                <a:cs typeface="Courier New" pitchFamily="49" charset="0"/>
              </a:rPr>
              <a:t>class XYZ{ . . .};</a:t>
            </a:r>
          </a:p>
          <a:p>
            <a:endParaRPr lang="en-US" kern="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958889" y="4289754"/>
            <a:ext cx="3456062" cy="7920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b="1" kern="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template</a:t>
            </a:r>
            <a:r>
              <a:rPr lang="en-US" kern="0" dirty="0">
                <a:latin typeface="Consolas" panose="020B0609020204030204" pitchFamily="49" charset="0"/>
                <a:cs typeface="Courier New" pitchFamily="49" charset="0"/>
              </a:rPr>
              <a:t>&lt; </a:t>
            </a:r>
            <a:r>
              <a:rPr lang="en-US" b="1" kern="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typename</a:t>
            </a:r>
            <a:r>
              <a:rPr lang="en-US" kern="0" dirty="0">
                <a:latin typeface="Consolas" panose="020B0609020204030204" pitchFamily="49" charset="0"/>
                <a:cs typeface="Courier New" pitchFamily="49" charset="0"/>
              </a:rPr>
              <a:t> T 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kern="0" dirty="0">
                <a:latin typeface="Consolas" panose="020B0609020204030204" pitchFamily="49" charset="0"/>
                <a:cs typeface="Courier New" pitchFamily="49" charset="0"/>
              </a:rPr>
              <a:t>Class XYZ { . . . };</a:t>
            </a:r>
          </a:p>
        </p:txBody>
      </p:sp>
    </p:spTree>
    <p:extLst>
      <p:ext uri="{BB962C8B-B14F-4D97-AF65-F5344CB8AC3E}">
        <p14:creationId xmlns:p14="http://schemas.microsoft.com/office/powerpoint/2010/main" val="62025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Vector</a:t>
            </a:r>
            <a:r>
              <a:rPr lang="en-US" dirty="0"/>
              <a:t> class template can store data elements of different types</a:t>
            </a:r>
          </a:p>
          <a:p>
            <a:pPr lvl="1"/>
            <a:r>
              <a:rPr lang="en-US" dirty="0"/>
              <a:t>Without templates, separate </a:t>
            </a:r>
            <a:r>
              <a:rPr lang="en-US" dirty="0">
                <a:solidFill>
                  <a:srgbClr val="0070C0"/>
                </a:solidFill>
              </a:rPr>
              <a:t>Vector</a:t>
            </a:r>
            <a:r>
              <a:rPr lang="en-US" dirty="0"/>
              <a:t> class is needed for each data type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79773" y="1989051"/>
            <a:ext cx="6984454" cy="43204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b="1" kern="0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700" kern="0" dirty="0">
                <a:latin typeface="Consolas" panose="020B0609020204030204" pitchFamily="49" charset="0"/>
              </a:rPr>
              <a:t>&lt; </a:t>
            </a:r>
            <a:r>
              <a:rPr lang="en-US" sz="1700" b="1" kern="0" dirty="0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en-US" sz="1700" kern="0" dirty="0">
                <a:latin typeface="Consolas" panose="020B0609020204030204" pitchFamily="49" charset="0"/>
              </a:rPr>
              <a:t> T 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b="1" kern="0" dirty="0">
                <a:latin typeface="Consolas" panose="020B0609020204030204" pitchFamily="49" charset="0"/>
              </a:rPr>
              <a:t>class</a:t>
            </a:r>
            <a:r>
              <a:rPr lang="en-US" sz="1700" kern="0" dirty="0">
                <a:latin typeface="Consolas" panose="020B0609020204030204" pitchFamily="49" charset="0"/>
              </a:rPr>
              <a:t> Vector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>
                <a:latin typeface="Consolas" panose="020B0609020204030204" pitchFamily="49" charset="0"/>
              </a:rPr>
              <a:t>private: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>
                <a:latin typeface="Consolas" panose="020B0609020204030204" pitchFamily="49" charset="0"/>
              </a:rPr>
              <a:t>    </a:t>
            </a:r>
            <a:r>
              <a:rPr lang="en-US" sz="1700" b="1" kern="0" dirty="0" err="1">
                <a:latin typeface="Consolas" panose="020B0609020204030204" pitchFamily="49" charset="0"/>
              </a:rPr>
              <a:t>int</a:t>
            </a:r>
            <a:r>
              <a:rPr lang="en-US" sz="1700" kern="0" dirty="0">
                <a:latin typeface="Consolas" panose="020B0609020204030204" pitchFamily="49" charset="0"/>
              </a:rPr>
              <a:t> size;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>
                <a:latin typeface="Consolas" panose="020B0609020204030204" pitchFamily="49" charset="0"/>
              </a:rPr>
              <a:t>    T* </a:t>
            </a:r>
            <a:r>
              <a:rPr lang="en-US" sz="1700" kern="0" dirty="0" err="1">
                <a:latin typeface="Consolas" panose="020B0609020204030204" pitchFamily="49" charset="0"/>
              </a:rPr>
              <a:t>ptr</a:t>
            </a:r>
            <a:r>
              <a:rPr lang="en-US" sz="1700" kern="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>
                <a:latin typeface="Consolas" panose="020B0609020204030204" pitchFamily="49" charset="0"/>
              </a:rPr>
              <a:t>public: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>
                <a:latin typeface="Consolas" panose="020B0609020204030204" pitchFamily="49" charset="0"/>
              </a:rPr>
              <a:t>    Vector&lt;T&gt;( </a:t>
            </a:r>
            <a:r>
              <a:rPr lang="en-US" sz="1700" kern="0" dirty="0" err="1">
                <a:latin typeface="Consolas" panose="020B0609020204030204" pitchFamily="49" charset="0"/>
              </a:rPr>
              <a:t>int</a:t>
            </a:r>
            <a:r>
              <a:rPr lang="en-US" sz="1700" kern="0" dirty="0">
                <a:latin typeface="Consolas" panose="020B0609020204030204" pitchFamily="49" charset="0"/>
              </a:rPr>
              <a:t> = 10 );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>
                <a:latin typeface="Consolas" panose="020B0609020204030204" pitchFamily="49" charset="0"/>
              </a:rPr>
              <a:t>    Vector&lt;T&gt;( </a:t>
            </a:r>
            <a:r>
              <a:rPr lang="en-US" sz="1700" kern="0" dirty="0" err="1">
                <a:latin typeface="Consolas" panose="020B0609020204030204" pitchFamily="49" charset="0"/>
              </a:rPr>
              <a:t>const</a:t>
            </a:r>
            <a:r>
              <a:rPr lang="en-US" sz="1700" kern="0" dirty="0">
                <a:latin typeface="Consolas" panose="020B0609020204030204" pitchFamily="49" charset="0"/>
              </a:rPr>
              <a:t> Vector&lt; T &gt;&amp;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>
                <a:latin typeface="Consolas" panose="020B0609020204030204" pitchFamily="49" charset="0"/>
              </a:rPr>
              <a:t>    ~Vector&lt;T&gt;();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>
                <a:latin typeface="Consolas" panose="020B0609020204030204" pitchFamily="49" charset="0"/>
              </a:rPr>
              <a:t>    </a:t>
            </a:r>
            <a:r>
              <a:rPr lang="en-US" sz="1700" b="1" kern="0" dirty="0" err="1">
                <a:latin typeface="Consolas" panose="020B0609020204030204" pitchFamily="49" charset="0"/>
              </a:rPr>
              <a:t>int</a:t>
            </a:r>
            <a:r>
              <a:rPr lang="en-US" sz="1700" kern="0" dirty="0">
                <a:latin typeface="Consolas" panose="020B0609020204030204" pitchFamily="49" charset="0"/>
              </a:rPr>
              <a:t> </a:t>
            </a:r>
            <a:r>
              <a:rPr lang="en-US" sz="1700" kern="0" dirty="0" err="1">
                <a:latin typeface="Consolas" panose="020B0609020204030204" pitchFamily="49" charset="0"/>
              </a:rPr>
              <a:t>getSize</a:t>
            </a:r>
            <a:r>
              <a:rPr lang="en-US" sz="1700" kern="0" dirty="0">
                <a:latin typeface="Consolas" panose="020B0609020204030204" pitchFamily="49" charset="0"/>
              </a:rPr>
              <a:t>() </a:t>
            </a:r>
            <a:r>
              <a:rPr lang="en-US" sz="1700" b="1" kern="0" dirty="0" err="1">
                <a:latin typeface="Consolas" panose="020B0609020204030204" pitchFamily="49" charset="0"/>
              </a:rPr>
              <a:t>const</a:t>
            </a:r>
            <a:r>
              <a:rPr lang="en-US" sz="1700" kern="0" dirty="0">
                <a:latin typeface="Consolas" panose="020B0609020204030204" pitchFamily="49" charset="0"/>
              </a:rPr>
              <a:t>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>
                <a:latin typeface="Consolas" panose="020B0609020204030204" pitchFamily="49" charset="0"/>
              </a:rPr>
              <a:t>    </a:t>
            </a:r>
            <a:r>
              <a:rPr lang="en-US" sz="1700" b="1" kern="0" dirty="0" err="1">
                <a:latin typeface="Consolas" panose="020B0609020204030204" pitchFamily="49" charset="0"/>
              </a:rPr>
              <a:t>const</a:t>
            </a:r>
            <a:r>
              <a:rPr lang="en-US" sz="1700" kern="0" dirty="0">
                <a:latin typeface="Consolas" panose="020B0609020204030204" pitchFamily="49" charset="0"/>
              </a:rPr>
              <a:t> Vector&lt; T &gt;&amp; operator =(</a:t>
            </a:r>
            <a:r>
              <a:rPr lang="en-US" sz="1700" b="1" kern="0" dirty="0" err="1">
                <a:latin typeface="Consolas" panose="020B0609020204030204" pitchFamily="49" charset="0"/>
              </a:rPr>
              <a:t>const</a:t>
            </a:r>
            <a:r>
              <a:rPr lang="en-US" sz="1700" kern="0" dirty="0">
                <a:latin typeface="Consolas" panose="020B0609020204030204" pitchFamily="49" charset="0"/>
              </a:rPr>
              <a:t> Vector&lt; T &gt;&amp; );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>
                <a:latin typeface="Consolas" panose="020B0609020204030204" pitchFamily="49" charset="0"/>
              </a:rPr>
              <a:t>    T&amp; operator []( </a:t>
            </a:r>
            <a:r>
              <a:rPr lang="en-US" sz="1700" b="1" kern="0" dirty="0" err="1">
                <a:latin typeface="Consolas" panose="020B0609020204030204" pitchFamily="49" charset="0"/>
              </a:rPr>
              <a:t>int</a:t>
            </a:r>
            <a:r>
              <a:rPr lang="en-US" sz="1700" kern="0" dirty="0">
                <a:latin typeface="Consolas" panose="020B0609020204030204" pitchFamily="49" charset="0"/>
              </a:rPr>
              <a:t> );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00" kern="0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123248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– Example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94373" y="1988840"/>
            <a:ext cx="4104134" cy="3024336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latin typeface="Consolas" panose="020B0609020204030204" pitchFamily="49" charset="0"/>
              </a:rPr>
              <a:t> T &gt;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Vector&lt;T&gt;::Vector(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s ) 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size = s;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 size != 0 )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b="1" dirty="0">
                <a:latin typeface="Consolas" panose="020B0609020204030204" pitchFamily="49" charset="0"/>
              </a:rPr>
              <a:t>new</a:t>
            </a:r>
            <a:r>
              <a:rPr lang="en-US" sz="1800" dirty="0">
                <a:latin typeface="Consolas" panose="020B0609020204030204" pitchFamily="49" charset="0"/>
              </a:rPr>
              <a:t> T[size];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else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 = 0;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0656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– Example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Content Placeholder 5"/>
          <p:cNvSpPr txBox="1">
            <a:spLocks/>
          </p:cNvSpPr>
          <p:nvPr/>
        </p:nvSpPr>
        <p:spPr bwMode="auto">
          <a:xfrm>
            <a:off x="611560" y="1981944"/>
            <a:ext cx="7920880" cy="33843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kern="0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kern="0" dirty="0">
                <a:latin typeface="Consolas" panose="020B0609020204030204" pitchFamily="49" charset="0"/>
              </a:rPr>
              <a:t>&lt; </a:t>
            </a:r>
            <a:r>
              <a:rPr lang="en-US" sz="1800" b="1" kern="0" dirty="0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en-US" sz="1800" kern="0" dirty="0">
                <a:latin typeface="Consolas" panose="020B0609020204030204" pitchFamily="49" charset="0"/>
              </a:rPr>
              <a:t> T 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Vector&lt;T&gt;:: Vector(</a:t>
            </a:r>
            <a:r>
              <a:rPr lang="en-US" sz="1800" b="1" kern="0" dirty="0" err="1">
                <a:latin typeface="Consolas" panose="020B0609020204030204" pitchFamily="49" charset="0"/>
              </a:rPr>
              <a:t>const</a:t>
            </a:r>
            <a:r>
              <a:rPr lang="en-US" sz="1800" kern="0" dirty="0">
                <a:latin typeface="Consolas" panose="020B0609020204030204" pitchFamily="49" charset="0"/>
              </a:rPr>
              <a:t> Vector&lt;T&gt;&amp; copy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size = </a:t>
            </a:r>
            <a:r>
              <a:rPr lang="en-US" sz="1800" kern="0" dirty="0" err="1">
                <a:latin typeface="Consolas" panose="020B0609020204030204" pitchFamily="49" charset="0"/>
              </a:rPr>
              <a:t>copy.getSize</a:t>
            </a:r>
            <a:r>
              <a:rPr lang="en-US" sz="1800" kern="0" dirty="0">
                <a:latin typeface="Consolas" panose="020B0609020204030204" pitchFamily="49" charset="0"/>
              </a:rPr>
              <a:t>();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</a:t>
            </a:r>
            <a:r>
              <a:rPr lang="en-US" sz="1800" b="1" kern="0" dirty="0">
                <a:latin typeface="Consolas" panose="020B0609020204030204" pitchFamily="49" charset="0"/>
              </a:rPr>
              <a:t>if</a:t>
            </a:r>
            <a:r>
              <a:rPr lang="en-US" sz="1800" kern="0" dirty="0">
                <a:latin typeface="Consolas" panose="020B0609020204030204" pitchFamily="49" charset="0"/>
              </a:rPr>
              <a:t> (size != 0)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    </a:t>
            </a:r>
            <a:r>
              <a:rPr lang="en-US" sz="1800" kern="0" dirty="0" err="1">
                <a:latin typeface="Consolas" panose="020B0609020204030204" pitchFamily="49" charset="0"/>
              </a:rPr>
              <a:t>ptr</a:t>
            </a:r>
            <a:r>
              <a:rPr lang="en-US" sz="1800" kern="0" dirty="0">
                <a:latin typeface="Consolas" panose="020B0609020204030204" pitchFamily="49" charset="0"/>
              </a:rPr>
              <a:t> = </a:t>
            </a:r>
            <a:r>
              <a:rPr lang="en-US" sz="1800" b="1" kern="0" dirty="0">
                <a:latin typeface="Consolas" panose="020B0609020204030204" pitchFamily="49" charset="0"/>
              </a:rPr>
              <a:t>new</a:t>
            </a:r>
            <a:r>
              <a:rPr lang="en-US" sz="1800" kern="0" dirty="0">
                <a:latin typeface="Consolas" panose="020B0609020204030204" pitchFamily="49" charset="0"/>
              </a:rPr>
              <a:t> T[size];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    </a:t>
            </a:r>
            <a:r>
              <a:rPr lang="en-US" sz="1800" b="1" kern="0" dirty="0">
                <a:latin typeface="Consolas" panose="020B0609020204030204" pitchFamily="49" charset="0"/>
              </a:rPr>
              <a:t>for</a:t>
            </a:r>
            <a:r>
              <a:rPr lang="en-US" sz="1800" kern="0" dirty="0">
                <a:latin typeface="Consolas" panose="020B0609020204030204" pitchFamily="49" charset="0"/>
              </a:rPr>
              <a:t> (</a:t>
            </a:r>
            <a:r>
              <a:rPr lang="en-US" sz="1800" b="1" kern="0" dirty="0" err="1">
                <a:latin typeface="Consolas" panose="020B0609020204030204" pitchFamily="49" charset="0"/>
              </a:rPr>
              <a:t>int</a:t>
            </a:r>
            <a:r>
              <a:rPr lang="en-US" sz="1800" kern="0" dirty="0">
                <a:latin typeface="Consolas" panose="020B0609020204030204" pitchFamily="49" charset="0"/>
              </a:rPr>
              <a:t> </a:t>
            </a:r>
            <a:r>
              <a:rPr lang="en-US" sz="1800" kern="0" dirty="0" err="1">
                <a:latin typeface="Consolas" panose="020B0609020204030204" pitchFamily="49" charset="0"/>
              </a:rPr>
              <a:t>i</a:t>
            </a:r>
            <a:r>
              <a:rPr lang="en-US" sz="1800" kern="0" dirty="0">
                <a:latin typeface="Consolas" panose="020B0609020204030204" pitchFamily="49" charset="0"/>
              </a:rPr>
              <a:t> = 0; </a:t>
            </a:r>
            <a:r>
              <a:rPr lang="en-US" sz="1800" kern="0" dirty="0" err="1">
                <a:latin typeface="Consolas" panose="020B0609020204030204" pitchFamily="49" charset="0"/>
              </a:rPr>
              <a:t>i</a:t>
            </a:r>
            <a:r>
              <a:rPr lang="en-US" sz="1800" kern="0" dirty="0">
                <a:latin typeface="Consolas" panose="020B0609020204030204" pitchFamily="49" charset="0"/>
              </a:rPr>
              <a:t> &lt; size; </a:t>
            </a:r>
            <a:r>
              <a:rPr lang="en-US" sz="1800" kern="0" dirty="0" err="1">
                <a:latin typeface="Consolas" panose="020B0609020204030204" pitchFamily="49" charset="0"/>
              </a:rPr>
              <a:t>i</a:t>
            </a:r>
            <a:r>
              <a:rPr lang="en-US" sz="1800" kern="0" dirty="0">
                <a:latin typeface="Consolas" panose="020B0609020204030204" pitchFamily="49" charset="0"/>
              </a:rPr>
              <a:t>++)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        </a:t>
            </a:r>
            <a:r>
              <a:rPr lang="en-US" sz="1800" kern="0" dirty="0" err="1">
                <a:latin typeface="Consolas" panose="020B0609020204030204" pitchFamily="49" charset="0"/>
              </a:rPr>
              <a:t>ptr</a:t>
            </a:r>
            <a:r>
              <a:rPr lang="en-US" sz="1800" kern="0" dirty="0">
                <a:latin typeface="Consolas" panose="020B0609020204030204" pitchFamily="49" charset="0"/>
              </a:rPr>
              <a:t>[</a:t>
            </a:r>
            <a:r>
              <a:rPr lang="en-US" sz="1800" kern="0" dirty="0" err="1">
                <a:latin typeface="Consolas" panose="020B0609020204030204" pitchFamily="49" charset="0"/>
              </a:rPr>
              <a:t>i</a:t>
            </a:r>
            <a:r>
              <a:rPr lang="en-US" sz="1800" kern="0" dirty="0">
                <a:latin typeface="Consolas" panose="020B0609020204030204" pitchFamily="49" charset="0"/>
              </a:rPr>
              <a:t>] = </a:t>
            </a:r>
            <a:r>
              <a:rPr lang="en-US" sz="1800" kern="0" dirty="0" err="1">
                <a:latin typeface="Consolas" panose="020B0609020204030204" pitchFamily="49" charset="0"/>
              </a:rPr>
              <a:t>copy.ptr</a:t>
            </a:r>
            <a:r>
              <a:rPr lang="en-US" sz="1800" kern="0" dirty="0">
                <a:latin typeface="Consolas" panose="020B0609020204030204" pitchFamily="49" charset="0"/>
              </a:rPr>
              <a:t>[</a:t>
            </a:r>
            <a:r>
              <a:rPr lang="en-US" sz="1800" kern="0" dirty="0" err="1">
                <a:latin typeface="Consolas" panose="020B0609020204030204" pitchFamily="49" charset="0"/>
              </a:rPr>
              <a:t>i</a:t>
            </a:r>
            <a:r>
              <a:rPr lang="en-US" sz="1800" kern="0" dirty="0">
                <a:latin typeface="Consolas" panose="020B0609020204030204" pitchFamily="49" charset="0"/>
              </a:rPr>
              <a:t>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}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</a:t>
            </a:r>
            <a:r>
              <a:rPr lang="en-US" sz="1800" b="1" kern="0" dirty="0">
                <a:latin typeface="Consolas" panose="020B0609020204030204" pitchFamily="49" charset="0"/>
              </a:rPr>
              <a:t>else</a:t>
            </a:r>
            <a:r>
              <a:rPr lang="en-US" sz="1800" kern="0" dirty="0">
                <a:latin typeface="Consolas" panose="020B0609020204030204" pitchFamily="49" charset="0"/>
              </a:rPr>
              <a:t> </a:t>
            </a:r>
            <a:r>
              <a:rPr lang="en-US" sz="1800" kern="0" dirty="0" err="1">
                <a:latin typeface="Consolas" panose="020B0609020204030204" pitchFamily="49" charset="0"/>
              </a:rPr>
              <a:t>ptr</a:t>
            </a:r>
            <a:r>
              <a:rPr lang="en-US" sz="1800" kern="0" dirty="0">
                <a:latin typeface="Consolas" panose="020B0609020204030204" pitchFamily="49" charset="0"/>
              </a:rPr>
              <a:t> = 0;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8702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– Example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2254920" y="2125960"/>
            <a:ext cx="4634160" cy="3096344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latin typeface="Consolas" panose="020B0609020204030204" pitchFamily="49" charset="0"/>
              </a:rPr>
              <a:t> T 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Vector&lt;T&gt;::~Vector&lt;T&gt;()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delete</a:t>
            </a:r>
            <a:r>
              <a:rPr lang="en-US" sz="1800" dirty="0">
                <a:latin typeface="Consolas" panose="020B0609020204030204" pitchFamily="49" charset="0"/>
              </a:rPr>
              <a:t> []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US" sz="1800" dirty="0">
              <a:latin typeface="Consolas" panose="020B0609020204030204" pitchFamily="49" charset="0"/>
            </a:endParaRP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latin typeface="Consolas" panose="020B0609020204030204" pitchFamily="49" charset="0"/>
              </a:rPr>
              <a:t> T 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Vector&lt;T&gt;::</a:t>
            </a:r>
            <a:r>
              <a:rPr lang="en-US" sz="1800" dirty="0" err="1">
                <a:latin typeface="Consolas" panose="020B0609020204030204" pitchFamily="49" charset="0"/>
              </a:rPr>
              <a:t>getSize</a:t>
            </a:r>
            <a:r>
              <a:rPr lang="en-US" sz="1800" dirty="0">
                <a:latin typeface="Consolas" panose="020B0609020204030204" pitchFamily="49" charset="0"/>
              </a:rPr>
              <a:t>() </a:t>
            </a: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size;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768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– Example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Content Placeholder 7"/>
          <p:cNvSpPr>
            <a:spLocks noGrp="1"/>
          </p:cNvSpPr>
          <p:nvPr>
            <p:ph idx="1"/>
          </p:nvPr>
        </p:nvSpPr>
        <p:spPr>
          <a:xfrm>
            <a:off x="323528" y="1137225"/>
            <a:ext cx="8496300" cy="5257006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latin typeface="Consolas" panose="020B0609020204030204" pitchFamily="49" charset="0"/>
              </a:rPr>
              <a:t> T &gt;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Vector&lt;T&gt;&amp; Vector&lt;T&gt;::operator =( </a:t>
            </a: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Vector&lt;T&gt;&amp; right) 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 this != &amp;right ) {	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latin typeface="Consolas" panose="020B0609020204030204" pitchFamily="49" charset="0"/>
              </a:rPr>
              <a:t>delete</a:t>
            </a:r>
            <a:r>
              <a:rPr lang="en-US" sz="1800" dirty="0">
                <a:latin typeface="Consolas" panose="020B0609020204030204" pitchFamily="49" charset="0"/>
              </a:rPr>
              <a:t> []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size = </a:t>
            </a:r>
            <a:r>
              <a:rPr lang="en-US" sz="1800" dirty="0" err="1">
                <a:latin typeface="Consolas" panose="020B0609020204030204" pitchFamily="49" charset="0"/>
              </a:rPr>
              <a:t>right.size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 size != 0 )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b="1" dirty="0">
                <a:latin typeface="Consolas" panose="020B0609020204030204" pitchFamily="49" charset="0"/>
              </a:rPr>
              <a:t>new</a:t>
            </a:r>
            <a:r>
              <a:rPr lang="en-US" sz="1800" dirty="0">
                <a:latin typeface="Consolas" panose="020B0609020204030204" pitchFamily="49" charset="0"/>
              </a:rPr>
              <a:t> T[size];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    </a:t>
            </a:r>
            <a:r>
              <a:rPr lang="en-US" sz="1800" b="1" dirty="0">
                <a:latin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= 0;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&lt; </a:t>
            </a:r>
            <a:r>
              <a:rPr lang="en-US" sz="1800" dirty="0" err="1">
                <a:latin typeface="Consolas" panose="020B0609020204030204" pitchFamily="49" charset="0"/>
              </a:rPr>
              <a:t>size;i</a:t>
            </a:r>
            <a:r>
              <a:rPr lang="en-US" sz="1800" dirty="0">
                <a:latin typeface="Consolas" panose="020B0609020204030204" pitchFamily="49" charset="0"/>
              </a:rPr>
              <a:t>++)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[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] = </a:t>
            </a:r>
            <a:r>
              <a:rPr lang="en-US" sz="1800" dirty="0" err="1">
                <a:latin typeface="Consolas" panose="020B0609020204030204" pitchFamily="49" charset="0"/>
              </a:rPr>
              <a:t>right.ptr</a:t>
            </a:r>
            <a:r>
              <a:rPr lang="en-US" sz="1800" dirty="0">
                <a:latin typeface="Consolas" panose="020B0609020204030204" pitchFamily="49" charset="0"/>
              </a:rPr>
              <a:t>[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}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latin typeface="Consolas" panose="020B0609020204030204" pitchFamily="49" charset="0"/>
              </a:rPr>
              <a:t>else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 = 0;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}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*this;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007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– Example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Content Placeholder 8"/>
          <p:cNvSpPr>
            <a:spLocks noGrp="1"/>
          </p:cNvSpPr>
          <p:nvPr>
            <p:ph idx="1"/>
          </p:nvPr>
        </p:nvSpPr>
        <p:spPr>
          <a:xfrm>
            <a:off x="1367631" y="2305980"/>
            <a:ext cx="6408738" cy="2736304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latin typeface="Consolas" panose="020B0609020204030204" pitchFamily="49" charset="0"/>
              </a:rPr>
              <a:t> T 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T&amp; Vector&lt; T &gt;::operator [](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index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 index &lt; 0 || index &gt;= size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“Error: index out of range\n”;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latin typeface="Consolas" panose="020B0609020204030204" pitchFamily="49" charset="0"/>
              </a:rPr>
              <a:t>exit</a:t>
            </a:r>
            <a:r>
              <a:rPr lang="en-US" sz="1800" dirty="0">
                <a:latin typeface="Consolas" panose="020B0609020204030204" pitchFamily="49" charset="0"/>
              </a:rPr>
              <a:t>( 1 );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}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[index];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1004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– Usage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Content Placeholder 9"/>
          <p:cNvSpPr>
            <a:spLocks noGrp="1"/>
          </p:cNvSpPr>
          <p:nvPr>
            <p:ph idx="1"/>
          </p:nvPr>
        </p:nvSpPr>
        <p:spPr>
          <a:xfrm>
            <a:off x="1547825" y="2090358"/>
            <a:ext cx="6048350" cy="3354866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b="1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main()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Vector&lt; </a:t>
            </a:r>
            <a:r>
              <a:rPr lang="en-US" sz="2000" b="1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&gt; iv1( 2 );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iv1[0] = 15;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iv1[1] = 27;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Vector&lt; </a:t>
            </a:r>
            <a:r>
              <a:rPr lang="en-US" sz="2000" b="1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&gt; iv2( iv1 );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Vector&lt; </a:t>
            </a:r>
            <a:r>
              <a:rPr lang="en-US" sz="2000" b="1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&gt; iv3( 2 );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iv3 = iv1;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b="1" dirty="0">
                <a:latin typeface="Consolas" panose="020B0609020204030204" pitchFamily="49" charset="0"/>
              </a:rPr>
              <a:t>return</a:t>
            </a:r>
            <a:r>
              <a:rPr lang="en-US" sz="2000" dirty="0">
                <a:latin typeface="Consolas" panose="020B0609020204030204" pitchFamily="49" charset="0"/>
              </a:rPr>
              <a:t> 0;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713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Specialization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Content Placeholder 10"/>
          <p:cNvSpPr>
            <a:spLocks noGrp="1"/>
          </p:cNvSpPr>
          <p:nvPr>
            <p:ph idx="1"/>
          </p:nvPr>
        </p:nvSpPr>
        <p:spPr>
          <a:xfrm>
            <a:off x="2231901" y="1268760"/>
            <a:ext cx="4680198" cy="3312368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b="1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main()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Vector&lt; </a:t>
            </a:r>
            <a:r>
              <a:rPr lang="en-US" sz="2000" b="1" dirty="0">
                <a:latin typeface="Consolas" panose="020B0609020204030204" pitchFamily="49" charset="0"/>
              </a:rPr>
              <a:t>char*</a:t>
            </a:r>
            <a:r>
              <a:rPr lang="en-US" sz="2000" dirty="0">
                <a:latin typeface="Consolas" panose="020B0609020204030204" pitchFamily="49" charset="0"/>
              </a:rPr>
              <a:t> &gt; sv1( 2 );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sv1[0] = "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Aamir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";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    sv1[1] = "Nasir";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    Vector&lt; 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char*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&gt; sv2( sv1 );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Vector&lt; </a:t>
            </a:r>
            <a:r>
              <a:rPr lang="en-US" sz="2000" b="1" dirty="0">
                <a:latin typeface="Consolas" panose="020B0609020204030204" pitchFamily="49" charset="0"/>
              </a:rPr>
              <a:t>char*</a:t>
            </a:r>
            <a:r>
              <a:rPr lang="en-US" sz="2000" dirty="0">
                <a:latin typeface="Consolas" panose="020B0609020204030204" pitchFamily="49" charset="0"/>
              </a:rPr>
              <a:t> &gt; sv3( 2 );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    sv3 = sv1;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b="1" dirty="0">
                <a:latin typeface="Consolas" panose="020B0609020204030204" pitchFamily="49" charset="0"/>
              </a:rPr>
              <a:t>return</a:t>
            </a:r>
            <a:r>
              <a:rPr lang="en-US" sz="2000" dirty="0">
                <a:latin typeface="Consolas" panose="020B0609020204030204" pitchFamily="49" charset="0"/>
              </a:rPr>
              <a:t> 0;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69888" y="4725144"/>
            <a:ext cx="8496300" cy="144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Like function templates, a class template may not handle all the types successfully</a:t>
            </a:r>
          </a:p>
          <a:p>
            <a:r>
              <a:rPr lang="en-US" kern="0" dirty="0"/>
              <a:t>Explicit specializations are provided to handle such types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223206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Specialization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6" name="Content Placeholder 11"/>
          <p:cNvSpPr>
            <a:spLocks noGrp="1"/>
          </p:cNvSpPr>
          <p:nvPr>
            <p:ph idx="1"/>
          </p:nvPr>
        </p:nvSpPr>
        <p:spPr>
          <a:xfrm>
            <a:off x="323850" y="1124744"/>
            <a:ext cx="8208590" cy="5257006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latin typeface="Consolas" panose="020B0609020204030204" pitchFamily="49" charset="0"/>
              </a:rPr>
              <a:t>class</a:t>
            </a:r>
            <a:r>
              <a:rPr lang="en-US" sz="1800" dirty="0">
                <a:latin typeface="Consolas" panose="020B0609020204030204" pitchFamily="49" charset="0"/>
              </a:rPr>
              <a:t> Vector&lt; </a:t>
            </a:r>
            <a:r>
              <a:rPr lang="en-US" sz="1800" b="1" dirty="0">
                <a:latin typeface="Consolas" panose="020B0609020204030204" pitchFamily="49" charset="0"/>
              </a:rPr>
              <a:t>char*</a:t>
            </a:r>
            <a:r>
              <a:rPr lang="en-US" sz="1800" dirty="0">
                <a:latin typeface="Consolas" panose="020B0609020204030204" pitchFamily="49" charset="0"/>
              </a:rPr>
              <a:t> &gt;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private: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size;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char**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public: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solidFill>
                  <a:srgbClr val="FFFF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Vector&lt; char* &gt;( </a:t>
            </a:r>
            <a:r>
              <a:rPr lang="en-US" sz="1800" dirty="0" err="1">
                <a:solidFill>
                  <a:srgbClr val="00B050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 = 10 );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Vector(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= 10 );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Vector( </a:t>
            </a: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Vector&lt; </a:t>
            </a:r>
            <a:r>
              <a:rPr lang="en-US" sz="1800" b="1" dirty="0">
                <a:latin typeface="Consolas" panose="020B0609020204030204" pitchFamily="49" charset="0"/>
              </a:rPr>
              <a:t>char*</a:t>
            </a:r>
            <a:r>
              <a:rPr lang="en-US" sz="1800" dirty="0">
                <a:latin typeface="Consolas" panose="020B0609020204030204" pitchFamily="49" charset="0"/>
              </a:rPr>
              <a:t> &gt;&amp;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virtual ~Vector();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getSize</a:t>
            </a:r>
            <a:r>
              <a:rPr lang="en-US" sz="1800" dirty="0">
                <a:latin typeface="Consolas" panose="020B0609020204030204" pitchFamily="49" charset="0"/>
              </a:rPr>
              <a:t>() </a:t>
            </a: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Vector&lt; </a:t>
            </a:r>
            <a:r>
              <a:rPr lang="en-US" sz="1800" b="1" dirty="0">
                <a:latin typeface="Consolas" panose="020B0609020204030204" pitchFamily="49" charset="0"/>
              </a:rPr>
              <a:t>char* </a:t>
            </a:r>
            <a:r>
              <a:rPr lang="en-US" sz="1800" dirty="0">
                <a:latin typeface="Consolas" panose="020B0609020204030204" pitchFamily="49" charset="0"/>
              </a:rPr>
              <a:t>&gt;&amp; operator =(</a:t>
            </a: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Vector&lt; </a:t>
            </a:r>
            <a:r>
              <a:rPr lang="en-US" sz="1800" b="1" dirty="0">
                <a:latin typeface="Consolas" panose="020B0609020204030204" pitchFamily="49" charset="0"/>
              </a:rPr>
              <a:t>char*</a:t>
            </a:r>
            <a:r>
              <a:rPr lang="en-US" sz="1800" dirty="0">
                <a:latin typeface="Consolas" panose="020B0609020204030204" pitchFamily="49" charset="0"/>
              </a:rPr>
              <a:t> &gt;&amp; );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</a:rPr>
              <a:t>char*</a:t>
            </a:r>
            <a:r>
              <a:rPr lang="en-US" sz="1800" dirty="0">
                <a:latin typeface="Consolas" panose="020B0609020204030204" pitchFamily="49" charset="0"/>
              </a:rPr>
              <a:t>&amp; operator [](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);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void</a:t>
            </a:r>
            <a:r>
              <a:rPr lang="en-US" sz="1800" dirty="0">
                <a:latin typeface="Consolas" panose="020B0609020204030204" pitchFamily="49" charset="0"/>
              </a:rPr>
              <a:t> insert( </a:t>
            </a:r>
            <a:r>
              <a:rPr lang="en-US" sz="1800" b="1" dirty="0">
                <a:latin typeface="Consolas" panose="020B0609020204030204" pitchFamily="49" charset="0"/>
              </a:rPr>
              <a:t>char*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);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};</a:t>
            </a:r>
          </a:p>
          <a:p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568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Specialization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Content Placeholder 12"/>
          <p:cNvSpPr>
            <a:spLocks noGrp="1"/>
          </p:cNvSpPr>
          <p:nvPr>
            <p:ph idx="1"/>
          </p:nvPr>
        </p:nvSpPr>
        <p:spPr>
          <a:xfrm>
            <a:off x="1799853" y="1801924"/>
            <a:ext cx="5544294" cy="3744416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Vector&lt;</a:t>
            </a:r>
            <a:r>
              <a:rPr lang="en-US" sz="1800" b="1" dirty="0">
                <a:latin typeface="Consolas" panose="020B0609020204030204" pitchFamily="49" charset="0"/>
              </a:rPr>
              <a:t>char*</a:t>
            </a:r>
            <a:r>
              <a:rPr lang="en-US" sz="1800" dirty="0">
                <a:latin typeface="Consolas" panose="020B0609020204030204" pitchFamily="49" charset="0"/>
              </a:rPr>
              <a:t>&gt;::Vector(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s)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size = s;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 size != 0 )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b="1" dirty="0">
                <a:latin typeface="Consolas" panose="020B0609020204030204" pitchFamily="49" charset="0"/>
              </a:rPr>
              <a:t>new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</a:rPr>
              <a:t>char*</a:t>
            </a:r>
            <a:r>
              <a:rPr lang="en-US" sz="1800" dirty="0">
                <a:latin typeface="Consolas" panose="020B0609020204030204" pitchFamily="49" charset="0"/>
              </a:rPr>
              <a:t>[size];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latin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</a:rPr>
              <a:t> (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= 0;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&lt; size;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++)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[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] = 0;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}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else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 = 0;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01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Specialization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6" name="Content Placeholder 13"/>
          <p:cNvSpPr>
            <a:spLocks noGrp="1"/>
          </p:cNvSpPr>
          <p:nvPr>
            <p:ph idx="1"/>
          </p:nvPr>
        </p:nvSpPr>
        <p:spPr>
          <a:xfrm>
            <a:off x="647725" y="1137225"/>
            <a:ext cx="7848550" cy="5257006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750" dirty="0">
                <a:latin typeface="Consolas" panose="020B0609020204030204" pitchFamily="49" charset="0"/>
              </a:rPr>
              <a:t>&lt;&gt;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Vector&lt; </a:t>
            </a:r>
            <a:r>
              <a:rPr lang="en-US" sz="1750" b="1" dirty="0">
                <a:latin typeface="Consolas" panose="020B0609020204030204" pitchFamily="49" charset="0"/>
              </a:rPr>
              <a:t>char*</a:t>
            </a:r>
            <a:r>
              <a:rPr lang="en-US" sz="1750" dirty="0">
                <a:latin typeface="Consolas" panose="020B0609020204030204" pitchFamily="49" charset="0"/>
              </a:rPr>
              <a:t> &gt;::Vector(</a:t>
            </a:r>
            <a:r>
              <a:rPr lang="en-US" sz="1750" b="1" dirty="0" err="1">
                <a:latin typeface="Consolas" panose="020B0609020204030204" pitchFamily="49" charset="0"/>
              </a:rPr>
              <a:t>const</a:t>
            </a:r>
            <a:r>
              <a:rPr lang="en-US" sz="1750" dirty="0">
                <a:latin typeface="Consolas" panose="020B0609020204030204" pitchFamily="49" charset="0"/>
              </a:rPr>
              <a:t> Vector&lt;</a:t>
            </a:r>
            <a:r>
              <a:rPr lang="en-US" sz="1750" b="1" dirty="0">
                <a:latin typeface="Consolas" panose="020B0609020204030204" pitchFamily="49" charset="0"/>
              </a:rPr>
              <a:t>char*</a:t>
            </a:r>
            <a:r>
              <a:rPr lang="en-US" sz="1750" dirty="0">
                <a:latin typeface="Consolas" panose="020B0609020204030204" pitchFamily="49" charset="0"/>
              </a:rPr>
              <a:t>&gt;&amp; copy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size = </a:t>
            </a:r>
            <a:r>
              <a:rPr lang="en-US" sz="1750" dirty="0" err="1">
                <a:latin typeface="Consolas" panose="020B0609020204030204" pitchFamily="49" charset="0"/>
              </a:rPr>
              <a:t>copy.getSize</a:t>
            </a:r>
            <a:r>
              <a:rPr lang="en-US" sz="1750" dirty="0">
                <a:latin typeface="Consolas" panose="020B0609020204030204" pitchFamily="49" charset="0"/>
              </a:rPr>
              <a:t>();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</a:t>
            </a:r>
            <a:r>
              <a:rPr lang="en-US" sz="1750" b="1" dirty="0">
                <a:latin typeface="Consolas" panose="020B0609020204030204" pitchFamily="49" charset="0"/>
              </a:rPr>
              <a:t>if</a:t>
            </a:r>
            <a:r>
              <a:rPr lang="en-US" sz="1750" dirty="0">
                <a:latin typeface="Consolas" panose="020B0609020204030204" pitchFamily="49" charset="0"/>
              </a:rPr>
              <a:t> ( size == 0 )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    </a:t>
            </a:r>
            <a:r>
              <a:rPr lang="en-US" sz="1750" dirty="0" err="1">
                <a:latin typeface="Consolas" panose="020B0609020204030204" pitchFamily="49" charset="0"/>
              </a:rPr>
              <a:t>ptr</a:t>
            </a:r>
            <a:r>
              <a:rPr lang="en-US" sz="1750" dirty="0">
                <a:latin typeface="Consolas" panose="020B0609020204030204" pitchFamily="49" charset="0"/>
              </a:rPr>
              <a:t> = 0;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    </a:t>
            </a:r>
            <a:r>
              <a:rPr lang="en-US" sz="1750" b="1" dirty="0">
                <a:latin typeface="Consolas" panose="020B0609020204030204" pitchFamily="49" charset="0"/>
              </a:rPr>
              <a:t>return</a:t>
            </a:r>
            <a:r>
              <a:rPr lang="en-US" sz="175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}		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</a:t>
            </a:r>
            <a:r>
              <a:rPr lang="en-US" sz="1750" dirty="0" err="1">
                <a:latin typeface="Consolas" panose="020B0609020204030204" pitchFamily="49" charset="0"/>
              </a:rPr>
              <a:t>ptr</a:t>
            </a:r>
            <a:r>
              <a:rPr lang="en-US" sz="1750" dirty="0">
                <a:latin typeface="Consolas" panose="020B0609020204030204" pitchFamily="49" charset="0"/>
              </a:rPr>
              <a:t> = </a:t>
            </a:r>
            <a:r>
              <a:rPr lang="en-US" sz="1750" b="1" dirty="0">
                <a:latin typeface="Consolas" panose="020B0609020204030204" pitchFamily="49" charset="0"/>
              </a:rPr>
              <a:t>new</a:t>
            </a:r>
            <a:r>
              <a:rPr lang="en-US" sz="1750" dirty="0">
                <a:latin typeface="Consolas" panose="020B0609020204030204" pitchFamily="49" charset="0"/>
              </a:rPr>
              <a:t> </a:t>
            </a:r>
            <a:r>
              <a:rPr lang="en-US" sz="1750" b="1" dirty="0">
                <a:latin typeface="Consolas" panose="020B0609020204030204" pitchFamily="49" charset="0"/>
              </a:rPr>
              <a:t>char*</a:t>
            </a:r>
            <a:r>
              <a:rPr lang="en-US" sz="1750" dirty="0">
                <a:latin typeface="Consolas" panose="020B0609020204030204" pitchFamily="49" charset="0"/>
              </a:rPr>
              <a:t>[size];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for (</a:t>
            </a:r>
            <a:r>
              <a:rPr lang="en-US" sz="1750" b="1" dirty="0" err="1">
                <a:latin typeface="Consolas" panose="020B0609020204030204" pitchFamily="49" charset="0"/>
              </a:rPr>
              <a:t>int</a:t>
            </a:r>
            <a:r>
              <a:rPr lang="en-US" sz="1750" dirty="0">
                <a:latin typeface="Consolas" panose="020B0609020204030204" pitchFamily="49" charset="0"/>
              </a:rPr>
              <a:t> </a:t>
            </a:r>
            <a:r>
              <a:rPr lang="en-US" sz="1750" dirty="0" err="1">
                <a:latin typeface="Consolas" panose="020B0609020204030204" pitchFamily="49" charset="0"/>
              </a:rPr>
              <a:t>i</a:t>
            </a:r>
            <a:r>
              <a:rPr lang="en-US" sz="1750" dirty="0">
                <a:latin typeface="Consolas" panose="020B0609020204030204" pitchFamily="49" charset="0"/>
              </a:rPr>
              <a:t> = 0; </a:t>
            </a:r>
            <a:r>
              <a:rPr lang="en-US" sz="1750" dirty="0" err="1">
                <a:latin typeface="Consolas" panose="020B0609020204030204" pitchFamily="49" charset="0"/>
              </a:rPr>
              <a:t>i</a:t>
            </a:r>
            <a:r>
              <a:rPr lang="en-US" sz="1750" dirty="0">
                <a:latin typeface="Consolas" panose="020B0609020204030204" pitchFamily="49" charset="0"/>
              </a:rPr>
              <a:t> &lt; size; </a:t>
            </a:r>
            <a:r>
              <a:rPr lang="en-US" sz="1750" dirty="0" err="1">
                <a:latin typeface="Consolas" panose="020B0609020204030204" pitchFamily="49" charset="0"/>
              </a:rPr>
              <a:t>i</a:t>
            </a:r>
            <a:r>
              <a:rPr lang="en-US" sz="1750" dirty="0">
                <a:latin typeface="Consolas" panose="020B0609020204030204" pitchFamily="49" charset="0"/>
              </a:rPr>
              <a:t>++)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    if ( </a:t>
            </a:r>
            <a:r>
              <a:rPr lang="en-US" sz="1750" dirty="0" err="1">
                <a:latin typeface="Consolas" panose="020B0609020204030204" pitchFamily="49" charset="0"/>
              </a:rPr>
              <a:t>copy.ptr</a:t>
            </a:r>
            <a:r>
              <a:rPr lang="en-US" sz="1750" dirty="0">
                <a:latin typeface="Consolas" panose="020B0609020204030204" pitchFamily="49" charset="0"/>
              </a:rPr>
              <a:t>[</a:t>
            </a:r>
            <a:r>
              <a:rPr lang="en-US" sz="1750" dirty="0" err="1">
                <a:latin typeface="Consolas" panose="020B0609020204030204" pitchFamily="49" charset="0"/>
              </a:rPr>
              <a:t>i</a:t>
            </a:r>
            <a:r>
              <a:rPr lang="en-US" sz="1750" dirty="0">
                <a:latin typeface="Consolas" panose="020B0609020204030204" pitchFamily="49" charset="0"/>
              </a:rPr>
              <a:t>] != 0 )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        </a:t>
            </a:r>
            <a:r>
              <a:rPr lang="en-US" sz="1750" dirty="0" err="1">
                <a:latin typeface="Consolas" panose="020B0609020204030204" pitchFamily="49" charset="0"/>
              </a:rPr>
              <a:t>ptr</a:t>
            </a:r>
            <a:r>
              <a:rPr lang="en-US" sz="1750" dirty="0">
                <a:latin typeface="Consolas" panose="020B0609020204030204" pitchFamily="49" charset="0"/>
              </a:rPr>
              <a:t>[</a:t>
            </a:r>
            <a:r>
              <a:rPr lang="en-US" sz="1750" dirty="0" err="1">
                <a:latin typeface="Consolas" panose="020B0609020204030204" pitchFamily="49" charset="0"/>
              </a:rPr>
              <a:t>i</a:t>
            </a:r>
            <a:r>
              <a:rPr lang="en-US" sz="1750" dirty="0">
                <a:latin typeface="Consolas" panose="020B0609020204030204" pitchFamily="49" charset="0"/>
              </a:rPr>
              <a:t>] = </a:t>
            </a:r>
            <a:r>
              <a:rPr lang="en-US" sz="1750" b="1" dirty="0">
                <a:latin typeface="Consolas" panose="020B0609020204030204" pitchFamily="49" charset="0"/>
              </a:rPr>
              <a:t>new</a:t>
            </a:r>
            <a:r>
              <a:rPr lang="en-US" sz="1750" dirty="0">
                <a:latin typeface="Consolas" panose="020B0609020204030204" pitchFamily="49" charset="0"/>
              </a:rPr>
              <a:t> </a:t>
            </a:r>
            <a:r>
              <a:rPr lang="en-US" sz="1750" b="1" dirty="0">
                <a:latin typeface="Consolas" panose="020B0609020204030204" pitchFamily="49" charset="0"/>
              </a:rPr>
              <a:t>char</a:t>
            </a:r>
            <a:r>
              <a:rPr lang="en-US" sz="1750" dirty="0">
                <a:latin typeface="Consolas" panose="020B0609020204030204" pitchFamily="49" charset="0"/>
              </a:rPr>
              <a:t>[ </a:t>
            </a:r>
            <a:r>
              <a:rPr lang="en-US" sz="1750" dirty="0" err="1">
                <a:latin typeface="Consolas" panose="020B0609020204030204" pitchFamily="49" charset="0"/>
              </a:rPr>
              <a:t>strlen</a:t>
            </a:r>
            <a:r>
              <a:rPr lang="en-US" sz="1750" dirty="0">
                <a:latin typeface="Consolas" panose="020B0609020204030204" pitchFamily="49" charset="0"/>
              </a:rPr>
              <a:t>( </a:t>
            </a:r>
            <a:r>
              <a:rPr lang="en-US" sz="1750" dirty="0" err="1">
                <a:latin typeface="Consolas" panose="020B0609020204030204" pitchFamily="49" charset="0"/>
              </a:rPr>
              <a:t>copy.ptr</a:t>
            </a:r>
            <a:r>
              <a:rPr lang="en-US" sz="1750" dirty="0">
                <a:latin typeface="Consolas" panose="020B0609020204030204" pitchFamily="49" charset="0"/>
              </a:rPr>
              <a:t>[</a:t>
            </a:r>
            <a:r>
              <a:rPr lang="en-US" sz="1750" dirty="0" err="1">
                <a:latin typeface="Consolas" panose="020B0609020204030204" pitchFamily="49" charset="0"/>
              </a:rPr>
              <a:t>i</a:t>
            </a:r>
            <a:r>
              <a:rPr lang="en-US" sz="1750" dirty="0">
                <a:latin typeface="Consolas" panose="020B0609020204030204" pitchFamily="49" charset="0"/>
              </a:rPr>
              <a:t>] ) + 1 ];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        </a:t>
            </a:r>
            <a:r>
              <a:rPr lang="en-US" sz="1750" dirty="0" err="1">
                <a:latin typeface="Consolas" panose="020B0609020204030204" pitchFamily="49" charset="0"/>
              </a:rPr>
              <a:t>strcpy</a:t>
            </a:r>
            <a:r>
              <a:rPr lang="en-US" sz="1750" dirty="0">
                <a:latin typeface="Consolas" panose="020B0609020204030204" pitchFamily="49" charset="0"/>
              </a:rPr>
              <a:t>(</a:t>
            </a:r>
            <a:r>
              <a:rPr lang="en-US" sz="1750" dirty="0" err="1">
                <a:latin typeface="Consolas" panose="020B0609020204030204" pitchFamily="49" charset="0"/>
              </a:rPr>
              <a:t>ptr</a:t>
            </a:r>
            <a:r>
              <a:rPr lang="en-US" sz="1750" dirty="0">
                <a:latin typeface="Consolas" panose="020B0609020204030204" pitchFamily="49" charset="0"/>
              </a:rPr>
              <a:t>[</a:t>
            </a:r>
            <a:r>
              <a:rPr lang="en-US" sz="1750" dirty="0" err="1">
                <a:latin typeface="Consolas" panose="020B0609020204030204" pitchFamily="49" charset="0"/>
              </a:rPr>
              <a:t>i</a:t>
            </a:r>
            <a:r>
              <a:rPr lang="en-US" sz="1750" dirty="0">
                <a:latin typeface="Consolas" panose="020B0609020204030204" pitchFamily="49" charset="0"/>
              </a:rPr>
              <a:t>], </a:t>
            </a:r>
            <a:r>
              <a:rPr lang="en-US" sz="1750" dirty="0" err="1">
                <a:latin typeface="Consolas" panose="020B0609020204030204" pitchFamily="49" charset="0"/>
              </a:rPr>
              <a:t>copy.ptr</a:t>
            </a:r>
            <a:r>
              <a:rPr lang="en-US" sz="1750" dirty="0">
                <a:latin typeface="Consolas" panose="020B0609020204030204" pitchFamily="49" charset="0"/>
              </a:rPr>
              <a:t>[</a:t>
            </a:r>
            <a:r>
              <a:rPr lang="en-US" sz="1750" dirty="0" err="1">
                <a:latin typeface="Consolas" panose="020B0609020204030204" pitchFamily="49" charset="0"/>
              </a:rPr>
              <a:t>i</a:t>
            </a:r>
            <a:r>
              <a:rPr lang="en-US" sz="1750" dirty="0">
                <a:latin typeface="Consolas" panose="020B0609020204030204" pitchFamily="49" charset="0"/>
              </a:rPr>
              <a:t>]);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    }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    else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            </a:t>
            </a:r>
            <a:r>
              <a:rPr lang="en-US" sz="1750" dirty="0" err="1">
                <a:latin typeface="Consolas" panose="020B0609020204030204" pitchFamily="49" charset="0"/>
              </a:rPr>
              <a:t>ptr</a:t>
            </a:r>
            <a:r>
              <a:rPr lang="en-US" sz="1750" dirty="0">
                <a:latin typeface="Consolas" panose="020B0609020204030204" pitchFamily="49" charset="0"/>
              </a:rPr>
              <a:t>[</a:t>
            </a:r>
            <a:r>
              <a:rPr lang="en-US" sz="1750" dirty="0" err="1">
                <a:latin typeface="Consolas" panose="020B0609020204030204" pitchFamily="49" charset="0"/>
              </a:rPr>
              <a:t>i</a:t>
            </a:r>
            <a:r>
              <a:rPr lang="en-US" sz="1750" dirty="0">
                <a:latin typeface="Consolas" panose="020B0609020204030204" pitchFamily="49" charset="0"/>
              </a:rPr>
              <a:t>] = 0;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750" dirty="0">
                <a:latin typeface="Consolas" panose="020B0609020204030204" pitchFamily="49" charset="0"/>
              </a:rPr>
              <a:t>}</a:t>
            </a:r>
          </a:p>
          <a:p>
            <a:endParaRPr lang="en-US" sz="17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079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Specialization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Content Placeholder 14"/>
          <p:cNvSpPr>
            <a:spLocks noGrp="1"/>
          </p:cNvSpPr>
          <p:nvPr>
            <p:ph idx="1"/>
          </p:nvPr>
        </p:nvSpPr>
        <p:spPr>
          <a:xfrm>
            <a:off x="2123889" y="1657908"/>
            <a:ext cx="4896222" cy="4032448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Vector&lt;</a:t>
            </a:r>
            <a:r>
              <a:rPr lang="en-US" sz="1800" b="1" dirty="0">
                <a:latin typeface="Consolas" panose="020B0609020204030204" pitchFamily="49" charset="0"/>
              </a:rPr>
              <a:t>char*</a:t>
            </a:r>
            <a:r>
              <a:rPr lang="en-US" sz="1800" dirty="0">
                <a:latin typeface="Consolas" panose="020B0609020204030204" pitchFamily="49" charset="0"/>
              </a:rPr>
              <a:t>&gt;::~Vector()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for (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&lt; size;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++)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delete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[]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delete</a:t>
            </a:r>
            <a:r>
              <a:rPr lang="en-US" sz="1800" dirty="0">
                <a:latin typeface="Consolas" panose="020B0609020204030204" pitchFamily="49" charset="0"/>
              </a:rPr>
              <a:t> []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US" sz="1800" dirty="0">
              <a:latin typeface="Consolas" panose="020B0609020204030204" pitchFamily="49" charset="0"/>
            </a:endParaRP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&lt;&gt;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Vector&lt;</a:t>
            </a:r>
            <a:r>
              <a:rPr lang="en-US" sz="1800" b="1" dirty="0">
                <a:latin typeface="Consolas" panose="020B0609020204030204" pitchFamily="49" charset="0"/>
              </a:rPr>
              <a:t>char*</a:t>
            </a:r>
            <a:r>
              <a:rPr lang="en-US" sz="1800" dirty="0">
                <a:latin typeface="Consolas" panose="020B0609020204030204" pitchFamily="49" charset="0"/>
              </a:rPr>
              <a:t>&gt;::</a:t>
            </a:r>
            <a:r>
              <a:rPr lang="en-US" sz="1800" dirty="0" err="1">
                <a:latin typeface="Consolas" panose="020B0609020204030204" pitchFamily="49" charset="0"/>
              </a:rPr>
              <a:t>getSize</a:t>
            </a:r>
            <a:r>
              <a:rPr lang="en-US" sz="1800" dirty="0">
                <a:latin typeface="Consolas" panose="020B0609020204030204" pitchFamily="49" charset="0"/>
              </a:rPr>
              <a:t>() </a:t>
            </a: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size;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726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Specialization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6" name="Content Placeholder 15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544616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500" dirty="0">
                <a:latin typeface="Consolas" panose="020B0609020204030204" pitchFamily="49" charset="0"/>
              </a:rPr>
              <a:t>&lt;&gt;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b="1" dirty="0" err="1">
                <a:latin typeface="Consolas" panose="020B0609020204030204" pitchFamily="49" charset="0"/>
              </a:rPr>
              <a:t>const</a:t>
            </a:r>
            <a:r>
              <a:rPr lang="en-US" sz="1500" dirty="0">
                <a:latin typeface="Consolas" panose="020B0609020204030204" pitchFamily="49" charset="0"/>
              </a:rPr>
              <a:t> Vector&lt;</a:t>
            </a:r>
            <a:r>
              <a:rPr lang="en-US" sz="1500" b="1" dirty="0">
                <a:latin typeface="Consolas" panose="020B0609020204030204" pitchFamily="49" charset="0"/>
              </a:rPr>
              <a:t>char*</a:t>
            </a:r>
            <a:r>
              <a:rPr lang="en-US" sz="1500" dirty="0">
                <a:latin typeface="Consolas" panose="020B0609020204030204" pitchFamily="49" charset="0"/>
              </a:rPr>
              <a:t>&gt;&amp; Vector&lt;</a:t>
            </a:r>
            <a:r>
              <a:rPr lang="en-US" sz="1500" b="1" dirty="0">
                <a:latin typeface="Consolas" panose="020B0609020204030204" pitchFamily="49" charset="0"/>
              </a:rPr>
              <a:t>char*</a:t>
            </a:r>
            <a:r>
              <a:rPr lang="en-US" sz="1500" dirty="0">
                <a:latin typeface="Consolas" panose="020B0609020204030204" pitchFamily="49" charset="0"/>
              </a:rPr>
              <a:t>&gt;::operator=(</a:t>
            </a:r>
            <a:r>
              <a:rPr lang="en-US" sz="1500" b="1" dirty="0" err="1">
                <a:latin typeface="Consolas" panose="020B0609020204030204" pitchFamily="49" charset="0"/>
              </a:rPr>
              <a:t>const</a:t>
            </a:r>
            <a:r>
              <a:rPr lang="en-US" sz="1500" b="1" dirty="0">
                <a:latin typeface="Consolas" panose="020B0609020204030204" pitchFamily="49" charset="0"/>
              </a:rPr>
              <a:t> </a:t>
            </a:r>
            <a:r>
              <a:rPr lang="en-US" sz="1500" dirty="0">
                <a:latin typeface="Consolas" panose="020B0609020204030204" pitchFamily="49" charset="0"/>
              </a:rPr>
              <a:t>Vector&lt;</a:t>
            </a:r>
            <a:r>
              <a:rPr lang="en-US" sz="1500" b="1" dirty="0">
                <a:latin typeface="Consolas" panose="020B0609020204030204" pitchFamily="49" charset="0"/>
              </a:rPr>
              <a:t>char*</a:t>
            </a:r>
            <a:r>
              <a:rPr lang="en-US" sz="1500" dirty="0">
                <a:latin typeface="Consolas" panose="020B0609020204030204" pitchFamily="49" charset="0"/>
              </a:rPr>
              <a:t>&gt;&amp; right) {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if ( this == &amp;right )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    </a:t>
            </a:r>
            <a:r>
              <a:rPr lang="en-US" sz="1500" b="1" dirty="0">
                <a:latin typeface="Consolas" panose="020B0609020204030204" pitchFamily="49" charset="0"/>
              </a:rPr>
              <a:t>return</a:t>
            </a:r>
            <a:r>
              <a:rPr lang="en-US" sz="1500" dirty="0">
                <a:latin typeface="Consolas" panose="020B0609020204030204" pitchFamily="49" charset="0"/>
              </a:rPr>
              <a:t> *this;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solidFill>
                  <a:srgbClr val="0070C0"/>
                </a:solidFill>
                <a:latin typeface="Consolas" panose="020B0609020204030204" pitchFamily="49" charset="0"/>
              </a:rPr>
              <a:t>    for (</a:t>
            </a:r>
            <a:r>
              <a:rPr lang="en-US" sz="15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0070C0"/>
                </a:solidFill>
                <a:latin typeface="Consolas" panose="020B0609020204030204" pitchFamily="49" charset="0"/>
              </a:rPr>
              <a:t> = 0; </a:t>
            </a:r>
            <a:r>
              <a:rPr lang="en-US" sz="1500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0070C0"/>
                </a:solidFill>
                <a:latin typeface="Consolas" panose="020B0609020204030204" pitchFamily="49" charset="0"/>
              </a:rPr>
              <a:t> &lt; size; </a:t>
            </a:r>
            <a:r>
              <a:rPr lang="en-US" sz="1500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0070C0"/>
                </a:solidFill>
                <a:latin typeface="Consolas" panose="020B0609020204030204" pitchFamily="49" charset="0"/>
              </a:rPr>
              <a:t>++)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solidFill>
                  <a:srgbClr val="0070C0"/>
                </a:solidFill>
                <a:latin typeface="Consolas" panose="020B0609020204030204" pitchFamily="49" charset="0"/>
              </a:rPr>
              <a:t>        </a:t>
            </a:r>
            <a:r>
              <a:rPr lang="en-US" sz="1500" b="1" dirty="0">
                <a:solidFill>
                  <a:srgbClr val="0070C0"/>
                </a:solidFill>
                <a:latin typeface="Consolas" panose="020B0609020204030204" pitchFamily="49" charset="0"/>
              </a:rPr>
              <a:t>delete</a:t>
            </a:r>
            <a:r>
              <a:rPr lang="en-US" sz="1500" dirty="0">
                <a:solidFill>
                  <a:srgbClr val="0070C0"/>
                </a:solidFill>
                <a:latin typeface="Consolas" panose="020B0609020204030204" pitchFamily="49" charset="0"/>
              </a:rPr>
              <a:t> [] </a:t>
            </a:r>
            <a:r>
              <a:rPr lang="en-US" sz="1500" dirty="0" err="1">
                <a:solidFill>
                  <a:srgbClr val="0070C0"/>
                </a:solidFill>
                <a:latin typeface="Consolas" panose="020B0609020204030204" pitchFamily="49" charset="0"/>
              </a:rPr>
              <a:t>ptr</a:t>
            </a:r>
            <a:r>
              <a:rPr lang="en-US" sz="15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0070C0"/>
                </a:solidFill>
                <a:latin typeface="Consolas" panose="020B0609020204030204" pitchFamily="49" charset="0"/>
              </a:rPr>
              <a:t>];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b="1" dirty="0">
                <a:latin typeface="Consolas" panose="020B0609020204030204" pitchFamily="49" charset="0"/>
              </a:rPr>
              <a:t>delete</a:t>
            </a:r>
            <a:r>
              <a:rPr lang="en-US" sz="1500" dirty="0">
                <a:latin typeface="Consolas" panose="020B0609020204030204" pitchFamily="49" charset="0"/>
              </a:rPr>
              <a:t> [] </a:t>
            </a:r>
            <a:r>
              <a:rPr lang="en-US" sz="1500" dirty="0" err="1">
                <a:latin typeface="Consolas" panose="020B0609020204030204" pitchFamily="49" charset="0"/>
              </a:rPr>
              <a:t>ptr</a:t>
            </a:r>
            <a:r>
              <a:rPr lang="en-US" sz="150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size = </a:t>
            </a:r>
            <a:r>
              <a:rPr lang="en-US" sz="1500" dirty="0" err="1">
                <a:latin typeface="Consolas" panose="020B0609020204030204" pitchFamily="49" charset="0"/>
              </a:rPr>
              <a:t>right.size</a:t>
            </a:r>
            <a:r>
              <a:rPr lang="en-US" sz="1500" dirty="0">
                <a:latin typeface="Consolas" panose="020B0609020204030204" pitchFamily="49" charset="0"/>
              </a:rPr>
              <a:t>;	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b="1" dirty="0">
                <a:latin typeface="Consolas" panose="020B0609020204030204" pitchFamily="49" charset="0"/>
              </a:rPr>
              <a:t>if</a:t>
            </a:r>
            <a:r>
              <a:rPr lang="en-US" sz="1500" dirty="0">
                <a:latin typeface="Consolas" panose="020B0609020204030204" pitchFamily="49" charset="0"/>
              </a:rPr>
              <a:t> ( size == 0 ) {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latin typeface="Consolas" panose="020B0609020204030204" pitchFamily="49" charset="0"/>
              </a:rPr>
              <a:t>ptr</a:t>
            </a:r>
            <a:r>
              <a:rPr lang="en-US" sz="1500" dirty="0">
                <a:latin typeface="Consolas" panose="020B0609020204030204" pitchFamily="49" charset="0"/>
              </a:rPr>
              <a:t> = 0;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    </a:t>
            </a:r>
            <a:r>
              <a:rPr lang="en-US" sz="1500" b="1" dirty="0">
                <a:latin typeface="Consolas" panose="020B0609020204030204" pitchFamily="49" charset="0"/>
              </a:rPr>
              <a:t>return</a:t>
            </a:r>
            <a:r>
              <a:rPr lang="en-US" sz="1500" dirty="0">
                <a:latin typeface="Consolas" panose="020B0609020204030204" pitchFamily="49" charset="0"/>
              </a:rPr>
              <a:t> *this;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}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</a:rPr>
              <a:t>ptr</a:t>
            </a:r>
            <a:r>
              <a:rPr lang="en-US" sz="1500" dirty="0">
                <a:latin typeface="Consolas" panose="020B0609020204030204" pitchFamily="49" charset="0"/>
              </a:rPr>
              <a:t> = </a:t>
            </a:r>
            <a:r>
              <a:rPr lang="en-US" sz="1500" b="1" dirty="0">
                <a:latin typeface="Consolas" panose="020B0609020204030204" pitchFamily="49" charset="0"/>
              </a:rPr>
              <a:t>new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b="1" dirty="0">
                <a:latin typeface="Consolas" panose="020B0609020204030204" pitchFamily="49" charset="0"/>
              </a:rPr>
              <a:t>char*</a:t>
            </a:r>
            <a:r>
              <a:rPr lang="en-US" sz="1500" dirty="0">
                <a:latin typeface="Consolas" panose="020B0609020204030204" pitchFamily="49" charset="0"/>
              </a:rPr>
              <a:t>[size];	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b="1" dirty="0">
                <a:latin typeface="Consolas" panose="020B0609020204030204" pitchFamily="49" charset="0"/>
              </a:rPr>
              <a:t>for</a:t>
            </a:r>
            <a:r>
              <a:rPr lang="en-US" sz="1500" dirty="0">
                <a:latin typeface="Consolas" panose="020B0609020204030204" pitchFamily="49" charset="0"/>
              </a:rPr>
              <a:t> (</a:t>
            </a:r>
            <a:r>
              <a:rPr lang="en-US" sz="1500" b="1" dirty="0" err="1">
                <a:latin typeface="Consolas" panose="020B0609020204030204" pitchFamily="49" charset="0"/>
              </a:rPr>
              <a:t>int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i</a:t>
            </a:r>
            <a:r>
              <a:rPr lang="en-US" sz="1500" dirty="0">
                <a:latin typeface="Consolas" panose="020B0609020204030204" pitchFamily="49" charset="0"/>
              </a:rPr>
              <a:t> = 0; </a:t>
            </a:r>
            <a:r>
              <a:rPr lang="en-US" sz="1500" dirty="0" err="1">
                <a:latin typeface="Consolas" panose="020B0609020204030204" pitchFamily="49" charset="0"/>
              </a:rPr>
              <a:t>i</a:t>
            </a:r>
            <a:r>
              <a:rPr lang="en-US" sz="1500" dirty="0">
                <a:latin typeface="Consolas" panose="020B0609020204030204" pitchFamily="49" charset="0"/>
              </a:rPr>
              <a:t> &lt; size; </a:t>
            </a:r>
            <a:r>
              <a:rPr lang="en-US" sz="1500" dirty="0" err="1">
                <a:latin typeface="Consolas" panose="020B0609020204030204" pitchFamily="49" charset="0"/>
              </a:rPr>
              <a:t>i</a:t>
            </a:r>
            <a:r>
              <a:rPr lang="en-US" sz="1500" dirty="0">
                <a:latin typeface="Consolas" panose="020B0609020204030204" pitchFamily="49" charset="0"/>
              </a:rPr>
              <a:t>++)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    </a:t>
            </a:r>
            <a:r>
              <a:rPr lang="en-US" sz="1500" b="1" dirty="0">
                <a:latin typeface="Consolas" panose="020B0609020204030204" pitchFamily="49" charset="0"/>
              </a:rPr>
              <a:t>if</a:t>
            </a:r>
            <a:r>
              <a:rPr lang="en-US" sz="1500" dirty="0">
                <a:latin typeface="Consolas" panose="020B0609020204030204" pitchFamily="49" charset="0"/>
              </a:rPr>
              <a:t> ( </a:t>
            </a:r>
            <a:r>
              <a:rPr lang="en-US" sz="1500" dirty="0" err="1">
                <a:latin typeface="Consolas" panose="020B0609020204030204" pitchFamily="49" charset="0"/>
              </a:rPr>
              <a:t>right.ptr</a:t>
            </a:r>
            <a:r>
              <a:rPr lang="en-US" sz="1500" dirty="0">
                <a:latin typeface="Consolas" panose="020B0609020204030204" pitchFamily="49" charset="0"/>
              </a:rPr>
              <a:t>[</a:t>
            </a:r>
            <a:r>
              <a:rPr lang="en-US" sz="1500" dirty="0" err="1">
                <a:latin typeface="Consolas" panose="020B0609020204030204" pitchFamily="49" charset="0"/>
              </a:rPr>
              <a:t>i</a:t>
            </a:r>
            <a:r>
              <a:rPr lang="en-US" sz="1500" dirty="0">
                <a:latin typeface="Consolas" panose="020B0609020204030204" pitchFamily="49" charset="0"/>
              </a:rPr>
              <a:t>] != 0 )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latin typeface="Consolas" panose="020B0609020204030204" pitchFamily="49" charset="0"/>
              </a:rPr>
              <a:t>ptr</a:t>
            </a:r>
            <a:r>
              <a:rPr lang="en-US" sz="1500" dirty="0">
                <a:latin typeface="Consolas" panose="020B0609020204030204" pitchFamily="49" charset="0"/>
              </a:rPr>
              <a:t>[</a:t>
            </a:r>
            <a:r>
              <a:rPr lang="en-US" sz="1500" dirty="0" err="1">
                <a:latin typeface="Consolas" panose="020B0609020204030204" pitchFamily="49" charset="0"/>
              </a:rPr>
              <a:t>i</a:t>
            </a:r>
            <a:r>
              <a:rPr lang="en-US" sz="1500" dirty="0">
                <a:latin typeface="Consolas" panose="020B0609020204030204" pitchFamily="49" charset="0"/>
              </a:rPr>
              <a:t>] = </a:t>
            </a:r>
            <a:r>
              <a:rPr lang="en-US" sz="1500" b="1" dirty="0">
                <a:latin typeface="Consolas" panose="020B0609020204030204" pitchFamily="49" charset="0"/>
              </a:rPr>
              <a:t>new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b="1" dirty="0">
                <a:latin typeface="Consolas" panose="020B0609020204030204" pitchFamily="49" charset="0"/>
              </a:rPr>
              <a:t>char</a:t>
            </a:r>
            <a:r>
              <a:rPr lang="en-US" sz="1500" dirty="0">
                <a:latin typeface="Consolas" panose="020B0609020204030204" pitchFamily="49" charset="0"/>
              </a:rPr>
              <a:t>[</a:t>
            </a:r>
            <a:r>
              <a:rPr lang="en-US" sz="1500" dirty="0" err="1">
                <a:latin typeface="Consolas" panose="020B0609020204030204" pitchFamily="49" charset="0"/>
              </a:rPr>
              <a:t>strlen</a:t>
            </a:r>
            <a:r>
              <a:rPr lang="en-US" sz="1500" dirty="0">
                <a:latin typeface="Consolas" panose="020B0609020204030204" pitchFamily="49" charset="0"/>
              </a:rPr>
              <a:t>( </a:t>
            </a:r>
            <a:r>
              <a:rPr lang="en-US" sz="1500" dirty="0" err="1">
                <a:latin typeface="Consolas" panose="020B0609020204030204" pitchFamily="49" charset="0"/>
              </a:rPr>
              <a:t>right.ptr</a:t>
            </a:r>
            <a:r>
              <a:rPr lang="en-US" sz="1500" dirty="0">
                <a:latin typeface="Consolas" panose="020B0609020204030204" pitchFamily="49" charset="0"/>
              </a:rPr>
              <a:t>[</a:t>
            </a:r>
            <a:r>
              <a:rPr lang="en-US" sz="1500" dirty="0" err="1">
                <a:latin typeface="Consolas" panose="020B0609020204030204" pitchFamily="49" charset="0"/>
              </a:rPr>
              <a:t>i</a:t>
            </a:r>
            <a:r>
              <a:rPr lang="en-US" sz="1500" dirty="0">
                <a:latin typeface="Consolas" panose="020B0609020204030204" pitchFamily="49" charset="0"/>
              </a:rPr>
              <a:t>] ) + 1];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		   </a:t>
            </a:r>
            <a:r>
              <a:rPr lang="en-US" sz="1500" dirty="0" err="1">
                <a:latin typeface="Consolas" panose="020B0609020204030204" pitchFamily="49" charset="0"/>
              </a:rPr>
              <a:t>strcpy</a:t>
            </a:r>
            <a:r>
              <a:rPr lang="en-US" sz="1500" dirty="0">
                <a:latin typeface="Consolas" panose="020B0609020204030204" pitchFamily="49" charset="0"/>
              </a:rPr>
              <a:t>( </a:t>
            </a:r>
            <a:r>
              <a:rPr lang="en-US" sz="1500" dirty="0" err="1">
                <a:latin typeface="Consolas" panose="020B0609020204030204" pitchFamily="49" charset="0"/>
              </a:rPr>
              <a:t>ptr</a:t>
            </a:r>
            <a:r>
              <a:rPr lang="en-US" sz="1500" dirty="0">
                <a:latin typeface="Consolas" panose="020B0609020204030204" pitchFamily="49" charset="0"/>
              </a:rPr>
              <a:t>[</a:t>
            </a:r>
            <a:r>
              <a:rPr lang="en-US" sz="1500" dirty="0" err="1">
                <a:latin typeface="Consolas" panose="020B0609020204030204" pitchFamily="49" charset="0"/>
              </a:rPr>
              <a:t>i</a:t>
            </a:r>
            <a:r>
              <a:rPr lang="en-US" sz="1500" dirty="0">
                <a:latin typeface="Consolas" panose="020B0609020204030204" pitchFamily="49" charset="0"/>
              </a:rPr>
              <a:t>], </a:t>
            </a:r>
            <a:r>
              <a:rPr lang="en-US" sz="1500" dirty="0" err="1">
                <a:latin typeface="Consolas" panose="020B0609020204030204" pitchFamily="49" charset="0"/>
              </a:rPr>
              <a:t>right.ptr</a:t>
            </a:r>
            <a:r>
              <a:rPr lang="en-US" sz="1500" dirty="0">
                <a:latin typeface="Consolas" panose="020B0609020204030204" pitchFamily="49" charset="0"/>
              </a:rPr>
              <a:t>[</a:t>
            </a:r>
            <a:r>
              <a:rPr lang="en-US" sz="1500" dirty="0" err="1">
                <a:latin typeface="Consolas" panose="020B0609020204030204" pitchFamily="49" charset="0"/>
              </a:rPr>
              <a:t>i</a:t>
            </a:r>
            <a:r>
              <a:rPr lang="en-US" sz="1500" dirty="0">
                <a:latin typeface="Consolas" panose="020B0609020204030204" pitchFamily="49" charset="0"/>
              </a:rPr>
              <a:t>]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    }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        </a:t>
            </a:r>
            <a:r>
              <a:rPr lang="en-US" sz="1500" b="1" dirty="0">
                <a:latin typeface="Consolas" panose="020B0609020204030204" pitchFamily="49" charset="0"/>
              </a:rPr>
              <a:t>else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ptr</a:t>
            </a:r>
            <a:r>
              <a:rPr lang="en-US" sz="1500" dirty="0">
                <a:latin typeface="Consolas" panose="020B0609020204030204" pitchFamily="49" charset="0"/>
              </a:rPr>
              <a:t>[</a:t>
            </a:r>
            <a:r>
              <a:rPr lang="en-US" sz="1500" dirty="0" err="1">
                <a:latin typeface="Consolas" panose="020B0609020204030204" pitchFamily="49" charset="0"/>
              </a:rPr>
              <a:t>i</a:t>
            </a:r>
            <a:r>
              <a:rPr lang="en-US" sz="1500" dirty="0">
                <a:latin typeface="Consolas" panose="020B0609020204030204" pitchFamily="49" charset="0"/>
              </a:rPr>
              <a:t>] = 0;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500" dirty="0">
                <a:latin typeface="Consolas" panose="020B0609020204030204" pitchFamily="49" charset="0"/>
              </a:rPr>
              <a:t>}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US" sz="1500" dirty="0">
              <a:latin typeface="Consolas" panose="020B0609020204030204" pitchFamily="49" charset="0"/>
            </a:endParaRPr>
          </a:p>
          <a:p>
            <a:endParaRPr lang="en-US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96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Specialization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6" name="Content Placeholder 16"/>
          <p:cNvSpPr>
            <a:spLocks noGrp="1"/>
          </p:cNvSpPr>
          <p:nvPr>
            <p:ph idx="1"/>
          </p:nvPr>
        </p:nvSpPr>
        <p:spPr>
          <a:xfrm>
            <a:off x="863749" y="2060848"/>
            <a:ext cx="7416502" cy="2664296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</a:rPr>
              <a:t>char*</a:t>
            </a:r>
            <a:r>
              <a:rPr lang="en-US" sz="1800" dirty="0">
                <a:latin typeface="Consolas" panose="020B0609020204030204" pitchFamily="49" charset="0"/>
              </a:rPr>
              <a:t>&amp; Vector&lt;</a:t>
            </a:r>
            <a:r>
              <a:rPr lang="en-US" sz="1800" b="1" dirty="0">
                <a:latin typeface="Consolas" panose="020B0609020204030204" pitchFamily="49" charset="0"/>
              </a:rPr>
              <a:t>char*</a:t>
            </a:r>
            <a:r>
              <a:rPr lang="en-US" sz="1800" dirty="0">
                <a:latin typeface="Consolas" panose="020B0609020204030204" pitchFamily="49" charset="0"/>
              </a:rPr>
              <a:t>&gt;::operator [](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index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 index &lt; 0 || index &gt;= size 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b="1" dirty="0" err="1">
                <a:latin typeface="Consolas" panose="020B0609020204030204" pitchFamily="49" charset="0"/>
              </a:rPr>
              <a:t>cout</a:t>
            </a:r>
            <a:r>
              <a:rPr lang="en-US" sz="1800" dirty="0">
                <a:latin typeface="Consolas" panose="020B0609020204030204" pitchFamily="49" charset="0"/>
              </a:rPr>
              <a:t> &lt;&lt; "Error: index out of range\n";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latin typeface="Consolas" panose="020B0609020204030204" pitchFamily="49" charset="0"/>
              </a:rPr>
              <a:t>exit</a:t>
            </a:r>
            <a:r>
              <a:rPr lang="en-US" sz="1800" dirty="0">
                <a:latin typeface="Consolas" panose="020B0609020204030204" pitchFamily="49" charset="0"/>
              </a:rPr>
              <a:t>( 1 );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}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[index];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745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6" name="Content Placeholder 17"/>
          <p:cNvSpPr>
            <a:spLocks noGrp="1"/>
          </p:cNvSpPr>
          <p:nvPr>
            <p:ph idx="1"/>
          </p:nvPr>
        </p:nvSpPr>
        <p:spPr>
          <a:xfrm>
            <a:off x="791741" y="1916832"/>
            <a:ext cx="7560518" cy="3096344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&lt;&gt;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latin typeface="Consolas" panose="020B0609020204030204" pitchFamily="49" charset="0"/>
              </a:rPr>
              <a:t>void</a:t>
            </a:r>
            <a:r>
              <a:rPr lang="en-US" sz="1800" dirty="0">
                <a:latin typeface="Consolas" panose="020B0609020204030204" pitchFamily="49" charset="0"/>
              </a:rPr>
              <a:t> Vector&lt; </a:t>
            </a:r>
            <a:r>
              <a:rPr lang="en-US" sz="1800" b="1" dirty="0">
                <a:latin typeface="Consolas" panose="020B0609020204030204" pitchFamily="49" charset="0"/>
              </a:rPr>
              <a:t>char*</a:t>
            </a:r>
            <a:r>
              <a:rPr lang="en-US" sz="1800" dirty="0">
                <a:latin typeface="Consolas" panose="020B0609020204030204" pitchFamily="49" charset="0"/>
              </a:rPr>
              <a:t> &gt;::insert(	</a:t>
            </a:r>
            <a:r>
              <a:rPr lang="en-US" sz="1800" b="1" dirty="0">
                <a:latin typeface="Consolas" panose="020B0609020204030204" pitchFamily="49" charset="0"/>
              </a:rPr>
              <a:t>char* </a:t>
            </a:r>
            <a:r>
              <a:rPr lang="en-US" sz="1800" dirty="0" err="1">
                <a:latin typeface="Consolas" panose="020B0609020204030204" pitchFamily="49" charset="0"/>
              </a:rPr>
              <a:t>str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 ) {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delete</a:t>
            </a:r>
            <a:r>
              <a:rPr lang="en-US" sz="1800" dirty="0">
                <a:latin typeface="Consolas" panose="020B0609020204030204" pitchFamily="49" charset="0"/>
              </a:rPr>
              <a:t> []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[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];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 </a:t>
            </a:r>
            <a:r>
              <a:rPr lang="en-US" sz="1800" dirty="0" err="1">
                <a:latin typeface="Consolas" panose="020B0609020204030204" pitchFamily="49" charset="0"/>
              </a:rPr>
              <a:t>str</a:t>
            </a:r>
            <a:r>
              <a:rPr lang="en-US" sz="1800" dirty="0">
                <a:latin typeface="Consolas" panose="020B0609020204030204" pitchFamily="49" charset="0"/>
              </a:rPr>
              <a:t> != 0 ) {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[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] = </a:t>
            </a:r>
            <a:r>
              <a:rPr lang="en-US" sz="1800" b="1" dirty="0">
                <a:latin typeface="Consolas" panose="020B0609020204030204" pitchFamily="49" charset="0"/>
              </a:rPr>
              <a:t>new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</a:rPr>
              <a:t>char</a:t>
            </a:r>
            <a:r>
              <a:rPr lang="en-US" sz="1800" dirty="0">
                <a:latin typeface="Consolas" panose="020B0609020204030204" pitchFamily="49" charset="0"/>
              </a:rPr>
              <a:t>[</a:t>
            </a:r>
            <a:r>
              <a:rPr lang="en-US" sz="1800" dirty="0" err="1">
                <a:latin typeface="Consolas" panose="020B0609020204030204" pitchFamily="49" charset="0"/>
              </a:rPr>
              <a:t>strlen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str</a:t>
            </a:r>
            <a:r>
              <a:rPr lang="en-US" sz="1800" dirty="0">
                <a:latin typeface="Consolas" panose="020B0609020204030204" pitchFamily="49" charset="0"/>
              </a:rPr>
              <a:t>)+ 1];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strcpy</a:t>
            </a:r>
            <a:r>
              <a:rPr lang="en-US" sz="1800" dirty="0">
                <a:latin typeface="Consolas" panose="020B0609020204030204" pitchFamily="49" charset="0"/>
              </a:rPr>
              <a:t>(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[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], </a:t>
            </a:r>
            <a:r>
              <a:rPr lang="en-US" sz="1800" dirty="0" err="1">
                <a:latin typeface="Consolas" panose="020B0609020204030204" pitchFamily="49" charset="0"/>
              </a:rPr>
              <a:t>str</a:t>
            </a:r>
            <a:r>
              <a:rPr lang="en-US" sz="1800" dirty="0">
                <a:latin typeface="Consolas" panose="020B0609020204030204" pitchFamily="49" charset="0"/>
              </a:rPr>
              <a:t> );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}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else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[</a:t>
            </a:r>
            <a:r>
              <a:rPr lang="en-US" sz="1800" dirty="0" err="1">
                <a:latin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</a:rPr>
              <a:t>] = 0;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Specialization</a:t>
            </a:r>
          </a:p>
        </p:txBody>
      </p:sp>
    </p:spTree>
    <p:extLst>
      <p:ext uri="{BB962C8B-B14F-4D97-AF65-F5344CB8AC3E}">
        <p14:creationId xmlns:p14="http://schemas.microsoft.com/office/powerpoint/2010/main" val="2404655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 Specialization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869" y="1700808"/>
            <a:ext cx="5256262" cy="3672408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b="1" dirty="0" err="1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main()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Vector&lt; </a:t>
            </a:r>
            <a:r>
              <a:rPr lang="en-US" sz="2000" b="1" dirty="0">
                <a:latin typeface="Consolas" panose="020B0609020204030204" pitchFamily="49" charset="0"/>
              </a:rPr>
              <a:t>char*</a:t>
            </a:r>
            <a:r>
              <a:rPr lang="en-US" sz="2000" dirty="0">
                <a:latin typeface="Consolas" panose="020B0609020204030204" pitchFamily="49" charset="0"/>
              </a:rPr>
              <a:t> &gt; sv1( 2 );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solidFill>
                  <a:srgbClr val="FFFF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sv1[0] = “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Aamir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”;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// Error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sv1.insert( "</a:t>
            </a:r>
            <a:r>
              <a:rPr lang="en-US" sz="2000" dirty="0" err="1">
                <a:latin typeface="Consolas" panose="020B0609020204030204" pitchFamily="49" charset="0"/>
              </a:rPr>
              <a:t>Aamir</a:t>
            </a:r>
            <a:r>
              <a:rPr lang="en-US" sz="2000" dirty="0">
                <a:latin typeface="Consolas" panose="020B0609020204030204" pitchFamily="49" charset="0"/>
              </a:rPr>
              <a:t>", 0 );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sv1.insert( "Nasir", 1 );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Vector&lt; </a:t>
            </a:r>
            <a:r>
              <a:rPr lang="en-US" sz="2000" b="1" dirty="0">
                <a:latin typeface="Consolas" panose="020B0609020204030204" pitchFamily="49" charset="0"/>
              </a:rPr>
              <a:t>char*</a:t>
            </a:r>
            <a:r>
              <a:rPr lang="en-US" sz="2000" dirty="0">
                <a:latin typeface="Consolas" panose="020B0609020204030204" pitchFamily="49" charset="0"/>
              </a:rPr>
              <a:t> &gt; sv2( sv1 );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Vector&lt; </a:t>
            </a:r>
            <a:r>
              <a:rPr lang="en-US" sz="2000" b="1" dirty="0">
                <a:latin typeface="Consolas" panose="020B0609020204030204" pitchFamily="49" charset="0"/>
              </a:rPr>
              <a:t>char* </a:t>
            </a:r>
            <a:r>
              <a:rPr lang="en-US" sz="2000" dirty="0">
                <a:latin typeface="Consolas" panose="020B0609020204030204" pitchFamily="49" charset="0"/>
              </a:rPr>
              <a:t>&gt; sv3( 2 );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sv3 = sv1;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b="1" dirty="0">
                <a:latin typeface="Consolas" panose="020B0609020204030204" pitchFamily="49" charset="0"/>
              </a:rPr>
              <a:t>return</a:t>
            </a:r>
            <a:r>
              <a:rPr lang="en-US" sz="2000" dirty="0">
                <a:latin typeface="Consolas" panose="020B0609020204030204" pitchFamily="49" charset="0"/>
              </a:rPr>
              <a:t> 0;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897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or class template can have member functions that are themselves templates.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6" name="Content Placeholder 18"/>
          <p:cNvSpPr txBox="1">
            <a:spLocks/>
          </p:cNvSpPr>
          <p:nvPr/>
        </p:nvSpPr>
        <p:spPr bwMode="auto">
          <a:xfrm>
            <a:off x="317513" y="2708920"/>
            <a:ext cx="8496300" cy="30963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kern="0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kern="0" dirty="0">
                <a:latin typeface="Consolas" panose="020B0609020204030204" pitchFamily="49" charset="0"/>
              </a:rPr>
              <a:t> &lt;</a:t>
            </a:r>
            <a:r>
              <a:rPr lang="en-US" sz="1800" b="1" kern="0" dirty="0" err="1">
                <a:solidFill>
                  <a:srgbClr val="0070C0"/>
                </a:solidFill>
                <a:latin typeface="Consolas" panose="020B0609020204030204" pitchFamily="49" charset="0"/>
              </a:rPr>
              <a:t>typename</a:t>
            </a:r>
            <a:r>
              <a:rPr lang="en-US" sz="1800" kern="0" dirty="0">
                <a:latin typeface="Consolas" panose="020B0609020204030204" pitchFamily="49" charset="0"/>
              </a:rPr>
              <a:t> T&gt; 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class Complex {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T real, </a:t>
            </a:r>
            <a:r>
              <a:rPr lang="en-US" sz="1800" kern="0" dirty="0" err="1">
                <a:latin typeface="Consolas" panose="020B0609020204030204" pitchFamily="49" charset="0"/>
              </a:rPr>
              <a:t>imag</a:t>
            </a:r>
            <a:r>
              <a:rPr lang="en-US" sz="1800" kern="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public: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solidFill>
                  <a:srgbClr val="FFFF00"/>
                </a:solidFill>
                <a:latin typeface="Consolas" panose="020B0609020204030204" pitchFamily="49" charset="0"/>
              </a:rPr>
              <a:t>    </a:t>
            </a:r>
            <a:r>
              <a:rPr lang="en-US" sz="1800" kern="0" dirty="0">
                <a:solidFill>
                  <a:srgbClr val="00B050"/>
                </a:solidFill>
                <a:latin typeface="Consolas" panose="020B0609020204030204" pitchFamily="49" charset="0"/>
              </a:rPr>
              <a:t>// Complex&lt;T&gt;( T r, T </a:t>
            </a:r>
            <a:r>
              <a:rPr lang="en-US" sz="1800" kern="0" dirty="0" err="1">
                <a:solidFill>
                  <a:srgbClr val="00B050"/>
                </a:solidFill>
                <a:latin typeface="Consolas" panose="020B0609020204030204" pitchFamily="49" charset="0"/>
              </a:rPr>
              <a:t>im</a:t>
            </a:r>
            <a:r>
              <a:rPr lang="en-US" sz="1800" kern="0" dirty="0">
                <a:solidFill>
                  <a:srgbClr val="00B050"/>
                </a:solidFill>
                <a:latin typeface="Consolas" panose="020B0609020204030204" pitchFamily="49" charset="0"/>
              </a:rPr>
              <a:t> )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Complex( T r, T </a:t>
            </a:r>
            <a:r>
              <a:rPr lang="en-US" sz="1800" kern="0" dirty="0" err="1">
                <a:latin typeface="Consolas" panose="020B0609020204030204" pitchFamily="49" charset="0"/>
              </a:rPr>
              <a:t>im</a:t>
            </a:r>
            <a:r>
              <a:rPr lang="en-US" sz="1800" kern="0" dirty="0">
                <a:latin typeface="Consolas" panose="020B0609020204030204" pitchFamily="49" charset="0"/>
              </a:rPr>
              <a:t> ) : real(r), </a:t>
            </a:r>
            <a:r>
              <a:rPr lang="en-US" sz="1800" kern="0" dirty="0" err="1">
                <a:latin typeface="Consolas" panose="020B0609020204030204" pitchFamily="49" charset="0"/>
              </a:rPr>
              <a:t>imag</a:t>
            </a:r>
            <a:r>
              <a:rPr lang="en-US" sz="1800" kern="0" dirty="0">
                <a:latin typeface="Consolas" panose="020B0609020204030204" pitchFamily="49" charset="0"/>
              </a:rPr>
              <a:t>(</a:t>
            </a:r>
            <a:r>
              <a:rPr lang="en-US" sz="1800" kern="0" dirty="0" err="1">
                <a:latin typeface="Consolas" panose="020B0609020204030204" pitchFamily="49" charset="0"/>
              </a:rPr>
              <a:t>im</a:t>
            </a:r>
            <a:r>
              <a:rPr lang="en-US" sz="1800" kern="0" dirty="0">
                <a:latin typeface="Consolas" panose="020B0609020204030204" pitchFamily="49" charset="0"/>
              </a:rPr>
              <a:t>) {}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solidFill>
                  <a:srgbClr val="FFFF00"/>
                </a:solidFill>
                <a:latin typeface="Consolas" panose="020B0609020204030204" pitchFamily="49" charset="0"/>
              </a:rPr>
              <a:t>    </a:t>
            </a:r>
            <a:r>
              <a:rPr lang="en-US" sz="1800" kern="0" dirty="0">
                <a:solidFill>
                  <a:srgbClr val="00B050"/>
                </a:solidFill>
                <a:latin typeface="Consolas" panose="020B0609020204030204" pitchFamily="49" charset="0"/>
              </a:rPr>
              <a:t>// Complex&lt;T&gt;(</a:t>
            </a:r>
            <a:r>
              <a:rPr lang="en-US" sz="1800" kern="0" dirty="0" err="1">
                <a:solidFill>
                  <a:srgbClr val="00B050"/>
                </a:solidFill>
                <a:latin typeface="Consolas" panose="020B0609020204030204" pitchFamily="49" charset="0"/>
              </a:rPr>
              <a:t>const</a:t>
            </a:r>
            <a:r>
              <a:rPr lang="en-US" sz="1800" kern="0" dirty="0">
                <a:solidFill>
                  <a:srgbClr val="00B050"/>
                </a:solidFill>
                <a:latin typeface="Consolas" panose="020B0609020204030204" pitchFamily="49" charset="0"/>
              </a:rPr>
              <a:t> Complex&lt;T&gt;&amp; c) 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n-US" sz="1800" kern="0" dirty="0">
                <a:latin typeface="Consolas" panose="020B0609020204030204" pitchFamily="49" charset="0"/>
              </a:rPr>
              <a:t>Complex(</a:t>
            </a:r>
            <a:r>
              <a:rPr lang="en-US" sz="1800" kern="0" dirty="0" err="1">
                <a:latin typeface="Consolas" panose="020B0609020204030204" pitchFamily="49" charset="0"/>
              </a:rPr>
              <a:t>const</a:t>
            </a:r>
            <a:r>
              <a:rPr lang="en-US" sz="1800" kern="0" dirty="0">
                <a:latin typeface="Consolas" panose="020B0609020204030204" pitchFamily="49" charset="0"/>
              </a:rPr>
              <a:t> Complex&lt;T&gt;&amp; c): real(</a:t>
            </a:r>
            <a:r>
              <a:rPr lang="en-US" sz="1800" kern="0" dirty="0" err="1">
                <a:latin typeface="Consolas" panose="020B0609020204030204" pitchFamily="49" charset="0"/>
              </a:rPr>
              <a:t>c.real</a:t>
            </a:r>
            <a:r>
              <a:rPr lang="en-US" sz="1800" kern="0" dirty="0">
                <a:latin typeface="Consolas" panose="020B0609020204030204" pitchFamily="49" charset="0"/>
              </a:rPr>
              <a:t>), </a:t>
            </a:r>
            <a:r>
              <a:rPr lang="en-US" sz="1800" kern="0" dirty="0" err="1">
                <a:latin typeface="Consolas" panose="020B0609020204030204" pitchFamily="49" charset="0"/>
              </a:rPr>
              <a:t>imag</a:t>
            </a:r>
            <a:r>
              <a:rPr lang="en-US" sz="1800" kern="0" dirty="0">
                <a:latin typeface="Consolas" panose="020B0609020204030204" pitchFamily="49" charset="0"/>
              </a:rPr>
              <a:t>(</a:t>
            </a:r>
            <a:r>
              <a:rPr lang="en-US" sz="1800" kern="0" dirty="0" err="1">
                <a:latin typeface="Consolas" panose="020B0609020204030204" pitchFamily="49" charset="0"/>
              </a:rPr>
              <a:t>c.imag</a:t>
            </a:r>
            <a:r>
              <a:rPr lang="en-US" sz="1800" kern="0" dirty="0">
                <a:latin typeface="Consolas" panose="020B0609020204030204" pitchFamily="49" charset="0"/>
              </a:rPr>
              <a:t>) {}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. . .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};</a:t>
            </a:r>
          </a:p>
          <a:p>
            <a:endParaRPr lang="en-US" sz="1800" kern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465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Templates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6" name="Content Placeholder 18"/>
          <p:cNvSpPr txBox="1">
            <a:spLocks/>
          </p:cNvSpPr>
          <p:nvPr/>
        </p:nvSpPr>
        <p:spPr bwMode="auto">
          <a:xfrm>
            <a:off x="323528" y="1196752"/>
            <a:ext cx="8496300" cy="30963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kern="0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kern="0" dirty="0">
                <a:latin typeface="Consolas" panose="020B0609020204030204" pitchFamily="49" charset="0"/>
              </a:rPr>
              <a:t> &lt;</a:t>
            </a:r>
            <a:r>
              <a:rPr lang="en-US" sz="1800" b="1" kern="0" dirty="0" err="1">
                <a:solidFill>
                  <a:srgbClr val="0070C0"/>
                </a:solidFill>
                <a:latin typeface="Consolas" panose="020B0609020204030204" pitchFamily="49" charset="0"/>
              </a:rPr>
              <a:t>typename</a:t>
            </a:r>
            <a:r>
              <a:rPr lang="en-US" sz="1800" kern="0" dirty="0">
                <a:latin typeface="Consolas" panose="020B0609020204030204" pitchFamily="49" charset="0"/>
              </a:rPr>
              <a:t> T&gt; 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class Complex {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T real, </a:t>
            </a:r>
            <a:r>
              <a:rPr lang="en-US" sz="1800" kern="0" dirty="0" err="1">
                <a:latin typeface="Consolas" panose="020B0609020204030204" pitchFamily="49" charset="0"/>
              </a:rPr>
              <a:t>imag</a:t>
            </a:r>
            <a:r>
              <a:rPr lang="en-US" sz="1800" kern="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public: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solidFill>
                  <a:srgbClr val="FFFF00"/>
                </a:solidFill>
                <a:latin typeface="Consolas" panose="020B0609020204030204" pitchFamily="49" charset="0"/>
              </a:rPr>
              <a:t>    </a:t>
            </a:r>
            <a:r>
              <a:rPr lang="en-US" sz="1800" kern="0" dirty="0">
                <a:solidFill>
                  <a:srgbClr val="00B050"/>
                </a:solidFill>
                <a:latin typeface="Consolas" panose="020B0609020204030204" pitchFamily="49" charset="0"/>
              </a:rPr>
              <a:t>// Complex&lt;T&gt;( T r, T </a:t>
            </a:r>
            <a:r>
              <a:rPr lang="en-US" sz="1800" kern="0" dirty="0" err="1">
                <a:solidFill>
                  <a:srgbClr val="00B050"/>
                </a:solidFill>
                <a:latin typeface="Consolas" panose="020B0609020204030204" pitchFamily="49" charset="0"/>
              </a:rPr>
              <a:t>im</a:t>
            </a:r>
            <a:r>
              <a:rPr lang="en-US" sz="1800" kern="0" dirty="0">
                <a:solidFill>
                  <a:srgbClr val="00B050"/>
                </a:solidFill>
                <a:latin typeface="Consolas" panose="020B0609020204030204" pitchFamily="49" charset="0"/>
              </a:rPr>
              <a:t> )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Complex( T r, T </a:t>
            </a:r>
            <a:r>
              <a:rPr lang="en-US" sz="1800" kern="0" dirty="0" err="1">
                <a:latin typeface="Consolas" panose="020B0609020204030204" pitchFamily="49" charset="0"/>
              </a:rPr>
              <a:t>im</a:t>
            </a:r>
            <a:r>
              <a:rPr lang="en-US" sz="1800" kern="0" dirty="0">
                <a:latin typeface="Consolas" panose="020B0609020204030204" pitchFamily="49" charset="0"/>
              </a:rPr>
              <a:t> ) : real(r), </a:t>
            </a:r>
            <a:r>
              <a:rPr lang="en-US" sz="1800" kern="0" dirty="0" err="1">
                <a:latin typeface="Consolas" panose="020B0609020204030204" pitchFamily="49" charset="0"/>
              </a:rPr>
              <a:t>imag</a:t>
            </a:r>
            <a:r>
              <a:rPr lang="en-US" sz="1800" kern="0" dirty="0">
                <a:latin typeface="Consolas" panose="020B0609020204030204" pitchFamily="49" charset="0"/>
              </a:rPr>
              <a:t>(</a:t>
            </a:r>
            <a:r>
              <a:rPr lang="en-US" sz="1800" kern="0" dirty="0" err="1">
                <a:latin typeface="Consolas" panose="020B0609020204030204" pitchFamily="49" charset="0"/>
              </a:rPr>
              <a:t>im</a:t>
            </a:r>
            <a:r>
              <a:rPr lang="en-US" sz="1800" kern="0" dirty="0">
                <a:latin typeface="Consolas" panose="020B0609020204030204" pitchFamily="49" charset="0"/>
              </a:rPr>
              <a:t>) {}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solidFill>
                  <a:srgbClr val="FFFF00"/>
                </a:solidFill>
                <a:latin typeface="Consolas" panose="020B0609020204030204" pitchFamily="49" charset="0"/>
              </a:rPr>
              <a:t>    </a:t>
            </a:r>
            <a:r>
              <a:rPr lang="en-US" sz="1800" kern="0" dirty="0">
                <a:solidFill>
                  <a:srgbClr val="00B050"/>
                </a:solidFill>
                <a:latin typeface="Consolas" panose="020B0609020204030204" pitchFamily="49" charset="0"/>
              </a:rPr>
              <a:t>// Complex&lt;T&gt;(</a:t>
            </a:r>
            <a:r>
              <a:rPr lang="en-US" sz="1800" kern="0" dirty="0" err="1">
                <a:solidFill>
                  <a:srgbClr val="00B050"/>
                </a:solidFill>
                <a:latin typeface="Consolas" panose="020B0609020204030204" pitchFamily="49" charset="0"/>
              </a:rPr>
              <a:t>const</a:t>
            </a:r>
            <a:r>
              <a:rPr lang="en-US" sz="1800" kern="0" dirty="0">
                <a:solidFill>
                  <a:srgbClr val="00B050"/>
                </a:solidFill>
                <a:latin typeface="Consolas" panose="020B0609020204030204" pitchFamily="49" charset="0"/>
              </a:rPr>
              <a:t> Complex&lt;T&gt;&amp; c) 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n-US" sz="1800" kern="0" dirty="0">
                <a:latin typeface="Consolas" panose="020B0609020204030204" pitchFamily="49" charset="0"/>
              </a:rPr>
              <a:t>Complex(</a:t>
            </a:r>
            <a:r>
              <a:rPr lang="en-US" sz="1800" kern="0" dirty="0" err="1">
                <a:latin typeface="Consolas" panose="020B0609020204030204" pitchFamily="49" charset="0"/>
              </a:rPr>
              <a:t>const</a:t>
            </a:r>
            <a:r>
              <a:rPr lang="en-US" sz="1800" kern="0" dirty="0">
                <a:latin typeface="Consolas" panose="020B0609020204030204" pitchFamily="49" charset="0"/>
              </a:rPr>
              <a:t> Complex&lt;T&gt;&amp; c): real(</a:t>
            </a:r>
            <a:r>
              <a:rPr lang="en-US" sz="1800" kern="0" dirty="0" err="1">
                <a:latin typeface="Consolas" panose="020B0609020204030204" pitchFamily="49" charset="0"/>
              </a:rPr>
              <a:t>c.real</a:t>
            </a:r>
            <a:r>
              <a:rPr lang="en-US" sz="1800" kern="0" dirty="0">
                <a:latin typeface="Consolas" panose="020B0609020204030204" pitchFamily="49" charset="0"/>
              </a:rPr>
              <a:t>), </a:t>
            </a:r>
            <a:r>
              <a:rPr lang="en-US" sz="1800" kern="0" dirty="0" err="1">
                <a:latin typeface="Consolas" panose="020B0609020204030204" pitchFamily="49" charset="0"/>
              </a:rPr>
              <a:t>imag</a:t>
            </a:r>
            <a:r>
              <a:rPr lang="en-US" sz="1800" kern="0" dirty="0">
                <a:latin typeface="Consolas" panose="020B0609020204030204" pitchFamily="49" charset="0"/>
              </a:rPr>
              <a:t>(</a:t>
            </a:r>
            <a:r>
              <a:rPr lang="en-US" sz="1800" kern="0" dirty="0" err="1">
                <a:latin typeface="Consolas" panose="020B0609020204030204" pitchFamily="49" charset="0"/>
              </a:rPr>
              <a:t>c.imag</a:t>
            </a:r>
            <a:r>
              <a:rPr lang="en-US" sz="1800" kern="0" dirty="0">
                <a:latin typeface="Consolas" panose="020B0609020204030204" pitchFamily="49" charset="0"/>
              </a:rPr>
              <a:t>) {}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    . . .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kern="0" dirty="0">
                <a:latin typeface="Consolas" panose="020B0609020204030204" pitchFamily="49" charset="0"/>
              </a:rPr>
              <a:t>};</a:t>
            </a:r>
          </a:p>
          <a:p>
            <a:endParaRPr lang="en-US" sz="1800" kern="0" dirty="0">
              <a:latin typeface="Consolas" panose="020B0609020204030204" pitchFamily="49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23528" y="4437112"/>
            <a:ext cx="8496300" cy="1800200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main() 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Complex&lt; </a:t>
            </a:r>
            <a:r>
              <a:rPr lang="en-US" sz="1800" b="1" dirty="0">
                <a:latin typeface="Consolas" panose="020B0609020204030204" pitchFamily="49" charset="0"/>
              </a:rPr>
              <a:t>float</a:t>
            </a:r>
            <a:r>
              <a:rPr lang="en-US" sz="1800" dirty="0">
                <a:latin typeface="Consolas" panose="020B0609020204030204" pitchFamily="49" charset="0"/>
              </a:rPr>
              <a:t> &gt; fc( 0, 0 );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Complex&lt; </a:t>
            </a:r>
            <a:r>
              <a:rPr lang="en-US" sz="1800" b="1" dirty="0">
                <a:latin typeface="Consolas" panose="020B0609020204030204" pitchFamily="49" charset="0"/>
              </a:rPr>
              <a:t>double</a:t>
            </a:r>
            <a:r>
              <a:rPr lang="en-US" sz="1800" dirty="0">
                <a:latin typeface="Consolas" panose="020B0609020204030204" pitchFamily="49" charset="0"/>
              </a:rPr>
              <a:t> &gt; dc = fc;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Error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0;	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65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Templates – Reason For Error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6" name="Content Placeholder 18"/>
          <p:cNvSpPr txBox="1">
            <a:spLocks/>
          </p:cNvSpPr>
          <p:nvPr/>
        </p:nvSpPr>
        <p:spPr bwMode="auto">
          <a:xfrm>
            <a:off x="323528" y="3708657"/>
            <a:ext cx="8496300" cy="21811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class Complex&lt;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latin typeface="Consolas" panose="020B0609020204030204" pitchFamily="49" charset="0"/>
              </a:rPr>
              <a:t>&gt; {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real, </a:t>
            </a:r>
            <a:r>
              <a:rPr lang="en-US" sz="1800" dirty="0" err="1">
                <a:latin typeface="Consolas" panose="020B0609020204030204" pitchFamily="49" charset="0"/>
              </a:rPr>
              <a:t>imag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public: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Complex(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r,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im</a:t>
            </a:r>
            <a:r>
              <a:rPr lang="en-US" sz="1800" dirty="0">
                <a:latin typeface="Consolas" panose="020B0609020204030204" pitchFamily="49" charset="0"/>
              </a:rPr>
              <a:t> ) : real(r), </a:t>
            </a:r>
            <a:r>
              <a:rPr lang="en-US" sz="1800" dirty="0" err="1">
                <a:latin typeface="Consolas" panose="020B0609020204030204" pitchFamily="49" charset="0"/>
              </a:rPr>
              <a:t>imag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im</a:t>
            </a:r>
            <a:r>
              <a:rPr lang="en-US" sz="1800" dirty="0">
                <a:latin typeface="Consolas" panose="020B0609020204030204" pitchFamily="49" charset="0"/>
              </a:rPr>
              <a:t>) {}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Complex(</a:t>
            </a:r>
            <a:r>
              <a:rPr lang="en-US" sz="1800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Complex&lt;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latin typeface="Consolas" panose="020B0609020204030204" pitchFamily="49" charset="0"/>
              </a:rPr>
              <a:t>&gt;&amp; c):real(</a:t>
            </a:r>
            <a:r>
              <a:rPr lang="en-US" sz="1800" dirty="0" err="1">
                <a:latin typeface="Consolas" panose="020B0609020204030204" pitchFamily="49" charset="0"/>
              </a:rPr>
              <a:t>c.real</a:t>
            </a:r>
            <a:r>
              <a:rPr lang="en-US" sz="1800" dirty="0">
                <a:latin typeface="Consolas" panose="020B0609020204030204" pitchFamily="49" charset="0"/>
              </a:rPr>
              <a:t>),</a:t>
            </a:r>
            <a:r>
              <a:rPr lang="en-US" sz="1800" dirty="0" err="1">
                <a:latin typeface="Consolas" panose="020B0609020204030204" pitchFamily="49" charset="0"/>
              </a:rPr>
              <a:t>imag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c.imag</a:t>
            </a:r>
            <a:r>
              <a:rPr lang="en-US" sz="1800" dirty="0">
                <a:latin typeface="Consolas" panose="020B0609020204030204" pitchFamily="49" charset="0"/>
              </a:rPr>
              <a:t>) {}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. . .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24172" y="1437486"/>
            <a:ext cx="8496300" cy="1800200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main() 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Complex&lt; </a:t>
            </a:r>
            <a:r>
              <a:rPr lang="en-US" sz="1800" b="1" dirty="0">
                <a:latin typeface="Consolas" panose="020B0609020204030204" pitchFamily="49" charset="0"/>
              </a:rPr>
              <a:t>float</a:t>
            </a:r>
            <a:r>
              <a:rPr lang="en-US" sz="1800" dirty="0">
                <a:latin typeface="Consolas" panose="020B0609020204030204" pitchFamily="49" charset="0"/>
              </a:rPr>
              <a:t> &gt; fc( 0, 0 );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Complex&lt; </a:t>
            </a:r>
            <a:r>
              <a:rPr lang="en-US" sz="1800" b="1" dirty="0">
                <a:latin typeface="Consolas" panose="020B0609020204030204" pitchFamily="49" charset="0"/>
              </a:rPr>
              <a:t>double</a:t>
            </a:r>
            <a:r>
              <a:rPr lang="en-US" sz="1800" dirty="0">
                <a:latin typeface="Consolas" panose="020B0609020204030204" pitchFamily="49" charset="0"/>
              </a:rPr>
              <a:t> &gt; dc = fc;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Error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0;	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83052" y="2229574"/>
            <a:ext cx="628188" cy="21602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1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Templates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5-Class Templates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6" name="Content Placeholder 7"/>
          <p:cNvSpPr>
            <a:spLocks noGrp="1"/>
          </p:cNvSpPr>
          <p:nvPr>
            <p:ph idx="1"/>
          </p:nvPr>
        </p:nvSpPr>
        <p:spPr>
          <a:xfrm>
            <a:off x="323528" y="2133182"/>
            <a:ext cx="8496300" cy="3024336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 &lt;</a:t>
            </a:r>
            <a:r>
              <a:rPr lang="en-US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typename</a:t>
            </a:r>
            <a:r>
              <a:rPr lang="en-US" sz="1800" dirty="0">
                <a:latin typeface="Consolas" panose="020B0609020204030204" pitchFamily="49" charset="0"/>
              </a:rPr>
              <a:t> T&gt; 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class Complex {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T real, </a:t>
            </a:r>
            <a:r>
              <a:rPr lang="en-US" sz="1800" dirty="0" err="1">
                <a:latin typeface="Consolas" panose="020B0609020204030204" pitchFamily="49" charset="0"/>
              </a:rPr>
              <a:t>imag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public: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Complex( T r, T </a:t>
            </a:r>
            <a:r>
              <a:rPr lang="en-US" sz="1800" dirty="0" err="1">
                <a:latin typeface="Consolas" panose="020B0609020204030204" pitchFamily="49" charset="0"/>
              </a:rPr>
              <a:t>im</a:t>
            </a:r>
            <a:r>
              <a:rPr lang="en-US" sz="1800" dirty="0">
                <a:latin typeface="Consolas" panose="020B0609020204030204" pitchFamily="49" charset="0"/>
              </a:rPr>
              <a:t> ) : real(r), </a:t>
            </a:r>
            <a:r>
              <a:rPr lang="en-US" sz="1800" dirty="0" err="1">
                <a:latin typeface="Consolas" panose="020B0609020204030204" pitchFamily="49" charset="0"/>
              </a:rPr>
              <a:t>imag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im</a:t>
            </a:r>
            <a:r>
              <a:rPr lang="en-US" sz="1800" dirty="0">
                <a:latin typeface="Consolas" panose="020B0609020204030204" pitchFamily="49" charset="0"/>
              </a:rPr>
              <a:t>) {}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 &lt;</a:t>
            </a:r>
            <a:r>
              <a:rPr lang="en-US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typename</a:t>
            </a:r>
            <a:r>
              <a:rPr lang="en-US" sz="1800" dirty="0">
                <a:latin typeface="Consolas" panose="020B0609020204030204" pitchFamily="49" charset="0"/>
              </a:rPr>
              <a:t> U&gt;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Complex(</a:t>
            </a:r>
            <a:r>
              <a:rPr lang="en-US" sz="1800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Complex&lt;U&gt;</a:t>
            </a:r>
            <a:r>
              <a:rPr lang="en-US" sz="1800" dirty="0">
                <a:latin typeface="Consolas" panose="020B0609020204030204" pitchFamily="49" charset="0"/>
              </a:rPr>
              <a:t>&amp; c):real( </a:t>
            </a:r>
            <a:r>
              <a:rPr lang="en-US" sz="1800" dirty="0" err="1">
                <a:latin typeface="Consolas" panose="020B0609020204030204" pitchFamily="49" charset="0"/>
              </a:rPr>
              <a:t>c.real</a:t>
            </a:r>
            <a:r>
              <a:rPr lang="en-US" sz="1800" dirty="0">
                <a:latin typeface="Consolas" panose="020B0609020204030204" pitchFamily="49" charset="0"/>
              </a:rPr>
              <a:t> ), </a:t>
            </a:r>
            <a:r>
              <a:rPr lang="en-US" sz="1800" dirty="0" err="1">
                <a:latin typeface="Consolas" panose="020B0609020204030204" pitchFamily="49" charset="0"/>
              </a:rPr>
              <a:t>imag</a:t>
            </a:r>
            <a:r>
              <a:rPr lang="en-US" sz="1800" dirty="0">
                <a:latin typeface="Consolas" panose="020B0609020204030204" pitchFamily="49" charset="0"/>
              </a:rPr>
              <a:t>( </a:t>
            </a:r>
            <a:r>
              <a:rPr lang="en-US" sz="1800" dirty="0" err="1">
                <a:latin typeface="Consolas" panose="020B0609020204030204" pitchFamily="49" charset="0"/>
              </a:rPr>
              <a:t>c.imag</a:t>
            </a:r>
            <a:r>
              <a:rPr lang="en-US" sz="1800" dirty="0">
                <a:latin typeface="Consolas" panose="020B0609020204030204" pitchFamily="49" charset="0"/>
              </a:rPr>
              <a:t> ) {}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. . .</a:t>
            </a:r>
          </a:p>
          <a:p>
            <a:pPr indent="-341313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};</a:t>
            </a:r>
          </a:p>
          <a:p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386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Templates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5-Class Templates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6" name="Content Placeholder 18"/>
          <p:cNvSpPr txBox="1">
            <a:spLocks/>
          </p:cNvSpPr>
          <p:nvPr/>
        </p:nvSpPr>
        <p:spPr bwMode="auto">
          <a:xfrm>
            <a:off x="323528" y="3708657"/>
            <a:ext cx="8496300" cy="25286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class Complex&lt;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latin typeface="Consolas" panose="020B0609020204030204" pitchFamily="49" charset="0"/>
              </a:rPr>
              <a:t>&gt; {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latin typeface="Consolas" panose="020B0609020204030204" pitchFamily="49" charset="0"/>
              </a:rPr>
              <a:t> real, </a:t>
            </a:r>
            <a:r>
              <a:rPr lang="en-US" sz="1800" dirty="0" err="1">
                <a:latin typeface="Consolas" panose="020B0609020204030204" pitchFamily="49" charset="0"/>
              </a:rPr>
              <a:t>imag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public: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Complex(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latin typeface="Consolas" panose="020B0609020204030204" pitchFamily="49" charset="0"/>
              </a:rPr>
              <a:t> r,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im</a:t>
            </a:r>
            <a:r>
              <a:rPr lang="en-US" sz="1800" dirty="0">
                <a:latin typeface="Consolas" panose="020B0609020204030204" pitchFamily="49" charset="0"/>
              </a:rPr>
              <a:t> ) : real(r), </a:t>
            </a:r>
            <a:r>
              <a:rPr lang="en-US" sz="1800" dirty="0" err="1">
                <a:latin typeface="Consolas" panose="020B0609020204030204" pitchFamily="49" charset="0"/>
              </a:rPr>
              <a:t>imag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im</a:t>
            </a:r>
            <a:r>
              <a:rPr lang="en-US" sz="1800" dirty="0">
                <a:latin typeface="Consolas" panose="020B0609020204030204" pitchFamily="49" charset="0"/>
              </a:rPr>
              <a:t>) {}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template</a:t>
            </a:r>
            <a:r>
              <a:rPr lang="en-US" sz="1800" dirty="0">
                <a:latin typeface="Consolas" panose="020B0609020204030204" pitchFamily="49" charset="0"/>
              </a:rPr>
              <a:t> &lt;</a:t>
            </a:r>
            <a:r>
              <a:rPr lang="en-US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typename</a:t>
            </a:r>
            <a:r>
              <a:rPr lang="en-US" sz="1800" dirty="0">
                <a:latin typeface="Consolas" panose="020B0609020204030204" pitchFamily="49" charset="0"/>
              </a:rPr>
              <a:t> U&gt;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Complex(</a:t>
            </a:r>
            <a:r>
              <a:rPr lang="en-US" sz="1800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Complex&lt;U&gt;</a:t>
            </a:r>
            <a:r>
              <a:rPr lang="en-US" sz="1800" dirty="0">
                <a:latin typeface="Consolas" panose="020B0609020204030204" pitchFamily="49" charset="0"/>
              </a:rPr>
              <a:t>&amp; c):real( </a:t>
            </a:r>
            <a:r>
              <a:rPr lang="en-US" sz="1800" dirty="0" err="1">
                <a:latin typeface="Consolas" panose="020B0609020204030204" pitchFamily="49" charset="0"/>
              </a:rPr>
              <a:t>c.real</a:t>
            </a:r>
            <a:r>
              <a:rPr lang="en-US" sz="1800" dirty="0">
                <a:latin typeface="Consolas" panose="020B0609020204030204" pitchFamily="49" charset="0"/>
              </a:rPr>
              <a:t>), </a:t>
            </a:r>
            <a:r>
              <a:rPr lang="en-US" sz="1800" dirty="0" err="1">
                <a:latin typeface="Consolas" panose="020B0609020204030204" pitchFamily="49" charset="0"/>
              </a:rPr>
              <a:t>imag</a:t>
            </a:r>
            <a:r>
              <a:rPr lang="en-US" sz="1800" dirty="0">
                <a:latin typeface="Consolas" panose="020B0609020204030204" pitchFamily="49" charset="0"/>
              </a:rPr>
              <a:t>( </a:t>
            </a:r>
            <a:r>
              <a:rPr lang="en-US" sz="1800" dirty="0" err="1">
                <a:latin typeface="Consolas" panose="020B0609020204030204" pitchFamily="49" charset="0"/>
              </a:rPr>
              <a:t>c.imag</a:t>
            </a:r>
            <a:r>
              <a:rPr lang="en-US" sz="1800" dirty="0">
                <a:latin typeface="Consolas" panose="020B0609020204030204" pitchFamily="49" charset="0"/>
              </a:rPr>
              <a:t> ) {}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. . .</a:t>
            </a:r>
          </a:p>
          <a:p>
            <a:pPr indent="-341313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24172" y="1437486"/>
            <a:ext cx="8496300" cy="1800200"/>
          </a:xfrm>
          <a:ln>
            <a:solidFill>
              <a:schemeClr val="tx1"/>
            </a:solidFill>
          </a:ln>
        </p:spPr>
        <p:txBody>
          <a:bodyPr/>
          <a:lstStyle/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main() {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Complex&lt; </a:t>
            </a:r>
            <a:r>
              <a:rPr lang="en-US" sz="1800" b="1" dirty="0">
                <a:latin typeface="Consolas" panose="020B0609020204030204" pitchFamily="49" charset="0"/>
              </a:rPr>
              <a:t>float</a:t>
            </a:r>
            <a:r>
              <a:rPr lang="en-US" sz="1800" dirty="0">
                <a:latin typeface="Consolas" panose="020B0609020204030204" pitchFamily="49" charset="0"/>
              </a:rPr>
              <a:t> &gt; fc( 0, 0 );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Complex&lt; </a:t>
            </a:r>
            <a:r>
              <a:rPr lang="en-US" sz="1800" b="1" dirty="0">
                <a:latin typeface="Consolas" panose="020B0609020204030204" pitchFamily="49" charset="0"/>
              </a:rPr>
              <a:t>double</a:t>
            </a:r>
            <a:r>
              <a:rPr lang="en-US" sz="1800" dirty="0">
                <a:latin typeface="Consolas" panose="020B0609020204030204" pitchFamily="49" charset="0"/>
              </a:rPr>
              <a:t> &gt; dc = fc;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 OK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0;	</a:t>
            </a:r>
          </a:p>
          <a:p>
            <a:pPr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83052" y="2229574"/>
            <a:ext cx="628188" cy="21602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7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 So Far?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5-Class Templates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24</a:t>
            </a:fld>
            <a:endParaRPr lang="en-GB"/>
          </a:p>
        </p:txBody>
      </p:sp>
      <p:pic>
        <p:nvPicPr>
          <p:cNvPr id="6" name="Picture 3" descr="MCj0384172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8725" y="1412875"/>
            <a:ext cx="3641725" cy="4679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720695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6364</TotalTime>
  <Words>1939</Words>
  <Application>Microsoft Office PowerPoint</Application>
  <PresentationFormat>On-screen Show (4:3)</PresentationFormat>
  <Paragraphs>330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Tahoma</vt:lpstr>
      <vt:lpstr>Wingdings</vt:lpstr>
      <vt:lpstr>Consolas</vt:lpstr>
      <vt:lpstr>Default Design</vt:lpstr>
      <vt:lpstr>Data Structures</vt:lpstr>
      <vt:lpstr>Class Template</vt:lpstr>
      <vt:lpstr>Class Template – Example </vt:lpstr>
      <vt:lpstr>Class Template – Example </vt:lpstr>
      <vt:lpstr>Class Template – Example </vt:lpstr>
      <vt:lpstr>Class Template – Example </vt:lpstr>
      <vt:lpstr>Class Template – Example </vt:lpstr>
      <vt:lpstr>Class Template – Example </vt:lpstr>
      <vt:lpstr>Class Template – Usage </vt:lpstr>
      <vt:lpstr>Class Template Specialization</vt:lpstr>
      <vt:lpstr>Class Template Specialization</vt:lpstr>
      <vt:lpstr>Class Template Specialization</vt:lpstr>
      <vt:lpstr>Class Template Specialization</vt:lpstr>
      <vt:lpstr>Class Template Specialization</vt:lpstr>
      <vt:lpstr>Class Template Specialization</vt:lpstr>
      <vt:lpstr>Class Template Specialization</vt:lpstr>
      <vt:lpstr>Class Template Specialization</vt:lpstr>
      <vt:lpstr>Class Template Specialization</vt:lpstr>
      <vt:lpstr>Member Templates</vt:lpstr>
      <vt:lpstr>Member Templates</vt:lpstr>
      <vt:lpstr>Member Templates – Reason For Error</vt:lpstr>
      <vt:lpstr>Member Templates</vt:lpstr>
      <vt:lpstr>Member Templates</vt:lpstr>
      <vt:lpstr>Any Question So Far?</vt:lpstr>
    </vt:vector>
  </TitlesOfParts>
  <Company>IPVS - Universität Stuttgart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Betriebssysteme</dc:title>
  <dc:creator>koldehbs</dc:creator>
  <cp:lastModifiedBy>Mr.Muhammad Owais Idrees</cp:lastModifiedBy>
  <cp:revision>1047</cp:revision>
  <cp:lastPrinted>2013-10-17T07:59:38Z</cp:lastPrinted>
  <dcterms:created xsi:type="dcterms:W3CDTF">2007-03-29T10:37:57Z</dcterms:created>
  <dcterms:modified xsi:type="dcterms:W3CDTF">2023-09-03T20:09:30Z</dcterms:modified>
</cp:coreProperties>
</file>