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507" r:id="rId3"/>
    <p:sldId id="509" r:id="rId4"/>
    <p:sldId id="506" r:id="rId5"/>
    <p:sldId id="508" r:id="rId6"/>
    <p:sldId id="510" r:id="rId7"/>
    <p:sldId id="511" r:id="rId8"/>
    <p:sldId id="512" r:id="rId9"/>
    <p:sldId id="513" r:id="rId10"/>
    <p:sldId id="515" r:id="rId11"/>
    <p:sldId id="516" r:id="rId12"/>
    <p:sldId id="518" r:id="rId13"/>
    <p:sldId id="519" r:id="rId14"/>
    <p:sldId id="517" r:id="rId15"/>
    <p:sldId id="521" r:id="rId16"/>
    <p:sldId id="522" r:id="rId17"/>
    <p:sldId id="524" r:id="rId18"/>
    <p:sldId id="525" r:id="rId19"/>
    <p:sldId id="526" r:id="rId20"/>
    <p:sldId id="527" r:id="rId21"/>
    <p:sldId id="528" r:id="rId22"/>
    <p:sldId id="530" r:id="rId23"/>
    <p:sldId id="505" r:id="rId24"/>
  </p:sldIdLst>
  <p:sldSz cx="9144000" cy="6858000" type="screen4x3"/>
  <p:notesSz cx="7315200" cy="9601200"/>
  <p:embeddedFontLst>
    <p:embeddedFont>
      <p:font typeface="Tahoma" panose="020B0604030504040204" pitchFamily="34" charset="0"/>
      <p:regular r:id="rId26"/>
      <p:bold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3399"/>
    <a:srgbClr val="FF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9" autoAdjust="0"/>
    <p:restoredTop sz="84124" autoAdjust="0"/>
  </p:normalViewPr>
  <p:slideViewPr>
    <p:cSldViewPr>
      <p:cViewPr varScale="1">
        <p:scale>
          <a:sx n="61" d="100"/>
          <a:sy n="61" d="100"/>
        </p:scale>
        <p:origin x="1728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265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1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E307F30-E95D-4DC1-945B-D02103101FA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8168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3B227E-7079-4B80-BA2E-DD57F6C58329}" type="slidenum">
              <a:rPr lang="en-GB"/>
              <a:pPr/>
              <a:t>1</a:t>
            </a:fld>
            <a:endParaRPr lang="en-GB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029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136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731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879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844675"/>
            <a:ext cx="7772400" cy="1470025"/>
          </a:xfrm>
        </p:spPr>
        <p:txBody>
          <a:bodyPr/>
          <a:lstStyle>
            <a:lvl1pPr algn="ctr">
              <a:defRPr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716338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 smtClean="0"/>
              <a:t>4-Function Templates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30464EE-74C5-42DE-B41A-1E7939C181C3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20486" name="Line 6"/>
          <p:cNvSpPr>
            <a:spLocks noChangeShapeType="1"/>
          </p:cNvSpPr>
          <p:nvPr userDrawn="1"/>
        </p:nvSpPr>
        <p:spPr bwMode="auto">
          <a:xfrm>
            <a:off x="323850" y="3500438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11256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2088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 smtClean="0"/>
              <a:t>4-Function Templates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C8D6E8-E2D4-466A-B54E-56FCD6F950CE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 smtClean="0"/>
              <a:t>4-Function Templates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3227E4-7A49-48B5-9005-D3E138ABBA16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 smtClean="0"/>
              <a:t>4-Function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D7F138-CABA-494C-B139-3348C3F117E5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1143000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 smtClean="0"/>
              <a:t>4-Function Templates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A79DA3-BF4E-40A8-8F6E-F5109A9F2DA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 smtClean="0"/>
              <a:t>4-Function Templates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5293E3-F4F3-4363-BC2F-E6A2CD940E4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 smtClean="0"/>
              <a:t>4-Function Templates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FD2D0C-D78B-4496-B32C-58738062D58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03EBF0-A890-4352-8C84-0E2FE7968D9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 smtClean="0"/>
              <a:t>4-Function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6CAE48C-F1F9-47E0-96BC-AD3F31B5CC0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 smtClean="0"/>
              <a:t>4-Function Templates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CE2B5B-3ECC-4073-85E0-5A38BE95B70D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6075" y="274638"/>
            <a:ext cx="2124075" cy="5851525"/>
          </a:xfrm>
        </p:spPr>
        <p:txBody>
          <a:bodyPr vert="eaVert"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850" y="274638"/>
            <a:ext cx="6219825" cy="5851525"/>
          </a:xfrm>
        </p:spPr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6920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 smtClean="0"/>
              <a:t>4-Function Templates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C10656-B5F6-4C2B-B258-D0013A6A1799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2237" y="188640"/>
            <a:ext cx="849477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24744"/>
            <a:ext cx="849630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9832" y="6381750"/>
            <a:ext cx="30241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GB" dirty="0" smtClean="0"/>
              <a:t>4-Function Templates</a:t>
            </a:r>
            <a:endParaRPr lang="en-GB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C9CEF86-67DF-4174-BD01-46D228FA3D60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250825" y="1052736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rgbClr val="0070C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Font typeface="Tahoma" pitchFamily="34" charset="0"/>
        <a:buChar char="–"/>
        <a:defRPr sz="19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17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ahoma" pitchFamily="34" charset="0"/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5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 smtClean="0"/>
              <a:t>4-Function Templates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0464EE-74C5-42DE-B41A-1E7939C181C3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Data Structures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b="1" dirty="0" smtClean="0"/>
              <a:t>4. Function Templates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 to print </a:t>
            </a:r>
            <a:r>
              <a:rPr lang="en-US" dirty="0"/>
              <a:t>an array of integer </a:t>
            </a:r>
            <a:r>
              <a:rPr lang="en-US" dirty="0" smtClean="0"/>
              <a:t>elements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Function to print an array of characters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943708" y="1808481"/>
            <a:ext cx="5256584" cy="18362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900" kern="0" dirty="0" smtClean="0">
                <a:latin typeface="Consolas" panose="020B0609020204030204" pitchFamily="49" charset="0"/>
              </a:rPr>
              <a:t>void </a:t>
            </a:r>
            <a:r>
              <a:rPr lang="en-US" sz="1900" kern="0" dirty="0" err="1" smtClean="0">
                <a:latin typeface="Consolas" panose="020B0609020204030204" pitchFamily="49" charset="0"/>
              </a:rPr>
              <a:t>printArray</a:t>
            </a:r>
            <a:r>
              <a:rPr lang="en-US" sz="1900" kern="0" dirty="0" smtClean="0">
                <a:latin typeface="Consolas" panose="020B0609020204030204" pitchFamily="49" charset="0"/>
              </a:rPr>
              <a:t>(</a:t>
            </a:r>
            <a:r>
              <a:rPr lang="en-US" sz="1900" kern="0" dirty="0" err="1" smtClean="0">
                <a:latin typeface="Consolas" panose="020B0609020204030204" pitchFamily="49" charset="0"/>
              </a:rPr>
              <a:t>int</a:t>
            </a:r>
            <a:r>
              <a:rPr lang="en-US" sz="1900" kern="0" dirty="0" smtClean="0">
                <a:latin typeface="Consolas" panose="020B0609020204030204" pitchFamily="49" charset="0"/>
              </a:rPr>
              <a:t>* array, </a:t>
            </a:r>
            <a:r>
              <a:rPr lang="en-US" sz="1900" kern="0" dirty="0" err="1" smtClean="0">
                <a:latin typeface="Consolas" panose="020B0609020204030204" pitchFamily="49" charset="0"/>
              </a:rPr>
              <a:t>int</a:t>
            </a:r>
            <a:r>
              <a:rPr lang="en-US" sz="1900" kern="0" dirty="0" smtClean="0">
                <a:latin typeface="Consolas" panose="020B0609020204030204" pitchFamily="49" charset="0"/>
              </a:rPr>
              <a:t> size)</a:t>
            </a:r>
          </a:p>
          <a:p>
            <a:pPr marL="0" indent="0">
              <a:buFontTx/>
              <a:buNone/>
            </a:pPr>
            <a:r>
              <a:rPr lang="en-US" sz="1900" kern="0" dirty="0" smtClean="0">
                <a:latin typeface="Consolas" panose="020B0609020204030204" pitchFamily="49" charset="0"/>
              </a:rPr>
              <a:t>{</a:t>
            </a:r>
          </a:p>
          <a:p>
            <a:pPr marL="0" indent="0">
              <a:buFontTx/>
              <a:buNone/>
            </a:pPr>
            <a:r>
              <a:rPr lang="en-US" sz="1900" kern="0" dirty="0">
                <a:latin typeface="Consolas" panose="020B0609020204030204" pitchFamily="49" charset="0"/>
              </a:rPr>
              <a:t> </a:t>
            </a:r>
            <a:r>
              <a:rPr lang="en-US" sz="1900" kern="0" dirty="0" smtClean="0">
                <a:latin typeface="Consolas" panose="020B0609020204030204" pitchFamily="49" charset="0"/>
              </a:rPr>
              <a:t>   for ( </a:t>
            </a:r>
            <a:r>
              <a:rPr lang="en-US" sz="1900" kern="0" dirty="0" err="1" smtClean="0">
                <a:latin typeface="Consolas" panose="020B0609020204030204" pitchFamily="49" charset="0"/>
              </a:rPr>
              <a:t>int</a:t>
            </a:r>
            <a:r>
              <a:rPr lang="en-US" sz="1900" kern="0" dirty="0" smtClean="0">
                <a:latin typeface="Consolas" panose="020B0609020204030204" pitchFamily="49" charset="0"/>
              </a:rPr>
              <a:t> </a:t>
            </a:r>
            <a:r>
              <a:rPr lang="en-US" sz="1900" kern="0" dirty="0" err="1" smtClean="0">
                <a:latin typeface="Consolas" panose="020B0609020204030204" pitchFamily="49" charset="0"/>
              </a:rPr>
              <a:t>i</a:t>
            </a:r>
            <a:r>
              <a:rPr lang="en-US" sz="1900" kern="0" dirty="0" smtClean="0">
                <a:latin typeface="Consolas" panose="020B0609020204030204" pitchFamily="49" charset="0"/>
              </a:rPr>
              <a:t> = 0; </a:t>
            </a:r>
            <a:r>
              <a:rPr lang="en-US" sz="1900" kern="0" dirty="0" err="1" smtClean="0">
                <a:latin typeface="Consolas" panose="020B0609020204030204" pitchFamily="49" charset="0"/>
              </a:rPr>
              <a:t>i</a:t>
            </a:r>
            <a:r>
              <a:rPr lang="en-US" sz="1900" kern="0" dirty="0" smtClean="0">
                <a:latin typeface="Consolas" panose="020B0609020204030204" pitchFamily="49" charset="0"/>
              </a:rPr>
              <a:t> &lt; size; </a:t>
            </a:r>
            <a:r>
              <a:rPr lang="en-US" sz="1900" kern="0" dirty="0" err="1" smtClean="0">
                <a:latin typeface="Consolas" panose="020B0609020204030204" pitchFamily="49" charset="0"/>
              </a:rPr>
              <a:t>i</a:t>
            </a:r>
            <a:r>
              <a:rPr lang="en-US" sz="1900" kern="0" dirty="0" smtClean="0">
                <a:latin typeface="Consolas" panose="020B0609020204030204" pitchFamily="49" charset="0"/>
              </a:rPr>
              <a:t>++ )</a:t>
            </a:r>
          </a:p>
          <a:p>
            <a:pPr marL="0" indent="0">
              <a:buFontTx/>
              <a:buNone/>
            </a:pPr>
            <a:r>
              <a:rPr lang="en-US" sz="1900" kern="0" dirty="0">
                <a:latin typeface="Consolas" panose="020B0609020204030204" pitchFamily="49" charset="0"/>
              </a:rPr>
              <a:t> </a:t>
            </a:r>
            <a:r>
              <a:rPr lang="en-US" sz="1900" kern="0" dirty="0" smtClean="0">
                <a:latin typeface="Consolas" panose="020B0609020204030204" pitchFamily="49" charset="0"/>
              </a:rPr>
              <a:t>       </a:t>
            </a:r>
            <a:r>
              <a:rPr lang="en-US" sz="1900" kern="0" dirty="0" err="1" smtClean="0">
                <a:latin typeface="Consolas" panose="020B0609020204030204" pitchFamily="49" charset="0"/>
              </a:rPr>
              <a:t>cout</a:t>
            </a:r>
            <a:r>
              <a:rPr lang="en-US" sz="1900" kern="0" dirty="0" smtClean="0">
                <a:latin typeface="Consolas" panose="020B0609020204030204" pitchFamily="49" charset="0"/>
              </a:rPr>
              <a:t> &lt;&lt; array[ </a:t>
            </a:r>
            <a:r>
              <a:rPr lang="en-US" sz="1900" kern="0" dirty="0" err="1" smtClean="0">
                <a:latin typeface="Consolas" panose="020B0609020204030204" pitchFamily="49" charset="0"/>
              </a:rPr>
              <a:t>i</a:t>
            </a:r>
            <a:r>
              <a:rPr lang="en-US" sz="1900" kern="0" dirty="0" smtClean="0">
                <a:latin typeface="Consolas" panose="020B0609020204030204" pitchFamily="49" charset="0"/>
              </a:rPr>
              <a:t> ] &lt;&lt; “, ”;</a:t>
            </a:r>
          </a:p>
          <a:p>
            <a:pPr marL="0" indent="0">
              <a:buFontTx/>
              <a:buNone/>
            </a:pPr>
            <a:r>
              <a:rPr lang="en-US" sz="1900" kern="0" dirty="0" smtClean="0">
                <a:latin typeface="Consolas" panose="020B0609020204030204" pitchFamily="49" charset="0"/>
              </a:rPr>
              <a:t>}</a:t>
            </a:r>
          </a:p>
          <a:p>
            <a:endParaRPr lang="en-US" sz="1900" kern="0" dirty="0"/>
          </a:p>
        </p:txBody>
      </p:sp>
      <p:sp>
        <p:nvSpPr>
          <p:cNvPr id="7" name="Content Placeholder 5"/>
          <p:cNvSpPr txBox="1">
            <a:spLocks/>
          </p:cNvSpPr>
          <p:nvPr/>
        </p:nvSpPr>
        <p:spPr bwMode="auto">
          <a:xfrm>
            <a:off x="1943708" y="4363275"/>
            <a:ext cx="5256584" cy="17300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void </a:t>
            </a:r>
            <a:r>
              <a:rPr lang="en-US" sz="1900" kern="0" dirty="0" err="1" smtClean="0">
                <a:latin typeface="Consolas" panose="020B0609020204030204" pitchFamily="49" charset="0"/>
              </a:rPr>
              <a:t>printArray</a:t>
            </a:r>
            <a:r>
              <a:rPr lang="en-US" sz="1900" kern="0" dirty="0" smtClean="0">
                <a:latin typeface="Consolas" panose="020B0609020204030204" pitchFamily="49" charset="0"/>
              </a:rPr>
              <a:t>(char* array, </a:t>
            </a:r>
            <a:r>
              <a:rPr lang="en-US" sz="1900" kern="0" dirty="0" err="1" smtClean="0">
                <a:latin typeface="Consolas" panose="020B0609020204030204" pitchFamily="49" charset="0"/>
              </a:rPr>
              <a:t>int</a:t>
            </a:r>
            <a:r>
              <a:rPr lang="en-US" sz="1900" kern="0" dirty="0" smtClean="0">
                <a:latin typeface="Consolas" panose="020B0609020204030204" pitchFamily="49" charset="0"/>
              </a:rPr>
              <a:t> size) 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{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>
                <a:latin typeface="Consolas" panose="020B0609020204030204" pitchFamily="49" charset="0"/>
              </a:rPr>
              <a:t> </a:t>
            </a:r>
            <a:r>
              <a:rPr lang="en-US" sz="1900" kern="0" dirty="0" smtClean="0">
                <a:latin typeface="Consolas" panose="020B0609020204030204" pitchFamily="49" charset="0"/>
              </a:rPr>
              <a:t>   for ( </a:t>
            </a:r>
            <a:r>
              <a:rPr lang="en-US" sz="1900" kern="0" dirty="0" err="1" smtClean="0">
                <a:latin typeface="Consolas" panose="020B0609020204030204" pitchFamily="49" charset="0"/>
              </a:rPr>
              <a:t>int</a:t>
            </a:r>
            <a:r>
              <a:rPr lang="en-US" sz="1900" kern="0" dirty="0" smtClean="0">
                <a:latin typeface="Consolas" panose="020B0609020204030204" pitchFamily="49" charset="0"/>
              </a:rPr>
              <a:t> </a:t>
            </a:r>
            <a:r>
              <a:rPr lang="en-US" sz="1900" kern="0" dirty="0" err="1" smtClean="0">
                <a:latin typeface="Consolas" panose="020B0609020204030204" pitchFamily="49" charset="0"/>
              </a:rPr>
              <a:t>i</a:t>
            </a:r>
            <a:r>
              <a:rPr lang="en-US" sz="1900" kern="0" dirty="0" smtClean="0">
                <a:latin typeface="Consolas" panose="020B0609020204030204" pitchFamily="49" charset="0"/>
              </a:rPr>
              <a:t> = 0; </a:t>
            </a:r>
            <a:r>
              <a:rPr lang="en-US" sz="1900" kern="0" dirty="0" err="1" smtClean="0">
                <a:latin typeface="Consolas" panose="020B0609020204030204" pitchFamily="49" charset="0"/>
              </a:rPr>
              <a:t>i</a:t>
            </a:r>
            <a:r>
              <a:rPr lang="en-US" sz="1900" kern="0" dirty="0" smtClean="0">
                <a:latin typeface="Consolas" panose="020B0609020204030204" pitchFamily="49" charset="0"/>
              </a:rPr>
              <a:t> &lt; size; </a:t>
            </a:r>
            <a:r>
              <a:rPr lang="en-US" sz="1900" kern="0" dirty="0" err="1" smtClean="0">
                <a:latin typeface="Consolas" panose="020B0609020204030204" pitchFamily="49" charset="0"/>
              </a:rPr>
              <a:t>i</a:t>
            </a:r>
            <a:r>
              <a:rPr lang="en-US" sz="1900" kern="0" dirty="0" smtClean="0">
                <a:latin typeface="Consolas" panose="020B0609020204030204" pitchFamily="49" charset="0"/>
              </a:rPr>
              <a:t>++ )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>
                <a:latin typeface="Consolas" panose="020B0609020204030204" pitchFamily="49" charset="0"/>
              </a:rPr>
              <a:t> </a:t>
            </a:r>
            <a:r>
              <a:rPr lang="en-US" sz="1900" kern="0" dirty="0" smtClean="0">
                <a:latin typeface="Consolas" panose="020B0609020204030204" pitchFamily="49" charset="0"/>
              </a:rPr>
              <a:t>       </a:t>
            </a:r>
            <a:r>
              <a:rPr lang="en-US" sz="1900" kern="0" dirty="0" err="1" smtClean="0">
                <a:latin typeface="Consolas" panose="020B0609020204030204" pitchFamily="49" charset="0"/>
              </a:rPr>
              <a:t>cout</a:t>
            </a:r>
            <a:r>
              <a:rPr lang="en-US" sz="1900" kern="0" dirty="0" smtClean="0">
                <a:latin typeface="Consolas" panose="020B0609020204030204" pitchFamily="49" charset="0"/>
              </a:rPr>
              <a:t> &lt;&lt; array[ </a:t>
            </a:r>
            <a:r>
              <a:rPr lang="en-US" sz="1900" kern="0" dirty="0" err="1" smtClean="0">
                <a:latin typeface="Consolas" panose="020B0609020204030204" pitchFamily="49" charset="0"/>
              </a:rPr>
              <a:t>i</a:t>
            </a:r>
            <a:r>
              <a:rPr lang="en-US" sz="1900" kern="0" dirty="0" smtClean="0">
                <a:latin typeface="Consolas" panose="020B0609020204030204" pitchFamily="49" charset="0"/>
              </a:rPr>
              <a:t> ] &lt;&lt; “, ”;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}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40661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to print an array of </a:t>
            </a:r>
            <a:r>
              <a:rPr lang="en-US" dirty="0" smtClean="0"/>
              <a:t>doubles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Now if we want to change the way function prints the </a:t>
            </a:r>
            <a:r>
              <a:rPr lang="en-US" dirty="0" smtClean="0"/>
              <a:t>array</a:t>
            </a:r>
          </a:p>
          <a:p>
            <a:pPr lvl="1"/>
            <a:r>
              <a:rPr lang="en-US" dirty="0" smtClean="0"/>
              <a:t>From 1, 2, 3, 4, 5 </a:t>
            </a:r>
          </a:p>
          <a:p>
            <a:pPr lvl="1"/>
            <a:r>
              <a:rPr lang="en-US" dirty="0" smtClean="0"/>
              <a:t>To 1 -2- 3 -4 -5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Content Placeholder 6"/>
          <p:cNvSpPr txBox="1">
            <a:spLocks/>
          </p:cNvSpPr>
          <p:nvPr/>
        </p:nvSpPr>
        <p:spPr bwMode="auto">
          <a:xfrm>
            <a:off x="1763849" y="1700808"/>
            <a:ext cx="5616302" cy="17281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smtClean="0">
                <a:latin typeface="Consolas" panose="020B0609020204030204" pitchFamily="49" charset="0"/>
              </a:rPr>
              <a:t>void printArray(double* array, int size)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smtClean="0">
                <a:latin typeface="Consolas" panose="020B0609020204030204" pitchFamily="49" charset="0"/>
              </a:rPr>
              <a:t>{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smtClean="0">
                <a:latin typeface="Consolas" panose="020B0609020204030204" pitchFamily="49" charset="0"/>
              </a:rPr>
              <a:t>    for ( int i = 0; i &lt; size; i++ )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smtClean="0">
                <a:latin typeface="Consolas" panose="020B0609020204030204" pitchFamily="49" charset="0"/>
              </a:rPr>
              <a:t>        cout &lt;&lt; array[ i ] &lt;&lt; “, ”;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smtClean="0">
                <a:latin typeface="Consolas" panose="020B0609020204030204" pitchFamily="49" charset="0"/>
              </a:rPr>
              <a:t>}</a:t>
            </a:r>
          </a:p>
          <a:p>
            <a:endParaRPr lang="en-US" sz="1900" kern="0" dirty="0"/>
          </a:p>
        </p:txBody>
      </p:sp>
    </p:spTree>
    <p:extLst>
      <p:ext uri="{BB962C8B-B14F-4D97-AF65-F5344CB8AC3E}">
        <p14:creationId xmlns:p14="http://schemas.microsoft.com/office/powerpoint/2010/main" val="1400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</a:t>
            </a:r>
            <a:r>
              <a:rPr lang="en-US" dirty="0" smtClean="0"/>
              <a:t>allows </a:t>
            </a:r>
            <a:r>
              <a:rPr lang="en-US" dirty="0"/>
              <a:t>the programmer to overload </a:t>
            </a:r>
            <a:r>
              <a:rPr lang="en-US" dirty="0" smtClean="0"/>
              <a:t>a function name</a:t>
            </a:r>
          </a:p>
          <a:p>
            <a:endParaRPr lang="en-US" dirty="0" smtClean="0"/>
          </a:p>
          <a:p>
            <a:r>
              <a:rPr lang="en-US" dirty="0" smtClean="0"/>
              <a:t>Several functions with </a:t>
            </a:r>
            <a:r>
              <a:rPr lang="en-US" dirty="0"/>
              <a:t>the same name but different parameter </a:t>
            </a:r>
            <a:r>
              <a:rPr lang="en-US" dirty="0" smtClean="0"/>
              <a:t>lists</a:t>
            </a:r>
          </a:p>
          <a:p>
            <a:pPr lvl="1"/>
            <a:r>
              <a:rPr lang="en-US" dirty="0" smtClean="0"/>
              <a:t>Parameter </a:t>
            </a:r>
            <a:r>
              <a:rPr lang="en-US" dirty="0"/>
              <a:t>list determines </a:t>
            </a:r>
            <a:r>
              <a:rPr lang="en-US" dirty="0" smtClean="0"/>
              <a:t>which function </a:t>
            </a:r>
            <a:r>
              <a:rPr lang="en-US" dirty="0"/>
              <a:t>will execute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Programmer must </a:t>
            </a:r>
            <a:r>
              <a:rPr lang="en-US" dirty="0"/>
              <a:t>give the definition of each </a:t>
            </a:r>
            <a:r>
              <a:rPr lang="en-US" dirty="0" smtClean="0"/>
              <a:t>function</a:t>
            </a:r>
          </a:p>
          <a:p>
            <a:endParaRPr lang="en-US" dirty="0"/>
          </a:p>
          <a:p>
            <a:r>
              <a:rPr lang="en-US" dirty="0" smtClean="0"/>
              <a:t>Can we overload </a:t>
            </a:r>
            <a:r>
              <a:rPr lang="en-US" dirty="0"/>
              <a:t>functions with a single code </a:t>
            </a:r>
            <a:r>
              <a:rPr lang="en-US" dirty="0" smtClean="0"/>
              <a:t>segment?</a:t>
            </a:r>
          </a:p>
          <a:p>
            <a:pPr lvl="1"/>
            <a:r>
              <a:rPr lang="en-US" dirty="0" smtClean="0"/>
              <a:t>Leave the job of </a:t>
            </a:r>
            <a:r>
              <a:rPr lang="en-US" dirty="0"/>
              <a:t>generating code for separate functions for the compiler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5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C++ Classes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</a:t>
            </a:r>
            <a:r>
              <a:rPr lang="en-US" dirty="0"/>
              <a:t>the Array class that wraps an array of </a:t>
            </a:r>
            <a:r>
              <a:rPr lang="en-US" dirty="0" smtClean="0"/>
              <a:t>integers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if we want </a:t>
            </a:r>
            <a:r>
              <a:rPr lang="en-US" dirty="0" smtClean="0"/>
              <a:t>an </a:t>
            </a:r>
            <a:r>
              <a:rPr lang="en-US" dirty="0"/>
              <a:t>Array class that wraps arrays of double?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3203848" y="1556792"/>
            <a:ext cx="2736304" cy="20882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b="1" kern="0" dirty="0" smtClean="0">
                <a:latin typeface="Consolas" panose="020B0609020204030204" pitchFamily="49" charset="0"/>
              </a:rPr>
              <a:t>class</a:t>
            </a:r>
            <a:r>
              <a:rPr lang="en-US" sz="1900" kern="0" dirty="0" smtClean="0">
                <a:latin typeface="Consolas" panose="020B0609020204030204" pitchFamily="49" charset="0"/>
              </a:rPr>
              <a:t> Array {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    </a:t>
            </a:r>
            <a:r>
              <a:rPr lang="en-US" sz="1900" kern="0" dirty="0" err="1" smtClean="0">
                <a:latin typeface="Consolas" panose="020B0609020204030204" pitchFamily="49" charset="0"/>
              </a:rPr>
              <a:t>int</a:t>
            </a:r>
            <a:r>
              <a:rPr lang="en-US" sz="1900" kern="0" dirty="0" smtClean="0">
                <a:latin typeface="Consolas" panose="020B0609020204030204" pitchFamily="49" charset="0"/>
              </a:rPr>
              <a:t>* </a:t>
            </a:r>
            <a:r>
              <a:rPr lang="en-US" sz="1900" kern="0" dirty="0" err="1" smtClean="0">
                <a:latin typeface="Consolas" panose="020B0609020204030204" pitchFamily="49" charset="0"/>
              </a:rPr>
              <a:t>pArray</a:t>
            </a:r>
            <a:r>
              <a:rPr lang="en-US" sz="1900" kern="0" dirty="0" smtClean="0">
                <a:latin typeface="Consolas" panose="020B0609020204030204" pitchFamily="49" charset="0"/>
              </a:rPr>
              <a:t>;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    </a:t>
            </a:r>
            <a:r>
              <a:rPr lang="en-US" sz="1900" kern="0" dirty="0" err="1" smtClean="0">
                <a:latin typeface="Consolas" panose="020B0609020204030204" pitchFamily="49" charset="0"/>
              </a:rPr>
              <a:t>int</a:t>
            </a:r>
            <a:r>
              <a:rPr lang="en-US" sz="1900" kern="0" dirty="0" smtClean="0">
                <a:latin typeface="Consolas" panose="020B0609020204030204" pitchFamily="49" charset="0"/>
              </a:rPr>
              <a:t> size;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  </a:t>
            </a:r>
            <a:r>
              <a:rPr lang="en-US" sz="1900" b="1" kern="0" dirty="0" smtClean="0">
                <a:latin typeface="Consolas" panose="020B0609020204030204" pitchFamily="49" charset="0"/>
              </a:rPr>
              <a:t>public: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    …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};</a:t>
            </a:r>
          </a:p>
          <a:p>
            <a:endParaRPr lang="en-US" kern="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3219614" y="4277330"/>
            <a:ext cx="2736304" cy="20882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b="1" kern="0" dirty="0" smtClean="0">
                <a:latin typeface="Consolas" panose="020B0609020204030204" pitchFamily="49" charset="0"/>
              </a:rPr>
              <a:t>class</a:t>
            </a:r>
            <a:r>
              <a:rPr lang="en-US" sz="1900" kern="0" dirty="0" smtClean="0">
                <a:latin typeface="Consolas" panose="020B0609020204030204" pitchFamily="49" charset="0"/>
              </a:rPr>
              <a:t> Array {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    double* </a:t>
            </a:r>
            <a:r>
              <a:rPr lang="en-US" sz="1900" kern="0" dirty="0" err="1" smtClean="0">
                <a:latin typeface="Consolas" panose="020B0609020204030204" pitchFamily="49" charset="0"/>
              </a:rPr>
              <a:t>pArray</a:t>
            </a:r>
            <a:r>
              <a:rPr lang="en-US" sz="1900" kern="0" dirty="0" smtClean="0">
                <a:latin typeface="Consolas" panose="020B0609020204030204" pitchFamily="49" charset="0"/>
              </a:rPr>
              <a:t>;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    </a:t>
            </a:r>
            <a:r>
              <a:rPr lang="en-US" sz="1900" kern="0" dirty="0" err="1" smtClean="0">
                <a:latin typeface="Consolas" panose="020B0609020204030204" pitchFamily="49" charset="0"/>
              </a:rPr>
              <a:t>int</a:t>
            </a:r>
            <a:r>
              <a:rPr lang="en-US" sz="1900" kern="0" dirty="0" smtClean="0">
                <a:latin typeface="Consolas" panose="020B0609020204030204" pitchFamily="49" charset="0"/>
              </a:rPr>
              <a:t> size;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  </a:t>
            </a:r>
            <a:r>
              <a:rPr lang="en-US" sz="1900" b="1" kern="0" dirty="0" smtClean="0">
                <a:latin typeface="Consolas" panose="020B0609020204030204" pitchFamily="49" charset="0"/>
              </a:rPr>
              <a:t>public: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    …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};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0458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C++ Classes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want </a:t>
            </a:r>
            <a:r>
              <a:rPr lang="en-US" dirty="0" smtClean="0"/>
              <a:t>an </a:t>
            </a:r>
            <a:r>
              <a:rPr lang="en-US" dirty="0"/>
              <a:t>Array class that wraps arrays of </a:t>
            </a:r>
            <a:r>
              <a:rPr lang="en-US" dirty="0" smtClean="0"/>
              <a:t>Boolean?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Now if we want to add a function sum to Array </a:t>
            </a:r>
            <a:r>
              <a:rPr lang="en-US" dirty="0" smtClean="0"/>
              <a:t>class?</a:t>
            </a:r>
          </a:p>
          <a:p>
            <a:pPr lvl="1"/>
            <a:r>
              <a:rPr lang="en-US" dirty="0" smtClean="0"/>
              <a:t>We </a:t>
            </a:r>
            <a:r>
              <a:rPr lang="en-US" dirty="0"/>
              <a:t>have to change all the three classes</a:t>
            </a:r>
          </a:p>
          <a:p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203848" y="1597671"/>
            <a:ext cx="2736304" cy="20882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b="1" kern="0" dirty="0" smtClean="0">
                <a:latin typeface="Consolas" panose="020B0609020204030204" pitchFamily="49" charset="0"/>
              </a:rPr>
              <a:t>class</a:t>
            </a:r>
            <a:r>
              <a:rPr lang="en-US" sz="1900" kern="0" dirty="0" smtClean="0">
                <a:latin typeface="Consolas" panose="020B0609020204030204" pitchFamily="49" charset="0"/>
              </a:rPr>
              <a:t> Array {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    bool* </a:t>
            </a:r>
            <a:r>
              <a:rPr lang="en-US" sz="1900" kern="0" dirty="0" err="1" smtClean="0">
                <a:latin typeface="Consolas" panose="020B0609020204030204" pitchFamily="49" charset="0"/>
              </a:rPr>
              <a:t>pArray</a:t>
            </a:r>
            <a:r>
              <a:rPr lang="en-US" sz="1900" kern="0" dirty="0" smtClean="0">
                <a:latin typeface="Consolas" panose="020B0609020204030204" pitchFamily="49" charset="0"/>
              </a:rPr>
              <a:t>;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    </a:t>
            </a:r>
            <a:r>
              <a:rPr lang="en-US" sz="1900" kern="0" dirty="0" err="1" smtClean="0">
                <a:latin typeface="Consolas" panose="020B0609020204030204" pitchFamily="49" charset="0"/>
              </a:rPr>
              <a:t>int</a:t>
            </a:r>
            <a:r>
              <a:rPr lang="en-US" sz="1900" kern="0" dirty="0" smtClean="0">
                <a:latin typeface="Consolas" panose="020B0609020204030204" pitchFamily="49" charset="0"/>
              </a:rPr>
              <a:t> size;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  </a:t>
            </a:r>
            <a:r>
              <a:rPr lang="en-US" sz="1900" b="1" kern="0" dirty="0" smtClean="0">
                <a:latin typeface="Consolas" panose="020B0609020204030204" pitchFamily="49" charset="0"/>
              </a:rPr>
              <a:t>public: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    …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900" kern="0" dirty="0" smtClean="0">
                <a:latin typeface="Consolas" panose="020B0609020204030204" pitchFamily="49" charset="0"/>
              </a:rPr>
              <a:t>};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20802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Generic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Programs </a:t>
            </a:r>
            <a:r>
              <a:rPr lang="en-US" dirty="0"/>
              <a:t>containing generic abstractions</a:t>
            </a:r>
          </a:p>
          <a:p>
            <a:endParaRPr lang="en-US" dirty="0" smtClean="0"/>
          </a:p>
          <a:p>
            <a:r>
              <a:rPr lang="en-US" dirty="0"/>
              <a:t>Generic program abstraction (function, class) can be parameterized with a </a:t>
            </a:r>
            <a:r>
              <a:rPr lang="en-US" dirty="0" smtClean="0"/>
              <a:t>type</a:t>
            </a:r>
          </a:p>
          <a:p>
            <a:pPr lvl="1"/>
            <a:r>
              <a:rPr lang="en-US" dirty="0" smtClean="0"/>
              <a:t>Abstractions </a:t>
            </a:r>
            <a:r>
              <a:rPr lang="en-US" dirty="0"/>
              <a:t>can work with many different types of data</a:t>
            </a:r>
          </a:p>
          <a:p>
            <a:pPr lvl="1"/>
            <a:endParaRPr lang="en-US" dirty="0"/>
          </a:p>
          <a:p>
            <a:r>
              <a:rPr lang="en-US" dirty="0" smtClean="0"/>
              <a:t>Algorithms </a:t>
            </a:r>
            <a:r>
              <a:rPr lang="en-US" dirty="0"/>
              <a:t>are written in terms of types to-be-specified-later </a:t>
            </a:r>
            <a:endParaRPr lang="en-US" dirty="0" smtClean="0"/>
          </a:p>
          <a:p>
            <a:pPr lvl="1"/>
            <a:r>
              <a:rPr lang="en-US" dirty="0" smtClean="0"/>
              <a:t>Instantiated </a:t>
            </a:r>
            <a:r>
              <a:rPr lang="en-US" dirty="0"/>
              <a:t>when needed for specific types provided as </a:t>
            </a:r>
            <a:r>
              <a:rPr lang="en-US" dirty="0" smtClean="0"/>
              <a:t>parameters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Reusability</a:t>
            </a:r>
          </a:p>
          <a:p>
            <a:pPr lvl="1"/>
            <a:r>
              <a:rPr lang="en-US" dirty="0" err="1" smtClean="0"/>
              <a:t>Writability</a:t>
            </a:r>
            <a:endParaRPr lang="en-US" dirty="0"/>
          </a:p>
          <a:p>
            <a:pPr lvl="1"/>
            <a:r>
              <a:rPr lang="en-US" dirty="0" smtClean="0"/>
              <a:t>Maintainability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00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Templates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C++ generic programming is done using templates</a:t>
            </a:r>
          </a:p>
          <a:p>
            <a:endParaRPr lang="en-US" dirty="0"/>
          </a:p>
          <a:p>
            <a:r>
              <a:rPr lang="en-US" dirty="0" smtClean="0"/>
              <a:t>Two types of templates</a:t>
            </a:r>
            <a:endParaRPr lang="en-US" dirty="0"/>
          </a:p>
          <a:p>
            <a:pPr lvl="1"/>
            <a:r>
              <a:rPr lang="en-US" dirty="0"/>
              <a:t>Function Templates</a:t>
            </a:r>
          </a:p>
          <a:p>
            <a:pPr lvl="1"/>
            <a:r>
              <a:rPr lang="en-US" dirty="0"/>
              <a:t>Class Templates</a:t>
            </a:r>
          </a:p>
          <a:p>
            <a:endParaRPr lang="en-US" dirty="0"/>
          </a:p>
          <a:p>
            <a:r>
              <a:rPr lang="en-US" dirty="0"/>
              <a:t>Compiler generates different type-specific copies from a single template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923928" y="4005064"/>
            <a:ext cx="4644703" cy="9361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b="1" kern="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kern="0" dirty="0" smtClean="0">
                <a:latin typeface="Consolas" panose="020B0609020204030204" pitchFamily="49" charset="0"/>
              </a:rPr>
              <a:t> &lt;</a:t>
            </a:r>
            <a:r>
              <a:rPr lang="en-US" b="1" kern="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en-US" kern="0" dirty="0" smtClean="0">
                <a:latin typeface="Consolas" panose="020B0609020204030204" pitchFamily="49" charset="0"/>
              </a:rPr>
              <a:t> Type&gt;</a:t>
            </a:r>
          </a:p>
          <a:p>
            <a:pPr marL="0" indent="0">
              <a:buFontTx/>
              <a:buNone/>
            </a:pPr>
            <a:r>
              <a:rPr lang="en-US" kern="0" dirty="0">
                <a:latin typeface="Consolas" panose="020B0609020204030204" pitchFamily="49" charset="0"/>
              </a:rPr>
              <a:t>f</a:t>
            </a:r>
            <a:r>
              <a:rPr lang="en-US" kern="0" dirty="0" smtClean="0">
                <a:latin typeface="Consolas" panose="020B0609020204030204" pitchFamily="49" charset="0"/>
              </a:rPr>
              <a:t>unction or class declaration;</a:t>
            </a:r>
            <a:endParaRPr lang="en-US" kern="0" dirty="0">
              <a:latin typeface="Consolas" panose="020B06090202040302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923927" y="5130297"/>
            <a:ext cx="4644703" cy="9361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b="1" kern="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kern="0" dirty="0" smtClean="0">
                <a:latin typeface="Consolas" panose="020B0609020204030204" pitchFamily="49" charset="0"/>
              </a:rPr>
              <a:t> &lt;</a:t>
            </a:r>
            <a:r>
              <a:rPr lang="en-US" b="1" kern="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typename</a:t>
            </a:r>
            <a:r>
              <a:rPr lang="en-US" kern="0" dirty="0" smtClean="0">
                <a:latin typeface="Consolas" panose="020B0609020204030204" pitchFamily="49" charset="0"/>
              </a:rPr>
              <a:t> Type&gt;</a:t>
            </a:r>
          </a:p>
          <a:p>
            <a:pPr marL="0" indent="0">
              <a:buFontTx/>
              <a:buNone/>
            </a:pPr>
            <a:r>
              <a:rPr lang="en-US" kern="0" dirty="0">
                <a:latin typeface="Consolas" panose="020B0609020204030204" pitchFamily="49" charset="0"/>
              </a:rPr>
              <a:t>f</a:t>
            </a:r>
            <a:r>
              <a:rPr lang="en-US" kern="0" dirty="0" smtClean="0">
                <a:latin typeface="Consolas" panose="020B0609020204030204" pitchFamily="49" charset="0"/>
              </a:rPr>
              <a:t>unction or class declaration;</a:t>
            </a:r>
            <a:endParaRPr lang="en-US" kern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14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Templates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template can be parameterized to operate on different types of </a:t>
            </a:r>
            <a:r>
              <a:rPr lang="en-US" dirty="0" smtClean="0"/>
              <a:t>data</a:t>
            </a:r>
          </a:p>
          <a:p>
            <a:endParaRPr lang="en-US" dirty="0"/>
          </a:p>
          <a:p>
            <a:r>
              <a:rPr lang="en-US" dirty="0" smtClean="0"/>
              <a:t>Declaration:</a:t>
            </a:r>
            <a:endParaRPr lang="en-US" dirty="0"/>
          </a:p>
          <a:p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383147" y="2888940"/>
            <a:ext cx="3168030" cy="7920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b="1" kern="0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template</a:t>
            </a:r>
            <a:r>
              <a:rPr lang="en-US" kern="0" smtClean="0">
                <a:latin typeface="Consolas" panose="020B0609020204030204" pitchFamily="49" charset="0"/>
                <a:cs typeface="Courier New" pitchFamily="49" charset="0"/>
              </a:rPr>
              <a:t>&lt; </a:t>
            </a:r>
            <a:r>
              <a:rPr lang="en-US" b="1" kern="0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class</a:t>
            </a:r>
            <a:r>
              <a:rPr lang="en-US" kern="0" smtClean="0">
                <a:latin typeface="Consolas" panose="020B0609020204030204" pitchFamily="49" charset="0"/>
                <a:cs typeface="Courier New" pitchFamily="49" charset="0"/>
              </a:rPr>
              <a:t> T 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kern="0" smtClean="0">
                <a:latin typeface="Consolas" panose="020B0609020204030204" pitchFamily="49" charset="0"/>
                <a:cs typeface="Courier New" pitchFamily="49" charset="0"/>
              </a:rPr>
              <a:t>void funName( T x );</a:t>
            </a:r>
          </a:p>
          <a:p>
            <a:endParaRPr lang="en-US" kern="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403970" y="3831728"/>
            <a:ext cx="3456062" cy="7920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b="1" kern="0" dirty="0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template</a:t>
            </a:r>
            <a:r>
              <a:rPr lang="en-US" kern="0" dirty="0" smtClean="0">
                <a:latin typeface="Consolas" panose="020B0609020204030204" pitchFamily="49" charset="0"/>
                <a:cs typeface="Courier New" pitchFamily="49" charset="0"/>
              </a:rPr>
              <a:t>&lt; </a:t>
            </a:r>
            <a:r>
              <a:rPr lang="en-US" b="1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typename</a:t>
            </a:r>
            <a:r>
              <a:rPr lang="en-US" kern="0" dirty="0" smtClean="0">
                <a:latin typeface="Consolas" panose="020B0609020204030204" pitchFamily="49" charset="0"/>
                <a:cs typeface="Courier New" pitchFamily="49" charset="0"/>
              </a:rPr>
              <a:t> T 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kern="0" dirty="0" smtClean="0">
                <a:latin typeface="Consolas" panose="020B0609020204030204" pitchFamily="49" charset="0"/>
                <a:cs typeface="Courier New" pitchFamily="49" charset="0"/>
              </a:rPr>
              <a:t>void </a:t>
            </a:r>
            <a:r>
              <a:rPr lang="en-US" kern="0" dirty="0" err="1" smtClean="0">
                <a:latin typeface="Consolas" panose="020B0609020204030204" pitchFamily="49" charset="0"/>
                <a:cs typeface="Courier New" pitchFamily="49" charset="0"/>
              </a:rPr>
              <a:t>funName</a:t>
            </a:r>
            <a:r>
              <a:rPr lang="en-US" kern="0" dirty="0" smtClean="0">
                <a:latin typeface="Consolas" panose="020B0609020204030204" pitchFamily="49" charset="0"/>
                <a:cs typeface="Courier New" pitchFamily="49" charset="0"/>
              </a:rPr>
              <a:t>( T x );</a:t>
            </a:r>
          </a:p>
          <a:p>
            <a:endParaRPr lang="en-US" kern="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377132" y="4812513"/>
            <a:ext cx="4822106" cy="7920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b="1" kern="0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template</a:t>
            </a:r>
            <a:r>
              <a:rPr lang="en-US" kern="0" smtClean="0">
                <a:latin typeface="Consolas" panose="020B0609020204030204" pitchFamily="49" charset="0"/>
                <a:cs typeface="Courier New" pitchFamily="49" charset="0"/>
              </a:rPr>
              <a:t>&lt; </a:t>
            </a:r>
            <a:r>
              <a:rPr lang="en-US" b="1" kern="0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class</a:t>
            </a:r>
            <a:r>
              <a:rPr lang="en-US" kern="0" smtClean="0">
                <a:latin typeface="Consolas" panose="020B0609020204030204" pitchFamily="49" charset="0"/>
                <a:cs typeface="Courier New" pitchFamily="49" charset="0"/>
              </a:rPr>
              <a:t> T, </a:t>
            </a:r>
            <a:r>
              <a:rPr lang="en-US" b="1" kern="0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class</a:t>
            </a:r>
            <a:r>
              <a:rPr lang="en-US" kern="0" smtClean="0">
                <a:latin typeface="Consolas" panose="020B0609020204030204" pitchFamily="49" charset="0"/>
                <a:cs typeface="Courier New" pitchFamily="49" charset="0"/>
              </a:rPr>
              <a:t> U, … 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kern="0" smtClean="0">
                <a:latin typeface="Consolas" panose="020B0609020204030204" pitchFamily="49" charset="0"/>
                <a:cs typeface="Courier New" pitchFamily="49" charset="0"/>
              </a:rPr>
              <a:t>void funName( T x, U y, … );</a:t>
            </a:r>
            <a:endParaRPr lang="en-US" kern="0" dirty="0">
              <a:latin typeface="Consolas" panose="020B060902020403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12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432048"/>
          </a:xfrm>
        </p:spPr>
        <p:txBody>
          <a:bodyPr/>
          <a:lstStyle/>
          <a:p>
            <a:r>
              <a:rPr lang="en-US" dirty="0"/>
              <a:t>function template </a:t>
            </a:r>
            <a:r>
              <a:rPr lang="en-US" dirty="0" smtClean="0"/>
              <a:t>to print </a:t>
            </a:r>
            <a:r>
              <a:rPr lang="en-US" dirty="0"/>
              <a:t>an array having almost any type of </a:t>
            </a:r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763849" y="1556792"/>
            <a:ext cx="5614413" cy="1692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700" kern="0" dirty="0" smtClean="0">
                <a:latin typeface="Consolas" panose="020B0609020204030204" pitchFamily="49" charset="0"/>
              </a:rPr>
              <a:t>&lt; </a:t>
            </a:r>
            <a:r>
              <a:rPr lang="en-US" sz="1700" b="1" kern="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typename</a:t>
            </a:r>
            <a:r>
              <a:rPr lang="en-US" sz="1700" kern="0" dirty="0" smtClean="0">
                <a:latin typeface="Consolas" panose="020B0609020204030204" pitchFamily="49" charset="0"/>
              </a:rPr>
              <a:t> T &gt;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 smtClean="0">
                <a:latin typeface="Consolas" panose="020B0609020204030204" pitchFamily="49" charset="0"/>
              </a:rPr>
              <a:t>void</a:t>
            </a:r>
            <a:r>
              <a:rPr lang="en-US" sz="1700" kern="0" dirty="0" smtClean="0">
                <a:latin typeface="Consolas" panose="020B0609020204030204" pitchFamily="49" charset="0"/>
              </a:rPr>
              <a:t> </a:t>
            </a:r>
            <a:r>
              <a:rPr lang="en-US" sz="1700" kern="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printArray</a:t>
            </a:r>
            <a:r>
              <a:rPr lang="en-US" sz="1700" kern="0" dirty="0" smtClean="0">
                <a:latin typeface="Consolas" panose="020B0609020204030204" pitchFamily="49" charset="0"/>
              </a:rPr>
              <a:t>( T* array, </a:t>
            </a:r>
            <a:r>
              <a:rPr lang="en-US" sz="1700" kern="0" dirty="0" err="1" smtClean="0">
                <a:latin typeface="Consolas" panose="020B0609020204030204" pitchFamily="49" charset="0"/>
              </a:rPr>
              <a:t>int</a:t>
            </a:r>
            <a:r>
              <a:rPr lang="en-US" sz="1700" kern="0" dirty="0" smtClean="0">
                <a:latin typeface="Consolas" panose="020B0609020204030204" pitchFamily="49" charset="0"/>
              </a:rPr>
              <a:t> size ) {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</a:rPr>
              <a:t>    </a:t>
            </a:r>
            <a:r>
              <a:rPr lang="en-US" sz="1700" b="1" kern="0" dirty="0" smtClean="0">
                <a:latin typeface="Consolas" panose="020B0609020204030204" pitchFamily="49" charset="0"/>
              </a:rPr>
              <a:t>for</a:t>
            </a:r>
            <a:r>
              <a:rPr lang="en-US" sz="1700" kern="0" dirty="0" smtClean="0">
                <a:latin typeface="Consolas" panose="020B0609020204030204" pitchFamily="49" charset="0"/>
              </a:rPr>
              <a:t> ( </a:t>
            </a:r>
            <a:r>
              <a:rPr lang="en-US" sz="1700" kern="0" dirty="0" err="1" smtClean="0">
                <a:latin typeface="Consolas" panose="020B0609020204030204" pitchFamily="49" charset="0"/>
              </a:rPr>
              <a:t>int</a:t>
            </a:r>
            <a:r>
              <a:rPr lang="en-US" sz="1700" kern="0" dirty="0" smtClean="0">
                <a:latin typeface="Consolas" panose="020B0609020204030204" pitchFamily="49" charset="0"/>
              </a:rPr>
              <a:t> </a:t>
            </a:r>
            <a:r>
              <a:rPr lang="en-US" sz="1700" kern="0" dirty="0" err="1" smtClean="0">
                <a:latin typeface="Consolas" panose="020B0609020204030204" pitchFamily="49" charset="0"/>
              </a:rPr>
              <a:t>i</a:t>
            </a:r>
            <a:r>
              <a:rPr lang="en-US" sz="1700" kern="0" dirty="0" smtClean="0">
                <a:latin typeface="Consolas" panose="020B0609020204030204" pitchFamily="49" charset="0"/>
              </a:rPr>
              <a:t> = 0; </a:t>
            </a:r>
            <a:r>
              <a:rPr lang="en-US" sz="1700" kern="0" dirty="0" err="1" smtClean="0">
                <a:latin typeface="Consolas" panose="020B0609020204030204" pitchFamily="49" charset="0"/>
              </a:rPr>
              <a:t>i</a:t>
            </a:r>
            <a:r>
              <a:rPr lang="en-US" sz="1700" kern="0" dirty="0" smtClean="0">
                <a:latin typeface="Consolas" panose="020B0609020204030204" pitchFamily="49" charset="0"/>
              </a:rPr>
              <a:t> &lt; size; </a:t>
            </a:r>
            <a:r>
              <a:rPr lang="en-US" sz="1700" kern="0" dirty="0" err="1" smtClean="0">
                <a:latin typeface="Consolas" panose="020B0609020204030204" pitchFamily="49" charset="0"/>
              </a:rPr>
              <a:t>i</a:t>
            </a:r>
            <a:r>
              <a:rPr lang="en-US" sz="1700" kern="0" dirty="0" smtClean="0">
                <a:latin typeface="Consolas" panose="020B0609020204030204" pitchFamily="49" charset="0"/>
              </a:rPr>
              <a:t>++ )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</a:rPr>
              <a:t>        </a:t>
            </a:r>
            <a:r>
              <a:rPr lang="en-US" sz="1700" kern="0" dirty="0" err="1" smtClean="0">
                <a:latin typeface="Consolas" panose="020B0609020204030204" pitchFamily="49" charset="0"/>
              </a:rPr>
              <a:t>cout</a:t>
            </a:r>
            <a:r>
              <a:rPr lang="en-US" sz="1700" kern="0" dirty="0" smtClean="0">
                <a:latin typeface="Consolas" panose="020B0609020204030204" pitchFamily="49" charset="0"/>
              </a:rPr>
              <a:t> &lt;&lt; array[ </a:t>
            </a:r>
            <a:r>
              <a:rPr lang="en-US" sz="1700" kern="0" dirty="0" err="1" smtClean="0">
                <a:latin typeface="Consolas" panose="020B0609020204030204" pitchFamily="49" charset="0"/>
              </a:rPr>
              <a:t>i</a:t>
            </a:r>
            <a:r>
              <a:rPr lang="en-US" sz="1700" kern="0" dirty="0" smtClean="0">
                <a:latin typeface="Consolas" panose="020B0609020204030204" pitchFamily="49" charset="0"/>
              </a:rPr>
              <a:t> ] &lt;&lt; “, ”;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</a:rPr>
              <a:t>}</a:t>
            </a:r>
          </a:p>
          <a:p>
            <a:endParaRPr lang="en-US" sz="1800" kern="0" dirty="0"/>
          </a:p>
        </p:txBody>
      </p:sp>
      <p:sp>
        <p:nvSpPr>
          <p:cNvPr id="7" name="Content Placeholder 5"/>
          <p:cNvSpPr txBox="1">
            <a:spLocks/>
          </p:cNvSpPr>
          <p:nvPr/>
        </p:nvSpPr>
        <p:spPr bwMode="auto">
          <a:xfrm>
            <a:off x="1763849" y="3356992"/>
            <a:ext cx="5614413" cy="2988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b="1" kern="0" dirty="0" err="1" smtClean="0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main() {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b="1" kern="0" dirty="0" err="1" smtClean="0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kern="0" dirty="0" err="1" smtClean="0">
                <a:latin typeface="Consolas" panose="020B0609020204030204" pitchFamily="49" charset="0"/>
                <a:cs typeface="Courier New" pitchFamily="49" charset="0"/>
              </a:rPr>
              <a:t>iArray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[5] = { 1, 2, 3, 4, 5 };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printArray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1700" kern="0" dirty="0" err="1" smtClean="0">
                <a:latin typeface="Consolas" panose="020B0609020204030204" pitchFamily="49" charset="0"/>
                <a:cs typeface="Courier New" pitchFamily="49" charset="0"/>
              </a:rPr>
              <a:t>iArray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, 5 );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kern="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Instantiated for </a:t>
            </a:r>
            <a:r>
              <a:rPr lang="en-US" sz="1700" kern="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kern="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[]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US" sz="1700" kern="0" dirty="0" smtClean="0">
              <a:latin typeface="Consolas" panose="020B0609020204030204" pitchFamily="49" charset="0"/>
              <a:cs typeface="Courier New" pitchFamily="49" charset="0"/>
            </a:endParaRP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b="1" kern="0" dirty="0" smtClean="0">
                <a:latin typeface="Consolas" panose="020B0609020204030204" pitchFamily="49" charset="0"/>
                <a:cs typeface="Courier New" pitchFamily="49" charset="0"/>
              </a:rPr>
              <a:t>char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kern="0" dirty="0" err="1" smtClean="0">
                <a:latin typeface="Consolas" panose="020B0609020204030204" pitchFamily="49" charset="0"/>
                <a:cs typeface="Courier New" pitchFamily="49" charset="0"/>
              </a:rPr>
              <a:t>cArray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[3] = { ‘a’, ‘b’, ‘c’ };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printArray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1700" kern="0" dirty="0" err="1" smtClean="0">
                <a:latin typeface="Consolas" panose="020B0609020204030204" pitchFamily="49" charset="0"/>
                <a:cs typeface="Courier New" pitchFamily="49" charset="0"/>
              </a:rPr>
              <a:t>cArray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, 3 );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    // Instantiated for char[]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b="1" kern="0" dirty="0" smtClean="0">
                <a:latin typeface="Consolas" panose="020B0609020204030204" pitchFamily="49" charset="0"/>
                <a:cs typeface="Courier New" pitchFamily="49" charset="0"/>
              </a:rPr>
              <a:t>return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0;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endParaRPr lang="en-US" sz="1700" kern="0" dirty="0"/>
          </a:p>
        </p:txBody>
      </p:sp>
    </p:spTree>
    <p:extLst>
      <p:ext uri="{BB962C8B-B14F-4D97-AF65-F5344CB8AC3E}">
        <p14:creationId xmlns:p14="http://schemas.microsoft.com/office/powerpoint/2010/main" val="29057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Explicit Type Parameterization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template may not have any parameter</a:t>
            </a:r>
          </a:p>
          <a:p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943869" y="1601945"/>
            <a:ext cx="5256262" cy="20917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template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&lt;</a:t>
            </a:r>
            <a:r>
              <a:rPr lang="en-US" sz="1700" b="1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typename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T&gt;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T </a:t>
            </a:r>
            <a:r>
              <a:rPr lang="en-US" sz="1700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getInput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() {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T x;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kern="0" dirty="0" err="1" smtClean="0">
                <a:latin typeface="Consolas" panose="020B0609020204030204" pitchFamily="49" charset="0"/>
                <a:cs typeface="Courier New" pitchFamily="49" charset="0"/>
              </a:rPr>
              <a:t>cin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&gt;&gt; x;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return x;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endParaRPr lang="en-US" sz="1700" kern="0" dirty="0"/>
          </a:p>
        </p:txBody>
      </p:sp>
      <p:sp>
        <p:nvSpPr>
          <p:cNvPr id="9" name="Content Placeholder 5"/>
          <p:cNvSpPr txBox="1">
            <a:spLocks/>
          </p:cNvSpPr>
          <p:nvPr/>
        </p:nvSpPr>
        <p:spPr bwMode="auto">
          <a:xfrm>
            <a:off x="1943869" y="3772785"/>
            <a:ext cx="5256262" cy="24122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b="1" kern="0" dirty="0" err="1" smtClean="0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main() 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b="1" kern="0" dirty="0" err="1" smtClean="0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x;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x = </a:t>
            </a:r>
            <a:r>
              <a:rPr lang="en-US" sz="1700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getInput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();		</a:t>
            </a:r>
            <a:r>
              <a:rPr lang="en-US" sz="1700" kern="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??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US" sz="1700" kern="0" dirty="0" smtClean="0">
              <a:latin typeface="Consolas" panose="020B0609020204030204" pitchFamily="49" charset="0"/>
              <a:cs typeface="Courier New" pitchFamily="49" charset="0"/>
            </a:endParaRP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b="1" kern="0" dirty="0" smtClean="0">
                <a:latin typeface="Consolas" panose="020B0609020204030204" pitchFamily="49" charset="0"/>
                <a:cs typeface="Courier New" pitchFamily="49" charset="0"/>
              </a:rPr>
              <a:t>double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y;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y = </a:t>
            </a:r>
            <a:r>
              <a:rPr lang="en-US" sz="1700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getInput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();		</a:t>
            </a:r>
            <a:r>
              <a:rPr lang="en-US" sz="1700" kern="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??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endParaRPr lang="en-US" sz="1700" kern="0" dirty="0"/>
          </a:p>
        </p:txBody>
      </p:sp>
    </p:spTree>
    <p:extLst>
      <p:ext uri="{BB962C8B-B14F-4D97-AF65-F5344CB8AC3E}">
        <p14:creationId xmlns:p14="http://schemas.microsoft.com/office/powerpoint/2010/main" val="335763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Explicit Type Parameterization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template may not have any parameter</a:t>
            </a:r>
          </a:p>
          <a:p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943869" y="1601945"/>
            <a:ext cx="5256262" cy="20917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template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&lt;</a:t>
            </a:r>
            <a:r>
              <a:rPr lang="en-US" sz="1700" b="1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typename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T&gt;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T </a:t>
            </a:r>
            <a:r>
              <a:rPr lang="en-US" sz="1700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getInput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() {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T x;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kern="0" dirty="0" err="1" smtClean="0">
                <a:latin typeface="Consolas" panose="020B0609020204030204" pitchFamily="49" charset="0"/>
                <a:cs typeface="Courier New" pitchFamily="49" charset="0"/>
              </a:rPr>
              <a:t>cin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&gt;&gt; x;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return x;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endParaRPr lang="en-US" sz="1700" kern="0" dirty="0"/>
          </a:p>
        </p:txBody>
      </p:sp>
      <p:sp>
        <p:nvSpPr>
          <p:cNvPr id="9" name="Content Placeholder 5"/>
          <p:cNvSpPr txBox="1">
            <a:spLocks/>
          </p:cNvSpPr>
          <p:nvPr/>
        </p:nvSpPr>
        <p:spPr bwMode="auto">
          <a:xfrm>
            <a:off x="1943869" y="3772785"/>
            <a:ext cx="5256262" cy="24122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b="1" kern="0" dirty="0" err="1" smtClean="0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main() 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b="1" kern="0" dirty="0" err="1" smtClean="0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x;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x = </a:t>
            </a:r>
            <a:r>
              <a:rPr lang="en-US" sz="1700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getInput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();		</a:t>
            </a:r>
            <a:r>
              <a:rPr lang="en-US" sz="1700" kern="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Error!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US" sz="1700" kern="0" dirty="0" smtClean="0">
              <a:latin typeface="Consolas" panose="020B0609020204030204" pitchFamily="49" charset="0"/>
              <a:cs typeface="Courier New" pitchFamily="49" charset="0"/>
            </a:endParaRP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b="1" kern="0" dirty="0" smtClean="0">
                <a:latin typeface="Consolas" panose="020B0609020204030204" pitchFamily="49" charset="0"/>
                <a:cs typeface="Courier New" pitchFamily="49" charset="0"/>
              </a:rPr>
              <a:t>double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y;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y = </a:t>
            </a:r>
            <a:r>
              <a:rPr lang="en-US" sz="1700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getInput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();		</a:t>
            </a:r>
            <a:r>
              <a:rPr lang="en-US" sz="1700" kern="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Error!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endParaRPr lang="en-US" sz="1700" kern="0" dirty="0"/>
          </a:p>
        </p:txBody>
      </p:sp>
    </p:spTree>
    <p:extLst>
      <p:ext uri="{BB962C8B-B14F-4D97-AF65-F5344CB8AC3E}">
        <p14:creationId xmlns:p14="http://schemas.microsoft.com/office/powerpoint/2010/main" val="134371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Explicit Type Parameterization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template may not have any parameter</a:t>
            </a:r>
          </a:p>
          <a:p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943869" y="1601945"/>
            <a:ext cx="5256262" cy="20917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template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&lt;</a:t>
            </a:r>
            <a:r>
              <a:rPr lang="en-US" sz="1700" b="1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typename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T&gt;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T </a:t>
            </a:r>
            <a:r>
              <a:rPr lang="en-US" sz="1700" kern="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getInput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() {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T x;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kern="0" dirty="0" err="1" smtClean="0">
                <a:latin typeface="Consolas" panose="020B0609020204030204" pitchFamily="49" charset="0"/>
                <a:cs typeface="Courier New" pitchFamily="49" charset="0"/>
              </a:rPr>
              <a:t>cin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&gt;&gt; x;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return x;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endParaRPr lang="en-US" sz="1700" kern="0" dirty="0"/>
          </a:p>
        </p:txBody>
      </p:sp>
      <p:sp>
        <p:nvSpPr>
          <p:cNvPr id="9" name="Content Placeholder 5"/>
          <p:cNvSpPr txBox="1">
            <a:spLocks/>
          </p:cNvSpPr>
          <p:nvPr/>
        </p:nvSpPr>
        <p:spPr bwMode="auto">
          <a:xfrm>
            <a:off x="1943869" y="3772785"/>
            <a:ext cx="5256262" cy="24122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b="1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main() 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b="1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x;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x = </a:t>
            </a:r>
            <a:r>
              <a:rPr lang="en-US" sz="17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getInput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&lt;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&gt;();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b="1" dirty="0">
                <a:latin typeface="Consolas" panose="020B0609020204030204" pitchFamily="49" charset="0"/>
                <a:cs typeface="Courier New" pitchFamily="49" charset="0"/>
              </a:rPr>
              <a:t>double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y;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y = </a:t>
            </a:r>
            <a:r>
              <a:rPr lang="en-US" sz="17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getInput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&lt; double &gt;();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endParaRPr lang="en-US" sz="1700" kern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18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User-Defined Specialization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template may not handle all the types successfully</a:t>
            </a:r>
          </a:p>
          <a:p>
            <a:r>
              <a:rPr lang="en-US" dirty="0" smtClean="0"/>
              <a:t>Explicit specializations might be needed for </a:t>
            </a:r>
            <a:r>
              <a:rPr lang="en-US" dirty="0"/>
              <a:t>specific type(s)</a:t>
            </a:r>
          </a:p>
          <a:p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619672" y="2235932"/>
            <a:ext cx="5868492" cy="14670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template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&lt; </a:t>
            </a:r>
            <a:r>
              <a:rPr lang="en-US" sz="1700" b="1" kern="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typename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 T &gt;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>
                <a:latin typeface="Consolas" panose="020B0609020204030204" pitchFamily="49" charset="0"/>
                <a:cs typeface="Courier New" pitchFamily="49" charset="0"/>
              </a:rPr>
              <a:t>bool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kern="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isEqual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( T x, T y ) {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1700" b="1" kern="0" dirty="0" smtClean="0">
                <a:latin typeface="Consolas" panose="020B0609020204030204" pitchFamily="49" charset="0"/>
                <a:cs typeface="Courier New" pitchFamily="49" charset="0"/>
              </a:rPr>
              <a:t>return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( x == y );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}</a:t>
            </a:r>
            <a:endParaRPr lang="en-US" sz="1700" kern="0" dirty="0"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10" name="Content Placeholder 5"/>
          <p:cNvSpPr txBox="1">
            <a:spLocks/>
          </p:cNvSpPr>
          <p:nvPr/>
        </p:nvSpPr>
        <p:spPr bwMode="auto">
          <a:xfrm>
            <a:off x="1619672" y="3861048"/>
            <a:ext cx="5868492" cy="21044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b="1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main( ) 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isEqual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( 5, 6 );	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      </a:t>
            </a:r>
            <a:r>
              <a:rPr lang="en-US" sz="170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</a:t>
            </a:r>
            <a:r>
              <a:rPr lang="en-US" sz="17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OK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isEqual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( 7.5, 7.5 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);      </a:t>
            </a:r>
            <a:r>
              <a:rPr lang="en-US" sz="170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</a:t>
            </a:r>
            <a:r>
              <a:rPr lang="en-US" sz="17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OK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isEqual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 “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abc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”, “xyz” 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);  </a:t>
            </a:r>
            <a:r>
              <a:rPr lang="en-US" sz="170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</a:t>
            </a:r>
            <a:r>
              <a:rPr lang="en-US" sz="17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Logical Error!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b="1" dirty="0" smtClean="0">
                <a:latin typeface="Consolas" panose="020B0609020204030204" pitchFamily="49" charset="0"/>
                <a:cs typeface="Courier New" pitchFamily="49" charset="0"/>
              </a:rPr>
              <a:t>return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0;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endParaRPr lang="en-US" sz="1700" kern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81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Specialization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 smtClean="0"/>
              <a:t>4-Function Templates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99698" y="2766145"/>
            <a:ext cx="8520774" cy="16251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b="1" dirty="0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template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&lt; &gt;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b="1" dirty="0" smtClean="0">
                <a:latin typeface="Consolas" panose="020B0609020204030204" pitchFamily="49" charset="0"/>
                <a:cs typeface="Courier New" pitchFamily="49" charset="0"/>
              </a:rPr>
              <a:t>bool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isEqual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&lt; </a:t>
            </a:r>
            <a:r>
              <a:rPr lang="en-US" sz="1700" dirty="0" err="1" smtClean="0">
                <a:latin typeface="Consolas" panose="020B0609020204030204" pitchFamily="49" charset="0"/>
                <a:cs typeface="Courier New" pitchFamily="49" charset="0"/>
              </a:rPr>
              <a:t>const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char* &gt;(</a:t>
            </a:r>
            <a:r>
              <a:rPr lang="en-US" sz="1700" b="1" dirty="0" err="1" smtClean="0">
                <a:latin typeface="Consolas" panose="020B0609020204030204" pitchFamily="49" charset="0"/>
                <a:cs typeface="Courier New" pitchFamily="49" charset="0"/>
              </a:rPr>
              <a:t>const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latin typeface="Consolas" panose="020B0609020204030204" pitchFamily="49" charset="0"/>
                <a:cs typeface="Courier New" pitchFamily="49" charset="0"/>
              </a:rPr>
              <a:t>char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* x, </a:t>
            </a:r>
            <a:r>
              <a:rPr lang="en-US" sz="1700" b="1" dirty="0" err="1" smtClean="0">
                <a:latin typeface="Consolas" panose="020B0609020204030204" pitchFamily="49" charset="0"/>
                <a:cs typeface="Courier New" pitchFamily="49" charset="0"/>
              </a:rPr>
              <a:t>const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latin typeface="Consolas" panose="020B0609020204030204" pitchFamily="49" charset="0"/>
                <a:cs typeface="Courier New" pitchFamily="49" charset="0"/>
              </a:rPr>
              <a:t>char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* y ) 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b="1" dirty="0" smtClean="0">
                <a:latin typeface="Consolas" panose="020B0609020204030204" pitchFamily="49" charset="0"/>
                <a:cs typeface="Courier New" pitchFamily="49" charset="0"/>
              </a:rPr>
              <a:t>return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( </a:t>
            </a:r>
            <a:r>
              <a:rPr lang="en-US" sz="1700" dirty="0" err="1" smtClean="0">
                <a:latin typeface="Consolas" panose="020B0609020204030204" pitchFamily="49" charset="0"/>
                <a:cs typeface="Courier New" pitchFamily="49" charset="0"/>
              </a:rPr>
              <a:t>strcmp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( x, y ) == 0 );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}</a:t>
            </a:r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99698" y="1169897"/>
            <a:ext cx="8496944" cy="14670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template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&lt; </a:t>
            </a:r>
            <a:r>
              <a:rPr lang="en-US" sz="1700" b="1" kern="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typename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 T &gt;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>
                <a:latin typeface="Consolas" panose="020B0609020204030204" pitchFamily="49" charset="0"/>
                <a:cs typeface="Courier New" pitchFamily="49" charset="0"/>
              </a:rPr>
              <a:t>bool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kern="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isEqual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( T x, T y ) {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1700" b="1" kern="0" dirty="0" smtClean="0">
                <a:latin typeface="Consolas" panose="020B0609020204030204" pitchFamily="49" charset="0"/>
                <a:cs typeface="Courier New" pitchFamily="49" charset="0"/>
              </a:rPr>
              <a:t>return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( x == y );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}</a:t>
            </a:r>
            <a:endParaRPr lang="en-US" sz="1700" kern="0" dirty="0"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8" name="Content Placeholder 5"/>
          <p:cNvSpPr txBox="1">
            <a:spLocks/>
          </p:cNvSpPr>
          <p:nvPr/>
        </p:nvSpPr>
        <p:spPr bwMode="auto">
          <a:xfrm>
            <a:off x="299698" y="4564873"/>
            <a:ext cx="8520774" cy="21044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b="1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main( ) 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isEqual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( 5, 6 );	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      </a:t>
            </a:r>
            <a:r>
              <a:rPr lang="en-US" sz="170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Target: General Template</a:t>
            </a:r>
            <a:endParaRPr lang="en-US" sz="1700" dirty="0">
              <a:solidFill>
                <a:srgbClr val="00B05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isEqual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( 7.5, 7.5 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);      </a:t>
            </a:r>
            <a:r>
              <a:rPr lang="en-US" sz="170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Target: General Template</a:t>
            </a:r>
            <a:endParaRPr lang="en-US" sz="1700" dirty="0">
              <a:solidFill>
                <a:srgbClr val="00B05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dirty="0" err="1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isEqual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 “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abc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”, “xyz” 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);  </a:t>
            </a:r>
            <a:r>
              <a:rPr lang="en-US" sz="170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Target: User Specialization</a:t>
            </a:r>
            <a:endParaRPr lang="en-US" sz="1700" dirty="0">
              <a:solidFill>
                <a:srgbClr val="00B05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b="1" dirty="0" smtClean="0">
                <a:latin typeface="Consolas" panose="020B0609020204030204" pitchFamily="49" charset="0"/>
                <a:cs typeface="Courier New" pitchFamily="49" charset="0"/>
              </a:rPr>
              <a:t>return</a:t>
            </a:r>
            <a:r>
              <a:rPr lang="en-US" sz="170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0;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endParaRPr lang="en-US" sz="1700" kern="0" dirty="0"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44208" y="2174698"/>
            <a:ext cx="2305789" cy="417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General Template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44208" y="3947269"/>
            <a:ext cx="2296843" cy="417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User Specialization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63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Type Arguments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630494" y="1597280"/>
            <a:ext cx="5868492" cy="14670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 </a:t>
            </a:r>
            <a:r>
              <a:rPr lang="en-US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typename</a:t>
            </a:r>
            <a:r>
              <a:rPr lang="en-US" sz="1800" dirty="0">
                <a:latin typeface="Consolas" panose="020B0609020204030204" pitchFamily="49" charset="0"/>
              </a:rPr>
              <a:t> T, </a:t>
            </a:r>
            <a:r>
              <a:rPr lang="en-US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typename</a:t>
            </a:r>
            <a:r>
              <a:rPr lang="en-US" sz="1800" dirty="0">
                <a:latin typeface="Consolas" panose="020B0609020204030204" pitchFamily="49" charset="0"/>
              </a:rPr>
              <a:t> U 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T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my_cast</a:t>
            </a:r>
            <a:r>
              <a:rPr lang="en-US" sz="1800" dirty="0">
                <a:latin typeface="Consolas" panose="020B0609020204030204" pitchFamily="49" charset="0"/>
              </a:rPr>
              <a:t>( U </a:t>
            </a:r>
            <a:r>
              <a:rPr lang="en-US" sz="1800" dirty="0" err="1">
                <a:latin typeface="Consolas" panose="020B0609020204030204" pitchFamily="49" charset="0"/>
              </a:rPr>
              <a:t>u</a:t>
            </a:r>
            <a:r>
              <a:rPr lang="en-US" sz="1800" dirty="0">
                <a:latin typeface="Consolas" panose="020B0609020204030204" pitchFamily="49" charset="0"/>
              </a:rPr>
              <a:t>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b="1" dirty="0" smtClean="0">
                <a:latin typeface="Consolas" panose="020B0609020204030204" pitchFamily="49" charset="0"/>
              </a:rPr>
              <a:t>return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(T)u;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5"/>
          <p:cNvSpPr txBox="1">
            <a:spLocks/>
          </p:cNvSpPr>
          <p:nvPr/>
        </p:nvSpPr>
        <p:spPr bwMode="auto">
          <a:xfrm>
            <a:off x="1637754" y="3638971"/>
            <a:ext cx="5868492" cy="21044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main()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b="1" dirty="0" smtClean="0">
                <a:latin typeface="Consolas" panose="020B0609020204030204" pitchFamily="49" charset="0"/>
              </a:rPr>
              <a:t>double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d = 10.5674;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b="1" dirty="0" err="1" smtClean="0">
                <a:latin typeface="Consolas" panose="020B0609020204030204" pitchFamily="49" charset="0"/>
              </a:rPr>
              <a:t>int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j =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my_cast</a:t>
            </a:r>
            <a:r>
              <a:rPr lang="en-US" sz="1800" dirty="0">
                <a:latin typeface="Consolas" panose="020B0609020204030204" pitchFamily="49" charset="0"/>
              </a:rPr>
              <a:t>( d ); 	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//Error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b="1" dirty="0" err="1" smtClean="0">
                <a:latin typeface="Consolas" panose="020B0609020204030204" pitchFamily="49" charset="0"/>
              </a:rPr>
              <a:t>int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my_cast</a:t>
            </a:r>
            <a:r>
              <a:rPr lang="en-US" sz="1800" dirty="0">
                <a:latin typeface="Consolas" panose="020B0609020204030204" pitchFamily="49" charset="0"/>
              </a:rPr>
              <a:t>&lt;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&gt;( d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b="1" dirty="0" smtClean="0">
                <a:latin typeface="Consolas" panose="020B0609020204030204" pitchFamily="49" charset="0"/>
              </a:rPr>
              <a:t>return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0;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sz="1700" kern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5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User-Defined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Besides primitive types, user-defined types can also be passed as type arguments to templates</a:t>
            </a:r>
          </a:p>
          <a:p>
            <a:r>
              <a:rPr lang="en-US" dirty="0" smtClean="0"/>
              <a:t>Compiler </a:t>
            </a:r>
            <a:r>
              <a:rPr lang="en-US" dirty="0"/>
              <a:t>performs static type checking to diagnose type errors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Example: </a:t>
            </a:r>
            <a:r>
              <a:rPr lang="en-US" dirty="0">
                <a:cs typeface="Arial" charset="0"/>
              </a:rPr>
              <a:t>Consider </a:t>
            </a:r>
            <a:r>
              <a:rPr lang="en-US" dirty="0" smtClean="0">
                <a:cs typeface="Arial" charset="0"/>
              </a:rPr>
              <a:t>String </a:t>
            </a:r>
            <a:r>
              <a:rPr lang="en-US" dirty="0">
                <a:cs typeface="Arial" charset="0"/>
              </a:rPr>
              <a:t>class without overloaded operator “==“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177640" y="3681028"/>
            <a:ext cx="4788719" cy="17550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>
                <a:latin typeface="Consolas" panose="020B0609020204030204" pitchFamily="49" charset="0"/>
                <a:cs typeface="Courier New" pitchFamily="49" charset="0"/>
              </a:rPr>
              <a:t>class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 String {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b="1" kern="0" dirty="0" smtClean="0">
                <a:latin typeface="Consolas" panose="020B0609020204030204" pitchFamily="49" charset="0"/>
                <a:cs typeface="Courier New" pitchFamily="49" charset="0"/>
              </a:rPr>
              <a:t>char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* </a:t>
            </a:r>
            <a:r>
              <a:rPr lang="en-US" sz="1700" kern="0" dirty="0" err="1">
                <a:latin typeface="Consolas" panose="020B0609020204030204" pitchFamily="49" charset="0"/>
                <a:cs typeface="Courier New" pitchFamily="49" charset="0"/>
              </a:rPr>
              <a:t>pStr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. . . </a:t>
            </a:r>
            <a:endParaRPr lang="en-US" sz="1700" kern="0" dirty="0">
              <a:latin typeface="Consolas" panose="020B0609020204030204" pitchFamily="49" charset="0"/>
              <a:cs typeface="Courier New" pitchFamily="49" charset="0"/>
            </a:endParaRP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kern="0" dirty="0" smtClean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</a:t>
            </a:r>
            <a:r>
              <a:rPr lang="en-US" sz="1700" kern="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Operator “==“ not defined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};</a:t>
            </a:r>
          </a:p>
          <a:p>
            <a:endParaRPr lang="en-US" sz="1700" kern="0" dirty="0"/>
          </a:p>
        </p:txBody>
      </p:sp>
    </p:spTree>
    <p:extLst>
      <p:ext uri="{BB962C8B-B14F-4D97-AF65-F5344CB8AC3E}">
        <p14:creationId xmlns:p14="http://schemas.microsoft.com/office/powerpoint/2010/main" val="337539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Types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630494" y="1732213"/>
            <a:ext cx="5868492" cy="14670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template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&lt; </a:t>
            </a:r>
            <a:r>
              <a:rPr lang="en-US" sz="1700" b="1" kern="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typename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 T &gt;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>
                <a:latin typeface="Consolas" panose="020B0609020204030204" pitchFamily="49" charset="0"/>
                <a:cs typeface="Courier New" pitchFamily="49" charset="0"/>
              </a:rPr>
              <a:t>bool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kern="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isEqual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( T x, T y ) {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1700" b="1" kern="0" dirty="0" smtClean="0">
                <a:latin typeface="Consolas" panose="020B0609020204030204" pitchFamily="49" charset="0"/>
                <a:cs typeface="Courier New" pitchFamily="49" charset="0"/>
              </a:rPr>
              <a:t>return</a:t>
            </a: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( x == y );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}</a:t>
            </a:r>
            <a:endParaRPr lang="en-US" sz="1700" kern="0" dirty="0"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7" name="Content Placeholder 5"/>
          <p:cNvSpPr txBox="1">
            <a:spLocks/>
          </p:cNvSpPr>
          <p:nvPr/>
        </p:nvSpPr>
        <p:spPr bwMode="auto">
          <a:xfrm>
            <a:off x="1630494" y="3717032"/>
            <a:ext cx="5868492" cy="15971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main() {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String </a:t>
            </a:r>
            <a:r>
              <a:rPr lang="en-US" sz="1800" dirty="0">
                <a:latin typeface="Consolas" panose="020B0609020204030204" pitchFamily="49" charset="0"/>
              </a:rPr>
              <a:t>s1 = “xyz”, s2 = “xyz”;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isEqual</a:t>
            </a:r>
            <a:r>
              <a:rPr lang="en-US" sz="1800" dirty="0">
                <a:latin typeface="Consolas" panose="020B0609020204030204" pitchFamily="49" charset="0"/>
              </a:rPr>
              <a:t>( s1, s2 );	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Error!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b="1" dirty="0" smtClean="0">
                <a:latin typeface="Consolas" panose="020B0609020204030204" pitchFamily="49" charset="0"/>
              </a:rPr>
              <a:t>return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0;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sz="1700" kern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05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User-Defined Types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67544" y="1196752"/>
            <a:ext cx="8208912" cy="3240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kern="0" dirty="0">
                <a:latin typeface="Consolas" panose="020B0609020204030204" pitchFamily="49" charset="0"/>
                <a:cs typeface="Courier New" pitchFamily="49" charset="0"/>
              </a:rPr>
              <a:t>class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 String {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700" b="1" kern="0" dirty="0" smtClean="0">
                <a:latin typeface="Consolas" panose="020B0609020204030204" pitchFamily="49" charset="0"/>
                <a:cs typeface="Courier New" pitchFamily="49" charset="0"/>
              </a:rPr>
              <a:t>char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* </a:t>
            </a:r>
            <a:r>
              <a:rPr lang="en-US" sz="1700" kern="0" dirty="0" err="1">
                <a:latin typeface="Consolas" panose="020B0609020204030204" pitchFamily="49" charset="0"/>
                <a:cs typeface="Courier New" pitchFamily="49" charset="0"/>
              </a:rPr>
              <a:t>pStr</a:t>
            </a:r>
            <a:r>
              <a:rPr lang="en-US" sz="1700" kern="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. . . </a:t>
            </a:r>
            <a:endParaRPr lang="en-US" sz="1700" kern="0" dirty="0">
              <a:latin typeface="Consolas" panose="020B0609020204030204" pitchFamily="49" charset="0"/>
              <a:cs typeface="Courier New" pitchFamily="49" charset="0"/>
            </a:endParaRP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friend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</a:rPr>
              <a:t>bool</a:t>
            </a:r>
            <a:r>
              <a:rPr lang="en-US" sz="1800" dirty="0">
                <a:latin typeface="Consolas" panose="020B0609020204030204" pitchFamily="49" charset="0"/>
              </a:rPr>
              <a:t> operator </a:t>
            </a:r>
            <a:r>
              <a:rPr lang="en-US" sz="1800" dirty="0" smtClean="0">
                <a:latin typeface="Consolas" panose="020B0609020204030204" pitchFamily="49" charset="0"/>
              </a:rPr>
              <a:t>==(</a:t>
            </a:r>
            <a:r>
              <a:rPr lang="en-US" sz="1800" b="1" dirty="0" err="1" smtClean="0">
                <a:latin typeface="Consolas" panose="020B0609020204030204" pitchFamily="49" charset="0"/>
              </a:rPr>
              <a:t>const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String&amp;, </a:t>
            </a: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String&amp; );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kern="0" dirty="0" smtClean="0">
                <a:latin typeface="Consolas" panose="020B0609020204030204" pitchFamily="49" charset="0"/>
                <a:cs typeface="Courier New" pitchFamily="49" charset="0"/>
              </a:rPr>
              <a:t>};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1700" kern="0" dirty="0">
              <a:latin typeface="Consolas" panose="020B0609020204030204" pitchFamily="49" charset="0"/>
              <a:cs typeface="Courier New" pitchFamily="49" charset="0"/>
            </a:endParaRP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latin typeface="Consolas" panose="020B0609020204030204" pitchFamily="49" charset="0"/>
              </a:rPr>
              <a:t>bool</a:t>
            </a:r>
            <a:r>
              <a:rPr lang="en-US" sz="1800" dirty="0">
                <a:latin typeface="Consolas" panose="020B0609020204030204" pitchFamily="49" charset="0"/>
              </a:rPr>
              <a:t> operator ==( </a:t>
            </a: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String&amp; x, </a:t>
            </a:r>
            <a:r>
              <a:rPr lang="en-US" sz="1800" b="1" dirty="0" err="1" smtClean="0">
                <a:latin typeface="Consolas" panose="020B0609020204030204" pitchFamily="49" charset="0"/>
              </a:rPr>
              <a:t>const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String&amp; y ) 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b="1" dirty="0" smtClean="0">
                <a:latin typeface="Consolas" panose="020B0609020204030204" pitchFamily="49" charset="0"/>
              </a:rPr>
              <a:t>return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strcmp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x.pStr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y.pStr</a:t>
            </a:r>
            <a:r>
              <a:rPr lang="en-US" sz="1800" dirty="0">
                <a:latin typeface="Consolas" panose="020B0609020204030204" pitchFamily="49" charset="0"/>
              </a:rPr>
              <a:t>) == 0;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 marL="341313" indent="-341313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1700" kern="0" dirty="0">
              <a:latin typeface="Consolas" panose="020B0609020204030204" pitchFamily="49" charset="0"/>
              <a:cs typeface="Courier New" pitchFamily="49" charset="0"/>
            </a:endParaRPr>
          </a:p>
          <a:p>
            <a:endParaRPr lang="en-US" sz="1700" kern="0" dirty="0">
              <a:latin typeface="Consolas" panose="020B0609020204030204" pitchFamily="49" charset="0"/>
            </a:endParaRPr>
          </a:p>
        </p:txBody>
      </p:sp>
      <p:sp>
        <p:nvSpPr>
          <p:cNvPr id="7" name="Content Placeholder 5"/>
          <p:cNvSpPr txBox="1">
            <a:spLocks/>
          </p:cNvSpPr>
          <p:nvPr/>
        </p:nvSpPr>
        <p:spPr bwMode="auto">
          <a:xfrm>
            <a:off x="467544" y="4653136"/>
            <a:ext cx="8208912" cy="15971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main() {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String </a:t>
            </a:r>
            <a:r>
              <a:rPr lang="en-US" sz="1800" dirty="0">
                <a:latin typeface="Consolas" panose="020B0609020204030204" pitchFamily="49" charset="0"/>
              </a:rPr>
              <a:t>s1 = “xyz”, s2 = “xyz”;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isEqual</a:t>
            </a:r>
            <a:r>
              <a:rPr lang="en-US" sz="1800" dirty="0">
                <a:latin typeface="Consolas" panose="020B0609020204030204" pitchFamily="49" charset="0"/>
              </a:rPr>
              <a:t>( s1, s2 );	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OK</a:t>
            </a:r>
            <a:endParaRPr lang="en-US" sz="18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b="1" dirty="0" smtClean="0">
                <a:latin typeface="Consolas" panose="020B0609020204030204" pitchFamily="49" charset="0"/>
              </a:rPr>
              <a:t>return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0;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sz="1700" kern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44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Overloading vs. Templates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Function overloading</a:t>
            </a:r>
          </a:p>
          <a:p>
            <a:r>
              <a:rPr lang="en-US" dirty="0" smtClean="0"/>
              <a:t>Different </a:t>
            </a:r>
            <a:r>
              <a:rPr lang="en-US" dirty="0"/>
              <a:t>data types, similar operation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Example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‘+’ operation is overloaded for different operand </a:t>
            </a:r>
            <a:r>
              <a:rPr lang="en-US" dirty="0" smtClean="0"/>
              <a:t>types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Function templates</a:t>
            </a:r>
          </a:p>
          <a:p>
            <a:r>
              <a:rPr lang="en-US" dirty="0" smtClean="0"/>
              <a:t>Different </a:t>
            </a:r>
            <a:r>
              <a:rPr lang="en-US" dirty="0"/>
              <a:t>data types, identical operation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Example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single function template can calculate sum of array of many types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87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Overloading vs. </a:t>
            </a:r>
            <a:r>
              <a:rPr lang="en-US" dirty="0" smtClean="0"/>
              <a:t>Templates – Example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300" cy="2376264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String operator +( </a:t>
            </a: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String&amp; </a:t>
            </a:r>
            <a:r>
              <a:rPr lang="en-US" sz="1800" dirty="0" smtClean="0">
                <a:latin typeface="Consolas" panose="020B0609020204030204" pitchFamily="49" charset="0"/>
              </a:rPr>
              <a:t>x, </a:t>
            </a:r>
            <a:r>
              <a:rPr lang="en-US" sz="1800" b="1" dirty="0" err="1" smtClean="0">
                <a:latin typeface="Consolas" panose="020B0609020204030204" pitchFamily="49" charset="0"/>
              </a:rPr>
              <a:t>const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String&amp; y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String </a:t>
            </a:r>
            <a:r>
              <a:rPr lang="en-US" sz="1800" dirty="0" err="1">
                <a:latin typeface="Consolas" panose="020B0609020204030204" pitchFamily="49" charset="0"/>
              </a:rPr>
              <a:t>tmp</a:t>
            </a:r>
            <a:r>
              <a:rPr lang="en-US" sz="1800" dirty="0">
                <a:latin typeface="Consolas" panose="020B0609020204030204" pitchFamily="49" charset="0"/>
              </a:rPr>
              <a:t>;	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</a:rPr>
              <a:t>tmp.pStr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= </a:t>
            </a:r>
            <a:r>
              <a:rPr lang="en-US" sz="1800" b="1" dirty="0">
                <a:latin typeface="Consolas" panose="020B0609020204030204" pitchFamily="49" charset="0"/>
              </a:rPr>
              <a:t>new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</a:rPr>
              <a:t>char</a:t>
            </a:r>
            <a:r>
              <a:rPr lang="en-US" sz="1800" dirty="0">
                <a:latin typeface="Consolas" panose="020B0609020204030204" pitchFamily="49" charset="0"/>
              </a:rPr>
              <a:t>[</a:t>
            </a:r>
            <a:r>
              <a:rPr lang="en-US" sz="1800" dirty="0" err="1">
                <a:latin typeface="Consolas" panose="020B0609020204030204" pitchFamily="49" charset="0"/>
              </a:rPr>
              <a:t>strlen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x.pStr</a:t>
            </a:r>
            <a:r>
              <a:rPr lang="en-US" sz="1800" dirty="0">
                <a:latin typeface="Consolas" panose="020B0609020204030204" pitchFamily="49" charset="0"/>
              </a:rPr>
              <a:t>) </a:t>
            </a:r>
            <a:r>
              <a:rPr lang="en-US" sz="1800" dirty="0" smtClean="0">
                <a:latin typeface="Consolas" panose="020B0609020204030204" pitchFamily="49" charset="0"/>
              </a:rPr>
              <a:t>+ </a:t>
            </a:r>
            <a:r>
              <a:rPr lang="en-US" sz="1800" dirty="0" err="1" smtClean="0">
                <a:latin typeface="Consolas" panose="020B0609020204030204" pitchFamily="49" charset="0"/>
              </a:rPr>
              <a:t>strlen</a:t>
            </a:r>
            <a:r>
              <a:rPr lang="en-US" sz="1800" dirty="0" smtClean="0">
                <a:latin typeface="Consolas" panose="020B0609020204030204" pitchFamily="49" charset="0"/>
              </a:rPr>
              <a:t>(</a:t>
            </a:r>
            <a:r>
              <a:rPr lang="en-US" sz="1800" dirty="0" err="1" smtClean="0">
                <a:latin typeface="Consolas" panose="020B0609020204030204" pitchFamily="49" charset="0"/>
              </a:rPr>
              <a:t>y.pStr</a:t>
            </a:r>
            <a:r>
              <a:rPr lang="en-US" sz="1800" dirty="0">
                <a:latin typeface="Consolas" panose="020B0609020204030204" pitchFamily="49" charset="0"/>
              </a:rPr>
              <a:t>) + 1 ];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</a:rPr>
              <a:t>strcpy</a:t>
            </a:r>
            <a:r>
              <a:rPr lang="en-US" sz="1800" dirty="0">
                <a:latin typeface="Consolas" panose="020B0609020204030204" pitchFamily="49" charset="0"/>
              </a:rPr>
              <a:t>( </a:t>
            </a:r>
            <a:r>
              <a:rPr lang="en-US" sz="1800" dirty="0" err="1">
                <a:latin typeface="Consolas" panose="020B0609020204030204" pitchFamily="49" charset="0"/>
              </a:rPr>
              <a:t>tmp.pStr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x.pStr</a:t>
            </a:r>
            <a:r>
              <a:rPr lang="en-US" sz="1800" dirty="0">
                <a:latin typeface="Consolas" panose="020B0609020204030204" pitchFamily="49" charset="0"/>
              </a:rPr>
              <a:t>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</a:rPr>
              <a:t>strcat</a:t>
            </a:r>
            <a:r>
              <a:rPr lang="en-US" sz="1800" dirty="0">
                <a:latin typeface="Consolas" panose="020B0609020204030204" pitchFamily="49" charset="0"/>
              </a:rPr>
              <a:t>( </a:t>
            </a:r>
            <a:r>
              <a:rPr lang="en-US" sz="1800" dirty="0" err="1">
                <a:latin typeface="Consolas" panose="020B0609020204030204" pitchFamily="49" charset="0"/>
              </a:rPr>
              <a:t>tmp.pStr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y.pStr</a:t>
            </a:r>
            <a:r>
              <a:rPr lang="en-US" sz="1800" dirty="0">
                <a:latin typeface="Consolas" panose="020B0609020204030204" pitchFamily="49" charset="0"/>
              </a:rPr>
              <a:t>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b="1" dirty="0" smtClean="0">
                <a:latin typeface="Consolas" panose="020B0609020204030204" pitchFamily="49" charset="0"/>
              </a:rPr>
              <a:t>return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tmp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00348" y="3775249"/>
            <a:ext cx="8542660" cy="23620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  <a:cs typeface="Courier New" pitchFamily="49" charset="0"/>
              </a:rPr>
              <a:t>String operator +( </a:t>
            </a:r>
            <a:r>
              <a:rPr lang="en-US" sz="1800" b="1" dirty="0" err="1">
                <a:latin typeface="Consolas" panose="020B0609020204030204" pitchFamily="49" charset="0"/>
                <a:cs typeface="Courier New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ourier New" pitchFamily="49" charset="0"/>
              </a:rPr>
              <a:t>char</a:t>
            </a:r>
            <a:r>
              <a:rPr lang="en-US" sz="1800" dirty="0">
                <a:latin typeface="Consolas" panose="020B0609020204030204" pitchFamily="49" charset="0"/>
                <a:cs typeface="Courier New" pitchFamily="49" charset="0"/>
              </a:rPr>
              <a:t> * str1, </a:t>
            </a:r>
            <a:r>
              <a:rPr lang="en-US" sz="1800" b="1" dirty="0" err="1" smtClean="0">
                <a:latin typeface="Consolas" panose="020B0609020204030204" pitchFamily="49" charset="0"/>
                <a:cs typeface="Courier New" pitchFamily="49" charset="0"/>
              </a:rPr>
              <a:t>const</a:t>
            </a:r>
            <a:r>
              <a:rPr lang="en-US" sz="180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urier New" pitchFamily="49" charset="0"/>
              </a:rPr>
              <a:t>String&amp; y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smtClean="0">
                <a:latin typeface="Consolas" panose="020B0609020204030204" pitchFamily="49" charset="0"/>
              </a:rPr>
              <a:t>  </a:t>
            </a:r>
            <a:r>
              <a:rPr lang="en-US" sz="1800" b="1" dirty="0" smtClean="0">
                <a:latin typeface="Consolas" panose="020B0609020204030204" pitchFamily="49" charset="0"/>
              </a:rPr>
              <a:t> </a:t>
            </a:r>
            <a:r>
              <a:rPr lang="en-US" sz="1800" dirty="0" smtClean="0">
                <a:latin typeface="Consolas" panose="020B0609020204030204" pitchFamily="49" charset="0"/>
              </a:rPr>
              <a:t>String</a:t>
            </a:r>
            <a:r>
              <a:rPr lang="en-US" sz="1800" b="1" dirty="0" smtClean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tmp</a:t>
            </a:r>
            <a:r>
              <a:rPr lang="en-US" sz="1800" dirty="0">
                <a:latin typeface="Consolas" panose="020B0609020204030204" pitchFamily="49" charset="0"/>
              </a:rPr>
              <a:t>;	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</a:rPr>
              <a:t>tmp.pStr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= </a:t>
            </a:r>
            <a:r>
              <a:rPr lang="en-US" sz="1800" b="1" dirty="0">
                <a:latin typeface="Consolas" panose="020B0609020204030204" pitchFamily="49" charset="0"/>
              </a:rPr>
              <a:t>new char</a:t>
            </a:r>
            <a:r>
              <a:rPr lang="en-US" sz="1800" dirty="0">
                <a:latin typeface="Consolas" panose="020B0609020204030204" pitchFamily="49" charset="0"/>
              </a:rPr>
              <a:t>[ </a:t>
            </a:r>
            <a:r>
              <a:rPr lang="en-US" sz="1800" dirty="0" err="1">
                <a:latin typeface="Consolas" panose="020B0609020204030204" pitchFamily="49" charset="0"/>
              </a:rPr>
              <a:t>strlen</a:t>
            </a:r>
            <a:r>
              <a:rPr lang="en-US" sz="1800" dirty="0">
                <a:latin typeface="Consolas" panose="020B0609020204030204" pitchFamily="49" charset="0"/>
              </a:rPr>
              <a:t>(str1) </a:t>
            </a:r>
            <a:r>
              <a:rPr lang="en-US" sz="1800" dirty="0" smtClean="0">
                <a:latin typeface="Consolas" panose="020B0609020204030204" pitchFamily="49" charset="0"/>
              </a:rPr>
              <a:t>+ </a:t>
            </a:r>
            <a:r>
              <a:rPr lang="en-US" sz="1800" dirty="0" err="1" smtClean="0">
                <a:latin typeface="Consolas" panose="020B0609020204030204" pitchFamily="49" charset="0"/>
              </a:rPr>
              <a:t>strlen</a:t>
            </a:r>
            <a:r>
              <a:rPr lang="en-US" sz="1800" dirty="0" smtClean="0">
                <a:latin typeface="Consolas" panose="020B0609020204030204" pitchFamily="49" charset="0"/>
              </a:rPr>
              <a:t>(</a:t>
            </a:r>
            <a:r>
              <a:rPr lang="en-US" sz="1800" dirty="0" err="1" smtClean="0">
                <a:latin typeface="Consolas" panose="020B0609020204030204" pitchFamily="49" charset="0"/>
              </a:rPr>
              <a:t>y.pStr</a:t>
            </a:r>
            <a:r>
              <a:rPr lang="en-US" sz="1800" dirty="0">
                <a:latin typeface="Consolas" panose="020B0609020204030204" pitchFamily="49" charset="0"/>
              </a:rPr>
              <a:t>) + 1 ];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</a:rPr>
              <a:t>strcpy</a:t>
            </a:r>
            <a:r>
              <a:rPr lang="en-US" sz="1800" dirty="0">
                <a:latin typeface="Consolas" panose="020B0609020204030204" pitchFamily="49" charset="0"/>
              </a:rPr>
              <a:t>( </a:t>
            </a:r>
            <a:r>
              <a:rPr lang="en-US" sz="1800" dirty="0" err="1">
                <a:latin typeface="Consolas" panose="020B0609020204030204" pitchFamily="49" charset="0"/>
              </a:rPr>
              <a:t>tmp.pStr</a:t>
            </a:r>
            <a:r>
              <a:rPr lang="en-US" sz="1800" dirty="0">
                <a:latin typeface="Consolas" panose="020B0609020204030204" pitchFamily="49" charset="0"/>
              </a:rPr>
              <a:t>, str1 );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</a:rPr>
              <a:t>strcat</a:t>
            </a:r>
            <a:r>
              <a:rPr lang="en-US" sz="1800" dirty="0">
                <a:latin typeface="Consolas" panose="020B0609020204030204" pitchFamily="49" charset="0"/>
              </a:rPr>
              <a:t>( </a:t>
            </a:r>
            <a:r>
              <a:rPr lang="en-US" sz="1800" dirty="0" err="1">
                <a:latin typeface="Consolas" panose="020B0609020204030204" pitchFamily="49" charset="0"/>
              </a:rPr>
              <a:t>tmp.pStr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y.pStr</a:t>
            </a:r>
            <a:r>
              <a:rPr lang="en-US" sz="1800" dirty="0">
                <a:latin typeface="Consolas" panose="020B0609020204030204" pitchFamily="49" charset="0"/>
              </a:rPr>
              <a:t>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b="1" dirty="0" smtClean="0">
                <a:latin typeface="Consolas" panose="020B0609020204030204" pitchFamily="49" charset="0"/>
              </a:rPr>
              <a:t>return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tmp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endParaRPr lang="en-US" sz="1800" kern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01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Overloading vs. Templates – Example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4-Function Templates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159893" y="1700808"/>
            <a:ext cx="4824214" cy="3528392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latin typeface="Consolas" panose="020B0609020204030204" pitchFamily="49" charset="0"/>
              </a:rPr>
              <a:t> T 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T sum( T* array,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size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T </a:t>
            </a:r>
            <a:r>
              <a:rPr lang="en-US" sz="1800" dirty="0">
                <a:latin typeface="Consolas" panose="020B0609020204030204" pitchFamily="49" charset="0"/>
              </a:rPr>
              <a:t>sum = 0;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US" sz="1800" dirty="0" smtClean="0">
              <a:latin typeface="Consolas" panose="020B0609020204030204" pitchFamily="49" charset="0"/>
            </a:endParaRP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smtClean="0">
                <a:latin typeface="Consolas" panose="020B0609020204030204" pitchFamily="49" charset="0"/>
              </a:rPr>
              <a:t>   for 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= 0;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&lt; size;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 smtClean="0">
                <a:latin typeface="Consolas" panose="020B0609020204030204" pitchFamily="49" charset="0"/>
              </a:rPr>
              <a:t>++){</a:t>
            </a:r>
            <a:endParaRPr lang="en-US" sz="1800" dirty="0">
              <a:latin typeface="Consolas" panose="020B0609020204030204" pitchFamily="49" charset="0"/>
            </a:endParaRP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    sum </a:t>
            </a:r>
            <a:r>
              <a:rPr lang="en-US" sz="1800" dirty="0">
                <a:latin typeface="Consolas" panose="020B0609020204030204" pitchFamily="49" charset="0"/>
              </a:rPr>
              <a:t>= sum + array[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 smtClean="0">
                <a:latin typeface="Consolas" panose="020B0609020204030204" pitchFamily="49" charset="0"/>
              </a:rPr>
              <a:t>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smtClean="0">
                <a:latin typeface="Consolas" panose="020B0609020204030204" pitchFamily="49" charset="0"/>
              </a:rPr>
              <a:t>   }</a:t>
            </a:r>
            <a:endParaRPr lang="en-US" sz="1800" dirty="0">
              <a:latin typeface="Consolas" panose="020B0609020204030204" pitchFamily="49" charset="0"/>
            </a:endParaRP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US" sz="1800" dirty="0">
              <a:latin typeface="Consolas" panose="020B0609020204030204" pitchFamily="49" charset="0"/>
            </a:endParaRP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 smtClean="0">
                <a:latin typeface="Consolas" panose="020B0609020204030204" pitchFamily="49" charset="0"/>
              </a:rPr>
              <a:t>    </a:t>
            </a:r>
            <a:r>
              <a:rPr lang="en-US" sz="1800" b="1" dirty="0" smtClean="0">
                <a:latin typeface="Consolas" panose="020B0609020204030204" pitchFamily="49" charset="0"/>
              </a:rPr>
              <a:t>return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sum;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58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Any Question So Far?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4-Function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23</a:t>
            </a:fld>
            <a:endParaRPr lang="en-GB"/>
          </a:p>
        </p:txBody>
      </p:sp>
      <p:pic>
        <p:nvPicPr>
          <p:cNvPr id="6" name="Picture 3" descr="MCj0384172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8725" y="1412875"/>
            <a:ext cx="3641725" cy="4679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720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2065</TotalTime>
  <Words>1323</Words>
  <Application>Microsoft Office PowerPoint</Application>
  <PresentationFormat>On-screen Show (4:3)</PresentationFormat>
  <Paragraphs>345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Wingdings</vt:lpstr>
      <vt:lpstr>Courier New</vt:lpstr>
      <vt:lpstr>Tahoma</vt:lpstr>
      <vt:lpstr>Consolas</vt:lpstr>
      <vt:lpstr>Default Design</vt:lpstr>
      <vt:lpstr>Data Structures</vt:lpstr>
      <vt:lpstr>Function Overloading</vt:lpstr>
      <vt:lpstr>Function Overloading</vt:lpstr>
      <vt:lpstr>Function Overloading</vt:lpstr>
      <vt:lpstr>C++ Classes</vt:lpstr>
      <vt:lpstr>C++ Classes</vt:lpstr>
      <vt:lpstr>Generic Programming</vt:lpstr>
      <vt:lpstr>Templates</vt:lpstr>
      <vt:lpstr>Function Templates</vt:lpstr>
      <vt:lpstr>Example </vt:lpstr>
      <vt:lpstr>Explicit Type Parameterization </vt:lpstr>
      <vt:lpstr>Explicit Type Parameterization </vt:lpstr>
      <vt:lpstr>Explicit Type Parameterization </vt:lpstr>
      <vt:lpstr>User-Defined Specialization</vt:lpstr>
      <vt:lpstr>User-Defined Specialization</vt:lpstr>
      <vt:lpstr>Multiple Type Arguments</vt:lpstr>
      <vt:lpstr>User-Defined Types</vt:lpstr>
      <vt:lpstr>User-Defined Types</vt:lpstr>
      <vt:lpstr>User-Defined Types</vt:lpstr>
      <vt:lpstr>Overloading vs. Templates</vt:lpstr>
      <vt:lpstr>Overloading vs. Templates – Example </vt:lpstr>
      <vt:lpstr>Overloading vs. Templates – Example </vt:lpstr>
      <vt:lpstr>Any Question So Far?</vt:lpstr>
    </vt:vector>
  </TitlesOfParts>
  <Company>IPVS - Universität Stuttgart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Betriebssysteme</dc:title>
  <dc:creator>koldehbs</dc:creator>
  <cp:lastModifiedBy>Windows User</cp:lastModifiedBy>
  <cp:revision>1001</cp:revision>
  <cp:lastPrinted>2018-09-18T04:10:57Z</cp:lastPrinted>
  <dcterms:created xsi:type="dcterms:W3CDTF">2007-03-29T10:37:57Z</dcterms:created>
  <dcterms:modified xsi:type="dcterms:W3CDTF">2019-08-27T03:25:47Z</dcterms:modified>
</cp:coreProperties>
</file>