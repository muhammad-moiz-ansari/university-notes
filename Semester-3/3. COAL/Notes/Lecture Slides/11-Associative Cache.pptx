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9" r:id="rId3"/>
    <p:sldId id="290" r:id="rId4"/>
    <p:sldId id="283" r:id="rId5"/>
    <p:sldId id="284" r:id="rId6"/>
    <p:sldId id="286" r:id="rId7"/>
    <p:sldId id="287" r:id="rId8"/>
    <p:sldId id="288" r:id="rId9"/>
    <p:sldId id="293" r:id="rId10"/>
    <p:sldId id="294" r:id="rId11"/>
    <p:sldId id="295" r:id="rId12"/>
    <p:sldId id="296" r:id="rId13"/>
    <p:sldId id="297" r:id="rId14"/>
    <p:sldId id="298" r:id="rId15"/>
    <p:sldId id="300" r:id="rId16"/>
    <p:sldId id="29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300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7022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1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497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788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15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40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054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4C3E18F-3CB7-46A0-8301-0008DA77D65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849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319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460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3E18F-3CB7-46A0-8301-0008DA77D65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1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4C3E18F-3CB7-46A0-8301-0008DA77D65A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5E1C207-5865-4CAC-89F6-E075B21F784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760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Cache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Compiled by:</a:t>
            </a:r>
          </a:p>
          <a:p>
            <a:r>
              <a:rPr lang="en-US" dirty="0"/>
              <a:t>	</a:t>
            </a:r>
            <a:r>
              <a:rPr lang="en-US" dirty="0" err="1"/>
              <a:t>Sarosh</a:t>
            </a:r>
            <a:r>
              <a:rPr lang="en-US" dirty="0"/>
              <a:t> </a:t>
            </a:r>
            <a:r>
              <a:rPr lang="en-US" dirty="0" err="1"/>
              <a:t>shahid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95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LRU bit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b="1" dirty="0">
                <a:solidFill>
                  <a:srgbClr val="0070C0"/>
                </a:solidFill>
              </a:rPr>
              <a:t>Least recently used (LRU) replacement: </a:t>
            </a:r>
            <a:r>
              <a:rPr lang="en-US" dirty="0"/>
              <a:t>the least recently used block in a set evicted in case of N-associative and fully associative caches.</a:t>
            </a:r>
          </a:p>
          <a:p>
            <a:pPr>
              <a:lnSpc>
                <a:spcPct val="80000"/>
              </a:lnSpc>
            </a:pPr>
            <a:r>
              <a:rPr lang="en-US" dirty="0"/>
              <a:t>In case of 2-way associative cache, 1-bit is required to keep check of recently used data block.</a:t>
            </a:r>
          </a:p>
          <a:p>
            <a:pPr marL="544068" lvl="1" indent="-342900">
              <a:lnSpc>
                <a:spcPct val="80000"/>
              </a:lnSpc>
              <a:buFont typeface="+mj-lt"/>
              <a:buAutoNum type="arabicPeriod"/>
            </a:pPr>
            <a:r>
              <a:rPr lang="en-US" dirty="0"/>
              <a:t>When a block is accessed its LRU bit will be set to zero (now it’s the least recently used data) and increment all the other values of LRU bit accordingly.</a:t>
            </a:r>
          </a:p>
          <a:p>
            <a:pPr marL="544068" lvl="1" indent="-342900">
              <a:lnSpc>
                <a:spcPct val="80000"/>
              </a:lnSpc>
              <a:buFont typeface="+mj-lt"/>
              <a:buAutoNum type="arabicPeriod"/>
            </a:pPr>
            <a:r>
              <a:rPr lang="en-US" dirty="0"/>
              <a:t>When data is to be evicted from a block, replace the block with maximum value of LRU bit (1 in 2-way associative</a:t>
            </a:r>
            <a:r>
              <a:rPr lang="en-US"/>
              <a:t>, 2 </a:t>
            </a:r>
            <a:r>
              <a:rPr lang="en-US" dirty="0"/>
              <a:t>in 4-way associative and so on).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102594"/>
              </p:ext>
            </p:extLst>
          </p:nvPr>
        </p:nvGraphicFramePr>
        <p:xfrm>
          <a:off x="1681019" y="4257193"/>
          <a:ext cx="2992581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82254">
                  <a:extLst>
                    <a:ext uri="{9D8B030D-6E8A-4147-A177-3AD203B41FA5}">
                      <a16:colId xmlns:a16="http://schemas.microsoft.com/office/drawing/2014/main" val="1932461965"/>
                    </a:ext>
                  </a:extLst>
                </a:gridCol>
                <a:gridCol w="1810327">
                  <a:extLst>
                    <a:ext uri="{9D8B030D-6E8A-4147-A177-3AD203B41FA5}">
                      <a16:colId xmlns:a16="http://schemas.microsoft.com/office/drawing/2014/main" val="2591217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LRU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block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733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861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981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51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8131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325092" y="3857414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: Set “</a:t>
            </a:r>
            <a:r>
              <a:rPr lang="en-US" b="1" dirty="0" err="1"/>
              <a:t>i</a:t>
            </a:r>
            <a:r>
              <a:rPr lang="en-US" b="1" dirty="0"/>
              <a:t>” of a 4-way associative cache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6109" y="4605249"/>
            <a:ext cx="49691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LRU bit indicates the sequence of memory access only for this particular set was in order – </a:t>
            </a:r>
          </a:p>
          <a:p>
            <a:r>
              <a:rPr lang="en-US" dirty="0"/>
              <a:t>D2 D3 D0 D1 </a:t>
            </a:r>
          </a:p>
          <a:p>
            <a:r>
              <a:rPr lang="en-US" dirty="0"/>
              <a:t>And D1 with the least LRU bit value is the most recently accessed</a:t>
            </a:r>
          </a:p>
        </p:txBody>
      </p:sp>
    </p:spTree>
    <p:extLst>
      <p:ext uri="{BB962C8B-B14F-4D97-AF65-F5344CB8AC3E}">
        <p14:creationId xmlns:p14="http://schemas.microsoft.com/office/powerpoint/2010/main" val="3832809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LRU bit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b="1" dirty="0">
                <a:solidFill>
                  <a:srgbClr val="0070C0"/>
                </a:solidFill>
              </a:rPr>
              <a:t>Least recently used (LRU) replacement: </a:t>
            </a:r>
            <a:r>
              <a:rPr lang="en-US" dirty="0"/>
              <a:t>the least recently used block in a set evicted in case of N-associative and fully associative caches.</a:t>
            </a:r>
          </a:p>
          <a:p>
            <a:pPr>
              <a:lnSpc>
                <a:spcPct val="80000"/>
              </a:lnSpc>
            </a:pP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277601"/>
              </p:ext>
            </p:extLst>
          </p:nvPr>
        </p:nvGraphicFramePr>
        <p:xfrm>
          <a:off x="1450110" y="2871738"/>
          <a:ext cx="2992581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82254">
                  <a:extLst>
                    <a:ext uri="{9D8B030D-6E8A-4147-A177-3AD203B41FA5}">
                      <a16:colId xmlns:a16="http://schemas.microsoft.com/office/drawing/2014/main" val="1932461965"/>
                    </a:ext>
                  </a:extLst>
                </a:gridCol>
                <a:gridCol w="1810327">
                  <a:extLst>
                    <a:ext uri="{9D8B030D-6E8A-4147-A177-3AD203B41FA5}">
                      <a16:colId xmlns:a16="http://schemas.microsoft.com/office/drawing/2014/main" val="2591217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LRU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block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733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861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981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51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8131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94183" y="2471959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: Set “</a:t>
            </a:r>
            <a:r>
              <a:rPr lang="en-US" b="1" dirty="0" err="1"/>
              <a:t>i</a:t>
            </a:r>
            <a:r>
              <a:rPr lang="en-US" b="1" dirty="0"/>
              <a:t>” of a 4-way associative cache 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878222"/>
              </p:ext>
            </p:extLst>
          </p:nvPr>
        </p:nvGraphicFramePr>
        <p:xfrm>
          <a:off x="7398213" y="2871738"/>
          <a:ext cx="2992581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82254">
                  <a:extLst>
                    <a:ext uri="{9D8B030D-6E8A-4147-A177-3AD203B41FA5}">
                      <a16:colId xmlns:a16="http://schemas.microsoft.com/office/drawing/2014/main" val="1932461965"/>
                    </a:ext>
                  </a:extLst>
                </a:gridCol>
                <a:gridCol w="1810327">
                  <a:extLst>
                    <a:ext uri="{9D8B030D-6E8A-4147-A177-3AD203B41FA5}">
                      <a16:colId xmlns:a16="http://schemas.microsoft.com/office/drawing/2014/main" val="2591217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LRU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block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733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861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981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51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8131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21085" y="3559518"/>
            <a:ext cx="279873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After the data D3 is accessed again</a:t>
            </a:r>
          </a:p>
        </p:txBody>
      </p:sp>
      <p:cxnSp>
        <p:nvCxnSpPr>
          <p:cNvPr id="10" name="Straight Arrow Connector 9"/>
          <p:cNvCxnSpPr>
            <a:endCxn id="8" idx="1"/>
          </p:cNvCxnSpPr>
          <p:nvPr/>
        </p:nvCxnSpPr>
        <p:spPr>
          <a:xfrm flipV="1">
            <a:off x="4599479" y="3798838"/>
            <a:ext cx="2798734" cy="2360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98213" y="4756385"/>
            <a:ext cx="2798734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Set the least recently used D3 to 0 and increment all the remaining bit accordingly</a:t>
            </a:r>
          </a:p>
        </p:txBody>
      </p:sp>
    </p:spTree>
    <p:extLst>
      <p:ext uri="{BB962C8B-B14F-4D97-AF65-F5344CB8AC3E}">
        <p14:creationId xmlns:p14="http://schemas.microsoft.com/office/powerpoint/2010/main" val="1065648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622030" y="226452"/>
            <a:ext cx="98869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Convert to </a:t>
            </a:r>
          </a:p>
          <a:p>
            <a:pPr algn="ctr"/>
            <a:r>
              <a:rPr lang="en-US" sz="1400" dirty="0">
                <a:solidFill>
                  <a:srgbClr val="0070C0"/>
                </a:solidFill>
              </a:rPr>
              <a:t>binary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9754" y="1807906"/>
            <a:ext cx="25812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 = 2B</a:t>
            </a:r>
          </a:p>
          <a:p>
            <a:r>
              <a:rPr lang="en-US" sz="1400" b="1" dirty="0"/>
              <a:t>C = 16B</a:t>
            </a:r>
          </a:p>
          <a:p>
            <a:r>
              <a:rPr lang="en-US" sz="1400" b="1" dirty="0"/>
              <a:t>N = 2 (2-way associative)</a:t>
            </a:r>
          </a:p>
          <a:p>
            <a:r>
              <a:rPr lang="en-US" sz="1400" b="1" dirty="0"/>
              <a:t>Addresses are 8 bits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9754" y="2832559"/>
                <a:ext cx="3837421" cy="3258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en-US" sz="1200" i="1" dirty="0"/>
                  <a:t>B</a:t>
                </a:r>
                <a:r>
                  <a:rPr lang="en-US" sz="1200" dirty="0"/>
                  <a:t> = </a:t>
                </a:r>
                <a:r>
                  <a:rPr lang="en-US" sz="1200" i="1" dirty="0"/>
                  <a:t>C</a:t>
                </a:r>
                <a:r>
                  <a:rPr lang="en-US" sz="1200" dirty="0"/>
                  <a:t>/</a:t>
                </a:r>
                <a:r>
                  <a:rPr lang="en-US" sz="1200" i="1" dirty="0"/>
                  <a:t>b = 16/2 = 8</a:t>
                </a:r>
              </a:p>
              <a:p>
                <a:r>
                  <a:rPr lang="en-US" sz="1200" dirty="0"/>
                  <a:t>S = B/N = 8/2 = 4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func>
                        </m:e>
                      </m:func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𝑺𝒆𝒕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𝒊𝒏𝒅𝒆𝒙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func>
                        </m:e>
                      </m:func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𝑻𝒂𝒈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𝑨𝒅𝒅𝒓𝒆𝒔𝒔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𝒔𝒆𝒕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r>
                  <a:rPr lang="en-US" sz="1400" b="1" u="sng" dirty="0"/>
                  <a:t>Processor Memory Access Sequence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0xFF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0x96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0x1E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0x97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0X07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54" y="2832559"/>
                <a:ext cx="3837421" cy="3258200"/>
              </a:xfrm>
              <a:prstGeom prst="rect">
                <a:avLst/>
              </a:prstGeom>
              <a:blipFill>
                <a:blip r:embed="rId2"/>
                <a:stretch>
                  <a:fillRect l="-1272" t="-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080307"/>
              </p:ext>
            </p:extLst>
          </p:nvPr>
        </p:nvGraphicFramePr>
        <p:xfrm>
          <a:off x="9605616" y="1396651"/>
          <a:ext cx="2238375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1695656520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val="2165372536"/>
                    </a:ext>
                  </a:extLst>
                </a:gridCol>
              </a:tblGrid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46888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735079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467674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16299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900417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84533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713041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79613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26444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…….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83165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93807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5519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25531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085964" y="6090759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80418" y="5690649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Cache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8225" y="288007"/>
            <a:ext cx="10890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mbria Math" panose="02040503050406030204" pitchFamily="18" charset="0"/>
              </a:rPr>
              <a:t>0xFF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8622030" y="478537"/>
            <a:ext cx="1064895" cy="86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60255" y="288007"/>
            <a:ext cx="1969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1111 1</a:t>
            </a:r>
            <a:r>
              <a:rPr lang="en-US" sz="2000" b="1" dirty="0">
                <a:solidFill>
                  <a:srgbClr val="00B0F0"/>
                </a:solidFill>
                <a:latin typeface="Cambria Math" panose="02040503050406030204" pitchFamily="18" charset="0"/>
              </a:rPr>
              <a:t>11</a:t>
            </a:r>
            <a:r>
              <a:rPr lang="en-US" sz="2000" b="1" dirty="0">
                <a:solidFill>
                  <a:srgbClr val="FFC000"/>
                </a:solidFill>
                <a:latin typeface="Cambria Math" panose="02040503050406030204" pitchFamily="18" charset="0"/>
              </a:rPr>
              <a:t>1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10726" y="23492"/>
            <a:ext cx="25787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Tag Bits </a:t>
            </a:r>
            <a:r>
              <a:rPr lang="en-US" sz="1600" b="1" dirty="0">
                <a:solidFill>
                  <a:srgbClr val="00B0F0"/>
                </a:solidFill>
                <a:latin typeface="Cambria Math" panose="02040503050406030204" pitchFamily="18" charset="0"/>
              </a:rPr>
              <a:t>Set bits</a:t>
            </a:r>
            <a:r>
              <a:rPr lang="en-US" sz="1600" b="1" dirty="0">
                <a:solidFill>
                  <a:srgbClr val="FFC000"/>
                </a:solidFill>
                <a:latin typeface="Cambria Math" panose="02040503050406030204" pitchFamily="18" charset="0"/>
              </a:rPr>
              <a:t> Offset bits</a:t>
            </a:r>
            <a:endParaRPr lang="en-US" sz="1600" dirty="0">
              <a:solidFill>
                <a:srgbClr val="FFC000"/>
              </a:solidFill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30018"/>
              </p:ext>
            </p:extLst>
          </p:nvPr>
        </p:nvGraphicFramePr>
        <p:xfrm>
          <a:off x="4238473" y="2000471"/>
          <a:ext cx="3939699" cy="3566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874">
                  <a:extLst>
                    <a:ext uri="{9D8B030D-6E8A-4147-A177-3AD203B41FA5}">
                      <a16:colId xmlns:a16="http://schemas.microsoft.com/office/drawing/2014/main" val="4284518099"/>
                    </a:ext>
                  </a:extLst>
                </a:gridCol>
                <a:gridCol w="484509">
                  <a:extLst>
                    <a:ext uri="{9D8B030D-6E8A-4147-A177-3AD203B41FA5}">
                      <a16:colId xmlns:a16="http://schemas.microsoft.com/office/drawing/2014/main" val="3030601287"/>
                    </a:ext>
                  </a:extLst>
                </a:gridCol>
                <a:gridCol w="645780">
                  <a:extLst>
                    <a:ext uri="{9D8B030D-6E8A-4147-A177-3AD203B41FA5}">
                      <a16:colId xmlns:a16="http://schemas.microsoft.com/office/drawing/2014/main" val="330335500"/>
                    </a:ext>
                  </a:extLst>
                </a:gridCol>
                <a:gridCol w="1091770">
                  <a:extLst>
                    <a:ext uri="{9D8B030D-6E8A-4147-A177-3AD203B41FA5}">
                      <a16:colId xmlns:a16="http://schemas.microsoft.com/office/drawing/2014/main" val="1200191126"/>
                    </a:ext>
                  </a:extLst>
                </a:gridCol>
                <a:gridCol w="572437">
                  <a:extLst>
                    <a:ext uri="{9D8B030D-6E8A-4147-A177-3AD203B41FA5}">
                      <a16:colId xmlns:a16="http://schemas.microsoft.com/office/drawing/2014/main" val="1827225863"/>
                    </a:ext>
                  </a:extLst>
                </a:gridCol>
                <a:gridCol w="510329">
                  <a:extLst>
                    <a:ext uri="{9D8B030D-6E8A-4147-A177-3AD203B41FA5}">
                      <a16:colId xmlns:a16="http://schemas.microsoft.com/office/drawing/2014/main" val="2625427107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/>
                    </a:p>
                    <a:p>
                      <a:pPr algn="l"/>
                      <a:r>
                        <a:rPr lang="en-US" b="1" dirty="0"/>
                        <a:t>Sets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V</a:t>
                      </a:r>
                      <a:r>
                        <a:rPr lang="en-US" b="1" baseline="0" dirty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LRU 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Tags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381397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13756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779383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55686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032231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10061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103397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677275" y="6429178"/>
            <a:ext cx="33888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Cache Miss = 1	Cache Hit = 0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694246"/>
              </p:ext>
            </p:extLst>
          </p:nvPr>
        </p:nvGraphicFramePr>
        <p:xfrm>
          <a:off x="4238473" y="2000471"/>
          <a:ext cx="3939699" cy="3566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874">
                  <a:extLst>
                    <a:ext uri="{9D8B030D-6E8A-4147-A177-3AD203B41FA5}">
                      <a16:colId xmlns:a16="http://schemas.microsoft.com/office/drawing/2014/main" val="4284518099"/>
                    </a:ext>
                  </a:extLst>
                </a:gridCol>
                <a:gridCol w="484509">
                  <a:extLst>
                    <a:ext uri="{9D8B030D-6E8A-4147-A177-3AD203B41FA5}">
                      <a16:colId xmlns:a16="http://schemas.microsoft.com/office/drawing/2014/main" val="3030601287"/>
                    </a:ext>
                  </a:extLst>
                </a:gridCol>
                <a:gridCol w="645780">
                  <a:extLst>
                    <a:ext uri="{9D8B030D-6E8A-4147-A177-3AD203B41FA5}">
                      <a16:colId xmlns:a16="http://schemas.microsoft.com/office/drawing/2014/main" val="330335500"/>
                    </a:ext>
                  </a:extLst>
                </a:gridCol>
                <a:gridCol w="1091770">
                  <a:extLst>
                    <a:ext uri="{9D8B030D-6E8A-4147-A177-3AD203B41FA5}">
                      <a16:colId xmlns:a16="http://schemas.microsoft.com/office/drawing/2014/main" val="1200191126"/>
                    </a:ext>
                  </a:extLst>
                </a:gridCol>
                <a:gridCol w="572437">
                  <a:extLst>
                    <a:ext uri="{9D8B030D-6E8A-4147-A177-3AD203B41FA5}">
                      <a16:colId xmlns:a16="http://schemas.microsoft.com/office/drawing/2014/main" val="1827225863"/>
                    </a:ext>
                  </a:extLst>
                </a:gridCol>
                <a:gridCol w="510329">
                  <a:extLst>
                    <a:ext uri="{9D8B030D-6E8A-4147-A177-3AD203B41FA5}">
                      <a16:colId xmlns:a16="http://schemas.microsoft.com/office/drawing/2014/main" val="2625427107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/>
                    </a:p>
                    <a:p>
                      <a:pPr algn="l"/>
                      <a:r>
                        <a:rPr lang="en-US" b="1" dirty="0"/>
                        <a:t>Sets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V</a:t>
                      </a:r>
                      <a:r>
                        <a:rPr lang="en-US" b="1" baseline="0" dirty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LRU 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Tags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381397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13756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779383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55686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032231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11111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10061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103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2924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/>
      <p:bldP spid="17" grpId="0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622030" y="226452"/>
            <a:ext cx="98869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Convert to </a:t>
            </a:r>
          </a:p>
          <a:p>
            <a:pPr algn="ctr"/>
            <a:r>
              <a:rPr lang="en-US" sz="1400" dirty="0">
                <a:solidFill>
                  <a:srgbClr val="0070C0"/>
                </a:solidFill>
              </a:rPr>
              <a:t>binary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9754" y="1807906"/>
            <a:ext cx="25812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 = 2B</a:t>
            </a:r>
          </a:p>
          <a:p>
            <a:r>
              <a:rPr lang="en-US" sz="1400" b="1" dirty="0"/>
              <a:t>C = 16B</a:t>
            </a:r>
          </a:p>
          <a:p>
            <a:r>
              <a:rPr lang="en-US" sz="1400" b="1" dirty="0"/>
              <a:t>N = 2 (2-way associative)</a:t>
            </a:r>
          </a:p>
          <a:p>
            <a:r>
              <a:rPr lang="en-US" sz="1400" b="1" dirty="0"/>
              <a:t>Addresses are 8 bits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9754" y="2832559"/>
                <a:ext cx="3837421" cy="29812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en-US" sz="1200" i="1" dirty="0"/>
                  <a:t>B</a:t>
                </a:r>
                <a:r>
                  <a:rPr lang="en-US" sz="1200" dirty="0"/>
                  <a:t> = </a:t>
                </a:r>
                <a:r>
                  <a:rPr lang="en-US" sz="1200" i="1" dirty="0"/>
                  <a:t>C</a:t>
                </a:r>
                <a:r>
                  <a:rPr lang="en-US" sz="1200" dirty="0"/>
                  <a:t>/</a:t>
                </a:r>
                <a:r>
                  <a:rPr lang="en-US" sz="1200" i="1" dirty="0"/>
                  <a:t>b = 16/2 = 8</a:t>
                </a:r>
              </a:p>
              <a:p>
                <a:r>
                  <a:rPr lang="en-US" sz="1200" dirty="0"/>
                  <a:t>S = B/N = 8/2 = 4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func>
                        </m:e>
                      </m:func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𝑺𝒆𝒕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𝒊𝒏𝒅𝒆𝒙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func>
                        </m:e>
                      </m:func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𝑻𝒂𝒈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𝑨𝒅𝒅𝒓𝒆𝒔𝒔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𝒔𝒆𝒕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r>
                  <a:rPr lang="en-US" sz="1400" b="1" u="sng" dirty="0"/>
                  <a:t>Processor Memory Access Sequence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0xFF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0x96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0x1E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0x97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0X07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54" y="2832559"/>
                <a:ext cx="3837421" cy="2981201"/>
              </a:xfrm>
              <a:prstGeom prst="rect">
                <a:avLst/>
              </a:prstGeom>
              <a:blipFill>
                <a:blip r:embed="rId2"/>
                <a:stretch>
                  <a:fillRect l="-1272" t="-204" b="-22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605616" y="1396651"/>
          <a:ext cx="2238375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1695656520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val="2165372536"/>
                    </a:ext>
                  </a:extLst>
                </a:gridCol>
              </a:tblGrid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46888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735079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467674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16299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900417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84533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713041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79613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26444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…….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83165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93807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5519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25531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085964" y="6090759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8127" y="5648271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Cache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8225" y="288007"/>
            <a:ext cx="10890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mbria Math" panose="02040503050406030204" pitchFamily="18" charset="0"/>
              </a:rPr>
              <a:t>0x96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8622030" y="478537"/>
            <a:ext cx="1064895" cy="86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60255" y="288007"/>
            <a:ext cx="1969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1001 0</a:t>
            </a:r>
            <a:r>
              <a:rPr lang="en-US" sz="2000" b="1" dirty="0">
                <a:solidFill>
                  <a:srgbClr val="00B0F0"/>
                </a:solidFill>
                <a:latin typeface="Cambria Math" panose="02040503050406030204" pitchFamily="18" charset="0"/>
              </a:rPr>
              <a:t>11</a:t>
            </a:r>
            <a:r>
              <a:rPr lang="en-US" sz="2000" b="1" dirty="0">
                <a:solidFill>
                  <a:srgbClr val="FFC000"/>
                </a:solidFill>
                <a:latin typeface="Cambria Math" panose="02040503050406030204" pitchFamily="18" charset="0"/>
              </a:rPr>
              <a:t>0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10726" y="23492"/>
            <a:ext cx="25787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Tag Bits </a:t>
            </a:r>
            <a:r>
              <a:rPr lang="en-US" sz="1600" b="1" dirty="0">
                <a:solidFill>
                  <a:srgbClr val="00B0F0"/>
                </a:solidFill>
                <a:latin typeface="Cambria Math" panose="02040503050406030204" pitchFamily="18" charset="0"/>
              </a:rPr>
              <a:t>Set bits</a:t>
            </a:r>
            <a:r>
              <a:rPr lang="en-US" sz="1600" b="1" dirty="0">
                <a:solidFill>
                  <a:srgbClr val="FFC000"/>
                </a:solidFill>
                <a:latin typeface="Cambria Math" panose="02040503050406030204" pitchFamily="18" charset="0"/>
              </a:rPr>
              <a:t> Offset bits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77275" y="6429178"/>
            <a:ext cx="33888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Cache Miss = 2	Cache Hit = 0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675554"/>
              </p:ext>
            </p:extLst>
          </p:nvPr>
        </p:nvGraphicFramePr>
        <p:xfrm>
          <a:off x="4309029" y="2009735"/>
          <a:ext cx="3939699" cy="3566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874">
                  <a:extLst>
                    <a:ext uri="{9D8B030D-6E8A-4147-A177-3AD203B41FA5}">
                      <a16:colId xmlns:a16="http://schemas.microsoft.com/office/drawing/2014/main" val="4284518099"/>
                    </a:ext>
                  </a:extLst>
                </a:gridCol>
                <a:gridCol w="484509">
                  <a:extLst>
                    <a:ext uri="{9D8B030D-6E8A-4147-A177-3AD203B41FA5}">
                      <a16:colId xmlns:a16="http://schemas.microsoft.com/office/drawing/2014/main" val="3030601287"/>
                    </a:ext>
                  </a:extLst>
                </a:gridCol>
                <a:gridCol w="645780">
                  <a:extLst>
                    <a:ext uri="{9D8B030D-6E8A-4147-A177-3AD203B41FA5}">
                      <a16:colId xmlns:a16="http://schemas.microsoft.com/office/drawing/2014/main" val="330335500"/>
                    </a:ext>
                  </a:extLst>
                </a:gridCol>
                <a:gridCol w="1091770">
                  <a:extLst>
                    <a:ext uri="{9D8B030D-6E8A-4147-A177-3AD203B41FA5}">
                      <a16:colId xmlns:a16="http://schemas.microsoft.com/office/drawing/2014/main" val="1200191126"/>
                    </a:ext>
                  </a:extLst>
                </a:gridCol>
                <a:gridCol w="572437">
                  <a:extLst>
                    <a:ext uri="{9D8B030D-6E8A-4147-A177-3AD203B41FA5}">
                      <a16:colId xmlns:a16="http://schemas.microsoft.com/office/drawing/2014/main" val="1827225863"/>
                    </a:ext>
                  </a:extLst>
                </a:gridCol>
                <a:gridCol w="510329">
                  <a:extLst>
                    <a:ext uri="{9D8B030D-6E8A-4147-A177-3AD203B41FA5}">
                      <a16:colId xmlns:a16="http://schemas.microsoft.com/office/drawing/2014/main" val="2625427107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/>
                    </a:p>
                    <a:p>
                      <a:pPr algn="l"/>
                      <a:r>
                        <a:rPr lang="en-US" b="1" dirty="0"/>
                        <a:t>Sets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V</a:t>
                      </a:r>
                      <a:r>
                        <a:rPr lang="en-US" b="1" baseline="0" dirty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LRU 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Tags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381397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13756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779383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55686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032231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11111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10061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103397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706682"/>
              </p:ext>
            </p:extLst>
          </p:nvPr>
        </p:nvGraphicFramePr>
        <p:xfrm>
          <a:off x="4309028" y="2009735"/>
          <a:ext cx="3939699" cy="3566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874">
                  <a:extLst>
                    <a:ext uri="{9D8B030D-6E8A-4147-A177-3AD203B41FA5}">
                      <a16:colId xmlns:a16="http://schemas.microsoft.com/office/drawing/2014/main" val="4284518099"/>
                    </a:ext>
                  </a:extLst>
                </a:gridCol>
                <a:gridCol w="484509">
                  <a:extLst>
                    <a:ext uri="{9D8B030D-6E8A-4147-A177-3AD203B41FA5}">
                      <a16:colId xmlns:a16="http://schemas.microsoft.com/office/drawing/2014/main" val="3030601287"/>
                    </a:ext>
                  </a:extLst>
                </a:gridCol>
                <a:gridCol w="645780">
                  <a:extLst>
                    <a:ext uri="{9D8B030D-6E8A-4147-A177-3AD203B41FA5}">
                      <a16:colId xmlns:a16="http://schemas.microsoft.com/office/drawing/2014/main" val="330335500"/>
                    </a:ext>
                  </a:extLst>
                </a:gridCol>
                <a:gridCol w="1091770">
                  <a:extLst>
                    <a:ext uri="{9D8B030D-6E8A-4147-A177-3AD203B41FA5}">
                      <a16:colId xmlns:a16="http://schemas.microsoft.com/office/drawing/2014/main" val="1200191126"/>
                    </a:ext>
                  </a:extLst>
                </a:gridCol>
                <a:gridCol w="572437">
                  <a:extLst>
                    <a:ext uri="{9D8B030D-6E8A-4147-A177-3AD203B41FA5}">
                      <a16:colId xmlns:a16="http://schemas.microsoft.com/office/drawing/2014/main" val="1827225863"/>
                    </a:ext>
                  </a:extLst>
                </a:gridCol>
                <a:gridCol w="510329">
                  <a:extLst>
                    <a:ext uri="{9D8B030D-6E8A-4147-A177-3AD203B41FA5}">
                      <a16:colId xmlns:a16="http://schemas.microsoft.com/office/drawing/2014/main" val="2625427107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/>
                    </a:p>
                    <a:p>
                      <a:pPr algn="l"/>
                      <a:r>
                        <a:rPr lang="en-US" b="1" dirty="0"/>
                        <a:t>Sets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V</a:t>
                      </a:r>
                      <a:r>
                        <a:rPr lang="en-US" b="1" baseline="0" dirty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LRU 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Tags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381397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13756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779383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55686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032231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11111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10061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10010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103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3534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/>
      <p:bldP spid="17" grpId="0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622030" y="226452"/>
            <a:ext cx="98869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Convert to </a:t>
            </a:r>
          </a:p>
          <a:p>
            <a:pPr algn="ctr"/>
            <a:r>
              <a:rPr lang="en-US" sz="1400" dirty="0">
                <a:solidFill>
                  <a:srgbClr val="0070C0"/>
                </a:solidFill>
              </a:rPr>
              <a:t>binary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9754" y="1807906"/>
            <a:ext cx="25812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 = 2B</a:t>
            </a:r>
          </a:p>
          <a:p>
            <a:r>
              <a:rPr lang="en-US" sz="1400" b="1" dirty="0"/>
              <a:t>C = 16B</a:t>
            </a:r>
          </a:p>
          <a:p>
            <a:r>
              <a:rPr lang="en-US" sz="1400" b="1" dirty="0"/>
              <a:t>N = 2 (2-way associative)</a:t>
            </a:r>
          </a:p>
          <a:p>
            <a:r>
              <a:rPr lang="en-US" sz="1400" b="1" dirty="0"/>
              <a:t>Addresses are 8 bits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9754" y="2832559"/>
                <a:ext cx="3837421" cy="3535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en-US" sz="1200" i="1" dirty="0"/>
                  <a:t>B</a:t>
                </a:r>
                <a:r>
                  <a:rPr lang="en-US" sz="1200" dirty="0"/>
                  <a:t> = </a:t>
                </a:r>
                <a:r>
                  <a:rPr lang="en-US" sz="1200" i="1" dirty="0"/>
                  <a:t>C</a:t>
                </a:r>
                <a:r>
                  <a:rPr lang="en-US" sz="1200" dirty="0"/>
                  <a:t>/</a:t>
                </a:r>
                <a:r>
                  <a:rPr lang="en-US" sz="1200" i="1" dirty="0"/>
                  <a:t>b = 16/2 = 8</a:t>
                </a:r>
              </a:p>
              <a:p>
                <a:r>
                  <a:rPr lang="en-US" sz="1200" dirty="0"/>
                  <a:t>S = B/N = 8/2 = 4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func>
                        </m:e>
                      </m:func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𝑺𝒆𝒕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𝒊𝒏𝒅𝒆𝒙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func>
                        </m:e>
                      </m:func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𝑻𝒂𝒈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𝑨𝒅𝒅𝒓𝒆𝒔𝒔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𝒔𝒆𝒕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r>
                  <a:rPr lang="en-US" sz="1400" b="1" u="sng" dirty="0"/>
                  <a:t>Processor Memory Access Sequence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0xFF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0x96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0x1E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0x97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0X07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54" y="2832559"/>
                <a:ext cx="3837421" cy="3535199"/>
              </a:xfrm>
              <a:prstGeom prst="rect">
                <a:avLst/>
              </a:prstGeom>
              <a:blipFill>
                <a:blip r:embed="rId2"/>
                <a:stretch>
                  <a:fillRect l="-1272" t="-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605616" y="1396651"/>
          <a:ext cx="2238375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1695656520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val="2165372536"/>
                    </a:ext>
                  </a:extLst>
                </a:gridCol>
              </a:tblGrid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46888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735079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467674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16299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900417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84533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713041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79613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26444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…….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83165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93807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5519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25531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085964" y="6090759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35836" y="5609977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Cache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8225" y="288007"/>
            <a:ext cx="10890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mbria Math" panose="02040503050406030204" pitchFamily="18" charset="0"/>
              </a:rPr>
              <a:t>0x1E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8622030" y="478537"/>
            <a:ext cx="1064895" cy="86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60255" y="288007"/>
            <a:ext cx="1969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0001 1</a:t>
            </a:r>
            <a:r>
              <a:rPr lang="en-US" sz="2000" b="1" dirty="0">
                <a:solidFill>
                  <a:srgbClr val="00B0F0"/>
                </a:solidFill>
                <a:latin typeface="Cambria Math" panose="02040503050406030204" pitchFamily="18" charset="0"/>
              </a:rPr>
              <a:t>11</a:t>
            </a:r>
            <a:r>
              <a:rPr lang="en-US" sz="2000" b="1" dirty="0">
                <a:solidFill>
                  <a:srgbClr val="FFC000"/>
                </a:solidFill>
                <a:latin typeface="Cambria Math" panose="02040503050406030204" pitchFamily="18" charset="0"/>
              </a:rPr>
              <a:t>0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10726" y="23492"/>
            <a:ext cx="25787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Tag Bits </a:t>
            </a:r>
            <a:r>
              <a:rPr lang="en-US" sz="1600" b="1" dirty="0">
                <a:solidFill>
                  <a:srgbClr val="00B0F0"/>
                </a:solidFill>
                <a:latin typeface="Cambria Math" panose="02040503050406030204" pitchFamily="18" charset="0"/>
              </a:rPr>
              <a:t>Set bits</a:t>
            </a:r>
            <a:r>
              <a:rPr lang="en-US" sz="1600" b="1" dirty="0">
                <a:solidFill>
                  <a:srgbClr val="FFC000"/>
                </a:solidFill>
                <a:latin typeface="Cambria Math" panose="02040503050406030204" pitchFamily="18" charset="0"/>
              </a:rPr>
              <a:t> Offset bits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77275" y="6429178"/>
            <a:ext cx="33888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Cache Miss = 3	Cache Hit = 0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017193"/>
              </p:ext>
            </p:extLst>
          </p:nvPr>
        </p:nvGraphicFramePr>
        <p:xfrm>
          <a:off x="4409771" y="2030705"/>
          <a:ext cx="3939699" cy="3566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874">
                  <a:extLst>
                    <a:ext uri="{9D8B030D-6E8A-4147-A177-3AD203B41FA5}">
                      <a16:colId xmlns:a16="http://schemas.microsoft.com/office/drawing/2014/main" val="4284518099"/>
                    </a:ext>
                  </a:extLst>
                </a:gridCol>
                <a:gridCol w="484509">
                  <a:extLst>
                    <a:ext uri="{9D8B030D-6E8A-4147-A177-3AD203B41FA5}">
                      <a16:colId xmlns:a16="http://schemas.microsoft.com/office/drawing/2014/main" val="3030601287"/>
                    </a:ext>
                  </a:extLst>
                </a:gridCol>
                <a:gridCol w="645780">
                  <a:extLst>
                    <a:ext uri="{9D8B030D-6E8A-4147-A177-3AD203B41FA5}">
                      <a16:colId xmlns:a16="http://schemas.microsoft.com/office/drawing/2014/main" val="330335500"/>
                    </a:ext>
                  </a:extLst>
                </a:gridCol>
                <a:gridCol w="1091770">
                  <a:extLst>
                    <a:ext uri="{9D8B030D-6E8A-4147-A177-3AD203B41FA5}">
                      <a16:colId xmlns:a16="http://schemas.microsoft.com/office/drawing/2014/main" val="1200191126"/>
                    </a:ext>
                  </a:extLst>
                </a:gridCol>
                <a:gridCol w="572437">
                  <a:extLst>
                    <a:ext uri="{9D8B030D-6E8A-4147-A177-3AD203B41FA5}">
                      <a16:colId xmlns:a16="http://schemas.microsoft.com/office/drawing/2014/main" val="1827225863"/>
                    </a:ext>
                  </a:extLst>
                </a:gridCol>
                <a:gridCol w="510329">
                  <a:extLst>
                    <a:ext uri="{9D8B030D-6E8A-4147-A177-3AD203B41FA5}">
                      <a16:colId xmlns:a16="http://schemas.microsoft.com/office/drawing/2014/main" val="2625427107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/>
                    </a:p>
                    <a:p>
                      <a:pPr algn="l"/>
                      <a:r>
                        <a:rPr lang="en-US" b="1" dirty="0"/>
                        <a:t>Sets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V</a:t>
                      </a:r>
                      <a:r>
                        <a:rPr lang="en-US" b="1" baseline="0" dirty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LRU 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Tags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381397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13756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779383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55686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032231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11111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10061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10010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103397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143917"/>
              </p:ext>
            </p:extLst>
          </p:nvPr>
        </p:nvGraphicFramePr>
        <p:xfrm>
          <a:off x="4409771" y="2037233"/>
          <a:ext cx="3939699" cy="3566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874">
                  <a:extLst>
                    <a:ext uri="{9D8B030D-6E8A-4147-A177-3AD203B41FA5}">
                      <a16:colId xmlns:a16="http://schemas.microsoft.com/office/drawing/2014/main" val="4284518099"/>
                    </a:ext>
                  </a:extLst>
                </a:gridCol>
                <a:gridCol w="484509">
                  <a:extLst>
                    <a:ext uri="{9D8B030D-6E8A-4147-A177-3AD203B41FA5}">
                      <a16:colId xmlns:a16="http://schemas.microsoft.com/office/drawing/2014/main" val="3030601287"/>
                    </a:ext>
                  </a:extLst>
                </a:gridCol>
                <a:gridCol w="645780">
                  <a:extLst>
                    <a:ext uri="{9D8B030D-6E8A-4147-A177-3AD203B41FA5}">
                      <a16:colId xmlns:a16="http://schemas.microsoft.com/office/drawing/2014/main" val="330335500"/>
                    </a:ext>
                  </a:extLst>
                </a:gridCol>
                <a:gridCol w="1091770">
                  <a:extLst>
                    <a:ext uri="{9D8B030D-6E8A-4147-A177-3AD203B41FA5}">
                      <a16:colId xmlns:a16="http://schemas.microsoft.com/office/drawing/2014/main" val="1200191126"/>
                    </a:ext>
                  </a:extLst>
                </a:gridCol>
                <a:gridCol w="572437">
                  <a:extLst>
                    <a:ext uri="{9D8B030D-6E8A-4147-A177-3AD203B41FA5}">
                      <a16:colId xmlns:a16="http://schemas.microsoft.com/office/drawing/2014/main" val="1827225863"/>
                    </a:ext>
                  </a:extLst>
                </a:gridCol>
                <a:gridCol w="510329">
                  <a:extLst>
                    <a:ext uri="{9D8B030D-6E8A-4147-A177-3AD203B41FA5}">
                      <a16:colId xmlns:a16="http://schemas.microsoft.com/office/drawing/2014/main" val="2625427107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/>
                    </a:p>
                    <a:p>
                      <a:pPr algn="l"/>
                      <a:r>
                        <a:rPr lang="en-US" b="1" dirty="0"/>
                        <a:t>Sets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V</a:t>
                      </a:r>
                      <a:r>
                        <a:rPr lang="en-US" b="1" baseline="0" dirty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LRU 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Tags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381397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13756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779383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55686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032231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00011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10061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10010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103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4089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/>
      <p:bldP spid="17" grpId="0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622030" y="226452"/>
            <a:ext cx="98869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Convert to </a:t>
            </a:r>
          </a:p>
          <a:p>
            <a:pPr algn="ctr"/>
            <a:r>
              <a:rPr lang="en-US" sz="1400" dirty="0">
                <a:solidFill>
                  <a:srgbClr val="0070C0"/>
                </a:solidFill>
              </a:rPr>
              <a:t>binary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9754" y="1807906"/>
            <a:ext cx="25812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 = 2B</a:t>
            </a:r>
          </a:p>
          <a:p>
            <a:r>
              <a:rPr lang="en-US" sz="1400" b="1" dirty="0"/>
              <a:t>C = 16B</a:t>
            </a:r>
          </a:p>
          <a:p>
            <a:r>
              <a:rPr lang="en-US" sz="1400" b="1" dirty="0"/>
              <a:t>N = 2 (2-way associative)</a:t>
            </a:r>
          </a:p>
          <a:p>
            <a:r>
              <a:rPr lang="en-US" sz="1400" b="1" dirty="0"/>
              <a:t>Addresses are 8 bits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9754" y="2832559"/>
                <a:ext cx="3837421" cy="3535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en-US" sz="1200" i="1" dirty="0"/>
                  <a:t>B</a:t>
                </a:r>
                <a:r>
                  <a:rPr lang="en-US" sz="1200" dirty="0"/>
                  <a:t> = </a:t>
                </a:r>
                <a:r>
                  <a:rPr lang="en-US" sz="1200" i="1" dirty="0"/>
                  <a:t>C</a:t>
                </a:r>
                <a:r>
                  <a:rPr lang="en-US" sz="1200" dirty="0"/>
                  <a:t>/</a:t>
                </a:r>
                <a:r>
                  <a:rPr lang="en-US" sz="1200" i="1" dirty="0"/>
                  <a:t>b = 16/2 = 8</a:t>
                </a:r>
              </a:p>
              <a:p>
                <a:r>
                  <a:rPr lang="en-US" sz="1200" dirty="0"/>
                  <a:t>S = B/N = 8/2 = 4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func>
                        </m:e>
                      </m:func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𝑺𝒆𝒕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𝒊𝒏𝒅𝒆𝒙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func>
                        </m:e>
                      </m:func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𝑻𝒂𝒈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𝑨𝒅𝒅𝒓𝒆𝒔𝒔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𝒔𝒆𝒕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r>
                  <a:rPr lang="en-US" sz="1400" b="1" u="sng" dirty="0"/>
                  <a:t>Processor Memory Access Sequence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0xFF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0x96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0x1E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0x97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0X07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54" y="2832559"/>
                <a:ext cx="3837421" cy="3535199"/>
              </a:xfrm>
              <a:prstGeom prst="rect">
                <a:avLst/>
              </a:prstGeom>
              <a:blipFill>
                <a:blip r:embed="rId2"/>
                <a:stretch>
                  <a:fillRect l="-1272" t="-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605616" y="1396651"/>
          <a:ext cx="2238375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1695656520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val="2165372536"/>
                    </a:ext>
                  </a:extLst>
                </a:gridCol>
              </a:tblGrid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46888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735079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467674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16299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900417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84533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713041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79613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26444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…….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83165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93807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5519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25531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085964" y="6090759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35836" y="5609977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Cache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8225" y="288007"/>
            <a:ext cx="10890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mbria Math" panose="02040503050406030204" pitchFamily="18" charset="0"/>
              </a:rPr>
              <a:t>0x97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8622030" y="478537"/>
            <a:ext cx="1064895" cy="86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60255" y="288007"/>
            <a:ext cx="1969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1001 0</a:t>
            </a:r>
            <a:r>
              <a:rPr lang="en-US" sz="2000" b="1" dirty="0">
                <a:solidFill>
                  <a:srgbClr val="00B0F0"/>
                </a:solidFill>
                <a:latin typeface="Cambria Math" panose="02040503050406030204" pitchFamily="18" charset="0"/>
              </a:rPr>
              <a:t>11</a:t>
            </a:r>
            <a:r>
              <a:rPr lang="en-US" sz="2000" b="1" dirty="0">
                <a:solidFill>
                  <a:srgbClr val="FFC000"/>
                </a:solidFill>
                <a:latin typeface="Cambria Math" panose="02040503050406030204" pitchFamily="18" charset="0"/>
              </a:rPr>
              <a:t>1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10726" y="23492"/>
            <a:ext cx="25787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Tag Bits </a:t>
            </a:r>
            <a:r>
              <a:rPr lang="en-US" sz="1600" b="1" dirty="0">
                <a:solidFill>
                  <a:srgbClr val="00B0F0"/>
                </a:solidFill>
                <a:latin typeface="Cambria Math" panose="02040503050406030204" pitchFamily="18" charset="0"/>
              </a:rPr>
              <a:t>Set bits</a:t>
            </a:r>
            <a:r>
              <a:rPr lang="en-US" sz="1600" b="1" dirty="0">
                <a:solidFill>
                  <a:srgbClr val="FFC000"/>
                </a:solidFill>
                <a:latin typeface="Cambria Math" panose="02040503050406030204" pitchFamily="18" charset="0"/>
              </a:rPr>
              <a:t> Offset bits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77275" y="6429178"/>
            <a:ext cx="33888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Cache Miss = 3	Cache Hit = 1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220121"/>
              </p:ext>
            </p:extLst>
          </p:nvPr>
        </p:nvGraphicFramePr>
        <p:xfrm>
          <a:off x="4409771" y="1990983"/>
          <a:ext cx="3939699" cy="3566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874">
                  <a:extLst>
                    <a:ext uri="{9D8B030D-6E8A-4147-A177-3AD203B41FA5}">
                      <a16:colId xmlns:a16="http://schemas.microsoft.com/office/drawing/2014/main" val="4284518099"/>
                    </a:ext>
                  </a:extLst>
                </a:gridCol>
                <a:gridCol w="484509">
                  <a:extLst>
                    <a:ext uri="{9D8B030D-6E8A-4147-A177-3AD203B41FA5}">
                      <a16:colId xmlns:a16="http://schemas.microsoft.com/office/drawing/2014/main" val="3030601287"/>
                    </a:ext>
                  </a:extLst>
                </a:gridCol>
                <a:gridCol w="645780">
                  <a:extLst>
                    <a:ext uri="{9D8B030D-6E8A-4147-A177-3AD203B41FA5}">
                      <a16:colId xmlns:a16="http://schemas.microsoft.com/office/drawing/2014/main" val="330335500"/>
                    </a:ext>
                  </a:extLst>
                </a:gridCol>
                <a:gridCol w="1091770">
                  <a:extLst>
                    <a:ext uri="{9D8B030D-6E8A-4147-A177-3AD203B41FA5}">
                      <a16:colId xmlns:a16="http://schemas.microsoft.com/office/drawing/2014/main" val="1200191126"/>
                    </a:ext>
                  </a:extLst>
                </a:gridCol>
                <a:gridCol w="572437">
                  <a:extLst>
                    <a:ext uri="{9D8B030D-6E8A-4147-A177-3AD203B41FA5}">
                      <a16:colId xmlns:a16="http://schemas.microsoft.com/office/drawing/2014/main" val="1827225863"/>
                    </a:ext>
                  </a:extLst>
                </a:gridCol>
                <a:gridCol w="510329">
                  <a:extLst>
                    <a:ext uri="{9D8B030D-6E8A-4147-A177-3AD203B41FA5}">
                      <a16:colId xmlns:a16="http://schemas.microsoft.com/office/drawing/2014/main" val="2625427107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/>
                    </a:p>
                    <a:p>
                      <a:pPr algn="l"/>
                      <a:r>
                        <a:rPr lang="en-US" b="1" dirty="0"/>
                        <a:t>Sets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V</a:t>
                      </a:r>
                      <a:r>
                        <a:rPr lang="en-US" b="1" baseline="0" dirty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LRU 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Tags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381397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13756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779383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55686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032231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00011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10061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10010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103397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497781"/>
              </p:ext>
            </p:extLst>
          </p:nvPr>
        </p:nvGraphicFramePr>
        <p:xfrm>
          <a:off x="4409770" y="1990983"/>
          <a:ext cx="3939699" cy="3566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874">
                  <a:extLst>
                    <a:ext uri="{9D8B030D-6E8A-4147-A177-3AD203B41FA5}">
                      <a16:colId xmlns:a16="http://schemas.microsoft.com/office/drawing/2014/main" val="4284518099"/>
                    </a:ext>
                  </a:extLst>
                </a:gridCol>
                <a:gridCol w="484509">
                  <a:extLst>
                    <a:ext uri="{9D8B030D-6E8A-4147-A177-3AD203B41FA5}">
                      <a16:colId xmlns:a16="http://schemas.microsoft.com/office/drawing/2014/main" val="3030601287"/>
                    </a:ext>
                  </a:extLst>
                </a:gridCol>
                <a:gridCol w="645780">
                  <a:extLst>
                    <a:ext uri="{9D8B030D-6E8A-4147-A177-3AD203B41FA5}">
                      <a16:colId xmlns:a16="http://schemas.microsoft.com/office/drawing/2014/main" val="330335500"/>
                    </a:ext>
                  </a:extLst>
                </a:gridCol>
                <a:gridCol w="1091770">
                  <a:extLst>
                    <a:ext uri="{9D8B030D-6E8A-4147-A177-3AD203B41FA5}">
                      <a16:colId xmlns:a16="http://schemas.microsoft.com/office/drawing/2014/main" val="1200191126"/>
                    </a:ext>
                  </a:extLst>
                </a:gridCol>
                <a:gridCol w="572437">
                  <a:extLst>
                    <a:ext uri="{9D8B030D-6E8A-4147-A177-3AD203B41FA5}">
                      <a16:colId xmlns:a16="http://schemas.microsoft.com/office/drawing/2014/main" val="1827225863"/>
                    </a:ext>
                  </a:extLst>
                </a:gridCol>
                <a:gridCol w="510329">
                  <a:extLst>
                    <a:ext uri="{9D8B030D-6E8A-4147-A177-3AD203B41FA5}">
                      <a16:colId xmlns:a16="http://schemas.microsoft.com/office/drawing/2014/main" val="2625427107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/>
                    </a:p>
                    <a:p>
                      <a:pPr algn="l"/>
                      <a:r>
                        <a:rPr lang="en-US" b="1" dirty="0"/>
                        <a:t>Sets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V</a:t>
                      </a:r>
                      <a:r>
                        <a:rPr lang="en-US" b="1" baseline="0" dirty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LRU 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Tags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381397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13756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779383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55686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032231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00011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10061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10010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103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6733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/>
      <p:bldP spid="17" grpId="0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622030" y="226452"/>
            <a:ext cx="98869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Convert to </a:t>
            </a:r>
          </a:p>
          <a:p>
            <a:pPr algn="ctr"/>
            <a:r>
              <a:rPr lang="en-US" sz="1400" dirty="0">
                <a:solidFill>
                  <a:srgbClr val="0070C0"/>
                </a:solidFill>
              </a:rPr>
              <a:t>binary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9754" y="1807906"/>
            <a:ext cx="25812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 = 2B</a:t>
            </a:r>
          </a:p>
          <a:p>
            <a:r>
              <a:rPr lang="en-US" sz="1400" b="1" dirty="0"/>
              <a:t>C = 16B</a:t>
            </a:r>
          </a:p>
          <a:p>
            <a:r>
              <a:rPr lang="en-US" sz="1400" b="1" dirty="0"/>
              <a:t>N = 2 (2-way associative)</a:t>
            </a:r>
          </a:p>
          <a:p>
            <a:r>
              <a:rPr lang="en-US" sz="1400" b="1" dirty="0"/>
              <a:t>Addresses are 8 bits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9754" y="2832559"/>
                <a:ext cx="3837421" cy="3535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en-US" sz="1200" i="1" dirty="0"/>
                  <a:t>B</a:t>
                </a:r>
                <a:r>
                  <a:rPr lang="en-US" sz="1200" dirty="0"/>
                  <a:t> = </a:t>
                </a:r>
                <a:r>
                  <a:rPr lang="en-US" sz="1200" i="1" dirty="0"/>
                  <a:t>C</a:t>
                </a:r>
                <a:r>
                  <a:rPr lang="en-US" sz="1200" dirty="0"/>
                  <a:t>/</a:t>
                </a:r>
                <a:r>
                  <a:rPr lang="en-US" sz="1200" i="1" dirty="0"/>
                  <a:t>b = 16/2 = 8</a:t>
                </a:r>
              </a:p>
              <a:p>
                <a:r>
                  <a:rPr lang="en-US" sz="1200" dirty="0"/>
                  <a:t>S = B/N = 8/2 = 4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func>
                        </m:e>
                      </m:func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𝑺𝒆𝒕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𝒊𝒏𝒅𝒆𝒙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func>
                        </m:e>
                      </m:func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𝑻𝒂𝒈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𝑨𝒅𝒅𝒓𝒆𝒔𝒔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𝒔𝒆𝒕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r>
                  <a:rPr lang="en-US" sz="1400" b="1" u="sng" dirty="0"/>
                  <a:t>Processor Memory Access Sequence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0xFF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0x96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0x1E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latin typeface="Cambria Math" panose="02040503050406030204" pitchFamily="18" charset="0"/>
                  </a:rPr>
                  <a:t>0x97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0X07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54" y="2832559"/>
                <a:ext cx="3837421" cy="3535199"/>
              </a:xfrm>
              <a:prstGeom prst="rect">
                <a:avLst/>
              </a:prstGeom>
              <a:blipFill>
                <a:blip r:embed="rId2"/>
                <a:stretch>
                  <a:fillRect l="-1272" t="-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605616" y="1396651"/>
          <a:ext cx="2238375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1695656520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val="2165372536"/>
                    </a:ext>
                  </a:extLst>
                </a:gridCol>
              </a:tblGrid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46888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735079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467674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16299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900417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84533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713041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79613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26444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…….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83165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93807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5519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25531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085964" y="6090759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35836" y="5609977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Cache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8225" y="288007"/>
            <a:ext cx="10890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mbria Math" panose="02040503050406030204" pitchFamily="18" charset="0"/>
              </a:rPr>
              <a:t>0x07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8622030" y="478537"/>
            <a:ext cx="1064895" cy="86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60255" y="288007"/>
            <a:ext cx="1969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0000 0</a:t>
            </a:r>
            <a:r>
              <a:rPr lang="en-US" sz="2000" b="1" dirty="0">
                <a:solidFill>
                  <a:srgbClr val="00B0F0"/>
                </a:solidFill>
                <a:latin typeface="Cambria Math" panose="02040503050406030204" pitchFamily="18" charset="0"/>
              </a:rPr>
              <a:t>11</a:t>
            </a:r>
            <a:r>
              <a:rPr lang="en-US" sz="2000" b="1" dirty="0">
                <a:solidFill>
                  <a:srgbClr val="FFC000"/>
                </a:solidFill>
                <a:latin typeface="Cambria Math" panose="02040503050406030204" pitchFamily="18" charset="0"/>
              </a:rPr>
              <a:t>1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10726" y="23492"/>
            <a:ext cx="25787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Tag Bits </a:t>
            </a:r>
            <a:r>
              <a:rPr lang="en-US" sz="1600" b="1" dirty="0">
                <a:solidFill>
                  <a:srgbClr val="00B0F0"/>
                </a:solidFill>
                <a:latin typeface="Cambria Math" panose="02040503050406030204" pitchFamily="18" charset="0"/>
              </a:rPr>
              <a:t>Set bits</a:t>
            </a:r>
            <a:r>
              <a:rPr lang="en-US" sz="1600" b="1" dirty="0">
                <a:solidFill>
                  <a:srgbClr val="FFC000"/>
                </a:solidFill>
                <a:latin typeface="Cambria Math" panose="02040503050406030204" pitchFamily="18" charset="0"/>
              </a:rPr>
              <a:t> Offset bits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77275" y="6429178"/>
            <a:ext cx="33888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Cache Miss = 4	Cache Hit = 1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403885"/>
              </p:ext>
            </p:extLst>
          </p:nvPr>
        </p:nvGraphicFramePr>
        <p:xfrm>
          <a:off x="4409771" y="2080949"/>
          <a:ext cx="3939699" cy="3566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874">
                  <a:extLst>
                    <a:ext uri="{9D8B030D-6E8A-4147-A177-3AD203B41FA5}">
                      <a16:colId xmlns:a16="http://schemas.microsoft.com/office/drawing/2014/main" val="4284518099"/>
                    </a:ext>
                  </a:extLst>
                </a:gridCol>
                <a:gridCol w="484509">
                  <a:extLst>
                    <a:ext uri="{9D8B030D-6E8A-4147-A177-3AD203B41FA5}">
                      <a16:colId xmlns:a16="http://schemas.microsoft.com/office/drawing/2014/main" val="3030601287"/>
                    </a:ext>
                  </a:extLst>
                </a:gridCol>
                <a:gridCol w="645780">
                  <a:extLst>
                    <a:ext uri="{9D8B030D-6E8A-4147-A177-3AD203B41FA5}">
                      <a16:colId xmlns:a16="http://schemas.microsoft.com/office/drawing/2014/main" val="330335500"/>
                    </a:ext>
                  </a:extLst>
                </a:gridCol>
                <a:gridCol w="1091770">
                  <a:extLst>
                    <a:ext uri="{9D8B030D-6E8A-4147-A177-3AD203B41FA5}">
                      <a16:colId xmlns:a16="http://schemas.microsoft.com/office/drawing/2014/main" val="1200191126"/>
                    </a:ext>
                  </a:extLst>
                </a:gridCol>
                <a:gridCol w="572437">
                  <a:extLst>
                    <a:ext uri="{9D8B030D-6E8A-4147-A177-3AD203B41FA5}">
                      <a16:colId xmlns:a16="http://schemas.microsoft.com/office/drawing/2014/main" val="1827225863"/>
                    </a:ext>
                  </a:extLst>
                </a:gridCol>
                <a:gridCol w="510329">
                  <a:extLst>
                    <a:ext uri="{9D8B030D-6E8A-4147-A177-3AD203B41FA5}">
                      <a16:colId xmlns:a16="http://schemas.microsoft.com/office/drawing/2014/main" val="2625427107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/>
                    </a:p>
                    <a:p>
                      <a:pPr algn="l"/>
                      <a:r>
                        <a:rPr lang="en-US" b="1" dirty="0"/>
                        <a:t>Sets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V</a:t>
                      </a:r>
                      <a:r>
                        <a:rPr lang="en-US" b="1" baseline="0" dirty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LRU 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Tags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381397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13756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779383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55686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032231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00011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10061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10010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103397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480599"/>
              </p:ext>
            </p:extLst>
          </p:nvPr>
        </p:nvGraphicFramePr>
        <p:xfrm>
          <a:off x="4419866" y="2080949"/>
          <a:ext cx="3939699" cy="3566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4874">
                  <a:extLst>
                    <a:ext uri="{9D8B030D-6E8A-4147-A177-3AD203B41FA5}">
                      <a16:colId xmlns:a16="http://schemas.microsoft.com/office/drawing/2014/main" val="4284518099"/>
                    </a:ext>
                  </a:extLst>
                </a:gridCol>
                <a:gridCol w="484509">
                  <a:extLst>
                    <a:ext uri="{9D8B030D-6E8A-4147-A177-3AD203B41FA5}">
                      <a16:colId xmlns:a16="http://schemas.microsoft.com/office/drawing/2014/main" val="3030601287"/>
                    </a:ext>
                  </a:extLst>
                </a:gridCol>
                <a:gridCol w="645780">
                  <a:extLst>
                    <a:ext uri="{9D8B030D-6E8A-4147-A177-3AD203B41FA5}">
                      <a16:colId xmlns:a16="http://schemas.microsoft.com/office/drawing/2014/main" val="330335500"/>
                    </a:ext>
                  </a:extLst>
                </a:gridCol>
                <a:gridCol w="1091770">
                  <a:extLst>
                    <a:ext uri="{9D8B030D-6E8A-4147-A177-3AD203B41FA5}">
                      <a16:colId xmlns:a16="http://schemas.microsoft.com/office/drawing/2014/main" val="1200191126"/>
                    </a:ext>
                  </a:extLst>
                </a:gridCol>
                <a:gridCol w="572437">
                  <a:extLst>
                    <a:ext uri="{9D8B030D-6E8A-4147-A177-3AD203B41FA5}">
                      <a16:colId xmlns:a16="http://schemas.microsoft.com/office/drawing/2014/main" val="1827225863"/>
                    </a:ext>
                  </a:extLst>
                </a:gridCol>
                <a:gridCol w="510329">
                  <a:extLst>
                    <a:ext uri="{9D8B030D-6E8A-4147-A177-3AD203B41FA5}">
                      <a16:colId xmlns:a16="http://schemas.microsoft.com/office/drawing/2014/main" val="2625427107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/>
                    </a:p>
                    <a:p>
                      <a:pPr algn="l"/>
                      <a:r>
                        <a:rPr lang="en-US" b="1" dirty="0"/>
                        <a:t>Sets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V</a:t>
                      </a:r>
                      <a:r>
                        <a:rPr lang="en-US" b="1" baseline="0" dirty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LRU 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Tags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381397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13756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779383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55686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032231"/>
                  </a:ext>
                </a:extLst>
              </a:tr>
              <a:tr h="321503">
                <a:tc rowSpan="2">
                  <a:txBody>
                    <a:bodyPr/>
                    <a:lstStyle/>
                    <a:p>
                      <a:endParaRPr lang="en-US" b="1" dirty="0"/>
                    </a:p>
                    <a:p>
                      <a:r>
                        <a:rPr lang="en-US" b="1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00000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10061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10010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103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535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/>
      <p:bldP spid="17" grpId="0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622030" y="226452"/>
            <a:ext cx="98869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Convert to </a:t>
            </a:r>
          </a:p>
          <a:p>
            <a:pPr algn="ctr"/>
            <a:r>
              <a:rPr lang="en-US" sz="1400" dirty="0">
                <a:solidFill>
                  <a:srgbClr val="0070C0"/>
                </a:solidFill>
              </a:rPr>
              <a:t>binary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571" y="242318"/>
            <a:ext cx="10058400" cy="1450757"/>
          </a:xfrm>
        </p:spPr>
        <p:txBody>
          <a:bodyPr/>
          <a:lstStyle/>
          <a:p>
            <a:r>
              <a:rPr lang="en-US" dirty="0"/>
              <a:t>Example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9754" y="1807906"/>
            <a:ext cx="25812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 = 1B</a:t>
            </a:r>
          </a:p>
          <a:p>
            <a:r>
              <a:rPr lang="en-US" sz="1400" b="1" dirty="0"/>
              <a:t>Full Associative Cache</a:t>
            </a:r>
          </a:p>
          <a:p>
            <a:r>
              <a:rPr lang="en-US" sz="1400" b="1" dirty="0"/>
              <a:t>Single set with 4-ways</a:t>
            </a:r>
          </a:p>
          <a:p>
            <a:r>
              <a:rPr lang="en-US" sz="1400" b="1" dirty="0"/>
              <a:t>Address is 8bits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9754" y="2832559"/>
                <a:ext cx="3837421" cy="2923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en-US" sz="1400" i="1" dirty="0"/>
                  <a:t>C = 1B * 4 (ways) = 4B</a:t>
                </a:r>
              </a:p>
              <a:p>
                <a:pPr marL="0" lvl="1"/>
                <a:r>
                  <a:rPr lang="en-US" sz="1400" i="1" dirty="0"/>
                  <a:t>B</a:t>
                </a:r>
                <a:r>
                  <a:rPr lang="en-US" sz="1400" dirty="0"/>
                  <a:t> = </a:t>
                </a:r>
                <a:r>
                  <a:rPr lang="en-US" sz="1400" i="1" dirty="0"/>
                  <a:t>C</a:t>
                </a:r>
                <a:r>
                  <a:rPr lang="en-US" sz="1400" dirty="0"/>
                  <a:t>/</a:t>
                </a:r>
                <a:r>
                  <a:rPr lang="en-US" sz="1400" i="1" dirty="0"/>
                  <a:t>b = 4/1 = 4</a:t>
                </a:r>
              </a:p>
              <a:p>
                <a:r>
                  <a:rPr lang="en-US" sz="1400" dirty="0"/>
                  <a:t>S = B/N = 4/4 = 1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func>
                        </m:e>
                      </m:func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𝑺𝒆𝒕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𝒊𝒏𝒅𝒆𝒙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func>
                        </m:e>
                      </m:func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𝑻𝒂𝒈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𝑨𝒅𝒅𝒓𝒆𝒔𝒔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𝒔𝒆𝒕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</m:oMath>
                  </m:oMathPara>
                </a14:m>
                <a:endParaRPr lang="en-US" sz="1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US" sz="1000" b="1" i="1" dirty="0">
                  <a:latin typeface="Cambria Math" panose="02040503050406030204" pitchFamily="18" charset="0"/>
                </a:endParaRPr>
              </a:p>
              <a:p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r>
                  <a:rPr lang="en-US" sz="1400" b="1" u="sng" dirty="0"/>
                  <a:t>Processor Memory Access Sequence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0x06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54" y="2832559"/>
                <a:ext cx="3837421" cy="2923877"/>
              </a:xfrm>
              <a:prstGeom prst="rect">
                <a:avLst/>
              </a:prstGeom>
              <a:blipFill>
                <a:blip r:embed="rId2"/>
                <a:stretch>
                  <a:fillRect l="-1431" t="-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0085964" y="6090759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1254" y="4788258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Cache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8225" y="288007"/>
            <a:ext cx="10890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mbria Math" panose="02040503050406030204" pitchFamily="18" charset="0"/>
              </a:rPr>
              <a:t>0x06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8622030" y="478537"/>
            <a:ext cx="1064895" cy="86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60255" y="288007"/>
            <a:ext cx="1969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0000 0110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10726" y="23492"/>
            <a:ext cx="25787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Tag Bits </a:t>
            </a:r>
            <a:r>
              <a:rPr lang="en-US" sz="1600" b="1" dirty="0">
                <a:solidFill>
                  <a:srgbClr val="00B0F0"/>
                </a:solidFill>
                <a:latin typeface="Cambria Math" panose="02040503050406030204" pitchFamily="18" charset="0"/>
              </a:rPr>
              <a:t>Set bits</a:t>
            </a:r>
            <a:r>
              <a:rPr lang="en-US" sz="1600" b="1" dirty="0">
                <a:solidFill>
                  <a:srgbClr val="FFC000"/>
                </a:solidFill>
                <a:latin typeface="Cambria Math" panose="02040503050406030204" pitchFamily="18" charset="0"/>
              </a:rPr>
              <a:t> Offset bits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77275" y="6429178"/>
            <a:ext cx="33888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Cache Miss = 1	Cache Hit = 0 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8335"/>
              </p:ext>
            </p:extLst>
          </p:nvPr>
        </p:nvGraphicFramePr>
        <p:xfrm>
          <a:off x="3458306" y="2014814"/>
          <a:ext cx="539012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716">
                  <a:extLst>
                    <a:ext uri="{9D8B030D-6E8A-4147-A177-3AD203B41FA5}">
                      <a16:colId xmlns:a16="http://schemas.microsoft.com/office/drawing/2014/main" val="4284518099"/>
                    </a:ext>
                  </a:extLst>
                </a:gridCol>
                <a:gridCol w="636269">
                  <a:extLst>
                    <a:ext uri="{9D8B030D-6E8A-4147-A177-3AD203B41FA5}">
                      <a16:colId xmlns:a16="http://schemas.microsoft.com/office/drawing/2014/main" val="3030601287"/>
                    </a:ext>
                  </a:extLst>
                </a:gridCol>
                <a:gridCol w="886691">
                  <a:extLst>
                    <a:ext uri="{9D8B030D-6E8A-4147-A177-3AD203B41FA5}">
                      <a16:colId xmlns:a16="http://schemas.microsoft.com/office/drawing/2014/main" val="330335500"/>
                    </a:ext>
                  </a:extLst>
                </a:gridCol>
                <a:gridCol w="1413163">
                  <a:extLst>
                    <a:ext uri="{9D8B030D-6E8A-4147-A177-3AD203B41FA5}">
                      <a16:colId xmlns:a16="http://schemas.microsoft.com/office/drawing/2014/main" val="1200191126"/>
                    </a:ext>
                  </a:extLst>
                </a:gridCol>
                <a:gridCol w="2004290">
                  <a:extLst>
                    <a:ext uri="{9D8B030D-6E8A-4147-A177-3AD203B41FA5}">
                      <a16:colId xmlns:a16="http://schemas.microsoft.com/office/drawing/2014/main" val="1827225863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/>
                    </a:p>
                    <a:p>
                      <a:pPr algn="l"/>
                      <a:r>
                        <a:rPr lang="en-US" b="1" dirty="0"/>
                        <a:t>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V</a:t>
                      </a:r>
                      <a:r>
                        <a:rPr lang="en-US" b="1" baseline="0" dirty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LRU 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Tags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Data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381397"/>
                  </a:ext>
                </a:extLst>
              </a:tr>
              <a:tr h="321503">
                <a:tc rowSpan="4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0000 0110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13756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779383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870372"/>
              </p:ext>
            </p:extLst>
          </p:nvPr>
        </p:nvGraphicFramePr>
        <p:xfrm>
          <a:off x="9467860" y="1273132"/>
          <a:ext cx="2238375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1695656520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val="2165372536"/>
                    </a:ext>
                  </a:extLst>
                </a:gridCol>
              </a:tblGrid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46888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735079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467674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16299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900417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84533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713041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79613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26444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…….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…….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83165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93807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5519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255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298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622030" y="226452"/>
            <a:ext cx="98869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Convert to </a:t>
            </a:r>
          </a:p>
          <a:p>
            <a:pPr algn="ctr"/>
            <a:r>
              <a:rPr lang="en-US" sz="1400" dirty="0">
                <a:solidFill>
                  <a:srgbClr val="0070C0"/>
                </a:solidFill>
              </a:rPr>
              <a:t>binary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571" y="242318"/>
            <a:ext cx="10058400" cy="1450757"/>
          </a:xfrm>
        </p:spPr>
        <p:txBody>
          <a:bodyPr/>
          <a:lstStyle/>
          <a:p>
            <a:r>
              <a:rPr lang="en-US" dirty="0"/>
              <a:t>Example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9754" y="1807906"/>
            <a:ext cx="25812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 = 1B</a:t>
            </a:r>
          </a:p>
          <a:p>
            <a:r>
              <a:rPr lang="en-US" sz="1400" b="1" dirty="0"/>
              <a:t>Full Associative Cache</a:t>
            </a:r>
          </a:p>
          <a:p>
            <a:r>
              <a:rPr lang="en-US" sz="1400" b="1" dirty="0"/>
              <a:t>Single set with 4-ways</a:t>
            </a:r>
          </a:p>
          <a:p>
            <a:r>
              <a:rPr lang="en-US" sz="1400" b="1" dirty="0"/>
              <a:t>Address is 8bits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9754" y="2832559"/>
                <a:ext cx="3837421" cy="2923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en-US" sz="1400" i="1" dirty="0"/>
                  <a:t>C = 1B * 4 (ways) = 4B</a:t>
                </a:r>
              </a:p>
              <a:p>
                <a:pPr marL="0" lvl="1"/>
                <a:r>
                  <a:rPr lang="en-US" sz="1400" i="1" dirty="0"/>
                  <a:t>B</a:t>
                </a:r>
                <a:r>
                  <a:rPr lang="en-US" sz="1400" dirty="0"/>
                  <a:t> = </a:t>
                </a:r>
                <a:r>
                  <a:rPr lang="en-US" sz="1400" i="1" dirty="0"/>
                  <a:t>C</a:t>
                </a:r>
                <a:r>
                  <a:rPr lang="en-US" sz="1400" dirty="0"/>
                  <a:t>/</a:t>
                </a:r>
                <a:r>
                  <a:rPr lang="en-US" sz="1400" i="1" dirty="0"/>
                  <a:t>b = 4/1 = 4</a:t>
                </a:r>
              </a:p>
              <a:p>
                <a:r>
                  <a:rPr lang="en-US" sz="1400" dirty="0"/>
                  <a:t>S = B/N = 4/4 = 1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func>
                        </m:e>
                      </m:func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𝑺𝒆𝒕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𝒊𝒏𝒅𝒆𝒙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func>
                        </m:e>
                      </m:func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𝑻𝒂𝒈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𝑨𝒅𝒅𝒓𝒆𝒔𝒔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𝒔𝒆𝒕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</m:oMath>
                  </m:oMathPara>
                </a14:m>
                <a:endParaRPr lang="en-US" sz="1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US" sz="1000" b="1" i="1" dirty="0">
                  <a:latin typeface="Cambria Math" panose="02040503050406030204" pitchFamily="18" charset="0"/>
                </a:endParaRPr>
              </a:p>
              <a:p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r>
                  <a:rPr lang="en-US" sz="1400" b="1" u="sng" dirty="0"/>
                  <a:t>Processor Memory Access Sequence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0x06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0xEF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54" y="2832559"/>
                <a:ext cx="3837421" cy="2923877"/>
              </a:xfrm>
              <a:prstGeom prst="rect">
                <a:avLst/>
              </a:prstGeom>
              <a:blipFill>
                <a:blip r:embed="rId2"/>
                <a:stretch>
                  <a:fillRect l="-1431" t="-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0085964" y="6090759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1254" y="4788258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Cache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8225" y="288007"/>
            <a:ext cx="10890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mbria Math" panose="02040503050406030204" pitchFamily="18" charset="0"/>
              </a:rPr>
              <a:t>0xEF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8622030" y="478537"/>
            <a:ext cx="1064895" cy="86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60255" y="288007"/>
            <a:ext cx="1969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1110 1111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10726" y="23492"/>
            <a:ext cx="25787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Tag Bits </a:t>
            </a:r>
            <a:r>
              <a:rPr lang="en-US" sz="1600" b="1" dirty="0">
                <a:solidFill>
                  <a:srgbClr val="00B0F0"/>
                </a:solidFill>
                <a:latin typeface="Cambria Math" panose="02040503050406030204" pitchFamily="18" charset="0"/>
              </a:rPr>
              <a:t>Set bits</a:t>
            </a:r>
            <a:r>
              <a:rPr lang="en-US" sz="1600" b="1" dirty="0">
                <a:solidFill>
                  <a:srgbClr val="FFC000"/>
                </a:solidFill>
                <a:latin typeface="Cambria Math" panose="02040503050406030204" pitchFamily="18" charset="0"/>
              </a:rPr>
              <a:t> Offset bits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77275" y="6429178"/>
            <a:ext cx="33888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Cache Miss = 2	Cache Hit = 0 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101924"/>
              </p:ext>
            </p:extLst>
          </p:nvPr>
        </p:nvGraphicFramePr>
        <p:xfrm>
          <a:off x="3458306" y="2014814"/>
          <a:ext cx="539012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716">
                  <a:extLst>
                    <a:ext uri="{9D8B030D-6E8A-4147-A177-3AD203B41FA5}">
                      <a16:colId xmlns:a16="http://schemas.microsoft.com/office/drawing/2014/main" val="4284518099"/>
                    </a:ext>
                  </a:extLst>
                </a:gridCol>
                <a:gridCol w="636269">
                  <a:extLst>
                    <a:ext uri="{9D8B030D-6E8A-4147-A177-3AD203B41FA5}">
                      <a16:colId xmlns:a16="http://schemas.microsoft.com/office/drawing/2014/main" val="3030601287"/>
                    </a:ext>
                  </a:extLst>
                </a:gridCol>
                <a:gridCol w="886691">
                  <a:extLst>
                    <a:ext uri="{9D8B030D-6E8A-4147-A177-3AD203B41FA5}">
                      <a16:colId xmlns:a16="http://schemas.microsoft.com/office/drawing/2014/main" val="330335500"/>
                    </a:ext>
                  </a:extLst>
                </a:gridCol>
                <a:gridCol w="1413163">
                  <a:extLst>
                    <a:ext uri="{9D8B030D-6E8A-4147-A177-3AD203B41FA5}">
                      <a16:colId xmlns:a16="http://schemas.microsoft.com/office/drawing/2014/main" val="1200191126"/>
                    </a:ext>
                  </a:extLst>
                </a:gridCol>
                <a:gridCol w="2004290">
                  <a:extLst>
                    <a:ext uri="{9D8B030D-6E8A-4147-A177-3AD203B41FA5}">
                      <a16:colId xmlns:a16="http://schemas.microsoft.com/office/drawing/2014/main" val="1827225863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/>
                    </a:p>
                    <a:p>
                      <a:pPr algn="l"/>
                      <a:r>
                        <a:rPr lang="en-US" b="1" dirty="0"/>
                        <a:t>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V</a:t>
                      </a:r>
                      <a:r>
                        <a:rPr lang="en-US" b="1" baseline="0" dirty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LRU 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Tags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Data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381397"/>
                  </a:ext>
                </a:extLst>
              </a:tr>
              <a:tr h="321503">
                <a:tc rowSpan="4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0000 0110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1110 1111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13756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779383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467860" y="1273132"/>
          <a:ext cx="2238375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1695656520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val="2165372536"/>
                    </a:ext>
                  </a:extLst>
                </a:gridCol>
              </a:tblGrid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46888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735079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467674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16299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900417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84533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713041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79613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26444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…….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…….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83165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93807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5519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255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2019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622030" y="226452"/>
            <a:ext cx="98869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Convert to </a:t>
            </a:r>
          </a:p>
          <a:p>
            <a:pPr algn="ctr"/>
            <a:r>
              <a:rPr lang="en-US" sz="1400" dirty="0">
                <a:solidFill>
                  <a:srgbClr val="0070C0"/>
                </a:solidFill>
              </a:rPr>
              <a:t>binary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571" y="242318"/>
            <a:ext cx="10058400" cy="1450757"/>
          </a:xfrm>
        </p:spPr>
        <p:txBody>
          <a:bodyPr/>
          <a:lstStyle/>
          <a:p>
            <a:r>
              <a:rPr lang="en-US" dirty="0"/>
              <a:t>Example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9754" y="1807906"/>
            <a:ext cx="25812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 = 1B</a:t>
            </a:r>
          </a:p>
          <a:p>
            <a:r>
              <a:rPr lang="en-US" sz="1400" b="1" dirty="0"/>
              <a:t>Full Associative Cache</a:t>
            </a:r>
          </a:p>
          <a:p>
            <a:r>
              <a:rPr lang="en-US" sz="1400" b="1" dirty="0"/>
              <a:t>Single set with 4-ways</a:t>
            </a:r>
          </a:p>
          <a:p>
            <a:r>
              <a:rPr lang="en-US" sz="1400" b="1" dirty="0"/>
              <a:t>Address is 8bits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9754" y="2832559"/>
                <a:ext cx="3837421" cy="3200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en-US" sz="1400" i="1" dirty="0"/>
                  <a:t>C = 1B * 4 (ways) = 4B</a:t>
                </a:r>
              </a:p>
              <a:p>
                <a:pPr marL="0" lvl="1"/>
                <a:r>
                  <a:rPr lang="en-US" sz="1400" i="1" dirty="0"/>
                  <a:t>B</a:t>
                </a:r>
                <a:r>
                  <a:rPr lang="en-US" sz="1400" dirty="0"/>
                  <a:t> = </a:t>
                </a:r>
                <a:r>
                  <a:rPr lang="en-US" sz="1400" i="1" dirty="0"/>
                  <a:t>C</a:t>
                </a:r>
                <a:r>
                  <a:rPr lang="en-US" sz="1400" dirty="0"/>
                  <a:t>/</a:t>
                </a:r>
                <a:r>
                  <a:rPr lang="en-US" sz="1400" i="1" dirty="0"/>
                  <a:t>b = 4/1 = 4</a:t>
                </a:r>
              </a:p>
              <a:p>
                <a:r>
                  <a:rPr lang="en-US" sz="1400" dirty="0"/>
                  <a:t>S = B/N = 4/4 = 1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func>
                        </m:e>
                      </m:func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𝑺𝒆𝒕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𝒊𝒏𝒅𝒆𝒙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func>
                        </m:e>
                      </m:func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𝑻𝒂𝒈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𝑨𝒅𝒅𝒓𝒆𝒔𝒔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𝒔𝒆𝒕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</m:oMath>
                  </m:oMathPara>
                </a14:m>
                <a:endParaRPr lang="en-US" sz="1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US" sz="1000" b="1" i="1" dirty="0">
                  <a:latin typeface="Cambria Math" panose="02040503050406030204" pitchFamily="18" charset="0"/>
                </a:endParaRPr>
              </a:p>
              <a:p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r>
                  <a:rPr lang="en-US" sz="1400" b="1" u="sng" dirty="0"/>
                  <a:t>Processor Memory Access Sequence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0x06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0xEF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0xB2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54" y="2832559"/>
                <a:ext cx="3837421" cy="3200876"/>
              </a:xfrm>
              <a:prstGeom prst="rect">
                <a:avLst/>
              </a:prstGeom>
              <a:blipFill>
                <a:blip r:embed="rId2"/>
                <a:stretch>
                  <a:fillRect l="-1431" t="-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0085964" y="6090759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1254" y="4788258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Cache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8225" y="288007"/>
            <a:ext cx="10890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mbria Math" panose="02040503050406030204" pitchFamily="18" charset="0"/>
              </a:rPr>
              <a:t>0xB2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8622030" y="478537"/>
            <a:ext cx="1064895" cy="86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60255" y="288007"/>
            <a:ext cx="1969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1011 0010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10726" y="23492"/>
            <a:ext cx="25787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Tag Bits </a:t>
            </a:r>
            <a:r>
              <a:rPr lang="en-US" sz="1600" b="1" dirty="0">
                <a:solidFill>
                  <a:srgbClr val="00B0F0"/>
                </a:solidFill>
                <a:latin typeface="Cambria Math" panose="02040503050406030204" pitchFamily="18" charset="0"/>
              </a:rPr>
              <a:t>Set bits</a:t>
            </a:r>
            <a:r>
              <a:rPr lang="en-US" sz="1600" b="1" dirty="0">
                <a:solidFill>
                  <a:srgbClr val="FFC000"/>
                </a:solidFill>
                <a:latin typeface="Cambria Math" panose="02040503050406030204" pitchFamily="18" charset="0"/>
              </a:rPr>
              <a:t> Offset bits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77275" y="6429178"/>
            <a:ext cx="33888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Cache Miss = 3	Cache Hit = 0 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812648"/>
              </p:ext>
            </p:extLst>
          </p:nvPr>
        </p:nvGraphicFramePr>
        <p:xfrm>
          <a:off x="3458306" y="2014814"/>
          <a:ext cx="539012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716">
                  <a:extLst>
                    <a:ext uri="{9D8B030D-6E8A-4147-A177-3AD203B41FA5}">
                      <a16:colId xmlns:a16="http://schemas.microsoft.com/office/drawing/2014/main" val="4284518099"/>
                    </a:ext>
                  </a:extLst>
                </a:gridCol>
                <a:gridCol w="636269">
                  <a:extLst>
                    <a:ext uri="{9D8B030D-6E8A-4147-A177-3AD203B41FA5}">
                      <a16:colId xmlns:a16="http://schemas.microsoft.com/office/drawing/2014/main" val="3030601287"/>
                    </a:ext>
                  </a:extLst>
                </a:gridCol>
                <a:gridCol w="886691">
                  <a:extLst>
                    <a:ext uri="{9D8B030D-6E8A-4147-A177-3AD203B41FA5}">
                      <a16:colId xmlns:a16="http://schemas.microsoft.com/office/drawing/2014/main" val="330335500"/>
                    </a:ext>
                  </a:extLst>
                </a:gridCol>
                <a:gridCol w="1413163">
                  <a:extLst>
                    <a:ext uri="{9D8B030D-6E8A-4147-A177-3AD203B41FA5}">
                      <a16:colId xmlns:a16="http://schemas.microsoft.com/office/drawing/2014/main" val="1200191126"/>
                    </a:ext>
                  </a:extLst>
                </a:gridCol>
                <a:gridCol w="2004290">
                  <a:extLst>
                    <a:ext uri="{9D8B030D-6E8A-4147-A177-3AD203B41FA5}">
                      <a16:colId xmlns:a16="http://schemas.microsoft.com/office/drawing/2014/main" val="1827225863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/>
                    </a:p>
                    <a:p>
                      <a:pPr algn="l"/>
                      <a:r>
                        <a:rPr lang="en-US" b="1" dirty="0"/>
                        <a:t>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V</a:t>
                      </a:r>
                      <a:r>
                        <a:rPr lang="en-US" b="1" baseline="0" dirty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LRU 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Tags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Data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381397"/>
                  </a:ext>
                </a:extLst>
              </a:tr>
              <a:tr h="321503">
                <a:tc rowSpan="4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0000 0110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1110 1111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13756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1011</a:t>
                      </a:r>
                      <a:r>
                        <a:rPr lang="en-US" b="0" baseline="0" dirty="0"/>
                        <a:t> 0010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779383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467860" y="1273132"/>
          <a:ext cx="2238375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1695656520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val="2165372536"/>
                    </a:ext>
                  </a:extLst>
                </a:gridCol>
              </a:tblGrid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46888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735079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467674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16299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900417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84533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713041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79613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26444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…….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…….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83165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93807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5519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255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6388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622030" y="226452"/>
            <a:ext cx="98869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Convert to </a:t>
            </a:r>
          </a:p>
          <a:p>
            <a:pPr algn="ctr"/>
            <a:r>
              <a:rPr lang="en-US" sz="1400" dirty="0">
                <a:solidFill>
                  <a:srgbClr val="0070C0"/>
                </a:solidFill>
              </a:rPr>
              <a:t>binary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571" y="242318"/>
            <a:ext cx="10058400" cy="1450757"/>
          </a:xfrm>
        </p:spPr>
        <p:txBody>
          <a:bodyPr/>
          <a:lstStyle/>
          <a:p>
            <a:r>
              <a:rPr lang="en-US" dirty="0"/>
              <a:t>Example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9754" y="1807906"/>
            <a:ext cx="25812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 = 1B</a:t>
            </a:r>
          </a:p>
          <a:p>
            <a:r>
              <a:rPr lang="en-US" sz="1400" b="1" dirty="0"/>
              <a:t>Full Associative Cache</a:t>
            </a:r>
          </a:p>
          <a:p>
            <a:r>
              <a:rPr lang="en-US" sz="1400" b="1" dirty="0"/>
              <a:t>Single set with 4-ways</a:t>
            </a:r>
          </a:p>
          <a:p>
            <a:r>
              <a:rPr lang="en-US" sz="1400" b="1" dirty="0"/>
              <a:t>Address is 8bits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9754" y="2832559"/>
                <a:ext cx="3837421" cy="37548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en-US" sz="1400" i="1" dirty="0"/>
                  <a:t>C = 1B * 4 (ways) = 4B</a:t>
                </a:r>
              </a:p>
              <a:p>
                <a:pPr marL="0" lvl="1"/>
                <a:r>
                  <a:rPr lang="en-US" sz="1400" i="1" dirty="0"/>
                  <a:t>B</a:t>
                </a:r>
                <a:r>
                  <a:rPr lang="en-US" sz="1400" dirty="0"/>
                  <a:t> = </a:t>
                </a:r>
                <a:r>
                  <a:rPr lang="en-US" sz="1400" i="1" dirty="0"/>
                  <a:t>C</a:t>
                </a:r>
                <a:r>
                  <a:rPr lang="en-US" sz="1400" dirty="0"/>
                  <a:t>/</a:t>
                </a:r>
                <a:r>
                  <a:rPr lang="en-US" sz="1400" i="1" dirty="0"/>
                  <a:t>b = 4/1 = 4</a:t>
                </a:r>
              </a:p>
              <a:p>
                <a:r>
                  <a:rPr lang="en-US" sz="1400" dirty="0"/>
                  <a:t>S = B/N = 4/4 = 1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func>
                        </m:e>
                      </m:func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𝑺𝒆𝒕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𝒊𝒏𝒅𝒆𝒙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func>
                        </m:e>
                      </m:func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𝑻𝒂𝒈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𝑨𝒅𝒅𝒓𝒆𝒔𝒔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𝒔𝒆𝒕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</m:oMath>
                  </m:oMathPara>
                </a14:m>
                <a:endParaRPr lang="en-US" sz="1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US" sz="1000" b="1" i="1" dirty="0">
                  <a:latin typeface="Cambria Math" panose="02040503050406030204" pitchFamily="18" charset="0"/>
                </a:endParaRPr>
              </a:p>
              <a:p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r>
                  <a:rPr lang="en-US" sz="1400" b="1" u="sng" dirty="0"/>
                  <a:t>Processor Memory Access Sequence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0x06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0xEF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0xB2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0x06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54" y="2832559"/>
                <a:ext cx="3837421" cy="3754874"/>
              </a:xfrm>
              <a:prstGeom prst="rect">
                <a:avLst/>
              </a:prstGeom>
              <a:blipFill>
                <a:blip r:embed="rId2"/>
                <a:stretch>
                  <a:fillRect l="-1431" t="-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0085964" y="6090759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1254" y="4788258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Cache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8225" y="288007"/>
            <a:ext cx="10890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mbria Math" panose="02040503050406030204" pitchFamily="18" charset="0"/>
              </a:rPr>
              <a:t>0x06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8622030" y="478537"/>
            <a:ext cx="1064895" cy="86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60255" y="288007"/>
            <a:ext cx="1969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0000 0110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10726" y="23492"/>
            <a:ext cx="25787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Tag Bits </a:t>
            </a:r>
            <a:r>
              <a:rPr lang="en-US" sz="1600" b="1" dirty="0">
                <a:solidFill>
                  <a:srgbClr val="00B0F0"/>
                </a:solidFill>
                <a:latin typeface="Cambria Math" panose="02040503050406030204" pitchFamily="18" charset="0"/>
              </a:rPr>
              <a:t>Set bits</a:t>
            </a:r>
            <a:r>
              <a:rPr lang="en-US" sz="1600" b="1" dirty="0">
                <a:solidFill>
                  <a:srgbClr val="FFC000"/>
                </a:solidFill>
                <a:latin typeface="Cambria Math" panose="02040503050406030204" pitchFamily="18" charset="0"/>
              </a:rPr>
              <a:t> Offset bits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77275" y="6429178"/>
            <a:ext cx="33888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Cache Miss = 3	Cache Hit = 1 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467860" y="1273132"/>
          <a:ext cx="2238375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1695656520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val="2165372536"/>
                    </a:ext>
                  </a:extLst>
                </a:gridCol>
              </a:tblGrid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46888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735079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467674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16299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900417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84533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713041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79613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26444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…….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…….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83165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93807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5519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255318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726241"/>
              </p:ext>
            </p:extLst>
          </p:nvPr>
        </p:nvGraphicFramePr>
        <p:xfrm>
          <a:off x="3458306" y="2014814"/>
          <a:ext cx="539012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716">
                  <a:extLst>
                    <a:ext uri="{9D8B030D-6E8A-4147-A177-3AD203B41FA5}">
                      <a16:colId xmlns:a16="http://schemas.microsoft.com/office/drawing/2014/main" val="4284518099"/>
                    </a:ext>
                  </a:extLst>
                </a:gridCol>
                <a:gridCol w="636269">
                  <a:extLst>
                    <a:ext uri="{9D8B030D-6E8A-4147-A177-3AD203B41FA5}">
                      <a16:colId xmlns:a16="http://schemas.microsoft.com/office/drawing/2014/main" val="3030601287"/>
                    </a:ext>
                  </a:extLst>
                </a:gridCol>
                <a:gridCol w="886691">
                  <a:extLst>
                    <a:ext uri="{9D8B030D-6E8A-4147-A177-3AD203B41FA5}">
                      <a16:colId xmlns:a16="http://schemas.microsoft.com/office/drawing/2014/main" val="330335500"/>
                    </a:ext>
                  </a:extLst>
                </a:gridCol>
                <a:gridCol w="1413163">
                  <a:extLst>
                    <a:ext uri="{9D8B030D-6E8A-4147-A177-3AD203B41FA5}">
                      <a16:colId xmlns:a16="http://schemas.microsoft.com/office/drawing/2014/main" val="1200191126"/>
                    </a:ext>
                  </a:extLst>
                </a:gridCol>
                <a:gridCol w="2004290">
                  <a:extLst>
                    <a:ext uri="{9D8B030D-6E8A-4147-A177-3AD203B41FA5}">
                      <a16:colId xmlns:a16="http://schemas.microsoft.com/office/drawing/2014/main" val="1827225863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/>
                    </a:p>
                    <a:p>
                      <a:pPr algn="l"/>
                      <a:r>
                        <a:rPr lang="en-US" b="1" dirty="0"/>
                        <a:t>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V</a:t>
                      </a:r>
                      <a:r>
                        <a:rPr lang="en-US" b="1" baseline="0" dirty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LRU 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Tags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Data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381397"/>
                  </a:ext>
                </a:extLst>
              </a:tr>
              <a:tr h="321503">
                <a:tc rowSpan="4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0000 0110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1110 1111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13756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1011</a:t>
                      </a:r>
                      <a:r>
                        <a:rPr lang="en-US" b="0" baseline="0" dirty="0"/>
                        <a:t> 0010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77938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655" y="6429178"/>
            <a:ext cx="7259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Respective tag found so it’s a cache hit</a:t>
            </a:r>
          </a:p>
        </p:txBody>
      </p:sp>
    </p:spTree>
    <p:extLst>
      <p:ext uri="{BB962C8B-B14F-4D97-AF65-F5344CB8AC3E}">
        <p14:creationId xmlns:p14="http://schemas.microsoft.com/office/powerpoint/2010/main" val="2783516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622030" y="226452"/>
            <a:ext cx="98869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Convert to </a:t>
            </a:r>
          </a:p>
          <a:p>
            <a:pPr algn="ctr"/>
            <a:r>
              <a:rPr lang="en-US" sz="1400" dirty="0">
                <a:solidFill>
                  <a:srgbClr val="0070C0"/>
                </a:solidFill>
              </a:rPr>
              <a:t>binary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571" y="242318"/>
            <a:ext cx="10058400" cy="1450757"/>
          </a:xfrm>
        </p:spPr>
        <p:txBody>
          <a:bodyPr/>
          <a:lstStyle/>
          <a:p>
            <a:r>
              <a:rPr lang="en-US" dirty="0"/>
              <a:t>Example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9754" y="1807906"/>
            <a:ext cx="25812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 = 1B</a:t>
            </a:r>
          </a:p>
          <a:p>
            <a:r>
              <a:rPr lang="en-US" sz="1400" b="1" dirty="0"/>
              <a:t>Full Associative Cache</a:t>
            </a:r>
          </a:p>
          <a:p>
            <a:r>
              <a:rPr lang="en-US" sz="1400" b="1" dirty="0"/>
              <a:t>Single set with 4-ways</a:t>
            </a:r>
          </a:p>
          <a:p>
            <a:r>
              <a:rPr lang="en-US" sz="1400" b="1" dirty="0"/>
              <a:t>Address is 8bits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9754" y="2832559"/>
                <a:ext cx="3837421" cy="4031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en-US" sz="1400" i="1" dirty="0"/>
                  <a:t>C = 1B * 4 (ways) = 4B</a:t>
                </a:r>
              </a:p>
              <a:p>
                <a:pPr marL="0" lvl="1"/>
                <a:r>
                  <a:rPr lang="en-US" sz="1400" i="1" dirty="0"/>
                  <a:t>B</a:t>
                </a:r>
                <a:r>
                  <a:rPr lang="en-US" sz="1400" dirty="0"/>
                  <a:t> = </a:t>
                </a:r>
                <a:r>
                  <a:rPr lang="en-US" sz="1400" i="1" dirty="0"/>
                  <a:t>C</a:t>
                </a:r>
                <a:r>
                  <a:rPr lang="en-US" sz="1400" dirty="0"/>
                  <a:t>/</a:t>
                </a:r>
                <a:r>
                  <a:rPr lang="en-US" sz="1400" i="1" dirty="0"/>
                  <a:t>b = 4/1 = 4</a:t>
                </a:r>
              </a:p>
              <a:p>
                <a:r>
                  <a:rPr lang="en-US" sz="1400" dirty="0"/>
                  <a:t>S = B/N = 4/4 = 1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func>
                        </m:e>
                      </m:func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𝑺𝒆𝒕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𝒊𝒏𝒅𝒆𝒙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func>
                        </m:e>
                      </m:func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𝑻𝒂𝒈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𝑨𝒅𝒅𝒓𝒆𝒔𝒔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𝒔𝒆𝒕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</m:oMath>
                  </m:oMathPara>
                </a14:m>
                <a:endParaRPr lang="en-US" sz="1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US" sz="1000" b="1" i="1" dirty="0">
                  <a:latin typeface="Cambria Math" panose="02040503050406030204" pitchFamily="18" charset="0"/>
                </a:endParaRPr>
              </a:p>
              <a:p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r>
                  <a:rPr lang="en-US" sz="1400" b="1" u="sng" dirty="0"/>
                  <a:t>Processor Memory Access Sequence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0x06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0xEF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0xB2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0x06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0x59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54" y="2832559"/>
                <a:ext cx="3837421" cy="4031873"/>
              </a:xfrm>
              <a:prstGeom prst="rect">
                <a:avLst/>
              </a:prstGeom>
              <a:blipFill>
                <a:blip r:embed="rId2"/>
                <a:stretch>
                  <a:fillRect l="-1431" t="-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0085964" y="6090759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1254" y="4788258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Cache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8225" y="288007"/>
            <a:ext cx="10890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mbria Math" panose="02040503050406030204" pitchFamily="18" charset="0"/>
              </a:rPr>
              <a:t>0x59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8622030" y="478537"/>
            <a:ext cx="1064895" cy="86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60255" y="288007"/>
            <a:ext cx="1969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0101 1001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10726" y="23492"/>
            <a:ext cx="25787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Tag Bits </a:t>
            </a:r>
            <a:r>
              <a:rPr lang="en-US" sz="1600" b="1" dirty="0">
                <a:solidFill>
                  <a:srgbClr val="00B0F0"/>
                </a:solidFill>
                <a:latin typeface="Cambria Math" panose="02040503050406030204" pitchFamily="18" charset="0"/>
              </a:rPr>
              <a:t>Set bits</a:t>
            </a:r>
            <a:r>
              <a:rPr lang="en-US" sz="1600" b="1" dirty="0">
                <a:solidFill>
                  <a:srgbClr val="FFC000"/>
                </a:solidFill>
                <a:latin typeface="Cambria Math" panose="02040503050406030204" pitchFamily="18" charset="0"/>
              </a:rPr>
              <a:t> Offset bits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77275" y="6429178"/>
            <a:ext cx="33888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Cache Miss = 4	Cache Hit = 1 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467860" y="1273132"/>
          <a:ext cx="2238375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1695656520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val="2165372536"/>
                    </a:ext>
                  </a:extLst>
                </a:gridCol>
              </a:tblGrid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46888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735079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467674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16299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900417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84533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713041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79613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26444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…….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…….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83165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93807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5519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255318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714454"/>
              </p:ext>
            </p:extLst>
          </p:nvPr>
        </p:nvGraphicFramePr>
        <p:xfrm>
          <a:off x="3458306" y="2014814"/>
          <a:ext cx="539012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716">
                  <a:extLst>
                    <a:ext uri="{9D8B030D-6E8A-4147-A177-3AD203B41FA5}">
                      <a16:colId xmlns:a16="http://schemas.microsoft.com/office/drawing/2014/main" val="4284518099"/>
                    </a:ext>
                  </a:extLst>
                </a:gridCol>
                <a:gridCol w="636269">
                  <a:extLst>
                    <a:ext uri="{9D8B030D-6E8A-4147-A177-3AD203B41FA5}">
                      <a16:colId xmlns:a16="http://schemas.microsoft.com/office/drawing/2014/main" val="3030601287"/>
                    </a:ext>
                  </a:extLst>
                </a:gridCol>
                <a:gridCol w="886691">
                  <a:extLst>
                    <a:ext uri="{9D8B030D-6E8A-4147-A177-3AD203B41FA5}">
                      <a16:colId xmlns:a16="http://schemas.microsoft.com/office/drawing/2014/main" val="330335500"/>
                    </a:ext>
                  </a:extLst>
                </a:gridCol>
                <a:gridCol w="1413163">
                  <a:extLst>
                    <a:ext uri="{9D8B030D-6E8A-4147-A177-3AD203B41FA5}">
                      <a16:colId xmlns:a16="http://schemas.microsoft.com/office/drawing/2014/main" val="1200191126"/>
                    </a:ext>
                  </a:extLst>
                </a:gridCol>
                <a:gridCol w="2004290">
                  <a:extLst>
                    <a:ext uri="{9D8B030D-6E8A-4147-A177-3AD203B41FA5}">
                      <a16:colId xmlns:a16="http://schemas.microsoft.com/office/drawing/2014/main" val="1827225863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/>
                    </a:p>
                    <a:p>
                      <a:pPr algn="l"/>
                      <a:r>
                        <a:rPr lang="en-US" b="1" dirty="0"/>
                        <a:t>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V</a:t>
                      </a:r>
                      <a:r>
                        <a:rPr lang="en-US" b="1" baseline="0" dirty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LRU 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Tags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Data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381397"/>
                  </a:ext>
                </a:extLst>
              </a:tr>
              <a:tr h="321503">
                <a:tc rowSpan="4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0000 0110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1110 1111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13756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1011</a:t>
                      </a:r>
                      <a:r>
                        <a:rPr lang="en-US" b="0" baseline="0" dirty="0"/>
                        <a:t> 0010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0101</a:t>
                      </a:r>
                      <a:r>
                        <a:rPr lang="en-US" b="0" baseline="0" dirty="0"/>
                        <a:t> 1001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779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544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622030" y="226452"/>
            <a:ext cx="98869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70C0"/>
                </a:solidFill>
              </a:rPr>
              <a:t>Convert to </a:t>
            </a:r>
          </a:p>
          <a:p>
            <a:pPr algn="ctr"/>
            <a:r>
              <a:rPr lang="en-US" sz="1400" dirty="0">
                <a:solidFill>
                  <a:srgbClr val="0070C0"/>
                </a:solidFill>
              </a:rPr>
              <a:t>binary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571" y="242318"/>
            <a:ext cx="10058400" cy="1450757"/>
          </a:xfrm>
        </p:spPr>
        <p:txBody>
          <a:bodyPr/>
          <a:lstStyle/>
          <a:p>
            <a:r>
              <a:rPr lang="en-US" dirty="0"/>
              <a:t>Example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9754" y="1807906"/>
            <a:ext cx="25812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 = 1B</a:t>
            </a:r>
          </a:p>
          <a:p>
            <a:r>
              <a:rPr lang="en-US" sz="1400" b="1" dirty="0"/>
              <a:t>Full Associative Cache</a:t>
            </a:r>
          </a:p>
          <a:p>
            <a:r>
              <a:rPr lang="en-US" sz="1400" b="1" dirty="0"/>
              <a:t>Single set with 4-ways</a:t>
            </a:r>
          </a:p>
          <a:p>
            <a:r>
              <a:rPr lang="en-US" sz="1400" b="1" dirty="0"/>
              <a:t>Address is 8bits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9754" y="2832559"/>
                <a:ext cx="3837421" cy="4308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lvl="1"/>
                <a:r>
                  <a:rPr lang="en-US" sz="1400" i="1" dirty="0"/>
                  <a:t>C = 1B * 4 (ways) = 4B</a:t>
                </a:r>
              </a:p>
              <a:p>
                <a:pPr marL="0" lvl="1"/>
                <a:r>
                  <a:rPr lang="en-US" sz="1400" i="1" dirty="0"/>
                  <a:t>B</a:t>
                </a:r>
                <a:r>
                  <a:rPr lang="en-US" sz="1400" dirty="0"/>
                  <a:t> = </a:t>
                </a:r>
                <a:r>
                  <a:rPr lang="en-US" sz="1400" i="1" dirty="0"/>
                  <a:t>C</a:t>
                </a:r>
                <a:r>
                  <a:rPr lang="en-US" sz="1400" dirty="0"/>
                  <a:t>/</a:t>
                </a:r>
                <a:r>
                  <a:rPr lang="en-US" sz="1400" i="1" dirty="0"/>
                  <a:t>b = 4/1 = 4</a:t>
                </a:r>
              </a:p>
              <a:p>
                <a:r>
                  <a:rPr lang="en-US" sz="1400" dirty="0"/>
                  <a:t>S = B/N = 4/4 = 1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func>
                        </m:e>
                      </m:func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𝑺𝒆𝒕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𝒊𝒏𝒅𝒆𝒙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= </m:t>
                          </m:r>
                          <m:func>
                            <m:func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func>
                        </m:e>
                      </m:func>
                      <m:r>
                        <a:rPr lang="en-US" sz="1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𝑻𝒂𝒈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𝑨𝒅𝒅𝒓𝒆𝒔𝒔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𝑶𝒇𝒇𝒔𝒆𝒕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𝒔𝒆𝒕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𝒃𝒊𝒕𝒔</m:t>
                      </m:r>
                    </m:oMath>
                  </m:oMathPara>
                </a14:m>
                <a:endParaRPr lang="en-US" sz="1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0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US" sz="1000" b="1" i="1" dirty="0">
                  <a:latin typeface="Cambria Math" panose="02040503050406030204" pitchFamily="18" charset="0"/>
                </a:endParaRPr>
              </a:p>
              <a:p>
                <a:endParaRPr lang="en-US" sz="1400" b="1" i="1" dirty="0">
                  <a:latin typeface="Cambria Math" panose="02040503050406030204" pitchFamily="18" charset="0"/>
                </a:endParaRPr>
              </a:p>
              <a:p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r>
                  <a:rPr lang="en-US" sz="1400" b="1" u="sng" dirty="0"/>
                  <a:t>Processor Memory Access Sequence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0x06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0xEF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0xB2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0x06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0x59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0x23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54" y="2832559"/>
                <a:ext cx="3837421" cy="4308872"/>
              </a:xfrm>
              <a:prstGeom prst="rect">
                <a:avLst/>
              </a:prstGeom>
              <a:blipFill>
                <a:blip r:embed="rId2"/>
                <a:stretch>
                  <a:fillRect l="-1431" t="-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10085964" y="6090759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1254" y="4788258"/>
            <a:ext cx="1277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Cache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8225" y="288007"/>
            <a:ext cx="10890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mbria Math" panose="02040503050406030204" pitchFamily="18" charset="0"/>
              </a:rPr>
              <a:t>0x23</a:t>
            </a:r>
            <a:endParaRPr lang="en-US" sz="20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8622030" y="478537"/>
            <a:ext cx="1064895" cy="8642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60255" y="288007"/>
            <a:ext cx="19697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0010 0011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610726" y="23492"/>
            <a:ext cx="257876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mbria Math" panose="02040503050406030204" pitchFamily="18" charset="0"/>
              </a:rPr>
              <a:t>Tag Bits </a:t>
            </a:r>
            <a:r>
              <a:rPr lang="en-US" sz="1600" b="1" dirty="0">
                <a:solidFill>
                  <a:srgbClr val="00B0F0"/>
                </a:solidFill>
                <a:latin typeface="Cambria Math" panose="02040503050406030204" pitchFamily="18" charset="0"/>
              </a:rPr>
              <a:t>Set bits</a:t>
            </a:r>
            <a:r>
              <a:rPr lang="en-US" sz="1600" b="1" dirty="0">
                <a:solidFill>
                  <a:srgbClr val="FFC000"/>
                </a:solidFill>
                <a:latin typeface="Cambria Math" panose="02040503050406030204" pitchFamily="18" charset="0"/>
              </a:rPr>
              <a:t> Offset bits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77275" y="6429178"/>
            <a:ext cx="33888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Cache Miss = 4	Cache Hit = 1 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467860" y="1273132"/>
          <a:ext cx="2238375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1695656520"/>
                    </a:ext>
                  </a:extLst>
                </a:gridCol>
                <a:gridCol w="1209675">
                  <a:extLst>
                    <a:ext uri="{9D8B030D-6E8A-4147-A177-3AD203B41FA5}">
                      <a16:colId xmlns:a16="http://schemas.microsoft.com/office/drawing/2014/main" val="2165372536"/>
                    </a:ext>
                  </a:extLst>
                </a:gridCol>
              </a:tblGrid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446888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735079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467674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16299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900417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845332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713041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07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79613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264448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…….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…….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83165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93807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55190"/>
                  </a:ext>
                </a:extLst>
              </a:tr>
              <a:tr h="362494">
                <a:tc>
                  <a:txBody>
                    <a:bodyPr/>
                    <a:lstStyle/>
                    <a:p>
                      <a:r>
                        <a:rPr lang="en-US" b="1" dirty="0"/>
                        <a:t>FF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FF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255318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123421"/>
              </p:ext>
            </p:extLst>
          </p:nvPr>
        </p:nvGraphicFramePr>
        <p:xfrm>
          <a:off x="3458306" y="2014814"/>
          <a:ext cx="5390129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716">
                  <a:extLst>
                    <a:ext uri="{9D8B030D-6E8A-4147-A177-3AD203B41FA5}">
                      <a16:colId xmlns:a16="http://schemas.microsoft.com/office/drawing/2014/main" val="4284518099"/>
                    </a:ext>
                  </a:extLst>
                </a:gridCol>
                <a:gridCol w="636269">
                  <a:extLst>
                    <a:ext uri="{9D8B030D-6E8A-4147-A177-3AD203B41FA5}">
                      <a16:colId xmlns:a16="http://schemas.microsoft.com/office/drawing/2014/main" val="3030601287"/>
                    </a:ext>
                  </a:extLst>
                </a:gridCol>
                <a:gridCol w="886691">
                  <a:extLst>
                    <a:ext uri="{9D8B030D-6E8A-4147-A177-3AD203B41FA5}">
                      <a16:colId xmlns:a16="http://schemas.microsoft.com/office/drawing/2014/main" val="330335500"/>
                    </a:ext>
                  </a:extLst>
                </a:gridCol>
                <a:gridCol w="1413163">
                  <a:extLst>
                    <a:ext uri="{9D8B030D-6E8A-4147-A177-3AD203B41FA5}">
                      <a16:colId xmlns:a16="http://schemas.microsoft.com/office/drawing/2014/main" val="1200191126"/>
                    </a:ext>
                  </a:extLst>
                </a:gridCol>
                <a:gridCol w="2004290">
                  <a:extLst>
                    <a:ext uri="{9D8B030D-6E8A-4147-A177-3AD203B41FA5}">
                      <a16:colId xmlns:a16="http://schemas.microsoft.com/office/drawing/2014/main" val="1827225863"/>
                    </a:ext>
                  </a:extLst>
                </a:gridCol>
              </a:tblGrid>
              <a:tr h="640136">
                <a:tc>
                  <a:txBody>
                    <a:bodyPr/>
                    <a:lstStyle/>
                    <a:p>
                      <a:pPr algn="r"/>
                      <a:endParaRPr lang="en-US" b="1" dirty="0"/>
                    </a:p>
                    <a:p>
                      <a:pPr algn="l"/>
                      <a:r>
                        <a:rPr lang="en-US" b="1" dirty="0"/>
                        <a:t>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V</a:t>
                      </a:r>
                      <a:r>
                        <a:rPr lang="en-US" b="1" baseline="0" dirty="0"/>
                        <a:t> 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LRU 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Tags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Data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381397"/>
                  </a:ext>
                </a:extLst>
              </a:tr>
              <a:tr h="321503">
                <a:tc rowSpan="4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0000 0110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416522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0010</a:t>
                      </a:r>
                      <a:r>
                        <a:rPr lang="en-US" b="0" baseline="0" dirty="0"/>
                        <a:t> 0011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513756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1011</a:t>
                      </a:r>
                      <a:r>
                        <a:rPr lang="en-US" b="0" baseline="0" dirty="0"/>
                        <a:t> 0010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583137"/>
                  </a:ext>
                </a:extLst>
              </a:tr>
              <a:tr h="321503">
                <a:tc vMerge="1"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0101</a:t>
                      </a:r>
                      <a:r>
                        <a:rPr lang="en-US" b="0" baseline="0" dirty="0"/>
                        <a:t> 1001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779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3941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Cache Misses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Compulsory Miss: </a:t>
            </a:r>
          </a:p>
          <a:p>
            <a:r>
              <a:rPr lang="en-US" dirty="0"/>
              <a:t>The first request to a cache block is called a compulsory miss, because the block must be read from memory regardless of the cache design. </a:t>
            </a:r>
          </a:p>
          <a:p>
            <a:r>
              <a:rPr lang="en-US" b="1" dirty="0">
                <a:solidFill>
                  <a:srgbClr val="0070C0"/>
                </a:solidFill>
              </a:rPr>
              <a:t>Capacity Miss:</a:t>
            </a:r>
            <a:endParaRPr lang="en-US" dirty="0"/>
          </a:p>
          <a:p>
            <a:r>
              <a:rPr lang="en-US" dirty="0"/>
              <a:t>Capacity misses occur when the cache is too small to hold all concurrently used data. </a:t>
            </a:r>
          </a:p>
          <a:p>
            <a:r>
              <a:rPr lang="en-US" b="1" dirty="0">
                <a:solidFill>
                  <a:srgbClr val="0070C0"/>
                </a:solidFill>
              </a:rPr>
              <a:t>Conflict Miss: </a:t>
            </a:r>
          </a:p>
          <a:p>
            <a:r>
              <a:rPr lang="en-US" dirty="0"/>
              <a:t>Conflict misses are caused when several addresses map to the same set and evict blocks that are still needed.</a:t>
            </a:r>
          </a:p>
        </p:txBody>
      </p:sp>
    </p:spTree>
    <p:extLst>
      <p:ext uri="{BB962C8B-B14F-4D97-AF65-F5344CB8AC3E}">
        <p14:creationId xmlns:p14="http://schemas.microsoft.com/office/powerpoint/2010/main" val="35455801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35508" lvl="1" indent="-342900">
              <a:buFont typeface="+mj-lt"/>
              <a:buAutoNum type="arabicPeriod"/>
            </a:pPr>
            <a:r>
              <a:rPr lang="en-US" dirty="0"/>
              <a:t>Increasing cache capacity can reduce conflict and capacity misses, but it does not affect compulsory misses. </a:t>
            </a:r>
          </a:p>
          <a:p>
            <a:pPr marL="635508" lvl="1" indent="-342900">
              <a:buFont typeface="+mj-lt"/>
              <a:buAutoNum type="arabicPeriod"/>
            </a:pPr>
            <a:r>
              <a:rPr lang="en-US" dirty="0"/>
              <a:t>Increasing block size could reduce compulsory misses (due to spatial locality). But as block size increases, the number of sets in a fixed-size cache decreases, increasing the probability of conflicts.</a:t>
            </a:r>
          </a:p>
          <a:p>
            <a:pPr marL="635508" lvl="1" indent="-342900">
              <a:buFont typeface="+mj-lt"/>
              <a:buAutoNum type="arabicPeriod"/>
            </a:pPr>
            <a:r>
              <a:rPr lang="en-US" dirty="0"/>
              <a:t>An </a:t>
            </a:r>
            <a:r>
              <a:rPr lang="en-US" i="1" dirty="0"/>
              <a:t>N-way set associative</a:t>
            </a:r>
            <a:r>
              <a:rPr lang="en-US" dirty="0"/>
              <a:t> cache reduces conflicts by providing </a:t>
            </a:r>
            <a:r>
              <a:rPr lang="en-US" i="1" dirty="0"/>
              <a:t>N</a:t>
            </a:r>
            <a:r>
              <a:rPr lang="en-US" dirty="0"/>
              <a:t> blocks in each set where data mapping to that set might be found. Each memory address still maps to a specific set, but it can map to any one of the </a:t>
            </a:r>
            <a:r>
              <a:rPr lang="en-US" i="1" dirty="0"/>
              <a:t>N</a:t>
            </a:r>
            <a:r>
              <a:rPr lang="en-US" dirty="0"/>
              <a:t> blocks in the set. However, set associative caches are usually slower and somewhat more expensive to build</a:t>
            </a:r>
          </a:p>
          <a:p>
            <a:pPr marL="635508" lvl="1" indent="-342900">
              <a:buFont typeface="+mj-lt"/>
              <a:buAutoNum type="arabicPeriod"/>
            </a:pPr>
            <a:endParaRPr lang="en-US" b="1" dirty="0"/>
          </a:p>
          <a:p>
            <a:pPr marL="1184148" lvl="4" indent="-342900">
              <a:buFont typeface="+mj-lt"/>
              <a:buAutoNum type="arabicPeriod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0830823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1466</TotalTime>
  <Words>2293</Words>
  <Application>Microsoft Office PowerPoint</Application>
  <PresentationFormat>Widescreen</PresentationFormat>
  <Paragraphs>1029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</vt:lpstr>
      <vt:lpstr>Calibri Light</vt:lpstr>
      <vt:lpstr>Cambria Math</vt:lpstr>
      <vt:lpstr>Retrospect</vt:lpstr>
      <vt:lpstr>Cache </vt:lpstr>
      <vt:lpstr>LRU bit</vt:lpstr>
      <vt:lpstr>LRU bit</vt:lpstr>
      <vt:lpstr>Example 02</vt:lpstr>
      <vt:lpstr>Example 02</vt:lpstr>
      <vt:lpstr>Example 02</vt:lpstr>
      <vt:lpstr>Example 02</vt:lpstr>
      <vt:lpstr>Example 02</vt:lpstr>
      <vt:lpstr>Example 03</vt:lpstr>
      <vt:lpstr>Example 03</vt:lpstr>
      <vt:lpstr>Example 03</vt:lpstr>
      <vt:lpstr>Example 03</vt:lpstr>
      <vt:lpstr>Example 03</vt:lpstr>
      <vt:lpstr>Example 03</vt:lpstr>
      <vt:lpstr>Types of Cache Misses</vt:lpstr>
      <vt:lpstr>Cache Parameters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Cache</dc:title>
  <dc:creator>saroshshahid@gmail.com</dc:creator>
  <cp:lastModifiedBy>farrukh bashir</cp:lastModifiedBy>
  <cp:revision>73</cp:revision>
  <dcterms:created xsi:type="dcterms:W3CDTF">2020-03-26T04:42:27Z</dcterms:created>
  <dcterms:modified xsi:type="dcterms:W3CDTF">2024-11-25T07:32:11Z</dcterms:modified>
</cp:coreProperties>
</file>