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516" r:id="rId2"/>
    <p:sldId id="527" r:id="rId3"/>
    <p:sldId id="533" r:id="rId4"/>
    <p:sldId id="535" r:id="rId5"/>
    <p:sldId id="537" r:id="rId6"/>
    <p:sldId id="538" r:id="rId7"/>
    <p:sldId id="542" r:id="rId8"/>
    <p:sldId id="543" r:id="rId9"/>
    <p:sldId id="539" r:id="rId10"/>
    <p:sldId id="545" r:id="rId11"/>
    <p:sldId id="546" r:id="rId12"/>
    <p:sldId id="544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554" r:id="rId21"/>
    <p:sldId id="555" r:id="rId22"/>
    <p:sldId id="531" r:id="rId23"/>
    <p:sldId id="532" r:id="rId24"/>
    <p:sldId id="556" r:id="rId25"/>
    <p:sldId id="557" r:id="rId26"/>
    <p:sldId id="558" r:id="rId27"/>
    <p:sldId id="563" r:id="rId28"/>
    <p:sldId id="559" r:id="rId29"/>
    <p:sldId id="560" r:id="rId30"/>
    <p:sldId id="561" r:id="rId31"/>
    <p:sldId id="564" r:id="rId32"/>
    <p:sldId id="56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14DE"/>
    <a:srgbClr val="008000"/>
    <a:srgbClr val="F07814"/>
    <a:srgbClr val="960824"/>
    <a:srgbClr val="2515A4"/>
    <a:srgbClr val="0366FF"/>
    <a:srgbClr val="B80000"/>
    <a:srgbClr val="2F1BC7"/>
    <a:srgbClr val="27558D"/>
    <a:srgbClr val="D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8" autoAdjust="0"/>
    <p:restoredTop sz="94189" autoAdjust="0"/>
  </p:normalViewPr>
  <p:slideViewPr>
    <p:cSldViewPr>
      <p:cViewPr varScale="1">
        <p:scale>
          <a:sx n="73" d="100"/>
          <a:sy n="73" d="100"/>
        </p:scale>
        <p:origin x="162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09857-BB4F-4F6A-B294-DF372FF8835C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62462-A09B-4CFD-AF57-739E06B333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3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3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fr-FR" dirty="0" err="1" smtClean="0">
                <a:ea typeface="ＭＳ Ｐゴシック" charset="0"/>
              </a:rPr>
              <a:t>MPI_Barrier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can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be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useful</a:t>
            </a:r>
            <a:r>
              <a:rPr lang="fr-FR" dirty="0" smtClean="0">
                <a:ea typeface="ＭＳ Ｐゴシック" charset="0"/>
              </a:rPr>
              <a:t> for </a:t>
            </a:r>
            <a:r>
              <a:rPr lang="fr-FR" dirty="0" err="1" smtClean="0">
                <a:ea typeface="ＭＳ Ｐゴシック" charset="0"/>
              </a:rPr>
              <a:t>many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things</a:t>
            </a:r>
            <a:r>
              <a:rPr lang="fr-FR" dirty="0" smtClean="0">
                <a:ea typeface="ＭＳ Ｐゴシック" charset="0"/>
              </a:rPr>
              <a:t>. One of the </a:t>
            </a:r>
            <a:r>
              <a:rPr lang="fr-FR" dirty="0" err="1" smtClean="0">
                <a:ea typeface="ＭＳ Ｐゴシック" charset="0"/>
              </a:rPr>
              <a:t>primary</a:t>
            </a:r>
            <a:r>
              <a:rPr lang="fr-FR" dirty="0" smtClean="0">
                <a:ea typeface="ＭＳ Ｐゴシック" charset="0"/>
              </a:rPr>
              <a:t> uses of </a:t>
            </a:r>
            <a:r>
              <a:rPr lang="fr-FR" dirty="0" err="1" smtClean="0">
                <a:ea typeface="ＭＳ Ｐゴシック" charset="0"/>
              </a:rPr>
              <a:t>MPI_Barrier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is</a:t>
            </a:r>
            <a:r>
              <a:rPr lang="fr-FR" dirty="0" smtClean="0">
                <a:ea typeface="ＭＳ Ｐゴシック" charset="0"/>
              </a:rPr>
              <a:t> to </a:t>
            </a:r>
            <a:r>
              <a:rPr lang="fr-FR" dirty="0" err="1" smtClean="0">
                <a:ea typeface="ＭＳ Ｐゴシック" charset="0"/>
              </a:rPr>
              <a:t>synchronize</a:t>
            </a:r>
            <a:r>
              <a:rPr lang="fr-FR" dirty="0" smtClean="0">
                <a:ea typeface="ＭＳ Ｐゴシック" charset="0"/>
              </a:rPr>
              <a:t> a program </a:t>
            </a:r>
            <a:r>
              <a:rPr lang="fr-FR" dirty="0" err="1" smtClean="0">
                <a:ea typeface="ＭＳ Ｐゴシック" charset="0"/>
              </a:rPr>
              <a:t>so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that</a:t>
            </a:r>
            <a:r>
              <a:rPr lang="fr-FR" dirty="0" smtClean="0">
                <a:ea typeface="ＭＳ Ｐゴシック" charset="0"/>
              </a:rPr>
              <a:t> portions of the </a:t>
            </a:r>
            <a:r>
              <a:rPr lang="fr-FR" dirty="0" err="1" smtClean="0">
                <a:ea typeface="ＭＳ Ｐゴシック" charset="0"/>
              </a:rPr>
              <a:t>parallel</a:t>
            </a:r>
            <a:r>
              <a:rPr lang="fr-FR" dirty="0" smtClean="0">
                <a:ea typeface="ＭＳ Ｐゴシック" charset="0"/>
              </a:rPr>
              <a:t> code </a:t>
            </a:r>
            <a:r>
              <a:rPr lang="fr-FR" dirty="0" err="1" smtClean="0">
                <a:ea typeface="ＭＳ Ｐゴシック" charset="0"/>
              </a:rPr>
              <a:t>can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be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timed</a:t>
            </a:r>
            <a:r>
              <a:rPr lang="fr-FR" dirty="0" smtClean="0">
                <a:ea typeface="ＭＳ Ｐゴシック" charset="0"/>
              </a:rPr>
              <a:t> </a:t>
            </a:r>
            <a:r>
              <a:rPr lang="fr-FR" dirty="0" err="1" smtClean="0">
                <a:ea typeface="ＭＳ Ｐゴシック" charset="0"/>
              </a:rPr>
              <a:t>accurately</a:t>
            </a:r>
            <a:r>
              <a:rPr lang="fr-FR" dirty="0" smtClean="0">
                <a:ea typeface="ＭＳ Ｐゴシック" charset="0"/>
              </a:rPr>
              <a:t>.</a:t>
            </a:r>
            <a:endParaRPr lang="fr-FR" dirty="0">
              <a:ea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A0FAF83-AAC2-418E-BB3F-F52C16595884}" type="slidenum">
              <a:rPr lang="en-US" sz="1200"/>
              <a:pPr eaLnBrk="1" hangingPunct="1"/>
              <a:t>22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2780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fr-FR" dirty="0" err="1" smtClean="0">
                <a:ea typeface="ＭＳ Ｐゴシック" charset="0"/>
              </a:rPr>
              <a:t>https</a:t>
            </a:r>
            <a:r>
              <a:rPr lang="fr-FR" dirty="0" smtClean="0">
                <a:ea typeface="ＭＳ Ｐゴシック" charset="0"/>
              </a:rPr>
              <a:t>://</a:t>
            </a:r>
            <a:r>
              <a:rPr lang="fr-FR" dirty="0" err="1" smtClean="0">
                <a:ea typeface="ＭＳ Ｐゴシック" charset="0"/>
              </a:rPr>
              <a:t>cvw.cac.cornell.edu</a:t>
            </a:r>
            <a:r>
              <a:rPr lang="fr-FR" dirty="0" smtClean="0">
                <a:ea typeface="ＭＳ Ｐゴシック" charset="0"/>
              </a:rPr>
              <a:t>/</a:t>
            </a:r>
            <a:r>
              <a:rPr lang="fr-FR" dirty="0" err="1" smtClean="0">
                <a:ea typeface="ＭＳ Ｐゴシック" charset="0"/>
              </a:rPr>
              <a:t>MPIcc</a:t>
            </a:r>
            <a:r>
              <a:rPr lang="fr-FR" dirty="0" smtClean="0">
                <a:ea typeface="ＭＳ Ｐゴシック" charset="0"/>
              </a:rPr>
              <a:t>/</a:t>
            </a:r>
            <a:r>
              <a:rPr lang="fr-FR" dirty="0" err="1" smtClean="0">
                <a:ea typeface="ＭＳ Ｐゴシック" charset="0"/>
              </a:rPr>
              <a:t>barrier</a:t>
            </a:r>
            <a:endParaRPr lang="fr-FR" dirty="0">
              <a:ea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44642C9-1AC5-430A-8D06-226070EFD460}" type="slidenum">
              <a:rPr lang="en-US" sz="1200"/>
              <a:pPr eaLnBrk="1" hangingPunct="1"/>
              <a:t>23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84993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</a:t>
            </a:r>
            <a:r>
              <a:rPr lang="en-US" baseline="0" dirty="0" smtClean="0"/>
              <a:t> finds sum of rows of 2D array. The results is a 1D array of sums.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4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59269"/>
            <a:ext cx="82296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799" y="50799"/>
            <a:ext cx="863601" cy="86360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D06C7A-78A6-4245-8ECF-FDC8BD5810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1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" y="16934"/>
            <a:ext cx="728131" cy="7281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4;p1"/>
          <p:cNvSpPr txBox="1"/>
          <p:nvPr/>
        </p:nvSpPr>
        <p:spPr>
          <a:xfrm>
            <a:off x="212036" y="2035175"/>
            <a:ext cx="89916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160C5C"/>
                </a:solidFill>
                <a:latin typeface="Calibri"/>
                <a:ea typeface="Calibri"/>
                <a:cs typeface="Calibri"/>
                <a:sym typeface="Calibri"/>
              </a:rPr>
              <a:t>Parallel and Distributed Computing Overview</a:t>
            </a:r>
            <a:br>
              <a:rPr lang="en-US" sz="4400" b="1">
                <a:solidFill>
                  <a:srgbClr val="160C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(CS 3006)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5;p1"/>
          <p:cNvSpPr txBox="1"/>
          <p:nvPr/>
        </p:nvSpPr>
        <p:spPr>
          <a:xfrm>
            <a:off x="381000" y="4419600"/>
            <a:ext cx="86868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Muhammad Aadil Ur Rehman</a:t>
            </a:r>
            <a:endParaRPr dirty="0"/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endParaRPr sz="2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Science, </a:t>
            </a:r>
            <a:endParaRPr dirty="0"/>
          </a:p>
          <a:p>
            <a:pPr marL="0" marR="0" lvl="0" indent="0" algn="ctr" rtl="0">
              <a:spcBef>
                <a:spcPts val="518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National University of Computer &amp; Emerging Sciences</a:t>
            </a: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Islamabad Campus</a:t>
            </a:r>
            <a:endParaRPr dirty="0"/>
          </a:p>
          <a:p>
            <a:pPr marL="0" marR="0" lvl="0" indent="0" algn="r" rtl="0">
              <a:spcBef>
                <a:spcPts val="31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dirty="0"/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endParaRPr sz="2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;p1"/>
          <p:cNvSpPr/>
          <p:nvPr/>
        </p:nvSpPr>
        <p:spPr>
          <a:xfrm>
            <a:off x="6129229" y="6488705"/>
            <a:ext cx="30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Credits: Dr. Muhammad Aleem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270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03092" cy="885246"/>
          </a:xfrm>
        </p:spPr>
        <p:txBody>
          <a:bodyPr/>
          <a:lstStyle/>
          <a:p>
            <a:pPr>
              <a:defRPr/>
            </a:pPr>
            <a:r>
              <a:rPr lang="fr-FR" b="1" dirty="0" smtClean="0">
                <a:solidFill>
                  <a:srgbClr val="C00000"/>
                </a:solidFill>
                <a:ea typeface="+mj-ea"/>
              </a:rPr>
              <a:t>Collective 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C</a:t>
            </a:r>
            <a:r>
              <a:rPr lang="fr-FR" b="1" dirty="0" smtClean="0">
                <a:solidFill>
                  <a:srgbClr val="C00000"/>
                </a:solidFill>
                <a:ea typeface="+mj-ea"/>
              </a:rPr>
              <a:t>ommunications</a:t>
            </a:r>
            <a:endParaRPr lang="fr-FR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108" y="990600"/>
            <a:ext cx="9037984" cy="5820354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fr-FR" sz="3000" b="1" dirty="0" err="1" smtClean="0">
                <a:solidFill>
                  <a:srgbClr val="2C14DE"/>
                </a:solidFill>
              </a:rPr>
              <a:t>Processes</a:t>
            </a:r>
            <a:r>
              <a:rPr lang="fr-FR" sz="3000" dirty="0" smtClean="0">
                <a:solidFill>
                  <a:srgbClr val="2C14DE"/>
                </a:solidFill>
              </a:rPr>
              <a:t> </a:t>
            </a:r>
            <a:r>
              <a:rPr lang="fr-FR" sz="3000" dirty="0" err="1"/>
              <a:t>may</a:t>
            </a:r>
            <a:r>
              <a:rPr lang="fr-FR" sz="3000" dirty="0"/>
              <a:t> </a:t>
            </a:r>
            <a:r>
              <a:rPr lang="fr-FR" sz="3000" b="1" dirty="0" err="1">
                <a:solidFill>
                  <a:srgbClr val="2C14DE"/>
                </a:solidFill>
              </a:rPr>
              <a:t>need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/>
              <a:t>to </a:t>
            </a:r>
            <a:r>
              <a:rPr lang="fr-FR" sz="3000" b="1" dirty="0" err="1">
                <a:solidFill>
                  <a:srgbClr val="2C14DE"/>
                </a:solidFill>
              </a:rPr>
              <a:t>communicate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 err="1"/>
              <a:t>with</a:t>
            </a:r>
            <a:r>
              <a:rPr lang="fr-FR" sz="3000" dirty="0"/>
              <a:t> </a:t>
            </a:r>
            <a:r>
              <a:rPr lang="fr-FR" sz="3000" b="1" dirty="0" err="1">
                <a:solidFill>
                  <a:srgbClr val="2C14DE"/>
                </a:solidFill>
              </a:rPr>
              <a:t>everyone</a:t>
            </a:r>
            <a:r>
              <a:rPr lang="fr-FR" sz="3000" b="1" dirty="0">
                <a:solidFill>
                  <a:srgbClr val="2C14DE"/>
                </a:solidFill>
              </a:rPr>
              <a:t> </a:t>
            </a:r>
            <a:r>
              <a:rPr lang="fr-FR" sz="3000" b="1" dirty="0" err="1" smtClean="0">
                <a:solidFill>
                  <a:srgbClr val="2C14DE"/>
                </a:solidFill>
              </a:rPr>
              <a:t>else</a:t>
            </a:r>
            <a:endParaRPr lang="fr-FR" sz="3000" b="1" dirty="0" smtClean="0">
              <a:solidFill>
                <a:srgbClr val="2C14DE"/>
              </a:solidFill>
            </a:endParaRPr>
          </a:p>
          <a:p>
            <a:pPr marL="0" indent="0">
              <a:buNone/>
              <a:defRPr/>
            </a:pPr>
            <a:endParaRPr lang="fr-FR" sz="3000" b="1" dirty="0" smtClean="0">
              <a:solidFill>
                <a:srgbClr val="2C14DE"/>
              </a:solidFill>
            </a:endParaRPr>
          </a:p>
          <a:p>
            <a:pPr>
              <a:defRPr/>
            </a:pPr>
            <a:r>
              <a:rPr lang="fr-FR" sz="3000" b="1" u="sng" dirty="0" err="1" smtClean="0">
                <a:solidFill>
                  <a:srgbClr val="C00000"/>
                </a:solidFill>
              </a:rPr>
              <a:t>Three</a:t>
            </a:r>
            <a:r>
              <a:rPr lang="fr-FR" sz="3000" b="1" u="sng" dirty="0" smtClean="0">
                <a:solidFill>
                  <a:srgbClr val="C00000"/>
                </a:solidFill>
              </a:rPr>
              <a:t> Main Classes:</a:t>
            </a:r>
          </a:p>
          <a:p>
            <a:pPr marL="914400" lvl="1" indent="-514350">
              <a:buFont typeface="+mj-lt"/>
              <a:buAutoNum type="arabicPeriod"/>
              <a:defRPr/>
            </a:pPr>
            <a:r>
              <a:rPr lang="en-US" sz="3000" b="1" dirty="0" smtClean="0">
                <a:solidFill>
                  <a:srgbClr val="2C14DE"/>
                </a:solidFill>
              </a:rPr>
              <a:t>Communications</a:t>
            </a:r>
            <a:r>
              <a:rPr lang="en-US" sz="3000" dirty="0" smtClean="0"/>
              <a:t>: </a:t>
            </a:r>
            <a:r>
              <a:rPr lang="en-US" sz="3000" b="1" i="1" dirty="0" smtClean="0"/>
              <a:t>Broadcast</a:t>
            </a:r>
            <a:r>
              <a:rPr lang="en-US" sz="3000" dirty="0" smtClean="0"/>
              <a:t>, </a:t>
            </a:r>
            <a:r>
              <a:rPr lang="en-US" sz="3000" b="1" i="1" dirty="0" smtClean="0"/>
              <a:t>Gather</a:t>
            </a:r>
            <a:r>
              <a:rPr lang="en-US" sz="3000" dirty="0" smtClean="0"/>
              <a:t>, </a:t>
            </a:r>
            <a:r>
              <a:rPr lang="en-US" sz="3000" b="1" i="1" dirty="0" smtClean="0"/>
              <a:t>Scatter</a:t>
            </a:r>
          </a:p>
          <a:p>
            <a:pPr marL="914400" lvl="1" indent="-514350">
              <a:buFont typeface="+mj-lt"/>
              <a:buAutoNum type="arabicPeriod"/>
              <a:defRPr/>
            </a:pPr>
            <a:r>
              <a:rPr lang="en-US" sz="3000" b="1" dirty="0">
                <a:solidFill>
                  <a:srgbClr val="2C14DE"/>
                </a:solidFill>
              </a:rPr>
              <a:t>Synchronization</a:t>
            </a:r>
            <a:r>
              <a:rPr lang="en-US" sz="3000" dirty="0"/>
              <a:t>: </a:t>
            </a:r>
            <a:r>
              <a:rPr lang="en-US" sz="3000" b="1" i="1" dirty="0" smtClean="0"/>
              <a:t>Barriers</a:t>
            </a:r>
          </a:p>
          <a:p>
            <a:pPr marL="914400" lvl="1" indent="-514350">
              <a:buFont typeface="+mj-lt"/>
              <a:buAutoNum type="arabicPeriod"/>
              <a:defRPr/>
            </a:pPr>
            <a:r>
              <a:rPr lang="en-US" sz="3000" b="1" dirty="0" smtClean="0">
                <a:solidFill>
                  <a:srgbClr val="2C14DE"/>
                </a:solidFill>
              </a:rPr>
              <a:t>Reductions</a:t>
            </a:r>
            <a:r>
              <a:rPr lang="en-US" sz="3000" dirty="0" smtClean="0"/>
              <a:t>: </a:t>
            </a:r>
            <a:r>
              <a:rPr lang="en-US" sz="3000" b="1" i="1" dirty="0" smtClean="0"/>
              <a:t>sum</a:t>
            </a:r>
            <a:r>
              <a:rPr lang="en-US" sz="3000" dirty="0" smtClean="0"/>
              <a:t>, </a:t>
            </a:r>
            <a:r>
              <a:rPr lang="en-US" sz="3000" b="1" i="1" dirty="0" smtClean="0"/>
              <a:t>max</a:t>
            </a:r>
            <a:r>
              <a:rPr lang="en-US" sz="3000" dirty="0" smtClean="0"/>
              <a:t>, etc.</a:t>
            </a:r>
            <a:endParaRPr lang="fr-FR" sz="3000" dirty="0"/>
          </a:p>
          <a:p>
            <a:pPr marL="0" indent="0">
              <a:buNone/>
              <a:defRPr/>
            </a:pPr>
            <a:endParaRPr lang="fr-FR" sz="2400" dirty="0" smtClean="0">
              <a:ea typeface="+mn-ea"/>
            </a:endParaRPr>
          </a:p>
          <a:p>
            <a:pPr>
              <a:defRPr/>
            </a:pPr>
            <a:r>
              <a:rPr lang="fr-FR" sz="2800" b="1" u="sng" dirty="0" err="1" smtClean="0">
                <a:solidFill>
                  <a:srgbClr val="C00000"/>
                </a:solidFill>
              </a:rPr>
              <a:t>Properties</a:t>
            </a:r>
            <a:r>
              <a:rPr lang="fr-FR" sz="2800" b="1" u="sng" dirty="0" smtClean="0">
                <a:solidFill>
                  <a:srgbClr val="C00000"/>
                </a:solidFill>
              </a:rPr>
              <a:t>:</a:t>
            </a:r>
          </a:p>
          <a:p>
            <a:pPr lvl="1">
              <a:defRPr/>
            </a:pPr>
            <a:r>
              <a:rPr lang="en-US" dirty="0" smtClean="0"/>
              <a:t>Must </a:t>
            </a:r>
            <a:r>
              <a:rPr lang="en-US" dirty="0"/>
              <a:t>be </a:t>
            </a:r>
            <a:r>
              <a:rPr lang="en-US" b="1" dirty="0">
                <a:solidFill>
                  <a:srgbClr val="2C14DE"/>
                </a:solidFill>
              </a:rPr>
              <a:t>executed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2C14DE"/>
                </a:solidFill>
              </a:rPr>
              <a:t>all processes </a:t>
            </a:r>
            <a:r>
              <a:rPr lang="en-US" dirty="0" smtClean="0"/>
              <a:t>(of </a:t>
            </a:r>
            <a:r>
              <a:rPr lang="en-US" dirty="0"/>
              <a:t>the </a:t>
            </a:r>
            <a:r>
              <a:rPr lang="en-US" dirty="0" smtClean="0"/>
              <a:t>communicator)</a:t>
            </a:r>
          </a:p>
          <a:p>
            <a:pPr lvl="1">
              <a:defRPr/>
            </a:pPr>
            <a:r>
              <a:rPr lang="en-US" dirty="0" smtClean="0"/>
              <a:t>All </a:t>
            </a:r>
            <a:r>
              <a:rPr lang="en-US" b="1" dirty="0">
                <a:solidFill>
                  <a:srgbClr val="2C14DE"/>
                </a:solidFill>
              </a:rPr>
              <a:t>processes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in group </a:t>
            </a:r>
            <a:r>
              <a:rPr lang="en-US" b="1" dirty="0">
                <a:solidFill>
                  <a:srgbClr val="2C14DE"/>
                </a:solidFill>
              </a:rPr>
              <a:t>call same operation </a:t>
            </a:r>
            <a:r>
              <a:rPr lang="en-US" dirty="0"/>
              <a:t>at (roughly) the </a:t>
            </a:r>
            <a:r>
              <a:rPr lang="en-US" b="1" dirty="0">
                <a:solidFill>
                  <a:srgbClr val="2C14DE"/>
                </a:solidFill>
              </a:rPr>
              <a:t>same </a:t>
            </a:r>
            <a:r>
              <a:rPr lang="en-US" b="1" dirty="0" smtClean="0">
                <a:solidFill>
                  <a:srgbClr val="2C14DE"/>
                </a:solidFill>
              </a:rPr>
              <a:t>time</a:t>
            </a:r>
          </a:p>
          <a:p>
            <a:pPr lvl="1">
              <a:defRPr/>
            </a:pPr>
            <a:r>
              <a:rPr lang="en-US" b="1" dirty="0" smtClean="0"/>
              <a:t>All</a:t>
            </a:r>
            <a:r>
              <a:rPr lang="en-US" dirty="0" smtClean="0"/>
              <a:t> </a:t>
            </a:r>
            <a:r>
              <a:rPr lang="en-US" b="1" u="sng" dirty="0">
                <a:solidFill>
                  <a:srgbClr val="2C14DE"/>
                </a:solidFill>
              </a:rPr>
              <a:t>collective operations </a:t>
            </a:r>
            <a:r>
              <a:rPr lang="en-US" dirty="0"/>
              <a:t>are </a:t>
            </a:r>
            <a:r>
              <a:rPr lang="en-US" b="1" u="sng" dirty="0">
                <a:solidFill>
                  <a:srgbClr val="2C14DE"/>
                </a:solidFill>
              </a:rPr>
              <a:t>blocking</a:t>
            </a:r>
            <a:r>
              <a:rPr lang="en-US" b="1" dirty="0"/>
              <a:t> </a:t>
            </a:r>
            <a:r>
              <a:rPr lang="en-US" dirty="0" smtClean="0"/>
              <a:t>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92" y="18803"/>
            <a:ext cx="9067800" cy="860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800" b="1" dirty="0">
                <a:solidFill>
                  <a:srgbClr val="C00000"/>
                </a:solidFill>
                <a:ea typeface="+mj-ea"/>
              </a:rPr>
              <a:t>Broadcast</a:t>
            </a:r>
          </a:p>
        </p:txBody>
      </p:sp>
      <p:sp>
        <p:nvSpPr>
          <p:cNvPr id="45568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267"/>
            <a:ext cx="8686800" cy="54431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ea typeface="+mn-ea"/>
              </a:rPr>
              <a:t>A </a:t>
            </a:r>
            <a:r>
              <a:rPr lang="en-US" sz="3000" b="1" dirty="0">
                <a:solidFill>
                  <a:srgbClr val="2C14DE"/>
                </a:solidFill>
                <a:ea typeface="+mn-ea"/>
              </a:rPr>
              <a:t>one-to-many</a:t>
            </a:r>
            <a:r>
              <a:rPr lang="en-US" dirty="0">
                <a:ea typeface="+mn-ea"/>
              </a:rPr>
              <a:t> </a:t>
            </a:r>
            <a:r>
              <a:rPr lang="en-US" b="1" dirty="0" smtClean="0">
                <a:ea typeface="+mn-ea"/>
              </a:rPr>
              <a:t>communication</a:t>
            </a:r>
            <a:endParaRPr lang="en-US" b="1" dirty="0">
              <a:ea typeface="+mn-ea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4"/>
          <p:cNvSpPr>
            <a:spLocks noChangeArrowheads="1"/>
          </p:cNvSpPr>
          <p:nvPr/>
        </p:nvSpPr>
        <p:spPr bwMode="auto">
          <a:xfrm>
            <a:off x="2895600" y="23622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44" name="Group 5"/>
          <p:cNvGrpSpPr>
            <a:grpSpLocks/>
          </p:cNvGrpSpPr>
          <p:nvPr/>
        </p:nvGrpSpPr>
        <p:grpSpPr bwMode="auto">
          <a:xfrm>
            <a:off x="3200400" y="2519363"/>
            <a:ext cx="533400" cy="223837"/>
            <a:chOff x="2410" y="2208"/>
            <a:chExt cx="316" cy="192"/>
          </a:xfrm>
        </p:grpSpPr>
        <p:sp>
          <p:nvSpPr>
            <p:cNvPr id="145" name="Rectangle 6"/>
            <p:cNvSpPr>
              <a:spLocks noChangeArrowheads="1"/>
            </p:cNvSpPr>
            <p:nvPr/>
          </p:nvSpPr>
          <p:spPr bwMode="auto">
            <a:xfrm>
              <a:off x="2410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de-DE" sz="1600" dirty="0">
                  <a:solidFill>
                    <a:schemeClr val="tx1"/>
                  </a:solidFill>
                  <a:latin typeface="Arial" charset="0"/>
                  <a:ea typeface="ＭＳ Ｐゴシック" charset="0"/>
                </a:rPr>
                <a:t>r</a:t>
              </a:r>
            </a:p>
          </p:txBody>
        </p:sp>
        <p:sp>
          <p:nvSpPr>
            <p:cNvPr id="146" name="Rectangle 7"/>
            <p:cNvSpPr>
              <a:spLocks noChangeArrowheads="1"/>
            </p:cNvSpPr>
            <p:nvPr/>
          </p:nvSpPr>
          <p:spPr bwMode="auto">
            <a:xfrm>
              <a:off x="2515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de-DE" sz="1600">
                  <a:solidFill>
                    <a:schemeClr val="tx1"/>
                  </a:solidFill>
                  <a:latin typeface="Arial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47" name="Rectangle 8"/>
            <p:cNvSpPr>
              <a:spLocks noChangeArrowheads="1"/>
            </p:cNvSpPr>
            <p:nvPr/>
          </p:nvSpPr>
          <p:spPr bwMode="auto">
            <a:xfrm>
              <a:off x="2621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de-DE" sz="1600" dirty="0">
                  <a:solidFill>
                    <a:schemeClr val="tx1"/>
                  </a:solidFill>
                  <a:latin typeface="Arial" charset="0"/>
                  <a:ea typeface="ＭＳ Ｐゴシック" charset="0"/>
                </a:rPr>
                <a:t>d</a:t>
              </a:r>
            </a:p>
          </p:txBody>
        </p:sp>
      </p:grpSp>
      <p:sp>
        <p:nvSpPr>
          <p:cNvPr id="148" name="Oval 9"/>
          <p:cNvSpPr>
            <a:spLocks noChangeArrowheads="1"/>
          </p:cNvSpPr>
          <p:nvPr/>
        </p:nvSpPr>
        <p:spPr bwMode="auto">
          <a:xfrm>
            <a:off x="2895600" y="36576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Oval 10"/>
          <p:cNvSpPr>
            <a:spLocks noChangeArrowheads="1"/>
          </p:cNvSpPr>
          <p:nvPr/>
        </p:nvSpPr>
        <p:spPr bwMode="auto">
          <a:xfrm>
            <a:off x="4191000" y="23622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0" name="Oval 11"/>
          <p:cNvSpPr>
            <a:spLocks noChangeArrowheads="1"/>
          </p:cNvSpPr>
          <p:nvPr/>
        </p:nvSpPr>
        <p:spPr bwMode="auto">
          <a:xfrm>
            <a:off x="4191000" y="36576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Oval 12"/>
          <p:cNvSpPr>
            <a:spLocks noChangeArrowheads="1"/>
          </p:cNvSpPr>
          <p:nvPr/>
        </p:nvSpPr>
        <p:spPr bwMode="auto">
          <a:xfrm>
            <a:off x="5486400" y="23622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2" name="Oval 13"/>
          <p:cNvSpPr>
            <a:spLocks noChangeArrowheads="1"/>
          </p:cNvSpPr>
          <p:nvPr/>
        </p:nvSpPr>
        <p:spPr bwMode="auto">
          <a:xfrm>
            <a:off x="5486400" y="36576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3" name="Oval 14"/>
          <p:cNvSpPr>
            <a:spLocks noChangeArrowheads="1"/>
          </p:cNvSpPr>
          <p:nvPr/>
        </p:nvSpPr>
        <p:spPr bwMode="auto">
          <a:xfrm>
            <a:off x="6781800" y="23622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4" name="Oval 15"/>
          <p:cNvSpPr>
            <a:spLocks noChangeArrowheads="1"/>
          </p:cNvSpPr>
          <p:nvPr/>
        </p:nvSpPr>
        <p:spPr bwMode="auto">
          <a:xfrm>
            <a:off x="6781800" y="36576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5" name="Oval 16"/>
          <p:cNvSpPr>
            <a:spLocks noChangeArrowheads="1"/>
          </p:cNvSpPr>
          <p:nvPr/>
        </p:nvSpPr>
        <p:spPr bwMode="auto">
          <a:xfrm>
            <a:off x="1600200" y="23622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6" name="Oval 17"/>
          <p:cNvSpPr>
            <a:spLocks noChangeArrowheads="1"/>
          </p:cNvSpPr>
          <p:nvPr/>
        </p:nvSpPr>
        <p:spPr bwMode="auto">
          <a:xfrm>
            <a:off x="1600200" y="3657600"/>
            <a:ext cx="1143000" cy="838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 sz="24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7" name="Line 18"/>
          <p:cNvSpPr>
            <a:spLocks noChangeShapeType="1"/>
          </p:cNvSpPr>
          <p:nvPr/>
        </p:nvSpPr>
        <p:spPr bwMode="auto">
          <a:xfrm>
            <a:off x="533400" y="3276600"/>
            <a:ext cx="762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58" name="Line 19"/>
          <p:cNvSpPr>
            <a:spLocks noChangeShapeType="1"/>
          </p:cNvSpPr>
          <p:nvPr/>
        </p:nvSpPr>
        <p:spPr bwMode="auto">
          <a:xfrm>
            <a:off x="838200" y="3048000"/>
            <a:ext cx="0" cy="658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159" name="Text Box 20"/>
          <p:cNvSpPr txBox="1">
            <a:spLocks noChangeArrowheads="1"/>
          </p:cNvSpPr>
          <p:nvPr/>
        </p:nvSpPr>
        <p:spPr bwMode="auto">
          <a:xfrm>
            <a:off x="533400" y="2457450"/>
            <a:ext cx="99060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before</a:t>
            </a: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sz="1800" dirty="0" err="1">
                <a:solidFill>
                  <a:srgbClr val="C00000"/>
                </a:solidFill>
                <a:latin typeface="Arial" panose="020B0604020202020204" pitchFamily="34" charset="0"/>
              </a:rPr>
              <a:t>bcast</a:t>
            </a:r>
            <a:endParaRPr lang="en-US" sz="18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60" name="Text Box 21"/>
          <p:cNvSpPr txBox="1">
            <a:spLocks noChangeArrowheads="1"/>
          </p:cNvSpPr>
          <p:nvPr/>
        </p:nvSpPr>
        <p:spPr bwMode="auto">
          <a:xfrm>
            <a:off x="533400" y="3829050"/>
            <a:ext cx="942975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after</a:t>
            </a: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sz="1800" dirty="0" err="1" smtClean="0">
                <a:solidFill>
                  <a:srgbClr val="C00000"/>
                </a:solidFill>
                <a:latin typeface="Arial" panose="020B0604020202020204" pitchFamily="34" charset="0"/>
              </a:rPr>
              <a:t>bcast</a:t>
            </a:r>
            <a:endParaRPr lang="en-US" sz="18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61" name="Text Box 22"/>
          <p:cNvSpPr txBox="1">
            <a:spLocks noChangeArrowheads="1"/>
          </p:cNvSpPr>
          <p:nvPr/>
        </p:nvSpPr>
        <p:spPr bwMode="auto">
          <a:xfrm>
            <a:off x="2925763" y="4551363"/>
            <a:ext cx="1130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e.g., root=1</a:t>
            </a:r>
          </a:p>
        </p:txBody>
      </p:sp>
      <p:grpSp>
        <p:nvGrpSpPr>
          <p:cNvPr id="162" name="Group 23"/>
          <p:cNvGrpSpPr>
            <a:grpSpLocks/>
          </p:cNvGrpSpPr>
          <p:nvPr/>
        </p:nvGrpSpPr>
        <p:grpSpPr bwMode="auto">
          <a:xfrm>
            <a:off x="4495800" y="2519363"/>
            <a:ext cx="533400" cy="223837"/>
            <a:chOff x="2410" y="2208"/>
            <a:chExt cx="316" cy="192"/>
          </a:xfrm>
        </p:grpSpPr>
        <p:sp>
          <p:nvSpPr>
            <p:cNvPr id="163" name="Rectangle 24"/>
            <p:cNvSpPr>
              <a:spLocks noChangeArrowheads="1"/>
            </p:cNvSpPr>
            <p:nvPr/>
          </p:nvSpPr>
          <p:spPr bwMode="auto">
            <a:xfrm>
              <a:off x="2410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Rectangle 25"/>
            <p:cNvSpPr>
              <a:spLocks noChangeArrowheads="1"/>
            </p:cNvSpPr>
            <p:nvPr/>
          </p:nvSpPr>
          <p:spPr bwMode="auto">
            <a:xfrm>
              <a:off x="2515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5" name="Rectangle 26"/>
            <p:cNvSpPr>
              <a:spLocks noChangeArrowheads="1"/>
            </p:cNvSpPr>
            <p:nvPr/>
          </p:nvSpPr>
          <p:spPr bwMode="auto">
            <a:xfrm>
              <a:off x="2621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6" name="Group 27"/>
          <p:cNvGrpSpPr>
            <a:grpSpLocks/>
          </p:cNvGrpSpPr>
          <p:nvPr/>
        </p:nvGrpSpPr>
        <p:grpSpPr bwMode="auto">
          <a:xfrm>
            <a:off x="1905000" y="2519363"/>
            <a:ext cx="533400" cy="223837"/>
            <a:chOff x="2410" y="2208"/>
            <a:chExt cx="316" cy="192"/>
          </a:xfrm>
        </p:grpSpPr>
        <p:sp>
          <p:nvSpPr>
            <p:cNvPr id="167" name="Rectangle 28"/>
            <p:cNvSpPr>
              <a:spLocks noChangeArrowheads="1"/>
            </p:cNvSpPr>
            <p:nvPr/>
          </p:nvSpPr>
          <p:spPr bwMode="auto">
            <a:xfrm>
              <a:off x="2410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8" name="Rectangle 29"/>
            <p:cNvSpPr>
              <a:spLocks noChangeArrowheads="1"/>
            </p:cNvSpPr>
            <p:nvPr/>
          </p:nvSpPr>
          <p:spPr bwMode="auto">
            <a:xfrm>
              <a:off x="2515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Rectangle 30"/>
            <p:cNvSpPr>
              <a:spLocks noChangeArrowheads="1"/>
            </p:cNvSpPr>
            <p:nvPr/>
          </p:nvSpPr>
          <p:spPr bwMode="auto">
            <a:xfrm>
              <a:off x="2621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0" name="Group 31"/>
          <p:cNvGrpSpPr>
            <a:grpSpLocks/>
          </p:cNvGrpSpPr>
          <p:nvPr/>
        </p:nvGrpSpPr>
        <p:grpSpPr bwMode="auto">
          <a:xfrm>
            <a:off x="7086600" y="2519363"/>
            <a:ext cx="533400" cy="223837"/>
            <a:chOff x="2410" y="2208"/>
            <a:chExt cx="316" cy="192"/>
          </a:xfrm>
        </p:grpSpPr>
        <p:sp>
          <p:nvSpPr>
            <p:cNvPr id="171" name="Rectangle 32"/>
            <p:cNvSpPr>
              <a:spLocks noChangeArrowheads="1"/>
            </p:cNvSpPr>
            <p:nvPr/>
          </p:nvSpPr>
          <p:spPr bwMode="auto">
            <a:xfrm>
              <a:off x="2410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2" name="Rectangle 33"/>
            <p:cNvSpPr>
              <a:spLocks noChangeArrowheads="1"/>
            </p:cNvSpPr>
            <p:nvPr/>
          </p:nvSpPr>
          <p:spPr bwMode="auto">
            <a:xfrm>
              <a:off x="2515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Rectangle 34"/>
            <p:cNvSpPr>
              <a:spLocks noChangeArrowheads="1"/>
            </p:cNvSpPr>
            <p:nvPr/>
          </p:nvSpPr>
          <p:spPr bwMode="auto">
            <a:xfrm>
              <a:off x="2621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4" name="Group 35"/>
          <p:cNvGrpSpPr>
            <a:grpSpLocks/>
          </p:cNvGrpSpPr>
          <p:nvPr/>
        </p:nvGrpSpPr>
        <p:grpSpPr bwMode="auto">
          <a:xfrm>
            <a:off x="5791200" y="2519363"/>
            <a:ext cx="533400" cy="223837"/>
            <a:chOff x="2410" y="2208"/>
            <a:chExt cx="316" cy="192"/>
          </a:xfrm>
        </p:grpSpPr>
        <p:sp>
          <p:nvSpPr>
            <p:cNvPr id="175" name="Rectangle 36"/>
            <p:cNvSpPr>
              <a:spLocks noChangeArrowheads="1"/>
            </p:cNvSpPr>
            <p:nvPr/>
          </p:nvSpPr>
          <p:spPr bwMode="auto">
            <a:xfrm>
              <a:off x="2410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Rectangle 37"/>
            <p:cNvSpPr>
              <a:spLocks noChangeArrowheads="1"/>
            </p:cNvSpPr>
            <p:nvPr/>
          </p:nvSpPr>
          <p:spPr bwMode="auto">
            <a:xfrm>
              <a:off x="2515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Rectangle 38"/>
            <p:cNvSpPr>
              <a:spLocks noChangeArrowheads="1"/>
            </p:cNvSpPr>
            <p:nvPr/>
          </p:nvSpPr>
          <p:spPr bwMode="auto">
            <a:xfrm>
              <a:off x="2621" y="2208"/>
              <a:ext cx="105" cy="1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 sz="1600">
                <a:solidFill>
                  <a:schemeClr val="tx1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2" name="Group 43"/>
          <p:cNvGrpSpPr>
            <a:grpSpLocks/>
          </p:cNvGrpSpPr>
          <p:nvPr/>
        </p:nvGrpSpPr>
        <p:grpSpPr bwMode="auto">
          <a:xfrm>
            <a:off x="1905000" y="3814763"/>
            <a:ext cx="5715000" cy="223837"/>
            <a:chOff x="1584" y="2304"/>
            <a:chExt cx="3600" cy="192"/>
          </a:xfrm>
        </p:grpSpPr>
        <p:grpSp>
          <p:nvGrpSpPr>
            <p:cNvPr id="183" name="Group 44"/>
            <p:cNvGrpSpPr>
              <a:grpSpLocks/>
            </p:cNvGrpSpPr>
            <p:nvPr/>
          </p:nvGrpSpPr>
          <p:grpSpPr bwMode="auto">
            <a:xfrm>
              <a:off x="3216" y="2304"/>
              <a:ext cx="336" cy="192"/>
              <a:chOff x="2410" y="2208"/>
              <a:chExt cx="316" cy="192"/>
            </a:xfrm>
          </p:grpSpPr>
          <p:sp>
            <p:nvSpPr>
              <p:cNvPr id="196" name="Rectangle 45"/>
              <p:cNvSpPr>
                <a:spLocks noChangeArrowheads="1"/>
              </p:cNvSpPr>
              <p:nvPr/>
            </p:nvSpPr>
            <p:spPr bwMode="auto">
              <a:xfrm>
                <a:off x="2410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Rectangle 46"/>
              <p:cNvSpPr>
                <a:spLocks noChangeArrowheads="1"/>
              </p:cNvSpPr>
              <p:nvPr/>
            </p:nvSpPr>
            <p:spPr bwMode="auto">
              <a:xfrm>
                <a:off x="2515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8" name="Rectangle 47"/>
              <p:cNvSpPr>
                <a:spLocks noChangeArrowheads="1"/>
              </p:cNvSpPr>
              <p:nvPr/>
            </p:nvSpPr>
            <p:spPr bwMode="auto">
              <a:xfrm>
                <a:off x="2621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4" name="Group 48"/>
            <p:cNvGrpSpPr>
              <a:grpSpLocks/>
            </p:cNvGrpSpPr>
            <p:nvPr/>
          </p:nvGrpSpPr>
          <p:grpSpPr bwMode="auto">
            <a:xfrm>
              <a:off x="1584" y="2304"/>
              <a:ext cx="336" cy="192"/>
              <a:chOff x="2410" y="2208"/>
              <a:chExt cx="316" cy="192"/>
            </a:xfrm>
          </p:grpSpPr>
          <p:sp>
            <p:nvSpPr>
              <p:cNvPr id="193" name="Rectangle 49"/>
              <p:cNvSpPr>
                <a:spLocks noChangeArrowheads="1"/>
              </p:cNvSpPr>
              <p:nvPr/>
            </p:nvSpPr>
            <p:spPr bwMode="auto">
              <a:xfrm>
                <a:off x="2410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4" name="Rectangle 50"/>
              <p:cNvSpPr>
                <a:spLocks noChangeArrowheads="1"/>
              </p:cNvSpPr>
              <p:nvPr/>
            </p:nvSpPr>
            <p:spPr bwMode="auto">
              <a:xfrm>
                <a:off x="2515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Rectangle 51"/>
              <p:cNvSpPr>
                <a:spLocks noChangeArrowheads="1"/>
              </p:cNvSpPr>
              <p:nvPr/>
            </p:nvSpPr>
            <p:spPr bwMode="auto">
              <a:xfrm>
                <a:off x="2621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5" name="Group 52"/>
            <p:cNvGrpSpPr>
              <a:grpSpLocks/>
            </p:cNvGrpSpPr>
            <p:nvPr/>
          </p:nvGrpSpPr>
          <p:grpSpPr bwMode="auto">
            <a:xfrm>
              <a:off x="4848" y="2304"/>
              <a:ext cx="336" cy="192"/>
              <a:chOff x="2410" y="2208"/>
              <a:chExt cx="316" cy="192"/>
            </a:xfrm>
          </p:grpSpPr>
          <p:sp>
            <p:nvSpPr>
              <p:cNvPr id="190" name="Rectangle 53"/>
              <p:cNvSpPr>
                <a:spLocks noChangeArrowheads="1"/>
              </p:cNvSpPr>
              <p:nvPr/>
            </p:nvSpPr>
            <p:spPr bwMode="auto">
              <a:xfrm>
                <a:off x="2410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Rectangle 54"/>
              <p:cNvSpPr>
                <a:spLocks noChangeArrowheads="1"/>
              </p:cNvSpPr>
              <p:nvPr/>
            </p:nvSpPr>
            <p:spPr bwMode="auto">
              <a:xfrm>
                <a:off x="2515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2" name="Rectangle 55"/>
              <p:cNvSpPr>
                <a:spLocks noChangeArrowheads="1"/>
              </p:cNvSpPr>
              <p:nvPr/>
            </p:nvSpPr>
            <p:spPr bwMode="auto">
              <a:xfrm>
                <a:off x="2621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6" name="Group 56"/>
            <p:cNvGrpSpPr>
              <a:grpSpLocks/>
            </p:cNvGrpSpPr>
            <p:nvPr/>
          </p:nvGrpSpPr>
          <p:grpSpPr bwMode="auto">
            <a:xfrm>
              <a:off x="4032" y="2304"/>
              <a:ext cx="336" cy="192"/>
              <a:chOff x="2410" y="2208"/>
              <a:chExt cx="316" cy="192"/>
            </a:xfrm>
          </p:grpSpPr>
          <p:sp>
            <p:nvSpPr>
              <p:cNvPr id="187" name="Rectangle 57"/>
              <p:cNvSpPr>
                <a:spLocks noChangeArrowheads="1"/>
              </p:cNvSpPr>
              <p:nvPr/>
            </p:nvSpPr>
            <p:spPr bwMode="auto">
              <a:xfrm>
                <a:off x="2410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8" name="Rectangle 58"/>
              <p:cNvSpPr>
                <a:spLocks noChangeArrowheads="1"/>
              </p:cNvSpPr>
              <p:nvPr/>
            </p:nvSpPr>
            <p:spPr bwMode="auto">
              <a:xfrm>
                <a:off x="2515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Rectangle 59"/>
              <p:cNvSpPr>
                <a:spLocks noChangeArrowheads="1"/>
              </p:cNvSpPr>
              <p:nvPr/>
            </p:nvSpPr>
            <p:spPr bwMode="auto">
              <a:xfrm>
                <a:off x="2621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endParaRPr lang="en-US" sz="1600">
                  <a:solidFill>
                    <a:schemeClr val="tx1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23" name="Line 85"/>
          <p:cNvSpPr>
            <a:spLocks noChangeShapeType="1"/>
          </p:cNvSpPr>
          <p:nvPr/>
        </p:nvSpPr>
        <p:spPr bwMode="auto">
          <a:xfrm flipH="1" flipV="1">
            <a:off x="4038600" y="4689475"/>
            <a:ext cx="304800" cy="111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en-US">
              <a:latin typeface="Tahoma" charset="0"/>
              <a:ea typeface="ＭＳ Ｐゴシック" charset="0"/>
            </a:endParaRPr>
          </a:p>
        </p:txBody>
      </p:sp>
      <p:sp>
        <p:nvSpPr>
          <p:cNvPr id="224" name="Text Box 84"/>
          <p:cNvSpPr txBox="1">
            <a:spLocks noChangeArrowheads="1"/>
          </p:cNvSpPr>
          <p:nvPr/>
        </p:nvSpPr>
        <p:spPr bwMode="auto">
          <a:xfrm>
            <a:off x="4410074" y="4652963"/>
            <a:ext cx="4886326" cy="5869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buFontTx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</a:rPr>
              <a:t>rank</a:t>
            </a:r>
            <a:r>
              <a:rPr lang="en-US" sz="1600" dirty="0">
                <a:solidFill>
                  <a:srgbClr val="2C14DE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of the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</a:rPr>
              <a:t>sending process </a:t>
            </a:r>
            <a:r>
              <a:rPr lang="en-US" sz="16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(i.e., root process)</a:t>
            </a:r>
          </a:p>
          <a:p>
            <a:pPr algn="l">
              <a:buFontTx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 must be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</a:rPr>
              <a:t>given identically </a:t>
            </a:r>
            <a:r>
              <a:rPr lang="en-US" sz="160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by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</a:rPr>
              <a:t>all processes</a:t>
            </a:r>
          </a:p>
        </p:txBody>
      </p:sp>
      <p:sp>
        <p:nvSpPr>
          <p:cNvPr id="86" name="Rectangle 46"/>
          <p:cNvSpPr>
            <a:spLocks noChangeArrowheads="1"/>
          </p:cNvSpPr>
          <p:nvPr/>
        </p:nvSpPr>
        <p:spPr bwMode="auto">
          <a:xfrm>
            <a:off x="3232227" y="3860006"/>
            <a:ext cx="177237" cy="22383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7" name="Rectangle 46"/>
          <p:cNvSpPr>
            <a:spLocks noChangeArrowheads="1"/>
          </p:cNvSpPr>
          <p:nvPr/>
        </p:nvSpPr>
        <p:spPr bwMode="auto">
          <a:xfrm>
            <a:off x="3401809" y="3862387"/>
            <a:ext cx="177237" cy="22383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8" name="Rectangle 46"/>
          <p:cNvSpPr>
            <a:spLocks noChangeArrowheads="1"/>
          </p:cNvSpPr>
          <p:nvPr/>
        </p:nvSpPr>
        <p:spPr bwMode="auto">
          <a:xfrm>
            <a:off x="3579046" y="3852863"/>
            <a:ext cx="177237" cy="22383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05000" y="3847245"/>
            <a:ext cx="5715000" cy="223837"/>
            <a:chOff x="1905000" y="3814763"/>
            <a:chExt cx="5715000" cy="223837"/>
          </a:xfrm>
        </p:grpSpPr>
        <p:grpSp>
          <p:nvGrpSpPr>
            <p:cNvPr id="178" name="Group 39"/>
            <p:cNvGrpSpPr>
              <a:grpSpLocks/>
            </p:cNvGrpSpPr>
            <p:nvPr/>
          </p:nvGrpSpPr>
          <p:grpSpPr bwMode="auto">
            <a:xfrm>
              <a:off x="3200400" y="3814763"/>
              <a:ext cx="533400" cy="223837"/>
              <a:chOff x="2410" y="2208"/>
              <a:chExt cx="316" cy="192"/>
            </a:xfrm>
          </p:grpSpPr>
          <p:sp>
            <p:nvSpPr>
              <p:cNvPr id="179" name="Rectangle 40"/>
              <p:cNvSpPr>
                <a:spLocks noChangeArrowheads="1"/>
              </p:cNvSpPr>
              <p:nvPr/>
            </p:nvSpPr>
            <p:spPr bwMode="auto">
              <a:xfrm>
                <a:off x="2410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de-DE" sz="160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r</a:t>
                </a:r>
              </a:p>
            </p:txBody>
          </p:sp>
          <p:sp>
            <p:nvSpPr>
              <p:cNvPr id="180" name="Rectangle 41"/>
              <p:cNvSpPr>
                <a:spLocks noChangeArrowheads="1"/>
              </p:cNvSpPr>
              <p:nvPr/>
            </p:nvSpPr>
            <p:spPr bwMode="auto">
              <a:xfrm>
                <a:off x="2515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de-DE" sz="1600" dirty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e</a:t>
                </a:r>
              </a:p>
            </p:txBody>
          </p:sp>
          <p:sp>
            <p:nvSpPr>
              <p:cNvPr id="181" name="Rectangle 42"/>
              <p:cNvSpPr>
                <a:spLocks noChangeArrowheads="1"/>
              </p:cNvSpPr>
              <p:nvPr/>
            </p:nvSpPr>
            <p:spPr bwMode="auto">
              <a:xfrm>
                <a:off x="2621" y="2208"/>
                <a:ext cx="105" cy="192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de-DE" sz="160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d</a:t>
                </a:r>
              </a:p>
            </p:txBody>
          </p:sp>
        </p:grpSp>
        <p:grpSp>
          <p:nvGrpSpPr>
            <p:cNvPr id="204" name="Group 65"/>
            <p:cNvGrpSpPr>
              <a:grpSpLocks/>
            </p:cNvGrpSpPr>
            <p:nvPr/>
          </p:nvGrpSpPr>
          <p:grpSpPr bwMode="auto">
            <a:xfrm>
              <a:off x="1905000" y="3814763"/>
              <a:ext cx="5715000" cy="223837"/>
              <a:chOff x="1584" y="3120"/>
              <a:chExt cx="3600" cy="192"/>
            </a:xfrm>
          </p:grpSpPr>
          <p:grpSp>
            <p:nvGrpSpPr>
              <p:cNvPr id="205" name="Group 66"/>
              <p:cNvGrpSpPr>
                <a:grpSpLocks/>
              </p:cNvGrpSpPr>
              <p:nvPr/>
            </p:nvGrpSpPr>
            <p:grpSpPr bwMode="auto">
              <a:xfrm>
                <a:off x="3216" y="3120"/>
                <a:ext cx="336" cy="192"/>
                <a:chOff x="2410" y="2208"/>
                <a:chExt cx="316" cy="192"/>
              </a:xfrm>
            </p:grpSpPr>
            <p:sp>
              <p:nvSpPr>
                <p:cNvPr id="218" name="Rectangle 67"/>
                <p:cNvSpPr>
                  <a:spLocks noChangeArrowheads="1"/>
                </p:cNvSpPr>
                <p:nvPr/>
              </p:nvSpPr>
              <p:spPr bwMode="auto">
                <a:xfrm>
                  <a:off x="2410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r</a:t>
                  </a:r>
                </a:p>
              </p:txBody>
            </p:sp>
            <p:sp>
              <p:nvSpPr>
                <p:cNvPr id="219" name="Rectangle 68"/>
                <p:cNvSpPr>
                  <a:spLocks noChangeArrowheads="1"/>
                </p:cNvSpPr>
                <p:nvPr/>
              </p:nvSpPr>
              <p:spPr bwMode="auto">
                <a:xfrm>
                  <a:off x="2515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 dirty="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e</a:t>
                  </a:r>
                </a:p>
              </p:txBody>
            </p:sp>
            <p:sp>
              <p:nvSpPr>
                <p:cNvPr id="220" name="Rectangle 69"/>
                <p:cNvSpPr>
                  <a:spLocks noChangeArrowheads="1"/>
                </p:cNvSpPr>
                <p:nvPr/>
              </p:nvSpPr>
              <p:spPr bwMode="auto">
                <a:xfrm>
                  <a:off x="2621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d</a:t>
                  </a:r>
                </a:p>
              </p:txBody>
            </p:sp>
          </p:grpSp>
          <p:grpSp>
            <p:nvGrpSpPr>
              <p:cNvPr id="206" name="Group 70"/>
              <p:cNvGrpSpPr>
                <a:grpSpLocks/>
              </p:cNvGrpSpPr>
              <p:nvPr/>
            </p:nvGrpSpPr>
            <p:grpSpPr bwMode="auto">
              <a:xfrm>
                <a:off x="1584" y="3120"/>
                <a:ext cx="336" cy="192"/>
                <a:chOff x="2410" y="2208"/>
                <a:chExt cx="316" cy="192"/>
              </a:xfrm>
            </p:grpSpPr>
            <p:sp>
              <p:nvSpPr>
                <p:cNvPr id="215" name="Rectangle 71"/>
                <p:cNvSpPr>
                  <a:spLocks noChangeArrowheads="1"/>
                </p:cNvSpPr>
                <p:nvPr/>
              </p:nvSpPr>
              <p:spPr bwMode="auto">
                <a:xfrm>
                  <a:off x="2410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r</a:t>
                  </a:r>
                </a:p>
              </p:txBody>
            </p:sp>
            <p:sp>
              <p:nvSpPr>
                <p:cNvPr id="216" name="Rectangle 72"/>
                <p:cNvSpPr>
                  <a:spLocks noChangeArrowheads="1"/>
                </p:cNvSpPr>
                <p:nvPr/>
              </p:nvSpPr>
              <p:spPr bwMode="auto">
                <a:xfrm>
                  <a:off x="2515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 dirty="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e</a:t>
                  </a:r>
                </a:p>
              </p:txBody>
            </p:sp>
            <p:sp>
              <p:nvSpPr>
                <p:cNvPr id="217" name="Rectangle 73"/>
                <p:cNvSpPr>
                  <a:spLocks noChangeArrowheads="1"/>
                </p:cNvSpPr>
                <p:nvPr/>
              </p:nvSpPr>
              <p:spPr bwMode="auto">
                <a:xfrm>
                  <a:off x="2621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 dirty="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d</a:t>
                  </a:r>
                </a:p>
              </p:txBody>
            </p:sp>
          </p:grpSp>
          <p:grpSp>
            <p:nvGrpSpPr>
              <p:cNvPr id="207" name="Group 74"/>
              <p:cNvGrpSpPr>
                <a:grpSpLocks/>
              </p:cNvGrpSpPr>
              <p:nvPr/>
            </p:nvGrpSpPr>
            <p:grpSpPr bwMode="auto">
              <a:xfrm>
                <a:off x="4848" y="3120"/>
                <a:ext cx="336" cy="192"/>
                <a:chOff x="2410" y="2208"/>
                <a:chExt cx="316" cy="192"/>
              </a:xfrm>
            </p:grpSpPr>
            <p:sp>
              <p:nvSpPr>
                <p:cNvPr id="212" name="Rectangle 75"/>
                <p:cNvSpPr>
                  <a:spLocks noChangeArrowheads="1"/>
                </p:cNvSpPr>
                <p:nvPr/>
              </p:nvSpPr>
              <p:spPr bwMode="auto">
                <a:xfrm>
                  <a:off x="2410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r</a:t>
                  </a:r>
                </a:p>
              </p:txBody>
            </p:sp>
            <p:sp>
              <p:nvSpPr>
                <p:cNvPr id="213" name="Rectangle 76"/>
                <p:cNvSpPr>
                  <a:spLocks noChangeArrowheads="1"/>
                </p:cNvSpPr>
                <p:nvPr/>
              </p:nvSpPr>
              <p:spPr bwMode="auto">
                <a:xfrm>
                  <a:off x="2515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 dirty="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e</a:t>
                  </a:r>
                </a:p>
              </p:txBody>
            </p:sp>
            <p:sp>
              <p:nvSpPr>
                <p:cNvPr id="214" name="Rectangle 77"/>
                <p:cNvSpPr>
                  <a:spLocks noChangeArrowheads="1"/>
                </p:cNvSpPr>
                <p:nvPr/>
              </p:nvSpPr>
              <p:spPr bwMode="auto">
                <a:xfrm>
                  <a:off x="2621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d</a:t>
                  </a:r>
                </a:p>
              </p:txBody>
            </p:sp>
          </p:grpSp>
          <p:grpSp>
            <p:nvGrpSpPr>
              <p:cNvPr id="208" name="Group 78"/>
              <p:cNvGrpSpPr>
                <a:grpSpLocks/>
              </p:cNvGrpSpPr>
              <p:nvPr/>
            </p:nvGrpSpPr>
            <p:grpSpPr bwMode="auto">
              <a:xfrm>
                <a:off x="4032" y="3120"/>
                <a:ext cx="336" cy="192"/>
                <a:chOff x="2410" y="2208"/>
                <a:chExt cx="316" cy="192"/>
              </a:xfrm>
            </p:grpSpPr>
            <p:sp>
              <p:nvSpPr>
                <p:cNvPr id="209" name="Rectangle 79"/>
                <p:cNvSpPr>
                  <a:spLocks noChangeArrowheads="1"/>
                </p:cNvSpPr>
                <p:nvPr/>
              </p:nvSpPr>
              <p:spPr bwMode="auto">
                <a:xfrm>
                  <a:off x="2410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r</a:t>
                  </a:r>
                </a:p>
              </p:txBody>
            </p:sp>
            <p:sp>
              <p:nvSpPr>
                <p:cNvPr id="210" name="Rectangle 80"/>
                <p:cNvSpPr>
                  <a:spLocks noChangeArrowheads="1"/>
                </p:cNvSpPr>
                <p:nvPr/>
              </p:nvSpPr>
              <p:spPr bwMode="auto">
                <a:xfrm>
                  <a:off x="2515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e</a:t>
                  </a:r>
                </a:p>
              </p:txBody>
            </p:sp>
            <p:sp>
              <p:nvSpPr>
                <p:cNvPr id="211" name="Rectangle 81"/>
                <p:cNvSpPr>
                  <a:spLocks noChangeArrowheads="1"/>
                </p:cNvSpPr>
                <p:nvPr/>
              </p:nvSpPr>
              <p:spPr bwMode="auto">
                <a:xfrm>
                  <a:off x="2621" y="2208"/>
                  <a:ext cx="105" cy="192"/>
                </a:xfrm>
                <a:prstGeom prst="rect">
                  <a:avLst/>
                </a:prstGeom>
                <a:solidFill>
                  <a:srgbClr val="CCECFF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r>
                    <a:rPr lang="de-DE"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rPr>
                    <a:t>d</a:t>
                  </a:r>
                </a:p>
              </p:txBody>
            </p:sp>
          </p:grpSp>
        </p:grpSp>
      </p:grpSp>
      <p:grpSp>
        <p:nvGrpSpPr>
          <p:cNvPr id="3" name="Group 2"/>
          <p:cNvGrpSpPr/>
          <p:nvPr/>
        </p:nvGrpSpPr>
        <p:grpSpPr>
          <a:xfrm>
            <a:off x="2209800" y="2987675"/>
            <a:ext cx="5029200" cy="872331"/>
            <a:chOff x="2209800" y="2987675"/>
            <a:chExt cx="5029200" cy="872331"/>
          </a:xfrm>
        </p:grpSpPr>
        <p:grpSp>
          <p:nvGrpSpPr>
            <p:cNvPr id="199" name="Group 60"/>
            <p:cNvGrpSpPr>
              <a:grpSpLocks/>
            </p:cNvGrpSpPr>
            <p:nvPr/>
          </p:nvGrpSpPr>
          <p:grpSpPr bwMode="auto">
            <a:xfrm>
              <a:off x="2209800" y="2987675"/>
              <a:ext cx="5029200" cy="669925"/>
              <a:chOff x="1776" y="2496"/>
              <a:chExt cx="3168" cy="576"/>
            </a:xfrm>
          </p:grpSpPr>
          <p:sp>
            <p:nvSpPr>
              <p:cNvPr id="200" name="Line 61"/>
              <p:cNvSpPr>
                <a:spLocks noChangeShapeType="1"/>
              </p:cNvSpPr>
              <p:nvPr/>
            </p:nvSpPr>
            <p:spPr bwMode="auto">
              <a:xfrm flipH="1">
                <a:off x="1776" y="2496"/>
                <a:ext cx="768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1" name="Line 62"/>
              <p:cNvSpPr>
                <a:spLocks noChangeShapeType="1"/>
              </p:cNvSpPr>
              <p:nvPr/>
            </p:nvSpPr>
            <p:spPr bwMode="auto">
              <a:xfrm>
                <a:off x="2544" y="2496"/>
                <a:ext cx="1584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2" name="Line 63"/>
              <p:cNvSpPr>
                <a:spLocks noChangeShapeType="1"/>
              </p:cNvSpPr>
              <p:nvPr/>
            </p:nvSpPr>
            <p:spPr bwMode="auto">
              <a:xfrm>
                <a:off x="2544" y="2496"/>
                <a:ext cx="240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3" name="Line 64"/>
              <p:cNvSpPr>
                <a:spLocks noChangeShapeType="1"/>
              </p:cNvSpPr>
              <p:nvPr/>
            </p:nvSpPr>
            <p:spPr bwMode="auto">
              <a:xfrm>
                <a:off x="2544" y="2496"/>
                <a:ext cx="816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9" name="Line 64"/>
            <p:cNvSpPr>
              <a:spLocks noChangeShapeType="1"/>
            </p:cNvSpPr>
            <p:nvPr/>
          </p:nvSpPr>
          <p:spPr bwMode="auto">
            <a:xfrm>
              <a:off x="3390900" y="2996406"/>
              <a:ext cx="87774" cy="86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US"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040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8283"/>
            <a:ext cx="9103092" cy="876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Broadcasting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with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MPI_Bcast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7459013" cy="2514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" y="4038600"/>
            <a:ext cx="8915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+mj-lt"/>
              </a:rPr>
              <a:t>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contents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of 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send buffer </a:t>
            </a:r>
            <a:r>
              <a:rPr lang="en-US" sz="2600" dirty="0">
                <a:latin typeface="+mj-lt"/>
              </a:rPr>
              <a:t>is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copied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from a </a:t>
            </a:r>
            <a:r>
              <a:rPr lang="en-US" sz="2600" b="1" dirty="0" smtClean="0">
                <a:solidFill>
                  <a:srgbClr val="2C14DE"/>
                </a:solidFill>
                <a:latin typeface="+mj-lt"/>
              </a:rPr>
              <a:t>sender</a:t>
            </a:r>
            <a:r>
              <a:rPr lang="en-US" sz="2600" dirty="0" smtClean="0">
                <a:latin typeface="+mj-lt"/>
              </a:rPr>
              <a:t> (i.e., root process)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to all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other processes</a:t>
            </a:r>
            <a:r>
              <a:rPr lang="en-US" sz="2600" dirty="0">
                <a:latin typeface="+mj-lt"/>
              </a:rPr>
              <a:t>, </a:t>
            </a:r>
            <a:r>
              <a:rPr lang="en-US" sz="2600" dirty="0" smtClean="0">
                <a:latin typeface="+mj-lt"/>
              </a:rPr>
              <a:t>(</a:t>
            </a:r>
            <a:r>
              <a:rPr lang="en-US" sz="2600" b="1" i="1" u="sng" dirty="0" smtClean="0">
                <a:solidFill>
                  <a:srgbClr val="2C14DE"/>
                </a:solidFill>
                <a:latin typeface="+mj-lt"/>
              </a:rPr>
              <a:t>including itself</a:t>
            </a:r>
            <a:r>
              <a:rPr lang="en-US" sz="2600" dirty="0" smtClean="0">
                <a:latin typeface="+mj-lt"/>
              </a:rPr>
              <a:t>)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600" dirty="0" smtClean="0">
              <a:latin typeface="+mj-lt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+mj-lt"/>
              </a:rPr>
              <a:t>The </a:t>
            </a:r>
            <a:r>
              <a:rPr lang="en-US" sz="2600" b="1" dirty="0" smtClean="0">
                <a:solidFill>
                  <a:srgbClr val="2C14DE"/>
                </a:solidFill>
                <a:latin typeface="+mj-lt"/>
              </a:rPr>
              <a:t>type signature </a:t>
            </a:r>
            <a:r>
              <a:rPr lang="en-US" sz="2600" dirty="0" smtClean="0">
                <a:latin typeface="+mj-lt"/>
              </a:rPr>
              <a:t>(</a:t>
            </a:r>
            <a:r>
              <a:rPr lang="en-US" sz="2600" b="1" i="1" dirty="0" smtClean="0">
                <a:latin typeface="+mj-lt"/>
              </a:rPr>
              <a:t>number of elements</a:t>
            </a:r>
            <a:r>
              <a:rPr lang="en-US" sz="2600" dirty="0" smtClean="0">
                <a:latin typeface="+mj-lt"/>
              </a:rPr>
              <a:t>, </a:t>
            </a:r>
            <a:r>
              <a:rPr lang="en-US" sz="2600" b="1" i="1" dirty="0" smtClean="0">
                <a:latin typeface="+mj-lt"/>
              </a:rPr>
              <a:t>data type</a:t>
            </a:r>
            <a:r>
              <a:rPr lang="en-US" sz="2600" dirty="0" smtClean="0">
                <a:latin typeface="+mj-lt"/>
              </a:rPr>
              <a:t>) on </a:t>
            </a:r>
            <a:r>
              <a:rPr lang="en-US" sz="2600" b="1" dirty="0" smtClean="0">
                <a:latin typeface="+mj-lt"/>
              </a:rPr>
              <a:t>any process</a:t>
            </a:r>
            <a:r>
              <a:rPr lang="en-US" sz="2600" dirty="0" smtClean="0">
                <a:latin typeface="+mj-lt"/>
              </a:rPr>
              <a:t> </a:t>
            </a:r>
            <a:r>
              <a:rPr lang="en-US" sz="2600" b="1" u="sng" dirty="0" smtClean="0">
                <a:solidFill>
                  <a:srgbClr val="FF0000"/>
                </a:solidFill>
                <a:latin typeface="+mj-lt"/>
              </a:rPr>
              <a:t>must </a:t>
            </a:r>
            <a:r>
              <a:rPr lang="en-US" sz="2600" b="1" u="sng" dirty="0">
                <a:solidFill>
                  <a:srgbClr val="FF0000"/>
                </a:solidFill>
                <a:latin typeface="+mj-lt"/>
              </a:rPr>
              <a:t>be </a:t>
            </a:r>
            <a:r>
              <a:rPr lang="en-US" sz="2600" b="1" u="sng" dirty="0" smtClean="0">
                <a:solidFill>
                  <a:srgbClr val="FF0000"/>
                </a:solidFill>
                <a:latin typeface="+mj-lt"/>
              </a:rPr>
              <a:t>same </a:t>
            </a:r>
            <a:r>
              <a:rPr lang="en-US" sz="2600" dirty="0" smtClean="0">
                <a:latin typeface="+mj-lt"/>
              </a:rPr>
              <a:t>(</a:t>
            </a:r>
            <a:r>
              <a:rPr lang="en-US" sz="2600" b="1" dirty="0" smtClean="0">
                <a:latin typeface="+mj-lt"/>
              </a:rPr>
              <a:t>as</a:t>
            </a:r>
            <a:r>
              <a:rPr lang="en-US" sz="2600" dirty="0" smtClean="0">
                <a:latin typeface="+mj-lt"/>
              </a:rPr>
              <a:t> </a:t>
            </a:r>
            <a:r>
              <a:rPr lang="en-US" sz="2600" b="1" dirty="0" smtClean="0">
                <a:latin typeface="+mj-lt"/>
              </a:rPr>
              <a:t>on</a:t>
            </a:r>
            <a:r>
              <a:rPr lang="en-US" sz="2600" dirty="0" smtClean="0">
                <a:latin typeface="+mj-lt"/>
              </a:rPr>
              <a:t> the </a:t>
            </a:r>
            <a:r>
              <a:rPr lang="en-US" sz="2600" b="1" dirty="0" smtClean="0">
                <a:latin typeface="+mj-lt"/>
              </a:rPr>
              <a:t>root process</a:t>
            </a:r>
            <a:r>
              <a:rPr lang="en-US" sz="2600" dirty="0" smtClean="0">
                <a:latin typeface="+mj-lt"/>
              </a:rPr>
              <a:t>)</a:t>
            </a:r>
            <a:endParaRPr 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901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03092" cy="88524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Broadcasting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with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MPI_Bcast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pic>
        <p:nvPicPr>
          <p:cNvPr id="39938" name="Image 3" descr="Screen Shot 2016-01-25 at 3.55.21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" t="4788" r="31798" b="2921"/>
          <a:stretch/>
        </p:blipFill>
        <p:spPr bwMode="auto">
          <a:xfrm>
            <a:off x="304800" y="1066800"/>
            <a:ext cx="7543800" cy="567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781800" y="762000"/>
            <a:ext cx="21336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Demo:   </a:t>
            </a:r>
            <a:r>
              <a:rPr lang="en-US" sz="2000" b="1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BroadCast.c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60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>
                <a:solidFill>
                  <a:srgbClr val="C00000"/>
                </a:solidFill>
                <a:ea typeface="+mj-ea"/>
              </a:rPr>
              <a:t>MPI_Scatter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1967" y="990600"/>
            <a:ext cx="8991600" cy="9445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sz="2400" b="1" dirty="0" err="1">
                <a:solidFill>
                  <a:srgbClr val="C00000"/>
                </a:solidFill>
                <a:ea typeface="+mn-ea"/>
              </a:rPr>
              <a:t>MPI_Scatter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is</a:t>
            </a:r>
            <a:r>
              <a:rPr lang="fr-FR" sz="2400" b="1" dirty="0">
                <a:ea typeface="+mn-ea"/>
              </a:rPr>
              <a:t> a 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collective</a:t>
            </a:r>
            <a:r>
              <a:rPr lang="fr-FR" sz="2400" b="1" dirty="0">
                <a:ea typeface="+mn-ea"/>
              </a:rPr>
              <a:t> routine </a:t>
            </a:r>
            <a:r>
              <a:rPr lang="fr-FR" sz="2400" b="1" dirty="0" err="1">
                <a:ea typeface="+mn-ea"/>
              </a:rPr>
              <a:t>that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is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u="sng" dirty="0" err="1" smtClean="0">
                <a:ea typeface="+mn-ea"/>
              </a:rPr>
              <a:t>similar</a:t>
            </a:r>
            <a:r>
              <a:rPr lang="fr-FR" sz="2400" b="1" u="sng" dirty="0" smtClean="0">
                <a:ea typeface="+mn-ea"/>
              </a:rPr>
              <a:t> </a:t>
            </a:r>
            <a:r>
              <a:rPr lang="fr-FR" sz="2400" b="1" u="sng" dirty="0">
                <a:ea typeface="+mn-ea"/>
              </a:rPr>
              <a:t>to </a:t>
            </a:r>
            <a:r>
              <a:rPr lang="fr-FR" sz="2400" b="1" u="sng" dirty="0" err="1" smtClean="0">
                <a:ea typeface="+mn-ea"/>
              </a:rPr>
              <a:t>MPI_Bcast</a:t>
            </a:r>
            <a:endParaRPr lang="fr-FR" sz="2400" b="1" u="sng" dirty="0" smtClean="0">
              <a:ea typeface="+mn-ea"/>
            </a:endParaRPr>
          </a:p>
          <a:p>
            <a:pPr>
              <a:defRPr/>
            </a:pPr>
            <a:r>
              <a:rPr lang="fr-FR" sz="2400" b="1" dirty="0" smtClean="0">
                <a:ea typeface="+mn-ea"/>
              </a:rPr>
              <a:t>It </a:t>
            </a:r>
            <a:r>
              <a:rPr lang="fr-FR" sz="2400" b="1" dirty="0" err="1">
                <a:ea typeface="+mn-ea"/>
              </a:rPr>
              <a:t>sends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i="1" dirty="0" err="1">
                <a:solidFill>
                  <a:srgbClr val="2C14DE"/>
                </a:solidFill>
                <a:ea typeface="+mn-ea"/>
              </a:rPr>
              <a:t>chunks</a:t>
            </a:r>
            <a:r>
              <a:rPr lang="fr-FR" sz="2400" b="1" i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i="1" dirty="0">
                <a:ea typeface="+mn-ea"/>
              </a:rPr>
              <a:t>of </a:t>
            </a:r>
            <a:r>
              <a:rPr lang="fr-FR" sz="2400" b="1" i="1" dirty="0">
                <a:solidFill>
                  <a:srgbClr val="2C14DE"/>
                </a:solidFill>
                <a:ea typeface="+mn-ea"/>
              </a:rPr>
              <a:t>an </a:t>
            </a:r>
            <a:r>
              <a:rPr lang="fr-FR" sz="2400" b="1" i="1" dirty="0" err="1">
                <a:solidFill>
                  <a:srgbClr val="2C14DE"/>
                </a:solidFill>
                <a:ea typeface="+mn-ea"/>
              </a:rPr>
              <a:t>array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dirty="0">
                <a:ea typeface="+mn-ea"/>
              </a:rPr>
              <a:t>to </a:t>
            </a:r>
            <a:r>
              <a:rPr lang="fr-FR" sz="2400" b="1" dirty="0" err="1">
                <a:solidFill>
                  <a:srgbClr val="2C14DE"/>
                </a:solidFill>
                <a:ea typeface="+mn-ea"/>
              </a:rPr>
              <a:t>different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dirty="0" err="1" smtClean="0">
                <a:solidFill>
                  <a:srgbClr val="2C14DE"/>
                </a:solidFill>
                <a:ea typeface="+mn-ea"/>
              </a:rPr>
              <a:t>processes</a:t>
            </a:r>
            <a:endParaRPr lang="fr-FR" sz="2400" b="1" dirty="0" smtClean="0">
              <a:solidFill>
                <a:srgbClr val="2C14DE"/>
              </a:solidFill>
              <a:ea typeface="+mn-ea"/>
            </a:endParaRPr>
          </a:p>
          <a:p>
            <a:pPr>
              <a:defRPr/>
            </a:pPr>
            <a:endParaRPr lang="fr-FR" sz="2400" b="1" dirty="0">
              <a:ea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28800"/>
            <a:ext cx="5943600" cy="485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>
                <a:solidFill>
                  <a:srgbClr val="C00000"/>
                </a:solidFill>
                <a:ea typeface="+mj-ea"/>
              </a:rPr>
              <a:t>MPI_Scatter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143457"/>
            <a:ext cx="7616267" cy="36571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2399" y="4953000"/>
            <a:ext cx="85344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root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C14DE"/>
                </a:solidFill>
                <a:latin typeface="Times New Roman" panose="02020603050405020304" pitchFamily="18" charset="0"/>
              </a:rPr>
              <a:t>sends a part </a:t>
            </a:r>
            <a:r>
              <a:rPr lang="en-US" sz="2400" dirty="0">
                <a:latin typeface="Times New Roman" panose="02020603050405020304" pitchFamily="18" charset="0"/>
              </a:rPr>
              <a:t>of its </a:t>
            </a:r>
            <a:r>
              <a:rPr lang="en-US" sz="2400" b="1" dirty="0">
                <a:solidFill>
                  <a:srgbClr val="2C14DE"/>
                </a:solidFill>
                <a:latin typeface="Times New Roman" panose="02020603050405020304" pitchFamily="18" charset="0"/>
              </a:rPr>
              <a:t>send buffer </a:t>
            </a:r>
            <a:r>
              <a:rPr lang="en-US" sz="2400" dirty="0">
                <a:latin typeface="Times New Roman" panose="02020603050405020304" pitchFamily="18" charset="0"/>
              </a:rPr>
              <a:t>to </a:t>
            </a:r>
            <a:r>
              <a:rPr lang="en-US" sz="2400" b="1" u="sng" dirty="0">
                <a:latin typeface="Times New Roman" panose="02020603050405020304" pitchFamily="18" charset="0"/>
              </a:rPr>
              <a:t>each </a:t>
            </a:r>
            <a:r>
              <a:rPr lang="en-US" sz="2400" b="1" u="sng" dirty="0" smtClean="0">
                <a:latin typeface="Times New Roman" panose="02020603050405020304" pitchFamily="18" charset="0"/>
              </a:rPr>
              <a:t>process</a:t>
            </a:r>
            <a:endParaRPr lang="en-US" sz="2400" dirty="0">
              <a:latin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</a:rPr>
              <a:t>• </a:t>
            </a:r>
            <a:r>
              <a:rPr lang="en-US" sz="2400" b="1" dirty="0">
                <a:solidFill>
                  <a:srgbClr val="2C14DE"/>
                </a:solidFill>
                <a:latin typeface="Times New Roman" panose="02020603050405020304" pitchFamily="18" charset="0"/>
              </a:rPr>
              <a:t>Process </a:t>
            </a:r>
            <a:r>
              <a:rPr lang="en-US" sz="2400" b="1" i="1" dirty="0">
                <a:latin typeface="Times New Roman" panose="02020603050405020304" pitchFamily="18" charset="0"/>
              </a:rPr>
              <a:t>k</a:t>
            </a:r>
            <a:r>
              <a:rPr lang="en-US" sz="2400" b="1" i="1" dirty="0">
                <a:solidFill>
                  <a:srgbClr val="2C14DE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</a:rPr>
              <a:t>receives</a:t>
            </a:r>
            <a:r>
              <a:rPr lang="en-US" sz="2400" dirty="0">
                <a:latin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2C14DE"/>
                </a:solidFill>
                <a:latin typeface="Times New Roman" panose="02020603050405020304" pitchFamily="18" charset="0"/>
              </a:rPr>
              <a:t>sendcount</a:t>
            </a:r>
            <a:r>
              <a:rPr lang="en-US" sz="2400" i="1" dirty="0">
                <a:solidFill>
                  <a:srgbClr val="2C14DE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</a:rPr>
              <a:t>elements </a:t>
            </a:r>
            <a:r>
              <a:rPr lang="en-US" sz="2400" b="1" dirty="0">
                <a:latin typeface="Times New Roman" panose="02020603050405020304" pitchFamily="18" charset="0"/>
              </a:rPr>
              <a:t>starting </a:t>
            </a:r>
            <a:r>
              <a:rPr lang="en-US" sz="2400" b="1" dirty="0" smtClean="0">
                <a:latin typeface="Times New Roman" panose="02020603050405020304" pitchFamily="18" charset="0"/>
              </a:rPr>
              <a:t>with </a:t>
            </a:r>
            <a:r>
              <a:rPr lang="en-US" sz="2400" b="1" i="1" dirty="0" err="1" smtClean="0">
                <a:solidFill>
                  <a:srgbClr val="C00000"/>
                </a:solidFill>
                <a:latin typeface="Times New Roman" panose="02020603050405020304" pitchFamily="18" charset="0"/>
              </a:rPr>
              <a:t>sendbuf+k</a:t>
            </a:r>
            <a:r>
              <a:rPr lang="en-US" sz="2400" b="1" i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sz="2400" b="1" i="1" dirty="0" err="1" smtClean="0">
                <a:solidFill>
                  <a:srgbClr val="C00000"/>
                </a:solidFill>
                <a:latin typeface="Times New Roman" panose="02020603050405020304" pitchFamily="18" charset="0"/>
              </a:rPr>
              <a:t>sendcount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35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MPI_Scatter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-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Example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7939"/>
          <a:stretch/>
        </p:blipFill>
        <p:spPr>
          <a:xfrm>
            <a:off x="152400" y="990600"/>
            <a:ext cx="7620000" cy="57307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69492" y="685800"/>
            <a:ext cx="16764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Demo:   </a:t>
            </a:r>
            <a:r>
              <a:rPr lang="en-US" sz="2000" b="1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Scatter.c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72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3252"/>
            <a:ext cx="9134061" cy="917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391" y="1036637"/>
            <a:ext cx="9011409" cy="1401763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fr-FR" sz="2800" b="1" dirty="0" err="1">
                <a:solidFill>
                  <a:srgbClr val="C00000"/>
                </a:solidFill>
              </a:rPr>
              <a:t>MPI_Gather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b="1" dirty="0">
                <a:solidFill>
                  <a:srgbClr val="2C14DE"/>
                </a:solidFill>
              </a:rPr>
              <a:t>inverse</a:t>
            </a:r>
            <a:r>
              <a:rPr lang="fr-FR" sz="2800" dirty="0"/>
              <a:t> of </a:t>
            </a:r>
            <a:r>
              <a:rPr lang="fr-FR" sz="2800" b="1" dirty="0" err="1" smtClean="0">
                <a:solidFill>
                  <a:srgbClr val="2C14DE"/>
                </a:solidFill>
              </a:rPr>
              <a:t>MPI_Scatter</a:t>
            </a:r>
            <a:endParaRPr lang="fr-FR" sz="2800" dirty="0" smtClean="0"/>
          </a:p>
          <a:p>
            <a:pPr algn="just">
              <a:defRPr/>
            </a:pPr>
            <a:r>
              <a:rPr lang="fr-FR" sz="2800" dirty="0" smtClean="0"/>
              <a:t>It </a:t>
            </a:r>
            <a:r>
              <a:rPr lang="fr-FR" sz="2800" b="1" dirty="0" err="1" smtClean="0">
                <a:solidFill>
                  <a:srgbClr val="2C14DE"/>
                </a:solidFill>
              </a:rPr>
              <a:t>takes</a:t>
            </a:r>
            <a:r>
              <a:rPr lang="fr-FR" sz="2800" dirty="0" smtClean="0">
                <a:solidFill>
                  <a:srgbClr val="2C14DE"/>
                </a:solidFill>
              </a:rPr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elements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many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processes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dirty="0"/>
              <a:t>and </a:t>
            </a:r>
            <a:r>
              <a:rPr lang="fr-FR" sz="2800" b="1" dirty="0" err="1">
                <a:solidFill>
                  <a:srgbClr val="2C14DE"/>
                </a:solidFill>
              </a:rPr>
              <a:t>gathers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 err="1"/>
              <a:t>them</a:t>
            </a:r>
            <a:r>
              <a:rPr lang="fr-FR" sz="2800" dirty="0"/>
              <a:t> to one </a:t>
            </a:r>
            <a:r>
              <a:rPr lang="fr-FR" sz="2800" b="1" dirty="0">
                <a:solidFill>
                  <a:srgbClr val="2C14DE"/>
                </a:solidFill>
              </a:rPr>
              <a:t>single </a:t>
            </a:r>
            <a:r>
              <a:rPr lang="fr-FR" sz="2800" b="1" dirty="0" err="1" smtClean="0">
                <a:solidFill>
                  <a:srgbClr val="2C14DE"/>
                </a:solidFill>
              </a:rPr>
              <a:t>process</a:t>
            </a:r>
            <a:endParaRPr lang="fr-FR" sz="2800" dirty="0"/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348"/>
          <a:stretch/>
        </p:blipFill>
        <p:spPr>
          <a:xfrm>
            <a:off x="1676400" y="2604065"/>
            <a:ext cx="6248400" cy="326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9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3252"/>
            <a:ext cx="9134061" cy="917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66800"/>
            <a:ext cx="7025701" cy="55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7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3252"/>
            <a:ext cx="9134061" cy="917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283"/>
          <a:stretch/>
        </p:blipFill>
        <p:spPr>
          <a:xfrm>
            <a:off x="457200" y="1524000"/>
            <a:ext cx="80903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3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3252"/>
            <a:ext cx="9134061" cy="917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13896"/>
            <a:ext cx="8458200" cy="42439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411450"/>
            <a:ext cx="910870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+mj-lt"/>
              </a:rPr>
              <a:t>The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root</a:t>
            </a:r>
            <a:r>
              <a:rPr lang="en-US" sz="26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receives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b="1" dirty="0" smtClean="0">
                <a:latin typeface="+mj-lt"/>
              </a:rPr>
              <a:t>data</a:t>
            </a:r>
            <a:r>
              <a:rPr lang="en-US" sz="2600" dirty="0" smtClean="0">
                <a:latin typeface="+mj-lt"/>
              </a:rPr>
              <a:t> from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all processes </a:t>
            </a:r>
            <a:r>
              <a:rPr lang="en-US" sz="2600" dirty="0" smtClean="0">
                <a:latin typeface="+mj-lt"/>
              </a:rPr>
              <a:t>(from send buffers)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+mj-lt"/>
              </a:rPr>
              <a:t>I</a:t>
            </a:r>
            <a:r>
              <a:rPr lang="en-US" sz="2600" dirty="0" smtClean="0">
                <a:latin typeface="+mj-lt"/>
              </a:rPr>
              <a:t>t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stores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data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in 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receive buffer </a:t>
            </a:r>
            <a:r>
              <a:rPr lang="en-US" sz="2600" b="1" u="sng" dirty="0">
                <a:latin typeface="+mj-lt"/>
              </a:rPr>
              <a:t>ordered by </a:t>
            </a:r>
            <a:r>
              <a:rPr lang="en-US" sz="2600" dirty="0" smtClean="0">
                <a:latin typeface="+mj-lt"/>
              </a:rPr>
              <a:t>the </a:t>
            </a:r>
            <a:r>
              <a:rPr lang="en-US" sz="2600" b="1" dirty="0" smtClean="0">
                <a:solidFill>
                  <a:srgbClr val="2C14DE"/>
                </a:solidFill>
                <a:latin typeface="+mj-lt"/>
              </a:rPr>
              <a:t>process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number</a:t>
            </a:r>
            <a:r>
              <a:rPr lang="en-US" sz="2600" b="1" dirty="0">
                <a:latin typeface="+mj-lt"/>
              </a:rPr>
              <a:t> </a:t>
            </a:r>
            <a:r>
              <a:rPr lang="en-US" sz="2600" dirty="0">
                <a:latin typeface="+mj-lt"/>
              </a:rPr>
              <a:t>of 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senders</a:t>
            </a:r>
          </a:p>
        </p:txBody>
      </p:sp>
    </p:spTree>
    <p:extLst>
      <p:ext uri="{BB962C8B-B14F-4D97-AF65-F5344CB8AC3E}">
        <p14:creationId xmlns:p14="http://schemas.microsoft.com/office/powerpoint/2010/main" val="352370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3252"/>
            <a:ext cx="9134061" cy="917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</a:t>
            </a:r>
            <a:r>
              <a:rPr lang="fr-FR" sz="4800" b="1" dirty="0" smtClean="0">
                <a:solidFill>
                  <a:srgbClr val="C00000"/>
                </a:solidFill>
                <a:ea typeface="+mj-ea"/>
              </a:rPr>
              <a:t> - </a:t>
            </a: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Example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8890836" cy="5410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39000" y="1089826"/>
            <a:ext cx="16764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Demo:   </a:t>
            </a:r>
            <a:r>
              <a:rPr lang="en-US" sz="2000" b="1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Gather.c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1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MPI_Scatterv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14400"/>
            <a:ext cx="9026892" cy="9445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sz="2400" b="1" dirty="0" err="1" smtClean="0">
                <a:solidFill>
                  <a:srgbClr val="C00000"/>
                </a:solidFill>
                <a:ea typeface="+mn-ea"/>
              </a:rPr>
              <a:t>MPI_Scatterv</a:t>
            </a:r>
            <a:r>
              <a:rPr lang="fr-FR" sz="2400" b="1" dirty="0" smtClean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is</a:t>
            </a:r>
            <a:r>
              <a:rPr lang="fr-FR" sz="2400" b="1" dirty="0">
                <a:ea typeface="+mn-ea"/>
              </a:rPr>
              <a:t> a 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collective</a:t>
            </a:r>
            <a:r>
              <a:rPr lang="fr-FR" sz="2400" b="1" dirty="0">
                <a:ea typeface="+mn-ea"/>
              </a:rPr>
              <a:t> routine </a:t>
            </a:r>
            <a:r>
              <a:rPr lang="fr-FR" sz="2400" b="1" dirty="0" err="1">
                <a:ea typeface="+mn-ea"/>
              </a:rPr>
              <a:t>that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is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u="sng" dirty="0" err="1" smtClean="0">
                <a:ea typeface="+mn-ea"/>
              </a:rPr>
              <a:t>similar</a:t>
            </a:r>
            <a:r>
              <a:rPr lang="fr-FR" sz="2400" b="1" u="sng" dirty="0" smtClean="0">
                <a:ea typeface="+mn-ea"/>
              </a:rPr>
              <a:t> </a:t>
            </a:r>
            <a:r>
              <a:rPr lang="fr-FR" sz="2400" b="1" u="sng" dirty="0">
                <a:ea typeface="+mn-ea"/>
              </a:rPr>
              <a:t>to </a:t>
            </a:r>
            <a:r>
              <a:rPr lang="fr-FR" sz="2400" b="1" dirty="0" err="1" smtClean="0"/>
              <a:t>MPI_</a:t>
            </a:r>
            <a:r>
              <a:rPr lang="fr-FR" sz="2400" b="1" dirty="0" err="1"/>
              <a:t>Scatter</a:t>
            </a:r>
            <a:endParaRPr lang="fr-FR" sz="2400" b="1" dirty="0" smtClean="0"/>
          </a:p>
          <a:p>
            <a:pPr>
              <a:defRPr/>
            </a:pPr>
            <a:r>
              <a:rPr lang="fr-FR" sz="2400" b="1" dirty="0" smtClean="0">
                <a:ea typeface="+mn-ea"/>
              </a:rPr>
              <a:t>It </a:t>
            </a:r>
            <a:r>
              <a:rPr lang="fr-FR" sz="2400" b="1" dirty="0" err="1">
                <a:ea typeface="+mn-ea"/>
              </a:rPr>
              <a:t>sends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dirty="0" smtClean="0">
                <a:ea typeface="+mn-ea"/>
              </a:rPr>
              <a:t>variable </a:t>
            </a:r>
            <a:r>
              <a:rPr lang="fr-FR" sz="2400" b="1" i="1" dirty="0" err="1" smtClean="0">
                <a:solidFill>
                  <a:srgbClr val="2C14DE"/>
                </a:solidFill>
                <a:ea typeface="+mn-ea"/>
              </a:rPr>
              <a:t>chunks</a:t>
            </a:r>
            <a:r>
              <a:rPr lang="fr-FR" sz="2400" b="1" i="1" dirty="0" smtClean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i="1" dirty="0">
                <a:ea typeface="+mn-ea"/>
              </a:rPr>
              <a:t>of </a:t>
            </a:r>
            <a:r>
              <a:rPr lang="fr-FR" sz="2400" b="1" i="1" dirty="0">
                <a:solidFill>
                  <a:srgbClr val="2C14DE"/>
                </a:solidFill>
                <a:ea typeface="+mn-ea"/>
              </a:rPr>
              <a:t>an </a:t>
            </a:r>
            <a:r>
              <a:rPr lang="fr-FR" sz="2400" b="1" i="1" dirty="0" err="1">
                <a:solidFill>
                  <a:srgbClr val="2C14DE"/>
                </a:solidFill>
                <a:ea typeface="+mn-ea"/>
              </a:rPr>
              <a:t>array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dirty="0">
                <a:ea typeface="+mn-ea"/>
              </a:rPr>
              <a:t>to </a:t>
            </a:r>
            <a:r>
              <a:rPr lang="fr-FR" sz="2400" b="1" dirty="0" err="1">
                <a:solidFill>
                  <a:srgbClr val="2C14DE"/>
                </a:solidFill>
                <a:ea typeface="+mn-ea"/>
              </a:rPr>
              <a:t>different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b="1" dirty="0" err="1" smtClean="0">
                <a:solidFill>
                  <a:srgbClr val="2C14DE"/>
                </a:solidFill>
                <a:ea typeface="+mn-ea"/>
              </a:rPr>
              <a:t>processes</a:t>
            </a:r>
            <a:endParaRPr lang="fr-FR" sz="2400" b="1" dirty="0" smtClean="0">
              <a:solidFill>
                <a:srgbClr val="2C14DE"/>
              </a:solidFill>
              <a:ea typeface="+mn-ea"/>
            </a:endParaRPr>
          </a:p>
          <a:p>
            <a:pPr>
              <a:defRPr/>
            </a:pPr>
            <a:endParaRPr lang="fr-FR" sz="2400" b="1" dirty="0">
              <a:ea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1364" b="-1"/>
          <a:stretch/>
        </p:blipFill>
        <p:spPr>
          <a:xfrm>
            <a:off x="1190625" y="2190039"/>
            <a:ext cx="6970009" cy="46679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743" y="4154687"/>
            <a:ext cx="108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Process-0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8695" y="4809250"/>
            <a:ext cx="108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Process-1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8599" y="5528786"/>
            <a:ext cx="108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Process-2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600" y="6193393"/>
            <a:ext cx="108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Process-3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6642556"/>
            <a:ext cx="15359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smtClean="0"/>
              <a:t>Credits: https</a:t>
            </a:r>
            <a:r>
              <a:rPr lang="en-US" sz="800" b="1" dirty="0"/>
              <a:t>://www.cineca.it/</a:t>
            </a:r>
          </a:p>
        </p:txBody>
      </p:sp>
    </p:spTree>
    <p:extLst>
      <p:ext uri="{BB962C8B-B14F-4D97-AF65-F5344CB8AC3E}">
        <p14:creationId xmlns:p14="http://schemas.microsoft.com/office/powerpoint/2010/main" val="406842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MPI_Scatterv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46410"/>
            <a:ext cx="9092655" cy="1291990"/>
          </a:xfrm>
          <a:prstGeom prst="rect">
            <a:avLst/>
          </a:prstGeom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363" y="2632572"/>
            <a:ext cx="9050729" cy="43755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sendbuf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address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send buffer 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(</a:t>
            </a:r>
            <a:r>
              <a:rPr kumimoji="0" lang="en-US" sz="2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significant only at root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sendcounts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integer array</a:t>
            </a:r>
            <a:r>
              <a:rPr kumimoji="0" lang="en-US" sz="2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(of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length group size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) specifying the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number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elements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to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send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to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each processor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displs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integer array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(of </a:t>
            </a:r>
            <a:r>
              <a:rPr kumimoji="0" lang="en-US" sz="2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length group size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). Entry </a:t>
            </a: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specifies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the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displacement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(relative to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sendbuf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from which to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take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the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outgoing data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to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process</a:t>
            </a:r>
            <a:r>
              <a:rPr kumimoji="0" lang="en-US" sz="2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 </a:t>
            </a: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</a:t>
            </a:r>
            <a:endParaRPr kumimoji="0" lang="en-US" sz="2200" b="1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sendtype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data-type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send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buffer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elements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recvcount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number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elements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in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receive buffer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(integer)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recvtype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data-type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receive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buffer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elements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root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rank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sending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process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(integer)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2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comm</a:t>
            </a:r>
            <a:r>
              <a:rPr lang="en-US" sz="22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communicator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(handle)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1800" y="317418"/>
            <a:ext cx="18288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Demo:   </a:t>
            </a:r>
            <a:r>
              <a:rPr lang="en-US" sz="2000" b="1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ScatterV.c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21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MPI_Gatherv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92" y="2057400"/>
            <a:ext cx="6172200" cy="43170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42556"/>
            <a:ext cx="15359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b="1" dirty="0" smtClean="0"/>
              <a:t>Credits: https</a:t>
            </a:r>
            <a:r>
              <a:rPr lang="en-US" sz="800" b="1" dirty="0"/>
              <a:t>://www.cineca.it/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" y="990600"/>
            <a:ext cx="906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Different </a:t>
            </a:r>
            <a:r>
              <a:rPr lang="en-US" sz="2400" b="1" u="sng" dirty="0">
                <a:latin typeface="+mj-lt"/>
              </a:rPr>
              <a:t>number of elements </a:t>
            </a:r>
            <a:r>
              <a:rPr lang="en-US" sz="2400" b="1" dirty="0" smtClean="0">
                <a:latin typeface="+mj-lt"/>
              </a:rPr>
              <a:t>can be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received </a:t>
            </a:r>
            <a:r>
              <a:rPr lang="en-US" sz="2400" b="1" dirty="0" smtClean="0">
                <a:latin typeface="+mj-lt"/>
              </a:rPr>
              <a:t>by the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root process</a:t>
            </a:r>
            <a:endParaRPr lang="en-US" sz="2400" b="1" dirty="0">
              <a:solidFill>
                <a:srgbClr val="2C14DE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Individual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>
                <a:solidFill>
                  <a:srgbClr val="2C14DE"/>
                </a:solidFill>
                <a:latin typeface="+mj-lt"/>
              </a:rPr>
              <a:t>messages</a:t>
            </a:r>
            <a:r>
              <a:rPr lang="en-US" sz="2400" b="1" dirty="0">
                <a:latin typeface="+mj-lt"/>
              </a:rPr>
              <a:t> are </a:t>
            </a:r>
            <a:r>
              <a:rPr lang="en-US" sz="2400" b="1" u="sng" dirty="0">
                <a:latin typeface="+mj-lt"/>
              </a:rPr>
              <a:t>stored</a:t>
            </a:r>
            <a:r>
              <a:rPr lang="en-US" sz="2400" b="1" dirty="0">
                <a:latin typeface="+mj-lt"/>
              </a:rPr>
              <a:t> according to </a:t>
            </a:r>
            <a:r>
              <a:rPr lang="en-US" sz="2400" b="1" i="1" dirty="0" err="1">
                <a:solidFill>
                  <a:srgbClr val="2C14DE"/>
                </a:solidFill>
                <a:latin typeface="+mj-lt"/>
              </a:rPr>
              <a:t>displs</a:t>
            </a:r>
            <a:r>
              <a:rPr lang="en-US" sz="2400" b="1" i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400" b="1" dirty="0" smtClean="0">
                <a:latin typeface="+mj-lt"/>
              </a:rPr>
              <a:t>in the </a:t>
            </a:r>
            <a:r>
              <a:rPr lang="en-US" sz="2400" b="1" dirty="0">
                <a:solidFill>
                  <a:srgbClr val="2C14DE"/>
                </a:solidFill>
                <a:latin typeface="+mj-lt"/>
              </a:rPr>
              <a:t>receive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buffer</a:t>
            </a:r>
            <a:endParaRPr lang="en-US" sz="2400" b="1" dirty="0">
              <a:solidFill>
                <a:srgbClr val="2C14D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271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 smtClean="0">
                <a:solidFill>
                  <a:srgbClr val="C00000"/>
                </a:solidFill>
                <a:ea typeface="+mj-ea"/>
              </a:rPr>
              <a:t>MPI_Gatherv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7636801" cy="529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800" b="1" dirty="0" err="1">
                <a:solidFill>
                  <a:srgbClr val="C00000"/>
                </a:solidFill>
              </a:rPr>
              <a:t>MPI_Gatherv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74221" y="2486390"/>
            <a:ext cx="9050729" cy="4503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lang="en-US" sz="2000" b="1" i="1" dirty="0" err="1" smtClean="0">
                <a:solidFill>
                  <a:srgbClr val="2C14DE"/>
                </a:solidFill>
                <a:cs typeface="Times New Roman" panose="02020603050405020304" pitchFamily="18" charset="0"/>
              </a:rPr>
              <a:t>sendbuf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address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of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send buffer </a:t>
            </a: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kumimoji="0" lang="en-US" sz="20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sendcounts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000" b="1" dirty="0"/>
              <a:t>number</a:t>
            </a:r>
            <a:r>
              <a:rPr lang="en-US" sz="2000" dirty="0"/>
              <a:t> of </a:t>
            </a:r>
            <a:r>
              <a:rPr lang="en-US" sz="2000" b="1" dirty="0"/>
              <a:t>elements</a:t>
            </a:r>
            <a:r>
              <a:rPr lang="en-US" sz="2000" dirty="0"/>
              <a:t> in </a:t>
            </a:r>
            <a:r>
              <a:rPr lang="en-US" sz="2000" b="1" dirty="0"/>
              <a:t>send buffer </a:t>
            </a:r>
            <a:r>
              <a:rPr lang="en-US" sz="2000" dirty="0"/>
              <a:t>(integer</a:t>
            </a:r>
            <a:r>
              <a:rPr lang="en-US" sz="2000" dirty="0" smtClean="0"/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kumimoji="0" lang="en-US" sz="20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sendtype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000" b="1" dirty="0" smtClean="0"/>
              <a:t>data-type</a:t>
            </a:r>
            <a:r>
              <a:rPr lang="en-US" sz="2000" dirty="0" smtClean="0"/>
              <a:t> </a:t>
            </a:r>
            <a:r>
              <a:rPr lang="en-US" sz="2000" dirty="0"/>
              <a:t>of </a:t>
            </a:r>
            <a:r>
              <a:rPr lang="en-US" sz="2000" b="1" dirty="0"/>
              <a:t>send</a:t>
            </a:r>
            <a:r>
              <a:rPr lang="en-US" sz="2000" dirty="0"/>
              <a:t> </a:t>
            </a:r>
            <a:r>
              <a:rPr lang="en-US" sz="2000" b="1" dirty="0"/>
              <a:t>buffer</a:t>
            </a:r>
            <a:r>
              <a:rPr lang="en-US" sz="2000" dirty="0"/>
              <a:t> </a:t>
            </a:r>
            <a:r>
              <a:rPr lang="en-US" sz="2000" dirty="0" smtClean="0"/>
              <a:t>elements</a:t>
            </a:r>
          </a:p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lang="en-US" sz="2000" b="1" i="1" dirty="0" err="1">
                <a:solidFill>
                  <a:srgbClr val="2C14DE"/>
                </a:solidFill>
                <a:latin typeface="+mj-lt"/>
                <a:cs typeface="Times New Roman" panose="02020603050405020304" pitchFamily="18" charset="0"/>
              </a:rPr>
              <a:t>recvbuf</a:t>
            </a:r>
            <a:r>
              <a:rPr lang="en-US" sz="2000" dirty="0" smtClean="0"/>
              <a:t>: </a:t>
            </a:r>
            <a:r>
              <a:rPr lang="en-US" sz="2000" b="1" dirty="0" smtClean="0"/>
              <a:t>address</a:t>
            </a:r>
            <a:r>
              <a:rPr lang="en-US" sz="2000" dirty="0" smtClean="0"/>
              <a:t> of the </a:t>
            </a:r>
            <a:r>
              <a:rPr lang="en-US" sz="2000" b="1" dirty="0" smtClean="0"/>
              <a:t>receive buff (significant at root)</a:t>
            </a:r>
          </a:p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kumimoji="0" lang="en-US" sz="20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recvcounts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000" b="1" u="sng" dirty="0"/>
              <a:t>integer</a:t>
            </a:r>
            <a:r>
              <a:rPr lang="en-US" sz="2000" u="sng" dirty="0"/>
              <a:t> </a:t>
            </a:r>
            <a:r>
              <a:rPr lang="en-US" sz="2000" b="1" u="sng" dirty="0"/>
              <a:t>array</a:t>
            </a:r>
            <a:r>
              <a:rPr lang="en-US" sz="2000" dirty="0"/>
              <a:t> (of </a:t>
            </a:r>
            <a:r>
              <a:rPr lang="en-US" sz="2000" b="1" dirty="0"/>
              <a:t>length group size</a:t>
            </a:r>
            <a:r>
              <a:rPr lang="en-US" sz="2000" dirty="0"/>
              <a:t>) containing the </a:t>
            </a:r>
            <a:r>
              <a:rPr lang="en-US" sz="2000" b="1" dirty="0"/>
              <a:t>number</a:t>
            </a:r>
            <a:r>
              <a:rPr lang="en-US" sz="2000" dirty="0"/>
              <a:t> of </a:t>
            </a:r>
            <a:r>
              <a:rPr lang="en-US" sz="2000" b="1" dirty="0"/>
              <a:t>elements</a:t>
            </a:r>
            <a:r>
              <a:rPr lang="en-US" sz="2000" dirty="0"/>
              <a:t> that are to be </a:t>
            </a:r>
            <a:r>
              <a:rPr lang="en-US" sz="2000" b="1" dirty="0"/>
              <a:t>received</a:t>
            </a:r>
            <a:r>
              <a:rPr lang="en-US" sz="2000" dirty="0"/>
              <a:t> </a:t>
            </a:r>
            <a:r>
              <a:rPr lang="en-US" sz="2000" b="1" u="sng" dirty="0"/>
              <a:t>from each </a:t>
            </a:r>
            <a:r>
              <a:rPr lang="en-US" sz="2000" b="1" u="sng" dirty="0" smtClean="0"/>
              <a:t>process (on root) </a:t>
            </a:r>
          </a:p>
          <a:p>
            <a:pPr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lang="en-US" sz="2000" b="1" i="1" dirty="0" err="1" smtClean="0">
                <a:solidFill>
                  <a:srgbClr val="2C14DE"/>
                </a:solidFill>
                <a:cs typeface="Times New Roman" panose="02020603050405020304" pitchFamily="18" charset="0"/>
              </a:rPr>
              <a:t>displs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en-US" sz="2000" b="1" u="sng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integer </a:t>
            </a:r>
            <a:r>
              <a:rPr lang="en-US" sz="2000" b="1" u="sng" dirty="0">
                <a:solidFill>
                  <a:srgbClr val="000000"/>
                </a:solidFill>
                <a:cs typeface="Times New Roman" panose="02020603050405020304" pitchFamily="18" charset="0"/>
              </a:rPr>
              <a:t>array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(of length group size). Entry </a:t>
            </a:r>
            <a:r>
              <a:rPr lang="en-US" sz="2000" b="1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sz="20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specifies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the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displacement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relative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to </a:t>
            </a:r>
            <a:r>
              <a:rPr lang="en-US" sz="2000" b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recvbuf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at which to place 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data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from </a:t>
            </a:r>
            <a:r>
              <a:rPr lang="en-US" sz="20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process </a:t>
            </a:r>
            <a:r>
              <a:rPr lang="en-US" sz="2000" b="1" i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sz="20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significant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only at 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root</a:t>
            </a:r>
            <a:r>
              <a:rPr lang="en-US" sz="20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) </a:t>
            </a:r>
            <a:endParaRPr lang="en-US" sz="2000" dirty="0" smtClean="0"/>
          </a:p>
          <a:p>
            <a:pPr lvl="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kumimoji="0" lang="en-US" sz="20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recvtype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000" b="1" dirty="0" smtClean="0"/>
              <a:t>data-type</a:t>
            </a:r>
            <a:r>
              <a:rPr lang="en-US" sz="2000" dirty="0" smtClean="0"/>
              <a:t> </a:t>
            </a:r>
            <a:r>
              <a:rPr lang="en-US" sz="2000" dirty="0"/>
              <a:t>of </a:t>
            </a:r>
            <a:r>
              <a:rPr lang="en-US" sz="2000" b="1" dirty="0"/>
              <a:t>receive buffer </a:t>
            </a:r>
            <a:r>
              <a:rPr lang="en-US" sz="2000" dirty="0"/>
              <a:t>elements (handle)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root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rank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of receiving process 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root)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err="1" smtClean="0">
                <a:ln>
                  <a:noFill/>
                </a:ln>
                <a:solidFill>
                  <a:srgbClr val="2C14DE"/>
                </a:solidFill>
                <a:effectLst/>
                <a:latin typeface="+mj-lt"/>
                <a:cs typeface="Times New Roman" panose="02020603050405020304" pitchFamily="18" charset="0"/>
              </a:rPr>
              <a:t>comm</a:t>
            </a:r>
            <a:r>
              <a:rPr lang="en-US" sz="2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communicator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 (handle)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5" y="1066800"/>
            <a:ext cx="8772001" cy="1222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10400" y="304800"/>
            <a:ext cx="18288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Demo:   </a:t>
            </a:r>
            <a:r>
              <a:rPr lang="en-US" sz="2000" b="1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GatherV.c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55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 dirty="0" smtClean="0">
                <a:solidFill>
                  <a:srgbClr val="C00000"/>
                </a:solidFill>
              </a:rPr>
              <a:t>Home </a:t>
            </a:r>
            <a:r>
              <a:rPr lang="fr-FR" b="1" dirty="0" err="1" smtClean="0">
                <a:solidFill>
                  <a:srgbClr val="C00000"/>
                </a:solidFill>
              </a:rPr>
              <a:t>Tasks</a:t>
            </a:r>
            <a:r>
              <a:rPr lang="fr-FR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6242" y="1206043"/>
            <a:ext cx="9067800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rgbClr val="C00000"/>
                </a:solidFill>
              </a:rPr>
              <a:t>MPI_Allgather</a:t>
            </a:r>
            <a:endParaRPr lang="en-US" sz="2800" b="1" dirty="0">
              <a:solidFill>
                <a:srgbClr val="C00000"/>
              </a:solidFill>
            </a:endParaRPr>
          </a:p>
          <a:p>
            <a:pPr marL="723900" lvl="1" indent="-2667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Similar</a:t>
            </a:r>
            <a:r>
              <a:rPr lang="en-US" sz="2800" dirty="0" smtClean="0"/>
              <a:t> </a:t>
            </a:r>
            <a:r>
              <a:rPr lang="en-US" sz="2800" dirty="0"/>
              <a:t>to </a:t>
            </a:r>
            <a:r>
              <a:rPr lang="en-US" sz="2800" b="1" dirty="0" err="1">
                <a:solidFill>
                  <a:srgbClr val="2C14DE"/>
                </a:solidFill>
              </a:rPr>
              <a:t>MPI_Gather</a:t>
            </a:r>
            <a:r>
              <a:rPr lang="en-US" sz="2800" dirty="0"/>
              <a:t>, but the </a:t>
            </a:r>
            <a:r>
              <a:rPr lang="en-US" sz="2800" b="1" dirty="0"/>
              <a:t>result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2C14DE"/>
                </a:solidFill>
              </a:rPr>
              <a:t>available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to </a:t>
            </a:r>
            <a:r>
              <a:rPr lang="en-US" sz="2800" dirty="0" smtClean="0"/>
              <a:t>all </a:t>
            </a:r>
            <a:r>
              <a:rPr lang="en-US" sz="2800" b="1" dirty="0" smtClean="0">
                <a:solidFill>
                  <a:srgbClr val="2C14DE"/>
                </a:solidFill>
              </a:rPr>
              <a:t>processes</a:t>
            </a:r>
            <a:endParaRPr lang="en-US" sz="2800" dirty="0"/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rgbClr val="C00000"/>
                </a:solidFill>
              </a:rPr>
              <a:t>MPI_Allgatherv</a:t>
            </a:r>
            <a:endParaRPr lang="en-US" sz="2800" b="1" dirty="0">
              <a:solidFill>
                <a:srgbClr val="C00000"/>
              </a:solidFill>
            </a:endParaRPr>
          </a:p>
          <a:p>
            <a:pPr marL="723900" lvl="1" indent="-2667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Similar</a:t>
            </a:r>
            <a:r>
              <a:rPr lang="en-US" sz="2800" dirty="0" smtClean="0"/>
              <a:t> </a:t>
            </a:r>
            <a:r>
              <a:rPr lang="en-US" sz="2800" dirty="0"/>
              <a:t>to </a:t>
            </a:r>
            <a:r>
              <a:rPr lang="en-US" sz="2800" b="1" dirty="0" err="1">
                <a:solidFill>
                  <a:srgbClr val="2C14DE"/>
                </a:solidFill>
              </a:rPr>
              <a:t>MPI_Gatherv</a:t>
            </a:r>
            <a:r>
              <a:rPr lang="en-US" sz="2800" dirty="0"/>
              <a:t>, but the </a:t>
            </a:r>
            <a:r>
              <a:rPr lang="en-US" sz="2800" b="1" dirty="0"/>
              <a:t>result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2C14DE"/>
                </a:solidFill>
              </a:rPr>
              <a:t>available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to </a:t>
            </a:r>
            <a:r>
              <a:rPr lang="en-US" sz="2800" dirty="0" smtClean="0"/>
              <a:t>all </a:t>
            </a:r>
            <a:r>
              <a:rPr lang="en-US" sz="2800" b="1" dirty="0" smtClean="0">
                <a:solidFill>
                  <a:srgbClr val="2C14DE"/>
                </a:solidFill>
              </a:rPr>
              <a:t>processes</a:t>
            </a:r>
            <a:endParaRPr lang="en-US" sz="2800" dirty="0"/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rgbClr val="C00000"/>
                </a:solidFill>
              </a:rPr>
              <a:t>MPI_Alltoall</a:t>
            </a:r>
            <a:endParaRPr lang="en-US" sz="2800" b="1" dirty="0">
              <a:solidFill>
                <a:srgbClr val="C00000"/>
              </a:solidFill>
            </a:endParaRPr>
          </a:p>
          <a:p>
            <a:pPr marL="723900" lvl="1" indent="-2667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Similar</a:t>
            </a:r>
            <a:r>
              <a:rPr lang="en-US" sz="2800" dirty="0" smtClean="0"/>
              <a:t> </a:t>
            </a:r>
            <a:r>
              <a:rPr lang="en-US" sz="2800" dirty="0"/>
              <a:t>to </a:t>
            </a:r>
            <a:r>
              <a:rPr lang="en-US" sz="2800" b="1" dirty="0" err="1">
                <a:solidFill>
                  <a:srgbClr val="2C14DE"/>
                </a:solidFill>
              </a:rPr>
              <a:t>MPI_Allgather</a:t>
            </a:r>
            <a:r>
              <a:rPr lang="en-US" sz="2800" dirty="0"/>
              <a:t>, </a:t>
            </a:r>
            <a:r>
              <a:rPr lang="en-US" sz="2800" dirty="0" smtClean="0"/>
              <a:t>each process performs a </a:t>
            </a:r>
            <a:r>
              <a:rPr lang="en-US" sz="2800" b="1" dirty="0" err="1" smtClean="0"/>
              <a:t>scater</a:t>
            </a:r>
            <a:r>
              <a:rPr lang="en-US" sz="2800" dirty="0" smtClean="0"/>
              <a:t> followed by </a:t>
            </a:r>
            <a:r>
              <a:rPr lang="en-US" sz="2800" b="1" dirty="0" smtClean="0"/>
              <a:t>gather</a:t>
            </a:r>
            <a:r>
              <a:rPr lang="en-US" sz="2800" dirty="0" smtClean="0"/>
              <a:t> process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rgbClr val="C00000"/>
                </a:solidFill>
              </a:rPr>
              <a:t>MPI_Alltoallv</a:t>
            </a:r>
            <a:endParaRPr lang="en-US" sz="2800" b="1" dirty="0">
              <a:solidFill>
                <a:srgbClr val="C00000"/>
              </a:solidFill>
            </a:endParaRPr>
          </a:p>
          <a:p>
            <a:pPr marL="723900" lvl="1" indent="-2667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Similar</a:t>
            </a:r>
            <a:r>
              <a:rPr lang="en-US" sz="2800" dirty="0" smtClean="0"/>
              <a:t> </a:t>
            </a:r>
            <a:r>
              <a:rPr lang="en-US" sz="2800" dirty="0"/>
              <a:t>to </a:t>
            </a:r>
            <a:r>
              <a:rPr lang="en-US" sz="2800" b="1" dirty="0" err="1">
                <a:solidFill>
                  <a:srgbClr val="2C14DE"/>
                </a:solidFill>
              </a:rPr>
              <a:t>MPI_Alltoall</a:t>
            </a:r>
            <a:r>
              <a:rPr lang="en-US" sz="2800" dirty="0"/>
              <a:t>, but </a:t>
            </a:r>
            <a:r>
              <a:rPr lang="en-US" sz="2800" b="1" dirty="0"/>
              <a:t>messages to different </a:t>
            </a:r>
            <a:r>
              <a:rPr lang="en-US" sz="2800" b="1" dirty="0" smtClean="0"/>
              <a:t>processes</a:t>
            </a:r>
            <a:r>
              <a:rPr lang="en-US" sz="2800" dirty="0" smtClean="0"/>
              <a:t> can </a:t>
            </a:r>
            <a:r>
              <a:rPr lang="en-US" sz="2800" dirty="0"/>
              <a:t>have </a:t>
            </a:r>
            <a:r>
              <a:rPr lang="en-US" sz="2800" b="1" dirty="0"/>
              <a:t>different </a:t>
            </a:r>
            <a:r>
              <a:rPr lang="en-US" sz="2800" b="1" dirty="0" smtClean="0"/>
              <a:t>length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1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6565"/>
            <a:ext cx="9103092" cy="9018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800" b="1" dirty="0" err="1">
                <a:solidFill>
                  <a:srgbClr val="C00000"/>
                </a:solidFill>
              </a:rPr>
              <a:t>MPI_Alltoall</a:t>
            </a:r>
            <a:endParaRPr lang="fr-FR" sz="48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04775" y="990600"/>
            <a:ext cx="8886825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 smtClean="0">
                <a:solidFill>
                  <a:srgbClr val="C00000"/>
                </a:solidFill>
              </a:rPr>
              <a:t>MPI_Alltoall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makes </a:t>
            </a:r>
            <a:r>
              <a:rPr lang="en-US" sz="2800" dirty="0"/>
              <a:t>a </a:t>
            </a:r>
            <a:r>
              <a:rPr lang="en-US" sz="2800" b="1" dirty="0">
                <a:solidFill>
                  <a:srgbClr val="2C14DE"/>
                </a:solidFill>
              </a:rPr>
              <a:t>redistribution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of </a:t>
            </a:r>
            <a:r>
              <a:rPr lang="en-US" sz="2800" b="1" dirty="0" smtClean="0">
                <a:solidFill>
                  <a:srgbClr val="2C14DE"/>
                </a:solidFill>
              </a:rPr>
              <a:t>contents</a:t>
            </a:r>
            <a:r>
              <a:rPr lang="en-US" sz="2800" dirty="0" smtClean="0">
                <a:solidFill>
                  <a:srgbClr val="2C14DE"/>
                </a:solidFill>
              </a:rPr>
              <a:t> </a:t>
            </a:r>
            <a:r>
              <a:rPr lang="en-US" sz="2800" dirty="0" smtClean="0"/>
              <a:t>such that</a:t>
            </a:r>
            <a:endParaRPr lang="en-US" sz="2800" dirty="0"/>
          </a:p>
          <a:p>
            <a:r>
              <a:rPr lang="en-US" sz="2800" b="1" dirty="0">
                <a:solidFill>
                  <a:srgbClr val="2C14DE"/>
                </a:solidFill>
              </a:rPr>
              <a:t>each process know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buffer of all others</a:t>
            </a:r>
            <a:r>
              <a:rPr lang="en-US" sz="2800" dirty="0"/>
              <a:t>. </a:t>
            </a:r>
            <a:r>
              <a:rPr lang="en-US" sz="2800" dirty="0" smtClean="0"/>
              <a:t> It </a:t>
            </a:r>
            <a:r>
              <a:rPr lang="en-US" sz="2800" dirty="0"/>
              <a:t>is a </a:t>
            </a:r>
            <a:r>
              <a:rPr lang="en-US" sz="2800" b="1" dirty="0"/>
              <a:t>way to implement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matrix </a:t>
            </a:r>
            <a:r>
              <a:rPr lang="en-US" sz="2800" b="1" dirty="0" smtClean="0">
                <a:solidFill>
                  <a:srgbClr val="2C14DE"/>
                </a:solidFill>
              </a:rPr>
              <a:t>data transposition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47020"/>
            <a:ext cx="6934200" cy="427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1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908" y="2209800"/>
            <a:ext cx="9103092" cy="90181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5400" b="1" dirty="0" smtClean="0">
                <a:solidFill>
                  <a:srgbClr val="C00000"/>
                </a:solidFill>
              </a:rPr>
              <a:t>Synchronization</a:t>
            </a:r>
            <a:endParaRPr lang="fr-FR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65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933"/>
            <a:ext cx="9144000" cy="8833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000" b="1" dirty="0" err="1">
                <a:solidFill>
                  <a:srgbClr val="C00000"/>
                </a:solidFill>
              </a:rPr>
              <a:t>Barrier</a:t>
            </a:r>
            <a:r>
              <a:rPr lang="fr-FR" sz="4000" b="1" dirty="0">
                <a:solidFill>
                  <a:srgbClr val="C00000"/>
                </a:solidFill>
              </a:rPr>
              <a:t> </a:t>
            </a:r>
            <a:r>
              <a:rPr lang="fr-FR" sz="4000" b="1" dirty="0" err="1">
                <a:solidFill>
                  <a:srgbClr val="C00000"/>
                </a:solidFill>
              </a:rPr>
              <a:t>Synchronization</a:t>
            </a:r>
            <a:endParaRPr lang="fr-FR" sz="40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Barrier Synchronization in Threads | by Jay Desai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31216"/>
            <a:ext cx="7944776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6642556"/>
            <a:ext cx="313900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b="1" dirty="0" smtClean="0"/>
              <a:t>Credits</a:t>
            </a:r>
            <a:r>
              <a:rPr lang="en-US" sz="600" b="1" dirty="0"/>
              <a:t>: https://medium.com/@jaydesai36/barrier-synchronization-in-threads-3c56f947047</a:t>
            </a:r>
          </a:p>
        </p:txBody>
      </p:sp>
    </p:spTree>
    <p:extLst>
      <p:ext uri="{BB962C8B-B14F-4D97-AF65-F5344CB8AC3E}">
        <p14:creationId xmlns:p14="http://schemas.microsoft.com/office/powerpoint/2010/main" val="69709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60565" cy="885246"/>
          </a:xfrm>
        </p:spPr>
        <p:txBody>
          <a:bodyPr/>
          <a:lstStyle/>
          <a:p>
            <a:pPr>
              <a:defRPr/>
            </a:pPr>
            <a:r>
              <a:rPr lang="fr-FR" b="1" dirty="0" smtClean="0">
                <a:solidFill>
                  <a:srgbClr val="C00000"/>
                </a:solidFill>
                <a:ea typeface="+mj-ea"/>
              </a:rPr>
              <a:t>MPI_BARRIER</a:t>
            </a:r>
            <a:endParaRPr lang="fr-FR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629133"/>
            <a:ext cx="6019800" cy="13426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9592" y="3505200"/>
            <a:ext cx="8839200" cy="131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>
                <a:latin typeface="+mj-lt"/>
              </a:rPr>
              <a:t>It </a:t>
            </a:r>
            <a:r>
              <a:rPr lang="en-US" sz="2800" b="1" dirty="0" smtClean="0">
                <a:solidFill>
                  <a:srgbClr val="2C14DE"/>
                </a:solidFill>
                <a:latin typeface="+mj-lt"/>
              </a:rPr>
              <a:t>synchronizes</a:t>
            </a:r>
            <a:r>
              <a:rPr lang="en-US" sz="2800" dirty="0" smtClean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all 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processes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(by </a:t>
            </a:r>
            <a:r>
              <a:rPr lang="en-US" sz="2800" b="1" u="sng" dirty="0">
                <a:latin typeface="+mj-lt"/>
              </a:rPr>
              <a:t>blocking </a:t>
            </a:r>
            <a:r>
              <a:rPr lang="en-US" sz="2800" b="1" u="sng" dirty="0" smtClean="0">
                <a:latin typeface="+mj-lt"/>
              </a:rPr>
              <a:t>the Processes</a:t>
            </a:r>
            <a:r>
              <a:rPr lang="en-US" sz="2800" dirty="0" smtClean="0">
                <a:latin typeface="+mj-lt"/>
              </a:rPr>
              <a:t>) in 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communicator</a:t>
            </a:r>
            <a:r>
              <a:rPr lang="en-US" sz="28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until all processes </a:t>
            </a:r>
            <a:r>
              <a:rPr lang="en-US" sz="2800" dirty="0">
                <a:latin typeface="+mj-lt"/>
              </a:rPr>
              <a:t>have </a:t>
            </a:r>
            <a:r>
              <a:rPr lang="en-US" sz="2800" b="1" dirty="0" smtClean="0">
                <a:latin typeface="+mj-lt"/>
              </a:rPr>
              <a:t>called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b="1" dirty="0" err="1" smtClean="0">
                <a:latin typeface="+mj-lt"/>
              </a:rPr>
              <a:t>MPI_Barrier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80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2000" y="2286000"/>
            <a:ext cx="7848600" cy="90181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5400" b="1" dirty="0" smtClean="0">
                <a:solidFill>
                  <a:srgbClr val="C00000"/>
                </a:solidFill>
              </a:rPr>
              <a:t>Reductions</a:t>
            </a:r>
            <a:endParaRPr lang="fr-FR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99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8707" y="990600"/>
            <a:ext cx="896438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+mj-lt"/>
              </a:rPr>
              <a:t>The </a:t>
            </a:r>
            <a:r>
              <a:rPr lang="en-US" sz="3000" b="1" dirty="0" smtClean="0">
                <a:solidFill>
                  <a:srgbClr val="2C14DE"/>
                </a:solidFill>
                <a:latin typeface="+mj-lt"/>
              </a:rPr>
              <a:t>communicated data </a:t>
            </a:r>
            <a:r>
              <a:rPr lang="en-US" sz="3000" dirty="0">
                <a:latin typeface="+mj-lt"/>
              </a:rPr>
              <a:t>of the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processes</a:t>
            </a:r>
            <a:r>
              <a:rPr lang="en-US" sz="30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are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combined</a:t>
            </a:r>
            <a:r>
              <a:rPr lang="en-US" sz="30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dirty="0" smtClean="0">
                <a:latin typeface="+mj-lt"/>
              </a:rPr>
              <a:t>via a </a:t>
            </a:r>
            <a:r>
              <a:rPr lang="en-US" sz="3000" b="1" u="sng" dirty="0" smtClean="0">
                <a:solidFill>
                  <a:srgbClr val="2C14DE"/>
                </a:solidFill>
                <a:latin typeface="+mj-lt"/>
              </a:rPr>
              <a:t>specified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operation</a:t>
            </a:r>
            <a:r>
              <a:rPr lang="en-US" sz="3000" dirty="0">
                <a:latin typeface="+mj-lt"/>
              </a:rPr>
              <a:t>, e.g. </a:t>
            </a:r>
            <a:r>
              <a:rPr lang="en-US" sz="3000" b="1" dirty="0" smtClean="0">
                <a:latin typeface="+mj-lt"/>
              </a:rPr>
              <a:t>’+’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+mj-lt"/>
              </a:rPr>
              <a:t>Two </a:t>
            </a:r>
            <a:r>
              <a:rPr lang="en-US" sz="2800" b="1" dirty="0">
                <a:solidFill>
                  <a:srgbClr val="C00000"/>
                </a:solidFill>
                <a:latin typeface="+mj-lt"/>
              </a:rPr>
              <a:t>different </a:t>
            </a:r>
            <a:r>
              <a:rPr lang="en-US" sz="2800" b="1" dirty="0" smtClean="0">
                <a:solidFill>
                  <a:srgbClr val="C00000"/>
                </a:solidFill>
                <a:latin typeface="+mj-lt"/>
              </a:rPr>
              <a:t>variants:</a:t>
            </a:r>
          </a:p>
          <a:p>
            <a:pPr marL="271463" lvl="1" indent="-271463">
              <a:buFontTx/>
              <a:buChar char="-"/>
              <a:tabLst>
                <a:tab pos="271463" algn="l"/>
                <a:tab pos="358775" algn="l"/>
              </a:tabLst>
            </a:pPr>
            <a:r>
              <a:rPr lang="en-US" sz="2800" b="1" dirty="0" smtClean="0">
                <a:solidFill>
                  <a:srgbClr val="2C14DE"/>
                </a:solidFill>
                <a:latin typeface="+mj-lt"/>
              </a:rPr>
              <a:t>Result</a:t>
            </a:r>
            <a:r>
              <a:rPr lang="en-US" sz="2800" dirty="0" smtClean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is </a:t>
            </a:r>
            <a:r>
              <a:rPr lang="en-US" sz="2800" b="1" dirty="0" smtClean="0">
                <a:latin typeface="+mj-lt"/>
              </a:rPr>
              <a:t>only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b="1" dirty="0" smtClean="0">
                <a:latin typeface="+mj-lt"/>
              </a:rPr>
              <a:t>available</a:t>
            </a:r>
            <a:r>
              <a:rPr lang="en-US" sz="2800" dirty="0" smtClean="0">
                <a:latin typeface="+mj-lt"/>
              </a:rPr>
              <a:t> at the </a:t>
            </a:r>
            <a:r>
              <a:rPr lang="en-US" sz="2800" b="1" u="sng" dirty="0" smtClean="0">
                <a:solidFill>
                  <a:srgbClr val="2C14DE"/>
                </a:solidFill>
                <a:latin typeface="+mj-lt"/>
              </a:rPr>
              <a:t>root process</a:t>
            </a:r>
            <a:endParaRPr lang="en-US" sz="2800" u="sng" dirty="0" smtClean="0">
              <a:latin typeface="+mj-lt"/>
            </a:endParaRPr>
          </a:p>
          <a:p>
            <a:pPr marL="271463" lvl="1" indent="-271463">
              <a:buFontTx/>
              <a:buChar char="-"/>
              <a:tabLst>
                <a:tab pos="271463" algn="l"/>
                <a:tab pos="358775" algn="l"/>
              </a:tabLst>
            </a:pPr>
            <a:r>
              <a:rPr lang="en-US" sz="2800" b="1" dirty="0" smtClean="0">
                <a:solidFill>
                  <a:srgbClr val="2C14DE"/>
                </a:solidFill>
                <a:latin typeface="+mj-lt"/>
              </a:rPr>
              <a:t>Result</a:t>
            </a:r>
            <a:r>
              <a:rPr lang="en-US" sz="2800" dirty="0" smtClean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dirty="0" smtClean="0">
                <a:latin typeface="+mj-lt"/>
              </a:rPr>
              <a:t>is </a:t>
            </a:r>
            <a:r>
              <a:rPr lang="en-US" sz="2800" b="1" dirty="0" smtClean="0">
                <a:latin typeface="+mj-lt"/>
              </a:rPr>
              <a:t>available</a:t>
            </a:r>
            <a:r>
              <a:rPr lang="en-US" sz="2800" dirty="0" smtClean="0">
                <a:latin typeface="+mj-lt"/>
              </a:rPr>
              <a:t> at </a:t>
            </a:r>
            <a:r>
              <a:rPr lang="en-US" sz="2800" b="1" u="sng" dirty="0" smtClean="0">
                <a:solidFill>
                  <a:srgbClr val="2C14DE"/>
                </a:solidFill>
                <a:latin typeface="+mj-lt"/>
              </a:rPr>
              <a:t>all processes</a:t>
            </a:r>
            <a:endParaRPr lang="en-US" sz="2800" u="sng" dirty="0" smtClean="0">
              <a:latin typeface="+mj-lt"/>
            </a:endParaRPr>
          </a:p>
          <a:p>
            <a:pPr marL="271463" indent="-271463">
              <a:buFont typeface="+mj-lt"/>
              <a:buAutoNum type="arabicPeriod"/>
              <a:tabLst>
                <a:tab pos="271463" algn="l"/>
                <a:tab pos="358775" algn="l"/>
              </a:tabLst>
            </a:pPr>
            <a:endParaRPr lang="en-US" sz="2800" dirty="0" smtClean="0">
              <a:latin typeface="+mj-lt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+mj-lt"/>
              </a:rPr>
              <a:t>Input values (at each process):</a:t>
            </a:r>
          </a:p>
          <a:p>
            <a:pPr marL="446088" indent="-446088">
              <a:tabLst>
                <a:tab pos="174625" algn="l"/>
                <a:tab pos="358775" algn="l"/>
              </a:tabLst>
            </a:pPr>
            <a:r>
              <a:rPr lang="en-US" sz="2800" b="1" dirty="0">
                <a:solidFill>
                  <a:srgbClr val="2C14DE"/>
                </a:solidFill>
                <a:latin typeface="+mj-lt"/>
              </a:rPr>
              <a:t>- </a:t>
            </a:r>
            <a:r>
              <a:rPr lang="en-US" sz="2800" b="1" dirty="0" smtClean="0">
                <a:solidFill>
                  <a:srgbClr val="2C14DE"/>
                </a:solidFill>
                <a:latin typeface="+mj-lt"/>
              </a:rPr>
              <a:t> Scalar 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variable: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 smtClean="0">
                <a:latin typeface="+mj-lt"/>
              </a:rPr>
              <a:t>operation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combines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all </a:t>
            </a:r>
            <a:r>
              <a:rPr lang="en-US" sz="2800" b="1" dirty="0" smtClean="0">
                <a:latin typeface="+mj-lt"/>
              </a:rPr>
              <a:t>values </a:t>
            </a:r>
            <a:r>
              <a:rPr lang="en-US" sz="2800" dirty="0" smtClean="0">
                <a:latin typeface="+mj-lt"/>
              </a:rPr>
              <a:t>of </a:t>
            </a:r>
            <a:r>
              <a:rPr lang="en-US" sz="2800" dirty="0">
                <a:latin typeface="+mj-lt"/>
              </a:rPr>
              <a:t>the</a:t>
            </a:r>
          </a:p>
          <a:p>
            <a:r>
              <a:rPr lang="en-US" sz="2800" dirty="0" smtClean="0">
                <a:latin typeface="+mj-lt"/>
              </a:rPr>
              <a:t>processes</a:t>
            </a:r>
            <a:endParaRPr lang="en-US" sz="2800" dirty="0">
              <a:latin typeface="+mj-lt"/>
            </a:endParaRPr>
          </a:p>
          <a:p>
            <a:r>
              <a:rPr lang="en-US" sz="2800" b="1" dirty="0">
                <a:solidFill>
                  <a:srgbClr val="2C14DE"/>
                </a:solidFill>
                <a:latin typeface="+mj-lt"/>
              </a:rPr>
              <a:t>– </a:t>
            </a:r>
            <a:r>
              <a:rPr lang="en-US" sz="2800" b="1" dirty="0" smtClean="0">
                <a:solidFill>
                  <a:srgbClr val="2C14DE"/>
                </a:solidFill>
                <a:latin typeface="+mj-lt"/>
              </a:rPr>
              <a:t> Array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: </a:t>
            </a:r>
            <a:r>
              <a:rPr lang="en-US" sz="2800" dirty="0">
                <a:latin typeface="+mj-lt"/>
              </a:rPr>
              <a:t>The </a:t>
            </a:r>
            <a:r>
              <a:rPr lang="en-US" sz="2800" b="1" dirty="0">
                <a:latin typeface="+mj-lt"/>
              </a:rPr>
              <a:t>elements</a:t>
            </a:r>
            <a:r>
              <a:rPr lang="en-US" sz="2800" dirty="0">
                <a:latin typeface="+mj-lt"/>
              </a:rPr>
              <a:t> of the </a:t>
            </a:r>
            <a:r>
              <a:rPr lang="en-US" sz="2800" b="1" dirty="0">
                <a:latin typeface="+mj-lt"/>
              </a:rPr>
              <a:t>arrays</a:t>
            </a:r>
            <a:r>
              <a:rPr lang="en-US" sz="2800" dirty="0">
                <a:latin typeface="+mj-lt"/>
              </a:rPr>
              <a:t> are </a:t>
            </a:r>
            <a:r>
              <a:rPr lang="en-US" sz="2800" b="1" dirty="0">
                <a:latin typeface="+mj-lt"/>
              </a:rPr>
              <a:t>combined</a:t>
            </a:r>
            <a:r>
              <a:rPr lang="en-US" sz="2800" dirty="0">
                <a:latin typeface="+mj-lt"/>
              </a:rPr>
              <a:t> in an</a:t>
            </a:r>
          </a:p>
          <a:p>
            <a:r>
              <a:rPr lang="en-US" sz="2800" b="1" dirty="0">
                <a:latin typeface="+mj-lt"/>
              </a:rPr>
              <a:t>element-wise fashion</a:t>
            </a:r>
            <a:r>
              <a:rPr lang="en-US" sz="2800" dirty="0">
                <a:latin typeface="+mj-lt"/>
              </a:rPr>
              <a:t>. The </a:t>
            </a:r>
            <a:r>
              <a:rPr lang="en-US" sz="2800" b="1" u="sng" dirty="0">
                <a:solidFill>
                  <a:srgbClr val="2C14DE"/>
                </a:solidFill>
                <a:latin typeface="+mj-lt"/>
              </a:rPr>
              <a:t>result is an array</a:t>
            </a:r>
            <a:r>
              <a:rPr lang="en-US" sz="2800" dirty="0">
                <a:latin typeface="+mj-lt"/>
              </a:rPr>
              <a:t>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>
                <a:solidFill>
                  <a:srgbClr val="C00000"/>
                </a:solidFill>
              </a:rPr>
              <a:t>Reductions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4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err="1" smtClean="0">
                <a:solidFill>
                  <a:srgbClr val="C00000"/>
                </a:solidFill>
              </a:rPr>
              <a:t>MPI_Reduce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229600" cy="38132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514" y="5181600"/>
            <a:ext cx="895069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600" dirty="0" smtClean="0">
                <a:latin typeface="+mj-lt"/>
              </a:rPr>
              <a:t> This </a:t>
            </a:r>
            <a:r>
              <a:rPr lang="en-US" sz="2600" dirty="0">
                <a:latin typeface="+mj-lt"/>
              </a:rPr>
              <a:t>operation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combines</a:t>
            </a:r>
            <a:r>
              <a:rPr lang="en-US" sz="2600" dirty="0">
                <a:latin typeface="+mj-lt"/>
              </a:rPr>
              <a:t> the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elements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in the </a:t>
            </a:r>
            <a:r>
              <a:rPr lang="en-US" sz="2600" b="1" u="sng" dirty="0">
                <a:solidFill>
                  <a:srgbClr val="2C14DE"/>
                </a:solidFill>
                <a:latin typeface="+mj-lt"/>
              </a:rPr>
              <a:t>send buffer</a:t>
            </a:r>
          </a:p>
          <a:p>
            <a:r>
              <a:rPr lang="en-US" sz="2600" dirty="0">
                <a:latin typeface="+mj-lt"/>
              </a:rPr>
              <a:t>and </a:t>
            </a:r>
            <a:r>
              <a:rPr lang="en-US" sz="2600" b="1" dirty="0">
                <a:solidFill>
                  <a:srgbClr val="2C14DE"/>
                </a:solidFill>
                <a:latin typeface="+mj-lt"/>
              </a:rPr>
              <a:t>delivers</a:t>
            </a:r>
            <a:r>
              <a:rPr lang="en-US" sz="26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600" dirty="0">
                <a:latin typeface="+mj-lt"/>
              </a:rPr>
              <a:t>the </a:t>
            </a:r>
            <a:r>
              <a:rPr lang="en-US" sz="2600" b="1" u="sng" dirty="0">
                <a:latin typeface="+mj-lt"/>
              </a:rPr>
              <a:t>result to </a:t>
            </a:r>
            <a:r>
              <a:rPr lang="en-US" sz="2600" b="1" u="sng" dirty="0">
                <a:solidFill>
                  <a:srgbClr val="FF0000"/>
                </a:solidFill>
                <a:latin typeface="+mj-lt"/>
              </a:rPr>
              <a:t>root</a:t>
            </a:r>
            <a:r>
              <a:rPr lang="en-US" sz="2600" dirty="0">
                <a:latin typeface="+mj-lt"/>
              </a:rPr>
              <a:t>.</a:t>
            </a:r>
          </a:p>
          <a:p>
            <a:r>
              <a:rPr lang="en-US" sz="2600" dirty="0">
                <a:latin typeface="+mj-lt"/>
              </a:rPr>
              <a:t>•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Count</a:t>
            </a:r>
            <a:r>
              <a:rPr lang="en-US" sz="2600" dirty="0">
                <a:latin typeface="+mj-lt"/>
              </a:rPr>
              <a:t>,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op</a:t>
            </a:r>
            <a:r>
              <a:rPr lang="en-US" sz="2600" dirty="0">
                <a:latin typeface="+mj-lt"/>
              </a:rPr>
              <a:t>, and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root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u="sng" dirty="0">
                <a:latin typeface="+mj-lt"/>
              </a:rPr>
              <a:t>have to be equal in all processes</a:t>
            </a:r>
          </a:p>
        </p:txBody>
      </p:sp>
    </p:spTree>
    <p:extLst>
      <p:ext uri="{BB962C8B-B14F-4D97-AF65-F5344CB8AC3E}">
        <p14:creationId xmlns:p14="http://schemas.microsoft.com/office/powerpoint/2010/main" val="428066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err="1" smtClean="0">
                <a:solidFill>
                  <a:srgbClr val="C00000"/>
                </a:solidFill>
              </a:rPr>
              <a:t>MPI_Reduce</a:t>
            </a:r>
            <a:r>
              <a:rPr lang="en-US" sz="4800" b="1" dirty="0" smtClean="0">
                <a:solidFill>
                  <a:srgbClr val="C00000"/>
                </a:solidFill>
              </a:rPr>
              <a:t> - Example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41861"/>
            <a:ext cx="7772400" cy="56637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2808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1" dirty="0" smtClean="0"/>
              <a:t>Credits: https://dps.uibk.ac.at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8808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smtClean="0">
                <a:solidFill>
                  <a:srgbClr val="C00000"/>
                </a:solidFill>
              </a:rPr>
              <a:t>Scalar reduction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2" y="1447800"/>
            <a:ext cx="8910883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2808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1" dirty="0" smtClean="0"/>
              <a:t>Credits: https://dps.uibk.ac.at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416829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smtClean="0">
                <a:solidFill>
                  <a:srgbClr val="C00000"/>
                </a:solidFill>
              </a:rPr>
              <a:t>Array reduction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808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1" dirty="0" smtClean="0"/>
              <a:t>Credits: https://dps.uibk.ac.at</a:t>
            </a:r>
            <a:endParaRPr lang="en-US" sz="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5" y="1600200"/>
            <a:ext cx="782558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4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smtClean="0">
                <a:solidFill>
                  <a:srgbClr val="C00000"/>
                </a:solidFill>
              </a:rPr>
              <a:t>Reduction Operations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1946" y="901779"/>
            <a:ext cx="8971146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+mj-lt"/>
              </a:rPr>
              <a:t>Reduction Operations:</a:t>
            </a:r>
            <a:endParaRPr lang="en-US" sz="2800" b="1" dirty="0">
              <a:solidFill>
                <a:srgbClr val="C00000"/>
              </a:solidFill>
              <a:latin typeface="+mj-lt"/>
            </a:endParaRPr>
          </a:p>
          <a:p>
            <a:r>
              <a:rPr lang="en-US" sz="2800" dirty="0" smtClean="0">
                <a:latin typeface="+mj-lt"/>
              </a:rPr>
              <a:t>	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 smtClean="0">
              <a:latin typeface="+mj-lt"/>
            </a:endParaRPr>
          </a:p>
          <a:p>
            <a:endParaRPr lang="en-US" sz="2800" dirty="0" smtClean="0">
              <a:latin typeface="+mj-lt"/>
            </a:endParaRPr>
          </a:p>
          <a:p>
            <a:endParaRPr lang="en-US" sz="2600" b="1" dirty="0" smtClean="0">
              <a:solidFill>
                <a:srgbClr val="C00000"/>
              </a:solidFill>
              <a:latin typeface="+mj-lt"/>
            </a:endParaRPr>
          </a:p>
          <a:p>
            <a:r>
              <a:rPr lang="en-US" sz="2400" b="1" dirty="0" smtClean="0">
                <a:solidFill>
                  <a:srgbClr val="C00000"/>
                </a:solidFill>
                <a:latin typeface="+mj-lt"/>
              </a:rPr>
              <a:t>Data types:</a:t>
            </a:r>
            <a:endParaRPr lang="en-US" sz="2400" b="1" dirty="0">
              <a:solidFill>
                <a:srgbClr val="C00000"/>
              </a:solidFill>
              <a:latin typeface="+mj-lt"/>
            </a:endParaRPr>
          </a:p>
          <a:p>
            <a:r>
              <a:rPr lang="en-US" sz="2400" dirty="0">
                <a:latin typeface="+mj-lt"/>
              </a:rPr>
              <a:t>–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Operations</a:t>
            </a:r>
            <a:r>
              <a:rPr lang="en-US" sz="2400" dirty="0" smtClean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are </a:t>
            </a:r>
            <a:r>
              <a:rPr lang="en-US" sz="2400" b="1" dirty="0">
                <a:solidFill>
                  <a:srgbClr val="2C14DE"/>
                </a:solidFill>
                <a:latin typeface="+mj-lt"/>
              </a:rPr>
              <a:t>defined</a:t>
            </a:r>
            <a:r>
              <a:rPr lang="en-US" sz="24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for </a:t>
            </a:r>
            <a:r>
              <a:rPr lang="en-US" sz="2400" b="1" u="sng" dirty="0">
                <a:solidFill>
                  <a:srgbClr val="2C14DE"/>
                </a:solidFill>
                <a:latin typeface="+mj-lt"/>
              </a:rPr>
              <a:t>appropriate data </a:t>
            </a:r>
            <a:r>
              <a:rPr lang="en-US" sz="2400" b="1" u="sng" dirty="0" smtClean="0">
                <a:solidFill>
                  <a:srgbClr val="2C14DE"/>
                </a:solidFill>
                <a:latin typeface="+mj-lt"/>
              </a:rPr>
              <a:t>types</a:t>
            </a:r>
            <a:endParaRPr lang="en-US" sz="2400" b="1" u="sng" dirty="0">
              <a:solidFill>
                <a:srgbClr val="2C14DE"/>
              </a:solidFill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382000" cy="464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0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1933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err="1" smtClean="0">
                <a:solidFill>
                  <a:srgbClr val="C00000"/>
                </a:solidFill>
              </a:rPr>
              <a:t>MPI_Allreduce</a:t>
            </a:r>
            <a:endParaRPr lang="fr-FR" sz="4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" y="88524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8" y="984194"/>
            <a:ext cx="7239000" cy="25210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92" y="3505200"/>
            <a:ext cx="89563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+mj-lt"/>
              </a:rPr>
              <a:t>Similar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to </a:t>
            </a:r>
            <a:r>
              <a:rPr lang="en-US" sz="2400" b="1" dirty="0" err="1" smtClean="0">
                <a:latin typeface="+mj-lt"/>
              </a:rPr>
              <a:t>MPI_Reduce</a:t>
            </a:r>
            <a:r>
              <a:rPr lang="en-US" sz="2400" b="1" dirty="0" smtClean="0">
                <a:latin typeface="+mj-lt"/>
              </a:rPr>
              <a:t>,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returns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the </a:t>
            </a:r>
            <a:r>
              <a:rPr lang="en-US" sz="2400" b="1" dirty="0" smtClean="0">
                <a:solidFill>
                  <a:srgbClr val="2C14DE"/>
                </a:solidFill>
                <a:latin typeface="+mj-lt"/>
              </a:rPr>
              <a:t>result</a:t>
            </a:r>
            <a:r>
              <a:rPr lang="en-US" sz="2400" dirty="0" smtClean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value to </a:t>
            </a:r>
            <a:r>
              <a:rPr lang="en-US" sz="2400" b="1" u="sng" dirty="0">
                <a:solidFill>
                  <a:srgbClr val="2C14DE"/>
                </a:solidFill>
                <a:latin typeface="+mj-lt"/>
              </a:rPr>
              <a:t>all </a:t>
            </a:r>
            <a:r>
              <a:rPr lang="en-US" sz="2400" b="1" u="sng" dirty="0" smtClean="0">
                <a:solidFill>
                  <a:srgbClr val="2C14DE"/>
                </a:solidFill>
                <a:latin typeface="+mj-lt"/>
              </a:rPr>
              <a:t>processes</a:t>
            </a:r>
            <a:endParaRPr lang="en-US" sz="2400" dirty="0">
              <a:latin typeface="+mj-lt"/>
            </a:endParaRPr>
          </a:p>
        </p:txBody>
      </p:sp>
      <p:pic>
        <p:nvPicPr>
          <p:cNvPr id="3074" name="Picture 2" descr="SKIRT 9: The Message Passing Interf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27" y="3979059"/>
            <a:ext cx="7473973" cy="280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-2808" y="6642556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b="1" dirty="0" smtClean="0"/>
              <a:t>Credits: https://dps.uibk.ac.at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47258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5292" y="2514600"/>
            <a:ext cx="9144000" cy="88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800" b="1" dirty="0" smtClean="0">
                <a:solidFill>
                  <a:srgbClr val="C00000"/>
                </a:solidFill>
              </a:rPr>
              <a:t>Any Questions</a:t>
            </a:r>
            <a:endParaRPr lang="fr-FR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41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10555</TotalTime>
  <Words>829</Words>
  <Application>Microsoft Office PowerPoint</Application>
  <PresentationFormat>On-screen Show (4:3)</PresentationFormat>
  <Paragraphs>168</Paragraphs>
  <Slides>32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ＭＳ Ｐゴシック</vt:lpstr>
      <vt:lpstr>ＭＳ Ｐゴシック</vt:lpstr>
      <vt:lpstr>Arial</vt:lpstr>
      <vt:lpstr>Calibri</vt:lpstr>
      <vt:lpstr>Consolas</vt:lpstr>
      <vt:lpstr>Courier New</vt:lpstr>
      <vt:lpstr>Tahoma</vt:lpstr>
      <vt:lpstr>Times New Roman</vt:lpstr>
      <vt:lpstr>Office Theme</vt:lpstr>
      <vt:lpstr>PowerPoint Presentation</vt:lpstr>
      <vt:lpstr>Collective Communications</vt:lpstr>
      <vt:lpstr>Broadcast</vt:lpstr>
      <vt:lpstr>Broadcasting with MPI_Bcast</vt:lpstr>
      <vt:lpstr>Broadcasting with MPI_Bcast</vt:lpstr>
      <vt:lpstr>MPI_Scatter</vt:lpstr>
      <vt:lpstr>MPI_Scatter</vt:lpstr>
      <vt:lpstr>MPI_Scatter - Example</vt:lpstr>
      <vt:lpstr>MPI_Gather</vt:lpstr>
      <vt:lpstr>MPI_Gather</vt:lpstr>
      <vt:lpstr>MPI_Gather</vt:lpstr>
      <vt:lpstr>MPI_Gather</vt:lpstr>
      <vt:lpstr>MPI_Gather - Example</vt:lpstr>
      <vt:lpstr>MPI_Scatterv</vt:lpstr>
      <vt:lpstr>MPI_Scatterv</vt:lpstr>
      <vt:lpstr>MPI_Gatherv</vt:lpstr>
      <vt:lpstr>MPI_Gatherv</vt:lpstr>
      <vt:lpstr>MPI_Gatherv</vt:lpstr>
      <vt:lpstr>Home Tasks </vt:lpstr>
      <vt:lpstr>MPI_Alltoall</vt:lpstr>
      <vt:lpstr>Synchronization</vt:lpstr>
      <vt:lpstr>Barrier Synchronization</vt:lpstr>
      <vt:lpstr>MPI_BARRIER</vt:lpstr>
      <vt:lpstr>Reductions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Muhammad Aadil ur Rehman</cp:lastModifiedBy>
  <cp:revision>1019</cp:revision>
  <dcterms:created xsi:type="dcterms:W3CDTF">2012-08-28T12:59:58Z</dcterms:created>
  <dcterms:modified xsi:type="dcterms:W3CDTF">2024-09-16T06:25:01Z</dcterms:modified>
</cp:coreProperties>
</file>