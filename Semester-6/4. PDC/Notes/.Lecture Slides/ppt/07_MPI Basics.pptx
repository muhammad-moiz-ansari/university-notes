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516" r:id="rId2"/>
    <p:sldId id="518" r:id="rId3"/>
    <p:sldId id="520" r:id="rId4"/>
    <p:sldId id="521" r:id="rId5"/>
    <p:sldId id="561" r:id="rId6"/>
    <p:sldId id="562" r:id="rId7"/>
    <p:sldId id="563" r:id="rId8"/>
    <p:sldId id="524" r:id="rId9"/>
    <p:sldId id="525" r:id="rId10"/>
    <p:sldId id="527" r:id="rId11"/>
    <p:sldId id="526" r:id="rId12"/>
    <p:sldId id="528" r:id="rId13"/>
    <p:sldId id="595" r:id="rId14"/>
    <p:sldId id="593" r:id="rId15"/>
    <p:sldId id="594" r:id="rId16"/>
    <p:sldId id="592" r:id="rId17"/>
    <p:sldId id="529" r:id="rId18"/>
    <p:sldId id="530" r:id="rId19"/>
    <p:sldId id="565" r:id="rId20"/>
    <p:sldId id="567" r:id="rId21"/>
    <p:sldId id="568" r:id="rId22"/>
    <p:sldId id="531" r:id="rId23"/>
    <p:sldId id="532" r:id="rId24"/>
    <p:sldId id="533" r:id="rId25"/>
    <p:sldId id="596" r:id="rId26"/>
    <p:sldId id="597" r:id="rId27"/>
    <p:sldId id="598" r:id="rId28"/>
    <p:sldId id="599" r:id="rId29"/>
    <p:sldId id="600" r:id="rId30"/>
    <p:sldId id="601" r:id="rId31"/>
    <p:sldId id="602" r:id="rId32"/>
    <p:sldId id="534" r:id="rId33"/>
    <p:sldId id="535" r:id="rId34"/>
    <p:sldId id="536" r:id="rId35"/>
    <p:sldId id="537" r:id="rId36"/>
    <p:sldId id="538" r:id="rId37"/>
    <p:sldId id="564" r:id="rId38"/>
    <p:sldId id="545" r:id="rId39"/>
    <p:sldId id="546" r:id="rId40"/>
    <p:sldId id="547" r:id="rId41"/>
    <p:sldId id="571" r:id="rId42"/>
    <p:sldId id="548" r:id="rId43"/>
    <p:sldId id="566" r:id="rId44"/>
    <p:sldId id="570" r:id="rId45"/>
    <p:sldId id="551" r:id="rId46"/>
    <p:sldId id="569" r:id="rId47"/>
    <p:sldId id="552" r:id="rId48"/>
    <p:sldId id="555" r:id="rId49"/>
    <p:sldId id="559" r:id="rId50"/>
    <p:sldId id="560" r:id="rId51"/>
    <p:sldId id="586" r:id="rId52"/>
    <p:sldId id="576" r:id="rId53"/>
    <p:sldId id="582" r:id="rId54"/>
    <p:sldId id="584" r:id="rId55"/>
    <p:sldId id="577" r:id="rId56"/>
    <p:sldId id="583" r:id="rId57"/>
    <p:sldId id="579" r:id="rId58"/>
    <p:sldId id="574" r:id="rId59"/>
    <p:sldId id="588" r:id="rId60"/>
    <p:sldId id="587" r:id="rId61"/>
    <p:sldId id="590" r:id="rId62"/>
    <p:sldId id="591" r:id="rId63"/>
    <p:sldId id="589" r:id="rId6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9E00"/>
    <a:srgbClr val="008000"/>
    <a:srgbClr val="2C14DE"/>
    <a:srgbClr val="F07814"/>
    <a:srgbClr val="FF6600"/>
    <a:srgbClr val="960824"/>
    <a:srgbClr val="2515A4"/>
    <a:srgbClr val="0366FF"/>
    <a:srgbClr val="B80000"/>
    <a:srgbClr val="2F1B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98" autoAdjust="0"/>
    <p:restoredTop sz="93705" autoAdjust="0"/>
  </p:normalViewPr>
  <p:slideViewPr>
    <p:cSldViewPr>
      <p:cViewPr varScale="1">
        <p:scale>
          <a:sx n="59" d="100"/>
          <a:sy n="59" d="100"/>
        </p:scale>
        <p:origin x="163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C09857-BB4F-4F6A-B294-DF372FF8835C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62462-A09B-4CFD-AF57-739E06B333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03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732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fr-FR" dirty="0">
                <a:ea typeface="ＭＳ Ｐゴシック" charset="0"/>
              </a:rPr>
              <a:t>http://</a:t>
            </a:r>
            <a:r>
              <a:rPr lang="fr-FR" dirty="0" err="1">
                <a:ea typeface="ＭＳ Ｐゴシック" charset="0"/>
              </a:rPr>
              <a:t>mpitutorial.com</a:t>
            </a:r>
            <a:r>
              <a:rPr lang="fr-FR" dirty="0">
                <a:ea typeface="ＭＳ Ｐゴシック" charset="0"/>
              </a:rPr>
              <a:t>/</a:t>
            </a:r>
            <a:r>
              <a:rPr lang="fr-FR" dirty="0" err="1">
                <a:ea typeface="ＭＳ Ｐゴシック" charset="0"/>
              </a:rPr>
              <a:t>tutorials</a:t>
            </a:r>
            <a:r>
              <a:rPr lang="fr-FR" dirty="0">
                <a:ea typeface="ＭＳ Ｐゴシック" charset="0"/>
              </a:rPr>
              <a:t>/</a:t>
            </a:r>
            <a:r>
              <a:rPr lang="fr-FR" dirty="0" err="1">
                <a:ea typeface="ＭＳ Ｐゴシック" charset="0"/>
              </a:rPr>
              <a:t>mpi</a:t>
            </a:r>
            <a:r>
              <a:rPr lang="fr-FR" dirty="0">
                <a:ea typeface="ＭＳ Ｐゴシック" charset="0"/>
              </a:rPr>
              <a:t>-introduction/</a:t>
            </a:r>
          </a:p>
          <a:p>
            <a:pPr>
              <a:defRPr/>
            </a:pPr>
            <a:endParaRPr lang="fr-FR" dirty="0">
              <a:ea typeface="ＭＳ Ｐゴシック" charset="0"/>
            </a:endParaRPr>
          </a:p>
          <a:p>
            <a:pPr lvl="1">
              <a:defRPr/>
            </a:pPr>
            <a:r>
              <a:rPr lang="fr-FR" sz="2000" dirty="0">
                <a:ea typeface="ＭＳ Ｐゴシック" charset="0"/>
              </a:rPr>
              <a:t>an application passes messages </a:t>
            </a:r>
            <a:r>
              <a:rPr lang="fr-FR" sz="2000" dirty="0" err="1">
                <a:ea typeface="ＭＳ Ｐゴシック" charset="0"/>
              </a:rPr>
              <a:t>among</a:t>
            </a:r>
            <a:r>
              <a:rPr lang="fr-FR" sz="2000" dirty="0">
                <a:ea typeface="ＭＳ Ｐゴシック" charset="0"/>
              </a:rPr>
              <a:t> </a:t>
            </a:r>
            <a:r>
              <a:rPr lang="fr-FR" sz="2000" dirty="0" err="1">
                <a:ea typeface="ＭＳ Ｐゴシック" charset="0"/>
              </a:rPr>
              <a:t>processes</a:t>
            </a:r>
            <a:r>
              <a:rPr lang="fr-FR" sz="2000" dirty="0">
                <a:ea typeface="ＭＳ Ｐゴシック" charset="0"/>
              </a:rPr>
              <a:t> in </a:t>
            </a:r>
            <a:r>
              <a:rPr lang="fr-FR" sz="2000" dirty="0" err="1">
                <a:ea typeface="ＭＳ Ｐゴシック" charset="0"/>
              </a:rPr>
              <a:t>order</a:t>
            </a:r>
            <a:r>
              <a:rPr lang="fr-FR" sz="2000" dirty="0">
                <a:ea typeface="ＭＳ Ｐゴシック" charset="0"/>
              </a:rPr>
              <a:t> to </a:t>
            </a:r>
            <a:r>
              <a:rPr lang="fr-FR" sz="2000" dirty="0" err="1">
                <a:ea typeface="ＭＳ Ｐゴシック" charset="0"/>
              </a:rPr>
              <a:t>perform</a:t>
            </a:r>
            <a:r>
              <a:rPr lang="fr-FR" sz="2000" dirty="0">
                <a:ea typeface="ＭＳ Ｐゴシック" charset="0"/>
              </a:rPr>
              <a:t> a </a:t>
            </a:r>
            <a:r>
              <a:rPr lang="fr-FR" sz="2000" dirty="0" err="1">
                <a:ea typeface="ＭＳ Ｐゴシック" charset="0"/>
              </a:rPr>
              <a:t>task</a:t>
            </a:r>
            <a:endParaRPr lang="fr-FR" sz="2000" dirty="0">
              <a:ea typeface="ＭＳ Ｐゴシック" charset="0"/>
            </a:endParaRPr>
          </a:p>
          <a:p>
            <a:pPr lvl="1">
              <a:defRPr/>
            </a:pPr>
            <a:r>
              <a:rPr lang="fr-FR" sz="2000" dirty="0">
                <a:ea typeface="ＭＳ Ｐゴシック" charset="0"/>
              </a:rPr>
              <a:t>For instance, a master </a:t>
            </a:r>
            <a:r>
              <a:rPr lang="fr-FR" sz="2000" dirty="0" err="1">
                <a:ea typeface="ＭＳ Ｐゴシック" charset="0"/>
              </a:rPr>
              <a:t>process</a:t>
            </a:r>
            <a:r>
              <a:rPr lang="fr-FR" sz="2000" dirty="0">
                <a:ea typeface="ＭＳ Ｐゴシック" charset="0"/>
              </a:rPr>
              <a:t> </a:t>
            </a:r>
            <a:r>
              <a:rPr lang="fr-FR" sz="2000" dirty="0" err="1">
                <a:ea typeface="ＭＳ Ｐゴシック" charset="0"/>
              </a:rPr>
              <a:t>might</a:t>
            </a:r>
            <a:r>
              <a:rPr lang="fr-FR" sz="2000" dirty="0">
                <a:ea typeface="ＭＳ Ｐゴシック" charset="0"/>
              </a:rPr>
              <a:t> </a:t>
            </a:r>
            <a:r>
              <a:rPr lang="fr-FR" sz="2000" dirty="0" err="1">
                <a:ea typeface="ＭＳ Ｐゴシック" charset="0"/>
              </a:rPr>
              <a:t>assign</a:t>
            </a:r>
            <a:r>
              <a:rPr lang="fr-FR" sz="2000" dirty="0">
                <a:ea typeface="ＭＳ Ｐゴシック" charset="0"/>
              </a:rPr>
              <a:t> </a:t>
            </a:r>
            <a:r>
              <a:rPr lang="fr-FR" sz="2000" dirty="0" err="1">
                <a:ea typeface="ＭＳ Ｐゴシック" charset="0"/>
              </a:rPr>
              <a:t>work</a:t>
            </a:r>
            <a:r>
              <a:rPr lang="fr-FR" sz="2000" dirty="0">
                <a:ea typeface="ＭＳ Ｐゴシック" charset="0"/>
              </a:rPr>
              <a:t> to slave </a:t>
            </a:r>
            <a:r>
              <a:rPr lang="fr-FR" sz="2000" dirty="0" err="1">
                <a:ea typeface="ＭＳ Ｐゴシック" charset="0"/>
              </a:rPr>
              <a:t>processes</a:t>
            </a:r>
            <a:r>
              <a:rPr lang="fr-FR" sz="2000" dirty="0">
                <a:ea typeface="ＭＳ Ｐゴシック" charset="0"/>
              </a:rPr>
              <a:t> by passing </a:t>
            </a:r>
            <a:r>
              <a:rPr lang="fr-FR" sz="2000" dirty="0" err="1">
                <a:ea typeface="ＭＳ Ｐゴシック" charset="0"/>
              </a:rPr>
              <a:t>them</a:t>
            </a:r>
            <a:r>
              <a:rPr lang="fr-FR" sz="2000" dirty="0">
                <a:ea typeface="ＭＳ Ｐゴシック" charset="0"/>
              </a:rPr>
              <a:t> a message </a:t>
            </a:r>
            <a:r>
              <a:rPr lang="fr-FR" sz="2000" dirty="0" err="1">
                <a:ea typeface="ＭＳ Ｐゴシック" charset="0"/>
              </a:rPr>
              <a:t>that</a:t>
            </a:r>
            <a:r>
              <a:rPr lang="fr-FR" sz="2000" dirty="0">
                <a:ea typeface="ＭＳ Ｐゴシック" charset="0"/>
              </a:rPr>
              <a:t> </a:t>
            </a:r>
            <a:r>
              <a:rPr lang="fr-FR" sz="2000" dirty="0" err="1">
                <a:ea typeface="ＭＳ Ｐゴシック" charset="0"/>
              </a:rPr>
              <a:t>describes</a:t>
            </a:r>
            <a:r>
              <a:rPr lang="fr-FR" sz="2000" dirty="0">
                <a:ea typeface="ＭＳ Ｐゴシック" charset="0"/>
              </a:rPr>
              <a:t> the </a:t>
            </a:r>
            <a:r>
              <a:rPr lang="fr-FR" sz="2000" dirty="0" err="1">
                <a:ea typeface="ＭＳ Ｐゴシック" charset="0"/>
              </a:rPr>
              <a:t>work</a:t>
            </a:r>
            <a:r>
              <a:rPr lang="fr-FR" sz="2000" dirty="0">
                <a:ea typeface="ＭＳ Ｐゴシック" charset="0"/>
              </a:rPr>
              <a:t>.</a:t>
            </a:r>
          </a:p>
          <a:p>
            <a:pPr lvl="1">
              <a:defRPr/>
            </a:pPr>
            <a:endParaRPr lang="fr-FR" sz="2000" dirty="0">
              <a:ea typeface="ＭＳ Ｐゴシック" charset="0"/>
            </a:endParaRPr>
          </a:p>
          <a:p>
            <a:pPr>
              <a:defRPr/>
            </a:pPr>
            <a:endParaRPr lang="fr-FR" dirty="0">
              <a:ea typeface="ＭＳ Ｐゴシック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FB933CC-D828-40F8-A565-1EA25959F573}" type="slidenum">
              <a:rPr lang="en-US" sz="1200"/>
              <a:pPr eaLnBrk="1" hangingPunct="1"/>
              <a:t>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20381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62462-A09B-4CFD-AF57-739E06B3337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923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D0D0D"/>
                </a:solidFill>
                <a:latin typeface="Arial" panose="020B0604020202020204" pitchFamily="34" charset="0"/>
              </a:rPr>
              <a:t>Communicators can be created </a:t>
            </a:r>
            <a:r>
              <a:rPr lang="en-US" altLang="fr-FR">
                <a:solidFill>
                  <a:srgbClr val="0D0D0D"/>
                </a:solidFill>
                <a:latin typeface="Arial" panose="020B0604020202020204" pitchFamily="34" charset="0"/>
              </a:rPr>
              <a:t>“</a:t>
            </a:r>
            <a:r>
              <a:rPr lang="en-US">
                <a:solidFill>
                  <a:srgbClr val="0D0D0D"/>
                </a:solidFill>
                <a:latin typeface="Arial" panose="020B0604020202020204" pitchFamily="34" charset="0"/>
              </a:rPr>
              <a:t>by hand</a:t>
            </a:r>
            <a:r>
              <a:rPr lang="en-US" altLang="fr-FR">
                <a:solidFill>
                  <a:srgbClr val="0D0D0D"/>
                </a:solidFill>
                <a:latin typeface="Arial" panose="020B0604020202020204" pitchFamily="34" charset="0"/>
              </a:rPr>
              <a:t>”</a:t>
            </a:r>
            <a:r>
              <a:rPr lang="en-US">
                <a:solidFill>
                  <a:srgbClr val="0D0D0D"/>
                </a:solidFill>
                <a:latin typeface="Arial" panose="020B0604020202020204" pitchFamily="34" charset="0"/>
              </a:rPr>
              <a:t> or using tools provided by MPI (not discussed in this tutorial)</a:t>
            </a:r>
          </a:p>
          <a:p>
            <a:endParaRPr lang="fr-FR">
              <a:latin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6B3DB47-709B-4F89-A592-2ACBCB898C3C}" type="slidenum">
              <a:rPr lang="en-US" sz="1200"/>
              <a:pPr eaLnBrk="1" hangingPunct="1"/>
              <a:t>12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03618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8E9E0-56FB-8224-5E63-A86D21D6F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A56AAF6-6A67-F79A-689D-E332CB89C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3BCA446-FDE3-1F6F-578D-D0279EA45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D0D0D"/>
                </a:solidFill>
                <a:latin typeface="Arial" panose="020B0604020202020204" pitchFamily="34" charset="0"/>
              </a:rPr>
              <a:t>Communicators can be created </a:t>
            </a:r>
            <a:r>
              <a:rPr lang="en-US" altLang="fr-FR">
                <a:solidFill>
                  <a:srgbClr val="0D0D0D"/>
                </a:solidFill>
                <a:latin typeface="Arial" panose="020B0604020202020204" pitchFamily="34" charset="0"/>
              </a:rPr>
              <a:t>“</a:t>
            </a:r>
            <a:r>
              <a:rPr lang="en-US">
                <a:solidFill>
                  <a:srgbClr val="0D0D0D"/>
                </a:solidFill>
                <a:latin typeface="Arial" panose="020B0604020202020204" pitchFamily="34" charset="0"/>
              </a:rPr>
              <a:t>by hand</a:t>
            </a:r>
            <a:r>
              <a:rPr lang="en-US" altLang="fr-FR">
                <a:solidFill>
                  <a:srgbClr val="0D0D0D"/>
                </a:solidFill>
                <a:latin typeface="Arial" panose="020B0604020202020204" pitchFamily="34" charset="0"/>
              </a:rPr>
              <a:t>”</a:t>
            </a:r>
            <a:r>
              <a:rPr lang="en-US">
                <a:solidFill>
                  <a:srgbClr val="0D0D0D"/>
                </a:solidFill>
                <a:latin typeface="Arial" panose="020B0604020202020204" pitchFamily="34" charset="0"/>
              </a:rPr>
              <a:t> or using tools provided by MPI (not discussed in this tutorial)</a:t>
            </a:r>
          </a:p>
          <a:p>
            <a:endParaRPr lang="fr-FR">
              <a:latin typeface="Arial" panose="020B0604020202020204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B67EEC-D89A-B989-A4AF-82073D66C9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6B3DB47-709B-4F89-A592-2ACBCB898C3C}" type="slidenum">
              <a:rPr lang="en-US" sz="1200"/>
              <a:pPr eaLnBrk="1" hangingPunct="1"/>
              <a:t>13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012678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F167D-1E40-035A-4BE0-DB0662715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F294F47-86FC-C3DE-EE1A-1BA23D35E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2974E44-6CE7-1F26-ED58-ED7B6A725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D0D0D"/>
                </a:solidFill>
                <a:latin typeface="Arial" panose="020B0604020202020204" pitchFamily="34" charset="0"/>
              </a:rPr>
              <a:t>Communicators can be created </a:t>
            </a:r>
            <a:r>
              <a:rPr lang="en-US" altLang="fr-FR">
                <a:solidFill>
                  <a:srgbClr val="0D0D0D"/>
                </a:solidFill>
                <a:latin typeface="Arial" panose="020B0604020202020204" pitchFamily="34" charset="0"/>
              </a:rPr>
              <a:t>“</a:t>
            </a:r>
            <a:r>
              <a:rPr lang="en-US">
                <a:solidFill>
                  <a:srgbClr val="0D0D0D"/>
                </a:solidFill>
                <a:latin typeface="Arial" panose="020B0604020202020204" pitchFamily="34" charset="0"/>
              </a:rPr>
              <a:t>by hand</a:t>
            </a:r>
            <a:r>
              <a:rPr lang="en-US" altLang="fr-FR">
                <a:solidFill>
                  <a:srgbClr val="0D0D0D"/>
                </a:solidFill>
                <a:latin typeface="Arial" panose="020B0604020202020204" pitchFamily="34" charset="0"/>
              </a:rPr>
              <a:t>”</a:t>
            </a:r>
            <a:r>
              <a:rPr lang="en-US">
                <a:solidFill>
                  <a:srgbClr val="0D0D0D"/>
                </a:solidFill>
                <a:latin typeface="Arial" panose="020B0604020202020204" pitchFamily="34" charset="0"/>
              </a:rPr>
              <a:t> or using tools provided by MPI (not discussed in this tutorial)</a:t>
            </a:r>
          </a:p>
          <a:p>
            <a:endParaRPr lang="fr-FR">
              <a:latin typeface="Arial" panose="020B0604020202020204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B8C0AD-A494-B498-D556-FBFE03788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6B3DB47-709B-4F89-A592-2ACBCB898C3C}" type="slidenum">
              <a:rPr lang="en-US" sz="1200"/>
              <a:pPr eaLnBrk="1" hangingPunct="1"/>
              <a:t>14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984823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344BD-9B3C-9B73-13E0-C30E5FAB2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37EBC50-A2EA-46AA-7F8B-7FD5B7296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F304FAB-5249-19CA-E967-E3EC01DC5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D0D0D"/>
                </a:solidFill>
                <a:latin typeface="Arial" panose="020B0604020202020204" pitchFamily="34" charset="0"/>
              </a:rPr>
              <a:t>Communicators can be created </a:t>
            </a:r>
            <a:r>
              <a:rPr lang="en-US" altLang="fr-FR">
                <a:solidFill>
                  <a:srgbClr val="0D0D0D"/>
                </a:solidFill>
                <a:latin typeface="Arial" panose="020B0604020202020204" pitchFamily="34" charset="0"/>
              </a:rPr>
              <a:t>“</a:t>
            </a:r>
            <a:r>
              <a:rPr lang="en-US">
                <a:solidFill>
                  <a:srgbClr val="0D0D0D"/>
                </a:solidFill>
                <a:latin typeface="Arial" panose="020B0604020202020204" pitchFamily="34" charset="0"/>
              </a:rPr>
              <a:t>by hand</a:t>
            </a:r>
            <a:r>
              <a:rPr lang="en-US" altLang="fr-FR">
                <a:solidFill>
                  <a:srgbClr val="0D0D0D"/>
                </a:solidFill>
                <a:latin typeface="Arial" panose="020B0604020202020204" pitchFamily="34" charset="0"/>
              </a:rPr>
              <a:t>”</a:t>
            </a:r>
            <a:r>
              <a:rPr lang="en-US">
                <a:solidFill>
                  <a:srgbClr val="0D0D0D"/>
                </a:solidFill>
                <a:latin typeface="Arial" panose="020B0604020202020204" pitchFamily="34" charset="0"/>
              </a:rPr>
              <a:t> or using tools provided by MPI (not discussed in this tutorial)</a:t>
            </a:r>
          </a:p>
          <a:p>
            <a:endParaRPr lang="fr-FR">
              <a:latin typeface="Arial" panose="020B0604020202020204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9515DB-AB84-4431-15CB-097BA51DB5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6B3DB47-709B-4F89-A592-2ACBCB898C3C}" type="slidenum">
              <a:rPr lang="en-US" sz="1200"/>
              <a:pPr eaLnBrk="1" hangingPunct="1"/>
              <a:t>15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307881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4ECD7-32B8-5FBE-148B-95F6C8AD9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D551CAB-5FA8-E7D2-549B-45F9CBC17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62D6771-4B83-7FA7-E495-388744482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D0D0D"/>
                </a:solidFill>
                <a:latin typeface="Arial" panose="020B0604020202020204" pitchFamily="34" charset="0"/>
              </a:rPr>
              <a:t>Communicators can be created </a:t>
            </a:r>
            <a:r>
              <a:rPr lang="en-US" altLang="fr-FR">
                <a:solidFill>
                  <a:srgbClr val="0D0D0D"/>
                </a:solidFill>
                <a:latin typeface="Arial" panose="020B0604020202020204" pitchFamily="34" charset="0"/>
              </a:rPr>
              <a:t>“</a:t>
            </a:r>
            <a:r>
              <a:rPr lang="en-US">
                <a:solidFill>
                  <a:srgbClr val="0D0D0D"/>
                </a:solidFill>
                <a:latin typeface="Arial" panose="020B0604020202020204" pitchFamily="34" charset="0"/>
              </a:rPr>
              <a:t>by hand</a:t>
            </a:r>
            <a:r>
              <a:rPr lang="en-US" altLang="fr-FR">
                <a:solidFill>
                  <a:srgbClr val="0D0D0D"/>
                </a:solidFill>
                <a:latin typeface="Arial" panose="020B0604020202020204" pitchFamily="34" charset="0"/>
              </a:rPr>
              <a:t>”</a:t>
            </a:r>
            <a:r>
              <a:rPr lang="en-US">
                <a:solidFill>
                  <a:srgbClr val="0D0D0D"/>
                </a:solidFill>
                <a:latin typeface="Arial" panose="020B0604020202020204" pitchFamily="34" charset="0"/>
              </a:rPr>
              <a:t> or using tools provided by MPI (not discussed in this tutorial)</a:t>
            </a:r>
          </a:p>
          <a:p>
            <a:endParaRPr lang="fr-FR">
              <a:latin typeface="Arial" panose="020B0604020202020204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5A9069-1886-7FBD-F9F3-80896490E8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6B3DB47-709B-4F89-A592-2ACBCB898C3C}" type="slidenum">
              <a:rPr lang="en-US" sz="1200"/>
              <a:pPr eaLnBrk="1" hangingPunct="1"/>
              <a:t>16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570474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routine must be called by one thread only. That thread is called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thread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must be the thread that calls </a:t>
            </a:r>
            <a:r>
              <a:rPr lang="en-US" dirty="0" err="1"/>
              <a:t>MPI_Finalize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62462-A09B-4CFD-AF57-739E06B3337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91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62462-A09B-4CFD-AF57-739E06B3337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553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Processor name is useful</a:t>
            </a:r>
            <a:r>
              <a:rPr lang="en-US" baseline="0" dirty="0"/>
              <a:t> for the programs where we utilize migration aspect (to see where the process is currently executing)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62462-A09B-4CFD-AF57-739E06B3337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78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5531F-4D97-24EC-D67F-0B2DAE106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92BB07-206C-D549-DEA7-6F230FB8B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6B04B7-B778-9120-C023-049FCF20E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Processor name is useful</a:t>
            </a:r>
            <a:r>
              <a:rPr lang="en-US" baseline="0" dirty="0"/>
              <a:t> for the programs where we utilize migration aspect (to see where the process is currently executing)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D0F55-CA85-967A-9AEE-A0EF2CE4FF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62462-A09B-4CFD-AF57-739E06B3337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594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CA474-9D8C-6055-E8F8-7F86E9683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F67663-7CD9-95DD-D6F7-963CF2148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F0B41-E6D5-330D-B0CA-7022512437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Processor name is useful</a:t>
            </a:r>
            <a:r>
              <a:rPr lang="en-US" baseline="0" dirty="0"/>
              <a:t> for the programs where we utilize migration aspect (to see where the process is currently executing)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34E14-8F9A-B986-36C2-1430AEB29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62462-A09B-4CFD-AF57-739E06B3337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474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9BAEA-A969-DF9C-542C-975B84047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66548-BC72-B638-B3B9-49017F87C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68564-3A2C-6818-EE66-78958B4FC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Processor name is useful</a:t>
            </a:r>
            <a:r>
              <a:rPr lang="en-US" baseline="0" dirty="0"/>
              <a:t> for the programs where we utilize migration aspect (to see where the process is currently executing)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EF919-2E90-37DD-3645-00D1227A0D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62462-A09B-4CFD-AF57-739E06B3337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059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659B8-08C9-F97B-3CC8-47F967498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D5D3CF-1AAD-2658-AF29-016E73250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98C6E-964F-3DBC-B847-0F311805E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Processor name is useful</a:t>
            </a:r>
            <a:r>
              <a:rPr lang="en-US" baseline="0" dirty="0"/>
              <a:t> for the programs where we utilize migration aspect (to see where the process is currently executing)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8E0DB-022D-2442-3639-E58591BE3C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62462-A09B-4CFD-AF57-739E06B3337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2629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254E7-3C65-43E7-458D-71B5C3A12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BACC3-53B1-AB63-B69D-E2162AEF77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BE97B-95C0-FD31-244E-C3C6E8F97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Processor name is useful</a:t>
            </a:r>
            <a:r>
              <a:rPr lang="en-US" baseline="0" dirty="0"/>
              <a:t> for the programs where we utilize migration aspect (to see where the process is currently executing)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95E57-7C97-8C74-A04A-68C7F2AACD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62462-A09B-4CFD-AF57-739E06B33376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003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55218-2546-6EAC-5797-C078E7F1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80C869-FB86-FE3A-368B-FDF0E8E3B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861036-70CA-1506-F5C0-D49C8E309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Processor name is useful</a:t>
            </a:r>
            <a:r>
              <a:rPr lang="en-US" baseline="0" dirty="0"/>
              <a:t> for the programs where we utilize migration aspect (to see where the process is currently executing)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61DD5-BE11-7620-62A0-71776BDD1B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62462-A09B-4CFD-AF57-739E06B3337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8587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CFF96-868B-9EF0-ECF6-DFA3BAEC5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3923A-A746-7294-5FFD-70A56541B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8BB79D-CFA6-0A4B-6E84-3744F7159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Processor name is useful</a:t>
            </a:r>
            <a:r>
              <a:rPr lang="en-US" baseline="0" dirty="0"/>
              <a:t> for the programs where we utilize migration aspect (to see where the process is currently executing)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E1B8C-93B4-4DE2-7A45-ECE74C0495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62462-A09B-4CFD-AF57-739E06B3337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708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Partial information: may be 1000 integers, etc.</a:t>
            </a:r>
            <a:r>
              <a:rPr lang="en-US" baseline="0" dirty="0"/>
              <a:t> This is an upper bound and does not reflects that the same number of integers should be received in every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62462-A09B-4CFD-AF57-739E06B33376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1906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8D4CBAB-0852-4606-8C4E-32191037BF7B}" type="slidenum">
              <a:rPr lang="en-US" sz="1200"/>
              <a:pPr eaLnBrk="1" hangingPunct="1"/>
              <a:t>44</a:t>
            </a:fld>
            <a:endParaRPr lang="en-US" sz="1200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Source, tag, and communicator must match a send for </a:t>
            </a:r>
            <a:r>
              <a:rPr lang="en-US" dirty="0" err="1"/>
              <a:t>MPI_Recv</a:t>
            </a:r>
            <a:r>
              <a:rPr lang="en-US" dirty="0"/>
              <a:t> to return.</a:t>
            </a:r>
          </a:p>
        </p:txBody>
      </p:sp>
    </p:spTree>
    <p:extLst>
      <p:ext uri="{BB962C8B-B14F-4D97-AF65-F5344CB8AC3E}">
        <p14:creationId xmlns:p14="http://schemas.microsoft.com/office/powerpoint/2010/main" val="29904618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</a:rPr>
              <a:t>Introduction to MPI, Argonne (06/06/2014)</a:t>
            </a:r>
          </a:p>
          <a:p>
            <a:pPr>
              <a:defRPr/>
            </a:pPr>
            <a:endParaRPr lang="fr-FR" dirty="0">
              <a:ea typeface="ＭＳ Ｐゴシック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F1160192-02BB-4813-A875-FA795AE7CBEB}" type="slidenum">
              <a:rPr lang="en-US" sz="1200"/>
              <a:pPr eaLnBrk="1" hangingPunct="1"/>
              <a:t>45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2117187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</a:rPr>
              <a:t>Introduction to MPI, Argonne (06/06/2014)</a:t>
            </a:r>
          </a:p>
          <a:p>
            <a:pPr>
              <a:defRPr/>
            </a:pPr>
            <a:r>
              <a:rPr lang="en-US" dirty="0">
                <a:ea typeface="ＭＳ Ｐゴシック" charset="0"/>
              </a:rPr>
              <a:t>Bytes Taken: https://www.mcs.anl.gov/research/projects/mpi/mpi-standard/mpi-report-2.0/node200.htm</a:t>
            </a:r>
          </a:p>
          <a:p>
            <a:pPr>
              <a:defRPr/>
            </a:pPr>
            <a:endParaRPr lang="fr-FR" dirty="0">
              <a:ea typeface="ＭＳ Ｐゴシック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F1160192-02BB-4813-A875-FA795AE7CBEB}" type="slidenum">
              <a:rPr lang="en-US" sz="1200"/>
              <a:pPr eaLnBrk="1" hangingPunct="1"/>
              <a:t>46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4660053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Size of data is +1 (i.e., 11</a:t>
            </a:r>
            <a:r>
              <a:rPr lang="en-US" baseline="0" dirty="0"/>
              <a:t> chars  and 1 for NULL)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62462-A09B-4CFD-AF57-739E06B33376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936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62462-A09B-4CFD-AF57-739E06B33376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302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a typeface="+mn-ea"/>
              </a:rPr>
              <a:t>A non-blocking send call indicates that the system may start copying data out of the send buffer. The sender must not access any part of the send buffer after a non-blocking send operation is posted, until the complete-send returns. </a:t>
            </a:r>
          </a:p>
          <a:p>
            <a:endParaRPr 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a typeface="+mn-ea"/>
              </a:rPr>
              <a:t>A non-blocking receive indicates that the system may start writing data into the receive buffer. The receiver must not access any part of the receive buffer after a non-blocking receive operation is posted, until the complete-receive returns.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62462-A09B-4CFD-AF57-739E06B33376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719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dirty="0">
                <a:ea typeface="+mn-ea"/>
              </a:rPr>
              <a:t>Exploit </a:t>
            </a:r>
            <a:r>
              <a:rPr lang="en-US" sz="1800" b="0" dirty="0">
                <a:solidFill>
                  <a:srgbClr val="008000"/>
                </a:solidFill>
                <a:ea typeface="+mn-ea"/>
              </a:rPr>
              <a:t>bi-directional communication: Multiple send/</a:t>
            </a:r>
            <a:r>
              <a:rPr lang="en-US" sz="1800" b="0" dirty="0" err="1">
                <a:solidFill>
                  <a:srgbClr val="008000"/>
                </a:solidFill>
                <a:ea typeface="+mn-ea"/>
              </a:rPr>
              <a:t>recv</a:t>
            </a:r>
            <a:r>
              <a:rPr lang="en-US" sz="1800" b="0" baseline="0" dirty="0">
                <a:solidFill>
                  <a:srgbClr val="008000"/>
                </a:solidFill>
                <a:ea typeface="+mn-ea"/>
              </a:rPr>
              <a:t> operations could be in the process</a:t>
            </a:r>
            <a:endParaRPr lang="en-US" sz="1800" b="0" dirty="0">
              <a:solidFill>
                <a:srgbClr val="008000"/>
              </a:solidFill>
              <a:ea typeface="+mn-ea"/>
            </a:endParaRPr>
          </a:p>
          <a:p>
            <a:r>
              <a:rPr lang="en-US" sz="1200" b="1" dirty="0" err="1">
                <a:solidFill>
                  <a:srgbClr val="C00000"/>
                </a:solidFill>
                <a:latin typeface="Courier New" charset="0"/>
              </a:rPr>
              <a:t>MPI_Waitall</a:t>
            </a:r>
            <a:r>
              <a:rPr lang="en-US" sz="1200" b="1" dirty="0">
                <a:solidFill>
                  <a:srgbClr val="C00000"/>
                </a:solidFill>
                <a:latin typeface="Courier New" charset="0"/>
              </a:rPr>
              <a:t>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Waits for all given MPI Requests (array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request structures)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complete</a:t>
            </a:r>
          </a:p>
          <a:p>
            <a:r>
              <a:rPr lang="en-US" sz="1200" b="1" dirty="0" err="1">
                <a:solidFill>
                  <a:srgbClr val="C00000"/>
                </a:solidFill>
                <a:latin typeface="Courier New" charset="0"/>
              </a:rPr>
              <a:t>MPI_Waitany</a:t>
            </a:r>
            <a:r>
              <a:rPr lang="en-US" sz="1200" b="1" dirty="0">
                <a:solidFill>
                  <a:srgbClr val="C00000"/>
                </a:solidFill>
                <a:latin typeface="Courier New" charset="0"/>
              </a:rPr>
              <a:t>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Waits for any specified number of MPI Request (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count and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request structures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to complete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62462-A09B-4CFD-AF57-739E06B33376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409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Courier New" charset="0"/>
                <a:ea typeface="+mn-ea"/>
                <a:cs typeface="Courier New" charset="0"/>
              </a:rPr>
              <a:t>Status are error-code</a:t>
            </a:r>
            <a:r>
              <a:rPr lang="en-US" sz="1200" b="1" baseline="0" dirty="0">
                <a:latin typeface="Courier New" charset="0"/>
                <a:ea typeface="+mn-ea"/>
                <a:cs typeface="Courier New" charset="0"/>
              </a:rPr>
              <a:t>: MPI_SUCCESS or MPI_ERROR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62462-A09B-4CFD-AF57-739E06B33376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8632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source</a:t>
            </a:r>
            <a:r>
              <a:rPr lang="en-US" dirty="0"/>
              <a:t>: </a:t>
            </a:r>
            <a:r>
              <a:rPr lang="en-US" b="1" dirty="0"/>
              <a:t>process</a:t>
            </a:r>
            <a:r>
              <a:rPr lang="en-US" b="1" baseline="0" dirty="0"/>
              <a:t> rank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62462-A09B-4CFD-AF57-739E06B33376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84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533" y="59269"/>
            <a:ext cx="8229600" cy="7667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0799" y="50799"/>
            <a:ext cx="863601" cy="863601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D06C7A-78A6-4245-8ECF-FDC8BD58108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818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0192B-E1F2-4D51-9245-C9CE8F612D86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1" y="16934"/>
            <a:ext cx="728131" cy="7281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4;p1"/>
          <p:cNvSpPr txBox="1"/>
          <p:nvPr/>
        </p:nvSpPr>
        <p:spPr>
          <a:xfrm>
            <a:off x="212036" y="2035175"/>
            <a:ext cx="8991600" cy="16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160C5C"/>
                </a:solidFill>
                <a:latin typeface="Calibri"/>
                <a:ea typeface="Calibri"/>
                <a:cs typeface="Calibri"/>
                <a:sym typeface="Calibri"/>
              </a:rPr>
              <a:t>Parallel and Distributed Computing Overview</a:t>
            </a:r>
            <a:br>
              <a:rPr lang="en-US" sz="4400" b="1">
                <a:solidFill>
                  <a:srgbClr val="160C5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(CS 3006)</a:t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05;p1"/>
          <p:cNvSpPr txBox="1"/>
          <p:nvPr/>
        </p:nvSpPr>
        <p:spPr>
          <a:xfrm>
            <a:off x="381000" y="4419600"/>
            <a:ext cx="8686800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lang="en-US" sz="26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Muhammad Aadil Ur Rehman</a:t>
            </a:r>
            <a:endParaRPr dirty="0"/>
          </a:p>
          <a:p>
            <a:pPr marL="0" marR="0" lvl="0" indent="0" algn="ctr" rtl="0">
              <a:spcBef>
                <a:spcPts val="481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endParaRPr sz="26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481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lang="en-US" sz="26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Science, </a:t>
            </a:r>
            <a:endParaRPr dirty="0"/>
          </a:p>
          <a:p>
            <a:pPr marL="0" marR="0" lvl="0" indent="0" algn="ctr" rtl="0">
              <a:spcBef>
                <a:spcPts val="518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National University of Computer &amp; Emerging Sciences</a:t>
            </a:r>
            <a:r>
              <a:rPr lang="en-US" sz="26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, Islamabad Campus</a:t>
            </a:r>
            <a:endParaRPr dirty="0"/>
          </a:p>
          <a:p>
            <a:pPr marL="0" marR="0" lvl="0" indent="0" algn="r" rtl="0">
              <a:spcBef>
                <a:spcPts val="314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rPr lang="en-US" sz="17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endParaRPr dirty="0"/>
          </a:p>
          <a:p>
            <a:pPr marL="0" marR="0" lvl="0" indent="0" algn="ctr" rtl="0">
              <a:spcBef>
                <a:spcPts val="481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endParaRPr sz="26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06;p1"/>
          <p:cNvSpPr/>
          <p:nvPr/>
        </p:nvSpPr>
        <p:spPr>
          <a:xfrm>
            <a:off x="6129229" y="6488705"/>
            <a:ext cx="307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Credits: Dr. Muhammad Aleem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2701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5615"/>
            <a:ext cx="9138385" cy="72189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fr-FR" b="1" dirty="0" err="1">
                <a:solidFill>
                  <a:srgbClr val="C00000"/>
                </a:solidFill>
                <a:ea typeface="+mj-ea"/>
              </a:rPr>
              <a:t>Distributed</a:t>
            </a:r>
            <a:r>
              <a:rPr lang="fr-FR" b="1" dirty="0">
                <a:solidFill>
                  <a:srgbClr val="C00000"/>
                </a:solidFill>
                <a:ea typeface="+mj-ea"/>
              </a:rPr>
              <a:t> </a:t>
            </a:r>
            <a:r>
              <a:rPr lang="fr-FR" b="1" dirty="0" err="1">
                <a:solidFill>
                  <a:srgbClr val="C00000"/>
                </a:solidFill>
                <a:ea typeface="+mj-ea"/>
              </a:rPr>
              <a:t>Systems</a:t>
            </a:r>
            <a:r>
              <a:rPr lang="fr-FR" b="1" dirty="0">
                <a:solidFill>
                  <a:srgbClr val="C00000"/>
                </a:solidFill>
                <a:ea typeface="+mj-ea"/>
              </a:rPr>
              <a:t> - </a:t>
            </a:r>
            <a:r>
              <a:rPr lang="fr-FR" b="1" dirty="0" err="1">
                <a:solidFill>
                  <a:srgbClr val="C00000"/>
                </a:solidFill>
                <a:ea typeface="+mj-ea"/>
              </a:rPr>
              <a:t>Definition</a:t>
            </a:r>
            <a:endParaRPr lang="fr-FR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638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800" dirty="0"/>
              <a:t>A </a:t>
            </a:r>
            <a:r>
              <a:rPr lang="fr-FR" sz="2800" b="1" dirty="0" err="1">
                <a:solidFill>
                  <a:srgbClr val="C00000"/>
                </a:solidFill>
              </a:rPr>
              <a:t>distributed</a:t>
            </a:r>
            <a:r>
              <a:rPr lang="fr-FR" sz="2800" b="1" dirty="0">
                <a:solidFill>
                  <a:srgbClr val="C00000"/>
                </a:solidFill>
              </a:rPr>
              <a:t> system </a:t>
            </a:r>
            <a:r>
              <a:rPr lang="fr-FR" sz="2800" dirty="0" err="1"/>
              <a:t>is</a:t>
            </a:r>
            <a:r>
              <a:rPr lang="fr-FR" sz="2800" dirty="0"/>
              <a:t> a </a:t>
            </a:r>
            <a:r>
              <a:rPr lang="fr-FR" sz="2800" b="1" dirty="0"/>
              <a:t>software system </a:t>
            </a:r>
            <a:r>
              <a:rPr lang="fr-FR" sz="2800" dirty="0"/>
              <a:t>in </a:t>
            </a:r>
            <a:r>
              <a:rPr lang="fr-FR" sz="2800" dirty="0" err="1"/>
              <a:t>which</a:t>
            </a:r>
            <a:r>
              <a:rPr lang="fr-FR" sz="2800" dirty="0"/>
              <a:t> </a:t>
            </a:r>
            <a:r>
              <a:rPr lang="fr-FR" sz="2800" b="1" dirty="0"/>
              <a:t>components</a:t>
            </a:r>
            <a:r>
              <a:rPr lang="fr-FR" sz="2800" dirty="0"/>
              <a:t> </a:t>
            </a:r>
            <a:r>
              <a:rPr lang="fr-FR" sz="2800" dirty="0" err="1"/>
              <a:t>located</a:t>
            </a:r>
            <a:r>
              <a:rPr lang="fr-FR" sz="2800" dirty="0"/>
              <a:t> on </a:t>
            </a:r>
            <a:r>
              <a:rPr lang="fr-FR" sz="2800" b="1" dirty="0" err="1">
                <a:solidFill>
                  <a:srgbClr val="2C14DE"/>
                </a:solidFill>
              </a:rPr>
              <a:t>networked</a:t>
            </a:r>
            <a:r>
              <a:rPr lang="fr-FR" sz="2800" b="1" dirty="0">
                <a:solidFill>
                  <a:srgbClr val="2C14DE"/>
                </a:solidFill>
              </a:rPr>
              <a:t> computers </a:t>
            </a:r>
            <a:r>
              <a:rPr lang="fr-FR" sz="2800" b="1" dirty="0" err="1">
                <a:solidFill>
                  <a:srgbClr val="2C14DE"/>
                </a:solidFill>
              </a:rPr>
              <a:t>communicate</a:t>
            </a:r>
            <a:r>
              <a:rPr lang="fr-FR" sz="2800" dirty="0"/>
              <a:t> and </a:t>
            </a:r>
            <a:r>
              <a:rPr lang="fr-FR" sz="2800" b="1" dirty="0" err="1">
                <a:solidFill>
                  <a:srgbClr val="2C14DE"/>
                </a:solidFill>
              </a:rPr>
              <a:t>coordinate</a:t>
            </a:r>
            <a:r>
              <a:rPr lang="fr-FR" sz="2800" dirty="0">
                <a:solidFill>
                  <a:srgbClr val="2C14DE"/>
                </a:solidFill>
              </a:rPr>
              <a:t> </a:t>
            </a:r>
            <a:r>
              <a:rPr lang="fr-FR" sz="2800" dirty="0" err="1"/>
              <a:t>their</a:t>
            </a:r>
            <a:r>
              <a:rPr lang="fr-FR" sz="2800" dirty="0"/>
              <a:t> actions </a:t>
            </a:r>
            <a:r>
              <a:rPr lang="fr-FR" sz="2800" b="1" dirty="0">
                <a:solidFill>
                  <a:srgbClr val="2C14DE"/>
                </a:solidFill>
              </a:rPr>
              <a:t>by passing messages </a:t>
            </a:r>
            <a:r>
              <a:rPr lang="fr-FR" sz="2800" dirty="0"/>
              <a:t>(to </a:t>
            </a:r>
            <a:r>
              <a:rPr lang="fr-FR" sz="2800" dirty="0" err="1"/>
              <a:t>achieve</a:t>
            </a:r>
            <a:r>
              <a:rPr lang="fr-FR" sz="2800" dirty="0"/>
              <a:t> a </a:t>
            </a:r>
            <a:r>
              <a:rPr lang="fr-FR" sz="2800" dirty="0" err="1"/>
              <a:t>common</a:t>
            </a:r>
            <a:r>
              <a:rPr lang="fr-FR" sz="2800" dirty="0"/>
              <a:t> goal)</a:t>
            </a:r>
          </a:p>
          <a:p>
            <a:pPr marL="0" indent="0" algn="just">
              <a:buNone/>
            </a:pPr>
            <a:endParaRPr lang="fr-FR" sz="2800" dirty="0"/>
          </a:p>
          <a:p>
            <a:pPr marL="0" indent="0" algn="just">
              <a:buNone/>
            </a:pPr>
            <a:endParaRPr lang="fr-FR" sz="2800" dirty="0"/>
          </a:p>
          <a:p>
            <a:pPr marL="0" indent="0" algn="just">
              <a:buNone/>
            </a:pPr>
            <a:r>
              <a:rPr lang="fr-FR" sz="2800" b="1" dirty="0">
                <a:solidFill>
                  <a:srgbClr val="C00000"/>
                </a:solidFill>
              </a:rPr>
              <a:t>How to Program </a:t>
            </a:r>
            <a:r>
              <a:rPr lang="fr-FR" sz="2800" b="1" dirty="0" err="1">
                <a:solidFill>
                  <a:srgbClr val="C00000"/>
                </a:solidFill>
              </a:rPr>
              <a:t>Distributed</a:t>
            </a:r>
            <a:r>
              <a:rPr lang="fr-FR" sz="2800" b="1" dirty="0">
                <a:solidFill>
                  <a:srgbClr val="C00000"/>
                </a:solidFill>
              </a:rPr>
              <a:t> Computers?</a:t>
            </a:r>
          </a:p>
          <a:p>
            <a:pPr marL="0" indent="0" algn="just">
              <a:buNone/>
            </a:pPr>
            <a:r>
              <a:rPr lang="fr-FR" sz="2800" dirty="0"/>
              <a:t>- </a:t>
            </a:r>
            <a:r>
              <a:rPr lang="fr-FR" sz="2800" b="1" dirty="0">
                <a:solidFill>
                  <a:srgbClr val="2C14DE"/>
                </a:solidFill>
              </a:rPr>
              <a:t>Message Passing </a:t>
            </a:r>
            <a:r>
              <a:rPr lang="fr-FR" sz="2800" b="1" dirty="0" err="1">
                <a:solidFill>
                  <a:srgbClr val="2C14DE"/>
                </a:solidFill>
              </a:rPr>
              <a:t>based</a:t>
            </a:r>
            <a:r>
              <a:rPr lang="fr-FR" sz="2800" b="1" dirty="0">
                <a:solidFill>
                  <a:srgbClr val="2C14DE"/>
                </a:solidFill>
              </a:rPr>
              <a:t> </a:t>
            </a:r>
            <a:r>
              <a:rPr lang="fr-FR" sz="2800" b="1" dirty="0" err="1">
                <a:solidFill>
                  <a:srgbClr val="2C14DE"/>
                </a:solidFill>
              </a:rPr>
              <a:t>Programming</a:t>
            </a:r>
            <a:r>
              <a:rPr lang="fr-FR" sz="2800" b="1" dirty="0">
                <a:solidFill>
                  <a:srgbClr val="2C14DE"/>
                </a:solidFill>
              </a:rPr>
              <a:t>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73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5615"/>
            <a:ext cx="9067800" cy="72189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4000" b="1" dirty="0">
                <a:solidFill>
                  <a:srgbClr val="C00000"/>
                </a:solidFill>
                <a:ea typeface="+mj-ea"/>
              </a:rPr>
              <a:t>MPI (Message Passing Interface)?</a:t>
            </a:r>
            <a:endParaRPr lang="en-US" sz="4000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65843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839200" cy="6019800"/>
          </a:xfrm>
        </p:spPr>
        <p:txBody>
          <a:bodyPr>
            <a:normAutofit/>
          </a:bodyPr>
          <a:lstStyle/>
          <a:p>
            <a:pPr marL="609600" indent="-609600"/>
            <a:r>
              <a:rPr lang="en-US" sz="3000" b="1" dirty="0">
                <a:solidFill>
                  <a:srgbClr val="2C14DE"/>
                </a:solidFill>
              </a:rPr>
              <a:t>Standardized</a:t>
            </a:r>
            <a:r>
              <a:rPr lang="en-US" sz="3000" dirty="0">
                <a:solidFill>
                  <a:srgbClr val="2C14DE"/>
                </a:solidFill>
              </a:rPr>
              <a:t> </a:t>
            </a:r>
            <a:r>
              <a:rPr lang="en-US" sz="3000" b="1" dirty="0"/>
              <a:t>message passing library </a:t>
            </a:r>
            <a:r>
              <a:rPr lang="en-US" sz="3000" b="1" dirty="0">
                <a:solidFill>
                  <a:srgbClr val="2C14DE"/>
                </a:solidFill>
              </a:rPr>
              <a:t>specification </a:t>
            </a:r>
          </a:p>
          <a:p>
            <a:pPr marL="990600" lvl="1" indent="-533400"/>
            <a:r>
              <a:rPr lang="en-US" sz="3000" dirty="0"/>
              <a:t>for </a:t>
            </a:r>
            <a:r>
              <a:rPr lang="en-US" sz="3000" b="1" dirty="0"/>
              <a:t>parallel computers clusters</a:t>
            </a:r>
          </a:p>
          <a:p>
            <a:pPr marL="990600" lvl="1" indent="-533400"/>
            <a:r>
              <a:rPr lang="en-US" sz="3000" dirty="0"/>
              <a:t>not a specific product, compiler specification etc.</a:t>
            </a:r>
          </a:p>
          <a:p>
            <a:pPr marL="990600" lvl="1" indent="-533400"/>
            <a:r>
              <a:rPr lang="en-US" sz="3000" dirty="0"/>
              <a:t>many implementations, </a:t>
            </a:r>
            <a:r>
              <a:rPr lang="en-US" sz="3000" b="1" dirty="0">
                <a:solidFill>
                  <a:srgbClr val="2C14DE"/>
                </a:solidFill>
              </a:rPr>
              <a:t>MPICH</a:t>
            </a:r>
            <a:r>
              <a:rPr lang="en-US" sz="3000" dirty="0"/>
              <a:t>, </a:t>
            </a:r>
            <a:r>
              <a:rPr lang="en-US" sz="3000" b="1" dirty="0"/>
              <a:t>LAM</a:t>
            </a:r>
            <a:r>
              <a:rPr lang="en-US" sz="3000" dirty="0"/>
              <a:t>, </a:t>
            </a:r>
            <a:r>
              <a:rPr lang="en-US" sz="3000" b="1" dirty="0" err="1"/>
              <a:t>OpenMPI</a:t>
            </a:r>
            <a:r>
              <a:rPr lang="en-US" sz="3000" dirty="0"/>
              <a:t> …</a:t>
            </a:r>
          </a:p>
          <a:p>
            <a:pPr marL="609600" indent="-609600">
              <a:buFontTx/>
              <a:buNone/>
            </a:pPr>
            <a:endParaRPr lang="en-GB" sz="3000" dirty="0"/>
          </a:p>
          <a:p>
            <a:pPr marL="609600" indent="-609600"/>
            <a:r>
              <a:rPr lang="en-GB" sz="3000" b="1" dirty="0"/>
              <a:t>Portable</a:t>
            </a:r>
            <a:r>
              <a:rPr lang="en-GB" sz="3000" dirty="0"/>
              <a:t>, with </a:t>
            </a:r>
            <a:r>
              <a:rPr lang="en-GB" sz="3000" b="1" dirty="0"/>
              <a:t>Fortran</a:t>
            </a:r>
            <a:r>
              <a:rPr lang="en-GB" sz="3000" dirty="0"/>
              <a:t> and </a:t>
            </a:r>
            <a:r>
              <a:rPr lang="en-GB" sz="3000" b="1" dirty="0"/>
              <a:t>C/C++ interfaces</a:t>
            </a:r>
          </a:p>
          <a:p>
            <a:pPr marL="609600" indent="-609600"/>
            <a:r>
              <a:rPr lang="en-GB" sz="3000" b="1" i="1" dirty="0">
                <a:solidFill>
                  <a:srgbClr val="C00000"/>
                </a:solidFill>
              </a:rPr>
              <a:t>Real</a:t>
            </a:r>
            <a:r>
              <a:rPr lang="en-GB" sz="3000" b="1" dirty="0">
                <a:solidFill>
                  <a:srgbClr val="C00000"/>
                </a:solidFill>
              </a:rPr>
              <a:t> </a:t>
            </a:r>
            <a:r>
              <a:rPr lang="en-GB" sz="3000" b="1" dirty="0">
                <a:solidFill>
                  <a:srgbClr val="2C14DE"/>
                </a:solidFill>
              </a:rPr>
              <a:t>parallel programming</a:t>
            </a:r>
          </a:p>
          <a:p>
            <a:pPr marL="990600" lvl="1" indent="-533400">
              <a:buFontTx/>
              <a:buNone/>
            </a:pPr>
            <a:endParaRPr lang="en-GB" sz="1800" dirty="0"/>
          </a:p>
          <a:p>
            <a:pPr marL="990600" lvl="1" indent="-533400"/>
            <a:endParaRPr lang="en-US" sz="1800" dirty="0"/>
          </a:p>
          <a:p>
            <a:pPr marL="990600" lvl="1" indent="-533400">
              <a:buFontTx/>
              <a:buNone/>
            </a:pPr>
            <a:endParaRPr lang="en-GB" sz="1800" dirty="0"/>
          </a:p>
          <a:p>
            <a:pPr marL="990600" lvl="1" indent="-533400">
              <a:buFontTx/>
              <a:buNone/>
            </a:pPr>
            <a:endParaRPr lang="en-US" sz="1800" dirty="0"/>
          </a:p>
          <a:p>
            <a:pPr marL="990600" lvl="1" indent="-533400"/>
            <a:endParaRPr lang="en-GB" sz="2400" dirty="0"/>
          </a:p>
          <a:p>
            <a:pPr marL="990600" lvl="1" indent="-533400">
              <a:buFontTx/>
              <a:buNone/>
            </a:pPr>
            <a:endParaRPr lang="en-GB" sz="2400" dirty="0"/>
          </a:p>
          <a:p>
            <a:pPr marL="990600" lvl="1" indent="-533400">
              <a:buFontTx/>
              <a:buNone/>
            </a:pPr>
            <a:endParaRPr lang="en-GB" sz="2400" dirty="0"/>
          </a:p>
          <a:p>
            <a:pPr marL="990600" lvl="1" indent="-533400">
              <a:buFontTx/>
              <a:buNone/>
            </a:pP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8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628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fr-FR" b="1" dirty="0">
                <a:solidFill>
                  <a:srgbClr val="C00000"/>
                </a:solidFill>
                <a:ea typeface="+mj-ea"/>
              </a:rPr>
              <a:t>A </a:t>
            </a:r>
            <a:r>
              <a:rPr lang="fr-FR" b="1" dirty="0" err="1">
                <a:solidFill>
                  <a:srgbClr val="C00000"/>
                </a:solidFill>
                <a:ea typeface="+mj-ea"/>
              </a:rPr>
              <a:t>Brief</a:t>
            </a:r>
            <a:r>
              <a:rPr lang="fr-FR" b="1" dirty="0">
                <a:solidFill>
                  <a:srgbClr val="C00000"/>
                </a:solidFill>
                <a:ea typeface="+mj-ea"/>
              </a:rPr>
              <a:t> </a:t>
            </a:r>
            <a:r>
              <a:rPr lang="fr-FR" b="1" dirty="0" err="1">
                <a:solidFill>
                  <a:srgbClr val="C00000"/>
                </a:solidFill>
                <a:ea typeface="+mj-ea"/>
              </a:rPr>
              <a:t>History</a:t>
            </a:r>
            <a:r>
              <a:rPr lang="fr-FR" b="1" dirty="0">
                <a:solidFill>
                  <a:srgbClr val="C00000"/>
                </a:solidFill>
                <a:ea typeface="+mj-ea"/>
              </a:rPr>
              <a:t> - MPI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6200" y="838200"/>
            <a:ext cx="8915400" cy="59436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fr-FR" sz="2800" b="1" dirty="0" err="1">
                <a:latin typeface="+mj-lt"/>
              </a:rPr>
              <a:t>Writing</a:t>
            </a:r>
            <a:r>
              <a:rPr lang="fr-FR" sz="2800" dirty="0">
                <a:latin typeface="+mj-lt"/>
              </a:rPr>
              <a:t> </a:t>
            </a:r>
            <a:r>
              <a:rPr lang="fr-FR" sz="2800" b="1" dirty="0" err="1">
                <a:latin typeface="+mj-lt"/>
              </a:rPr>
              <a:t>parallel</a:t>
            </a:r>
            <a:r>
              <a:rPr lang="fr-FR" sz="2800" b="1" dirty="0">
                <a:latin typeface="+mj-lt"/>
              </a:rPr>
              <a:t> applications</a:t>
            </a:r>
            <a:r>
              <a:rPr lang="fr-FR" sz="2800" dirty="0">
                <a:latin typeface="+mj-lt"/>
              </a:rPr>
              <a:t> </a:t>
            </a:r>
            <a:r>
              <a:rPr lang="fr-FR" sz="2800" dirty="0" err="1">
                <a:latin typeface="+mj-lt"/>
              </a:rPr>
              <a:t>is</a:t>
            </a:r>
            <a:r>
              <a:rPr lang="fr-FR" sz="2800" dirty="0">
                <a:latin typeface="+mj-lt"/>
              </a:rPr>
              <a:t> </a:t>
            </a:r>
            <a:r>
              <a:rPr lang="fr-FR" sz="2800" b="1" dirty="0">
                <a:latin typeface="+mj-lt"/>
              </a:rPr>
              <a:t>fun</a:t>
            </a:r>
            <a:r>
              <a:rPr lang="fr-FR" sz="2800" dirty="0">
                <a:latin typeface="+mj-lt"/>
              </a:rPr>
              <a:t>!!</a:t>
            </a:r>
          </a:p>
          <a:p>
            <a:pPr>
              <a:defRPr/>
            </a:pPr>
            <a:endParaRPr lang="fr-FR" sz="2800" dirty="0">
              <a:latin typeface="+mj-lt"/>
            </a:endParaRPr>
          </a:p>
          <a:p>
            <a:pPr>
              <a:defRPr/>
            </a:pPr>
            <a:r>
              <a:rPr lang="fr-FR" sz="2800" b="1" dirty="0" err="1">
                <a:latin typeface="+mj-lt"/>
              </a:rPr>
              <a:t>Initially</a:t>
            </a:r>
            <a:r>
              <a:rPr lang="fr-FR" sz="2800" b="1" dirty="0">
                <a:latin typeface="+mj-lt"/>
              </a:rPr>
              <a:t>,</a:t>
            </a:r>
            <a:r>
              <a:rPr lang="fr-FR" sz="2800" dirty="0">
                <a:latin typeface="+mj-lt"/>
              </a:rPr>
              <a:t> </a:t>
            </a:r>
            <a:r>
              <a:rPr lang="fr-FR" sz="2800" dirty="0" err="1">
                <a:latin typeface="+mj-lt"/>
              </a:rPr>
              <a:t>it</a:t>
            </a:r>
            <a:r>
              <a:rPr lang="fr-FR" sz="2800" dirty="0">
                <a:latin typeface="+mj-lt"/>
              </a:rPr>
              <a:t> </a:t>
            </a:r>
            <a:r>
              <a:rPr lang="fr-FR" sz="2800" b="1" u="sng" dirty="0" err="1">
                <a:solidFill>
                  <a:srgbClr val="C00000"/>
                </a:solidFill>
                <a:latin typeface="+mj-lt"/>
              </a:rPr>
              <a:t>was</a:t>
            </a:r>
            <a:r>
              <a:rPr lang="fr-FR" sz="2800" b="1" u="sng" dirty="0">
                <a:solidFill>
                  <a:srgbClr val="C00000"/>
                </a:solidFill>
                <a:latin typeface="+mj-lt"/>
              </a:rPr>
              <a:t> a </a:t>
            </a:r>
            <a:r>
              <a:rPr lang="fr-FR" sz="2800" b="1" u="sng" dirty="0" err="1">
                <a:solidFill>
                  <a:srgbClr val="C00000"/>
                </a:solidFill>
                <a:latin typeface="+mj-lt"/>
              </a:rPr>
              <a:t>difficult</a:t>
            </a:r>
            <a:r>
              <a:rPr lang="fr-FR" sz="2800" dirty="0">
                <a:latin typeface="+mj-lt"/>
              </a:rPr>
              <a:t>:</a:t>
            </a:r>
          </a:p>
          <a:p>
            <a:pPr lvl="1">
              <a:defRPr/>
            </a:pPr>
            <a:r>
              <a:rPr lang="fr-FR" b="1" dirty="0">
                <a:solidFill>
                  <a:srgbClr val="2C14DE"/>
                </a:solidFill>
                <a:latin typeface="+mj-lt"/>
              </a:rPr>
              <a:t>No single standard</a:t>
            </a:r>
          </a:p>
          <a:p>
            <a:pPr lvl="1">
              <a:defRPr/>
            </a:pPr>
            <a:r>
              <a:rPr lang="fr-FR" b="1" dirty="0" err="1">
                <a:solidFill>
                  <a:srgbClr val="2C14DE"/>
                </a:solidFill>
                <a:latin typeface="+mj-lt"/>
              </a:rPr>
              <a:t>Various</a:t>
            </a:r>
            <a:r>
              <a:rPr lang="fr-FR" b="1" dirty="0">
                <a:solidFill>
                  <a:srgbClr val="2C14DE"/>
                </a:solidFill>
                <a:latin typeface="+mj-lt"/>
              </a:rPr>
              <a:t> implementations</a:t>
            </a:r>
            <a:r>
              <a:rPr lang="fr-FR" b="1" dirty="0">
                <a:latin typeface="+mj-lt"/>
              </a:rPr>
              <a:t> </a:t>
            </a:r>
            <a:r>
              <a:rPr lang="fr-FR" dirty="0">
                <a:latin typeface="+mj-lt"/>
              </a:rPr>
              <a:t>(</a:t>
            </a:r>
            <a:r>
              <a:rPr lang="fr-FR" dirty="0" err="1">
                <a:latin typeface="+mj-lt"/>
              </a:rPr>
              <a:t>with</a:t>
            </a:r>
            <a:r>
              <a:rPr lang="fr-FR" dirty="0">
                <a:latin typeface="+mj-lt"/>
              </a:rPr>
              <a:t> </a:t>
            </a:r>
            <a:r>
              <a:rPr lang="fr-FR" b="1" u="sng" dirty="0" err="1">
                <a:latin typeface="+mj-lt"/>
              </a:rPr>
              <a:t>different</a:t>
            </a:r>
            <a:r>
              <a:rPr lang="fr-FR" b="1" u="sng" dirty="0">
                <a:latin typeface="+mj-lt"/>
              </a:rPr>
              <a:t> </a:t>
            </a:r>
            <a:r>
              <a:rPr lang="fr-FR" b="1" u="sng" dirty="0" err="1">
                <a:latin typeface="+mj-lt"/>
              </a:rPr>
              <a:t>features</a:t>
            </a:r>
            <a:r>
              <a:rPr lang="fr-FR" dirty="0">
                <a:latin typeface="+mj-lt"/>
              </a:rPr>
              <a:t>)</a:t>
            </a:r>
          </a:p>
          <a:p>
            <a:pPr lvl="1">
              <a:defRPr/>
            </a:pPr>
            <a:endParaRPr lang="fr-FR" dirty="0">
              <a:latin typeface="+mj-lt"/>
            </a:endParaRPr>
          </a:p>
          <a:p>
            <a:pPr>
              <a:defRPr/>
            </a:pPr>
            <a:r>
              <a:rPr lang="fr-FR" sz="2800" b="1" dirty="0">
                <a:solidFill>
                  <a:srgbClr val="C00000"/>
                </a:solidFill>
                <a:latin typeface="+mj-lt"/>
              </a:rPr>
              <a:t>Solution</a:t>
            </a:r>
            <a:r>
              <a:rPr lang="fr-FR" sz="2800" dirty="0">
                <a:latin typeface="+mj-lt"/>
              </a:rPr>
              <a:t>: a </a:t>
            </a:r>
            <a:r>
              <a:rPr lang="fr-FR" sz="2800" b="1" dirty="0">
                <a:solidFill>
                  <a:srgbClr val="2C14DE"/>
                </a:solidFill>
                <a:latin typeface="+mj-lt"/>
              </a:rPr>
              <a:t>MPI</a:t>
            </a:r>
            <a:r>
              <a:rPr lang="fr-FR" sz="2800" dirty="0">
                <a:solidFill>
                  <a:srgbClr val="2C14DE"/>
                </a:solidFill>
                <a:latin typeface="+mj-lt"/>
              </a:rPr>
              <a:t> </a:t>
            </a:r>
            <a:r>
              <a:rPr lang="fr-FR" sz="2800" b="1" dirty="0">
                <a:latin typeface="+mj-lt"/>
              </a:rPr>
              <a:t>standard</a:t>
            </a:r>
            <a:r>
              <a:rPr lang="fr-FR" sz="2800" b="1" dirty="0">
                <a:solidFill>
                  <a:srgbClr val="2C14DE"/>
                </a:solidFill>
                <a:latin typeface="+mj-lt"/>
              </a:rPr>
              <a:t> </a:t>
            </a:r>
            <a:r>
              <a:rPr lang="fr-FR" sz="2800" b="1" dirty="0" err="1">
                <a:latin typeface="+mj-lt"/>
              </a:rPr>
              <a:t>was</a:t>
            </a:r>
            <a:r>
              <a:rPr lang="fr-FR" sz="2800" b="1" dirty="0">
                <a:latin typeface="+mj-lt"/>
              </a:rPr>
              <a:t> </a:t>
            </a:r>
            <a:r>
              <a:rPr lang="fr-FR" sz="2800" b="1" dirty="0" err="1">
                <a:solidFill>
                  <a:srgbClr val="2C14DE"/>
                </a:solidFill>
                <a:latin typeface="+mj-lt"/>
              </a:rPr>
              <a:t>defined</a:t>
            </a:r>
            <a:endParaRPr lang="fr-FR" sz="2800" b="1" dirty="0">
              <a:solidFill>
                <a:srgbClr val="2C14DE"/>
              </a:solidFill>
              <a:latin typeface="+mj-lt"/>
            </a:endParaRPr>
          </a:p>
          <a:p>
            <a:pPr lvl="1">
              <a:defRPr/>
            </a:pPr>
            <a:r>
              <a:rPr lang="fr-FR" b="1" dirty="0" err="1">
                <a:latin typeface="+mj-lt"/>
              </a:rPr>
              <a:t>Supporting</a:t>
            </a:r>
            <a:r>
              <a:rPr lang="fr-FR" dirty="0">
                <a:latin typeface="+mj-lt"/>
              </a:rPr>
              <a:t> </a:t>
            </a:r>
            <a:r>
              <a:rPr lang="fr-FR" b="1" dirty="0" err="1">
                <a:solidFill>
                  <a:srgbClr val="2C14DE"/>
                </a:solidFill>
                <a:latin typeface="+mj-lt"/>
              </a:rPr>
              <a:t>same</a:t>
            </a:r>
            <a:r>
              <a:rPr lang="fr-FR" b="1" dirty="0">
                <a:solidFill>
                  <a:srgbClr val="2C14DE"/>
                </a:solidFill>
                <a:latin typeface="+mj-lt"/>
              </a:rPr>
              <a:t> </a:t>
            </a:r>
            <a:r>
              <a:rPr lang="fr-FR" b="1" dirty="0" err="1">
                <a:solidFill>
                  <a:srgbClr val="2C14DE"/>
                </a:solidFill>
                <a:latin typeface="+mj-lt"/>
              </a:rPr>
              <a:t>features</a:t>
            </a:r>
            <a:r>
              <a:rPr lang="fr-FR" b="1" dirty="0">
                <a:solidFill>
                  <a:srgbClr val="2C14DE"/>
                </a:solidFill>
                <a:latin typeface="+mj-lt"/>
              </a:rPr>
              <a:t> </a:t>
            </a:r>
            <a:r>
              <a:rPr lang="fr-FR" dirty="0">
                <a:latin typeface="+mj-lt"/>
              </a:rPr>
              <a:t>and </a:t>
            </a:r>
            <a:r>
              <a:rPr lang="fr-FR" b="1" dirty="0" err="1">
                <a:solidFill>
                  <a:srgbClr val="2C14DE"/>
                </a:solidFill>
                <a:latin typeface="+mj-lt"/>
              </a:rPr>
              <a:t>semantics</a:t>
            </a:r>
            <a:r>
              <a:rPr lang="fr-FR" dirty="0">
                <a:solidFill>
                  <a:srgbClr val="2C14DE"/>
                </a:solidFill>
                <a:latin typeface="+mj-lt"/>
              </a:rPr>
              <a:t> </a:t>
            </a:r>
            <a:r>
              <a:rPr lang="fr-FR" b="1" dirty="0" err="1">
                <a:latin typeface="+mj-lt"/>
              </a:rPr>
              <a:t>across</a:t>
            </a:r>
            <a:r>
              <a:rPr lang="fr-FR" b="1" dirty="0">
                <a:latin typeface="+mj-lt"/>
              </a:rPr>
              <a:t> </a:t>
            </a:r>
            <a:r>
              <a:rPr lang="fr-FR" b="1" dirty="0" err="1">
                <a:latin typeface="+mj-lt"/>
              </a:rPr>
              <a:t>implementations</a:t>
            </a:r>
            <a:endParaRPr lang="fr-FR" b="1" dirty="0">
              <a:latin typeface="+mj-lt"/>
            </a:endParaRPr>
          </a:p>
          <a:p>
            <a:pPr lvl="1">
              <a:defRPr/>
            </a:pPr>
            <a:r>
              <a:rPr lang="fr-FR" sz="2800" dirty="0">
                <a:latin typeface="+mj-lt"/>
              </a:rPr>
              <a:t>By </a:t>
            </a:r>
            <a:r>
              <a:rPr lang="fr-FR" sz="2800" b="1" u="sng" dirty="0">
                <a:latin typeface="+mj-lt"/>
              </a:rPr>
              <a:t>1994</a:t>
            </a:r>
            <a:r>
              <a:rPr lang="fr-FR" sz="2800" dirty="0">
                <a:latin typeface="+mj-lt"/>
              </a:rPr>
              <a:t>, </a:t>
            </a:r>
            <a:r>
              <a:rPr lang="fr-FR" sz="2800" b="1" dirty="0">
                <a:latin typeface="+mj-lt"/>
              </a:rPr>
              <a:t>a </a:t>
            </a:r>
            <a:r>
              <a:rPr lang="fr-FR" sz="2800" b="1" dirty="0" err="1">
                <a:solidFill>
                  <a:srgbClr val="2C14DE"/>
                </a:solidFill>
                <a:latin typeface="+mj-lt"/>
              </a:rPr>
              <a:t>complete</a:t>
            </a:r>
            <a:r>
              <a:rPr lang="fr-FR" sz="2800" b="1" dirty="0">
                <a:solidFill>
                  <a:srgbClr val="2C14DE"/>
                </a:solidFill>
                <a:latin typeface="+mj-lt"/>
              </a:rPr>
              <a:t> interface </a:t>
            </a:r>
            <a:r>
              <a:rPr lang="fr-FR" sz="2800" dirty="0">
                <a:latin typeface="+mj-lt"/>
              </a:rPr>
              <a:t>and </a:t>
            </a:r>
            <a:r>
              <a:rPr lang="fr-FR" sz="2800" b="1" dirty="0">
                <a:solidFill>
                  <a:srgbClr val="2C14DE"/>
                </a:solidFill>
                <a:latin typeface="+mj-lt"/>
              </a:rPr>
              <a:t>standard</a:t>
            </a:r>
            <a:r>
              <a:rPr lang="fr-FR" sz="2800" dirty="0">
                <a:solidFill>
                  <a:srgbClr val="2C14DE"/>
                </a:solidFill>
                <a:latin typeface="+mj-lt"/>
              </a:rPr>
              <a:t> </a:t>
            </a:r>
            <a:r>
              <a:rPr lang="fr-FR" sz="2800" dirty="0" err="1">
                <a:latin typeface="+mj-lt"/>
              </a:rPr>
              <a:t>was</a:t>
            </a:r>
            <a:r>
              <a:rPr lang="fr-FR" sz="2800" dirty="0">
                <a:latin typeface="+mj-lt"/>
              </a:rPr>
              <a:t> </a:t>
            </a:r>
            <a:r>
              <a:rPr lang="fr-FR" sz="2800" b="1" dirty="0" err="1">
                <a:latin typeface="+mj-lt"/>
              </a:rPr>
              <a:t>defined</a:t>
            </a:r>
            <a:r>
              <a:rPr lang="fr-FR" sz="2800" dirty="0">
                <a:latin typeface="+mj-lt"/>
              </a:rPr>
              <a:t> (</a:t>
            </a:r>
            <a:r>
              <a:rPr lang="fr-FR" sz="2800" b="1" dirty="0">
                <a:solidFill>
                  <a:srgbClr val="C00000"/>
                </a:solidFill>
                <a:latin typeface="+mj-lt"/>
              </a:rPr>
              <a:t>MPI-1</a:t>
            </a:r>
            <a:r>
              <a:rPr lang="fr-FR" sz="2800" dirty="0">
                <a:latin typeface="+mj-lt"/>
              </a:rPr>
              <a:t>)</a:t>
            </a:r>
          </a:p>
          <a:p>
            <a:pPr>
              <a:defRPr/>
            </a:pPr>
            <a:r>
              <a:rPr lang="fr-FR" sz="2800" b="1" dirty="0" err="1">
                <a:solidFill>
                  <a:srgbClr val="008000"/>
                </a:solidFill>
                <a:latin typeface="+mj-lt"/>
              </a:rPr>
              <a:t>Result</a:t>
            </a:r>
            <a:r>
              <a:rPr lang="fr-FR" sz="2800" dirty="0">
                <a:latin typeface="+mj-lt"/>
              </a:rPr>
              <a:t>: </a:t>
            </a:r>
            <a:r>
              <a:rPr lang="fr-FR" sz="2800" b="1" dirty="0">
                <a:solidFill>
                  <a:srgbClr val="2C14DE"/>
                </a:solidFill>
                <a:latin typeface="+mj-lt"/>
              </a:rPr>
              <a:t>Portable</a:t>
            </a:r>
            <a:r>
              <a:rPr lang="fr-FR" sz="2800" dirty="0">
                <a:solidFill>
                  <a:srgbClr val="2C14DE"/>
                </a:solidFill>
                <a:latin typeface="+mj-lt"/>
              </a:rPr>
              <a:t> </a:t>
            </a:r>
            <a:r>
              <a:rPr lang="fr-FR" sz="2800" b="1" dirty="0" err="1">
                <a:solidFill>
                  <a:srgbClr val="2C14DE"/>
                </a:solidFill>
                <a:latin typeface="+mj-lt"/>
              </a:rPr>
              <a:t>Parallel</a:t>
            </a:r>
            <a:r>
              <a:rPr lang="fr-FR" sz="2800" b="1" dirty="0">
                <a:solidFill>
                  <a:srgbClr val="2C14DE"/>
                </a:solidFill>
                <a:latin typeface="+mj-lt"/>
              </a:rPr>
              <a:t> Programs</a:t>
            </a:r>
          </a:p>
          <a:p>
            <a:pPr>
              <a:defRPr/>
            </a:pPr>
            <a:endParaRPr lang="fr-FR" sz="3000" b="1" dirty="0">
              <a:solidFill>
                <a:srgbClr val="2C14DE"/>
              </a:solidFill>
              <a:latin typeface="+mj-lt"/>
            </a:endParaRPr>
          </a:p>
          <a:p>
            <a:pPr lvl="1">
              <a:defRPr/>
            </a:pPr>
            <a:endParaRPr lang="fr-FR" sz="3000" dirty="0"/>
          </a:p>
          <a:p>
            <a:pPr lvl="1">
              <a:defRPr/>
            </a:pPr>
            <a:endParaRPr lang="fr-FR" dirty="0">
              <a:ea typeface="+mn-ea"/>
            </a:endParaRPr>
          </a:p>
          <a:p>
            <a:pPr>
              <a:defRPr/>
            </a:pPr>
            <a:endParaRPr lang="fr-FR" dirty="0">
              <a:ea typeface="+mn-ea"/>
            </a:endParaRPr>
          </a:p>
          <a:p>
            <a:pPr>
              <a:defRPr/>
            </a:pPr>
            <a:endParaRPr lang="fr-FR" dirty="0">
              <a:ea typeface="+mn-e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" y="7201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44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5615"/>
            <a:ext cx="9138385" cy="72189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fr-FR" b="1" dirty="0">
                <a:solidFill>
                  <a:srgbClr val="C00000"/>
                </a:solidFill>
                <a:ea typeface="+mj-ea"/>
              </a:rPr>
              <a:t>The Message-Passing Model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5615" y="826000"/>
            <a:ext cx="9073415" cy="347294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C00000"/>
                </a:solidFill>
              </a:rPr>
              <a:t>Two major requirements</a:t>
            </a:r>
            <a:r>
              <a:rPr lang="en-US" sz="2800" dirty="0"/>
              <a:t>:</a:t>
            </a:r>
          </a:p>
          <a:p>
            <a:pPr marL="696912" lvl="1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600" b="1" dirty="0"/>
              <a:t>Creating</a:t>
            </a:r>
            <a:r>
              <a:rPr lang="en-US" sz="2600" dirty="0"/>
              <a:t> </a:t>
            </a:r>
            <a:r>
              <a:rPr lang="en-US" sz="2600" b="1" dirty="0">
                <a:solidFill>
                  <a:srgbClr val="2C14DE"/>
                </a:solidFill>
              </a:rPr>
              <a:t>separate processes </a:t>
            </a:r>
            <a:r>
              <a:rPr lang="en-US" sz="2600" dirty="0"/>
              <a:t>for </a:t>
            </a:r>
            <a:r>
              <a:rPr lang="en-US" sz="2600" b="1" dirty="0"/>
              <a:t>execution</a:t>
            </a:r>
            <a:r>
              <a:rPr lang="en-US" sz="2600" dirty="0"/>
              <a:t> on </a:t>
            </a:r>
            <a:r>
              <a:rPr lang="en-US" sz="2600" b="1" u="sng" dirty="0"/>
              <a:t>different computers</a:t>
            </a:r>
          </a:p>
          <a:p>
            <a:pPr marL="696912" lvl="1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600" b="1" dirty="0"/>
              <a:t>Method</a:t>
            </a:r>
            <a:r>
              <a:rPr lang="en-US" sz="2600" dirty="0"/>
              <a:t> of </a:t>
            </a:r>
            <a:r>
              <a:rPr lang="en-US" sz="2600" b="1" dirty="0">
                <a:solidFill>
                  <a:srgbClr val="2C14DE"/>
                </a:solidFill>
              </a:rPr>
              <a:t>sending</a:t>
            </a:r>
            <a:r>
              <a:rPr lang="en-US" sz="2600" dirty="0">
                <a:solidFill>
                  <a:srgbClr val="2C14DE"/>
                </a:solidFill>
              </a:rPr>
              <a:t> </a:t>
            </a:r>
            <a:r>
              <a:rPr lang="en-US" sz="2600" dirty="0"/>
              <a:t>and </a:t>
            </a:r>
            <a:r>
              <a:rPr lang="en-US" sz="2600" b="1" dirty="0">
                <a:solidFill>
                  <a:srgbClr val="2C14DE"/>
                </a:solidFill>
              </a:rPr>
              <a:t>receiving</a:t>
            </a:r>
            <a:r>
              <a:rPr lang="en-US" sz="2600" dirty="0">
                <a:solidFill>
                  <a:srgbClr val="2C14DE"/>
                </a:solidFill>
              </a:rPr>
              <a:t> </a:t>
            </a:r>
            <a:r>
              <a:rPr lang="en-US" sz="2600" b="1" dirty="0"/>
              <a:t>messages</a:t>
            </a:r>
          </a:p>
          <a:p>
            <a:pPr marL="0" indent="0">
              <a:buNone/>
            </a:pPr>
            <a:br>
              <a:rPr lang="en-US" sz="2800" dirty="0"/>
            </a:br>
            <a:endParaRPr lang="fr-FR" sz="2800" dirty="0"/>
          </a:p>
        </p:txBody>
      </p:sp>
      <p:sp>
        <p:nvSpPr>
          <p:cNvPr id="4" name="Rectangle 3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140"/>
          <p:cNvGrpSpPr>
            <a:grpSpLocks/>
          </p:cNvGrpSpPr>
          <p:nvPr/>
        </p:nvGrpSpPr>
        <p:grpSpPr bwMode="auto">
          <a:xfrm>
            <a:off x="1524000" y="2895600"/>
            <a:ext cx="6373872" cy="3795712"/>
            <a:chOff x="521" y="1071"/>
            <a:chExt cx="4718" cy="2631"/>
          </a:xfrm>
        </p:grpSpPr>
        <p:sp>
          <p:nvSpPr>
            <p:cNvPr id="6" name="Oval 112"/>
            <p:cNvSpPr>
              <a:spLocks noChangeArrowheads="1"/>
            </p:cNvSpPr>
            <p:nvPr/>
          </p:nvSpPr>
          <p:spPr bwMode="auto">
            <a:xfrm>
              <a:off x="2109" y="1979"/>
              <a:ext cx="1542" cy="79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TW" b="1" dirty="0">
                  <a:latin typeface="Arial" charset="0"/>
                  <a:ea typeface="新細明體" charset="0"/>
                </a:rPr>
                <a:t>Communication</a:t>
              </a:r>
            </a:p>
            <a:p>
              <a:pPr algn="ctr">
                <a:defRPr/>
              </a:pPr>
              <a:r>
                <a:rPr lang="en-US" altLang="zh-TW" b="1" dirty="0">
                  <a:latin typeface="Arial" charset="0"/>
                  <a:ea typeface="新細明體" charset="0"/>
                </a:rPr>
                <a:t>System</a:t>
              </a:r>
            </a:p>
            <a:p>
              <a:pPr algn="ctr">
                <a:defRPr/>
              </a:pPr>
              <a:r>
                <a:rPr lang="en-US" altLang="zh-TW" b="1" dirty="0">
                  <a:latin typeface="Arial" charset="0"/>
                  <a:ea typeface="新細明體" charset="0"/>
                </a:rPr>
                <a:t>(MPI)</a:t>
              </a:r>
            </a:p>
          </p:txBody>
        </p:sp>
        <p:grpSp>
          <p:nvGrpSpPr>
            <p:cNvPr id="7" name="Group 113"/>
            <p:cNvGrpSpPr>
              <a:grpSpLocks/>
            </p:cNvGrpSpPr>
            <p:nvPr/>
          </p:nvGrpSpPr>
          <p:grpSpPr bwMode="auto">
            <a:xfrm>
              <a:off x="4332" y="1434"/>
              <a:ext cx="907" cy="1951"/>
              <a:chOff x="4286" y="1434"/>
              <a:chExt cx="907" cy="1951"/>
            </a:xfrm>
          </p:grpSpPr>
          <p:sp>
            <p:nvSpPr>
              <p:cNvPr id="30" name="Rectangle 114"/>
              <p:cNvSpPr>
                <a:spLocks noChangeArrowheads="1"/>
              </p:cNvSpPr>
              <p:nvPr/>
            </p:nvSpPr>
            <p:spPr bwMode="auto">
              <a:xfrm>
                <a:off x="4286" y="1434"/>
                <a:ext cx="907" cy="1951"/>
              </a:xfrm>
              <a:prstGeom prst="rect">
                <a:avLst/>
              </a:prstGeom>
              <a:solidFill>
                <a:srgbClr val="CC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>
                  <a:defRPr/>
                </a:pPr>
                <a:r>
                  <a:rPr lang="en-US" altLang="zh-TW" b="1" dirty="0">
                    <a:latin typeface="Arial" charset="0"/>
                    <a:ea typeface="新細明體" charset="0"/>
                  </a:rPr>
                  <a:t>Machine</a:t>
                </a:r>
              </a:p>
            </p:txBody>
          </p:sp>
          <p:sp>
            <p:nvSpPr>
              <p:cNvPr id="31" name="Oval 115"/>
              <p:cNvSpPr>
                <a:spLocks noChangeArrowheads="1"/>
              </p:cNvSpPr>
              <p:nvPr/>
            </p:nvSpPr>
            <p:spPr bwMode="auto">
              <a:xfrm>
                <a:off x="4332" y="1888"/>
                <a:ext cx="816" cy="409"/>
              </a:xfrm>
              <a:prstGeom prst="ellipse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TW">
                    <a:latin typeface="Arial" charset="0"/>
                    <a:ea typeface="新細明體" charset="0"/>
                  </a:rPr>
                  <a:t>Process</a:t>
                </a:r>
              </a:p>
            </p:txBody>
          </p:sp>
          <p:sp>
            <p:nvSpPr>
              <p:cNvPr id="32" name="Oval 116"/>
              <p:cNvSpPr>
                <a:spLocks noChangeArrowheads="1"/>
              </p:cNvSpPr>
              <p:nvPr/>
            </p:nvSpPr>
            <p:spPr bwMode="auto">
              <a:xfrm>
                <a:off x="4332" y="2387"/>
                <a:ext cx="816" cy="409"/>
              </a:xfrm>
              <a:prstGeom prst="ellipse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TW">
                    <a:latin typeface="Arial" charset="0"/>
                    <a:ea typeface="新細明體" charset="0"/>
                  </a:rPr>
                  <a:t>Process</a:t>
                </a:r>
              </a:p>
            </p:txBody>
          </p:sp>
          <p:sp>
            <p:nvSpPr>
              <p:cNvPr id="33" name="Oval 117"/>
              <p:cNvSpPr>
                <a:spLocks noChangeArrowheads="1"/>
              </p:cNvSpPr>
              <p:nvPr/>
            </p:nvSpPr>
            <p:spPr bwMode="auto">
              <a:xfrm>
                <a:off x="4332" y="2885"/>
                <a:ext cx="816" cy="409"/>
              </a:xfrm>
              <a:prstGeom prst="ellipse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TW">
                    <a:latin typeface="Arial" charset="0"/>
                    <a:ea typeface="新細明體" charset="0"/>
                  </a:rPr>
                  <a:t>Process</a:t>
                </a:r>
              </a:p>
            </p:txBody>
          </p:sp>
        </p:grpSp>
        <p:grpSp>
          <p:nvGrpSpPr>
            <p:cNvPr id="8" name="Group 118"/>
            <p:cNvGrpSpPr>
              <a:grpSpLocks/>
            </p:cNvGrpSpPr>
            <p:nvPr/>
          </p:nvGrpSpPr>
          <p:grpSpPr bwMode="auto">
            <a:xfrm>
              <a:off x="521" y="1434"/>
              <a:ext cx="907" cy="1951"/>
              <a:chOff x="4286" y="1434"/>
              <a:chExt cx="907" cy="1951"/>
            </a:xfrm>
          </p:grpSpPr>
          <p:sp>
            <p:nvSpPr>
              <p:cNvPr id="26" name="Rectangle 119"/>
              <p:cNvSpPr>
                <a:spLocks noChangeArrowheads="1"/>
              </p:cNvSpPr>
              <p:nvPr/>
            </p:nvSpPr>
            <p:spPr bwMode="auto">
              <a:xfrm>
                <a:off x="4286" y="1434"/>
                <a:ext cx="907" cy="1951"/>
              </a:xfrm>
              <a:prstGeom prst="rect">
                <a:avLst/>
              </a:prstGeom>
              <a:solidFill>
                <a:srgbClr val="CC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>
                  <a:defRPr/>
                </a:pPr>
                <a:r>
                  <a:rPr lang="en-US" altLang="zh-TW" b="1" dirty="0">
                    <a:latin typeface="Arial" charset="0"/>
                    <a:ea typeface="新細明體" charset="0"/>
                  </a:rPr>
                  <a:t>Machine</a:t>
                </a:r>
              </a:p>
            </p:txBody>
          </p:sp>
          <p:sp>
            <p:nvSpPr>
              <p:cNvPr id="27" name="Oval 120"/>
              <p:cNvSpPr>
                <a:spLocks noChangeArrowheads="1"/>
              </p:cNvSpPr>
              <p:nvPr/>
            </p:nvSpPr>
            <p:spPr bwMode="auto">
              <a:xfrm>
                <a:off x="4332" y="1888"/>
                <a:ext cx="816" cy="409"/>
              </a:xfrm>
              <a:prstGeom prst="ellipse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TW">
                    <a:latin typeface="Arial" charset="0"/>
                    <a:ea typeface="新細明體" charset="0"/>
                  </a:rPr>
                  <a:t>Process</a:t>
                </a:r>
              </a:p>
            </p:txBody>
          </p:sp>
          <p:sp>
            <p:nvSpPr>
              <p:cNvPr id="28" name="Oval 121"/>
              <p:cNvSpPr>
                <a:spLocks noChangeArrowheads="1"/>
              </p:cNvSpPr>
              <p:nvPr/>
            </p:nvSpPr>
            <p:spPr bwMode="auto">
              <a:xfrm>
                <a:off x="4332" y="2387"/>
                <a:ext cx="816" cy="409"/>
              </a:xfrm>
              <a:prstGeom prst="ellipse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TW">
                    <a:latin typeface="Arial" charset="0"/>
                    <a:ea typeface="新細明體" charset="0"/>
                  </a:rPr>
                  <a:t>Process</a:t>
                </a:r>
              </a:p>
            </p:txBody>
          </p:sp>
          <p:sp>
            <p:nvSpPr>
              <p:cNvPr id="29" name="Oval 122"/>
              <p:cNvSpPr>
                <a:spLocks noChangeArrowheads="1"/>
              </p:cNvSpPr>
              <p:nvPr/>
            </p:nvSpPr>
            <p:spPr bwMode="auto">
              <a:xfrm>
                <a:off x="4332" y="2885"/>
                <a:ext cx="816" cy="409"/>
              </a:xfrm>
              <a:prstGeom prst="ellipse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TW">
                    <a:latin typeface="Arial" charset="0"/>
                    <a:ea typeface="新細明體" charset="0"/>
                  </a:rPr>
                  <a:t>Process</a:t>
                </a:r>
              </a:p>
            </p:txBody>
          </p:sp>
        </p:grpSp>
        <p:grpSp>
          <p:nvGrpSpPr>
            <p:cNvPr id="9" name="Group 123"/>
            <p:cNvGrpSpPr>
              <a:grpSpLocks/>
            </p:cNvGrpSpPr>
            <p:nvPr/>
          </p:nvGrpSpPr>
          <p:grpSpPr bwMode="auto">
            <a:xfrm>
              <a:off x="2336" y="1071"/>
              <a:ext cx="1088" cy="771"/>
              <a:chOff x="2200" y="1071"/>
              <a:chExt cx="1088" cy="771"/>
            </a:xfrm>
          </p:grpSpPr>
          <p:sp>
            <p:nvSpPr>
              <p:cNvPr id="24" name="Rectangle 124"/>
              <p:cNvSpPr>
                <a:spLocks noChangeArrowheads="1"/>
              </p:cNvSpPr>
              <p:nvPr/>
            </p:nvSpPr>
            <p:spPr bwMode="auto">
              <a:xfrm>
                <a:off x="2200" y="1071"/>
                <a:ext cx="1088" cy="771"/>
              </a:xfrm>
              <a:prstGeom prst="rect">
                <a:avLst/>
              </a:prstGeom>
              <a:solidFill>
                <a:srgbClr val="CC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algn="ctr">
                  <a:defRPr/>
                </a:pPr>
                <a:r>
                  <a:rPr lang="en-US" altLang="zh-TW" b="1" dirty="0">
                    <a:latin typeface="Arial" charset="0"/>
                    <a:ea typeface="新細明體" charset="0"/>
                  </a:rPr>
                  <a:t>Machine</a:t>
                </a:r>
              </a:p>
            </p:txBody>
          </p:sp>
          <p:sp>
            <p:nvSpPr>
              <p:cNvPr id="25" name="Oval 125"/>
              <p:cNvSpPr>
                <a:spLocks noChangeArrowheads="1"/>
              </p:cNvSpPr>
              <p:nvPr/>
            </p:nvSpPr>
            <p:spPr bwMode="auto">
              <a:xfrm>
                <a:off x="2336" y="1344"/>
                <a:ext cx="816" cy="409"/>
              </a:xfrm>
              <a:prstGeom prst="ellipse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TW" dirty="0">
                    <a:latin typeface="Arial" charset="0"/>
                    <a:ea typeface="新細明體" charset="0"/>
                  </a:rPr>
                  <a:t>Process</a:t>
                </a:r>
              </a:p>
            </p:txBody>
          </p:sp>
        </p:grpSp>
        <p:grpSp>
          <p:nvGrpSpPr>
            <p:cNvPr id="10" name="Group 126"/>
            <p:cNvGrpSpPr>
              <a:grpSpLocks/>
            </p:cNvGrpSpPr>
            <p:nvPr/>
          </p:nvGrpSpPr>
          <p:grpSpPr bwMode="auto">
            <a:xfrm>
              <a:off x="2336" y="2931"/>
              <a:ext cx="1088" cy="771"/>
              <a:chOff x="2336" y="2931"/>
              <a:chExt cx="1088" cy="771"/>
            </a:xfrm>
          </p:grpSpPr>
          <p:sp>
            <p:nvSpPr>
              <p:cNvPr id="22" name="Rectangle 127"/>
              <p:cNvSpPr>
                <a:spLocks noChangeArrowheads="1"/>
              </p:cNvSpPr>
              <p:nvPr/>
            </p:nvSpPr>
            <p:spPr bwMode="auto">
              <a:xfrm>
                <a:off x="2336" y="2931"/>
                <a:ext cx="1088" cy="771"/>
              </a:xfrm>
              <a:prstGeom prst="rect">
                <a:avLst/>
              </a:prstGeom>
              <a:solidFill>
                <a:srgbClr val="CC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altLang="zh-TW" dirty="0">
                  <a:latin typeface="Arial" charset="0"/>
                  <a:ea typeface="新細明體" charset="0"/>
                </a:endParaRPr>
              </a:p>
              <a:p>
                <a:pPr>
                  <a:defRPr/>
                </a:pPr>
                <a:endParaRPr lang="en-US" altLang="zh-TW" dirty="0">
                  <a:latin typeface="Arial" charset="0"/>
                  <a:ea typeface="新細明體" charset="0"/>
                </a:endParaRPr>
              </a:p>
              <a:p>
                <a:pPr>
                  <a:defRPr/>
                </a:pPr>
                <a:endParaRPr lang="en-US" altLang="zh-TW" dirty="0">
                  <a:latin typeface="Arial" charset="0"/>
                  <a:ea typeface="新細明體" charset="0"/>
                </a:endParaRPr>
              </a:p>
              <a:p>
                <a:pPr algn="ctr">
                  <a:defRPr/>
                </a:pPr>
                <a:r>
                  <a:rPr lang="en-US" altLang="zh-TW" b="1" dirty="0">
                    <a:latin typeface="Arial" charset="0"/>
                    <a:ea typeface="新細明體" charset="0"/>
                  </a:rPr>
                  <a:t>Machine</a:t>
                </a:r>
              </a:p>
            </p:txBody>
          </p:sp>
          <p:sp>
            <p:nvSpPr>
              <p:cNvPr id="23" name="Oval 128"/>
              <p:cNvSpPr>
                <a:spLocks noChangeArrowheads="1"/>
              </p:cNvSpPr>
              <p:nvPr/>
            </p:nvSpPr>
            <p:spPr bwMode="auto">
              <a:xfrm>
                <a:off x="2472" y="3022"/>
                <a:ext cx="816" cy="409"/>
              </a:xfrm>
              <a:prstGeom prst="ellipse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TW" dirty="0">
                    <a:latin typeface="Arial" charset="0"/>
                    <a:ea typeface="新細明體" charset="0"/>
                  </a:rPr>
                  <a:t>Process</a:t>
                </a:r>
              </a:p>
            </p:txBody>
          </p:sp>
        </p:grpSp>
        <p:grpSp>
          <p:nvGrpSpPr>
            <p:cNvPr id="11" name="Group 138"/>
            <p:cNvGrpSpPr>
              <a:grpSpLocks/>
            </p:cNvGrpSpPr>
            <p:nvPr/>
          </p:nvGrpSpPr>
          <p:grpSpPr bwMode="auto">
            <a:xfrm>
              <a:off x="3464" y="2092"/>
              <a:ext cx="914" cy="1043"/>
              <a:chOff x="3464" y="2092"/>
              <a:chExt cx="914" cy="1043"/>
            </a:xfrm>
          </p:grpSpPr>
          <p:sp>
            <p:nvSpPr>
              <p:cNvPr id="18" name="Text Box 49"/>
              <p:cNvSpPr txBox="1">
                <a:spLocks noChangeArrowheads="1"/>
              </p:cNvSpPr>
              <p:nvPr/>
            </p:nvSpPr>
            <p:spPr bwMode="auto">
              <a:xfrm rot="2610371">
                <a:off x="3464" y="2712"/>
                <a:ext cx="911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defRPr/>
                </a:pPr>
                <a:r>
                  <a:rPr lang="en-US" altLang="zh-TW" sz="1400" b="1" dirty="0">
                    <a:solidFill>
                      <a:srgbClr val="C00000"/>
                    </a:solidFill>
                    <a:latin typeface="Arial" charset="0"/>
                    <a:ea typeface="新細明體" charset="0"/>
                  </a:rPr>
                  <a:t>Data exchange</a:t>
                </a:r>
              </a:p>
            </p:txBody>
          </p:sp>
          <p:cxnSp>
            <p:nvCxnSpPr>
              <p:cNvPr id="19" name="AutoShape 129"/>
              <p:cNvCxnSpPr>
                <a:cxnSpLocks noChangeShapeType="1"/>
                <a:endCxn id="31" idx="2"/>
              </p:cNvCxnSpPr>
              <p:nvPr/>
            </p:nvCxnSpPr>
            <p:spPr bwMode="auto">
              <a:xfrm flipV="1">
                <a:off x="3651" y="2092"/>
                <a:ext cx="727" cy="22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" name="AutoShape 130"/>
              <p:cNvCxnSpPr>
                <a:cxnSpLocks noChangeShapeType="1"/>
              </p:cNvCxnSpPr>
              <p:nvPr/>
            </p:nvCxnSpPr>
            <p:spPr bwMode="auto">
              <a:xfrm>
                <a:off x="3651" y="2367"/>
                <a:ext cx="727" cy="21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" name="AutoShape 131"/>
              <p:cNvCxnSpPr>
                <a:cxnSpLocks noChangeShapeType="1"/>
              </p:cNvCxnSpPr>
              <p:nvPr/>
            </p:nvCxnSpPr>
            <p:spPr bwMode="auto">
              <a:xfrm>
                <a:off x="3651" y="2420"/>
                <a:ext cx="727" cy="715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2" name="Group 139"/>
            <p:cNvGrpSpPr>
              <a:grpSpLocks/>
            </p:cNvGrpSpPr>
            <p:nvPr/>
          </p:nvGrpSpPr>
          <p:grpSpPr bwMode="auto">
            <a:xfrm>
              <a:off x="1383" y="2079"/>
              <a:ext cx="733" cy="1056"/>
              <a:chOff x="1383" y="2079"/>
              <a:chExt cx="733" cy="1056"/>
            </a:xfrm>
          </p:grpSpPr>
          <p:cxnSp>
            <p:nvCxnSpPr>
              <p:cNvPr id="15" name="AutoShape 132"/>
              <p:cNvCxnSpPr>
                <a:cxnSpLocks noChangeShapeType="1"/>
              </p:cNvCxnSpPr>
              <p:nvPr/>
            </p:nvCxnSpPr>
            <p:spPr bwMode="auto">
              <a:xfrm>
                <a:off x="1390" y="2079"/>
                <a:ext cx="726" cy="28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" name="AutoShape 133"/>
              <p:cNvCxnSpPr>
                <a:cxnSpLocks noChangeShapeType="1"/>
              </p:cNvCxnSpPr>
              <p:nvPr/>
            </p:nvCxnSpPr>
            <p:spPr bwMode="auto">
              <a:xfrm flipV="1">
                <a:off x="1383" y="2390"/>
                <a:ext cx="726" cy="21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" name="AutoShape 134"/>
              <p:cNvCxnSpPr>
                <a:cxnSpLocks noChangeShapeType="1"/>
              </p:cNvCxnSpPr>
              <p:nvPr/>
            </p:nvCxnSpPr>
            <p:spPr bwMode="auto">
              <a:xfrm flipV="1">
                <a:off x="1383" y="2420"/>
                <a:ext cx="726" cy="715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13" name="AutoShape 135"/>
            <p:cNvCxnSpPr>
              <a:cxnSpLocks noChangeShapeType="1"/>
              <a:stCxn id="23" idx="0"/>
              <a:endCxn id="6" idx="4"/>
            </p:cNvCxnSpPr>
            <p:nvPr/>
          </p:nvCxnSpPr>
          <p:spPr bwMode="auto">
            <a:xfrm flipV="1">
              <a:off x="2880" y="2770"/>
              <a:ext cx="1" cy="25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136"/>
            <p:cNvCxnSpPr>
              <a:cxnSpLocks noChangeShapeType="1"/>
              <a:stCxn id="6" idx="0"/>
              <a:endCxn id="25" idx="4"/>
            </p:cNvCxnSpPr>
            <p:nvPr/>
          </p:nvCxnSpPr>
          <p:spPr bwMode="auto">
            <a:xfrm flipV="1">
              <a:off x="2880" y="1753"/>
              <a:ext cx="1" cy="2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49949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39187" cy="716281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  <a:ea typeface="+mj-ea"/>
              </a:rPr>
              <a:t>The Message-Passing Model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838200"/>
            <a:ext cx="8991600" cy="614171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i="1" dirty="0">
                <a:solidFill>
                  <a:srgbClr val="C00000"/>
                </a:solidFill>
              </a:rPr>
              <a:t>process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(</a:t>
            </a:r>
            <a:r>
              <a:rPr lang="en-US" b="1" dirty="0"/>
              <a:t>traditionally</a:t>
            </a:r>
            <a:r>
              <a:rPr lang="en-US" dirty="0"/>
              <a:t>) a </a:t>
            </a:r>
            <a:r>
              <a:rPr lang="en-US" b="1" dirty="0">
                <a:solidFill>
                  <a:srgbClr val="2C14DE"/>
                </a:solidFill>
              </a:rPr>
              <a:t>program counter </a:t>
            </a:r>
            <a:r>
              <a:rPr lang="en-US" dirty="0"/>
              <a:t>and </a:t>
            </a:r>
            <a:r>
              <a:rPr lang="en-US" b="1" dirty="0">
                <a:solidFill>
                  <a:srgbClr val="2C14DE"/>
                </a:solidFill>
              </a:rPr>
              <a:t>address space</a:t>
            </a:r>
          </a:p>
          <a:p>
            <a:endParaRPr lang="en-US" b="1" dirty="0">
              <a:solidFill>
                <a:srgbClr val="2C14DE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Processes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may have </a:t>
            </a:r>
            <a:r>
              <a:rPr lang="en-US" b="1" dirty="0">
                <a:solidFill>
                  <a:srgbClr val="2C14DE"/>
                </a:solidFill>
              </a:rPr>
              <a:t>multiple </a:t>
            </a:r>
            <a:r>
              <a:rPr lang="en-US" b="1" i="1" dirty="0">
                <a:solidFill>
                  <a:srgbClr val="2C14DE"/>
                </a:solidFill>
              </a:rPr>
              <a:t>threads</a:t>
            </a:r>
          </a:p>
          <a:p>
            <a:pPr lvl="1"/>
            <a:r>
              <a:rPr lang="en-US" b="1" dirty="0"/>
              <a:t>program counters </a:t>
            </a:r>
            <a:r>
              <a:rPr lang="en-US" dirty="0"/>
              <a:t>and </a:t>
            </a:r>
            <a:r>
              <a:rPr lang="en-US" b="1" dirty="0"/>
              <a:t>associated stacks</a:t>
            </a:r>
          </a:p>
          <a:p>
            <a:pPr lvl="1"/>
            <a:r>
              <a:rPr lang="en-US" b="1" dirty="0"/>
              <a:t>sharing</a:t>
            </a:r>
            <a:r>
              <a:rPr lang="en-US" dirty="0"/>
              <a:t> a </a:t>
            </a:r>
            <a:r>
              <a:rPr lang="en-US" b="1" u="sng" dirty="0"/>
              <a:t>single address space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MPI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for </a:t>
            </a:r>
            <a:r>
              <a:rPr lang="en-US" b="1" dirty="0">
                <a:solidFill>
                  <a:srgbClr val="2C14DE"/>
                </a:solidFill>
              </a:rPr>
              <a:t>communication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b="1" u="sng" dirty="0"/>
              <a:t>among processes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separate address spaces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US" b="1" dirty="0">
                <a:solidFill>
                  <a:srgbClr val="2C14DE"/>
                </a:solidFill>
              </a:rPr>
              <a:t>Inter-process communication </a:t>
            </a:r>
            <a:r>
              <a:rPr lang="en-US" dirty="0"/>
              <a:t>consists of:</a:t>
            </a:r>
          </a:p>
          <a:p>
            <a:pPr lvl="1"/>
            <a:r>
              <a:rPr lang="en-US" b="1" u="sng" dirty="0"/>
              <a:t>Synchronization</a:t>
            </a:r>
          </a:p>
          <a:p>
            <a:pPr lvl="1"/>
            <a:r>
              <a:rPr lang="en-US" b="1" u="sng" dirty="0"/>
              <a:t>Data movement </a:t>
            </a:r>
            <a:r>
              <a:rPr lang="en-US" dirty="0"/>
              <a:t>from </a:t>
            </a:r>
            <a:r>
              <a:rPr lang="en-US" b="1" dirty="0"/>
              <a:t>one process</a:t>
            </a:r>
            <a:r>
              <a:rPr lang="ja-JP" altLang="en-US" dirty="0">
                <a:latin typeface="Arial" panose="020B0604020202020204" pitchFamily="34" charset="0"/>
              </a:rPr>
              <a:t>’</a:t>
            </a:r>
            <a:r>
              <a:rPr lang="en-US" altLang="ja-JP" dirty="0"/>
              <a:t>s </a:t>
            </a:r>
            <a:r>
              <a:rPr lang="en-US" altLang="ja-JP" b="1" dirty="0"/>
              <a:t>address space</a:t>
            </a:r>
            <a:r>
              <a:rPr lang="en-US" altLang="ja-JP" dirty="0"/>
              <a:t> to </a:t>
            </a:r>
            <a:r>
              <a:rPr lang="en-US" altLang="ja-JP" dirty="0" err="1"/>
              <a:t>anothers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94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 bldLvl="2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16281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  <a:ea typeface="+mj-ea"/>
              </a:rPr>
              <a:t>Types of Parallel Computing Models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838200"/>
            <a:ext cx="8915400" cy="5943600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sz="3500" b="1" dirty="0">
                <a:solidFill>
                  <a:srgbClr val="C00000"/>
                </a:solidFill>
                <a:latin typeface="+mj-lt"/>
              </a:rPr>
              <a:t>Data Parallel</a:t>
            </a:r>
          </a:p>
          <a:p>
            <a:pPr lvl="1">
              <a:buFont typeface="Arial" charset="0"/>
              <a:buChar char="—"/>
              <a:defRPr/>
            </a:pPr>
            <a:r>
              <a:rPr lang="en-US" sz="3300" b="1" dirty="0">
                <a:solidFill>
                  <a:srgbClr val="2C14DE"/>
                </a:solidFill>
                <a:latin typeface="+mj-lt"/>
              </a:rPr>
              <a:t>Same instructions</a:t>
            </a:r>
            <a:r>
              <a:rPr lang="en-US" sz="3300" b="1" dirty="0">
                <a:latin typeface="+mj-lt"/>
              </a:rPr>
              <a:t> </a:t>
            </a:r>
            <a:r>
              <a:rPr lang="en-US" sz="3300" dirty="0">
                <a:latin typeface="+mj-lt"/>
              </a:rPr>
              <a:t>are </a:t>
            </a:r>
            <a:r>
              <a:rPr lang="en-US" sz="3300" b="1" dirty="0">
                <a:solidFill>
                  <a:srgbClr val="2C14DE"/>
                </a:solidFill>
                <a:latin typeface="+mj-lt"/>
              </a:rPr>
              <a:t>carried</a:t>
            </a:r>
            <a:r>
              <a:rPr lang="en-US" sz="3300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3300" dirty="0">
                <a:latin typeface="+mj-lt"/>
              </a:rPr>
              <a:t>out </a:t>
            </a:r>
            <a:r>
              <a:rPr lang="en-US" sz="3300" b="1" dirty="0">
                <a:solidFill>
                  <a:srgbClr val="2C14DE"/>
                </a:solidFill>
                <a:latin typeface="+mj-lt"/>
              </a:rPr>
              <a:t>simultaneously</a:t>
            </a:r>
            <a:r>
              <a:rPr lang="en-US" sz="3300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3300" dirty="0">
                <a:latin typeface="+mj-lt"/>
              </a:rPr>
              <a:t>on </a:t>
            </a:r>
            <a:r>
              <a:rPr lang="en-US" sz="3300" b="1" dirty="0">
                <a:solidFill>
                  <a:srgbClr val="2C14DE"/>
                </a:solidFill>
                <a:latin typeface="+mj-lt"/>
              </a:rPr>
              <a:t>multiple data items </a:t>
            </a:r>
            <a:r>
              <a:rPr lang="en-US" sz="3300" dirty="0">
                <a:latin typeface="+mj-lt"/>
              </a:rPr>
              <a:t>(e.g., </a:t>
            </a:r>
            <a:r>
              <a:rPr lang="en-US" sz="3300" b="1" dirty="0">
                <a:latin typeface="+mj-lt"/>
              </a:rPr>
              <a:t>SIMD</a:t>
            </a:r>
            <a:r>
              <a:rPr lang="en-US" sz="3300" dirty="0">
                <a:latin typeface="+mj-lt"/>
              </a:rPr>
              <a:t>)</a:t>
            </a:r>
          </a:p>
          <a:p>
            <a:pPr lvl="1">
              <a:buFont typeface="Arial" charset="0"/>
              <a:buChar char="—"/>
              <a:defRPr/>
            </a:pPr>
            <a:endParaRPr lang="en-US" sz="3500" dirty="0">
              <a:latin typeface="+mj-lt"/>
            </a:endParaRP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500" b="1" dirty="0">
                <a:solidFill>
                  <a:srgbClr val="C00000"/>
                </a:solidFill>
                <a:latin typeface="+mj-lt"/>
              </a:rPr>
              <a:t>Task Parallel</a:t>
            </a:r>
          </a:p>
          <a:p>
            <a:pPr lvl="1">
              <a:buFont typeface="Arial" charset="0"/>
              <a:buChar char="—"/>
              <a:defRPr/>
            </a:pPr>
            <a:r>
              <a:rPr lang="en-US" sz="3300" b="1" dirty="0">
                <a:latin typeface="+mj-lt"/>
              </a:rPr>
              <a:t>Different instructions</a:t>
            </a:r>
            <a:r>
              <a:rPr lang="en-US" sz="3300" dirty="0">
                <a:latin typeface="+mj-lt"/>
              </a:rPr>
              <a:t> on </a:t>
            </a:r>
            <a:r>
              <a:rPr lang="en-US" sz="3300" b="1" dirty="0">
                <a:latin typeface="+mj-lt"/>
              </a:rPr>
              <a:t>different data </a:t>
            </a:r>
            <a:r>
              <a:rPr lang="en-US" sz="3300" dirty="0">
                <a:latin typeface="+mj-lt"/>
              </a:rPr>
              <a:t>(e.g., </a:t>
            </a:r>
            <a:r>
              <a:rPr lang="en-US" sz="3300" b="1" dirty="0">
                <a:latin typeface="+mj-lt"/>
              </a:rPr>
              <a:t>MIMD</a:t>
            </a:r>
            <a:r>
              <a:rPr lang="en-US" sz="3300" dirty="0">
                <a:latin typeface="+mj-lt"/>
              </a:rPr>
              <a:t>)</a:t>
            </a:r>
          </a:p>
          <a:p>
            <a:pPr lvl="1">
              <a:buFont typeface="Arial" charset="0"/>
              <a:buChar char="—"/>
              <a:defRPr/>
            </a:pPr>
            <a:endParaRPr lang="en-US" sz="3500" dirty="0">
              <a:latin typeface="+mj-lt"/>
            </a:endParaRP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3500" b="1" dirty="0">
                <a:solidFill>
                  <a:srgbClr val="C00000"/>
                </a:solidFill>
                <a:latin typeface="+mj-lt"/>
              </a:rPr>
              <a:t>SPMD (Single Program, Multiple Data) </a:t>
            </a:r>
          </a:p>
          <a:p>
            <a:pPr lvl="1">
              <a:buFont typeface="Arial" charset="0"/>
              <a:buChar char="—"/>
              <a:defRPr/>
            </a:pPr>
            <a:r>
              <a:rPr lang="en-US" sz="3300" b="1" dirty="0">
                <a:solidFill>
                  <a:srgbClr val="2C14DE"/>
                </a:solidFill>
                <a:latin typeface="+mj-lt"/>
              </a:rPr>
              <a:t>Not synchronized </a:t>
            </a:r>
            <a:r>
              <a:rPr lang="en-US" sz="3300" dirty="0">
                <a:latin typeface="+mj-lt"/>
              </a:rPr>
              <a:t>at </a:t>
            </a:r>
            <a:r>
              <a:rPr lang="en-US" sz="3300" b="1" dirty="0">
                <a:solidFill>
                  <a:srgbClr val="2C14DE"/>
                </a:solidFill>
                <a:latin typeface="+mj-lt"/>
              </a:rPr>
              <a:t>individual instruction level </a:t>
            </a:r>
            <a:r>
              <a:rPr lang="en-US" sz="3300" dirty="0">
                <a:latin typeface="+mj-lt"/>
              </a:rPr>
              <a:t>(e.g., </a:t>
            </a:r>
            <a:r>
              <a:rPr lang="en-US" sz="3300" b="1" dirty="0">
                <a:latin typeface="+mj-lt"/>
              </a:rPr>
              <a:t>MIMD</a:t>
            </a:r>
            <a:r>
              <a:rPr lang="en-US" sz="3300" dirty="0">
                <a:latin typeface="+mj-lt"/>
              </a:rPr>
              <a:t> style execution)</a:t>
            </a:r>
          </a:p>
          <a:p>
            <a:pPr lvl="1">
              <a:buFont typeface="Arial" charset="0"/>
              <a:buChar char="—"/>
              <a:defRPr/>
            </a:pPr>
            <a:endParaRPr lang="en-US" sz="3500" dirty="0">
              <a:latin typeface="+mj-lt"/>
            </a:endParaRPr>
          </a:p>
          <a:p>
            <a:pPr marL="0" indent="0">
              <a:buNone/>
              <a:defRPr/>
            </a:pPr>
            <a:r>
              <a:rPr lang="en-US" sz="3500" b="1" dirty="0">
                <a:latin typeface="+mj-lt"/>
                <a:sym typeface="Wingdings" panose="05000000000000000000" pitchFamily="2" charset="2"/>
              </a:rPr>
              <a:t> </a:t>
            </a:r>
            <a:r>
              <a:rPr lang="en-US" sz="3500" b="1" dirty="0">
                <a:solidFill>
                  <a:srgbClr val="C00000"/>
                </a:solidFill>
                <a:latin typeface="+mj-lt"/>
              </a:rPr>
              <a:t>MPI</a:t>
            </a:r>
            <a:r>
              <a:rPr lang="en-US" sz="35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3500" dirty="0">
                <a:latin typeface="+mj-lt"/>
              </a:rPr>
              <a:t>is </a:t>
            </a:r>
            <a:r>
              <a:rPr lang="en-US" sz="3500" dirty="0">
                <a:latin typeface="+mj-lt"/>
                <a:ea typeface="ＭＳ Ｐゴシック" charset="0"/>
              </a:rPr>
              <a:t>for </a:t>
            </a:r>
            <a:r>
              <a:rPr lang="en-US" sz="3500" b="1" dirty="0">
                <a:latin typeface="+mj-lt"/>
                <a:ea typeface="ＭＳ Ｐゴシック" charset="0"/>
              </a:rPr>
              <a:t>MIMD/SPMD </a:t>
            </a:r>
            <a:r>
              <a:rPr lang="en-US" sz="3500" dirty="0">
                <a:latin typeface="+mj-lt"/>
                <a:ea typeface="ＭＳ Ｐゴシック" charset="0"/>
              </a:rPr>
              <a:t>type of </a:t>
            </a:r>
            <a:r>
              <a:rPr lang="en-US" sz="3500" b="1" dirty="0">
                <a:latin typeface="+mj-lt"/>
                <a:ea typeface="ＭＳ Ｐゴシック" charset="0"/>
              </a:rPr>
              <a:t>parallelism</a:t>
            </a:r>
            <a:endParaRPr lang="en-US" dirty="0">
              <a:ea typeface="+mn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2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bldLvl="2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0454"/>
            <a:ext cx="9144000" cy="69582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400" b="1" dirty="0">
                <a:solidFill>
                  <a:srgbClr val="C00000"/>
                </a:solidFill>
                <a:ea typeface="+mj-ea"/>
              </a:rPr>
              <a:t>The Message-Passing Programming Paradigm  </a:t>
            </a:r>
          </a:p>
        </p:txBody>
      </p:sp>
      <p:sp>
        <p:nvSpPr>
          <p:cNvPr id="436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9675" y="901975"/>
            <a:ext cx="7402513" cy="457200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sz="2800" b="1" dirty="0">
                <a:ea typeface="+mn-ea"/>
              </a:rPr>
              <a:t>Sequential Programming Paradigm: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913062" y="1686983"/>
            <a:ext cx="3317875" cy="1295400"/>
            <a:chOff x="3290888" y="2020888"/>
            <a:chExt cx="3317875" cy="1295400"/>
          </a:xfrm>
        </p:grpSpPr>
        <p:sp>
          <p:nvSpPr>
            <p:cNvPr id="436229" name="Oval 5"/>
            <p:cNvSpPr>
              <a:spLocks noChangeArrowheads="1"/>
            </p:cNvSpPr>
            <p:nvPr/>
          </p:nvSpPr>
          <p:spPr bwMode="auto">
            <a:xfrm>
              <a:off x="3429000" y="2020888"/>
              <a:ext cx="609600" cy="609600"/>
            </a:xfrm>
            <a:prstGeom prst="ellipse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>
                <a:defRPr/>
              </a:pPr>
              <a:r>
                <a:rPr lang="en-US" sz="1400" dirty="0">
                  <a:latin typeface="Arial" charset="0"/>
                  <a:ea typeface="ＭＳ Ｐゴシック" charset="0"/>
                  <a:cs typeface="ＭＳ Ｐゴシック" charset="0"/>
                </a:rPr>
                <a:t>data</a:t>
              </a:r>
            </a:p>
          </p:txBody>
        </p:sp>
        <p:sp>
          <p:nvSpPr>
            <p:cNvPr id="436230" name="Rectangle 6"/>
            <p:cNvSpPr>
              <a:spLocks noChangeArrowheads="1"/>
            </p:cNvSpPr>
            <p:nvPr/>
          </p:nvSpPr>
          <p:spPr bwMode="auto">
            <a:xfrm>
              <a:off x="3290888" y="2706688"/>
              <a:ext cx="762000" cy="60960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>
                <a:defRPr/>
              </a:pPr>
              <a:r>
                <a:rPr lang="en-US" sz="1400" dirty="0">
                  <a:latin typeface="Arial" charset="0"/>
                  <a:ea typeface="ＭＳ Ｐゴシック" charset="0"/>
                  <a:cs typeface="ＭＳ Ｐゴシック" charset="0"/>
                </a:rPr>
                <a:t>program</a:t>
              </a:r>
            </a:p>
          </p:txBody>
        </p:sp>
        <p:cxnSp>
          <p:nvCxnSpPr>
            <p:cNvPr id="436231" name="AutoShape 7"/>
            <p:cNvCxnSpPr>
              <a:cxnSpLocks noChangeShapeType="1"/>
              <a:stCxn id="436229" idx="4"/>
              <a:endCxn id="436230" idx="0"/>
            </p:cNvCxnSpPr>
            <p:nvPr/>
          </p:nvCxnSpPr>
          <p:spPr bwMode="auto">
            <a:xfrm flipH="1">
              <a:off x="3671888" y="2630488"/>
              <a:ext cx="61912" cy="7620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436232" name="Line 8"/>
            <p:cNvSpPr>
              <a:spLocks noChangeShapeType="1"/>
            </p:cNvSpPr>
            <p:nvPr/>
          </p:nvSpPr>
          <p:spPr bwMode="auto">
            <a:xfrm>
              <a:off x="4129088" y="2325688"/>
              <a:ext cx="381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36233" name="Line 9"/>
            <p:cNvSpPr>
              <a:spLocks noChangeShapeType="1"/>
            </p:cNvSpPr>
            <p:nvPr/>
          </p:nvSpPr>
          <p:spPr bwMode="auto">
            <a:xfrm>
              <a:off x="4129088" y="3011488"/>
              <a:ext cx="381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36234" name="Text Box 10"/>
            <p:cNvSpPr txBox="1">
              <a:spLocks noChangeArrowheads="1"/>
            </p:cNvSpPr>
            <p:nvPr/>
          </p:nvSpPr>
          <p:spPr bwMode="auto">
            <a:xfrm>
              <a:off x="4495800" y="2133600"/>
              <a:ext cx="1006475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>
                <a:defRPr/>
              </a:pPr>
              <a:r>
                <a:rPr lang="en-US" sz="1800">
                  <a:latin typeface="Arial" charset="0"/>
                  <a:ea typeface="ＭＳ Ｐゴシック" charset="0"/>
                  <a:cs typeface="ＭＳ Ｐゴシック" charset="0"/>
                </a:rPr>
                <a:t>memory</a:t>
              </a:r>
            </a:p>
          </p:txBody>
        </p:sp>
        <p:sp>
          <p:nvSpPr>
            <p:cNvPr id="436235" name="Text Box 11"/>
            <p:cNvSpPr txBox="1">
              <a:spLocks noChangeArrowheads="1"/>
            </p:cNvSpPr>
            <p:nvPr/>
          </p:nvSpPr>
          <p:spPr bwMode="auto">
            <a:xfrm>
              <a:off x="4510088" y="2808288"/>
              <a:ext cx="2098675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>
                <a:defRPr/>
              </a:pPr>
              <a:r>
                <a:rPr lang="en-US" sz="1800">
                  <a:latin typeface="Arial" charset="0"/>
                  <a:ea typeface="ＭＳ Ｐゴシック" charset="0"/>
                  <a:cs typeface="ＭＳ Ｐゴシック" charset="0"/>
                </a:rPr>
                <a:t>Processor/Process</a:t>
              </a:r>
            </a:p>
          </p:txBody>
        </p:sp>
      </p:grpSp>
      <p:grpSp>
        <p:nvGrpSpPr>
          <p:cNvPr id="436294" name="Group 70"/>
          <p:cNvGrpSpPr>
            <a:grpSpLocks/>
          </p:cNvGrpSpPr>
          <p:nvPr/>
        </p:nvGrpSpPr>
        <p:grpSpPr bwMode="auto">
          <a:xfrm>
            <a:off x="304800" y="3733800"/>
            <a:ext cx="7804151" cy="2929386"/>
            <a:chOff x="554" y="1759"/>
            <a:chExt cx="4916" cy="1833"/>
          </a:xfrm>
        </p:grpSpPr>
        <p:sp>
          <p:nvSpPr>
            <p:cNvPr id="436228" name="Rectangle 4"/>
            <p:cNvSpPr>
              <a:spLocks noChangeArrowheads="1"/>
            </p:cNvSpPr>
            <p:nvPr/>
          </p:nvSpPr>
          <p:spPr bwMode="auto">
            <a:xfrm>
              <a:off x="554" y="1759"/>
              <a:ext cx="4663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spcBef>
                  <a:spcPct val="20000"/>
                </a:spcBef>
                <a:defRPr/>
              </a:pPr>
              <a:r>
                <a:rPr lang="en-US" sz="2800" b="1" dirty="0">
                  <a:latin typeface="+mj-lt"/>
                  <a:cs typeface="ＭＳ Ｐゴシック" charset="0"/>
                </a:rPr>
                <a:t>Message</a:t>
              </a:r>
              <a:r>
                <a:rPr lang="en-US" sz="2800" b="1" dirty="0">
                  <a:latin typeface="+mj-lt"/>
                  <a:ea typeface="ＭＳ Ｐゴシック" charset="0"/>
                  <a:cs typeface="ＭＳ Ｐゴシック" charset="0"/>
                </a:rPr>
                <a:t>-Passing Programming Paradigm</a:t>
              </a:r>
            </a:p>
          </p:txBody>
        </p:sp>
        <p:grpSp>
          <p:nvGrpSpPr>
            <p:cNvPr id="24591" name="Group 40"/>
            <p:cNvGrpSpPr>
              <a:grpSpLocks/>
            </p:cNvGrpSpPr>
            <p:nvPr/>
          </p:nvGrpSpPr>
          <p:grpSpPr bwMode="auto">
            <a:xfrm>
              <a:off x="1200" y="2280"/>
              <a:ext cx="4270" cy="1312"/>
              <a:chOff x="960" y="2208"/>
              <a:chExt cx="4506" cy="1384"/>
            </a:xfrm>
          </p:grpSpPr>
          <p:sp>
            <p:nvSpPr>
              <p:cNvPr id="436265" name="Oval 41"/>
              <p:cNvSpPr>
                <a:spLocks noChangeArrowheads="1"/>
              </p:cNvSpPr>
              <p:nvPr/>
            </p:nvSpPr>
            <p:spPr bwMode="auto">
              <a:xfrm>
                <a:off x="1056" y="2208"/>
                <a:ext cx="384" cy="384"/>
              </a:xfrm>
              <a:prstGeom prst="ellipse">
                <a:avLst/>
              </a:prstGeom>
              <a:solidFill>
                <a:srgbClr val="99C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>
                  <a:defRPr/>
                </a:pPr>
                <a:r>
                  <a:rPr lang="en-US" sz="1400" dirty="0">
                    <a:latin typeface="Arial" charset="0"/>
                    <a:ea typeface="ＭＳ Ｐゴシック" charset="0"/>
                    <a:cs typeface="ＭＳ Ｐゴシック" charset="0"/>
                  </a:rPr>
                  <a:t>data</a:t>
                </a:r>
              </a:p>
            </p:txBody>
          </p:sp>
          <p:sp>
            <p:nvSpPr>
              <p:cNvPr id="436266" name="Rectangle 42"/>
              <p:cNvSpPr>
                <a:spLocks noChangeArrowheads="1"/>
              </p:cNvSpPr>
              <p:nvPr/>
            </p:nvSpPr>
            <p:spPr bwMode="auto">
              <a:xfrm>
                <a:off x="960" y="2640"/>
                <a:ext cx="576" cy="384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r>
                  <a:rPr lang="en-US" sz="1400" dirty="0">
                    <a:latin typeface="Arial" charset="0"/>
                    <a:ea typeface="ＭＳ Ｐゴシック" charset="0"/>
                    <a:cs typeface="ＭＳ Ｐゴシック" charset="0"/>
                  </a:rPr>
                  <a:t>program</a:t>
                </a:r>
              </a:p>
            </p:txBody>
          </p:sp>
          <p:cxnSp>
            <p:nvCxnSpPr>
              <p:cNvPr id="436267" name="AutoShape 43"/>
              <p:cNvCxnSpPr>
                <a:cxnSpLocks noChangeShapeType="1"/>
                <a:stCxn id="436265" idx="4"/>
                <a:endCxn id="436266" idx="0"/>
              </p:cNvCxnSpPr>
              <p:nvPr/>
            </p:nvCxnSpPr>
            <p:spPr bwMode="auto">
              <a:xfrm>
                <a:off x="1248" y="2592"/>
                <a:ext cx="0" cy="4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436268" name="Oval 44"/>
              <p:cNvSpPr>
                <a:spLocks noChangeArrowheads="1"/>
              </p:cNvSpPr>
              <p:nvPr/>
            </p:nvSpPr>
            <p:spPr bwMode="auto">
              <a:xfrm>
                <a:off x="1872" y="2208"/>
                <a:ext cx="384" cy="384"/>
              </a:xfrm>
              <a:prstGeom prst="ellipse">
                <a:avLst/>
              </a:prstGeom>
              <a:solidFill>
                <a:srgbClr val="99C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>
                  <a:defRPr/>
                </a:pPr>
                <a:r>
                  <a:rPr lang="en-US" sz="1400" dirty="0">
                    <a:latin typeface="Arial" charset="0"/>
                    <a:ea typeface="ＭＳ Ｐゴシック" charset="0"/>
                    <a:cs typeface="ＭＳ Ｐゴシック" charset="0"/>
                  </a:rPr>
                  <a:t>data</a:t>
                </a:r>
              </a:p>
            </p:txBody>
          </p:sp>
          <p:sp>
            <p:nvSpPr>
              <p:cNvPr id="436269" name="Rectangle 45"/>
              <p:cNvSpPr>
                <a:spLocks noChangeArrowheads="1"/>
              </p:cNvSpPr>
              <p:nvPr/>
            </p:nvSpPr>
            <p:spPr bwMode="auto">
              <a:xfrm>
                <a:off x="1776" y="2640"/>
                <a:ext cx="576" cy="384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r>
                  <a:rPr lang="en-US" sz="1400" dirty="0">
                    <a:latin typeface="Arial" charset="0"/>
                    <a:ea typeface="ＭＳ Ｐゴシック" charset="0"/>
                    <a:cs typeface="ＭＳ Ｐゴシック" charset="0"/>
                  </a:rPr>
                  <a:t>program</a:t>
                </a:r>
              </a:p>
            </p:txBody>
          </p:sp>
          <p:cxnSp>
            <p:nvCxnSpPr>
              <p:cNvPr id="436270" name="AutoShape 46"/>
              <p:cNvCxnSpPr>
                <a:cxnSpLocks noChangeShapeType="1"/>
                <a:stCxn id="436268" idx="4"/>
                <a:endCxn id="436269" idx="0"/>
              </p:cNvCxnSpPr>
              <p:nvPr/>
            </p:nvCxnSpPr>
            <p:spPr bwMode="auto">
              <a:xfrm>
                <a:off x="2064" y="2592"/>
                <a:ext cx="0" cy="4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436271" name="Oval 47"/>
              <p:cNvSpPr>
                <a:spLocks noChangeArrowheads="1"/>
              </p:cNvSpPr>
              <p:nvPr/>
            </p:nvSpPr>
            <p:spPr bwMode="auto">
              <a:xfrm>
                <a:off x="2687" y="2208"/>
                <a:ext cx="382" cy="384"/>
              </a:xfrm>
              <a:prstGeom prst="ellipse">
                <a:avLst/>
              </a:prstGeom>
              <a:solidFill>
                <a:srgbClr val="99C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>
                  <a:defRPr/>
                </a:pPr>
                <a:r>
                  <a:rPr lang="en-US" sz="1400" dirty="0">
                    <a:latin typeface="Arial" charset="0"/>
                    <a:ea typeface="ＭＳ Ｐゴシック" charset="0"/>
                    <a:cs typeface="ＭＳ Ｐゴシック" charset="0"/>
                  </a:rPr>
                  <a:t>data</a:t>
                </a:r>
              </a:p>
            </p:txBody>
          </p:sp>
          <p:sp>
            <p:nvSpPr>
              <p:cNvPr id="436272" name="Rectangle 48"/>
              <p:cNvSpPr>
                <a:spLocks noChangeArrowheads="1"/>
              </p:cNvSpPr>
              <p:nvPr/>
            </p:nvSpPr>
            <p:spPr bwMode="auto">
              <a:xfrm>
                <a:off x="2593" y="2640"/>
                <a:ext cx="575" cy="384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r>
                  <a:rPr lang="en-US" sz="1400" dirty="0">
                    <a:latin typeface="Arial" charset="0"/>
                    <a:ea typeface="ＭＳ Ｐゴシック" charset="0"/>
                    <a:cs typeface="ＭＳ Ｐゴシック" charset="0"/>
                  </a:rPr>
                  <a:t>program</a:t>
                </a:r>
              </a:p>
            </p:txBody>
          </p:sp>
          <p:cxnSp>
            <p:nvCxnSpPr>
              <p:cNvPr id="436273" name="AutoShape 49"/>
              <p:cNvCxnSpPr>
                <a:cxnSpLocks noChangeShapeType="1"/>
                <a:stCxn id="436271" idx="4"/>
                <a:endCxn id="436272" idx="0"/>
              </p:cNvCxnSpPr>
              <p:nvPr/>
            </p:nvCxnSpPr>
            <p:spPr bwMode="auto">
              <a:xfrm>
                <a:off x="2880" y="2592"/>
                <a:ext cx="0" cy="4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436274" name="Oval 50"/>
              <p:cNvSpPr>
                <a:spLocks noChangeArrowheads="1"/>
              </p:cNvSpPr>
              <p:nvPr/>
            </p:nvSpPr>
            <p:spPr bwMode="auto">
              <a:xfrm>
                <a:off x="3984" y="2208"/>
                <a:ext cx="383" cy="384"/>
              </a:xfrm>
              <a:prstGeom prst="ellipse">
                <a:avLst/>
              </a:prstGeom>
              <a:solidFill>
                <a:srgbClr val="99CC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algn="ctr">
                  <a:defRPr/>
                </a:pPr>
                <a:r>
                  <a:rPr lang="en-US" sz="1400" dirty="0">
                    <a:latin typeface="Arial" charset="0"/>
                    <a:ea typeface="ＭＳ Ｐゴシック" charset="0"/>
                    <a:cs typeface="ＭＳ Ｐゴシック" charset="0"/>
                  </a:rPr>
                  <a:t>data</a:t>
                </a:r>
              </a:p>
            </p:txBody>
          </p:sp>
          <p:sp>
            <p:nvSpPr>
              <p:cNvPr id="436275" name="Rectangle 51"/>
              <p:cNvSpPr>
                <a:spLocks noChangeArrowheads="1"/>
              </p:cNvSpPr>
              <p:nvPr/>
            </p:nvSpPr>
            <p:spPr bwMode="auto">
              <a:xfrm>
                <a:off x="3888" y="2640"/>
                <a:ext cx="575" cy="384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r>
                  <a:rPr lang="en-US" sz="1400" dirty="0">
                    <a:latin typeface="Arial" charset="0"/>
                    <a:ea typeface="ＭＳ Ｐゴシック" charset="0"/>
                    <a:cs typeface="ＭＳ Ｐゴシック" charset="0"/>
                  </a:rPr>
                  <a:t>program</a:t>
                </a:r>
              </a:p>
            </p:txBody>
          </p:sp>
          <p:cxnSp>
            <p:nvCxnSpPr>
              <p:cNvPr id="436276" name="AutoShape 52"/>
              <p:cNvCxnSpPr>
                <a:cxnSpLocks noChangeShapeType="1"/>
                <a:stCxn id="436274" idx="4"/>
                <a:endCxn id="436275" idx="0"/>
              </p:cNvCxnSpPr>
              <p:nvPr/>
            </p:nvCxnSpPr>
            <p:spPr bwMode="auto">
              <a:xfrm>
                <a:off x="4176" y="2592"/>
                <a:ext cx="0" cy="4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436277" name="Oval 53"/>
              <p:cNvSpPr>
                <a:spLocks noChangeArrowheads="1"/>
              </p:cNvSpPr>
              <p:nvPr/>
            </p:nvSpPr>
            <p:spPr bwMode="auto">
              <a:xfrm>
                <a:off x="3312" y="2592"/>
                <a:ext cx="43" cy="48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fr-FR" sz="2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36278" name="Oval 54"/>
              <p:cNvSpPr>
                <a:spLocks noChangeArrowheads="1"/>
              </p:cNvSpPr>
              <p:nvPr/>
            </p:nvSpPr>
            <p:spPr bwMode="auto">
              <a:xfrm>
                <a:off x="3408" y="2592"/>
                <a:ext cx="43" cy="48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fr-FR" sz="2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36279" name="Oval 55"/>
              <p:cNvSpPr>
                <a:spLocks noChangeArrowheads="1"/>
              </p:cNvSpPr>
              <p:nvPr/>
            </p:nvSpPr>
            <p:spPr bwMode="auto">
              <a:xfrm>
                <a:off x="3504" y="2592"/>
                <a:ext cx="42" cy="48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fr-FR" sz="2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36280" name="Oval 56"/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42" cy="48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fr-FR" sz="2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36281" name="Oval 57"/>
              <p:cNvSpPr>
                <a:spLocks noChangeArrowheads="1"/>
              </p:cNvSpPr>
              <p:nvPr/>
            </p:nvSpPr>
            <p:spPr bwMode="auto">
              <a:xfrm>
                <a:off x="3696" y="2592"/>
                <a:ext cx="41" cy="48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fr-FR" sz="2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36282" name="Freeform 58"/>
              <p:cNvSpPr>
                <a:spLocks/>
              </p:cNvSpPr>
              <p:nvPr/>
            </p:nvSpPr>
            <p:spPr bwMode="auto">
              <a:xfrm>
                <a:off x="1184" y="3149"/>
                <a:ext cx="2898" cy="443"/>
              </a:xfrm>
              <a:custGeom>
                <a:avLst/>
                <a:gdLst>
                  <a:gd name="T0" fmla="*/ 160 w 2896"/>
                  <a:gd name="T1" fmla="*/ 68 h 444"/>
                  <a:gd name="T2" fmla="*/ 448 w 2896"/>
                  <a:gd name="T3" fmla="*/ 116 h 444"/>
                  <a:gd name="T4" fmla="*/ 817 w 2896"/>
                  <a:gd name="T5" fmla="*/ 28 h 444"/>
                  <a:gd name="T6" fmla="*/ 913 w 2896"/>
                  <a:gd name="T7" fmla="*/ 28 h 444"/>
                  <a:gd name="T8" fmla="*/ 1337 w 2896"/>
                  <a:gd name="T9" fmla="*/ 148 h 444"/>
                  <a:gd name="T10" fmla="*/ 1233 w 2896"/>
                  <a:gd name="T11" fmla="*/ 12 h 444"/>
                  <a:gd name="T12" fmla="*/ 1649 w 2896"/>
                  <a:gd name="T13" fmla="*/ 76 h 444"/>
                  <a:gd name="T14" fmla="*/ 1793 w 2896"/>
                  <a:gd name="T15" fmla="*/ 20 h 444"/>
                  <a:gd name="T16" fmla="*/ 2178 w 2896"/>
                  <a:gd name="T17" fmla="*/ 116 h 444"/>
                  <a:gd name="T18" fmla="*/ 2418 w 2896"/>
                  <a:gd name="T19" fmla="*/ 20 h 444"/>
                  <a:gd name="T20" fmla="*/ 2850 w 2896"/>
                  <a:gd name="T21" fmla="*/ 116 h 444"/>
                  <a:gd name="T22" fmla="*/ 2706 w 2896"/>
                  <a:gd name="T23" fmla="*/ 307 h 444"/>
                  <a:gd name="T24" fmla="*/ 2242 w 2896"/>
                  <a:gd name="T25" fmla="*/ 339 h 444"/>
                  <a:gd name="T26" fmla="*/ 2290 w 2896"/>
                  <a:gd name="T27" fmla="*/ 411 h 444"/>
                  <a:gd name="T28" fmla="*/ 1609 w 2896"/>
                  <a:gd name="T29" fmla="*/ 395 h 444"/>
                  <a:gd name="T30" fmla="*/ 1225 w 2896"/>
                  <a:gd name="T31" fmla="*/ 355 h 444"/>
                  <a:gd name="T32" fmla="*/ 1225 w 2896"/>
                  <a:gd name="T33" fmla="*/ 443 h 444"/>
                  <a:gd name="T34" fmla="*/ 360 w 2896"/>
                  <a:gd name="T35" fmla="*/ 355 h 444"/>
                  <a:gd name="T36" fmla="*/ 368 w 2896"/>
                  <a:gd name="T37" fmla="*/ 435 h 444"/>
                  <a:gd name="T38" fmla="*/ 64 w 2896"/>
                  <a:gd name="T39" fmla="*/ 307 h 444"/>
                  <a:gd name="T40" fmla="*/ 16 w 2896"/>
                  <a:gd name="T41" fmla="*/ 164 h 444"/>
                  <a:gd name="T42" fmla="*/ 160 w 2896"/>
                  <a:gd name="T43" fmla="*/ 68 h 44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2896" h="444">
                    <a:moveTo>
                      <a:pt x="160" y="68"/>
                    </a:moveTo>
                    <a:cubicBezTo>
                      <a:pt x="232" y="60"/>
                      <a:pt x="339" y="123"/>
                      <a:pt x="448" y="116"/>
                    </a:cubicBezTo>
                    <a:cubicBezTo>
                      <a:pt x="557" y="109"/>
                      <a:pt x="739" y="43"/>
                      <a:pt x="816" y="28"/>
                    </a:cubicBezTo>
                    <a:cubicBezTo>
                      <a:pt x="893" y="13"/>
                      <a:pt x="825" y="8"/>
                      <a:pt x="912" y="28"/>
                    </a:cubicBezTo>
                    <a:cubicBezTo>
                      <a:pt x="999" y="48"/>
                      <a:pt x="1283" y="151"/>
                      <a:pt x="1336" y="148"/>
                    </a:cubicBezTo>
                    <a:cubicBezTo>
                      <a:pt x="1389" y="145"/>
                      <a:pt x="1180" y="24"/>
                      <a:pt x="1232" y="12"/>
                    </a:cubicBezTo>
                    <a:cubicBezTo>
                      <a:pt x="1284" y="0"/>
                      <a:pt x="1555" y="75"/>
                      <a:pt x="1648" y="76"/>
                    </a:cubicBezTo>
                    <a:cubicBezTo>
                      <a:pt x="1741" y="77"/>
                      <a:pt x="1704" y="13"/>
                      <a:pt x="1792" y="20"/>
                    </a:cubicBezTo>
                    <a:cubicBezTo>
                      <a:pt x="1880" y="27"/>
                      <a:pt x="2072" y="116"/>
                      <a:pt x="2176" y="116"/>
                    </a:cubicBezTo>
                    <a:cubicBezTo>
                      <a:pt x="2280" y="116"/>
                      <a:pt x="2304" y="20"/>
                      <a:pt x="2416" y="20"/>
                    </a:cubicBezTo>
                    <a:cubicBezTo>
                      <a:pt x="2528" y="20"/>
                      <a:pt x="2800" y="68"/>
                      <a:pt x="2848" y="116"/>
                    </a:cubicBezTo>
                    <a:cubicBezTo>
                      <a:pt x="2896" y="164"/>
                      <a:pt x="2805" y="271"/>
                      <a:pt x="2704" y="308"/>
                    </a:cubicBezTo>
                    <a:cubicBezTo>
                      <a:pt x="2603" y="345"/>
                      <a:pt x="2309" y="323"/>
                      <a:pt x="2240" y="340"/>
                    </a:cubicBezTo>
                    <a:cubicBezTo>
                      <a:pt x="2171" y="357"/>
                      <a:pt x="2393" y="403"/>
                      <a:pt x="2288" y="412"/>
                    </a:cubicBezTo>
                    <a:cubicBezTo>
                      <a:pt x="2183" y="421"/>
                      <a:pt x="1785" y="405"/>
                      <a:pt x="1608" y="396"/>
                    </a:cubicBezTo>
                    <a:cubicBezTo>
                      <a:pt x="1431" y="387"/>
                      <a:pt x="1288" y="348"/>
                      <a:pt x="1224" y="356"/>
                    </a:cubicBezTo>
                    <a:cubicBezTo>
                      <a:pt x="1160" y="364"/>
                      <a:pt x="1368" y="444"/>
                      <a:pt x="1224" y="444"/>
                    </a:cubicBezTo>
                    <a:cubicBezTo>
                      <a:pt x="1080" y="444"/>
                      <a:pt x="503" y="357"/>
                      <a:pt x="360" y="356"/>
                    </a:cubicBezTo>
                    <a:cubicBezTo>
                      <a:pt x="217" y="355"/>
                      <a:pt x="417" y="444"/>
                      <a:pt x="368" y="436"/>
                    </a:cubicBezTo>
                    <a:cubicBezTo>
                      <a:pt x="319" y="428"/>
                      <a:pt x="123" y="353"/>
                      <a:pt x="64" y="308"/>
                    </a:cubicBezTo>
                    <a:cubicBezTo>
                      <a:pt x="5" y="263"/>
                      <a:pt x="0" y="204"/>
                      <a:pt x="16" y="164"/>
                    </a:cubicBezTo>
                    <a:cubicBezTo>
                      <a:pt x="32" y="124"/>
                      <a:pt x="88" y="76"/>
                      <a:pt x="160" y="68"/>
                    </a:cubicBezTo>
                    <a:close/>
                  </a:path>
                </a:pathLst>
              </a:custGeom>
              <a:solidFill>
                <a:srgbClr val="FF99CC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en-US"/>
              </a:p>
            </p:txBody>
          </p:sp>
          <p:sp>
            <p:nvSpPr>
              <p:cNvPr id="436283" name="Text Box 59"/>
              <p:cNvSpPr txBox="1">
                <a:spLocks noChangeArrowheads="1"/>
              </p:cNvSpPr>
              <p:nvPr/>
            </p:nvSpPr>
            <p:spPr bwMode="auto">
              <a:xfrm>
                <a:off x="1680" y="3280"/>
                <a:ext cx="1489" cy="2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>
                  <a:defRPr/>
                </a:pPr>
                <a:r>
                  <a:rPr lang="en-US" sz="1400" b="1" dirty="0">
                    <a:latin typeface="Arial" charset="0"/>
                    <a:ea typeface="ＭＳ Ｐゴシック" charset="0"/>
                    <a:cs typeface="ＭＳ Ｐゴシック" charset="0"/>
                  </a:rPr>
                  <a:t>communication network</a:t>
                </a:r>
              </a:p>
            </p:txBody>
          </p:sp>
          <p:cxnSp>
            <p:nvCxnSpPr>
              <p:cNvPr id="436284" name="AutoShape 60"/>
              <p:cNvCxnSpPr>
                <a:cxnSpLocks noChangeShapeType="1"/>
                <a:stCxn id="436266" idx="2"/>
                <a:endCxn id="436282" idx="0"/>
              </p:cNvCxnSpPr>
              <p:nvPr/>
            </p:nvCxnSpPr>
            <p:spPr bwMode="auto">
              <a:xfrm>
                <a:off x="1248" y="3024"/>
                <a:ext cx="87" cy="192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36285" name="AutoShape 61"/>
              <p:cNvCxnSpPr>
                <a:cxnSpLocks noChangeShapeType="1"/>
                <a:stCxn id="436269" idx="2"/>
                <a:endCxn id="436282" idx="3"/>
              </p:cNvCxnSpPr>
              <p:nvPr/>
            </p:nvCxnSpPr>
            <p:spPr bwMode="auto">
              <a:xfrm>
                <a:off x="2064" y="3024"/>
                <a:ext cx="23" cy="153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36286" name="AutoShape 62"/>
              <p:cNvCxnSpPr>
                <a:cxnSpLocks noChangeShapeType="1"/>
                <a:stCxn id="436272" idx="2"/>
                <a:endCxn id="436282" idx="6"/>
              </p:cNvCxnSpPr>
              <p:nvPr/>
            </p:nvCxnSpPr>
            <p:spPr bwMode="auto">
              <a:xfrm flipH="1">
                <a:off x="2841" y="3024"/>
                <a:ext cx="39" cy="200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36287" name="AutoShape 63"/>
              <p:cNvCxnSpPr>
                <a:cxnSpLocks noChangeShapeType="1"/>
                <a:stCxn id="436275" idx="2"/>
                <a:endCxn id="436282" idx="10"/>
              </p:cNvCxnSpPr>
              <p:nvPr/>
            </p:nvCxnSpPr>
            <p:spPr bwMode="auto">
              <a:xfrm flipH="1">
                <a:off x="4041" y="3024"/>
                <a:ext cx="135" cy="241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436288" name="Line 64"/>
              <p:cNvSpPr>
                <a:spLocks noChangeShapeType="1"/>
              </p:cNvSpPr>
              <p:nvPr/>
            </p:nvSpPr>
            <p:spPr bwMode="auto">
              <a:xfrm>
                <a:off x="4486" y="2400"/>
                <a:ext cx="2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fr-FR" sz="2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36289" name="Line 65"/>
              <p:cNvSpPr>
                <a:spLocks noChangeShapeType="1"/>
              </p:cNvSpPr>
              <p:nvPr/>
            </p:nvSpPr>
            <p:spPr bwMode="auto">
              <a:xfrm>
                <a:off x="4486" y="2832"/>
                <a:ext cx="2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fr-FR" sz="2000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36290" name="Text Box 66"/>
              <p:cNvSpPr txBox="1">
                <a:spLocks noChangeArrowheads="1"/>
              </p:cNvSpPr>
              <p:nvPr/>
            </p:nvSpPr>
            <p:spPr bwMode="auto">
              <a:xfrm>
                <a:off x="4704" y="2222"/>
                <a:ext cx="735" cy="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90000"/>
                  </a:lnSpc>
                  <a:defRPr/>
                </a:pPr>
                <a:r>
                  <a:rPr lang="en-US" sz="1400" b="1" dirty="0">
                    <a:latin typeface="Arial" charset="0"/>
                    <a:ea typeface="ＭＳ Ｐゴシック" charset="0"/>
                    <a:cs typeface="ＭＳ Ｐゴシック" charset="0"/>
                  </a:rPr>
                  <a:t>distributed</a:t>
                </a:r>
              </a:p>
              <a:p>
                <a:pPr>
                  <a:lnSpc>
                    <a:spcPct val="90000"/>
                  </a:lnSpc>
                  <a:defRPr/>
                </a:pPr>
                <a:r>
                  <a:rPr lang="en-US" sz="1400" b="1" dirty="0">
                    <a:latin typeface="Arial" charset="0"/>
                    <a:ea typeface="ＭＳ Ｐゴシック" charset="0"/>
                    <a:cs typeface="ＭＳ Ｐゴシック" charset="0"/>
                  </a:rPr>
                  <a:t>memory</a:t>
                </a:r>
              </a:p>
            </p:txBody>
          </p:sp>
          <p:sp>
            <p:nvSpPr>
              <p:cNvPr id="436291" name="Text Box 67"/>
              <p:cNvSpPr txBox="1">
                <a:spLocks noChangeArrowheads="1"/>
              </p:cNvSpPr>
              <p:nvPr/>
            </p:nvSpPr>
            <p:spPr bwMode="auto">
              <a:xfrm>
                <a:off x="4704" y="2641"/>
                <a:ext cx="762" cy="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90000"/>
                  </a:lnSpc>
                  <a:defRPr/>
                </a:pPr>
                <a:r>
                  <a:rPr lang="en-US" sz="1400" b="1" dirty="0">
                    <a:latin typeface="Arial" charset="0"/>
                    <a:ea typeface="ＭＳ Ｐゴシック" charset="0"/>
                    <a:cs typeface="ＭＳ Ｐゴシック" charset="0"/>
                  </a:rPr>
                  <a:t>parallel</a:t>
                </a:r>
              </a:p>
              <a:p>
                <a:pPr>
                  <a:lnSpc>
                    <a:spcPct val="90000"/>
                  </a:lnSpc>
                  <a:defRPr/>
                </a:pPr>
                <a:r>
                  <a:rPr lang="en-US" sz="1400" b="1" dirty="0">
                    <a:latin typeface="Arial" charset="0"/>
                    <a:ea typeface="ＭＳ Ｐゴシック" charset="0"/>
                    <a:cs typeface="ＭＳ Ｐゴシック" charset="0"/>
                  </a:rPr>
                  <a:t>processors</a:t>
                </a:r>
              </a:p>
            </p:txBody>
          </p:sp>
        </p:grpSp>
      </p:grpSp>
      <p:sp>
        <p:nvSpPr>
          <p:cNvPr id="436292" name="Rectangle 68"/>
          <p:cNvSpPr>
            <a:spLocks noChangeArrowheads="1"/>
          </p:cNvSpPr>
          <p:nvPr/>
        </p:nvSpPr>
        <p:spPr bwMode="auto">
          <a:xfrm>
            <a:off x="8305800" y="4876800"/>
            <a:ext cx="76200" cy="76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99CC00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36295" name="Text Box 71"/>
          <p:cNvSpPr txBox="1">
            <a:spLocks noChangeArrowheads="1"/>
          </p:cNvSpPr>
          <p:nvPr/>
        </p:nvSpPr>
        <p:spPr bwMode="auto">
          <a:xfrm>
            <a:off x="6436172" y="1864708"/>
            <a:ext cx="22062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600" b="1" dirty="0">
                <a:latin typeface="Arial" charset="0"/>
                <a:ea typeface="ＭＳ Ｐゴシック" charset="0"/>
                <a:cs typeface="ＭＳ Ｐゴシック" charset="0"/>
              </a:rPr>
              <a:t>A processor may run many processes</a:t>
            </a:r>
            <a:endParaRPr lang="en-US" sz="1600" b="1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16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36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6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6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9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1" name="Rectangle 3"/>
          <p:cNvSpPr>
            <a:spLocks noGrp="1" noChangeArrowheads="1"/>
          </p:cNvSpPr>
          <p:nvPr>
            <p:ph idx="1"/>
          </p:nvPr>
        </p:nvSpPr>
        <p:spPr>
          <a:xfrm>
            <a:off x="60960" y="865188"/>
            <a:ext cx="8778240" cy="381672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en-GB" sz="2800" dirty="0">
                <a:ea typeface="+mn-ea"/>
              </a:rPr>
              <a:t>A </a:t>
            </a:r>
            <a:r>
              <a:rPr lang="en-GB" sz="2800" b="1" dirty="0">
                <a:solidFill>
                  <a:srgbClr val="C00000"/>
                </a:solidFill>
                <a:ea typeface="+mn-ea"/>
              </a:rPr>
              <a:t>process</a:t>
            </a:r>
            <a:r>
              <a:rPr lang="en-GB" sz="2800" dirty="0">
                <a:solidFill>
                  <a:srgbClr val="C00000"/>
                </a:solidFill>
                <a:ea typeface="+mn-ea"/>
              </a:rPr>
              <a:t> </a:t>
            </a:r>
            <a:r>
              <a:rPr lang="en-GB" sz="2800" dirty="0">
                <a:ea typeface="+mn-ea"/>
              </a:rPr>
              <a:t>is a </a:t>
            </a:r>
            <a:r>
              <a:rPr lang="en-GB" sz="2800" b="1" dirty="0">
                <a:solidFill>
                  <a:srgbClr val="2C14DE"/>
                </a:solidFill>
                <a:ea typeface="+mn-ea"/>
              </a:rPr>
              <a:t>program</a:t>
            </a:r>
            <a:r>
              <a:rPr lang="en-GB" sz="2800" dirty="0">
                <a:solidFill>
                  <a:srgbClr val="2C14DE"/>
                </a:solidFill>
                <a:ea typeface="+mn-ea"/>
              </a:rPr>
              <a:t> </a:t>
            </a:r>
            <a:r>
              <a:rPr lang="en-GB" sz="2800" b="1" dirty="0">
                <a:ea typeface="+mn-ea"/>
              </a:rPr>
              <a:t>performing</a:t>
            </a:r>
            <a:r>
              <a:rPr lang="en-GB" sz="2800" dirty="0">
                <a:ea typeface="+mn-ea"/>
              </a:rPr>
              <a:t> a </a:t>
            </a:r>
            <a:r>
              <a:rPr lang="en-GB" sz="2800" b="1" dirty="0">
                <a:ea typeface="+mn-ea"/>
              </a:rPr>
              <a:t>task</a:t>
            </a:r>
            <a:r>
              <a:rPr lang="en-GB" sz="2800" dirty="0">
                <a:ea typeface="+mn-ea"/>
              </a:rPr>
              <a:t> on a </a:t>
            </a:r>
            <a:r>
              <a:rPr lang="en-GB" sz="2800" b="1" dirty="0">
                <a:ea typeface="+mn-ea"/>
              </a:rPr>
              <a:t>processor</a:t>
            </a:r>
          </a:p>
          <a:p>
            <a:pPr>
              <a:lnSpc>
                <a:spcPct val="80000"/>
              </a:lnSpc>
              <a:defRPr/>
            </a:pPr>
            <a:endParaRPr lang="en-US" sz="2800" b="1" dirty="0">
              <a:ea typeface="+mn-ea"/>
            </a:endParaRPr>
          </a:p>
          <a:p>
            <a:pPr>
              <a:lnSpc>
                <a:spcPct val="80000"/>
              </a:lnSpc>
              <a:defRPr/>
            </a:pPr>
            <a:r>
              <a:rPr lang="en-US" sz="2800" dirty="0">
                <a:ea typeface="+mn-ea"/>
              </a:rPr>
              <a:t>Each </a:t>
            </a:r>
            <a:r>
              <a:rPr lang="en-US" sz="2800" b="1" dirty="0">
                <a:ea typeface="+mn-ea"/>
              </a:rPr>
              <a:t>processor/</a:t>
            </a:r>
            <a:r>
              <a:rPr lang="en-US" sz="2800" b="1" dirty="0">
                <a:solidFill>
                  <a:srgbClr val="C00000"/>
                </a:solidFill>
                <a:ea typeface="+mn-ea"/>
              </a:rPr>
              <a:t>process</a:t>
            </a:r>
            <a:r>
              <a:rPr lang="en-US" sz="2800" dirty="0">
                <a:ea typeface="+mn-ea"/>
              </a:rPr>
              <a:t> </a:t>
            </a:r>
            <a:r>
              <a:rPr lang="en-US" sz="2800" b="1" dirty="0">
                <a:ea typeface="+mn-ea"/>
              </a:rPr>
              <a:t>runs</a:t>
            </a:r>
            <a:r>
              <a:rPr lang="en-US" sz="2800" dirty="0">
                <a:ea typeface="+mn-ea"/>
              </a:rPr>
              <a:t> a </a:t>
            </a:r>
            <a:r>
              <a:rPr lang="en-US" sz="2800" b="1" dirty="0">
                <a:solidFill>
                  <a:srgbClr val="2C14DE"/>
                </a:solidFill>
                <a:ea typeface="+mn-ea"/>
              </a:rPr>
              <a:t>instance</a:t>
            </a:r>
            <a:r>
              <a:rPr lang="en-US" sz="2800" b="1" dirty="0">
                <a:ea typeface="+mn-ea"/>
              </a:rPr>
              <a:t>/</a:t>
            </a:r>
            <a:r>
              <a:rPr lang="en-US" sz="2800" b="1" dirty="0">
                <a:solidFill>
                  <a:srgbClr val="2C14DE"/>
                </a:solidFill>
                <a:ea typeface="+mn-ea"/>
              </a:rPr>
              <a:t>copy</a:t>
            </a:r>
            <a:r>
              <a:rPr lang="en-US" sz="2800" dirty="0">
                <a:ea typeface="+mn-ea"/>
              </a:rPr>
              <a:t> of the </a:t>
            </a:r>
            <a:r>
              <a:rPr lang="en-US" sz="2800" b="1" dirty="0">
                <a:solidFill>
                  <a:srgbClr val="2C14DE"/>
                </a:solidFill>
                <a:ea typeface="+mn-ea"/>
              </a:rPr>
              <a:t>same</a:t>
            </a:r>
            <a:r>
              <a:rPr lang="en-US" sz="2800" dirty="0">
                <a:ea typeface="+mn-ea"/>
              </a:rPr>
              <a:t>  </a:t>
            </a:r>
            <a:r>
              <a:rPr lang="en-US" sz="2800" b="1" dirty="0">
                <a:solidFill>
                  <a:srgbClr val="2C14DE"/>
                </a:solidFill>
                <a:ea typeface="+mn-ea"/>
              </a:rPr>
              <a:t>program</a:t>
            </a:r>
            <a:r>
              <a:rPr lang="en-US" sz="2800" b="1" dirty="0">
                <a:ea typeface="+mn-ea"/>
              </a:rPr>
              <a:t>: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>
                <a:ea typeface="+mn-ea"/>
              </a:rPr>
              <a:t>the </a:t>
            </a:r>
            <a:r>
              <a:rPr lang="en-US" b="1" dirty="0">
                <a:solidFill>
                  <a:srgbClr val="2C14DE"/>
                </a:solidFill>
                <a:ea typeface="+mn-ea"/>
              </a:rPr>
              <a:t>variables </a:t>
            </a:r>
            <a:r>
              <a:rPr lang="en-US" dirty="0">
                <a:ea typeface="+mn-ea"/>
              </a:rPr>
              <a:t>of </a:t>
            </a:r>
            <a:r>
              <a:rPr lang="en-US" b="1" dirty="0">
                <a:ea typeface="+mn-ea"/>
              </a:rPr>
              <a:t>each sub-program </a:t>
            </a:r>
            <a:r>
              <a:rPr lang="en-US" dirty="0">
                <a:ea typeface="+mn-ea"/>
              </a:rPr>
              <a:t>have:</a:t>
            </a:r>
          </a:p>
          <a:p>
            <a:pPr lvl="2">
              <a:lnSpc>
                <a:spcPct val="80000"/>
              </a:lnSpc>
              <a:defRPr/>
            </a:pPr>
            <a:r>
              <a:rPr lang="en-US" sz="2800" dirty="0">
                <a:ea typeface="+mn-ea"/>
              </a:rPr>
              <a:t>the </a:t>
            </a:r>
            <a:r>
              <a:rPr lang="en-US" sz="2800" b="1" u="sng" dirty="0">
                <a:solidFill>
                  <a:srgbClr val="2C14DE"/>
                </a:solidFill>
                <a:ea typeface="+mn-ea"/>
              </a:rPr>
              <a:t>same name </a:t>
            </a:r>
            <a:r>
              <a:rPr lang="en-US" sz="2800" dirty="0">
                <a:ea typeface="+mn-ea"/>
              </a:rPr>
              <a:t>but </a:t>
            </a:r>
            <a:r>
              <a:rPr lang="en-US" sz="2800" b="1" dirty="0">
                <a:solidFill>
                  <a:srgbClr val="2C14DE"/>
                </a:solidFill>
                <a:ea typeface="+mn-ea"/>
              </a:rPr>
              <a:t>different locations </a:t>
            </a:r>
            <a:r>
              <a:rPr lang="en-US" sz="2800" dirty="0">
                <a:ea typeface="+mn-ea"/>
              </a:rPr>
              <a:t>(</a:t>
            </a:r>
            <a:r>
              <a:rPr lang="en-US" sz="2800" b="1" dirty="0">
                <a:ea typeface="+mn-ea"/>
              </a:rPr>
              <a:t>distributed memory</a:t>
            </a:r>
            <a:r>
              <a:rPr lang="en-US" sz="2800" dirty="0">
                <a:ea typeface="+mn-ea"/>
              </a:rPr>
              <a:t>) and </a:t>
            </a:r>
            <a:r>
              <a:rPr lang="en-US" sz="2800" b="1" dirty="0">
                <a:ea typeface="+mn-ea"/>
              </a:rPr>
              <a:t>different data</a:t>
            </a:r>
            <a:endParaRPr lang="en-US" sz="2800" dirty="0">
              <a:ea typeface="+mn-ea"/>
            </a:endParaRPr>
          </a:p>
          <a:p>
            <a:pPr lvl="2">
              <a:lnSpc>
                <a:spcPct val="80000"/>
              </a:lnSpc>
              <a:defRPr/>
            </a:pPr>
            <a:r>
              <a:rPr lang="en-US" sz="2800" dirty="0">
                <a:ea typeface="+mn-ea"/>
              </a:rPr>
              <a:t>i.e., </a:t>
            </a:r>
            <a:r>
              <a:rPr lang="en-US" sz="2800" b="1" dirty="0">
                <a:ea typeface="+mn-ea"/>
              </a:rPr>
              <a:t>all variables </a:t>
            </a:r>
            <a:r>
              <a:rPr lang="en-US" sz="2800" dirty="0">
                <a:ea typeface="+mn-ea"/>
              </a:rPr>
              <a:t>are </a:t>
            </a:r>
            <a:r>
              <a:rPr lang="en-US" sz="2800" b="1" dirty="0">
                <a:solidFill>
                  <a:srgbClr val="2C14DE"/>
                </a:solidFill>
                <a:ea typeface="+mn-ea"/>
              </a:rPr>
              <a:t>local to a process</a:t>
            </a:r>
          </a:p>
          <a:p>
            <a:pPr lvl="1">
              <a:lnSpc>
                <a:spcPct val="80000"/>
              </a:lnSpc>
              <a:defRPr/>
            </a:pPr>
            <a:r>
              <a:rPr lang="en-US" b="1" dirty="0">
                <a:ea typeface="+mn-ea"/>
              </a:rPr>
              <a:t>communicate</a:t>
            </a:r>
            <a:r>
              <a:rPr lang="en-US" dirty="0">
                <a:ea typeface="+mn-ea"/>
              </a:rPr>
              <a:t> via </a:t>
            </a:r>
            <a:r>
              <a:rPr lang="en-US" b="1" i="1" dirty="0">
                <a:ea typeface="+mn-ea"/>
              </a:rPr>
              <a:t>message passing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0454"/>
            <a:ext cx="9144000" cy="69582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C00000"/>
                </a:solidFill>
                <a:ea typeface="+mj-ea"/>
              </a:rPr>
              <a:t>The Message-Passing Programming Paradigm  </a:t>
            </a:r>
          </a:p>
        </p:txBody>
      </p:sp>
      <p:grpSp>
        <p:nvGrpSpPr>
          <p:cNvPr id="36" name="Group 40"/>
          <p:cNvGrpSpPr>
            <a:grpSpLocks/>
          </p:cNvGrpSpPr>
          <p:nvPr/>
        </p:nvGrpSpPr>
        <p:grpSpPr bwMode="auto">
          <a:xfrm>
            <a:off x="1752600" y="4800600"/>
            <a:ext cx="6172200" cy="1888156"/>
            <a:chOff x="960" y="2208"/>
            <a:chExt cx="4506" cy="1384"/>
          </a:xfrm>
        </p:grpSpPr>
        <p:sp>
          <p:nvSpPr>
            <p:cNvPr id="37" name="Oval 41"/>
            <p:cNvSpPr>
              <a:spLocks noChangeArrowheads="1"/>
            </p:cNvSpPr>
            <p:nvPr/>
          </p:nvSpPr>
          <p:spPr bwMode="auto">
            <a:xfrm>
              <a:off x="1056" y="2208"/>
              <a:ext cx="384" cy="384"/>
            </a:xfrm>
            <a:prstGeom prst="ellipse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>
                <a:defRPr/>
              </a:pPr>
              <a:r>
                <a:rPr lang="en-US" sz="1400" dirty="0">
                  <a:latin typeface="Arial" charset="0"/>
                  <a:ea typeface="ＭＳ Ｐゴシック" charset="0"/>
                  <a:cs typeface="ＭＳ Ｐゴシック" charset="0"/>
                </a:rPr>
                <a:t>data</a:t>
              </a:r>
            </a:p>
          </p:txBody>
        </p:sp>
        <p:sp>
          <p:nvSpPr>
            <p:cNvPr id="38" name="Rectangle 42"/>
            <p:cNvSpPr>
              <a:spLocks noChangeArrowheads="1"/>
            </p:cNvSpPr>
            <p:nvPr/>
          </p:nvSpPr>
          <p:spPr bwMode="auto">
            <a:xfrm>
              <a:off x="960" y="2640"/>
              <a:ext cx="576" cy="384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r>
                <a:rPr lang="en-US" sz="1400" dirty="0">
                  <a:latin typeface="Arial" charset="0"/>
                  <a:ea typeface="ＭＳ Ｐゴシック" charset="0"/>
                  <a:cs typeface="ＭＳ Ｐゴシック" charset="0"/>
                </a:rPr>
                <a:t>program</a:t>
              </a:r>
            </a:p>
          </p:txBody>
        </p:sp>
        <p:cxnSp>
          <p:nvCxnSpPr>
            <p:cNvPr id="39" name="AutoShape 43"/>
            <p:cNvCxnSpPr>
              <a:cxnSpLocks noChangeShapeType="1"/>
              <a:stCxn id="37" idx="4"/>
              <a:endCxn id="38" idx="0"/>
            </p:cNvCxnSpPr>
            <p:nvPr/>
          </p:nvCxnSpPr>
          <p:spPr bwMode="auto">
            <a:xfrm>
              <a:off x="1248" y="2592"/>
              <a:ext cx="0" cy="4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40" name="Oval 44"/>
            <p:cNvSpPr>
              <a:spLocks noChangeArrowheads="1"/>
            </p:cNvSpPr>
            <p:nvPr/>
          </p:nvSpPr>
          <p:spPr bwMode="auto">
            <a:xfrm>
              <a:off x="1872" y="2208"/>
              <a:ext cx="384" cy="384"/>
            </a:xfrm>
            <a:prstGeom prst="ellipse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>
                <a:defRPr/>
              </a:pPr>
              <a:r>
                <a:rPr lang="en-US" sz="1400" dirty="0">
                  <a:latin typeface="Arial" charset="0"/>
                  <a:ea typeface="ＭＳ Ｐゴシック" charset="0"/>
                  <a:cs typeface="ＭＳ Ｐゴシック" charset="0"/>
                </a:rPr>
                <a:t>data</a:t>
              </a:r>
            </a:p>
          </p:txBody>
        </p:sp>
        <p:sp>
          <p:nvSpPr>
            <p:cNvPr id="41" name="Rectangle 45"/>
            <p:cNvSpPr>
              <a:spLocks noChangeArrowheads="1"/>
            </p:cNvSpPr>
            <p:nvPr/>
          </p:nvSpPr>
          <p:spPr bwMode="auto">
            <a:xfrm>
              <a:off x="1776" y="2640"/>
              <a:ext cx="576" cy="384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r>
                <a:rPr lang="en-US" sz="1400" dirty="0">
                  <a:latin typeface="Arial" charset="0"/>
                  <a:ea typeface="ＭＳ Ｐゴシック" charset="0"/>
                  <a:cs typeface="ＭＳ Ｐゴシック" charset="0"/>
                </a:rPr>
                <a:t>program</a:t>
              </a:r>
            </a:p>
          </p:txBody>
        </p:sp>
        <p:cxnSp>
          <p:nvCxnSpPr>
            <p:cNvPr id="42" name="AutoShape 46"/>
            <p:cNvCxnSpPr>
              <a:cxnSpLocks noChangeShapeType="1"/>
              <a:stCxn id="40" idx="4"/>
              <a:endCxn id="41" idx="0"/>
            </p:cNvCxnSpPr>
            <p:nvPr/>
          </p:nvCxnSpPr>
          <p:spPr bwMode="auto">
            <a:xfrm>
              <a:off x="2064" y="2592"/>
              <a:ext cx="0" cy="4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43" name="Oval 47"/>
            <p:cNvSpPr>
              <a:spLocks noChangeArrowheads="1"/>
            </p:cNvSpPr>
            <p:nvPr/>
          </p:nvSpPr>
          <p:spPr bwMode="auto">
            <a:xfrm>
              <a:off x="2687" y="2208"/>
              <a:ext cx="382" cy="384"/>
            </a:xfrm>
            <a:prstGeom prst="ellipse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>
                <a:defRPr/>
              </a:pPr>
              <a:r>
                <a:rPr lang="en-US" sz="1400" dirty="0">
                  <a:latin typeface="Arial" charset="0"/>
                  <a:ea typeface="ＭＳ Ｐゴシック" charset="0"/>
                  <a:cs typeface="ＭＳ Ｐゴシック" charset="0"/>
                </a:rPr>
                <a:t>data</a:t>
              </a:r>
            </a:p>
          </p:txBody>
        </p:sp>
        <p:sp>
          <p:nvSpPr>
            <p:cNvPr id="44" name="Rectangle 48"/>
            <p:cNvSpPr>
              <a:spLocks noChangeArrowheads="1"/>
            </p:cNvSpPr>
            <p:nvPr/>
          </p:nvSpPr>
          <p:spPr bwMode="auto">
            <a:xfrm>
              <a:off x="2593" y="2640"/>
              <a:ext cx="575" cy="384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r>
                <a:rPr lang="en-US" sz="1400" dirty="0">
                  <a:latin typeface="Arial" charset="0"/>
                  <a:ea typeface="ＭＳ Ｐゴシック" charset="0"/>
                  <a:cs typeface="ＭＳ Ｐゴシック" charset="0"/>
                </a:rPr>
                <a:t>program</a:t>
              </a:r>
            </a:p>
          </p:txBody>
        </p:sp>
        <p:cxnSp>
          <p:nvCxnSpPr>
            <p:cNvPr id="45" name="AutoShape 49"/>
            <p:cNvCxnSpPr>
              <a:cxnSpLocks noChangeShapeType="1"/>
              <a:stCxn id="43" idx="4"/>
              <a:endCxn id="44" idx="0"/>
            </p:cNvCxnSpPr>
            <p:nvPr/>
          </p:nvCxnSpPr>
          <p:spPr bwMode="auto">
            <a:xfrm>
              <a:off x="2880" y="2592"/>
              <a:ext cx="0" cy="4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46" name="Oval 50"/>
            <p:cNvSpPr>
              <a:spLocks noChangeArrowheads="1"/>
            </p:cNvSpPr>
            <p:nvPr/>
          </p:nvSpPr>
          <p:spPr bwMode="auto">
            <a:xfrm>
              <a:off x="3984" y="2208"/>
              <a:ext cx="383" cy="384"/>
            </a:xfrm>
            <a:prstGeom prst="ellipse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ctr">
                <a:defRPr/>
              </a:pPr>
              <a:r>
                <a:rPr lang="en-US" sz="1400" dirty="0">
                  <a:latin typeface="Arial" charset="0"/>
                  <a:ea typeface="ＭＳ Ｐゴシック" charset="0"/>
                  <a:cs typeface="ＭＳ Ｐゴシック" charset="0"/>
                </a:rPr>
                <a:t>data</a:t>
              </a:r>
            </a:p>
          </p:txBody>
        </p:sp>
        <p:sp>
          <p:nvSpPr>
            <p:cNvPr id="47" name="Rectangle 51"/>
            <p:cNvSpPr>
              <a:spLocks noChangeArrowheads="1"/>
            </p:cNvSpPr>
            <p:nvPr/>
          </p:nvSpPr>
          <p:spPr bwMode="auto">
            <a:xfrm>
              <a:off x="3888" y="2640"/>
              <a:ext cx="575" cy="384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r>
                <a:rPr lang="en-US" sz="1400" dirty="0">
                  <a:latin typeface="Arial" charset="0"/>
                  <a:ea typeface="ＭＳ Ｐゴシック" charset="0"/>
                  <a:cs typeface="ＭＳ Ｐゴシック" charset="0"/>
                </a:rPr>
                <a:t>program</a:t>
              </a:r>
            </a:p>
          </p:txBody>
        </p:sp>
        <p:cxnSp>
          <p:nvCxnSpPr>
            <p:cNvPr id="48" name="AutoShape 52"/>
            <p:cNvCxnSpPr>
              <a:cxnSpLocks noChangeShapeType="1"/>
              <a:stCxn id="46" idx="4"/>
              <a:endCxn id="47" idx="0"/>
            </p:cNvCxnSpPr>
            <p:nvPr/>
          </p:nvCxnSpPr>
          <p:spPr bwMode="auto">
            <a:xfrm>
              <a:off x="4176" y="2592"/>
              <a:ext cx="0" cy="4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49" name="Oval 53"/>
            <p:cNvSpPr>
              <a:spLocks noChangeArrowheads="1"/>
            </p:cNvSpPr>
            <p:nvPr/>
          </p:nvSpPr>
          <p:spPr bwMode="auto">
            <a:xfrm>
              <a:off x="3312" y="2592"/>
              <a:ext cx="43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fr-FR" sz="20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0" name="Oval 54"/>
            <p:cNvSpPr>
              <a:spLocks noChangeArrowheads="1"/>
            </p:cNvSpPr>
            <p:nvPr/>
          </p:nvSpPr>
          <p:spPr bwMode="auto">
            <a:xfrm>
              <a:off x="3408" y="2592"/>
              <a:ext cx="43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fr-FR" sz="20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1" name="Oval 55"/>
            <p:cNvSpPr>
              <a:spLocks noChangeArrowheads="1"/>
            </p:cNvSpPr>
            <p:nvPr/>
          </p:nvSpPr>
          <p:spPr bwMode="auto">
            <a:xfrm>
              <a:off x="3504" y="2592"/>
              <a:ext cx="42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fr-FR" sz="20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2" name="Oval 56"/>
            <p:cNvSpPr>
              <a:spLocks noChangeArrowheads="1"/>
            </p:cNvSpPr>
            <p:nvPr/>
          </p:nvSpPr>
          <p:spPr bwMode="auto">
            <a:xfrm>
              <a:off x="3600" y="2592"/>
              <a:ext cx="42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fr-FR" sz="20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3" name="Oval 57"/>
            <p:cNvSpPr>
              <a:spLocks noChangeArrowheads="1"/>
            </p:cNvSpPr>
            <p:nvPr/>
          </p:nvSpPr>
          <p:spPr bwMode="auto">
            <a:xfrm>
              <a:off x="3696" y="2592"/>
              <a:ext cx="41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fr-FR" sz="20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auto">
            <a:xfrm>
              <a:off x="1184" y="3149"/>
              <a:ext cx="2898" cy="443"/>
            </a:xfrm>
            <a:custGeom>
              <a:avLst/>
              <a:gdLst>
                <a:gd name="T0" fmla="*/ 160 w 2896"/>
                <a:gd name="T1" fmla="*/ 68 h 444"/>
                <a:gd name="T2" fmla="*/ 448 w 2896"/>
                <a:gd name="T3" fmla="*/ 116 h 444"/>
                <a:gd name="T4" fmla="*/ 817 w 2896"/>
                <a:gd name="T5" fmla="*/ 28 h 444"/>
                <a:gd name="T6" fmla="*/ 913 w 2896"/>
                <a:gd name="T7" fmla="*/ 28 h 444"/>
                <a:gd name="T8" fmla="*/ 1337 w 2896"/>
                <a:gd name="T9" fmla="*/ 148 h 444"/>
                <a:gd name="T10" fmla="*/ 1233 w 2896"/>
                <a:gd name="T11" fmla="*/ 12 h 444"/>
                <a:gd name="T12" fmla="*/ 1649 w 2896"/>
                <a:gd name="T13" fmla="*/ 76 h 444"/>
                <a:gd name="T14" fmla="*/ 1793 w 2896"/>
                <a:gd name="T15" fmla="*/ 20 h 444"/>
                <a:gd name="T16" fmla="*/ 2178 w 2896"/>
                <a:gd name="T17" fmla="*/ 116 h 444"/>
                <a:gd name="T18" fmla="*/ 2418 w 2896"/>
                <a:gd name="T19" fmla="*/ 20 h 444"/>
                <a:gd name="T20" fmla="*/ 2850 w 2896"/>
                <a:gd name="T21" fmla="*/ 116 h 444"/>
                <a:gd name="T22" fmla="*/ 2706 w 2896"/>
                <a:gd name="T23" fmla="*/ 307 h 444"/>
                <a:gd name="T24" fmla="*/ 2242 w 2896"/>
                <a:gd name="T25" fmla="*/ 339 h 444"/>
                <a:gd name="T26" fmla="*/ 2290 w 2896"/>
                <a:gd name="T27" fmla="*/ 411 h 444"/>
                <a:gd name="T28" fmla="*/ 1609 w 2896"/>
                <a:gd name="T29" fmla="*/ 395 h 444"/>
                <a:gd name="T30" fmla="*/ 1225 w 2896"/>
                <a:gd name="T31" fmla="*/ 355 h 444"/>
                <a:gd name="T32" fmla="*/ 1225 w 2896"/>
                <a:gd name="T33" fmla="*/ 443 h 444"/>
                <a:gd name="T34" fmla="*/ 360 w 2896"/>
                <a:gd name="T35" fmla="*/ 355 h 444"/>
                <a:gd name="T36" fmla="*/ 368 w 2896"/>
                <a:gd name="T37" fmla="*/ 435 h 444"/>
                <a:gd name="T38" fmla="*/ 64 w 2896"/>
                <a:gd name="T39" fmla="*/ 307 h 444"/>
                <a:gd name="T40" fmla="*/ 16 w 2896"/>
                <a:gd name="T41" fmla="*/ 164 h 444"/>
                <a:gd name="T42" fmla="*/ 160 w 2896"/>
                <a:gd name="T43" fmla="*/ 68 h 44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896" h="444">
                  <a:moveTo>
                    <a:pt x="160" y="68"/>
                  </a:moveTo>
                  <a:cubicBezTo>
                    <a:pt x="232" y="60"/>
                    <a:pt x="339" y="123"/>
                    <a:pt x="448" y="116"/>
                  </a:cubicBezTo>
                  <a:cubicBezTo>
                    <a:pt x="557" y="109"/>
                    <a:pt x="739" y="43"/>
                    <a:pt x="816" y="28"/>
                  </a:cubicBezTo>
                  <a:cubicBezTo>
                    <a:pt x="893" y="13"/>
                    <a:pt x="825" y="8"/>
                    <a:pt x="912" y="28"/>
                  </a:cubicBezTo>
                  <a:cubicBezTo>
                    <a:pt x="999" y="48"/>
                    <a:pt x="1283" y="151"/>
                    <a:pt x="1336" y="148"/>
                  </a:cubicBezTo>
                  <a:cubicBezTo>
                    <a:pt x="1389" y="145"/>
                    <a:pt x="1180" y="24"/>
                    <a:pt x="1232" y="12"/>
                  </a:cubicBezTo>
                  <a:cubicBezTo>
                    <a:pt x="1284" y="0"/>
                    <a:pt x="1555" y="75"/>
                    <a:pt x="1648" y="76"/>
                  </a:cubicBezTo>
                  <a:cubicBezTo>
                    <a:pt x="1741" y="77"/>
                    <a:pt x="1704" y="13"/>
                    <a:pt x="1792" y="20"/>
                  </a:cubicBezTo>
                  <a:cubicBezTo>
                    <a:pt x="1880" y="27"/>
                    <a:pt x="2072" y="116"/>
                    <a:pt x="2176" y="116"/>
                  </a:cubicBezTo>
                  <a:cubicBezTo>
                    <a:pt x="2280" y="116"/>
                    <a:pt x="2304" y="20"/>
                    <a:pt x="2416" y="20"/>
                  </a:cubicBezTo>
                  <a:cubicBezTo>
                    <a:pt x="2528" y="20"/>
                    <a:pt x="2800" y="68"/>
                    <a:pt x="2848" y="116"/>
                  </a:cubicBezTo>
                  <a:cubicBezTo>
                    <a:pt x="2896" y="164"/>
                    <a:pt x="2805" y="271"/>
                    <a:pt x="2704" y="308"/>
                  </a:cubicBezTo>
                  <a:cubicBezTo>
                    <a:pt x="2603" y="345"/>
                    <a:pt x="2309" y="323"/>
                    <a:pt x="2240" y="340"/>
                  </a:cubicBezTo>
                  <a:cubicBezTo>
                    <a:pt x="2171" y="357"/>
                    <a:pt x="2393" y="403"/>
                    <a:pt x="2288" y="412"/>
                  </a:cubicBezTo>
                  <a:cubicBezTo>
                    <a:pt x="2183" y="421"/>
                    <a:pt x="1785" y="405"/>
                    <a:pt x="1608" y="396"/>
                  </a:cubicBezTo>
                  <a:cubicBezTo>
                    <a:pt x="1431" y="387"/>
                    <a:pt x="1288" y="348"/>
                    <a:pt x="1224" y="356"/>
                  </a:cubicBezTo>
                  <a:cubicBezTo>
                    <a:pt x="1160" y="364"/>
                    <a:pt x="1368" y="444"/>
                    <a:pt x="1224" y="444"/>
                  </a:cubicBezTo>
                  <a:cubicBezTo>
                    <a:pt x="1080" y="444"/>
                    <a:pt x="503" y="357"/>
                    <a:pt x="360" y="356"/>
                  </a:cubicBezTo>
                  <a:cubicBezTo>
                    <a:pt x="217" y="355"/>
                    <a:pt x="417" y="444"/>
                    <a:pt x="368" y="436"/>
                  </a:cubicBezTo>
                  <a:cubicBezTo>
                    <a:pt x="319" y="428"/>
                    <a:pt x="123" y="353"/>
                    <a:pt x="64" y="308"/>
                  </a:cubicBezTo>
                  <a:cubicBezTo>
                    <a:pt x="5" y="263"/>
                    <a:pt x="0" y="204"/>
                    <a:pt x="16" y="164"/>
                  </a:cubicBezTo>
                  <a:cubicBezTo>
                    <a:pt x="32" y="124"/>
                    <a:pt x="88" y="76"/>
                    <a:pt x="160" y="68"/>
                  </a:cubicBezTo>
                  <a:close/>
                </a:path>
              </a:pathLst>
            </a:custGeom>
            <a:solidFill>
              <a:srgbClr val="FF99CC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55" name="Text Box 59"/>
            <p:cNvSpPr txBox="1">
              <a:spLocks noChangeArrowheads="1"/>
            </p:cNvSpPr>
            <p:nvPr/>
          </p:nvSpPr>
          <p:spPr bwMode="auto">
            <a:xfrm>
              <a:off x="1680" y="3280"/>
              <a:ext cx="1489" cy="2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>
                <a:defRPr/>
              </a:pPr>
              <a:r>
                <a:rPr lang="en-US" sz="1400" b="1" dirty="0">
                  <a:latin typeface="Arial" charset="0"/>
                  <a:ea typeface="ＭＳ Ｐゴシック" charset="0"/>
                  <a:cs typeface="ＭＳ Ｐゴシック" charset="0"/>
                </a:rPr>
                <a:t>communication network</a:t>
              </a:r>
            </a:p>
          </p:txBody>
        </p:sp>
        <p:cxnSp>
          <p:nvCxnSpPr>
            <p:cNvPr id="56" name="AutoShape 60"/>
            <p:cNvCxnSpPr>
              <a:cxnSpLocks noChangeShapeType="1"/>
              <a:stCxn id="38" idx="2"/>
              <a:endCxn id="54" idx="0"/>
            </p:cNvCxnSpPr>
            <p:nvPr/>
          </p:nvCxnSpPr>
          <p:spPr bwMode="auto">
            <a:xfrm>
              <a:off x="1248" y="3024"/>
              <a:ext cx="87" cy="192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7" name="AutoShape 61"/>
            <p:cNvCxnSpPr>
              <a:cxnSpLocks noChangeShapeType="1"/>
              <a:stCxn id="41" idx="2"/>
              <a:endCxn id="54" idx="3"/>
            </p:cNvCxnSpPr>
            <p:nvPr/>
          </p:nvCxnSpPr>
          <p:spPr bwMode="auto">
            <a:xfrm>
              <a:off x="2064" y="3024"/>
              <a:ext cx="23" cy="15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8" name="AutoShape 62"/>
            <p:cNvCxnSpPr>
              <a:cxnSpLocks noChangeShapeType="1"/>
              <a:stCxn id="44" idx="2"/>
              <a:endCxn id="54" idx="6"/>
            </p:cNvCxnSpPr>
            <p:nvPr/>
          </p:nvCxnSpPr>
          <p:spPr bwMode="auto">
            <a:xfrm flipH="1">
              <a:off x="2841" y="3024"/>
              <a:ext cx="39" cy="2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9" name="AutoShape 63"/>
            <p:cNvCxnSpPr>
              <a:cxnSpLocks noChangeShapeType="1"/>
              <a:stCxn id="47" idx="2"/>
              <a:endCxn id="54" idx="10"/>
            </p:cNvCxnSpPr>
            <p:nvPr/>
          </p:nvCxnSpPr>
          <p:spPr bwMode="auto">
            <a:xfrm flipH="1">
              <a:off x="4041" y="3024"/>
              <a:ext cx="135" cy="241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60" name="Line 64"/>
            <p:cNvSpPr>
              <a:spLocks noChangeShapeType="1"/>
            </p:cNvSpPr>
            <p:nvPr/>
          </p:nvSpPr>
          <p:spPr bwMode="auto">
            <a:xfrm>
              <a:off x="4486" y="2400"/>
              <a:ext cx="2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fr-FR" sz="20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1" name="Line 65"/>
            <p:cNvSpPr>
              <a:spLocks noChangeShapeType="1"/>
            </p:cNvSpPr>
            <p:nvPr/>
          </p:nvSpPr>
          <p:spPr bwMode="auto">
            <a:xfrm>
              <a:off x="4486" y="2832"/>
              <a:ext cx="2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fr-FR" sz="20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2" name="Text Box 66"/>
            <p:cNvSpPr txBox="1">
              <a:spLocks noChangeArrowheads="1"/>
            </p:cNvSpPr>
            <p:nvPr/>
          </p:nvSpPr>
          <p:spPr bwMode="auto">
            <a:xfrm>
              <a:off x="4704" y="2222"/>
              <a:ext cx="735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1400" b="1" dirty="0">
                  <a:latin typeface="Arial" charset="0"/>
                  <a:ea typeface="ＭＳ Ｐゴシック" charset="0"/>
                  <a:cs typeface="ＭＳ Ｐゴシック" charset="0"/>
                </a:rPr>
                <a:t>distributed</a:t>
              </a:r>
            </a:p>
            <a:p>
              <a:pPr>
                <a:lnSpc>
                  <a:spcPct val="90000"/>
                </a:lnSpc>
                <a:defRPr/>
              </a:pPr>
              <a:r>
                <a:rPr lang="en-US" sz="1400" b="1" dirty="0">
                  <a:latin typeface="Arial" charset="0"/>
                  <a:ea typeface="ＭＳ Ｐゴシック" charset="0"/>
                  <a:cs typeface="ＭＳ Ｐゴシック" charset="0"/>
                </a:rPr>
                <a:t>memory</a:t>
              </a:r>
            </a:p>
          </p:txBody>
        </p:sp>
        <p:sp>
          <p:nvSpPr>
            <p:cNvPr id="63" name="Text Box 67"/>
            <p:cNvSpPr txBox="1">
              <a:spLocks noChangeArrowheads="1"/>
            </p:cNvSpPr>
            <p:nvPr/>
          </p:nvSpPr>
          <p:spPr bwMode="auto">
            <a:xfrm>
              <a:off x="4704" y="2641"/>
              <a:ext cx="762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1400" b="1" dirty="0">
                  <a:latin typeface="Arial" charset="0"/>
                  <a:ea typeface="ＭＳ Ｐゴシック" charset="0"/>
                  <a:cs typeface="ＭＳ Ｐゴシック" charset="0"/>
                </a:rPr>
                <a:t>parallel</a:t>
              </a:r>
            </a:p>
            <a:p>
              <a:pPr>
                <a:lnSpc>
                  <a:spcPct val="90000"/>
                </a:lnSpc>
                <a:defRPr/>
              </a:pPr>
              <a:r>
                <a:rPr lang="en-US" sz="1400" b="1" dirty="0">
                  <a:latin typeface="Arial" charset="0"/>
                  <a:ea typeface="ＭＳ Ｐゴシック" charset="0"/>
                  <a:cs typeface="ＭＳ Ｐゴシック" charset="0"/>
                </a:rPr>
                <a:t>processors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7119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14631" cy="762000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  <a:ea typeface="+mj-ea"/>
              </a:rPr>
              <a:t>Data and Work Distribution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08843"/>
            <a:ext cx="8915400" cy="4525963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en-GB" sz="3000" dirty="0">
                <a:ea typeface="+mn-ea"/>
              </a:rPr>
              <a:t>To </a:t>
            </a:r>
            <a:r>
              <a:rPr lang="en-GB" sz="3000" b="1" dirty="0">
                <a:solidFill>
                  <a:srgbClr val="2C14DE"/>
                </a:solidFill>
                <a:ea typeface="+mn-ea"/>
              </a:rPr>
              <a:t>communicate</a:t>
            </a:r>
            <a:r>
              <a:rPr lang="en-GB" sz="3000" dirty="0">
                <a:solidFill>
                  <a:srgbClr val="2C14DE"/>
                </a:solidFill>
                <a:ea typeface="+mn-ea"/>
              </a:rPr>
              <a:t> </a:t>
            </a:r>
            <a:r>
              <a:rPr lang="en-GB" sz="3000" dirty="0">
                <a:ea typeface="+mn-ea"/>
              </a:rPr>
              <a:t>together </a:t>
            </a:r>
            <a:r>
              <a:rPr lang="en-GB" sz="3000" b="1" dirty="0">
                <a:solidFill>
                  <a:srgbClr val="2C14DE"/>
                </a:solidFill>
                <a:ea typeface="+mn-ea"/>
              </a:rPr>
              <a:t>MPI-processes</a:t>
            </a:r>
            <a:r>
              <a:rPr lang="en-GB" sz="3000" dirty="0">
                <a:ea typeface="+mn-ea"/>
              </a:rPr>
              <a:t> </a:t>
            </a:r>
            <a:r>
              <a:rPr lang="en-GB" sz="3000" b="1" dirty="0">
                <a:ea typeface="+mn-ea"/>
              </a:rPr>
              <a:t>need</a:t>
            </a:r>
            <a:r>
              <a:rPr lang="en-GB" sz="3000" dirty="0">
                <a:ea typeface="+mn-ea"/>
              </a:rPr>
              <a:t> </a:t>
            </a:r>
            <a:r>
              <a:rPr lang="en-GB" sz="3000" b="1" dirty="0">
                <a:ea typeface="+mn-ea"/>
              </a:rPr>
              <a:t>identifiers</a:t>
            </a:r>
            <a:r>
              <a:rPr lang="en-GB" sz="3000" dirty="0">
                <a:ea typeface="+mn-ea"/>
              </a:rPr>
              <a:t>: </a:t>
            </a:r>
            <a:r>
              <a:rPr lang="en-GB" sz="3000" b="1" dirty="0">
                <a:solidFill>
                  <a:srgbClr val="FF0000"/>
                </a:solidFill>
                <a:ea typeface="+mn-ea"/>
              </a:rPr>
              <a:t>rank </a:t>
            </a:r>
            <a:r>
              <a:rPr lang="en-GB" sz="3000" b="1" dirty="0">
                <a:ea typeface="+mn-ea"/>
              </a:rPr>
              <a:t>= </a:t>
            </a:r>
            <a:r>
              <a:rPr lang="en-GB" sz="3000" b="1" dirty="0">
                <a:solidFill>
                  <a:srgbClr val="C00000"/>
                </a:solidFill>
                <a:ea typeface="+mn-ea"/>
              </a:rPr>
              <a:t>identifying number</a:t>
            </a:r>
          </a:p>
          <a:p>
            <a:pPr algn="just">
              <a:defRPr/>
            </a:pPr>
            <a:endParaRPr lang="en-US" sz="3000" dirty="0">
              <a:solidFill>
                <a:srgbClr val="C00000"/>
              </a:solidFill>
              <a:ea typeface="+mn-ea"/>
            </a:endParaRPr>
          </a:p>
          <a:p>
            <a:pPr algn="just">
              <a:defRPr/>
            </a:pPr>
            <a:r>
              <a:rPr lang="en-US" sz="3000" b="1" dirty="0">
                <a:ea typeface="+mn-ea"/>
              </a:rPr>
              <a:t>Processes</a:t>
            </a:r>
            <a:r>
              <a:rPr lang="en-US" sz="3000" dirty="0">
                <a:ea typeface="+mn-ea"/>
              </a:rPr>
              <a:t> are </a:t>
            </a:r>
            <a:r>
              <a:rPr lang="en-US" sz="3000" b="1" dirty="0">
                <a:ea typeface="+mn-ea"/>
              </a:rPr>
              <a:t>identified</a:t>
            </a:r>
            <a:r>
              <a:rPr lang="en-US" sz="3000" dirty="0">
                <a:ea typeface="+mn-ea"/>
              </a:rPr>
              <a:t> using </a:t>
            </a:r>
            <a:r>
              <a:rPr lang="en-US" sz="3000" b="1" i="1" dirty="0">
                <a:solidFill>
                  <a:srgbClr val="2C14DE"/>
                </a:solidFill>
                <a:ea typeface="+mn-ea"/>
              </a:rPr>
              <a:t>rank</a:t>
            </a:r>
          </a:p>
        </p:txBody>
      </p:sp>
      <p:sp>
        <p:nvSpPr>
          <p:cNvPr id="2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451225" y="5965031"/>
            <a:ext cx="2895600" cy="47625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en-US" sz="1100"/>
              <a:t>MPI Course</a:t>
            </a:r>
          </a:p>
        </p:txBody>
      </p:sp>
      <p:sp>
        <p:nvSpPr>
          <p:cNvPr id="438277" name="Oval 5"/>
          <p:cNvSpPr>
            <a:spLocks noChangeArrowheads="1"/>
          </p:cNvSpPr>
          <p:nvPr/>
        </p:nvSpPr>
        <p:spPr bwMode="auto">
          <a:xfrm>
            <a:off x="1995488" y="3929856"/>
            <a:ext cx="1143000" cy="1143000"/>
          </a:xfrm>
          <a:prstGeom prst="ellipse">
            <a:avLst/>
          </a:prstGeom>
          <a:solidFill>
            <a:srgbClr val="99C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spcBef>
                <a:spcPct val="30000"/>
              </a:spcBef>
              <a:defRPr/>
            </a:pPr>
            <a:r>
              <a:rPr lang="en-US" sz="1400" i="1">
                <a:latin typeface="Arial" charset="0"/>
                <a:ea typeface="ＭＳ Ｐゴシック" charset="0"/>
                <a:cs typeface="ＭＳ Ｐゴシック" charset="0"/>
              </a:rPr>
              <a:t>myrank</a:t>
            </a:r>
            <a:r>
              <a:rPr lang="en-US" sz="1400">
                <a:latin typeface="Arial" charset="0"/>
                <a:ea typeface="ＭＳ Ｐゴシック" charset="0"/>
                <a:cs typeface="ＭＳ Ｐゴシック" charset="0"/>
              </a:rPr>
              <a:t>=0</a:t>
            </a:r>
          </a:p>
          <a:p>
            <a:pPr>
              <a:spcBef>
                <a:spcPct val="30000"/>
              </a:spcBef>
              <a:defRPr/>
            </a:pPr>
            <a:r>
              <a:rPr lang="en-US" sz="1400">
                <a:latin typeface="Arial" charset="0"/>
                <a:ea typeface="ＭＳ Ｐゴシック" charset="0"/>
                <a:cs typeface="ＭＳ Ｐゴシック" charset="0"/>
              </a:rPr>
              <a:t>data</a:t>
            </a:r>
          </a:p>
        </p:txBody>
      </p:sp>
      <p:sp>
        <p:nvSpPr>
          <p:cNvPr id="438278" name="Rectangle 6"/>
          <p:cNvSpPr>
            <a:spLocks noChangeArrowheads="1"/>
          </p:cNvSpPr>
          <p:nvPr/>
        </p:nvSpPr>
        <p:spPr bwMode="auto">
          <a:xfrm>
            <a:off x="2071688" y="5145881"/>
            <a:ext cx="990600" cy="5778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r>
              <a:rPr lang="en-US" sz="1400">
                <a:latin typeface="Arial" charset="0"/>
                <a:ea typeface="ＭＳ Ｐゴシック" charset="0"/>
                <a:cs typeface="ＭＳ Ｐゴシック" charset="0"/>
              </a:rPr>
              <a:t>program</a:t>
            </a:r>
          </a:p>
        </p:txBody>
      </p:sp>
      <p:cxnSp>
        <p:nvCxnSpPr>
          <p:cNvPr id="438279" name="AutoShape 7"/>
          <p:cNvCxnSpPr>
            <a:cxnSpLocks noChangeShapeType="1"/>
            <a:stCxn id="438277" idx="4"/>
            <a:endCxn id="438278" idx="0"/>
          </p:cNvCxnSpPr>
          <p:nvPr/>
        </p:nvCxnSpPr>
        <p:spPr bwMode="auto">
          <a:xfrm>
            <a:off x="2566988" y="5072856"/>
            <a:ext cx="0" cy="730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38280" name="Oval 8"/>
          <p:cNvSpPr>
            <a:spLocks noChangeArrowheads="1"/>
          </p:cNvSpPr>
          <p:nvPr/>
        </p:nvSpPr>
        <p:spPr bwMode="auto">
          <a:xfrm>
            <a:off x="3222625" y="3929856"/>
            <a:ext cx="1143000" cy="1143000"/>
          </a:xfrm>
          <a:prstGeom prst="ellipse">
            <a:avLst/>
          </a:prstGeom>
          <a:solidFill>
            <a:srgbClr val="99C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spcBef>
                <a:spcPct val="30000"/>
              </a:spcBef>
              <a:defRPr/>
            </a:pPr>
            <a:r>
              <a:rPr lang="en-US" sz="1400" i="1">
                <a:latin typeface="Arial" charset="0"/>
                <a:ea typeface="ＭＳ Ｐゴシック" charset="0"/>
                <a:cs typeface="ＭＳ Ｐゴシック" charset="0"/>
              </a:rPr>
              <a:t>myrank</a:t>
            </a:r>
            <a:r>
              <a:rPr lang="en-US" sz="1400">
                <a:latin typeface="Arial" charset="0"/>
                <a:ea typeface="ＭＳ Ｐゴシック" charset="0"/>
                <a:cs typeface="ＭＳ Ｐゴシック" charset="0"/>
              </a:rPr>
              <a:t>=1</a:t>
            </a:r>
          </a:p>
          <a:p>
            <a:pPr>
              <a:spcBef>
                <a:spcPct val="30000"/>
              </a:spcBef>
              <a:defRPr/>
            </a:pPr>
            <a:r>
              <a:rPr lang="en-US" sz="1400">
                <a:latin typeface="Arial" charset="0"/>
                <a:ea typeface="ＭＳ Ｐゴシック" charset="0"/>
                <a:cs typeface="ＭＳ Ｐゴシック" charset="0"/>
              </a:rPr>
              <a:t>data</a:t>
            </a:r>
          </a:p>
        </p:txBody>
      </p:sp>
      <p:sp>
        <p:nvSpPr>
          <p:cNvPr id="438281" name="Rectangle 9"/>
          <p:cNvSpPr>
            <a:spLocks noChangeArrowheads="1"/>
          </p:cNvSpPr>
          <p:nvPr/>
        </p:nvSpPr>
        <p:spPr bwMode="auto">
          <a:xfrm>
            <a:off x="3298825" y="5145881"/>
            <a:ext cx="990600" cy="5778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r>
              <a:rPr lang="en-US" sz="1400">
                <a:latin typeface="Arial" charset="0"/>
                <a:ea typeface="ＭＳ Ｐゴシック" charset="0"/>
                <a:cs typeface="ＭＳ Ｐゴシック" charset="0"/>
              </a:rPr>
              <a:t>program</a:t>
            </a:r>
          </a:p>
        </p:txBody>
      </p:sp>
      <p:cxnSp>
        <p:nvCxnSpPr>
          <p:cNvPr id="438282" name="AutoShape 10"/>
          <p:cNvCxnSpPr>
            <a:cxnSpLocks noChangeShapeType="1"/>
            <a:stCxn id="438280" idx="4"/>
            <a:endCxn id="438281" idx="0"/>
          </p:cNvCxnSpPr>
          <p:nvPr/>
        </p:nvCxnSpPr>
        <p:spPr bwMode="auto">
          <a:xfrm>
            <a:off x="3794125" y="5072856"/>
            <a:ext cx="0" cy="730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38283" name="Oval 11"/>
          <p:cNvSpPr>
            <a:spLocks noChangeArrowheads="1"/>
          </p:cNvSpPr>
          <p:nvPr/>
        </p:nvSpPr>
        <p:spPr bwMode="auto">
          <a:xfrm>
            <a:off x="4451350" y="3929856"/>
            <a:ext cx="1143000" cy="1143000"/>
          </a:xfrm>
          <a:prstGeom prst="ellipse">
            <a:avLst/>
          </a:prstGeom>
          <a:solidFill>
            <a:srgbClr val="99C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spcBef>
                <a:spcPct val="30000"/>
              </a:spcBef>
              <a:defRPr/>
            </a:pPr>
            <a:r>
              <a:rPr lang="en-US" sz="1400" i="1" dirty="0" err="1">
                <a:latin typeface="Arial" charset="0"/>
                <a:ea typeface="ＭＳ Ｐゴシック" charset="0"/>
                <a:cs typeface="ＭＳ Ｐゴシック" charset="0"/>
              </a:rPr>
              <a:t>myrank</a:t>
            </a:r>
            <a:r>
              <a:rPr lang="en-US" sz="1400" dirty="0">
                <a:latin typeface="Arial" charset="0"/>
                <a:ea typeface="ＭＳ Ｐゴシック" charset="0"/>
                <a:cs typeface="ＭＳ Ｐゴシック" charset="0"/>
              </a:rPr>
              <a:t>=2</a:t>
            </a:r>
          </a:p>
          <a:p>
            <a:pPr>
              <a:spcBef>
                <a:spcPct val="30000"/>
              </a:spcBef>
              <a:defRPr/>
            </a:pPr>
            <a:r>
              <a:rPr lang="en-US" sz="1400" dirty="0">
                <a:latin typeface="Arial" charset="0"/>
                <a:ea typeface="ＭＳ Ｐゴシック" charset="0"/>
                <a:cs typeface="ＭＳ Ｐゴシック" charset="0"/>
              </a:rPr>
              <a:t>data</a:t>
            </a:r>
          </a:p>
        </p:txBody>
      </p:sp>
      <p:sp>
        <p:nvSpPr>
          <p:cNvPr id="438284" name="Rectangle 12"/>
          <p:cNvSpPr>
            <a:spLocks noChangeArrowheads="1"/>
          </p:cNvSpPr>
          <p:nvPr/>
        </p:nvSpPr>
        <p:spPr bwMode="auto">
          <a:xfrm>
            <a:off x="4527550" y="5145881"/>
            <a:ext cx="989013" cy="5778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r>
              <a:rPr lang="en-US" sz="1400">
                <a:latin typeface="Arial" charset="0"/>
                <a:ea typeface="ＭＳ Ｐゴシック" charset="0"/>
                <a:cs typeface="ＭＳ Ｐゴシック" charset="0"/>
              </a:rPr>
              <a:t>program</a:t>
            </a:r>
          </a:p>
        </p:txBody>
      </p:sp>
      <p:cxnSp>
        <p:nvCxnSpPr>
          <p:cNvPr id="438285" name="AutoShape 13"/>
          <p:cNvCxnSpPr>
            <a:cxnSpLocks noChangeShapeType="1"/>
            <a:stCxn id="438283" idx="4"/>
            <a:endCxn id="438284" idx="0"/>
          </p:cNvCxnSpPr>
          <p:nvPr/>
        </p:nvCxnSpPr>
        <p:spPr bwMode="auto">
          <a:xfrm>
            <a:off x="5022850" y="5072856"/>
            <a:ext cx="0" cy="730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38286" name="Oval 14"/>
          <p:cNvSpPr>
            <a:spLocks noChangeArrowheads="1"/>
          </p:cNvSpPr>
          <p:nvPr/>
        </p:nvSpPr>
        <p:spPr bwMode="auto">
          <a:xfrm>
            <a:off x="6400800" y="3929856"/>
            <a:ext cx="1143000" cy="1143000"/>
          </a:xfrm>
          <a:prstGeom prst="ellipse">
            <a:avLst/>
          </a:prstGeom>
          <a:solidFill>
            <a:srgbClr val="99C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i="1" dirty="0" err="1">
                <a:latin typeface="Arial" charset="0"/>
                <a:ea typeface="ＭＳ Ｐゴシック" charset="0"/>
                <a:cs typeface="ＭＳ Ｐゴシック" charset="0"/>
              </a:rPr>
              <a:t>myrank</a:t>
            </a:r>
            <a:r>
              <a:rPr lang="en-US" sz="1400" dirty="0">
                <a:latin typeface="Arial" charset="0"/>
                <a:ea typeface="ＭＳ Ｐゴシック" charset="0"/>
                <a:cs typeface="ＭＳ Ｐゴシック" charset="0"/>
              </a:rPr>
              <a:t>=</a:t>
            </a:r>
            <a:br>
              <a:rPr lang="en-US" sz="1400" dirty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sz="1400" dirty="0">
                <a:latin typeface="Arial" charset="0"/>
                <a:ea typeface="ＭＳ Ｐゴシック" charset="0"/>
                <a:cs typeface="ＭＳ Ｐゴシック" charset="0"/>
              </a:rPr>
              <a:t>(</a:t>
            </a:r>
            <a:r>
              <a:rPr lang="en-US" sz="1400" i="1" dirty="0">
                <a:latin typeface="Arial" charset="0"/>
                <a:ea typeface="ＭＳ Ｐゴシック" charset="0"/>
                <a:cs typeface="ＭＳ Ｐゴシック" charset="0"/>
              </a:rPr>
              <a:t>size</a:t>
            </a:r>
            <a:r>
              <a:rPr lang="en-US" sz="1400" dirty="0">
                <a:latin typeface="Arial" charset="0"/>
                <a:ea typeface="ＭＳ Ｐゴシック" charset="0"/>
                <a:cs typeface="ＭＳ Ｐゴシック" charset="0"/>
              </a:rPr>
              <a:t>-1)</a:t>
            </a:r>
          </a:p>
          <a:p>
            <a:pPr>
              <a:spcBef>
                <a:spcPct val="30000"/>
              </a:spcBef>
              <a:defRPr/>
            </a:pPr>
            <a:r>
              <a:rPr lang="en-US" sz="1400" dirty="0">
                <a:latin typeface="Arial" charset="0"/>
                <a:ea typeface="ＭＳ Ｐゴシック" charset="0"/>
                <a:cs typeface="ＭＳ Ｐゴシック" charset="0"/>
              </a:rPr>
              <a:t>data</a:t>
            </a:r>
          </a:p>
        </p:txBody>
      </p:sp>
      <p:sp>
        <p:nvSpPr>
          <p:cNvPr id="438287" name="Rectangle 15"/>
          <p:cNvSpPr>
            <a:spLocks noChangeArrowheads="1"/>
          </p:cNvSpPr>
          <p:nvPr/>
        </p:nvSpPr>
        <p:spPr bwMode="auto">
          <a:xfrm>
            <a:off x="6477000" y="5145881"/>
            <a:ext cx="990600" cy="5778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r>
              <a:rPr lang="en-US" sz="1400">
                <a:latin typeface="Arial" charset="0"/>
                <a:ea typeface="ＭＳ Ｐゴシック" charset="0"/>
                <a:cs typeface="ＭＳ Ｐゴシック" charset="0"/>
              </a:rPr>
              <a:t>program</a:t>
            </a:r>
          </a:p>
        </p:txBody>
      </p:sp>
      <p:cxnSp>
        <p:nvCxnSpPr>
          <p:cNvPr id="438288" name="AutoShape 16"/>
          <p:cNvCxnSpPr>
            <a:cxnSpLocks noChangeShapeType="1"/>
            <a:stCxn id="438286" idx="4"/>
            <a:endCxn id="438287" idx="0"/>
          </p:cNvCxnSpPr>
          <p:nvPr/>
        </p:nvCxnSpPr>
        <p:spPr bwMode="auto">
          <a:xfrm>
            <a:off x="6972300" y="5072856"/>
            <a:ext cx="0" cy="730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grpSp>
        <p:nvGrpSpPr>
          <p:cNvPr id="27665" name="Group 33"/>
          <p:cNvGrpSpPr>
            <a:grpSpLocks/>
          </p:cNvGrpSpPr>
          <p:nvPr/>
        </p:nvGrpSpPr>
        <p:grpSpPr bwMode="auto">
          <a:xfrm>
            <a:off x="5661025" y="4444206"/>
            <a:ext cx="688975" cy="93663"/>
            <a:chOff x="3360" y="3359"/>
            <a:chExt cx="434" cy="59"/>
          </a:xfrm>
        </p:grpSpPr>
        <p:sp>
          <p:nvSpPr>
            <p:cNvPr id="438289" name="Oval 17"/>
            <p:cNvSpPr>
              <a:spLocks noChangeArrowheads="1"/>
            </p:cNvSpPr>
            <p:nvPr/>
          </p:nvSpPr>
          <p:spPr bwMode="auto">
            <a:xfrm>
              <a:off x="3360" y="3359"/>
              <a:ext cx="70" cy="59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fr-FR" sz="20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38290" name="Oval 18"/>
            <p:cNvSpPr>
              <a:spLocks noChangeArrowheads="1"/>
            </p:cNvSpPr>
            <p:nvPr/>
          </p:nvSpPr>
          <p:spPr bwMode="auto">
            <a:xfrm>
              <a:off x="3451" y="3359"/>
              <a:ext cx="70" cy="59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fr-FR" sz="20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38291" name="Oval 19"/>
            <p:cNvSpPr>
              <a:spLocks noChangeArrowheads="1"/>
            </p:cNvSpPr>
            <p:nvPr/>
          </p:nvSpPr>
          <p:spPr bwMode="auto">
            <a:xfrm>
              <a:off x="3542" y="3359"/>
              <a:ext cx="70" cy="59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fr-FR" sz="20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38292" name="Oval 20"/>
            <p:cNvSpPr>
              <a:spLocks noChangeArrowheads="1"/>
            </p:cNvSpPr>
            <p:nvPr/>
          </p:nvSpPr>
          <p:spPr bwMode="auto">
            <a:xfrm>
              <a:off x="3633" y="3359"/>
              <a:ext cx="70" cy="59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fr-FR" sz="20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38293" name="Oval 21"/>
            <p:cNvSpPr>
              <a:spLocks noChangeArrowheads="1"/>
            </p:cNvSpPr>
            <p:nvPr/>
          </p:nvSpPr>
          <p:spPr bwMode="auto">
            <a:xfrm>
              <a:off x="3724" y="3359"/>
              <a:ext cx="70" cy="59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fr-FR" sz="2000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438294" name="Freeform 22"/>
          <p:cNvSpPr>
            <a:spLocks/>
          </p:cNvSpPr>
          <p:nvPr/>
        </p:nvSpPr>
        <p:spPr bwMode="auto">
          <a:xfrm>
            <a:off x="2484438" y="5909469"/>
            <a:ext cx="4167187" cy="439737"/>
          </a:xfrm>
          <a:custGeom>
            <a:avLst/>
            <a:gdLst>
              <a:gd name="T0" fmla="*/ 230231 w 2896"/>
              <a:gd name="T1" fmla="*/ 67347 h 444"/>
              <a:gd name="T2" fmla="*/ 644648 w 2896"/>
              <a:gd name="T3" fmla="*/ 114886 h 444"/>
              <a:gd name="T4" fmla="*/ 1174180 w 2896"/>
              <a:gd name="T5" fmla="*/ 27731 h 444"/>
              <a:gd name="T6" fmla="*/ 1312319 w 2896"/>
              <a:gd name="T7" fmla="*/ 27731 h 444"/>
              <a:gd name="T8" fmla="*/ 1922432 w 2896"/>
              <a:gd name="T9" fmla="*/ 146579 h 444"/>
              <a:gd name="T10" fmla="*/ 1772781 w 2896"/>
              <a:gd name="T11" fmla="*/ 11885 h 444"/>
              <a:gd name="T12" fmla="*/ 2371383 w 2896"/>
              <a:gd name="T13" fmla="*/ 75270 h 444"/>
              <a:gd name="T14" fmla="*/ 2578591 w 2896"/>
              <a:gd name="T15" fmla="*/ 19808 h 444"/>
              <a:gd name="T16" fmla="*/ 3131146 w 2896"/>
              <a:gd name="T17" fmla="*/ 114886 h 444"/>
              <a:gd name="T18" fmla="*/ 3476493 w 2896"/>
              <a:gd name="T19" fmla="*/ 19808 h 444"/>
              <a:gd name="T20" fmla="*/ 4098118 w 2896"/>
              <a:gd name="T21" fmla="*/ 114886 h 444"/>
              <a:gd name="T22" fmla="*/ 3890909 w 2896"/>
              <a:gd name="T23" fmla="*/ 305043 h 444"/>
              <a:gd name="T24" fmla="*/ 3223239 w 2896"/>
              <a:gd name="T25" fmla="*/ 336736 h 444"/>
              <a:gd name="T26" fmla="*/ 3292308 w 2896"/>
              <a:gd name="T27" fmla="*/ 408044 h 444"/>
              <a:gd name="T28" fmla="*/ 2313825 w 2896"/>
              <a:gd name="T29" fmla="*/ 392198 h 444"/>
              <a:gd name="T30" fmla="*/ 1761270 w 2896"/>
              <a:gd name="T31" fmla="*/ 352582 h 444"/>
              <a:gd name="T32" fmla="*/ 1761270 w 2896"/>
              <a:gd name="T33" fmla="*/ 439737 h 444"/>
              <a:gd name="T34" fmla="*/ 518020 w 2896"/>
              <a:gd name="T35" fmla="*/ 352582 h 444"/>
              <a:gd name="T36" fmla="*/ 529532 w 2896"/>
              <a:gd name="T37" fmla="*/ 431814 h 444"/>
              <a:gd name="T38" fmla="*/ 92093 w 2896"/>
              <a:gd name="T39" fmla="*/ 305043 h 444"/>
              <a:gd name="T40" fmla="*/ 23023 w 2896"/>
              <a:gd name="T41" fmla="*/ 162425 h 444"/>
              <a:gd name="T42" fmla="*/ 230231 w 2896"/>
              <a:gd name="T43" fmla="*/ 67347 h 444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2896" h="444">
                <a:moveTo>
                  <a:pt x="160" y="68"/>
                </a:moveTo>
                <a:cubicBezTo>
                  <a:pt x="232" y="60"/>
                  <a:pt x="339" y="123"/>
                  <a:pt x="448" y="116"/>
                </a:cubicBezTo>
                <a:cubicBezTo>
                  <a:pt x="557" y="109"/>
                  <a:pt x="739" y="43"/>
                  <a:pt x="816" y="28"/>
                </a:cubicBezTo>
                <a:cubicBezTo>
                  <a:pt x="893" y="13"/>
                  <a:pt x="825" y="8"/>
                  <a:pt x="912" y="28"/>
                </a:cubicBezTo>
                <a:cubicBezTo>
                  <a:pt x="999" y="48"/>
                  <a:pt x="1283" y="151"/>
                  <a:pt x="1336" y="148"/>
                </a:cubicBezTo>
                <a:cubicBezTo>
                  <a:pt x="1389" y="145"/>
                  <a:pt x="1180" y="24"/>
                  <a:pt x="1232" y="12"/>
                </a:cubicBezTo>
                <a:cubicBezTo>
                  <a:pt x="1284" y="0"/>
                  <a:pt x="1555" y="75"/>
                  <a:pt x="1648" y="76"/>
                </a:cubicBezTo>
                <a:cubicBezTo>
                  <a:pt x="1741" y="77"/>
                  <a:pt x="1704" y="13"/>
                  <a:pt x="1792" y="20"/>
                </a:cubicBezTo>
                <a:cubicBezTo>
                  <a:pt x="1880" y="27"/>
                  <a:pt x="2072" y="116"/>
                  <a:pt x="2176" y="116"/>
                </a:cubicBezTo>
                <a:cubicBezTo>
                  <a:pt x="2280" y="116"/>
                  <a:pt x="2304" y="20"/>
                  <a:pt x="2416" y="20"/>
                </a:cubicBezTo>
                <a:cubicBezTo>
                  <a:pt x="2528" y="20"/>
                  <a:pt x="2800" y="68"/>
                  <a:pt x="2848" y="116"/>
                </a:cubicBezTo>
                <a:cubicBezTo>
                  <a:pt x="2896" y="164"/>
                  <a:pt x="2805" y="271"/>
                  <a:pt x="2704" y="308"/>
                </a:cubicBezTo>
                <a:cubicBezTo>
                  <a:pt x="2603" y="345"/>
                  <a:pt x="2309" y="323"/>
                  <a:pt x="2240" y="340"/>
                </a:cubicBezTo>
                <a:cubicBezTo>
                  <a:pt x="2171" y="357"/>
                  <a:pt x="2393" y="403"/>
                  <a:pt x="2288" y="412"/>
                </a:cubicBezTo>
                <a:cubicBezTo>
                  <a:pt x="2183" y="421"/>
                  <a:pt x="1785" y="405"/>
                  <a:pt x="1608" y="396"/>
                </a:cubicBezTo>
                <a:cubicBezTo>
                  <a:pt x="1431" y="387"/>
                  <a:pt x="1288" y="348"/>
                  <a:pt x="1224" y="356"/>
                </a:cubicBezTo>
                <a:cubicBezTo>
                  <a:pt x="1160" y="364"/>
                  <a:pt x="1368" y="444"/>
                  <a:pt x="1224" y="444"/>
                </a:cubicBezTo>
                <a:cubicBezTo>
                  <a:pt x="1080" y="444"/>
                  <a:pt x="503" y="357"/>
                  <a:pt x="360" y="356"/>
                </a:cubicBezTo>
                <a:cubicBezTo>
                  <a:pt x="217" y="355"/>
                  <a:pt x="417" y="444"/>
                  <a:pt x="368" y="436"/>
                </a:cubicBezTo>
                <a:cubicBezTo>
                  <a:pt x="319" y="428"/>
                  <a:pt x="123" y="353"/>
                  <a:pt x="64" y="308"/>
                </a:cubicBezTo>
                <a:cubicBezTo>
                  <a:pt x="5" y="263"/>
                  <a:pt x="0" y="204"/>
                  <a:pt x="16" y="164"/>
                </a:cubicBezTo>
                <a:cubicBezTo>
                  <a:pt x="32" y="124"/>
                  <a:pt x="88" y="76"/>
                  <a:pt x="160" y="68"/>
                </a:cubicBezTo>
                <a:close/>
              </a:path>
            </a:pathLst>
          </a:custGeom>
          <a:solidFill>
            <a:srgbClr val="FF99CC"/>
          </a:solidFill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438295" name="Text Box 23"/>
          <p:cNvSpPr txBox="1">
            <a:spLocks noChangeArrowheads="1"/>
          </p:cNvSpPr>
          <p:nvPr/>
        </p:nvSpPr>
        <p:spPr bwMode="auto">
          <a:xfrm>
            <a:off x="3222625" y="5968206"/>
            <a:ext cx="2079625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sz="1400">
                <a:latin typeface="Arial" charset="0"/>
                <a:ea typeface="ＭＳ Ｐゴシック" charset="0"/>
                <a:cs typeface="ＭＳ Ｐゴシック" charset="0"/>
              </a:rPr>
              <a:t>communication network</a:t>
            </a:r>
          </a:p>
        </p:txBody>
      </p:sp>
      <p:cxnSp>
        <p:nvCxnSpPr>
          <p:cNvPr id="438296" name="AutoShape 24"/>
          <p:cNvCxnSpPr>
            <a:cxnSpLocks noChangeShapeType="1"/>
            <a:stCxn id="438278" idx="2"/>
            <a:endCxn id="438294" idx="0"/>
          </p:cNvCxnSpPr>
          <p:nvPr/>
        </p:nvCxnSpPr>
        <p:spPr bwMode="auto">
          <a:xfrm>
            <a:off x="2566988" y="5723731"/>
            <a:ext cx="133350" cy="25241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38297" name="AutoShape 25"/>
          <p:cNvCxnSpPr>
            <a:cxnSpLocks noChangeShapeType="1"/>
            <a:stCxn id="438281" idx="2"/>
            <a:endCxn id="438294" idx="3"/>
          </p:cNvCxnSpPr>
          <p:nvPr/>
        </p:nvCxnSpPr>
        <p:spPr bwMode="auto">
          <a:xfrm flipH="1">
            <a:off x="3783013" y="5723731"/>
            <a:ext cx="11112" cy="21272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38298" name="AutoShape 26"/>
          <p:cNvCxnSpPr>
            <a:cxnSpLocks noChangeShapeType="1"/>
            <a:stCxn id="438284" idx="2"/>
            <a:endCxn id="438294" idx="6"/>
          </p:cNvCxnSpPr>
          <p:nvPr/>
        </p:nvCxnSpPr>
        <p:spPr bwMode="auto">
          <a:xfrm flipH="1">
            <a:off x="4870450" y="5723731"/>
            <a:ext cx="152400" cy="2603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38299" name="AutoShape 27"/>
          <p:cNvCxnSpPr>
            <a:cxnSpLocks noChangeShapeType="1"/>
            <a:stCxn id="438287" idx="2"/>
            <a:endCxn id="438294" idx="10"/>
          </p:cNvCxnSpPr>
          <p:nvPr/>
        </p:nvCxnSpPr>
        <p:spPr bwMode="auto">
          <a:xfrm flipH="1">
            <a:off x="6596063" y="5723731"/>
            <a:ext cx="376237" cy="30003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1" name="Rectangle 30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41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38100"/>
            <a:ext cx="9139187" cy="7239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fr-FR" b="1" dirty="0">
                <a:solidFill>
                  <a:srgbClr val="C00000"/>
                </a:solidFill>
                <a:ea typeface="+mj-ea"/>
              </a:rPr>
              <a:t>MPI Fundamentals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6199" y="838200"/>
            <a:ext cx="9062987" cy="4800600"/>
          </a:xfrm>
        </p:spPr>
        <p:txBody>
          <a:bodyPr/>
          <a:lstStyle/>
          <a:p>
            <a:pPr algn="just">
              <a:defRPr/>
            </a:pPr>
            <a:r>
              <a:rPr lang="fr-FR" sz="3000" dirty="0"/>
              <a:t>A </a:t>
            </a:r>
            <a:r>
              <a:rPr lang="fr-FR" sz="3000" b="1" dirty="0" err="1">
                <a:solidFill>
                  <a:srgbClr val="C00000"/>
                </a:solidFill>
              </a:rPr>
              <a:t>communicator</a:t>
            </a:r>
            <a:r>
              <a:rPr lang="fr-FR" sz="3000" dirty="0">
                <a:solidFill>
                  <a:srgbClr val="C00000"/>
                </a:solidFill>
              </a:rPr>
              <a:t> </a:t>
            </a:r>
            <a:r>
              <a:rPr lang="fr-FR" sz="3000" b="1" dirty="0" err="1"/>
              <a:t>defines</a:t>
            </a:r>
            <a:r>
              <a:rPr lang="fr-FR" sz="3000" dirty="0"/>
              <a:t> a </a:t>
            </a:r>
            <a:r>
              <a:rPr lang="fr-FR" sz="3000" b="1" dirty="0">
                <a:solidFill>
                  <a:srgbClr val="2C14DE"/>
                </a:solidFill>
              </a:rPr>
              <a:t>group of </a:t>
            </a:r>
            <a:r>
              <a:rPr lang="fr-FR" sz="3000" b="1" dirty="0" err="1">
                <a:solidFill>
                  <a:srgbClr val="2C14DE"/>
                </a:solidFill>
              </a:rPr>
              <a:t>processes</a:t>
            </a:r>
            <a:r>
              <a:rPr lang="fr-FR" sz="3000" b="1" dirty="0">
                <a:solidFill>
                  <a:srgbClr val="2C14DE"/>
                </a:solidFill>
              </a:rPr>
              <a:t> </a:t>
            </a:r>
            <a:r>
              <a:rPr lang="fr-FR" sz="3000" dirty="0" err="1"/>
              <a:t>that</a:t>
            </a:r>
            <a:r>
              <a:rPr lang="fr-FR" sz="3000" dirty="0"/>
              <a:t> have the </a:t>
            </a:r>
            <a:r>
              <a:rPr lang="fr-FR" sz="3000" b="1" dirty="0" err="1">
                <a:solidFill>
                  <a:srgbClr val="2C14DE"/>
                </a:solidFill>
              </a:rPr>
              <a:t>ability</a:t>
            </a:r>
            <a:r>
              <a:rPr lang="fr-FR" sz="3000" dirty="0">
                <a:solidFill>
                  <a:srgbClr val="2C14DE"/>
                </a:solidFill>
              </a:rPr>
              <a:t> </a:t>
            </a:r>
            <a:r>
              <a:rPr lang="fr-FR" sz="3000" dirty="0"/>
              <a:t>to </a:t>
            </a:r>
            <a:r>
              <a:rPr lang="fr-FR" sz="3000" b="1" dirty="0" err="1">
                <a:solidFill>
                  <a:srgbClr val="2C14DE"/>
                </a:solidFill>
              </a:rPr>
              <a:t>communicate</a:t>
            </a:r>
            <a:r>
              <a:rPr lang="fr-FR" sz="3000" dirty="0">
                <a:solidFill>
                  <a:srgbClr val="2C14DE"/>
                </a:solidFill>
              </a:rPr>
              <a:t> </a:t>
            </a:r>
            <a:r>
              <a:rPr lang="fr-FR" sz="3000" dirty="0" err="1"/>
              <a:t>with</a:t>
            </a:r>
            <a:r>
              <a:rPr lang="fr-FR" sz="3000" dirty="0"/>
              <a:t> </a:t>
            </a:r>
            <a:r>
              <a:rPr lang="fr-FR" sz="3000" b="1" dirty="0"/>
              <a:t>one </a:t>
            </a:r>
            <a:r>
              <a:rPr lang="fr-FR" sz="3000" b="1" dirty="0" err="1"/>
              <a:t>another</a:t>
            </a:r>
            <a:endParaRPr lang="fr-FR" sz="3000" dirty="0"/>
          </a:p>
          <a:p>
            <a:pPr>
              <a:defRPr/>
            </a:pPr>
            <a:endParaRPr lang="fr-FR" sz="3000" dirty="0"/>
          </a:p>
          <a:p>
            <a:pPr>
              <a:defRPr/>
            </a:pPr>
            <a:r>
              <a:rPr lang="fr-FR" sz="3000" b="1" u="sng" dirty="0"/>
              <a:t>In a group</a:t>
            </a:r>
            <a:r>
              <a:rPr lang="fr-FR" sz="3000" dirty="0"/>
              <a:t>, </a:t>
            </a:r>
            <a:r>
              <a:rPr lang="fr-FR" sz="3000" dirty="0" err="1"/>
              <a:t>each</a:t>
            </a:r>
            <a:r>
              <a:rPr lang="fr-FR" sz="3000" dirty="0"/>
              <a:t> </a:t>
            </a:r>
            <a:r>
              <a:rPr lang="fr-FR" sz="3000" b="1" dirty="0" err="1">
                <a:solidFill>
                  <a:srgbClr val="2C14DE"/>
                </a:solidFill>
              </a:rPr>
              <a:t>processes</a:t>
            </a:r>
            <a:r>
              <a:rPr lang="fr-FR" sz="3000" dirty="0">
                <a:solidFill>
                  <a:srgbClr val="2C14DE"/>
                </a:solidFill>
              </a:rPr>
              <a:t> </a:t>
            </a:r>
            <a:r>
              <a:rPr lang="fr-FR" sz="3000" dirty="0" err="1"/>
              <a:t>is</a:t>
            </a:r>
            <a:r>
              <a:rPr lang="fr-FR" sz="3000" dirty="0"/>
              <a:t> </a:t>
            </a:r>
            <a:r>
              <a:rPr lang="fr-FR" sz="3000" b="1" dirty="0" err="1">
                <a:solidFill>
                  <a:srgbClr val="2C14DE"/>
                </a:solidFill>
              </a:rPr>
              <a:t>assigned</a:t>
            </a:r>
            <a:r>
              <a:rPr lang="fr-FR" sz="3000" dirty="0">
                <a:solidFill>
                  <a:srgbClr val="2C14DE"/>
                </a:solidFill>
              </a:rPr>
              <a:t> </a:t>
            </a:r>
            <a:r>
              <a:rPr lang="fr-FR" sz="3000" dirty="0"/>
              <a:t>a </a:t>
            </a:r>
            <a:r>
              <a:rPr lang="fr-FR" sz="3000" b="1" dirty="0">
                <a:solidFill>
                  <a:srgbClr val="2C14DE"/>
                </a:solidFill>
              </a:rPr>
              <a:t>unique</a:t>
            </a:r>
            <a:r>
              <a:rPr lang="fr-FR" sz="3000" dirty="0">
                <a:solidFill>
                  <a:srgbClr val="2C14DE"/>
                </a:solidFill>
              </a:rPr>
              <a:t> </a:t>
            </a:r>
            <a:r>
              <a:rPr lang="fr-FR" sz="3000" b="1" i="1" dirty="0" err="1">
                <a:solidFill>
                  <a:srgbClr val="C00000"/>
                </a:solidFill>
              </a:rPr>
              <a:t>rank</a:t>
            </a:r>
            <a:endParaRPr lang="fr-FR" sz="3000" dirty="0">
              <a:solidFill>
                <a:srgbClr val="C00000"/>
              </a:solidFill>
            </a:endParaRPr>
          </a:p>
          <a:p>
            <a:pPr marL="0" indent="0">
              <a:buNone/>
              <a:defRPr/>
            </a:pPr>
            <a:r>
              <a:rPr lang="fr-FR" sz="3000" dirty="0"/>
              <a:t> </a:t>
            </a:r>
          </a:p>
          <a:p>
            <a:pPr>
              <a:defRPr/>
            </a:pPr>
            <a:r>
              <a:rPr lang="fr-FR" sz="3000" dirty="0"/>
              <a:t>Use </a:t>
            </a:r>
            <a:r>
              <a:rPr lang="fr-FR" sz="3000" b="1" dirty="0" err="1">
                <a:solidFill>
                  <a:srgbClr val="2C14DE"/>
                </a:solidFill>
              </a:rPr>
              <a:t>rank</a:t>
            </a:r>
            <a:r>
              <a:rPr lang="fr-FR" sz="3000" dirty="0">
                <a:solidFill>
                  <a:srgbClr val="2C14DE"/>
                </a:solidFill>
              </a:rPr>
              <a:t> </a:t>
            </a:r>
            <a:r>
              <a:rPr lang="fr-FR" sz="3000" dirty="0"/>
              <a:t>to </a:t>
            </a:r>
            <a:r>
              <a:rPr lang="fr-FR" sz="3000" b="1" dirty="0" err="1">
                <a:solidFill>
                  <a:srgbClr val="2C14DE"/>
                </a:solidFill>
              </a:rPr>
              <a:t>explicitly</a:t>
            </a:r>
            <a:r>
              <a:rPr lang="fr-FR" sz="3000" dirty="0">
                <a:solidFill>
                  <a:srgbClr val="2C14DE"/>
                </a:solidFill>
              </a:rPr>
              <a:t> </a:t>
            </a:r>
            <a:r>
              <a:rPr lang="fr-FR" sz="3000" b="1" dirty="0" err="1">
                <a:solidFill>
                  <a:srgbClr val="2C14DE"/>
                </a:solidFill>
              </a:rPr>
              <a:t>communicate</a:t>
            </a:r>
            <a:r>
              <a:rPr lang="fr-FR" sz="3000" dirty="0"/>
              <a:t> </a:t>
            </a:r>
            <a:r>
              <a:rPr lang="fr-FR" sz="3000" dirty="0" err="1"/>
              <a:t>with</a:t>
            </a:r>
            <a:r>
              <a:rPr lang="fr-FR" sz="3000" dirty="0"/>
              <a:t> </a:t>
            </a:r>
            <a:r>
              <a:rPr lang="fr-FR" sz="3000" b="1" dirty="0"/>
              <a:t>one </a:t>
            </a:r>
            <a:r>
              <a:rPr lang="fr-FR" sz="3000" b="1" dirty="0" err="1"/>
              <a:t>another</a:t>
            </a:r>
            <a:endParaRPr lang="fr-FR" sz="3000" b="1" dirty="0"/>
          </a:p>
          <a:p>
            <a:pPr>
              <a:defRPr/>
            </a:pPr>
            <a:endParaRPr lang="fr-FR" sz="2400" dirty="0">
              <a:ea typeface="+mn-ea"/>
            </a:endParaRPr>
          </a:p>
          <a:p>
            <a:pPr>
              <a:defRPr/>
            </a:pPr>
            <a:endParaRPr lang="fr-FR" sz="2400" dirty="0">
              <a:ea typeface="+mn-e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utoShape 2" descr="https://wstein.org/msri07/read/Message%20Passing%20Interface%20%28MPI%29_files/comm_world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3012" name="Picture 4" descr="https://wstein.org/msri07/read/Message%20Passing%20Interface%20%28MPI%29_files/comm_world.gif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9" t="3888" r="11111" b="10504"/>
          <a:stretch/>
        </p:blipFill>
        <p:spPr bwMode="auto">
          <a:xfrm>
            <a:off x="3429000" y="4343400"/>
            <a:ext cx="2822028" cy="227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742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>
            <a:spLocks noChangeArrowheads="1"/>
          </p:cNvSpPr>
          <p:nvPr/>
        </p:nvSpPr>
        <p:spPr bwMode="auto">
          <a:xfrm>
            <a:off x="2971800" y="1905000"/>
            <a:ext cx="2514600" cy="2514600"/>
          </a:xfrm>
          <a:prstGeom prst="roundRect">
            <a:avLst>
              <a:gd name="adj" fmla="val 16667"/>
            </a:avLst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fr-FR" sz="1800" b="1">
              <a:latin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988"/>
            <a:ext cx="9139187" cy="68929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  <a:ea typeface="+mj-ea"/>
              </a:rPr>
              <a:t>Communicators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3124200" y="20574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733800" y="20574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343400" y="20574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4953000" y="20574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3124200" y="26670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3733800" y="26670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4343400" y="26670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4953000" y="26670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124200" y="32766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3733800" y="32766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4343400" y="32766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4953000" y="32766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3124200" y="38862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3733800" y="38862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4343400" y="38862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4953000" y="38862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867400" y="1345049"/>
            <a:ext cx="3045819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When you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start an MPI program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, there is </a:t>
            </a:r>
            <a:r>
              <a:rPr lang="en-US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one predefined communicator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ea typeface="ＭＳ Ｐゴシック" charset="0"/>
                <a:cs typeface="Courier New" pitchFamily="49" charset="0"/>
              </a:rPr>
              <a:t>MPI_COMM_WORLD</a:t>
            </a:r>
            <a:endParaRPr lang="en-US" sz="2400" b="1" dirty="0">
              <a:solidFill>
                <a:srgbClr val="FF0000"/>
              </a:solidFill>
              <a:latin typeface="Courier New" pitchFamily="49" charset="0"/>
              <a:ea typeface="ＭＳ Ｐゴシック" charset="0"/>
              <a:cs typeface="Courier New" pitchFamily="49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61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595B5-9A71-FE1B-0C91-77FF386C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B50C0-62B8-A3CD-21C6-14E5DF7F2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988"/>
            <a:ext cx="9139187" cy="68929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  <a:ea typeface="+mj-ea"/>
              </a:rPr>
              <a:t>Communicators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1E305BC-6E02-F14C-BA21-B437AAE32319}"/>
              </a:ext>
            </a:extLst>
          </p:cNvPr>
          <p:cNvSpPr/>
          <p:nvPr/>
        </p:nvSpPr>
        <p:spPr bwMode="auto">
          <a:xfrm>
            <a:off x="3124200" y="20574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A33377-0157-FBEE-FB13-CB7A2B5A6DD1}"/>
              </a:ext>
            </a:extLst>
          </p:cNvPr>
          <p:cNvSpPr/>
          <p:nvPr/>
        </p:nvSpPr>
        <p:spPr bwMode="auto">
          <a:xfrm>
            <a:off x="3733800" y="20574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DA8DC2-B66E-FFF6-DB27-7E31E8208B29}"/>
              </a:ext>
            </a:extLst>
          </p:cNvPr>
          <p:cNvSpPr/>
          <p:nvPr/>
        </p:nvSpPr>
        <p:spPr bwMode="auto">
          <a:xfrm>
            <a:off x="4343400" y="20574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97FB57D-1A8A-AB83-40D8-9093A7C8EDD1}"/>
              </a:ext>
            </a:extLst>
          </p:cNvPr>
          <p:cNvSpPr/>
          <p:nvPr/>
        </p:nvSpPr>
        <p:spPr bwMode="auto">
          <a:xfrm>
            <a:off x="4953000" y="20574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1192D88-A1FD-F673-9C48-123B14AF7AAE}"/>
              </a:ext>
            </a:extLst>
          </p:cNvPr>
          <p:cNvSpPr/>
          <p:nvPr/>
        </p:nvSpPr>
        <p:spPr bwMode="auto">
          <a:xfrm>
            <a:off x="3124200" y="26670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B7692F2-7A79-8E83-03B2-688E51FA28D2}"/>
              </a:ext>
            </a:extLst>
          </p:cNvPr>
          <p:cNvSpPr/>
          <p:nvPr/>
        </p:nvSpPr>
        <p:spPr bwMode="auto">
          <a:xfrm>
            <a:off x="3733800" y="26670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097AACA-54A3-5010-9063-8A60E8F1CFC7}"/>
              </a:ext>
            </a:extLst>
          </p:cNvPr>
          <p:cNvSpPr/>
          <p:nvPr/>
        </p:nvSpPr>
        <p:spPr bwMode="auto">
          <a:xfrm>
            <a:off x="4343400" y="26670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BD07D92-D022-1D78-879F-D016428DC7A7}"/>
              </a:ext>
            </a:extLst>
          </p:cNvPr>
          <p:cNvSpPr/>
          <p:nvPr/>
        </p:nvSpPr>
        <p:spPr bwMode="auto">
          <a:xfrm>
            <a:off x="4953000" y="26670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0FA022D-9023-5BAB-CE1B-AC08FED70F06}"/>
              </a:ext>
            </a:extLst>
          </p:cNvPr>
          <p:cNvSpPr/>
          <p:nvPr/>
        </p:nvSpPr>
        <p:spPr bwMode="auto">
          <a:xfrm>
            <a:off x="3124200" y="32766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B74F7E-49CD-B33F-E604-48F6029A9AFA}"/>
              </a:ext>
            </a:extLst>
          </p:cNvPr>
          <p:cNvSpPr/>
          <p:nvPr/>
        </p:nvSpPr>
        <p:spPr bwMode="auto">
          <a:xfrm>
            <a:off x="3733800" y="32766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6AA56F7-9C88-FEE7-DF98-DB13AFAC83D0}"/>
              </a:ext>
            </a:extLst>
          </p:cNvPr>
          <p:cNvSpPr/>
          <p:nvPr/>
        </p:nvSpPr>
        <p:spPr bwMode="auto">
          <a:xfrm>
            <a:off x="4343400" y="32766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01226E7-9D12-F860-77D9-1176E2D8B8A0}"/>
              </a:ext>
            </a:extLst>
          </p:cNvPr>
          <p:cNvSpPr/>
          <p:nvPr/>
        </p:nvSpPr>
        <p:spPr bwMode="auto">
          <a:xfrm>
            <a:off x="4953000" y="32766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5FD6920-AD64-FF5C-4C52-3C0BD07C7EF7}"/>
              </a:ext>
            </a:extLst>
          </p:cNvPr>
          <p:cNvSpPr/>
          <p:nvPr/>
        </p:nvSpPr>
        <p:spPr bwMode="auto">
          <a:xfrm>
            <a:off x="3124200" y="38862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983928A-8F77-B992-AE55-317E7E5B3F48}"/>
              </a:ext>
            </a:extLst>
          </p:cNvPr>
          <p:cNvSpPr/>
          <p:nvPr/>
        </p:nvSpPr>
        <p:spPr bwMode="auto">
          <a:xfrm>
            <a:off x="3733800" y="38862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4986C8C-8EFB-0B11-F80E-EFC49CC950CD}"/>
              </a:ext>
            </a:extLst>
          </p:cNvPr>
          <p:cNvSpPr/>
          <p:nvPr/>
        </p:nvSpPr>
        <p:spPr bwMode="auto">
          <a:xfrm>
            <a:off x="4343400" y="38862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0295E4D-E164-A32A-66A8-AC04880A69D0}"/>
              </a:ext>
            </a:extLst>
          </p:cNvPr>
          <p:cNvSpPr/>
          <p:nvPr/>
        </p:nvSpPr>
        <p:spPr bwMode="auto">
          <a:xfrm>
            <a:off x="4953000" y="38862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EF59F8A-7C2C-F183-84CD-A4A451A291AB}"/>
              </a:ext>
            </a:extLst>
          </p:cNvPr>
          <p:cNvSpPr txBox="1"/>
          <p:nvPr/>
        </p:nvSpPr>
        <p:spPr>
          <a:xfrm>
            <a:off x="5867400" y="1345049"/>
            <a:ext cx="3045819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When you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start an MPI program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, there is </a:t>
            </a:r>
            <a:r>
              <a:rPr lang="en-US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one predefined communicator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ea typeface="ＭＳ Ｐゴシック" charset="0"/>
                <a:cs typeface="Courier New" pitchFamily="49" charset="0"/>
              </a:rPr>
              <a:t>MPI_COMM_WORLD</a:t>
            </a:r>
            <a:endParaRPr lang="en-US" sz="2400" b="1" dirty="0">
              <a:solidFill>
                <a:srgbClr val="FF0000"/>
              </a:solidFill>
              <a:latin typeface="Courier New" pitchFamily="49" charset="0"/>
              <a:ea typeface="ＭＳ Ｐゴシック" charset="0"/>
              <a:cs typeface="Courier New" pitchFamily="49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A3A5E08-DBE5-0793-2DB0-9BB99534B48E}"/>
              </a:ext>
            </a:extLst>
          </p:cNvPr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91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9A49E-DD64-9681-7757-C4D97CD3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A01A1-5661-242A-8F00-C81BBD22B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988"/>
            <a:ext cx="9139187" cy="68929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  <a:ea typeface="+mj-ea"/>
              </a:rPr>
              <a:t>Communicators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461BE98-0CCE-110D-FDAC-DA01165E9ECA}"/>
              </a:ext>
            </a:extLst>
          </p:cNvPr>
          <p:cNvSpPr/>
          <p:nvPr/>
        </p:nvSpPr>
        <p:spPr bwMode="auto">
          <a:xfrm>
            <a:off x="3124200" y="20574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891839A-4370-EC0D-5964-98B1BBE37E5D}"/>
              </a:ext>
            </a:extLst>
          </p:cNvPr>
          <p:cNvSpPr/>
          <p:nvPr/>
        </p:nvSpPr>
        <p:spPr bwMode="auto">
          <a:xfrm>
            <a:off x="3733800" y="20574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C6A9020-E26C-8B5F-E84B-10BB17DD26AC}"/>
              </a:ext>
            </a:extLst>
          </p:cNvPr>
          <p:cNvSpPr/>
          <p:nvPr/>
        </p:nvSpPr>
        <p:spPr bwMode="auto">
          <a:xfrm>
            <a:off x="4343400" y="20574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E75494-EAC7-DF8E-1DE6-90B9A0B4DB70}"/>
              </a:ext>
            </a:extLst>
          </p:cNvPr>
          <p:cNvSpPr/>
          <p:nvPr/>
        </p:nvSpPr>
        <p:spPr bwMode="auto">
          <a:xfrm>
            <a:off x="4953000" y="20574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104B6B7-8BB7-DE7E-DA36-985561F10C82}"/>
              </a:ext>
            </a:extLst>
          </p:cNvPr>
          <p:cNvSpPr/>
          <p:nvPr/>
        </p:nvSpPr>
        <p:spPr bwMode="auto">
          <a:xfrm>
            <a:off x="3124200" y="26670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63F342-30C2-AE59-8A49-8D0AF4531ADE}"/>
              </a:ext>
            </a:extLst>
          </p:cNvPr>
          <p:cNvSpPr/>
          <p:nvPr/>
        </p:nvSpPr>
        <p:spPr bwMode="auto">
          <a:xfrm>
            <a:off x="3733800" y="26670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6B5E88E-2182-BF67-7595-662D321F94C9}"/>
              </a:ext>
            </a:extLst>
          </p:cNvPr>
          <p:cNvSpPr/>
          <p:nvPr/>
        </p:nvSpPr>
        <p:spPr bwMode="auto">
          <a:xfrm>
            <a:off x="4343400" y="26670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73DE974-EF27-FA47-5DE6-B67AA765C4DA}"/>
              </a:ext>
            </a:extLst>
          </p:cNvPr>
          <p:cNvSpPr/>
          <p:nvPr/>
        </p:nvSpPr>
        <p:spPr bwMode="auto">
          <a:xfrm>
            <a:off x="4953000" y="26670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3D9BCE-E86D-E0A4-1D22-D7C04BD3D4DB}"/>
              </a:ext>
            </a:extLst>
          </p:cNvPr>
          <p:cNvSpPr/>
          <p:nvPr/>
        </p:nvSpPr>
        <p:spPr bwMode="auto">
          <a:xfrm>
            <a:off x="3124200" y="32766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E41565D-BBA7-B0BD-20F5-CF9F85D12D5D}"/>
              </a:ext>
            </a:extLst>
          </p:cNvPr>
          <p:cNvSpPr/>
          <p:nvPr/>
        </p:nvSpPr>
        <p:spPr bwMode="auto">
          <a:xfrm>
            <a:off x="3733800" y="32766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7EFC94B-7F87-A2A2-9212-7A475CBD33E5}"/>
              </a:ext>
            </a:extLst>
          </p:cNvPr>
          <p:cNvSpPr/>
          <p:nvPr/>
        </p:nvSpPr>
        <p:spPr bwMode="auto">
          <a:xfrm>
            <a:off x="4343400" y="32766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7242F42-CBCF-B2EB-DF70-BCE1AD1DB0A4}"/>
              </a:ext>
            </a:extLst>
          </p:cNvPr>
          <p:cNvSpPr/>
          <p:nvPr/>
        </p:nvSpPr>
        <p:spPr bwMode="auto">
          <a:xfrm>
            <a:off x="4953000" y="32766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FCAF7E-93D9-5AF3-8B3E-64BD29D25ACE}"/>
              </a:ext>
            </a:extLst>
          </p:cNvPr>
          <p:cNvSpPr/>
          <p:nvPr/>
        </p:nvSpPr>
        <p:spPr bwMode="auto">
          <a:xfrm>
            <a:off x="3124200" y="38862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747802D-B13D-FF48-89A1-0D035634EFA9}"/>
              </a:ext>
            </a:extLst>
          </p:cNvPr>
          <p:cNvSpPr/>
          <p:nvPr/>
        </p:nvSpPr>
        <p:spPr bwMode="auto">
          <a:xfrm>
            <a:off x="3733800" y="38862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D190BEA-D84C-C270-3D3E-0347E9D37712}"/>
              </a:ext>
            </a:extLst>
          </p:cNvPr>
          <p:cNvSpPr/>
          <p:nvPr/>
        </p:nvSpPr>
        <p:spPr bwMode="auto">
          <a:xfrm>
            <a:off x="4343400" y="38862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28C89F7-1037-E54B-589C-6E001C175D4D}"/>
              </a:ext>
            </a:extLst>
          </p:cNvPr>
          <p:cNvSpPr/>
          <p:nvPr/>
        </p:nvSpPr>
        <p:spPr bwMode="auto">
          <a:xfrm>
            <a:off x="4953000" y="38862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957CAFA-1FF8-DF77-0EB0-591F3F283D5C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2514600"/>
            <a:ext cx="2514600" cy="1295400"/>
            <a:chOff x="304800" y="2514600"/>
            <a:chExt cx="2514600" cy="1295400"/>
          </a:xfrm>
          <a:solidFill>
            <a:schemeClr val="tx1"/>
          </a:solidFill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986FE23A-9033-4AA4-0C86-DF22C8F74DAB}"/>
                </a:ext>
              </a:extLst>
            </p:cNvPr>
            <p:cNvSpPr/>
            <p:nvPr/>
          </p:nvSpPr>
          <p:spPr bwMode="auto">
            <a:xfrm>
              <a:off x="304800" y="2514600"/>
              <a:ext cx="2514600" cy="1295400"/>
            </a:xfrm>
            <a:prstGeom prst="round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sz="1400" b="1">
                <a:latin typeface="Calibri" pitchFamily="34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E766282-67D2-08AD-316E-7FB4DC96AFB0}"/>
                </a:ext>
              </a:extLst>
            </p:cNvPr>
            <p:cNvSpPr/>
            <p:nvPr/>
          </p:nvSpPr>
          <p:spPr bwMode="auto">
            <a:xfrm>
              <a:off x="457200" y="26670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0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D921F08-B328-F9A3-9E29-64B87C505BE6}"/>
                </a:ext>
              </a:extLst>
            </p:cNvPr>
            <p:cNvSpPr/>
            <p:nvPr/>
          </p:nvSpPr>
          <p:spPr bwMode="auto">
            <a:xfrm>
              <a:off x="1066800" y="26670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1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8AFC77F-2918-802A-A8BC-4DECBE7798F0}"/>
                </a:ext>
              </a:extLst>
            </p:cNvPr>
            <p:cNvSpPr/>
            <p:nvPr/>
          </p:nvSpPr>
          <p:spPr bwMode="auto">
            <a:xfrm>
              <a:off x="1676400" y="26670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2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4BB19EF-772F-01FC-8B11-226AE0C6F81E}"/>
                </a:ext>
              </a:extLst>
            </p:cNvPr>
            <p:cNvSpPr/>
            <p:nvPr/>
          </p:nvSpPr>
          <p:spPr bwMode="auto">
            <a:xfrm>
              <a:off x="2286000" y="26670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3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26CA9B9-C853-3189-409F-B4972232E145}"/>
                </a:ext>
              </a:extLst>
            </p:cNvPr>
            <p:cNvSpPr/>
            <p:nvPr/>
          </p:nvSpPr>
          <p:spPr bwMode="auto">
            <a:xfrm>
              <a:off x="457200" y="32766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4</a:t>
              </a:r>
              <a:endParaRPr lang="en-US" sz="1400" dirty="0">
                <a:solidFill>
                  <a:srgbClr val="FFFFFF"/>
                </a:solidFill>
                <a:latin typeface="Calibri" pitchFamily="34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5AFFC6B-C72D-8737-7C94-5B2FB2A6CC6E}"/>
                </a:ext>
              </a:extLst>
            </p:cNvPr>
            <p:cNvSpPr/>
            <p:nvPr/>
          </p:nvSpPr>
          <p:spPr bwMode="auto">
            <a:xfrm>
              <a:off x="1066800" y="32766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5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B3A7E20-4AE6-235D-6726-86C6EC9F9F5F}"/>
                </a:ext>
              </a:extLst>
            </p:cNvPr>
            <p:cNvSpPr/>
            <p:nvPr/>
          </p:nvSpPr>
          <p:spPr bwMode="auto">
            <a:xfrm>
              <a:off x="1676400" y="32766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6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BE9D113-64A8-C035-4E2E-95BED41F507A}"/>
                </a:ext>
              </a:extLst>
            </p:cNvPr>
            <p:cNvSpPr/>
            <p:nvPr/>
          </p:nvSpPr>
          <p:spPr bwMode="auto">
            <a:xfrm>
              <a:off x="2286000" y="32766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7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2A2F46E9-9C4E-3131-FC14-8FA36EC37FA4}"/>
              </a:ext>
            </a:extLst>
          </p:cNvPr>
          <p:cNvSpPr txBox="1"/>
          <p:nvPr/>
        </p:nvSpPr>
        <p:spPr>
          <a:xfrm>
            <a:off x="5867400" y="1345049"/>
            <a:ext cx="3045819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When you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start an MPI program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, there is </a:t>
            </a:r>
            <a:r>
              <a:rPr lang="en-US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one predefined communicator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ea typeface="ＭＳ Ｐゴシック" charset="0"/>
                <a:cs typeface="Courier New" pitchFamily="49" charset="0"/>
              </a:rPr>
              <a:t>MPI_COMM_WORLD</a:t>
            </a:r>
            <a:endParaRPr lang="en-US" sz="2400" b="1" dirty="0">
              <a:solidFill>
                <a:srgbClr val="FF0000"/>
              </a:solidFill>
              <a:latin typeface="Courier New" pitchFamily="49" charset="0"/>
              <a:ea typeface="ＭＳ Ｐゴシック" charset="0"/>
              <a:cs typeface="Courier New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B33F4C-6B6E-5659-A550-1123CA7999C5}"/>
              </a:ext>
            </a:extLst>
          </p:cNvPr>
          <p:cNvSpPr txBox="1"/>
          <p:nvPr/>
        </p:nvSpPr>
        <p:spPr>
          <a:xfrm>
            <a:off x="179622" y="1411098"/>
            <a:ext cx="22968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Communicators</a:t>
            </a:r>
            <a:r>
              <a:rPr lang="en-US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do </a:t>
            </a:r>
            <a:r>
              <a:rPr lang="en-US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not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 need to contain </a:t>
            </a:r>
            <a:r>
              <a:rPr lang="en-US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all processes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 in the system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420CCCE-8A60-BF04-F6AD-E66B02DB4DC4}"/>
              </a:ext>
            </a:extLst>
          </p:cNvPr>
          <p:cNvSpPr txBox="1"/>
          <p:nvPr/>
        </p:nvSpPr>
        <p:spPr>
          <a:xfrm>
            <a:off x="152400" y="3244850"/>
            <a:ext cx="2057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sz="1800" b="1" dirty="0">
                <a:solidFill>
                  <a:srgbClr val="2C14DE"/>
                </a:solidFill>
              </a:rPr>
              <a:t>Every process </a:t>
            </a:r>
            <a:r>
              <a:rPr lang="en-US" sz="1800" b="1" dirty="0">
                <a:solidFill>
                  <a:srgbClr val="0D0D0D"/>
                </a:solidFill>
              </a:rPr>
              <a:t>in a communicator has an ID called as </a:t>
            </a:r>
            <a:r>
              <a:rPr lang="en-US" altLang="fr-FR" sz="1800" b="1" dirty="0">
                <a:solidFill>
                  <a:srgbClr val="0D0D0D"/>
                </a:solidFill>
              </a:rPr>
              <a:t>“</a:t>
            </a:r>
            <a:r>
              <a:rPr lang="en-US" sz="1800" b="1" dirty="0">
                <a:solidFill>
                  <a:srgbClr val="C00000"/>
                </a:solidFill>
              </a:rPr>
              <a:t>rank</a:t>
            </a:r>
            <a:r>
              <a:rPr lang="en-US" altLang="fr-FR" sz="1800" b="1" dirty="0">
                <a:solidFill>
                  <a:srgbClr val="0D0D0D"/>
                </a:solidFill>
              </a:rPr>
              <a:t>”</a:t>
            </a:r>
            <a:endParaRPr lang="en-US" sz="1800" b="1" dirty="0">
              <a:solidFill>
                <a:srgbClr val="0D0D0D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BB2E1F-2BE1-DA0D-94DC-D83B6AD92075}"/>
              </a:ext>
            </a:extLst>
          </p:cNvPr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56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C0E63-4649-D8F2-F78F-004377587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2A3C3-6DEF-C496-603D-6BD0468A0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988"/>
            <a:ext cx="9139187" cy="68929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  <a:ea typeface="+mj-ea"/>
              </a:rPr>
              <a:t>Communicators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B40E74F-6494-E9C9-794D-3A8E51762E68}"/>
              </a:ext>
            </a:extLst>
          </p:cNvPr>
          <p:cNvSpPr/>
          <p:nvPr/>
        </p:nvSpPr>
        <p:spPr bwMode="auto">
          <a:xfrm>
            <a:off x="3124200" y="20574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1499EE-0AAD-CF6C-0782-7A9944274544}"/>
              </a:ext>
            </a:extLst>
          </p:cNvPr>
          <p:cNvSpPr/>
          <p:nvPr/>
        </p:nvSpPr>
        <p:spPr bwMode="auto">
          <a:xfrm>
            <a:off x="3733800" y="20574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5AD10D-1BE9-FBE0-737A-0D2B0BC5C51D}"/>
              </a:ext>
            </a:extLst>
          </p:cNvPr>
          <p:cNvSpPr/>
          <p:nvPr/>
        </p:nvSpPr>
        <p:spPr bwMode="auto">
          <a:xfrm>
            <a:off x="4343400" y="20574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8F28255-C317-DB55-FA1A-0B4DC62B351C}"/>
              </a:ext>
            </a:extLst>
          </p:cNvPr>
          <p:cNvSpPr/>
          <p:nvPr/>
        </p:nvSpPr>
        <p:spPr bwMode="auto">
          <a:xfrm>
            <a:off x="4953000" y="20574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1BCDDCC-2EE6-89D9-5D80-A442BC285768}"/>
              </a:ext>
            </a:extLst>
          </p:cNvPr>
          <p:cNvSpPr/>
          <p:nvPr/>
        </p:nvSpPr>
        <p:spPr bwMode="auto">
          <a:xfrm>
            <a:off x="3124200" y="26670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72CA078-49B3-FA17-4622-BFF2127A8CA1}"/>
              </a:ext>
            </a:extLst>
          </p:cNvPr>
          <p:cNvSpPr/>
          <p:nvPr/>
        </p:nvSpPr>
        <p:spPr bwMode="auto">
          <a:xfrm>
            <a:off x="3733800" y="26670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94CDFB8-796B-9737-5917-6FA82632FB20}"/>
              </a:ext>
            </a:extLst>
          </p:cNvPr>
          <p:cNvSpPr/>
          <p:nvPr/>
        </p:nvSpPr>
        <p:spPr bwMode="auto">
          <a:xfrm>
            <a:off x="4343400" y="26670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09E5A6A-C0CF-82EB-4ACE-80D9A8C1661B}"/>
              </a:ext>
            </a:extLst>
          </p:cNvPr>
          <p:cNvSpPr/>
          <p:nvPr/>
        </p:nvSpPr>
        <p:spPr bwMode="auto">
          <a:xfrm>
            <a:off x="4953000" y="26670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3D05C00-904F-5E5A-00AD-43469A6FE626}"/>
              </a:ext>
            </a:extLst>
          </p:cNvPr>
          <p:cNvSpPr/>
          <p:nvPr/>
        </p:nvSpPr>
        <p:spPr bwMode="auto">
          <a:xfrm>
            <a:off x="3124200" y="32766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DAD9E62-191E-7799-DFB2-0A4BCE69F20B}"/>
              </a:ext>
            </a:extLst>
          </p:cNvPr>
          <p:cNvSpPr/>
          <p:nvPr/>
        </p:nvSpPr>
        <p:spPr bwMode="auto">
          <a:xfrm>
            <a:off x="3733800" y="32766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0388147-082F-4525-CE23-9D624990F69D}"/>
              </a:ext>
            </a:extLst>
          </p:cNvPr>
          <p:cNvSpPr/>
          <p:nvPr/>
        </p:nvSpPr>
        <p:spPr bwMode="auto">
          <a:xfrm>
            <a:off x="4343400" y="32766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B22EFE4-0D5A-63D2-4B16-75E16322ED88}"/>
              </a:ext>
            </a:extLst>
          </p:cNvPr>
          <p:cNvSpPr/>
          <p:nvPr/>
        </p:nvSpPr>
        <p:spPr bwMode="auto">
          <a:xfrm>
            <a:off x="4953000" y="32766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66FF754-D612-FE46-0464-AFDDD0111C72}"/>
              </a:ext>
            </a:extLst>
          </p:cNvPr>
          <p:cNvSpPr/>
          <p:nvPr/>
        </p:nvSpPr>
        <p:spPr bwMode="auto">
          <a:xfrm>
            <a:off x="3124200" y="38862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8BA2189-AFD1-CBE0-C0C1-F0E99B0A1512}"/>
              </a:ext>
            </a:extLst>
          </p:cNvPr>
          <p:cNvSpPr/>
          <p:nvPr/>
        </p:nvSpPr>
        <p:spPr bwMode="auto">
          <a:xfrm>
            <a:off x="3733800" y="38862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88DCD38-D6CB-4E2B-4A7F-BF2179650BD4}"/>
              </a:ext>
            </a:extLst>
          </p:cNvPr>
          <p:cNvSpPr/>
          <p:nvPr/>
        </p:nvSpPr>
        <p:spPr bwMode="auto">
          <a:xfrm>
            <a:off x="4343400" y="38862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1FFE564-C867-DE69-0049-DE7762453A18}"/>
              </a:ext>
            </a:extLst>
          </p:cNvPr>
          <p:cNvSpPr/>
          <p:nvPr/>
        </p:nvSpPr>
        <p:spPr bwMode="auto">
          <a:xfrm>
            <a:off x="4953000" y="38862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B2A952F-EC51-1E21-B26D-97C83A7177E0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2514600"/>
            <a:ext cx="2514600" cy="1295400"/>
            <a:chOff x="304800" y="2514600"/>
            <a:chExt cx="2514600" cy="1295400"/>
          </a:xfrm>
          <a:solidFill>
            <a:schemeClr val="tx1"/>
          </a:solidFill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0A49C225-C444-640F-9A39-3696B62FF5CB}"/>
                </a:ext>
              </a:extLst>
            </p:cNvPr>
            <p:cNvSpPr/>
            <p:nvPr/>
          </p:nvSpPr>
          <p:spPr bwMode="auto">
            <a:xfrm>
              <a:off x="304800" y="2514600"/>
              <a:ext cx="2514600" cy="1295400"/>
            </a:xfrm>
            <a:prstGeom prst="round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sz="1400" b="1">
                <a:latin typeface="Calibri" pitchFamily="34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A14EDA1-A158-61D2-F275-080E6D74F52D}"/>
                </a:ext>
              </a:extLst>
            </p:cNvPr>
            <p:cNvSpPr/>
            <p:nvPr/>
          </p:nvSpPr>
          <p:spPr bwMode="auto">
            <a:xfrm>
              <a:off x="457200" y="26670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0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A1A52DE-DA9F-30E1-CF58-2456984BA615}"/>
                </a:ext>
              </a:extLst>
            </p:cNvPr>
            <p:cNvSpPr/>
            <p:nvPr/>
          </p:nvSpPr>
          <p:spPr bwMode="auto">
            <a:xfrm>
              <a:off x="1066800" y="26670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1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C47B87E-A8D4-03FA-F9A8-A119D91C5DFE}"/>
                </a:ext>
              </a:extLst>
            </p:cNvPr>
            <p:cNvSpPr/>
            <p:nvPr/>
          </p:nvSpPr>
          <p:spPr bwMode="auto">
            <a:xfrm>
              <a:off x="1676400" y="26670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2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38A8EE5-3F6D-E092-C13C-98A033B80EE7}"/>
                </a:ext>
              </a:extLst>
            </p:cNvPr>
            <p:cNvSpPr/>
            <p:nvPr/>
          </p:nvSpPr>
          <p:spPr bwMode="auto">
            <a:xfrm>
              <a:off x="2286000" y="26670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3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8000349-A103-0F3F-129F-15A4268D361C}"/>
                </a:ext>
              </a:extLst>
            </p:cNvPr>
            <p:cNvSpPr/>
            <p:nvPr/>
          </p:nvSpPr>
          <p:spPr bwMode="auto">
            <a:xfrm>
              <a:off x="457200" y="32766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4</a:t>
              </a:r>
              <a:endParaRPr lang="en-US" sz="1400" dirty="0">
                <a:solidFill>
                  <a:srgbClr val="FFFFFF"/>
                </a:solidFill>
                <a:latin typeface="Calibri" pitchFamily="34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3F5A852-B08C-4F8D-5D8D-A3803868FE92}"/>
                </a:ext>
              </a:extLst>
            </p:cNvPr>
            <p:cNvSpPr/>
            <p:nvPr/>
          </p:nvSpPr>
          <p:spPr bwMode="auto">
            <a:xfrm>
              <a:off x="1066800" y="32766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5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92092E3-C457-2770-7926-177AB10CF375}"/>
                </a:ext>
              </a:extLst>
            </p:cNvPr>
            <p:cNvSpPr/>
            <p:nvPr/>
          </p:nvSpPr>
          <p:spPr bwMode="auto">
            <a:xfrm>
              <a:off x="1676400" y="32766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6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118D9E5-1E97-C5C2-AAC9-358F8492DDED}"/>
                </a:ext>
              </a:extLst>
            </p:cNvPr>
            <p:cNvSpPr/>
            <p:nvPr/>
          </p:nvSpPr>
          <p:spPr bwMode="auto">
            <a:xfrm>
              <a:off x="2286000" y="32766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7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12897B5-E991-CF2B-C68B-24B00783290E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1905000"/>
            <a:ext cx="1295400" cy="2514600"/>
            <a:chOff x="3581400" y="4343400"/>
            <a:chExt cx="1295400" cy="2514600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D71FC7A3-BCEC-596F-7EB1-2D5B4D94A7BD}"/>
                </a:ext>
              </a:extLst>
            </p:cNvPr>
            <p:cNvSpPr/>
            <p:nvPr/>
          </p:nvSpPr>
          <p:spPr bwMode="auto">
            <a:xfrm>
              <a:off x="3581400" y="4343400"/>
              <a:ext cx="1295400" cy="2514600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sz="1400" b="1">
                <a:latin typeface="Calibri" pitchFamily="34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BDDE843-1992-CBF8-1927-23A7C31B33D7}"/>
                </a:ext>
              </a:extLst>
            </p:cNvPr>
            <p:cNvSpPr/>
            <p:nvPr/>
          </p:nvSpPr>
          <p:spPr bwMode="auto">
            <a:xfrm>
              <a:off x="3733800" y="4495800"/>
              <a:ext cx="381000" cy="381000"/>
            </a:xfrm>
            <a:prstGeom prst="ellipse">
              <a:avLst/>
            </a:prstGeom>
            <a:solidFill>
              <a:srgbClr val="800000"/>
            </a:solidFill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0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3E1CEC6-765F-665C-16FE-29DA5F4E148A}"/>
                </a:ext>
              </a:extLst>
            </p:cNvPr>
            <p:cNvSpPr/>
            <p:nvPr/>
          </p:nvSpPr>
          <p:spPr bwMode="auto">
            <a:xfrm>
              <a:off x="4343400" y="4495800"/>
              <a:ext cx="381000" cy="381000"/>
            </a:xfrm>
            <a:prstGeom prst="ellipse">
              <a:avLst/>
            </a:prstGeom>
            <a:solidFill>
              <a:srgbClr val="800000"/>
            </a:solidFill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1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9D443CF-EC02-2793-D8A3-742A7364FDCB}"/>
                </a:ext>
              </a:extLst>
            </p:cNvPr>
            <p:cNvSpPr/>
            <p:nvPr/>
          </p:nvSpPr>
          <p:spPr bwMode="auto">
            <a:xfrm>
              <a:off x="3733800" y="5105400"/>
              <a:ext cx="381000" cy="381000"/>
            </a:xfrm>
            <a:prstGeom prst="ellipse">
              <a:avLst/>
            </a:prstGeom>
            <a:solidFill>
              <a:srgbClr val="800000"/>
            </a:solidFill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2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5175285-EA52-08FE-A997-8A63FDDC5267}"/>
                </a:ext>
              </a:extLst>
            </p:cNvPr>
            <p:cNvSpPr/>
            <p:nvPr/>
          </p:nvSpPr>
          <p:spPr bwMode="auto">
            <a:xfrm>
              <a:off x="4343400" y="5105400"/>
              <a:ext cx="381000" cy="381000"/>
            </a:xfrm>
            <a:prstGeom prst="ellipse">
              <a:avLst/>
            </a:prstGeom>
            <a:solidFill>
              <a:srgbClr val="800000"/>
            </a:solidFill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3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1B8485B-3DC8-2020-2B8F-93B06E0CC219}"/>
                </a:ext>
              </a:extLst>
            </p:cNvPr>
            <p:cNvSpPr/>
            <p:nvPr/>
          </p:nvSpPr>
          <p:spPr bwMode="auto">
            <a:xfrm>
              <a:off x="3733800" y="5715000"/>
              <a:ext cx="381000" cy="381000"/>
            </a:xfrm>
            <a:prstGeom prst="ellipse">
              <a:avLst/>
            </a:prstGeom>
            <a:solidFill>
              <a:srgbClr val="800000"/>
            </a:solidFill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4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2D8FCBF-2EE6-066F-F2D0-87C7E9851386}"/>
                </a:ext>
              </a:extLst>
            </p:cNvPr>
            <p:cNvSpPr/>
            <p:nvPr/>
          </p:nvSpPr>
          <p:spPr bwMode="auto">
            <a:xfrm>
              <a:off x="4343400" y="5715000"/>
              <a:ext cx="381000" cy="381000"/>
            </a:xfrm>
            <a:prstGeom prst="ellipse">
              <a:avLst/>
            </a:prstGeom>
            <a:solidFill>
              <a:srgbClr val="800000"/>
            </a:solidFill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5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623CCFC-C7A0-206D-F3BB-289D88F0E0DA}"/>
                </a:ext>
              </a:extLst>
            </p:cNvPr>
            <p:cNvSpPr/>
            <p:nvPr/>
          </p:nvSpPr>
          <p:spPr bwMode="auto">
            <a:xfrm>
              <a:off x="3733800" y="6324600"/>
              <a:ext cx="381000" cy="381000"/>
            </a:xfrm>
            <a:prstGeom prst="ellipse">
              <a:avLst/>
            </a:prstGeom>
            <a:solidFill>
              <a:srgbClr val="800000"/>
            </a:solidFill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6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95DFBB5-6DFF-9697-E12A-9866DA38641F}"/>
                </a:ext>
              </a:extLst>
            </p:cNvPr>
            <p:cNvSpPr/>
            <p:nvPr/>
          </p:nvSpPr>
          <p:spPr bwMode="auto">
            <a:xfrm>
              <a:off x="4343400" y="6324600"/>
              <a:ext cx="381000" cy="381000"/>
            </a:xfrm>
            <a:prstGeom prst="ellipse">
              <a:avLst/>
            </a:prstGeom>
            <a:solidFill>
              <a:srgbClr val="800000"/>
            </a:solidFill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7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0843D263-03F3-0FC9-8514-E8D925254F35}"/>
              </a:ext>
            </a:extLst>
          </p:cNvPr>
          <p:cNvSpPr txBox="1"/>
          <p:nvPr/>
        </p:nvSpPr>
        <p:spPr>
          <a:xfrm>
            <a:off x="5867400" y="1345049"/>
            <a:ext cx="3045819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When you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start an MPI program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, there is </a:t>
            </a:r>
            <a:r>
              <a:rPr lang="en-US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one predefined communicator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ea typeface="ＭＳ Ｐゴシック" charset="0"/>
                <a:cs typeface="Courier New" pitchFamily="49" charset="0"/>
              </a:rPr>
              <a:t>MPI_COMM_WORLD</a:t>
            </a:r>
            <a:endParaRPr lang="en-US" sz="2400" b="1" dirty="0">
              <a:solidFill>
                <a:srgbClr val="FF0000"/>
              </a:solidFill>
              <a:latin typeface="Courier New" pitchFamily="49" charset="0"/>
              <a:ea typeface="ＭＳ Ｐゴシック" charset="0"/>
              <a:cs typeface="Courier New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B832E3-AC2E-2CF7-B1ED-45EE0C340737}"/>
              </a:ext>
            </a:extLst>
          </p:cNvPr>
          <p:cNvSpPr txBox="1"/>
          <p:nvPr/>
        </p:nvSpPr>
        <p:spPr>
          <a:xfrm>
            <a:off x="179622" y="1411098"/>
            <a:ext cx="22968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Communicators</a:t>
            </a:r>
            <a:r>
              <a:rPr lang="en-US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do </a:t>
            </a:r>
            <a:r>
              <a:rPr lang="en-US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not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 need to contain </a:t>
            </a:r>
            <a:r>
              <a:rPr lang="en-US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all processes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 in the system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3B63E53-45BD-8FC8-074C-E7D57DE07EB8}"/>
              </a:ext>
            </a:extLst>
          </p:cNvPr>
          <p:cNvSpPr txBox="1"/>
          <p:nvPr/>
        </p:nvSpPr>
        <p:spPr>
          <a:xfrm>
            <a:off x="152400" y="3244850"/>
            <a:ext cx="2057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sz="1800" b="1" dirty="0">
                <a:solidFill>
                  <a:srgbClr val="2C14DE"/>
                </a:solidFill>
              </a:rPr>
              <a:t>Every process </a:t>
            </a:r>
            <a:r>
              <a:rPr lang="en-US" sz="1800" b="1" dirty="0">
                <a:solidFill>
                  <a:srgbClr val="0D0D0D"/>
                </a:solidFill>
              </a:rPr>
              <a:t>in a communicator has an ID called as </a:t>
            </a:r>
            <a:r>
              <a:rPr lang="en-US" altLang="fr-FR" sz="1800" b="1" dirty="0">
                <a:solidFill>
                  <a:srgbClr val="0D0D0D"/>
                </a:solidFill>
              </a:rPr>
              <a:t>“</a:t>
            </a:r>
            <a:r>
              <a:rPr lang="en-US" sz="1800" b="1" dirty="0">
                <a:solidFill>
                  <a:srgbClr val="C00000"/>
                </a:solidFill>
              </a:rPr>
              <a:t>rank</a:t>
            </a:r>
            <a:r>
              <a:rPr lang="en-US" altLang="fr-FR" sz="1800" b="1" dirty="0">
                <a:solidFill>
                  <a:srgbClr val="0D0D0D"/>
                </a:solidFill>
              </a:rPr>
              <a:t>”</a:t>
            </a:r>
            <a:endParaRPr lang="en-US" sz="1800" b="1" dirty="0">
              <a:solidFill>
                <a:srgbClr val="0D0D0D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34347A-439D-52C6-FD1E-93BA0AE1F161}"/>
              </a:ext>
            </a:extLst>
          </p:cNvPr>
          <p:cNvSpPr txBox="1"/>
          <p:nvPr/>
        </p:nvSpPr>
        <p:spPr>
          <a:xfrm>
            <a:off x="2705100" y="4524801"/>
            <a:ext cx="3048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1600" b="1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The </a:t>
            </a:r>
            <a:r>
              <a:rPr lang="en-US" sz="1600" b="1" dirty="0">
                <a:solidFill>
                  <a:srgbClr val="C00000"/>
                </a:solidFill>
                <a:latin typeface="Arial" charset="0"/>
                <a:ea typeface="ＭＳ Ｐゴシック" charset="0"/>
                <a:cs typeface="ＭＳ Ｐゴシック" charset="0"/>
              </a:rPr>
              <a:t>same process </a:t>
            </a:r>
            <a:r>
              <a:rPr lang="en-US" sz="1600" b="1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might have </a:t>
            </a:r>
            <a:r>
              <a:rPr lang="en-US" sz="1600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different ranks </a:t>
            </a:r>
            <a:r>
              <a:rPr lang="en-US" sz="1600" b="1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in </a:t>
            </a:r>
            <a:r>
              <a:rPr lang="en-US" sz="1600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different communicators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E889E6-7B29-0D51-7A36-9CCDEEF5BEF5}"/>
              </a:ext>
            </a:extLst>
          </p:cNvPr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296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2BAA7-C299-9376-2247-2EFEE62BC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4CFDD-3309-DD9A-6314-0A1C543EC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988"/>
            <a:ext cx="9139187" cy="68929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  <a:ea typeface="+mj-ea"/>
              </a:rPr>
              <a:t>Communicators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09A940F-C032-3FBB-52B8-A5FBECEF9EA7}"/>
              </a:ext>
            </a:extLst>
          </p:cNvPr>
          <p:cNvSpPr/>
          <p:nvPr/>
        </p:nvSpPr>
        <p:spPr bwMode="auto">
          <a:xfrm>
            <a:off x="3124200" y="20574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E26E3F-5681-CE89-49ED-BECD2D35BFBD}"/>
              </a:ext>
            </a:extLst>
          </p:cNvPr>
          <p:cNvSpPr/>
          <p:nvPr/>
        </p:nvSpPr>
        <p:spPr bwMode="auto">
          <a:xfrm>
            <a:off x="3733800" y="20574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DC5D9A8-049C-5BCE-E2F7-4C8EDC3CF8B5}"/>
              </a:ext>
            </a:extLst>
          </p:cNvPr>
          <p:cNvSpPr/>
          <p:nvPr/>
        </p:nvSpPr>
        <p:spPr bwMode="auto">
          <a:xfrm>
            <a:off x="4343400" y="20574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916C4DC-2B49-0349-64A3-284808B9AAFA}"/>
              </a:ext>
            </a:extLst>
          </p:cNvPr>
          <p:cNvSpPr/>
          <p:nvPr/>
        </p:nvSpPr>
        <p:spPr bwMode="auto">
          <a:xfrm>
            <a:off x="4953000" y="20574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BCF6005-8942-0483-BA6A-70876131895B}"/>
              </a:ext>
            </a:extLst>
          </p:cNvPr>
          <p:cNvSpPr/>
          <p:nvPr/>
        </p:nvSpPr>
        <p:spPr bwMode="auto">
          <a:xfrm>
            <a:off x="3124200" y="26670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10352AD-91D7-1E2C-3542-62A1BC7D5129}"/>
              </a:ext>
            </a:extLst>
          </p:cNvPr>
          <p:cNvSpPr/>
          <p:nvPr/>
        </p:nvSpPr>
        <p:spPr bwMode="auto">
          <a:xfrm>
            <a:off x="3733800" y="26670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AEF8E10-D8B2-F577-0C05-8C4D62553CB4}"/>
              </a:ext>
            </a:extLst>
          </p:cNvPr>
          <p:cNvSpPr/>
          <p:nvPr/>
        </p:nvSpPr>
        <p:spPr bwMode="auto">
          <a:xfrm>
            <a:off x="4343400" y="26670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46CEAE4-007A-0335-0488-113790E389F9}"/>
              </a:ext>
            </a:extLst>
          </p:cNvPr>
          <p:cNvSpPr/>
          <p:nvPr/>
        </p:nvSpPr>
        <p:spPr bwMode="auto">
          <a:xfrm>
            <a:off x="4953000" y="26670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7F3C0D0-1F19-9266-A658-3B0BE5B91E76}"/>
              </a:ext>
            </a:extLst>
          </p:cNvPr>
          <p:cNvSpPr/>
          <p:nvPr/>
        </p:nvSpPr>
        <p:spPr bwMode="auto">
          <a:xfrm>
            <a:off x="3124200" y="32766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62758C-F5FD-E68D-AFCB-6FFE8ADABA54}"/>
              </a:ext>
            </a:extLst>
          </p:cNvPr>
          <p:cNvSpPr/>
          <p:nvPr/>
        </p:nvSpPr>
        <p:spPr bwMode="auto">
          <a:xfrm>
            <a:off x="3733800" y="32766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9B3168-0FCA-5E65-D5CD-F4B752306E4A}"/>
              </a:ext>
            </a:extLst>
          </p:cNvPr>
          <p:cNvSpPr/>
          <p:nvPr/>
        </p:nvSpPr>
        <p:spPr bwMode="auto">
          <a:xfrm>
            <a:off x="4343400" y="32766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263B179-802A-17F5-CDC6-802802D0E4EA}"/>
              </a:ext>
            </a:extLst>
          </p:cNvPr>
          <p:cNvSpPr/>
          <p:nvPr/>
        </p:nvSpPr>
        <p:spPr bwMode="auto">
          <a:xfrm>
            <a:off x="4953000" y="32766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7E4FCBF-2ECF-C5D1-CF4C-D7EAF4D0867D}"/>
              </a:ext>
            </a:extLst>
          </p:cNvPr>
          <p:cNvSpPr/>
          <p:nvPr/>
        </p:nvSpPr>
        <p:spPr bwMode="auto">
          <a:xfrm>
            <a:off x="3124200" y="38862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189E951-9F63-8CA7-EC31-73436337E5D5}"/>
              </a:ext>
            </a:extLst>
          </p:cNvPr>
          <p:cNvSpPr/>
          <p:nvPr/>
        </p:nvSpPr>
        <p:spPr bwMode="auto">
          <a:xfrm>
            <a:off x="3733800" y="38862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2D0649B-A3DD-02DA-9B85-B3FEBC59B372}"/>
              </a:ext>
            </a:extLst>
          </p:cNvPr>
          <p:cNvSpPr/>
          <p:nvPr/>
        </p:nvSpPr>
        <p:spPr bwMode="auto">
          <a:xfrm>
            <a:off x="4343400" y="38862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F46A5C1-2AD4-3FDF-BD5C-76606DF7FA43}"/>
              </a:ext>
            </a:extLst>
          </p:cNvPr>
          <p:cNvSpPr/>
          <p:nvPr/>
        </p:nvSpPr>
        <p:spPr bwMode="auto">
          <a:xfrm>
            <a:off x="4953000" y="3886200"/>
            <a:ext cx="381000" cy="381000"/>
          </a:xfrm>
          <a:prstGeom prst="ellipse">
            <a:avLst/>
          </a:prstGeom>
          <a:solidFill>
            <a:srgbClr val="800000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  <a:latin typeface="Calibri" pitchFamily="34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8CBCCA5-5518-B3E1-3876-5FE79A82F88C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2514600"/>
            <a:ext cx="2514600" cy="1295400"/>
            <a:chOff x="304800" y="2514600"/>
            <a:chExt cx="2514600" cy="1295400"/>
          </a:xfrm>
          <a:solidFill>
            <a:schemeClr val="tx1"/>
          </a:solidFill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CC96BA95-4B30-9099-337A-B12761EC92FB}"/>
                </a:ext>
              </a:extLst>
            </p:cNvPr>
            <p:cNvSpPr/>
            <p:nvPr/>
          </p:nvSpPr>
          <p:spPr bwMode="auto">
            <a:xfrm>
              <a:off x="304800" y="2514600"/>
              <a:ext cx="2514600" cy="1295400"/>
            </a:xfrm>
            <a:prstGeom prst="roundRect">
              <a:avLst/>
            </a:prstGeom>
            <a:grp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sz="1400" b="1">
                <a:latin typeface="Calibri" pitchFamily="34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42E7CC9-0035-B0E8-762C-8D427A3A9ADE}"/>
                </a:ext>
              </a:extLst>
            </p:cNvPr>
            <p:cNvSpPr/>
            <p:nvPr/>
          </p:nvSpPr>
          <p:spPr bwMode="auto">
            <a:xfrm>
              <a:off x="457200" y="26670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0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290EA01-0A78-3399-1926-42CC9CF265EF}"/>
                </a:ext>
              </a:extLst>
            </p:cNvPr>
            <p:cNvSpPr/>
            <p:nvPr/>
          </p:nvSpPr>
          <p:spPr bwMode="auto">
            <a:xfrm>
              <a:off x="1066800" y="26670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1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0C19C06-FE22-5221-1814-78DE8FB8083A}"/>
                </a:ext>
              </a:extLst>
            </p:cNvPr>
            <p:cNvSpPr/>
            <p:nvPr/>
          </p:nvSpPr>
          <p:spPr bwMode="auto">
            <a:xfrm>
              <a:off x="1676400" y="26670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2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A3A8339-0CB7-CDC8-F5BA-5073F314BD94}"/>
                </a:ext>
              </a:extLst>
            </p:cNvPr>
            <p:cNvSpPr/>
            <p:nvPr/>
          </p:nvSpPr>
          <p:spPr bwMode="auto">
            <a:xfrm>
              <a:off x="2286000" y="26670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3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9541E6B-FCAA-BA58-2E77-188DF2399468}"/>
                </a:ext>
              </a:extLst>
            </p:cNvPr>
            <p:cNvSpPr/>
            <p:nvPr/>
          </p:nvSpPr>
          <p:spPr bwMode="auto">
            <a:xfrm>
              <a:off x="457200" y="32766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4</a:t>
              </a:r>
              <a:endParaRPr lang="en-US" sz="1400" dirty="0">
                <a:solidFill>
                  <a:srgbClr val="FFFFFF"/>
                </a:solidFill>
                <a:latin typeface="Calibri" pitchFamily="34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BCE4D36-2914-C5A8-F7F5-78C3EC3C2D56}"/>
                </a:ext>
              </a:extLst>
            </p:cNvPr>
            <p:cNvSpPr/>
            <p:nvPr/>
          </p:nvSpPr>
          <p:spPr bwMode="auto">
            <a:xfrm>
              <a:off x="1066800" y="32766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5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117E90B-421D-48FF-926F-CAF06AC980C5}"/>
                </a:ext>
              </a:extLst>
            </p:cNvPr>
            <p:cNvSpPr/>
            <p:nvPr/>
          </p:nvSpPr>
          <p:spPr bwMode="auto">
            <a:xfrm>
              <a:off x="1676400" y="32766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6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8F393EB-1E3C-33C3-C0F8-89C8D457A58C}"/>
                </a:ext>
              </a:extLst>
            </p:cNvPr>
            <p:cNvSpPr/>
            <p:nvPr/>
          </p:nvSpPr>
          <p:spPr bwMode="auto">
            <a:xfrm>
              <a:off x="2286000" y="32766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7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68B821E-1667-08FA-5CE5-0DB21C2C771B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1905000"/>
            <a:ext cx="1295400" cy="2514600"/>
            <a:chOff x="3581400" y="4343400"/>
            <a:chExt cx="1295400" cy="2514600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3D80E577-A437-89D7-65EA-40108281B63F}"/>
                </a:ext>
              </a:extLst>
            </p:cNvPr>
            <p:cNvSpPr/>
            <p:nvPr/>
          </p:nvSpPr>
          <p:spPr bwMode="auto">
            <a:xfrm>
              <a:off x="3581400" y="4343400"/>
              <a:ext cx="1295400" cy="2514600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sz="1400" b="1">
                <a:latin typeface="Calibri" pitchFamily="34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18A2782-B771-33BA-9EB6-C4454AD021F9}"/>
                </a:ext>
              </a:extLst>
            </p:cNvPr>
            <p:cNvSpPr/>
            <p:nvPr/>
          </p:nvSpPr>
          <p:spPr bwMode="auto">
            <a:xfrm>
              <a:off x="3733800" y="4495800"/>
              <a:ext cx="381000" cy="381000"/>
            </a:xfrm>
            <a:prstGeom prst="ellipse">
              <a:avLst/>
            </a:prstGeom>
            <a:solidFill>
              <a:srgbClr val="800000"/>
            </a:solidFill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400" dirty="0">
                  <a:solidFill>
                    <a:schemeClr val="bg1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0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83F7FDB-499F-ECF9-406E-B0947287B248}"/>
                </a:ext>
              </a:extLst>
            </p:cNvPr>
            <p:cNvSpPr/>
            <p:nvPr/>
          </p:nvSpPr>
          <p:spPr bwMode="auto">
            <a:xfrm>
              <a:off x="4343400" y="4495800"/>
              <a:ext cx="381000" cy="381000"/>
            </a:xfrm>
            <a:prstGeom prst="ellipse">
              <a:avLst/>
            </a:prstGeom>
            <a:solidFill>
              <a:srgbClr val="800000"/>
            </a:solidFill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1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E223290-7EB4-D6DF-B58A-872D7955484C}"/>
                </a:ext>
              </a:extLst>
            </p:cNvPr>
            <p:cNvSpPr/>
            <p:nvPr/>
          </p:nvSpPr>
          <p:spPr bwMode="auto">
            <a:xfrm>
              <a:off x="3733800" y="5105400"/>
              <a:ext cx="381000" cy="381000"/>
            </a:xfrm>
            <a:prstGeom prst="ellipse">
              <a:avLst/>
            </a:prstGeom>
            <a:solidFill>
              <a:srgbClr val="800000"/>
            </a:solidFill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2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64B46AF-DCE4-F73D-E467-E5670A40DC39}"/>
                </a:ext>
              </a:extLst>
            </p:cNvPr>
            <p:cNvSpPr/>
            <p:nvPr/>
          </p:nvSpPr>
          <p:spPr bwMode="auto">
            <a:xfrm>
              <a:off x="4343400" y="5105400"/>
              <a:ext cx="381000" cy="381000"/>
            </a:xfrm>
            <a:prstGeom prst="ellipse">
              <a:avLst/>
            </a:prstGeom>
            <a:solidFill>
              <a:srgbClr val="800000"/>
            </a:solidFill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3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9E11A7F-9322-E94F-5CA2-EB438F89488B}"/>
                </a:ext>
              </a:extLst>
            </p:cNvPr>
            <p:cNvSpPr/>
            <p:nvPr/>
          </p:nvSpPr>
          <p:spPr bwMode="auto">
            <a:xfrm>
              <a:off x="3733800" y="5715000"/>
              <a:ext cx="381000" cy="381000"/>
            </a:xfrm>
            <a:prstGeom prst="ellipse">
              <a:avLst/>
            </a:prstGeom>
            <a:solidFill>
              <a:srgbClr val="800000"/>
            </a:solidFill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4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5DA4371-096A-B97C-7477-DB22994CA082}"/>
                </a:ext>
              </a:extLst>
            </p:cNvPr>
            <p:cNvSpPr/>
            <p:nvPr/>
          </p:nvSpPr>
          <p:spPr bwMode="auto">
            <a:xfrm>
              <a:off x="4343400" y="5715000"/>
              <a:ext cx="381000" cy="381000"/>
            </a:xfrm>
            <a:prstGeom prst="ellipse">
              <a:avLst/>
            </a:prstGeom>
            <a:solidFill>
              <a:srgbClr val="800000"/>
            </a:solidFill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5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B571763-8F14-E332-7B93-709F67EBADEA}"/>
                </a:ext>
              </a:extLst>
            </p:cNvPr>
            <p:cNvSpPr/>
            <p:nvPr/>
          </p:nvSpPr>
          <p:spPr bwMode="auto">
            <a:xfrm>
              <a:off x="3733800" y="6324600"/>
              <a:ext cx="381000" cy="381000"/>
            </a:xfrm>
            <a:prstGeom prst="ellipse">
              <a:avLst/>
            </a:prstGeom>
            <a:solidFill>
              <a:srgbClr val="800000"/>
            </a:solidFill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6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80AD353-22D1-9DAF-4992-1F161AC3DC0C}"/>
                </a:ext>
              </a:extLst>
            </p:cNvPr>
            <p:cNvSpPr/>
            <p:nvPr/>
          </p:nvSpPr>
          <p:spPr bwMode="auto">
            <a:xfrm>
              <a:off x="4343400" y="6324600"/>
              <a:ext cx="381000" cy="381000"/>
            </a:xfrm>
            <a:prstGeom prst="ellipse">
              <a:avLst/>
            </a:prstGeom>
            <a:solidFill>
              <a:srgbClr val="800000"/>
            </a:solidFill>
            <a:ln w="9525" cap="flat" cmpd="sng" algn="ctr">
              <a:solidFill>
                <a:schemeClr val="bg2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/>
                  </a:solidFill>
                  <a:latin typeface="Calibri" pitchFamily="34" charset="0"/>
                  <a:ea typeface="ＭＳ Ｐゴシック" charset="0"/>
                  <a:cs typeface="ＭＳ Ｐゴシック" charset="0"/>
                </a:rPr>
                <a:t>7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4379B407-9BFE-3C98-7DEC-FDEF7BB055A7}"/>
              </a:ext>
            </a:extLst>
          </p:cNvPr>
          <p:cNvSpPr txBox="1"/>
          <p:nvPr/>
        </p:nvSpPr>
        <p:spPr>
          <a:xfrm>
            <a:off x="5867400" y="1345049"/>
            <a:ext cx="3045819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When you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start an MPI program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, there is </a:t>
            </a:r>
            <a:r>
              <a:rPr lang="en-US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one predefined communicator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ea typeface="ＭＳ Ｐゴシック" charset="0"/>
                <a:cs typeface="Courier New" pitchFamily="49" charset="0"/>
              </a:rPr>
              <a:t>MPI_COMM_WORLD</a:t>
            </a:r>
            <a:endParaRPr lang="en-US" sz="2400" b="1" dirty="0">
              <a:solidFill>
                <a:srgbClr val="FF0000"/>
              </a:solidFill>
              <a:latin typeface="Courier New" pitchFamily="49" charset="0"/>
              <a:ea typeface="ＭＳ Ｐゴシック" charset="0"/>
              <a:cs typeface="Courier New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3A6B8F6-4249-EB92-6E08-976D743D633D}"/>
              </a:ext>
            </a:extLst>
          </p:cNvPr>
          <p:cNvSpPr txBox="1"/>
          <p:nvPr/>
        </p:nvSpPr>
        <p:spPr>
          <a:xfrm>
            <a:off x="179622" y="1411098"/>
            <a:ext cx="22968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Communicators</a:t>
            </a:r>
            <a:r>
              <a:rPr lang="en-US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do </a:t>
            </a:r>
            <a:r>
              <a:rPr lang="en-US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not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 need to contain </a:t>
            </a:r>
            <a:r>
              <a:rPr lang="en-US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all processes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 in the system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EAA1FDC-81A0-D629-A352-37B529329815}"/>
              </a:ext>
            </a:extLst>
          </p:cNvPr>
          <p:cNvSpPr txBox="1"/>
          <p:nvPr/>
        </p:nvSpPr>
        <p:spPr>
          <a:xfrm>
            <a:off x="152400" y="3244850"/>
            <a:ext cx="2057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sz="1800" b="1" dirty="0">
                <a:solidFill>
                  <a:srgbClr val="2C14DE"/>
                </a:solidFill>
              </a:rPr>
              <a:t>Every process </a:t>
            </a:r>
            <a:r>
              <a:rPr lang="en-US" sz="1800" b="1" dirty="0">
                <a:solidFill>
                  <a:srgbClr val="0D0D0D"/>
                </a:solidFill>
              </a:rPr>
              <a:t>in a communicator has an ID called as </a:t>
            </a:r>
            <a:r>
              <a:rPr lang="en-US" altLang="fr-FR" sz="1800" b="1" dirty="0">
                <a:solidFill>
                  <a:srgbClr val="0D0D0D"/>
                </a:solidFill>
              </a:rPr>
              <a:t>“</a:t>
            </a:r>
            <a:r>
              <a:rPr lang="en-US" sz="1800" b="1" dirty="0">
                <a:solidFill>
                  <a:srgbClr val="C00000"/>
                </a:solidFill>
              </a:rPr>
              <a:t>rank</a:t>
            </a:r>
            <a:r>
              <a:rPr lang="en-US" altLang="fr-FR" sz="1800" b="1" dirty="0">
                <a:solidFill>
                  <a:srgbClr val="0D0D0D"/>
                </a:solidFill>
              </a:rPr>
              <a:t>”</a:t>
            </a:r>
            <a:endParaRPr lang="en-US" sz="1800" b="1" dirty="0">
              <a:solidFill>
                <a:srgbClr val="0D0D0D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D151DA-D2E4-6B56-0729-6345C77D2197}"/>
              </a:ext>
            </a:extLst>
          </p:cNvPr>
          <p:cNvSpPr txBox="1"/>
          <p:nvPr/>
        </p:nvSpPr>
        <p:spPr>
          <a:xfrm>
            <a:off x="2705100" y="4524801"/>
            <a:ext cx="3048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1600" b="1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The </a:t>
            </a:r>
            <a:r>
              <a:rPr lang="en-US" sz="1600" b="1" dirty="0">
                <a:solidFill>
                  <a:srgbClr val="C00000"/>
                </a:solidFill>
                <a:latin typeface="Arial" charset="0"/>
                <a:ea typeface="ＭＳ Ｐゴシック" charset="0"/>
                <a:cs typeface="ＭＳ Ｐゴシック" charset="0"/>
              </a:rPr>
              <a:t>same process </a:t>
            </a:r>
            <a:r>
              <a:rPr lang="en-US" sz="1600" b="1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might have </a:t>
            </a:r>
            <a:r>
              <a:rPr lang="en-US" sz="1600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different ranks </a:t>
            </a:r>
            <a:r>
              <a:rPr lang="en-US" sz="1600" b="1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in </a:t>
            </a:r>
            <a:r>
              <a:rPr lang="en-US" sz="1600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different communicators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AA02838-8891-EB0A-443F-2A2D07C634B9}"/>
              </a:ext>
            </a:extLst>
          </p:cNvPr>
          <p:cNvSpPr txBox="1"/>
          <p:nvPr/>
        </p:nvSpPr>
        <p:spPr>
          <a:xfrm>
            <a:off x="685800" y="5841102"/>
            <a:ext cx="7508875" cy="79406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Simple programs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typically</a:t>
            </a:r>
            <a:r>
              <a:rPr lang="en-US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 only use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the </a:t>
            </a:r>
            <a:r>
              <a:rPr lang="en-US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predefined communicator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ea typeface="ＭＳ Ｐゴシック" charset="0"/>
                <a:cs typeface="Courier New" pitchFamily="49" charset="0"/>
              </a:rPr>
              <a:t>MPI_COMM_WORLD</a:t>
            </a:r>
            <a:endParaRPr lang="en-US" sz="2400" b="1" dirty="0">
              <a:solidFill>
                <a:srgbClr val="FF0000"/>
              </a:solidFill>
              <a:latin typeface="Courier New" pitchFamily="49" charset="0"/>
              <a:ea typeface="ＭＳ Ｐゴシック" charset="0"/>
              <a:cs typeface="Courier New" pitchFamily="49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6EF844E-1D09-AAD1-5021-AE6F9577DAD2}"/>
              </a:ext>
            </a:extLst>
          </p:cNvPr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55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"/>
            <a:ext cx="9129562" cy="7239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b="1" dirty="0">
                <a:solidFill>
                  <a:srgbClr val="C00000"/>
                </a:solidFill>
                <a:ea typeface="+mj-ea"/>
              </a:rPr>
              <a:t>Communicator  MPI_COMM_WORLD </a:t>
            </a:r>
          </a:p>
        </p:txBody>
      </p:sp>
      <p:sp>
        <p:nvSpPr>
          <p:cNvPr id="470019" name="Rectangle 3"/>
          <p:cNvSpPr>
            <a:spLocks noGrp="1" noChangeArrowheads="1"/>
          </p:cNvSpPr>
          <p:nvPr>
            <p:ph idx="1"/>
          </p:nvPr>
        </p:nvSpPr>
        <p:spPr>
          <a:xfrm>
            <a:off x="38100" y="874387"/>
            <a:ext cx="9105900" cy="560261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800" b="1" dirty="0">
                <a:solidFill>
                  <a:srgbClr val="2C14DE"/>
                </a:solidFill>
                <a:ea typeface="+mn-ea"/>
              </a:rPr>
              <a:t>All processes </a:t>
            </a:r>
            <a:r>
              <a:rPr lang="en-US" sz="2800" dirty="0">
                <a:ea typeface="+mn-ea"/>
              </a:rPr>
              <a:t>of an </a:t>
            </a:r>
            <a:r>
              <a:rPr lang="en-US" sz="2800" b="1" dirty="0">
                <a:ea typeface="+mn-ea"/>
              </a:rPr>
              <a:t>MPI program </a:t>
            </a:r>
            <a:r>
              <a:rPr lang="en-US" sz="2800" dirty="0">
                <a:ea typeface="+mn-ea"/>
              </a:rPr>
              <a:t>are </a:t>
            </a:r>
            <a:r>
              <a:rPr lang="en-US" sz="2800" b="1" dirty="0">
                <a:ea typeface="+mn-ea"/>
              </a:rPr>
              <a:t>members</a:t>
            </a:r>
            <a:r>
              <a:rPr lang="en-US" sz="2800" dirty="0">
                <a:ea typeface="+mn-ea"/>
              </a:rPr>
              <a:t> of the </a:t>
            </a:r>
            <a:r>
              <a:rPr lang="en-US" sz="2800" b="1" dirty="0">
                <a:ea typeface="+mn-ea"/>
              </a:rPr>
              <a:t>default</a:t>
            </a:r>
            <a:r>
              <a:rPr lang="en-US" sz="2800" dirty="0">
                <a:ea typeface="+mn-ea"/>
              </a:rPr>
              <a:t> </a:t>
            </a:r>
            <a:r>
              <a:rPr lang="en-US" sz="2800" b="1" dirty="0">
                <a:solidFill>
                  <a:srgbClr val="2C14DE"/>
                </a:solidFill>
                <a:ea typeface="+mn-ea"/>
              </a:rPr>
              <a:t>communicator</a:t>
            </a:r>
            <a:r>
              <a:rPr lang="en-US" sz="2800" b="1" dirty="0">
                <a:ea typeface="+mn-ea"/>
              </a:rPr>
              <a:t> </a:t>
            </a:r>
            <a:r>
              <a:rPr lang="en-US" sz="2800" b="1" dirty="0">
                <a:solidFill>
                  <a:srgbClr val="C00000"/>
                </a:solidFill>
                <a:ea typeface="+mn-ea"/>
              </a:rPr>
              <a:t>MPI_COMM_WORLD</a:t>
            </a:r>
          </a:p>
          <a:p>
            <a:pPr>
              <a:lnSpc>
                <a:spcPct val="90000"/>
              </a:lnSpc>
              <a:defRPr/>
            </a:pPr>
            <a:endParaRPr lang="en-US" sz="2800" dirty="0">
              <a:ea typeface="+mn-ea"/>
            </a:endParaRPr>
          </a:p>
          <a:p>
            <a:pPr>
              <a:lnSpc>
                <a:spcPct val="90000"/>
              </a:lnSpc>
              <a:defRPr/>
            </a:pPr>
            <a:r>
              <a:rPr lang="en-US" sz="2800" b="1" dirty="0">
                <a:solidFill>
                  <a:srgbClr val="C00000"/>
                </a:solidFill>
                <a:ea typeface="+mn-ea"/>
              </a:rPr>
              <a:t>MPI_COMM_WORLD</a:t>
            </a:r>
            <a:r>
              <a:rPr lang="en-US" sz="2800" dirty="0">
                <a:ea typeface="+mn-ea"/>
              </a:rPr>
              <a:t> is </a:t>
            </a:r>
            <a:r>
              <a:rPr lang="en-US" sz="2800" b="1" dirty="0">
                <a:ea typeface="+mn-ea"/>
              </a:rPr>
              <a:t>predefined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2800" b="1" dirty="0">
              <a:ea typeface="+mn-ea"/>
            </a:endParaRPr>
          </a:p>
          <a:p>
            <a:pPr>
              <a:lnSpc>
                <a:spcPct val="90000"/>
              </a:lnSpc>
              <a:defRPr/>
            </a:pPr>
            <a:r>
              <a:rPr lang="en-US" sz="2800" b="1" dirty="0"/>
              <a:t>Additional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2C14DE"/>
                </a:solidFill>
              </a:rPr>
              <a:t>communicators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b="1" dirty="0"/>
              <a:t>can</a:t>
            </a:r>
            <a:r>
              <a:rPr lang="en-US" sz="2800" dirty="0"/>
              <a:t> also be </a:t>
            </a:r>
            <a:r>
              <a:rPr lang="en-US" sz="2800" b="1" dirty="0">
                <a:solidFill>
                  <a:srgbClr val="2C14DE"/>
                </a:solidFill>
              </a:rPr>
              <a:t>defined</a:t>
            </a:r>
          </a:p>
          <a:p>
            <a:pPr>
              <a:lnSpc>
                <a:spcPct val="90000"/>
              </a:lnSpc>
              <a:defRPr/>
            </a:pPr>
            <a:endParaRPr lang="en-US" sz="2800" dirty="0">
              <a:ea typeface="+mn-ea"/>
            </a:endParaRPr>
          </a:p>
          <a:p>
            <a:pPr>
              <a:lnSpc>
                <a:spcPct val="90000"/>
              </a:lnSpc>
              <a:defRPr/>
            </a:pPr>
            <a:r>
              <a:rPr lang="en-US" sz="2800" dirty="0">
                <a:ea typeface="+mn-ea"/>
              </a:rPr>
              <a:t>Each </a:t>
            </a:r>
            <a:r>
              <a:rPr lang="en-US" sz="2800" b="1" dirty="0">
                <a:ea typeface="+mn-ea"/>
              </a:rPr>
              <a:t>process</a:t>
            </a:r>
            <a:r>
              <a:rPr lang="en-US" sz="2800" dirty="0">
                <a:ea typeface="+mn-ea"/>
              </a:rPr>
              <a:t> has its </a:t>
            </a:r>
            <a:r>
              <a:rPr lang="en-US" sz="2800" b="1" dirty="0">
                <a:ea typeface="+mn-ea"/>
              </a:rPr>
              <a:t>own</a:t>
            </a:r>
            <a:r>
              <a:rPr lang="en-US" sz="2800" dirty="0">
                <a:ea typeface="+mn-ea"/>
              </a:rPr>
              <a:t> </a:t>
            </a:r>
            <a:r>
              <a:rPr lang="en-US" sz="2800" b="1" dirty="0">
                <a:solidFill>
                  <a:srgbClr val="2C14DE"/>
                </a:solidFill>
                <a:ea typeface="+mn-ea"/>
              </a:rPr>
              <a:t>rank</a:t>
            </a:r>
            <a:r>
              <a:rPr lang="en-US" sz="2800" dirty="0">
                <a:solidFill>
                  <a:srgbClr val="2C14DE"/>
                </a:solidFill>
                <a:ea typeface="+mn-ea"/>
              </a:rPr>
              <a:t> </a:t>
            </a:r>
            <a:r>
              <a:rPr lang="en-US" sz="2800" dirty="0">
                <a:ea typeface="+mn-ea"/>
              </a:rPr>
              <a:t>in a </a:t>
            </a:r>
            <a:r>
              <a:rPr lang="en-US" sz="2800" b="1" dirty="0">
                <a:ea typeface="+mn-ea"/>
              </a:rPr>
              <a:t>communicator</a:t>
            </a:r>
            <a:r>
              <a:rPr lang="en-US" sz="2800" dirty="0">
                <a:ea typeface="+mn-ea"/>
              </a:rPr>
              <a:t>:</a:t>
            </a:r>
          </a:p>
          <a:p>
            <a:pPr lvl="1">
              <a:lnSpc>
                <a:spcPct val="90000"/>
              </a:lnSpc>
              <a:defRPr/>
            </a:pPr>
            <a:r>
              <a:rPr lang="en-US" b="1" dirty="0">
                <a:solidFill>
                  <a:srgbClr val="2C14DE"/>
                </a:solidFill>
                <a:ea typeface="+mn-ea"/>
              </a:rPr>
              <a:t>starting</a:t>
            </a:r>
            <a:r>
              <a:rPr lang="en-US" dirty="0">
                <a:solidFill>
                  <a:srgbClr val="2C14DE"/>
                </a:solidFill>
                <a:ea typeface="+mn-ea"/>
              </a:rPr>
              <a:t> </a:t>
            </a:r>
            <a:r>
              <a:rPr lang="en-US" dirty="0">
                <a:ea typeface="+mn-ea"/>
              </a:rPr>
              <a:t>with </a:t>
            </a:r>
            <a:r>
              <a:rPr lang="en-US" b="1" dirty="0">
                <a:solidFill>
                  <a:srgbClr val="2C14DE"/>
                </a:solidFill>
                <a:ea typeface="+mn-ea"/>
              </a:rPr>
              <a:t>0</a:t>
            </a:r>
          </a:p>
          <a:p>
            <a:pPr lvl="1">
              <a:lnSpc>
                <a:spcPct val="90000"/>
              </a:lnSpc>
              <a:defRPr/>
            </a:pPr>
            <a:r>
              <a:rPr lang="en-US" b="1" dirty="0">
                <a:solidFill>
                  <a:srgbClr val="2C14DE"/>
                </a:solidFill>
                <a:ea typeface="+mn-ea"/>
              </a:rPr>
              <a:t>Ending</a:t>
            </a:r>
            <a:r>
              <a:rPr lang="en-US" dirty="0">
                <a:solidFill>
                  <a:srgbClr val="2C14DE"/>
                </a:solidFill>
                <a:ea typeface="+mn-ea"/>
              </a:rPr>
              <a:t> </a:t>
            </a:r>
            <a:r>
              <a:rPr lang="en-US" dirty="0">
                <a:ea typeface="+mn-ea"/>
              </a:rPr>
              <a:t>with (</a:t>
            </a:r>
            <a:r>
              <a:rPr lang="en-US" b="1" dirty="0">
                <a:solidFill>
                  <a:srgbClr val="2C14DE"/>
                </a:solidFill>
                <a:ea typeface="+mn-ea"/>
              </a:rPr>
              <a:t>size-1</a:t>
            </a:r>
            <a:r>
              <a:rPr lang="en-US" dirty="0">
                <a:ea typeface="+mn-ea"/>
              </a:rPr>
              <a:t>)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886200" y="4724400"/>
            <a:ext cx="5105400" cy="2029326"/>
            <a:chOff x="2514600" y="4191000"/>
            <a:chExt cx="5140325" cy="1905000"/>
          </a:xfrm>
        </p:grpSpPr>
        <p:sp>
          <p:nvSpPr>
            <p:cNvPr id="470020" name="Freeform 4"/>
            <p:cNvSpPr>
              <a:spLocks/>
            </p:cNvSpPr>
            <p:nvPr/>
          </p:nvSpPr>
          <p:spPr bwMode="auto">
            <a:xfrm>
              <a:off x="2514600" y="4254500"/>
              <a:ext cx="5029200" cy="1841500"/>
            </a:xfrm>
            <a:custGeom>
              <a:avLst/>
              <a:gdLst>
                <a:gd name="T0" fmla="*/ 466997 w 3360"/>
                <a:gd name="T1" fmla="*/ 133740 h 1432"/>
                <a:gd name="T2" fmla="*/ 1185454 w 3360"/>
                <a:gd name="T3" fmla="*/ 10288 h 1432"/>
                <a:gd name="T4" fmla="*/ 1903911 w 3360"/>
                <a:gd name="T5" fmla="*/ 72014 h 1432"/>
                <a:gd name="T6" fmla="*/ 2837906 w 3360"/>
                <a:gd name="T7" fmla="*/ 318919 h 1432"/>
                <a:gd name="T8" fmla="*/ 3987437 w 3360"/>
                <a:gd name="T9" fmla="*/ 380645 h 1432"/>
                <a:gd name="T10" fmla="*/ 4993277 w 3360"/>
                <a:gd name="T11" fmla="*/ 1059634 h 1432"/>
                <a:gd name="T12" fmla="*/ 4202974 w 3360"/>
                <a:gd name="T13" fmla="*/ 1676897 h 1432"/>
                <a:gd name="T14" fmla="*/ 2119449 w 3360"/>
                <a:gd name="T15" fmla="*/ 1800349 h 1432"/>
                <a:gd name="T16" fmla="*/ 323306 w 3360"/>
                <a:gd name="T17" fmla="*/ 1429992 h 1432"/>
                <a:gd name="T18" fmla="*/ 179614 w 3360"/>
                <a:gd name="T19" fmla="*/ 689277 h 1432"/>
                <a:gd name="T20" fmla="*/ 107769 w 3360"/>
                <a:gd name="T21" fmla="*/ 318919 h 1432"/>
                <a:gd name="T22" fmla="*/ 466997 w 3360"/>
                <a:gd name="T23" fmla="*/ 133740 h 143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360" h="1432">
                  <a:moveTo>
                    <a:pt x="312" y="104"/>
                  </a:moveTo>
                  <a:cubicBezTo>
                    <a:pt x="432" y="64"/>
                    <a:pt x="632" y="16"/>
                    <a:pt x="792" y="8"/>
                  </a:cubicBezTo>
                  <a:cubicBezTo>
                    <a:pt x="952" y="0"/>
                    <a:pt x="1088" y="16"/>
                    <a:pt x="1272" y="56"/>
                  </a:cubicBezTo>
                  <a:cubicBezTo>
                    <a:pt x="1456" y="96"/>
                    <a:pt x="1664" y="208"/>
                    <a:pt x="1896" y="248"/>
                  </a:cubicBezTo>
                  <a:cubicBezTo>
                    <a:pt x="2128" y="288"/>
                    <a:pt x="2424" y="200"/>
                    <a:pt x="2664" y="296"/>
                  </a:cubicBezTo>
                  <a:cubicBezTo>
                    <a:pt x="2904" y="392"/>
                    <a:pt x="3312" y="656"/>
                    <a:pt x="3336" y="824"/>
                  </a:cubicBezTo>
                  <a:cubicBezTo>
                    <a:pt x="3360" y="992"/>
                    <a:pt x="3128" y="1208"/>
                    <a:pt x="2808" y="1304"/>
                  </a:cubicBezTo>
                  <a:cubicBezTo>
                    <a:pt x="2488" y="1400"/>
                    <a:pt x="1848" y="1432"/>
                    <a:pt x="1416" y="1400"/>
                  </a:cubicBezTo>
                  <a:cubicBezTo>
                    <a:pt x="984" y="1368"/>
                    <a:pt x="432" y="1256"/>
                    <a:pt x="216" y="1112"/>
                  </a:cubicBezTo>
                  <a:cubicBezTo>
                    <a:pt x="0" y="968"/>
                    <a:pt x="144" y="680"/>
                    <a:pt x="120" y="536"/>
                  </a:cubicBezTo>
                  <a:cubicBezTo>
                    <a:pt x="96" y="392"/>
                    <a:pt x="40" y="320"/>
                    <a:pt x="72" y="248"/>
                  </a:cubicBezTo>
                  <a:cubicBezTo>
                    <a:pt x="104" y="176"/>
                    <a:pt x="192" y="144"/>
                    <a:pt x="312" y="104"/>
                  </a:cubicBezTo>
                  <a:close/>
                </a:path>
              </a:pathLst>
            </a:custGeom>
            <a:solidFill>
              <a:srgbClr val="FFCCCC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470021" name="Oval 5"/>
            <p:cNvSpPr>
              <a:spLocks noChangeArrowheads="1"/>
            </p:cNvSpPr>
            <p:nvPr/>
          </p:nvSpPr>
          <p:spPr bwMode="auto">
            <a:xfrm>
              <a:off x="2971800" y="4724400"/>
              <a:ext cx="381000" cy="4572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r>
                <a:rPr lang="en-US" sz="2400">
                  <a:latin typeface="Arial" charset="0"/>
                  <a:ea typeface="ＭＳ Ｐゴシック" charset="0"/>
                  <a:cs typeface="ＭＳ Ｐゴシック" charset="0"/>
                </a:rPr>
                <a:t>0</a:t>
              </a:r>
            </a:p>
          </p:txBody>
        </p:sp>
        <p:sp>
          <p:nvSpPr>
            <p:cNvPr id="470022" name="Oval 6"/>
            <p:cNvSpPr>
              <a:spLocks noChangeArrowheads="1"/>
            </p:cNvSpPr>
            <p:nvPr/>
          </p:nvSpPr>
          <p:spPr bwMode="auto">
            <a:xfrm>
              <a:off x="3886200" y="4572000"/>
              <a:ext cx="457200" cy="4572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r>
                <a:rPr lang="en-US" sz="2400">
                  <a:latin typeface="Arial" charset="0"/>
                  <a:ea typeface="ＭＳ Ｐゴシック" charset="0"/>
                  <a:cs typeface="ＭＳ Ｐゴシック" charset="0"/>
                </a:rPr>
                <a:t>1</a:t>
              </a:r>
            </a:p>
          </p:txBody>
        </p:sp>
        <p:sp>
          <p:nvSpPr>
            <p:cNvPr id="470023" name="Oval 7"/>
            <p:cNvSpPr>
              <a:spLocks noChangeArrowheads="1"/>
            </p:cNvSpPr>
            <p:nvPr/>
          </p:nvSpPr>
          <p:spPr bwMode="auto">
            <a:xfrm>
              <a:off x="6210300" y="5181600"/>
              <a:ext cx="457200" cy="4572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r>
                <a:rPr lang="en-US" sz="2400">
                  <a:latin typeface="Arial" charset="0"/>
                  <a:ea typeface="ＭＳ Ｐゴシック" charset="0"/>
                  <a:cs typeface="ＭＳ Ｐゴシック" charset="0"/>
                </a:rPr>
                <a:t>5</a:t>
              </a:r>
            </a:p>
          </p:txBody>
        </p:sp>
        <p:sp>
          <p:nvSpPr>
            <p:cNvPr id="470024" name="Oval 8"/>
            <p:cNvSpPr>
              <a:spLocks noChangeArrowheads="1"/>
            </p:cNvSpPr>
            <p:nvPr/>
          </p:nvSpPr>
          <p:spPr bwMode="auto">
            <a:xfrm>
              <a:off x="5067300" y="4800600"/>
              <a:ext cx="457200" cy="4572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r>
                <a:rPr lang="en-US" sz="2400">
                  <a:latin typeface="Arial" charset="0"/>
                  <a:ea typeface="ＭＳ Ｐゴシック" charset="0"/>
                  <a:cs typeface="ＭＳ Ｐゴシック" charset="0"/>
                </a:rPr>
                <a:t>2</a:t>
              </a:r>
            </a:p>
          </p:txBody>
        </p:sp>
        <p:sp>
          <p:nvSpPr>
            <p:cNvPr id="470025" name="Oval 9"/>
            <p:cNvSpPr>
              <a:spLocks noChangeArrowheads="1"/>
            </p:cNvSpPr>
            <p:nvPr/>
          </p:nvSpPr>
          <p:spPr bwMode="auto">
            <a:xfrm>
              <a:off x="3924300" y="5410200"/>
              <a:ext cx="457200" cy="4572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r>
                <a:rPr lang="en-US" sz="2400">
                  <a:latin typeface="Arial" charset="0"/>
                  <a:ea typeface="ＭＳ Ｐゴシック" charset="0"/>
                  <a:cs typeface="ＭＳ Ｐゴシック" charset="0"/>
                </a:rPr>
                <a:t>4</a:t>
              </a:r>
            </a:p>
          </p:txBody>
        </p:sp>
        <p:sp>
          <p:nvSpPr>
            <p:cNvPr id="470026" name="Oval 10"/>
            <p:cNvSpPr>
              <a:spLocks noChangeArrowheads="1"/>
            </p:cNvSpPr>
            <p:nvPr/>
          </p:nvSpPr>
          <p:spPr bwMode="auto">
            <a:xfrm>
              <a:off x="4762500" y="5334000"/>
              <a:ext cx="457200" cy="4572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r>
                <a:rPr lang="en-US" sz="2400">
                  <a:latin typeface="Arial" charset="0"/>
                  <a:ea typeface="ＭＳ Ｐゴシック" charset="0"/>
                  <a:cs typeface="ＭＳ Ｐゴシック" charset="0"/>
                </a:rPr>
                <a:t>3</a:t>
              </a:r>
            </a:p>
          </p:txBody>
        </p:sp>
        <p:sp>
          <p:nvSpPr>
            <p:cNvPr id="470027" name="Oval 11"/>
            <p:cNvSpPr>
              <a:spLocks noChangeArrowheads="1"/>
            </p:cNvSpPr>
            <p:nvPr/>
          </p:nvSpPr>
          <p:spPr bwMode="auto">
            <a:xfrm>
              <a:off x="5410200" y="5486400"/>
              <a:ext cx="457200" cy="4572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r>
                <a:rPr lang="en-US" sz="2400">
                  <a:latin typeface="Arial" charset="0"/>
                  <a:ea typeface="ＭＳ Ｐゴシック" charset="0"/>
                  <a:cs typeface="ＭＳ Ｐゴシック" charset="0"/>
                </a:rPr>
                <a:t>6</a:t>
              </a:r>
            </a:p>
          </p:txBody>
        </p:sp>
        <p:sp>
          <p:nvSpPr>
            <p:cNvPr id="470028" name="Text Box 12"/>
            <p:cNvSpPr txBox="1">
              <a:spLocks noChangeArrowheads="1"/>
            </p:cNvSpPr>
            <p:nvPr/>
          </p:nvSpPr>
          <p:spPr bwMode="auto">
            <a:xfrm>
              <a:off x="5257800" y="4191000"/>
              <a:ext cx="2397125" cy="2506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36000" tIns="0" rIns="36000" bIns="0">
              <a:spAutoFit/>
            </a:bodyPr>
            <a:lstStyle/>
            <a:p>
              <a:pPr>
                <a:defRPr/>
              </a:pPr>
              <a:r>
                <a:rPr lang="en-US" sz="1800" b="1" dirty="0">
                  <a:solidFill>
                    <a:schemeClr val="bg1">
                      <a:lumMod val="50000"/>
                    </a:schemeClr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MPI_COMM_WORLD</a:t>
              </a:r>
            </a:p>
          </p:txBody>
        </p:sp>
      </p:grpSp>
      <p:sp>
        <p:nvSpPr>
          <p:cNvPr id="13" name="Rectangle 12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97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4865"/>
            <a:ext cx="9106301" cy="786865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  <a:ea typeface="+mj-ea"/>
              </a:rPr>
              <a:t>How big is the MPI library?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763000" cy="57912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Huge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(</a:t>
            </a:r>
            <a:r>
              <a:rPr lang="en-US" sz="2800" b="1" dirty="0"/>
              <a:t>125 Functions</a:t>
            </a:r>
            <a:r>
              <a:rPr lang="en-US" sz="2800" dirty="0"/>
              <a:t>) !!</a:t>
            </a:r>
          </a:p>
          <a:p>
            <a:r>
              <a:rPr lang="en-US" sz="2800" b="1" u="sng" dirty="0"/>
              <a:t>Good news </a:t>
            </a:r>
            <a:r>
              <a:rPr lang="en-US" sz="2800" dirty="0"/>
              <a:t>– you can write </a:t>
            </a:r>
            <a:r>
              <a:rPr lang="en-US" sz="2800" b="1" dirty="0">
                <a:solidFill>
                  <a:srgbClr val="2C14DE"/>
                </a:solidFill>
              </a:rPr>
              <a:t>useful MPI programs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dirty="0"/>
              <a:t>only using </a:t>
            </a:r>
            <a:r>
              <a:rPr lang="en-US" sz="2800" b="1" dirty="0">
                <a:solidFill>
                  <a:srgbClr val="2C14DE"/>
                </a:solidFill>
              </a:rPr>
              <a:t>6 basic functions</a:t>
            </a:r>
          </a:p>
          <a:p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19400"/>
            <a:ext cx="737197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1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4865"/>
            <a:ext cx="9106301" cy="786865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  <a:ea typeface="+mj-ea"/>
              </a:rPr>
              <a:t>MPI – Start &amp; Termination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3688" y="838200"/>
            <a:ext cx="9034112" cy="594360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sv-SE" sz="3000" b="1" dirty="0">
                <a:solidFill>
                  <a:srgbClr val="FF0000"/>
                </a:solidFill>
              </a:rPr>
              <a:t> int MPI_Init(int *argc, char ***argv) </a:t>
            </a:r>
          </a:p>
          <a:p>
            <a:r>
              <a:rPr lang="en-US" sz="3000" b="1" dirty="0">
                <a:solidFill>
                  <a:srgbClr val="2C14DE"/>
                </a:solidFill>
              </a:rPr>
              <a:t>initialization</a:t>
            </a:r>
            <a:r>
              <a:rPr lang="en-US" sz="3000" b="1" dirty="0"/>
              <a:t>: </a:t>
            </a:r>
            <a:r>
              <a:rPr lang="en-US" sz="3000" dirty="0"/>
              <a:t>must </a:t>
            </a:r>
            <a:r>
              <a:rPr lang="en-US" sz="3000" b="1" dirty="0">
                <a:solidFill>
                  <a:srgbClr val="2C14DE"/>
                </a:solidFill>
              </a:rPr>
              <a:t>call</a:t>
            </a:r>
            <a:r>
              <a:rPr lang="en-US" sz="3000" dirty="0"/>
              <a:t> this </a:t>
            </a:r>
            <a:r>
              <a:rPr lang="en-US" sz="3000" b="1" dirty="0">
                <a:solidFill>
                  <a:srgbClr val="2C14DE"/>
                </a:solidFill>
              </a:rPr>
              <a:t>prior</a:t>
            </a:r>
            <a:r>
              <a:rPr lang="en-US" sz="3000" dirty="0">
                <a:solidFill>
                  <a:srgbClr val="2C14DE"/>
                </a:solidFill>
              </a:rPr>
              <a:t> </a:t>
            </a:r>
            <a:r>
              <a:rPr lang="en-US" sz="3000" dirty="0"/>
              <a:t>to </a:t>
            </a:r>
            <a:r>
              <a:rPr lang="en-US" sz="3000" b="1" dirty="0">
                <a:solidFill>
                  <a:srgbClr val="2C14DE"/>
                </a:solidFill>
              </a:rPr>
              <a:t>other MPI routines </a:t>
            </a:r>
            <a:r>
              <a:rPr lang="en-US" sz="3000" b="1" dirty="0"/>
              <a:t>(by </a:t>
            </a:r>
            <a:r>
              <a:rPr lang="en-US" sz="3000" b="1" u="sng" dirty="0">
                <a:solidFill>
                  <a:srgbClr val="2C14DE"/>
                </a:solidFill>
              </a:rPr>
              <a:t>main thread</a:t>
            </a:r>
            <a:r>
              <a:rPr lang="en-US" sz="3000" b="1" dirty="0"/>
              <a:t>)</a:t>
            </a:r>
          </a:p>
          <a:p>
            <a:r>
              <a:rPr lang="en-US" sz="3000" b="1" dirty="0">
                <a:solidFill>
                  <a:srgbClr val="2C14DE"/>
                </a:solidFill>
              </a:rPr>
              <a:t>initializes MPI environment 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0000"/>
                </a:solidFill>
              </a:rPr>
              <a:t> </a:t>
            </a:r>
            <a:r>
              <a:rPr lang="en-US" sz="3000" b="1" dirty="0" err="1">
                <a:solidFill>
                  <a:srgbClr val="FF0000"/>
                </a:solidFill>
              </a:rPr>
              <a:t>int</a:t>
            </a:r>
            <a:r>
              <a:rPr lang="en-US" sz="3000" b="1" dirty="0">
                <a:solidFill>
                  <a:srgbClr val="FF0000"/>
                </a:solidFill>
              </a:rPr>
              <a:t> </a:t>
            </a:r>
            <a:r>
              <a:rPr lang="en-US" sz="3000" b="1" dirty="0" err="1">
                <a:solidFill>
                  <a:srgbClr val="FF0000"/>
                </a:solidFill>
              </a:rPr>
              <a:t>MPI_Finalize</a:t>
            </a:r>
            <a:r>
              <a:rPr lang="en-US" sz="3000" b="1" dirty="0">
                <a:solidFill>
                  <a:srgbClr val="FF0000"/>
                </a:solidFill>
              </a:rPr>
              <a:t>( ) </a:t>
            </a:r>
          </a:p>
          <a:p>
            <a:r>
              <a:rPr lang="en-US" sz="3000" b="1" dirty="0"/>
              <a:t>Must </a:t>
            </a:r>
            <a:r>
              <a:rPr lang="en-US" sz="3000" b="1" dirty="0">
                <a:solidFill>
                  <a:srgbClr val="2C14DE"/>
                </a:solidFill>
              </a:rPr>
              <a:t>call</a:t>
            </a:r>
            <a:r>
              <a:rPr lang="en-US" sz="3000" b="1" dirty="0"/>
              <a:t> at the </a:t>
            </a:r>
            <a:r>
              <a:rPr lang="en-US" sz="3000" b="1" dirty="0">
                <a:solidFill>
                  <a:srgbClr val="2C14DE"/>
                </a:solidFill>
              </a:rPr>
              <a:t>end of the computation  </a:t>
            </a:r>
            <a:r>
              <a:rPr lang="en-US" sz="3000" b="1" dirty="0"/>
              <a:t>(by the same </a:t>
            </a:r>
            <a:r>
              <a:rPr lang="en-US" sz="3000" b="1" u="sng" dirty="0">
                <a:solidFill>
                  <a:srgbClr val="2C14DE"/>
                </a:solidFill>
              </a:rPr>
              <a:t>main thread</a:t>
            </a:r>
            <a:r>
              <a:rPr lang="en-US" sz="3000" b="1" dirty="0"/>
              <a:t>)</a:t>
            </a:r>
          </a:p>
          <a:p>
            <a:r>
              <a:rPr lang="en-US" sz="3000" b="1" dirty="0">
                <a:solidFill>
                  <a:srgbClr val="2C14DE"/>
                </a:solidFill>
              </a:rPr>
              <a:t>performs</a:t>
            </a:r>
            <a:r>
              <a:rPr lang="en-US" sz="3000" b="1" dirty="0"/>
              <a:t> various </a:t>
            </a:r>
            <a:r>
              <a:rPr lang="en-US" sz="3000" b="1" dirty="0">
                <a:solidFill>
                  <a:srgbClr val="2C14DE"/>
                </a:solidFill>
              </a:rPr>
              <a:t>clean-up tasks </a:t>
            </a:r>
            <a:r>
              <a:rPr lang="en-US" sz="3000" b="1" dirty="0"/>
              <a:t>to </a:t>
            </a:r>
            <a:r>
              <a:rPr lang="en-US" sz="3000" b="1" dirty="0">
                <a:solidFill>
                  <a:srgbClr val="2C14DE"/>
                </a:solidFill>
              </a:rPr>
              <a:t>terminate MPI environment</a:t>
            </a:r>
            <a:r>
              <a:rPr lang="en-US" sz="3000" b="1" dirty="0"/>
              <a:t> </a:t>
            </a:r>
          </a:p>
          <a:p>
            <a:pPr marL="0" indent="0">
              <a:buNone/>
            </a:pPr>
            <a:endParaRPr lang="en-US" sz="2800" b="1" dirty="0"/>
          </a:p>
          <a:p>
            <a:r>
              <a:rPr lang="en-US" sz="3000" b="1" dirty="0">
                <a:solidFill>
                  <a:srgbClr val="C00000"/>
                </a:solidFill>
              </a:rPr>
              <a:t>Return codes </a:t>
            </a:r>
            <a:r>
              <a:rPr lang="en-US" sz="3000" dirty="0"/>
              <a:t>(for both </a:t>
            </a:r>
            <a:r>
              <a:rPr lang="sv-SE" sz="3000" b="1" i="1" dirty="0"/>
              <a:t>MPI_Init</a:t>
            </a:r>
            <a:r>
              <a:rPr lang="sv-SE" sz="3000" dirty="0"/>
              <a:t> &amp; </a:t>
            </a:r>
            <a:r>
              <a:rPr lang="en-US" sz="3000" b="1" i="1" dirty="0" err="1"/>
              <a:t>MPI_Finalize</a:t>
            </a:r>
            <a:r>
              <a:rPr lang="en-US" sz="3000" dirty="0"/>
              <a:t>)</a:t>
            </a:r>
          </a:p>
          <a:p>
            <a:pPr lvl="1"/>
            <a:r>
              <a:rPr lang="en-US" sz="2600" b="1" dirty="0">
                <a:solidFill>
                  <a:srgbClr val="2C14DE"/>
                </a:solidFill>
              </a:rPr>
              <a:t>MPI_SUCCESS</a:t>
            </a:r>
          </a:p>
          <a:p>
            <a:pPr lvl="1"/>
            <a:r>
              <a:rPr lang="en-US" sz="2600" b="1" dirty="0">
                <a:solidFill>
                  <a:srgbClr val="2C14DE"/>
                </a:solidFill>
              </a:rPr>
              <a:t>MPI_ERROR </a:t>
            </a:r>
            <a:endParaRPr lang="sv-SE" sz="2600" b="1" dirty="0">
              <a:solidFill>
                <a:srgbClr val="2C14DE"/>
              </a:solidFill>
            </a:endParaRPr>
          </a:p>
          <a:p>
            <a:endParaRPr lang="sv-SE" sz="2800" b="1" u="sng" dirty="0"/>
          </a:p>
        </p:txBody>
      </p:sp>
      <p:sp>
        <p:nvSpPr>
          <p:cNvPr id="4" name="Rectangle 3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4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4865"/>
            <a:ext cx="9106301" cy="786865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  <a:ea typeface="+mj-ea"/>
              </a:rPr>
              <a:t>Communicators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3688" y="838200"/>
            <a:ext cx="8957912" cy="5943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Communicator</a:t>
            </a:r>
            <a:r>
              <a:rPr lang="en-US" b="1" dirty="0"/>
              <a:t>: </a:t>
            </a:r>
            <a:r>
              <a:rPr lang="en-US" b="1" dirty="0" err="1">
                <a:solidFill>
                  <a:srgbClr val="2C14DE"/>
                </a:solidFill>
              </a:rPr>
              <a:t>MPI_Comm</a:t>
            </a:r>
            <a:endParaRPr lang="en-US" b="1" dirty="0">
              <a:solidFill>
                <a:srgbClr val="2C14DE"/>
              </a:solidFill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800" dirty="0"/>
              <a:t>Group of </a:t>
            </a:r>
            <a:r>
              <a:rPr lang="en-US" sz="2800" b="1" dirty="0">
                <a:solidFill>
                  <a:srgbClr val="2C14DE"/>
                </a:solidFill>
              </a:rPr>
              <a:t>processes</a:t>
            </a:r>
            <a:r>
              <a:rPr lang="en-US" sz="2800" dirty="0"/>
              <a:t> that could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2C14DE"/>
                </a:solidFill>
              </a:rPr>
              <a:t>communicate </a:t>
            </a:r>
            <a:r>
              <a:rPr lang="en-US" sz="2800" dirty="0"/>
              <a:t>with </a:t>
            </a:r>
            <a:r>
              <a:rPr lang="en-US" sz="2800" b="1" dirty="0">
                <a:solidFill>
                  <a:srgbClr val="2C14DE"/>
                </a:solidFill>
              </a:rPr>
              <a:t>one another </a:t>
            </a:r>
            <a:endParaRPr lang="en-US" sz="2800" b="1" dirty="0"/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800" b="1" dirty="0">
                <a:solidFill>
                  <a:srgbClr val="2C14DE"/>
                </a:solidFill>
              </a:rPr>
              <a:t>Communication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2C14DE"/>
                </a:solidFill>
              </a:rPr>
              <a:t>domains</a:t>
            </a:r>
            <a:r>
              <a:rPr lang="en-US" sz="2800" b="1" dirty="0"/>
              <a:t> could </a:t>
            </a:r>
            <a:r>
              <a:rPr lang="en-US" sz="2800" b="1" dirty="0">
                <a:solidFill>
                  <a:srgbClr val="2C14DE"/>
                </a:solidFill>
              </a:rPr>
              <a:t>overlap</a:t>
            </a:r>
            <a:r>
              <a:rPr lang="en-US" sz="2800" b="1" dirty="0"/>
              <a:t>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800" b="1" dirty="0">
                <a:sym typeface="Wingdings" panose="05000000000000000000" pitchFamily="2" charset="2"/>
              </a:rPr>
              <a:t>A </a:t>
            </a:r>
            <a:r>
              <a:rPr lang="en-US" sz="2800" b="1" dirty="0">
                <a:solidFill>
                  <a:srgbClr val="2C14DE"/>
                </a:solidFill>
              </a:rPr>
              <a:t>process</a:t>
            </a:r>
            <a:r>
              <a:rPr lang="en-US" sz="2800" b="1" dirty="0"/>
              <a:t> may be </a:t>
            </a:r>
            <a:r>
              <a:rPr lang="en-US" sz="2800" b="1" dirty="0">
                <a:solidFill>
                  <a:srgbClr val="2C14DE"/>
                </a:solidFill>
              </a:rPr>
              <a:t>part</a:t>
            </a:r>
            <a:r>
              <a:rPr lang="en-US" sz="2800" b="1" dirty="0"/>
              <a:t> of </a:t>
            </a:r>
            <a:r>
              <a:rPr lang="en-US" sz="2800" b="1" dirty="0">
                <a:solidFill>
                  <a:srgbClr val="2C14DE"/>
                </a:solidFill>
              </a:rPr>
              <a:t>multiple communicators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800" b="1" dirty="0">
                <a:solidFill>
                  <a:srgbClr val="C00000"/>
                </a:solidFill>
              </a:rPr>
              <a:t>MPI_COMM_WORLD</a:t>
            </a:r>
            <a:r>
              <a:rPr lang="en-US" sz="2800" b="1" dirty="0"/>
              <a:t>: </a:t>
            </a:r>
            <a:r>
              <a:rPr lang="en-US" sz="2800" b="1" dirty="0">
                <a:solidFill>
                  <a:srgbClr val="2C14DE"/>
                </a:solidFill>
              </a:rPr>
              <a:t>root communicator </a:t>
            </a:r>
            <a:r>
              <a:rPr lang="en-US" sz="2800" b="1" dirty="0"/>
              <a:t>(all the processes)</a:t>
            </a:r>
            <a:endParaRPr lang="sv-SE" sz="2800" b="1" u="sng" dirty="0"/>
          </a:p>
        </p:txBody>
      </p:sp>
      <p:sp>
        <p:nvSpPr>
          <p:cNvPr id="4" name="Rectangle 3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361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4865"/>
            <a:ext cx="9106301" cy="786865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Communicators</a:t>
            </a:r>
            <a:endParaRPr lang="en-US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3688" y="990600"/>
            <a:ext cx="9034112" cy="5791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dirty="0" err="1">
                <a:solidFill>
                  <a:srgbClr val="FF0000"/>
                </a:solidFill>
              </a:rPr>
              <a:t>int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MPI_Comm_size</a:t>
            </a:r>
            <a:r>
              <a:rPr lang="en-US" sz="2800" b="1" dirty="0">
                <a:solidFill>
                  <a:srgbClr val="FF0000"/>
                </a:solidFill>
              </a:rPr>
              <a:t>(</a:t>
            </a:r>
            <a:r>
              <a:rPr lang="en-US" sz="2800" b="1" dirty="0" err="1">
                <a:solidFill>
                  <a:srgbClr val="FF0000"/>
                </a:solidFill>
              </a:rPr>
              <a:t>MPI_Comm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comm</a:t>
            </a:r>
            <a:r>
              <a:rPr lang="en-US" sz="2800" b="1" dirty="0">
                <a:solidFill>
                  <a:srgbClr val="FF0000"/>
                </a:solidFill>
              </a:rPr>
              <a:t>, </a:t>
            </a:r>
            <a:r>
              <a:rPr lang="en-US" sz="2800" b="1" dirty="0" err="1">
                <a:solidFill>
                  <a:srgbClr val="FF0000"/>
                </a:solidFill>
              </a:rPr>
              <a:t>int</a:t>
            </a:r>
            <a:r>
              <a:rPr lang="en-US" sz="2800" b="1" dirty="0">
                <a:solidFill>
                  <a:srgbClr val="FF0000"/>
                </a:solidFill>
              </a:rPr>
              <a:t> *size)</a:t>
            </a:r>
          </a:p>
          <a:p>
            <a:r>
              <a:rPr lang="en-US" sz="2800" b="1" dirty="0">
                <a:solidFill>
                  <a:srgbClr val="2C14DE"/>
                </a:solidFill>
              </a:rPr>
              <a:t>Determine</a:t>
            </a:r>
            <a:r>
              <a:rPr lang="en-US" sz="2800" b="1" dirty="0"/>
              <a:t> the </a:t>
            </a:r>
            <a:r>
              <a:rPr lang="en-US" sz="2800" b="1" dirty="0">
                <a:solidFill>
                  <a:srgbClr val="2C14DE"/>
                </a:solidFill>
              </a:rPr>
              <a:t>number of processes </a:t>
            </a:r>
            <a:r>
              <a:rPr lang="en-US" sz="2800" b="1" dirty="0"/>
              <a:t>(in a particular communicator)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 algn="ctr">
              <a:buNone/>
            </a:pPr>
            <a:r>
              <a:rPr lang="en-US" sz="2800" b="1" dirty="0" err="1">
                <a:solidFill>
                  <a:srgbClr val="FF0000"/>
                </a:solidFill>
              </a:rPr>
              <a:t>int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MPI_Comm_rank</a:t>
            </a:r>
            <a:r>
              <a:rPr lang="en-US" sz="2800" b="1" dirty="0">
                <a:solidFill>
                  <a:srgbClr val="FF0000"/>
                </a:solidFill>
              </a:rPr>
              <a:t>(</a:t>
            </a:r>
            <a:r>
              <a:rPr lang="en-US" sz="2800" b="1" dirty="0" err="1">
                <a:solidFill>
                  <a:srgbClr val="FF0000"/>
                </a:solidFill>
              </a:rPr>
              <a:t>MPI_Comm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comm</a:t>
            </a:r>
            <a:r>
              <a:rPr lang="en-US" sz="2800" b="1" dirty="0">
                <a:solidFill>
                  <a:srgbClr val="FF0000"/>
                </a:solidFill>
              </a:rPr>
              <a:t>, </a:t>
            </a:r>
            <a:r>
              <a:rPr lang="en-US" sz="2800" b="1" dirty="0" err="1">
                <a:solidFill>
                  <a:srgbClr val="FF0000"/>
                </a:solidFill>
              </a:rPr>
              <a:t>int</a:t>
            </a:r>
            <a:r>
              <a:rPr lang="en-US" sz="2800" b="1" dirty="0">
                <a:solidFill>
                  <a:srgbClr val="FF0000"/>
                </a:solidFill>
              </a:rPr>
              <a:t> *rank)</a:t>
            </a:r>
          </a:p>
          <a:p>
            <a:r>
              <a:rPr lang="en-US" sz="2800" b="1" dirty="0">
                <a:solidFill>
                  <a:srgbClr val="2C14DE"/>
                </a:solidFill>
              </a:rPr>
              <a:t>Index</a:t>
            </a:r>
            <a:r>
              <a:rPr lang="en-US" sz="2800" b="1" dirty="0"/>
              <a:t> of the </a:t>
            </a:r>
            <a:r>
              <a:rPr lang="en-US" sz="2800" b="1" dirty="0">
                <a:solidFill>
                  <a:srgbClr val="2C14DE"/>
                </a:solidFill>
              </a:rPr>
              <a:t>calling process </a:t>
            </a:r>
            <a:r>
              <a:rPr lang="en-US" sz="2800" b="1" dirty="0"/>
              <a:t>(in a particular communicator)</a:t>
            </a:r>
            <a:endParaRPr lang="en-US" sz="2800" b="1" dirty="0">
              <a:solidFill>
                <a:srgbClr val="2C14DE"/>
              </a:solidFill>
            </a:endParaRPr>
          </a:p>
          <a:p>
            <a:r>
              <a:rPr lang="en-US" sz="2800" b="1" dirty="0">
                <a:solidFill>
                  <a:srgbClr val="2C14DE"/>
                </a:solidFill>
              </a:rPr>
              <a:t>0</a:t>
            </a:r>
            <a:r>
              <a:rPr lang="en-US" sz="2800" b="1" dirty="0"/>
              <a:t> ≤ </a:t>
            </a:r>
            <a:r>
              <a:rPr lang="en-US" sz="2800" b="1" dirty="0">
                <a:solidFill>
                  <a:srgbClr val="2C14DE"/>
                </a:solidFill>
              </a:rPr>
              <a:t>rank</a:t>
            </a:r>
            <a:r>
              <a:rPr lang="en-US" sz="2800" b="1" dirty="0"/>
              <a:t> &lt; </a:t>
            </a:r>
            <a:r>
              <a:rPr lang="en-US" sz="2800" b="1" dirty="0">
                <a:solidFill>
                  <a:srgbClr val="2C14DE"/>
                </a:solidFill>
              </a:rPr>
              <a:t>communicator size</a:t>
            </a:r>
            <a:endParaRPr lang="sv-SE" sz="2800" b="1" u="sng" dirty="0">
              <a:solidFill>
                <a:srgbClr val="2C14D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8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"/>
            <a:ext cx="9091863" cy="678181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zh-TW" b="1" dirty="0">
                <a:solidFill>
                  <a:srgbClr val="C00000"/>
                </a:solidFill>
                <a:ea typeface="+mj-ea"/>
              </a:rPr>
              <a:t>MPI Program – A Generic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148" r="63551"/>
          <a:stretch/>
        </p:blipFill>
        <p:spPr>
          <a:xfrm>
            <a:off x="228600" y="1219200"/>
            <a:ext cx="2803567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72447"/>
            <a:ext cx="87301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b="1" i="1" dirty="0">
                <a:solidFill>
                  <a:srgbClr val="444444"/>
                </a:solidFill>
                <a:latin typeface="Open Sans"/>
              </a:rPr>
              <a:t>Credits: http://foxtrot.ncsa.uiuc.edu:8900/public/MPI / MPI Program Structure</a:t>
            </a:r>
            <a:endParaRPr lang="en-US" sz="600" b="1" i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37383" t="25542" b="14467"/>
          <a:stretch/>
        </p:blipFill>
        <p:spPr>
          <a:xfrm>
            <a:off x="4114800" y="2209800"/>
            <a:ext cx="4815840" cy="2731372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3032167" y="1600200"/>
            <a:ext cx="1235033" cy="701337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955967" y="2569453"/>
            <a:ext cx="1311233" cy="570284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2955967" y="3407653"/>
            <a:ext cx="1311233" cy="85720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2955967" y="4191000"/>
            <a:ext cx="1311233" cy="140572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916664" y="4489990"/>
            <a:ext cx="1350536" cy="921921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33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"/>
            <a:ext cx="9144000" cy="67818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C00000"/>
                </a:solidFill>
                <a:ea typeface="+mj-ea"/>
              </a:rPr>
              <a:t>A minimal MPI Program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" y="914400"/>
            <a:ext cx="8763000" cy="5715000"/>
          </a:xfr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sz="2800" b="1" dirty="0">
              <a:latin typeface="Courier New" panose="02070309020205020404" pitchFamily="49" charset="0"/>
            </a:endParaRPr>
          </a:p>
          <a:p>
            <a:pPr lvl="1" indent="-560388" eaLnBrk="1" hangingPunct="1">
              <a:buFont typeface="Wingdings" panose="05000000000000000000" pitchFamily="2" charset="2"/>
              <a:buNone/>
            </a:pP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#include </a:t>
            </a:r>
            <a:r>
              <a:rPr lang="en-US" altLang="ja-JP" b="1" dirty="0">
                <a:solidFill>
                  <a:srgbClr val="C00000"/>
                </a:solidFill>
              </a:rPr>
              <a:t>&lt;</a:t>
            </a:r>
            <a:r>
              <a:rPr lang="en-US" altLang="ja-JP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mpi.h</a:t>
            </a:r>
            <a:r>
              <a:rPr lang="en-US" altLang="ja-JP" b="1" dirty="0">
                <a:solidFill>
                  <a:srgbClr val="C00000"/>
                </a:solidFill>
              </a:rPr>
              <a:t>&gt;</a:t>
            </a:r>
            <a:endParaRPr lang="en-US" altLang="ja-JP" b="1" dirty="0">
              <a:solidFill>
                <a:srgbClr val="C00000"/>
              </a:solidFill>
              <a:latin typeface="Courier New" panose="02070309020205020404" pitchFamily="49" charset="0"/>
            </a:endParaRPr>
          </a:p>
          <a:p>
            <a:pPr lvl="1" indent="-560388" eaLnBrk="1" hangingPunct="1">
              <a:buFont typeface="Wingdings" panose="05000000000000000000" pitchFamily="2" charset="2"/>
              <a:buNone/>
            </a:pPr>
            <a:r>
              <a:rPr lang="en-US" b="1" dirty="0">
                <a:latin typeface="Courier New" panose="02070309020205020404" pitchFamily="49" charset="0"/>
              </a:rPr>
              <a:t>#include &lt;</a:t>
            </a:r>
            <a:r>
              <a:rPr lang="en-US" b="1" dirty="0" err="1">
                <a:latin typeface="Courier New" panose="02070309020205020404" pitchFamily="49" charset="0"/>
              </a:rPr>
              <a:t>stdio.h</a:t>
            </a:r>
            <a:r>
              <a:rPr lang="en-US" b="1" dirty="0">
                <a:latin typeface="Courier New" panose="02070309020205020404" pitchFamily="49" charset="0"/>
              </a:rPr>
              <a:t>&gt;</a:t>
            </a:r>
          </a:p>
          <a:p>
            <a:pPr lvl="1" indent="-560388" eaLnBrk="1" hangingPunct="1">
              <a:buFont typeface="Wingdings" panose="05000000000000000000" pitchFamily="2" charset="2"/>
              <a:buNone/>
            </a:pPr>
            <a:r>
              <a:rPr lang="en-US" b="1" dirty="0" err="1">
                <a:latin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</a:rPr>
              <a:t> main(</a:t>
            </a:r>
            <a:r>
              <a:rPr lang="en-US" b="1" dirty="0" err="1">
                <a:latin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</a:rPr>
              <a:t>argc</a:t>
            </a:r>
            <a:r>
              <a:rPr lang="en-US" b="1" dirty="0">
                <a:latin typeface="Courier New" panose="02070309020205020404" pitchFamily="49" charset="0"/>
              </a:rPr>
              <a:t>, char *</a:t>
            </a:r>
            <a:r>
              <a:rPr lang="en-US" b="1" dirty="0" err="1">
                <a:latin typeface="Courier New" panose="02070309020205020404" pitchFamily="49" charset="0"/>
              </a:rPr>
              <a:t>argv</a:t>
            </a:r>
            <a:r>
              <a:rPr lang="en-US" b="1" dirty="0">
                <a:latin typeface="Courier New" panose="02070309020205020404" pitchFamily="49" charset="0"/>
              </a:rPr>
              <a:t>[])</a:t>
            </a:r>
          </a:p>
          <a:p>
            <a:pPr lvl="1" indent="-560388" eaLnBrk="1" hangingPunct="1">
              <a:buFont typeface="Wingdings" panose="05000000000000000000" pitchFamily="2" charset="2"/>
              <a:buNone/>
            </a:pPr>
            <a:r>
              <a:rPr lang="en-US" b="1" dirty="0">
                <a:latin typeface="Courier New" panose="02070309020205020404" pitchFamily="49" charset="0"/>
              </a:rPr>
              <a:t>{</a:t>
            </a:r>
          </a:p>
          <a:p>
            <a:pPr lvl="1" indent="-560388" eaLnBrk="1" hangingPunct="1">
              <a:buFont typeface="Wingdings" panose="05000000000000000000" pitchFamily="2" charset="2"/>
              <a:buNone/>
            </a:pP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	 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MPI_Init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(&amp;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argc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, &amp;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argv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);</a:t>
            </a:r>
          </a:p>
          <a:p>
            <a:pPr lvl="1" indent="-560388" eaLnBrk="1" hangingPunct="1">
              <a:buFont typeface="Wingdings" panose="05000000000000000000" pitchFamily="2" charset="2"/>
              <a:buNone/>
            </a:pPr>
            <a:r>
              <a:rPr lang="en-US" b="1" dirty="0">
                <a:latin typeface="Courier New" panose="02070309020205020404" pitchFamily="49" charset="0"/>
              </a:rPr>
              <a:t>	  </a:t>
            </a:r>
            <a:r>
              <a:rPr lang="en-US" b="1" dirty="0" err="1">
                <a:latin typeface="Courier New" panose="02070309020205020404" pitchFamily="49" charset="0"/>
              </a:rPr>
              <a:t>printf</a:t>
            </a:r>
            <a:r>
              <a:rPr lang="en-US" b="1" dirty="0">
                <a:latin typeface="Courier New" panose="02070309020205020404" pitchFamily="49" charset="0"/>
              </a:rPr>
              <a:t>(</a:t>
            </a:r>
            <a:r>
              <a:rPr lang="ja-JP" altLang="en-US" b="1" dirty="0">
                <a:latin typeface="Courier New" panose="02070309020205020404" pitchFamily="49" charset="0"/>
              </a:rPr>
              <a:t>“</a:t>
            </a:r>
            <a:r>
              <a:rPr lang="en-US" altLang="ja-JP" b="1" dirty="0">
                <a:latin typeface="Courier New" panose="02070309020205020404" pitchFamily="49" charset="0"/>
              </a:rPr>
              <a:t>Hello PDC Class!\n</a:t>
            </a:r>
            <a:r>
              <a:rPr lang="ja-JP" altLang="en-US" b="1" dirty="0">
                <a:latin typeface="Courier New" panose="02070309020205020404" pitchFamily="49" charset="0"/>
              </a:rPr>
              <a:t>”</a:t>
            </a:r>
            <a:r>
              <a:rPr lang="en-US" altLang="ja-JP" b="1" dirty="0">
                <a:latin typeface="Courier New" panose="02070309020205020404" pitchFamily="49" charset="0"/>
              </a:rPr>
              <a:t>);</a:t>
            </a:r>
          </a:p>
          <a:p>
            <a:pPr lvl="1" indent="-560388" eaLnBrk="1" hangingPunct="1">
              <a:buFont typeface="Wingdings" panose="05000000000000000000" pitchFamily="2" charset="2"/>
              <a:buNone/>
            </a:pP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	 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MPI_Finalize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();</a:t>
            </a:r>
          </a:p>
          <a:p>
            <a:pPr lvl="1" indent="-560388" eaLnBrk="1" hangingPunct="1">
              <a:buFont typeface="Wingdings" panose="05000000000000000000" pitchFamily="2" charset="2"/>
              <a:buNone/>
            </a:pPr>
            <a:r>
              <a:rPr lang="en-US" b="1" dirty="0">
                <a:latin typeface="Courier New" panose="02070309020205020404" pitchFamily="49" charset="0"/>
              </a:rPr>
              <a:t>	  return 0;</a:t>
            </a:r>
          </a:p>
          <a:p>
            <a:pPr lvl="1" indent="-560388" eaLnBrk="1" hangingPunct="1">
              <a:buFont typeface="Wingdings" panose="05000000000000000000" pitchFamily="2" charset="2"/>
              <a:buNone/>
            </a:pPr>
            <a:r>
              <a:rPr lang="en-US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7341243" y="864823"/>
            <a:ext cx="1676400" cy="762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Demo: </a:t>
            </a:r>
            <a:r>
              <a:rPr lang="en-US" sz="2000" b="1" dirty="0" err="1"/>
              <a:t>hello.c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92919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Image 5" descr="Screen Shot 2016-01-18 at 8.49.2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-9525"/>
            <a:ext cx="7162800" cy="679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ounded Rectangle 8"/>
          <p:cNvSpPr/>
          <p:nvPr/>
        </p:nvSpPr>
        <p:spPr>
          <a:xfrm>
            <a:off x="6705600" y="5350532"/>
            <a:ext cx="2118891" cy="762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Demo: </a:t>
            </a:r>
            <a:r>
              <a:rPr lang="en-US" sz="2000" b="1" dirty="0" err="1"/>
              <a:t>processorName.c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37064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42E2D-60FD-A5A6-376E-897627B02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Image 5" descr="Screen Shot 2016-01-18 at 8.49.21 PM.png">
            <a:extLst>
              <a:ext uri="{FF2B5EF4-FFF2-40B4-BE49-F238E27FC236}">
                <a16:creationId xmlns:a16="http://schemas.microsoft.com/office/drawing/2014/main" id="{333DDD7C-0160-2C99-4CF4-458694116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-9525"/>
            <a:ext cx="7162800" cy="679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AutoShape 71">
            <a:extLst>
              <a:ext uri="{FF2B5EF4-FFF2-40B4-BE49-F238E27FC236}">
                <a16:creationId xmlns:a16="http://schemas.microsoft.com/office/drawing/2014/main" id="{67DF2C8B-697A-E1B0-0231-36A12E26511A}"/>
              </a:ext>
            </a:extLst>
          </p:cNvPr>
          <p:cNvSpPr>
            <a:spLocks/>
          </p:cNvSpPr>
          <p:nvPr/>
        </p:nvSpPr>
        <p:spPr bwMode="auto">
          <a:xfrm>
            <a:off x="2762250" y="76200"/>
            <a:ext cx="1752600" cy="338137"/>
          </a:xfrm>
          <a:prstGeom prst="borderCallout1">
            <a:avLst>
              <a:gd name="adj1" fmla="val 38001"/>
              <a:gd name="adj2" fmla="val 363"/>
              <a:gd name="adj3" fmla="val 7741"/>
              <a:gd name="adj4" fmla="val -45662"/>
            </a:avLst>
          </a:prstGeom>
          <a:solidFill>
            <a:srgbClr val="FFFF00"/>
          </a:solidFill>
          <a:ln w="28575" cmpd="sng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stealth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MPI header file</a:t>
            </a:r>
            <a:endParaRPr lang="fr-FR" sz="1600" kern="0" dirty="0">
              <a:solidFill>
                <a:sysClr val="windowText" lastClr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129740-E30F-525D-4C53-57AE678D439B}"/>
              </a:ext>
            </a:extLst>
          </p:cNvPr>
          <p:cNvSpPr/>
          <p:nvPr/>
        </p:nvSpPr>
        <p:spPr>
          <a:xfrm>
            <a:off x="6705600" y="5350532"/>
            <a:ext cx="2118891" cy="762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Demo: </a:t>
            </a:r>
            <a:r>
              <a:rPr lang="en-US" sz="2000" b="1" dirty="0" err="1"/>
              <a:t>processorName.c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537797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D5A3E-BCB7-2858-B421-DF1BFA300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Image 5" descr="Screen Shot 2016-01-18 at 8.49.21 PM.png">
            <a:extLst>
              <a:ext uri="{FF2B5EF4-FFF2-40B4-BE49-F238E27FC236}">
                <a16:creationId xmlns:a16="http://schemas.microsoft.com/office/drawing/2014/main" id="{E889D8BD-8E5A-0842-13C0-8DA25D9100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-9525"/>
            <a:ext cx="7162800" cy="679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AutoShape 71">
            <a:extLst>
              <a:ext uri="{FF2B5EF4-FFF2-40B4-BE49-F238E27FC236}">
                <a16:creationId xmlns:a16="http://schemas.microsoft.com/office/drawing/2014/main" id="{BE5D4FFE-D02C-4AAF-49CC-4EAA18BFC0D5}"/>
              </a:ext>
            </a:extLst>
          </p:cNvPr>
          <p:cNvSpPr>
            <a:spLocks/>
          </p:cNvSpPr>
          <p:nvPr/>
        </p:nvSpPr>
        <p:spPr bwMode="auto">
          <a:xfrm>
            <a:off x="4638674" y="-28575"/>
            <a:ext cx="4467226" cy="1569660"/>
          </a:xfrm>
          <a:prstGeom prst="borderCallout1">
            <a:avLst>
              <a:gd name="adj1" fmla="val 38001"/>
              <a:gd name="adj2" fmla="val 363"/>
              <a:gd name="adj3" fmla="val 89055"/>
              <a:gd name="adj4" fmla="val -39845"/>
            </a:avLst>
          </a:prstGeom>
          <a:solidFill>
            <a:srgbClr val="FFFF00"/>
          </a:solidFill>
          <a:ln w="28575" cmpd="sng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stealth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MPI </a:t>
            </a:r>
            <a:r>
              <a:rPr lang="fr-FR" sz="1600" b="1" dirty="0" err="1">
                <a:latin typeface="Arial" charset="0"/>
                <a:ea typeface="ＭＳ Ｐゴシック" charset="0"/>
                <a:cs typeface="ＭＳ Ｐゴシック" charset="0"/>
              </a:rPr>
              <a:t>environment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b="1" dirty="0" err="1">
                <a:latin typeface="Arial" charset="0"/>
                <a:ea typeface="ＭＳ Ｐゴシック" charset="0"/>
                <a:cs typeface="ＭＳ Ｐゴシック" charset="0"/>
              </a:rPr>
              <a:t>initialization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, all of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MPI's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b="1" dirty="0">
                <a:latin typeface="Arial" charset="0"/>
                <a:ea typeface="ＭＳ Ｐゴシック" charset="0"/>
                <a:cs typeface="ＭＳ Ｐゴシック" charset="0"/>
              </a:rPr>
              <a:t>global 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and </a:t>
            </a:r>
            <a:r>
              <a:rPr lang="fr-FR" sz="1600" b="1" dirty="0" err="1">
                <a:latin typeface="Arial" charset="0"/>
                <a:ea typeface="ＭＳ Ｐゴシック" charset="0"/>
                <a:cs typeface="ＭＳ Ｐゴシック" charset="0"/>
              </a:rPr>
              <a:t>internal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b="1" dirty="0">
                <a:latin typeface="Arial" charset="0"/>
                <a:ea typeface="ＭＳ Ｐゴシック" charset="0"/>
                <a:cs typeface="ＭＳ Ｐゴシック" charset="0"/>
              </a:rPr>
              <a:t>variables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are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constructed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. For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example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, a </a:t>
            </a:r>
            <a:r>
              <a:rPr lang="fr-FR" sz="1600" b="1" dirty="0" err="1">
                <a:latin typeface="Arial" charset="0"/>
                <a:ea typeface="ＭＳ Ｐゴシック" charset="0"/>
                <a:cs typeface="ＭＳ Ｐゴシック" charset="0"/>
              </a:rPr>
              <a:t>communicator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is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b="1" dirty="0" err="1">
                <a:latin typeface="Arial" charset="0"/>
                <a:ea typeface="ＭＳ Ｐゴシック" charset="0"/>
                <a:cs typeface="ＭＳ Ｐゴシック" charset="0"/>
              </a:rPr>
              <a:t>formed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around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all of the </a:t>
            </a:r>
            <a:r>
              <a:rPr lang="fr-FR" sz="1600" b="1" dirty="0" err="1">
                <a:latin typeface="Arial" charset="0"/>
                <a:ea typeface="ＭＳ Ｐゴシック" charset="0"/>
                <a:cs typeface="ＭＳ Ｐゴシック" charset="0"/>
              </a:rPr>
              <a:t>processes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that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were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b="1" dirty="0" err="1">
                <a:latin typeface="Arial" charset="0"/>
                <a:ea typeface="ＭＳ Ｐゴシック" charset="0"/>
                <a:cs typeface="ＭＳ Ｐゴシック" charset="0"/>
              </a:rPr>
              <a:t>spawned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, and </a:t>
            </a:r>
            <a:r>
              <a:rPr lang="fr-FR" sz="1600" b="1" dirty="0">
                <a:latin typeface="Arial" charset="0"/>
                <a:ea typeface="ＭＳ Ｐゴシック" charset="0"/>
                <a:cs typeface="ＭＳ Ｐゴシック" charset="0"/>
              </a:rPr>
              <a:t>unique </a:t>
            </a:r>
            <a:r>
              <a:rPr lang="fr-FR" sz="1600" b="1" dirty="0" err="1">
                <a:latin typeface="Arial" charset="0"/>
                <a:ea typeface="ＭＳ Ｐゴシック" charset="0"/>
                <a:cs typeface="ＭＳ Ｐゴシック" charset="0"/>
              </a:rPr>
              <a:t>ranks</a:t>
            </a:r>
            <a:r>
              <a:rPr lang="fr-FR" sz="1600" b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are </a:t>
            </a:r>
            <a:r>
              <a:rPr lang="fr-FR" sz="1600" b="1" dirty="0" err="1">
                <a:latin typeface="Arial" charset="0"/>
                <a:ea typeface="ＭＳ Ｐゴシック" charset="0"/>
                <a:cs typeface="ＭＳ Ｐゴシック" charset="0"/>
              </a:rPr>
              <a:t>assigned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to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each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process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. </a:t>
            </a:r>
            <a:endParaRPr lang="fr-FR" sz="1600" kern="0" dirty="0">
              <a:solidFill>
                <a:sysClr val="windowText" lastClr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CD8A6E3-02B9-8909-E61C-5C9E708ED116}"/>
              </a:ext>
            </a:extLst>
          </p:cNvPr>
          <p:cNvSpPr/>
          <p:nvPr/>
        </p:nvSpPr>
        <p:spPr>
          <a:xfrm>
            <a:off x="6705600" y="5350532"/>
            <a:ext cx="2118891" cy="762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Demo: </a:t>
            </a:r>
            <a:r>
              <a:rPr lang="en-US" sz="2000" b="1" dirty="0" err="1"/>
              <a:t>processorName.c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81051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6E2F3-0F8E-B297-F5CA-1EA5AEE68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Image 5" descr="Screen Shot 2016-01-18 at 8.49.21 PM.png">
            <a:extLst>
              <a:ext uri="{FF2B5EF4-FFF2-40B4-BE49-F238E27FC236}">
                <a16:creationId xmlns:a16="http://schemas.microsoft.com/office/drawing/2014/main" id="{15ECBABB-AAF8-6E20-DCBB-E56B9FD78F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-9525"/>
            <a:ext cx="7162800" cy="679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AutoShape 71">
            <a:extLst>
              <a:ext uri="{FF2B5EF4-FFF2-40B4-BE49-F238E27FC236}">
                <a16:creationId xmlns:a16="http://schemas.microsoft.com/office/drawing/2014/main" id="{39C21D1D-AD72-C3C8-9424-1CB4654445D0}"/>
              </a:ext>
            </a:extLst>
          </p:cNvPr>
          <p:cNvSpPr>
            <a:spLocks/>
          </p:cNvSpPr>
          <p:nvPr/>
        </p:nvSpPr>
        <p:spPr bwMode="auto">
          <a:xfrm>
            <a:off x="5257800" y="1584284"/>
            <a:ext cx="3848100" cy="1569660"/>
          </a:xfrm>
          <a:prstGeom prst="borderCallout1">
            <a:avLst>
              <a:gd name="adj1" fmla="val 99163"/>
              <a:gd name="adj2" fmla="val 50456"/>
              <a:gd name="adj3" fmla="val 53476"/>
              <a:gd name="adj4" fmla="val -31609"/>
            </a:avLst>
          </a:prstGeom>
          <a:solidFill>
            <a:srgbClr val="FFFF00"/>
          </a:solidFill>
          <a:ln w="28575" cmpd="sng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stealth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MPI_Comm_size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returns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the </a:t>
            </a:r>
            <a:r>
              <a:rPr lang="fr-FR" sz="1600" b="1" dirty="0">
                <a:latin typeface="Arial" charset="0"/>
                <a:ea typeface="ＭＳ Ｐゴシック" charset="0"/>
                <a:cs typeface="ＭＳ Ｐゴシック" charset="0"/>
              </a:rPr>
              <a:t>size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of a </a:t>
            </a:r>
            <a:r>
              <a:rPr lang="fr-FR" sz="1600" b="1" dirty="0" err="1">
                <a:latin typeface="Arial" charset="0"/>
                <a:ea typeface="ＭＳ Ｐゴシック" charset="0"/>
                <a:cs typeface="ＭＳ Ｐゴシック" charset="0"/>
              </a:rPr>
              <a:t>communicator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.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Here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, MPI_COMM_WORLD encloses all of the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processes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so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this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call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should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return the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amount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of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processes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that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were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requested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for the job.</a:t>
            </a:r>
            <a:endParaRPr lang="fr-FR" sz="1600" kern="0" dirty="0">
              <a:solidFill>
                <a:sysClr val="windowText" lastClr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3854FAD-0388-51D8-9855-1AEBCC9A776E}"/>
              </a:ext>
            </a:extLst>
          </p:cNvPr>
          <p:cNvSpPr/>
          <p:nvPr/>
        </p:nvSpPr>
        <p:spPr>
          <a:xfrm>
            <a:off x="6705600" y="5350532"/>
            <a:ext cx="2118891" cy="762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Demo: </a:t>
            </a:r>
            <a:r>
              <a:rPr lang="en-US" sz="2000" b="1" dirty="0" err="1"/>
              <a:t>processorName.c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8527978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B3335-25F0-C742-DC2D-E7A037FF7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Image 5" descr="Screen Shot 2016-01-18 at 8.49.21 PM.png">
            <a:extLst>
              <a:ext uri="{FF2B5EF4-FFF2-40B4-BE49-F238E27FC236}">
                <a16:creationId xmlns:a16="http://schemas.microsoft.com/office/drawing/2014/main" id="{335F4CEF-6DFE-4A34-E030-ACBF1142D4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-9525"/>
            <a:ext cx="7162800" cy="679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AutoShape 71">
            <a:extLst>
              <a:ext uri="{FF2B5EF4-FFF2-40B4-BE49-F238E27FC236}">
                <a16:creationId xmlns:a16="http://schemas.microsoft.com/office/drawing/2014/main" id="{D87DD499-B1C6-24B4-548B-9EF1DC9985E5}"/>
              </a:ext>
            </a:extLst>
          </p:cNvPr>
          <p:cNvSpPr>
            <a:spLocks/>
          </p:cNvSpPr>
          <p:nvPr/>
        </p:nvSpPr>
        <p:spPr bwMode="auto">
          <a:xfrm>
            <a:off x="152400" y="3733800"/>
            <a:ext cx="4267200" cy="1323975"/>
          </a:xfrm>
          <a:prstGeom prst="borderCallout1">
            <a:avLst>
              <a:gd name="adj1" fmla="val -1652"/>
              <a:gd name="adj2" fmla="val 43674"/>
              <a:gd name="adj3" fmla="val -30464"/>
              <a:gd name="adj4" fmla="val 29315"/>
            </a:avLst>
          </a:prstGeom>
          <a:solidFill>
            <a:srgbClr val="FFFF00"/>
          </a:solidFill>
          <a:ln w="28575" cmpd="sng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stealth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MPI_Comm_rank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returns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the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rank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of a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process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in a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communicator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.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Ranks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are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incremental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starting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from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zero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and are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primarily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used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for identification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purposes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during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send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/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receive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  <a:endParaRPr lang="fr-FR" sz="1600" kern="0" dirty="0">
              <a:solidFill>
                <a:sysClr val="windowText" lastClr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A59A65F-5A7B-D8DF-6F5B-2B74652E81D1}"/>
              </a:ext>
            </a:extLst>
          </p:cNvPr>
          <p:cNvSpPr/>
          <p:nvPr/>
        </p:nvSpPr>
        <p:spPr>
          <a:xfrm>
            <a:off x="6705600" y="5350532"/>
            <a:ext cx="2118891" cy="762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Demo: </a:t>
            </a:r>
            <a:r>
              <a:rPr lang="en-US" sz="2000" b="1" dirty="0" err="1"/>
              <a:t>processorName.c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416918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B71E9-61F5-912B-4F4C-52B62FE65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Image 5" descr="Screen Shot 2016-01-18 at 8.49.21 PM.png">
            <a:extLst>
              <a:ext uri="{FF2B5EF4-FFF2-40B4-BE49-F238E27FC236}">
                <a16:creationId xmlns:a16="http://schemas.microsoft.com/office/drawing/2014/main" id="{E2A6BBCB-4870-0435-1CD0-AB4D3F28C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-9525"/>
            <a:ext cx="7162800" cy="679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AutoShape 71">
            <a:extLst>
              <a:ext uri="{FF2B5EF4-FFF2-40B4-BE49-F238E27FC236}">
                <a16:creationId xmlns:a16="http://schemas.microsoft.com/office/drawing/2014/main" id="{F1922AFA-62D3-2B89-2666-50E042B1F825}"/>
              </a:ext>
            </a:extLst>
          </p:cNvPr>
          <p:cNvSpPr>
            <a:spLocks/>
          </p:cNvSpPr>
          <p:nvPr/>
        </p:nvSpPr>
        <p:spPr bwMode="auto">
          <a:xfrm>
            <a:off x="6438900" y="4144458"/>
            <a:ext cx="2667000" cy="1077218"/>
          </a:xfrm>
          <a:prstGeom prst="borderCallout1">
            <a:avLst>
              <a:gd name="adj1" fmla="val 38001"/>
              <a:gd name="adj2" fmla="val 363"/>
              <a:gd name="adj3" fmla="val 31373"/>
              <a:gd name="adj4" fmla="val -20576"/>
            </a:avLst>
          </a:prstGeom>
          <a:solidFill>
            <a:srgbClr val="FFFF00"/>
          </a:solidFill>
          <a:ln w="28575" cmpd="sng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stealth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MPI_Get_processor_name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obtains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the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actual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name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of the processor on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which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the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process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is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1600" dirty="0" err="1">
                <a:latin typeface="Arial" charset="0"/>
                <a:ea typeface="ＭＳ Ｐゴシック" charset="0"/>
                <a:cs typeface="ＭＳ Ｐゴシック" charset="0"/>
              </a:rPr>
              <a:t>executing</a:t>
            </a: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77C0CF3-A910-1F04-9FE2-F2D35C3EF42C}"/>
              </a:ext>
            </a:extLst>
          </p:cNvPr>
          <p:cNvSpPr/>
          <p:nvPr/>
        </p:nvSpPr>
        <p:spPr>
          <a:xfrm>
            <a:off x="6705600" y="5350532"/>
            <a:ext cx="2118891" cy="762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Demo: </a:t>
            </a:r>
            <a:r>
              <a:rPr lang="en-US" sz="2000" b="1" dirty="0" err="1"/>
              <a:t>processorName.c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142147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4A320-A470-EF4F-47CF-E5D87ECC1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Image 5" descr="Screen Shot 2016-01-18 at 8.49.21 PM.png">
            <a:extLst>
              <a:ext uri="{FF2B5EF4-FFF2-40B4-BE49-F238E27FC236}">
                <a16:creationId xmlns:a16="http://schemas.microsoft.com/office/drawing/2014/main" id="{360C3202-5D01-27A0-8C9F-237918ACF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-9525"/>
            <a:ext cx="7162800" cy="679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AutoShape 71">
            <a:extLst>
              <a:ext uri="{FF2B5EF4-FFF2-40B4-BE49-F238E27FC236}">
                <a16:creationId xmlns:a16="http://schemas.microsoft.com/office/drawing/2014/main" id="{CA3E1FB6-1FB3-98C3-CA73-00E12C86333E}"/>
              </a:ext>
            </a:extLst>
          </p:cNvPr>
          <p:cNvSpPr>
            <a:spLocks/>
          </p:cNvSpPr>
          <p:nvPr/>
        </p:nvSpPr>
        <p:spPr bwMode="auto">
          <a:xfrm>
            <a:off x="4620419" y="6218239"/>
            <a:ext cx="2999581" cy="338137"/>
          </a:xfrm>
          <a:prstGeom prst="borderCallout1">
            <a:avLst>
              <a:gd name="adj1" fmla="val 38001"/>
              <a:gd name="adj2" fmla="val 363"/>
              <a:gd name="adj3" fmla="val -40651"/>
              <a:gd name="adj4" fmla="val -40223"/>
            </a:avLst>
          </a:prstGeom>
          <a:solidFill>
            <a:srgbClr val="FFFF00"/>
          </a:solidFill>
          <a:ln w="28575" cmpd="sng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stealth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600" dirty="0">
                <a:latin typeface="Arial" charset="0"/>
                <a:ea typeface="ＭＳ Ｐゴシック" charset="0"/>
                <a:cs typeface="ＭＳ Ｐゴシック" charset="0"/>
              </a:rPr>
              <a:t>clean up the MPI environnent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B024C21-C511-AA34-CAED-EC861A29D213}"/>
              </a:ext>
            </a:extLst>
          </p:cNvPr>
          <p:cNvSpPr/>
          <p:nvPr/>
        </p:nvSpPr>
        <p:spPr>
          <a:xfrm>
            <a:off x="6705600" y="5350532"/>
            <a:ext cx="2118891" cy="762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Demo: </a:t>
            </a:r>
            <a:r>
              <a:rPr lang="en-US" sz="2000" b="1" dirty="0" err="1"/>
              <a:t>processorName.c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95825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364F8-EB8D-E6C7-483D-E4EF0A389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Image 5" descr="Screen Shot 2016-01-18 at 8.49.21 PM.png">
            <a:extLst>
              <a:ext uri="{FF2B5EF4-FFF2-40B4-BE49-F238E27FC236}">
                <a16:creationId xmlns:a16="http://schemas.microsoft.com/office/drawing/2014/main" id="{FB4F1E8C-2D7A-1395-8FF9-D7B0E8A929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-9525"/>
            <a:ext cx="7162800" cy="679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1180BDC-C54F-6ED1-C166-E06097CAA21C}"/>
              </a:ext>
            </a:extLst>
          </p:cNvPr>
          <p:cNvSpPr/>
          <p:nvPr/>
        </p:nvSpPr>
        <p:spPr>
          <a:xfrm>
            <a:off x="6705600" y="5350532"/>
            <a:ext cx="2118891" cy="762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Demo: </a:t>
            </a:r>
            <a:r>
              <a:rPr lang="en-US" sz="2000" b="1" dirty="0" err="1"/>
              <a:t>processorName.c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612089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38100"/>
            <a:ext cx="9133573" cy="678181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fr-FR" b="1" dirty="0" err="1">
                <a:solidFill>
                  <a:srgbClr val="C00000"/>
                </a:solidFill>
                <a:ea typeface="+mj-ea"/>
              </a:rPr>
              <a:t>Compiling</a:t>
            </a:r>
            <a:r>
              <a:rPr lang="fr-FR" b="1" dirty="0">
                <a:solidFill>
                  <a:srgbClr val="C00000"/>
                </a:solidFill>
                <a:ea typeface="+mj-ea"/>
              </a:rPr>
              <a:t> MPICH Program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300" y="838200"/>
            <a:ext cx="9029700" cy="5334000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en-US" sz="2800" b="1" dirty="0"/>
              <a:t>Regular C applications:</a:t>
            </a:r>
            <a:endParaRPr lang="en-US" sz="2000" b="1" dirty="0">
              <a:latin typeface="Courier New" panose="02070309020205020404" pitchFamily="49" charset="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latin typeface="Courier New" panose="02070309020205020404" pitchFamily="49" charset="0"/>
              </a:rPr>
              <a:t>  </a:t>
            </a:r>
            <a:r>
              <a:rPr lang="en-US" sz="2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gcc</a:t>
            </a: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2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hello_world.c</a:t>
            </a: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</a:rPr>
              <a:t> –o </a:t>
            </a:r>
            <a:r>
              <a:rPr lang="en-US" sz="2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hello_world</a:t>
            </a:r>
            <a:endParaRPr lang="en-US" sz="2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05000"/>
              </a:lnSpc>
            </a:pPr>
            <a:endParaRPr lang="en-US" sz="2400" dirty="0"/>
          </a:p>
          <a:p>
            <a:pPr>
              <a:lnSpc>
                <a:spcPct val="105000"/>
              </a:lnSpc>
            </a:pPr>
            <a:endParaRPr lang="en-US" sz="2400" dirty="0"/>
          </a:p>
          <a:p>
            <a:pPr>
              <a:lnSpc>
                <a:spcPct val="105000"/>
              </a:lnSpc>
            </a:pPr>
            <a:endParaRPr lang="en-US" sz="2400" dirty="0"/>
          </a:p>
          <a:p>
            <a:pPr>
              <a:lnSpc>
                <a:spcPct val="105000"/>
              </a:lnSpc>
            </a:pPr>
            <a:r>
              <a:rPr lang="en-US" sz="2800" b="1" dirty="0"/>
              <a:t>MPI based C applications</a:t>
            </a:r>
          </a:p>
          <a:p>
            <a:pPr marL="457200" lvl="1" indent="0" algn="ctr">
              <a:lnSpc>
                <a:spcPct val="105000"/>
              </a:lnSpc>
              <a:buNone/>
            </a:pPr>
            <a:r>
              <a:rPr lang="en-US" sz="2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mpicc</a:t>
            </a: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2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mpi_hello_world.c</a:t>
            </a: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</a:rPr>
              <a:t> –o </a:t>
            </a:r>
            <a:r>
              <a:rPr lang="en-US" sz="26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mpi_hello_world</a:t>
            </a:r>
            <a:endParaRPr lang="en-US" sz="2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366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38100"/>
            <a:ext cx="9129562" cy="678181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fr-FR" b="1" dirty="0">
                <a:solidFill>
                  <a:srgbClr val="C00000"/>
                </a:solidFill>
                <a:ea typeface="+mj-ea"/>
              </a:rPr>
              <a:t>Running MPICH Program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6200" y="914400"/>
            <a:ext cx="8991600" cy="5715000"/>
          </a:xfrm>
        </p:spPr>
        <p:txBody>
          <a:bodyPr>
            <a:normAutofit/>
          </a:bodyPr>
          <a:lstStyle/>
          <a:p>
            <a:pPr>
              <a:lnSpc>
                <a:spcPct val="105000"/>
              </a:lnSpc>
            </a:pPr>
            <a:r>
              <a:rPr lang="en-US" sz="2800" b="1" dirty="0"/>
              <a:t>Regular C applications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latin typeface="Courier New" panose="02070309020205020404" pitchFamily="49" charset="0"/>
              </a:rPr>
              <a:t>	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./</a:t>
            </a:r>
            <a:r>
              <a:rPr lang="en-US" sz="28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hello_world</a:t>
            </a:r>
            <a:endParaRPr lang="en-US" sz="2800" dirty="0">
              <a:solidFill>
                <a:srgbClr val="FF0000"/>
              </a:solidFill>
            </a:endParaRPr>
          </a:p>
          <a:p>
            <a:pPr>
              <a:lnSpc>
                <a:spcPct val="105000"/>
              </a:lnSpc>
            </a:pPr>
            <a:endParaRPr lang="en-US" sz="2800" dirty="0"/>
          </a:p>
          <a:p>
            <a:pPr>
              <a:lnSpc>
                <a:spcPct val="105000"/>
              </a:lnSpc>
            </a:pPr>
            <a:endParaRPr lang="en-US" sz="2800" dirty="0"/>
          </a:p>
          <a:p>
            <a:pPr>
              <a:lnSpc>
                <a:spcPct val="105000"/>
              </a:lnSpc>
            </a:pPr>
            <a:r>
              <a:rPr lang="en-US" sz="2800" b="1" dirty="0"/>
              <a:t>MPI based C applications </a:t>
            </a:r>
            <a:r>
              <a:rPr lang="en-US" sz="2800" dirty="0"/>
              <a:t>(running with 16 processes)</a:t>
            </a:r>
          </a:p>
          <a:p>
            <a:pPr marL="457200" lvl="1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	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mpiexec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 –n 16 ./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mpi_hello_world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851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38100"/>
            <a:ext cx="9091863" cy="67818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fr-FR" sz="4000" b="1" dirty="0">
                <a:solidFill>
                  <a:srgbClr val="C00000"/>
                </a:solidFill>
                <a:ea typeface="+mj-ea"/>
              </a:rPr>
              <a:t>Running MPICH Program on a Cluster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6200" y="793282"/>
            <a:ext cx="8991600" cy="6064718"/>
          </a:xfrm>
        </p:spPr>
        <p:txBody>
          <a:bodyPr/>
          <a:lstStyle/>
          <a:p>
            <a:pPr>
              <a:lnSpc>
                <a:spcPct val="105000"/>
              </a:lnSpc>
              <a:defRPr/>
            </a:pPr>
            <a:r>
              <a:rPr lang="fr-FR" sz="2400" b="1" dirty="0">
                <a:solidFill>
                  <a:srgbClr val="2C14DE"/>
                </a:solidFill>
              </a:rPr>
              <a:t>On Clusters</a:t>
            </a:r>
            <a:r>
              <a:rPr lang="fr-FR" sz="2400" dirty="0"/>
              <a:t>, </a:t>
            </a:r>
            <a:r>
              <a:rPr lang="fr-FR" sz="2400" dirty="0" err="1">
                <a:ea typeface="+mn-ea"/>
              </a:rPr>
              <a:t>you</a:t>
            </a:r>
            <a:r>
              <a:rPr lang="fr-FR" sz="2400" dirty="0">
                <a:ea typeface="+mn-ea"/>
              </a:rPr>
              <a:t> </a:t>
            </a:r>
            <a:r>
              <a:rPr lang="fr-FR" sz="2400" dirty="0" err="1">
                <a:ea typeface="+mn-ea"/>
              </a:rPr>
              <a:t>will</a:t>
            </a:r>
            <a:r>
              <a:rPr lang="fr-FR" sz="2400" dirty="0">
                <a:ea typeface="+mn-ea"/>
              </a:rPr>
              <a:t> </a:t>
            </a:r>
            <a:r>
              <a:rPr lang="fr-FR" sz="2400" b="1" dirty="0">
                <a:solidFill>
                  <a:srgbClr val="2C14DE"/>
                </a:solidFill>
                <a:ea typeface="+mn-ea"/>
              </a:rPr>
              <a:t>have to set up a host file </a:t>
            </a:r>
            <a:r>
              <a:rPr lang="fr-FR" sz="2400" dirty="0">
                <a:ea typeface="+mn-ea"/>
              </a:rPr>
              <a:t>(</a:t>
            </a:r>
            <a:r>
              <a:rPr lang="fr-FR" sz="2400" dirty="0" err="1">
                <a:ea typeface="+mn-ea"/>
              </a:rPr>
              <a:t>named</a:t>
            </a:r>
            <a:r>
              <a:rPr lang="fr-FR" sz="2400" dirty="0">
                <a:ea typeface="+mn-ea"/>
              </a:rPr>
              <a:t> </a:t>
            </a:r>
            <a:r>
              <a:rPr lang="fr-FR" sz="2400" dirty="0" err="1">
                <a:solidFill>
                  <a:srgbClr val="2C14DE"/>
                </a:solidFill>
                <a:ea typeface="+mn-ea"/>
              </a:rPr>
              <a:t>machinefile</a:t>
            </a:r>
            <a:r>
              <a:rPr lang="fr-FR" sz="2400" dirty="0">
                <a:solidFill>
                  <a:srgbClr val="2C14DE"/>
                </a:solidFill>
                <a:ea typeface="+mn-ea"/>
              </a:rPr>
              <a:t> </a:t>
            </a:r>
            <a:r>
              <a:rPr lang="fr-FR" sz="2400" dirty="0">
                <a:ea typeface="+mn-ea"/>
              </a:rPr>
              <a:t>in </a:t>
            </a:r>
            <a:r>
              <a:rPr lang="fr-FR" sz="2400" dirty="0" err="1">
                <a:ea typeface="+mn-ea"/>
              </a:rPr>
              <a:t>our</a:t>
            </a:r>
            <a:r>
              <a:rPr lang="fr-FR" sz="2400" dirty="0">
                <a:ea typeface="+mn-ea"/>
              </a:rPr>
              <a:t> </a:t>
            </a:r>
            <a:r>
              <a:rPr lang="fr-FR" sz="2400" dirty="0" err="1">
                <a:ea typeface="+mn-ea"/>
              </a:rPr>
              <a:t>earlier</a:t>
            </a:r>
            <a:r>
              <a:rPr lang="fr-FR" sz="2400" dirty="0">
                <a:ea typeface="+mn-ea"/>
              </a:rPr>
              <a:t> </a:t>
            </a:r>
            <a:r>
              <a:rPr lang="fr-FR" sz="2400" dirty="0" err="1">
                <a:ea typeface="+mn-ea"/>
              </a:rPr>
              <a:t>demo</a:t>
            </a:r>
            <a:r>
              <a:rPr lang="fr-FR" sz="2400" dirty="0">
                <a:ea typeface="+mn-ea"/>
              </a:rPr>
              <a:t>)</a:t>
            </a:r>
          </a:p>
          <a:p>
            <a:pPr marL="0" indent="0">
              <a:lnSpc>
                <a:spcPct val="105000"/>
              </a:lnSpc>
              <a:buNone/>
              <a:defRPr/>
            </a:pPr>
            <a:r>
              <a:rPr lang="fr-FR" sz="2400" dirty="0">
                <a:ea typeface="+mn-ea"/>
              </a:rPr>
              <a:t> </a:t>
            </a:r>
          </a:p>
          <a:p>
            <a:pPr>
              <a:lnSpc>
                <a:spcPct val="105000"/>
              </a:lnSpc>
              <a:defRPr/>
            </a:pPr>
            <a:r>
              <a:rPr lang="fr-FR" sz="2400" dirty="0">
                <a:ea typeface="+mn-ea"/>
              </a:rPr>
              <a:t>The </a:t>
            </a:r>
            <a:r>
              <a:rPr lang="fr-FR" sz="2400" b="1" dirty="0">
                <a:ea typeface="+mn-ea"/>
              </a:rPr>
              <a:t>host file</a:t>
            </a:r>
            <a:r>
              <a:rPr lang="fr-FR" sz="2400" dirty="0">
                <a:ea typeface="+mn-ea"/>
              </a:rPr>
              <a:t> </a:t>
            </a:r>
            <a:r>
              <a:rPr lang="fr-FR" sz="2400" dirty="0" err="1">
                <a:ea typeface="+mn-ea"/>
              </a:rPr>
              <a:t>contains</a:t>
            </a:r>
            <a:r>
              <a:rPr lang="fr-FR" sz="2400" dirty="0">
                <a:ea typeface="+mn-ea"/>
              </a:rPr>
              <a:t> </a:t>
            </a:r>
            <a:r>
              <a:rPr lang="fr-FR" sz="2400" b="1" dirty="0" err="1">
                <a:ea typeface="+mn-ea"/>
              </a:rPr>
              <a:t>names</a:t>
            </a:r>
            <a:r>
              <a:rPr lang="fr-FR" sz="2400" dirty="0">
                <a:ea typeface="+mn-ea"/>
              </a:rPr>
              <a:t> of all of the </a:t>
            </a:r>
            <a:r>
              <a:rPr lang="fr-FR" sz="2400" b="1" dirty="0" err="1">
                <a:ea typeface="+mn-ea"/>
              </a:rPr>
              <a:t>nodes</a:t>
            </a:r>
            <a:r>
              <a:rPr lang="fr-FR" sz="2400" dirty="0">
                <a:ea typeface="+mn-ea"/>
              </a:rPr>
              <a:t> on </a:t>
            </a:r>
            <a:r>
              <a:rPr lang="fr-FR" sz="2400" dirty="0" err="1">
                <a:ea typeface="+mn-ea"/>
              </a:rPr>
              <a:t>which</a:t>
            </a:r>
            <a:r>
              <a:rPr lang="fr-FR" sz="2400" dirty="0">
                <a:ea typeface="+mn-ea"/>
              </a:rPr>
              <a:t> </a:t>
            </a:r>
            <a:r>
              <a:rPr lang="fr-FR" sz="2400" dirty="0" err="1">
                <a:ea typeface="+mn-ea"/>
              </a:rPr>
              <a:t>your</a:t>
            </a:r>
            <a:r>
              <a:rPr lang="fr-FR" sz="2400" dirty="0">
                <a:ea typeface="+mn-ea"/>
              </a:rPr>
              <a:t> </a:t>
            </a:r>
            <a:r>
              <a:rPr lang="fr-FR" sz="2400" b="1" dirty="0">
                <a:ea typeface="+mn-ea"/>
              </a:rPr>
              <a:t>MPI job </a:t>
            </a:r>
            <a:r>
              <a:rPr lang="fr-FR" sz="2400" b="1" dirty="0" err="1">
                <a:ea typeface="+mn-ea"/>
              </a:rPr>
              <a:t>will</a:t>
            </a:r>
            <a:r>
              <a:rPr lang="fr-FR" sz="2400" b="1" dirty="0">
                <a:ea typeface="+mn-ea"/>
              </a:rPr>
              <a:t> </a:t>
            </a:r>
            <a:r>
              <a:rPr lang="fr-FR" sz="2400" b="1" dirty="0" err="1">
                <a:ea typeface="+mn-ea"/>
              </a:rPr>
              <a:t>execute</a:t>
            </a:r>
            <a:endParaRPr lang="fr-FR" sz="2400" dirty="0">
              <a:ea typeface="+mn-ea"/>
            </a:endParaRPr>
          </a:p>
          <a:p>
            <a:pPr>
              <a:lnSpc>
                <a:spcPct val="105000"/>
              </a:lnSpc>
              <a:defRPr/>
            </a:pPr>
            <a:endParaRPr lang="fr-FR" sz="2400" dirty="0">
              <a:ea typeface="+mn-ea"/>
            </a:endParaRPr>
          </a:p>
          <a:p>
            <a:pPr>
              <a:lnSpc>
                <a:spcPct val="105000"/>
              </a:lnSpc>
              <a:defRPr/>
            </a:pPr>
            <a:r>
              <a:rPr lang="fr-FR" sz="2400" dirty="0" err="1">
                <a:ea typeface="+mn-ea"/>
              </a:rPr>
              <a:t>Example</a:t>
            </a:r>
            <a:r>
              <a:rPr lang="fr-FR" sz="2400" dirty="0">
                <a:ea typeface="+mn-ea"/>
              </a:rPr>
              <a:t> (</a:t>
            </a:r>
            <a:r>
              <a:rPr lang="fr-FR" sz="2400" i="1" dirty="0" err="1">
                <a:ea typeface="+mn-ea"/>
              </a:rPr>
              <a:t>machinefile</a:t>
            </a:r>
            <a:r>
              <a:rPr lang="fr-FR" sz="2400" dirty="0">
                <a:ea typeface="+mn-ea"/>
              </a:rPr>
              <a:t> contents):</a:t>
            </a:r>
          </a:p>
          <a:p>
            <a:pPr marL="400050" lvl="1" indent="0">
              <a:buFontTx/>
              <a:buNone/>
              <a:defRPr/>
            </a:pPr>
            <a:endParaRPr lang="fr-FR" sz="1800" i="1" dirty="0">
              <a:ea typeface="+mn-ea"/>
            </a:endParaRPr>
          </a:p>
          <a:p>
            <a:pPr marL="800100" lvl="2" indent="0">
              <a:buFontTx/>
              <a:buNone/>
              <a:defRPr/>
            </a:pPr>
            <a:r>
              <a:rPr lang="fr-FR" sz="2000" i="1" dirty="0">
                <a:ea typeface="+mn-ea"/>
              </a:rPr>
              <a:t>slave1:4  # </a:t>
            </a:r>
            <a:r>
              <a:rPr lang="fr-FR" sz="2000" i="1" dirty="0" err="1">
                <a:ea typeface="+mn-ea"/>
              </a:rPr>
              <a:t>this</a:t>
            </a:r>
            <a:r>
              <a:rPr lang="fr-FR" sz="2000" i="1" dirty="0">
                <a:ea typeface="+mn-ea"/>
              </a:rPr>
              <a:t> </a:t>
            </a:r>
            <a:r>
              <a:rPr lang="fr-FR" sz="2000" i="1" dirty="0" err="1">
                <a:ea typeface="+mn-ea"/>
              </a:rPr>
              <a:t>will</a:t>
            </a:r>
            <a:r>
              <a:rPr lang="fr-FR" sz="2000" i="1" dirty="0">
                <a:ea typeface="+mn-ea"/>
              </a:rPr>
              <a:t> </a:t>
            </a:r>
            <a:r>
              <a:rPr lang="fr-FR" sz="2000" i="1" dirty="0" err="1">
                <a:ea typeface="+mn-ea"/>
              </a:rPr>
              <a:t>spawn</a:t>
            </a:r>
            <a:r>
              <a:rPr lang="fr-FR" sz="2000" i="1" dirty="0">
                <a:ea typeface="+mn-ea"/>
              </a:rPr>
              <a:t> 4 </a:t>
            </a:r>
            <a:r>
              <a:rPr lang="fr-FR" sz="2000" i="1" dirty="0" err="1">
                <a:ea typeface="+mn-ea"/>
              </a:rPr>
              <a:t>processes</a:t>
            </a:r>
            <a:r>
              <a:rPr lang="fr-FR" sz="2000" i="1" dirty="0">
                <a:ea typeface="+mn-ea"/>
              </a:rPr>
              <a:t> on slave1</a:t>
            </a:r>
          </a:p>
          <a:p>
            <a:pPr marL="800100" lvl="2" indent="0">
              <a:buFontTx/>
              <a:buNone/>
              <a:defRPr/>
            </a:pPr>
            <a:r>
              <a:rPr lang="fr-FR" sz="2000" i="1" dirty="0">
                <a:ea typeface="+mn-ea"/>
              </a:rPr>
              <a:t>master:2  # </a:t>
            </a:r>
            <a:r>
              <a:rPr lang="fr-FR" sz="2000" i="1" dirty="0" err="1">
                <a:ea typeface="+mn-ea"/>
              </a:rPr>
              <a:t>this</a:t>
            </a:r>
            <a:r>
              <a:rPr lang="fr-FR" sz="2000" i="1" dirty="0">
                <a:ea typeface="+mn-ea"/>
              </a:rPr>
              <a:t> </a:t>
            </a:r>
            <a:r>
              <a:rPr lang="fr-FR" sz="2000" i="1" dirty="0" err="1">
                <a:ea typeface="+mn-ea"/>
              </a:rPr>
              <a:t>will</a:t>
            </a:r>
            <a:r>
              <a:rPr lang="fr-FR" sz="2000" i="1" dirty="0">
                <a:ea typeface="+mn-ea"/>
              </a:rPr>
              <a:t> </a:t>
            </a:r>
            <a:r>
              <a:rPr lang="fr-FR" sz="2000" i="1" dirty="0" err="1">
                <a:ea typeface="+mn-ea"/>
              </a:rPr>
              <a:t>spawn</a:t>
            </a:r>
            <a:r>
              <a:rPr lang="fr-FR" sz="2000" i="1" dirty="0">
                <a:ea typeface="+mn-ea"/>
              </a:rPr>
              <a:t> 2 </a:t>
            </a:r>
            <a:r>
              <a:rPr lang="fr-FR" sz="2000" i="1" dirty="0" err="1">
                <a:ea typeface="+mn-ea"/>
              </a:rPr>
              <a:t>processes</a:t>
            </a:r>
            <a:r>
              <a:rPr lang="fr-FR" sz="2000" i="1" dirty="0">
                <a:ea typeface="+mn-ea"/>
              </a:rPr>
              <a:t> on master</a:t>
            </a:r>
          </a:p>
          <a:p>
            <a:pPr>
              <a:lnSpc>
                <a:spcPct val="105000"/>
              </a:lnSpc>
              <a:defRPr/>
            </a:pPr>
            <a:endParaRPr lang="fr-FR" sz="2800" dirty="0">
              <a:ea typeface="+mn-ea"/>
            </a:endParaRPr>
          </a:p>
          <a:p>
            <a:pPr>
              <a:lnSpc>
                <a:spcPct val="105000"/>
              </a:lnSpc>
              <a:defRPr/>
            </a:pPr>
            <a:r>
              <a:rPr lang="fr-FR" sz="2400" dirty="0">
                <a:ea typeface="+mn-ea"/>
              </a:rPr>
              <a:t>and </a:t>
            </a:r>
            <a:r>
              <a:rPr lang="fr-FR" sz="2400" dirty="0" err="1">
                <a:ea typeface="+mn-ea"/>
              </a:rPr>
              <a:t>executed</a:t>
            </a:r>
            <a:r>
              <a:rPr lang="fr-FR" sz="2400" dirty="0">
                <a:ea typeface="+mn-ea"/>
              </a:rPr>
              <a:t> </a:t>
            </a:r>
            <a:r>
              <a:rPr lang="fr-FR" sz="2400" dirty="0" err="1">
                <a:ea typeface="+mn-ea"/>
              </a:rPr>
              <a:t>it</a:t>
            </a:r>
            <a:r>
              <a:rPr lang="fr-FR" sz="2400" dirty="0">
                <a:ea typeface="+mn-ea"/>
              </a:rPr>
              <a:t> </a:t>
            </a:r>
            <a:r>
              <a:rPr lang="fr-FR" sz="2400" dirty="0" err="1">
                <a:ea typeface="+mn-ea"/>
              </a:rPr>
              <a:t>using</a:t>
            </a:r>
            <a:r>
              <a:rPr lang="fr-FR" sz="2400" dirty="0">
                <a:ea typeface="+mn-ea"/>
              </a:rPr>
              <a:t> </a:t>
            </a:r>
          </a:p>
          <a:p>
            <a:pPr marL="0" indent="0" algn="ctr">
              <a:lnSpc>
                <a:spcPct val="105000"/>
              </a:lnSpc>
              <a:buFontTx/>
              <a:buNone/>
              <a:defRPr/>
            </a:pPr>
            <a:r>
              <a:rPr lang="fr-FR" sz="2400" b="1" dirty="0">
                <a:solidFill>
                  <a:srgbClr val="FF3300"/>
                </a:solidFill>
                <a:ea typeface="+mn-ea"/>
              </a:rPr>
              <a:t>	</a:t>
            </a:r>
            <a:r>
              <a:rPr lang="fr-FR" sz="2400" b="1" dirty="0" err="1">
                <a:solidFill>
                  <a:srgbClr val="FF3300"/>
                </a:solidFill>
                <a:ea typeface="+mn-ea"/>
              </a:rPr>
              <a:t>mpiexec</a:t>
            </a:r>
            <a:r>
              <a:rPr lang="fr-FR" sz="2400" b="1" dirty="0">
                <a:solidFill>
                  <a:srgbClr val="FF3300"/>
                </a:solidFill>
                <a:ea typeface="+mn-ea"/>
              </a:rPr>
              <a:t> -n 8 -f </a:t>
            </a:r>
            <a:r>
              <a:rPr lang="fr-FR" sz="2400" b="1" dirty="0" err="1">
                <a:solidFill>
                  <a:srgbClr val="FF3300"/>
                </a:solidFill>
                <a:ea typeface="+mn-ea"/>
              </a:rPr>
              <a:t>machinefile</a:t>
            </a:r>
            <a:r>
              <a:rPr lang="fr-FR" sz="2400" b="1" dirty="0">
                <a:solidFill>
                  <a:srgbClr val="FF3300"/>
                </a:solidFill>
                <a:ea typeface="+mn-ea"/>
              </a:rPr>
              <a:t> ./</a:t>
            </a:r>
            <a:r>
              <a:rPr lang="fr-FR" sz="2400" b="1" dirty="0" err="1">
                <a:solidFill>
                  <a:srgbClr val="FF3300"/>
                </a:solidFill>
                <a:ea typeface="+mn-ea"/>
              </a:rPr>
              <a:t>mpi_hello</a:t>
            </a:r>
            <a:endParaRPr lang="fr-FR" sz="2400" b="1" dirty="0">
              <a:solidFill>
                <a:srgbClr val="FF3300"/>
              </a:solidFill>
              <a:ea typeface="+mn-ea"/>
            </a:endParaRPr>
          </a:p>
          <a:p>
            <a:pPr>
              <a:lnSpc>
                <a:spcPct val="105000"/>
              </a:lnSpc>
              <a:defRPr/>
            </a:pPr>
            <a:endParaRPr lang="fr-FR" sz="2400" dirty="0">
              <a:ea typeface="+mn-ea"/>
            </a:endParaRPr>
          </a:p>
          <a:p>
            <a:pPr marL="0" indent="0">
              <a:lnSpc>
                <a:spcPct val="105000"/>
              </a:lnSpc>
              <a:buFontTx/>
              <a:buNone/>
              <a:defRPr/>
            </a:pPr>
            <a:endParaRPr lang="en-US" sz="2400" dirty="0">
              <a:ea typeface="+mn-e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1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38100"/>
            <a:ext cx="9139187" cy="7239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fr-FR" b="1" dirty="0">
                <a:solidFill>
                  <a:srgbClr val="C00000"/>
                </a:solidFill>
                <a:ea typeface="+mj-ea"/>
              </a:rPr>
              <a:t>Running MPICH Program on a Cluster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6200" y="914400"/>
            <a:ext cx="8991600" cy="5867400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fr-FR" sz="2800" dirty="0"/>
              <a:t>As </a:t>
            </a:r>
            <a:r>
              <a:rPr lang="fr-FR" sz="2800" dirty="0" err="1"/>
              <a:t>shown</a:t>
            </a:r>
            <a:r>
              <a:rPr lang="fr-FR" sz="2800" dirty="0"/>
              <a:t>, the </a:t>
            </a:r>
            <a:r>
              <a:rPr lang="fr-FR" sz="2800" b="1" dirty="0"/>
              <a:t>MPI </a:t>
            </a:r>
            <a:r>
              <a:rPr lang="fr-FR" sz="2800" b="1" dirty="0">
                <a:solidFill>
                  <a:srgbClr val="2C14DE"/>
                </a:solidFill>
              </a:rPr>
              <a:t>program</a:t>
            </a:r>
            <a:r>
              <a:rPr lang="fr-FR" sz="2800" b="1" dirty="0"/>
              <a:t> </a:t>
            </a:r>
            <a:r>
              <a:rPr lang="fr-FR" sz="2800" dirty="0" err="1"/>
              <a:t>was</a:t>
            </a:r>
            <a:r>
              <a:rPr lang="fr-FR" sz="2800" dirty="0"/>
              <a:t> </a:t>
            </a:r>
            <a:r>
              <a:rPr lang="fr-FR" sz="2800" b="1" dirty="0" err="1">
                <a:solidFill>
                  <a:srgbClr val="2C14DE"/>
                </a:solidFill>
              </a:rPr>
              <a:t>launched</a:t>
            </a:r>
            <a:r>
              <a:rPr lang="fr-FR" sz="2800" b="1" dirty="0">
                <a:solidFill>
                  <a:srgbClr val="2C14DE"/>
                </a:solidFill>
              </a:rPr>
              <a:t> </a:t>
            </a:r>
            <a:r>
              <a:rPr lang="fr-FR" sz="2800" b="1" dirty="0" err="1"/>
              <a:t>across</a:t>
            </a:r>
            <a:r>
              <a:rPr lang="fr-FR" sz="2800" dirty="0"/>
              <a:t> </a:t>
            </a:r>
            <a:r>
              <a:rPr lang="fr-FR" sz="2800" b="1" dirty="0">
                <a:solidFill>
                  <a:srgbClr val="2C14DE"/>
                </a:solidFill>
              </a:rPr>
              <a:t>all</a:t>
            </a:r>
            <a:r>
              <a:rPr lang="fr-FR" sz="2800" dirty="0">
                <a:solidFill>
                  <a:srgbClr val="2C14DE"/>
                </a:solidFill>
              </a:rPr>
              <a:t> </a:t>
            </a:r>
            <a:r>
              <a:rPr lang="fr-FR" sz="2800" dirty="0"/>
              <a:t>of </a:t>
            </a:r>
            <a:r>
              <a:rPr lang="fr-FR" sz="2800" b="1" dirty="0"/>
              <a:t>the </a:t>
            </a:r>
            <a:r>
              <a:rPr lang="fr-FR" sz="2800" b="1" dirty="0">
                <a:solidFill>
                  <a:srgbClr val="2C14DE"/>
                </a:solidFill>
              </a:rPr>
              <a:t>hosts</a:t>
            </a:r>
            <a:r>
              <a:rPr lang="fr-FR" sz="2800" b="1" dirty="0"/>
              <a:t> </a:t>
            </a:r>
            <a:r>
              <a:rPr lang="fr-FR" sz="2800" dirty="0"/>
              <a:t>in </a:t>
            </a:r>
            <a:r>
              <a:rPr lang="fr-FR" sz="2800" b="1" i="1" dirty="0" err="1">
                <a:solidFill>
                  <a:srgbClr val="C00000"/>
                </a:solidFill>
              </a:rPr>
              <a:t>machinefile</a:t>
            </a:r>
            <a:endParaRPr lang="fr-FR" sz="2800" b="1" dirty="0">
              <a:solidFill>
                <a:srgbClr val="C00000"/>
              </a:solidFill>
            </a:endParaRPr>
          </a:p>
          <a:p>
            <a:pPr algn="just">
              <a:defRPr/>
            </a:pPr>
            <a:endParaRPr lang="fr-FR" sz="2800" dirty="0"/>
          </a:p>
          <a:p>
            <a:pPr algn="just">
              <a:defRPr/>
            </a:pPr>
            <a:r>
              <a:rPr lang="fr-FR" sz="2800" b="1" u="sng" dirty="0" err="1">
                <a:solidFill>
                  <a:srgbClr val="2C14DE"/>
                </a:solidFill>
              </a:rPr>
              <a:t>Each</a:t>
            </a:r>
            <a:r>
              <a:rPr lang="fr-FR" sz="2800" b="1" u="sng" dirty="0">
                <a:solidFill>
                  <a:srgbClr val="2C14DE"/>
                </a:solidFill>
              </a:rPr>
              <a:t> </a:t>
            </a:r>
            <a:r>
              <a:rPr lang="fr-FR" sz="2800" b="1" u="sng" dirty="0" err="1">
                <a:solidFill>
                  <a:srgbClr val="2C14DE"/>
                </a:solidFill>
              </a:rPr>
              <a:t>process</a:t>
            </a:r>
            <a:r>
              <a:rPr lang="fr-FR" sz="2800" b="1" u="sng" dirty="0">
                <a:solidFill>
                  <a:srgbClr val="2C14DE"/>
                </a:solidFill>
              </a:rPr>
              <a:t> </a:t>
            </a:r>
            <a:r>
              <a:rPr lang="fr-FR" sz="2800" dirty="0" err="1"/>
              <a:t>was</a:t>
            </a:r>
            <a:r>
              <a:rPr lang="fr-FR" sz="2800" dirty="0"/>
              <a:t> </a:t>
            </a:r>
            <a:r>
              <a:rPr lang="fr-FR" sz="2800" b="1" dirty="0" err="1">
                <a:solidFill>
                  <a:srgbClr val="2C14DE"/>
                </a:solidFill>
              </a:rPr>
              <a:t>assigned</a:t>
            </a:r>
            <a:r>
              <a:rPr lang="fr-FR" sz="2800" dirty="0">
                <a:solidFill>
                  <a:srgbClr val="2C14DE"/>
                </a:solidFill>
              </a:rPr>
              <a:t> </a:t>
            </a:r>
            <a:r>
              <a:rPr lang="fr-FR" sz="2800" dirty="0"/>
              <a:t>a </a:t>
            </a:r>
            <a:r>
              <a:rPr lang="fr-FR" sz="2800" b="1" dirty="0">
                <a:solidFill>
                  <a:srgbClr val="2C14DE"/>
                </a:solidFill>
              </a:rPr>
              <a:t>unique </a:t>
            </a:r>
            <a:r>
              <a:rPr lang="fr-FR" sz="2800" b="1" dirty="0" err="1">
                <a:solidFill>
                  <a:srgbClr val="2C14DE"/>
                </a:solidFill>
              </a:rPr>
              <a:t>rank</a:t>
            </a:r>
            <a:r>
              <a:rPr lang="fr-FR" sz="2800" dirty="0"/>
              <a:t>, </a:t>
            </a:r>
            <a:r>
              <a:rPr lang="fr-FR" sz="2800" dirty="0" err="1"/>
              <a:t>which</a:t>
            </a:r>
            <a:r>
              <a:rPr lang="fr-FR" sz="2800" dirty="0"/>
              <a:t> </a:t>
            </a:r>
            <a:r>
              <a:rPr lang="fr-FR" sz="2800" dirty="0" err="1"/>
              <a:t>was</a:t>
            </a:r>
            <a:r>
              <a:rPr lang="fr-FR" sz="2800" dirty="0"/>
              <a:t> </a:t>
            </a:r>
            <a:r>
              <a:rPr lang="fr-FR" sz="2800" dirty="0" err="1"/>
              <a:t>printed</a:t>
            </a:r>
            <a:r>
              <a:rPr lang="fr-FR" sz="2800" dirty="0"/>
              <a:t> off </a:t>
            </a:r>
            <a:r>
              <a:rPr lang="fr-FR" sz="2800" b="1" dirty="0" err="1"/>
              <a:t>along</a:t>
            </a:r>
            <a:r>
              <a:rPr lang="fr-FR" sz="2800" b="1" dirty="0"/>
              <a:t> </a:t>
            </a:r>
            <a:r>
              <a:rPr lang="fr-FR" sz="2800" b="1" dirty="0" err="1"/>
              <a:t>with</a:t>
            </a:r>
            <a:r>
              <a:rPr lang="fr-FR" sz="2800" b="1" dirty="0"/>
              <a:t> </a:t>
            </a:r>
            <a:r>
              <a:rPr lang="fr-FR" sz="2800" dirty="0"/>
              <a:t>the </a:t>
            </a:r>
            <a:r>
              <a:rPr lang="fr-FR" sz="2800" b="1" dirty="0" err="1"/>
              <a:t>process</a:t>
            </a:r>
            <a:r>
              <a:rPr lang="fr-FR" sz="2800" b="1" dirty="0"/>
              <a:t> </a:t>
            </a:r>
            <a:r>
              <a:rPr lang="fr-FR" sz="2800" b="1" dirty="0" err="1"/>
              <a:t>name</a:t>
            </a:r>
            <a:r>
              <a:rPr lang="fr-FR" sz="2800" dirty="0"/>
              <a:t>. </a:t>
            </a:r>
          </a:p>
          <a:p>
            <a:pPr algn="just">
              <a:defRPr/>
            </a:pPr>
            <a:endParaRPr lang="fr-FR" sz="2800" dirty="0"/>
          </a:p>
          <a:p>
            <a:pPr algn="just">
              <a:defRPr/>
            </a:pPr>
            <a:r>
              <a:rPr lang="fr-FR" sz="2800" dirty="0"/>
              <a:t>The </a:t>
            </a:r>
            <a:r>
              <a:rPr lang="fr-FR" sz="2800" b="1" dirty="0">
                <a:solidFill>
                  <a:srgbClr val="2C14DE"/>
                </a:solidFill>
              </a:rPr>
              <a:t>output</a:t>
            </a:r>
            <a:r>
              <a:rPr lang="fr-FR" sz="2800" dirty="0">
                <a:solidFill>
                  <a:srgbClr val="2C14DE"/>
                </a:solidFill>
              </a:rPr>
              <a:t> </a:t>
            </a:r>
            <a:r>
              <a:rPr lang="fr-FR" sz="2800" dirty="0"/>
              <a:t>of the </a:t>
            </a:r>
            <a:r>
              <a:rPr lang="fr-FR" sz="2800" b="1" dirty="0" err="1"/>
              <a:t>processes</a:t>
            </a:r>
            <a:r>
              <a:rPr lang="fr-FR" sz="2800" dirty="0"/>
              <a:t> </a:t>
            </a:r>
            <a:r>
              <a:rPr lang="fr-FR" sz="2800" dirty="0" err="1"/>
              <a:t>is</a:t>
            </a:r>
            <a:r>
              <a:rPr lang="fr-FR" sz="2800" dirty="0"/>
              <a:t> in an </a:t>
            </a:r>
            <a:r>
              <a:rPr lang="fr-FR" sz="2800" b="1" dirty="0" err="1">
                <a:solidFill>
                  <a:srgbClr val="2C14DE"/>
                </a:solidFill>
              </a:rPr>
              <a:t>arbitrary</a:t>
            </a:r>
            <a:r>
              <a:rPr lang="fr-FR" sz="2800" b="1" dirty="0">
                <a:solidFill>
                  <a:srgbClr val="2C14DE"/>
                </a:solidFill>
              </a:rPr>
              <a:t> </a:t>
            </a:r>
            <a:r>
              <a:rPr lang="fr-FR" sz="2800" b="1" dirty="0" err="1">
                <a:solidFill>
                  <a:srgbClr val="2C14DE"/>
                </a:solidFill>
              </a:rPr>
              <a:t>order</a:t>
            </a:r>
            <a:r>
              <a:rPr lang="fr-FR" sz="2800" b="1" dirty="0">
                <a:solidFill>
                  <a:srgbClr val="2C14DE"/>
                </a:solidFill>
              </a:rPr>
              <a:t> </a:t>
            </a:r>
            <a:r>
              <a:rPr lang="fr-FR" sz="2800" dirty="0" err="1"/>
              <a:t>since</a:t>
            </a:r>
            <a:r>
              <a:rPr lang="fr-FR" sz="2800" dirty="0"/>
              <a:t> </a:t>
            </a:r>
            <a:r>
              <a:rPr lang="fr-FR" sz="2800" dirty="0" err="1"/>
              <a:t>there</a:t>
            </a:r>
            <a:r>
              <a:rPr lang="fr-FR" sz="2800" dirty="0"/>
              <a:t> </a:t>
            </a:r>
            <a:r>
              <a:rPr lang="fr-FR" sz="2800" dirty="0" err="1"/>
              <a:t>is</a:t>
            </a:r>
            <a:r>
              <a:rPr lang="fr-FR" sz="2800" dirty="0"/>
              <a:t> </a:t>
            </a:r>
            <a:r>
              <a:rPr lang="fr-FR" sz="2800" b="1" u="sng" dirty="0">
                <a:solidFill>
                  <a:srgbClr val="2C14DE"/>
                </a:solidFill>
              </a:rPr>
              <a:t>no </a:t>
            </a:r>
            <a:r>
              <a:rPr lang="fr-FR" sz="2800" b="1" u="sng" dirty="0" err="1">
                <a:solidFill>
                  <a:srgbClr val="2C14DE"/>
                </a:solidFill>
              </a:rPr>
              <a:t>synchronization</a:t>
            </a:r>
            <a:r>
              <a:rPr lang="fr-FR" sz="2800" b="1" u="sng" dirty="0">
                <a:solidFill>
                  <a:srgbClr val="2C14DE"/>
                </a:solidFill>
              </a:rPr>
              <a:t> </a:t>
            </a:r>
            <a:r>
              <a:rPr lang="fr-FR" sz="2800" b="1" u="sng" dirty="0" err="1">
                <a:solidFill>
                  <a:srgbClr val="2C14DE"/>
                </a:solidFill>
              </a:rPr>
              <a:t>involved</a:t>
            </a:r>
            <a:r>
              <a:rPr lang="fr-FR" sz="2800" b="1" u="sng" dirty="0">
                <a:solidFill>
                  <a:srgbClr val="2C14DE"/>
                </a:solidFill>
              </a:rPr>
              <a:t> </a:t>
            </a:r>
            <a:r>
              <a:rPr lang="fr-FR" sz="2800" b="1" dirty="0" err="1"/>
              <a:t>before</a:t>
            </a:r>
            <a:r>
              <a:rPr lang="fr-FR" sz="2800" b="1" dirty="0"/>
              <a:t> printing</a:t>
            </a:r>
            <a:endParaRPr lang="fr-FR" sz="2800" dirty="0"/>
          </a:p>
        </p:txBody>
      </p:sp>
      <p:sp>
        <p:nvSpPr>
          <p:cNvPr id="4" name="Rectangle 3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4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6417"/>
            <a:ext cx="9067800" cy="72269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fr-FR" b="1" dirty="0">
                <a:solidFill>
                  <a:srgbClr val="C00000"/>
                </a:solidFill>
                <a:ea typeface="+mj-ea"/>
              </a:rPr>
              <a:t>Congratulations !!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90500" y="914400"/>
            <a:ext cx="8686800" cy="5486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sz="2800" dirty="0">
                <a:ea typeface="+mn-ea"/>
              </a:rPr>
              <a:t>You </a:t>
            </a:r>
            <a:r>
              <a:rPr lang="fr-FR" sz="2800" dirty="0" err="1">
                <a:ea typeface="+mn-ea"/>
              </a:rPr>
              <a:t>now</a:t>
            </a:r>
            <a:r>
              <a:rPr lang="fr-FR" sz="2800" dirty="0">
                <a:ea typeface="+mn-ea"/>
              </a:rPr>
              <a:t> have a </a:t>
            </a:r>
            <a:r>
              <a:rPr lang="fr-FR" sz="2800" b="1" dirty="0">
                <a:ea typeface="+mn-ea"/>
              </a:rPr>
              <a:t>basic </a:t>
            </a:r>
            <a:r>
              <a:rPr lang="fr-FR" sz="2800" b="1" dirty="0" err="1">
                <a:ea typeface="+mn-ea"/>
              </a:rPr>
              <a:t>understanding</a:t>
            </a:r>
            <a:r>
              <a:rPr lang="fr-FR" sz="2800" b="1" dirty="0">
                <a:ea typeface="+mn-ea"/>
              </a:rPr>
              <a:t> </a:t>
            </a:r>
            <a:r>
              <a:rPr lang="fr-FR" sz="2800" dirty="0">
                <a:ea typeface="+mn-ea"/>
              </a:rPr>
              <a:t>about </a:t>
            </a:r>
            <a:r>
              <a:rPr lang="fr-FR" sz="2800" b="1" dirty="0">
                <a:ea typeface="+mn-ea"/>
              </a:rPr>
              <a:t>how MPI </a:t>
            </a:r>
            <a:r>
              <a:rPr lang="fr-FR" sz="2800" b="1" dirty="0" err="1">
                <a:ea typeface="+mn-ea"/>
              </a:rPr>
              <a:t>works</a:t>
            </a:r>
            <a:endParaRPr lang="fr-FR" sz="2800" dirty="0"/>
          </a:p>
          <a:p>
            <a:pPr>
              <a:defRPr/>
            </a:pPr>
            <a:endParaRPr lang="fr-FR" sz="2800" dirty="0">
              <a:ea typeface="+mn-ea"/>
            </a:endParaRPr>
          </a:p>
          <a:p>
            <a:pPr>
              <a:defRPr/>
            </a:pPr>
            <a:r>
              <a:rPr lang="fr-FR" sz="2800" b="1" dirty="0" err="1">
                <a:ea typeface="+mn-ea"/>
              </a:rPr>
              <a:t>Even</a:t>
            </a:r>
            <a:r>
              <a:rPr lang="fr-FR" sz="2800" b="1" dirty="0">
                <a:ea typeface="+mn-ea"/>
              </a:rPr>
              <a:t> </a:t>
            </a:r>
            <a:r>
              <a:rPr lang="fr-FR" sz="2800" b="1" dirty="0" err="1">
                <a:ea typeface="+mn-ea"/>
              </a:rPr>
              <a:t>better</a:t>
            </a:r>
            <a:r>
              <a:rPr lang="fr-FR" sz="2800" b="1" dirty="0">
                <a:ea typeface="+mn-ea"/>
              </a:rPr>
              <a:t>, </a:t>
            </a:r>
            <a:r>
              <a:rPr lang="fr-FR" sz="2800" b="1" dirty="0" err="1">
                <a:ea typeface="+mn-ea"/>
              </a:rPr>
              <a:t>you</a:t>
            </a:r>
            <a:r>
              <a:rPr lang="fr-FR" sz="2800" b="1" dirty="0">
                <a:ea typeface="+mn-ea"/>
              </a:rPr>
              <a:t> </a:t>
            </a:r>
            <a:r>
              <a:rPr lang="fr-FR" sz="2800" b="1" dirty="0" err="1">
                <a:ea typeface="+mn-ea"/>
              </a:rPr>
              <a:t>already</a:t>
            </a:r>
            <a:r>
              <a:rPr lang="fr-FR" sz="2800" b="1" dirty="0">
                <a:ea typeface="+mn-ea"/>
              </a:rPr>
              <a:t> have a cluster </a:t>
            </a:r>
            <a:r>
              <a:rPr lang="fr-FR" sz="2800" dirty="0">
                <a:ea typeface="+mn-ea"/>
              </a:rPr>
              <a:t>and </a:t>
            </a:r>
            <a:r>
              <a:rPr lang="fr-FR" sz="2800" dirty="0" err="1">
                <a:ea typeface="+mn-ea"/>
              </a:rPr>
              <a:t>you</a:t>
            </a:r>
            <a:r>
              <a:rPr lang="fr-FR" sz="2800" dirty="0">
                <a:ea typeface="+mn-ea"/>
              </a:rPr>
              <a:t> </a:t>
            </a:r>
            <a:r>
              <a:rPr lang="fr-FR" sz="2800" dirty="0" err="1">
                <a:ea typeface="+mn-ea"/>
              </a:rPr>
              <a:t>can</a:t>
            </a:r>
            <a:r>
              <a:rPr lang="fr-FR" sz="2800" dirty="0">
                <a:ea typeface="+mn-ea"/>
              </a:rPr>
              <a:t> </a:t>
            </a:r>
            <a:r>
              <a:rPr lang="fr-FR" sz="2800" dirty="0" err="1">
                <a:ea typeface="+mn-ea"/>
              </a:rPr>
              <a:t>write</a:t>
            </a:r>
            <a:r>
              <a:rPr lang="fr-FR" sz="2800" dirty="0">
                <a:ea typeface="+mn-ea"/>
              </a:rPr>
              <a:t> </a:t>
            </a:r>
            <a:r>
              <a:rPr lang="fr-FR" sz="2800" dirty="0" err="1">
                <a:ea typeface="+mn-ea"/>
              </a:rPr>
              <a:t>parallel</a:t>
            </a:r>
            <a:r>
              <a:rPr lang="fr-FR" sz="2800" dirty="0">
                <a:ea typeface="+mn-ea"/>
              </a:rPr>
              <a:t> programs !!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6753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286000"/>
            <a:ext cx="8382000" cy="72269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fr-FR" b="1" u="sng" dirty="0">
                <a:solidFill>
                  <a:srgbClr val="C00000"/>
                </a:solidFill>
                <a:ea typeface="+mj-ea"/>
              </a:rPr>
              <a:t>Point-to-Point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6396487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7646"/>
            <a:ext cx="9053362" cy="69863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000" b="1" dirty="0">
                <a:solidFill>
                  <a:srgbClr val="C00000"/>
                </a:solidFill>
                <a:ea typeface="+mj-ea"/>
              </a:rPr>
              <a:t>Data Messages</a:t>
            </a:r>
          </a:p>
        </p:txBody>
      </p:sp>
      <p:sp>
        <p:nvSpPr>
          <p:cNvPr id="476163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990601"/>
            <a:ext cx="9067800" cy="14478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spcBef>
                <a:spcPct val="40000"/>
              </a:spcBef>
              <a:tabLst>
                <a:tab pos="4381500" algn="l"/>
                <a:tab pos="4483100" algn="l"/>
              </a:tabLst>
              <a:defRPr/>
            </a:pPr>
            <a:r>
              <a:rPr lang="en-US" sz="3000" dirty="0">
                <a:ea typeface="+mn-ea"/>
              </a:rPr>
              <a:t>A </a:t>
            </a:r>
            <a:r>
              <a:rPr lang="en-US" sz="3000" b="1" dirty="0">
                <a:solidFill>
                  <a:srgbClr val="C00000"/>
                </a:solidFill>
                <a:ea typeface="+mn-ea"/>
              </a:rPr>
              <a:t>message</a:t>
            </a:r>
            <a:r>
              <a:rPr lang="en-US" sz="3000" dirty="0">
                <a:ea typeface="+mn-ea"/>
              </a:rPr>
              <a:t> </a:t>
            </a:r>
            <a:r>
              <a:rPr lang="en-US" sz="3000" b="1" dirty="0">
                <a:solidFill>
                  <a:srgbClr val="2C14DE"/>
                </a:solidFill>
                <a:ea typeface="+mn-ea"/>
              </a:rPr>
              <a:t>contains</a:t>
            </a:r>
            <a:r>
              <a:rPr lang="en-US" sz="3000" dirty="0">
                <a:solidFill>
                  <a:srgbClr val="2C14DE"/>
                </a:solidFill>
                <a:ea typeface="+mn-ea"/>
              </a:rPr>
              <a:t> </a:t>
            </a:r>
            <a:r>
              <a:rPr lang="en-US" sz="3000" dirty="0">
                <a:ea typeface="+mn-ea"/>
              </a:rPr>
              <a:t>a </a:t>
            </a:r>
            <a:r>
              <a:rPr lang="en-US" sz="3000" b="1" dirty="0">
                <a:solidFill>
                  <a:srgbClr val="2C14DE"/>
                </a:solidFill>
                <a:ea typeface="+mn-ea"/>
              </a:rPr>
              <a:t>number of elements </a:t>
            </a:r>
            <a:r>
              <a:rPr lang="en-US" sz="3000" dirty="0">
                <a:ea typeface="+mn-ea"/>
              </a:rPr>
              <a:t>of some </a:t>
            </a:r>
            <a:r>
              <a:rPr lang="en-US" sz="3000" b="1" dirty="0">
                <a:solidFill>
                  <a:srgbClr val="2C14DE"/>
                </a:solidFill>
                <a:ea typeface="+mn-ea"/>
              </a:rPr>
              <a:t>particular </a:t>
            </a:r>
            <a:r>
              <a:rPr lang="en-US" sz="3000" b="1" dirty="0" err="1">
                <a:solidFill>
                  <a:srgbClr val="2C14DE"/>
                </a:solidFill>
                <a:ea typeface="+mn-ea"/>
              </a:rPr>
              <a:t>datatype</a:t>
            </a:r>
            <a:endParaRPr lang="en-US" sz="3000" dirty="0">
              <a:solidFill>
                <a:srgbClr val="2C14DE"/>
              </a:solidFill>
              <a:ea typeface="+mn-ea"/>
            </a:endParaRPr>
          </a:p>
        </p:txBody>
      </p:sp>
      <p:sp>
        <p:nvSpPr>
          <p:cNvPr id="476164" name="Rectangle 4"/>
          <p:cNvSpPr>
            <a:spLocks noChangeArrowheads="1"/>
          </p:cNvSpPr>
          <p:nvPr/>
        </p:nvSpPr>
        <p:spPr bwMode="auto">
          <a:xfrm>
            <a:off x="2514600" y="3657600"/>
            <a:ext cx="762000" cy="304800"/>
          </a:xfrm>
          <a:prstGeom prst="rect">
            <a:avLst/>
          </a:prstGeom>
          <a:solidFill>
            <a:srgbClr val="FFCC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r>
              <a:rPr lang="en-US" sz="1800">
                <a:latin typeface="Arial" charset="0"/>
                <a:ea typeface="ＭＳ Ｐゴシック" charset="0"/>
                <a:cs typeface="ＭＳ Ｐゴシック" charset="0"/>
              </a:rPr>
              <a:t>2345</a:t>
            </a:r>
          </a:p>
        </p:txBody>
      </p:sp>
      <p:sp>
        <p:nvSpPr>
          <p:cNvPr id="476165" name="Rectangle 5"/>
          <p:cNvSpPr>
            <a:spLocks noChangeArrowheads="1"/>
          </p:cNvSpPr>
          <p:nvPr/>
        </p:nvSpPr>
        <p:spPr bwMode="auto">
          <a:xfrm>
            <a:off x="3276600" y="3657600"/>
            <a:ext cx="762000" cy="304800"/>
          </a:xfrm>
          <a:prstGeom prst="rect">
            <a:avLst/>
          </a:prstGeom>
          <a:solidFill>
            <a:srgbClr val="FFCC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r>
              <a:rPr lang="en-US" sz="1800">
                <a:latin typeface="Arial" charset="0"/>
                <a:ea typeface="ＭＳ Ｐゴシック" charset="0"/>
                <a:cs typeface="ＭＳ Ｐゴシック" charset="0"/>
              </a:rPr>
              <a:t>654</a:t>
            </a:r>
          </a:p>
        </p:txBody>
      </p:sp>
      <p:sp>
        <p:nvSpPr>
          <p:cNvPr id="476166" name="Rectangle 6"/>
          <p:cNvSpPr>
            <a:spLocks noChangeArrowheads="1"/>
          </p:cNvSpPr>
          <p:nvPr/>
        </p:nvSpPr>
        <p:spPr bwMode="auto">
          <a:xfrm>
            <a:off x="4038600" y="3657600"/>
            <a:ext cx="762000" cy="304800"/>
          </a:xfrm>
          <a:prstGeom prst="rect">
            <a:avLst/>
          </a:prstGeom>
          <a:solidFill>
            <a:srgbClr val="FFCC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r>
              <a:rPr lang="en-US" sz="1800">
                <a:latin typeface="Arial" charset="0"/>
                <a:ea typeface="ＭＳ Ｐゴシック" charset="0"/>
                <a:cs typeface="ＭＳ Ｐゴシック" charset="0"/>
              </a:rPr>
              <a:t>96574</a:t>
            </a:r>
          </a:p>
        </p:txBody>
      </p:sp>
      <p:sp>
        <p:nvSpPr>
          <p:cNvPr id="476167" name="Rectangle 7"/>
          <p:cNvSpPr>
            <a:spLocks noChangeArrowheads="1"/>
          </p:cNvSpPr>
          <p:nvPr/>
        </p:nvSpPr>
        <p:spPr bwMode="auto">
          <a:xfrm>
            <a:off x="4800600" y="3657600"/>
            <a:ext cx="762000" cy="304800"/>
          </a:xfrm>
          <a:prstGeom prst="rect">
            <a:avLst/>
          </a:prstGeom>
          <a:solidFill>
            <a:srgbClr val="FFCC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r>
              <a:rPr lang="en-US" sz="1800">
                <a:latin typeface="Arial" charset="0"/>
                <a:ea typeface="ＭＳ Ｐゴシック" charset="0"/>
                <a:cs typeface="ＭＳ Ｐゴシック" charset="0"/>
              </a:rPr>
              <a:t>-12</a:t>
            </a:r>
          </a:p>
        </p:txBody>
      </p:sp>
      <p:sp>
        <p:nvSpPr>
          <p:cNvPr id="476168" name="Rectangle 8"/>
          <p:cNvSpPr>
            <a:spLocks noChangeArrowheads="1"/>
          </p:cNvSpPr>
          <p:nvPr/>
        </p:nvSpPr>
        <p:spPr bwMode="auto">
          <a:xfrm>
            <a:off x="5562600" y="3657600"/>
            <a:ext cx="780448" cy="317634"/>
          </a:xfrm>
          <a:prstGeom prst="rect">
            <a:avLst/>
          </a:prstGeom>
          <a:solidFill>
            <a:srgbClr val="FFCC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r>
              <a:rPr lang="en-US" sz="1800">
                <a:latin typeface="Arial" charset="0"/>
                <a:ea typeface="ＭＳ Ｐゴシック" charset="0"/>
                <a:cs typeface="ＭＳ Ｐゴシック" charset="0"/>
              </a:rPr>
              <a:t>7676</a:t>
            </a:r>
          </a:p>
        </p:txBody>
      </p:sp>
      <p:sp>
        <p:nvSpPr>
          <p:cNvPr id="476169" name="Text Box 9"/>
          <p:cNvSpPr txBox="1">
            <a:spLocks noChangeArrowheads="1"/>
          </p:cNvSpPr>
          <p:nvPr/>
        </p:nvSpPr>
        <p:spPr bwMode="auto">
          <a:xfrm>
            <a:off x="2403851" y="3200400"/>
            <a:ext cx="3939197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sz="1800" b="1" dirty="0">
                <a:latin typeface="Arial" charset="0"/>
                <a:ea typeface="ＭＳ Ｐゴシック" charset="0"/>
                <a:cs typeface="ＭＳ Ｐゴシック" charset="0"/>
              </a:rPr>
              <a:t>Example: message with 5 integers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612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3898"/>
            <a:ext cx="9105900" cy="77896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4000" b="1" dirty="0">
                <a:solidFill>
                  <a:srgbClr val="C00000"/>
                </a:solidFill>
                <a:ea typeface="+mj-ea"/>
              </a:rPr>
              <a:t>Point-to-Point Communication</a:t>
            </a:r>
          </a:p>
        </p:txBody>
      </p:sp>
      <p:sp>
        <p:nvSpPr>
          <p:cNvPr id="479235" name="Rectangle 3"/>
          <p:cNvSpPr>
            <a:spLocks noGrp="1" noChangeArrowheads="1"/>
          </p:cNvSpPr>
          <p:nvPr>
            <p:ph idx="1"/>
          </p:nvPr>
        </p:nvSpPr>
        <p:spPr>
          <a:xfrm>
            <a:off x="114300" y="822860"/>
            <a:ext cx="8991600" cy="60351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sz="2800" b="1" dirty="0">
                <a:solidFill>
                  <a:srgbClr val="C00000"/>
                </a:solidFill>
                <a:ea typeface="+mn-ea"/>
              </a:rPr>
              <a:t>Communication</a:t>
            </a:r>
            <a:r>
              <a:rPr lang="en-US" sz="2800" dirty="0">
                <a:solidFill>
                  <a:srgbClr val="C00000"/>
                </a:solidFill>
                <a:ea typeface="+mn-ea"/>
              </a:rPr>
              <a:t> </a:t>
            </a:r>
            <a:r>
              <a:rPr lang="en-US" sz="2800" b="1" dirty="0">
                <a:ea typeface="+mn-ea"/>
              </a:rPr>
              <a:t>between</a:t>
            </a:r>
            <a:r>
              <a:rPr lang="en-US" sz="2800" dirty="0">
                <a:ea typeface="+mn-ea"/>
              </a:rPr>
              <a:t> </a:t>
            </a:r>
            <a:r>
              <a:rPr lang="en-US" sz="2800" b="1" dirty="0">
                <a:solidFill>
                  <a:srgbClr val="2C14DE"/>
                </a:solidFill>
                <a:ea typeface="+mn-ea"/>
              </a:rPr>
              <a:t>two processes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sz="2800" b="1" dirty="0">
                <a:solidFill>
                  <a:srgbClr val="2C14DE"/>
                </a:solidFill>
                <a:ea typeface="+mn-ea"/>
              </a:rPr>
              <a:t>Source</a:t>
            </a:r>
            <a:r>
              <a:rPr lang="en-US" sz="2800" dirty="0">
                <a:ea typeface="+mn-ea"/>
              </a:rPr>
              <a:t> process </a:t>
            </a:r>
            <a:r>
              <a:rPr lang="en-US" sz="2800" b="1" dirty="0">
                <a:solidFill>
                  <a:srgbClr val="2C14DE"/>
                </a:solidFill>
                <a:ea typeface="+mn-ea"/>
              </a:rPr>
              <a:t>sends message </a:t>
            </a:r>
            <a:r>
              <a:rPr lang="en-US" sz="2800" dirty="0">
                <a:ea typeface="+mn-ea"/>
              </a:rPr>
              <a:t>to </a:t>
            </a:r>
            <a:r>
              <a:rPr lang="en-US" sz="2800" b="1" dirty="0">
                <a:solidFill>
                  <a:srgbClr val="2C14DE"/>
                </a:solidFill>
                <a:ea typeface="+mn-ea"/>
              </a:rPr>
              <a:t>destination</a:t>
            </a:r>
            <a:r>
              <a:rPr lang="en-US" sz="2800" dirty="0">
                <a:solidFill>
                  <a:srgbClr val="2C14DE"/>
                </a:solidFill>
                <a:ea typeface="+mn-ea"/>
              </a:rPr>
              <a:t> </a:t>
            </a:r>
            <a:r>
              <a:rPr lang="en-US" sz="2800" dirty="0">
                <a:ea typeface="+mn-ea"/>
              </a:rPr>
              <a:t>process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sz="2800" b="1" dirty="0">
                <a:solidFill>
                  <a:srgbClr val="2C14DE"/>
                </a:solidFill>
                <a:ea typeface="+mn-ea"/>
              </a:rPr>
              <a:t>Communication</a:t>
            </a:r>
            <a:r>
              <a:rPr lang="en-US" sz="2800" dirty="0">
                <a:solidFill>
                  <a:srgbClr val="2C14DE"/>
                </a:solidFill>
                <a:ea typeface="+mn-ea"/>
              </a:rPr>
              <a:t> </a:t>
            </a:r>
            <a:r>
              <a:rPr lang="en-US" sz="2800" dirty="0">
                <a:ea typeface="+mn-ea"/>
              </a:rPr>
              <a:t>takes place </a:t>
            </a:r>
            <a:r>
              <a:rPr lang="en-US" sz="2800" b="1" dirty="0">
                <a:solidFill>
                  <a:srgbClr val="2C14DE"/>
                </a:solidFill>
                <a:ea typeface="+mn-ea"/>
              </a:rPr>
              <a:t>within a communicator</a:t>
            </a:r>
            <a:r>
              <a:rPr lang="en-US" sz="2800" dirty="0">
                <a:ea typeface="+mn-ea"/>
              </a:rPr>
              <a:t>, </a:t>
            </a:r>
            <a:br>
              <a:rPr lang="en-US" sz="2800" dirty="0">
                <a:ea typeface="+mn-ea"/>
              </a:rPr>
            </a:br>
            <a:r>
              <a:rPr lang="en-US" sz="2800" dirty="0">
                <a:ea typeface="+mn-ea"/>
              </a:rPr>
              <a:t>e.g., MPI_COMM_WORLD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sz="2800" b="1" dirty="0">
                <a:solidFill>
                  <a:srgbClr val="2C14DE"/>
                </a:solidFill>
                <a:ea typeface="+mn-ea"/>
              </a:rPr>
              <a:t>Processes</a:t>
            </a:r>
            <a:r>
              <a:rPr lang="en-US" sz="2800" dirty="0">
                <a:solidFill>
                  <a:srgbClr val="2C14DE"/>
                </a:solidFill>
                <a:ea typeface="+mn-ea"/>
              </a:rPr>
              <a:t> </a:t>
            </a:r>
            <a:r>
              <a:rPr lang="en-US" sz="2800" dirty="0">
                <a:ea typeface="+mn-ea"/>
              </a:rPr>
              <a:t>are </a:t>
            </a:r>
            <a:r>
              <a:rPr lang="en-US" sz="2800" b="1" dirty="0">
                <a:solidFill>
                  <a:srgbClr val="2C14DE"/>
                </a:solidFill>
                <a:ea typeface="+mn-ea"/>
              </a:rPr>
              <a:t>identified</a:t>
            </a:r>
            <a:r>
              <a:rPr lang="en-US" sz="2800" dirty="0">
                <a:solidFill>
                  <a:srgbClr val="2C14DE"/>
                </a:solidFill>
                <a:ea typeface="+mn-ea"/>
              </a:rPr>
              <a:t> </a:t>
            </a:r>
            <a:r>
              <a:rPr lang="en-US" sz="2800" dirty="0">
                <a:ea typeface="+mn-ea"/>
              </a:rPr>
              <a:t>by their </a:t>
            </a:r>
            <a:r>
              <a:rPr lang="en-US" sz="2800" b="1" dirty="0">
                <a:solidFill>
                  <a:srgbClr val="2C14DE"/>
                </a:solidFill>
                <a:ea typeface="+mn-ea"/>
              </a:rPr>
              <a:t>ranks</a:t>
            </a:r>
            <a:r>
              <a:rPr lang="en-US" sz="2800" dirty="0">
                <a:solidFill>
                  <a:srgbClr val="2C14DE"/>
                </a:solidFill>
                <a:ea typeface="+mn-ea"/>
              </a:rPr>
              <a:t> </a:t>
            </a:r>
            <a:r>
              <a:rPr lang="en-US" sz="2800" dirty="0">
                <a:ea typeface="+mn-ea"/>
              </a:rPr>
              <a:t>in the communicator</a:t>
            </a:r>
          </a:p>
        </p:txBody>
      </p:sp>
      <p:sp>
        <p:nvSpPr>
          <p:cNvPr id="2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048000" y="5864225"/>
            <a:ext cx="2895600" cy="47625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en-US"/>
              <a:t>MPI Course</a:t>
            </a:r>
          </a:p>
        </p:txBody>
      </p:sp>
      <p:sp>
        <p:nvSpPr>
          <p:cNvPr id="479236" name="Freeform 4"/>
          <p:cNvSpPr>
            <a:spLocks/>
          </p:cNvSpPr>
          <p:nvPr/>
        </p:nvSpPr>
        <p:spPr bwMode="auto">
          <a:xfrm>
            <a:off x="1828800" y="4038600"/>
            <a:ext cx="5334000" cy="2273300"/>
          </a:xfrm>
          <a:custGeom>
            <a:avLst/>
            <a:gdLst>
              <a:gd name="T0" fmla="*/ 495300 w 3360"/>
              <a:gd name="T1" fmla="*/ 165100 h 1432"/>
              <a:gd name="T2" fmla="*/ 1257300 w 3360"/>
              <a:gd name="T3" fmla="*/ 12700 h 1432"/>
              <a:gd name="T4" fmla="*/ 2019300 w 3360"/>
              <a:gd name="T5" fmla="*/ 88900 h 1432"/>
              <a:gd name="T6" fmla="*/ 3009900 w 3360"/>
              <a:gd name="T7" fmla="*/ 393700 h 1432"/>
              <a:gd name="T8" fmla="*/ 4229100 w 3360"/>
              <a:gd name="T9" fmla="*/ 469900 h 1432"/>
              <a:gd name="T10" fmla="*/ 5295900 w 3360"/>
              <a:gd name="T11" fmla="*/ 1308100 h 1432"/>
              <a:gd name="T12" fmla="*/ 4457700 w 3360"/>
              <a:gd name="T13" fmla="*/ 2070100 h 1432"/>
              <a:gd name="T14" fmla="*/ 2247900 w 3360"/>
              <a:gd name="T15" fmla="*/ 2222500 h 1432"/>
              <a:gd name="T16" fmla="*/ 342900 w 3360"/>
              <a:gd name="T17" fmla="*/ 1765300 h 1432"/>
              <a:gd name="T18" fmla="*/ 190500 w 3360"/>
              <a:gd name="T19" fmla="*/ 850900 h 1432"/>
              <a:gd name="T20" fmla="*/ 114300 w 3360"/>
              <a:gd name="T21" fmla="*/ 393700 h 1432"/>
              <a:gd name="T22" fmla="*/ 495300 w 3360"/>
              <a:gd name="T23" fmla="*/ 165100 h 143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360" h="1432">
                <a:moveTo>
                  <a:pt x="312" y="104"/>
                </a:moveTo>
                <a:cubicBezTo>
                  <a:pt x="432" y="64"/>
                  <a:pt x="632" y="16"/>
                  <a:pt x="792" y="8"/>
                </a:cubicBezTo>
                <a:cubicBezTo>
                  <a:pt x="952" y="0"/>
                  <a:pt x="1088" y="16"/>
                  <a:pt x="1272" y="56"/>
                </a:cubicBezTo>
                <a:cubicBezTo>
                  <a:pt x="1456" y="96"/>
                  <a:pt x="1664" y="208"/>
                  <a:pt x="1896" y="248"/>
                </a:cubicBezTo>
                <a:cubicBezTo>
                  <a:pt x="2128" y="288"/>
                  <a:pt x="2424" y="200"/>
                  <a:pt x="2664" y="296"/>
                </a:cubicBezTo>
                <a:cubicBezTo>
                  <a:pt x="2904" y="392"/>
                  <a:pt x="3312" y="656"/>
                  <a:pt x="3336" y="824"/>
                </a:cubicBezTo>
                <a:cubicBezTo>
                  <a:pt x="3360" y="992"/>
                  <a:pt x="3128" y="1208"/>
                  <a:pt x="2808" y="1304"/>
                </a:cubicBezTo>
                <a:cubicBezTo>
                  <a:pt x="2488" y="1400"/>
                  <a:pt x="1848" y="1432"/>
                  <a:pt x="1416" y="1400"/>
                </a:cubicBezTo>
                <a:cubicBezTo>
                  <a:pt x="984" y="1368"/>
                  <a:pt x="432" y="1256"/>
                  <a:pt x="216" y="1112"/>
                </a:cubicBezTo>
                <a:cubicBezTo>
                  <a:pt x="0" y="968"/>
                  <a:pt x="144" y="680"/>
                  <a:pt x="120" y="536"/>
                </a:cubicBezTo>
                <a:cubicBezTo>
                  <a:pt x="96" y="392"/>
                  <a:pt x="40" y="320"/>
                  <a:pt x="72" y="248"/>
                </a:cubicBezTo>
                <a:cubicBezTo>
                  <a:pt x="104" y="176"/>
                  <a:pt x="192" y="144"/>
                  <a:pt x="312" y="104"/>
                </a:cubicBezTo>
                <a:close/>
              </a:path>
            </a:pathLst>
          </a:custGeom>
          <a:solidFill>
            <a:srgbClr val="FFCCCC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479237" name="Oval 5"/>
          <p:cNvSpPr>
            <a:spLocks noChangeArrowheads="1"/>
          </p:cNvSpPr>
          <p:nvPr/>
        </p:nvSpPr>
        <p:spPr bwMode="auto">
          <a:xfrm>
            <a:off x="2209800" y="4495800"/>
            <a:ext cx="457200" cy="457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0</a:t>
            </a:r>
          </a:p>
        </p:txBody>
      </p:sp>
      <p:sp>
        <p:nvSpPr>
          <p:cNvPr id="479238" name="Oval 6"/>
          <p:cNvSpPr>
            <a:spLocks noChangeArrowheads="1"/>
          </p:cNvSpPr>
          <p:nvPr/>
        </p:nvSpPr>
        <p:spPr bwMode="auto">
          <a:xfrm>
            <a:off x="2895600" y="4648200"/>
            <a:ext cx="457200" cy="457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1</a:t>
            </a:r>
          </a:p>
        </p:txBody>
      </p:sp>
      <p:sp>
        <p:nvSpPr>
          <p:cNvPr id="479239" name="Oval 7"/>
          <p:cNvSpPr>
            <a:spLocks noChangeArrowheads="1"/>
          </p:cNvSpPr>
          <p:nvPr/>
        </p:nvSpPr>
        <p:spPr bwMode="auto">
          <a:xfrm>
            <a:off x="5524500" y="5041900"/>
            <a:ext cx="457200" cy="457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5</a:t>
            </a:r>
          </a:p>
        </p:txBody>
      </p:sp>
      <p:sp>
        <p:nvSpPr>
          <p:cNvPr id="479240" name="Oval 8"/>
          <p:cNvSpPr>
            <a:spLocks noChangeArrowheads="1"/>
          </p:cNvSpPr>
          <p:nvPr/>
        </p:nvSpPr>
        <p:spPr bwMode="auto">
          <a:xfrm>
            <a:off x="3695700" y="4406900"/>
            <a:ext cx="457200" cy="457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2</a:t>
            </a:r>
          </a:p>
        </p:txBody>
      </p:sp>
      <p:sp>
        <p:nvSpPr>
          <p:cNvPr id="479241" name="Oval 9"/>
          <p:cNvSpPr>
            <a:spLocks noChangeArrowheads="1"/>
          </p:cNvSpPr>
          <p:nvPr/>
        </p:nvSpPr>
        <p:spPr bwMode="auto">
          <a:xfrm>
            <a:off x="3238500" y="5270500"/>
            <a:ext cx="457200" cy="457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4</a:t>
            </a:r>
          </a:p>
        </p:txBody>
      </p:sp>
      <p:sp>
        <p:nvSpPr>
          <p:cNvPr id="479242" name="Oval 10"/>
          <p:cNvSpPr>
            <a:spLocks noChangeArrowheads="1"/>
          </p:cNvSpPr>
          <p:nvPr/>
        </p:nvSpPr>
        <p:spPr bwMode="auto">
          <a:xfrm>
            <a:off x="4076700" y="5194300"/>
            <a:ext cx="457200" cy="457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3</a:t>
            </a:r>
          </a:p>
        </p:txBody>
      </p:sp>
      <p:sp>
        <p:nvSpPr>
          <p:cNvPr id="479243" name="Oval 11"/>
          <p:cNvSpPr>
            <a:spLocks noChangeArrowheads="1"/>
          </p:cNvSpPr>
          <p:nvPr/>
        </p:nvSpPr>
        <p:spPr bwMode="auto">
          <a:xfrm>
            <a:off x="5105400" y="5715000"/>
            <a:ext cx="457200" cy="457200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defRPr/>
            </a:pPr>
            <a:r>
              <a:rPr lang="en-US" sz="2400">
                <a:latin typeface="Arial" charset="0"/>
                <a:ea typeface="ＭＳ Ｐゴシック" charset="0"/>
                <a:cs typeface="ＭＳ Ｐゴシック" charset="0"/>
              </a:rPr>
              <a:t>6</a:t>
            </a:r>
          </a:p>
        </p:txBody>
      </p:sp>
      <p:cxnSp>
        <p:nvCxnSpPr>
          <p:cNvPr id="479246" name="AutoShape 14"/>
          <p:cNvCxnSpPr>
            <a:cxnSpLocks noChangeShapeType="1"/>
            <a:stCxn id="479242" idx="7"/>
            <a:endCxn id="479239" idx="1"/>
          </p:cNvCxnSpPr>
          <p:nvPr/>
        </p:nvCxnSpPr>
        <p:spPr bwMode="auto">
          <a:xfrm rot="16200000">
            <a:off x="4953000" y="4622800"/>
            <a:ext cx="152400" cy="1123950"/>
          </a:xfrm>
          <a:prstGeom prst="curvedConnector3">
            <a:avLst>
              <a:gd name="adj1" fmla="val 170833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79247" name="Text Box 15"/>
          <p:cNvSpPr txBox="1">
            <a:spLocks noChangeArrowheads="1"/>
          </p:cNvSpPr>
          <p:nvPr/>
        </p:nvSpPr>
        <p:spPr bwMode="auto">
          <a:xfrm>
            <a:off x="3886200" y="5562600"/>
            <a:ext cx="938375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sz="1800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source</a:t>
            </a:r>
          </a:p>
        </p:txBody>
      </p:sp>
      <p:sp>
        <p:nvSpPr>
          <p:cNvPr id="479248" name="Text Box 16"/>
          <p:cNvSpPr txBox="1">
            <a:spLocks noChangeArrowheads="1"/>
          </p:cNvSpPr>
          <p:nvPr/>
        </p:nvSpPr>
        <p:spPr bwMode="auto">
          <a:xfrm>
            <a:off x="5867400" y="5257800"/>
            <a:ext cx="148590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defRPr/>
            </a:pPr>
            <a:r>
              <a:rPr lang="en-US" sz="1800" b="1" dirty="0">
                <a:solidFill>
                  <a:srgbClr val="2C14DE"/>
                </a:solidFill>
                <a:latin typeface="Arial" charset="0"/>
                <a:ea typeface="ＭＳ Ｐゴシック" charset="0"/>
                <a:cs typeface="ＭＳ Ｐゴシック" charset="0"/>
              </a:rPr>
              <a:t>destination</a:t>
            </a:r>
          </a:p>
        </p:txBody>
      </p:sp>
      <p:sp>
        <p:nvSpPr>
          <p:cNvPr id="479256" name="Text Box 24"/>
          <p:cNvSpPr txBox="1">
            <a:spLocks noChangeArrowheads="1"/>
          </p:cNvSpPr>
          <p:nvPr/>
        </p:nvSpPr>
        <p:spPr bwMode="auto">
          <a:xfrm>
            <a:off x="4533900" y="4546600"/>
            <a:ext cx="1169208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sz="1800" b="1" dirty="0">
                <a:latin typeface="Arial" charset="0"/>
                <a:ea typeface="ＭＳ Ｐゴシック" charset="0"/>
                <a:cs typeface="ＭＳ Ｐゴシック" charset="0"/>
              </a:rPr>
              <a:t>message</a:t>
            </a:r>
          </a:p>
        </p:txBody>
      </p:sp>
      <p:grpSp>
        <p:nvGrpSpPr>
          <p:cNvPr id="26642" name="Group 34"/>
          <p:cNvGrpSpPr>
            <a:grpSpLocks/>
          </p:cNvGrpSpPr>
          <p:nvPr/>
        </p:nvGrpSpPr>
        <p:grpSpPr bwMode="auto">
          <a:xfrm>
            <a:off x="4648200" y="4876800"/>
            <a:ext cx="457200" cy="304800"/>
            <a:chOff x="2976" y="2688"/>
            <a:chExt cx="288" cy="192"/>
          </a:xfrm>
        </p:grpSpPr>
        <p:sp>
          <p:nvSpPr>
            <p:cNvPr id="479263" name="Rectangle 31"/>
            <p:cNvSpPr>
              <a:spLocks noChangeArrowheads="1"/>
            </p:cNvSpPr>
            <p:nvPr/>
          </p:nvSpPr>
          <p:spPr bwMode="auto">
            <a:xfrm>
              <a:off x="2976" y="2688"/>
              <a:ext cx="288" cy="1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21522" name="Group 25"/>
            <p:cNvGrpSpPr>
              <a:grpSpLocks/>
            </p:cNvGrpSpPr>
            <p:nvPr/>
          </p:nvGrpSpPr>
          <p:grpSpPr bwMode="auto">
            <a:xfrm>
              <a:off x="3000" y="2712"/>
              <a:ext cx="240" cy="144"/>
              <a:chOff x="192" y="1872"/>
              <a:chExt cx="240" cy="144"/>
            </a:xfrm>
          </p:grpSpPr>
          <p:sp>
            <p:nvSpPr>
              <p:cNvPr id="479258" name="Rectangle 26"/>
              <p:cNvSpPr>
                <a:spLocks noChangeArrowheads="1"/>
              </p:cNvSpPr>
              <p:nvPr/>
            </p:nvSpPr>
            <p:spPr bwMode="auto">
              <a:xfrm>
                <a:off x="192" y="1872"/>
                <a:ext cx="48" cy="144"/>
              </a:xfrm>
              <a:prstGeom prst="rect">
                <a:avLst/>
              </a:prstGeom>
              <a:solidFill>
                <a:srgbClr val="FF66CC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79259" name="Rectangle 27"/>
              <p:cNvSpPr>
                <a:spLocks noChangeArrowheads="1"/>
              </p:cNvSpPr>
              <p:nvPr/>
            </p:nvSpPr>
            <p:spPr bwMode="auto">
              <a:xfrm>
                <a:off x="240" y="1872"/>
                <a:ext cx="48" cy="144"/>
              </a:xfrm>
              <a:prstGeom prst="rect">
                <a:avLst/>
              </a:prstGeom>
              <a:solidFill>
                <a:srgbClr val="FF66CC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79260" name="Rectangle 28"/>
              <p:cNvSpPr>
                <a:spLocks noChangeArrowheads="1"/>
              </p:cNvSpPr>
              <p:nvPr/>
            </p:nvSpPr>
            <p:spPr bwMode="auto">
              <a:xfrm>
                <a:off x="288" y="1872"/>
                <a:ext cx="48" cy="144"/>
              </a:xfrm>
              <a:prstGeom prst="rect">
                <a:avLst/>
              </a:prstGeom>
              <a:solidFill>
                <a:srgbClr val="FF66CC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79261" name="Rectangle 29"/>
              <p:cNvSpPr>
                <a:spLocks noChangeArrowheads="1"/>
              </p:cNvSpPr>
              <p:nvPr/>
            </p:nvSpPr>
            <p:spPr bwMode="auto">
              <a:xfrm>
                <a:off x="336" y="1872"/>
                <a:ext cx="48" cy="144"/>
              </a:xfrm>
              <a:prstGeom prst="rect">
                <a:avLst/>
              </a:prstGeom>
              <a:solidFill>
                <a:srgbClr val="FF66CC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79262" name="Rectangle 30"/>
              <p:cNvSpPr>
                <a:spLocks noChangeArrowheads="1"/>
              </p:cNvSpPr>
              <p:nvPr/>
            </p:nvSpPr>
            <p:spPr bwMode="auto">
              <a:xfrm>
                <a:off x="384" y="1872"/>
                <a:ext cx="48" cy="144"/>
              </a:xfrm>
              <a:prstGeom prst="rect">
                <a:avLst/>
              </a:prstGeom>
              <a:solidFill>
                <a:srgbClr val="FF66CC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479264" name="Freeform 32"/>
            <p:cNvSpPr>
              <a:spLocks/>
            </p:cNvSpPr>
            <p:nvPr/>
          </p:nvSpPr>
          <p:spPr bwMode="auto">
            <a:xfrm>
              <a:off x="2976" y="2688"/>
              <a:ext cx="288" cy="48"/>
            </a:xfrm>
            <a:custGeom>
              <a:avLst/>
              <a:gdLst>
                <a:gd name="T0" fmla="*/ 0 w 288"/>
                <a:gd name="T1" fmla="*/ 0 h 48"/>
                <a:gd name="T2" fmla="*/ 144 w 288"/>
                <a:gd name="T3" fmla="*/ 48 h 48"/>
                <a:gd name="T4" fmla="*/ 288 w 288"/>
                <a:gd name="T5" fmla="*/ 0 h 48"/>
                <a:gd name="T6" fmla="*/ 0 w 288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8" h="48">
                  <a:moveTo>
                    <a:pt x="0" y="0"/>
                  </a:moveTo>
                  <a:lnTo>
                    <a:pt x="144" y="48"/>
                  </a:lnTo>
                  <a:lnTo>
                    <a:pt x="2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63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</p:grpSp>
      <p:sp>
        <p:nvSpPr>
          <p:cNvPr id="26" name="Rectangle 25"/>
          <p:cNvSpPr/>
          <p:nvPr/>
        </p:nvSpPr>
        <p:spPr>
          <a:xfrm>
            <a:off x="19050" y="801687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66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479236" grpId="0" animBg="1"/>
      <p:bldP spid="479237" grpId="0" animBg="1"/>
      <p:bldP spid="479238" grpId="0" animBg="1"/>
      <p:bldP spid="479239" grpId="0" animBg="1"/>
      <p:bldP spid="479240" grpId="0" animBg="1"/>
      <p:bldP spid="479241" grpId="0" animBg="1"/>
      <p:bldP spid="479242" grpId="0" animBg="1"/>
      <p:bldP spid="479243" grpId="0" animBg="1"/>
      <p:bldP spid="479247" grpId="0"/>
      <p:bldP spid="479248" grpId="0"/>
      <p:bldP spid="47925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2296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b="1" dirty="0">
                <a:solidFill>
                  <a:srgbClr val="C00000"/>
                </a:solidFill>
                <a:ea typeface="+mj-ea"/>
              </a:rPr>
              <a:t>Point to Point Communication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2400" y="914400"/>
            <a:ext cx="8915400" cy="59436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  <a:defRPr/>
            </a:pPr>
            <a:r>
              <a:rPr lang="fr-FR" sz="3000" b="1" dirty="0">
                <a:solidFill>
                  <a:srgbClr val="2C14DE"/>
                </a:solidFill>
                <a:ea typeface="+mn-ea"/>
              </a:rPr>
              <a:t>Communication</a:t>
            </a:r>
            <a:r>
              <a:rPr lang="fr-FR" sz="3000" dirty="0">
                <a:solidFill>
                  <a:srgbClr val="2C14DE"/>
                </a:solidFill>
                <a:ea typeface="+mn-ea"/>
              </a:rPr>
              <a:t> </a:t>
            </a:r>
            <a:r>
              <a:rPr lang="fr-FR" sz="3000" dirty="0" err="1">
                <a:ea typeface="+mn-ea"/>
              </a:rPr>
              <a:t>is</a:t>
            </a:r>
            <a:r>
              <a:rPr lang="fr-FR" sz="3000" dirty="0">
                <a:ea typeface="+mn-ea"/>
              </a:rPr>
              <a:t> </a:t>
            </a:r>
            <a:r>
              <a:rPr lang="fr-FR" sz="3000" b="1" dirty="0" err="1">
                <a:solidFill>
                  <a:srgbClr val="2C14DE"/>
                </a:solidFill>
                <a:ea typeface="+mn-ea"/>
              </a:rPr>
              <a:t>done</a:t>
            </a:r>
            <a:r>
              <a:rPr lang="fr-FR" sz="3000" dirty="0">
                <a:solidFill>
                  <a:srgbClr val="2C14DE"/>
                </a:solidFill>
                <a:ea typeface="+mn-ea"/>
              </a:rPr>
              <a:t> </a:t>
            </a:r>
            <a:r>
              <a:rPr lang="fr-FR" sz="3000" dirty="0" err="1">
                <a:ea typeface="+mn-ea"/>
              </a:rPr>
              <a:t>using</a:t>
            </a:r>
            <a:r>
              <a:rPr lang="fr-FR" sz="3000" dirty="0">
                <a:ea typeface="+mn-ea"/>
              </a:rPr>
              <a:t> </a:t>
            </a:r>
            <a:r>
              <a:rPr lang="fr-FR" sz="3000" b="1" dirty="0" err="1">
                <a:solidFill>
                  <a:srgbClr val="C00000"/>
                </a:solidFill>
                <a:ea typeface="+mn-ea"/>
              </a:rPr>
              <a:t>send</a:t>
            </a:r>
            <a:r>
              <a:rPr lang="fr-FR" sz="3000" dirty="0">
                <a:solidFill>
                  <a:srgbClr val="C00000"/>
                </a:solidFill>
                <a:ea typeface="+mn-ea"/>
              </a:rPr>
              <a:t> </a:t>
            </a:r>
            <a:r>
              <a:rPr lang="fr-FR" sz="3000" dirty="0">
                <a:ea typeface="+mn-ea"/>
              </a:rPr>
              <a:t>and </a:t>
            </a:r>
            <a:r>
              <a:rPr lang="fr-FR" sz="3000" b="1" dirty="0" err="1">
                <a:solidFill>
                  <a:srgbClr val="C00000"/>
                </a:solidFill>
                <a:ea typeface="+mn-ea"/>
              </a:rPr>
              <a:t>receive</a:t>
            </a:r>
            <a:r>
              <a:rPr lang="fr-FR" sz="3000" dirty="0">
                <a:solidFill>
                  <a:srgbClr val="C00000"/>
                </a:solidFill>
              </a:rPr>
              <a:t> </a:t>
            </a:r>
            <a:r>
              <a:rPr lang="fr-FR" sz="3000" dirty="0" err="1">
                <a:ea typeface="+mn-ea"/>
              </a:rPr>
              <a:t>among</a:t>
            </a:r>
            <a:r>
              <a:rPr lang="fr-FR" sz="3000" dirty="0">
                <a:ea typeface="+mn-ea"/>
              </a:rPr>
              <a:t> </a:t>
            </a:r>
            <a:r>
              <a:rPr lang="fr-FR" sz="3000" dirty="0" err="1">
                <a:ea typeface="+mn-ea"/>
              </a:rPr>
              <a:t>processes</a:t>
            </a:r>
            <a:r>
              <a:rPr lang="fr-FR" sz="3000" dirty="0">
                <a:ea typeface="+mn-ea"/>
              </a:rPr>
              <a:t>:</a:t>
            </a:r>
          </a:p>
          <a:p>
            <a:pPr lvl="1">
              <a:spcBef>
                <a:spcPts val="0"/>
              </a:spcBef>
              <a:spcAft>
                <a:spcPts val="1800"/>
              </a:spcAft>
              <a:defRPr/>
            </a:pPr>
            <a:r>
              <a:rPr lang="fr-FR" dirty="0">
                <a:ea typeface="+mn-ea"/>
              </a:rPr>
              <a:t>To </a:t>
            </a:r>
            <a:r>
              <a:rPr lang="fr-FR" b="1" dirty="0" err="1">
                <a:solidFill>
                  <a:srgbClr val="C00000"/>
                </a:solidFill>
                <a:ea typeface="+mn-ea"/>
              </a:rPr>
              <a:t>send</a:t>
            </a:r>
            <a:r>
              <a:rPr lang="fr-FR" b="1" dirty="0">
                <a:solidFill>
                  <a:srgbClr val="C00000"/>
                </a:solidFill>
                <a:ea typeface="+mn-ea"/>
              </a:rPr>
              <a:t> </a:t>
            </a:r>
            <a:r>
              <a:rPr lang="fr-FR" dirty="0">
                <a:ea typeface="+mn-ea"/>
              </a:rPr>
              <a:t>a</a:t>
            </a:r>
            <a:r>
              <a:rPr lang="fr-FR" b="1" dirty="0">
                <a:solidFill>
                  <a:srgbClr val="C00000"/>
                </a:solidFill>
                <a:ea typeface="+mn-ea"/>
              </a:rPr>
              <a:t> message</a:t>
            </a:r>
            <a:r>
              <a:rPr lang="fr-FR" dirty="0">
                <a:ea typeface="+mn-ea"/>
              </a:rPr>
              <a:t>, </a:t>
            </a:r>
            <a:r>
              <a:rPr lang="fr-FR" dirty="0" err="1">
                <a:solidFill>
                  <a:srgbClr val="2C14DE"/>
                </a:solidFill>
                <a:ea typeface="+mn-ea"/>
              </a:rPr>
              <a:t>sender</a:t>
            </a:r>
            <a:r>
              <a:rPr lang="fr-FR" dirty="0">
                <a:solidFill>
                  <a:srgbClr val="2C14DE"/>
                </a:solidFill>
                <a:ea typeface="+mn-ea"/>
              </a:rPr>
              <a:t> </a:t>
            </a:r>
            <a:r>
              <a:rPr lang="fr-FR" b="1" dirty="0" err="1">
                <a:ea typeface="+mn-ea"/>
              </a:rPr>
              <a:t>provides</a:t>
            </a:r>
            <a:r>
              <a:rPr lang="fr-FR" dirty="0">
                <a:ea typeface="+mn-ea"/>
              </a:rPr>
              <a:t> the </a:t>
            </a:r>
            <a:r>
              <a:rPr lang="fr-FR" b="1" dirty="0" err="1">
                <a:solidFill>
                  <a:srgbClr val="2C14DE"/>
                </a:solidFill>
                <a:ea typeface="+mn-ea"/>
              </a:rPr>
              <a:t>rank</a:t>
            </a:r>
            <a:r>
              <a:rPr lang="fr-FR" dirty="0">
                <a:solidFill>
                  <a:srgbClr val="2C14DE"/>
                </a:solidFill>
                <a:ea typeface="+mn-ea"/>
              </a:rPr>
              <a:t> </a:t>
            </a:r>
            <a:r>
              <a:rPr lang="fr-FR" dirty="0">
                <a:ea typeface="+mn-ea"/>
              </a:rPr>
              <a:t>of the </a:t>
            </a:r>
            <a:r>
              <a:rPr lang="fr-FR" b="1" dirty="0" err="1">
                <a:solidFill>
                  <a:srgbClr val="2C14DE"/>
                </a:solidFill>
                <a:ea typeface="+mn-ea"/>
              </a:rPr>
              <a:t>process</a:t>
            </a:r>
            <a:r>
              <a:rPr lang="fr-FR" dirty="0">
                <a:solidFill>
                  <a:srgbClr val="2C14DE"/>
                </a:solidFill>
                <a:ea typeface="+mn-ea"/>
              </a:rPr>
              <a:t> </a:t>
            </a:r>
            <a:r>
              <a:rPr lang="fr-FR" b="1" dirty="0">
                <a:ea typeface="+mn-ea"/>
              </a:rPr>
              <a:t>and</a:t>
            </a:r>
            <a:r>
              <a:rPr lang="fr-FR" dirty="0">
                <a:ea typeface="+mn-ea"/>
              </a:rPr>
              <a:t> a </a:t>
            </a:r>
            <a:r>
              <a:rPr lang="fr-FR" b="1" dirty="0">
                <a:solidFill>
                  <a:srgbClr val="2C14DE"/>
                </a:solidFill>
                <a:ea typeface="+mn-ea"/>
              </a:rPr>
              <a:t>unique </a:t>
            </a:r>
            <a:r>
              <a:rPr lang="fr-FR" b="1" i="1" dirty="0">
                <a:solidFill>
                  <a:srgbClr val="2C14DE"/>
                </a:solidFill>
                <a:ea typeface="+mn-ea"/>
              </a:rPr>
              <a:t>tag</a:t>
            </a:r>
            <a:r>
              <a:rPr lang="fr-FR" dirty="0">
                <a:ea typeface="+mn-ea"/>
              </a:rPr>
              <a:t> to </a:t>
            </a:r>
            <a:r>
              <a:rPr lang="fr-FR" b="1" dirty="0" err="1">
                <a:ea typeface="+mn-ea"/>
              </a:rPr>
              <a:t>identify</a:t>
            </a:r>
            <a:r>
              <a:rPr lang="fr-FR" dirty="0">
                <a:ea typeface="+mn-ea"/>
              </a:rPr>
              <a:t> the </a:t>
            </a:r>
            <a:r>
              <a:rPr lang="fr-FR" b="1" dirty="0">
                <a:ea typeface="+mn-ea"/>
              </a:rPr>
              <a:t>message</a:t>
            </a:r>
          </a:p>
          <a:p>
            <a:pPr lvl="1">
              <a:spcBef>
                <a:spcPts val="0"/>
              </a:spcBef>
              <a:spcAft>
                <a:spcPts val="1800"/>
              </a:spcAft>
              <a:defRPr/>
            </a:pPr>
            <a:r>
              <a:rPr lang="fr-FR" dirty="0">
                <a:ea typeface="+mn-ea"/>
              </a:rPr>
              <a:t>The </a:t>
            </a:r>
            <a:r>
              <a:rPr lang="fr-FR" b="1" dirty="0" err="1">
                <a:solidFill>
                  <a:srgbClr val="C00000"/>
                </a:solidFill>
                <a:ea typeface="+mn-ea"/>
              </a:rPr>
              <a:t>receiver</a:t>
            </a:r>
            <a:r>
              <a:rPr lang="fr-FR" dirty="0">
                <a:solidFill>
                  <a:srgbClr val="C00000"/>
                </a:solidFill>
                <a:ea typeface="+mn-ea"/>
              </a:rPr>
              <a:t> </a:t>
            </a:r>
            <a:r>
              <a:rPr lang="fr-FR" dirty="0" err="1">
                <a:ea typeface="+mn-ea"/>
              </a:rPr>
              <a:t>can</a:t>
            </a:r>
            <a:r>
              <a:rPr lang="fr-FR" dirty="0">
                <a:ea typeface="+mn-ea"/>
              </a:rPr>
              <a:t> </a:t>
            </a:r>
            <a:r>
              <a:rPr lang="fr-FR" dirty="0" err="1">
                <a:ea typeface="+mn-ea"/>
              </a:rPr>
              <a:t>then</a:t>
            </a:r>
            <a:r>
              <a:rPr lang="fr-FR" dirty="0">
                <a:ea typeface="+mn-ea"/>
              </a:rPr>
              <a:t> </a:t>
            </a:r>
            <a:r>
              <a:rPr lang="fr-FR" b="1" dirty="0" err="1">
                <a:solidFill>
                  <a:srgbClr val="2C14DE"/>
                </a:solidFill>
                <a:ea typeface="+mn-ea"/>
              </a:rPr>
              <a:t>receive</a:t>
            </a:r>
            <a:r>
              <a:rPr lang="fr-FR" dirty="0">
                <a:solidFill>
                  <a:srgbClr val="2C14DE"/>
                </a:solidFill>
                <a:ea typeface="+mn-ea"/>
              </a:rPr>
              <a:t> </a:t>
            </a:r>
            <a:r>
              <a:rPr lang="fr-FR" dirty="0">
                <a:ea typeface="+mn-ea"/>
              </a:rPr>
              <a:t>a </a:t>
            </a:r>
            <a:r>
              <a:rPr lang="fr-FR" b="1" dirty="0">
                <a:solidFill>
                  <a:srgbClr val="2C14DE"/>
                </a:solidFill>
                <a:ea typeface="+mn-ea"/>
              </a:rPr>
              <a:t>message</a:t>
            </a:r>
            <a:r>
              <a:rPr lang="fr-FR" dirty="0">
                <a:solidFill>
                  <a:srgbClr val="2C14DE"/>
                </a:solidFill>
                <a:ea typeface="+mn-ea"/>
              </a:rPr>
              <a:t> </a:t>
            </a:r>
            <a:r>
              <a:rPr lang="fr-FR" dirty="0" err="1">
                <a:ea typeface="+mn-ea"/>
              </a:rPr>
              <a:t>with</a:t>
            </a:r>
            <a:r>
              <a:rPr lang="fr-FR" dirty="0">
                <a:ea typeface="+mn-ea"/>
              </a:rPr>
              <a:t> a </a:t>
            </a:r>
            <a:r>
              <a:rPr lang="fr-FR" b="1" dirty="0" err="1">
                <a:solidFill>
                  <a:srgbClr val="2C14DE"/>
                </a:solidFill>
                <a:ea typeface="+mn-ea"/>
              </a:rPr>
              <a:t>given</a:t>
            </a:r>
            <a:r>
              <a:rPr lang="fr-FR" b="1" dirty="0">
                <a:solidFill>
                  <a:srgbClr val="2C14DE"/>
                </a:solidFill>
                <a:ea typeface="+mn-ea"/>
              </a:rPr>
              <a:t> tag</a:t>
            </a:r>
            <a:r>
              <a:rPr lang="fr-FR" dirty="0">
                <a:ea typeface="+mn-ea"/>
              </a:rPr>
              <a:t> (or </a:t>
            </a:r>
            <a:r>
              <a:rPr lang="fr-FR" dirty="0" err="1">
                <a:ea typeface="+mn-ea"/>
              </a:rPr>
              <a:t>it</a:t>
            </a:r>
            <a:r>
              <a:rPr lang="fr-FR" dirty="0">
                <a:ea typeface="+mn-ea"/>
              </a:rPr>
              <a:t> </a:t>
            </a:r>
            <a:r>
              <a:rPr lang="fr-FR" dirty="0" err="1">
                <a:ea typeface="+mn-ea"/>
              </a:rPr>
              <a:t>may</a:t>
            </a:r>
            <a:r>
              <a:rPr lang="fr-FR" dirty="0">
                <a:ea typeface="+mn-ea"/>
              </a:rPr>
              <a:t> not </a:t>
            </a:r>
            <a:r>
              <a:rPr lang="fr-FR" dirty="0" err="1">
                <a:ea typeface="+mn-ea"/>
              </a:rPr>
              <a:t>even</a:t>
            </a:r>
            <a:r>
              <a:rPr lang="fr-FR" dirty="0">
                <a:ea typeface="+mn-ea"/>
              </a:rPr>
              <a:t> care about the tag), and </a:t>
            </a:r>
            <a:r>
              <a:rPr lang="fr-FR" dirty="0" err="1">
                <a:ea typeface="+mn-ea"/>
              </a:rPr>
              <a:t>then</a:t>
            </a:r>
            <a:r>
              <a:rPr lang="fr-FR" dirty="0">
                <a:ea typeface="+mn-ea"/>
              </a:rPr>
              <a:t> </a:t>
            </a:r>
            <a:r>
              <a:rPr lang="fr-FR" b="1" dirty="0" err="1">
                <a:ea typeface="+mn-ea"/>
              </a:rPr>
              <a:t>handle</a:t>
            </a:r>
            <a:r>
              <a:rPr lang="fr-FR" dirty="0">
                <a:ea typeface="+mn-ea"/>
              </a:rPr>
              <a:t> the </a:t>
            </a:r>
            <a:r>
              <a:rPr lang="fr-FR" b="1" dirty="0">
                <a:ea typeface="+mn-ea"/>
              </a:rPr>
              <a:t>data</a:t>
            </a:r>
            <a:r>
              <a:rPr lang="fr-FR" dirty="0">
                <a:ea typeface="+mn-ea"/>
              </a:rPr>
              <a:t> </a:t>
            </a:r>
            <a:r>
              <a:rPr lang="fr-FR" b="1" dirty="0" err="1">
                <a:ea typeface="+mn-ea"/>
              </a:rPr>
              <a:t>accordingly</a:t>
            </a:r>
            <a:endParaRPr lang="fr-FR" b="1" dirty="0">
              <a:ea typeface="+mn-ea"/>
            </a:endParaRPr>
          </a:p>
          <a:p>
            <a:pPr lvl="1">
              <a:spcBef>
                <a:spcPts val="0"/>
              </a:spcBef>
              <a:spcAft>
                <a:spcPts val="1800"/>
              </a:spcAft>
              <a:defRPr/>
            </a:pPr>
            <a:endParaRPr lang="fr-FR" dirty="0">
              <a:ea typeface="+mn-ea"/>
            </a:endParaRP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b="1" u="sng" dirty="0">
                <a:ea typeface="+mn-ea"/>
              </a:rPr>
              <a:t>Two basic (and simple) functions</a:t>
            </a:r>
            <a:r>
              <a:rPr lang="en-US" dirty="0">
                <a:ea typeface="+mn-ea"/>
              </a:rPr>
              <a:t>, </a:t>
            </a:r>
            <a:r>
              <a:rPr lang="fr-FR" b="1" dirty="0" err="1">
                <a:solidFill>
                  <a:srgbClr val="C00000"/>
                </a:solidFill>
                <a:ea typeface="+mn-ea"/>
              </a:rPr>
              <a:t>MPI_Send</a:t>
            </a:r>
            <a:r>
              <a:rPr lang="fr-FR" dirty="0">
                <a:ea typeface="+mn-ea"/>
              </a:rPr>
              <a:t> </a:t>
            </a:r>
            <a:r>
              <a:rPr lang="en-US" dirty="0">
                <a:ea typeface="+mn-ea"/>
              </a:rPr>
              <a:t>and </a:t>
            </a:r>
            <a:r>
              <a:rPr lang="fr-FR" b="1" dirty="0" err="1">
                <a:solidFill>
                  <a:srgbClr val="C00000"/>
                </a:solidFill>
                <a:ea typeface="+mn-ea"/>
              </a:rPr>
              <a:t>MPI_Recv</a:t>
            </a:r>
            <a:endParaRPr lang="en-US" b="1" dirty="0">
              <a:solidFill>
                <a:srgbClr val="C00000"/>
              </a:solidFill>
              <a:ea typeface="+mn-e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813" y="777242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278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22961"/>
          </a:xfrm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  <a:defRPr/>
            </a:pPr>
            <a:r>
              <a:rPr lang="fr-FR" sz="4400" b="1" dirty="0" err="1">
                <a:solidFill>
                  <a:srgbClr val="C00000"/>
                </a:solidFill>
                <a:latin typeface="+mj-lt"/>
              </a:rPr>
              <a:t>MPI_Send</a:t>
            </a:r>
            <a:r>
              <a:rPr lang="fr-FR" sz="4400" b="1" dirty="0">
                <a:solidFill>
                  <a:srgbClr val="C00000"/>
                </a:solidFill>
                <a:latin typeface="+mj-lt"/>
              </a:rPr>
              <a:t> &amp; </a:t>
            </a:r>
            <a:r>
              <a:rPr lang="fr-FR" sz="4400" b="1" dirty="0" err="1">
                <a:solidFill>
                  <a:srgbClr val="C00000"/>
                </a:solidFill>
                <a:latin typeface="+mj-lt"/>
              </a:rPr>
              <a:t>MPI_Recv</a:t>
            </a:r>
            <a:endParaRPr lang="fr-FR" sz="4400" b="1" dirty="0">
              <a:solidFill>
                <a:srgbClr val="C00000"/>
              </a:solidFill>
              <a:latin typeface="+mj-lt"/>
              <a:ea typeface="+mj-e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813" y="777242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8738" y="1752600"/>
            <a:ext cx="216217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/>
            <a:r>
              <a:rPr lang="en-US" sz="2000" b="1" dirty="0">
                <a:solidFill>
                  <a:srgbClr val="C00000"/>
                </a:solidFill>
              </a:rPr>
              <a:t>Sending process </a:t>
            </a:r>
            <a:r>
              <a:rPr lang="en-US" sz="2000" b="1" dirty="0">
                <a:solidFill>
                  <a:srgbClr val="2C14DE"/>
                </a:solidFill>
              </a:rPr>
              <a:t>waits</a:t>
            </a:r>
            <a:r>
              <a:rPr lang="en-US" sz="2000" b="1" dirty="0"/>
              <a:t> until all data are </a:t>
            </a:r>
            <a:r>
              <a:rPr lang="en-US" sz="2000" b="1" dirty="0">
                <a:solidFill>
                  <a:srgbClr val="2C14DE"/>
                </a:solidFill>
              </a:rPr>
              <a:t>transferred</a:t>
            </a:r>
            <a:r>
              <a:rPr lang="en-US" sz="2000" b="1" dirty="0"/>
              <a:t> to the </a:t>
            </a:r>
            <a:r>
              <a:rPr lang="en-US" sz="2000" b="1" dirty="0">
                <a:solidFill>
                  <a:srgbClr val="2C14DE"/>
                </a:solidFill>
              </a:rPr>
              <a:t>system buffer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738" y="4495800"/>
            <a:ext cx="212725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/>
            <a:r>
              <a:rPr lang="en-US" sz="2000" b="1" dirty="0">
                <a:solidFill>
                  <a:srgbClr val="C00000"/>
                </a:solidFill>
              </a:rPr>
              <a:t>Receiving process </a:t>
            </a:r>
            <a:r>
              <a:rPr lang="en-US" sz="2000" b="1" dirty="0">
                <a:solidFill>
                  <a:srgbClr val="2C14DE"/>
                </a:solidFill>
              </a:rPr>
              <a:t>waits</a:t>
            </a:r>
            <a:r>
              <a:rPr lang="en-US" sz="2000" b="1" dirty="0"/>
              <a:t> until all </a:t>
            </a:r>
            <a:r>
              <a:rPr lang="en-US" sz="2000" b="1" dirty="0">
                <a:solidFill>
                  <a:srgbClr val="2C14DE"/>
                </a:solidFill>
              </a:rPr>
              <a:t>data</a:t>
            </a:r>
            <a:r>
              <a:rPr lang="en-US" sz="2000" b="1" dirty="0"/>
              <a:t> are </a:t>
            </a:r>
            <a:r>
              <a:rPr lang="en-US" sz="2000" b="1" dirty="0">
                <a:solidFill>
                  <a:srgbClr val="2C14DE"/>
                </a:solidFill>
              </a:rPr>
              <a:t>transferred</a:t>
            </a:r>
            <a:r>
              <a:rPr lang="en-US" sz="2000" b="1" dirty="0"/>
              <a:t> from the </a:t>
            </a:r>
            <a:r>
              <a:rPr lang="en-US" sz="2000" b="1" dirty="0">
                <a:solidFill>
                  <a:srgbClr val="2C14DE"/>
                </a:solidFill>
              </a:rPr>
              <a:t>system buffer </a:t>
            </a:r>
            <a:r>
              <a:rPr lang="en-US" sz="2000" b="1" dirty="0"/>
              <a:t>to the </a:t>
            </a:r>
            <a:r>
              <a:rPr lang="en-US" sz="2000" b="1" dirty="0">
                <a:solidFill>
                  <a:srgbClr val="2C14DE"/>
                </a:solidFill>
              </a:rPr>
              <a:t>receive buffer</a:t>
            </a:r>
          </a:p>
        </p:txBody>
      </p:sp>
      <p:grpSp>
        <p:nvGrpSpPr>
          <p:cNvPr id="9" name="Group 97"/>
          <p:cNvGrpSpPr>
            <a:grpSpLocks/>
          </p:cNvGrpSpPr>
          <p:nvPr/>
        </p:nvGrpSpPr>
        <p:grpSpPr bwMode="auto">
          <a:xfrm>
            <a:off x="2444750" y="1143000"/>
            <a:ext cx="6465888" cy="5465762"/>
            <a:chOff x="1298" y="741"/>
            <a:chExt cx="4073" cy="3443"/>
          </a:xfrm>
        </p:grpSpPr>
        <p:grpSp>
          <p:nvGrpSpPr>
            <p:cNvPr id="10" name="Group 94"/>
            <p:cNvGrpSpPr>
              <a:grpSpLocks/>
            </p:cNvGrpSpPr>
            <p:nvPr/>
          </p:nvGrpSpPr>
          <p:grpSpPr bwMode="auto">
            <a:xfrm>
              <a:off x="1298" y="741"/>
              <a:ext cx="3180" cy="1591"/>
              <a:chOff x="1298" y="741"/>
              <a:chExt cx="3180" cy="1591"/>
            </a:xfrm>
          </p:grpSpPr>
          <p:sp>
            <p:nvSpPr>
              <p:cNvPr id="34" name="AutoShape 45"/>
              <p:cNvSpPr>
                <a:spLocks noChangeArrowheads="1"/>
              </p:cNvSpPr>
              <p:nvPr/>
            </p:nvSpPr>
            <p:spPr bwMode="auto">
              <a:xfrm flipV="1">
                <a:off x="1298" y="870"/>
                <a:ext cx="3180" cy="1462"/>
              </a:xfrm>
              <a:prstGeom prst="roundRect">
                <a:avLst>
                  <a:gd name="adj" fmla="val 0"/>
                </a:avLst>
              </a:prstGeom>
              <a:solidFill>
                <a:srgbClr val="FFFFCC"/>
              </a:solidFill>
              <a:ln w="18796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35" name="Line 46"/>
              <p:cNvSpPr>
                <a:spLocks noChangeShapeType="1"/>
              </p:cNvSpPr>
              <p:nvPr/>
            </p:nvSpPr>
            <p:spPr bwMode="auto">
              <a:xfrm>
                <a:off x="2884" y="870"/>
                <a:ext cx="0" cy="1455"/>
              </a:xfrm>
              <a:prstGeom prst="line">
                <a:avLst/>
              </a:prstGeom>
              <a:noFill/>
              <a:ln w="1873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36" name="Text Box 48"/>
              <p:cNvSpPr txBox="1">
                <a:spLocks noChangeArrowheads="1"/>
              </p:cNvSpPr>
              <p:nvPr/>
            </p:nvSpPr>
            <p:spPr bwMode="auto">
              <a:xfrm>
                <a:off x="1844" y="757"/>
                <a:ext cx="656" cy="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400" b="1" i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User Mode</a:t>
                </a:r>
                <a:endParaRPr lang="en-US" altLang="ko-KR" sz="2800" b="1" i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37" name="Text Box 49"/>
              <p:cNvSpPr txBox="1">
                <a:spLocks noChangeArrowheads="1"/>
              </p:cNvSpPr>
              <p:nvPr/>
            </p:nvSpPr>
            <p:spPr bwMode="auto">
              <a:xfrm>
                <a:off x="3404" y="741"/>
                <a:ext cx="818" cy="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400" b="1" i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Kernel Mode</a:t>
                </a:r>
                <a:endParaRPr lang="en-US" altLang="ko-KR" sz="2800" b="1" i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38" name="AutoShape 50" descr="淺色右斜對角線"/>
              <p:cNvSpPr>
                <a:spLocks noChangeArrowheads="1"/>
              </p:cNvSpPr>
              <p:nvPr/>
            </p:nvSpPr>
            <p:spPr bwMode="auto">
              <a:xfrm flipV="1">
                <a:off x="1878" y="1163"/>
                <a:ext cx="684" cy="171"/>
              </a:xfrm>
              <a:prstGeom prst="roundRect">
                <a:avLst>
                  <a:gd name="adj" fmla="val 0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 w="18796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39" name="AutoShape 51" descr="淺色右斜對角線"/>
              <p:cNvSpPr>
                <a:spLocks noChangeArrowheads="1"/>
              </p:cNvSpPr>
              <p:nvPr/>
            </p:nvSpPr>
            <p:spPr bwMode="auto">
              <a:xfrm flipV="1">
                <a:off x="3366" y="1435"/>
                <a:ext cx="685" cy="172"/>
              </a:xfrm>
              <a:prstGeom prst="roundRect">
                <a:avLst>
                  <a:gd name="adj" fmla="val 0"/>
                </a:avLst>
              </a:prstGeom>
              <a:solidFill>
                <a:srgbClr val="FF6600"/>
              </a:solidFill>
              <a:ln w="18796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40" name="Text Box 52"/>
              <p:cNvSpPr txBox="1">
                <a:spLocks noChangeArrowheads="1"/>
              </p:cNvSpPr>
              <p:nvPr/>
            </p:nvSpPr>
            <p:spPr bwMode="auto">
              <a:xfrm>
                <a:off x="1383" y="1545"/>
                <a:ext cx="1243" cy="1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zh-TW" sz="140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MPI_S</a:t>
                </a:r>
                <a:r>
                  <a:rPr lang="en-US" altLang="ko-KR" sz="140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end</a:t>
                </a:r>
                <a:r>
                  <a:rPr lang="en-US" altLang="ko-KR" sz="140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(sendbuf,1</a:t>
                </a:r>
                <a:r>
                  <a:rPr lang="en-US" altLang="ko-KR" sz="100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)</a:t>
                </a:r>
                <a:endParaRPr lang="en-US" altLang="ko-KR" sz="24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41" name="Text Box 53"/>
              <p:cNvSpPr txBox="1">
                <a:spLocks noChangeArrowheads="1"/>
              </p:cNvSpPr>
              <p:nvPr/>
            </p:nvSpPr>
            <p:spPr bwMode="auto">
              <a:xfrm>
                <a:off x="1396" y="2052"/>
                <a:ext cx="1181" cy="1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05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Now </a:t>
                </a:r>
                <a:r>
                  <a:rPr lang="en-US" altLang="ko-KR" sz="105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sendbuf</a:t>
                </a:r>
                <a:r>
                  <a:rPr lang="en-US" altLang="ko-KR" sz="105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 can be reused</a:t>
                </a:r>
                <a:endParaRPr lang="en-US" altLang="ko-KR" sz="28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42" name="Text Box 54"/>
              <p:cNvSpPr txBox="1">
                <a:spLocks noChangeArrowheads="1"/>
              </p:cNvSpPr>
              <p:nvPr/>
            </p:nvSpPr>
            <p:spPr bwMode="auto">
              <a:xfrm>
                <a:off x="3273" y="1624"/>
                <a:ext cx="817" cy="2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10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Copying data from</a:t>
                </a:r>
              </a:p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10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sendbuf</a:t>
                </a:r>
                <a:r>
                  <a:rPr lang="en-US" altLang="ko-KR" sz="110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 to </a:t>
                </a:r>
                <a:r>
                  <a:rPr lang="en-US" altLang="ko-KR" sz="110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sysbuf</a:t>
                </a:r>
                <a:endParaRPr lang="en-US" altLang="ko-KR" sz="32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43" name="Text Box 55"/>
              <p:cNvSpPr txBox="1">
                <a:spLocks noChangeArrowheads="1"/>
              </p:cNvSpPr>
              <p:nvPr/>
            </p:nvSpPr>
            <p:spPr bwMode="auto">
              <a:xfrm>
                <a:off x="3234" y="2000"/>
                <a:ext cx="732" cy="2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10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Send data from</a:t>
                </a:r>
              </a:p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10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sysbuf</a:t>
                </a:r>
                <a:r>
                  <a:rPr lang="en-US" altLang="ko-KR" sz="110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 to </a:t>
                </a:r>
                <a:r>
                  <a:rPr lang="en-US" altLang="ko-KR" sz="110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dest</a:t>
                </a:r>
                <a:r>
                  <a:rPr lang="en-US" altLang="ko-KR" sz="110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 </a:t>
                </a:r>
                <a:endParaRPr lang="en-US" altLang="ko-KR" sz="32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44" name="Text Box 56"/>
              <p:cNvSpPr txBox="1">
                <a:spLocks noChangeArrowheads="1"/>
              </p:cNvSpPr>
              <p:nvPr/>
            </p:nvSpPr>
            <p:spPr bwMode="auto">
              <a:xfrm>
                <a:off x="3546" y="1286"/>
                <a:ext cx="330" cy="1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400" i="1" dirty="0" err="1">
                    <a:ea typeface="굴림" charset="0"/>
                    <a:cs typeface="Arial" charset="0"/>
                  </a:rPr>
                  <a:t>sysbuf</a:t>
                </a:r>
                <a:endParaRPr lang="en-US" altLang="ko-KR" sz="2800" dirty="0"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45" name="Text Box 57"/>
              <p:cNvSpPr txBox="1">
                <a:spLocks noChangeArrowheads="1"/>
              </p:cNvSpPr>
              <p:nvPr/>
            </p:nvSpPr>
            <p:spPr bwMode="auto">
              <a:xfrm>
                <a:off x="2005" y="1015"/>
                <a:ext cx="403" cy="1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400" i="1" dirty="0" err="1">
                    <a:ea typeface="굴림" charset="0"/>
                    <a:cs typeface="Arial" charset="0"/>
                  </a:rPr>
                  <a:t>sendbuf</a:t>
                </a:r>
                <a:endParaRPr lang="en-US" altLang="ko-KR" sz="2800" dirty="0"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46" name="Line 58"/>
              <p:cNvSpPr>
                <a:spLocks noChangeShapeType="1"/>
              </p:cNvSpPr>
              <p:nvPr/>
            </p:nvSpPr>
            <p:spPr bwMode="auto">
              <a:xfrm>
                <a:off x="2521" y="1605"/>
                <a:ext cx="512" cy="0"/>
              </a:xfrm>
              <a:prstGeom prst="line">
                <a:avLst/>
              </a:prstGeom>
              <a:noFill/>
              <a:ln w="31427">
                <a:solidFill>
                  <a:srgbClr val="7F604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47" name="Line 59"/>
              <p:cNvSpPr>
                <a:spLocks noChangeShapeType="1"/>
              </p:cNvSpPr>
              <p:nvPr/>
            </p:nvSpPr>
            <p:spPr bwMode="auto">
              <a:xfrm>
                <a:off x="3039" y="1613"/>
                <a:ext cx="0" cy="428"/>
              </a:xfrm>
              <a:prstGeom prst="line">
                <a:avLst/>
              </a:prstGeom>
              <a:noFill/>
              <a:ln w="31427">
                <a:solidFill>
                  <a:srgbClr val="7F604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48" name="Line 60"/>
              <p:cNvSpPr>
                <a:spLocks noChangeShapeType="1"/>
              </p:cNvSpPr>
              <p:nvPr/>
            </p:nvSpPr>
            <p:spPr bwMode="auto">
              <a:xfrm flipH="1">
                <a:off x="2626" y="2076"/>
                <a:ext cx="421" cy="0"/>
              </a:xfrm>
              <a:prstGeom prst="line">
                <a:avLst/>
              </a:prstGeom>
              <a:noFill/>
              <a:ln w="31427">
                <a:solidFill>
                  <a:srgbClr val="7F604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49" name="Freeform 79"/>
              <p:cNvSpPr>
                <a:spLocks/>
              </p:cNvSpPr>
              <p:nvPr/>
            </p:nvSpPr>
            <p:spPr bwMode="auto">
              <a:xfrm>
                <a:off x="2558" y="1236"/>
                <a:ext cx="796" cy="185"/>
              </a:xfrm>
              <a:custGeom>
                <a:avLst/>
                <a:gdLst>
                  <a:gd name="T0" fmla="*/ 795 w 796"/>
                  <a:gd name="T1" fmla="*/ 184 h 185"/>
                  <a:gd name="T2" fmla="*/ 751 w 796"/>
                  <a:gd name="T3" fmla="*/ 157 h 185"/>
                  <a:gd name="T4" fmla="*/ 706 w 796"/>
                  <a:gd name="T5" fmla="*/ 132 h 185"/>
                  <a:gd name="T6" fmla="*/ 660 w 796"/>
                  <a:gd name="T7" fmla="*/ 109 h 185"/>
                  <a:gd name="T8" fmla="*/ 613 w 796"/>
                  <a:gd name="T9" fmla="*/ 87 h 185"/>
                  <a:gd name="T10" fmla="*/ 563 w 796"/>
                  <a:gd name="T11" fmla="*/ 68 h 185"/>
                  <a:gd name="T12" fmla="*/ 515 w 796"/>
                  <a:gd name="T13" fmla="*/ 51 h 185"/>
                  <a:gd name="T14" fmla="*/ 465 w 796"/>
                  <a:gd name="T15" fmla="*/ 37 h 185"/>
                  <a:gd name="T16" fmla="*/ 416 w 796"/>
                  <a:gd name="T17" fmla="*/ 24 h 185"/>
                  <a:gd name="T18" fmla="*/ 364 w 796"/>
                  <a:gd name="T19" fmla="*/ 15 h 185"/>
                  <a:gd name="T20" fmla="*/ 312 w 796"/>
                  <a:gd name="T21" fmla="*/ 7 h 185"/>
                  <a:gd name="T22" fmla="*/ 261 w 796"/>
                  <a:gd name="T23" fmla="*/ 3 h 185"/>
                  <a:gd name="T24" fmla="*/ 209 w 796"/>
                  <a:gd name="T25" fmla="*/ 0 h 185"/>
                  <a:gd name="T26" fmla="*/ 156 w 796"/>
                  <a:gd name="T27" fmla="*/ 1 h 185"/>
                  <a:gd name="T28" fmla="*/ 104 w 796"/>
                  <a:gd name="T29" fmla="*/ 2 h 185"/>
                  <a:gd name="T30" fmla="*/ 52 w 796"/>
                  <a:gd name="T31" fmla="*/ 7 h 185"/>
                  <a:gd name="T32" fmla="*/ 0 w 796"/>
                  <a:gd name="T33" fmla="*/ 14 h 18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796" h="185">
                    <a:moveTo>
                      <a:pt x="795" y="184"/>
                    </a:moveTo>
                    <a:lnTo>
                      <a:pt x="751" y="157"/>
                    </a:lnTo>
                    <a:lnTo>
                      <a:pt x="706" y="132"/>
                    </a:lnTo>
                    <a:lnTo>
                      <a:pt x="660" y="109"/>
                    </a:lnTo>
                    <a:lnTo>
                      <a:pt x="613" y="87"/>
                    </a:lnTo>
                    <a:lnTo>
                      <a:pt x="563" y="68"/>
                    </a:lnTo>
                    <a:lnTo>
                      <a:pt x="515" y="51"/>
                    </a:lnTo>
                    <a:lnTo>
                      <a:pt x="465" y="37"/>
                    </a:lnTo>
                    <a:lnTo>
                      <a:pt x="416" y="24"/>
                    </a:lnTo>
                    <a:lnTo>
                      <a:pt x="364" y="15"/>
                    </a:lnTo>
                    <a:lnTo>
                      <a:pt x="312" y="7"/>
                    </a:lnTo>
                    <a:lnTo>
                      <a:pt x="261" y="3"/>
                    </a:lnTo>
                    <a:lnTo>
                      <a:pt x="209" y="0"/>
                    </a:lnTo>
                    <a:lnTo>
                      <a:pt x="156" y="1"/>
                    </a:lnTo>
                    <a:lnTo>
                      <a:pt x="104" y="2"/>
                    </a:lnTo>
                    <a:lnTo>
                      <a:pt x="52" y="7"/>
                    </a:lnTo>
                    <a:lnTo>
                      <a:pt x="0" y="14"/>
                    </a:lnTo>
                  </a:path>
                </a:pathLst>
              </a:custGeom>
              <a:noFill/>
              <a:ln w="18735" cap="flat" cmpd="sng">
                <a:solidFill>
                  <a:srgbClr val="7F604F"/>
                </a:solidFill>
                <a:prstDash val="solid"/>
                <a:round/>
                <a:headEnd type="triangl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Text Box 83"/>
              <p:cNvSpPr txBox="1">
                <a:spLocks noChangeArrowheads="1"/>
              </p:cNvSpPr>
              <p:nvPr/>
            </p:nvSpPr>
            <p:spPr bwMode="auto">
              <a:xfrm>
                <a:off x="2286" y="1762"/>
                <a:ext cx="732" cy="1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600" b="1" dirty="0">
                    <a:solidFill>
                      <a:srgbClr val="FF3300"/>
                    </a:solidFill>
                    <a:ea typeface="굴림" charset="0"/>
                    <a:cs typeface="Arial" charset="0"/>
                  </a:rPr>
                  <a:t>(blocked)</a:t>
                </a:r>
                <a:endParaRPr lang="en-US" altLang="ko-KR" sz="3200" b="1" dirty="0">
                  <a:solidFill>
                    <a:srgbClr val="FF3300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</p:grpSp>
        <p:grpSp>
          <p:nvGrpSpPr>
            <p:cNvPr id="11" name="Group 95"/>
            <p:cNvGrpSpPr>
              <a:grpSpLocks/>
            </p:cNvGrpSpPr>
            <p:nvPr/>
          </p:nvGrpSpPr>
          <p:grpSpPr bwMode="auto">
            <a:xfrm>
              <a:off x="1298" y="2577"/>
              <a:ext cx="3180" cy="1607"/>
              <a:chOff x="1298" y="2577"/>
              <a:chExt cx="3180" cy="1607"/>
            </a:xfrm>
          </p:grpSpPr>
          <p:sp>
            <p:nvSpPr>
              <p:cNvPr id="16" name="AutoShape 61"/>
              <p:cNvSpPr>
                <a:spLocks noChangeArrowheads="1"/>
              </p:cNvSpPr>
              <p:nvPr/>
            </p:nvSpPr>
            <p:spPr bwMode="auto">
              <a:xfrm flipV="1">
                <a:off x="1298" y="2722"/>
                <a:ext cx="3180" cy="1462"/>
              </a:xfrm>
              <a:prstGeom prst="roundRect">
                <a:avLst>
                  <a:gd name="adj" fmla="val 0"/>
                </a:avLst>
              </a:prstGeom>
              <a:solidFill>
                <a:srgbClr val="CCFF99"/>
              </a:solidFill>
              <a:ln w="18796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17" name="Line 62"/>
              <p:cNvSpPr>
                <a:spLocks noChangeShapeType="1"/>
              </p:cNvSpPr>
              <p:nvPr/>
            </p:nvSpPr>
            <p:spPr bwMode="auto">
              <a:xfrm>
                <a:off x="2884" y="2722"/>
                <a:ext cx="0" cy="1454"/>
              </a:xfrm>
              <a:prstGeom prst="line">
                <a:avLst/>
              </a:prstGeom>
              <a:noFill/>
              <a:ln w="1873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18" name="Text Box 64"/>
              <p:cNvSpPr txBox="1">
                <a:spLocks noChangeArrowheads="1"/>
              </p:cNvSpPr>
              <p:nvPr/>
            </p:nvSpPr>
            <p:spPr bwMode="auto">
              <a:xfrm>
                <a:off x="1844" y="2577"/>
                <a:ext cx="677" cy="1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400" b="1" i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User Mode</a:t>
                </a:r>
                <a:endParaRPr lang="en-US" altLang="ko-KR" sz="28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19" name="Text Box 65"/>
              <p:cNvSpPr txBox="1">
                <a:spLocks noChangeArrowheads="1"/>
              </p:cNvSpPr>
              <p:nvPr/>
            </p:nvSpPr>
            <p:spPr bwMode="auto">
              <a:xfrm>
                <a:off x="3404" y="2577"/>
                <a:ext cx="770" cy="1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400" b="1" i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Kernel Mode</a:t>
                </a:r>
                <a:endParaRPr lang="en-US" altLang="ko-KR" sz="28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20" name="AutoShape 66" descr="淺色右斜對角線"/>
              <p:cNvSpPr>
                <a:spLocks noChangeArrowheads="1"/>
              </p:cNvSpPr>
              <p:nvPr/>
            </p:nvSpPr>
            <p:spPr bwMode="auto">
              <a:xfrm flipV="1">
                <a:off x="3366" y="3774"/>
                <a:ext cx="685" cy="171"/>
              </a:xfrm>
              <a:prstGeom prst="roundRect">
                <a:avLst>
                  <a:gd name="adj" fmla="val 0"/>
                </a:avLst>
              </a:prstGeom>
              <a:solidFill>
                <a:srgbClr val="FF6600"/>
              </a:solidFill>
              <a:ln w="18796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21" name="Text Box 67"/>
              <p:cNvSpPr txBox="1">
                <a:spLocks noChangeArrowheads="1"/>
              </p:cNvSpPr>
              <p:nvPr/>
            </p:nvSpPr>
            <p:spPr bwMode="auto">
              <a:xfrm>
                <a:off x="1383" y="2946"/>
                <a:ext cx="1117" cy="1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zh-TW" sz="140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MPI</a:t>
                </a:r>
                <a:r>
                  <a:rPr lang="en-US" altLang="ko-KR" sz="140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_recv</a:t>
                </a:r>
                <a:r>
                  <a:rPr lang="en-US" altLang="ko-KR" sz="140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(recvbuf,0)</a:t>
                </a:r>
                <a:endParaRPr lang="en-US" altLang="ko-KR" sz="40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22" name="Text Box 68"/>
              <p:cNvSpPr txBox="1">
                <a:spLocks noChangeArrowheads="1"/>
              </p:cNvSpPr>
              <p:nvPr/>
            </p:nvSpPr>
            <p:spPr bwMode="auto">
              <a:xfrm>
                <a:off x="1396" y="3568"/>
                <a:ext cx="1403" cy="1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10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Now </a:t>
                </a:r>
                <a:r>
                  <a:rPr lang="en-US" altLang="ko-KR" sz="110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recvbuf</a:t>
                </a:r>
                <a:r>
                  <a:rPr lang="en-US" altLang="ko-KR" sz="110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 contains valid data</a:t>
                </a:r>
                <a:endParaRPr lang="en-US" altLang="ko-KR" sz="32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23" name="Text Box 69"/>
              <p:cNvSpPr txBox="1">
                <a:spLocks noChangeArrowheads="1"/>
              </p:cNvSpPr>
              <p:nvPr/>
            </p:nvSpPr>
            <p:spPr bwMode="auto">
              <a:xfrm>
                <a:off x="3196" y="2958"/>
                <a:ext cx="797" cy="2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10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Receive data from </a:t>
                </a:r>
              </a:p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10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src</a:t>
                </a:r>
                <a:r>
                  <a:rPr lang="en-US" altLang="ko-KR" sz="110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 to </a:t>
                </a:r>
                <a:r>
                  <a:rPr lang="en-US" altLang="ko-KR" sz="110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sysbuf</a:t>
                </a:r>
                <a:endParaRPr lang="en-US" altLang="ko-KR" sz="32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24" name="Text Box 70"/>
              <p:cNvSpPr txBox="1">
                <a:spLocks noChangeArrowheads="1"/>
              </p:cNvSpPr>
              <p:nvPr/>
            </p:nvSpPr>
            <p:spPr bwMode="auto">
              <a:xfrm>
                <a:off x="3195" y="3238"/>
                <a:ext cx="771" cy="2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10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Copying data from</a:t>
                </a:r>
              </a:p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10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sysbuf</a:t>
                </a:r>
                <a:r>
                  <a:rPr lang="en-US" altLang="ko-KR" sz="110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 to </a:t>
                </a:r>
                <a:r>
                  <a:rPr lang="en-US" altLang="ko-KR" sz="110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recvbuf</a:t>
                </a:r>
                <a:endParaRPr lang="en-US" altLang="ko-KR" sz="32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25" name="Text Box 71"/>
              <p:cNvSpPr txBox="1">
                <a:spLocks noChangeArrowheads="1"/>
              </p:cNvSpPr>
              <p:nvPr/>
            </p:nvSpPr>
            <p:spPr bwMode="auto">
              <a:xfrm>
                <a:off x="3546" y="3630"/>
                <a:ext cx="420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400" b="1" i="1" dirty="0" err="1">
                    <a:ea typeface="굴림" charset="0"/>
                    <a:cs typeface="Arial" charset="0"/>
                  </a:rPr>
                  <a:t>sysbuf</a:t>
                </a:r>
                <a:endParaRPr lang="en-US" altLang="ko-KR" sz="2400" b="1" dirty="0"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26" name="Line 72"/>
              <p:cNvSpPr>
                <a:spLocks noChangeShapeType="1"/>
              </p:cNvSpPr>
              <p:nvPr/>
            </p:nvSpPr>
            <p:spPr bwMode="auto">
              <a:xfrm>
                <a:off x="2475" y="2996"/>
                <a:ext cx="551" cy="0"/>
              </a:xfrm>
              <a:prstGeom prst="line">
                <a:avLst/>
              </a:prstGeom>
              <a:noFill/>
              <a:ln w="31427">
                <a:solidFill>
                  <a:srgbClr val="7F604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27" name="Line 73"/>
              <p:cNvSpPr>
                <a:spLocks noChangeShapeType="1"/>
              </p:cNvSpPr>
              <p:nvPr/>
            </p:nvSpPr>
            <p:spPr bwMode="auto">
              <a:xfrm>
                <a:off x="3039" y="3019"/>
                <a:ext cx="0" cy="251"/>
              </a:xfrm>
              <a:prstGeom prst="line">
                <a:avLst/>
              </a:prstGeom>
              <a:noFill/>
              <a:ln w="31427">
                <a:solidFill>
                  <a:srgbClr val="7F604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auto">
              <a:xfrm flipH="1">
                <a:off x="2776" y="3638"/>
                <a:ext cx="244" cy="0"/>
              </a:xfrm>
              <a:prstGeom prst="line">
                <a:avLst/>
              </a:prstGeom>
              <a:noFill/>
              <a:ln w="31427">
                <a:solidFill>
                  <a:srgbClr val="7F604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auto">
              <a:xfrm>
                <a:off x="3032" y="3324"/>
                <a:ext cx="0" cy="267"/>
              </a:xfrm>
              <a:prstGeom prst="line">
                <a:avLst/>
              </a:prstGeom>
              <a:noFill/>
              <a:ln w="31427">
                <a:solidFill>
                  <a:srgbClr val="7F604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30" name="AutoShape 76" descr="淺色右斜對角線"/>
              <p:cNvSpPr>
                <a:spLocks noChangeArrowheads="1"/>
              </p:cNvSpPr>
              <p:nvPr/>
            </p:nvSpPr>
            <p:spPr bwMode="auto">
              <a:xfrm flipV="1">
                <a:off x="1878" y="3902"/>
                <a:ext cx="684" cy="172"/>
              </a:xfrm>
              <a:prstGeom prst="roundRect">
                <a:avLst>
                  <a:gd name="adj" fmla="val 0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 w="18796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31" name="Text Box 77"/>
              <p:cNvSpPr txBox="1">
                <a:spLocks noChangeArrowheads="1"/>
              </p:cNvSpPr>
              <p:nvPr/>
            </p:nvSpPr>
            <p:spPr bwMode="auto">
              <a:xfrm>
                <a:off x="2055" y="3758"/>
                <a:ext cx="445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400" b="1" i="1" dirty="0" err="1">
                    <a:ea typeface="굴림" charset="0"/>
                    <a:cs typeface="Arial" charset="0"/>
                  </a:rPr>
                  <a:t>recvbuf</a:t>
                </a:r>
                <a:endParaRPr lang="en-US" altLang="ko-KR" sz="2800" b="1" dirty="0"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32" name="Freeform 78"/>
              <p:cNvSpPr>
                <a:spLocks/>
              </p:cNvSpPr>
              <p:nvPr/>
            </p:nvSpPr>
            <p:spPr bwMode="auto">
              <a:xfrm>
                <a:off x="2600" y="3856"/>
                <a:ext cx="716" cy="128"/>
              </a:xfrm>
              <a:custGeom>
                <a:avLst/>
                <a:gdLst>
                  <a:gd name="T0" fmla="*/ 0 w 716"/>
                  <a:gd name="T1" fmla="*/ 121 h 128"/>
                  <a:gd name="T2" fmla="*/ 47 w 716"/>
                  <a:gd name="T3" fmla="*/ 125 h 128"/>
                  <a:gd name="T4" fmla="*/ 93 w 716"/>
                  <a:gd name="T5" fmla="*/ 126 h 128"/>
                  <a:gd name="T6" fmla="*/ 139 w 716"/>
                  <a:gd name="T7" fmla="*/ 127 h 128"/>
                  <a:gd name="T8" fmla="*/ 187 w 716"/>
                  <a:gd name="T9" fmla="*/ 124 h 128"/>
                  <a:gd name="T10" fmla="*/ 233 w 716"/>
                  <a:gd name="T11" fmla="*/ 122 h 128"/>
                  <a:gd name="T12" fmla="*/ 279 w 716"/>
                  <a:gd name="T13" fmla="*/ 118 h 128"/>
                  <a:gd name="T14" fmla="*/ 325 w 716"/>
                  <a:gd name="T15" fmla="*/ 113 h 128"/>
                  <a:gd name="T16" fmla="*/ 371 w 716"/>
                  <a:gd name="T17" fmla="*/ 105 h 128"/>
                  <a:gd name="T18" fmla="*/ 416 w 716"/>
                  <a:gd name="T19" fmla="*/ 97 h 128"/>
                  <a:gd name="T20" fmla="*/ 461 w 716"/>
                  <a:gd name="T21" fmla="*/ 88 h 128"/>
                  <a:gd name="T22" fmla="*/ 504 w 716"/>
                  <a:gd name="T23" fmla="*/ 77 h 128"/>
                  <a:gd name="T24" fmla="*/ 548 w 716"/>
                  <a:gd name="T25" fmla="*/ 64 h 128"/>
                  <a:gd name="T26" fmla="*/ 590 w 716"/>
                  <a:gd name="T27" fmla="*/ 50 h 128"/>
                  <a:gd name="T28" fmla="*/ 633 w 716"/>
                  <a:gd name="T29" fmla="*/ 35 h 128"/>
                  <a:gd name="T30" fmla="*/ 674 w 716"/>
                  <a:gd name="T31" fmla="*/ 18 h 128"/>
                  <a:gd name="T32" fmla="*/ 715 w 716"/>
                  <a:gd name="T33" fmla="*/ 0 h 12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716" h="128">
                    <a:moveTo>
                      <a:pt x="0" y="121"/>
                    </a:moveTo>
                    <a:lnTo>
                      <a:pt x="47" y="125"/>
                    </a:lnTo>
                    <a:lnTo>
                      <a:pt x="93" y="126"/>
                    </a:lnTo>
                    <a:lnTo>
                      <a:pt x="139" y="127"/>
                    </a:lnTo>
                    <a:lnTo>
                      <a:pt x="187" y="124"/>
                    </a:lnTo>
                    <a:lnTo>
                      <a:pt x="233" y="122"/>
                    </a:lnTo>
                    <a:lnTo>
                      <a:pt x="279" y="118"/>
                    </a:lnTo>
                    <a:lnTo>
                      <a:pt x="325" y="113"/>
                    </a:lnTo>
                    <a:lnTo>
                      <a:pt x="371" y="105"/>
                    </a:lnTo>
                    <a:lnTo>
                      <a:pt x="416" y="97"/>
                    </a:lnTo>
                    <a:lnTo>
                      <a:pt x="461" y="88"/>
                    </a:lnTo>
                    <a:lnTo>
                      <a:pt x="504" y="77"/>
                    </a:lnTo>
                    <a:lnTo>
                      <a:pt x="548" y="64"/>
                    </a:lnTo>
                    <a:lnTo>
                      <a:pt x="590" y="50"/>
                    </a:lnTo>
                    <a:lnTo>
                      <a:pt x="633" y="35"/>
                    </a:lnTo>
                    <a:lnTo>
                      <a:pt x="674" y="18"/>
                    </a:lnTo>
                    <a:lnTo>
                      <a:pt x="715" y="0"/>
                    </a:lnTo>
                  </a:path>
                </a:pathLst>
              </a:custGeom>
              <a:noFill/>
              <a:ln w="18735" cap="flat" cmpd="sng">
                <a:solidFill>
                  <a:srgbClr val="7F604F"/>
                </a:solidFill>
                <a:prstDash val="solid"/>
                <a:round/>
                <a:headEnd type="triangl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 Box 88"/>
              <p:cNvSpPr txBox="1">
                <a:spLocks noChangeArrowheads="1"/>
              </p:cNvSpPr>
              <p:nvPr/>
            </p:nvSpPr>
            <p:spPr bwMode="auto">
              <a:xfrm>
                <a:off x="2182" y="3232"/>
                <a:ext cx="857" cy="1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b="1" dirty="0">
                    <a:solidFill>
                      <a:srgbClr val="FF3300"/>
                    </a:solidFill>
                    <a:ea typeface="굴림" charset="0"/>
                    <a:cs typeface="Arial" charset="0"/>
                  </a:rPr>
                  <a:t>(blocked)</a:t>
                </a:r>
                <a:endParaRPr lang="en-US" altLang="ko-KR" sz="3600" b="1" dirty="0">
                  <a:solidFill>
                    <a:srgbClr val="FF3300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</p:grpSp>
        <p:grpSp>
          <p:nvGrpSpPr>
            <p:cNvPr id="12" name="Group 96"/>
            <p:cNvGrpSpPr>
              <a:grpSpLocks/>
            </p:cNvGrpSpPr>
            <p:nvPr/>
          </p:nvGrpSpPr>
          <p:grpSpPr bwMode="auto">
            <a:xfrm>
              <a:off x="4032" y="2119"/>
              <a:ext cx="1339" cy="1148"/>
              <a:chOff x="4032" y="2119"/>
              <a:chExt cx="1339" cy="1148"/>
            </a:xfrm>
          </p:grpSpPr>
          <p:sp>
            <p:nvSpPr>
              <p:cNvPr id="13" name="Freeform 80"/>
              <p:cNvSpPr>
                <a:spLocks/>
              </p:cNvSpPr>
              <p:nvPr/>
            </p:nvSpPr>
            <p:spPr bwMode="auto">
              <a:xfrm>
                <a:off x="4032" y="2119"/>
                <a:ext cx="1135" cy="1148"/>
              </a:xfrm>
              <a:custGeom>
                <a:avLst/>
                <a:gdLst>
                  <a:gd name="T0" fmla="*/ 0 w 1135"/>
                  <a:gd name="T1" fmla="*/ 0 h 1148"/>
                  <a:gd name="T2" fmla="*/ 1134 w 1135"/>
                  <a:gd name="T3" fmla="*/ 0 h 1148"/>
                  <a:gd name="T4" fmla="*/ 1134 w 1135"/>
                  <a:gd name="T5" fmla="*/ 1147 h 1148"/>
                  <a:gd name="T6" fmla="*/ 5 w 1135"/>
                  <a:gd name="T7" fmla="*/ 1147 h 114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5" h="1148">
                    <a:moveTo>
                      <a:pt x="0" y="0"/>
                    </a:moveTo>
                    <a:lnTo>
                      <a:pt x="1134" y="0"/>
                    </a:lnTo>
                    <a:lnTo>
                      <a:pt x="1134" y="1147"/>
                    </a:lnTo>
                    <a:lnTo>
                      <a:pt x="5" y="1147"/>
                    </a:lnTo>
                  </a:path>
                </a:pathLst>
              </a:custGeom>
              <a:noFill/>
              <a:ln w="31427" cap="flat" cmpd="sng">
                <a:solidFill>
                  <a:srgbClr val="7F604F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AutoShape 81" descr="淺色右斜對角線"/>
              <p:cNvSpPr>
                <a:spLocks noChangeArrowheads="1"/>
              </p:cNvSpPr>
              <p:nvPr/>
            </p:nvSpPr>
            <p:spPr bwMode="auto">
              <a:xfrm flipV="1">
                <a:off x="4687" y="2522"/>
                <a:ext cx="684" cy="171"/>
              </a:xfrm>
              <a:prstGeom prst="roundRect">
                <a:avLst>
                  <a:gd name="adj" fmla="val 0"/>
                </a:avLst>
              </a:prstGeom>
              <a:solidFill>
                <a:srgbClr val="FF6600"/>
              </a:solidFill>
              <a:ln w="18796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15" name="Text Box 82"/>
              <p:cNvSpPr txBox="1">
                <a:spLocks noChangeArrowheads="1"/>
              </p:cNvSpPr>
              <p:nvPr/>
            </p:nvSpPr>
            <p:spPr bwMode="auto">
              <a:xfrm>
                <a:off x="4846" y="2325"/>
                <a:ext cx="302" cy="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400" b="1" dirty="0">
                    <a:ea typeface="굴림" charset="0"/>
                    <a:cs typeface="Arial" charset="0"/>
                  </a:rPr>
                  <a:t>Data</a:t>
                </a:r>
                <a:endParaRPr lang="en-US" altLang="ko-KR" sz="2800" b="1" dirty="0">
                  <a:latin typeface="굴림" charset="0"/>
                  <a:ea typeface="굴림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27344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200" y="0"/>
            <a:ext cx="9158438" cy="7924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  <a:ea typeface="+mj-ea"/>
              </a:rPr>
              <a:t>Data Communication in MPI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41710" y="914400"/>
            <a:ext cx="9151219" cy="5760720"/>
          </a:xfrm>
        </p:spPr>
        <p:txBody>
          <a:bodyPr>
            <a:noAutofit/>
          </a:bodyPr>
          <a:lstStyle/>
          <a:p>
            <a:pPr>
              <a:lnSpc>
                <a:spcPct val="105000"/>
              </a:lnSpc>
              <a:spcBef>
                <a:spcPts val="600"/>
              </a:spcBef>
            </a:pPr>
            <a:r>
              <a:rPr lang="en-US" sz="3000" b="1" u="sng" dirty="0"/>
              <a:t>Communication requires the following information:</a:t>
            </a:r>
          </a:p>
          <a:p>
            <a:pPr lvl="1">
              <a:lnSpc>
                <a:spcPct val="105000"/>
              </a:lnSpc>
            </a:pPr>
            <a:r>
              <a:rPr lang="en-US" sz="3000" b="1" dirty="0">
                <a:solidFill>
                  <a:srgbClr val="C00000"/>
                </a:solidFill>
              </a:rPr>
              <a:t>Sender</a:t>
            </a:r>
            <a:r>
              <a:rPr lang="en-US" sz="3000" dirty="0">
                <a:solidFill>
                  <a:srgbClr val="C00000"/>
                </a:solidFill>
              </a:rPr>
              <a:t> </a:t>
            </a:r>
            <a:r>
              <a:rPr lang="en-US" sz="3000" b="1" dirty="0"/>
              <a:t>has to know</a:t>
            </a:r>
            <a:r>
              <a:rPr lang="en-US" sz="3000" dirty="0"/>
              <a:t>:</a:t>
            </a:r>
          </a:p>
          <a:p>
            <a:pPr lvl="2">
              <a:lnSpc>
                <a:spcPct val="105000"/>
              </a:lnSpc>
            </a:pPr>
            <a:r>
              <a:rPr lang="en-US" b="1" dirty="0">
                <a:solidFill>
                  <a:srgbClr val="2C14DE"/>
                </a:solidFill>
              </a:rPr>
              <a:t>Whom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b="1" dirty="0">
                <a:solidFill>
                  <a:srgbClr val="2C14DE"/>
                </a:solidFill>
              </a:rPr>
              <a:t>to send </a:t>
            </a:r>
            <a:r>
              <a:rPr lang="en-US" dirty="0"/>
              <a:t>the </a:t>
            </a:r>
            <a:r>
              <a:rPr lang="en-US" b="1" dirty="0"/>
              <a:t>data</a:t>
            </a:r>
            <a:r>
              <a:rPr lang="en-US" dirty="0"/>
              <a:t> to (</a:t>
            </a:r>
            <a:r>
              <a:rPr lang="en-US" b="1" i="1" dirty="0">
                <a:solidFill>
                  <a:srgbClr val="2C14DE"/>
                </a:solidFill>
              </a:rPr>
              <a:t>receiver</a:t>
            </a:r>
            <a:r>
              <a:rPr lang="en-US" altLang="fr-FR" b="1" i="1" dirty="0">
                <a:solidFill>
                  <a:srgbClr val="2C14DE"/>
                </a:solidFill>
              </a:rPr>
              <a:t>’</a:t>
            </a:r>
            <a:r>
              <a:rPr lang="en-US" b="1" i="1" dirty="0">
                <a:solidFill>
                  <a:srgbClr val="2C14DE"/>
                </a:solidFill>
              </a:rPr>
              <a:t>s process rank</a:t>
            </a:r>
            <a:r>
              <a:rPr lang="en-US" dirty="0"/>
              <a:t>)</a:t>
            </a:r>
          </a:p>
          <a:p>
            <a:pPr lvl="2">
              <a:lnSpc>
                <a:spcPct val="105000"/>
              </a:lnSpc>
            </a:pPr>
            <a:r>
              <a:rPr lang="en-US" dirty="0"/>
              <a:t>What </a:t>
            </a:r>
            <a:r>
              <a:rPr lang="en-US" b="1" dirty="0">
                <a:solidFill>
                  <a:srgbClr val="2C14DE"/>
                </a:solidFill>
              </a:rPr>
              <a:t>kind of data </a:t>
            </a:r>
            <a:r>
              <a:rPr lang="en-US" dirty="0"/>
              <a:t>to </a:t>
            </a:r>
            <a:r>
              <a:rPr lang="en-US" b="1" dirty="0"/>
              <a:t>send</a:t>
            </a:r>
            <a:r>
              <a:rPr lang="en-US" dirty="0"/>
              <a:t> (</a:t>
            </a:r>
            <a:r>
              <a:rPr lang="en-US" b="1" i="1" dirty="0"/>
              <a:t>100 integers </a:t>
            </a:r>
            <a:r>
              <a:rPr lang="en-US" dirty="0"/>
              <a:t>or </a:t>
            </a:r>
            <a:r>
              <a:rPr lang="en-US" b="1" i="1" dirty="0"/>
              <a:t>200 characters</a:t>
            </a:r>
            <a:r>
              <a:rPr lang="en-US" dirty="0"/>
              <a:t>,..)</a:t>
            </a:r>
          </a:p>
          <a:p>
            <a:pPr lvl="2">
              <a:lnSpc>
                <a:spcPct val="105000"/>
              </a:lnSpc>
            </a:pPr>
            <a:r>
              <a:rPr lang="en-US" dirty="0"/>
              <a:t>A </a:t>
            </a:r>
            <a:r>
              <a:rPr lang="en-US" b="1" dirty="0"/>
              <a:t>user-defined </a:t>
            </a:r>
            <a:r>
              <a:rPr lang="en-US" altLang="fr-FR" dirty="0"/>
              <a:t>“</a:t>
            </a:r>
            <a:r>
              <a:rPr lang="en-US" b="1" dirty="0">
                <a:solidFill>
                  <a:srgbClr val="2C14DE"/>
                </a:solidFill>
              </a:rPr>
              <a:t>tag</a:t>
            </a:r>
            <a:r>
              <a:rPr lang="en-US" altLang="fr-FR" dirty="0"/>
              <a:t>”</a:t>
            </a:r>
            <a:r>
              <a:rPr lang="en-US" dirty="0"/>
              <a:t> (</a:t>
            </a:r>
            <a:r>
              <a:rPr lang="en-US" b="1" dirty="0">
                <a:solidFill>
                  <a:srgbClr val="2C14DE"/>
                </a:solidFill>
              </a:rPr>
              <a:t>distinguish different messages</a:t>
            </a:r>
            <a:r>
              <a:rPr lang="en-US" dirty="0"/>
              <a:t>)</a:t>
            </a:r>
          </a:p>
          <a:p>
            <a:pPr lvl="2">
              <a:lnSpc>
                <a:spcPct val="105000"/>
              </a:lnSpc>
            </a:pPr>
            <a:endParaRPr lang="en-US" dirty="0"/>
          </a:p>
          <a:p>
            <a:pPr lvl="1">
              <a:lnSpc>
                <a:spcPct val="105000"/>
              </a:lnSpc>
            </a:pPr>
            <a:r>
              <a:rPr lang="en-US" sz="3000" b="1" dirty="0">
                <a:solidFill>
                  <a:srgbClr val="C00000"/>
                </a:solidFill>
              </a:rPr>
              <a:t>Receiver</a:t>
            </a:r>
            <a:r>
              <a:rPr lang="en-US" sz="3000" dirty="0"/>
              <a:t> </a:t>
            </a:r>
            <a:r>
              <a:rPr lang="en-US" altLang="fr-FR" sz="3000" dirty="0"/>
              <a:t>“</a:t>
            </a:r>
            <a:r>
              <a:rPr lang="en-US" sz="3000" b="1" dirty="0">
                <a:solidFill>
                  <a:srgbClr val="D09E00"/>
                </a:solidFill>
              </a:rPr>
              <a:t>might</a:t>
            </a:r>
            <a:r>
              <a:rPr lang="en-US" altLang="fr-FR" sz="3000" dirty="0"/>
              <a:t>”</a:t>
            </a:r>
            <a:r>
              <a:rPr lang="en-US" sz="3000" dirty="0"/>
              <a:t> </a:t>
            </a:r>
            <a:r>
              <a:rPr lang="en-US" sz="3000" b="1" dirty="0"/>
              <a:t>have to know:</a:t>
            </a:r>
          </a:p>
          <a:p>
            <a:pPr lvl="2">
              <a:lnSpc>
                <a:spcPct val="105000"/>
              </a:lnSpc>
            </a:pPr>
            <a:r>
              <a:rPr lang="en-US" b="1" dirty="0">
                <a:solidFill>
                  <a:srgbClr val="2C14DE"/>
                </a:solidFill>
                <a:latin typeface="+mj-lt"/>
              </a:rPr>
              <a:t>Who</a:t>
            </a:r>
            <a:r>
              <a:rPr lang="en-US" dirty="0">
                <a:solidFill>
                  <a:srgbClr val="2C14DE"/>
                </a:solidFill>
                <a:latin typeface="+mj-lt"/>
              </a:rPr>
              <a:t> is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sending</a:t>
            </a:r>
            <a:r>
              <a:rPr lang="en-US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dirty="0">
                <a:latin typeface="+mj-lt"/>
              </a:rPr>
              <a:t>Or</a:t>
            </a:r>
            <a:r>
              <a:rPr lang="en-US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b="1" dirty="0">
                <a:latin typeface="+mj-lt"/>
              </a:rPr>
              <a:t>wildcard</a:t>
            </a:r>
            <a:r>
              <a:rPr lang="en-US" dirty="0">
                <a:latin typeface="+mj-lt"/>
              </a:rPr>
              <a:t>: </a:t>
            </a:r>
            <a:r>
              <a:rPr lang="en-US" b="1" dirty="0">
                <a:solidFill>
                  <a:srgbClr val="F07814"/>
                </a:solidFill>
                <a:latin typeface="+mj-lt"/>
                <a:cs typeface="Courier New" panose="02070309020205020404" pitchFamily="49" charset="0"/>
              </a:rPr>
              <a:t>MPI_ANY_SOURCE</a:t>
            </a:r>
            <a:r>
              <a:rPr lang="en-US" b="1" dirty="0">
                <a:solidFill>
                  <a:srgbClr val="2C14DE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(</a:t>
            </a:r>
            <a:r>
              <a:rPr lang="en-US" b="1" dirty="0">
                <a:latin typeface="+mj-lt"/>
              </a:rPr>
              <a:t>meaning anyone can send</a:t>
            </a:r>
            <a:r>
              <a:rPr lang="en-US" dirty="0">
                <a:latin typeface="+mj-lt"/>
              </a:rPr>
              <a:t>)</a:t>
            </a:r>
          </a:p>
          <a:p>
            <a:pPr lvl="2">
              <a:lnSpc>
                <a:spcPct val="105000"/>
              </a:lnSpc>
            </a:pPr>
            <a:r>
              <a:rPr lang="en-US" b="1" dirty="0">
                <a:solidFill>
                  <a:srgbClr val="2C14DE"/>
                </a:solidFill>
              </a:rPr>
              <a:t>kind of data </a:t>
            </a:r>
            <a:r>
              <a:rPr lang="en-US" b="1" dirty="0"/>
              <a:t>is being </a:t>
            </a:r>
            <a:r>
              <a:rPr lang="en-US" b="1" dirty="0">
                <a:solidFill>
                  <a:srgbClr val="2C14DE"/>
                </a:solidFill>
              </a:rPr>
              <a:t>received </a:t>
            </a:r>
            <a:r>
              <a:rPr lang="en-US" dirty="0"/>
              <a:t>(may be </a:t>
            </a:r>
            <a:r>
              <a:rPr lang="en-US" b="1" dirty="0"/>
              <a:t>partial info, e.g., upper bound</a:t>
            </a:r>
            <a:r>
              <a:rPr lang="en-US" dirty="0"/>
              <a:t>)</a:t>
            </a:r>
          </a:p>
          <a:p>
            <a:pPr lvl="2">
              <a:lnSpc>
                <a:spcPct val="105000"/>
              </a:lnSpc>
            </a:pPr>
            <a:r>
              <a:rPr lang="en-US" b="1" dirty="0"/>
              <a:t>Message </a:t>
            </a:r>
            <a:r>
              <a:rPr lang="en-US" altLang="fr-FR" b="1" dirty="0">
                <a:solidFill>
                  <a:srgbClr val="2C14DE"/>
                </a:solidFill>
              </a:rPr>
              <a:t>“</a:t>
            </a:r>
            <a:r>
              <a:rPr lang="en-US" b="1" dirty="0">
                <a:solidFill>
                  <a:srgbClr val="2C14DE"/>
                </a:solidFill>
              </a:rPr>
              <a:t>tag</a:t>
            </a:r>
            <a:r>
              <a:rPr lang="en-US" altLang="fr-FR" b="1" dirty="0"/>
              <a:t>” </a:t>
            </a:r>
            <a:r>
              <a:rPr lang="en-US" altLang="fr-FR" dirty="0"/>
              <a:t>Or </a:t>
            </a:r>
            <a:r>
              <a:rPr lang="en-US" b="1" dirty="0">
                <a:latin typeface="+mj-lt"/>
              </a:rPr>
              <a:t>wildcard</a:t>
            </a:r>
            <a:r>
              <a:rPr lang="en-US" dirty="0">
                <a:latin typeface="+mj-lt"/>
              </a:rPr>
              <a:t>: </a:t>
            </a:r>
            <a:r>
              <a:rPr lang="en-US" b="1" dirty="0">
                <a:solidFill>
                  <a:srgbClr val="F07814"/>
                </a:solidFill>
                <a:latin typeface="+mj-lt"/>
                <a:cs typeface="Courier New" panose="02070309020205020404" pitchFamily="49" charset="0"/>
              </a:rPr>
              <a:t>MPI_ANY_TAG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(</a:t>
            </a:r>
            <a:r>
              <a:rPr lang="en-US" b="1" dirty="0">
                <a:latin typeface="+mj-lt"/>
                <a:cs typeface="Courier New" panose="02070309020205020404" pitchFamily="49" charset="0"/>
              </a:rPr>
              <a:t>any message</a:t>
            </a:r>
            <a:r>
              <a:rPr lang="en-US" dirty="0">
                <a:latin typeface="+mj-lt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-12834" y="7924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67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62263" y="-22459"/>
            <a:ext cx="8229600" cy="784459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err="1">
                <a:solidFill>
                  <a:srgbClr val="C00000"/>
                </a:solidFill>
              </a:rPr>
              <a:t>MPI_Send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14400"/>
            <a:ext cx="8915400" cy="5867400"/>
          </a:xfrm>
        </p:spPr>
        <p:txBody>
          <a:bodyPr>
            <a:normAutofit lnSpcReduction="10000"/>
          </a:bodyPr>
          <a:lstStyle/>
          <a:p>
            <a:pPr>
              <a:buNone/>
              <a:defRPr/>
            </a:pPr>
            <a:r>
              <a:rPr lang="en-US" sz="2400" b="1" dirty="0" err="1">
                <a:solidFill>
                  <a:srgbClr val="2C14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MPI_Send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(void*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MPI_Datatype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tag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MPI_Comm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2400" b="1" dirty="0">
              <a:latin typeface="Courier New" charset="0"/>
            </a:endParaRPr>
          </a:p>
          <a:p>
            <a:pPr marL="1314450" lvl="3" indent="0">
              <a:buNone/>
              <a:defRPr/>
            </a:pPr>
            <a:r>
              <a:rPr lang="en-US" sz="2800" b="1" i="1" dirty="0">
                <a:solidFill>
                  <a:srgbClr val="FF3300"/>
                </a:solidFill>
              </a:rPr>
              <a:t>data</a:t>
            </a:r>
            <a:r>
              <a:rPr lang="en-US" sz="2800" dirty="0"/>
              <a:t>: </a:t>
            </a:r>
            <a:r>
              <a:rPr lang="en-US" sz="2800" b="1" dirty="0"/>
              <a:t>pointer</a:t>
            </a:r>
            <a:r>
              <a:rPr lang="en-US" sz="2800" dirty="0"/>
              <a:t> to </a:t>
            </a:r>
            <a:r>
              <a:rPr lang="en-US" sz="2800" b="1" dirty="0"/>
              <a:t>data</a:t>
            </a:r>
          </a:p>
          <a:p>
            <a:pPr marL="1314450" lvl="3" indent="0">
              <a:buNone/>
              <a:defRPr/>
            </a:pPr>
            <a:r>
              <a:rPr lang="en-US" sz="2800" b="1" i="1" dirty="0">
                <a:solidFill>
                  <a:srgbClr val="FF3300"/>
                </a:solidFill>
              </a:rPr>
              <a:t>count</a:t>
            </a:r>
            <a:r>
              <a:rPr lang="en-US" sz="2800" dirty="0"/>
              <a:t>: number of </a:t>
            </a:r>
            <a:r>
              <a:rPr lang="en-US" sz="2800" b="1" dirty="0"/>
              <a:t>elements</a:t>
            </a:r>
            <a:r>
              <a:rPr lang="en-US" sz="2800" dirty="0"/>
              <a:t> </a:t>
            </a:r>
            <a:r>
              <a:rPr lang="en-US" sz="2800" b="1" dirty="0"/>
              <a:t>to send</a:t>
            </a:r>
          </a:p>
          <a:p>
            <a:pPr marL="1314450" lvl="3" indent="0">
              <a:buNone/>
              <a:defRPr/>
            </a:pPr>
            <a:r>
              <a:rPr lang="en-US" sz="2800" b="1" i="1" dirty="0">
                <a:solidFill>
                  <a:srgbClr val="FF3300"/>
                </a:solidFill>
              </a:rPr>
              <a:t>type</a:t>
            </a:r>
            <a:r>
              <a:rPr lang="en-US" sz="2800" dirty="0"/>
              <a:t>: </a:t>
            </a:r>
            <a:r>
              <a:rPr lang="en-US" sz="2800" b="1" dirty="0"/>
              <a:t>data type </a:t>
            </a:r>
            <a:r>
              <a:rPr lang="en-US" sz="2800" dirty="0"/>
              <a:t>of data</a:t>
            </a:r>
          </a:p>
          <a:p>
            <a:pPr marL="1314450" lvl="3" indent="0">
              <a:buNone/>
              <a:defRPr/>
            </a:pPr>
            <a:r>
              <a:rPr lang="en-US" sz="2800" b="1" i="1" dirty="0" err="1">
                <a:solidFill>
                  <a:srgbClr val="FF3300"/>
                </a:solidFill>
              </a:rPr>
              <a:t>dest</a:t>
            </a:r>
            <a:r>
              <a:rPr lang="en-US" sz="2800" dirty="0"/>
              <a:t>: </a:t>
            </a:r>
            <a:r>
              <a:rPr lang="en-US" sz="2800" b="1" dirty="0"/>
              <a:t>destination</a:t>
            </a:r>
            <a:r>
              <a:rPr lang="en-US" sz="2800" dirty="0"/>
              <a:t> </a:t>
            </a:r>
            <a:r>
              <a:rPr lang="en-US" sz="2800" b="1" dirty="0"/>
              <a:t>process (rank)</a:t>
            </a:r>
          </a:p>
          <a:p>
            <a:pPr marL="1314450" lvl="3" indent="0">
              <a:buNone/>
              <a:defRPr/>
            </a:pPr>
            <a:r>
              <a:rPr lang="en-US" sz="2800" b="1" i="1" dirty="0">
                <a:solidFill>
                  <a:srgbClr val="FF3300"/>
                </a:solidFill>
              </a:rPr>
              <a:t>tag</a:t>
            </a:r>
            <a:r>
              <a:rPr lang="en-US" sz="2800" dirty="0"/>
              <a:t>: identifying </a:t>
            </a:r>
            <a:r>
              <a:rPr lang="en-US" sz="2800" b="1" dirty="0"/>
              <a:t>tag</a:t>
            </a:r>
          </a:p>
          <a:p>
            <a:pPr marL="1314450" lvl="3" indent="0">
              <a:buNone/>
              <a:defRPr/>
            </a:pPr>
            <a:r>
              <a:rPr lang="en-US" sz="2800" b="1" i="1" dirty="0" err="1">
                <a:solidFill>
                  <a:srgbClr val="FF3300"/>
                </a:solidFill>
              </a:rPr>
              <a:t>comm</a:t>
            </a:r>
            <a:r>
              <a:rPr lang="en-US" sz="2800" dirty="0"/>
              <a:t>: </a:t>
            </a:r>
            <a:r>
              <a:rPr lang="en-US" sz="2800" b="1" dirty="0"/>
              <a:t>communicator</a:t>
            </a:r>
          </a:p>
          <a:p>
            <a:pPr marL="0" indent="0" eaLnBrk="1" hangingPunct="1">
              <a:buNone/>
              <a:defRPr/>
            </a:pPr>
            <a:endParaRPr lang="en-US" sz="2400" dirty="0"/>
          </a:p>
          <a:p>
            <a:pPr>
              <a:defRPr/>
            </a:pPr>
            <a:r>
              <a:rPr lang="en-US" sz="2400" b="1" dirty="0">
                <a:solidFill>
                  <a:srgbClr val="2C14DE"/>
                </a:solidFill>
              </a:rPr>
              <a:t>Blocking operation</a:t>
            </a:r>
          </a:p>
          <a:p>
            <a:pPr>
              <a:defRPr/>
            </a:pPr>
            <a:r>
              <a:rPr lang="en-US" sz="2400" dirty="0"/>
              <a:t>When </a:t>
            </a:r>
            <a:r>
              <a:rPr lang="en-US" sz="2000" b="1" dirty="0" err="1">
                <a:solidFill>
                  <a:srgbClr val="2C14DE"/>
                </a:solidFill>
                <a:latin typeface="Courier New" charset="0"/>
              </a:rPr>
              <a:t>MPI_Send</a:t>
            </a:r>
            <a:r>
              <a:rPr lang="en-US" sz="2400" b="1" dirty="0"/>
              <a:t> returns </a:t>
            </a:r>
            <a:r>
              <a:rPr lang="en-US" sz="2400" dirty="0"/>
              <a:t>the </a:t>
            </a:r>
            <a:r>
              <a:rPr lang="en-US" sz="2400" b="1" dirty="0">
                <a:solidFill>
                  <a:srgbClr val="2C14DE"/>
                </a:solidFill>
              </a:rPr>
              <a:t>message is sent </a:t>
            </a:r>
            <a:r>
              <a:rPr lang="en-US" sz="2400" dirty="0"/>
              <a:t>and the </a:t>
            </a:r>
            <a:r>
              <a:rPr lang="en-US" sz="2400" b="1" u="sng" dirty="0">
                <a:solidFill>
                  <a:srgbClr val="2C14DE"/>
                </a:solidFill>
              </a:rPr>
              <a:t>data buffer </a:t>
            </a:r>
            <a:r>
              <a:rPr lang="en-US" sz="2400" b="1" dirty="0">
                <a:solidFill>
                  <a:srgbClr val="2C14DE"/>
                </a:solidFill>
              </a:rPr>
              <a:t>can be reused </a:t>
            </a:r>
            <a:r>
              <a:rPr lang="en-US" sz="2400" dirty="0"/>
              <a:t>(the </a:t>
            </a:r>
            <a:r>
              <a:rPr lang="en-US" sz="2400" b="1" dirty="0"/>
              <a:t>message may not have been received </a:t>
            </a:r>
            <a:r>
              <a:rPr lang="en-US" sz="2400" dirty="0"/>
              <a:t>by the </a:t>
            </a:r>
            <a:r>
              <a:rPr lang="en-US" sz="2400" b="1" dirty="0"/>
              <a:t>target process</a:t>
            </a:r>
            <a:r>
              <a:rPr lang="en-US" sz="2400" dirty="0"/>
              <a:t> yet</a:t>
            </a:r>
            <a:r>
              <a:rPr lang="en-US" sz="2400" b="1" dirty="0"/>
              <a:t>)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3403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"/>
            <a:ext cx="9091863" cy="67818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b="1" dirty="0" err="1">
                <a:solidFill>
                  <a:srgbClr val="C00000"/>
                </a:solidFill>
              </a:rPr>
              <a:t>MPI_Recv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296400" cy="6019800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  <a:buFontTx/>
              <a:buNone/>
              <a:defRPr/>
            </a:pPr>
            <a:r>
              <a:rPr lang="en-US" sz="2200" b="1" dirty="0" err="1">
                <a:solidFill>
                  <a:srgbClr val="2C14DE"/>
                </a:solidFill>
                <a:latin typeface="Courier New" pitchFamily="49" charset="0"/>
                <a:cs typeface="Courier New" pitchFamily="49" charset="0"/>
              </a:rPr>
              <a:t>MPI_Recv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(void* </a:t>
            </a:r>
            <a:r>
              <a:rPr lang="en-US" sz="22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data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,int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count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,MPI_Datatype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source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,int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tag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,MPI_Comm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comm</a:t>
            </a:r>
            <a:r>
              <a:rPr lang="en-US" sz="2200" b="1" dirty="0" err="1">
                <a:latin typeface="Courier New" pitchFamily="49" charset="0"/>
                <a:cs typeface="Courier New" pitchFamily="49" charset="0"/>
              </a:rPr>
              <a:t>,MPI_Status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* </a:t>
            </a:r>
            <a:r>
              <a:rPr lang="en-US" sz="2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status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1314450" lvl="3" indent="0">
              <a:lnSpc>
                <a:spcPct val="90000"/>
              </a:lnSpc>
              <a:buNone/>
              <a:defRPr/>
            </a:pPr>
            <a:r>
              <a:rPr lang="en-US" sz="2600" b="1" i="1" dirty="0">
                <a:solidFill>
                  <a:srgbClr val="FF0000"/>
                </a:solidFill>
              </a:rPr>
              <a:t>data</a:t>
            </a:r>
            <a:r>
              <a:rPr lang="en-US" sz="2600" dirty="0"/>
              <a:t>: </a:t>
            </a:r>
            <a:r>
              <a:rPr lang="en-US" sz="2600" b="1" dirty="0"/>
              <a:t>pointer</a:t>
            </a:r>
            <a:r>
              <a:rPr lang="en-US" sz="2600" dirty="0"/>
              <a:t> to </a:t>
            </a:r>
            <a:r>
              <a:rPr lang="en-US" sz="2600" b="1" dirty="0"/>
              <a:t>data</a:t>
            </a:r>
          </a:p>
          <a:p>
            <a:pPr marL="1314450" lvl="3" indent="0">
              <a:lnSpc>
                <a:spcPct val="90000"/>
              </a:lnSpc>
              <a:buNone/>
              <a:defRPr/>
            </a:pPr>
            <a:r>
              <a:rPr lang="en-US" sz="2600" b="1" i="1" dirty="0">
                <a:solidFill>
                  <a:srgbClr val="FF0000"/>
                </a:solidFill>
              </a:rPr>
              <a:t>count</a:t>
            </a:r>
            <a:r>
              <a:rPr lang="en-US" sz="2600" dirty="0"/>
              <a:t>: </a:t>
            </a:r>
            <a:r>
              <a:rPr lang="en-US" sz="2600" b="1" dirty="0"/>
              <a:t>number</a:t>
            </a:r>
            <a:r>
              <a:rPr lang="en-US" sz="2600" dirty="0"/>
              <a:t> of </a:t>
            </a:r>
            <a:r>
              <a:rPr lang="en-US" sz="2600" b="1" dirty="0"/>
              <a:t>elements</a:t>
            </a:r>
            <a:r>
              <a:rPr lang="en-US" sz="2600" dirty="0"/>
              <a:t> to be </a:t>
            </a:r>
            <a:r>
              <a:rPr lang="en-US" sz="2600" b="1" dirty="0"/>
              <a:t>received (</a:t>
            </a:r>
            <a:r>
              <a:rPr lang="en-US" sz="2600" b="1" u="sng" dirty="0">
                <a:solidFill>
                  <a:srgbClr val="FF0000"/>
                </a:solidFill>
              </a:rPr>
              <a:t>upper bound</a:t>
            </a:r>
            <a:r>
              <a:rPr lang="en-US" sz="2600" b="1" dirty="0"/>
              <a:t>)</a:t>
            </a:r>
          </a:p>
          <a:p>
            <a:pPr marL="1314450" lvl="3" indent="0">
              <a:lnSpc>
                <a:spcPct val="90000"/>
              </a:lnSpc>
              <a:buNone/>
              <a:defRPr/>
            </a:pPr>
            <a:r>
              <a:rPr lang="en-US" sz="2600" b="1" i="1" dirty="0">
                <a:solidFill>
                  <a:srgbClr val="FF0000"/>
                </a:solidFill>
              </a:rPr>
              <a:t>type</a:t>
            </a:r>
            <a:r>
              <a:rPr lang="en-US" sz="2600" dirty="0"/>
              <a:t>: </a:t>
            </a:r>
            <a:r>
              <a:rPr lang="en-US" sz="2600" b="1" dirty="0"/>
              <a:t>data type</a:t>
            </a:r>
          </a:p>
          <a:p>
            <a:pPr marL="1314450" lvl="3" indent="0">
              <a:lnSpc>
                <a:spcPct val="90000"/>
              </a:lnSpc>
              <a:buNone/>
              <a:defRPr/>
            </a:pPr>
            <a:r>
              <a:rPr lang="en-US" sz="2600" b="1" i="1" dirty="0">
                <a:solidFill>
                  <a:srgbClr val="FF0000"/>
                </a:solidFill>
              </a:rPr>
              <a:t>source</a:t>
            </a:r>
            <a:r>
              <a:rPr lang="en-US" sz="2600" dirty="0"/>
              <a:t>: </a:t>
            </a:r>
            <a:r>
              <a:rPr lang="en-US" sz="2600" b="1" dirty="0"/>
              <a:t>source</a:t>
            </a:r>
            <a:r>
              <a:rPr lang="en-US" sz="2600" dirty="0"/>
              <a:t> </a:t>
            </a:r>
            <a:r>
              <a:rPr lang="en-US" sz="2600" b="1" dirty="0"/>
              <a:t>process</a:t>
            </a:r>
            <a:r>
              <a:rPr lang="en-US" sz="2600" dirty="0"/>
              <a:t> of the </a:t>
            </a:r>
            <a:r>
              <a:rPr lang="en-US" sz="2600" b="1" dirty="0"/>
              <a:t>message</a:t>
            </a:r>
          </a:p>
          <a:p>
            <a:pPr marL="1314450" lvl="3" indent="0">
              <a:lnSpc>
                <a:spcPct val="90000"/>
              </a:lnSpc>
              <a:buNone/>
              <a:defRPr/>
            </a:pPr>
            <a:r>
              <a:rPr lang="en-US" sz="2600" b="1" i="1" dirty="0">
                <a:solidFill>
                  <a:srgbClr val="FF0000"/>
                </a:solidFill>
              </a:rPr>
              <a:t>tag</a:t>
            </a:r>
            <a:r>
              <a:rPr lang="en-US" sz="2600" dirty="0"/>
              <a:t>: identifying </a:t>
            </a:r>
            <a:r>
              <a:rPr lang="en-US" sz="2600" b="1" dirty="0"/>
              <a:t>tag</a:t>
            </a:r>
          </a:p>
          <a:p>
            <a:pPr marL="1314450" lvl="3" indent="0">
              <a:lnSpc>
                <a:spcPct val="90000"/>
              </a:lnSpc>
              <a:buNone/>
              <a:defRPr/>
            </a:pPr>
            <a:r>
              <a:rPr lang="en-US" sz="2600" b="1" i="1" dirty="0" err="1">
                <a:solidFill>
                  <a:srgbClr val="FF0000"/>
                </a:solidFill>
              </a:rPr>
              <a:t>comm</a:t>
            </a:r>
            <a:r>
              <a:rPr lang="en-US" sz="2600" dirty="0"/>
              <a:t>: </a:t>
            </a:r>
            <a:r>
              <a:rPr lang="en-US" sz="2600" b="1" dirty="0"/>
              <a:t>communicator</a:t>
            </a:r>
          </a:p>
          <a:p>
            <a:pPr marL="1314450" lvl="3" indent="0">
              <a:lnSpc>
                <a:spcPct val="90000"/>
              </a:lnSpc>
              <a:buNone/>
              <a:defRPr/>
            </a:pPr>
            <a:r>
              <a:rPr lang="en-US" sz="2600" b="1" i="1" dirty="0">
                <a:solidFill>
                  <a:srgbClr val="FF0000"/>
                </a:solidFill>
              </a:rPr>
              <a:t>status</a:t>
            </a:r>
            <a:r>
              <a:rPr lang="en-US" sz="2600" dirty="0"/>
              <a:t>: i.e., </a:t>
            </a:r>
            <a:r>
              <a:rPr lang="en-US" sz="2600" b="1" i="1" dirty="0"/>
              <a:t>sender</a:t>
            </a:r>
            <a:r>
              <a:rPr lang="en-US" sz="2600" dirty="0"/>
              <a:t>, </a:t>
            </a:r>
            <a:r>
              <a:rPr lang="en-US" sz="2600" b="1" i="1" dirty="0"/>
              <a:t>tag</a:t>
            </a:r>
            <a:r>
              <a:rPr lang="en-US" sz="2600" dirty="0"/>
              <a:t>, and </a:t>
            </a:r>
            <a:r>
              <a:rPr lang="en-US" sz="2600" b="1" i="1" dirty="0"/>
              <a:t>message</a:t>
            </a:r>
            <a:r>
              <a:rPr lang="en-US" sz="2600" i="1" dirty="0"/>
              <a:t> </a:t>
            </a:r>
            <a:r>
              <a:rPr lang="en-US" sz="2600" b="1" i="1" dirty="0"/>
              <a:t>size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400" dirty="0"/>
          </a:p>
          <a:p>
            <a:pPr>
              <a:lnSpc>
                <a:spcPct val="90000"/>
              </a:lnSpc>
              <a:defRPr/>
            </a:pPr>
            <a:r>
              <a:rPr lang="en-US" sz="2400" dirty="0"/>
              <a:t>When </a:t>
            </a:r>
            <a:r>
              <a:rPr lang="en-US" sz="2400" b="1" dirty="0" err="1">
                <a:solidFill>
                  <a:srgbClr val="2C14DE"/>
                </a:solidFill>
                <a:latin typeface="Courier New" charset="0"/>
              </a:rPr>
              <a:t>MPI_Recv</a:t>
            </a:r>
            <a:r>
              <a:rPr lang="en-US" sz="2400" dirty="0"/>
              <a:t> </a:t>
            </a:r>
            <a:r>
              <a:rPr lang="en-US" sz="2400" b="1" dirty="0"/>
              <a:t>returns</a:t>
            </a:r>
            <a:r>
              <a:rPr lang="en-US" sz="2400" dirty="0"/>
              <a:t> the </a:t>
            </a:r>
            <a:r>
              <a:rPr lang="en-US" sz="2400" b="1" dirty="0"/>
              <a:t>message</a:t>
            </a:r>
            <a:r>
              <a:rPr lang="en-US" sz="2400" dirty="0"/>
              <a:t> has been </a:t>
            </a:r>
            <a:r>
              <a:rPr lang="en-US" sz="2400" b="1" dirty="0"/>
              <a:t>received</a:t>
            </a:r>
          </a:p>
          <a:p>
            <a:pPr>
              <a:lnSpc>
                <a:spcPct val="90000"/>
              </a:lnSpc>
              <a:defRPr/>
            </a:pPr>
            <a:endParaRPr lang="en-US" sz="2400" b="1" dirty="0"/>
          </a:p>
          <a:p>
            <a:pPr>
              <a:lnSpc>
                <a:spcPct val="90000"/>
              </a:lnSpc>
              <a:defRPr/>
            </a:pPr>
            <a:r>
              <a:rPr lang="en-US" sz="2400" b="1" dirty="0">
                <a:solidFill>
                  <a:srgbClr val="2C14DE"/>
                </a:solidFill>
              </a:rPr>
              <a:t>Waits</a:t>
            </a:r>
            <a:r>
              <a:rPr lang="en-US" sz="2400" dirty="0">
                <a:solidFill>
                  <a:srgbClr val="2C14DE"/>
                </a:solidFill>
              </a:rPr>
              <a:t> </a:t>
            </a:r>
            <a:r>
              <a:rPr lang="en-US" sz="2400" dirty="0"/>
              <a:t>until a </a:t>
            </a:r>
            <a:r>
              <a:rPr lang="en-US" sz="2400" b="1" dirty="0">
                <a:solidFill>
                  <a:srgbClr val="2C14DE"/>
                </a:solidFill>
              </a:rPr>
              <a:t>matching</a:t>
            </a:r>
            <a:r>
              <a:rPr lang="en-US" sz="2400" dirty="0">
                <a:solidFill>
                  <a:srgbClr val="2C14DE"/>
                </a:solidFill>
              </a:rPr>
              <a:t> </a:t>
            </a:r>
            <a:r>
              <a:rPr lang="en-US" sz="2400" dirty="0"/>
              <a:t>(on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source</a:t>
            </a:r>
            <a:r>
              <a:rPr lang="en-US" sz="2000" dirty="0"/>
              <a:t>,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tag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comm</a:t>
            </a:r>
            <a:r>
              <a:rPr lang="en-US" sz="2400" dirty="0"/>
              <a:t>) </a:t>
            </a:r>
            <a:r>
              <a:rPr lang="en-US" sz="2400" b="1" dirty="0">
                <a:solidFill>
                  <a:srgbClr val="2C14DE"/>
                </a:solidFill>
              </a:rPr>
              <a:t>message</a:t>
            </a:r>
            <a:r>
              <a:rPr lang="en-US" sz="2400" dirty="0">
                <a:solidFill>
                  <a:srgbClr val="2C14DE"/>
                </a:solidFill>
              </a:rPr>
              <a:t> </a:t>
            </a:r>
            <a:r>
              <a:rPr lang="en-US" sz="2400" dirty="0"/>
              <a:t>is </a:t>
            </a:r>
            <a:r>
              <a:rPr lang="en-US" sz="2400" b="1" dirty="0">
                <a:solidFill>
                  <a:srgbClr val="2C14DE"/>
                </a:solidFill>
              </a:rPr>
              <a:t>received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0348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628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fr-FR" b="1" dirty="0" err="1">
                <a:solidFill>
                  <a:srgbClr val="C00000"/>
                </a:solidFill>
                <a:ea typeface="+mj-ea"/>
              </a:rPr>
              <a:t>Elementary</a:t>
            </a:r>
            <a:r>
              <a:rPr lang="fr-FR" b="1" dirty="0">
                <a:solidFill>
                  <a:srgbClr val="C00000"/>
                </a:solidFill>
                <a:ea typeface="+mj-ea"/>
              </a:rPr>
              <a:t> MPI </a:t>
            </a:r>
            <a:r>
              <a:rPr lang="fr-FR" b="1" dirty="0" err="1">
                <a:solidFill>
                  <a:srgbClr val="C00000"/>
                </a:solidFill>
                <a:ea typeface="+mj-ea"/>
              </a:rPr>
              <a:t>datatypes</a:t>
            </a:r>
            <a:endParaRPr lang="en-US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838200"/>
            <a:ext cx="9144000" cy="5943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C00000"/>
                </a:solidFill>
                <a:latin typeface="+mj-lt"/>
              </a:rPr>
              <a:t>Similar</a:t>
            </a:r>
            <a:r>
              <a:rPr lang="en-US" sz="3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3000" dirty="0">
                <a:latin typeface="+mj-lt"/>
              </a:rPr>
              <a:t>to </a:t>
            </a:r>
            <a:r>
              <a:rPr lang="en-US" sz="3000" b="1" dirty="0">
                <a:solidFill>
                  <a:srgbClr val="C00000"/>
                </a:solidFill>
                <a:latin typeface="+mj-lt"/>
              </a:rPr>
              <a:t>C </a:t>
            </a:r>
            <a:r>
              <a:rPr lang="en-US" sz="3000" b="1" dirty="0" err="1">
                <a:solidFill>
                  <a:srgbClr val="C00000"/>
                </a:solidFill>
                <a:latin typeface="+mj-lt"/>
              </a:rPr>
              <a:t>datatypes</a:t>
            </a:r>
            <a:r>
              <a:rPr lang="en-US" sz="3000" b="1" dirty="0">
                <a:solidFill>
                  <a:srgbClr val="C00000"/>
                </a:solidFill>
                <a:latin typeface="+mj-lt"/>
              </a:rPr>
              <a:t>, </a:t>
            </a:r>
            <a:r>
              <a:rPr lang="en-US" sz="3000" b="1" dirty="0">
                <a:solidFill>
                  <a:srgbClr val="00B050"/>
                </a:solidFill>
                <a:latin typeface="+mj-lt"/>
              </a:rPr>
              <a:t>portable</a:t>
            </a:r>
            <a:r>
              <a:rPr lang="en-US" sz="30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800" b="1" dirty="0">
                <a:solidFill>
                  <a:srgbClr val="00B050"/>
                </a:solidFill>
              </a:rPr>
              <a:t>MPI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b="1" dirty="0" err="1">
                <a:solidFill>
                  <a:srgbClr val="00B050"/>
                </a:solidFill>
              </a:rPr>
              <a:t>datatypes</a:t>
            </a:r>
            <a:endParaRPr lang="en-US" sz="3000" b="1" dirty="0">
              <a:solidFill>
                <a:srgbClr val="00B050"/>
              </a:solidFill>
              <a:latin typeface="+mj-lt"/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rgbClr val="2C14DE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2C14DE"/>
                </a:solidFill>
                <a:latin typeface="+mj-lt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dirty="0">
                <a:latin typeface="+mj-lt"/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2C14DE"/>
                </a:solidFill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MPI_INT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2C14DE"/>
                </a:solidFill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 double</a:t>
            </a:r>
            <a:r>
              <a:rPr lang="en-US" dirty="0">
                <a:solidFill>
                  <a:srgbClr val="2C14DE"/>
                </a:solidFill>
                <a:latin typeface="+mj-lt"/>
                <a:sym typeface="Wingdings" panose="05000000000000000000" pitchFamily="2" charset="2"/>
              </a:rPr>
              <a:t> </a:t>
            </a:r>
            <a:r>
              <a:rPr lang="en-US" dirty="0">
                <a:latin typeface="+mj-lt"/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2C14DE"/>
                </a:solidFill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MPI_DOUBLE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2C14DE"/>
                </a:solidFill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 char</a:t>
            </a:r>
            <a:r>
              <a:rPr lang="en-US" dirty="0">
                <a:solidFill>
                  <a:srgbClr val="2C14DE"/>
                </a:solidFill>
                <a:latin typeface="+mj-lt"/>
                <a:sym typeface="Wingdings" panose="05000000000000000000" pitchFamily="2" charset="2"/>
              </a:rPr>
              <a:t> </a:t>
            </a:r>
            <a:r>
              <a:rPr lang="en-US" dirty="0">
                <a:latin typeface="+mj-lt"/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2C14DE"/>
                </a:solidFill>
                <a:latin typeface="+mj-lt"/>
                <a:cs typeface="Courier New" panose="02070309020205020404" pitchFamily="49" charset="0"/>
                <a:sym typeface="Wingdings" panose="05000000000000000000" pitchFamily="2" charset="2"/>
              </a:rPr>
              <a:t>MPI_CHAR</a:t>
            </a:r>
          </a:p>
          <a:p>
            <a:pPr marL="457200" lvl="1" indent="0">
              <a:buNone/>
            </a:pPr>
            <a:endParaRPr lang="en-US" b="1" dirty="0">
              <a:latin typeface="+mj-lt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r>
              <a:rPr lang="en-US" sz="2800" b="1" dirty="0">
                <a:solidFill>
                  <a:srgbClr val="2C14DE"/>
                </a:solidFill>
                <a:latin typeface="+mj-lt"/>
                <a:sym typeface="Wingdings" panose="05000000000000000000" pitchFamily="2" charset="2"/>
              </a:rPr>
              <a:t>Complex</a:t>
            </a:r>
            <a:r>
              <a:rPr lang="en-US" sz="2800" dirty="0">
                <a:solidFill>
                  <a:srgbClr val="2C14DE"/>
                </a:solidFill>
                <a:latin typeface="+mj-lt"/>
                <a:sym typeface="Wingdings" panose="05000000000000000000" pitchFamily="2" charset="2"/>
              </a:rPr>
              <a:t> </a:t>
            </a:r>
            <a:r>
              <a:rPr lang="en-US" sz="2800" b="1" dirty="0" err="1">
                <a:solidFill>
                  <a:srgbClr val="2C14DE"/>
                </a:solidFill>
                <a:latin typeface="+mj-lt"/>
                <a:sym typeface="Wingdings" panose="05000000000000000000" pitchFamily="2" charset="2"/>
              </a:rPr>
              <a:t>datatypes</a:t>
            </a:r>
            <a:r>
              <a:rPr lang="en-US" sz="2800" dirty="0">
                <a:solidFill>
                  <a:srgbClr val="2C14DE"/>
                </a:solidFill>
                <a:latin typeface="+mj-lt"/>
                <a:sym typeface="Wingdings" panose="05000000000000000000" pitchFamily="2" charset="2"/>
              </a:rPr>
              <a:t> </a:t>
            </a:r>
            <a:r>
              <a:rPr lang="en-US" sz="2800" dirty="0">
                <a:latin typeface="+mj-lt"/>
                <a:sym typeface="Wingdings" panose="05000000000000000000" pitchFamily="2" charset="2"/>
              </a:rPr>
              <a:t>also </a:t>
            </a:r>
            <a:r>
              <a:rPr lang="en-US" sz="2800" b="1" dirty="0">
                <a:latin typeface="+mj-lt"/>
                <a:sym typeface="Wingdings" panose="05000000000000000000" pitchFamily="2" charset="2"/>
              </a:rPr>
              <a:t>possible</a:t>
            </a:r>
            <a:r>
              <a:rPr lang="en-US" sz="2800" dirty="0">
                <a:latin typeface="+mj-lt"/>
                <a:sym typeface="Wingdings" panose="05000000000000000000" pitchFamily="2" charset="2"/>
              </a:rPr>
              <a:t>:</a:t>
            </a:r>
          </a:p>
          <a:p>
            <a:pPr lvl="1"/>
            <a:r>
              <a:rPr lang="en-US" dirty="0">
                <a:latin typeface="+mj-lt"/>
                <a:sym typeface="Wingdings" panose="05000000000000000000" pitchFamily="2" charset="2"/>
              </a:rPr>
              <a:t>E.g., a </a:t>
            </a:r>
            <a:r>
              <a:rPr lang="en-US" b="1" dirty="0">
                <a:solidFill>
                  <a:srgbClr val="2C14DE"/>
                </a:solidFill>
                <a:latin typeface="+mj-lt"/>
                <a:sym typeface="Wingdings" panose="05000000000000000000" pitchFamily="2" charset="2"/>
              </a:rPr>
              <a:t>structure </a:t>
            </a:r>
            <a:r>
              <a:rPr lang="en-US" b="1" dirty="0" err="1">
                <a:solidFill>
                  <a:srgbClr val="2C14DE"/>
                </a:solidFill>
                <a:latin typeface="+mj-lt"/>
                <a:sym typeface="Wingdings" panose="05000000000000000000" pitchFamily="2" charset="2"/>
              </a:rPr>
              <a:t>datatype</a:t>
            </a:r>
            <a:r>
              <a:rPr lang="en-US" b="1" dirty="0">
                <a:solidFill>
                  <a:srgbClr val="2C14DE"/>
                </a:solidFill>
                <a:latin typeface="+mj-lt"/>
                <a:sym typeface="Wingdings" panose="05000000000000000000" pitchFamily="2" charset="2"/>
              </a:rPr>
              <a:t> </a:t>
            </a:r>
            <a:r>
              <a:rPr lang="en-US" dirty="0">
                <a:latin typeface="+mj-lt"/>
                <a:sym typeface="Wingdings" panose="05000000000000000000" pitchFamily="2" charset="2"/>
              </a:rPr>
              <a:t>that </a:t>
            </a:r>
            <a:r>
              <a:rPr lang="en-US" b="1" dirty="0">
                <a:latin typeface="+mj-lt"/>
                <a:sym typeface="Wingdings" panose="05000000000000000000" pitchFamily="2" charset="2"/>
              </a:rPr>
              <a:t>comprises</a:t>
            </a:r>
            <a:r>
              <a:rPr lang="en-US" dirty="0">
                <a:latin typeface="+mj-lt"/>
                <a:sym typeface="Wingdings" panose="05000000000000000000" pitchFamily="2" charset="2"/>
              </a:rPr>
              <a:t> of other </a:t>
            </a:r>
            <a:r>
              <a:rPr lang="en-US" b="1" dirty="0" err="1">
                <a:latin typeface="+mj-lt"/>
                <a:sym typeface="Wingdings" panose="05000000000000000000" pitchFamily="2" charset="2"/>
              </a:rPr>
              <a:t>datatypes</a:t>
            </a:r>
            <a:r>
              <a:rPr lang="en-US" dirty="0">
                <a:latin typeface="+mj-lt"/>
                <a:sym typeface="Wingdings" panose="05000000000000000000" pitchFamily="2" charset="2"/>
              </a:rPr>
              <a:t>  a </a:t>
            </a:r>
            <a:r>
              <a:rPr lang="en-US" b="1" dirty="0">
                <a:latin typeface="+mj-lt"/>
                <a:sym typeface="Wingdings" panose="05000000000000000000" pitchFamily="2" charset="2"/>
              </a:rPr>
              <a:t>char</a:t>
            </a:r>
            <a:r>
              <a:rPr lang="en-US" dirty="0">
                <a:latin typeface="+mj-lt"/>
                <a:sym typeface="Wingdings" panose="05000000000000000000" pitchFamily="2" charset="2"/>
              </a:rPr>
              <a:t>, an </a:t>
            </a:r>
            <a:r>
              <a:rPr lang="en-US" b="1" dirty="0" err="1">
                <a:latin typeface="+mj-lt"/>
                <a:sym typeface="Wingdings" panose="05000000000000000000" pitchFamily="2" charset="2"/>
              </a:rPr>
              <a:t>int</a:t>
            </a:r>
            <a:r>
              <a:rPr lang="en-US" dirty="0">
                <a:latin typeface="+mj-lt"/>
                <a:sym typeface="Wingdings" panose="05000000000000000000" pitchFamily="2" charset="2"/>
              </a:rPr>
              <a:t> and a </a:t>
            </a:r>
            <a:r>
              <a:rPr lang="en-US" b="1" dirty="0">
                <a:latin typeface="+mj-lt"/>
                <a:sym typeface="Wingdings" panose="05000000000000000000" pitchFamily="2" charset="2"/>
              </a:rPr>
              <a:t>double</a:t>
            </a:r>
          </a:p>
          <a:p>
            <a:pPr lvl="1"/>
            <a:endParaRPr lang="en-US" sz="2800" dirty="0">
              <a:latin typeface="+mj-lt"/>
              <a:sym typeface="Wingdings" panose="05000000000000000000" pitchFamily="2" charset="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1077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8996413" cy="716281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fr-FR" b="1" dirty="0" err="1">
                <a:solidFill>
                  <a:srgbClr val="C00000"/>
                </a:solidFill>
                <a:ea typeface="+mj-ea"/>
              </a:rPr>
              <a:t>Elementary</a:t>
            </a:r>
            <a:r>
              <a:rPr lang="fr-FR" b="1" dirty="0">
                <a:solidFill>
                  <a:srgbClr val="C00000"/>
                </a:solidFill>
                <a:ea typeface="+mj-ea"/>
              </a:rPr>
              <a:t> MPI </a:t>
            </a:r>
            <a:r>
              <a:rPr lang="fr-FR" b="1" dirty="0" err="1">
                <a:solidFill>
                  <a:srgbClr val="C00000"/>
                </a:solidFill>
                <a:ea typeface="+mj-ea"/>
              </a:rPr>
              <a:t>datatypes</a:t>
            </a:r>
            <a:endParaRPr lang="en-US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1032154"/>
            <a:ext cx="6600825" cy="561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0017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56950" y="799700"/>
            <a:ext cx="8991600" cy="6019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#include &lt;</a:t>
            </a:r>
            <a:r>
              <a:rPr lang="en-US" altLang="zh-CN" sz="1600" b="1" dirty="0" err="1">
                <a:solidFill>
                  <a:srgbClr val="151515"/>
                </a:solidFill>
                <a:latin typeface="Courier New" panose="02070309020205020404" pitchFamily="49" charset="0"/>
              </a:rPr>
              <a:t>mpi.h</a:t>
            </a:r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&gt;</a:t>
            </a:r>
          </a:p>
          <a:p>
            <a:pPr eaLnBrk="1" hangingPunct="1"/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#include &lt;</a:t>
            </a:r>
            <a:r>
              <a:rPr lang="en-US" altLang="zh-CN" sz="1600" b="1" dirty="0" err="1">
                <a:solidFill>
                  <a:srgbClr val="151515"/>
                </a:solidFill>
                <a:latin typeface="Courier New" panose="02070309020205020404" pitchFamily="49" charset="0"/>
              </a:rPr>
              <a:t>stdio.h</a:t>
            </a:r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&gt;</a:t>
            </a:r>
          </a:p>
          <a:p>
            <a:pPr eaLnBrk="1" hangingPunct="1"/>
            <a:r>
              <a:rPr lang="en-US" altLang="zh-CN" sz="1600" b="1" dirty="0" err="1">
                <a:solidFill>
                  <a:srgbClr val="151515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 main(</a:t>
            </a:r>
            <a:r>
              <a:rPr lang="en-US" altLang="zh-CN" sz="1600" b="1" dirty="0" err="1">
                <a:solidFill>
                  <a:srgbClr val="151515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00" b="1" dirty="0" err="1">
                <a:solidFill>
                  <a:srgbClr val="151515"/>
                </a:solidFill>
                <a:latin typeface="Courier New" panose="02070309020205020404" pitchFamily="49" charset="0"/>
              </a:rPr>
              <a:t>argc</a:t>
            </a:r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, char **</a:t>
            </a:r>
            <a:r>
              <a:rPr lang="en-US" altLang="zh-CN" sz="1600" b="1" dirty="0" err="1">
                <a:solidFill>
                  <a:srgbClr val="151515"/>
                </a:solidFill>
                <a:latin typeface="Courier New" panose="02070309020205020404" pitchFamily="49" charset="0"/>
              </a:rPr>
              <a:t>argv</a:t>
            </a:r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)</a:t>
            </a:r>
          </a:p>
          <a:p>
            <a:pPr eaLnBrk="1" hangingPunct="1"/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 err="1">
                <a:solidFill>
                  <a:srgbClr val="151515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 rank; </a:t>
            </a:r>
          </a:p>
          <a:p>
            <a:pPr eaLnBrk="1" hangingPunct="1"/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 err="1">
                <a:solidFill>
                  <a:srgbClr val="151515"/>
                </a:solidFill>
                <a:latin typeface="Courier New" panose="02070309020205020404" pitchFamily="49" charset="0"/>
              </a:rPr>
              <a:t>MPI_Init</a:t>
            </a:r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(&amp;</a:t>
            </a:r>
            <a:r>
              <a:rPr lang="en-US" altLang="zh-CN" sz="1600" b="1" dirty="0" err="1">
                <a:solidFill>
                  <a:srgbClr val="151515"/>
                </a:solidFill>
                <a:latin typeface="Courier New" panose="02070309020205020404" pitchFamily="49" charset="0"/>
              </a:rPr>
              <a:t>argc</a:t>
            </a:r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, &amp;</a:t>
            </a:r>
            <a:r>
              <a:rPr lang="en-US" altLang="zh-CN" sz="1600" b="1" dirty="0" err="1">
                <a:solidFill>
                  <a:srgbClr val="151515"/>
                </a:solidFill>
                <a:latin typeface="Courier New" panose="02070309020205020404" pitchFamily="49" charset="0"/>
              </a:rPr>
              <a:t>argv</a:t>
            </a:r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 err="1">
                <a:solidFill>
                  <a:srgbClr val="151515"/>
                </a:solidFill>
                <a:latin typeface="Courier New" panose="02070309020205020404" pitchFamily="49" charset="0"/>
              </a:rPr>
              <a:t>MPI_Comm_rank</a:t>
            </a:r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(MPI_COMM_WORLD, &amp;rank);</a:t>
            </a:r>
          </a:p>
          <a:p>
            <a:pPr eaLnBrk="1" hangingPunct="1"/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    if (rank == 0){</a:t>
            </a:r>
          </a:p>
          <a:p>
            <a:pPr eaLnBrk="1" hangingPunct="1"/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        char </a:t>
            </a:r>
            <a:r>
              <a:rPr lang="en-US" altLang="zh-CN" sz="1600" b="1" dirty="0" err="1">
                <a:solidFill>
                  <a:srgbClr val="151515"/>
                </a:solidFill>
                <a:latin typeface="Courier New" panose="02070309020205020404" pitchFamily="49" charset="0"/>
              </a:rPr>
              <a:t>sdata</a:t>
            </a:r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[] = "Hello PDC";</a:t>
            </a:r>
          </a:p>
          <a:p>
            <a:pPr eaLnBrk="1" hangingPunct="1"/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zh-CN" sz="1600" b="1" dirty="0" err="1">
                <a:solidFill>
                  <a:srgbClr val="151515"/>
                </a:solidFill>
                <a:latin typeface="Courier New" panose="02070309020205020404" pitchFamily="49" charset="0"/>
              </a:rPr>
              <a:t>MPI_Send</a:t>
            </a:r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600" b="1" dirty="0" err="1">
                <a:solidFill>
                  <a:srgbClr val="151515"/>
                </a:solidFill>
                <a:latin typeface="Courier New" panose="02070309020205020404" pitchFamily="49" charset="0"/>
              </a:rPr>
              <a:t>sdata</a:t>
            </a:r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, 9, MPI_CHAR, 1, 0, MPI_COMM_WORLD);</a:t>
            </a:r>
          </a:p>
          <a:p>
            <a:pPr eaLnBrk="1" hangingPunct="1"/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    } </a:t>
            </a:r>
          </a:p>
          <a:p>
            <a:pPr eaLnBrk="1" hangingPunct="1"/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    else if (rank == 1) {  </a:t>
            </a:r>
          </a:p>
          <a:p>
            <a:pPr eaLnBrk="1" hangingPunct="1"/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       char </a:t>
            </a:r>
            <a:r>
              <a:rPr lang="en-US" altLang="zh-CN" sz="1600" b="1" dirty="0" err="1">
                <a:solidFill>
                  <a:srgbClr val="151515"/>
                </a:solidFill>
                <a:latin typeface="Courier New" panose="02070309020205020404" pitchFamily="49" charset="0"/>
              </a:rPr>
              <a:t>rdata</a:t>
            </a:r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[]="";</a:t>
            </a:r>
          </a:p>
          <a:p>
            <a:pPr eaLnBrk="1" hangingPunct="1"/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       </a:t>
            </a:r>
            <a:r>
              <a:rPr lang="en-US" altLang="zh-CN" sz="1600" b="1" dirty="0" err="1">
                <a:solidFill>
                  <a:srgbClr val="151515"/>
                </a:solidFill>
                <a:latin typeface="Courier New" panose="02070309020205020404" pitchFamily="49" charset="0"/>
              </a:rPr>
              <a:t>MPI_Recv</a:t>
            </a:r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(rdata,9,MPI_CHAR,0,0,MPI_COMM_WORLD,MPI_STATUS_IGNORE);</a:t>
            </a:r>
          </a:p>
          <a:p>
            <a:pPr eaLnBrk="1" hangingPunct="1"/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       </a:t>
            </a:r>
            <a:r>
              <a:rPr lang="en-US" altLang="zh-CN" sz="1600" b="1" dirty="0" err="1">
                <a:solidFill>
                  <a:srgbClr val="151515"/>
                </a:solidFill>
                <a:latin typeface="Courier New" panose="02070309020205020404" pitchFamily="49" charset="0"/>
              </a:rPr>
              <a:t>printf</a:t>
            </a:r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("\</a:t>
            </a:r>
            <a:r>
              <a:rPr lang="en-US" altLang="zh-CN" sz="1600" b="1" dirty="0" err="1">
                <a:solidFill>
                  <a:srgbClr val="151515"/>
                </a:solidFill>
                <a:latin typeface="Courier New" panose="02070309020205020404" pitchFamily="49" charset="0"/>
              </a:rPr>
              <a:t>nI</a:t>
            </a:r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 am a </a:t>
            </a:r>
            <a:r>
              <a:rPr lang="en-US" altLang="zh-CN" sz="1600" b="1" dirty="0" err="1">
                <a:solidFill>
                  <a:srgbClr val="151515"/>
                </a:solidFill>
                <a:latin typeface="Courier New" panose="02070309020205020404" pitchFamily="49" charset="0"/>
              </a:rPr>
              <a:t>slave,received</a:t>
            </a:r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 %s message from master\n", </a:t>
            </a:r>
            <a:r>
              <a:rPr lang="en-US" altLang="zh-CN" sz="1600" b="1" dirty="0" err="1">
                <a:solidFill>
                  <a:srgbClr val="151515"/>
                </a:solidFill>
                <a:latin typeface="Courier New" panose="02070309020205020404" pitchFamily="49" charset="0"/>
              </a:rPr>
              <a:t>rdata</a:t>
            </a:r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);</a:t>
            </a:r>
          </a:p>
          <a:p>
            <a:pPr eaLnBrk="1" hangingPunct="1"/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     }</a:t>
            </a:r>
          </a:p>
          <a:p>
            <a:pPr eaLnBrk="1" hangingPunct="1"/>
            <a:endParaRPr lang="en-US" altLang="zh-CN" sz="1600" b="1" dirty="0">
              <a:solidFill>
                <a:srgbClr val="151515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1600" b="1" dirty="0" err="1">
                <a:solidFill>
                  <a:srgbClr val="151515"/>
                </a:solidFill>
                <a:latin typeface="Courier New" panose="02070309020205020404" pitchFamily="49" charset="0"/>
              </a:rPr>
              <a:t>MPI_Finalize</a:t>
            </a:r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();</a:t>
            </a:r>
          </a:p>
          <a:p>
            <a:pPr eaLnBrk="1" hangingPunct="1"/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    return 0;</a:t>
            </a:r>
          </a:p>
          <a:p>
            <a:pPr eaLnBrk="1" hangingPunct="1"/>
            <a:r>
              <a:rPr lang="en-US" altLang="zh-CN" sz="1600" b="1" dirty="0">
                <a:solidFill>
                  <a:srgbClr val="151515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  <a:ea typeface="+mj-ea"/>
              </a:rPr>
              <a:t>Simple Communication in MPI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800600" y="2281338"/>
            <a:ext cx="2106510" cy="789489"/>
          </a:xfrm>
          <a:prstGeom prst="straightConnector1">
            <a:avLst/>
          </a:prstGeom>
          <a:ln w="34925">
            <a:solidFill>
              <a:srgbClr val="2C1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3" idx="1"/>
          </p:cNvCxnSpPr>
          <p:nvPr/>
        </p:nvCxnSpPr>
        <p:spPr>
          <a:xfrm flipH="1">
            <a:off x="5334000" y="2700775"/>
            <a:ext cx="2133600" cy="329652"/>
          </a:xfrm>
          <a:prstGeom prst="straightConnector1">
            <a:avLst/>
          </a:prstGeom>
          <a:ln w="34925">
            <a:solidFill>
              <a:srgbClr val="2C14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81800" y="2032569"/>
            <a:ext cx="2005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mic Sans MS" panose="030F0702030302020204" pitchFamily="66" charset="0"/>
              </a:rPr>
              <a:t>Process rank or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7600" y="2531498"/>
            <a:ext cx="1426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mic Sans MS" panose="030F0702030302020204" pitchFamily="66" charset="0"/>
              </a:rPr>
              <a:t>Message tag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38450" y="870719"/>
            <a:ext cx="1676400" cy="762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Demo: P2P.c</a:t>
            </a:r>
          </a:p>
        </p:txBody>
      </p:sp>
    </p:spTree>
    <p:extLst>
      <p:ext uri="{BB962C8B-B14F-4D97-AF65-F5344CB8AC3E}">
        <p14:creationId xmlns:p14="http://schemas.microsoft.com/office/powerpoint/2010/main" val="12342518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5615"/>
            <a:ext cx="9101488" cy="69173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fr-FR" b="1" dirty="0">
                <a:solidFill>
                  <a:srgbClr val="C00000"/>
                </a:solidFill>
                <a:ea typeface="+mj-ea"/>
              </a:rPr>
              <a:t>The </a:t>
            </a:r>
            <a:r>
              <a:rPr lang="fr-FR" b="1" dirty="0" err="1">
                <a:solidFill>
                  <a:srgbClr val="C00000"/>
                </a:solidFill>
                <a:ea typeface="+mj-ea"/>
              </a:rPr>
              <a:t>MPI_Status</a:t>
            </a:r>
            <a:r>
              <a:rPr lang="fr-FR" b="1" dirty="0">
                <a:solidFill>
                  <a:srgbClr val="C00000"/>
                </a:solidFill>
                <a:ea typeface="+mj-ea"/>
              </a:rPr>
              <a:t> structure</a:t>
            </a:r>
            <a:endParaRPr lang="en-US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485379" name="Rectangle 3"/>
          <p:cNvSpPr>
            <a:spLocks noGrp="1" noChangeArrowheads="1"/>
          </p:cNvSpPr>
          <p:nvPr>
            <p:ph idx="1"/>
          </p:nvPr>
        </p:nvSpPr>
        <p:spPr>
          <a:xfrm>
            <a:off x="48126" y="838200"/>
            <a:ext cx="9019674" cy="579120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80000"/>
              </a:lnSpc>
              <a:tabLst>
                <a:tab pos="1244600" algn="l"/>
              </a:tabLst>
              <a:defRPr/>
            </a:pPr>
            <a:r>
              <a:rPr lang="en-US" sz="3000" b="1" dirty="0">
                <a:ea typeface="+mn-ea"/>
              </a:rPr>
              <a:t>Information</a:t>
            </a:r>
            <a:r>
              <a:rPr lang="en-US" sz="3000" dirty="0">
                <a:ea typeface="+mn-ea"/>
              </a:rPr>
              <a:t> is </a:t>
            </a:r>
            <a:r>
              <a:rPr lang="en-US" sz="3000" b="1" dirty="0">
                <a:ea typeface="+mn-ea"/>
              </a:rPr>
              <a:t>returned</a:t>
            </a:r>
            <a:r>
              <a:rPr lang="en-US" sz="3000" dirty="0">
                <a:ea typeface="+mn-ea"/>
              </a:rPr>
              <a:t> from </a:t>
            </a:r>
            <a:r>
              <a:rPr lang="en-US" sz="3000" b="1" dirty="0">
                <a:solidFill>
                  <a:srgbClr val="C00000"/>
                </a:solidFill>
                <a:ea typeface="+mn-ea"/>
              </a:rPr>
              <a:t>MPI_RECV </a:t>
            </a:r>
            <a:r>
              <a:rPr lang="en-US" sz="3000" dirty="0">
                <a:ea typeface="+mn-ea"/>
              </a:rPr>
              <a:t>in </a:t>
            </a:r>
            <a:r>
              <a:rPr lang="en-US" sz="3000" b="1" i="1" dirty="0">
                <a:solidFill>
                  <a:srgbClr val="000099"/>
                </a:solidFill>
                <a:ea typeface="+mn-ea"/>
              </a:rPr>
              <a:t>status</a:t>
            </a:r>
            <a:endParaRPr lang="en-US" sz="3000" dirty="0">
              <a:ea typeface="+mn-ea"/>
            </a:endParaRPr>
          </a:p>
          <a:p>
            <a:pPr>
              <a:lnSpc>
                <a:spcPct val="80000"/>
              </a:lnSpc>
              <a:tabLst>
                <a:tab pos="1244600" algn="l"/>
              </a:tabLst>
              <a:defRPr/>
            </a:pPr>
            <a:endParaRPr lang="en-US" sz="2800" dirty="0">
              <a:ea typeface="+mn-ea"/>
            </a:endParaRPr>
          </a:p>
          <a:p>
            <a:pPr>
              <a:lnSpc>
                <a:spcPct val="80000"/>
              </a:lnSpc>
              <a:tabLst>
                <a:tab pos="1244600" algn="l"/>
              </a:tabLst>
              <a:defRPr/>
            </a:pPr>
            <a:endParaRPr lang="en-US" sz="2400" dirty="0">
              <a:ea typeface="+mn-ea"/>
            </a:endParaRPr>
          </a:p>
          <a:p>
            <a:pPr marL="0" indent="0">
              <a:lnSpc>
                <a:spcPct val="80000"/>
              </a:lnSpc>
              <a:buFontTx/>
              <a:buNone/>
              <a:tabLst>
                <a:tab pos="1244600" algn="l"/>
              </a:tabLst>
              <a:defRPr/>
            </a:pPr>
            <a:r>
              <a:rPr lang="en-US" sz="2400" dirty="0">
                <a:ea typeface="+mn-ea"/>
              </a:rPr>
              <a:t>	</a:t>
            </a:r>
          </a:p>
          <a:p>
            <a:pPr marL="0" indent="0">
              <a:lnSpc>
                <a:spcPct val="80000"/>
              </a:lnSpc>
              <a:buFontTx/>
              <a:buNone/>
              <a:tabLst>
                <a:tab pos="1244600" algn="l"/>
              </a:tabLst>
              <a:defRPr/>
            </a:pPr>
            <a:endParaRPr lang="en-US" sz="2400" dirty="0"/>
          </a:p>
          <a:p>
            <a:pPr marL="0" indent="0">
              <a:lnSpc>
                <a:spcPct val="80000"/>
              </a:lnSpc>
              <a:buFontTx/>
              <a:buNone/>
              <a:tabLst>
                <a:tab pos="1244600" algn="l"/>
              </a:tabLst>
              <a:defRPr/>
            </a:pPr>
            <a:endParaRPr lang="en-US" sz="2400" dirty="0">
              <a:ea typeface="+mn-ea"/>
            </a:endParaRPr>
          </a:p>
          <a:p>
            <a:pPr marL="0" indent="0">
              <a:lnSpc>
                <a:spcPct val="80000"/>
              </a:lnSpc>
              <a:buFontTx/>
              <a:buNone/>
              <a:tabLst>
                <a:tab pos="1244600" algn="l"/>
              </a:tabLst>
              <a:defRPr/>
            </a:pPr>
            <a:endParaRPr lang="en-US" sz="2400" dirty="0"/>
          </a:p>
          <a:p>
            <a:pPr marL="0" indent="0">
              <a:lnSpc>
                <a:spcPct val="80000"/>
              </a:lnSpc>
              <a:buFontTx/>
              <a:buNone/>
              <a:tabLst>
                <a:tab pos="1244600" algn="l"/>
              </a:tabLst>
              <a:defRPr/>
            </a:pPr>
            <a:endParaRPr lang="en-US" sz="2400" dirty="0">
              <a:ea typeface="+mn-ea"/>
            </a:endParaRPr>
          </a:p>
          <a:p>
            <a:pPr marL="0" indent="0">
              <a:lnSpc>
                <a:spcPct val="80000"/>
              </a:lnSpc>
              <a:buFontTx/>
              <a:buNone/>
              <a:tabLst>
                <a:tab pos="1244600" algn="l"/>
              </a:tabLst>
              <a:defRPr/>
            </a:pPr>
            <a:endParaRPr lang="en-US" sz="2400" dirty="0">
              <a:ea typeface="+mn-ea"/>
            </a:endParaRPr>
          </a:p>
          <a:p>
            <a:pPr marL="0" indent="0">
              <a:lnSpc>
                <a:spcPct val="80000"/>
              </a:lnSpc>
              <a:buFontTx/>
              <a:buNone/>
              <a:tabLst>
                <a:tab pos="1244600" algn="l"/>
              </a:tabLst>
              <a:defRPr/>
            </a:pPr>
            <a:endParaRPr lang="en-US" sz="2400" dirty="0">
              <a:ea typeface="+mn-ea"/>
            </a:endParaRPr>
          </a:p>
          <a:p>
            <a:pPr marL="342900" lvl="1" indent="-3429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itchFamily="34" charset="0"/>
              <a:buChar char="•"/>
              <a:tabLst>
                <a:tab pos="1244600" algn="l"/>
              </a:tabLst>
              <a:defRPr/>
            </a:pPr>
            <a:r>
              <a:rPr lang="en-US" sz="2600" b="1" dirty="0"/>
              <a:t>For the </a:t>
            </a:r>
            <a:r>
              <a:rPr lang="en-US" sz="2600" b="1" dirty="0">
                <a:solidFill>
                  <a:srgbClr val="2C14DE"/>
                </a:solidFill>
              </a:rPr>
              <a:t>messages</a:t>
            </a:r>
            <a:r>
              <a:rPr lang="en-US" sz="2600" b="1" dirty="0"/>
              <a:t> received using </a:t>
            </a:r>
            <a:r>
              <a:rPr lang="en-US" sz="2600" b="1" dirty="0">
                <a:solidFill>
                  <a:srgbClr val="2C14DE"/>
                </a:solidFill>
              </a:rPr>
              <a:t>wildcards</a:t>
            </a:r>
            <a:r>
              <a:rPr lang="en-US" sz="2600" b="1" dirty="0"/>
              <a:t> (</a:t>
            </a:r>
            <a:r>
              <a:rPr lang="en-US" sz="2600" b="1" dirty="0">
                <a:solidFill>
                  <a:srgbClr val="2C14DE"/>
                </a:solidFill>
              </a:rPr>
              <a:t>MPI_ANY_TAG</a:t>
            </a:r>
            <a:r>
              <a:rPr lang="en-US" sz="2600" b="1" dirty="0"/>
              <a:t>, </a:t>
            </a:r>
            <a:r>
              <a:rPr lang="en-US" sz="2600" b="1" dirty="0">
                <a:solidFill>
                  <a:srgbClr val="2C14DE"/>
                </a:solidFill>
              </a:rPr>
              <a:t>MPI_ANY_SOURCE</a:t>
            </a:r>
            <a:r>
              <a:rPr lang="en-US" sz="2600" b="1" dirty="0"/>
              <a:t>)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tabLst>
                <a:tab pos="1244600" algn="l"/>
              </a:tabLst>
              <a:defRPr/>
            </a:pPr>
            <a:r>
              <a:rPr lang="en-US" b="1" dirty="0"/>
              <a:t>Receiver can check </a:t>
            </a:r>
            <a:r>
              <a:rPr lang="en-US" b="1" dirty="0">
                <a:solidFill>
                  <a:srgbClr val="2C14DE"/>
                </a:solidFill>
              </a:rPr>
              <a:t>actual</a:t>
            </a:r>
            <a:r>
              <a:rPr lang="en-US" b="1" dirty="0"/>
              <a:t> “</a:t>
            </a:r>
            <a:r>
              <a:rPr lang="en-US" b="1" dirty="0">
                <a:solidFill>
                  <a:srgbClr val="2C14DE"/>
                </a:solidFill>
              </a:rPr>
              <a:t>Source</a:t>
            </a:r>
            <a:r>
              <a:rPr lang="en-US" b="1" dirty="0"/>
              <a:t>” and “</a:t>
            </a:r>
            <a:r>
              <a:rPr lang="en-US" b="1" dirty="0">
                <a:solidFill>
                  <a:srgbClr val="2C14DE"/>
                </a:solidFill>
              </a:rPr>
              <a:t>Tag</a:t>
            </a:r>
            <a:r>
              <a:rPr lang="en-US" b="1" dirty="0"/>
              <a:t>” of the </a:t>
            </a:r>
            <a:r>
              <a:rPr lang="en-US" b="1" dirty="0">
                <a:solidFill>
                  <a:srgbClr val="FF0000"/>
                </a:solidFill>
              </a:rPr>
              <a:t>message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tabLst>
                <a:tab pos="1244600" algn="l"/>
              </a:tabLst>
              <a:defRPr/>
            </a:pPr>
            <a:r>
              <a:rPr lang="en-US" b="1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MPI_STATUS_IGNORE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dirty="0">
                <a:latin typeface="+mj-lt"/>
              </a:rPr>
              <a:t>can be </a:t>
            </a:r>
            <a:r>
              <a:rPr lang="en-US" b="1" dirty="0">
                <a:latin typeface="+mj-lt"/>
              </a:rPr>
              <a:t>used</a:t>
            </a:r>
            <a:r>
              <a:rPr lang="en-US" dirty="0">
                <a:latin typeface="+mj-lt"/>
              </a:rPr>
              <a:t> </a:t>
            </a:r>
            <a:r>
              <a:rPr lang="en-US" b="1" u="sng" dirty="0">
                <a:latin typeface="+mj-lt"/>
              </a:rPr>
              <a:t>if we don</a:t>
            </a:r>
            <a:r>
              <a:rPr lang="en-US" altLang="fr-FR" b="1" u="sng" dirty="0">
                <a:latin typeface="+mj-lt"/>
              </a:rPr>
              <a:t>’</a:t>
            </a:r>
            <a:r>
              <a:rPr lang="en-US" b="1" u="sng" dirty="0">
                <a:latin typeface="+mj-lt"/>
              </a:rPr>
              <a:t>t need any </a:t>
            </a:r>
            <a:r>
              <a:rPr lang="en-US" dirty="0">
                <a:latin typeface="+mj-lt"/>
              </a:rPr>
              <a:t>additional </a:t>
            </a:r>
            <a:r>
              <a:rPr lang="en-US" b="1" u="sng" dirty="0">
                <a:latin typeface="+mj-lt"/>
              </a:rPr>
              <a:t>information</a:t>
            </a:r>
          </a:p>
          <a:p>
            <a:pPr lvl="1">
              <a:lnSpc>
                <a:spcPct val="80000"/>
              </a:lnSpc>
              <a:tabLst>
                <a:tab pos="1244600" algn="l"/>
              </a:tabLst>
              <a:defRPr/>
            </a:pPr>
            <a:endParaRPr lang="en-US" b="1" dirty="0">
              <a:solidFill>
                <a:srgbClr val="2C14DE"/>
              </a:solidFill>
            </a:endParaRPr>
          </a:p>
          <a:p>
            <a:pPr marL="0" indent="0">
              <a:lnSpc>
                <a:spcPct val="80000"/>
              </a:lnSpc>
              <a:buFontTx/>
              <a:buNone/>
              <a:tabLst>
                <a:tab pos="1244600" algn="l"/>
              </a:tabLst>
              <a:defRPr/>
            </a:pPr>
            <a:endParaRPr lang="en-US" sz="2400" dirty="0">
              <a:ea typeface="+mn-e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371600"/>
            <a:ext cx="4419600" cy="186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9411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4011"/>
            <a:ext cx="9144000" cy="71227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fr-FR" b="1" dirty="0">
                <a:solidFill>
                  <a:srgbClr val="C00000"/>
                </a:solidFill>
                <a:ea typeface="+mj-ea"/>
              </a:rPr>
              <a:t>The </a:t>
            </a:r>
            <a:r>
              <a:rPr lang="fr-FR" b="1" dirty="0" err="1">
                <a:solidFill>
                  <a:srgbClr val="C00000"/>
                </a:solidFill>
                <a:ea typeface="+mj-ea"/>
              </a:rPr>
              <a:t>MPI_Status</a:t>
            </a:r>
            <a:r>
              <a:rPr lang="fr-FR" b="1" dirty="0">
                <a:solidFill>
                  <a:srgbClr val="C00000"/>
                </a:solidFill>
                <a:ea typeface="+mj-ea"/>
              </a:rPr>
              <a:t> structure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6378" y="1004053"/>
            <a:ext cx="8229600" cy="4602163"/>
          </a:xfrm>
        </p:spPr>
        <p:txBody>
          <a:bodyPr/>
          <a:lstStyle/>
          <a:p>
            <a:pPr>
              <a:defRPr/>
            </a:pPr>
            <a:endParaRPr lang="fr-FR" sz="2000" dirty="0">
              <a:ea typeface="+mn-ea"/>
            </a:endParaRPr>
          </a:p>
          <a:p>
            <a:pPr>
              <a:defRPr/>
            </a:pPr>
            <a:endParaRPr lang="fr-FR" sz="2000" dirty="0">
              <a:ea typeface="+mn-ea"/>
            </a:endParaRPr>
          </a:p>
          <a:p>
            <a:pPr>
              <a:defRPr/>
            </a:pPr>
            <a:endParaRPr lang="fr-FR" sz="2000" dirty="0">
              <a:ea typeface="+mn-ea"/>
            </a:endParaRPr>
          </a:p>
          <a:p>
            <a:pPr>
              <a:defRPr/>
            </a:pPr>
            <a:endParaRPr lang="fr-FR" sz="2000" dirty="0">
              <a:ea typeface="+mn-ea"/>
            </a:endParaRPr>
          </a:p>
          <a:p>
            <a:pPr>
              <a:defRPr/>
            </a:pPr>
            <a:r>
              <a:rPr lang="fr-FR" sz="2800" dirty="0">
                <a:ea typeface="+mn-ea"/>
              </a:rPr>
              <a:t>In </a:t>
            </a:r>
            <a:r>
              <a:rPr lang="fr-FR" sz="2800" b="1" dirty="0" err="1">
                <a:solidFill>
                  <a:srgbClr val="C00000"/>
                </a:solidFill>
                <a:ea typeface="+mn-ea"/>
              </a:rPr>
              <a:t>MPI_Get_count</a:t>
            </a:r>
            <a:r>
              <a:rPr lang="fr-FR" sz="2800" dirty="0">
                <a:ea typeface="+mn-ea"/>
              </a:rPr>
              <a:t>, the user </a:t>
            </a:r>
            <a:r>
              <a:rPr lang="fr-FR" sz="2800" b="1" dirty="0">
                <a:ea typeface="+mn-ea"/>
              </a:rPr>
              <a:t>passes</a:t>
            </a:r>
            <a:r>
              <a:rPr lang="fr-FR" sz="2800" dirty="0">
                <a:ea typeface="+mn-ea"/>
              </a:rPr>
              <a:t> the </a:t>
            </a:r>
            <a:r>
              <a:rPr lang="fr-FR" sz="2800" b="1" dirty="0" err="1">
                <a:solidFill>
                  <a:srgbClr val="2C14DE"/>
                </a:solidFill>
                <a:ea typeface="+mn-ea"/>
              </a:rPr>
              <a:t>MPI_Status</a:t>
            </a:r>
            <a:r>
              <a:rPr lang="fr-FR" sz="2800" b="1" dirty="0">
                <a:solidFill>
                  <a:srgbClr val="2C14DE"/>
                </a:solidFill>
                <a:ea typeface="+mn-ea"/>
              </a:rPr>
              <a:t> </a:t>
            </a:r>
            <a:r>
              <a:rPr lang="fr-FR" sz="2800" b="1" dirty="0">
                <a:ea typeface="+mn-ea"/>
              </a:rPr>
              <a:t>structure</a:t>
            </a:r>
            <a:r>
              <a:rPr lang="fr-FR" sz="2800" dirty="0">
                <a:ea typeface="+mn-ea"/>
              </a:rPr>
              <a:t>, the </a:t>
            </a:r>
            <a:r>
              <a:rPr lang="fr-FR" sz="2800" b="1" dirty="0" err="1">
                <a:solidFill>
                  <a:srgbClr val="2C14DE"/>
                </a:solidFill>
                <a:ea typeface="+mn-ea"/>
              </a:rPr>
              <a:t>datatype</a:t>
            </a:r>
            <a:r>
              <a:rPr lang="fr-FR" sz="2800" dirty="0">
                <a:solidFill>
                  <a:srgbClr val="2C14DE"/>
                </a:solidFill>
                <a:ea typeface="+mn-ea"/>
              </a:rPr>
              <a:t> </a:t>
            </a:r>
            <a:r>
              <a:rPr lang="fr-FR" sz="2800" dirty="0">
                <a:ea typeface="+mn-ea"/>
              </a:rPr>
              <a:t>of the </a:t>
            </a:r>
            <a:r>
              <a:rPr lang="fr-FR" sz="2800" b="1" dirty="0">
                <a:solidFill>
                  <a:srgbClr val="2C14DE"/>
                </a:solidFill>
                <a:ea typeface="+mn-ea"/>
              </a:rPr>
              <a:t>message</a:t>
            </a:r>
            <a:r>
              <a:rPr lang="fr-FR" sz="2800" dirty="0">
                <a:ea typeface="+mn-ea"/>
              </a:rPr>
              <a:t>, and </a:t>
            </a:r>
            <a:r>
              <a:rPr lang="fr-FR" sz="2800" b="1" u="sng" dirty="0">
                <a:solidFill>
                  <a:srgbClr val="2C14DE"/>
                </a:solidFill>
                <a:ea typeface="+mn-ea"/>
              </a:rPr>
              <a:t>count</a:t>
            </a:r>
            <a:r>
              <a:rPr lang="fr-FR" sz="2800" dirty="0">
                <a:solidFill>
                  <a:srgbClr val="2C14DE"/>
                </a:solidFill>
                <a:ea typeface="+mn-ea"/>
              </a:rPr>
              <a:t> </a:t>
            </a:r>
            <a:r>
              <a:rPr lang="fr-FR" sz="2800" dirty="0" err="1">
                <a:ea typeface="+mn-ea"/>
              </a:rPr>
              <a:t>is</a:t>
            </a:r>
            <a:r>
              <a:rPr lang="fr-FR" sz="2800" dirty="0">
                <a:ea typeface="+mn-ea"/>
              </a:rPr>
              <a:t> </a:t>
            </a:r>
            <a:r>
              <a:rPr lang="fr-FR" sz="2800" b="1" u="sng" dirty="0" err="1">
                <a:solidFill>
                  <a:srgbClr val="2C14DE"/>
                </a:solidFill>
              </a:rPr>
              <a:t>returned</a:t>
            </a:r>
            <a:endParaRPr lang="fr-FR" sz="2800" b="1" u="sng" dirty="0">
              <a:solidFill>
                <a:srgbClr val="2C14DE"/>
              </a:solidFill>
            </a:endParaRPr>
          </a:p>
          <a:p>
            <a:pPr>
              <a:defRPr/>
            </a:pPr>
            <a:endParaRPr lang="fr-FR" sz="2800" dirty="0">
              <a:ea typeface="+mn-ea"/>
            </a:endParaRPr>
          </a:p>
          <a:p>
            <a:pPr>
              <a:defRPr/>
            </a:pPr>
            <a:r>
              <a:rPr lang="fr-FR" sz="2800" b="1" i="1" dirty="0">
                <a:solidFill>
                  <a:srgbClr val="2C14DE"/>
                </a:solidFill>
                <a:ea typeface="+mn-ea"/>
              </a:rPr>
              <a:t>count</a:t>
            </a:r>
            <a:r>
              <a:rPr lang="fr-FR" sz="2800" b="1" i="1" dirty="0">
                <a:ea typeface="+mn-ea"/>
              </a:rPr>
              <a:t> variable</a:t>
            </a:r>
            <a:r>
              <a:rPr lang="fr-FR" sz="2800" dirty="0">
                <a:ea typeface="+mn-ea"/>
              </a:rPr>
              <a:t> </a:t>
            </a:r>
            <a:r>
              <a:rPr lang="fr-FR" sz="2800" dirty="0" err="1">
                <a:ea typeface="+mn-ea"/>
              </a:rPr>
              <a:t>is</a:t>
            </a:r>
            <a:r>
              <a:rPr lang="fr-FR" sz="2800" dirty="0">
                <a:ea typeface="+mn-ea"/>
              </a:rPr>
              <a:t> the </a:t>
            </a:r>
            <a:r>
              <a:rPr lang="fr-FR" sz="2800" b="1" dirty="0">
                <a:ea typeface="+mn-ea"/>
              </a:rPr>
              <a:t>total </a:t>
            </a:r>
            <a:r>
              <a:rPr lang="fr-FR" sz="2800" b="1" dirty="0" err="1">
                <a:ea typeface="+mn-ea"/>
              </a:rPr>
              <a:t>number</a:t>
            </a:r>
            <a:r>
              <a:rPr lang="fr-FR" sz="2800" b="1" dirty="0">
                <a:ea typeface="+mn-ea"/>
              </a:rPr>
              <a:t> </a:t>
            </a:r>
            <a:r>
              <a:rPr lang="fr-FR" sz="2800" dirty="0">
                <a:ea typeface="+mn-ea"/>
              </a:rPr>
              <a:t>of </a:t>
            </a:r>
            <a:r>
              <a:rPr lang="fr-FR" sz="2800" b="1" dirty="0" err="1">
                <a:ea typeface="+mn-ea"/>
              </a:rPr>
              <a:t>elements</a:t>
            </a:r>
            <a:r>
              <a:rPr lang="fr-FR" sz="2800" dirty="0">
                <a:ea typeface="+mn-ea"/>
              </a:rPr>
              <a:t> </a:t>
            </a:r>
            <a:r>
              <a:rPr lang="fr-FR" sz="2800" dirty="0" err="1">
                <a:ea typeface="+mn-ea"/>
              </a:rPr>
              <a:t>that</a:t>
            </a:r>
            <a:r>
              <a:rPr lang="fr-FR" sz="2800" dirty="0">
                <a:ea typeface="+mn-ea"/>
              </a:rPr>
              <a:t> </a:t>
            </a:r>
            <a:r>
              <a:rPr lang="fr-FR" sz="2800" dirty="0" err="1">
                <a:ea typeface="+mn-ea"/>
              </a:rPr>
              <a:t>were</a:t>
            </a:r>
            <a:r>
              <a:rPr lang="fr-FR" sz="2800" dirty="0">
                <a:ea typeface="+mn-ea"/>
              </a:rPr>
              <a:t> </a:t>
            </a:r>
            <a:r>
              <a:rPr lang="fr-FR" sz="2800" b="1" dirty="0" err="1">
                <a:ea typeface="+mn-ea"/>
              </a:rPr>
              <a:t>received</a:t>
            </a:r>
            <a:endParaRPr lang="fr-FR" sz="2800" b="1" dirty="0">
              <a:ea typeface="+mn-ea"/>
            </a:endParaRP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-16844" y="958334"/>
            <a:ext cx="885604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FR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MPI_Get_count</a:t>
            </a:r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MPI_Status</a:t>
            </a:r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fr-FR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algn="ctr" eaLnBrk="1" hangingPunct="1"/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fr-FR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MPI_Datatype</a:t>
            </a:r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type,</a:t>
            </a:r>
          </a:p>
          <a:p>
            <a:pPr algn="ctr" eaLnBrk="1" hangingPunct="1"/>
            <a:r>
              <a:rPr lang="fr-FR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count)</a:t>
            </a:r>
            <a:endParaRPr lang="fr-FR" sz="2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821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r-FR" dirty="0">
                <a:ea typeface="+mj-ea"/>
              </a:rPr>
              <a:t>An </a:t>
            </a:r>
            <a:r>
              <a:rPr lang="fr-FR" dirty="0" err="1">
                <a:ea typeface="+mj-ea"/>
              </a:rPr>
              <a:t>example</a:t>
            </a:r>
            <a:r>
              <a:rPr lang="fr-FR" dirty="0">
                <a:ea typeface="+mj-ea"/>
              </a:rPr>
              <a:t> </a:t>
            </a:r>
          </a:p>
        </p:txBody>
      </p:sp>
      <p:pic>
        <p:nvPicPr>
          <p:cNvPr id="38914" name="Image 4" descr="Screen Shot 2016-01-20 at 7.46.59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2400"/>
            <a:ext cx="9144000" cy="717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ounded Rectangle 2"/>
          <p:cNvSpPr/>
          <p:nvPr/>
        </p:nvSpPr>
        <p:spPr>
          <a:xfrm>
            <a:off x="7239000" y="-20256"/>
            <a:ext cx="1676400" cy="762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Demo: P2PStatus.c</a:t>
            </a:r>
          </a:p>
        </p:txBody>
      </p:sp>
    </p:spTree>
    <p:extLst>
      <p:ext uri="{BB962C8B-B14F-4D97-AF65-F5344CB8AC3E}">
        <p14:creationId xmlns:p14="http://schemas.microsoft.com/office/powerpoint/2010/main" val="25778639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4011"/>
            <a:ext cx="9144000" cy="71227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fr-FR" b="1" dirty="0" err="1">
                <a:solidFill>
                  <a:srgbClr val="C00000"/>
                </a:solidFill>
                <a:ea typeface="+mj-ea"/>
              </a:rPr>
              <a:t>Summary</a:t>
            </a:r>
            <a:r>
              <a:rPr lang="fr-FR" b="1" dirty="0">
                <a:solidFill>
                  <a:srgbClr val="C00000"/>
                </a:solidFill>
                <a:ea typeface="+mj-ea"/>
              </a:rPr>
              <a:t> (</a:t>
            </a:r>
            <a:r>
              <a:rPr lang="fr-FR" b="1" dirty="0" err="1">
                <a:solidFill>
                  <a:srgbClr val="C00000"/>
                </a:solidFill>
                <a:ea typeface="+mj-ea"/>
              </a:rPr>
              <a:t>Blocking</a:t>
            </a:r>
            <a:r>
              <a:rPr lang="fr-FR" b="1" dirty="0">
                <a:solidFill>
                  <a:srgbClr val="C00000"/>
                </a:solidFill>
                <a:ea typeface="+mj-ea"/>
              </a:rPr>
              <a:t> </a:t>
            </a:r>
            <a:r>
              <a:rPr lang="fr-FR" b="1" dirty="0" err="1">
                <a:solidFill>
                  <a:srgbClr val="C00000"/>
                </a:solidFill>
                <a:ea typeface="+mj-ea"/>
              </a:rPr>
              <a:t>Send</a:t>
            </a:r>
            <a:r>
              <a:rPr lang="fr-FR" b="1" dirty="0">
                <a:solidFill>
                  <a:srgbClr val="C00000"/>
                </a:solidFill>
                <a:ea typeface="+mj-ea"/>
              </a:rPr>
              <a:t>/</a:t>
            </a:r>
            <a:r>
              <a:rPr lang="fr-FR" b="1" dirty="0" err="1">
                <a:solidFill>
                  <a:srgbClr val="C00000"/>
                </a:solidFill>
                <a:ea typeface="+mj-ea"/>
              </a:rPr>
              <a:t>Recv</a:t>
            </a:r>
            <a:r>
              <a:rPr lang="fr-FR" b="1" dirty="0">
                <a:solidFill>
                  <a:srgbClr val="C00000"/>
                </a:solidFill>
                <a:ea typeface="+mj-ea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6200" y="771625"/>
            <a:ext cx="8991600" cy="314505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</a:rPr>
              <a:t>MPI_SEND</a:t>
            </a:r>
            <a:r>
              <a:rPr lang="en-US" sz="2800" b="1" dirty="0"/>
              <a:t> </a:t>
            </a:r>
            <a:r>
              <a:rPr lang="en-US" sz="2800" b="1" u="sng" dirty="0"/>
              <a:t>does not return </a:t>
            </a:r>
            <a:r>
              <a:rPr lang="en-US" sz="2800" b="1" dirty="0"/>
              <a:t>until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2C14DE"/>
                </a:solidFill>
              </a:rPr>
              <a:t>buffer is empty </a:t>
            </a:r>
            <a:r>
              <a:rPr lang="en-US" sz="2800" dirty="0"/>
              <a:t>(</a:t>
            </a:r>
            <a:r>
              <a:rPr lang="en-US" sz="2800" b="1" dirty="0"/>
              <a:t>available for reuse</a:t>
            </a:r>
            <a:r>
              <a:rPr lang="en-US" sz="2800" dirty="0"/>
              <a:t>)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</a:rPr>
              <a:t>MPI_RECV </a:t>
            </a:r>
            <a:r>
              <a:rPr lang="en-US" sz="2800" b="1" u="sng" dirty="0"/>
              <a:t>does not return </a:t>
            </a:r>
            <a:r>
              <a:rPr lang="en-US" sz="2800" b="1" dirty="0"/>
              <a:t>until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2C14DE"/>
                </a:solidFill>
              </a:rPr>
              <a:t>buffer is full </a:t>
            </a:r>
            <a:r>
              <a:rPr lang="en-US" sz="2800" dirty="0"/>
              <a:t>(</a:t>
            </a:r>
            <a:r>
              <a:rPr lang="en-US" sz="2800" b="1" dirty="0"/>
              <a:t>available for use</a:t>
            </a:r>
            <a:r>
              <a:rPr lang="en-US" sz="2800" dirty="0"/>
              <a:t>)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 err="1">
                <a:solidFill>
                  <a:srgbClr val="C00000"/>
                </a:solidFill>
              </a:rPr>
              <a:t>MPI_Send</a:t>
            </a:r>
            <a:r>
              <a:rPr lang="en-US" sz="2800" dirty="0"/>
              <a:t> is a </a:t>
            </a:r>
            <a:r>
              <a:rPr lang="en-US" sz="2800" b="1" dirty="0">
                <a:solidFill>
                  <a:srgbClr val="2C14DE"/>
                </a:solidFill>
              </a:rPr>
              <a:t>blocking operation</a:t>
            </a:r>
            <a:r>
              <a:rPr lang="en-US" sz="2800" dirty="0"/>
              <a:t>. It </a:t>
            </a:r>
            <a:r>
              <a:rPr lang="en-US" sz="2800" b="1" u="sng" dirty="0"/>
              <a:t>may not complete until a matching receive is posted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b="1" dirty="0">
                <a:solidFill>
                  <a:srgbClr val="FF0000"/>
                </a:solidFill>
              </a:rPr>
              <a:t>Improper use </a:t>
            </a:r>
            <a:r>
              <a:rPr lang="en-US" sz="2800" dirty="0"/>
              <a:t>may lead to </a:t>
            </a:r>
            <a:r>
              <a:rPr lang="en-US" sz="2800" b="1" u="sng" dirty="0">
                <a:solidFill>
                  <a:srgbClr val="FF0000"/>
                </a:solidFill>
              </a:rPr>
              <a:t>Deadlocks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too: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810000"/>
            <a:ext cx="7162800" cy="263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5920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2209800"/>
            <a:ext cx="7162800" cy="16002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/>
          </a:bodyPr>
          <a:lstStyle/>
          <a:p>
            <a:pPr>
              <a:defRPr/>
            </a:pPr>
            <a:r>
              <a:rPr lang="fr-FR" sz="4400" b="1" u="sng" dirty="0">
                <a:solidFill>
                  <a:srgbClr val="C00000"/>
                </a:solidFill>
              </a:rPr>
              <a:t>Non-</a:t>
            </a:r>
            <a:r>
              <a:rPr lang="fr-FR" sz="4400" b="1" u="sng" dirty="0" err="1">
                <a:solidFill>
                  <a:srgbClr val="C00000"/>
                </a:solidFill>
              </a:rPr>
              <a:t>Blocking</a:t>
            </a:r>
            <a:r>
              <a:rPr lang="fr-FR" sz="4400" b="1" u="sng" dirty="0">
                <a:solidFill>
                  <a:srgbClr val="C00000"/>
                </a:solidFill>
              </a:rPr>
              <a:t> Point-to-Point Communication</a:t>
            </a:r>
            <a:endParaRPr lang="en-US" sz="6000" b="1" u="sng" dirty="0"/>
          </a:p>
        </p:txBody>
      </p:sp>
    </p:spTree>
    <p:extLst>
      <p:ext uri="{BB962C8B-B14F-4D97-AF65-F5344CB8AC3E}">
        <p14:creationId xmlns:p14="http://schemas.microsoft.com/office/powerpoint/2010/main" val="24003391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37698" y="13019"/>
            <a:ext cx="9030101" cy="700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>
                <a:solidFill>
                  <a:srgbClr val="C00000"/>
                </a:solidFill>
              </a:rPr>
              <a:t>Non-Blocking Communication - Overview</a:t>
            </a:r>
            <a:endParaRPr lang="en-US" sz="4000" b="1" dirty="0">
              <a:solidFill>
                <a:srgbClr val="C00000"/>
              </a:solidFill>
            </a:endParaRPr>
          </a:p>
        </p:txBody>
      </p:sp>
      <p:grpSp>
        <p:nvGrpSpPr>
          <p:cNvPr id="5" name="Group 57"/>
          <p:cNvGrpSpPr>
            <a:grpSpLocks/>
          </p:cNvGrpSpPr>
          <p:nvPr/>
        </p:nvGrpSpPr>
        <p:grpSpPr bwMode="auto">
          <a:xfrm>
            <a:off x="1447800" y="838200"/>
            <a:ext cx="7162800" cy="5791200"/>
            <a:chOff x="1298" y="716"/>
            <a:chExt cx="4220" cy="3468"/>
          </a:xfrm>
        </p:grpSpPr>
        <p:grpSp>
          <p:nvGrpSpPr>
            <p:cNvPr id="6" name="Group 54"/>
            <p:cNvGrpSpPr>
              <a:grpSpLocks/>
            </p:cNvGrpSpPr>
            <p:nvPr/>
          </p:nvGrpSpPr>
          <p:grpSpPr bwMode="auto">
            <a:xfrm>
              <a:off x="1298" y="716"/>
              <a:ext cx="3180" cy="1616"/>
              <a:chOff x="1298" y="716"/>
              <a:chExt cx="3180" cy="1616"/>
            </a:xfrm>
          </p:grpSpPr>
          <p:sp>
            <p:nvSpPr>
              <p:cNvPr id="36" name="AutoShape 4"/>
              <p:cNvSpPr>
                <a:spLocks noChangeArrowheads="1"/>
              </p:cNvSpPr>
              <p:nvPr/>
            </p:nvSpPr>
            <p:spPr bwMode="auto">
              <a:xfrm flipV="1">
                <a:off x="1298" y="870"/>
                <a:ext cx="3180" cy="1462"/>
              </a:xfrm>
              <a:prstGeom prst="roundRect">
                <a:avLst>
                  <a:gd name="adj" fmla="val 0"/>
                </a:avLst>
              </a:prstGeom>
              <a:solidFill>
                <a:srgbClr val="FFFFCC"/>
              </a:solidFill>
              <a:ln w="18796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37" name="Line 5"/>
              <p:cNvSpPr>
                <a:spLocks noChangeShapeType="1"/>
              </p:cNvSpPr>
              <p:nvPr/>
            </p:nvSpPr>
            <p:spPr bwMode="auto">
              <a:xfrm>
                <a:off x="2884" y="870"/>
                <a:ext cx="0" cy="1455"/>
              </a:xfrm>
              <a:prstGeom prst="line">
                <a:avLst/>
              </a:prstGeom>
              <a:noFill/>
              <a:ln w="1873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38" name="Text Box 7"/>
              <p:cNvSpPr txBox="1">
                <a:spLocks noChangeArrowheads="1"/>
              </p:cNvSpPr>
              <p:nvPr/>
            </p:nvSpPr>
            <p:spPr bwMode="auto">
              <a:xfrm>
                <a:off x="1844" y="733"/>
                <a:ext cx="656" cy="1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400" b="1" i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User Mode</a:t>
                </a:r>
                <a:endParaRPr lang="en-US" altLang="ko-KR" sz="28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39" name="Text Box 8"/>
              <p:cNvSpPr txBox="1">
                <a:spLocks noChangeArrowheads="1"/>
              </p:cNvSpPr>
              <p:nvPr/>
            </p:nvSpPr>
            <p:spPr bwMode="auto">
              <a:xfrm>
                <a:off x="3404" y="716"/>
                <a:ext cx="772" cy="1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400" b="1" i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Kernel Mode</a:t>
                </a:r>
                <a:endParaRPr lang="en-US" altLang="ko-KR" sz="14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40" name="AutoShape 9" descr="淺色右斜對角線"/>
              <p:cNvSpPr>
                <a:spLocks noChangeArrowheads="1"/>
              </p:cNvSpPr>
              <p:nvPr/>
            </p:nvSpPr>
            <p:spPr bwMode="auto">
              <a:xfrm flipV="1">
                <a:off x="1878" y="1163"/>
                <a:ext cx="684" cy="171"/>
              </a:xfrm>
              <a:prstGeom prst="roundRect">
                <a:avLst>
                  <a:gd name="adj" fmla="val 0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 w="18796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41" name="AutoShape 10" descr="淺色右斜對角線"/>
              <p:cNvSpPr>
                <a:spLocks noChangeArrowheads="1"/>
              </p:cNvSpPr>
              <p:nvPr/>
            </p:nvSpPr>
            <p:spPr bwMode="auto">
              <a:xfrm flipV="1">
                <a:off x="3366" y="1435"/>
                <a:ext cx="685" cy="172"/>
              </a:xfrm>
              <a:prstGeom prst="roundRect">
                <a:avLst>
                  <a:gd name="adj" fmla="val 0"/>
                </a:avLst>
              </a:prstGeom>
              <a:solidFill>
                <a:srgbClr val="FF6600"/>
              </a:solidFill>
              <a:ln w="18796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42" name="Text Box 11"/>
              <p:cNvSpPr txBox="1">
                <a:spLocks noChangeArrowheads="1"/>
              </p:cNvSpPr>
              <p:nvPr/>
            </p:nvSpPr>
            <p:spPr bwMode="auto">
              <a:xfrm>
                <a:off x="1565" y="1507"/>
                <a:ext cx="1243" cy="1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zh-TW" sz="105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MPI_Is</a:t>
                </a:r>
                <a:r>
                  <a:rPr lang="en-US" altLang="ko-KR" sz="105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end</a:t>
                </a:r>
                <a:r>
                  <a:rPr lang="en-US" altLang="ko-KR" sz="105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(sendbuf,1,req)</a:t>
                </a:r>
                <a:endParaRPr lang="en-US" altLang="ko-KR" sz="28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43" name="Text Box 12"/>
              <p:cNvSpPr txBox="1">
                <a:spLocks noChangeArrowheads="1"/>
              </p:cNvSpPr>
              <p:nvPr/>
            </p:nvSpPr>
            <p:spPr bwMode="auto">
              <a:xfrm>
                <a:off x="1396" y="2052"/>
                <a:ext cx="1181" cy="1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000" b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Now </a:t>
                </a:r>
                <a:r>
                  <a:rPr lang="en-US" altLang="ko-KR" sz="100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sendbuf</a:t>
                </a:r>
                <a:r>
                  <a:rPr lang="en-US" altLang="ko-KR" sz="100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 can be reused</a:t>
                </a:r>
                <a:endParaRPr lang="en-US" altLang="ko-KR" sz="24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44" name="Text Box 13"/>
              <p:cNvSpPr txBox="1">
                <a:spLocks noChangeArrowheads="1"/>
              </p:cNvSpPr>
              <p:nvPr/>
            </p:nvSpPr>
            <p:spPr bwMode="auto">
              <a:xfrm>
                <a:off x="3234" y="1662"/>
                <a:ext cx="942" cy="2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05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Copying data from</a:t>
                </a:r>
              </a:p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05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sendbuf</a:t>
                </a:r>
                <a:r>
                  <a:rPr lang="en-US" altLang="ko-KR" sz="105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 to </a:t>
                </a:r>
                <a:r>
                  <a:rPr lang="en-US" altLang="ko-KR" sz="105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sysbuf</a:t>
                </a:r>
                <a:endParaRPr lang="en-US" altLang="ko-KR" sz="28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45" name="Text Box 14"/>
              <p:cNvSpPr txBox="1">
                <a:spLocks noChangeArrowheads="1"/>
              </p:cNvSpPr>
              <p:nvPr/>
            </p:nvSpPr>
            <p:spPr bwMode="auto">
              <a:xfrm>
                <a:off x="3234" y="2000"/>
                <a:ext cx="798" cy="2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05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Send data from</a:t>
                </a:r>
              </a:p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05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sysbuf</a:t>
                </a:r>
                <a:r>
                  <a:rPr lang="en-US" altLang="ko-KR" sz="105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 to </a:t>
                </a:r>
                <a:r>
                  <a:rPr lang="en-US" altLang="ko-KR" sz="105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dest</a:t>
                </a:r>
                <a:r>
                  <a:rPr lang="en-US" altLang="ko-KR" sz="105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 </a:t>
                </a:r>
                <a:endParaRPr lang="en-US" altLang="ko-KR" sz="28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46" name="Text Box 15"/>
              <p:cNvSpPr txBox="1">
                <a:spLocks noChangeArrowheads="1"/>
              </p:cNvSpPr>
              <p:nvPr/>
            </p:nvSpPr>
            <p:spPr bwMode="auto">
              <a:xfrm>
                <a:off x="3546" y="1248"/>
                <a:ext cx="420" cy="1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400" b="1" i="1" dirty="0" err="1">
                    <a:ea typeface="굴림" charset="0"/>
                    <a:cs typeface="Arial" charset="0"/>
                  </a:rPr>
                  <a:t>sysbuf</a:t>
                </a:r>
                <a:endParaRPr lang="en-US" altLang="ko-KR" sz="2800" b="1" dirty="0"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47" name="Text Box 16"/>
              <p:cNvSpPr txBox="1">
                <a:spLocks noChangeArrowheads="1"/>
              </p:cNvSpPr>
              <p:nvPr/>
            </p:nvSpPr>
            <p:spPr bwMode="auto">
              <a:xfrm>
                <a:off x="2005" y="1015"/>
                <a:ext cx="509" cy="1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400" b="1" i="1" dirty="0" err="1">
                    <a:ea typeface="굴림" charset="0"/>
                    <a:cs typeface="Arial" charset="0"/>
                  </a:rPr>
                  <a:t>sendbuf</a:t>
                </a:r>
                <a:endParaRPr lang="en-US" altLang="ko-KR" sz="2800" b="1" dirty="0"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48" name="Line 17"/>
              <p:cNvSpPr>
                <a:spLocks noChangeShapeType="1"/>
              </p:cNvSpPr>
              <p:nvPr/>
            </p:nvSpPr>
            <p:spPr bwMode="auto">
              <a:xfrm>
                <a:off x="2514" y="1607"/>
                <a:ext cx="512" cy="0"/>
              </a:xfrm>
              <a:prstGeom prst="line">
                <a:avLst/>
              </a:prstGeom>
              <a:noFill/>
              <a:ln w="31427">
                <a:solidFill>
                  <a:srgbClr val="7F604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49" name="Line 18"/>
              <p:cNvSpPr>
                <a:spLocks noChangeShapeType="1"/>
              </p:cNvSpPr>
              <p:nvPr/>
            </p:nvSpPr>
            <p:spPr bwMode="auto">
              <a:xfrm>
                <a:off x="3039" y="1613"/>
                <a:ext cx="0" cy="428"/>
              </a:xfrm>
              <a:prstGeom prst="line">
                <a:avLst/>
              </a:prstGeom>
              <a:noFill/>
              <a:ln w="31427">
                <a:solidFill>
                  <a:srgbClr val="7F604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50" name="Line 19"/>
              <p:cNvSpPr>
                <a:spLocks noChangeShapeType="1"/>
              </p:cNvSpPr>
              <p:nvPr/>
            </p:nvSpPr>
            <p:spPr bwMode="auto">
              <a:xfrm flipH="1">
                <a:off x="2626" y="2076"/>
                <a:ext cx="421" cy="0"/>
              </a:xfrm>
              <a:prstGeom prst="line">
                <a:avLst/>
              </a:prstGeom>
              <a:noFill/>
              <a:ln w="31427">
                <a:solidFill>
                  <a:srgbClr val="7F604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51" name="Freeform 38"/>
              <p:cNvSpPr>
                <a:spLocks/>
              </p:cNvSpPr>
              <p:nvPr/>
            </p:nvSpPr>
            <p:spPr bwMode="auto">
              <a:xfrm>
                <a:off x="2558" y="1236"/>
                <a:ext cx="796" cy="185"/>
              </a:xfrm>
              <a:custGeom>
                <a:avLst/>
                <a:gdLst>
                  <a:gd name="T0" fmla="*/ 795 w 796"/>
                  <a:gd name="T1" fmla="*/ 184 h 185"/>
                  <a:gd name="T2" fmla="*/ 751 w 796"/>
                  <a:gd name="T3" fmla="*/ 157 h 185"/>
                  <a:gd name="T4" fmla="*/ 706 w 796"/>
                  <a:gd name="T5" fmla="*/ 132 h 185"/>
                  <a:gd name="T6" fmla="*/ 660 w 796"/>
                  <a:gd name="T7" fmla="*/ 109 h 185"/>
                  <a:gd name="T8" fmla="*/ 613 w 796"/>
                  <a:gd name="T9" fmla="*/ 87 h 185"/>
                  <a:gd name="T10" fmla="*/ 563 w 796"/>
                  <a:gd name="T11" fmla="*/ 68 h 185"/>
                  <a:gd name="T12" fmla="*/ 515 w 796"/>
                  <a:gd name="T13" fmla="*/ 51 h 185"/>
                  <a:gd name="T14" fmla="*/ 465 w 796"/>
                  <a:gd name="T15" fmla="*/ 37 h 185"/>
                  <a:gd name="T16" fmla="*/ 416 w 796"/>
                  <a:gd name="T17" fmla="*/ 24 h 185"/>
                  <a:gd name="T18" fmla="*/ 364 w 796"/>
                  <a:gd name="T19" fmla="*/ 15 h 185"/>
                  <a:gd name="T20" fmla="*/ 312 w 796"/>
                  <a:gd name="T21" fmla="*/ 7 h 185"/>
                  <a:gd name="T22" fmla="*/ 261 w 796"/>
                  <a:gd name="T23" fmla="*/ 3 h 185"/>
                  <a:gd name="T24" fmla="*/ 209 w 796"/>
                  <a:gd name="T25" fmla="*/ 0 h 185"/>
                  <a:gd name="T26" fmla="*/ 156 w 796"/>
                  <a:gd name="T27" fmla="*/ 1 h 185"/>
                  <a:gd name="T28" fmla="*/ 104 w 796"/>
                  <a:gd name="T29" fmla="*/ 2 h 185"/>
                  <a:gd name="T30" fmla="*/ 52 w 796"/>
                  <a:gd name="T31" fmla="*/ 7 h 185"/>
                  <a:gd name="T32" fmla="*/ 0 w 796"/>
                  <a:gd name="T33" fmla="*/ 14 h 18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796" h="185">
                    <a:moveTo>
                      <a:pt x="795" y="184"/>
                    </a:moveTo>
                    <a:lnTo>
                      <a:pt x="751" y="157"/>
                    </a:lnTo>
                    <a:lnTo>
                      <a:pt x="706" y="132"/>
                    </a:lnTo>
                    <a:lnTo>
                      <a:pt x="660" y="109"/>
                    </a:lnTo>
                    <a:lnTo>
                      <a:pt x="613" y="87"/>
                    </a:lnTo>
                    <a:lnTo>
                      <a:pt x="563" y="68"/>
                    </a:lnTo>
                    <a:lnTo>
                      <a:pt x="515" y="51"/>
                    </a:lnTo>
                    <a:lnTo>
                      <a:pt x="465" y="37"/>
                    </a:lnTo>
                    <a:lnTo>
                      <a:pt x="416" y="24"/>
                    </a:lnTo>
                    <a:lnTo>
                      <a:pt x="364" y="15"/>
                    </a:lnTo>
                    <a:lnTo>
                      <a:pt x="312" y="7"/>
                    </a:lnTo>
                    <a:lnTo>
                      <a:pt x="261" y="3"/>
                    </a:lnTo>
                    <a:lnTo>
                      <a:pt x="209" y="0"/>
                    </a:lnTo>
                    <a:lnTo>
                      <a:pt x="156" y="1"/>
                    </a:lnTo>
                    <a:lnTo>
                      <a:pt x="104" y="2"/>
                    </a:lnTo>
                    <a:lnTo>
                      <a:pt x="52" y="7"/>
                    </a:lnTo>
                    <a:lnTo>
                      <a:pt x="0" y="14"/>
                    </a:lnTo>
                  </a:path>
                </a:pathLst>
              </a:custGeom>
              <a:noFill/>
              <a:ln w="18735" cap="flat" cmpd="sng">
                <a:solidFill>
                  <a:srgbClr val="7F604F"/>
                </a:solidFill>
                <a:prstDash val="solid"/>
                <a:round/>
                <a:headEnd type="triangl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Text Box 42"/>
              <p:cNvSpPr txBox="1">
                <a:spLocks noChangeArrowheads="1"/>
              </p:cNvSpPr>
              <p:nvPr/>
            </p:nvSpPr>
            <p:spPr bwMode="auto">
              <a:xfrm>
                <a:off x="1706" y="1649"/>
                <a:ext cx="654" cy="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300" b="1" dirty="0">
                    <a:solidFill>
                      <a:srgbClr val="FF3300"/>
                    </a:solidFill>
                    <a:ea typeface="굴림" charset="0"/>
                    <a:cs typeface="Arial" charset="0"/>
                  </a:rPr>
                  <a:t>(not blocked)</a:t>
                </a:r>
                <a:endParaRPr lang="en-US" altLang="ko-KR" sz="2400" b="1" dirty="0">
                  <a:solidFill>
                    <a:srgbClr val="FF3300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53" name="Text Box 44"/>
              <p:cNvSpPr txBox="1">
                <a:spLocks noChangeArrowheads="1"/>
              </p:cNvSpPr>
              <p:nvPr/>
            </p:nvSpPr>
            <p:spPr bwMode="auto">
              <a:xfrm>
                <a:off x="1383" y="1797"/>
                <a:ext cx="841" cy="1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zh-TW" sz="100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MPI_W</a:t>
                </a:r>
                <a:r>
                  <a:rPr lang="en-US" altLang="ko-KR" sz="100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ait</a:t>
                </a:r>
                <a:r>
                  <a:rPr lang="en-US" altLang="ko-KR" sz="100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(</a:t>
                </a:r>
                <a:r>
                  <a:rPr lang="en-US" altLang="ko-KR" sz="100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req</a:t>
                </a:r>
                <a:r>
                  <a:rPr lang="en-US" altLang="ko-KR" sz="100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)</a:t>
                </a:r>
                <a:endParaRPr lang="en-US" altLang="ko-KR" sz="24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54" name="Text Box 45"/>
              <p:cNvSpPr txBox="1">
                <a:spLocks noChangeArrowheads="1"/>
              </p:cNvSpPr>
              <p:nvPr/>
            </p:nvSpPr>
            <p:spPr bwMode="auto">
              <a:xfrm>
                <a:off x="1630" y="1922"/>
                <a:ext cx="468" cy="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300" b="1" dirty="0">
                    <a:solidFill>
                      <a:srgbClr val="FF3300"/>
                    </a:solidFill>
                    <a:ea typeface="굴림" charset="0"/>
                    <a:cs typeface="Arial" charset="0"/>
                  </a:rPr>
                  <a:t>(blocked)</a:t>
                </a:r>
                <a:endParaRPr lang="en-US" altLang="ko-KR" sz="2400" b="1" dirty="0">
                  <a:solidFill>
                    <a:srgbClr val="FF3300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55" name="Freeform 48"/>
              <p:cNvSpPr>
                <a:spLocks/>
              </p:cNvSpPr>
              <p:nvPr/>
            </p:nvSpPr>
            <p:spPr bwMode="auto">
              <a:xfrm>
                <a:off x="2011" y="1647"/>
                <a:ext cx="362" cy="210"/>
              </a:xfrm>
              <a:custGeom>
                <a:avLst/>
                <a:gdLst>
                  <a:gd name="T0" fmla="*/ 361 w 362"/>
                  <a:gd name="T1" fmla="*/ 0 h 210"/>
                  <a:gd name="T2" fmla="*/ 361 w 362"/>
                  <a:gd name="T3" fmla="*/ 209 h 210"/>
                  <a:gd name="T4" fmla="*/ 0 w 362"/>
                  <a:gd name="T5" fmla="*/ 209 h 2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2" h="210">
                    <a:moveTo>
                      <a:pt x="361" y="0"/>
                    </a:moveTo>
                    <a:lnTo>
                      <a:pt x="361" y="209"/>
                    </a:lnTo>
                    <a:lnTo>
                      <a:pt x="0" y="209"/>
                    </a:lnTo>
                  </a:path>
                </a:pathLst>
              </a:custGeom>
              <a:noFill/>
              <a:ln w="1873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Line 49"/>
              <p:cNvSpPr>
                <a:spLocks noChangeShapeType="1"/>
              </p:cNvSpPr>
              <p:nvPr/>
            </p:nvSpPr>
            <p:spPr bwMode="auto">
              <a:xfrm>
                <a:off x="1534" y="1900"/>
                <a:ext cx="0" cy="164"/>
              </a:xfrm>
              <a:prstGeom prst="line">
                <a:avLst/>
              </a:prstGeom>
              <a:noFill/>
              <a:ln w="18735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</p:grpSp>
        <p:grpSp>
          <p:nvGrpSpPr>
            <p:cNvPr id="7" name="Group 55"/>
            <p:cNvGrpSpPr>
              <a:grpSpLocks/>
            </p:cNvGrpSpPr>
            <p:nvPr/>
          </p:nvGrpSpPr>
          <p:grpSpPr bwMode="auto">
            <a:xfrm>
              <a:off x="1298" y="2562"/>
              <a:ext cx="3180" cy="1622"/>
              <a:chOff x="1298" y="2562"/>
              <a:chExt cx="3180" cy="1622"/>
            </a:xfrm>
          </p:grpSpPr>
          <p:sp>
            <p:nvSpPr>
              <p:cNvPr id="14" name="AutoShape 20"/>
              <p:cNvSpPr>
                <a:spLocks noChangeArrowheads="1"/>
              </p:cNvSpPr>
              <p:nvPr/>
            </p:nvSpPr>
            <p:spPr bwMode="auto">
              <a:xfrm flipV="1">
                <a:off x="1298" y="2722"/>
                <a:ext cx="3180" cy="1462"/>
              </a:xfrm>
              <a:prstGeom prst="roundRect">
                <a:avLst>
                  <a:gd name="adj" fmla="val 0"/>
                </a:avLst>
              </a:prstGeom>
              <a:solidFill>
                <a:srgbClr val="CCFF99"/>
              </a:solidFill>
              <a:ln w="18796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15" name="Line 21"/>
              <p:cNvSpPr>
                <a:spLocks noChangeShapeType="1"/>
              </p:cNvSpPr>
              <p:nvPr/>
            </p:nvSpPr>
            <p:spPr bwMode="auto">
              <a:xfrm>
                <a:off x="2884" y="2722"/>
                <a:ext cx="0" cy="1454"/>
              </a:xfrm>
              <a:prstGeom prst="line">
                <a:avLst/>
              </a:prstGeom>
              <a:noFill/>
              <a:ln w="1873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16" name="Text Box 23"/>
              <p:cNvSpPr txBox="1">
                <a:spLocks noChangeArrowheads="1"/>
              </p:cNvSpPr>
              <p:nvPr/>
            </p:nvSpPr>
            <p:spPr bwMode="auto">
              <a:xfrm>
                <a:off x="1844" y="2562"/>
                <a:ext cx="677" cy="1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400" b="1" i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User Mode</a:t>
                </a:r>
                <a:endParaRPr lang="en-US" altLang="ko-KR" sz="28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17" name="Text Box 24"/>
              <p:cNvSpPr txBox="1">
                <a:spLocks noChangeArrowheads="1"/>
              </p:cNvSpPr>
              <p:nvPr/>
            </p:nvSpPr>
            <p:spPr bwMode="auto">
              <a:xfrm>
                <a:off x="3404" y="2568"/>
                <a:ext cx="724" cy="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400" b="1" i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Kernel Mode</a:t>
                </a:r>
                <a:endParaRPr lang="en-US" altLang="ko-KR" sz="28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18" name="AutoShape 25" descr="淺色右斜對角線"/>
              <p:cNvSpPr>
                <a:spLocks noChangeArrowheads="1"/>
              </p:cNvSpPr>
              <p:nvPr/>
            </p:nvSpPr>
            <p:spPr bwMode="auto">
              <a:xfrm flipV="1">
                <a:off x="3366" y="3774"/>
                <a:ext cx="685" cy="171"/>
              </a:xfrm>
              <a:prstGeom prst="roundRect">
                <a:avLst>
                  <a:gd name="adj" fmla="val 0"/>
                </a:avLst>
              </a:prstGeom>
              <a:solidFill>
                <a:srgbClr val="FF6600"/>
              </a:solidFill>
              <a:ln w="18796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19" name="Text Box 26"/>
              <p:cNvSpPr txBox="1">
                <a:spLocks noChangeArrowheads="1"/>
              </p:cNvSpPr>
              <p:nvPr/>
            </p:nvSpPr>
            <p:spPr bwMode="auto">
              <a:xfrm>
                <a:off x="1383" y="2946"/>
                <a:ext cx="1117" cy="1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zh-TW" sz="105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MPI</a:t>
                </a:r>
                <a:r>
                  <a:rPr lang="en-US" altLang="ko-KR" sz="105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_</a:t>
                </a:r>
                <a:r>
                  <a:rPr lang="en-US" altLang="zh-TW" sz="105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I</a:t>
                </a:r>
                <a:r>
                  <a:rPr lang="en-US" altLang="ko-KR" sz="105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recv</a:t>
                </a:r>
                <a:r>
                  <a:rPr lang="en-US" altLang="ko-KR" sz="105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(recvbuf,0,req)</a:t>
                </a:r>
                <a:endParaRPr lang="en-US" altLang="ko-KR" sz="28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20" name="Text Box 27"/>
              <p:cNvSpPr txBox="1">
                <a:spLocks noChangeArrowheads="1"/>
              </p:cNvSpPr>
              <p:nvPr/>
            </p:nvSpPr>
            <p:spPr bwMode="auto">
              <a:xfrm>
                <a:off x="1396" y="3568"/>
                <a:ext cx="1338" cy="1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05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Now </a:t>
                </a:r>
                <a:r>
                  <a:rPr lang="en-US" altLang="ko-KR" sz="105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recvbuf</a:t>
                </a:r>
                <a:r>
                  <a:rPr lang="en-US" altLang="ko-KR" sz="105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 contains valid data</a:t>
                </a:r>
                <a:endParaRPr lang="en-US" altLang="ko-KR" sz="28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21" name="Text Box 28"/>
              <p:cNvSpPr txBox="1">
                <a:spLocks noChangeArrowheads="1"/>
              </p:cNvSpPr>
              <p:nvPr/>
            </p:nvSpPr>
            <p:spPr bwMode="auto">
              <a:xfrm>
                <a:off x="3196" y="2958"/>
                <a:ext cx="797" cy="2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05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Receive data from </a:t>
                </a:r>
              </a:p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05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src</a:t>
                </a:r>
                <a:r>
                  <a:rPr lang="en-US" altLang="ko-KR" sz="105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 to </a:t>
                </a:r>
                <a:r>
                  <a:rPr lang="en-US" altLang="ko-KR" sz="105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sysbuf</a:t>
                </a:r>
                <a:endParaRPr lang="en-US" altLang="ko-KR" sz="28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22" name="Text Box 29"/>
              <p:cNvSpPr txBox="1">
                <a:spLocks noChangeArrowheads="1"/>
              </p:cNvSpPr>
              <p:nvPr/>
            </p:nvSpPr>
            <p:spPr bwMode="auto">
              <a:xfrm>
                <a:off x="3195" y="3238"/>
                <a:ext cx="771" cy="2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05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Copying data from</a:t>
                </a:r>
              </a:p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05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sysbuf</a:t>
                </a:r>
                <a:r>
                  <a:rPr lang="en-US" altLang="ko-KR" sz="105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 to </a:t>
                </a:r>
                <a:r>
                  <a:rPr lang="en-US" altLang="ko-KR" sz="105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recvbuf</a:t>
                </a:r>
                <a:endParaRPr lang="en-US" altLang="ko-KR" sz="28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23" name="Text Box 30"/>
              <p:cNvSpPr txBox="1">
                <a:spLocks noChangeArrowheads="1"/>
              </p:cNvSpPr>
              <p:nvPr/>
            </p:nvSpPr>
            <p:spPr bwMode="auto">
              <a:xfrm>
                <a:off x="3546" y="3630"/>
                <a:ext cx="447" cy="1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400" b="1" i="1" dirty="0" err="1">
                    <a:ea typeface="굴림" charset="0"/>
                    <a:cs typeface="Arial" charset="0"/>
                  </a:rPr>
                  <a:t>sysbuf</a:t>
                </a:r>
                <a:endParaRPr lang="en-US" altLang="ko-KR" sz="2800" b="1" dirty="0"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24" name="Line 31"/>
              <p:cNvSpPr>
                <a:spLocks noChangeShapeType="1"/>
              </p:cNvSpPr>
              <p:nvPr/>
            </p:nvSpPr>
            <p:spPr bwMode="auto">
              <a:xfrm>
                <a:off x="2475" y="2996"/>
                <a:ext cx="551" cy="0"/>
              </a:xfrm>
              <a:prstGeom prst="line">
                <a:avLst/>
              </a:prstGeom>
              <a:noFill/>
              <a:ln w="31427">
                <a:solidFill>
                  <a:srgbClr val="7F604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25" name="Line 32"/>
              <p:cNvSpPr>
                <a:spLocks noChangeShapeType="1"/>
              </p:cNvSpPr>
              <p:nvPr/>
            </p:nvSpPr>
            <p:spPr bwMode="auto">
              <a:xfrm>
                <a:off x="3039" y="3019"/>
                <a:ext cx="0" cy="251"/>
              </a:xfrm>
              <a:prstGeom prst="line">
                <a:avLst/>
              </a:prstGeom>
              <a:noFill/>
              <a:ln w="31427">
                <a:solidFill>
                  <a:srgbClr val="7F604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26" name="Line 33"/>
              <p:cNvSpPr>
                <a:spLocks noChangeShapeType="1"/>
              </p:cNvSpPr>
              <p:nvPr/>
            </p:nvSpPr>
            <p:spPr bwMode="auto">
              <a:xfrm flipH="1">
                <a:off x="2776" y="3638"/>
                <a:ext cx="244" cy="0"/>
              </a:xfrm>
              <a:prstGeom prst="line">
                <a:avLst/>
              </a:prstGeom>
              <a:noFill/>
              <a:ln w="31427">
                <a:solidFill>
                  <a:srgbClr val="7F604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27" name="Line 34"/>
              <p:cNvSpPr>
                <a:spLocks noChangeShapeType="1"/>
              </p:cNvSpPr>
              <p:nvPr/>
            </p:nvSpPr>
            <p:spPr bwMode="auto">
              <a:xfrm>
                <a:off x="3032" y="3324"/>
                <a:ext cx="0" cy="267"/>
              </a:xfrm>
              <a:prstGeom prst="line">
                <a:avLst/>
              </a:prstGeom>
              <a:noFill/>
              <a:ln w="31427">
                <a:solidFill>
                  <a:srgbClr val="7F604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28" name="AutoShape 35" descr="淺色右斜對角線"/>
              <p:cNvSpPr>
                <a:spLocks noChangeArrowheads="1"/>
              </p:cNvSpPr>
              <p:nvPr/>
            </p:nvSpPr>
            <p:spPr bwMode="auto">
              <a:xfrm flipV="1">
                <a:off x="1878" y="3902"/>
                <a:ext cx="684" cy="172"/>
              </a:xfrm>
              <a:prstGeom prst="roundRect">
                <a:avLst>
                  <a:gd name="adj" fmla="val 0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 w="18796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29" name="Text Box 36"/>
              <p:cNvSpPr txBox="1">
                <a:spLocks noChangeArrowheads="1"/>
              </p:cNvSpPr>
              <p:nvPr/>
            </p:nvSpPr>
            <p:spPr bwMode="auto">
              <a:xfrm>
                <a:off x="2055" y="3774"/>
                <a:ext cx="507" cy="1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400" b="1" i="1" dirty="0" err="1">
                    <a:ea typeface="굴림" charset="0"/>
                    <a:cs typeface="Arial" charset="0"/>
                  </a:rPr>
                  <a:t>recvbuf</a:t>
                </a:r>
                <a:endParaRPr lang="en-US" altLang="ko-KR" sz="2800" b="1" dirty="0"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30" name="Freeform 37"/>
              <p:cNvSpPr>
                <a:spLocks/>
              </p:cNvSpPr>
              <p:nvPr/>
            </p:nvSpPr>
            <p:spPr bwMode="auto">
              <a:xfrm>
                <a:off x="2600" y="3856"/>
                <a:ext cx="716" cy="128"/>
              </a:xfrm>
              <a:custGeom>
                <a:avLst/>
                <a:gdLst>
                  <a:gd name="T0" fmla="*/ 0 w 716"/>
                  <a:gd name="T1" fmla="*/ 121 h 128"/>
                  <a:gd name="T2" fmla="*/ 47 w 716"/>
                  <a:gd name="T3" fmla="*/ 125 h 128"/>
                  <a:gd name="T4" fmla="*/ 93 w 716"/>
                  <a:gd name="T5" fmla="*/ 126 h 128"/>
                  <a:gd name="T6" fmla="*/ 139 w 716"/>
                  <a:gd name="T7" fmla="*/ 127 h 128"/>
                  <a:gd name="T8" fmla="*/ 187 w 716"/>
                  <a:gd name="T9" fmla="*/ 124 h 128"/>
                  <a:gd name="T10" fmla="*/ 233 w 716"/>
                  <a:gd name="T11" fmla="*/ 122 h 128"/>
                  <a:gd name="T12" fmla="*/ 279 w 716"/>
                  <a:gd name="T13" fmla="*/ 118 h 128"/>
                  <a:gd name="T14" fmla="*/ 325 w 716"/>
                  <a:gd name="T15" fmla="*/ 113 h 128"/>
                  <a:gd name="T16" fmla="*/ 371 w 716"/>
                  <a:gd name="T17" fmla="*/ 105 h 128"/>
                  <a:gd name="T18" fmla="*/ 416 w 716"/>
                  <a:gd name="T19" fmla="*/ 97 h 128"/>
                  <a:gd name="T20" fmla="*/ 461 w 716"/>
                  <a:gd name="T21" fmla="*/ 88 h 128"/>
                  <a:gd name="T22" fmla="*/ 504 w 716"/>
                  <a:gd name="T23" fmla="*/ 77 h 128"/>
                  <a:gd name="T24" fmla="*/ 548 w 716"/>
                  <a:gd name="T25" fmla="*/ 64 h 128"/>
                  <a:gd name="T26" fmla="*/ 590 w 716"/>
                  <a:gd name="T27" fmla="*/ 50 h 128"/>
                  <a:gd name="T28" fmla="*/ 633 w 716"/>
                  <a:gd name="T29" fmla="*/ 35 h 128"/>
                  <a:gd name="T30" fmla="*/ 674 w 716"/>
                  <a:gd name="T31" fmla="*/ 18 h 128"/>
                  <a:gd name="T32" fmla="*/ 715 w 716"/>
                  <a:gd name="T33" fmla="*/ 0 h 12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716" h="128">
                    <a:moveTo>
                      <a:pt x="0" y="121"/>
                    </a:moveTo>
                    <a:lnTo>
                      <a:pt x="47" y="125"/>
                    </a:lnTo>
                    <a:lnTo>
                      <a:pt x="93" y="126"/>
                    </a:lnTo>
                    <a:lnTo>
                      <a:pt x="139" y="127"/>
                    </a:lnTo>
                    <a:lnTo>
                      <a:pt x="187" y="124"/>
                    </a:lnTo>
                    <a:lnTo>
                      <a:pt x="233" y="122"/>
                    </a:lnTo>
                    <a:lnTo>
                      <a:pt x="279" y="118"/>
                    </a:lnTo>
                    <a:lnTo>
                      <a:pt x="325" y="113"/>
                    </a:lnTo>
                    <a:lnTo>
                      <a:pt x="371" y="105"/>
                    </a:lnTo>
                    <a:lnTo>
                      <a:pt x="416" y="97"/>
                    </a:lnTo>
                    <a:lnTo>
                      <a:pt x="461" y="88"/>
                    </a:lnTo>
                    <a:lnTo>
                      <a:pt x="504" y="77"/>
                    </a:lnTo>
                    <a:lnTo>
                      <a:pt x="548" y="64"/>
                    </a:lnTo>
                    <a:lnTo>
                      <a:pt x="590" y="50"/>
                    </a:lnTo>
                    <a:lnTo>
                      <a:pt x="633" y="35"/>
                    </a:lnTo>
                    <a:lnTo>
                      <a:pt x="674" y="18"/>
                    </a:lnTo>
                    <a:lnTo>
                      <a:pt x="715" y="0"/>
                    </a:lnTo>
                  </a:path>
                </a:pathLst>
              </a:custGeom>
              <a:noFill/>
              <a:ln w="18735" cap="flat" cmpd="sng">
                <a:solidFill>
                  <a:srgbClr val="7F604F"/>
                </a:solidFill>
                <a:prstDash val="solid"/>
                <a:round/>
                <a:headEnd type="triangl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 Box 43"/>
              <p:cNvSpPr txBox="1">
                <a:spLocks noChangeArrowheads="1"/>
              </p:cNvSpPr>
              <p:nvPr/>
            </p:nvSpPr>
            <p:spPr bwMode="auto">
              <a:xfrm>
                <a:off x="1618" y="3076"/>
                <a:ext cx="654" cy="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300" b="1" dirty="0">
                    <a:solidFill>
                      <a:srgbClr val="FF3300"/>
                    </a:solidFill>
                    <a:ea typeface="굴림" charset="0"/>
                    <a:cs typeface="Arial" charset="0"/>
                  </a:rPr>
                  <a:t>(not blocked)</a:t>
                </a:r>
                <a:endParaRPr lang="en-US" altLang="ko-KR" sz="2400" b="1" dirty="0">
                  <a:solidFill>
                    <a:srgbClr val="FF3300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32" name="Text Box 46"/>
              <p:cNvSpPr txBox="1">
                <a:spLocks noChangeArrowheads="1"/>
              </p:cNvSpPr>
              <p:nvPr/>
            </p:nvSpPr>
            <p:spPr bwMode="auto">
              <a:xfrm>
                <a:off x="1383" y="3261"/>
                <a:ext cx="841" cy="1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zh-TW" sz="105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MPI</a:t>
                </a:r>
                <a:r>
                  <a:rPr lang="en-US" altLang="ko-KR" sz="105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_</a:t>
                </a:r>
                <a:r>
                  <a:rPr lang="en-US" altLang="zh-TW" sz="105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W</a:t>
                </a:r>
                <a:r>
                  <a:rPr lang="en-US" altLang="ko-KR" sz="105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ait</a:t>
                </a:r>
                <a:r>
                  <a:rPr lang="en-US" altLang="ko-KR" sz="105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(</a:t>
                </a:r>
                <a:r>
                  <a:rPr lang="en-US" altLang="ko-KR" sz="1050" b="1" dirty="0" err="1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req</a:t>
                </a:r>
                <a:r>
                  <a:rPr lang="en-US" altLang="ko-KR" sz="1050" b="1" dirty="0">
                    <a:solidFill>
                      <a:srgbClr val="336699"/>
                    </a:solidFill>
                    <a:ea typeface="굴림" charset="0"/>
                    <a:cs typeface="Arial" charset="0"/>
                  </a:rPr>
                  <a:t>)</a:t>
                </a:r>
                <a:endParaRPr lang="en-US" altLang="ko-KR" sz="2800" b="1" dirty="0">
                  <a:solidFill>
                    <a:srgbClr val="336699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33" name="Text Box 47"/>
              <p:cNvSpPr txBox="1">
                <a:spLocks noChangeArrowheads="1"/>
              </p:cNvSpPr>
              <p:nvPr/>
            </p:nvSpPr>
            <p:spPr bwMode="auto">
              <a:xfrm>
                <a:off x="1618" y="3361"/>
                <a:ext cx="468" cy="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300" b="1" dirty="0">
                    <a:solidFill>
                      <a:srgbClr val="FF3300"/>
                    </a:solidFill>
                    <a:ea typeface="굴림" charset="0"/>
                    <a:cs typeface="Arial" charset="0"/>
                  </a:rPr>
                  <a:t>(blocked)</a:t>
                </a:r>
                <a:endParaRPr lang="en-US" altLang="ko-KR" sz="2400" b="1" dirty="0">
                  <a:solidFill>
                    <a:srgbClr val="FF3300"/>
                  </a:solidFill>
                  <a:latin typeface="굴림" charset="0"/>
                  <a:ea typeface="굴림" charset="0"/>
                  <a:cs typeface="Arial" charset="0"/>
                </a:endParaRPr>
              </a:p>
            </p:txBody>
          </p:sp>
          <p:sp>
            <p:nvSpPr>
              <p:cNvPr id="34" name="Line 50"/>
              <p:cNvSpPr>
                <a:spLocks noChangeShapeType="1"/>
              </p:cNvSpPr>
              <p:nvPr/>
            </p:nvSpPr>
            <p:spPr bwMode="auto">
              <a:xfrm>
                <a:off x="1539" y="3378"/>
                <a:ext cx="0" cy="169"/>
              </a:xfrm>
              <a:prstGeom prst="line">
                <a:avLst/>
              </a:prstGeom>
              <a:noFill/>
              <a:ln w="18735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35" name="Freeform 51"/>
              <p:cNvSpPr>
                <a:spLocks/>
              </p:cNvSpPr>
              <p:nvPr/>
            </p:nvSpPr>
            <p:spPr bwMode="auto">
              <a:xfrm>
                <a:off x="2005" y="3042"/>
                <a:ext cx="319" cy="275"/>
              </a:xfrm>
              <a:custGeom>
                <a:avLst/>
                <a:gdLst>
                  <a:gd name="T0" fmla="*/ 318 w 319"/>
                  <a:gd name="T1" fmla="*/ 0 h 275"/>
                  <a:gd name="T2" fmla="*/ 318 w 319"/>
                  <a:gd name="T3" fmla="*/ 274 h 275"/>
                  <a:gd name="T4" fmla="*/ 0 w 319"/>
                  <a:gd name="T5" fmla="*/ 274 h 27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9" h="275">
                    <a:moveTo>
                      <a:pt x="318" y="0"/>
                    </a:moveTo>
                    <a:lnTo>
                      <a:pt x="318" y="274"/>
                    </a:lnTo>
                    <a:lnTo>
                      <a:pt x="0" y="274"/>
                    </a:lnTo>
                  </a:path>
                </a:pathLst>
              </a:custGeom>
              <a:noFill/>
              <a:ln w="1873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56"/>
            <p:cNvGrpSpPr>
              <a:grpSpLocks/>
            </p:cNvGrpSpPr>
            <p:nvPr/>
          </p:nvGrpSpPr>
          <p:grpSpPr bwMode="auto">
            <a:xfrm>
              <a:off x="4032" y="2119"/>
              <a:ext cx="1486" cy="1148"/>
              <a:chOff x="4032" y="2119"/>
              <a:chExt cx="1486" cy="1148"/>
            </a:xfrm>
          </p:grpSpPr>
          <p:sp>
            <p:nvSpPr>
              <p:cNvPr id="11" name="Freeform 39"/>
              <p:cNvSpPr>
                <a:spLocks/>
              </p:cNvSpPr>
              <p:nvPr/>
            </p:nvSpPr>
            <p:spPr bwMode="auto">
              <a:xfrm>
                <a:off x="4032" y="2119"/>
                <a:ext cx="1135" cy="1148"/>
              </a:xfrm>
              <a:custGeom>
                <a:avLst/>
                <a:gdLst>
                  <a:gd name="T0" fmla="*/ 0 w 1135"/>
                  <a:gd name="T1" fmla="*/ 0 h 1148"/>
                  <a:gd name="T2" fmla="*/ 1134 w 1135"/>
                  <a:gd name="T3" fmla="*/ 0 h 1148"/>
                  <a:gd name="T4" fmla="*/ 1134 w 1135"/>
                  <a:gd name="T5" fmla="*/ 1147 h 1148"/>
                  <a:gd name="T6" fmla="*/ 5 w 1135"/>
                  <a:gd name="T7" fmla="*/ 1147 h 114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5" h="1148">
                    <a:moveTo>
                      <a:pt x="0" y="0"/>
                    </a:moveTo>
                    <a:lnTo>
                      <a:pt x="1134" y="0"/>
                    </a:lnTo>
                    <a:lnTo>
                      <a:pt x="1134" y="1147"/>
                    </a:lnTo>
                    <a:lnTo>
                      <a:pt x="5" y="1147"/>
                    </a:lnTo>
                  </a:path>
                </a:pathLst>
              </a:custGeom>
              <a:noFill/>
              <a:ln w="31427" cap="flat" cmpd="sng">
                <a:solidFill>
                  <a:srgbClr val="7F604F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AutoShape 40" descr="淺色右斜對角線"/>
              <p:cNvSpPr>
                <a:spLocks noChangeArrowheads="1"/>
              </p:cNvSpPr>
              <p:nvPr/>
            </p:nvSpPr>
            <p:spPr bwMode="auto">
              <a:xfrm flipV="1">
                <a:off x="4834" y="2528"/>
                <a:ext cx="684" cy="171"/>
              </a:xfrm>
              <a:prstGeom prst="roundRect">
                <a:avLst>
                  <a:gd name="adj" fmla="val 0"/>
                </a:avLst>
              </a:prstGeom>
              <a:solidFill>
                <a:srgbClr val="FF6600"/>
              </a:solidFill>
              <a:ln w="18796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charset="0"/>
                  <a:ea typeface="新細明體" charset="0"/>
                </a:endParaRPr>
              </a:p>
            </p:txBody>
          </p:sp>
          <p:sp>
            <p:nvSpPr>
              <p:cNvPr id="13" name="Text Box 52"/>
              <p:cNvSpPr txBox="1">
                <a:spLocks noChangeArrowheads="1"/>
              </p:cNvSpPr>
              <p:nvPr/>
            </p:nvSpPr>
            <p:spPr bwMode="auto">
              <a:xfrm>
                <a:off x="4872" y="2368"/>
                <a:ext cx="513" cy="1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1pPr>
                <a:lvl2pPr marL="1143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2pPr>
                <a:lvl3pPr marL="5715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3pPr>
                <a:lvl4pPr marL="1028700" indent="342900"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4pPr>
                <a:lvl5pPr algn="l" defTabSz="434975"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5pPr>
                <a:lvl6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6pPr>
                <a:lvl7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7pPr>
                <a:lvl8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8pPr>
                <a:lvl9pPr defTabSz="434975" fontAlgn="base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charset="0"/>
                    <a:cs typeface="新細明體" charset="0"/>
                  </a:defRPr>
                </a:lvl9pPr>
              </a:lstStyle>
              <a:p>
                <a:pPr latinLnBrk="1">
                  <a:buClr>
                    <a:srgbClr val="FFFFFF"/>
                  </a:buClr>
                  <a:buSzPct val="90000"/>
                  <a:buFont typeface="Monotype Sorts" charset="0"/>
                  <a:buNone/>
                  <a:defRPr/>
                </a:pPr>
                <a:r>
                  <a:rPr lang="en-US" altLang="ko-KR" sz="1400" b="1" dirty="0">
                    <a:ea typeface="굴림" charset="0"/>
                    <a:cs typeface="Arial" charset="0"/>
                  </a:rPr>
                  <a:t>Data</a:t>
                </a:r>
                <a:endParaRPr lang="en-US" altLang="ko-KR" sz="2800" b="1" dirty="0">
                  <a:latin typeface="굴림" charset="0"/>
                  <a:ea typeface="굴림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037525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978" name="Rectangle 2"/>
          <p:cNvSpPr>
            <a:spLocks noGrp="1" noChangeArrowheads="1"/>
          </p:cNvSpPr>
          <p:nvPr>
            <p:ph type="title"/>
          </p:nvPr>
        </p:nvSpPr>
        <p:spPr>
          <a:xfrm>
            <a:off x="37698" y="13019"/>
            <a:ext cx="9030101" cy="700734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4000" b="1" dirty="0">
                <a:solidFill>
                  <a:srgbClr val="C00000"/>
                </a:solidFill>
                <a:ea typeface="+mj-ea"/>
              </a:rPr>
              <a:t>Non-Blocking Communication - Overview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914400" y="1447800"/>
            <a:ext cx="7097713" cy="4494213"/>
            <a:chOff x="838200" y="1905000"/>
            <a:chExt cx="7097713" cy="4494213"/>
          </a:xfrm>
        </p:grpSpPr>
        <p:grpSp>
          <p:nvGrpSpPr>
            <p:cNvPr id="639078" name="Group 102"/>
            <p:cNvGrpSpPr>
              <a:grpSpLocks/>
            </p:cNvGrpSpPr>
            <p:nvPr/>
          </p:nvGrpSpPr>
          <p:grpSpPr bwMode="auto">
            <a:xfrm>
              <a:off x="838200" y="1905000"/>
              <a:ext cx="7097713" cy="1905000"/>
              <a:chOff x="672" y="768"/>
              <a:chExt cx="4471" cy="1200"/>
            </a:xfrm>
          </p:grpSpPr>
          <p:sp>
            <p:nvSpPr>
              <p:cNvPr id="638985" name="Oval 9"/>
              <p:cNvSpPr>
                <a:spLocks noChangeArrowheads="1"/>
              </p:cNvSpPr>
              <p:nvPr/>
            </p:nvSpPr>
            <p:spPr bwMode="auto">
              <a:xfrm>
                <a:off x="3751" y="1584"/>
                <a:ext cx="28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r>
                  <a:rPr lang="de-DE"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rPr>
                  <a:t>0</a:t>
                </a:r>
              </a:p>
            </p:txBody>
          </p:sp>
          <p:sp>
            <p:nvSpPr>
              <p:cNvPr id="638986" name="Rectangle 10"/>
              <p:cNvSpPr>
                <a:spLocks noChangeArrowheads="1"/>
              </p:cNvSpPr>
              <p:nvPr/>
            </p:nvSpPr>
            <p:spPr bwMode="auto">
              <a:xfrm>
                <a:off x="2407" y="768"/>
                <a:ext cx="2736" cy="12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38987" name="Rectangle 11"/>
              <p:cNvSpPr>
                <a:spLocks noChangeArrowheads="1"/>
              </p:cNvSpPr>
              <p:nvPr/>
            </p:nvSpPr>
            <p:spPr bwMode="auto">
              <a:xfrm>
                <a:off x="672" y="816"/>
                <a:ext cx="1639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pPr algn="l">
                  <a:spcBef>
                    <a:spcPct val="20000"/>
                  </a:spcBef>
                  <a:defRPr/>
                </a:pPr>
                <a:r>
                  <a:rPr lang="en-US" sz="1800" b="1" dirty="0">
                    <a:solidFill>
                      <a:schemeClr val="tx1"/>
                    </a:solidFill>
                    <a:latin typeface="Arial" charset="0"/>
                    <a:ea typeface="ＭＳ Ｐゴシック" charset="0"/>
                  </a:rPr>
                  <a:t>Non-blocking Send</a:t>
                </a:r>
              </a:p>
            </p:txBody>
          </p:sp>
        </p:grpSp>
        <p:grpSp>
          <p:nvGrpSpPr>
            <p:cNvPr id="639095" name="Group 119"/>
            <p:cNvGrpSpPr>
              <a:grpSpLocks/>
            </p:cNvGrpSpPr>
            <p:nvPr/>
          </p:nvGrpSpPr>
          <p:grpSpPr bwMode="auto">
            <a:xfrm>
              <a:off x="3657600" y="2057400"/>
              <a:ext cx="3886200" cy="1524000"/>
              <a:chOff x="2448" y="768"/>
              <a:chExt cx="2448" cy="1008"/>
            </a:xfrm>
          </p:grpSpPr>
          <p:cxnSp>
            <p:nvCxnSpPr>
              <p:cNvPr id="639011" name="AutoShape 35"/>
              <p:cNvCxnSpPr>
                <a:cxnSpLocks noChangeShapeType="1"/>
                <a:stCxn id="638985" idx="6"/>
                <a:endCxn id="639022" idx="1"/>
              </p:cNvCxnSpPr>
              <p:nvPr/>
            </p:nvCxnSpPr>
            <p:spPr bwMode="auto">
              <a:xfrm>
                <a:off x="4039" y="1680"/>
                <a:ext cx="569" cy="0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none" w="sm" len="sm"/>
                <a:tailEnd type="triangl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68652" name="Group 36"/>
              <p:cNvGrpSpPr>
                <a:grpSpLocks/>
              </p:cNvGrpSpPr>
              <p:nvPr/>
            </p:nvGrpSpPr>
            <p:grpSpPr bwMode="auto">
              <a:xfrm>
                <a:off x="4608" y="1584"/>
                <a:ext cx="288" cy="192"/>
                <a:chOff x="4944" y="3360"/>
                <a:chExt cx="288" cy="192"/>
              </a:xfrm>
            </p:grpSpPr>
            <p:grpSp>
              <p:nvGrpSpPr>
                <p:cNvPr id="68655" name="Group 37"/>
                <p:cNvGrpSpPr>
                  <a:grpSpLocks/>
                </p:cNvGrpSpPr>
                <p:nvPr/>
              </p:nvGrpSpPr>
              <p:grpSpPr bwMode="auto">
                <a:xfrm>
                  <a:off x="4944" y="3360"/>
                  <a:ext cx="288" cy="192"/>
                  <a:chOff x="2976" y="2688"/>
                  <a:chExt cx="288" cy="192"/>
                </a:xfrm>
              </p:grpSpPr>
              <p:sp>
                <p:nvSpPr>
                  <p:cNvPr id="639014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2976" y="2688"/>
                    <a:ext cx="288" cy="192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pPr>
                      <a:defRPr/>
                    </a:pPr>
                    <a:endParaRPr lang="en-US">
                      <a:latin typeface="Tahoma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68658" name="Group 39"/>
                  <p:cNvGrpSpPr>
                    <a:grpSpLocks/>
                  </p:cNvGrpSpPr>
                  <p:nvPr/>
                </p:nvGrpSpPr>
                <p:grpSpPr bwMode="auto">
                  <a:xfrm>
                    <a:off x="3000" y="2712"/>
                    <a:ext cx="240" cy="144"/>
                    <a:chOff x="192" y="1872"/>
                    <a:chExt cx="240" cy="144"/>
                  </a:xfrm>
                </p:grpSpPr>
                <p:sp>
                  <p:nvSpPr>
                    <p:cNvPr id="639016" name="Rectangle 4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" y="1872"/>
                      <a:ext cx="48" cy="144"/>
                    </a:xfrm>
                    <a:prstGeom prst="rect">
                      <a:avLst/>
                    </a:prstGeom>
                    <a:solidFill>
                      <a:srgbClr val="FF66CC"/>
                    </a:solidFill>
                    <a:ln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000" tIns="46800" rIns="90000" bIns="46800" anchor="ctr"/>
                    <a:lstStyle/>
                    <a:p>
                      <a:pPr>
                        <a:defRPr/>
                      </a:pPr>
                      <a:endParaRPr lang="en-US">
                        <a:latin typeface="Tahoma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639017" name="Rectangle 4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0" y="1872"/>
                      <a:ext cx="48" cy="144"/>
                    </a:xfrm>
                    <a:prstGeom prst="rect">
                      <a:avLst/>
                    </a:prstGeom>
                    <a:solidFill>
                      <a:srgbClr val="FF66CC"/>
                    </a:solidFill>
                    <a:ln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000" tIns="46800" rIns="90000" bIns="46800" anchor="ctr"/>
                    <a:lstStyle/>
                    <a:p>
                      <a:pPr>
                        <a:defRPr/>
                      </a:pPr>
                      <a:endParaRPr lang="en-US">
                        <a:latin typeface="Tahoma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639018" name="Rectangle 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8" y="1872"/>
                      <a:ext cx="48" cy="144"/>
                    </a:xfrm>
                    <a:prstGeom prst="rect">
                      <a:avLst/>
                    </a:prstGeom>
                    <a:solidFill>
                      <a:srgbClr val="FF66CC"/>
                    </a:solidFill>
                    <a:ln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000" tIns="46800" rIns="90000" bIns="46800" anchor="ctr"/>
                    <a:lstStyle/>
                    <a:p>
                      <a:pPr>
                        <a:defRPr/>
                      </a:pPr>
                      <a:endParaRPr lang="en-US">
                        <a:latin typeface="Tahoma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639019" name="Rectangle 4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6" y="1872"/>
                      <a:ext cx="48" cy="144"/>
                    </a:xfrm>
                    <a:prstGeom prst="rect">
                      <a:avLst/>
                    </a:prstGeom>
                    <a:solidFill>
                      <a:srgbClr val="FF66CC"/>
                    </a:solidFill>
                    <a:ln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000" tIns="46800" rIns="90000" bIns="46800" anchor="ctr"/>
                    <a:lstStyle/>
                    <a:p>
                      <a:pPr>
                        <a:defRPr/>
                      </a:pPr>
                      <a:endParaRPr lang="en-US">
                        <a:latin typeface="Tahoma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639020" name="Rectangle 4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4" y="1872"/>
                      <a:ext cx="48" cy="144"/>
                    </a:xfrm>
                    <a:prstGeom prst="rect">
                      <a:avLst/>
                    </a:prstGeom>
                    <a:solidFill>
                      <a:srgbClr val="FF66CC"/>
                    </a:solidFill>
                    <a:ln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000" tIns="46800" rIns="90000" bIns="46800" anchor="ctr"/>
                    <a:lstStyle/>
                    <a:p>
                      <a:pPr>
                        <a:defRPr/>
                      </a:pPr>
                      <a:endParaRPr lang="en-US">
                        <a:latin typeface="Tahoma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639021" name="Freeform 45"/>
                  <p:cNvSpPr>
                    <a:spLocks/>
                  </p:cNvSpPr>
                  <p:nvPr/>
                </p:nvSpPr>
                <p:spPr bwMode="auto">
                  <a:xfrm>
                    <a:off x="2976" y="2688"/>
                    <a:ext cx="288" cy="48"/>
                  </a:xfrm>
                  <a:custGeom>
                    <a:avLst/>
                    <a:gdLst>
                      <a:gd name="T0" fmla="*/ 0 w 288"/>
                      <a:gd name="T1" fmla="*/ 0 h 48"/>
                      <a:gd name="T2" fmla="*/ 144 w 288"/>
                      <a:gd name="T3" fmla="*/ 48 h 48"/>
                      <a:gd name="T4" fmla="*/ 288 w 288"/>
                      <a:gd name="T5" fmla="*/ 0 h 48"/>
                      <a:gd name="T6" fmla="*/ 0 w 288"/>
                      <a:gd name="T7" fmla="*/ 0 h 48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8" h="48">
                        <a:moveTo>
                          <a:pt x="0" y="0"/>
                        </a:moveTo>
                        <a:lnTo>
                          <a:pt x="144" y="48"/>
                        </a:lnTo>
                        <a:lnTo>
                          <a:pt x="28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635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7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639022" name="Rectangle 46"/>
                <p:cNvSpPr>
                  <a:spLocks noChangeArrowheads="1"/>
                </p:cNvSpPr>
                <p:nvPr/>
              </p:nvSpPr>
              <p:spPr bwMode="auto">
                <a:xfrm>
                  <a:off x="4944" y="3360"/>
                  <a:ext cx="288" cy="19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99CC00"/>
                      </a:solidFill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639023" name="Text Box 47"/>
              <p:cNvSpPr txBox="1">
                <a:spLocks noChangeArrowheads="1"/>
              </p:cNvSpPr>
              <p:nvPr/>
            </p:nvSpPr>
            <p:spPr bwMode="auto">
              <a:xfrm>
                <a:off x="2448" y="768"/>
                <a:ext cx="1018" cy="2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algn="l">
                  <a:defRPr/>
                </a:pPr>
                <a:r>
                  <a:rPr lang="de-DE" sz="1800" b="0">
                    <a:solidFill>
                      <a:schemeClr val="tx1"/>
                    </a:solidFill>
                    <a:latin typeface="Arial" charset="0"/>
                    <a:ea typeface="ＭＳ Ｐゴシック" charset="0"/>
                  </a:rPr>
                  <a:t>MPI_Isend(...)</a:t>
                </a:r>
              </a:p>
            </p:txBody>
          </p:sp>
          <p:sp>
            <p:nvSpPr>
              <p:cNvPr id="639024" name="Freeform 48"/>
              <p:cNvSpPr>
                <a:spLocks/>
              </p:cNvSpPr>
              <p:nvPr/>
            </p:nvSpPr>
            <p:spPr bwMode="auto">
              <a:xfrm>
                <a:off x="3463" y="912"/>
                <a:ext cx="1008" cy="720"/>
              </a:xfrm>
              <a:custGeom>
                <a:avLst/>
                <a:gdLst>
                  <a:gd name="T0" fmla="*/ 0 w 1008"/>
                  <a:gd name="T1" fmla="*/ 0 h 336"/>
                  <a:gd name="T2" fmla="*/ 864 w 1008"/>
                  <a:gd name="T3" fmla="*/ 0 h 336"/>
                  <a:gd name="T4" fmla="*/ 1008 w 1008"/>
                  <a:gd name="T5" fmla="*/ 720 h 33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8" h="336">
                    <a:moveTo>
                      <a:pt x="0" y="0"/>
                    </a:moveTo>
                    <a:lnTo>
                      <a:pt x="864" y="0"/>
                    </a:lnTo>
                    <a:lnTo>
                      <a:pt x="1008" y="336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en-US"/>
              </a:p>
            </p:txBody>
          </p:sp>
        </p:grpSp>
        <p:sp>
          <p:nvSpPr>
            <p:cNvPr id="639045" name="Text Box 69"/>
            <p:cNvSpPr txBox="1">
              <a:spLocks noChangeArrowheads="1"/>
            </p:cNvSpPr>
            <p:nvPr/>
          </p:nvSpPr>
          <p:spPr bwMode="auto">
            <a:xfrm>
              <a:off x="3657600" y="2514600"/>
              <a:ext cx="2492375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algn="l">
                <a:defRPr/>
              </a:pPr>
              <a:r>
                <a:rPr lang="en-US" sz="1800" b="0">
                  <a:solidFill>
                    <a:schemeClr val="tx1"/>
                  </a:solidFill>
                  <a:latin typeface="Arial" charset="0"/>
                  <a:ea typeface="ＭＳ Ｐゴシック" charset="0"/>
                </a:rPr>
                <a:t>doing some other work</a:t>
              </a:r>
            </a:p>
          </p:txBody>
        </p:sp>
        <p:grpSp>
          <p:nvGrpSpPr>
            <p:cNvPr id="639053" name="Group 77"/>
            <p:cNvGrpSpPr>
              <a:grpSpLocks/>
            </p:cNvGrpSpPr>
            <p:nvPr/>
          </p:nvGrpSpPr>
          <p:grpSpPr bwMode="auto">
            <a:xfrm>
              <a:off x="3657600" y="2971800"/>
              <a:ext cx="3022600" cy="649288"/>
              <a:chOff x="2455" y="1392"/>
              <a:chExt cx="1904" cy="424"/>
            </a:xfrm>
          </p:grpSpPr>
          <p:sp>
            <p:nvSpPr>
              <p:cNvPr id="638981" name="Line 5"/>
              <p:cNvSpPr>
                <a:spLocks noChangeShapeType="1"/>
              </p:cNvSpPr>
              <p:nvPr/>
            </p:nvSpPr>
            <p:spPr bwMode="auto">
              <a:xfrm flipH="1">
                <a:off x="4231" y="1624"/>
                <a:ext cx="128" cy="192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38982" name="Text Box 6"/>
              <p:cNvSpPr txBox="1">
                <a:spLocks noChangeArrowheads="1"/>
              </p:cNvSpPr>
              <p:nvPr/>
            </p:nvSpPr>
            <p:spPr bwMode="auto">
              <a:xfrm>
                <a:off x="2455" y="1392"/>
                <a:ext cx="954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algn="l">
                  <a:defRPr/>
                </a:pPr>
                <a:r>
                  <a:rPr lang="de-DE" sz="1800" b="0" dirty="0">
                    <a:solidFill>
                      <a:schemeClr val="tx1"/>
                    </a:solidFill>
                    <a:latin typeface="Arial" charset="0"/>
                    <a:ea typeface="ＭＳ Ｐゴシック" charset="0"/>
                  </a:rPr>
                  <a:t>MPI_Wait(...)</a:t>
                </a:r>
              </a:p>
            </p:txBody>
          </p:sp>
          <p:sp>
            <p:nvSpPr>
              <p:cNvPr id="638983" name="Freeform 7"/>
              <p:cNvSpPr>
                <a:spLocks/>
              </p:cNvSpPr>
              <p:nvPr/>
            </p:nvSpPr>
            <p:spPr bwMode="auto">
              <a:xfrm>
                <a:off x="3463" y="1488"/>
                <a:ext cx="761" cy="192"/>
              </a:xfrm>
              <a:custGeom>
                <a:avLst/>
                <a:gdLst>
                  <a:gd name="T0" fmla="*/ 0 w 864"/>
                  <a:gd name="T1" fmla="*/ 0 h 192"/>
                  <a:gd name="T2" fmla="*/ 676 w 864"/>
                  <a:gd name="T3" fmla="*/ 0 h 192"/>
                  <a:gd name="T4" fmla="*/ 761 w 864"/>
                  <a:gd name="T5" fmla="*/ 192 h 19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4" h="192">
                    <a:moveTo>
                      <a:pt x="0" y="0"/>
                    </a:moveTo>
                    <a:lnTo>
                      <a:pt x="768" y="0"/>
                    </a:lnTo>
                    <a:lnTo>
                      <a:pt x="864" y="192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en-US"/>
              </a:p>
            </p:txBody>
          </p:sp>
          <p:sp>
            <p:nvSpPr>
              <p:cNvPr id="639050" name="Line 74"/>
              <p:cNvSpPr>
                <a:spLocks noChangeShapeType="1"/>
              </p:cNvSpPr>
              <p:nvPr/>
            </p:nvSpPr>
            <p:spPr bwMode="auto">
              <a:xfrm flipH="1">
                <a:off x="4180" y="1624"/>
                <a:ext cx="128" cy="192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39051" name="Line 75"/>
              <p:cNvSpPr>
                <a:spLocks noChangeShapeType="1"/>
              </p:cNvSpPr>
              <p:nvPr/>
            </p:nvSpPr>
            <p:spPr bwMode="auto">
              <a:xfrm flipH="1">
                <a:off x="4128" y="1624"/>
                <a:ext cx="128" cy="192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639079" name="Group 103"/>
            <p:cNvGrpSpPr>
              <a:grpSpLocks/>
            </p:cNvGrpSpPr>
            <p:nvPr/>
          </p:nvGrpSpPr>
          <p:grpSpPr bwMode="auto">
            <a:xfrm>
              <a:off x="838200" y="4419600"/>
              <a:ext cx="7086600" cy="1524000"/>
              <a:chOff x="672" y="2256"/>
              <a:chExt cx="4464" cy="1200"/>
            </a:xfrm>
          </p:grpSpPr>
          <p:sp>
            <p:nvSpPr>
              <p:cNvPr id="639006" name="Oval 30"/>
              <p:cNvSpPr>
                <a:spLocks noChangeArrowheads="1"/>
              </p:cNvSpPr>
              <p:nvPr/>
            </p:nvSpPr>
            <p:spPr bwMode="auto">
              <a:xfrm>
                <a:off x="4608" y="3072"/>
                <a:ext cx="288" cy="288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r>
                  <a:rPr lang="de-DE"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rPr>
                  <a:t>1</a:t>
                </a:r>
              </a:p>
            </p:txBody>
          </p:sp>
          <p:sp>
            <p:nvSpPr>
              <p:cNvPr id="639007" name="Rectangle 31"/>
              <p:cNvSpPr>
                <a:spLocks noChangeArrowheads="1"/>
              </p:cNvSpPr>
              <p:nvPr/>
            </p:nvSpPr>
            <p:spPr bwMode="auto">
              <a:xfrm>
                <a:off x="2400" y="2256"/>
                <a:ext cx="2736" cy="12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39008" name="Rectangle 32"/>
              <p:cNvSpPr>
                <a:spLocks noChangeArrowheads="1"/>
              </p:cNvSpPr>
              <p:nvPr/>
            </p:nvSpPr>
            <p:spPr bwMode="auto">
              <a:xfrm>
                <a:off x="672" y="2304"/>
                <a:ext cx="1920" cy="4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pPr algn="l">
                  <a:spcBef>
                    <a:spcPct val="20000"/>
                  </a:spcBef>
                  <a:defRPr/>
                </a:pPr>
                <a:r>
                  <a:rPr lang="en-US" sz="1800" b="1" dirty="0">
                    <a:solidFill>
                      <a:schemeClr val="tx1"/>
                    </a:solidFill>
                    <a:latin typeface="Arial" charset="0"/>
                    <a:ea typeface="ＭＳ Ｐゴシック" charset="0"/>
                  </a:rPr>
                  <a:t>Non-blocking Receive</a:t>
                </a:r>
              </a:p>
            </p:txBody>
          </p:sp>
        </p:grpSp>
        <p:grpSp>
          <p:nvGrpSpPr>
            <p:cNvPr id="639075" name="Group 99"/>
            <p:cNvGrpSpPr>
              <a:grpSpLocks/>
            </p:cNvGrpSpPr>
            <p:nvPr/>
          </p:nvGrpSpPr>
          <p:grpSpPr bwMode="auto">
            <a:xfrm>
              <a:off x="3657600" y="4591050"/>
              <a:ext cx="3429000" cy="1279525"/>
              <a:chOff x="2448" y="2304"/>
              <a:chExt cx="2160" cy="1008"/>
            </a:xfrm>
          </p:grpSpPr>
          <p:grpSp>
            <p:nvGrpSpPr>
              <p:cNvPr id="68631" name="Group 13"/>
              <p:cNvGrpSpPr>
                <a:grpSpLocks/>
              </p:cNvGrpSpPr>
              <p:nvPr/>
            </p:nvGrpSpPr>
            <p:grpSpPr bwMode="auto">
              <a:xfrm>
                <a:off x="3696" y="3120"/>
                <a:ext cx="288" cy="192"/>
                <a:chOff x="2976" y="2688"/>
                <a:chExt cx="288" cy="192"/>
              </a:xfrm>
            </p:grpSpPr>
            <p:sp>
              <p:nvSpPr>
                <p:cNvPr id="638990" name="Rectangle 14"/>
                <p:cNvSpPr>
                  <a:spLocks noChangeArrowheads="1"/>
                </p:cNvSpPr>
                <p:nvPr/>
              </p:nvSpPr>
              <p:spPr bwMode="auto">
                <a:xfrm>
                  <a:off x="2976" y="2687"/>
                  <a:ext cx="288" cy="193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grpSp>
              <p:nvGrpSpPr>
                <p:cNvPr id="68636" name="Group 15"/>
                <p:cNvGrpSpPr>
                  <a:grpSpLocks/>
                </p:cNvGrpSpPr>
                <p:nvPr/>
              </p:nvGrpSpPr>
              <p:grpSpPr bwMode="auto">
                <a:xfrm>
                  <a:off x="3000" y="2712"/>
                  <a:ext cx="240" cy="144"/>
                  <a:chOff x="192" y="1872"/>
                  <a:chExt cx="240" cy="144"/>
                </a:xfrm>
              </p:grpSpPr>
              <p:sp>
                <p:nvSpPr>
                  <p:cNvPr id="638992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192" y="1871"/>
                    <a:ext cx="48" cy="145"/>
                  </a:xfrm>
                  <a:prstGeom prst="rect">
                    <a:avLst/>
                  </a:prstGeom>
                  <a:solidFill>
                    <a:srgbClr val="FF66CC"/>
                  </a:solidFill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pPr>
                      <a:defRPr/>
                    </a:pPr>
                    <a:endParaRPr lang="en-US">
                      <a:latin typeface="Tahoma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38993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40" y="1871"/>
                    <a:ext cx="48" cy="145"/>
                  </a:xfrm>
                  <a:prstGeom prst="rect">
                    <a:avLst/>
                  </a:prstGeom>
                  <a:solidFill>
                    <a:srgbClr val="FF66CC"/>
                  </a:solidFill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pPr>
                      <a:defRPr/>
                    </a:pPr>
                    <a:endParaRPr lang="en-US">
                      <a:latin typeface="Tahoma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38994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288" y="1871"/>
                    <a:ext cx="48" cy="145"/>
                  </a:xfrm>
                  <a:prstGeom prst="rect">
                    <a:avLst/>
                  </a:prstGeom>
                  <a:solidFill>
                    <a:srgbClr val="FF66CC"/>
                  </a:solidFill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pPr>
                      <a:defRPr/>
                    </a:pPr>
                    <a:endParaRPr lang="en-US">
                      <a:latin typeface="Tahoma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38995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336" y="1871"/>
                    <a:ext cx="48" cy="145"/>
                  </a:xfrm>
                  <a:prstGeom prst="rect">
                    <a:avLst/>
                  </a:prstGeom>
                  <a:solidFill>
                    <a:srgbClr val="FF66CC"/>
                  </a:solidFill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pPr>
                      <a:defRPr/>
                    </a:pPr>
                    <a:endParaRPr lang="en-US">
                      <a:latin typeface="Tahoma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638996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384" y="1871"/>
                    <a:ext cx="48" cy="145"/>
                  </a:xfrm>
                  <a:prstGeom prst="rect">
                    <a:avLst/>
                  </a:prstGeom>
                  <a:solidFill>
                    <a:srgbClr val="FF66CC"/>
                  </a:solidFill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pPr>
                      <a:defRPr/>
                    </a:pPr>
                    <a:endParaRPr lang="en-US">
                      <a:latin typeface="Tahoma" charset="0"/>
                      <a:ea typeface="ＭＳ Ｐゴシック" charset="0"/>
                    </a:endParaRPr>
                  </a:p>
                </p:txBody>
              </p:sp>
            </p:grpSp>
            <p:sp>
              <p:nvSpPr>
                <p:cNvPr id="638997" name="Freeform 21"/>
                <p:cNvSpPr>
                  <a:spLocks/>
                </p:cNvSpPr>
                <p:nvPr/>
              </p:nvSpPr>
              <p:spPr bwMode="auto">
                <a:xfrm>
                  <a:off x="2976" y="2688"/>
                  <a:ext cx="288" cy="48"/>
                </a:xfrm>
                <a:custGeom>
                  <a:avLst/>
                  <a:gdLst>
                    <a:gd name="T0" fmla="*/ 0 w 288"/>
                    <a:gd name="T1" fmla="*/ 0 h 48"/>
                    <a:gd name="T2" fmla="*/ 144 w 288"/>
                    <a:gd name="T3" fmla="*/ 48 h 48"/>
                    <a:gd name="T4" fmla="*/ 288 w 288"/>
                    <a:gd name="T5" fmla="*/ 0 h 48"/>
                    <a:gd name="T6" fmla="*/ 0 w 288"/>
                    <a:gd name="T7" fmla="*/ 0 h 48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8" h="48">
                      <a:moveTo>
                        <a:pt x="0" y="0"/>
                      </a:moveTo>
                      <a:lnTo>
                        <a:pt x="144" y="48"/>
                      </a:lnTo>
                      <a:lnTo>
                        <a:pt x="28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635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7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en-US"/>
                </a:p>
              </p:txBody>
            </p:sp>
          </p:grpSp>
          <p:cxnSp>
            <p:nvCxnSpPr>
              <p:cNvPr id="638998" name="AutoShape 22"/>
              <p:cNvCxnSpPr>
                <a:cxnSpLocks noChangeShapeType="1"/>
              </p:cNvCxnSpPr>
              <p:nvPr/>
            </p:nvCxnSpPr>
            <p:spPr bwMode="auto">
              <a:xfrm>
                <a:off x="3984" y="3216"/>
                <a:ext cx="624" cy="0"/>
              </a:xfrm>
              <a:prstGeom prst="straightConnector1">
                <a:avLst/>
              </a:prstGeom>
              <a:noFill/>
              <a:ln w="25400">
                <a:solidFill>
                  <a:srgbClr val="00CC00"/>
                </a:solidFill>
                <a:round/>
                <a:headEnd type="none" w="sm" len="sm"/>
                <a:tailEnd type="triangle" w="med" len="lg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638999" name="Text Box 23"/>
              <p:cNvSpPr txBox="1">
                <a:spLocks noChangeArrowheads="1"/>
              </p:cNvSpPr>
              <p:nvPr/>
            </p:nvSpPr>
            <p:spPr bwMode="auto">
              <a:xfrm>
                <a:off x="2448" y="2304"/>
                <a:ext cx="978" cy="2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algn="l">
                  <a:defRPr/>
                </a:pPr>
                <a:r>
                  <a:rPr lang="de-DE" sz="1800" b="0">
                    <a:solidFill>
                      <a:schemeClr val="tx1"/>
                    </a:solidFill>
                    <a:latin typeface="Arial" charset="0"/>
                    <a:ea typeface="ＭＳ Ｐゴシック" charset="0"/>
                  </a:rPr>
                  <a:t>MPI_Irecv(...)</a:t>
                </a:r>
              </a:p>
            </p:txBody>
          </p:sp>
          <p:sp>
            <p:nvSpPr>
              <p:cNvPr id="639000" name="Freeform 24"/>
              <p:cNvSpPr>
                <a:spLocks/>
              </p:cNvSpPr>
              <p:nvPr/>
            </p:nvSpPr>
            <p:spPr bwMode="auto">
              <a:xfrm>
                <a:off x="3456" y="2448"/>
                <a:ext cx="1008" cy="720"/>
              </a:xfrm>
              <a:custGeom>
                <a:avLst/>
                <a:gdLst>
                  <a:gd name="T0" fmla="*/ 0 w 1008"/>
                  <a:gd name="T1" fmla="*/ 0 h 336"/>
                  <a:gd name="T2" fmla="*/ 864 w 1008"/>
                  <a:gd name="T3" fmla="*/ 0 h 336"/>
                  <a:gd name="T4" fmla="*/ 1008 w 1008"/>
                  <a:gd name="T5" fmla="*/ 720 h 33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8" h="336">
                    <a:moveTo>
                      <a:pt x="0" y="0"/>
                    </a:moveTo>
                    <a:lnTo>
                      <a:pt x="864" y="0"/>
                    </a:lnTo>
                    <a:lnTo>
                      <a:pt x="1008" y="336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en-US"/>
              </a:p>
            </p:txBody>
          </p:sp>
        </p:grpSp>
        <p:sp>
          <p:nvSpPr>
            <p:cNvPr id="639076" name="Text Box 100"/>
            <p:cNvSpPr txBox="1">
              <a:spLocks noChangeArrowheads="1"/>
            </p:cNvSpPr>
            <p:nvPr/>
          </p:nvSpPr>
          <p:spPr bwMode="auto">
            <a:xfrm>
              <a:off x="3733800" y="4953000"/>
              <a:ext cx="2492375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algn="l">
                <a:defRPr/>
              </a:pPr>
              <a:r>
                <a:rPr lang="en-US" sz="1800" b="0" dirty="0">
                  <a:solidFill>
                    <a:schemeClr val="tx1"/>
                  </a:solidFill>
                  <a:latin typeface="Arial" charset="0"/>
                  <a:ea typeface="ＭＳ Ｐゴシック" charset="0"/>
                </a:rPr>
                <a:t>doing some other work</a:t>
              </a:r>
            </a:p>
          </p:txBody>
        </p:sp>
        <p:grpSp>
          <p:nvGrpSpPr>
            <p:cNvPr id="639054" name="Group 78"/>
            <p:cNvGrpSpPr>
              <a:grpSpLocks/>
            </p:cNvGrpSpPr>
            <p:nvPr/>
          </p:nvGrpSpPr>
          <p:grpSpPr bwMode="auto">
            <a:xfrm>
              <a:off x="3657600" y="5319713"/>
              <a:ext cx="3022600" cy="538162"/>
              <a:chOff x="2455" y="1392"/>
              <a:chExt cx="1904" cy="424"/>
            </a:xfrm>
          </p:grpSpPr>
          <p:sp>
            <p:nvSpPr>
              <p:cNvPr id="639055" name="Line 79"/>
              <p:cNvSpPr>
                <a:spLocks noChangeShapeType="1"/>
              </p:cNvSpPr>
              <p:nvPr/>
            </p:nvSpPr>
            <p:spPr bwMode="auto">
              <a:xfrm flipH="1">
                <a:off x="4231" y="1623"/>
                <a:ext cx="128" cy="193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39056" name="Text Box 80"/>
              <p:cNvSpPr txBox="1">
                <a:spLocks noChangeArrowheads="1"/>
              </p:cNvSpPr>
              <p:nvPr/>
            </p:nvSpPr>
            <p:spPr bwMode="auto">
              <a:xfrm>
                <a:off x="2455" y="1392"/>
                <a:ext cx="954" cy="2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algn="l">
                  <a:defRPr/>
                </a:pPr>
                <a:r>
                  <a:rPr lang="de-DE" sz="1800" b="0">
                    <a:solidFill>
                      <a:schemeClr val="tx1"/>
                    </a:solidFill>
                    <a:latin typeface="Arial" charset="0"/>
                    <a:ea typeface="ＭＳ Ｐゴシック" charset="0"/>
                  </a:rPr>
                  <a:t>MPI_Wait(...)</a:t>
                </a:r>
              </a:p>
            </p:txBody>
          </p:sp>
          <p:sp>
            <p:nvSpPr>
              <p:cNvPr id="639057" name="Freeform 81"/>
              <p:cNvSpPr>
                <a:spLocks/>
              </p:cNvSpPr>
              <p:nvPr/>
            </p:nvSpPr>
            <p:spPr bwMode="auto">
              <a:xfrm>
                <a:off x="3463" y="1488"/>
                <a:ext cx="761" cy="192"/>
              </a:xfrm>
              <a:custGeom>
                <a:avLst/>
                <a:gdLst>
                  <a:gd name="T0" fmla="*/ 0 w 864"/>
                  <a:gd name="T1" fmla="*/ 0 h 192"/>
                  <a:gd name="T2" fmla="*/ 676 w 864"/>
                  <a:gd name="T3" fmla="*/ 0 h 192"/>
                  <a:gd name="T4" fmla="*/ 761 w 864"/>
                  <a:gd name="T5" fmla="*/ 192 h 19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4" h="192">
                    <a:moveTo>
                      <a:pt x="0" y="0"/>
                    </a:moveTo>
                    <a:lnTo>
                      <a:pt x="768" y="0"/>
                    </a:lnTo>
                    <a:lnTo>
                      <a:pt x="864" y="192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en-US"/>
              </a:p>
            </p:txBody>
          </p:sp>
          <p:sp>
            <p:nvSpPr>
              <p:cNvPr id="639058" name="Line 82"/>
              <p:cNvSpPr>
                <a:spLocks noChangeShapeType="1"/>
              </p:cNvSpPr>
              <p:nvPr/>
            </p:nvSpPr>
            <p:spPr bwMode="auto">
              <a:xfrm flipH="1">
                <a:off x="4180" y="1623"/>
                <a:ext cx="128" cy="193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  <p:sp>
            <p:nvSpPr>
              <p:cNvPr id="639059" name="Line 83"/>
              <p:cNvSpPr>
                <a:spLocks noChangeShapeType="1"/>
              </p:cNvSpPr>
              <p:nvPr/>
            </p:nvSpPr>
            <p:spPr bwMode="auto">
              <a:xfrm flipH="1">
                <a:off x="4128" y="1623"/>
                <a:ext cx="128" cy="193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>
                  <a:defRPr/>
                </a:pPr>
                <a:endParaRPr lang="en-US">
                  <a:latin typeface="Tahoma" charset="0"/>
                  <a:ea typeface="ＭＳ Ｐゴシック" charset="0"/>
                </a:endParaRPr>
              </a:p>
            </p:txBody>
          </p:sp>
        </p:grpSp>
        <p:grpSp>
          <p:nvGrpSpPr>
            <p:cNvPr id="639094" name="Group 118"/>
            <p:cNvGrpSpPr>
              <a:grpSpLocks/>
            </p:cNvGrpSpPr>
            <p:nvPr/>
          </p:nvGrpSpPr>
          <p:grpSpPr bwMode="auto">
            <a:xfrm>
              <a:off x="1981200" y="6019800"/>
              <a:ext cx="4719638" cy="379413"/>
              <a:chOff x="905" y="3400"/>
              <a:chExt cx="2973" cy="239"/>
            </a:xfrm>
          </p:grpSpPr>
          <p:grpSp>
            <p:nvGrpSpPr>
              <p:cNvPr id="68621" name="Group 110"/>
              <p:cNvGrpSpPr>
                <a:grpSpLocks/>
              </p:cNvGrpSpPr>
              <p:nvPr/>
            </p:nvGrpSpPr>
            <p:grpSpPr bwMode="auto">
              <a:xfrm>
                <a:off x="905" y="3400"/>
                <a:ext cx="231" cy="192"/>
                <a:chOff x="905" y="3400"/>
                <a:chExt cx="231" cy="192"/>
              </a:xfrm>
            </p:grpSpPr>
            <p:sp>
              <p:nvSpPr>
                <p:cNvPr id="639081" name="Line 105"/>
                <p:cNvSpPr>
                  <a:spLocks noChangeShapeType="1"/>
                </p:cNvSpPr>
                <p:nvPr/>
              </p:nvSpPr>
              <p:spPr bwMode="auto">
                <a:xfrm flipH="1">
                  <a:off x="1008" y="3400"/>
                  <a:ext cx="128" cy="192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639084" name="Line 108"/>
                <p:cNvSpPr>
                  <a:spLocks noChangeShapeType="1"/>
                </p:cNvSpPr>
                <p:nvPr/>
              </p:nvSpPr>
              <p:spPr bwMode="auto">
                <a:xfrm flipH="1">
                  <a:off x="957" y="3400"/>
                  <a:ext cx="128" cy="192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  <p:sp>
              <p:nvSpPr>
                <p:cNvPr id="639085" name="Line 109"/>
                <p:cNvSpPr>
                  <a:spLocks noChangeShapeType="1"/>
                </p:cNvSpPr>
                <p:nvPr/>
              </p:nvSpPr>
              <p:spPr bwMode="auto">
                <a:xfrm flipH="1">
                  <a:off x="905" y="3400"/>
                  <a:ext cx="128" cy="192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>
                    <a:defRPr/>
                  </a:pPr>
                  <a:endParaRPr lang="en-US">
                    <a:latin typeface="Tahoma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639093" name="Text Box 117"/>
              <p:cNvSpPr txBox="1">
                <a:spLocks noChangeArrowheads="1"/>
              </p:cNvSpPr>
              <p:nvPr/>
            </p:nvSpPr>
            <p:spPr bwMode="auto">
              <a:xfrm>
                <a:off x="1104" y="3408"/>
                <a:ext cx="277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pPr algn="l">
                  <a:defRPr/>
                </a:pPr>
                <a:r>
                  <a:rPr lang="en-US" sz="1800" b="0" dirty="0">
                    <a:solidFill>
                      <a:schemeClr val="tx1"/>
                    </a:solidFill>
                    <a:latin typeface="Arial" charset="0"/>
                    <a:ea typeface="ＭＳ Ｐゴシック" charset="0"/>
                  </a:rPr>
                  <a:t>= waiting until operation locally completed</a:t>
                </a:r>
              </a:p>
            </p:txBody>
          </p:sp>
        </p:grpSp>
      </p:grpSp>
      <p:sp>
        <p:nvSpPr>
          <p:cNvPr id="62" name="Rectangle 61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769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323" y="838200"/>
            <a:ext cx="8991600" cy="5943600"/>
          </a:xfrm>
        </p:spPr>
        <p:txBody>
          <a:bodyPr/>
          <a:lstStyle/>
          <a:p>
            <a:pPr eaLnBrk="1" hangingPunct="1">
              <a:buFont typeface="Wingdings" charset="0"/>
              <a:buNone/>
              <a:defRPr/>
            </a:pPr>
            <a:r>
              <a:rPr lang="en-US" sz="2000" b="1" dirty="0">
                <a:latin typeface="Courier New" charset="0"/>
                <a:ea typeface="+mn-ea"/>
                <a:cs typeface="Courier New" charset="0"/>
              </a:rPr>
              <a:t>MPI_ISEND(</a:t>
            </a:r>
            <a:r>
              <a:rPr lang="en-US" sz="2000" b="1" dirty="0" err="1">
                <a:latin typeface="Courier New" charset="0"/>
                <a:ea typeface="+mn-ea"/>
                <a:cs typeface="Courier New" charset="0"/>
              </a:rPr>
              <a:t>buf</a:t>
            </a:r>
            <a:r>
              <a:rPr lang="en-US" sz="2000" b="1" dirty="0">
                <a:latin typeface="Courier New" charset="0"/>
                <a:ea typeface="+mn-ea"/>
                <a:cs typeface="Courier New" charset="0"/>
              </a:rPr>
              <a:t>, count, </a:t>
            </a:r>
            <a:r>
              <a:rPr lang="en-US" sz="2000" b="1" dirty="0" err="1">
                <a:latin typeface="Courier New" charset="0"/>
                <a:ea typeface="+mn-ea"/>
                <a:cs typeface="Courier New" charset="0"/>
              </a:rPr>
              <a:t>datatype</a:t>
            </a:r>
            <a:r>
              <a:rPr lang="en-US" sz="2000" b="1" dirty="0">
                <a:latin typeface="Courier New" charset="0"/>
                <a:ea typeface="+mn-ea"/>
                <a:cs typeface="Courier New" charset="0"/>
              </a:rPr>
              <a:t>, </a:t>
            </a:r>
            <a:r>
              <a:rPr lang="en-US" sz="2000" b="1" dirty="0" err="1">
                <a:latin typeface="Courier New" charset="0"/>
                <a:ea typeface="+mn-ea"/>
                <a:cs typeface="Courier New" charset="0"/>
              </a:rPr>
              <a:t>dest</a:t>
            </a:r>
            <a:r>
              <a:rPr lang="en-US" sz="2000" b="1" dirty="0">
                <a:latin typeface="Courier New" charset="0"/>
                <a:ea typeface="+mn-ea"/>
                <a:cs typeface="Courier New" charset="0"/>
              </a:rPr>
              <a:t>, tag, </a:t>
            </a:r>
            <a:r>
              <a:rPr lang="en-US" sz="2000" b="1" dirty="0" err="1">
                <a:latin typeface="Courier New" charset="0"/>
                <a:ea typeface="+mn-ea"/>
                <a:cs typeface="Courier New" charset="0"/>
              </a:rPr>
              <a:t>comm</a:t>
            </a:r>
            <a:r>
              <a:rPr lang="en-US" sz="2000" b="1" dirty="0">
                <a:latin typeface="Courier New" charset="0"/>
                <a:ea typeface="+mn-ea"/>
                <a:cs typeface="Courier New" charset="0"/>
              </a:rPr>
              <a:t>, </a:t>
            </a:r>
            <a:r>
              <a:rPr lang="en-US" sz="2000" b="1" dirty="0">
                <a:solidFill>
                  <a:srgbClr val="C00000"/>
                </a:solidFill>
                <a:latin typeface="Courier New" charset="0"/>
                <a:ea typeface="+mn-ea"/>
                <a:cs typeface="Courier New" charset="0"/>
              </a:rPr>
              <a:t>request</a:t>
            </a:r>
            <a:r>
              <a:rPr lang="en-US" sz="2000" b="1" dirty="0">
                <a:latin typeface="Courier New" charset="0"/>
                <a:ea typeface="+mn-ea"/>
                <a:cs typeface="Courier New" charset="0"/>
              </a:rPr>
              <a:t>)</a:t>
            </a:r>
          </a:p>
          <a:p>
            <a:pPr eaLnBrk="1" hangingPunct="1">
              <a:buFont typeface="Wingdings" charset="0"/>
              <a:buNone/>
              <a:defRPr/>
            </a:pPr>
            <a:r>
              <a:rPr lang="en-US" sz="2000" b="1" dirty="0">
                <a:latin typeface="Courier New" charset="0"/>
                <a:ea typeface="+mn-ea"/>
                <a:cs typeface="Courier New" charset="0"/>
              </a:rPr>
              <a:t>MPI_IRECV(</a:t>
            </a:r>
            <a:r>
              <a:rPr lang="en-US" sz="2000" b="1" dirty="0" err="1">
                <a:latin typeface="Courier New" charset="0"/>
                <a:ea typeface="+mn-ea"/>
                <a:cs typeface="Courier New" charset="0"/>
              </a:rPr>
              <a:t>buf</a:t>
            </a:r>
            <a:r>
              <a:rPr lang="en-US" sz="2000" b="1" dirty="0">
                <a:latin typeface="Courier New" charset="0"/>
                <a:ea typeface="+mn-ea"/>
                <a:cs typeface="Courier New" charset="0"/>
              </a:rPr>
              <a:t>, count, </a:t>
            </a:r>
            <a:r>
              <a:rPr lang="en-US" sz="2000" b="1" dirty="0" err="1">
                <a:latin typeface="Courier New" charset="0"/>
                <a:ea typeface="+mn-ea"/>
                <a:cs typeface="Courier New" charset="0"/>
              </a:rPr>
              <a:t>datatype</a:t>
            </a:r>
            <a:r>
              <a:rPr lang="en-US" sz="2000" b="1" dirty="0">
                <a:latin typeface="Courier New" charset="0"/>
                <a:ea typeface="+mn-ea"/>
                <a:cs typeface="Courier New" charset="0"/>
              </a:rPr>
              <a:t>, </a:t>
            </a:r>
            <a:r>
              <a:rPr lang="en-US" sz="2000" b="1" dirty="0" err="1">
                <a:latin typeface="Courier New" charset="0"/>
                <a:ea typeface="+mn-ea"/>
                <a:cs typeface="Courier New" charset="0"/>
              </a:rPr>
              <a:t>dest</a:t>
            </a:r>
            <a:r>
              <a:rPr lang="en-US" sz="2000" b="1" dirty="0">
                <a:latin typeface="Courier New" charset="0"/>
                <a:ea typeface="+mn-ea"/>
                <a:cs typeface="Courier New" charset="0"/>
              </a:rPr>
              <a:t>, tag, </a:t>
            </a:r>
            <a:r>
              <a:rPr lang="en-US" sz="2000" b="1" dirty="0" err="1">
                <a:latin typeface="Courier New" charset="0"/>
                <a:ea typeface="+mn-ea"/>
                <a:cs typeface="Courier New" charset="0"/>
              </a:rPr>
              <a:t>comm</a:t>
            </a:r>
            <a:r>
              <a:rPr lang="en-US" sz="2000" b="1" dirty="0">
                <a:latin typeface="Courier New" charset="0"/>
                <a:ea typeface="+mn-ea"/>
                <a:cs typeface="Courier New" charset="0"/>
              </a:rPr>
              <a:t>, </a:t>
            </a:r>
            <a:r>
              <a:rPr lang="en-US" sz="2000" b="1" dirty="0">
                <a:solidFill>
                  <a:srgbClr val="C00000"/>
                </a:solidFill>
                <a:latin typeface="Courier New" charset="0"/>
                <a:ea typeface="+mn-ea"/>
                <a:cs typeface="Courier New" charset="0"/>
              </a:rPr>
              <a:t>request</a:t>
            </a:r>
            <a:r>
              <a:rPr lang="en-US" sz="2000" b="1" dirty="0">
                <a:latin typeface="Courier New" charset="0"/>
                <a:ea typeface="+mn-ea"/>
                <a:cs typeface="Courier New" charset="0"/>
              </a:rPr>
              <a:t>)</a:t>
            </a:r>
          </a:p>
          <a:p>
            <a:pPr marL="0" indent="0" eaLnBrk="1" hangingPunct="1">
              <a:buNone/>
              <a:defRPr/>
            </a:pPr>
            <a:endParaRPr lang="en-US" sz="2800" dirty="0"/>
          </a:p>
          <a:p>
            <a:pPr marL="0" indent="0" eaLnBrk="1" hangingPunct="1">
              <a:buNone/>
              <a:defRPr/>
            </a:pPr>
            <a:r>
              <a:rPr lang="en-US" sz="2800" b="1" i="1" dirty="0">
                <a:solidFill>
                  <a:srgbClr val="C00000"/>
                </a:solidFill>
              </a:rPr>
              <a:t>request</a:t>
            </a:r>
            <a:r>
              <a:rPr lang="en-US" sz="2800" dirty="0"/>
              <a:t> is a </a:t>
            </a:r>
            <a:r>
              <a:rPr lang="en-US" sz="2800" b="1" dirty="0">
                <a:solidFill>
                  <a:srgbClr val="2C14DE"/>
                </a:solidFill>
              </a:rPr>
              <a:t>request handle </a:t>
            </a:r>
            <a:r>
              <a:rPr lang="en-US" sz="2800" dirty="0"/>
              <a:t>which can be </a:t>
            </a:r>
            <a:r>
              <a:rPr lang="en-US" sz="2800" b="1" u="sng" dirty="0"/>
              <a:t>used to query</a:t>
            </a:r>
            <a:r>
              <a:rPr lang="en-US" sz="2800" b="1" dirty="0"/>
              <a:t>:</a:t>
            </a:r>
          </a:p>
          <a:p>
            <a:pPr lvl="1">
              <a:defRPr/>
            </a:pPr>
            <a:r>
              <a:rPr lang="en-US" b="1" dirty="0">
                <a:solidFill>
                  <a:srgbClr val="2C14DE"/>
                </a:solidFill>
              </a:rPr>
              <a:t>Check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the </a:t>
            </a:r>
            <a:r>
              <a:rPr lang="en-US" b="1" u="sng" dirty="0">
                <a:solidFill>
                  <a:srgbClr val="2C14DE"/>
                </a:solidFill>
              </a:rPr>
              <a:t>status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/>
              <a:t>communication</a:t>
            </a:r>
          </a:p>
          <a:p>
            <a:pPr lvl="1">
              <a:defRPr/>
            </a:pPr>
            <a:r>
              <a:rPr lang="en-US" b="1" dirty="0"/>
              <a:t>Or </a:t>
            </a:r>
            <a:r>
              <a:rPr lang="en-US" b="1" dirty="0">
                <a:solidFill>
                  <a:srgbClr val="2C14DE"/>
                </a:solidFill>
              </a:rPr>
              <a:t>wait</a:t>
            </a:r>
            <a:r>
              <a:rPr lang="en-US" b="1" dirty="0"/>
              <a:t> for the </a:t>
            </a:r>
            <a:r>
              <a:rPr lang="en-US" b="1" dirty="0">
                <a:solidFill>
                  <a:srgbClr val="2C14DE"/>
                </a:solidFill>
              </a:rPr>
              <a:t>completion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37698" y="13019"/>
            <a:ext cx="9106302" cy="700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solidFill>
                  <a:srgbClr val="C00000"/>
                </a:solidFill>
              </a:rPr>
              <a:t>Non-Blocking Send and Receive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973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34375" cy="71628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C00000"/>
                </a:solidFill>
                <a:ea typeface="+mj-ea"/>
              </a:rPr>
              <a:t>Non-blocking Communication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912" y="793282"/>
            <a:ext cx="8981975" cy="6019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defRPr/>
            </a:pPr>
            <a:r>
              <a:rPr lang="en-US" sz="2800" b="1" dirty="0" err="1">
                <a:solidFill>
                  <a:srgbClr val="C00000"/>
                </a:solidFill>
                <a:latin typeface="Courier New" charset="0"/>
              </a:rPr>
              <a:t>MPI_Isend</a:t>
            </a:r>
            <a:r>
              <a:rPr lang="en-US" sz="2800" dirty="0"/>
              <a:t> or </a:t>
            </a:r>
            <a:r>
              <a:rPr lang="en-US" sz="2800" b="1" dirty="0" err="1">
                <a:solidFill>
                  <a:srgbClr val="C00000"/>
                </a:solidFill>
                <a:latin typeface="Courier New" charset="0"/>
              </a:rPr>
              <a:t>MPI_Irecv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2C14DE"/>
                </a:solidFill>
              </a:rPr>
              <a:t>starts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b="1" dirty="0">
                <a:solidFill>
                  <a:srgbClr val="2C14DE"/>
                </a:solidFill>
              </a:rPr>
              <a:t>communication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dirty="0"/>
              <a:t>and </a:t>
            </a:r>
            <a:r>
              <a:rPr lang="en-US" sz="2800" b="1" dirty="0"/>
              <a:t>returns</a:t>
            </a:r>
            <a:r>
              <a:rPr lang="en-US" sz="2800" dirty="0"/>
              <a:t> </a:t>
            </a:r>
            <a:r>
              <a:rPr lang="en-US" sz="2800" b="1" i="1" dirty="0">
                <a:solidFill>
                  <a:srgbClr val="2C14DE"/>
                </a:solidFill>
                <a:latin typeface="Courier New" charset="0"/>
              </a:rPr>
              <a:t>request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b="1" dirty="0"/>
              <a:t>data structure</a:t>
            </a:r>
            <a:endParaRPr lang="en-US" sz="2800" dirty="0"/>
          </a:p>
          <a:p>
            <a:pPr marL="0" indent="0">
              <a:lnSpc>
                <a:spcPct val="90000"/>
              </a:lnSpc>
              <a:buNone/>
              <a:defRPr/>
            </a:pPr>
            <a:endParaRPr lang="en-US" sz="2800" dirty="0"/>
          </a:p>
          <a:p>
            <a:pPr algn="just">
              <a:lnSpc>
                <a:spcPct val="90000"/>
              </a:lnSpc>
              <a:defRPr/>
            </a:pPr>
            <a:r>
              <a:rPr lang="en-US" sz="2800" b="1" dirty="0" err="1">
                <a:solidFill>
                  <a:srgbClr val="C00000"/>
                </a:solidFill>
                <a:latin typeface="Courier New" charset="0"/>
              </a:rPr>
              <a:t>MPI_Wait</a:t>
            </a:r>
            <a:r>
              <a:rPr lang="en-US" sz="2800" dirty="0"/>
              <a:t> (also </a:t>
            </a:r>
            <a:r>
              <a:rPr lang="en-US" sz="2800" b="1" dirty="0" err="1">
                <a:solidFill>
                  <a:srgbClr val="C00000"/>
                </a:solidFill>
                <a:latin typeface="Courier New" charset="0"/>
              </a:rPr>
              <a:t>MPI_Waitall</a:t>
            </a:r>
            <a:r>
              <a:rPr lang="en-US" sz="2800" dirty="0"/>
              <a:t>, </a:t>
            </a:r>
            <a:r>
              <a:rPr lang="en-US" sz="2800" b="1" dirty="0" err="1">
                <a:solidFill>
                  <a:srgbClr val="C00000"/>
                </a:solidFill>
                <a:latin typeface="Courier New" charset="0"/>
              </a:rPr>
              <a:t>MPI_Waitany</a:t>
            </a:r>
            <a:r>
              <a:rPr lang="en-US" sz="2800" dirty="0"/>
              <a:t>) uses </a:t>
            </a:r>
            <a:r>
              <a:rPr lang="en-US" sz="2800" b="1" dirty="0">
                <a:latin typeface="Courier New" charset="0"/>
              </a:rPr>
              <a:t>request</a:t>
            </a:r>
            <a:r>
              <a:rPr lang="en-US" sz="2800" dirty="0"/>
              <a:t> as an </a:t>
            </a:r>
            <a:r>
              <a:rPr lang="en-US" sz="2800" b="1" dirty="0"/>
              <a:t>argument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2C14DE"/>
                </a:solidFill>
              </a:rPr>
              <a:t>blocks until communication </a:t>
            </a:r>
            <a:r>
              <a:rPr lang="en-US" sz="2800" dirty="0"/>
              <a:t>is </a:t>
            </a:r>
            <a:r>
              <a:rPr lang="en-US" sz="2800" b="1" dirty="0"/>
              <a:t>complete</a:t>
            </a:r>
          </a:p>
          <a:p>
            <a:pPr marL="0" indent="0" algn="just">
              <a:lnSpc>
                <a:spcPct val="90000"/>
              </a:lnSpc>
              <a:buNone/>
              <a:defRPr/>
            </a:pPr>
            <a:endParaRPr lang="en-US" sz="2800" dirty="0"/>
          </a:p>
          <a:p>
            <a:pPr>
              <a:lnSpc>
                <a:spcPct val="90000"/>
              </a:lnSpc>
              <a:defRPr/>
            </a:pPr>
            <a:r>
              <a:rPr lang="en-US" sz="2800" b="1" dirty="0" err="1">
                <a:solidFill>
                  <a:srgbClr val="C00000"/>
                </a:solidFill>
                <a:latin typeface="Courier New" charset="0"/>
              </a:rPr>
              <a:t>MPI_Test</a:t>
            </a:r>
            <a:r>
              <a:rPr lang="en-US" sz="2800" dirty="0"/>
              <a:t> uses </a:t>
            </a:r>
            <a:r>
              <a:rPr lang="en-US" sz="2800" b="1" dirty="0">
                <a:solidFill>
                  <a:srgbClr val="2C14DE"/>
                </a:solidFill>
                <a:latin typeface="Courier New" charset="0"/>
              </a:rPr>
              <a:t>request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dirty="0"/>
              <a:t>as an </a:t>
            </a:r>
            <a:r>
              <a:rPr lang="en-US" sz="2800" b="1" dirty="0"/>
              <a:t>argument</a:t>
            </a:r>
            <a:r>
              <a:rPr lang="en-US" sz="2800" dirty="0"/>
              <a:t> and </a:t>
            </a:r>
            <a:r>
              <a:rPr lang="en-US" sz="2800" b="1" u="sng" dirty="0">
                <a:solidFill>
                  <a:srgbClr val="2C14DE"/>
                </a:solidFill>
              </a:rPr>
              <a:t>checks for completion (non-blocking)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sz="2600" dirty="0">
              <a:ea typeface="+mn-ea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b="1" u="sng" dirty="0">
                <a:solidFill>
                  <a:srgbClr val="2C14DE"/>
                </a:solidFill>
                <a:ea typeface="+mn-ea"/>
              </a:rPr>
              <a:t>Advantages: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600" b="1" dirty="0">
                <a:solidFill>
                  <a:srgbClr val="008000"/>
                </a:solidFill>
                <a:ea typeface="+mn-ea"/>
              </a:rPr>
              <a:t>No deadlocks </a:t>
            </a:r>
            <a:r>
              <a:rPr lang="en-US" sz="2600" b="1" dirty="0">
                <a:ea typeface="+mn-ea"/>
              </a:rPr>
              <a:t>(using </a:t>
            </a:r>
            <a:r>
              <a:rPr lang="en-US" sz="2600" b="1" dirty="0" err="1">
                <a:ea typeface="+mn-ea"/>
              </a:rPr>
              <a:t>MPI_Test</a:t>
            </a:r>
            <a:r>
              <a:rPr lang="en-US" sz="2600" b="1" dirty="0">
                <a:ea typeface="+mn-ea"/>
              </a:rPr>
              <a:t> for completion check)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600" b="1" dirty="0">
                <a:solidFill>
                  <a:srgbClr val="008000"/>
                </a:solidFill>
                <a:ea typeface="+mn-ea"/>
              </a:rPr>
              <a:t>Overlap communication with computation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600" b="1" dirty="0">
                <a:ea typeface="+mn-ea"/>
              </a:rPr>
              <a:t>Exploit</a:t>
            </a:r>
            <a:r>
              <a:rPr lang="en-US" sz="2600" dirty="0">
                <a:ea typeface="+mn-ea"/>
              </a:rPr>
              <a:t> </a:t>
            </a:r>
            <a:r>
              <a:rPr lang="en-US" sz="2600" b="1" dirty="0">
                <a:solidFill>
                  <a:srgbClr val="008000"/>
                </a:solidFill>
                <a:ea typeface="+mn-ea"/>
              </a:rPr>
              <a:t>bi-directional communication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sz="2000" dirty="0">
              <a:ea typeface="+mn-e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9431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16281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C00000"/>
                </a:solidFill>
                <a:ea typeface="+mj-ea"/>
              </a:rPr>
              <a:t>Non-Blocking Send and Receive (Cont.)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7716" y="1066800"/>
            <a:ext cx="8991600" cy="5181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 b="1" dirty="0">
                <a:latin typeface="Courier New" charset="0"/>
                <a:ea typeface="+mn-ea"/>
                <a:cs typeface="Courier New" charset="0"/>
              </a:rPr>
              <a:t>MPI_WAIT (</a:t>
            </a:r>
            <a:r>
              <a:rPr lang="en-US" sz="2400" b="1" dirty="0">
                <a:solidFill>
                  <a:srgbClr val="009900"/>
                </a:solidFill>
                <a:latin typeface="Courier New" charset="0"/>
                <a:ea typeface="+mn-ea"/>
                <a:cs typeface="Courier New" charset="0"/>
              </a:rPr>
              <a:t>request</a:t>
            </a:r>
            <a:r>
              <a:rPr lang="en-US" sz="2400" b="1" dirty="0">
                <a:latin typeface="Courier New" charset="0"/>
                <a:ea typeface="+mn-ea"/>
                <a:cs typeface="Courier New" charset="0"/>
              </a:rPr>
              <a:t>, status)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 b="1" dirty="0">
                <a:latin typeface="Courier New" charset="0"/>
                <a:ea typeface="+mn-ea"/>
                <a:cs typeface="Courier New" charset="0"/>
              </a:rPr>
              <a:t>MPI_TEST (</a:t>
            </a:r>
            <a:r>
              <a:rPr lang="en-US" sz="2400" b="1" dirty="0">
                <a:solidFill>
                  <a:srgbClr val="009900"/>
                </a:solidFill>
                <a:latin typeface="Courier New" charset="0"/>
                <a:ea typeface="+mn-ea"/>
                <a:cs typeface="Courier New" charset="0"/>
              </a:rPr>
              <a:t>request</a:t>
            </a:r>
            <a:r>
              <a:rPr lang="en-US" sz="2400" b="1" dirty="0">
                <a:latin typeface="Courier New" charset="0"/>
                <a:ea typeface="+mn-ea"/>
                <a:cs typeface="Courier New" charset="0"/>
              </a:rPr>
              <a:t>, flag, status)</a:t>
            </a:r>
            <a:endParaRPr lang="en-US" sz="2400" b="1" dirty="0">
              <a:ea typeface="+mn-ea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Char char="¢"/>
              <a:defRPr/>
            </a:pPr>
            <a:endParaRPr lang="en-US" sz="2400" dirty="0">
              <a:ea typeface="+mn-ea"/>
            </a:endParaRPr>
          </a:p>
          <a:p>
            <a:pPr algn="just">
              <a:lnSpc>
                <a:spcPct val="80000"/>
              </a:lnSpc>
              <a:defRPr/>
            </a:pPr>
            <a:r>
              <a:rPr lang="en-US" sz="2800" b="1" dirty="0">
                <a:solidFill>
                  <a:srgbClr val="2C14DE"/>
                </a:solidFill>
                <a:ea typeface="+mn-ea"/>
              </a:rPr>
              <a:t>MPI_WAIT</a:t>
            </a:r>
            <a:r>
              <a:rPr lang="en-US" sz="2800" dirty="0">
                <a:ea typeface="+mn-ea"/>
              </a:rPr>
              <a:t> will </a:t>
            </a:r>
            <a:r>
              <a:rPr lang="en-US" sz="2800" b="1" u="sng" dirty="0">
                <a:solidFill>
                  <a:srgbClr val="FF0000"/>
                </a:solidFill>
                <a:ea typeface="+mn-ea"/>
              </a:rPr>
              <a:t>block</a:t>
            </a:r>
            <a:r>
              <a:rPr lang="en-US" sz="2800" dirty="0">
                <a:solidFill>
                  <a:srgbClr val="FF0000"/>
                </a:solidFill>
                <a:ea typeface="+mn-ea"/>
              </a:rPr>
              <a:t> </a:t>
            </a:r>
            <a:r>
              <a:rPr lang="en-US" sz="2800" dirty="0">
                <a:ea typeface="+mn-ea"/>
              </a:rPr>
              <a:t>until the </a:t>
            </a:r>
            <a:r>
              <a:rPr lang="en-US" sz="2800" b="1" dirty="0">
                <a:ea typeface="+mn-ea"/>
              </a:rPr>
              <a:t>non-blocking send/receive</a:t>
            </a:r>
            <a:r>
              <a:rPr lang="en-US" sz="2800" dirty="0">
                <a:ea typeface="+mn-ea"/>
              </a:rPr>
              <a:t> with the </a:t>
            </a:r>
            <a:r>
              <a:rPr lang="en-US" sz="2800" b="1" u="sng" dirty="0">
                <a:solidFill>
                  <a:srgbClr val="2C14DE"/>
                </a:solidFill>
                <a:ea typeface="+mn-ea"/>
              </a:rPr>
              <a:t>desired request is done</a:t>
            </a:r>
          </a:p>
          <a:p>
            <a:pPr algn="just">
              <a:lnSpc>
                <a:spcPct val="80000"/>
              </a:lnSpc>
              <a:defRPr/>
            </a:pPr>
            <a:endParaRPr lang="en-US" sz="2600" dirty="0"/>
          </a:p>
          <a:p>
            <a:pPr algn="just">
              <a:lnSpc>
                <a:spcPct val="80000"/>
              </a:lnSpc>
              <a:defRPr/>
            </a:pPr>
            <a:r>
              <a:rPr lang="en-US" sz="2800" dirty="0">
                <a:ea typeface="+mn-ea"/>
              </a:rPr>
              <a:t>The </a:t>
            </a:r>
            <a:r>
              <a:rPr lang="en-US" sz="2800" b="1" dirty="0">
                <a:solidFill>
                  <a:srgbClr val="2C14DE"/>
                </a:solidFill>
                <a:ea typeface="+mn-ea"/>
              </a:rPr>
              <a:t>MPI_TEST</a:t>
            </a:r>
            <a:r>
              <a:rPr lang="en-US" sz="2800" dirty="0">
                <a:ea typeface="+mn-ea"/>
              </a:rPr>
              <a:t> is </a:t>
            </a:r>
            <a:r>
              <a:rPr lang="en-US" sz="2800" b="1" u="sng" dirty="0">
                <a:solidFill>
                  <a:srgbClr val="FF0000"/>
                </a:solidFill>
                <a:ea typeface="+mn-ea"/>
              </a:rPr>
              <a:t>simply</a:t>
            </a:r>
            <a:r>
              <a:rPr lang="en-US" sz="2800" u="sng" dirty="0">
                <a:solidFill>
                  <a:srgbClr val="FF0000"/>
                </a:solidFill>
                <a:ea typeface="+mn-ea"/>
              </a:rPr>
              <a:t> </a:t>
            </a:r>
            <a:r>
              <a:rPr lang="en-US" sz="2800" b="1" u="sng" dirty="0">
                <a:solidFill>
                  <a:srgbClr val="FF0000"/>
                </a:solidFill>
                <a:ea typeface="+mn-ea"/>
              </a:rPr>
              <a:t>queried</a:t>
            </a:r>
            <a:r>
              <a:rPr lang="en-US" sz="2800" dirty="0">
                <a:solidFill>
                  <a:srgbClr val="FF0000"/>
                </a:solidFill>
                <a:ea typeface="+mn-ea"/>
              </a:rPr>
              <a:t> </a:t>
            </a:r>
            <a:r>
              <a:rPr lang="en-US" sz="2800" dirty="0">
                <a:ea typeface="+mn-ea"/>
              </a:rPr>
              <a:t>to see if the communication has completed (</a:t>
            </a:r>
            <a:r>
              <a:rPr lang="en-US" sz="2800" b="1" dirty="0">
                <a:ea typeface="+mn-ea"/>
              </a:rPr>
              <a:t>TRUE</a:t>
            </a:r>
            <a:r>
              <a:rPr lang="en-US" sz="2800" dirty="0">
                <a:ea typeface="+mn-ea"/>
              </a:rPr>
              <a:t> or </a:t>
            </a:r>
            <a:r>
              <a:rPr lang="en-US" sz="2800" b="1" dirty="0">
                <a:ea typeface="+mn-ea"/>
              </a:rPr>
              <a:t>FALSE</a:t>
            </a:r>
            <a:r>
              <a:rPr lang="en-US" sz="2800" dirty="0">
                <a:ea typeface="+mn-ea"/>
              </a:rPr>
              <a:t>) is returned immediately in </a:t>
            </a:r>
            <a:r>
              <a:rPr lang="en-US" sz="2800" b="1" dirty="0">
                <a:solidFill>
                  <a:srgbClr val="2C14DE"/>
                </a:solidFill>
                <a:ea typeface="+mn-ea"/>
              </a:rPr>
              <a:t>flag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858000" y="914400"/>
            <a:ext cx="2133600" cy="762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Demo: </a:t>
            </a:r>
            <a:r>
              <a:rPr lang="en-US" sz="2000" b="1" dirty="0">
                <a:latin typeface="Consolas" panose="020B0609020204030204" pitchFamily="49" charset="0"/>
                <a:cs typeface="Courier New" panose="02070309020205020404" pitchFamily="49" charset="0"/>
              </a:rPr>
              <a:t>P2PNonBlock.c</a:t>
            </a:r>
          </a:p>
        </p:txBody>
      </p:sp>
    </p:spTree>
    <p:extLst>
      <p:ext uri="{BB962C8B-B14F-4D97-AF65-F5344CB8AC3E}">
        <p14:creationId xmlns:p14="http://schemas.microsoft.com/office/powerpoint/2010/main" val="39792340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642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Non-blocking Message Passing - Example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108909" y="684780"/>
            <a:ext cx="8807450" cy="61732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#include "</a:t>
            </a:r>
            <a:r>
              <a:rPr lang="en-US" sz="1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mpi.h</a:t>
            </a: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“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#include &lt;</a:t>
            </a:r>
            <a:r>
              <a:rPr lang="en-US" sz="1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stdio.h</a:t>
            </a: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b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 main(</a:t>
            </a:r>
            <a:r>
              <a:rPr lang="en-US" sz="1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 </a:t>
            </a:r>
            <a:r>
              <a:rPr lang="en-US" sz="1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argc</a:t>
            </a: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, char* </a:t>
            </a:r>
            <a:r>
              <a:rPr lang="en-US" sz="1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argv</a:t>
            </a: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[])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    </a:t>
            </a:r>
            <a:r>
              <a:rPr lang="en-US" sz="1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 rank, size;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    </a:t>
            </a:r>
            <a:r>
              <a:rPr lang="en-US" sz="1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 tag, destination, count;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    </a:t>
            </a:r>
            <a:r>
              <a:rPr lang="en-US" sz="1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 buffer; </a:t>
            </a:r>
          </a:p>
          <a:p>
            <a:pPr marL="0" indent="0">
              <a:buNone/>
            </a:pPr>
            <a:b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    tag = 1234;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    destination = 1; 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    count = 1; 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    </a:t>
            </a:r>
            <a:r>
              <a:rPr lang="en-US" sz="1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MPI_Status</a:t>
            </a: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 status;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    </a:t>
            </a:r>
            <a:r>
              <a:rPr lang="en-US" sz="1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MPI_Request</a:t>
            </a: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 request = MPI_REQUEST_NULL;</a:t>
            </a:r>
          </a:p>
          <a:p>
            <a:pPr marL="0" indent="0">
              <a:buNone/>
            </a:pPr>
            <a:b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    </a:t>
            </a:r>
            <a:r>
              <a:rPr lang="en-US" sz="1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MPI_Init</a:t>
            </a: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(&amp;</a:t>
            </a:r>
            <a:r>
              <a:rPr lang="en-US" sz="1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argc</a:t>
            </a: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, &amp;</a:t>
            </a:r>
            <a:r>
              <a:rPr lang="en-US" sz="1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argv</a:t>
            </a: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b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    </a:t>
            </a:r>
            <a:r>
              <a:rPr lang="en-US" sz="1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MPI_Comm_size</a:t>
            </a: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(MPI_COMM_WORLD, &amp;size); 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    </a:t>
            </a:r>
            <a:r>
              <a:rPr lang="en-US" sz="1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MPI_Comm_rank</a:t>
            </a:r>
            <a:r>
              <a:rPr lang="en-US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(MPI_COMM_WORLD, &amp;rank); 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06425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629400" y="877569"/>
            <a:ext cx="2133600" cy="762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Demo: </a:t>
            </a:r>
            <a:r>
              <a:rPr lang="en-US" sz="2000" b="1" dirty="0">
                <a:latin typeface="Consolas" panose="020B0609020204030204" pitchFamily="49" charset="0"/>
                <a:cs typeface="Courier New" panose="02070309020205020404" pitchFamily="49" charset="0"/>
              </a:rPr>
              <a:t>P2PNonBlock.c</a:t>
            </a:r>
          </a:p>
        </p:txBody>
      </p:sp>
    </p:spTree>
    <p:extLst>
      <p:ext uri="{BB962C8B-B14F-4D97-AF65-F5344CB8AC3E}">
        <p14:creationId xmlns:p14="http://schemas.microsoft.com/office/powerpoint/2010/main" val="12422565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642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Non-blocking Message Passing - Example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168754" y="606425"/>
            <a:ext cx="8899046" cy="61732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 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if (rank == 0) { </a:t>
            </a:r>
            <a:r>
              <a:rPr lang="en-US" sz="1600" b="1" dirty="0">
                <a:solidFill>
                  <a:srgbClr val="F0781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/* master process */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     buffer = 9999;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   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MPI_Isend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(&amp;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buffer,count,MPI_INT,destination,tag,MPI_COMM_WORLD,&amp;request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    }</a:t>
            </a:r>
          </a:p>
          <a:p>
            <a:pPr marL="0" indent="0">
              <a:buNone/>
            </a:pPr>
            <a:b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if (rank == destination)  </a:t>
            </a:r>
            <a:r>
              <a:rPr lang="en-US" sz="1600" b="1" dirty="0">
                <a:solidFill>
                  <a:srgbClr val="F0781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/* slave process */</a:t>
            </a:r>
            <a:endParaRPr lang="en-US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     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MPI_Irecv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(&amp;buffer, count, MPI_INT, 0, tag, MPI_COMM_WORLD, &amp;request); 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</a:p>
          <a:p>
            <a:pPr marL="0" indent="0">
              <a:buNone/>
            </a:pP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MPI_Wait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(&amp;request, &amp;status); </a:t>
            </a:r>
            <a:r>
              <a:rPr lang="en-US" sz="1600" b="1" dirty="0">
                <a:solidFill>
                  <a:srgbClr val="F0781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//Everyone wait here (both sender &amp; receiver)</a:t>
            </a:r>
          </a:p>
          <a:p>
            <a:pPr marL="0" indent="0">
              <a:buNone/>
            </a:pPr>
            <a:endParaRPr lang="en-US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if (rank == 0) 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      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("process %d sent %d\n", rank, buffer);</a:t>
            </a:r>
          </a:p>
          <a:p>
            <a:pPr marL="0" indent="0">
              <a:buNone/>
            </a:pPr>
            <a:endParaRPr lang="en-US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if (rank == destination) 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      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("process %d 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rcv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 %d\n", rank, buffer)</a:t>
            </a:r>
          </a:p>
          <a:p>
            <a:pPr marL="0" indent="0">
              <a:buNone/>
            </a:pPr>
            <a:b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MPI_Finalize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return 0;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06425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740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3175"/>
            <a:ext cx="9144000" cy="7651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Non-blocking Message Passing -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2263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096000" cy="251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4226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6504"/>
            <a:ext cx="9084365" cy="78756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fr-FR" sz="4800" b="1" dirty="0" err="1">
                <a:solidFill>
                  <a:srgbClr val="C00000"/>
                </a:solidFill>
                <a:ea typeface="+mj-ea"/>
              </a:rPr>
              <a:t>MPI_Probe</a:t>
            </a:r>
            <a:endParaRPr lang="fr-FR" sz="4800" b="1" dirty="0">
              <a:solidFill>
                <a:srgbClr val="C00000"/>
              </a:solidFill>
              <a:ea typeface="+mj-ea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6200" y="914400"/>
            <a:ext cx="8998226" cy="5791200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fr-FR" sz="2800" b="1" u="sng" dirty="0" err="1">
                <a:solidFill>
                  <a:srgbClr val="FF0000"/>
                </a:solidFill>
                <a:ea typeface="+mn-ea"/>
              </a:rPr>
              <a:t>Instead</a:t>
            </a:r>
            <a:r>
              <a:rPr lang="fr-FR" sz="2800" b="1" u="sng" dirty="0">
                <a:solidFill>
                  <a:srgbClr val="FF0000"/>
                </a:solidFill>
                <a:ea typeface="+mn-ea"/>
              </a:rPr>
              <a:t> of </a:t>
            </a:r>
            <a:r>
              <a:rPr lang="fr-FR" sz="2800" b="1" dirty="0" err="1">
                <a:solidFill>
                  <a:srgbClr val="2C14DE"/>
                </a:solidFill>
                <a:ea typeface="+mn-ea"/>
              </a:rPr>
              <a:t>posting</a:t>
            </a:r>
            <a:r>
              <a:rPr lang="fr-FR" sz="2800" b="1" dirty="0">
                <a:solidFill>
                  <a:srgbClr val="2C14DE"/>
                </a:solidFill>
                <a:ea typeface="+mn-ea"/>
              </a:rPr>
              <a:t> </a:t>
            </a:r>
            <a:r>
              <a:rPr lang="fr-FR" sz="2800" b="1" dirty="0">
                <a:ea typeface="+mn-ea"/>
              </a:rPr>
              <a:t>a </a:t>
            </a:r>
            <a:r>
              <a:rPr lang="fr-FR" sz="2800" b="1" dirty="0" err="1">
                <a:solidFill>
                  <a:srgbClr val="2C14DE"/>
                </a:solidFill>
                <a:ea typeface="+mn-ea"/>
              </a:rPr>
              <a:t>receive</a:t>
            </a:r>
            <a:r>
              <a:rPr lang="fr-FR" sz="2800" b="1" dirty="0">
                <a:solidFill>
                  <a:srgbClr val="2C14DE"/>
                </a:solidFill>
                <a:ea typeface="+mn-ea"/>
              </a:rPr>
              <a:t> </a:t>
            </a:r>
            <a:r>
              <a:rPr lang="fr-FR" sz="2800" dirty="0">
                <a:ea typeface="+mn-ea"/>
              </a:rPr>
              <a:t>and </a:t>
            </a:r>
            <a:r>
              <a:rPr lang="fr-FR" sz="2800" dirty="0" err="1">
                <a:ea typeface="+mn-ea"/>
              </a:rPr>
              <a:t>simply</a:t>
            </a:r>
            <a:r>
              <a:rPr lang="fr-FR" sz="2800" dirty="0">
                <a:ea typeface="+mn-ea"/>
              </a:rPr>
              <a:t> </a:t>
            </a:r>
            <a:r>
              <a:rPr lang="fr-FR" sz="2800" b="1" dirty="0" err="1">
                <a:ea typeface="+mn-ea"/>
              </a:rPr>
              <a:t>providing</a:t>
            </a:r>
            <a:r>
              <a:rPr lang="fr-FR" sz="2800" dirty="0">
                <a:ea typeface="+mn-ea"/>
              </a:rPr>
              <a:t> a </a:t>
            </a:r>
            <a:r>
              <a:rPr lang="fr-FR" sz="2800" b="1" dirty="0" err="1">
                <a:ea typeface="+mn-ea"/>
              </a:rPr>
              <a:t>really</a:t>
            </a:r>
            <a:r>
              <a:rPr lang="fr-FR" sz="2800" dirty="0"/>
              <a:t> </a:t>
            </a:r>
            <a:r>
              <a:rPr lang="fr-FR" sz="2800" b="1" dirty="0">
                <a:solidFill>
                  <a:srgbClr val="2C14DE"/>
                </a:solidFill>
                <a:ea typeface="+mn-ea"/>
              </a:rPr>
              <a:t>large buffer</a:t>
            </a:r>
            <a:r>
              <a:rPr lang="fr-FR" sz="2800" dirty="0">
                <a:solidFill>
                  <a:srgbClr val="2C14DE"/>
                </a:solidFill>
                <a:ea typeface="+mn-ea"/>
              </a:rPr>
              <a:t> </a:t>
            </a:r>
            <a:r>
              <a:rPr lang="fr-FR" sz="2800" dirty="0">
                <a:ea typeface="+mn-ea"/>
              </a:rPr>
              <a:t>to </a:t>
            </a:r>
            <a:r>
              <a:rPr lang="fr-FR" sz="2800" b="1" dirty="0" err="1">
                <a:solidFill>
                  <a:srgbClr val="2C14DE"/>
                </a:solidFill>
                <a:ea typeface="+mn-ea"/>
              </a:rPr>
              <a:t>handle</a:t>
            </a:r>
            <a:r>
              <a:rPr lang="fr-FR" sz="2800" dirty="0">
                <a:solidFill>
                  <a:srgbClr val="2C14DE"/>
                </a:solidFill>
                <a:ea typeface="+mn-ea"/>
              </a:rPr>
              <a:t> </a:t>
            </a:r>
            <a:r>
              <a:rPr lang="fr-FR" sz="2800" dirty="0">
                <a:ea typeface="+mn-ea"/>
              </a:rPr>
              <a:t>all </a:t>
            </a:r>
            <a:r>
              <a:rPr lang="fr-FR" sz="2800" b="1" dirty="0">
                <a:solidFill>
                  <a:srgbClr val="2C14DE"/>
                </a:solidFill>
                <a:ea typeface="+mn-ea"/>
              </a:rPr>
              <a:t>possible sizes of messages</a:t>
            </a:r>
          </a:p>
          <a:p>
            <a:pPr algn="just">
              <a:defRPr/>
            </a:pPr>
            <a:endParaRPr lang="fr-FR" sz="2800" b="1" dirty="0">
              <a:solidFill>
                <a:srgbClr val="2C14DE"/>
              </a:solidFill>
              <a:ea typeface="+mn-ea"/>
            </a:endParaRPr>
          </a:p>
          <a:p>
            <a:pPr algn="just">
              <a:defRPr/>
            </a:pPr>
            <a:r>
              <a:rPr lang="fr-FR" sz="2800" b="1" u="sng" dirty="0">
                <a:solidFill>
                  <a:srgbClr val="008000"/>
                </a:solidFill>
                <a:ea typeface="+mn-ea"/>
              </a:rPr>
              <a:t>You </a:t>
            </a:r>
            <a:r>
              <a:rPr lang="fr-FR" sz="2800" b="1" u="sng" dirty="0" err="1">
                <a:solidFill>
                  <a:srgbClr val="008000"/>
                </a:solidFill>
                <a:ea typeface="+mn-ea"/>
              </a:rPr>
              <a:t>can</a:t>
            </a:r>
            <a:r>
              <a:rPr lang="fr-FR" sz="2800" b="1" u="sng" dirty="0">
                <a:solidFill>
                  <a:srgbClr val="008000"/>
                </a:solidFill>
                <a:ea typeface="+mn-ea"/>
              </a:rPr>
              <a:t> use </a:t>
            </a:r>
            <a:r>
              <a:rPr lang="fr-FR" sz="2800" b="1" dirty="0" err="1">
                <a:solidFill>
                  <a:srgbClr val="C00000"/>
                </a:solidFill>
                <a:ea typeface="+mn-ea"/>
              </a:rPr>
              <a:t>MPI_Probe</a:t>
            </a:r>
            <a:r>
              <a:rPr lang="fr-FR" sz="2800" dirty="0">
                <a:ea typeface="+mn-ea"/>
              </a:rPr>
              <a:t> to </a:t>
            </a:r>
            <a:r>
              <a:rPr lang="fr-FR" sz="2800" b="1" dirty="0" err="1">
                <a:solidFill>
                  <a:srgbClr val="2C14DE"/>
                </a:solidFill>
                <a:ea typeface="+mn-ea"/>
              </a:rPr>
              <a:t>query</a:t>
            </a:r>
            <a:r>
              <a:rPr lang="fr-FR" sz="2800" dirty="0">
                <a:solidFill>
                  <a:srgbClr val="2C14DE"/>
                </a:solidFill>
                <a:ea typeface="+mn-ea"/>
              </a:rPr>
              <a:t> </a:t>
            </a:r>
            <a:r>
              <a:rPr lang="fr-FR" sz="2800" dirty="0">
                <a:ea typeface="+mn-ea"/>
              </a:rPr>
              <a:t>the </a:t>
            </a:r>
            <a:r>
              <a:rPr lang="fr-FR" sz="2800" b="1" dirty="0">
                <a:solidFill>
                  <a:srgbClr val="2C14DE"/>
                </a:solidFill>
                <a:ea typeface="+mn-ea"/>
              </a:rPr>
              <a:t>message size</a:t>
            </a:r>
            <a:r>
              <a:rPr lang="fr-FR" sz="2800" dirty="0">
                <a:solidFill>
                  <a:srgbClr val="2C14DE"/>
                </a:solidFill>
                <a:ea typeface="+mn-ea"/>
              </a:rPr>
              <a:t> </a:t>
            </a:r>
            <a:r>
              <a:rPr lang="fr-FR" sz="2800" dirty="0" err="1">
                <a:ea typeface="+mn-ea"/>
              </a:rPr>
              <a:t>before</a:t>
            </a:r>
            <a:r>
              <a:rPr lang="fr-FR" sz="2800" dirty="0">
                <a:ea typeface="+mn-ea"/>
              </a:rPr>
              <a:t> </a:t>
            </a:r>
            <a:r>
              <a:rPr lang="fr-FR" sz="2800" b="1" dirty="0" err="1">
                <a:ea typeface="+mn-ea"/>
              </a:rPr>
              <a:t>actually</a:t>
            </a:r>
            <a:r>
              <a:rPr lang="fr-FR" sz="2800" b="1" dirty="0">
                <a:ea typeface="+mn-ea"/>
              </a:rPr>
              <a:t> </a:t>
            </a:r>
            <a:r>
              <a:rPr lang="fr-FR" sz="2800" b="1" dirty="0" err="1">
                <a:ea typeface="+mn-ea"/>
              </a:rPr>
              <a:t>receiving</a:t>
            </a:r>
            <a:r>
              <a:rPr lang="fr-FR" sz="2800" b="1" dirty="0">
                <a:ea typeface="+mn-ea"/>
              </a:rPr>
              <a:t> </a:t>
            </a:r>
            <a:r>
              <a:rPr lang="fr-FR" sz="2800" b="1" dirty="0" err="1">
                <a:ea typeface="+mn-ea"/>
              </a:rPr>
              <a:t>it</a:t>
            </a:r>
            <a:r>
              <a:rPr lang="fr-FR" sz="2800" dirty="0"/>
              <a:t>:</a:t>
            </a:r>
            <a:r>
              <a:rPr lang="fr-FR" sz="2800" dirty="0">
                <a:ea typeface="+mn-ea"/>
              </a:rPr>
              <a:t> 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1905000" y="3505200"/>
            <a:ext cx="50292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sz="2400" i="1" dirty="0" err="1"/>
              <a:t>MPI_Probe</a:t>
            </a:r>
            <a:r>
              <a:rPr lang="fr-FR" sz="2400" i="1" dirty="0"/>
              <a:t>(</a:t>
            </a:r>
          </a:p>
          <a:p>
            <a:pPr eaLnBrk="1" hangingPunct="1"/>
            <a:r>
              <a:rPr lang="fr-FR" sz="2400" i="1" dirty="0"/>
              <a:t>    </a:t>
            </a:r>
            <a:r>
              <a:rPr lang="fr-FR" sz="2400" i="1" dirty="0" err="1"/>
              <a:t>int</a:t>
            </a:r>
            <a:r>
              <a:rPr lang="fr-FR" sz="2400" i="1" dirty="0"/>
              <a:t> </a:t>
            </a:r>
            <a:r>
              <a:rPr lang="fr-FR" sz="2400" b="1" i="1" dirty="0"/>
              <a:t>source</a:t>
            </a:r>
            <a:r>
              <a:rPr lang="fr-FR" sz="2400" i="1" dirty="0"/>
              <a:t>, </a:t>
            </a:r>
          </a:p>
          <a:p>
            <a:pPr eaLnBrk="1" hangingPunct="1"/>
            <a:r>
              <a:rPr lang="hu-HU" sz="2400" i="1" dirty="0"/>
              <a:t>    int </a:t>
            </a:r>
            <a:r>
              <a:rPr lang="hu-HU" sz="2400" b="1" i="1" dirty="0"/>
              <a:t>tag</a:t>
            </a:r>
            <a:r>
              <a:rPr lang="hu-HU" sz="2400" i="1" dirty="0"/>
              <a:t>,</a:t>
            </a:r>
          </a:p>
          <a:p>
            <a:pPr eaLnBrk="1" hangingPunct="1"/>
            <a:r>
              <a:rPr lang="fr-FR" sz="2400" i="1" dirty="0"/>
              <a:t>    </a:t>
            </a:r>
            <a:r>
              <a:rPr lang="fr-FR" sz="2400" i="1" dirty="0" err="1"/>
              <a:t>MPI_Comm</a:t>
            </a:r>
            <a:r>
              <a:rPr lang="fr-FR" sz="2400" i="1" dirty="0"/>
              <a:t> </a:t>
            </a:r>
            <a:r>
              <a:rPr lang="fr-FR" sz="2400" b="1" i="1" dirty="0" err="1"/>
              <a:t>comm</a:t>
            </a:r>
            <a:r>
              <a:rPr lang="fr-FR" sz="2400" i="1" dirty="0"/>
              <a:t>,</a:t>
            </a:r>
          </a:p>
          <a:p>
            <a:pPr eaLnBrk="1" hangingPunct="1"/>
            <a:r>
              <a:rPr lang="fr-FR" sz="2400" i="1" dirty="0"/>
              <a:t>    </a:t>
            </a:r>
            <a:r>
              <a:rPr lang="fr-FR" sz="2400" i="1" dirty="0" err="1"/>
              <a:t>MPI_Status</a:t>
            </a:r>
            <a:r>
              <a:rPr lang="fr-FR" sz="2400" i="1" dirty="0"/>
              <a:t>* </a:t>
            </a:r>
            <a:r>
              <a:rPr lang="fr-FR" sz="2400" b="1" i="1" dirty="0" err="1"/>
              <a:t>status</a:t>
            </a:r>
            <a:r>
              <a:rPr lang="fr-FR" sz="2400" i="1" dirty="0"/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6" y="76835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56400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04243" cy="768350"/>
          </a:xfrm>
        </p:spPr>
        <p:txBody>
          <a:bodyPr/>
          <a:lstStyle/>
          <a:p>
            <a:pPr>
              <a:defRPr/>
            </a:pPr>
            <a:r>
              <a:rPr lang="fr-FR" b="1" dirty="0">
                <a:solidFill>
                  <a:srgbClr val="C00000"/>
                </a:solidFill>
                <a:ea typeface="+mj-ea"/>
              </a:rPr>
              <a:t>An </a:t>
            </a:r>
            <a:r>
              <a:rPr lang="fr-FR" b="1" dirty="0" err="1">
                <a:solidFill>
                  <a:srgbClr val="C00000"/>
                </a:solidFill>
                <a:ea typeface="+mj-ea"/>
              </a:rPr>
              <a:t>Example</a:t>
            </a:r>
            <a:r>
              <a:rPr lang="fr-FR" b="1" dirty="0">
                <a:solidFill>
                  <a:srgbClr val="C00000"/>
                </a:solidFill>
                <a:ea typeface="+mj-ea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197126" y="990600"/>
            <a:ext cx="8946874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2000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// Probe for an </a:t>
            </a:r>
            <a:r>
              <a:rPr lang="fr-FR" sz="2000" dirty="0" err="1">
                <a:solidFill>
                  <a:schemeClr val="bg1">
                    <a:lumMod val="5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incoming</a:t>
            </a:r>
            <a:r>
              <a:rPr lang="fr-FR" sz="2000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2000" b="1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message</a:t>
            </a:r>
            <a:r>
              <a:rPr lang="fr-FR" sz="2000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2000" dirty="0" err="1">
                <a:solidFill>
                  <a:schemeClr val="bg1">
                    <a:lumMod val="5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from</a:t>
            </a:r>
            <a:r>
              <a:rPr lang="fr-FR" sz="2000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2000" b="1" dirty="0" err="1">
                <a:solidFill>
                  <a:schemeClr val="bg1">
                    <a:lumMod val="5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process</a:t>
            </a:r>
            <a:r>
              <a:rPr lang="fr-FR" sz="2000" b="1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 0, tag 0</a:t>
            </a:r>
          </a:p>
          <a:p>
            <a:pPr>
              <a:defRPr/>
            </a:pPr>
            <a:r>
              <a:rPr lang="fr-FR" sz="20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MPI_Probe</a:t>
            </a:r>
            <a:r>
              <a:rPr lang="fr-FR" sz="20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(0, 0, MPI_COMM_WORLD, &amp;</a:t>
            </a:r>
            <a:r>
              <a:rPr lang="fr-FR" sz="20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status</a:t>
            </a:r>
            <a:r>
              <a:rPr lang="fr-FR" sz="20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); </a:t>
            </a:r>
          </a:p>
          <a:p>
            <a:pPr>
              <a:defRPr/>
            </a:pPr>
            <a:endParaRPr lang="fr-FR" sz="2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fr-FR" sz="2000" dirty="0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// </a:t>
            </a:r>
            <a:r>
              <a:rPr lang="fr-FR" sz="2000" dirty="0" err="1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When</a:t>
            </a:r>
            <a:r>
              <a:rPr lang="fr-FR" sz="2000" dirty="0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 probe </a:t>
            </a:r>
            <a:r>
              <a:rPr lang="fr-FR" sz="2000" dirty="0" err="1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returns</a:t>
            </a:r>
            <a:r>
              <a:rPr lang="fr-FR" sz="2000" dirty="0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, the </a:t>
            </a:r>
            <a:r>
              <a:rPr lang="fr-FR" sz="2000" dirty="0" err="1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status</a:t>
            </a:r>
            <a:r>
              <a:rPr lang="fr-FR" sz="2000" dirty="0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2000" dirty="0" err="1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object</a:t>
            </a:r>
            <a:r>
              <a:rPr lang="fr-FR" sz="2000" dirty="0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 has the size and </a:t>
            </a:r>
            <a:r>
              <a:rPr lang="fr-FR" sz="2000" dirty="0" err="1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other</a:t>
            </a:r>
            <a:endParaRPr lang="fr-FR" sz="2000" dirty="0">
              <a:solidFill>
                <a:srgbClr val="7F7F7F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fr-FR" sz="2000" dirty="0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// </a:t>
            </a:r>
            <a:r>
              <a:rPr lang="fr-FR" sz="2000" dirty="0" err="1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attributes</a:t>
            </a:r>
            <a:r>
              <a:rPr lang="fr-FR" sz="2000" dirty="0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 of the </a:t>
            </a:r>
            <a:r>
              <a:rPr lang="fr-FR" sz="2000" dirty="0" err="1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incoming</a:t>
            </a:r>
            <a:r>
              <a:rPr lang="fr-FR" sz="2000" dirty="0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 message. </a:t>
            </a:r>
            <a:r>
              <a:rPr lang="fr-FR" sz="2000" dirty="0" err="1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Get</a:t>
            </a:r>
            <a:r>
              <a:rPr lang="fr-FR" sz="2000" dirty="0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 the message size</a:t>
            </a:r>
          </a:p>
          <a:p>
            <a:pPr>
              <a:defRPr/>
            </a:pPr>
            <a:r>
              <a:rPr lang="fr-FR" sz="20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MPI_Get_count</a:t>
            </a:r>
            <a:r>
              <a:rPr lang="fr-FR" sz="20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(&amp;</a:t>
            </a:r>
            <a:r>
              <a:rPr lang="fr-FR" sz="20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status</a:t>
            </a:r>
            <a:r>
              <a:rPr lang="fr-FR" sz="20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, MPI_INT, &amp;</a:t>
            </a:r>
            <a:r>
              <a:rPr lang="fr-FR" sz="20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number_amount</a:t>
            </a:r>
            <a:r>
              <a:rPr lang="fr-FR" sz="20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);</a:t>
            </a:r>
          </a:p>
          <a:p>
            <a:pPr>
              <a:defRPr/>
            </a:pPr>
            <a:endParaRPr lang="fr-FR" sz="2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fr-FR" sz="2000" dirty="0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// </a:t>
            </a:r>
            <a:r>
              <a:rPr lang="fr-FR" sz="2000" dirty="0" err="1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Allocate</a:t>
            </a:r>
            <a:r>
              <a:rPr lang="fr-FR" sz="2000" dirty="0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 a buffer to </a:t>
            </a:r>
            <a:r>
              <a:rPr lang="fr-FR" sz="2000" dirty="0" err="1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hold</a:t>
            </a:r>
            <a:r>
              <a:rPr lang="fr-FR" sz="2000" dirty="0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 the </a:t>
            </a:r>
            <a:r>
              <a:rPr lang="fr-FR" sz="2000" dirty="0" err="1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incoming</a:t>
            </a:r>
            <a:r>
              <a:rPr lang="fr-FR" sz="2000" dirty="0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2000" dirty="0" err="1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numbers</a:t>
            </a:r>
            <a:endParaRPr lang="fr-FR" sz="2000" dirty="0">
              <a:solidFill>
                <a:srgbClr val="7F7F7F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fr-FR" sz="20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int</a:t>
            </a:r>
            <a:r>
              <a:rPr lang="fr-FR" sz="20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* </a:t>
            </a:r>
            <a:r>
              <a:rPr lang="fr-FR" sz="20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number_buf</a:t>
            </a:r>
            <a:r>
              <a:rPr lang="fr-FR" sz="20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 = (</a:t>
            </a:r>
            <a:r>
              <a:rPr lang="fr-FR" sz="20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int</a:t>
            </a:r>
            <a:r>
              <a:rPr lang="fr-FR" sz="20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*)</a:t>
            </a:r>
            <a:r>
              <a:rPr lang="fr-FR" sz="20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malloc</a:t>
            </a:r>
            <a:r>
              <a:rPr lang="fr-FR" sz="20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</a:t>
            </a:r>
            <a:r>
              <a:rPr lang="fr-FR" sz="20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sizeof</a:t>
            </a:r>
            <a:r>
              <a:rPr lang="fr-FR" sz="20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</a:t>
            </a:r>
            <a:r>
              <a:rPr lang="fr-FR" sz="20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int</a:t>
            </a:r>
            <a:r>
              <a:rPr lang="fr-FR" sz="20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) * </a:t>
            </a:r>
            <a:r>
              <a:rPr lang="fr-FR" sz="20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number_amount</a:t>
            </a:r>
            <a:r>
              <a:rPr lang="fr-FR" sz="20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);</a:t>
            </a:r>
          </a:p>
          <a:p>
            <a:pPr>
              <a:defRPr/>
            </a:pPr>
            <a:endParaRPr lang="fr-FR" sz="2000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fr-FR" sz="2000" dirty="0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// </a:t>
            </a:r>
            <a:r>
              <a:rPr lang="fr-FR" sz="2000" dirty="0" err="1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Now</a:t>
            </a:r>
            <a:r>
              <a:rPr lang="fr-FR" sz="2000" dirty="0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fr-FR" sz="2000" dirty="0" err="1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receive</a:t>
            </a:r>
            <a:r>
              <a:rPr lang="fr-FR" sz="2000" dirty="0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 the message </a:t>
            </a:r>
            <a:r>
              <a:rPr lang="fr-FR" sz="2000" dirty="0" err="1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with</a:t>
            </a:r>
            <a:r>
              <a:rPr lang="fr-FR" sz="2000" dirty="0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 the </a:t>
            </a:r>
            <a:r>
              <a:rPr lang="fr-FR" sz="2000" dirty="0" err="1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allocated</a:t>
            </a:r>
            <a:r>
              <a:rPr lang="fr-FR" sz="2000" dirty="0">
                <a:solidFill>
                  <a:srgbClr val="7F7F7F"/>
                </a:solidFill>
                <a:latin typeface="Arial" charset="0"/>
                <a:ea typeface="ＭＳ Ｐゴシック" charset="0"/>
                <a:cs typeface="ＭＳ Ｐゴシック" charset="0"/>
              </a:rPr>
              <a:t> buffer</a:t>
            </a:r>
          </a:p>
          <a:p>
            <a:pPr>
              <a:defRPr/>
            </a:pPr>
            <a:r>
              <a:rPr lang="fr-FR" sz="20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MPI_Recv</a:t>
            </a:r>
            <a:r>
              <a:rPr lang="fr-FR" sz="20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(</a:t>
            </a:r>
            <a:r>
              <a:rPr lang="fr-FR" sz="20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number_buf</a:t>
            </a:r>
            <a:r>
              <a:rPr lang="fr-FR" sz="20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, </a:t>
            </a:r>
            <a:r>
              <a:rPr lang="fr-FR" sz="2000" b="1" dirty="0" err="1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number_amount</a:t>
            </a:r>
            <a:r>
              <a:rPr lang="fr-FR" sz="2000" b="1" dirty="0">
                <a:latin typeface="Consolas" panose="020B0609020204030204" pitchFamily="49" charset="0"/>
                <a:ea typeface="ＭＳ Ｐゴシック" charset="0"/>
                <a:cs typeface="ＭＳ Ｐゴシック" charset="0"/>
              </a:rPr>
              <a:t>, MPI_INT, 0, 0, MPI_COMM_WORLD, MPI_STATUS_IGNORE);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6" y="76835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256721" y="5486400"/>
            <a:ext cx="2590800" cy="762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Demo: </a:t>
            </a:r>
            <a:r>
              <a:rPr lang="en-US" sz="20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messageProbe.c</a:t>
            </a:r>
            <a:endParaRPr lang="en-US" sz="20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853598"/>
      </p:ext>
    </p:extLst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2286000" y="2514600"/>
            <a:ext cx="4800600" cy="765175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Any Questions</a:t>
            </a:r>
          </a:p>
        </p:txBody>
      </p:sp>
    </p:spTree>
    <p:extLst>
      <p:ext uri="{BB962C8B-B14F-4D97-AF65-F5344CB8AC3E}">
        <p14:creationId xmlns:p14="http://schemas.microsoft.com/office/powerpoint/2010/main" val="1032645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10247</TotalTime>
  <Words>4105</Words>
  <Application>Microsoft Office PowerPoint</Application>
  <PresentationFormat>On-screen Show (4:3)</PresentationFormat>
  <Paragraphs>675</Paragraphs>
  <Slides>63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5" baseType="lpstr">
      <vt:lpstr>굴림</vt:lpstr>
      <vt:lpstr>ＭＳ Ｐゴシック</vt:lpstr>
      <vt:lpstr>Arial</vt:lpstr>
      <vt:lpstr>Calibri</vt:lpstr>
      <vt:lpstr>Comic Sans MS</vt:lpstr>
      <vt:lpstr>Consolas</vt:lpstr>
      <vt:lpstr>Courier New</vt:lpstr>
      <vt:lpstr>Monotype Sorts</vt:lpstr>
      <vt:lpstr>Open Sans</vt:lpstr>
      <vt:lpstr>Tahoma</vt:lpstr>
      <vt:lpstr>Wingdings</vt:lpstr>
      <vt:lpstr>Office Theme</vt:lpstr>
      <vt:lpstr>PowerPoint Presentation</vt:lpstr>
      <vt:lpstr>Distributed Systems - Definition</vt:lpstr>
      <vt:lpstr>MPI (Message Passing Interface)?</vt:lpstr>
      <vt:lpstr>A Brief History - MPI</vt:lpstr>
      <vt:lpstr>The Message-Passing Model</vt:lpstr>
      <vt:lpstr>The Message-Passing Model</vt:lpstr>
      <vt:lpstr>Types of Parallel Computing Models</vt:lpstr>
      <vt:lpstr>The Message-Passing Programming Paradigm  </vt:lpstr>
      <vt:lpstr>The Message-Passing Programming Paradigm  </vt:lpstr>
      <vt:lpstr>Data and Work Distribution</vt:lpstr>
      <vt:lpstr>MPI Fundamentals </vt:lpstr>
      <vt:lpstr>Communicators</vt:lpstr>
      <vt:lpstr>Communicators</vt:lpstr>
      <vt:lpstr>Communicators</vt:lpstr>
      <vt:lpstr>Communicators</vt:lpstr>
      <vt:lpstr>Communicators</vt:lpstr>
      <vt:lpstr>Communicator  MPI_COMM_WORLD </vt:lpstr>
      <vt:lpstr>How big is the MPI library?</vt:lpstr>
      <vt:lpstr>MPI – Start &amp; Termination</vt:lpstr>
      <vt:lpstr>Communicators</vt:lpstr>
      <vt:lpstr>Communicators</vt:lpstr>
      <vt:lpstr>MPI Program – A Generic Structure</vt:lpstr>
      <vt:lpstr>A minimal MPI Program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Compiling MPICH Program</vt:lpstr>
      <vt:lpstr>Running MPICH Program</vt:lpstr>
      <vt:lpstr>Running MPICH Program on a Cluster</vt:lpstr>
      <vt:lpstr>Running MPICH Program on a Cluster</vt:lpstr>
      <vt:lpstr>Congratulations !!</vt:lpstr>
      <vt:lpstr>Point-to-Point Communication</vt:lpstr>
      <vt:lpstr>Data Messages</vt:lpstr>
      <vt:lpstr>Point-to-Point Communication</vt:lpstr>
      <vt:lpstr>Point to Point Communication</vt:lpstr>
      <vt:lpstr>MPI_Send &amp; MPI_Recv</vt:lpstr>
      <vt:lpstr>Data Communication in MPI</vt:lpstr>
      <vt:lpstr>MPI_Send</vt:lpstr>
      <vt:lpstr>MPI_Recv</vt:lpstr>
      <vt:lpstr>Elementary MPI datatypes</vt:lpstr>
      <vt:lpstr>Elementary MPI datatypes</vt:lpstr>
      <vt:lpstr>Simple Communication in MPI</vt:lpstr>
      <vt:lpstr>The MPI_Status structure</vt:lpstr>
      <vt:lpstr>The MPI_Status structure</vt:lpstr>
      <vt:lpstr>An example </vt:lpstr>
      <vt:lpstr>Summary (Blocking Send/Recv)</vt:lpstr>
      <vt:lpstr>PowerPoint Presentation</vt:lpstr>
      <vt:lpstr>PowerPoint Presentation</vt:lpstr>
      <vt:lpstr>Non-Blocking Communication - Overview</vt:lpstr>
      <vt:lpstr>PowerPoint Presentation</vt:lpstr>
      <vt:lpstr>Non-blocking Communication</vt:lpstr>
      <vt:lpstr>Non-Blocking Send and Receive (Cont.)</vt:lpstr>
      <vt:lpstr>Non-blocking Message Passing - Example</vt:lpstr>
      <vt:lpstr>Non-blocking Message Passing - Example</vt:lpstr>
      <vt:lpstr>Non-blocking Message Passing - Example</vt:lpstr>
      <vt:lpstr>MPI_Probe</vt:lpstr>
      <vt:lpstr>An Example </vt:lpstr>
      <vt:lpstr>Any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aleem</dc:creator>
  <cp:lastModifiedBy>Moiz Ansari</cp:lastModifiedBy>
  <cp:revision>945</cp:revision>
  <dcterms:created xsi:type="dcterms:W3CDTF">2012-08-28T12:59:58Z</dcterms:created>
  <dcterms:modified xsi:type="dcterms:W3CDTF">2026-04-08T18:46:33Z</dcterms:modified>
</cp:coreProperties>
</file>