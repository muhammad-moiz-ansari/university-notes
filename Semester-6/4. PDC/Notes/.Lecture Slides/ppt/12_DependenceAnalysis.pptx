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3"/>
  </p:notesMasterIdLst>
  <p:sldIdLst>
    <p:sldId id="516" r:id="rId2"/>
    <p:sldId id="518" r:id="rId3"/>
    <p:sldId id="519" r:id="rId4"/>
    <p:sldId id="520" r:id="rId5"/>
    <p:sldId id="522" r:id="rId6"/>
    <p:sldId id="523" r:id="rId7"/>
    <p:sldId id="524" r:id="rId8"/>
    <p:sldId id="525" r:id="rId9"/>
    <p:sldId id="526" r:id="rId10"/>
    <p:sldId id="527" r:id="rId11"/>
    <p:sldId id="528" r:id="rId12"/>
    <p:sldId id="529" r:id="rId13"/>
    <p:sldId id="530" r:id="rId14"/>
    <p:sldId id="532" r:id="rId15"/>
    <p:sldId id="533" r:id="rId16"/>
    <p:sldId id="534" r:id="rId17"/>
    <p:sldId id="535" r:id="rId18"/>
    <p:sldId id="536" r:id="rId19"/>
    <p:sldId id="537" r:id="rId20"/>
    <p:sldId id="538" r:id="rId21"/>
    <p:sldId id="539" r:id="rId22"/>
    <p:sldId id="540" r:id="rId23"/>
    <p:sldId id="585" r:id="rId24"/>
    <p:sldId id="541" r:id="rId25"/>
    <p:sldId id="542" r:id="rId26"/>
    <p:sldId id="543" r:id="rId27"/>
    <p:sldId id="544" r:id="rId28"/>
    <p:sldId id="545" r:id="rId29"/>
    <p:sldId id="546" r:id="rId30"/>
    <p:sldId id="547" r:id="rId31"/>
    <p:sldId id="548" r:id="rId32"/>
    <p:sldId id="549" r:id="rId33"/>
    <p:sldId id="550" r:id="rId34"/>
    <p:sldId id="551" r:id="rId35"/>
    <p:sldId id="552" r:id="rId36"/>
    <p:sldId id="553" r:id="rId37"/>
    <p:sldId id="554" r:id="rId38"/>
    <p:sldId id="589" r:id="rId39"/>
    <p:sldId id="555" r:id="rId40"/>
    <p:sldId id="587" r:id="rId41"/>
    <p:sldId id="556" r:id="rId42"/>
    <p:sldId id="557" r:id="rId43"/>
    <p:sldId id="558" r:id="rId44"/>
    <p:sldId id="588" r:id="rId45"/>
    <p:sldId id="559" r:id="rId46"/>
    <p:sldId id="560" r:id="rId47"/>
    <p:sldId id="561" r:id="rId48"/>
    <p:sldId id="562" r:id="rId49"/>
    <p:sldId id="563" r:id="rId50"/>
    <p:sldId id="564" r:id="rId51"/>
    <p:sldId id="565" r:id="rId52"/>
    <p:sldId id="566" r:id="rId53"/>
    <p:sldId id="567" r:id="rId54"/>
    <p:sldId id="568" r:id="rId55"/>
    <p:sldId id="569" r:id="rId56"/>
    <p:sldId id="570" r:id="rId57"/>
    <p:sldId id="571" r:id="rId58"/>
    <p:sldId id="572" r:id="rId59"/>
    <p:sldId id="573" r:id="rId60"/>
    <p:sldId id="574" r:id="rId61"/>
    <p:sldId id="575" r:id="rId62"/>
    <p:sldId id="586" r:id="rId63"/>
    <p:sldId id="576" r:id="rId64"/>
    <p:sldId id="577" r:id="rId65"/>
    <p:sldId id="578" r:id="rId66"/>
    <p:sldId id="579" r:id="rId67"/>
    <p:sldId id="580" r:id="rId68"/>
    <p:sldId id="581" r:id="rId69"/>
    <p:sldId id="582" r:id="rId70"/>
    <p:sldId id="583" r:id="rId71"/>
    <p:sldId id="584" r:id="rId7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60824"/>
    <a:srgbClr val="2C14DE"/>
    <a:srgbClr val="008000"/>
    <a:srgbClr val="2515A4"/>
    <a:srgbClr val="0366FF"/>
    <a:srgbClr val="B80000"/>
    <a:srgbClr val="2F1BC7"/>
    <a:srgbClr val="27558D"/>
    <a:srgbClr val="D20000"/>
    <a:srgbClr val="39DF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69" autoAdjust="0"/>
    <p:restoredTop sz="84867" autoAdjust="0"/>
  </p:normalViewPr>
  <p:slideViewPr>
    <p:cSldViewPr>
      <p:cViewPr varScale="1">
        <p:scale>
          <a:sx n="72" d="100"/>
          <a:sy n="72" d="100"/>
        </p:scale>
        <p:origin x="1853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C09857-BB4F-4F6A-B294-DF372FF8835C}" type="datetimeFigureOut">
              <a:rPr lang="en-US" smtClean="0"/>
              <a:pPr/>
              <a:t>12/15/2021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962462-A09B-4CFD-AF57-739E06B3337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0330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85FC15-40B4-45E5-86AE-2E64D22F0C3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7328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20639C7-37A9-8241-81DC-465B0ED237CC}" type="slidenum">
              <a:rPr lang="en-US"/>
              <a:pPr>
                <a:defRPr/>
              </a:pPr>
              <a:t>4</a:t>
            </a:fld>
            <a:endParaRPr lang="en-US"/>
          </a:p>
        </p:txBody>
      </p:sp>
      <p:sp>
        <p:nvSpPr>
          <p:cNvPr id="1803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70412" cy="3429000"/>
          </a:xfrm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803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3805" y="4343704"/>
            <a:ext cx="5030391" cy="4113892"/>
          </a:xfrm>
        </p:spPr>
        <p:txBody>
          <a:bodyPr/>
          <a:lstStyle/>
          <a:p>
            <a:pPr>
              <a:defRPr/>
            </a:pPr>
            <a:endParaRPr lang="en-US" smtClean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79979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52B1BB4-0633-0640-9EDD-7176E08F41C0}" type="slidenum">
              <a:rPr lang="en-US"/>
              <a:pPr>
                <a:defRPr/>
              </a:pPr>
              <a:t>5</a:t>
            </a:fld>
            <a:endParaRPr lang="en-US"/>
          </a:p>
        </p:txBody>
      </p:sp>
      <p:sp>
        <p:nvSpPr>
          <p:cNvPr id="194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70412" cy="3429000"/>
          </a:xfrm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94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3805" y="4343704"/>
            <a:ext cx="5030391" cy="4113892"/>
          </a:xfrm>
        </p:spPr>
        <p:txBody>
          <a:bodyPr/>
          <a:lstStyle/>
          <a:p>
            <a:pPr>
              <a:defRPr/>
            </a:pPr>
            <a:r>
              <a:rPr lang="en-US" dirty="0" smtClean="0">
                <a:cs typeface="+mn-cs"/>
              </a:rPr>
              <a:t>A(11) = A(1)</a:t>
            </a:r>
            <a:r>
              <a:rPr lang="en-US" baseline="0" dirty="0" smtClean="0">
                <a:cs typeface="+mn-cs"/>
              </a:rPr>
              <a:t> + 3</a:t>
            </a:r>
          </a:p>
          <a:p>
            <a:pPr>
              <a:defRPr/>
            </a:pPr>
            <a:r>
              <a:rPr lang="en-US" baseline="0" dirty="0" smtClean="0">
                <a:cs typeface="+mn-cs"/>
              </a:rPr>
              <a:t>A(12) = A(2) + 3</a:t>
            </a:r>
          </a:p>
          <a:p>
            <a:pPr>
              <a:defRPr/>
            </a:pPr>
            <a:r>
              <a:rPr lang="en-US" baseline="0" dirty="0" smtClean="0">
                <a:cs typeface="+mn-cs"/>
              </a:rPr>
              <a:t>A(13) = A(2) + 3</a:t>
            </a:r>
          </a:p>
          <a:p>
            <a:pPr>
              <a:defRPr/>
            </a:pPr>
            <a:r>
              <a:rPr lang="en-US" baseline="0" dirty="0" smtClean="0">
                <a:cs typeface="+mn-cs"/>
              </a:rPr>
              <a:t>A(14) = A(3) + 3</a:t>
            </a:r>
          </a:p>
          <a:p>
            <a:pPr>
              <a:defRPr/>
            </a:pPr>
            <a:r>
              <a:rPr lang="en-US" baseline="0" dirty="0" smtClean="0">
                <a:cs typeface="+mn-cs"/>
              </a:rPr>
              <a:t>A(15) = A(4) + 3</a:t>
            </a:r>
          </a:p>
          <a:p>
            <a:pPr>
              <a:defRPr/>
            </a:pPr>
            <a:r>
              <a:rPr lang="en-US" baseline="0" dirty="0" smtClean="0">
                <a:cs typeface="+mn-cs"/>
              </a:rPr>
              <a:t> . </a:t>
            </a:r>
          </a:p>
          <a:p>
            <a:pPr>
              <a:defRPr/>
            </a:pPr>
            <a:r>
              <a:rPr lang="en-US" baseline="0" dirty="0" smtClean="0">
                <a:cs typeface="+mn-cs"/>
              </a:rPr>
              <a:t> .</a:t>
            </a:r>
          </a:p>
          <a:p>
            <a:pPr>
              <a:defRPr/>
            </a:pPr>
            <a:r>
              <a:rPr lang="en-US" baseline="0" dirty="0" smtClean="0">
                <a:cs typeface="+mn-cs"/>
              </a:rPr>
              <a:t> .</a:t>
            </a:r>
          </a:p>
          <a:p>
            <a:pPr>
              <a:defRPr/>
            </a:pPr>
            <a:r>
              <a:rPr lang="en-US" baseline="0" dirty="0" smtClean="0">
                <a:cs typeface="+mn-cs"/>
              </a:rPr>
              <a:t>A(20) = A(10) + 3,      </a:t>
            </a:r>
            <a:r>
              <a:rPr lang="en-US" b="1" baseline="0" dirty="0" smtClean="0">
                <a:cs typeface="+mn-cs"/>
              </a:rPr>
              <a:t>NO Dependence </a:t>
            </a:r>
            <a:r>
              <a:rPr lang="en-US" b="1" baseline="0" dirty="0" smtClean="0">
                <a:cs typeface="+mn-cs"/>
                <a:sym typeface="Wingdings"/>
              </a:rPr>
              <a:t> Parallelizable</a:t>
            </a:r>
            <a:endParaRPr lang="en-US" b="1" baseline="0" dirty="0" smtClean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24968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B4607F2-DA19-8A4C-8FDF-8E84D12A95C3}" type="slidenum">
              <a:rPr lang="en-US"/>
              <a:pPr>
                <a:defRPr/>
              </a:pPr>
              <a:t>10</a:t>
            </a:fld>
            <a:endParaRPr lang="en-US"/>
          </a:p>
        </p:txBody>
      </p:sp>
      <p:sp>
        <p:nvSpPr>
          <p:cNvPr id="196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70412" cy="3429000"/>
          </a:xfrm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96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3805" y="4343704"/>
            <a:ext cx="5030391" cy="4113892"/>
          </a:xfrm>
        </p:spPr>
        <p:txBody>
          <a:bodyPr/>
          <a:lstStyle/>
          <a:p>
            <a:pPr>
              <a:defRPr/>
            </a:pPr>
            <a:endParaRPr lang="en-US" smtClean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8193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C8809F-A097-CD4A-8936-EBC46C46C1D7}" type="slidenum">
              <a:rPr lang="en-US"/>
              <a:pPr>
                <a:defRPr/>
              </a:pPr>
              <a:t>11</a:t>
            </a:fld>
            <a:endParaRPr lang="en-US"/>
          </a:p>
        </p:txBody>
      </p:sp>
      <p:sp>
        <p:nvSpPr>
          <p:cNvPr id="1959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70412" cy="3429000"/>
          </a:xfrm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95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3805" y="4343704"/>
            <a:ext cx="5030391" cy="4113892"/>
          </a:xfrm>
        </p:spPr>
        <p:txBody>
          <a:bodyPr/>
          <a:lstStyle/>
          <a:p>
            <a:pPr>
              <a:defRPr/>
            </a:pPr>
            <a:endParaRPr lang="en-US" smtClean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798375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DB2A6ED-DF42-F342-9E7B-1C052C73A412}" type="slidenum">
              <a:rPr lang="en-US"/>
              <a:pPr>
                <a:defRPr/>
              </a:pPr>
              <a:t>12</a:t>
            </a:fld>
            <a:endParaRPr lang="en-US"/>
          </a:p>
        </p:txBody>
      </p:sp>
      <p:sp>
        <p:nvSpPr>
          <p:cNvPr id="1964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70412" cy="3429000"/>
          </a:xfrm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96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3805" y="4343704"/>
            <a:ext cx="5030391" cy="4113892"/>
          </a:xfrm>
        </p:spPr>
        <p:txBody>
          <a:bodyPr/>
          <a:lstStyle/>
          <a:p>
            <a:pPr>
              <a:defRPr/>
            </a:pPr>
            <a:endParaRPr lang="en-US" smtClean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332157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8D6047D-5845-BA40-BC52-7D5A5E41D5AF}" type="slidenum">
              <a:rPr lang="en-US"/>
              <a:pPr>
                <a:defRPr/>
              </a:pPr>
              <a:t>13</a:t>
            </a:fld>
            <a:endParaRPr lang="en-US"/>
          </a:p>
        </p:txBody>
      </p:sp>
      <p:sp>
        <p:nvSpPr>
          <p:cNvPr id="1966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70412" cy="3429000"/>
          </a:xfrm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96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3805" y="4343704"/>
            <a:ext cx="5030391" cy="4113892"/>
          </a:xfrm>
        </p:spPr>
        <p:txBody>
          <a:bodyPr/>
          <a:lstStyle/>
          <a:p>
            <a:pPr>
              <a:defRPr/>
            </a:pPr>
            <a:endParaRPr lang="en-US" smtClean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98383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2323E4-25AC-AD42-82DC-10D0CBACC160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930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162A07A-93C9-544F-B89C-4C58D1AC5EC3}" type="slidenum">
              <a:rPr lang="en-US"/>
              <a:pPr>
                <a:defRPr/>
              </a:pPr>
              <a:t>15</a:t>
            </a:fld>
            <a:endParaRPr lang="en-US"/>
          </a:p>
        </p:txBody>
      </p:sp>
      <p:sp>
        <p:nvSpPr>
          <p:cNvPr id="197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70412" cy="3429000"/>
          </a:xfrm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97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3805" y="4343704"/>
            <a:ext cx="5030391" cy="4113892"/>
          </a:xfrm>
        </p:spPr>
        <p:txBody>
          <a:bodyPr/>
          <a:lstStyle/>
          <a:p>
            <a:pPr>
              <a:defRPr/>
            </a:pPr>
            <a:endParaRPr lang="en-US" smtClean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33117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2323E4-25AC-AD42-82DC-10D0CBACC160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5360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2323E4-25AC-AD42-82DC-10D0CBACC160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6195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2323E4-25AC-AD42-82DC-10D0CBACC160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4850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2323E4-25AC-AD42-82DC-10D0CBACC160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77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2323E4-25AC-AD42-82DC-10D0CBACC160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6277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1-1000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2323E4-25AC-AD42-82DC-10D0CBACC160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8268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2323E4-25AC-AD42-82DC-10D0CBACC160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77452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2323E4-25AC-AD42-82DC-10D0CBACC160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40746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2323E4-25AC-AD42-82DC-10D0CBACC160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76225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2323E4-25AC-AD42-82DC-10D0CBACC160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8864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2323E4-25AC-AD42-82DC-10D0CBACC160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76314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2323E4-25AC-AD42-82DC-10D0CBACC160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83784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2323E4-25AC-AD42-82DC-10D0CBACC160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83646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2323E4-25AC-AD42-82DC-10D0CBACC160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98019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2323E4-25AC-AD42-82DC-10D0CBACC160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09641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2323E4-25AC-AD42-82DC-10D0CBACC160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78938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2323E4-25AC-AD42-82DC-10D0CBACC160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97882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Source</a:t>
            </a:r>
            <a:r>
              <a:rPr lang="en-US" b="0" baseline="0" dirty="0" smtClean="0"/>
              <a:t> and </a:t>
            </a:r>
            <a:r>
              <a:rPr lang="en-US" b="1" baseline="0" dirty="0" smtClean="0"/>
              <a:t>Sink</a:t>
            </a:r>
            <a:r>
              <a:rPr lang="en-US" b="0" baseline="0" dirty="0" smtClean="0"/>
              <a:t> are two properties related </a:t>
            </a:r>
            <a:r>
              <a:rPr lang="en-US" b="1" baseline="0" dirty="0" smtClean="0"/>
              <a:t>to iterations not the array values.</a:t>
            </a:r>
          </a:p>
          <a:p>
            <a:r>
              <a:rPr lang="en-US" b="1" baseline="0" dirty="0" smtClean="0"/>
              <a:t>Iteration I comes before iteration j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2323E4-25AC-AD42-82DC-10D0CBACC160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52388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2323E4-25AC-AD42-82DC-10D0CBACC160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75016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2323E4-25AC-AD42-82DC-10D0CBACC160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97345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2323E4-25AC-AD42-82DC-10D0CBACC160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28912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2323E4-25AC-AD42-82DC-10D0CBACC160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28535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2323E4-25AC-AD42-82DC-10D0CBACC160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68659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2323E4-25AC-AD42-82DC-10D0CBACC160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56208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2323E4-25AC-AD42-82DC-10D0CBACC160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81285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2323E4-25AC-AD42-82DC-10D0CBACC160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26974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2323E4-25AC-AD42-82DC-10D0CBACC160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58665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2323E4-25AC-AD42-82DC-10D0CBACC160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39301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TRUE DEPENDENCE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2323E4-25AC-AD42-82DC-10D0CBACC160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74224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Because S2</a:t>
            </a:r>
            <a:r>
              <a:rPr lang="en-US" b="1" baseline="0" dirty="0" smtClean="0"/>
              <a:t> is source and S1 is sink therefore:</a:t>
            </a:r>
          </a:p>
          <a:p>
            <a:endParaRPr lang="en-US" b="1" dirty="0" smtClean="0"/>
          </a:p>
          <a:p>
            <a:r>
              <a:rPr lang="en-US" b="1" dirty="0" smtClean="0"/>
              <a:t>ANTI DEPENDENCE</a:t>
            </a:r>
          </a:p>
          <a:p>
            <a:r>
              <a:rPr lang="en-US" b="1" dirty="0" smtClean="0"/>
              <a:t>Distance 1, ==  SINK iteration- SOURCE Iteration == 3-2 == 1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2323E4-25AC-AD42-82DC-10D0CBACC160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17097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 smtClean="0"/>
              <a:t>     S(2,2) = S(1,3)</a:t>
            </a:r>
          </a:p>
          <a:p>
            <a:r>
              <a:rPr lang="en-US" b="1" dirty="0" smtClean="0"/>
              <a:t>     S(2,3)</a:t>
            </a:r>
            <a:r>
              <a:rPr lang="en-US" b="1" baseline="0" dirty="0" smtClean="0"/>
              <a:t> </a:t>
            </a:r>
            <a:r>
              <a:rPr lang="en-US" b="0" baseline="0" dirty="0" smtClean="0"/>
              <a:t>= S(1,4)</a:t>
            </a:r>
          </a:p>
          <a:p>
            <a:r>
              <a:rPr lang="en-US" b="0" baseline="0" dirty="0" smtClean="0"/>
              <a:t>     S(2,4) = S(1,5)</a:t>
            </a:r>
          </a:p>
          <a:p>
            <a:r>
              <a:rPr lang="en-US" b="0" baseline="0" dirty="0" smtClean="0"/>
              <a:t>     S(3,2) = </a:t>
            </a:r>
            <a:r>
              <a:rPr lang="en-US" b="1" baseline="0" dirty="0" smtClean="0">
                <a:solidFill>
                  <a:srgbClr val="B80000"/>
                </a:solidFill>
              </a:rPr>
              <a:t>S(2,3)</a:t>
            </a:r>
          </a:p>
          <a:p>
            <a:r>
              <a:rPr lang="en-US" b="1" baseline="0" dirty="0" smtClean="0">
                <a:solidFill>
                  <a:srgbClr val="B80000"/>
                </a:solidFill>
              </a:rPr>
              <a:t>Sink- Source </a:t>
            </a:r>
          </a:p>
          <a:p>
            <a:r>
              <a:rPr lang="en-US" b="1" baseline="0" dirty="0" smtClean="0">
                <a:solidFill>
                  <a:srgbClr val="B80000"/>
                </a:solidFill>
              </a:rPr>
              <a:t>(3,2) – (2,3) =  1,-1   </a:t>
            </a:r>
            <a:r>
              <a:rPr lang="en-US" b="1" baseline="0" dirty="0" smtClean="0">
                <a:solidFill>
                  <a:srgbClr val="B80000"/>
                </a:solidFill>
                <a:sym typeface="Wingdings"/>
              </a:rPr>
              <a:t>   &lt;,&gt;</a:t>
            </a:r>
            <a:endParaRPr lang="en-US" b="1" dirty="0">
              <a:solidFill>
                <a:srgbClr val="B8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2323E4-25AC-AD42-82DC-10D0CBACC160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60369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2323E4-25AC-AD42-82DC-10D0CBACC160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99036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2323E4-25AC-AD42-82DC-10D0CBACC160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70734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2323E4-25AC-AD42-82DC-10D0CBACC160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66530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By transforming the true dependences for array elements A and F remains as true dependence in the transformed loop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2323E4-25AC-AD42-82DC-10D0CBACC160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31612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2323E4-25AC-AD42-82DC-10D0CBACC160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1427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2323E4-25AC-AD42-82DC-10D0CBACC160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11408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2323E4-25AC-AD42-82DC-10D0CBACC160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09727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We can</a:t>
            </a:r>
            <a:r>
              <a:rPr lang="en-US" b="1" baseline="0" dirty="0" smtClean="0"/>
              <a:t> split the loop and then parallelize each one separately (No violation of loads and stores). So after transformation we can </a:t>
            </a:r>
            <a:r>
              <a:rPr lang="en-US" b="1" baseline="0" dirty="0" err="1" smtClean="0"/>
              <a:t>vectorized</a:t>
            </a:r>
            <a:r>
              <a:rPr lang="en-US" b="1" baseline="0" dirty="0" smtClean="0"/>
              <a:t> the loops 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2323E4-25AC-AD42-82DC-10D0CBACC160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44091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True Dependence is </a:t>
            </a:r>
            <a:r>
              <a:rPr lang="en-US" b="1" dirty="0" err="1" smtClean="0"/>
              <a:t>Borken</a:t>
            </a:r>
            <a:r>
              <a:rPr lang="en-US" b="1" dirty="0" smtClean="0"/>
              <a:t>/Resolved.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2323E4-25AC-AD42-82DC-10D0CBACC160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83497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Second loop can be</a:t>
            </a:r>
            <a:r>
              <a:rPr lang="en-US" b="1" baseline="0" dirty="0" smtClean="0"/>
              <a:t> </a:t>
            </a:r>
            <a:r>
              <a:rPr lang="en-US" b="1" baseline="0" dirty="0" err="1" smtClean="0"/>
              <a:t>vectorized</a:t>
            </a:r>
            <a:r>
              <a:rPr lang="en-US" b="1" baseline="0" dirty="0" smtClean="0"/>
              <a:t> because it has only one loop carried dependence, other dependence (B(I) </a:t>
            </a:r>
            <a:r>
              <a:rPr lang="en-US" b="1" baseline="0" dirty="0" smtClean="0">
                <a:sym typeface="Wingdings"/>
              </a:rPr>
              <a:t> B(I)) </a:t>
            </a:r>
            <a:r>
              <a:rPr lang="en-US" b="1" baseline="0" dirty="0" smtClean="0"/>
              <a:t>is not loop carried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2323E4-25AC-AD42-82DC-10D0CBACC160}" type="slidenum">
              <a:rPr lang="en-US" smtClean="0"/>
              <a:pPr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50957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smtClean="0"/>
              <a:t>If the</a:t>
            </a:r>
            <a:r>
              <a:rPr lang="en-US" b="1" baseline="0" dirty="0" smtClean="0"/>
              <a:t> loop iterates up to 10 (i.e., </a:t>
            </a:r>
            <a:r>
              <a:rPr lang="en-US" b="1" baseline="0" dirty="0" err="1" smtClean="0"/>
              <a:t>i</a:t>
            </a:r>
            <a:r>
              <a:rPr lang="en-US" b="1" baseline="0" dirty="0" smtClean="0"/>
              <a:t>==10) </a:t>
            </a:r>
            <a:r>
              <a:rPr lang="en-US" b="1" baseline="0" dirty="0" smtClean="0">
                <a:sym typeface="Wingdings"/>
              </a:rPr>
              <a:t> There will be no loop carried dependence</a:t>
            </a:r>
          </a:p>
          <a:p>
            <a:r>
              <a:rPr lang="en-US" b="1" baseline="0" dirty="0" smtClean="0">
                <a:sym typeface="Wingdings"/>
              </a:rPr>
              <a:t>However, if I iterates up to 20, then There will be loop carried dependences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2323E4-25AC-AD42-82DC-10D0CBACC160}" type="slidenum">
              <a:rPr lang="en-US" smtClean="0"/>
              <a:pPr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17259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a triangular loop, the number of iterations the inner loop executes depends on the value of the outer loop's loop variable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i="1" dirty="0" smtClean="0"/>
              <a:t>Must impose </a:t>
            </a:r>
            <a:r>
              <a:rPr lang="en-US" sz="1200" b="1" i="1" dirty="0" smtClean="0">
                <a:solidFill>
                  <a:srgbClr val="2C14DE"/>
                </a:solidFill>
              </a:rPr>
              <a:t>j &lt; </a:t>
            </a:r>
            <a:r>
              <a:rPr lang="en-US" sz="1200" b="1" i="1" dirty="0" err="1" smtClean="0">
                <a:solidFill>
                  <a:srgbClr val="2C14DE"/>
                </a:solidFill>
              </a:rPr>
              <a:t>i</a:t>
            </a:r>
            <a:r>
              <a:rPr lang="en-US" sz="1200" b="1" i="1" dirty="0" smtClean="0">
                <a:solidFill>
                  <a:srgbClr val="2C14DE"/>
                </a:solidFill>
              </a:rPr>
              <a:t> </a:t>
            </a:r>
            <a:r>
              <a:rPr lang="en-US" sz="1200" i="1" dirty="0" smtClean="0"/>
              <a:t>as an </a:t>
            </a:r>
            <a:r>
              <a:rPr lang="en-US" sz="1200" i="1" dirty="0" smtClean="0">
                <a:solidFill>
                  <a:srgbClr val="2C14DE"/>
                </a:solidFill>
              </a:rPr>
              <a:t>additional constraint </a:t>
            </a:r>
          </a:p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2323E4-25AC-AD42-82DC-10D0CBACC160}" type="slidenum">
              <a:rPr lang="en-US" smtClean="0"/>
              <a:pPr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376665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2323E4-25AC-AD42-82DC-10D0CBACC160}" type="slidenum">
              <a:rPr lang="en-US" smtClean="0"/>
              <a:pPr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405985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2323E4-25AC-AD42-82DC-10D0CBACC160}" type="slidenum">
              <a:rPr lang="en-US" smtClean="0"/>
              <a:pPr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94740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2323E4-25AC-AD42-82DC-10D0CBACC160}" type="slidenum">
              <a:rPr lang="en-US" smtClean="0"/>
              <a:pPr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473389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2323E4-25AC-AD42-82DC-10D0CBACC160}" type="slidenum">
              <a:rPr lang="en-US" smtClean="0"/>
              <a:pPr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397653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2323E4-25AC-AD42-82DC-10D0CBACC160}" type="slidenum">
              <a:rPr lang="en-US" smtClean="0"/>
              <a:pPr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754199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2323E4-25AC-AD42-82DC-10D0CBACC160}" type="slidenum">
              <a:rPr lang="en-US" smtClean="0"/>
              <a:pPr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187104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computer science, an induction variable is a variable that gets increased or decreased by a fixed amount on every iteration of a loop, or is a linear function of another induction variable.</a:t>
            </a:r>
          </a:p>
          <a:p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example, in the following loop,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and j are induction variables: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 (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0;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&lt; 10; ++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{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j = 17 * </a:t>
            </a:r>
            <a:r>
              <a:rPr lang="en-US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</a:t>
            </a:r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</a:t>
            </a:r>
          </a:p>
          <a:p>
            <a:r>
              <a: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2323E4-25AC-AD42-82DC-10D0CBACC160}" type="slidenum">
              <a:rPr lang="en-US" smtClean="0"/>
              <a:pPr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465024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2323E4-25AC-AD42-82DC-10D0CBACC160}" type="slidenum">
              <a:rPr lang="en-US" smtClean="0"/>
              <a:pPr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225328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 smtClean="0"/>
              <a:t>In computer science, an induction variable is a variable that gets increased or decreased by a fixed amount on every iteration of a loop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2323E4-25AC-AD42-82DC-10D0CBACC160}" type="slidenum">
              <a:rPr lang="en-US" smtClean="0"/>
              <a:pPr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726920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1" dirty="0" smtClean="0"/>
              <a:t>P</a:t>
            </a:r>
            <a:r>
              <a:rPr lang="en-US" b="1" i="1" baseline="0" dirty="0" smtClean="0"/>
              <a:t>  </a:t>
            </a:r>
            <a:r>
              <a:rPr lang="en-US" b="1" baseline="0" dirty="0" smtClean="0"/>
              <a:t>number of local sums</a:t>
            </a:r>
          </a:p>
          <a:p>
            <a:r>
              <a:rPr lang="en-US" b="1" baseline="0" dirty="0" smtClean="0"/>
              <a:t>Then </a:t>
            </a:r>
            <a:r>
              <a:rPr lang="en-US" b="1" i="1" baseline="0" dirty="0" smtClean="0"/>
              <a:t>P1+P2+…Pi  </a:t>
            </a:r>
            <a:r>
              <a:rPr lang="en-US" b="1" baseline="0" dirty="0" smtClean="0"/>
              <a:t>will be still a sequential operation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2323E4-25AC-AD42-82DC-10D0CBACC160}" type="slidenum">
              <a:rPr lang="en-US" smtClean="0"/>
              <a:pPr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336149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2323E4-25AC-AD42-82DC-10D0CBACC160}" type="slidenum">
              <a:rPr lang="en-US" smtClean="0"/>
              <a:pPr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7307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12/15/2021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0533" y="59269"/>
            <a:ext cx="8229600" cy="76676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12/15/2021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50799" y="50799"/>
            <a:ext cx="863601" cy="863601"/>
          </a:xfr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12/15/2021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12/15/2021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12/15/2021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12/15/2021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12/15/2021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12/15/2021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12/15/2021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12/15/2021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12/15/2021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0192B-E1F2-4D51-9245-C9CE8F612D86}" type="datetimeFigureOut">
              <a:rPr lang="en-US" smtClean="0"/>
              <a:pPr/>
              <a:t>12/15/2021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2530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Online Image Placeholder 2"/>
          <p:cNvSpPr>
            <a:spLocks noGrp="1"/>
          </p:cNvSpPr>
          <p:nvPr>
            <p:ph type="clipArt"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Intel 9/12/05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8161DB-B813-4F78-9777-4A49F890D6E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Intel 9/12/05</a:t>
            </a:r>
          </a:p>
        </p:txBody>
      </p:sp>
    </p:spTree>
    <p:extLst>
      <p:ext uri="{BB962C8B-B14F-4D97-AF65-F5344CB8AC3E}">
        <p14:creationId xmlns:p14="http://schemas.microsoft.com/office/powerpoint/2010/main" val="3593510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B0192B-E1F2-4D51-9245-C9CE8F612D86}" type="datetimeFigureOut">
              <a:rPr lang="en-US" smtClean="0"/>
              <a:pPr/>
              <a:t>12/15/2021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C2CBD0-4E8A-462D-9424-859647FC3ED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1" y="16934"/>
            <a:ext cx="728131" cy="72813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636" y="1882775"/>
            <a:ext cx="8991600" cy="1622425"/>
          </a:xfrm>
        </p:spPr>
        <p:txBody>
          <a:bodyPr>
            <a:normAutofit/>
          </a:bodyPr>
          <a:lstStyle/>
          <a:p>
            <a:r>
              <a:rPr lang="en-US" sz="4800" b="1" dirty="0" smtClean="0">
                <a:solidFill>
                  <a:srgbClr val="160C5C"/>
                </a:solidFill>
              </a:rPr>
              <a:t>Dependence Analysis</a:t>
            </a:r>
            <a:r>
              <a:rPr lang="en-US" b="1" dirty="0" smtClean="0">
                <a:solidFill>
                  <a:srgbClr val="160C5C"/>
                </a:solidFill>
              </a:rPr>
              <a:t/>
            </a:r>
            <a:br>
              <a:rPr lang="en-US" b="1" dirty="0" smtClean="0">
                <a:solidFill>
                  <a:srgbClr val="160C5C"/>
                </a:solidFill>
              </a:rPr>
            </a:br>
            <a:r>
              <a:rPr lang="en-US" sz="2600" dirty="0" smtClean="0"/>
              <a:t>(CS 3006)</a:t>
            </a:r>
            <a:endParaRPr lang="en-US" sz="2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4114800"/>
            <a:ext cx="8686800" cy="2590800"/>
          </a:xfrm>
        </p:spPr>
        <p:txBody>
          <a:bodyPr>
            <a:normAutofit lnSpcReduction="10000"/>
          </a:bodyPr>
          <a:lstStyle/>
          <a:p>
            <a:endParaRPr lang="en-US" sz="2600" dirty="0" smtClean="0"/>
          </a:p>
          <a:p>
            <a:r>
              <a:rPr lang="en-US" sz="2600" dirty="0" smtClean="0"/>
              <a:t>Dr. Muhammad Aleem,</a:t>
            </a:r>
          </a:p>
          <a:p>
            <a:endParaRPr lang="en-US" sz="2600" dirty="0" smtClean="0"/>
          </a:p>
          <a:p>
            <a:r>
              <a:rPr lang="en-US" sz="2600" dirty="0" smtClean="0"/>
              <a:t>Department of Computer Science, </a:t>
            </a:r>
          </a:p>
          <a:p>
            <a:r>
              <a:rPr lang="en-US" sz="2800" dirty="0"/>
              <a:t>National University of Computer </a:t>
            </a:r>
            <a:r>
              <a:rPr lang="en-US" sz="2800" dirty="0" smtClean="0"/>
              <a:t>&amp; Emerging </a:t>
            </a:r>
            <a:r>
              <a:rPr lang="en-US" sz="2800" dirty="0"/>
              <a:t>Sciences</a:t>
            </a:r>
            <a:r>
              <a:rPr lang="en-US" sz="2600" dirty="0" smtClean="0"/>
              <a:t>, Islamabad Campus</a:t>
            </a:r>
          </a:p>
        </p:txBody>
      </p:sp>
    </p:spTree>
    <p:extLst>
      <p:ext uri="{BB962C8B-B14F-4D97-AF65-F5344CB8AC3E}">
        <p14:creationId xmlns:p14="http://schemas.microsoft.com/office/powerpoint/2010/main" val="2452701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132" y="53008"/>
            <a:ext cx="9074424" cy="990600"/>
          </a:xfrm>
        </p:spPr>
        <p:txBody>
          <a:bodyPr>
            <a:normAutofit/>
          </a:bodyPr>
          <a:lstStyle/>
          <a:p>
            <a:r>
              <a:rPr lang="en-US" sz="4800" b="1" dirty="0" smtClean="0">
                <a:solidFill>
                  <a:srgbClr val="B80000"/>
                </a:solidFill>
              </a:rPr>
              <a:t>The Big Picture</a:t>
            </a:r>
            <a:endParaRPr lang="en-US" sz="4800" b="1" dirty="0">
              <a:solidFill>
                <a:srgbClr val="B8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452" y="1076075"/>
            <a:ext cx="9054548" cy="5858125"/>
          </a:xfrm>
        </p:spPr>
        <p:txBody>
          <a:bodyPr>
            <a:normAutofit/>
          </a:bodyPr>
          <a:lstStyle/>
          <a:p>
            <a:pPr marL="514350" indent="-514350">
              <a:buSzPct val="110000"/>
              <a:buFont typeface="+mj-lt"/>
              <a:buAutoNum type="arabicPeriod"/>
            </a:pPr>
            <a:r>
              <a:rPr lang="en-US" b="1" dirty="0" smtClean="0">
                <a:solidFill>
                  <a:srgbClr val="B80000"/>
                </a:solidFill>
              </a:rPr>
              <a:t>What are our goals?</a:t>
            </a:r>
            <a:endParaRPr lang="en-US" b="1" dirty="0">
              <a:solidFill>
                <a:srgbClr val="B80000"/>
              </a:solidFill>
            </a:endParaRPr>
          </a:p>
          <a:p>
            <a:pPr marL="914400" lvl="1" indent="-514350" algn="just">
              <a:buSzPct val="110000"/>
              <a:buFont typeface="Arial"/>
              <a:buChar char="•"/>
            </a:pPr>
            <a:r>
              <a:rPr lang="en-US" sz="3000" b="1" dirty="0" smtClean="0">
                <a:solidFill>
                  <a:srgbClr val="2C14DE"/>
                </a:solidFill>
              </a:rPr>
              <a:t>Simple Goal</a:t>
            </a:r>
            <a:r>
              <a:rPr lang="en-US" sz="3000" dirty="0" smtClean="0"/>
              <a:t>: Make execution time as small as possible</a:t>
            </a:r>
          </a:p>
          <a:p>
            <a:pPr marL="514350" indent="-514350">
              <a:buSzPct val="110000"/>
              <a:buFont typeface="+mj-lt"/>
              <a:buAutoNum type="arabicPeriod"/>
            </a:pPr>
            <a:endParaRPr lang="en-US" dirty="0" smtClean="0">
              <a:solidFill>
                <a:srgbClr val="2C14DE"/>
              </a:solidFill>
            </a:endParaRPr>
          </a:p>
          <a:p>
            <a:pPr marL="514350" indent="-514350">
              <a:buSzPct val="110000"/>
              <a:buFont typeface="+mj-lt"/>
              <a:buAutoNum type="arabicPeriod"/>
            </a:pPr>
            <a:r>
              <a:rPr lang="en-US" b="1" dirty="0" smtClean="0">
                <a:solidFill>
                  <a:srgbClr val="B80000"/>
                </a:solidFill>
              </a:rPr>
              <a:t>Which leads to:</a:t>
            </a:r>
          </a:p>
          <a:p>
            <a:pPr lvl="1"/>
            <a:r>
              <a:rPr lang="en-US" dirty="0" smtClean="0"/>
              <a:t>Achieve </a:t>
            </a:r>
            <a:r>
              <a:rPr lang="en-US" b="1" dirty="0" smtClean="0">
                <a:solidFill>
                  <a:srgbClr val="2C14DE"/>
                </a:solidFill>
              </a:rPr>
              <a:t>execution</a:t>
            </a:r>
            <a:r>
              <a:rPr lang="en-US" dirty="0" smtClean="0"/>
              <a:t> of </a:t>
            </a:r>
            <a:r>
              <a:rPr lang="en-US" b="1" dirty="0" smtClean="0">
                <a:solidFill>
                  <a:srgbClr val="2C14DE"/>
                </a:solidFill>
              </a:rPr>
              <a:t>many</a:t>
            </a:r>
            <a:r>
              <a:rPr lang="en-US" dirty="0" smtClean="0"/>
              <a:t> (</a:t>
            </a:r>
            <a:r>
              <a:rPr lang="en-US" dirty="0"/>
              <a:t>all</a:t>
            </a:r>
            <a:r>
              <a:rPr lang="en-US" dirty="0" smtClean="0"/>
              <a:t>, in the best case</a:t>
            </a:r>
            <a:r>
              <a:rPr lang="en-US" dirty="0"/>
              <a:t>) </a:t>
            </a:r>
            <a:r>
              <a:rPr lang="en-US" b="1" dirty="0">
                <a:solidFill>
                  <a:srgbClr val="2C14DE"/>
                </a:solidFill>
              </a:rPr>
              <a:t>instructions</a:t>
            </a:r>
            <a:r>
              <a:rPr lang="en-US" dirty="0"/>
              <a:t> in </a:t>
            </a:r>
            <a:r>
              <a:rPr lang="en-US" b="1" dirty="0" smtClean="0">
                <a:solidFill>
                  <a:srgbClr val="2C14DE"/>
                </a:solidFill>
              </a:rPr>
              <a:t>parallel</a:t>
            </a:r>
          </a:p>
          <a:p>
            <a:pPr lvl="1"/>
            <a:r>
              <a:rPr lang="en-US" dirty="0" smtClean="0"/>
              <a:t>But, you have to find </a:t>
            </a:r>
            <a:r>
              <a:rPr lang="en-US" b="1" u="sng" dirty="0" smtClean="0">
                <a:solidFill>
                  <a:srgbClr val="008000"/>
                </a:solidFill>
              </a:rPr>
              <a:t>INDEPENDENT</a:t>
            </a:r>
            <a:r>
              <a:rPr lang="en-US" dirty="0" smtClean="0">
                <a:solidFill>
                  <a:srgbClr val="008000"/>
                </a:solidFill>
              </a:rPr>
              <a:t> </a:t>
            </a:r>
            <a:r>
              <a:rPr lang="en-US" dirty="0" smtClean="0"/>
              <a:t>instructions</a:t>
            </a:r>
          </a:p>
          <a:p>
            <a:pPr lvl="1"/>
            <a:endParaRPr lang="en-US" dirty="0"/>
          </a:p>
          <a:p>
            <a:pPr marL="914400" lvl="1" indent="-514350">
              <a:buSzPct val="110000"/>
              <a:buFont typeface="+mj-lt"/>
              <a:buAutoNum type="arabicPeriod"/>
            </a:pPr>
            <a:endParaRPr lang="en-US" dirty="0"/>
          </a:p>
          <a:p>
            <a:pPr marL="914400" lvl="1" indent="-514350">
              <a:buSzPct val="110000"/>
              <a:buFont typeface="+mj-lt"/>
              <a:buAutoNum type="arabicPeriod"/>
            </a:pPr>
            <a:endParaRPr lang="en-US" dirty="0" smtClean="0"/>
          </a:p>
          <a:p>
            <a:pPr marL="914400" lvl="1" indent="-514350">
              <a:buSzPct val="110000"/>
              <a:buFont typeface="+mj-lt"/>
              <a:buAutoNum type="arabicPeriod"/>
            </a:pPr>
            <a:endParaRPr lang="en-US" dirty="0" smtClean="0"/>
          </a:p>
          <a:p>
            <a:pPr marL="514350" indent="-514350">
              <a:buSzPct val="110000"/>
              <a:buFont typeface="+mj-lt"/>
              <a:buAutoNum type="arabicPeriod"/>
            </a:pPr>
            <a:endParaRPr lang="en-US" dirty="0" smtClean="0">
              <a:solidFill>
                <a:srgbClr val="2C14DE"/>
              </a:solidFill>
            </a:endParaRPr>
          </a:p>
          <a:p>
            <a:pPr marL="971550" lvl="1" indent="-514350">
              <a:buFont typeface="+mj-lt"/>
              <a:buAutoNum type="arabicPeriod"/>
            </a:pPr>
            <a:endParaRPr lang="en-US" dirty="0">
              <a:solidFill>
                <a:srgbClr val="2C14DE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9452" y="9144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701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132" y="53008"/>
            <a:ext cx="9074424" cy="990600"/>
          </a:xfrm>
        </p:spPr>
        <p:txBody>
          <a:bodyPr>
            <a:normAutofit/>
          </a:bodyPr>
          <a:lstStyle/>
          <a:p>
            <a:r>
              <a:rPr lang="en-US" sz="4000" b="1" dirty="0" smtClean="0">
                <a:solidFill>
                  <a:srgbClr val="B80000"/>
                </a:solidFill>
              </a:rPr>
              <a:t>Data Dependence</a:t>
            </a:r>
            <a:endParaRPr lang="en-US" sz="4000" b="1" dirty="0">
              <a:solidFill>
                <a:srgbClr val="B8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452" y="1143000"/>
            <a:ext cx="8875036" cy="5675244"/>
          </a:xfrm>
        </p:spPr>
        <p:txBody>
          <a:bodyPr>
            <a:normAutofit/>
          </a:bodyPr>
          <a:lstStyle/>
          <a:p>
            <a:pPr algn="just"/>
            <a:r>
              <a:rPr lang="en-US" b="1" dirty="0">
                <a:solidFill>
                  <a:srgbClr val="2C14DE"/>
                </a:solidFill>
              </a:rPr>
              <a:t>Data</a:t>
            </a:r>
            <a:r>
              <a:rPr lang="en-US" dirty="0"/>
              <a:t> must be </a:t>
            </a:r>
            <a:r>
              <a:rPr lang="en-US" b="1" dirty="0">
                <a:solidFill>
                  <a:srgbClr val="2C14DE"/>
                </a:solidFill>
              </a:rPr>
              <a:t>produced</a:t>
            </a:r>
            <a:r>
              <a:rPr lang="en-US" dirty="0"/>
              <a:t> and </a:t>
            </a:r>
            <a:r>
              <a:rPr lang="en-US" b="1" dirty="0">
                <a:solidFill>
                  <a:srgbClr val="2C14DE"/>
                </a:solidFill>
              </a:rPr>
              <a:t>consumed</a:t>
            </a:r>
            <a:r>
              <a:rPr lang="en-US" dirty="0"/>
              <a:t> in </a:t>
            </a:r>
            <a:r>
              <a:rPr lang="en-US" dirty="0" smtClean="0"/>
              <a:t>the </a:t>
            </a:r>
            <a:r>
              <a:rPr lang="en-US" b="1" i="1" dirty="0" smtClean="0">
                <a:solidFill>
                  <a:srgbClr val="B80000"/>
                </a:solidFill>
              </a:rPr>
              <a:t>correct order</a:t>
            </a:r>
            <a:endParaRPr lang="en-US" dirty="0" smtClean="0"/>
          </a:p>
          <a:p>
            <a:endParaRPr lang="en-US" dirty="0" smtClean="0"/>
          </a:p>
          <a:p>
            <a:r>
              <a:rPr lang="en-US" b="1" dirty="0" smtClean="0"/>
              <a:t>Simple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2C14DE"/>
                </a:solidFill>
              </a:rPr>
              <a:t>example</a:t>
            </a:r>
            <a:r>
              <a:rPr lang="en-US" b="1" dirty="0" smtClean="0"/>
              <a:t> of </a:t>
            </a:r>
            <a:r>
              <a:rPr lang="en-US" b="1" dirty="0" smtClean="0">
                <a:solidFill>
                  <a:srgbClr val="2C14DE"/>
                </a:solidFill>
              </a:rPr>
              <a:t>data dependence</a:t>
            </a:r>
            <a:r>
              <a:rPr lang="en-US" dirty="0"/>
              <a:t>: </a:t>
            </a:r>
          </a:p>
          <a:p>
            <a:pPr marL="457200" lvl="1" indent="0">
              <a:buNone/>
            </a:pPr>
            <a:endParaRPr lang="en-US" dirty="0"/>
          </a:p>
          <a:p>
            <a:pPr marL="914400" lvl="1" indent="-514350">
              <a:buSzPct val="110000"/>
              <a:buFont typeface="+mj-lt"/>
              <a:buAutoNum type="arabicPeriod"/>
            </a:pPr>
            <a:endParaRPr lang="en-US" dirty="0"/>
          </a:p>
          <a:p>
            <a:pPr marL="0" indent="0">
              <a:buSzPct val="110000"/>
              <a:buNone/>
            </a:pPr>
            <a:endParaRPr lang="en-US" dirty="0" smtClean="0"/>
          </a:p>
          <a:p>
            <a:pPr algn="just">
              <a:buSzPct val="110000"/>
            </a:pPr>
            <a:r>
              <a:rPr lang="en-US" dirty="0" smtClean="0"/>
              <a:t>Statement </a:t>
            </a:r>
            <a:r>
              <a:rPr lang="en-US" b="1" i="1" dirty="0">
                <a:solidFill>
                  <a:srgbClr val="2C14DE"/>
                </a:solidFill>
              </a:rPr>
              <a:t>S3</a:t>
            </a:r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cannot </a:t>
            </a:r>
            <a:r>
              <a:rPr lang="en-US" dirty="0"/>
              <a:t>be </a:t>
            </a:r>
            <a:r>
              <a:rPr lang="en-US" dirty="0">
                <a:solidFill>
                  <a:srgbClr val="C00000"/>
                </a:solidFill>
              </a:rPr>
              <a:t>moved </a:t>
            </a:r>
            <a:r>
              <a:rPr lang="en-US" dirty="0"/>
              <a:t>before either </a:t>
            </a:r>
            <a:r>
              <a:rPr lang="en-US" b="1" i="1" dirty="0">
                <a:solidFill>
                  <a:srgbClr val="2C14DE"/>
                </a:solidFill>
              </a:rPr>
              <a:t>S1</a:t>
            </a:r>
            <a:r>
              <a:rPr lang="en-US" dirty="0">
                <a:solidFill>
                  <a:srgbClr val="2C14DE"/>
                </a:solidFill>
              </a:rPr>
              <a:t> </a:t>
            </a:r>
            <a:r>
              <a:rPr lang="en-US" dirty="0"/>
              <a:t>or </a:t>
            </a:r>
            <a:r>
              <a:rPr lang="en-US" b="1" i="1" dirty="0">
                <a:solidFill>
                  <a:srgbClr val="2C14DE"/>
                </a:solidFill>
              </a:rPr>
              <a:t>S2</a:t>
            </a:r>
            <a:r>
              <a:rPr lang="en-US" dirty="0">
                <a:solidFill>
                  <a:srgbClr val="2C14DE"/>
                </a:solidFill>
              </a:rPr>
              <a:t> </a:t>
            </a:r>
            <a:r>
              <a:rPr lang="en-US" dirty="0"/>
              <a:t>without </a:t>
            </a:r>
            <a:r>
              <a:rPr lang="en-US" dirty="0">
                <a:solidFill>
                  <a:srgbClr val="2C14DE"/>
                </a:solidFill>
              </a:rPr>
              <a:t>compromising</a:t>
            </a:r>
            <a:r>
              <a:rPr lang="en-US" dirty="0"/>
              <a:t> correct </a:t>
            </a:r>
            <a:r>
              <a:rPr lang="en-US" dirty="0">
                <a:solidFill>
                  <a:srgbClr val="2C14DE"/>
                </a:solidFill>
              </a:rPr>
              <a:t>results </a:t>
            </a:r>
          </a:p>
          <a:p>
            <a:pPr marL="914400" lvl="1" indent="-514350">
              <a:buSzPct val="110000"/>
              <a:buFont typeface="+mj-lt"/>
              <a:buAutoNum type="arabicPeriod"/>
            </a:pPr>
            <a:endParaRPr lang="en-US" dirty="0" smtClean="0"/>
          </a:p>
          <a:p>
            <a:pPr marL="514350" indent="-514350">
              <a:buSzPct val="110000"/>
              <a:buFont typeface="+mj-lt"/>
              <a:buAutoNum type="arabicPeriod"/>
            </a:pPr>
            <a:endParaRPr lang="en-US" dirty="0" smtClean="0">
              <a:solidFill>
                <a:srgbClr val="2C14DE"/>
              </a:solidFill>
            </a:endParaRPr>
          </a:p>
          <a:p>
            <a:pPr marL="971550" lvl="1" indent="-514350">
              <a:buFont typeface="+mj-lt"/>
              <a:buAutoNum type="arabicPeriod"/>
            </a:pPr>
            <a:endParaRPr lang="en-US" dirty="0">
              <a:solidFill>
                <a:srgbClr val="2C14DE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9756" y="10668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1" y="3436067"/>
            <a:ext cx="4267199" cy="1212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535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42" name="Text Box 2"/>
          <p:cNvSpPr txBox="1">
            <a:spLocks noChangeArrowheads="1"/>
          </p:cNvSpPr>
          <p:nvPr/>
        </p:nvSpPr>
        <p:spPr bwMode="auto">
          <a:xfrm>
            <a:off x="1965325" y="727075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endParaRPr lang="en-US" sz="2400">
              <a:latin typeface="Times New Roman" charset="0"/>
              <a:cs typeface="+mn-cs"/>
            </a:endParaRPr>
          </a:p>
        </p:txBody>
      </p:sp>
      <p:sp>
        <p:nvSpPr>
          <p:cNvPr id="1802243" name="Rectangle 3"/>
          <p:cNvSpPr>
            <a:spLocks noGrp="1" noRot="1" noChangeArrowheads="1"/>
          </p:cNvSpPr>
          <p:nvPr>
            <p:ph type="title"/>
          </p:nvPr>
        </p:nvSpPr>
        <p:spPr>
          <a:xfrm>
            <a:off x="123680" y="88070"/>
            <a:ext cx="9020320" cy="75013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b="1" dirty="0" smtClean="0">
                <a:solidFill>
                  <a:srgbClr val="B80000"/>
                </a:solidFill>
                <a:cs typeface="+mj-cs"/>
              </a:rPr>
              <a:t>Motivation</a:t>
            </a:r>
          </a:p>
        </p:txBody>
      </p:sp>
      <p:sp>
        <p:nvSpPr>
          <p:cNvPr id="180224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52400" y="1066800"/>
            <a:ext cx="8915400" cy="57150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b="1" dirty="0" smtClean="0">
                <a:solidFill>
                  <a:srgbClr val="B80000"/>
                </a:solidFill>
                <a:cs typeface="+mn-cs"/>
              </a:rPr>
              <a:t>DOALL loops</a:t>
            </a:r>
            <a:r>
              <a:rPr lang="en-US" dirty="0" smtClean="0">
                <a:cs typeface="+mn-cs"/>
              </a:rPr>
              <a:t>: </a:t>
            </a:r>
            <a:r>
              <a:rPr lang="en-US" b="1" dirty="0" smtClean="0">
                <a:solidFill>
                  <a:srgbClr val="2C14DE"/>
                </a:solidFill>
                <a:cs typeface="+mn-cs"/>
              </a:rPr>
              <a:t>loops</a:t>
            </a:r>
            <a:r>
              <a:rPr lang="en-US" b="1" dirty="0" smtClean="0">
                <a:cs typeface="+mn-cs"/>
              </a:rPr>
              <a:t> whose </a:t>
            </a:r>
            <a:r>
              <a:rPr lang="en-US" b="1" dirty="0" smtClean="0">
                <a:solidFill>
                  <a:srgbClr val="2C14DE"/>
                </a:solidFill>
                <a:cs typeface="+mn-cs"/>
              </a:rPr>
              <a:t>iterations</a:t>
            </a:r>
            <a:r>
              <a:rPr lang="en-US" b="1" dirty="0" smtClean="0">
                <a:cs typeface="+mn-cs"/>
              </a:rPr>
              <a:t> can </a:t>
            </a:r>
            <a:r>
              <a:rPr lang="en-US" b="1" dirty="0" smtClean="0">
                <a:solidFill>
                  <a:srgbClr val="2C14DE"/>
                </a:solidFill>
                <a:cs typeface="+mn-cs"/>
              </a:rPr>
              <a:t>execute</a:t>
            </a:r>
            <a:r>
              <a:rPr lang="en-US" b="1" dirty="0" smtClean="0">
                <a:cs typeface="+mn-cs"/>
              </a:rPr>
              <a:t> in </a:t>
            </a:r>
            <a:r>
              <a:rPr lang="en-US" b="1" dirty="0" smtClean="0">
                <a:solidFill>
                  <a:srgbClr val="2C14DE"/>
                </a:solidFill>
                <a:cs typeface="+mn-cs"/>
              </a:rPr>
              <a:t>parallel</a:t>
            </a:r>
          </a:p>
          <a:p>
            <a:pPr eaLnBrk="1" hangingPunct="1">
              <a:defRPr/>
            </a:pPr>
            <a:endParaRPr lang="en-US" dirty="0">
              <a:solidFill>
                <a:srgbClr val="2C14DE"/>
              </a:solidFill>
            </a:endParaRPr>
          </a:p>
          <a:p>
            <a:pPr eaLnBrk="1" hangingPunct="1">
              <a:defRPr/>
            </a:pPr>
            <a:endParaRPr lang="en-US" dirty="0" smtClean="0">
              <a:solidFill>
                <a:srgbClr val="2C14DE"/>
              </a:solidFill>
              <a:cs typeface="+mn-cs"/>
            </a:endParaRPr>
          </a:p>
          <a:p>
            <a:pPr eaLnBrk="1" hangingPunct="1">
              <a:defRPr/>
            </a:pPr>
            <a:endParaRPr lang="en-US" sz="2800" dirty="0" smtClean="0">
              <a:cs typeface="+mn-cs"/>
            </a:endParaRPr>
          </a:p>
          <a:p>
            <a:pPr eaLnBrk="1" hangingPunct="1">
              <a:defRPr/>
            </a:pPr>
            <a:endParaRPr lang="en-US" sz="2800" dirty="0" smtClean="0">
              <a:cs typeface="+mn-cs"/>
            </a:endParaRPr>
          </a:p>
          <a:p>
            <a:pPr eaLnBrk="1" hangingPunct="1">
              <a:defRPr/>
            </a:pPr>
            <a:endParaRPr lang="en-US" sz="2800" dirty="0" smtClean="0">
              <a:cs typeface="+mn-cs"/>
            </a:endParaRPr>
          </a:p>
          <a:p>
            <a:pPr eaLnBrk="1" hangingPunct="1">
              <a:defRPr/>
            </a:pPr>
            <a:endParaRPr lang="en-US" sz="2800" dirty="0" smtClean="0">
              <a:cs typeface="+mn-cs"/>
            </a:endParaRPr>
          </a:p>
          <a:p>
            <a:pPr eaLnBrk="1" hangingPunct="1">
              <a:defRPr/>
            </a:pPr>
            <a:endParaRPr lang="en-US" sz="2800" dirty="0" smtClean="0">
              <a:cs typeface="+mn-cs"/>
            </a:endParaRPr>
          </a:p>
        </p:txBody>
      </p:sp>
      <p:sp>
        <p:nvSpPr>
          <p:cNvPr id="1802245" name="Text Box 5"/>
          <p:cNvSpPr txBox="1">
            <a:spLocks noChangeArrowheads="1"/>
          </p:cNvSpPr>
          <p:nvPr/>
        </p:nvSpPr>
        <p:spPr bwMode="auto">
          <a:xfrm>
            <a:off x="1371600" y="2743200"/>
            <a:ext cx="5334000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000" b="1" dirty="0">
                <a:solidFill>
                  <a:srgbClr val="008000"/>
                </a:solidFill>
                <a:latin typeface="Courier"/>
                <a:cs typeface="Courier"/>
              </a:rPr>
              <a:t>for </a:t>
            </a:r>
            <a:r>
              <a:rPr lang="en-US" sz="3000" b="1" dirty="0" err="1">
                <a:solidFill>
                  <a:srgbClr val="008000"/>
                </a:solidFill>
                <a:latin typeface="Courier"/>
                <a:cs typeface="Courier"/>
              </a:rPr>
              <a:t>i</a:t>
            </a:r>
            <a:r>
              <a:rPr lang="en-US" sz="3000" b="1" dirty="0">
                <a:solidFill>
                  <a:srgbClr val="008000"/>
                </a:solidFill>
                <a:latin typeface="Courier"/>
                <a:cs typeface="Courier"/>
              </a:rPr>
              <a:t> = 11, 20</a:t>
            </a:r>
          </a:p>
          <a:p>
            <a:pPr>
              <a:defRPr/>
            </a:pPr>
            <a:r>
              <a:rPr lang="en-US" sz="3000" b="1" dirty="0">
                <a:solidFill>
                  <a:srgbClr val="008000"/>
                </a:solidFill>
                <a:latin typeface="Courier"/>
                <a:cs typeface="Courier"/>
              </a:rPr>
              <a:t>  </a:t>
            </a:r>
            <a:r>
              <a:rPr lang="en-US" sz="3000" b="1" dirty="0" smtClean="0">
                <a:solidFill>
                  <a:srgbClr val="008000"/>
                </a:solidFill>
                <a:latin typeface="Courier"/>
                <a:cs typeface="Courier"/>
              </a:rPr>
              <a:t>   a</a:t>
            </a:r>
            <a:r>
              <a:rPr lang="en-US" sz="3000" b="1" dirty="0">
                <a:solidFill>
                  <a:srgbClr val="008000"/>
                </a:solidFill>
                <a:latin typeface="Courier"/>
                <a:cs typeface="Courier"/>
              </a:rPr>
              <a:t>[</a:t>
            </a:r>
            <a:r>
              <a:rPr lang="en-US" sz="3000" b="1" dirty="0" err="1">
                <a:solidFill>
                  <a:srgbClr val="008000"/>
                </a:solidFill>
                <a:latin typeface="Courier"/>
                <a:cs typeface="Courier"/>
              </a:rPr>
              <a:t>i</a:t>
            </a:r>
            <a:r>
              <a:rPr lang="en-US" sz="3000" b="1" dirty="0">
                <a:solidFill>
                  <a:srgbClr val="008000"/>
                </a:solidFill>
                <a:latin typeface="Courier"/>
                <a:cs typeface="Courier"/>
              </a:rPr>
              <a:t>] = a[</a:t>
            </a:r>
            <a:r>
              <a:rPr lang="en-US" sz="3000" b="1" dirty="0" err="1">
                <a:solidFill>
                  <a:srgbClr val="008000"/>
                </a:solidFill>
                <a:latin typeface="Courier"/>
                <a:cs typeface="Courier"/>
              </a:rPr>
              <a:t>i</a:t>
            </a:r>
            <a:r>
              <a:rPr lang="en-US" sz="3000" b="1" dirty="0">
                <a:solidFill>
                  <a:srgbClr val="008000"/>
                </a:solidFill>
                <a:latin typeface="Courier"/>
                <a:cs typeface="Courier"/>
              </a:rPr>
              <a:t>] + 3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8382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593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7650" name="Text Box 2"/>
          <p:cNvSpPr txBox="1">
            <a:spLocks noChangeArrowheads="1"/>
          </p:cNvSpPr>
          <p:nvPr/>
        </p:nvSpPr>
        <p:spPr bwMode="auto">
          <a:xfrm>
            <a:off x="1965325" y="727075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endParaRPr lang="en-US" sz="2400">
              <a:latin typeface="Times New Roman" charset="0"/>
              <a:cs typeface="+mn-cs"/>
            </a:endParaRPr>
          </a:p>
        </p:txBody>
      </p:sp>
      <p:sp>
        <p:nvSpPr>
          <p:cNvPr id="1947651" name="Rectangle 3"/>
          <p:cNvSpPr>
            <a:spLocks noGrp="1" noRot="1" noChangeArrowheads="1"/>
          </p:cNvSpPr>
          <p:nvPr>
            <p:ph type="title"/>
          </p:nvPr>
        </p:nvSpPr>
        <p:spPr>
          <a:xfrm>
            <a:off x="152400" y="33825"/>
            <a:ext cx="8991600" cy="818422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en-US" sz="4800" b="1" dirty="0" smtClean="0">
                <a:solidFill>
                  <a:srgbClr val="B80000"/>
                </a:solidFill>
                <a:cs typeface="+mj-cs"/>
              </a:rPr>
              <a:t>Examples</a:t>
            </a:r>
          </a:p>
        </p:txBody>
      </p:sp>
      <p:sp>
        <p:nvSpPr>
          <p:cNvPr id="1947652" name="Text Box 4"/>
          <p:cNvSpPr txBox="1">
            <a:spLocks noChangeArrowheads="1"/>
          </p:cNvSpPr>
          <p:nvPr/>
        </p:nvSpPr>
        <p:spPr bwMode="auto">
          <a:xfrm>
            <a:off x="381000" y="1447800"/>
            <a:ext cx="5095875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000" b="1" dirty="0">
                <a:latin typeface="Courier"/>
                <a:cs typeface="Courier"/>
              </a:rPr>
              <a:t>for </a:t>
            </a:r>
            <a:r>
              <a:rPr lang="en-US" sz="3000" b="1" dirty="0" err="1">
                <a:latin typeface="Courier"/>
                <a:cs typeface="Courier"/>
              </a:rPr>
              <a:t>i</a:t>
            </a:r>
            <a:r>
              <a:rPr lang="en-US" sz="3000" b="1" dirty="0">
                <a:latin typeface="Courier"/>
                <a:cs typeface="Courier"/>
              </a:rPr>
              <a:t> = 11, 20</a:t>
            </a:r>
          </a:p>
          <a:p>
            <a:pPr>
              <a:defRPr/>
            </a:pPr>
            <a:r>
              <a:rPr lang="en-US" sz="3000" b="1" dirty="0">
                <a:latin typeface="Courier"/>
                <a:cs typeface="Courier"/>
              </a:rPr>
              <a:t>  </a:t>
            </a:r>
            <a:r>
              <a:rPr lang="en-US" sz="3000" b="1" dirty="0" smtClean="0">
                <a:latin typeface="Courier"/>
                <a:cs typeface="Courier"/>
              </a:rPr>
              <a:t>  a</a:t>
            </a:r>
            <a:r>
              <a:rPr lang="en-US" sz="3000" b="1" dirty="0">
                <a:latin typeface="Courier"/>
                <a:cs typeface="Courier"/>
              </a:rPr>
              <a:t>[</a:t>
            </a:r>
            <a:r>
              <a:rPr lang="en-US" sz="3000" b="1" dirty="0" err="1">
                <a:latin typeface="Courier"/>
                <a:cs typeface="Courier"/>
              </a:rPr>
              <a:t>i</a:t>
            </a:r>
            <a:r>
              <a:rPr lang="en-US" sz="3000" b="1" dirty="0">
                <a:latin typeface="Courier"/>
                <a:cs typeface="Courier"/>
              </a:rPr>
              <a:t>] = a[</a:t>
            </a:r>
            <a:r>
              <a:rPr lang="en-US" sz="3000" b="1" dirty="0" err="1">
                <a:latin typeface="Courier"/>
                <a:cs typeface="Courier"/>
              </a:rPr>
              <a:t>i</a:t>
            </a:r>
            <a:r>
              <a:rPr lang="en-US" sz="3000" b="1" dirty="0">
                <a:latin typeface="Courier"/>
                <a:cs typeface="Courier"/>
              </a:rPr>
              <a:t>] + 3</a:t>
            </a:r>
          </a:p>
        </p:txBody>
      </p:sp>
      <p:sp>
        <p:nvSpPr>
          <p:cNvPr id="1947653" name="Text Box 5"/>
          <p:cNvSpPr txBox="1">
            <a:spLocks noChangeArrowheads="1"/>
          </p:cNvSpPr>
          <p:nvPr/>
        </p:nvSpPr>
        <p:spPr bwMode="auto">
          <a:xfrm>
            <a:off x="6324600" y="1782762"/>
            <a:ext cx="15303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3200" b="1" dirty="0">
                <a:solidFill>
                  <a:schemeClr val="hlink"/>
                </a:solidFill>
                <a:cs typeface="+mn-cs"/>
              </a:rPr>
              <a:t>Parallel</a:t>
            </a:r>
            <a:r>
              <a:rPr lang="en-US" dirty="0">
                <a:cs typeface="+mn-cs"/>
              </a:rPr>
              <a:t> </a:t>
            </a:r>
          </a:p>
        </p:txBody>
      </p:sp>
      <p:sp>
        <p:nvSpPr>
          <p:cNvPr id="1947654" name="Text Box 6"/>
          <p:cNvSpPr txBox="1">
            <a:spLocks noChangeArrowheads="1"/>
          </p:cNvSpPr>
          <p:nvPr/>
        </p:nvSpPr>
        <p:spPr bwMode="auto">
          <a:xfrm>
            <a:off x="457200" y="3200400"/>
            <a:ext cx="4571196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3000" b="1" dirty="0">
                <a:solidFill>
                  <a:srgbClr val="000000"/>
                </a:solidFill>
                <a:latin typeface="Courier"/>
                <a:cs typeface="Courier"/>
              </a:rPr>
              <a:t>for </a:t>
            </a:r>
            <a:r>
              <a:rPr lang="en-US" sz="3000" b="1" dirty="0" err="1">
                <a:solidFill>
                  <a:srgbClr val="000000"/>
                </a:solidFill>
                <a:latin typeface="Courier"/>
                <a:cs typeface="Courier"/>
              </a:rPr>
              <a:t>i</a:t>
            </a:r>
            <a:r>
              <a:rPr lang="en-US" sz="3000" b="1" dirty="0">
                <a:solidFill>
                  <a:srgbClr val="000000"/>
                </a:solidFill>
                <a:latin typeface="Courier"/>
                <a:cs typeface="Courier"/>
              </a:rPr>
              <a:t> = 11, 20</a:t>
            </a:r>
          </a:p>
          <a:p>
            <a:pPr>
              <a:defRPr/>
            </a:pPr>
            <a:r>
              <a:rPr lang="en-US" sz="3000" b="1" dirty="0">
                <a:solidFill>
                  <a:srgbClr val="000000"/>
                </a:solidFill>
                <a:latin typeface="Courier"/>
                <a:cs typeface="Courier"/>
              </a:rPr>
              <a:t>  a[</a:t>
            </a:r>
            <a:r>
              <a:rPr lang="en-US" sz="3000" b="1" dirty="0" err="1">
                <a:solidFill>
                  <a:srgbClr val="000000"/>
                </a:solidFill>
                <a:latin typeface="Courier"/>
                <a:cs typeface="Courier"/>
              </a:rPr>
              <a:t>i</a:t>
            </a:r>
            <a:r>
              <a:rPr lang="en-US" sz="3000" b="1" dirty="0">
                <a:solidFill>
                  <a:srgbClr val="000000"/>
                </a:solidFill>
                <a:latin typeface="Courier"/>
                <a:cs typeface="Courier"/>
              </a:rPr>
              <a:t>] = a[i-1] + 3</a:t>
            </a:r>
          </a:p>
        </p:txBody>
      </p:sp>
      <p:sp>
        <p:nvSpPr>
          <p:cNvPr id="1947656" name="Text Box 8"/>
          <p:cNvSpPr txBox="1">
            <a:spLocks noChangeArrowheads="1"/>
          </p:cNvSpPr>
          <p:nvPr/>
        </p:nvSpPr>
        <p:spPr bwMode="auto">
          <a:xfrm>
            <a:off x="6189802" y="3453824"/>
            <a:ext cx="2496998" cy="5847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3200" b="1" dirty="0" smtClean="0">
                <a:solidFill>
                  <a:schemeClr val="hlink"/>
                </a:solidFill>
                <a:cs typeface="+mn-cs"/>
              </a:rPr>
              <a:t>NOT Parallel</a:t>
            </a:r>
            <a:r>
              <a:rPr lang="en-US" sz="3200" b="1" dirty="0">
                <a:solidFill>
                  <a:schemeClr val="hlink"/>
                </a:solidFill>
                <a:cs typeface="+mn-cs"/>
              </a:rPr>
              <a:t>?</a:t>
            </a:r>
            <a:r>
              <a:rPr lang="en-US" dirty="0">
                <a:cs typeface="+mn-cs"/>
              </a:rPr>
              <a:t> </a:t>
            </a:r>
          </a:p>
        </p:txBody>
      </p:sp>
      <p:sp>
        <p:nvSpPr>
          <p:cNvPr id="9" name="Rectangle 8"/>
          <p:cNvSpPr/>
          <p:nvPr/>
        </p:nvSpPr>
        <p:spPr>
          <a:xfrm>
            <a:off x="29678" y="852247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Box 7"/>
          <p:cNvSpPr txBox="1">
            <a:spLocks noChangeArrowheads="1"/>
          </p:cNvSpPr>
          <p:nvPr/>
        </p:nvSpPr>
        <p:spPr bwMode="auto">
          <a:xfrm>
            <a:off x="457200" y="5181600"/>
            <a:ext cx="4802066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3000" b="1" dirty="0">
                <a:latin typeface="Courier"/>
                <a:cs typeface="Courier"/>
              </a:rPr>
              <a:t>for </a:t>
            </a:r>
            <a:r>
              <a:rPr lang="en-US" sz="3000" b="1" dirty="0" err="1">
                <a:latin typeface="Courier"/>
                <a:cs typeface="Courier"/>
              </a:rPr>
              <a:t>i</a:t>
            </a:r>
            <a:r>
              <a:rPr lang="en-US" sz="3000" b="1" dirty="0">
                <a:latin typeface="Courier"/>
                <a:cs typeface="Courier"/>
              </a:rPr>
              <a:t> = 11, 20</a:t>
            </a:r>
          </a:p>
          <a:p>
            <a:pPr>
              <a:defRPr/>
            </a:pPr>
            <a:r>
              <a:rPr lang="en-US" sz="3000" b="1" dirty="0">
                <a:latin typeface="Courier"/>
                <a:cs typeface="Courier"/>
              </a:rPr>
              <a:t>  a[</a:t>
            </a:r>
            <a:r>
              <a:rPr lang="en-US" sz="3000" b="1" dirty="0" err="1">
                <a:latin typeface="Courier"/>
                <a:cs typeface="Courier"/>
              </a:rPr>
              <a:t>i</a:t>
            </a:r>
            <a:r>
              <a:rPr lang="en-US" sz="3000" b="1" dirty="0">
                <a:latin typeface="Courier"/>
                <a:cs typeface="Courier"/>
              </a:rPr>
              <a:t>] = a[i-10] + 3</a:t>
            </a:r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6318250" y="5410200"/>
            <a:ext cx="1745991" cy="5847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3200" b="1" dirty="0" smtClean="0">
                <a:solidFill>
                  <a:schemeClr val="hlink"/>
                </a:solidFill>
                <a:cs typeface="+mn-cs"/>
              </a:rPr>
              <a:t>Parallel ?</a:t>
            </a:r>
            <a:r>
              <a:rPr lang="en-US" dirty="0" smtClean="0">
                <a:cs typeface="+mn-cs"/>
              </a:rPr>
              <a:t> </a:t>
            </a:r>
            <a:endParaRPr lang="en-US" dirty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5247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132" y="53008"/>
            <a:ext cx="9074424" cy="785192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B80000"/>
                </a:solidFill>
              </a:rPr>
              <a:t>Dependence Analysis</a:t>
            </a:r>
            <a:endParaRPr lang="en-US" b="1" dirty="0">
              <a:solidFill>
                <a:srgbClr val="B8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36512" y="990600"/>
            <a:ext cx="9144068" cy="586740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sz="3000" dirty="0" smtClean="0"/>
              <a:t>A </a:t>
            </a:r>
            <a:r>
              <a:rPr lang="en-US" sz="3000" b="1" dirty="0" smtClean="0">
                <a:solidFill>
                  <a:srgbClr val="B80000"/>
                </a:solidFill>
              </a:rPr>
              <a:t>dependence</a:t>
            </a:r>
            <a:r>
              <a:rPr lang="en-US" sz="3000" dirty="0" smtClean="0">
                <a:solidFill>
                  <a:srgbClr val="B80000"/>
                </a:solidFill>
              </a:rPr>
              <a:t> </a:t>
            </a:r>
            <a:r>
              <a:rPr lang="en-US" sz="3000" dirty="0" smtClean="0"/>
              <a:t>is a </a:t>
            </a:r>
            <a:r>
              <a:rPr lang="en-US" sz="3000" b="1" dirty="0" smtClean="0">
                <a:solidFill>
                  <a:srgbClr val="2C14DE"/>
                </a:solidFill>
              </a:rPr>
              <a:t>relationship</a:t>
            </a:r>
            <a:r>
              <a:rPr lang="en-US" sz="3000" dirty="0" smtClean="0"/>
              <a:t> between </a:t>
            </a:r>
            <a:r>
              <a:rPr lang="en-US" sz="3000" b="1" dirty="0" smtClean="0">
                <a:solidFill>
                  <a:srgbClr val="2C14DE"/>
                </a:solidFill>
              </a:rPr>
              <a:t>2 computations </a:t>
            </a:r>
            <a:r>
              <a:rPr lang="en-US" sz="3000" dirty="0" smtClean="0"/>
              <a:t>that </a:t>
            </a:r>
            <a:r>
              <a:rPr lang="en-US" sz="3000" b="1" dirty="0" smtClean="0">
                <a:solidFill>
                  <a:srgbClr val="2C14DE"/>
                </a:solidFill>
              </a:rPr>
              <a:t>places constraints </a:t>
            </a:r>
            <a:r>
              <a:rPr lang="en-US" sz="3000" dirty="0" smtClean="0"/>
              <a:t>on their </a:t>
            </a:r>
            <a:r>
              <a:rPr lang="en-US" sz="3000" b="1" dirty="0" smtClean="0">
                <a:solidFill>
                  <a:srgbClr val="2C14DE"/>
                </a:solidFill>
              </a:rPr>
              <a:t>execution order</a:t>
            </a:r>
            <a:endParaRPr lang="en-US" sz="3000" b="1" dirty="0" smtClean="0"/>
          </a:p>
          <a:p>
            <a:endParaRPr lang="en-US" sz="3000" dirty="0" smtClean="0"/>
          </a:p>
          <a:p>
            <a:r>
              <a:rPr lang="en-US" b="1" dirty="0" smtClean="0">
                <a:solidFill>
                  <a:srgbClr val="B80000"/>
                </a:solidFill>
              </a:rPr>
              <a:t>Dependence analysis identifies</a:t>
            </a:r>
            <a:r>
              <a:rPr lang="en-US" b="1" dirty="0" smtClean="0">
                <a:solidFill>
                  <a:srgbClr val="000000"/>
                </a:solidFill>
              </a:rPr>
              <a:t> </a:t>
            </a:r>
            <a:r>
              <a:rPr lang="en-US" dirty="0" smtClean="0">
                <a:solidFill>
                  <a:srgbClr val="000000"/>
                </a:solidFill>
              </a:rPr>
              <a:t>these </a:t>
            </a:r>
            <a:r>
              <a:rPr lang="en-US" b="1" dirty="0" smtClean="0">
                <a:solidFill>
                  <a:srgbClr val="B80000"/>
                </a:solidFill>
              </a:rPr>
              <a:t>constraints</a:t>
            </a:r>
          </a:p>
          <a:p>
            <a:endParaRPr lang="en-US" dirty="0" smtClean="0">
              <a:solidFill>
                <a:srgbClr val="000000"/>
              </a:solidFill>
            </a:endParaRPr>
          </a:p>
          <a:p>
            <a:pPr algn="just"/>
            <a:r>
              <a:rPr lang="en-US" b="1" u="sng" dirty="0" smtClean="0">
                <a:solidFill>
                  <a:srgbClr val="2C14DE"/>
                </a:solidFill>
              </a:rPr>
              <a:t>Constraints</a:t>
            </a:r>
            <a:r>
              <a:rPr lang="en-US" dirty="0" smtClean="0"/>
              <a:t> </a:t>
            </a:r>
            <a:r>
              <a:rPr lang="en-US" dirty="0"/>
              <a:t>are used to </a:t>
            </a:r>
            <a:r>
              <a:rPr lang="en-US" b="1" dirty="0">
                <a:solidFill>
                  <a:srgbClr val="2C14DE"/>
                </a:solidFill>
              </a:rPr>
              <a:t>determine</a:t>
            </a:r>
            <a:r>
              <a:rPr lang="en-US" dirty="0"/>
              <a:t> whether a </a:t>
            </a:r>
            <a:r>
              <a:rPr lang="en-US" b="1" dirty="0">
                <a:solidFill>
                  <a:srgbClr val="2C14DE"/>
                </a:solidFill>
              </a:rPr>
              <a:t>particular transformation</a:t>
            </a:r>
            <a:r>
              <a:rPr lang="en-US" dirty="0"/>
              <a:t> can be </a:t>
            </a:r>
            <a:r>
              <a:rPr lang="en-US" b="1" dirty="0">
                <a:solidFill>
                  <a:srgbClr val="2C14DE"/>
                </a:solidFill>
              </a:rPr>
              <a:t>applied</a:t>
            </a:r>
            <a:r>
              <a:rPr lang="en-US" dirty="0"/>
              <a:t> without changing the </a:t>
            </a:r>
            <a:r>
              <a:rPr lang="en-US" dirty="0" smtClean="0"/>
              <a:t>computation’s </a:t>
            </a:r>
            <a:r>
              <a:rPr lang="en-US" b="1" dirty="0" smtClean="0">
                <a:solidFill>
                  <a:srgbClr val="2C14DE"/>
                </a:solidFill>
              </a:rPr>
              <a:t>semantics</a:t>
            </a:r>
            <a:endParaRPr lang="en-US" dirty="0" smtClean="0"/>
          </a:p>
          <a:p>
            <a:endParaRPr lang="en-US" dirty="0" smtClean="0"/>
          </a:p>
          <a:p>
            <a:r>
              <a:rPr lang="en-US" b="1" u="sng" dirty="0">
                <a:solidFill>
                  <a:srgbClr val="B80000"/>
                </a:solidFill>
              </a:rPr>
              <a:t>2 types of dependences</a:t>
            </a:r>
            <a:r>
              <a:rPr lang="en-US" dirty="0"/>
              <a:t>: </a:t>
            </a:r>
            <a:r>
              <a:rPr lang="en-US" b="1" dirty="0">
                <a:solidFill>
                  <a:srgbClr val="2C14DE"/>
                </a:solidFill>
              </a:rPr>
              <a:t>control</a:t>
            </a:r>
            <a:r>
              <a:rPr lang="en-US" dirty="0">
                <a:solidFill>
                  <a:srgbClr val="2C14DE"/>
                </a:solidFill>
              </a:rPr>
              <a:t> </a:t>
            </a:r>
            <a:r>
              <a:rPr lang="en-US" dirty="0"/>
              <a:t>and </a:t>
            </a:r>
            <a:r>
              <a:rPr lang="en-US" b="1" dirty="0">
                <a:solidFill>
                  <a:srgbClr val="2C14DE"/>
                </a:solidFill>
              </a:rPr>
              <a:t>data</a:t>
            </a:r>
            <a:r>
              <a:rPr lang="en-US" dirty="0"/>
              <a:t> </a:t>
            </a:r>
            <a:r>
              <a:rPr lang="en-US" dirty="0" smtClean="0"/>
              <a:t>dependences</a:t>
            </a:r>
            <a:r>
              <a:rPr lang="en-US" dirty="0"/>
              <a:t/>
            </a:r>
            <a:br>
              <a:rPr lang="en-US" dirty="0"/>
            </a:br>
            <a:endParaRPr lang="en-US" dirty="0" smtClean="0"/>
          </a:p>
          <a:p>
            <a:r>
              <a:rPr lang="en-US" b="1" i="1" dirty="0" smtClean="0"/>
              <a:t>Both </a:t>
            </a:r>
            <a:r>
              <a:rPr lang="en-US" b="1" i="1" dirty="0"/>
              <a:t>of them must be considered </a:t>
            </a:r>
            <a:r>
              <a:rPr lang="en-US" dirty="0"/>
              <a:t>when parallelizing programs. </a:t>
            </a:r>
          </a:p>
          <a:p>
            <a:endParaRPr lang="en-US" dirty="0"/>
          </a:p>
          <a:p>
            <a:endParaRPr lang="en-US" dirty="0">
              <a:solidFill>
                <a:srgbClr val="000000"/>
              </a:solidFill>
            </a:endParaRPr>
          </a:p>
          <a:p>
            <a:pPr marL="514350" indent="-514350">
              <a:buSzPct val="110000"/>
              <a:buFont typeface="+mj-lt"/>
              <a:buAutoNum type="arabicPeriod"/>
            </a:pPr>
            <a:endParaRPr lang="en-US" dirty="0" smtClean="0">
              <a:solidFill>
                <a:srgbClr val="2C14DE"/>
              </a:solidFill>
            </a:endParaRPr>
          </a:p>
          <a:p>
            <a:pPr marL="971550" lvl="1" indent="-514350">
              <a:buFont typeface="+mj-lt"/>
              <a:buAutoNum type="arabicPeriod"/>
            </a:pPr>
            <a:endParaRPr lang="en-US" dirty="0">
              <a:solidFill>
                <a:srgbClr val="2C14DE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9756" y="8382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033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132" y="53008"/>
            <a:ext cx="9074424" cy="861392"/>
          </a:xfrm>
        </p:spPr>
        <p:txBody>
          <a:bodyPr>
            <a:normAutofit/>
          </a:bodyPr>
          <a:lstStyle/>
          <a:p>
            <a:r>
              <a:rPr lang="en-US" sz="4000" b="1" dirty="0" smtClean="0">
                <a:solidFill>
                  <a:srgbClr val="B80000"/>
                </a:solidFill>
              </a:rPr>
              <a:t>Control Dependence</a:t>
            </a:r>
            <a:endParaRPr lang="en-US" sz="4000" b="1" dirty="0">
              <a:solidFill>
                <a:srgbClr val="B8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9144000" cy="582764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There is a </a:t>
            </a:r>
            <a:r>
              <a:rPr lang="en-US" b="1" dirty="0">
                <a:solidFill>
                  <a:srgbClr val="C00000"/>
                </a:solidFill>
              </a:rPr>
              <a:t>control dependence </a:t>
            </a:r>
            <a:r>
              <a:rPr lang="en-US" dirty="0"/>
              <a:t>between </a:t>
            </a:r>
            <a:r>
              <a:rPr lang="en-US" b="1" dirty="0">
                <a:solidFill>
                  <a:srgbClr val="2C14DE"/>
                </a:solidFill>
              </a:rPr>
              <a:t>S1</a:t>
            </a:r>
            <a:r>
              <a:rPr lang="en-US" dirty="0"/>
              <a:t> and </a:t>
            </a:r>
            <a:r>
              <a:rPr lang="en-US" b="1" dirty="0" smtClean="0">
                <a:solidFill>
                  <a:srgbClr val="2C14DE"/>
                </a:solidFill>
              </a:rPr>
              <a:t>S2,</a:t>
            </a:r>
            <a:r>
              <a:rPr lang="en-US" dirty="0" smtClean="0">
                <a:solidFill>
                  <a:srgbClr val="2C14DE"/>
                </a:solidFill>
              </a:rPr>
              <a:t>  </a:t>
            </a:r>
            <a:r>
              <a:rPr lang="en-US" dirty="0" smtClean="0"/>
              <a:t>when </a:t>
            </a:r>
            <a:r>
              <a:rPr lang="en-US" b="1" dirty="0">
                <a:solidFill>
                  <a:srgbClr val="2C14DE"/>
                </a:solidFill>
              </a:rPr>
              <a:t>S1</a:t>
            </a:r>
            <a:r>
              <a:rPr lang="en-US" dirty="0">
                <a:solidFill>
                  <a:srgbClr val="2C14DE"/>
                </a:solidFill>
              </a:rPr>
              <a:t> </a:t>
            </a:r>
            <a:r>
              <a:rPr lang="en-US" b="1" dirty="0"/>
              <a:t>determines whether </a:t>
            </a:r>
            <a:r>
              <a:rPr lang="en-US" b="1" dirty="0">
                <a:solidFill>
                  <a:srgbClr val="2C14DE"/>
                </a:solidFill>
              </a:rPr>
              <a:t>S2</a:t>
            </a:r>
            <a:r>
              <a:rPr lang="en-US" dirty="0">
                <a:solidFill>
                  <a:srgbClr val="2C14DE"/>
                </a:solidFill>
              </a:rPr>
              <a:t> </a:t>
            </a:r>
            <a:r>
              <a:rPr lang="en-US" b="1" u="sng" dirty="0">
                <a:solidFill>
                  <a:srgbClr val="FF0000"/>
                </a:solidFill>
              </a:rPr>
              <a:t>will be </a:t>
            </a:r>
            <a:r>
              <a:rPr lang="en-US" b="1" u="sng" dirty="0" smtClean="0">
                <a:solidFill>
                  <a:srgbClr val="FF0000"/>
                </a:solidFill>
              </a:rPr>
              <a:t>executed</a:t>
            </a:r>
            <a:r>
              <a:rPr lang="en-US" b="1" u="sng" dirty="0">
                <a:solidFill>
                  <a:srgbClr val="FF0000"/>
                </a:solidFill>
              </a:rPr>
              <a:t> </a:t>
            </a:r>
            <a:r>
              <a:rPr lang="en-US" b="1" u="sng" dirty="0" smtClean="0">
                <a:solidFill>
                  <a:srgbClr val="FF0000"/>
                </a:solidFill>
              </a:rPr>
              <a:t>or not </a:t>
            </a:r>
          </a:p>
          <a:p>
            <a:r>
              <a:rPr lang="en-US" b="1" dirty="0" smtClean="0"/>
              <a:t>Example: </a:t>
            </a:r>
            <a:endParaRPr lang="en-US" b="1" dirty="0"/>
          </a:p>
          <a:p>
            <a:endParaRPr lang="en-US" sz="2800" dirty="0"/>
          </a:p>
          <a:p>
            <a:endParaRPr lang="en-US" sz="3000" dirty="0"/>
          </a:p>
          <a:p>
            <a:endParaRPr lang="en-US" dirty="0"/>
          </a:p>
          <a:p>
            <a:pPr algn="just"/>
            <a:r>
              <a:rPr lang="en-US" dirty="0">
                <a:solidFill>
                  <a:srgbClr val="2C14DE"/>
                </a:solidFill>
              </a:rPr>
              <a:t>Executing </a:t>
            </a:r>
            <a:r>
              <a:rPr lang="en-US" b="1" dirty="0">
                <a:solidFill>
                  <a:srgbClr val="2C14DE"/>
                </a:solidFill>
              </a:rPr>
              <a:t>S2</a:t>
            </a:r>
            <a:r>
              <a:rPr lang="en-US" dirty="0">
                <a:solidFill>
                  <a:srgbClr val="2C14DE"/>
                </a:solidFill>
              </a:rPr>
              <a:t> </a:t>
            </a:r>
            <a:r>
              <a:rPr lang="en-US" dirty="0"/>
              <a:t>before </a:t>
            </a:r>
            <a:r>
              <a:rPr lang="en-US" b="1" dirty="0">
                <a:solidFill>
                  <a:srgbClr val="2C14DE"/>
                </a:solidFill>
              </a:rPr>
              <a:t>S1</a:t>
            </a:r>
            <a:r>
              <a:rPr lang="en-US" dirty="0"/>
              <a:t> could cause a </a:t>
            </a:r>
            <a:r>
              <a:rPr lang="en-US" b="1" dirty="0">
                <a:solidFill>
                  <a:srgbClr val="2C14DE"/>
                </a:solidFill>
              </a:rPr>
              <a:t>divide by zero </a:t>
            </a:r>
            <a:r>
              <a:rPr lang="en-US" dirty="0" smtClean="0"/>
              <a:t>exception (in this example). </a:t>
            </a:r>
          </a:p>
          <a:p>
            <a:r>
              <a:rPr lang="en-US" b="1" dirty="0">
                <a:solidFill>
                  <a:srgbClr val="2C14DE"/>
                </a:solidFill>
              </a:rPr>
              <a:t>S2 is conditional </a:t>
            </a:r>
            <a:r>
              <a:rPr lang="en-US" dirty="0"/>
              <a:t>upon the </a:t>
            </a:r>
            <a:r>
              <a:rPr lang="en-US" dirty="0">
                <a:solidFill>
                  <a:srgbClr val="2C14DE"/>
                </a:solidFill>
              </a:rPr>
              <a:t>execution</a:t>
            </a:r>
            <a:r>
              <a:rPr lang="en-US" dirty="0"/>
              <a:t> of the </a:t>
            </a:r>
            <a:r>
              <a:rPr lang="en-US" dirty="0">
                <a:solidFill>
                  <a:srgbClr val="2C14DE"/>
                </a:solidFill>
              </a:rPr>
              <a:t>branch in S1</a:t>
            </a:r>
            <a:r>
              <a:rPr lang="en-US" dirty="0"/>
              <a:t>. </a:t>
            </a:r>
          </a:p>
          <a:p>
            <a:endParaRPr lang="en-US" dirty="0">
              <a:solidFill>
                <a:srgbClr val="000000"/>
              </a:solidFill>
            </a:endParaRPr>
          </a:p>
          <a:p>
            <a:pPr marL="514350" indent="-514350">
              <a:buSzPct val="110000"/>
              <a:buFont typeface="+mj-lt"/>
              <a:buAutoNum type="arabicPeriod"/>
            </a:pPr>
            <a:endParaRPr lang="en-US" dirty="0" smtClean="0">
              <a:solidFill>
                <a:srgbClr val="2C14DE"/>
              </a:solidFill>
            </a:endParaRPr>
          </a:p>
          <a:p>
            <a:pPr marL="971550" lvl="1" indent="-514350">
              <a:buFont typeface="+mj-lt"/>
              <a:buAutoNum type="arabicPeriod"/>
            </a:pPr>
            <a:endParaRPr lang="en-US" dirty="0">
              <a:solidFill>
                <a:srgbClr val="2C14DE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9756" y="8686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r="27302"/>
          <a:stretch/>
        </p:blipFill>
        <p:spPr>
          <a:xfrm>
            <a:off x="2819400" y="2819400"/>
            <a:ext cx="3733800" cy="1253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823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132" y="53008"/>
            <a:ext cx="9110868" cy="785192"/>
          </a:xfrm>
        </p:spPr>
        <p:txBody>
          <a:bodyPr>
            <a:normAutofit/>
          </a:bodyPr>
          <a:lstStyle/>
          <a:p>
            <a:r>
              <a:rPr lang="en-US" sz="4000" b="1" dirty="0" smtClean="0">
                <a:solidFill>
                  <a:srgbClr val="B80000"/>
                </a:solidFill>
              </a:rPr>
              <a:t>Data Dependence</a:t>
            </a:r>
            <a:endParaRPr lang="en-US" sz="4000" b="1" dirty="0">
              <a:solidFill>
                <a:srgbClr val="B8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9144000" cy="5867400"/>
          </a:xfrm>
        </p:spPr>
        <p:txBody>
          <a:bodyPr>
            <a:normAutofit fontScale="40000" lnSpcReduction="20000"/>
          </a:bodyPr>
          <a:lstStyle/>
          <a:p>
            <a:pPr algn="just"/>
            <a:r>
              <a:rPr lang="en-US" sz="6500" dirty="0" smtClean="0"/>
              <a:t>Two </a:t>
            </a:r>
            <a:r>
              <a:rPr lang="en-US" sz="6500" b="1" dirty="0" smtClean="0">
                <a:solidFill>
                  <a:srgbClr val="2C14DE"/>
                </a:solidFill>
              </a:rPr>
              <a:t>statements</a:t>
            </a:r>
            <a:r>
              <a:rPr lang="en-US" sz="6500" dirty="0" smtClean="0"/>
              <a:t> have a </a:t>
            </a:r>
            <a:r>
              <a:rPr lang="en-US" sz="6500" b="1" dirty="0" smtClean="0">
                <a:solidFill>
                  <a:srgbClr val="C00000"/>
                </a:solidFill>
              </a:rPr>
              <a:t>data dependence </a:t>
            </a:r>
            <a:r>
              <a:rPr lang="en-US" sz="6500" dirty="0" smtClean="0"/>
              <a:t>if they </a:t>
            </a:r>
            <a:r>
              <a:rPr lang="en-US" sz="6500" b="1" dirty="0" smtClean="0">
                <a:solidFill>
                  <a:srgbClr val="2C14DE"/>
                </a:solidFill>
              </a:rPr>
              <a:t>cannot </a:t>
            </a:r>
            <a:r>
              <a:rPr lang="en-US" sz="6500" b="1" dirty="0">
                <a:solidFill>
                  <a:srgbClr val="2C14DE"/>
                </a:solidFill>
              </a:rPr>
              <a:t>be executed simultaneously</a:t>
            </a:r>
            <a:r>
              <a:rPr lang="en-US" sz="6500" dirty="0"/>
              <a:t> due to </a:t>
            </a:r>
            <a:r>
              <a:rPr lang="en-US" sz="6500" b="1" u="sng" dirty="0">
                <a:solidFill>
                  <a:srgbClr val="008000"/>
                </a:solidFill>
              </a:rPr>
              <a:t>conflicting uses </a:t>
            </a:r>
            <a:r>
              <a:rPr lang="en-US" sz="6500" b="1" u="sng" dirty="0"/>
              <a:t>of the </a:t>
            </a:r>
            <a:r>
              <a:rPr lang="en-US" sz="6500" b="1" u="sng" dirty="0">
                <a:solidFill>
                  <a:srgbClr val="008000"/>
                </a:solidFill>
              </a:rPr>
              <a:t>same data. </a:t>
            </a:r>
            <a:endParaRPr lang="en-US" sz="6500" b="1" u="sng" dirty="0" smtClean="0">
              <a:solidFill>
                <a:srgbClr val="008000"/>
              </a:solidFill>
            </a:endParaRPr>
          </a:p>
          <a:p>
            <a:endParaRPr lang="en-US" sz="6500" dirty="0"/>
          </a:p>
          <a:p>
            <a:r>
              <a:rPr lang="en-US" sz="6500" b="1" u="sng" dirty="0" smtClean="0">
                <a:solidFill>
                  <a:srgbClr val="2C14DE"/>
                </a:solidFill>
              </a:rPr>
              <a:t>Ensure</a:t>
            </a:r>
            <a:r>
              <a:rPr lang="en-US" sz="6500" b="1" dirty="0" smtClean="0"/>
              <a:t> that </a:t>
            </a:r>
            <a:r>
              <a:rPr lang="en-US" sz="6500" b="1" u="sng" dirty="0" smtClean="0">
                <a:solidFill>
                  <a:srgbClr val="2C14DE"/>
                </a:solidFill>
              </a:rPr>
              <a:t>data is produced </a:t>
            </a:r>
            <a:r>
              <a:rPr lang="en-US" sz="6500" b="1" u="sng" dirty="0" smtClean="0"/>
              <a:t>and </a:t>
            </a:r>
            <a:r>
              <a:rPr lang="en-US" sz="6500" b="1" u="sng" dirty="0" smtClean="0">
                <a:solidFill>
                  <a:srgbClr val="2C14DE"/>
                </a:solidFill>
              </a:rPr>
              <a:t>consumed</a:t>
            </a:r>
            <a:r>
              <a:rPr lang="en-US" sz="6500" b="1" u="sng" dirty="0" smtClean="0"/>
              <a:t> in the </a:t>
            </a:r>
            <a:r>
              <a:rPr lang="en-US" sz="6500" b="1" u="sng" dirty="0" smtClean="0">
                <a:solidFill>
                  <a:srgbClr val="2C14DE"/>
                </a:solidFill>
              </a:rPr>
              <a:t>right order</a:t>
            </a:r>
            <a:r>
              <a:rPr lang="en-US" sz="6500" b="1" dirty="0">
                <a:solidFill>
                  <a:srgbClr val="2C14DE"/>
                </a:solidFill>
              </a:rPr>
              <a:t>: </a:t>
            </a:r>
          </a:p>
          <a:p>
            <a:pPr marL="982663" lvl="1" indent="-352425">
              <a:buFont typeface="+mj-lt"/>
              <a:buAutoNum type="arabicPeriod"/>
            </a:pPr>
            <a:r>
              <a:rPr lang="en-US" sz="6500" dirty="0" smtClean="0">
                <a:solidFill>
                  <a:srgbClr val="2C14DE"/>
                </a:solidFill>
              </a:rPr>
              <a:t>do </a:t>
            </a:r>
            <a:r>
              <a:rPr lang="en-US" sz="6500" dirty="0">
                <a:solidFill>
                  <a:srgbClr val="2C14DE"/>
                </a:solidFill>
              </a:rPr>
              <a:t>not interchange </a:t>
            </a:r>
            <a:r>
              <a:rPr lang="en-US" sz="6500" b="1" dirty="0" smtClean="0">
                <a:solidFill>
                  <a:srgbClr val="B80000"/>
                </a:solidFill>
              </a:rPr>
              <a:t>loads</a:t>
            </a:r>
            <a:r>
              <a:rPr lang="en-US" sz="6500" dirty="0" smtClean="0"/>
              <a:t> </a:t>
            </a:r>
            <a:r>
              <a:rPr lang="en-US" sz="6500" dirty="0"/>
              <a:t>and </a:t>
            </a:r>
            <a:r>
              <a:rPr lang="en-US" sz="6500" b="1" dirty="0">
                <a:solidFill>
                  <a:srgbClr val="B80000"/>
                </a:solidFill>
              </a:rPr>
              <a:t>stores</a:t>
            </a:r>
            <a:r>
              <a:rPr lang="en-US" sz="6500" dirty="0"/>
              <a:t> to the </a:t>
            </a:r>
            <a:r>
              <a:rPr lang="en-US" sz="6500" dirty="0">
                <a:solidFill>
                  <a:srgbClr val="2C14DE"/>
                </a:solidFill>
              </a:rPr>
              <a:t>same location </a:t>
            </a:r>
            <a:endParaRPr lang="en-US" sz="6500" dirty="0" smtClean="0">
              <a:solidFill>
                <a:srgbClr val="2C14DE"/>
              </a:solidFill>
            </a:endParaRPr>
          </a:p>
          <a:p>
            <a:pPr marL="982663" lvl="1" indent="-352425">
              <a:buFont typeface="+mj-lt"/>
              <a:buAutoNum type="arabicPeriod"/>
            </a:pPr>
            <a:r>
              <a:rPr lang="en-US" sz="6500" b="1" dirty="0" smtClean="0">
                <a:solidFill>
                  <a:srgbClr val="2C14DE"/>
                </a:solidFill>
              </a:rPr>
              <a:t>two </a:t>
            </a:r>
            <a:r>
              <a:rPr lang="en-US" sz="6500" b="1" dirty="0">
                <a:solidFill>
                  <a:srgbClr val="2C14DE"/>
                </a:solidFill>
              </a:rPr>
              <a:t>stores</a:t>
            </a:r>
            <a:r>
              <a:rPr lang="en-US" sz="6500" b="1" dirty="0"/>
              <a:t> </a:t>
            </a:r>
            <a:r>
              <a:rPr lang="en-US" sz="6500" dirty="0"/>
              <a:t>take place in the </a:t>
            </a:r>
            <a:r>
              <a:rPr lang="en-US" sz="6500" b="1" dirty="0">
                <a:solidFill>
                  <a:srgbClr val="2C14DE"/>
                </a:solidFill>
              </a:rPr>
              <a:t>correct order </a:t>
            </a:r>
            <a:endParaRPr lang="en-US" sz="6500" b="1" dirty="0" smtClean="0">
              <a:solidFill>
                <a:srgbClr val="2C14DE"/>
              </a:solidFill>
            </a:endParaRPr>
          </a:p>
          <a:p>
            <a:pPr lvl="1"/>
            <a:endParaRPr lang="en-US" sz="5900" dirty="0" smtClean="0"/>
          </a:p>
          <a:p>
            <a:r>
              <a:rPr lang="en-US" sz="6500" b="1" dirty="0" smtClean="0">
                <a:solidFill>
                  <a:srgbClr val="B80000"/>
                </a:solidFill>
              </a:rPr>
              <a:t>Formally</a:t>
            </a:r>
            <a:r>
              <a:rPr lang="en-US" sz="6500" b="1" dirty="0">
                <a:solidFill>
                  <a:srgbClr val="B80000"/>
                </a:solidFill>
              </a:rPr>
              <a:t>: </a:t>
            </a:r>
          </a:p>
          <a:p>
            <a:pPr lvl="1"/>
            <a:r>
              <a:rPr lang="en-US" sz="6500" dirty="0"/>
              <a:t>There is a </a:t>
            </a:r>
            <a:r>
              <a:rPr lang="en-US" sz="6500" b="1" dirty="0">
                <a:solidFill>
                  <a:srgbClr val="B80000"/>
                </a:solidFill>
              </a:rPr>
              <a:t>data dependence from statement S1 to statement S2 (S2 depends on S1) </a:t>
            </a:r>
            <a:r>
              <a:rPr lang="en-US" sz="6500" dirty="0"/>
              <a:t>if: </a:t>
            </a:r>
            <a:endParaRPr lang="en-US" sz="6500" dirty="0" smtClean="0"/>
          </a:p>
          <a:p>
            <a:pPr lvl="2"/>
            <a:r>
              <a:rPr lang="en-US" sz="6500" dirty="0" smtClean="0">
                <a:solidFill>
                  <a:srgbClr val="2C14DE"/>
                </a:solidFill>
              </a:rPr>
              <a:t>Both</a:t>
            </a:r>
            <a:r>
              <a:rPr lang="en-US" sz="6500" dirty="0" smtClean="0"/>
              <a:t> statements </a:t>
            </a:r>
            <a:r>
              <a:rPr lang="en-US" sz="6500" b="1" dirty="0" smtClean="0">
                <a:solidFill>
                  <a:srgbClr val="2C14DE"/>
                </a:solidFill>
              </a:rPr>
              <a:t>access the </a:t>
            </a:r>
            <a:r>
              <a:rPr lang="en-US" sz="6500" b="1" u="sng" dirty="0" smtClean="0">
                <a:solidFill>
                  <a:srgbClr val="2C14DE"/>
                </a:solidFill>
              </a:rPr>
              <a:t>same memory location </a:t>
            </a:r>
            <a:r>
              <a:rPr lang="en-US" sz="6500" dirty="0" smtClean="0"/>
              <a:t>and </a:t>
            </a:r>
            <a:r>
              <a:rPr lang="en-US" sz="6500" u="sng" dirty="0" smtClean="0"/>
              <a:t>at least </a:t>
            </a:r>
            <a:r>
              <a:rPr lang="en-US" sz="6500" b="1" u="sng" dirty="0" smtClean="0">
                <a:solidFill>
                  <a:srgbClr val="2C14DE"/>
                </a:solidFill>
              </a:rPr>
              <a:t>one of them stores </a:t>
            </a:r>
            <a:r>
              <a:rPr lang="en-US" sz="6500" dirty="0" smtClean="0">
                <a:solidFill>
                  <a:srgbClr val="2C14DE"/>
                </a:solidFill>
              </a:rPr>
              <a:t>onto it</a:t>
            </a:r>
            <a:r>
              <a:rPr lang="en-US" sz="6500" dirty="0" smtClean="0"/>
              <a:t>, and </a:t>
            </a:r>
          </a:p>
          <a:p>
            <a:pPr lvl="2"/>
            <a:r>
              <a:rPr lang="en-US" sz="6500" dirty="0" smtClean="0"/>
              <a:t>There </a:t>
            </a:r>
            <a:r>
              <a:rPr lang="en-US" sz="6500" dirty="0"/>
              <a:t>is a </a:t>
            </a:r>
            <a:r>
              <a:rPr lang="en-US" sz="6500" b="1" dirty="0">
                <a:solidFill>
                  <a:srgbClr val="2C14DE"/>
                </a:solidFill>
              </a:rPr>
              <a:t>feasible run-time execution </a:t>
            </a:r>
            <a:r>
              <a:rPr lang="en-US" sz="6500" dirty="0"/>
              <a:t>path from </a:t>
            </a:r>
            <a:r>
              <a:rPr lang="en-US" sz="6500" b="1" dirty="0">
                <a:solidFill>
                  <a:srgbClr val="2C14DE"/>
                </a:solidFill>
              </a:rPr>
              <a:t>S1 to S2 </a:t>
            </a:r>
            <a:endParaRPr lang="en-US" sz="6500" b="1" dirty="0"/>
          </a:p>
          <a:p>
            <a:endParaRPr lang="en-US" sz="6500" dirty="0"/>
          </a:p>
          <a:p>
            <a:pPr marL="0" indent="0">
              <a:buNone/>
            </a:pPr>
            <a:endParaRPr lang="en-US" sz="6500" dirty="0">
              <a:solidFill>
                <a:srgbClr val="000000"/>
              </a:solidFill>
            </a:endParaRPr>
          </a:p>
          <a:p>
            <a:pPr marL="514350" indent="-514350">
              <a:buSzPct val="110000"/>
              <a:buFont typeface="+mj-lt"/>
              <a:buAutoNum type="arabicPeriod"/>
            </a:pPr>
            <a:endParaRPr lang="en-US" sz="6500" dirty="0" smtClean="0">
              <a:solidFill>
                <a:srgbClr val="2C14DE"/>
              </a:solidFill>
            </a:endParaRPr>
          </a:p>
          <a:p>
            <a:pPr marL="971550" lvl="1" indent="-514350">
              <a:buFont typeface="+mj-lt"/>
              <a:buAutoNum type="arabicPeriod"/>
            </a:pPr>
            <a:endParaRPr lang="en-US" dirty="0">
              <a:solidFill>
                <a:srgbClr val="2C14DE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9756" y="8686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817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131" y="53008"/>
            <a:ext cx="9064891" cy="785192"/>
          </a:xfrm>
        </p:spPr>
        <p:txBody>
          <a:bodyPr>
            <a:normAutofit/>
          </a:bodyPr>
          <a:lstStyle/>
          <a:p>
            <a:r>
              <a:rPr lang="en-US" sz="4000" b="1" dirty="0" smtClean="0">
                <a:solidFill>
                  <a:srgbClr val="B80000"/>
                </a:solidFill>
              </a:rPr>
              <a:t>Load/Store Classification</a:t>
            </a:r>
            <a:endParaRPr lang="en-US" sz="4000" b="1" dirty="0">
              <a:solidFill>
                <a:srgbClr val="B8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0223" y="8382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116" y="964006"/>
            <a:ext cx="7914276" cy="574306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580112" y="2276872"/>
            <a:ext cx="2232248" cy="7200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/>
              <a:t>This is a crucial dependence!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606915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0962" name="Text Box 2"/>
          <p:cNvSpPr txBox="1">
            <a:spLocks noChangeArrowheads="1"/>
          </p:cNvSpPr>
          <p:nvPr/>
        </p:nvSpPr>
        <p:spPr bwMode="auto">
          <a:xfrm>
            <a:off x="1965325" y="727075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endParaRPr lang="en-US" sz="2400">
              <a:latin typeface="Times New Roman" charset="0"/>
              <a:cs typeface="+mn-cs"/>
            </a:endParaRPr>
          </a:p>
        </p:txBody>
      </p:sp>
      <p:sp>
        <p:nvSpPr>
          <p:cNvPr id="1960963" name="Rectangle 3"/>
          <p:cNvSpPr>
            <a:spLocks noGrp="1" noRot="1" noChangeArrowheads="1"/>
          </p:cNvSpPr>
          <p:nvPr>
            <p:ph type="title"/>
          </p:nvPr>
        </p:nvSpPr>
        <p:spPr>
          <a:xfrm>
            <a:off x="30223" y="66035"/>
            <a:ext cx="9113777" cy="802646"/>
          </a:xfrm>
        </p:spPr>
        <p:txBody>
          <a:bodyPr/>
          <a:lstStyle/>
          <a:p>
            <a:pPr eaLnBrk="1" hangingPunct="1">
              <a:defRPr/>
            </a:pPr>
            <a:r>
              <a:rPr lang="en-US" sz="4000" b="1" dirty="0" smtClean="0">
                <a:solidFill>
                  <a:srgbClr val="B80000"/>
                </a:solidFill>
                <a:cs typeface="+mj-cs"/>
              </a:rPr>
              <a:t>Data Dependence of Scalar Variables</a:t>
            </a:r>
          </a:p>
        </p:txBody>
      </p:sp>
      <p:sp>
        <p:nvSpPr>
          <p:cNvPr id="196096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19571" y="1204512"/>
            <a:ext cx="4953000" cy="4525963"/>
          </a:xfrm>
        </p:spPr>
        <p:txBody>
          <a:bodyPr/>
          <a:lstStyle/>
          <a:p>
            <a:pPr eaLnBrk="1" hangingPunct="1">
              <a:defRPr/>
            </a:pPr>
            <a:r>
              <a:rPr lang="en-US" b="1" dirty="0" smtClean="0">
                <a:solidFill>
                  <a:srgbClr val="B80000"/>
                </a:solidFill>
                <a:cs typeface="+mn-cs"/>
              </a:rPr>
              <a:t>True/Flow dependence</a:t>
            </a:r>
          </a:p>
          <a:p>
            <a:pPr eaLnBrk="1" hangingPunct="1">
              <a:defRPr/>
            </a:pPr>
            <a:endParaRPr lang="en-US" dirty="0" smtClean="0">
              <a:cs typeface="+mn-cs"/>
            </a:endParaRPr>
          </a:p>
          <a:p>
            <a:pPr eaLnBrk="1" hangingPunct="1">
              <a:defRPr/>
            </a:pPr>
            <a:endParaRPr lang="en-US" dirty="0" smtClean="0">
              <a:cs typeface="+mn-cs"/>
            </a:endParaRPr>
          </a:p>
          <a:p>
            <a:pPr eaLnBrk="1" hangingPunct="1">
              <a:defRPr/>
            </a:pPr>
            <a:endParaRPr lang="en-US" dirty="0" smtClean="0">
              <a:cs typeface="+mn-cs"/>
            </a:endParaRPr>
          </a:p>
          <a:p>
            <a:pPr eaLnBrk="1" hangingPunct="1">
              <a:defRPr/>
            </a:pPr>
            <a:r>
              <a:rPr lang="en-US" b="1" dirty="0" smtClean="0">
                <a:solidFill>
                  <a:srgbClr val="B80000"/>
                </a:solidFill>
                <a:cs typeface="+mn-cs"/>
              </a:rPr>
              <a:t>Anti-dependence </a:t>
            </a:r>
          </a:p>
        </p:txBody>
      </p:sp>
      <p:sp>
        <p:nvSpPr>
          <p:cNvPr id="1960965" name="Text Box 5"/>
          <p:cNvSpPr txBox="1">
            <a:spLocks noChangeArrowheads="1"/>
          </p:cNvSpPr>
          <p:nvPr/>
        </p:nvSpPr>
        <p:spPr bwMode="auto">
          <a:xfrm>
            <a:off x="1691680" y="1835150"/>
            <a:ext cx="1143000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200" b="1" dirty="0">
                <a:cs typeface="+mn-cs"/>
              </a:rPr>
              <a:t>a </a:t>
            </a:r>
            <a:r>
              <a:rPr lang="en-US" sz="3200" b="1" dirty="0" smtClean="0">
                <a:cs typeface="+mn-cs"/>
              </a:rPr>
              <a:t> = </a:t>
            </a:r>
            <a:endParaRPr lang="en-US" sz="3200" b="1" dirty="0">
              <a:cs typeface="+mn-cs"/>
            </a:endParaRPr>
          </a:p>
          <a:p>
            <a:pPr>
              <a:defRPr/>
            </a:pPr>
            <a:r>
              <a:rPr lang="en-US" sz="3200" b="1" dirty="0">
                <a:cs typeface="+mn-cs"/>
              </a:rPr>
              <a:t>  </a:t>
            </a:r>
            <a:r>
              <a:rPr lang="en-US" sz="3200" b="1" dirty="0" smtClean="0">
                <a:cs typeface="+mn-cs"/>
              </a:rPr>
              <a:t>  </a:t>
            </a:r>
            <a:r>
              <a:rPr lang="en-US" sz="3200" b="1" dirty="0">
                <a:cs typeface="+mn-cs"/>
              </a:rPr>
              <a:t>= </a:t>
            </a:r>
            <a:r>
              <a:rPr lang="en-US" sz="3200" b="1" dirty="0" smtClean="0">
                <a:cs typeface="+mn-cs"/>
              </a:rPr>
              <a:t> a</a:t>
            </a:r>
            <a:endParaRPr lang="en-US" sz="3200" b="1" dirty="0">
              <a:cs typeface="+mn-cs"/>
            </a:endParaRPr>
          </a:p>
        </p:txBody>
      </p:sp>
      <p:sp>
        <p:nvSpPr>
          <p:cNvPr id="1960966" name="Text Box 6"/>
          <p:cNvSpPr txBox="1">
            <a:spLocks noChangeArrowheads="1"/>
          </p:cNvSpPr>
          <p:nvPr/>
        </p:nvSpPr>
        <p:spPr bwMode="auto">
          <a:xfrm>
            <a:off x="1691680" y="4149080"/>
            <a:ext cx="1148271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3200" b="1" dirty="0">
                <a:cs typeface="+mn-cs"/>
              </a:rPr>
              <a:t>   </a:t>
            </a:r>
            <a:r>
              <a:rPr lang="en-US" sz="3200" b="1" dirty="0" smtClean="0">
                <a:cs typeface="+mn-cs"/>
              </a:rPr>
              <a:t> =  a</a:t>
            </a:r>
            <a:endParaRPr lang="en-US" sz="3200" b="1" dirty="0">
              <a:cs typeface="+mn-cs"/>
            </a:endParaRPr>
          </a:p>
          <a:p>
            <a:pPr>
              <a:defRPr/>
            </a:pPr>
            <a:r>
              <a:rPr lang="en-US" sz="3200" b="1" dirty="0">
                <a:cs typeface="+mn-cs"/>
              </a:rPr>
              <a:t>a </a:t>
            </a:r>
            <a:r>
              <a:rPr lang="en-US" sz="3200" b="1" dirty="0" smtClean="0">
                <a:cs typeface="+mn-cs"/>
              </a:rPr>
              <a:t> = </a:t>
            </a:r>
            <a:endParaRPr lang="en-US" sz="3200" b="1" dirty="0">
              <a:cs typeface="+mn-cs"/>
            </a:endParaRPr>
          </a:p>
        </p:txBody>
      </p:sp>
      <p:sp>
        <p:nvSpPr>
          <p:cNvPr id="1960967" name="Rectangle 7"/>
          <p:cNvSpPr>
            <a:spLocks noChangeArrowheads="1"/>
          </p:cNvSpPr>
          <p:nvPr/>
        </p:nvSpPr>
        <p:spPr bwMode="auto">
          <a:xfrm>
            <a:off x="4968081" y="1142287"/>
            <a:ext cx="4237037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charset="0"/>
              <a:buChar char="n"/>
              <a:defRPr/>
            </a:pPr>
            <a:r>
              <a:rPr lang="en-US" sz="3200" dirty="0">
                <a:solidFill>
                  <a:srgbClr val="B8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/>
                <a:cs typeface="Calibri"/>
              </a:rPr>
              <a:t>Output dependence</a:t>
            </a:r>
          </a:p>
          <a:p>
            <a:pPr marL="342900" indent="-342900"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charset="0"/>
              <a:buChar char="n"/>
              <a:defRPr/>
            </a:pPr>
            <a:endParaRPr lang="en-US" sz="3200" dirty="0"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  <a:cs typeface="+mn-cs"/>
            </a:endParaRPr>
          </a:p>
          <a:p>
            <a:pPr marL="342900" indent="-342900"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charset="0"/>
              <a:buChar char="n"/>
              <a:defRPr/>
            </a:pPr>
            <a:endParaRPr lang="en-US" sz="3200" dirty="0"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  <a:cs typeface="+mn-cs"/>
            </a:endParaRPr>
          </a:p>
          <a:p>
            <a:pPr marL="342900" indent="-342900"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charset="0"/>
              <a:buChar char="n"/>
              <a:defRPr/>
            </a:pPr>
            <a:endParaRPr lang="en-US" sz="3200" dirty="0" smtClean="0">
              <a:effectLst>
                <a:outerShdw blurRad="38100" dist="38100" dir="2700000" algn="tl">
                  <a:srgbClr val="000000"/>
                </a:outerShdw>
              </a:effectLst>
              <a:latin typeface="Arial" charset="0"/>
              <a:cs typeface="+mn-cs"/>
            </a:endParaRPr>
          </a:p>
          <a:p>
            <a:pPr marL="342900" indent="-342900" eaLnBrk="1" hangingPunct="1">
              <a:spcBef>
                <a:spcPct val="20000"/>
              </a:spcBef>
              <a:buClr>
                <a:schemeClr val="hlink"/>
              </a:buClr>
              <a:buSzPct val="70000"/>
              <a:buFont typeface="Wingdings" charset="0"/>
              <a:buChar char="n"/>
              <a:defRPr/>
            </a:pPr>
            <a:r>
              <a:rPr lang="en-US" sz="3200" dirty="0" smtClean="0">
                <a:solidFill>
                  <a:srgbClr val="B8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+mn-cs"/>
              </a:rPr>
              <a:t>Input </a:t>
            </a:r>
            <a:r>
              <a:rPr lang="en-US" sz="3200" dirty="0">
                <a:solidFill>
                  <a:srgbClr val="B8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+mn-cs"/>
              </a:rPr>
              <a:t>dependence</a:t>
            </a:r>
          </a:p>
        </p:txBody>
      </p:sp>
      <p:sp>
        <p:nvSpPr>
          <p:cNvPr id="1960968" name="Text Box 8"/>
          <p:cNvSpPr txBox="1">
            <a:spLocks noChangeArrowheads="1"/>
          </p:cNvSpPr>
          <p:nvPr/>
        </p:nvSpPr>
        <p:spPr bwMode="auto">
          <a:xfrm>
            <a:off x="6657809" y="1799045"/>
            <a:ext cx="1066800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200" b="1" dirty="0">
                <a:cs typeface="+mn-cs"/>
              </a:rPr>
              <a:t>a </a:t>
            </a:r>
            <a:r>
              <a:rPr lang="en-US" sz="3200" b="1" dirty="0" smtClean="0">
                <a:cs typeface="+mn-cs"/>
              </a:rPr>
              <a:t> = </a:t>
            </a:r>
            <a:endParaRPr lang="en-US" sz="3200" b="1" dirty="0">
              <a:cs typeface="+mn-cs"/>
            </a:endParaRPr>
          </a:p>
          <a:p>
            <a:pPr>
              <a:defRPr/>
            </a:pPr>
            <a:r>
              <a:rPr lang="en-US" sz="3200" b="1" dirty="0" smtClean="0">
                <a:cs typeface="+mn-cs"/>
              </a:rPr>
              <a:t>a  </a:t>
            </a:r>
            <a:r>
              <a:rPr lang="en-US" sz="3200" b="1" dirty="0">
                <a:cs typeface="+mn-cs"/>
              </a:rPr>
              <a:t>= </a:t>
            </a:r>
          </a:p>
        </p:txBody>
      </p:sp>
      <p:sp>
        <p:nvSpPr>
          <p:cNvPr id="1960969" name="Text Box 9"/>
          <p:cNvSpPr txBox="1">
            <a:spLocks noChangeArrowheads="1"/>
          </p:cNvSpPr>
          <p:nvPr/>
        </p:nvSpPr>
        <p:spPr bwMode="auto">
          <a:xfrm>
            <a:off x="6605237" y="4149080"/>
            <a:ext cx="962723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3200" b="1" dirty="0">
                <a:cs typeface="+mn-cs"/>
              </a:rPr>
              <a:t>  = </a:t>
            </a:r>
            <a:r>
              <a:rPr lang="en-US" sz="3200" b="1" dirty="0" smtClean="0">
                <a:cs typeface="+mn-cs"/>
              </a:rPr>
              <a:t> a</a:t>
            </a:r>
            <a:endParaRPr lang="en-US" sz="3200" b="1" dirty="0">
              <a:cs typeface="+mn-cs"/>
            </a:endParaRPr>
          </a:p>
          <a:p>
            <a:pPr>
              <a:defRPr/>
            </a:pPr>
            <a:r>
              <a:rPr lang="en-US" sz="3200" b="1" dirty="0">
                <a:cs typeface="+mn-cs"/>
              </a:rPr>
              <a:t>  = </a:t>
            </a:r>
            <a:r>
              <a:rPr lang="en-US" sz="3200" b="1" dirty="0" smtClean="0">
                <a:cs typeface="+mn-cs"/>
              </a:rPr>
              <a:t> a</a:t>
            </a:r>
            <a:endParaRPr lang="en-US" sz="3200" b="1" dirty="0"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0223" y="8686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258823" y="5821237"/>
            <a:ext cx="88392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Tx/>
              <a:buChar char="-"/>
            </a:pPr>
            <a:r>
              <a:rPr lang="en-US" sz="3600" b="1" baseline="30000" dirty="0" smtClean="0"/>
              <a:t>Only </a:t>
            </a:r>
            <a:r>
              <a:rPr lang="en-US" sz="3600" b="1" baseline="30000" dirty="0"/>
              <a:t>data </a:t>
            </a:r>
            <a:r>
              <a:rPr lang="en-US" sz="3600" b="1" baseline="30000" dirty="0" smtClean="0">
                <a:solidFill>
                  <a:srgbClr val="2C14DE"/>
                </a:solidFill>
              </a:rPr>
              <a:t>flow dependences </a:t>
            </a:r>
            <a:r>
              <a:rPr lang="en-US" sz="3600" b="1" baseline="30000" dirty="0"/>
              <a:t>are </a:t>
            </a:r>
            <a:r>
              <a:rPr lang="en-US" sz="3600" b="1" baseline="30000" dirty="0">
                <a:solidFill>
                  <a:srgbClr val="C00000"/>
                </a:solidFill>
              </a:rPr>
              <a:t>true dependences. </a:t>
            </a:r>
            <a:endParaRPr lang="en-US" sz="3600" b="1" baseline="30000" dirty="0" smtClean="0">
              <a:solidFill>
                <a:srgbClr val="C00000"/>
              </a:solidFill>
            </a:endParaRPr>
          </a:p>
          <a:p>
            <a:pPr marL="457200" indent="-457200">
              <a:buFontTx/>
              <a:buChar char="-"/>
            </a:pPr>
            <a:r>
              <a:rPr lang="en-US" sz="3600" b="1" baseline="30000" dirty="0" smtClean="0">
                <a:solidFill>
                  <a:srgbClr val="2C14DE"/>
                </a:solidFill>
              </a:rPr>
              <a:t>Anti</a:t>
            </a:r>
            <a:r>
              <a:rPr lang="en-US" sz="3600" b="1" baseline="30000" dirty="0" smtClean="0"/>
              <a:t> </a:t>
            </a:r>
            <a:r>
              <a:rPr lang="en-US" sz="3600" b="1" baseline="30000" dirty="0"/>
              <a:t>and </a:t>
            </a:r>
            <a:r>
              <a:rPr lang="en-US" sz="3600" b="1" baseline="30000" dirty="0">
                <a:solidFill>
                  <a:srgbClr val="2C14DE"/>
                </a:solidFill>
              </a:rPr>
              <a:t>output</a:t>
            </a:r>
            <a:r>
              <a:rPr lang="en-US" sz="3600" b="1" baseline="30000" dirty="0"/>
              <a:t> can be </a:t>
            </a:r>
            <a:r>
              <a:rPr lang="en-US" sz="3600" b="1" u="sng" baseline="30000" dirty="0">
                <a:solidFill>
                  <a:srgbClr val="008000"/>
                </a:solidFill>
              </a:rPr>
              <a:t>removed </a:t>
            </a:r>
            <a:r>
              <a:rPr lang="en-US" sz="3600" b="1" u="sng" baseline="30000">
                <a:solidFill>
                  <a:srgbClr val="008000"/>
                </a:solidFill>
              </a:rPr>
              <a:t>by </a:t>
            </a:r>
            <a:r>
              <a:rPr lang="en-US" sz="3600" b="1" u="sng" baseline="30000" smtClean="0">
                <a:solidFill>
                  <a:srgbClr val="008000"/>
                </a:solidFill>
              </a:rPr>
              <a:t>renaming</a:t>
            </a:r>
            <a:endParaRPr lang="en-US" sz="3600" b="1" u="sng" dirty="0">
              <a:solidFill>
                <a:srgbClr val="008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9827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7835E6-67AF-764C-AC68-DC4BEDD97613}" type="slidenum">
              <a:rPr lang="en-US"/>
              <a:pPr>
                <a:defRPr/>
              </a:pPr>
              <a:t>11</a:t>
            </a:fld>
            <a:endParaRPr lang="en-US"/>
          </a:p>
        </p:txBody>
      </p:sp>
      <p:sp>
        <p:nvSpPr>
          <p:cNvPr id="1958914" name="Text Box 2"/>
          <p:cNvSpPr txBox="1">
            <a:spLocks noChangeArrowheads="1"/>
          </p:cNvSpPr>
          <p:nvPr/>
        </p:nvSpPr>
        <p:spPr bwMode="auto">
          <a:xfrm>
            <a:off x="1965325" y="727075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endParaRPr lang="en-US" sz="2400">
              <a:latin typeface="Times New Roman" charset="0"/>
              <a:cs typeface="+mn-cs"/>
            </a:endParaRPr>
          </a:p>
        </p:txBody>
      </p:sp>
      <p:sp>
        <p:nvSpPr>
          <p:cNvPr id="1958915" name="Rectangle 3"/>
          <p:cNvSpPr>
            <a:spLocks noGrp="1" noRot="1" noChangeArrowheads="1"/>
          </p:cNvSpPr>
          <p:nvPr>
            <p:ph type="title"/>
          </p:nvPr>
        </p:nvSpPr>
        <p:spPr>
          <a:xfrm>
            <a:off x="30223" y="76200"/>
            <a:ext cx="9113777" cy="792162"/>
          </a:xfrm>
        </p:spPr>
        <p:txBody>
          <a:bodyPr/>
          <a:lstStyle/>
          <a:p>
            <a:pPr eaLnBrk="1" hangingPunct="1">
              <a:defRPr/>
            </a:pPr>
            <a:r>
              <a:rPr lang="en-US" b="1" dirty="0" smtClean="0">
                <a:solidFill>
                  <a:srgbClr val="B80000"/>
                </a:solidFill>
                <a:cs typeface="+mj-cs"/>
              </a:rPr>
              <a:t>Array Accesses in a Loop</a:t>
            </a:r>
          </a:p>
        </p:txBody>
      </p:sp>
      <p:sp>
        <p:nvSpPr>
          <p:cNvPr id="1958923" name="Text Box 11"/>
          <p:cNvSpPr txBox="1">
            <a:spLocks noChangeArrowheads="1"/>
          </p:cNvSpPr>
          <p:nvPr/>
        </p:nvSpPr>
        <p:spPr bwMode="auto">
          <a:xfrm>
            <a:off x="152400" y="1056382"/>
            <a:ext cx="4953000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200" b="1" dirty="0">
                <a:latin typeface="Courier"/>
                <a:cs typeface="Courier"/>
              </a:rPr>
              <a:t>for </a:t>
            </a:r>
            <a:r>
              <a:rPr lang="en-US" sz="3200" b="1" dirty="0" err="1">
                <a:latin typeface="Courier"/>
                <a:cs typeface="Courier"/>
              </a:rPr>
              <a:t>i</a:t>
            </a:r>
            <a:r>
              <a:rPr lang="en-US" sz="3200" b="1" dirty="0">
                <a:latin typeface="Courier"/>
                <a:cs typeface="Courier"/>
              </a:rPr>
              <a:t>= 2, 5</a:t>
            </a:r>
          </a:p>
          <a:p>
            <a:pPr>
              <a:defRPr/>
            </a:pPr>
            <a:r>
              <a:rPr lang="en-US" sz="3200" b="1" dirty="0">
                <a:latin typeface="Courier"/>
                <a:cs typeface="Courier"/>
              </a:rPr>
              <a:t>  </a:t>
            </a:r>
            <a:r>
              <a:rPr lang="en-US" sz="3200" b="1" dirty="0" smtClean="0">
                <a:latin typeface="Courier"/>
                <a:cs typeface="Courier"/>
              </a:rPr>
              <a:t>  a</a:t>
            </a:r>
            <a:r>
              <a:rPr lang="en-US" sz="3200" b="1" dirty="0">
                <a:latin typeface="Courier"/>
                <a:cs typeface="Courier"/>
              </a:rPr>
              <a:t>[</a:t>
            </a:r>
            <a:r>
              <a:rPr lang="en-US" sz="3200" b="1" dirty="0" err="1">
                <a:latin typeface="Courier"/>
                <a:cs typeface="Courier"/>
              </a:rPr>
              <a:t>i</a:t>
            </a:r>
            <a:r>
              <a:rPr lang="en-US" sz="3200" b="1" dirty="0">
                <a:latin typeface="Courier"/>
                <a:cs typeface="Courier"/>
              </a:rPr>
              <a:t>] = a[</a:t>
            </a:r>
            <a:r>
              <a:rPr lang="en-US" sz="3200" b="1" dirty="0" err="1">
                <a:latin typeface="Courier"/>
                <a:cs typeface="Courier"/>
              </a:rPr>
              <a:t>i</a:t>
            </a:r>
            <a:r>
              <a:rPr lang="en-US" sz="3200" b="1" dirty="0">
                <a:latin typeface="Courier"/>
                <a:cs typeface="Courier"/>
              </a:rPr>
              <a:t>] + 3</a:t>
            </a:r>
          </a:p>
        </p:txBody>
      </p:sp>
      <p:sp>
        <p:nvSpPr>
          <p:cNvPr id="1958924" name="Oval 12"/>
          <p:cNvSpPr>
            <a:spLocks noChangeArrowheads="1"/>
          </p:cNvSpPr>
          <p:nvPr/>
        </p:nvSpPr>
        <p:spPr bwMode="auto">
          <a:xfrm>
            <a:off x="2017713" y="3090863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lang="en-US" sz="3200" b="1" dirty="0">
                <a:cs typeface="+mn-cs"/>
              </a:rPr>
              <a:t>a[2]</a:t>
            </a:r>
          </a:p>
        </p:txBody>
      </p:sp>
      <p:sp>
        <p:nvSpPr>
          <p:cNvPr id="1958925" name="Oval 13"/>
          <p:cNvSpPr>
            <a:spLocks noChangeArrowheads="1"/>
          </p:cNvSpPr>
          <p:nvPr/>
        </p:nvSpPr>
        <p:spPr bwMode="auto">
          <a:xfrm>
            <a:off x="2027238" y="482600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lang="en-US" sz="3200" b="1" dirty="0">
                <a:cs typeface="+mn-cs"/>
              </a:rPr>
              <a:t>a[2]</a:t>
            </a:r>
          </a:p>
        </p:txBody>
      </p:sp>
      <p:sp>
        <p:nvSpPr>
          <p:cNvPr id="1958926" name="Oval 14"/>
          <p:cNvSpPr>
            <a:spLocks noChangeArrowheads="1"/>
          </p:cNvSpPr>
          <p:nvPr/>
        </p:nvSpPr>
        <p:spPr bwMode="auto">
          <a:xfrm>
            <a:off x="1843088" y="2570163"/>
            <a:ext cx="1277937" cy="36703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1958927" name="Line 15"/>
          <p:cNvSpPr>
            <a:spLocks noChangeShapeType="1"/>
          </p:cNvSpPr>
          <p:nvPr/>
        </p:nvSpPr>
        <p:spPr bwMode="auto">
          <a:xfrm>
            <a:off x="2481263" y="4021138"/>
            <a:ext cx="0" cy="7969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grpSp>
        <p:nvGrpSpPr>
          <p:cNvPr id="18441" name="Group 28"/>
          <p:cNvGrpSpPr>
            <a:grpSpLocks/>
          </p:cNvGrpSpPr>
          <p:nvPr/>
        </p:nvGrpSpPr>
        <p:grpSpPr bwMode="auto">
          <a:xfrm>
            <a:off x="3562350" y="2593975"/>
            <a:ext cx="1277938" cy="3670300"/>
            <a:chOff x="2354" y="1634"/>
            <a:chExt cx="805" cy="2312"/>
          </a:xfrm>
        </p:grpSpPr>
        <p:sp>
          <p:nvSpPr>
            <p:cNvPr id="1958928" name="Oval 16"/>
            <p:cNvSpPr>
              <a:spLocks noChangeArrowheads="1"/>
            </p:cNvSpPr>
            <p:nvPr/>
          </p:nvSpPr>
          <p:spPr bwMode="auto">
            <a:xfrm>
              <a:off x="2464" y="1934"/>
              <a:ext cx="576" cy="57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3200" b="1" dirty="0">
                  <a:cs typeface="+mn-cs"/>
                </a:rPr>
                <a:t>a[3]</a:t>
              </a:r>
            </a:p>
          </p:txBody>
        </p:sp>
        <p:sp>
          <p:nvSpPr>
            <p:cNvPr id="1958929" name="Oval 17"/>
            <p:cNvSpPr>
              <a:spLocks noChangeArrowheads="1"/>
            </p:cNvSpPr>
            <p:nvPr/>
          </p:nvSpPr>
          <p:spPr bwMode="auto">
            <a:xfrm>
              <a:off x="2470" y="3027"/>
              <a:ext cx="576" cy="57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3200" b="1">
                  <a:cs typeface="+mn-cs"/>
                </a:rPr>
                <a:t>a[3]</a:t>
              </a:r>
            </a:p>
          </p:txBody>
        </p:sp>
        <p:sp>
          <p:nvSpPr>
            <p:cNvPr id="1958930" name="Oval 18"/>
            <p:cNvSpPr>
              <a:spLocks noChangeArrowheads="1"/>
            </p:cNvSpPr>
            <p:nvPr/>
          </p:nvSpPr>
          <p:spPr bwMode="auto">
            <a:xfrm>
              <a:off x="2354" y="1634"/>
              <a:ext cx="805" cy="231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1958931" name="Line 19"/>
            <p:cNvSpPr>
              <a:spLocks noChangeShapeType="1"/>
            </p:cNvSpPr>
            <p:nvPr/>
          </p:nvSpPr>
          <p:spPr bwMode="auto">
            <a:xfrm>
              <a:off x="2756" y="2520"/>
              <a:ext cx="0" cy="50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</p:grpSp>
      <p:grpSp>
        <p:nvGrpSpPr>
          <p:cNvPr id="18442" name="Group 29"/>
          <p:cNvGrpSpPr>
            <a:grpSpLocks/>
          </p:cNvGrpSpPr>
          <p:nvPr/>
        </p:nvGrpSpPr>
        <p:grpSpPr bwMode="auto">
          <a:xfrm>
            <a:off x="5319713" y="2593975"/>
            <a:ext cx="1277937" cy="3670300"/>
            <a:chOff x="3461" y="1615"/>
            <a:chExt cx="805" cy="2312"/>
          </a:xfrm>
        </p:grpSpPr>
        <p:sp>
          <p:nvSpPr>
            <p:cNvPr id="1958932" name="Oval 20"/>
            <p:cNvSpPr>
              <a:spLocks noChangeArrowheads="1"/>
            </p:cNvSpPr>
            <p:nvPr/>
          </p:nvSpPr>
          <p:spPr bwMode="auto">
            <a:xfrm>
              <a:off x="3571" y="1906"/>
              <a:ext cx="576" cy="57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3200" b="1">
                  <a:cs typeface="+mn-cs"/>
                </a:rPr>
                <a:t>a[4]</a:t>
              </a:r>
            </a:p>
          </p:txBody>
        </p:sp>
        <p:sp>
          <p:nvSpPr>
            <p:cNvPr id="1958933" name="Oval 21"/>
            <p:cNvSpPr>
              <a:spLocks noChangeArrowheads="1"/>
            </p:cNvSpPr>
            <p:nvPr/>
          </p:nvSpPr>
          <p:spPr bwMode="auto">
            <a:xfrm>
              <a:off x="3577" y="2999"/>
              <a:ext cx="576" cy="57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3200" b="1">
                  <a:cs typeface="+mn-cs"/>
                </a:rPr>
                <a:t>a[4]</a:t>
              </a:r>
            </a:p>
          </p:txBody>
        </p:sp>
        <p:sp>
          <p:nvSpPr>
            <p:cNvPr id="1958934" name="Oval 22"/>
            <p:cNvSpPr>
              <a:spLocks noChangeArrowheads="1"/>
            </p:cNvSpPr>
            <p:nvPr/>
          </p:nvSpPr>
          <p:spPr bwMode="auto">
            <a:xfrm>
              <a:off x="3461" y="1615"/>
              <a:ext cx="805" cy="231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1958935" name="Line 23"/>
            <p:cNvSpPr>
              <a:spLocks noChangeShapeType="1"/>
            </p:cNvSpPr>
            <p:nvPr/>
          </p:nvSpPr>
          <p:spPr bwMode="auto">
            <a:xfrm>
              <a:off x="3863" y="2492"/>
              <a:ext cx="0" cy="50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</p:grpSp>
      <p:grpSp>
        <p:nvGrpSpPr>
          <p:cNvPr id="18443" name="Group 30"/>
          <p:cNvGrpSpPr>
            <a:grpSpLocks/>
          </p:cNvGrpSpPr>
          <p:nvPr/>
        </p:nvGrpSpPr>
        <p:grpSpPr bwMode="auto">
          <a:xfrm>
            <a:off x="7046913" y="2592388"/>
            <a:ext cx="1277937" cy="3670300"/>
            <a:chOff x="4494" y="1569"/>
            <a:chExt cx="805" cy="2312"/>
          </a:xfrm>
        </p:grpSpPr>
        <p:sp>
          <p:nvSpPr>
            <p:cNvPr id="1958936" name="Oval 24"/>
            <p:cNvSpPr>
              <a:spLocks noChangeArrowheads="1"/>
            </p:cNvSpPr>
            <p:nvPr/>
          </p:nvSpPr>
          <p:spPr bwMode="auto">
            <a:xfrm>
              <a:off x="4604" y="1860"/>
              <a:ext cx="576" cy="57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3200" b="1">
                  <a:cs typeface="+mn-cs"/>
                </a:rPr>
                <a:t>a[5]</a:t>
              </a:r>
            </a:p>
          </p:txBody>
        </p:sp>
        <p:sp>
          <p:nvSpPr>
            <p:cNvPr id="1958937" name="Oval 25"/>
            <p:cNvSpPr>
              <a:spLocks noChangeArrowheads="1"/>
            </p:cNvSpPr>
            <p:nvPr/>
          </p:nvSpPr>
          <p:spPr bwMode="auto">
            <a:xfrm>
              <a:off x="4610" y="2953"/>
              <a:ext cx="576" cy="57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3200" b="1">
                  <a:cs typeface="+mn-cs"/>
                </a:rPr>
                <a:t>a[5]</a:t>
              </a:r>
            </a:p>
          </p:txBody>
        </p:sp>
        <p:sp>
          <p:nvSpPr>
            <p:cNvPr id="1958938" name="Oval 26"/>
            <p:cNvSpPr>
              <a:spLocks noChangeArrowheads="1"/>
            </p:cNvSpPr>
            <p:nvPr/>
          </p:nvSpPr>
          <p:spPr bwMode="auto">
            <a:xfrm>
              <a:off x="4494" y="1569"/>
              <a:ext cx="805" cy="231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1958939" name="Line 27"/>
            <p:cNvSpPr>
              <a:spLocks noChangeShapeType="1"/>
            </p:cNvSpPr>
            <p:nvPr/>
          </p:nvSpPr>
          <p:spPr bwMode="auto">
            <a:xfrm>
              <a:off x="4896" y="2446"/>
              <a:ext cx="0" cy="50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</p:grpSp>
      <p:sp>
        <p:nvSpPr>
          <p:cNvPr id="1958943" name="Text Box 31"/>
          <p:cNvSpPr txBox="1">
            <a:spLocks noChangeArrowheads="1"/>
          </p:cNvSpPr>
          <p:nvPr/>
        </p:nvSpPr>
        <p:spPr bwMode="auto">
          <a:xfrm>
            <a:off x="735013" y="3208338"/>
            <a:ext cx="9334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3200" b="1">
                <a:cs typeface="+mn-cs"/>
              </a:rPr>
              <a:t>read</a:t>
            </a:r>
          </a:p>
        </p:txBody>
      </p:sp>
      <p:sp>
        <p:nvSpPr>
          <p:cNvPr id="1958944" name="Text Box 32"/>
          <p:cNvSpPr txBox="1">
            <a:spLocks noChangeArrowheads="1"/>
          </p:cNvSpPr>
          <p:nvPr/>
        </p:nvSpPr>
        <p:spPr bwMode="auto">
          <a:xfrm>
            <a:off x="727075" y="5000625"/>
            <a:ext cx="104298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3200" b="1">
                <a:cs typeface="+mn-cs"/>
              </a:rPr>
              <a:t>write</a:t>
            </a:r>
          </a:p>
        </p:txBody>
      </p:sp>
      <p:sp>
        <p:nvSpPr>
          <p:cNvPr id="1958946" name="Line 34"/>
          <p:cNvSpPr>
            <a:spLocks noChangeShapeType="1"/>
          </p:cNvSpPr>
          <p:nvPr/>
        </p:nvSpPr>
        <p:spPr bwMode="auto">
          <a:xfrm flipV="1">
            <a:off x="2917825" y="3716338"/>
            <a:ext cx="841375" cy="14065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1958947" name="Line 35"/>
          <p:cNvSpPr>
            <a:spLocks noChangeShapeType="1"/>
          </p:cNvSpPr>
          <p:nvPr/>
        </p:nvSpPr>
        <p:spPr bwMode="auto">
          <a:xfrm flipV="1">
            <a:off x="4651375" y="3694113"/>
            <a:ext cx="841375" cy="14065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1958948" name="Line 36"/>
          <p:cNvSpPr>
            <a:spLocks noChangeShapeType="1"/>
          </p:cNvSpPr>
          <p:nvPr/>
        </p:nvSpPr>
        <p:spPr bwMode="auto">
          <a:xfrm flipV="1">
            <a:off x="6364288" y="3549650"/>
            <a:ext cx="841375" cy="14065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0223" y="8382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495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3010" name="Text Box 2"/>
          <p:cNvSpPr txBox="1">
            <a:spLocks noChangeArrowheads="1"/>
          </p:cNvSpPr>
          <p:nvPr/>
        </p:nvSpPr>
        <p:spPr bwMode="auto">
          <a:xfrm>
            <a:off x="1965325" y="727075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endParaRPr lang="en-US" sz="2400">
              <a:latin typeface="Times New Roman" charset="0"/>
              <a:cs typeface="+mn-cs"/>
            </a:endParaRPr>
          </a:p>
        </p:txBody>
      </p:sp>
      <p:sp>
        <p:nvSpPr>
          <p:cNvPr id="1963011" name="Rectangle 3"/>
          <p:cNvSpPr>
            <a:spLocks noGrp="1" noRot="1" noChangeArrowheads="1"/>
          </p:cNvSpPr>
          <p:nvPr>
            <p:ph type="title"/>
          </p:nvPr>
        </p:nvSpPr>
        <p:spPr>
          <a:xfrm>
            <a:off x="30223" y="17462"/>
            <a:ext cx="9113777" cy="801689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b="1" dirty="0" smtClean="0">
                <a:solidFill>
                  <a:srgbClr val="B80000"/>
                </a:solidFill>
                <a:cs typeface="+mj-cs"/>
              </a:rPr>
              <a:t>Array Anti-dependence</a:t>
            </a:r>
          </a:p>
        </p:txBody>
      </p:sp>
      <p:sp>
        <p:nvSpPr>
          <p:cNvPr id="1963012" name="Text Box 4"/>
          <p:cNvSpPr txBox="1">
            <a:spLocks noChangeArrowheads="1"/>
          </p:cNvSpPr>
          <p:nvPr/>
        </p:nvSpPr>
        <p:spPr bwMode="auto">
          <a:xfrm>
            <a:off x="304800" y="1066800"/>
            <a:ext cx="5105400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200" b="1" dirty="0">
                <a:latin typeface="Courier"/>
                <a:cs typeface="Courier"/>
              </a:rPr>
              <a:t>for </a:t>
            </a:r>
            <a:r>
              <a:rPr lang="en-US" sz="3200" b="1" dirty="0" err="1">
                <a:latin typeface="Courier"/>
                <a:cs typeface="Courier"/>
              </a:rPr>
              <a:t>i</a:t>
            </a:r>
            <a:r>
              <a:rPr lang="en-US" sz="3200" b="1" dirty="0">
                <a:latin typeface="Courier"/>
                <a:cs typeface="Courier"/>
              </a:rPr>
              <a:t>= 2, 5</a:t>
            </a:r>
          </a:p>
          <a:p>
            <a:pPr>
              <a:defRPr/>
            </a:pPr>
            <a:r>
              <a:rPr lang="en-US" sz="3200" b="1" dirty="0">
                <a:latin typeface="Courier"/>
                <a:cs typeface="Courier"/>
              </a:rPr>
              <a:t>  a[i-2] = a[</a:t>
            </a:r>
            <a:r>
              <a:rPr lang="en-US" sz="3200" b="1" dirty="0" err="1">
                <a:latin typeface="Courier"/>
                <a:cs typeface="Courier"/>
              </a:rPr>
              <a:t>i</a:t>
            </a:r>
            <a:r>
              <a:rPr lang="en-US" sz="3200" b="1" dirty="0">
                <a:latin typeface="Courier"/>
                <a:cs typeface="Courier"/>
              </a:rPr>
              <a:t>] + 3</a:t>
            </a:r>
          </a:p>
        </p:txBody>
      </p:sp>
      <p:sp>
        <p:nvSpPr>
          <p:cNvPr id="1963013" name="Oval 5"/>
          <p:cNvSpPr>
            <a:spLocks noChangeArrowheads="1"/>
          </p:cNvSpPr>
          <p:nvPr/>
        </p:nvSpPr>
        <p:spPr bwMode="auto">
          <a:xfrm>
            <a:off x="2017713" y="3090863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lang="en-US" sz="3200" b="1" dirty="0">
                <a:cs typeface="+mn-cs"/>
              </a:rPr>
              <a:t>a[2]</a:t>
            </a:r>
          </a:p>
        </p:txBody>
      </p:sp>
      <p:sp>
        <p:nvSpPr>
          <p:cNvPr id="1963014" name="Oval 6"/>
          <p:cNvSpPr>
            <a:spLocks noChangeArrowheads="1"/>
          </p:cNvSpPr>
          <p:nvPr/>
        </p:nvSpPr>
        <p:spPr bwMode="auto">
          <a:xfrm>
            <a:off x="2027238" y="482600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lang="en-US" sz="3200" b="1" dirty="0">
                <a:cs typeface="+mn-cs"/>
              </a:rPr>
              <a:t>a[0]</a:t>
            </a:r>
          </a:p>
        </p:txBody>
      </p:sp>
      <p:sp>
        <p:nvSpPr>
          <p:cNvPr id="1963015" name="Oval 7"/>
          <p:cNvSpPr>
            <a:spLocks noChangeArrowheads="1"/>
          </p:cNvSpPr>
          <p:nvPr/>
        </p:nvSpPr>
        <p:spPr bwMode="auto">
          <a:xfrm>
            <a:off x="1843088" y="2570163"/>
            <a:ext cx="1277937" cy="36703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1963016" name="Line 8"/>
          <p:cNvSpPr>
            <a:spLocks noChangeShapeType="1"/>
          </p:cNvSpPr>
          <p:nvPr/>
        </p:nvSpPr>
        <p:spPr bwMode="auto">
          <a:xfrm>
            <a:off x="2481263" y="4021138"/>
            <a:ext cx="0" cy="7969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grpSp>
        <p:nvGrpSpPr>
          <p:cNvPr id="20489" name="Group 9"/>
          <p:cNvGrpSpPr>
            <a:grpSpLocks/>
          </p:cNvGrpSpPr>
          <p:nvPr/>
        </p:nvGrpSpPr>
        <p:grpSpPr bwMode="auto">
          <a:xfrm>
            <a:off x="3562350" y="2593975"/>
            <a:ext cx="1277938" cy="3670300"/>
            <a:chOff x="2354" y="1634"/>
            <a:chExt cx="805" cy="2312"/>
          </a:xfrm>
        </p:grpSpPr>
        <p:sp>
          <p:nvSpPr>
            <p:cNvPr id="1963018" name="Oval 10"/>
            <p:cNvSpPr>
              <a:spLocks noChangeArrowheads="1"/>
            </p:cNvSpPr>
            <p:nvPr/>
          </p:nvSpPr>
          <p:spPr bwMode="auto">
            <a:xfrm>
              <a:off x="2464" y="1934"/>
              <a:ext cx="576" cy="57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3200" b="1" dirty="0">
                  <a:cs typeface="+mn-cs"/>
                </a:rPr>
                <a:t>a[3]</a:t>
              </a:r>
            </a:p>
          </p:txBody>
        </p:sp>
        <p:sp>
          <p:nvSpPr>
            <p:cNvPr id="1963019" name="Oval 11"/>
            <p:cNvSpPr>
              <a:spLocks noChangeArrowheads="1"/>
            </p:cNvSpPr>
            <p:nvPr/>
          </p:nvSpPr>
          <p:spPr bwMode="auto">
            <a:xfrm>
              <a:off x="2470" y="3027"/>
              <a:ext cx="576" cy="57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3200" b="1" dirty="0">
                  <a:cs typeface="+mn-cs"/>
                </a:rPr>
                <a:t>a[1]</a:t>
              </a:r>
            </a:p>
          </p:txBody>
        </p:sp>
        <p:sp>
          <p:nvSpPr>
            <p:cNvPr id="1963020" name="Oval 12"/>
            <p:cNvSpPr>
              <a:spLocks noChangeArrowheads="1"/>
            </p:cNvSpPr>
            <p:nvPr/>
          </p:nvSpPr>
          <p:spPr bwMode="auto">
            <a:xfrm>
              <a:off x="2354" y="1634"/>
              <a:ext cx="805" cy="231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1963021" name="Line 13"/>
            <p:cNvSpPr>
              <a:spLocks noChangeShapeType="1"/>
            </p:cNvSpPr>
            <p:nvPr/>
          </p:nvSpPr>
          <p:spPr bwMode="auto">
            <a:xfrm>
              <a:off x="2756" y="2520"/>
              <a:ext cx="0" cy="50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</p:grpSp>
      <p:grpSp>
        <p:nvGrpSpPr>
          <p:cNvPr id="20490" name="Group 14"/>
          <p:cNvGrpSpPr>
            <a:grpSpLocks/>
          </p:cNvGrpSpPr>
          <p:nvPr/>
        </p:nvGrpSpPr>
        <p:grpSpPr bwMode="auto">
          <a:xfrm>
            <a:off x="5319713" y="2593975"/>
            <a:ext cx="1277937" cy="3670300"/>
            <a:chOff x="3461" y="1615"/>
            <a:chExt cx="805" cy="2312"/>
          </a:xfrm>
        </p:grpSpPr>
        <p:sp>
          <p:nvSpPr>
            <p:cNvPr id="1963023" name="Oval 15"/>
            <p:cNvSpPr>
              <a:spLocks noChangeArrowheads="1"/>
            </p:cNvSpPr>
            <p:nvPr/>
          </p:nvSpPr>
          <p:spPr bwMode="auto">
            <a:xfrm>
              <a:off x="3571" y="1906"/>
              <a:ext cx="576" cy="57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3200" b="1" dirty="0">
                  <a:cs typeface="+mn-cs"/>
                </a:rPr>
                <a:t>a[4]</a:t>
              </a:r>
            </a:p>
          </p:txBody>
        </p:sp>
        <p:sp>
          <p:nvSpPr>
            <p:cNvPr id="1963024" name="Oval 16"/>
            <p:cNvSpPr>
              <a:spLocks noChangeArrowheads="1"/>
            </p:cNvSpPr>
            <p:nvPr/>
          </p:nvSpPr>
          <p:spPr bwMode="auto">
            <a:xfrm>
              <a:off x="3577" y="2999"/>
              <a:ext cx="576" cy="57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3200" b="1" dirty="0">
                  <a:cs typeface="+mn-cs"/>
                </a:rPr>
                <a:t>a[2]</a:t>
              </a:r>
            </a:p>
          </p:txBody>
        </p:sp>
        <p:sp>
          <p:nvSpPr>
            <p:cNvPr id="1963025" name="Oval 17"/>
            <p:cNvSpPr>
              <a:spLocks noChangeArrowheads="1"/>
            </p:cNvSpPr>
            <p:nvPr/>
          </p:nvSpPr>
          <p:spPr bwMode="auto">
            <a:xfrm>
              <a:off x="3461" y="1615"/>
              <a:ext cx="805" cy="231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1963026" name="Line 18"/>
            <p:cNvSpPr>
              <a:spLocks noChangeShapeType="1"/>
            </p:cNvSpPr>
            <p:nvPr/>
          </p:nvSpPr>
          <p:spPr bwMode="auto">
            <a:xfrm>
              <a:off x="3863" y="2492"/>
              <a:ext cx="0" cy="50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</p:grpSp>
      <p:grpSp>
        <p:nvGrpSpPr>
          <p:cNvPr id="20491" name="Group 19"/>
          <p:cNvGrpSpPr>
            <a:grpSpLocks/>
          </p:cNvGrpSpPr>
          <p:nvPr/>
        </p:nvGrpSpPr>
        <p:grpSpPr bwMode="auto">
          <a:xfrm>
            <a:off x="7046913" y="2592388"/>
            <a:ext cx="1277937" cy="3670300"/>
            <a:chOff x="4494" y="1569"/>
            <a:chExt cx="805" cy="2312"/>
          </a:xfrm>
        </p:grpSpPr>
        <p:sp>
          <p:nvSpPr>
            <p:cNvPr id="1963028" name="Oval 20"/>
            <p:cNvSpPr>
              <a:spLocks noChangeArrowheads="1"/>
            </p:cNvSpPr>
            <p:nvPr/>
          </p:nvSpPr>
          <p:spPr bwMode="auto">
            <a:xfrm>
              <a:off x="4604" y="1860"/>
              <a:ext cx="576" cy="57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3200" b="1">
                  <a:cs typeface="+mn-cs"/>
                </a:rPr>
                <a:t>a[5]</a:t>
              </a:r>
            </a:p>
          </p:txBody>
        </p:sp>
        <p:sp>
          <p:nvSpPr>
            <p:cNvPr id="1963029" name="Oval 21"/>
            <p:cNvSpPr>
              <a:spLocks noChangeArrowheads="1"/>
            </p:cNvSpPr>
            <p:nvPr/>
          </p:nvSpPr>
          <p:spPr bwMode="auto">
            <a:xfrm>
              <a:off x="4610" y="2953"/>
              <a:ext cx="576" cy="57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3200" b="1">
                  <a:cs typeface="+mn-cs"/>
                </a:rPr>
                <a:t>a[3]</a:t>
              </a:r>
            </a:p>
          </p:txBody>
        </p:sp>
        <p:sp>
          <p:nvSpPr>
            <p:cNvPr id="1963030" name="Oval 22"/>
            <p:cNvSpPr>
              <a:spLocks noChangeArrowheads="1"/>
            </p:cNvSpPr>
            <p:nvPr/>
          </p:nvSpPr>
          <p:spPr bwMode="auto">
            <a:xfrm>
              <a:off x="4494" y="1569"/>
              <a:ext cx="805" cy="231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1963031" name="Line 23"/>
            <p:cNvSpPr>
              <a:spLocks noChangeShapeType="1"/>
            </p:cNvSpPr>
            <p:nvPr/>
          </p:nvSpPr>
          <p:spPr bwMode="auto">
            <a:xfrm>
              <a:off x="4896" y="2446"/>
              <a:ext cx="0" cy="50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</p:grpSp>
      <p:sp>
        <p:nvSpPr>
          <p:cNvPr id="1963032" name="Text Box 24"/>
          <p:cNvSpPr txBox="1">
            <a:spLocks noChangeArrowheads="1"/>
          </p:cNvSpPr>
          <p:nvPr/>
        </p:nvSpPr>
        <p:spPr bwMode="auto">
          <a:xfrm>
            <a:off x="735013" y="3208338"/>
            <a:ext cx="9334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3200" b="1">
                <a:cs typeface="+mn-cs"/>
              </a:rPr>
              <a:t>read</a:t>
            </a:r>
          </a:p>
        </p:txBody>
      </p:sp>
      <p:sp>
        <p:nvSpPr>
          <p:cNvPr id="1963033" name="Text Box 25"/>
          <p:cNvSpPr txBox="1">
            <a:spLocks noChangeArrowheads="1"/>
          </p:cNvSpPr>
          <p:nvPr/>
        </p:nvSpPr>
        <p:spPr bwMode="auto">
          <a:xfrm>
            <a:off x="727075" y="5000625"/>
            <a:ext cx="104298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3200" b="1">
                <a:cs typeface="+mn-cs"/>
              </a:rPr>
              <a:t>write</a:t>
            </a:r>
          </a:p>
        </p:txBody>
      </p:sp>
      <p:sp>
        <p:nvSpPr>
          <p:cNvPr id="1963034" name="Line 26"/>
          <p:cNvSpPr>
            <a:spLocks noChangeShapeType="1"/>
          </p:cNvSpPr>
          <p:nvPr/>
        </p:nvSpPr>
        <p:spPr bwMode="auto">
          <a:xfrm flipV="1">
            <a:off x="2917825" y="3716338"/>
            <a:ext cx="841375" cy="14065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1963035" name="Line 27"/>
          <p:cNvSpPr>
            <a:spLocks noChangeShapeType="1"/>
          </p:cNvSpPr>
          <p:nvPr/>
        </p:nvSpPr>
        <p:spPr bwMode="auto">
          <a:xfrm flipV="1">
            <a:off x="4651375" y="3694113"/>
            <a:ext cx="841375" cy="14065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1963036" name="Line 28"/>
          <p:cNvSpPr>
            <a:spLocks noChangeShapeType="1"/>
          </p:cNvSpPr>
          <p:nvPr/>
        </p:nvSpPr>
        <p:spPr bwMode="auto">
          <a:xfrm flipV="1">
            <a:off x="6364288" y="3549650"/>
            <a:ext cx="841375" cy="14065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0223" y="8382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689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5058" name="Text Box 2"/>
          <p:cNvSpPr txBox="1">
            <a:spLocks noChangeArrowheads="1"/>
          </p:cNvSpPr>
          <p:nvPr/>
        </p:nvSpPr>
        <p:spPr bwMode="auto">
          <a:xfrm>
            <a:off x="1965325" y="727075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endParaRPr lang="en-US" sz="2400">
              <a:latin typeface="Times New Roman" charset="0"/>
              <a:cs typeface="+mn-cs"/>
            </a:endParaRPr>
          </a:p>
        </p:txBody>
      </p:sp>
      <p:sp>
        <p:nvSpPr>
          <p:cNvPr id="1965059" name="Rectangle 3"/>
          <p:cNvSpPr>
            <a:spLocks noGrp="1" noRot="1" noChangeArrowheads="1"/>
          </p:cNvSpPr>
          <p:nvPr>
            <p:ph type="title"/>
          </p:nvPr>
        </p:nvSpPr>
        <p:spPr>
          <a:xfrm>
            <a:off x="0" y="17462"/>
            <a:ext cx="9098023" cy="8128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b="1" dirty="0" smtClean="0">
                <a:solidFill>
                  <a:srgbClr val="B80000"/>
                </a:solidFill>
                <a:cs typeface="+mj-cs"/>
              </a:rPr>
              <a:t>Array True-dependence</a:t>
            </a:r>
          </a:p>
        </p:txBody>
      </p:sp>
      <p:sp>
        <p:nvSpPr>
          <p:cNvPr id="1965060" name="Text Box 4"/>
          <p:cNvSpPr txBox="1">
            <a:spLocks noChangeArrowheads="1"/>
          </p:cNvSpPr>
          <p:nvPr/>
        </p:nvSpPr>
        <p:spPr bwMode="auto">
          <a:xfrm>
            <a:off x="228600" y="1056382"/>
            <a:ext cx="4876800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200" b="1" dirty="0">
                <a:latin typeface="Courier"/>
                <a:cs typeface="Courier"/>
              </a:rPr>
              <a:t>for </a:t>
            </a:r>
            <a:r>
              <a:rPr lang="en-US" sz="3200" b="1" dirty="0" err="1">
                <a:latin typeface="Courier"/>
                <a:cs typeface="Courier"/>
              </a:rPr>
              <a:t>i</a:t>
            </a:r>
            <a:r>
              <a:rPr lang="en-US" sz="3200" b="1" dirty="0">
                <a:latin typeface="Courier"/>
                <a:cs typeface="Courier"/>
              </a:rPr>
              <a:t>= 2, 5</a:t>
            </a:r>
          </a:p>
          <a:p>
            <a:pPr>
              <a:defRPr/>
            </a:pPr>
            <a:r>
              <a:rPr lang="en-US" sz="3200" b="1" dirty="0">
                <a:latin typeface="Courier"/>
                <a:cs typeface="Courier"/>
              </a:rPr>
              <a:t>  a[</a:t>
            </a:r>
            <a:r>
              <a:rPr lang="en-US" sz="3200" b="1" dirty="0" err="1">
                <a:latin typeface="Courier"/>
                <a:cs typeface="Courier"/>
              </a:rPr>
              <a:t>i</a:t>
            </a:r>
            <a:r>
              <a:rPr lang="en-US" sz="3200" b="1" dirty="0">
                <a:latin typeface="Courier"/>
                <a:cs typeface="Courier"/>
              </a:rPr>
              <a:t>] = a[i-2] + 3</a:t>
            </a:r>
          </a:p>
        </p:txBody>
      </p:sp>
      <p:sp>
        <p:nvSpPr>
          <p:cNvPr id="1965061" name="Oval 5"/>
          <p:cNvSpPr>
            <a:spLocks noChangeArrowheads="1"/>
          </p:cNvSpPr>
          <p:nvPr/>
        </p:nvSpPr>
        <p:spPr bwMode="auto">
          <a:xfrm>
            <a:off x="2017713" y="3090863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lang="en-US" sz="3200" b="1">
                <a:cs typeface="+mn-cs"/>
              </a:rPr>
              <a:t>a[0]</a:t>
            </a:r>
          </a:p>
        </p:txBody>
      </p:sp>
      <p:sp>
        <p:nvSpPr>
          <p:cNvPr id="1965062" name="Oval 6"/>
          <p:cNvSpPr>
            <a:spLocks noChangeArrowheads="1"/>
          </p:cNvSpPr>
          <p:nvPr/>
        </p:nvSpPr>
        <p:spPr bwMode="auto">
          <a:xfrm>
            <a:off x="2027238" y="4826000"/>
            <a:ext cx="914400" cy="914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r>
              <a:rPr lang="en-US" sz="3200" b="1" dirty="0">
                <a:cs typeface="+mn-cs"/>
              </a:rPr>
              <a:t>a[2]</a:t>
            </a:r>
          </a:p>
        </p:txBody>
      </p:sp>
      <p:sp>
        <p:nvSpPr>
          <p:cNvPr id="1965063" name="Oval 7"/>
          <p:cNvSpPr>
            <a:spLocks noChangeArrowheads="1"/>
          </p:cNvSpPr>
          <p:nvPr/>
        </p:nvSpPr>
        <p:spPr bwMode="auto">
          <a:xfrm>
            <a:off x="1843088" y="2570163"/>
            <a:ext cx="1277937" cy="36703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1965064" name="Line 8"/>
          <p:cNvSpPr>
            <a:spLocks noChangeShapeType="1"/>
          </p:cNvSpPr>
          <p:nvPr/>
        </p:nvSpPr>
        <p:spPr bwMode="auto">
          <a:xfrm>
            <a:off x="2481263" y="4021138"/>
            <a:ext cx="0" cy="7969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grpSp>
        <p:nvGrpSpPr>
          <p:cNvPr id="22537" name="Group 9"/>
          <p:cNvGrpSpPr>
            <a:grpSpLocks/>
          </p:cNvGrpSpPr>
          <p:nvPr/>
        </p:nvGrpSpPr>
        <p:grpSpPr bwMode="auto">
          <a:xfrm>
            <a:off x="3562350" y="2593975"/>
            <a:ext cx="1277938" cy="3670300"/>
            <a:chOff x="2354" y="1634"/>
            <a:chExt cx="805" cy="2312"/>
          </a:xfrm>
        </p:grpSpPr>
        <p:sp>
          <p:nvSpPr>
            <p:cNvPr id="1965066" name="Oval 10"/>
            <p:cNvSpPr>
              <a:spLocks noChangeArrowheads="1"/>
            </p:cNvSpPr>
            <p:nvPr/>
          </p:nvSpPr>
          <p:spPr bwMode="auto">
            <a:xfrm>
              <a:off x="2464" y="1934"/>
              <a:ext cx="576" cy="57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3200" b="1">
                  <a:cs typeface="+mn-cs"/>
                </a:rPr>
                <a:t>a[1]</a:t>
              </a:r>
            </a:p>
          </p:txBody>
        </p:sp>
        <p:sp>
          <p:nvSpPr>
            <p:cNvPr id="1965067" name="Oval 11"/>
            <p:cNvSpPr>
              <a:spLocks noChangeArrowheads="1"/>
            </p:cNvSpPr>
            <p:nvPr/>
          </p:nvSpPr>
          <p:spPr bwMode="auto">
            <a:xfrm>
              <a:off x="2470" y="3027"/>
              <a:ext cx="576" cy="57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3200" b="1">
                  <a:cs typeface="+mn-cs"/>
                </a:rPr>
                <a:t>a[3]</a:t>
              </a:r>
            </a:p>
          </p:txBody>
        </p:sp>
        <p:sp>
          <p:nvSpPr>
            <p:cNvPr id="1965068" name="Oval 12"/>
            <p:cNvSpPr>
              <a:spLocks noChangeArrowheads="1"/>
            </p:cNvSpPr>
            <p:nvPr/>
          </p:nvSpPr>
          <p:spPr bwMode="auto">
            <a:xfrm>
              <a:off x="2354" y="1634"/>
              <a:ext cx="805" cy="231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1965069" name="Line 13"/>
            <p:cNvSpPr>
              <a:spLocks noChangeShapeType="1"/>
            </p:cNvSpPr>
            <p:nvPr/>
          </p:nvSpPr>
          <p:spPr bwMode="auto">
            <a:xfrm>
              <a:off x="2756" y="2520"/>
              <a:ext cx="0" cy="50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</p:grpSp>
      <p:grpSp>
        <p:nvGrpSpPr>
          <p:cNvPr id="22538" name="Group 14"/>
          <p:cNvGrpSpPr>
            <a:grpSpLocks/>
          </p:cNvGrpSpPr>
          <p:nvPr/>
        </p:nvGrpSpPr>
        <p:grpSpPr bwMode="auto">
          <a:xfrm>
            <a:off x="5319713" y="2593975"/>
            <a:ext cx="1277937" cy="3670300"/>
            <a:chOff x="3461" y="1615"/>
            <a:chExt cx="805" cy="2312"/>
          </a:xfrm>
        </p:grpSpPr>
        <p:sp>
          <p:nvSpPr>
            <p:cNvPr id="1965071" name="Oval 15"/>
            <p:cNvSpPr>
              <a:spLocks noChangeArrowheads="1"/>
            </p:cNvSpPr>
            <p:nvPr/>
          </p:nvSpPr>
          <p:spPr bwMode="auto">
            <a:xfrm>
              <a:off x="3571" y="1906"/>
              <a:ext cx="576" cy="57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3200" b="1" dirty="0">
                  <a:cs typeface="+mn-cs"/>
                </a:rPr>
                <a:t>a[2]</a:t>
              </a:r>
            </a:p>
          </p:txBody>
        </p:sp>
        <p:sp>
          <p:nvSpPr>
            <p:cNvPr id="1965072" name="Oval 16"/>
            <p:cNvSpPr>
              <a:spLocks noChangeArrowheads="1"/>
            </p:cNvSpPr>
            <p:nvPr/>
          </p:nvSpPr>
          <p:spPr bwMode="auto">
            <a:xfrm>
              <a:off x="3577" y="2999"/>
              <a:ext cx="576" cy="57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3200" b="1">
                  <a:cs typeface="+mn-cs"/>
                </a:rPr>
                <a:t>a[4]</a:t>
              </a:r>
            </a:p>
          </p:txBody>
        </p:sp>
        <p:sp>
          <p:nvSpPr>
            <p:cNvPr id="1965073" name="Oval 17"/>
            <p:cNvSpPr>
              <a:spLocks noChangeArrowheads="1"/>
            </p:cNvSpPr>
            <p:nvPr/>
          </p:nvSpPr>
          <p:spPr bwMode="auto">
            <a:xfrm>
              <a:off x="3461" y="1615"/>
              <a:ext cx="805" cy="231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1965074" name="Line 18"/>
            <p:cNvSpPr>
              <a:spLocks noChangeShapeType="1"/>
            </p:cNvSpPr>
            <p:nvPr/>
          </p:nvSpPr>
          <p:spPr bwMode="auto">
            <a:xfrm>
              <a:off x="3863" y="2492"/>
              <a:ext cx="0" cy="50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</p:grpSp>
      <p:grpSp>
        <p:nvGrpSpPr>
          <p:cNvPr id="22539" name="Group 19"/>
          <p:cNvGrpSpPr>
            <a:grpSpLocks/>
          </p:cNvGrpSpPr>
          <p:nvPr/>
        </p:nvGrpSpPr>
        <p:grpSpPr bwMode="auto">
          <a:xfrm>
            <a:off x="7046913" y="2592388"/>
            <a:ext cx="1277937" cy="3670300"/>
            <a:chOff x="4494" y="1569"/>
            <a:chExt cx="805" cy="2312"/>
          </a:xfrm>
        </p:grpSpPr>
        <p:sp>
          <p:nvSpPr>
            <p:cNvPr id="1965076" name="Oval 20"/>
            <p:cNvSpPr>
              <a:spLocks noChangeArrowheads="1"/>
            </p:cNvSpPr>
            <p:nvPr/>
          </p:nvSpPr>
          <p:spPr bwMode="auto">
            <a:xfrm>
              <a:off x="4604" y="1860"/>
              <a:ext cx="576" cy="57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3200" b="1">
                  <a:cs typeface="+mn-cs"/>
                </a:rPr>
                <a:t>a[3]</a:t>
              </a:r>
            </a:p>
          </p:txBody>
        </p:sp>
        <p:sp>
          <p:nvSpPr>
            <p:cNvPr id="1965077" name="Oval 21"/>
            <p:cNvSpPr>
              <a:spLocks noChangeArrowheads="1"/>
            </p:cNvSpPr>
            <p:nvPr/>
          </p:nvSpPr>
          <p:spPr bwMode="auto">
            <a:xfrm>
              <a:off x="4610" y="2953"/>
              <a:ext cx="576" cy="576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r>
                <a:rPr lang="en-US" sz="3200" b="1">
                  <a:cs typeface="+mn-cs"/>
                </a:rPr>
                <a:t>a[5]</a:t>
              </a:r>
            </a:p>
          </p:txBody>
        </p:sp>
        <p:sp>
          <p:nvSpPr>
            <p:cNvPr id="1965078" name="Oval 22"/>
            <p:cNvSpPr>
              <a:spLocks noChangeArrowheads="1"/>
            </p:cNvSpPr>
            <p:nvPr/>
          </p:nvSpPr>
          <p:spPr bwMode="auto">
            <a:xfrm>
              <a:off x="4494" y="1569"/>
              <a:ext cx="805" cy="2312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1965079" name="Line 23"/>
            <p:cNvSpPr>
              <a:spLocks noChangeShapeType="1"/>
            </p:cNvSpPr>
            <p:nvPr/>
          </p:nvSpPr>
          <p:spPr bwMode="auto">
            <a:xfrm>
              <a:off x="4896" y="2446"/>
              <a:ext cx="0" cy="50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</p:grpSp>
      <p:sp>
        <p:nvSpPr>
          <p:cNvPr id="1965080" name="Text Box 24"/>
          <p:cNvSpPr txBox="1">
            <a:spLocks noChangeArrowheads="1"/>
          </p:cNvSpPr>
          <p:nvPr/>
        </p:nvSpPr>
        <p:spPr bwMode="auto">
          <a:xfrm>
            <a:off x="735013" y="3208338"/>
            <a:ext cx="9334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3200" b="1">
                <a:cs typeface="+mn-cs"/>
              </a:rPr>
              <a:t>read</a:t>
            </a:r>
          </a:p>
        </p:txBody>
      </p:sp>
      <p:sp>
        <p:nvSpPr>
          <p:cNvPr id="1965081" name="Text Box 25"/>
          <p:cNvSpPr txBox="1">
            <a:spLocks noChangeArrowheads="1"/>
          </p:cNvSpPr>
          <p:nvPr/>
        </p:nvSpPr>
        <p:spPr bwMode="auto">
          <a:xfrm>
            <a:off x="727075" y="5000625"/>
            <a:ext cx="104298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3200" b="1">
                <a:cs typeface="+mn-cs"/>
              </a:rPr>
              <a:t>write</a:t>
            </a:r>
          </a:p>
        </p:txBody>
      </p:sp>
      <p:sp>
        <p:nvSpPr>
          <p:cNvPr id="1965082" name="Line 26"/>
          <p:cNvSpPr>
            <a:spLocks noChangeShapeType="1"/>
          </p:cNvSpPr>
          <p:nvPr/>
        </p:nvSpPr>
        <p:spPr bwMode="auto">
          <a:xfrm flipV="1">
            <a:off x="2917825" y="3716338"/>
            <a:ext cx="841375" cy="14065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1965083" name="Line 27"/>
          <p:cNvSpPr>
            <a:spLocks noChangeShapeType="1"/>
          </p:cNvSpPr>
          <p:nvPr/>
        </p:nvSpPr>
        <p:spPr bwMode="auto">
          <a:xfrm flipV="1">
            <a:off x="4651375" y="3694113"/>
            <a:ext cx="841375" cy="14065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1965084" name="Line 28"/>
          <p:cNvSpPr>
            <a:spLocks noChangeShapeType="1"/>
          </p:cNvSpPr>
          <p:nvPr/>
        </p:nvSpPr>
        <p:spPr bwMode="auto">
          <a:xfrm flipV="1">
            <a:off x="6364288" y="3549650"/>
            <a:ext cx="841375" cy="14065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0223" y="8382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266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132" y="0"/>
            <a:ext cx="9110868" cy="838200"/>
          </a:xfrm>
        </p:spPr>
        <p:txBody>
          <a:bodyPr>
            <a:normAutofit/>
          </a:bodyPr>
          <a:lstStyle/>
          <a:p>
            <a:r>
              <a:rPr lang="en-US" sz="4000" b="1" dirty="0" smtClean="0">
                <a:solidFill>
                  <a:srgbClr val="B80000"/>
                </a:solidFill>
              </a:rPr>
              <a:t>A Parallel DOALL Loop</a:t>
            </a:r>
            <a:endParaRPr lang="en-US" sz="4000" b="1" dirty="0">
              <a:solidFill>
                <a:srgbClr val="B8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0223" y="8382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76200" y="954156"/>
            <a:ext cx="9067800" cy="5903844"/>
          </a:xfrm>
        </p:spPr>
        <p:txBody>
          <a:bodyPr>
            <a:normAutofit/>
          </a:bodyPr>
          <a:lstStyle/>
          <a:p>
            <a:r>
              <a:rPr lang="en-US" sz="2800" dirty="0"/>
              <a:t>A </a:t>
            </a:r>
            <a:r>
              <a:rPr lang="en-US" sz="2800" b="1" dirty="0">
                <a:solidFill>
                  <a:srgbClr val="B80000"/>
                </a:solidFill>
              </a:rPr>
              <a:t>loop is fully parallel </a:t>
            </a:r>
            <a:r>
              <a:rPr lang="en-US" sz="2800" dirty="0"/>
              <a:t>if </a:t>
            </a:r>
            <a:r>
              <a:rPr lang="en-US" sz="2800" b="1" u="sng" dirty="0">
                <a:solidFill>
                  <a:srgbClr val="B80000"/>
                </a:solidFill>
              </a:rPr>
              <a:t>no dependencies flow across iterations</a:t>
            </a:r>
            <a:r>
              <a:rPr lang="en-US" sz="2800" b="1" u="sng" dirty="0"/>
              <a:t>: </a:t>
            </a:r>
            <a:endParaRPr lang="en-US" sz="2800" b="1" u="sng" dirty="0" smtClean="0"/>
          </a:p>
          <a:p>
            <a:endParaRPr lang="en-US" sz="2800" dirty="0" smtClean="0"/>
          </a:p>
          <a:p>
            <a:endParaRPr lang="en-US" sz="2800" dirty="0"/>
          </a:p>
          <a:p>
            <a:endParaRPr lang="en-US" sz="2800" dirty="0" smtClean="0"/>
          </a:p>
          <a:p>
            <a:endParaRPr lang="en-US" sz="2800" dirty="0"/>
          </a:p>
          <a:p>
            <a:endParaRPr lang="en-US" sz="2800" dirty="0"/>
          </a:p>
          <a:p>
            <a:r>
              <a:rPr lang="en-US" sz="2800" b="1" dirty="0"/>
              <a:t>Parallel loops </a:t>
            </a:r>
            <a:r>
              <a:rPr lang="en-US" sz="2800" dirty="0"/>
              <a:t>are found through </a:t>
            </a:r>
            <a:r>
              <a:rPr lang="en-US" sz="2800" b="1" dirty="0">
                <a:solidFill>
                  <a:srgbClr val="2C14DE"/>
                </a:solidFill>
              </a:rPr>
              <a:t>dependence analysis </a:t>
            </a:r>
            <a:r>
              <a:rPr lang="en-US" sz="2800" dirty="0"/>
              <a:t>and </a:t>
            </a:r>
            <a:r>
              <a:rPr lang="en-US" sz="2800" b="1" dirty="0">
                <a:solidFill>
                  <a:srgbClr val="2C14DE"/>
                </a:solidFill>
              </a:rPr>
              <a:t>dependence tests </a:t>
            </a:r>
            <a:endParaRPr lang="en-US" sz="2800" b="1" dirty="0" smtClean="0">
              <a:solidFill>
                <a:srgbClr val="2C14DE"/>
              </a:solidFill>
            </a:endParaRPr>
          </a:p>
          <a:p>
            <a:endParaRPr lang="en-US" sz="2800" dirty="0" smtClean="0"/>
          </a:p>
          <a:p>
            <a:r>
              <a:rPr lang="en-US" sz="2800" dirty="0" smtClean="0"/>
              <a:t>Usually </a:t>
            </a:r>
            <a:r>
              <a:rPr lang="en-US" sz="2800" b="1" dirty="0">
                <a:solidFill>
                  <a:srgbClr val="2C14DE"/>
                </a:solidFill>
              </a:rPr>
              <a:t>done</a:t>
            </a:r>
            <a:r>
              <a:rPr lang="en-US" sz="2800" dirty="0"/>
              <a:t> at the </a:t>
            </a:r>
            <a:r>
              <a:rPr lang="en-US" sz="2800" b="1" dirty="0">
                <a:solidFill>
                  <a:srgbClr val="2C14DE"/>
                </a:solidFill>
              </a:rPr>
              <a:t>source-code level</a:t>
            </a:r>
            <a:r>
              <a:rPr lang="en-US" sz="2800" dirty="0"/>
              <a:t>, </a:t>
            </a:r>
            <a:r>
              <a:rPr lang="en-US" sz="2800" b="1" dirty="0">
                <a:solidFill>
                  <a:srgbClr val="B80000"/>
                </a:solidFill>
              </a:rPr>
              <a:t>focus is on </a:t>
            </a:r>
            <a:r>
              <a:rPr lang="en-US" sz="2800" b="1" dirty="0" smtClean="0">
                <a:solidFill>
                  <a:srgbClr val="B80000"/>
                </a:solidFill>
              </a:rPr>
              <a:t>arrays</a:t>
            </a:r>
            <a:endParaRPr lang="en-US" sz="2800" dirty="0"/>
          </a:p>
          <a:p>
            <a:endParaRPr lang="en-US" sz="2800" dirty="0"/>
          </a:p>
          <a:p>
            <a:pPr lvl="1"/>
            <a:endParaRPr lang="en-US" sz="6500" dirty="0"/>
          </a:p>
          <a:p>
            <a:endParaRPr lang="en-US" sz="6500" dirty="0"/>
          </a:p>
          <a:p>
            <a:pPr marL="0" indent="0">
              <a:buNone/>
            </a:pPr>
            <a:endParaRPr lang="en-US" sz="6500" dirty="0">
              <a:solidFill>
                <a:srgbClr val="000000"/>
              </a:solidFill>
            </a:endParaRPr>
          </a:p>
          <a:p>
            <a:pPr marL="514350" indent="-514350">
              <a:buSzPct val="110000"/>
              <a:buFont typeface="+mj-lt"/>
              <a:buAutoNum type="arabicPeriod"/>
            </a:pPr>
            <a:endParaRPr lang="en-US" sz="6500" dirty="0" smtClean="0">
              <a:solidFill>
                <a:srgbClr val="2C14DE"/>
              </a:solidFill>
            </a:endParaRPr>
          </a:p>
          <a:p>
            <a:pPr marL="971550" lvl="1" indent="-514350">
              <a:buFont typeface="+mj-lt"/>
              <a:buAutoNum type="arabicPeriod"/>
            </a:pPr>
            <a:endParaRPr lang="en-US" dirty="0">
              <a:solidFill>
                <a:srgbClr val="2C14DE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401" y="2362200"/>
            <a:ext cx="5715000" cy="1157287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 flipV="1">
            <a:off x="5029200" y="3581400"/>
            <a:ext cx="2338036" cy="4311"/>
          </a:xfrm>
          <a:prstGeom prst="line">
            <a:avLst/>
          </a:prstGeom>
          <a:ln w="50800">
            <a:solidFill>
              <a:srgbClr val="B8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1600200" y="3581400"/>
            <a:ext cx="2338036" cy="4311"/>
          </a:xfrm>
          <a:prstGeom prst="line">
            <a:avLst/>
          </a:prstGeom>
          <a:ln w="50800">
            <a:solidFill>
              <a:srgbClr val="008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3224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1202" name="Text Box 2"/>
          <p:cNvSpPr txBox="1">
            <a:spLocks noChangeArrowheads="1"/>
          </p:cNvSpPr>
          <p:nvPr/>
        </p:nvSpPr>
        <p:spPr bwMode="auto">
          <a:xfrm>
            <a:off x="1965325" y="727075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endParaRPr lang="en-US" sz="2400">
              <a:latin typeface="Times New Roman" charset="0"/>
              <a:cs typeface="+mn-cs"/>
            </a:endParaRPr>
          </a:p>
        </p:txBody>
      </p:sp>
      <p:sp>
        <p:nvSpPr>
          <p:cNvPr id="1971203" name="Rectangle 3"/>
          <p:cNvSpPr>
            <a:spLocks noGrp="1" noRot="1" noChangeArrowheads="1"/>
          </p:cNvSpPr>
          <p:nvPr>
            <p:ph type="title"/>
          </p:nvPr>
        </p:nvSpPr>
        <p:spPr>
          <a:xfrm>
            <a:off x="27992" y="0"/>
            <a:ext cx="9116008" cy="8382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b="1" dirty="0" smtClean="0">
                <a:solidFill>
                  <a:srgbClr val="B80000"/>
                </a:solidFill>
                <a:cs typeface="+mj-cs"/>
              </a:rPr>
              <a:t>Recognizing DOALL Loops</a:t>
            </a:r>
          </a:p>
        </p:txBody>
      </p:sp>
      <p:sp>
        <p:nvSpPr>
          <p:cNvPr id="1971204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76200" y="1066800"/>
            <a:ext cx="8991600" cy="5638800"/>
          </a:xfrm>
        </p:spPr>
        <p:txBody>
          <a:bodyPr/>
          <a:lstStyle/>
          <a:p>
            <a:pPr eaLnBrk="1" hangingPunct="1">
              <a:defRPr/>
            </a:pPr>
            <a:r>
              <a:rPr lang="en-US" b="1" dirty="0" smtClean="0">
                <a:solidFill>
                  <a:srgbClr val="2C14DE"/>
                </a:solidFill>
                <a:cs typeface="+mn-cs"/>
              </a:rPr>
              <a:t>Find</a:t>
            </a:r>
            <a:r>
              <a:rPr lang="en-US" dirty="0" smtClean="0">
                <a:cs typeface="+mn-cs"/>
              </a:rPr>
              <a:t> data </a:t>
            </a:r>
            <a:r>
              <a:rPr lang="en-US" b="1" dirty="0" smtClean="0">
                <a:solidFill>
                  <a:srgbClr val="2C14DE"/>
                </a:solidFill>
                <a:cs typeface="+mn-cs"/>
              </a:rPr>
              <a:t>dependences</a:t>
            </a:r>
            <a:r>
              <a:rPr lang="en-US" dirty="0" smtClean="0">
                <a:cs typeface="+mn-cs"/>
              </a:rPr>
              <a:t> in loop</a:t>
            </a:r>
          </a:p>
          <a:p>
            <a:pPr eaLnBrk="1" hangingPunct="1">
              <a:defRPr/>
            </a:pPr>
            <a:endParaRPr lang="en-US" dirty="0" smtClean="0">
              <a:cs typeface="+mn-cs"/>
            </a:endParaRPr>
          </a:p>
          <a:p>
            <a:pPr algn="just" eaLnBrk="1" hangingPunct="1">
              <a:defRPr/>
            </a:pPr>
            <a:r>
              <a:rPr lang="en-US" b="1" dirty="0" smtClean="0">
                <a:solidFill>
                  <a:srgbClr val="B80000"/>
                </a:solidFill>
                <a:cs typeface="+mn-cs"/>
              </a:rPr>
              <a:t>Definition: </a:t>
            </a:r>
            <a:r>
              <a:rPr lang="en-US" dirty="0" smtClean="0">
                <a:cs typeface="+mn-cs"/>
              </a:rPr>
              <a:t>a </a:t>
            </a:r>
            <a:r>
              <a:rPr lang="en-US" b="1" dirty="0" smtClean="0">
                <a:solidFill>
                  <a:srgbClr val="2C14DE"/>
                </a:solidFill>
                <a:cs typeface="+mn-cs"/>
              </a:rPr>
              <a:t>dependence</a:t>
            </a:r>
            <a:r>
              <a:rPr lang="en-US" dirty="0" smtClean="0">
                <a:cs typeface="+mn-cs"/>
              </a:rPr>
              <a:t> is </a:t>
            </a:r>
            <a:r>
              <a:rPr lang="en-US" b="1" dirty="0" smtClean="0">
                <a:solidFill>
                  <a:srgbClr val="2C14DE"/>
                </a:solidFill>
                <a:cs typeface="+mn-cs"/>
              </a:rPr>
              <a:t>loop-carried </a:t>
            </a:r>
            <a:r>
              <a:rPr lang="en-US" dirty="0" smtClean="0">
                <a:cs typeface="+mn-cs"/>
              </a:rPr>
              <a:t>if it </a:t>
            </a:r>
            <a:r>
              <a:rPr lang="en-US" b="1" u="sng" dirty="0" smtClean="0">
                <a:solidFill>
                  <a:srgbClr val="2C14DE"/>
                </a:solidFill>
                <a:cs typeface="+mn-cs"/>
              </a:rPr>
              <a:t>crosses</a:t>
            </a:r>
            <a:r>
              <a:rPr lang="en-US" b="1" u="sng" dirty="0" smtClean="0">
                <a:cs typeface="+mn-cs"/>
              </a:rPr>
              <a:t> an </a:t>
            </a:r>
            <a:r>
              <a:rPr lang="en-US" b="1" u="sng" dirty="0" smtClean="0">
                <a:solidFill>
                  <a:srgbClr val="2C14DE"/>
                </a:solidFill>
                <a:cs typeface="+mn-cs"/>
              </a:rPr>
              <a:t>iteration boundary</a:t>
            </a:r>
          </a:p>
          <a:p>
            <a:pPr eaLnBrk="1" hangingPunct="1">
              <a:defRPr/>
            </a:pPr>
            <a:endParaRPr lang="en-US" dirty="0" smtClean="0">
              <a:cs typeface="+mn-cs"/>
            </a:endParaRPr>
          </a:p>
          <a:p>
            <a:pPr algn="just" eaLnBrk="1" hangingPunct="1">
              <a:defRPr/>
            </a:pPr>
            <a:r>
              <a:rPr lang="en-US" b="1" dirty="0" smtClean="0">
                <a:solidFill>
                  <a:srgbClr val="008000"/>
                </a:solidFill>
                <a:cs typeface="+mn-cs"/>
              </a:rPr>
              <a:t>If there are no loop-carried dependences only then loop is parallelizable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30223" y="8382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835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131" y="53008"/>
            <a:ext cx="9064891" cy="785192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B80000"/>
                </a:solidFill>
              </a:rPr>
              <a:t>Example: Loop Parallelization</a:t>
            </a:r>
            <a:endParaRPr lang="en-US" b="1" dirty="0">
              <a:solidFill>
                <a:srgbClr val="B8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0223" y="8382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76200" y="954156"/>
            <a:ext cx="9067800" cy="5903844"/>
          </a:xfrm>
        </p:spPr>
        <p:txBody>
          <a:bodyPr>
            <a:normAutofit/>
          </a:bodyPr>
          <a:lstStyle/>
          <a:p>
            <a:endParaRPr lang="en-US" sz="2800" dirty="0" smtClean="0"/>
          </a:p>
          <a:p>
            <a:endParaRPr lang="en-US" sz="2800" dirty="0"/>
          </a:p>
          <a:p>
            <a:endParaRPr lang="en-US" sz="2800" dirty="0" smtClean="0"/>
          </a:p>
          <a:p>
            <a:endParaRPr lang="en-US" sz="2800" dirty="0"/>
          </a:p>
          <a:p>
            <a:endParaRPr lang="en-US" sz="2800" dirty="0" smtClean="0"/>
          </a:p>
          <a:p>
            <a:endParaRPr lang="en-US" sz="2800" dirty="0" smtClean="0"/>
          </a:p>
          <a:p>
            <a:endParaRPr lang="en-US" sz="2800" dirty="0" smtClean="0"/>
          </a:p>
          <a:p>
            <a:pPr marL="0" indent="0">
              <a:buNone/>
            </a:pPr>
            <a:r>
              <a:rPr lang="en-US" sz="2800" b="1" dirty="0" smtClean="0">
                <a:solidFill>
                  <a:srgbClr val="2C14DE"/>
                </a:solidFill>
                <a:latin typeface="Comic Sans MS" panose="030F0702030302020204" pitchFamily="66" charset="0"/>
              </a:rPr>
              <a:t>   Which</a:t>
            </a:r>
            <a:r>
              <a:rPr lang="en-US" sz="2800" b="1" dirty="0" smtClean="0">
                <a:latin typeface="Comic Sans MS" panose="030F0702030302020204" pitchFamily="66" charset="0"/>
              </a:rPr>
              <a:t> of the </a:t>
            </a:r>
            <a:r>
              <a:rPr lang="en-US" sz="2800" b="1" dirty="0" smtClean="0">
                <a:solidFill>
                  <a:srgbClr val="2C14DE"/>
                </a:solidFill>
                <a:latin typeface="Comic Sans MS" panose="030F0702030302020204" pitchFamily="66" charset="0"/>
              </a:rPr>
              <a:t>following loops </a:t>
            </a:r>
            <a:r>
              <a:rPr lang="en-US" sz="2800" b="1" dirty="0" smtClean="0">
                <a:latin typeface="Comic Sans MS" panose="030F0702030302020204" pitchFamily="66" charset="0"/>
              </a:rPr>
              <a:t>are </a:t>
            </a:r>
            <a:r>
              <a:rPr lang="en-US" sz="2800" b="1" dirty="0" smtClean="0">
                <a:solidFill>
                  <a:srgbClr val="2C14DE"/>
                </a:solidFill>
                <a:latin typeface="Comic Sans MS" panose="030F0702030302020204" pitchFamily="66" charset="0"/>
              </a:rPr>
              <a:t>parallelizable</a:t>
            </a:r>
            <a:r>
              <a:rPr lang="en-US" sz="2800" b="1" dirty="0" smtClean="0">
                <a:latin typeface="Comic Sans MS" panose="030F0702030302020204" pitchFamily="66" charset="0"/>
              </a:rPr>
              <a:t>?</a:t>
            </a:r>
            <a:endParaRPr lang="en-US" sz="2800" b="1" dirty="0">
              <a:latin typeface="Comic Sans MS" panose="030F0702030302020204" pitchFamily="66" charset="0"/>
            </a:endParaRPr>
          </a:p>
          <a:p>
            <a:endParaRPr lang="en-US" sz="2800" dirty="0"/>
          </a:p>
          <a:p>
            <a:pPr lvl="1"/>
            <a:endParaRPr lang="en-US" sz="6500" dirty="0"/>
          </a:p>
          <a:p>
            <a:endParaRPr lang="en-US" sz="6500" dirty="0"/>
          </a:p>
          <a:p>
            <a:pPr marL="0" indent="0">
              <a:buNone/>
            </a:pPr>
            <a:endParaRPr lang="en-US" sz="6500" dirty="0">
              <a:solidFill>
                <a:srgbClr val="000000"/>
              </a:solidFill>
            </a:endParaRPr>
          </a:p>
          <a:p>
            <a:pPr marL="514350" indent="-514350">
              <a:buSzPct val="110000"/>
              <a:buFont typeface="+mj-lt"/>
              <a:buAutoNum type="arabicPeriod"/>
            </a:pPr>
            <a:endParaRPr lang="en-US" sz="6500" dirty="0" smtClean="0">
              <a:solidFill>
                <a:srgbClr val="2C14DE"/>
              </a:solidFill>
            </a:endParaRPr>
          </a:p>
          <a:p>
            <a:pPr marL="971550" lvl="1" indent="-514350">
              <a:buFont typeface="+mj-lt"/>
              <a:buAutoNum type="arabicPeriod"/>
            </a:pPr>
            <a:endParaRPr lang="en-US" dirty="0">
              <a:solidFill>
                <a:srgbClr val="2C14DE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2133600"/>
            <a:ext cx="8267700" cy="1295400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 flipV="1">
            <a:off x="3657600" y="3276600"/>
            <a:ext cx="2338036" cy="4311"/>
          </a:xfrm>
          <a:prstGeom prst="line">
            <a:avLst/>
          </a:prstGeom>
          <a:ln w="50800">
            <a:solidFill>
              <a:srgbClr val="B8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V="1">
            <a:off x="6934200" y="3505200"/>
            <a:ext cx="1524000" cy="4312"/>
          </a:xfrm>
          <a:prstGeom prst="line">
            <a:avLst/>
          </a:prstGeom>
          <a:ln w="50800">
            <a:solidFill>
              <a:srgbClr val="B8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457200" y="3200400"/>
            <a:ext cx="2590800" cy="4312"/>
          </a:xfrm>
          <a:prstGeom prst="line">
            <a:avLst/>
          </a:prstGeom>
          <a:ln w="50800">
            <a:solidFill>
              <a:srgbClr val="008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0328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131" y="53008"/>
            <a:ext cx="9064891" cy="785192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B80000"/>
                </a:solidFill>
              </a:rPr>
              <a:t>Dependence in Loops</a:t>
            </a:r>
            <a:endParaRPr lang="en-US" b="1" dirty="0">
              <a:solidFill>
                <a:srgbClr val="B8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0223" y="8382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76200" y="954156"/>
            <a:ext cx="9067800" cy="5903844"/>
          </a:xfrm>
        </p:spPr>
        <p:txBody>
          <a:bodyPr>
            <a:normAutofit/>
          </a:bodyPr>
          <a:lstStyle/>
          <a:p>
            <a:endParaRPr lang="en-US" sz="2800" dirty="0" smtClean="0"/>
          </a:p>
          <a:p>
            <a:endParaRPr lang="en-US" sz="2800" dirty="0"/>
          </a:p>
          <a:p>
            <a:endParaRPr lang="en-US" sz="2800" dirty="0" smtClean="0"/>
          </a:p>
          <a:p>
            <a:endParaRPr lang="en-US" sz="2800" dirty="0"/>
          </a:p>
          <a:p>
            <a:endParaRPr lang="en-US" sz="2800" dirty="0" smtClean="0"/>
          </a:p>
          <a:p>
            <a:endParaRPr lang="en-US" sz="2800" dirty="0" smtClean="0"/>
          </a:p>
          <a:p>
            <a:endParaRPr lang="en-US" sz="2800" dirty="0" smtClean="0"/>
          </a:p>
          <a:p>
            <a:endParaRPr lang="en-US" sz="2800" dirty="0"/>
          </a:p>
          <a:p>
            <a:pPr lvl="1"/>
            <a:endParaRPr lang="en-US" sz="6500" dirty="0"/>
          </a:p>
          <a:p>
            <a:endParaRPr lang="en-US" sz="6500" dirty="0"/>
          </a:p>
          <a:p>
            <a:pPr marL="0" indent="0">
              <a:buNone/>
            </a:pPr>
            <a:endParaRPr lang="en-US" sz="6500" dirty="0">
              <a:solidFill>
                <a:srgbClr val="000000"/>
              </a:solidFill>
            </a:endParaRPr>
          </a:p>
          <a:p>
            <a:pPr marL="514350" indent="-514350">
              <a:buSzPct val="110000"/>
              <a:buFont typeface="+mj-lt"/>
              <a:buAutoNum type="arabicPeriod"/>
            </a:pPr>
            <a:endParaRPr lang="en-US" sz="6500" dirty="0" smtClean="0">
              <a:solidFill>
                <a:srgbClr val="2C14DE"/>
              </a:solidFill>
            </a:endParaRPr>
          </a:p>
          <a:p>
            <a:pPr marL="971550" lvl="1" indent="-514350">
              <a:buFont typeface="+mj-lt"/>
              <a:buAutoNum type="arabicPeriod"/>
            </a:pPr>
            <a:endParaRPr lang="en-US" dirty="0">
              <a:solidFill>
                <a:srgbClr val="2C14DE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2110393"/>
            <a:ext cx="8066078" cy="46792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1560" y="954156"/>
            <a:ext cx="273630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1: </a:t>
            </a:r>
            <a:r>
              <a:rPr lang="en-US" b="1" dirty="0" smtClean="0">
                <a:solidFill>
                  <a:srgbClr val="2C14DE"/>
                </a:solidFill>
              </a:rPr>
              <a:t>A(2) </a:t>
            </a:r>
            <a:r>
              <a:rPr lang="en-US" b="1" dirty="0" smtClean="0">
                <a:solidFill>
                  <a:srgbClr val="FF0000"/>
                </a:solidFill>
              </a:rPr>
              <a:t>= A(1) + B(1)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2: </a:t>
            </a:r>
            <a:r>
              <a:rPr lang="en-US" b="1" dirty="0" smtClean="0">
                <a:solidFill>
                  <a:srgbClr val="008000"/>
                </a:solidFill>
              </a:rPr>
              <a:t>A(3) </a:t>
            </a:r>
            <a:r>
              <a:rPr lang="en-US" b="1" dirty="0" smtClean="0">
                <a:solidFill>
                  <a:srgbClr val="FF0000"/>
                </a:solidFill>
              </a:rPr>
              <a:t>= </a:t>
            </a:r>
            <a:r>
              <a:rPr lang="en-US" b="1" dirty="0" smtClean="0">
                <a:solidFill>
                  <a:srgbClr val="2C14DE"/>
                </a:solidFill>
              </a:rPr>
              <a:t>A(2)</a:t>
            </a:r>
            <a:r>
              <a:rPr lang="en-US" b="1" dirty="0" smtClean="0">
                <a:solidFill>
                  <a:srgbClr val="FF0000"/>
                </a:solidFill>
              </a:rPr>
              <a:t> + B (2)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3: A(4) = </a:t>
            </a:r>
            <a:r>
              <a:rPr lang="en-US" b="1" dirty="0" smtClean="0">
                <a:solidFill>
                  <a:srgbClr val="008000"/>
                </a:solidFill>
              </a:rPr>
              <a:t>A(3) </a:t>
            </a:r>
            <a:r>
              <a:rPr lang="en-US" b="1" dirty="0" smtClean="0">
                <a:solidFill>
                  <a:srgbClr val="FF0000"/>
                </a:solidFill>
              </a:rPr>
              <a:t>+ B(3)</a:t>
            </a:r>
          </a:p>
          <a:p>
            <a:r>
              <a:rPr lang="en-US" b="1" dirty="0" smtClean="0">
                <a:solidFill>
                  <a:srgbClr val="FF0000"/>
                </a:solidFill>
              </a:rPr>
              <a:t>S1 &amp;S1</a:t>
            </a:r>
          </a:p>
          <a:p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012160" y="933888"/>
            <a:ext cx="280831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1: </a:t>
            </a:r>
            <a:r>
              <a:rPr lang="en-US" b="1" dirty="0" smtClean="0">
                <a:solidFill>
                  <a:srgbClr val="008000"/>
                </a:solidFill>
              </a:rPr>
              <a:t>A(3</a:t>
            </a:r>
            <a:r>
              <a:rPr lang="en-US" b="1" dirty="0" smtClean="0"/>
              <a:t>) = A(1) + B(1)</a:t>
            </a:r>
          </a:p>
          <a:p>
            <a:r>
              <a:rPr lang="en-US" b="1" dirty="0" smtClean="0"/>
              <a:t>2: </a:t>
            </a:r>
            <a:r>
              <a:rPr lang="en-US" b="1" dirty="0" smtClean="0">
                <a:solidFill>
                  <a:srgbClr val="2F1BC7"/>
                </a:solidFill>
              </a:rPr>
              <a:t>A(4) </a:t>
            </a:r>
            <a:r>
              <a:rPr lang="en-US" b="1" dirty="0" smtClean="0"/>
              <a:t>= A(2) + B(2)</a:t>
            </a:r>
          </a:p>
          <a:p>
            <a:r>
              <a:rPr lang="en-US" b="1" dirty="0" smtClean="0"/>
              <a:t>3: A(5) = </a:t>
            </a:r>
            <a:r>
              <a:rPr lang="en-US" b="1" dirty="0" smtClean="0">
                <a:solidFill>
                  <a:srgbClr val="008000"/>
                </a:solidFill>
              </a:rPr>
              <a:t>A(3) </a:t>
            </a:r>
            <a:r>
              <a:rPr lang="en-US" b="1" dirty="0" smtClean="0"/>
              <a:t>+B(3)</a:t>
            </a:r>
          </a:p>
          <a:p>
            <a:r>
              <a:rPr lang="en-US" b="1" dirty="0" smtClean="0"/>
              <a:t>4: A(6) = </a:t>
            </a:r>
            <a:r>
              <a:rPr lang="en-US" b="1" dirty="0" smtClean="0">
                <a:solidFill>
                  <a:srgbClr val="2F1BC7"/>
                </a:solidFill>
              </a:rPr>
              <a:t>A(4)</a:t>
            </a:r>
            <a:r>
              <a:rPr lang="en-US" b="1" dirty="0" smtClean="0"/>
              <a:t> + B(4)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703367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131" y="53008"/>
            <a:ext cx="9064891" cy="785192"/>
          </a:xfrm>
        </p:spPr>
        <p:txBody>
          <a:bodyPr>
            <a:noAutofit/>
          </a:bodyPr>
          <a:lstStyle/>
          <a:p>
            <a:r>
              <a:rPr lang="en-US" sz="4800" b="1" dirty="0" smtClean="0">
                <a:solidFill>
                  <a:srgbClr val="B80000"/>
                </a:solidFill>
              </a:rPr>
              <a:t>Iteration Numbers</a:t>
            </a:r>
            <a:endParaRPr lang="en-US" sz="4800" b="1" dirty="0">
              <a:solidFill>
                <a:srgbClr val="B8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0223" y="8382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76200" y="954156"/>
            <a:ext cx="8960296" cy="5903844"/>
          </a:xfrm>
        </p:spPr>
        <p:txBody>
          <a:bodyPr>
            <a:normAutofit/>
          </a:bodyPr>
          <a:lstStyle/>
          <a:p>
            <a:pPr algn="just"/>
            <a:r>
              <a:rPr lang="en-US" sz="2800" dirty="0" smtClean="0"/>
              <a:t>The </a:t>
            </a:r>
            <a:r>
              <a:rPr lang="en-US" sz="2800" b="1" u="sng" dirty="0">
                <a:solidFill>
                  <a:srgbClr val="2C14DE"/>
                </a:solidFill>
              </a:rPr>
              <a:t>iteration number </a:t>
            </a:r>
            <a:r>
              <a:rPr lang="en-US" sz="2800" dirty="0"/>
              <a:t>of a </a:t>
            </a:r>
            <a:r>
              <a:rPr lang="en-US" sz="2800" b="1" dirty="0">
                <a:solidFill>
                  <a:srgbClr val="2C14DE"/>
                </a:solidFill>
              </a:rPr>
              <a:t>loop</a:t>
            </a:r>
            <a:r>
              <a:rPr lang="en-US" sz="2800" dirty="0"/>
              <a:t> is </a:t>
            </a:r>
            <a:r>
              <a:rPr lang="en-US" sz="2800" b="1" dirty="0">
                <a:solidFill>
                  <a:srgbClr val="2C14DE"/>
                </a:solidFill>
              </a:rPr>
              <a:t>equal</a:t>
            </a:r>
            <a:r>
              <a:rPr lang="en-US" sz="2800" dirty="0"/>
              <a:t> to the </a:t>
            </a:r>
            <a:r>
              <a:rPr lang="en-US" sz="2800" b="1" dirty="0">
                <a:solidFill>
                  <a:srgbClr val="2C14DE"/>
                </a:solidFill>
              </a:rPr>
              <a:t>value</a:t>
            </a:r>
            <a:r>
              <a:rPr lang="en-US" sz="2800" dirty="0"/>
              <a:t> of the </a:t>
            </a:r>
            <a:r>
              <a:rPr lang="en-US" sz="2800" b="1" dirty="0">
                <a:solidFill>
                  <a:srgbClr val="2C14DE"/>
                </a:solidFill>
              </a:rPr>
              <a:t>loop index </a:t>
            </a:r>
            <a:endParaRPr lang="en-US" sz="2800" b="1" dirty="0" smtClean="0">
              <a:solidFill>
                <a:srgbClr val="2C14DE"/>
              </a:solidFill>
            </a:endParaRPr>
          </a:p>
          <a:p>
            <a:endParaRPr lang="en-US" dirty="0" smtClean="0">
              <a:solidFill>
                <a:srgbClr val="2C14DE"/>
              </a:solidFill>
            </a:endParaRPr>
          </a:p>
          <a:p>
            <a:r>
              <a:rPr lang="en-US" b="1" dirty="0" smtClean="0">
                <a:solidFill>
                  <a:srgbClr val="B80000"/>
                </a:solidFill>
              </a:rPr>
              <a:t>Definition:</a:t>
            </a:r>
          </a:p>
          <a:p>
            <a:pPr lvl="1" algn="just"/>
            <a:r>
              <a:rPr lang="en-US" dirty="0"/>
              <a:t>For an arbitrary loop in which the </a:t>
            </a:r>
            <a:r>
              <a:rPr lang="en-US" b="1" dirty="0">
                <a:solidFill>
                  <a:srgbClr val="2C14DE"/>
                </a:solidFill>
              </a:rPr>
              <a:t>loop index </a:t>
            </a:r>
            <a:r>
              <a:rPr lang="en-US" b="1" i="1" dirty="0" smtClean="0">
                <a:solidFill>
                  <a:srgbClr val="B80000"/>
                </a:solidFill>
              </a:rPr>
              <a:t>I</a:t>
            </a:r>
            <a:r>
              <a:rPr lang="en-US" b="1" dirty="0" smtClean="0"/>
              <a:t> </a:t>
            </a:r>
            <a:r>
              <a:rPr lang="en-US" dirty="0"/>
              <a:t>runs from </a:t>
            </a:r>
            <a:r>
              <a:rPr lang="en-US" b="1" dirty="0">
                <a:solidFill>
                  <a:srgbClr val="2C14DE"/>
                </a:solidFill>
              </a:rPr>
              <a:t>L</a:t>
            </a:r>
            <a:r>
              <a:rPr lang="en-US" dirty="0"/>
              <a:t> to </a:t>
            </a:r>
            <a:r>
              <a:rPr lang="en-US" b="1" dirty="0">
                <a:solidFill>
                  <a:srgbClr val="2C14DE"/>
                </a:solidFill>
              </a:rPr>
              <a:t>U</a:t>
            </a:r>
            <a:r>
              <a:rPr lang="en-US" dirty="0"/>
              <a:t> in </a:t>
            </a:r>
            <a:r>
              <a:rPr lang="en-US" b="1" dirty="0">
                <a:solidFill>
                  <a:srgbClr val="2C14DE"/>
                </a:solidFill>
              </a:rPr>
              <a:t>steps of S</a:t>
            </a:r>
            <a:r>
              <a:rPr lang="en-US" dirty="0"/>
              <a:t>, the </a:t>
            </a:r>
            <a:r>
              <a:rPr lang="en-US" dirty="0">
                <a:solidFill>
                  <a:srgbClr val="2C14DE"/>
                </a:solidFill>
              </a:rPr>
              <a:t>iteration number </a:t>
            </a:r>
            <a:r>
              <a:rPr lang="en-US" i="1" dirty="0" err="1">
                <a:solidFill>
                  <a:srgbClr val="2C14DE"/>
                </a:solidFill>
              </a:rPr>
              <a:t>i</a:t>
            </a:r>
            <a:r>
              <a:rPr lang="en-US" i="1" dirty="0">
                <a:solidFill>
                  <a:srgbClr val="2C14DE"/>
                </a:solidFill>
              </a:rPr>
              <a:t> </a:t>
            </a:r>
            <a:r>
              <a:rPr lang="en-US" dirty="0"/>
              <a:t>of a specific iteration is equal to the </a:t>
            </a:r>
            <a:r>
              <a:rPr lang="en-US" b="1" dirty="0">
                <a:solidFill>
                  <a:srgbClr val="2C14DE"/>
                </a:solidFill>
              </a:rPr>
              <a:t>index value </a:t>
            </a:r>
            <a:r>
              <a:rPr lang="en-US" b="1" i="1" dirty="0">
                <a:solidFill>
                  <a:srgbClr val="008000"/>
                </a:solidFill>
              </a:rPr>
              <a:t>I</a:t>
            </a:r>
            <a:r>
              <a:rPr lang="en-US" b="1" dirty="0">
                <a:solidFill>
                  <a:srgbClr val="008000"/>
                </a:solidFill>
              </a:rPr>
              <a:t> </a:t>
            </a:r>
            <a:r>
              <a:rPr lang="en-US" dirty="0"/>
              <a:t>on that </a:t>
            </a:r>
            <a:r>
              <a:rPr lang="en-US" b="1" dirty="0" smtClean="0">
                <a:solidFill>
                  <a:srgbClr val="2C14DE"/>
                </a:solidFill>
              </a:rPr>
              <a:t>iteration: </a:t>
            </a:r>
            <a:endParaRPr lang="en-US" b="1" dirty="0">
              <a:solidFill>
                <a:srgbClr val="2C14DE"/>
              </a:solidFill>
            </a:endParaRPr>
          </a:p>
          <a:p>
            <a:pPr lvl="1"/>
            <a:endParaRPr lang="en-US" dirty="0"/>
          </a:p>
          <a:p>
            <a:endParaRPr lang="en-US" sz="2800" dirty="0"/>
          </a:p>
          <a:p>
            <a:pPr lvl="1"/>
            <a:endParaRPr lang="en-US" sz="6500" dirty="0"/>
          </a:p>
          <a:p>
            <a:endParaRPr lang="en-US" sz="6500" dirty="0"/>
          </a:p>
          <a:p>
            <a:pPr marL="0" indent="0">
              <a:buNone/>
            </a:pPr>
            <a:endParaRPr lang="en-US" sz="6500" dirty="0">
              <a:solidFill>
                <a:srgbClr val="000000"/>
              </a:solidFill>
            </a:endParaRPr>
          </a:p>
          <a:p>
            <a:pPr marL="514350" indent="-514350">
              <a:buSzPct val="110000"/>
              <a:buFont typeface="+mj-lt"/>
              <a:buAutoNum type="arabicPeriod"/>
            </a:pPr>
            <a:endParaRPr lang="en-US" sz="6500" dirty="0" smtClean="0">
              <a:solidFill>
                <a:srgbClr val="2C14DE"/>
              </a:solidFill>
            </a:endParaRPr>
          </a:p>
          <a:p>
            <a:pPr marL="971550" lvl="1" indent="-514350">
              <a:buFont typeface="+mj-lt"/>
              <a:buAutoNum type="arabicPeriod"/>
            </a:pPr>
            <a:endParaRPr lang="en-US" dirty="0">
              <a:solidFill>
                <a:srgbClr val="2C14DE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8156" y="4797152"/>
            <a:ext cx="3456384" cy="1640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654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131" y="53008"/>
            <a:ext cx="9064891" cy="785192"/>
          </a:xfrm>
        </p:spPr>
        <p:txBody>
          <a:bodyPr>
            <a:noAutofit/>
          </a:bodyPr>
          <a:lstStyle/>
          <a:p>
            <a:r>
              <a:rPr lang="en-US" sz="4800" b="1" dirty="0" smtClean="0">
                <a:solidFill>
                  <a:srgbClr val="B80000"/>
                </a:solidFill>
              </a:rPr>
              <a:t>Algorithm: Normalizing Loops</a:t>
            </a:r>
            <a:endParaRPr lang="en-US" sz="4800" b="1" dirty="0">
              <a:solidFill>
                <a:srgbClr val="B8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0223" y="8382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1052736"/>
            <a:ext cx="7586066" cy="54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96136" y="1412776"/>
            <a:ext cx="720080" cy="79208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8389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131" y="53008"/>
            <a:ext cx="9064891" cy="785192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B80000"/>
                </a:solidFill>
              </a:rPr>
              <a:t>Normalizing Loops: Examples</a:t>
            </a:r>
            <a:endParaRPr lang="en-US" b="1" dirty="0">
              <a:solidFill>
                <a:srgbClr val="B8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0223" y="8382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6" y="1268760"/>
            <a:ext cx="6431632" cy="4899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425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131" y="53008"/>
            <a:ext cx="9064891" cy="785192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B80000"/>
                </a:solidFill>
              </a:rPr>
              <a:t>Normalizing Loops: Examples</a:t>
            </a:r>
            <a:endParaRPr lang="en-US" b="1" dirty="0">
              <a:solidFill>
                <a:srgbClr val="B8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0223" y="8382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50399" t="34865" r="14558" b="44836"/>
          <a:stretch/>
        </p:blipFill>
        <p:spPr>
          <a:xfrm>
            <a:off x="1359767" y="2420888"/>
            <a:ext cx="7292672" cy="237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369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131" y="53008"/>
            <a:ext cx="9064891" cy="785192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B80000"/>
                </a:solidFill>
              </a:rPr>
              <a:t>Normalizing Loops: Examples</a:t>
            </a:r>
            <a:endParaRPr lang="en-US" b="1" dirty="0">
              <a:solidFill>
                <a:srgbClr val="B8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0223" y="8382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50399" t="34865" r="14558" b="13904"/>
          <a:stretch/>
        </p:blipFill>
        <p:spPr>
          <a:xfrm>
            <a:off x="1763688" y="1196752"/>
            <a:ext cx="6408712" cy="5270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916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762000"/>
          </a:xfrm>
        </p:spPr>
        <p:txBody>
          <a:bodyPr/>
          <a:lstStyle/>
          <a:p>
            <a:pPr eaLnBrk="1" hangingPunct="1"/>
            <a:r>
              <a:rPr lang="en-US" b="1" dirty="0" smtClean="0">
                <a:solidFill>
                  <a:srgbClr val="C00000"/>
                </a:solidFill>
              </a:rPr>
              <a:t>Normalized Iteration Space</a:t>
            </a:r>
          </a:p>
        </p:txBody>
      </p:sp>
      <p:sp>
        <p:nvSpPr>
          <p:cNvPr id="15365" name="Text Box 5"/>
          <p:cNvSpPr txBox="1">
            <a:spLocks noChangeArrowheads="1"/>
          </p:cNvSpPr>
          <p:nvPr/>
        </p:nvSpPr>
        <p:spPr bwMode="auto">
          <a:xfrm>
            <a:off x="2504574" y="1222448"/>
            <a:ext cx="3886200" cy="9255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800" b="1" dirty="0">
                <a:latin typeface="Courier New" panose="02070309020205020404" pitchFamily="49" charset="0"/>
              </a:rPr>
              <a:t>DO I = 100, 20, -10</a:t>
            </a:r>
            <a:br>
              <a:rPr lang="en-US" sz="1800" b="1" dirty="0">
                <a:latin typeface="Courier New" panose="02070309020205020404" pitchFamily="49" charset="0"/>
              </a:rPr>
            </a:br>
            <a:r>
              <a:rPr lang="en-US" sz="1800" b="1" dirty="0">
                <a:latin typeface="Courier New" panose="02070309020205020404" pitchFamily="49" charset="0"/>
              </a:rPr>
              <a:t>  A(I) = B(100-I) + C(I/5)</a:t>
            </a:r>
            <a:br>
              <a:rPr lang="en-US" sz="1800" b="1" dirty="0">
                <a:latin typeface="Courier New" panose="02070309020205020404" pitchFamily="49" charset="0"/>
              </a:rPr>
            </a:br>
            <a:r>
              <a:rPr lang="en-US" sz="1800" b="1" dirty="0">
                <a:latin typeface="Courier New" panose="02070309020205020404" pitchFamily="49" charset="0"/>
              </a:rPr>
              <a:t>ENDDO</a:t>
            </a:r>
          </a:p>
        </p:txBody>
      </p:sp>
      <p:sp>
        <p:nvSpPr>
          <p:cNvPr id="15366" name="Text Box 6"/>
          <p:cNvSpPr txBox="1">
            <a:spLocks noChangeArrowheads="1"/>
          </p:cNvSpPr>
          <p:nvPr/>
        </p:nvSpPr>
        <p:spPr bwMode="auto">
          <a:xfrm>
            <a:off x="1905000" y="3506243"/>
            <a:ext cx="5715000" cy="92333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800" b="1" dirty="0">
                <a:latin typeface="Courier New" panose="02070309020205020404" pitchFamily="49" charset="0"/>
              </a:rPr>
              <a:t>DO </a:t>
            </a:r>
            <a:r>
              <a:rPr lang="en-US" sz="1800" b="1" i="1" dirty="0" err="1">
                <a:latin typeface="Courier New" panose="02070309020205020404" pitchFamily="49" charset="0"/>
              </a:rPr>
              <a:t>i</a:t>
            </a:r>
            <a:r>
              <a:rPr lang="en-US" sz="1800" b="1" dirty="0">
                <a:latin typeface="Courier New" panose="02070309020205020404" pitchFamily="49" charset="0"/>
              </a:rPr>
              <a:t> = 1, 9</a:t>
            </a:r>
            <a:br>
              <a:rPr lang="en-US" sz="1800" b="1" dirty="0">
                <a:latin typeface="Courier New" panose="02070309020205020404" pitchFamily="49" charset="0"/>
              </a:rPr>
            </a:br>
            <a:r>
              <a:rPr lang="en-US" sz="1800" b="1" dirty="0">
                <a:latin typeface="Courier New" panose="02070309020205020404" pitchFamily="49" charset="0"/>
              </a:rPr>
              <a:t>  A(110-10*</a:t>
            </a:r>
            <a:r>
              <a:rPr lang="en-US" sz="1800" b="1" i="1" dirty="0" err="1">
                <a:latin typeface="Courier New" panose="02070309020205020404" pitchFamily="49" charset="0"/>
              </a:rPr>
              <a:t>i</a:t>
            </a:r>
            <a:r>
              <a:rPr lang="en-US" sz="1800" b="1" dirty="0">
                <a:latin typeface="Courier New" panose="02070309020205020404" pitchFamily="49" charset="0"/>
              </a:rPr>
              <a:t>) = B(10*</a:t>
            </a:r>
            <a:r>
              <a:rPr lang="en-US" sz="1800" b="1" i="1" dirty="0">
                <a:latin typeface="Courier New" panose="02070309020205020404" pitchFamily="49" charset="0"/>
              </a:rPr>
              <a:t>i</a:t>
            </a:r>
            <a:r>
              <a:rPr lang="en-US" sz="1800" b="1" dirty="0">
                <a:latin typeface="Courier New" panose="02070309020205020404" pitchFamily="49" charset="0"/>
              </a:rPr>
              <a:t>-10</a:t>
            </a:r>
            <a:r>
              <a:rPr lang="en-US" sz="1800" b="1" dirty="0" smtClean="0">
                <a:latin typeface="Courier New" panose="02070309020205020404" pitchFamily="49" charset="0"/>
              </a:rPr>
              <a:t>)+ </a:t>
            </a:r>
            <a:r>
              <a:rPr lang="en-US" sz="1800" b="1" dirty="0">
                <a:latin typeface="Courier New" panose="02070309020205020404" pitchFamily="49" charset="0"/>
              </a:rPr>
              <a:t>C(22-2*</a:t>
            </a:r>
            <a:r>
              <a:rPr lang="en-US" sz="1800" b="1" i="1" dirty="0" err="1">
                <a:latin typeface="Courier New" panose="02070309020205020404" pitchFamily="49" charset="0"/>
              </a:rPr>
              <a:t>i</a:t>
            </a:r>
            <a:r>
              <a:rPr lang="en-US" sz="1800" b="1" dirty="0">
                <a:latin typeface="Courier New" panose="02070309020205020404" pitchFamily="49" charset="0"/>
              </a:rPr>
              <a:t>)</a:t>
            </a:r>
            <a:br>
              <a:rPr lang="en-US" sz="1800" b="1" dirty="0">
                <a:latin typeface="Courier New" panose="02070309020205020404" pitchFamily="49" charset="0"/>
              </a:rPr>
            </a:br>
            <a:r>
              <a:rPr lang="en-US" sz="1800" b="1" dirty="0">
                <a:latin typeface="Courier New" panose="02070309020205020404" pitchFamily="49" charset="0"/>
              </a:rPr>
              <a:t>ENDDO</a:t>
            </a:r>
          </a:p>
        </p:txBody>
      </p:sp>
      <p:sp>
        <p:nvSpPr>
          <p:cNvPr id="15367" name="AutoShape 7"/>
          <p:cNvSpPr>
            <a:spLocks noChangeArrowheads="1"/>
          </p:cNvSpPr>
          <p:nvPr/>
        </p:nvSpPr>
        <p:spPr bwMode="auto">
          <a:xfrm>
            <a:off x="4229100" y="2446102"/>
            <a:ext cx="685800" cy="762000"/>
          </a:xfrm>
          <a:prstGeom prst="downArrow">
            <a:avLst>
              <a:gd name="adj1" fmla="val 50000"/>
              <a:gd name="adj2" fmla="val 2777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5" y="762000"/>
            <a:ext cx="9065538" cy="42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488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131" y="53008"/>
            <a:ext cx="9064891" cy="785192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B80000"/>
                </a:solidFill>
              </a:rPr>
              <a:t>Iteration Vectors</a:t>
            </a:r>
            <a:endParaRPr lang="en-US" b="1" dirty="0">
              <a:solidFill>
                <a:srgbClr val="B8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0223" y="8382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635" y="980728"/>
            <a:ext cx="8784976" cy="5602185"/>
          </a:xfrm>
          <a:prstGeom prst="rect">
            <a:avLst/>
          </a:prstGeom>
        </p:spPr>
      </p:pic>
      <p:cxnSp>
        <p:nvCxnSpPr>
          <p:cNvPr id="4" name="Straight Arrow Connector 3"/>
          <p:cNvCxnSpPr/>
          <p:nvPr/>
        </p:nvCxnSpPr>
        <p:spPr>
          <a:xfrm flipH="1">
            <a:off x="6660232" y="3501008"/>
            <a:ext cx="1152128" cy="144016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812360" y="3296427"/>
            <a:ext cx="12749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smtClean="0">
                <a:solidFill>
                  <a:srgbClr val="2F1BC7"/>
                </a:solidFill>
              </a:rPr>
              <a:t>Nesting level 1</a:t>
            </a:r>
            <a:endParaRPr lang="en-US" sz="1400" b="1" dirty="0">
              <a:solidFill>
                <a:srgbClr val="2F1BC7"/>
              </a:solidFill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6804248" y="3808785"/>
            <a:ext cx="1008112" cy="122296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723520" y="3623304"/>
            <a:ext cx="12984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smtClean="0">
                <a:solidFill>
                  <a:srgbClr val="2F1BC7"/>
                </a:solidFill>
              </a:rPr>
              <a:t>Nesting level 2</a:t>
            </a:r>
            <a:endParaRPr lang="en-US" sz="1400" b="1" dirty="0">
              <a:solidFill>
                <a:srgbClr val="2F1BC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1680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131" y="53008"/>
            <a:ext cx="9110869" cy="785192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B80000"/>
                </a:solidFill>
              </a:rPr>
              <a:t>Iteration Vectors -</a:t>
            </a:r>
            <a:r>
              <a:rPr lang="en-US" b="1" dirty="0">
                <a:solidFill>
                  <a:srgbClr val="B80000"/>
                </a:solidFill>
              </a:rPr>
              <a:t> </a:t>
            </a:r>
            <a:r>
              <a:rPr lang="en-US" b="1" dirty="0" smtClean="0">
                <a:solidFill>
                  <a:srgbClr val="B80000"/>
                </a:solidFill>
              </a:rPr>
              <a:t>Example</a:t>
            </a:r>
            <a:endParaRPr lang="en-US" b="1" dirty="0">
              <a:solidFill>
                <a:srgbClr val="B8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0223" y="8382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1124744"/>
            <a:ext cx="8439348" cy="338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149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132" y="53008"/>
            <a:ext cx="9110868" cy="785192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B80000"/>
                </a:solidFill>
              </a:rPr>
              <a:t>Iteration Space</a:t>
            </a:r>
            <a:endParaRPr lang="en-US" b="1" dirty="0">
              <a:solidFill>
                <a:srgbClr val="B8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0223" y="8382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t="26509"/>
          <a:stretch/>
        </p:blipFill>
        <p:spPr>
          <a:xfrm>
            <a:off x="251520" y="2348880"/>
            <a:ext cx="7443281" cy="3014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" y="1066800"/>
            <a:ext cx="8991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B80000"/>
                </a:solidFill>
              </a:rPr>
              <a:t>Iteration Space: </a:t>
            </a:r>
            <a:r>
              <a:rPr lang="en-US" sz="2800" dirty="0" smtClean="0"/>
              <a:t>The </a:t>
            </a:r>
            <a:r>
              <a:rPr lang="en-US" sz="2800" b="1" dirty="0" smtClean="0">
                <a:solidFill>
                  <a:srgbClr val="2C14DE"/>
                </a:solidFill>
              </a:rPr>
              <a:t>set</a:t>
            </a:r>
            <a:r>
              <a:rPr lang="en-US" sz="2800" dirty="0" smtClean="0"/>
              <a:t> of all </a:t>
            </a:r>
            <a:r>
              <a:rPr lang="en-US" sz="2800" b="1" dirty="0" smtClean="0">
                <a:solidFill>
                  <a:srgbClr val="2C14DE"/>
                </a:solidFill>
              </a:rPr>
              <a:t>possible iteration vectors</a:t>
            </a:r>
            <a:r>
              <a:rPr lang="en-US" sz="2800" b="1" dirty="0" smtClean="0"/>
              <a:t> </a:t>
            </a:r>
            <a:r>
              <a:rPr lang="en-US" sz="2800" dirty="0" smtClean="0"/>
              <a:t>for a statement.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527380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132" y="53008"/>
            <a:ext cx="9110868" cy="785192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B80000"/>
                </a:solidFill>
              </a:rPr>
              <a:t>Ordering of iteration vectors</a:t>
            </a:r>
            <a:endParaRPr lang="en-US" b="1" dirty="0">
              <a:solidFill>
                <a:srgbClr val="B8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0223" y="8382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52400" y="1157168"/>
            <a:ext cx="8915400" cy="4185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4013" indent="-354013"/>
            <a:r>
              <a:rPr lang="en-US" sz="3000" dirty="0" smtClean="0"/>
              <a:t>• </a:t>
            </a:r>
            <a:r>
              <a:rPr lang="en-US" sz="3000" dirty="0"/>
              <a:t>Useful to define an </a:t>
            </a:r>
            <a:r>
              <a:rPr lang="en-US" sz="3000" b="1" dirty="0">
                <a:solidFill>
                  <a:srgbClr val="2C14DE"/>
                </a:solidFill>
              </a:rPr>
              <a:t>ordering</a:t>
            </a:r>
            <a:r>
              <a:rPr lang="en-US" sz="3000" dirty="0"/>
              <a:t> for </a:t>
            </a:r>
            <a:r>
              <a:rPr lang="en-US" sz="3000" b="1" dirty="0">
                <a:solidFill>
                  <a:srgbClr val="2C14DE"/>
                </a:solidFill>
              </a:rPr>
              <a:t>iteration vectors </a:t>
            </a:r>
            <a:endParaRPr lang="en-US" sz="3000" b="1" dirty="0" smtClean="0">
              <a:solidFill>
                <a:srgbClr val="2C14DE"/>
              </a:solidFill>
            </a:endParaRPr>
          </a:p>
          <a:p>
            <a:pPr marL="354013" indent="-354013"/>
            <a:endParaRPr lang="en-US" sz="3000" dirty="0"/>
          </a:p>
          <a:p>
            <a:pPr marL="354013" indent="-354013"/>
            <a:r>
              <a:rPr lang="en-US" sz="3000" dirty="0"/>
              <a:t>• </a:t>
            </a:r>
            <a:r>
              <a:rPr lang="en-US" sz="3000" b="1" i="1" dirty="0" err="1">
                <a:solidFill>
                  <a:srgbClr val="2C14DE"/>
                </a:solidFill>
              </a:rPr>
              <a:t>i</a:t>
            </a:r>
            <a:r>
              <a:rPr lang="en-US" sz="3000" dirty="0"/>
              <a:t> is a </a:t>
            </a:r>
            <a:r>
              <a:rPr lang="en-US" sz="3000" dirty="0">
                <a:solidFill>
                  <a:srgbClr val="2C14DE"/>
                </a:solidFill>
              </a:rPr>
              <a:t>vector</a:t>
            </a:r>
            <a:r>
              <a:rPr lang="en-US" sz="3000" dirty="0"/>
              <a:t> and </a:t>
            </a:r>
            <a:r>
              <a:rPr lang="en-US" sz="3000" b="1" dirty="0" err="1">
                <a:solidFill>
                  <a:srgbClr val="2C14DE"/>
                </a:solidFill>
              </a:rPr>
              <a:t>i</a:t>
            </a:r>
            <a:r>
              <a:rPr lang="en-US" sz="3000" b="1" baseline="-25000" dirty="0" err="1">
                <a:solidFill>
                  <a:srgbClr val="2C14DE"/>
                </a:solidFill>
              </a:rPr>
              <a:t>k</a:t>
            </a:r>
            <a:r>
              <a:rPr lang="en-US" sz="3000" dirty="0"/>
              <a:t> is the </a:t>
            </a:r>
            <a:r>
              <a:rPr lang="en-US" sz="3000" b="1" dirty="0">
                <a:solidFill>
                  <a:srgbClr val="2C14DE"/>
                </a:solidFill>
              </a:rPr>
              <a:t>k-</a:t>
            </a:r>
            <a:r>
              <a:rPr lang="en-US" sz="3000" b="1" dirty="0" err="1">
                <a:solidFill>
                  <a:srgbClr val="2C14DE"/>
                </a:solidFill>
              </a:rPr>
              <a:t>th</a:t>
            </a:r>
            <a:r>
              <a:rPr lang="en-US" sz="3000" b="1" dirty="0">
                <a:solidFill>
                  <a:srgbClr val="2C14DE"/>
                </a:solidFill>
              </a:rPr>
              <a:t> element </a:t>
            </a:r>
            <a:r>
              <a:rPr lang="en-US" sz="3000" dirty="0"/>
              <a:t>of </a:t>
            </a:r>
            <a:r>
              <a:rPr lang="en-US" sz="3000" b="1" i="1" dirty="0" err="1" smtClean="0">
                <a:solidFill>
                  <a:srgbClr val="2C14DE"/>
                </a:solidFill>
              </a:rPr>
              <a:t>i</a:t>
            </a:r>
            <a:r>
              <a:rPr lang="en-US" sz="3000" dirty="0" smtClean="0"/>
              <a:t/>
            </a:r>
            <a:br>
              <a:rPr lang="en-US" sz="3000" dirty="0" smtClean="0"/>
            </a:br>
            <a:r>
              <a:rPr lang="en-US" sz="3000" dirty="0" smtClean="0"/>
              <a:t>and </a:t>
            </a:r>
            <a:r>
              <a:rPr lang="en-US" sz="3000" b="1" dirty="0" err="1">
                <a:solidFill>
                  <a:srgbClr val="2C14DE"/>
                </a:solidFill>
              </a:rPr>
              <a:t>i</a:t>
            </a:r>
            <a:r>
              <a:rPr lang="en-US" sz="3000" b="1" dirty="0">
                <a:solidFill>
                  <a:srgbClr val="2C14DE"/>
                </a:solidFill>
              </a:rPr>
              <a:t>[1:k</a:t>
            </a:r>
            <a:r>
              <a:rPr lang="en-US" sz="3000" b="1" dirty="0" smtClean="0">
                <a:solidFill>
                  <a:srgbClr val="2C14DE"/>
                </a:solidFill>
              </a:rPr>
              <a:t>]</a:t>
            </a:r>
            <a:r>
              <a:rPr lang="en-US" sz="3000" dirty="0"/>
              <a:t> </a:t>
            </a:r>
            <a:r>
              <a:rPr lang="en-US" sz="3000" dirty="0" smtClean="0"/>
              <a:t>is </a:t>
            </a:r>
            <a:r>
              <a:rPr lang="en-US" sz="3000" dirty="0"/>
              <a:t>a </a:t>
            </a:r>
            <a:r>
              <a:rPr lang="en-US" sz="3000" b="1" dirty="0">
                <a:solidFill>
                  <a:srgbClr val="B80000"/>
                </a:solidFill>
              </a:rPr>
              <a:t>k-vector</a:t>
            </a:r>
            <a:r>
              <a:rPr lang="en-US" sz="3000" dirty="0">
                <a:solidFill>
                  <a:srgbClr val="B80000"/>
                </a:solidFill>
              </a:rPr>
              <a:t> </a:t>
            </a:r>
            <a:r>
              <a:rPr lang="en-US" sz="3000" dirty="0"/>
              <a:t>consisting of the </a:t>
            </a:r>
            <a:r>
              <a:rPr lang="en-US" sz="3000" b="1" dirty="0">
                <a:solidFill>
                  <a:srgbClr val="2C14DE"/>
                </a:solidFill>
              </a:rPr>
              <a:t>leftmost k </a:t>
            </a:r>
            <a:r>
              <a:rPr lang="en-US" sz="3000" b="1" dirty="0" smtClean="0">
                <a:solidFill>
                  <a:srgbClr val="2C14DE"/>
                </a:solidFill>
              </a:rPr>
              <a:t>elements</a:t>
            </a:r>
            <a:r>
              <a:rPr lang="en-US" sz="3000" dirty="0" smtClean="0">
                <a:solidFill>
                  <a:srgbClr val="2C14DE"/>
                </a:solidFill>
              </a:rPr>
              <a:t> </a:t>
            </a:r>
            <a:r>
              <a:rPr lang="en-US" sz="3000" dirty="0"/>
              <a:t>of </a:t>
            </a:r>
            <a:r>
              <a:rPr lang="en-US" sz="3000" b="1" i="1" dirty="0" err="1" smtClean="0">
                <a:solidFill>
                  <a:srgbClr val="2C14DE"/>
                </a:solidFill>
              </a:rPr>
              <a:t>i</a:t>
            </a:r>
            <a:endParaRPr lang="en-US" sz="3000" b="1" dirty="0"/>
          </a:p>
          <a:p>
            <a:endParaRPr lang="en-US" sz="3000" dirty="0" smtClean="0"/>
          </a:p>
          <a:p>
            <a:pPr marL="263525" indent="-263525">
              <a:buFont typeface="Arial"/>
              <a:buChar char="•"/>
            </a:pPr>
            <a:r>
              <a:rPr lang="en-US" sz="3000" dirty="0" smtClean="0"/>
              <a:t>Define </a:t>
            </a:r>
            <a:r>
              <a:rPr lang="en-US" sz="3000" dirty="0"/>
              <a:t>an </a:t>
            </a:r>
            <a:r>
              <a:rPr lang="en-US" sz="3000" b="1" dirty="0" smtClean="0">
                <a:solidFill>
                  <a:srgbClr val="2C14DE"/>
                </a:solidFill>
              </a:rPr>
              <a:t>order </a:t>
            </a:r>
          </a:p>
          <a:p>
            <a:pPr marL="720725" lvl="1" indent="-263525">
              <a:buFont typeface="Arial"/>
              <a:buChar char="•"/>
            </a:pPr>
            <a:r>
              <a:rPr lang="en-US" sz="3000" dirty="0" smtClean="0"/>
              <a:t>Iteration</a:t>
            </a:r>
            <a:r>
              <a:rPr lang="en-US" sz="3000" dirty="0" smtClean="0">
                <a:solidFill>
                  <a:srgbClr val="2C14DE"/>
                </a:solidFill>
              </a:rPr>
              <a:t> </a:t>
            </a:r>
            <a:r>
              <a:rPr lang="en-US" sz="3000" b="1" i="1" dirty="0" err="1">
                <a:solidFill>
                  <a:srgbClr val="2C14DE"/>
                </a:solidFill>
              </a:rPr>
              <a:t>i</a:t>
            </a:r>
            <a:r>
              <a:rPr lang="en-US" sz="3000" dirty="0"/>
              <a:t> precedes </a:t>
            </a:r>
            <a:r>
              <a:rPr lang="en-US" sz="3000" dirty="0">
                <a:solidFill>
                  <a:srgbClr val="000000"/>
                </a:solidFill>
              </a:rPr>
              <a:t>iteration</a:t>
            </a:r>
            <a:r>
              <a:rPr lang="en-US" sz="3000" dirty="0">
                <a:solidFill>
                  <a:srgbClr val="2C14DE"/>
                </a:solidFill>
              </a:rPr>
              <a:t> </a:t>
            </a:r>
            <a:r>
              <a:rPr lang="en-US" sz="3000" b="1" i="1" dirty="0">
                <a:solidFill>
                  <a:srgbClr val="2C14DE"/>
                </a:solidFill>
              </a:rPr>
              <a:t>j</a:t>
            </a:r>
            <a:r>
              <a:rPr lang="en-US" sz="3000" dirty="0"/>
              <a:t>, denoted </a:t>
            </a:r>
            <a:r>
              <a:rPr lang="en-US" sz="3000" b="1" dirty="0" err="1">
                <a:solidFill>
                  <a:srgbClr val="2C14DE"/>
                </a:solidFill>
              </a:rPr>
              <a:t>i</a:t>
            </a:r>
            <a:r>
              <a:rPr lang="en-US" sz="3000" b="1" dirty="0">
                <a:solidFill>
                  <a:srgbClr val="2C14DE"/>
                </a:solidFill>
              </a:rPr>
              <a:t> &lt; j</a:t>
            </a:r>
            <a:r>
              <a:rPr lang="en-US" sz="3000" dirty="0"/>
              <a:t>, </a:t>
            </a:r>
            <a:r>
              <a:rPr lang="en-US" sz="3000" dirty="0" err="1"/>
              <a:t>iff</a:t>
            </a:r>
            <a:r>
              <a:rPr lang="en-US" sz="3000" dirty="0"/>
              <a:t>: </a:t>
            </a:r>
          </a:p>
          <a:p>
            <a:endParaRPr lang="en-US" sz="26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768" y="5410200"/>
            <a:ext cx="7643232" cy="59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578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23" y="13181"/>
            <a:ext cx="9113777" cy="785192"/>
          </a:xfrm>
          <a:solidFill>
            <a:schemeClr val="bg1"/>
          </a:solidFill>
        </p:spPr>
        <p:txBody>
          <a:bodyPr>
            <a:noAutofit/>
          </a:bodyPr>
          <a:lstStyle/>
          <a:p>
            <a:r>
              <a:rPr lang="en-US" b="1" dirty="0" smtClean="0">
                <a:solidFill>
                  <a:srgbClr val="B80000"/>
                </a:solidFill>
              </a:rPr>
              <a:t>Formal Definition: Loop Dependence</a:t>
            </a:r>
            <a:endParaRPr lang="en-US" b="1" dirty="0">
              <a:solidFill>
                <a:srgbClr val="B8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0223" y="8382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76200" y="963573"/>
            <a:ext cx="906780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solidFill>
                  <a:srgbClr val="B80000"/>
                </a:solidFill>
              </a:rPr>
              <a:t>Theorem: </a:t>
            </a:r>
            <a:r>
              <a:rPr lang="en-US" sz="3000" b="1" dirty="0"/>
              <a:t>Loop Dependence </a:t>
            </a:r>
          </a:p>
          <a:p>
            <a:pPr marL="354013" indent="-354013"/>
            <a:endParaRPr lang="en-US" sz="2800" dirty="0"/>
          </a:p>
          <a:p>
            <a:pPr algn="just"/>
            <a:r>
              <a:rPr lang="en-US" sz="2800" dirty="0" smtClean="0"/>
              <a:t>• There </a:t>
            </a:r>
            <a:r>
              <a:rPr lang="en-US" sz="2800" dirty="0"/>
              <a:t>exists a </a:t>
            </a:r>
            <a:r>
              <a:rPr lang="en-US" sz="2800" b="1" dirty="0">
                <a:solidFill>
                  <a:srgbClr val="2C14DE"/>
                </a:solidFill>
              </a:rPr>
              <a:t>dependence</a:t>
            </a:r>
            <a:r>
              <a:rPr lang="en-US" sz="2800" dirty="0"/>
              <a:t> from statements </a:t>
            </a:r>
            <a:r>
              <a:rPr lang="en-US" sz="2800" b="1" dirty="0">
                <a:solidFill>
                  <a:srgbClr val="2C14DE"/>
                </a:solidFill>
              </a:rPr>
              <a:t>S1</a:t>
            </a:r>
            <a:r>
              <a:rPr lang="en-US" sz="2800" dirty="0">
                <a:solidFill>
                  <a:srgbClr val="2C14DE"/>
                </a:solidFill>
              </a:rPr>
              <a:t> </a:t>
            </a:r>
            <a:r>
              <a:rPr lang="en-US" sz="2800" dirty="0"/>
              <a:t>to</a:t>
            </a:r>
            <a:r>
              <a:rPr lang="en-US" sz="2800" dirty="0">
                <a:solidFill>
                  <a:srgbClr val="2C14DE"/>
                </a:solidFill>
              </a:rPr>
              <a:t> </a:t>
            </a:r>
            <a:r>
              <a:rPr lang="en-US" sz="2800" dirty="0"/>
              <a:t>statement </a:t>
            </a:r>
            <a:r>
              <a:rPr lang="en-US" sz="2800" b="1" dirty="0">
                <a:solidFill>
                  <a:srgbClr val="2C14DE"/>
                </a:solidFill>
              </a:rPr>
              <a:t>S2</a:t>
            </a:r>
            <a:r>
              <a:rPr lang="en-US" sz="2800" dirty="0"/>
              <a:t> in a </a:t>
            </a:r>
            <a:r>
              <a:rPr lang="en-US" sz="2800" dirty="0" smtClean="0"/>
              <a:t>common </a:t>
            </a:r>
            <a:r>
              <a:rPr lang="en-US" sz="2800" b="1" dirty="0">
                <a:solidFill>
                  <a:srgbClr val="2C14DE"/>
                </a:solidFill>
              </a:rPr>
              <a:t>nest of loops</a:t>
            </a:r>
            <a:r>
              <a:rPr lang="en-US" sz="2800" dirty="0">
                <a:solidFill>
                  <a:srgbClr val="2C14DE"/>
                </a:solidFill>
              </a:rPr>
              <a:t> </a:t>
            </a:r>
            <a:r>
              <a:rPr lang="en-US" sz="2800" b="1" dirty="0">
                <a:solidFill>
                  <a:srgbClr val="B80000"/>
                </a:solidFill>
              </a:rPr>
              <a:t>if and only if </a:t>
            </a:r>
            <a:r>
              <a:rPr lang="en-US" sz="2800" dirty="0"/>
              <a:t>there exist </a:t>
            </a:r>
            <a:r>
              <a:rPr lang="en-US" sz="2800" b="1" dirty="0">
                <a:solidFill>
                  <a:srgbClr val="2C14DE"/>
                </a:solidFill>
              </a:rPr>
              <a:t>two iteration vectors</a:t>
            </a:r>
            <a:r>
              <a:rPr lang="en-US" sz="2800" b="1" dirty="0"/>
              <a:t> </a:t>
            </a:r>
            <a:r>
              <a:rPr lang="en-US" sz="2800" b="1" i="1" dirty="0" err="1">
                <a:solidFill>
                  <a:srgbClr val="B80000"/>
                </a:solidFill>
              </a:rPr>
              <a:t>i</a:t>
            </a:r>
            <a:r>
              <a:rPr lang="en-US" sz="2800" b="1" i="1" dirty="0"/>
              <a:t> </a:t>
            </a:r>
            <a:r>
              <a:rPr lang="en-US" sz="2800" dirty="0"/>
              <a:t>and </a:t>
            </a:r>
            <a:r>
              <a:rPr lang="en-US" sz="2800" b="1" i="1" dirty="0">
                <a:solidFill>
                  <a:srgbClr val="B80000"/>
                </a:solidFill>
              </a:rPr>
              <a:t>j</a:t>
            </a:r>
            <a:r>
              <a:rPr lang="en-US" sz="2800" b="1" i="1" dirty="0"/>
              <a:t> </a:t>
            </a:r>
            <a:r>
              <a:rPr lang="en-US" sz="2800" dirty="0"/>
              <a:t>for the nest, such </a:t>
            </a:r>
            <a:r>
              <a:rPr lang="en-US" sz="2800" dirty="0" smtClean="0"/>
              <a:t>that:</a:t>
            </a:r>
          </a:p>
          <a:p>
            <a:endParaRPr lang="en-US" sz="2800" dirty="0" smtClean="0"/>
          </a:p>
          <a:p>
            <a:pPr marL="801688" indent="-355600">
              <a:buFont typeface="+mj-lt"/>
              <a:buAutoNum type="arabicPeriod"/>
              <a:tabLst>
                <a:tab pos="801688" algn="l"/>
              </a:tabLst>
            </a:pPr>
            <a:r>
              <a:rPr lang="en-US" sz="2800" b="1" i="1" dirty="0" smtClean="0"/>
              <a:t>  </a:t>
            </a:r>
            <a:r>
              <a:rPr lang="en-US" sz="2800" b="1" i="1" dirty="0" err="1" smtClean="0">
                <a:solidFill>
                  <a:srgbClr val="B80000"/>
                </a:solidFill>
              </a:rPr>
              <a:t>i</a:t>
            </a:r>
            <a:r>
              <a:rPr lang="en-US" sz="2800" b="1" i="1" dirty="0" smtClean="0">
                <a:solidFill>
                  <a:srgbClr val="B80000"/>
                </a:solidFill>
              </a:rPr>
              <a:t> </a:t>
            </a:r>
            <a:r>
              <a:rPr lang="en-US" sz="2800" b="1" dirty="0">
                <a:solidFill>
                  <a:srgbClr val="B80000"/>
                </a:solidFill>
              </a:rPr>
              <a:t>&lt; </a:t>
            </a:r>
            <a:r>
              <a:rPr lang="en-US" sz="2800" b="1" i="1" dirty="0">
                <a:solidFill>
                  <a:srgbClr val="B80000"/>
                </a:solidFill>
              </a:rPr>
              <a:t>j </a:t>
            </a:r>
            <a:r>
              <a:rPr lang="en-US" sz="2800" dirty="0"/>
              <a:t>or </a:t>
            </a:r>
            <a:r>
              <a:rPr lang="en-US" sz="2800" b="1" i="1" dirty="0" err="1">
                <a:solidFill>
                  <a:srgbClr val="B80000"/>
                </a:solidFill>
              </a:rPr>
              <a:t>i</a:t>
            </a:r>
            <a:r>
              <a:rPr lang="en-US" sz="2800" b="1" i="1" dirty="0">
                <a:solidFill>
                  <a:srgbClr val="B80000"/>
                </a:solidFill>
              </a:rPr>
              <a:t> </a:t>
            </a:r>
            <a:r>
              <a:rPr lang="en-US" sz="2800" b="1" dirty="0">
                <a:solidFill>
                  <a:srgbClr val="B80000"/>
                </a:solidFill>
              </a:rPr>
              <a:t>= </a:t>
            </a:r>
            <a:r>
              <a:rPr lang="en-US" sz="2800" b="1" i="1" dirty="0">
                <a:solidFill>
                  <a:srgbClr val="B80000"/>
                </a:solidFill>
              </a:rPr>
              <a:t>j </a:t>
            </a:r>
            <a:r>
              <a:rPr lang="en-US" sz="2800" dirty="0"/>
              <a:t>and there is a </a:t>
            </a:r>
            <a:r>
              <a:rPr lang="en-US" sz="2800" b="1" dirty="0">
                <a:solidFill>
                  <a:srgbClr val="2C14DE"/>
                </a:solidFill>
              </a:rPr>
              <a:t>path</a:t>
            </a:r>
            <a:r>
              <a:rPr lang="en-US" sz="2800" dirty="0"/>
              <a:t> from </a:t>
            </a:r>
            <a:r>
              <a:rPr lang="en-US" sz="2800" b="1" dirty="0">
                <a:solidFill>
                  <a:srgbClr val="2C14DE"/>
                </a:solidFill>
              </a:rPr>
              <a:t>S1</a:t>
            </a:r>
            <a:r>
              <a:rPr lang="en-US" sz="2800" dirty="0">
                <a:solidFill>
                  <a:srgbClr val="2C14DE"/>
                </a:solidFill>
              </a:rPr>
              <a:t> </a:t>
            </a:r>
            <a:r>
              <a:rPr lang="en-US" sz="2800" dirty="0"/>
              <a:t>to</a:t>
            </a:r>
            <a:r>
              <a:rPr lang="en-US" sz="2800" dirty="0">
                <a:solidFill>
                  <a:srgbClr val="2C14DE"/>
                </a:solidFill>
              </a:rPr>
              <a:t> </a:t>
            </a:r>
            <a:r>
              <a:rPr lang="en-US" sz="2800" b="1" dirty="0">
                <a:solidFill>
                  <a:srgbClr val="2C14DE"/>
                </a:solidFill>
              </a:rPr>
              <a:t>S2</a:t>
            </a:r>
            <a:r>
              <a:rPr lang="en-US" sz="2800" dirty="0">
                <a:solidFill>
                  <a:srgbClr val="2C14DE"/>
                </a:solidFill>
              </a:rPr>
              <a:t> </a:t>
            </a:r>
            <a:r>
              <a:rPr lang="en-US" sz="2800" dirty="0"/>
              <a:t>in the </a:t>
            </a:r>
            <a:r>
              <a:rPr lang="en-US" sz="2800" b="1" dirty="0">
                <a:solidFill>
                  <a:srgbClr val="2C14DE"/>
                </a:solidFill>
              </a:rPr>
              <a:t>body of the loop</a:t>
            </a:r>
            <a:r>
              <a:rPr lang="en-US" sz="2800" dirty="0" smtClean="0"/>
              <a:t>,</a:t>
            </a:r>
            <a:endParaRPr lang="en-US" sz="2800" dirty="0"/>
          </a:p>
          <a:p>
            <a:pPr marL="801688" indent="-355600">
              <a:buFont typeface="+mj-lt"/>
              <a:buAutoNum type="arabicPeriod"/>
              <a:tabLst>
                <a:tab pos="801688" algn="l"/>
              </a:tabLst>
            </a:pPr>
            <a:r>
              <a:rPr lang="en-US" sz="2800" dirty="0"/>
              <a:t>statement </a:t>
            </a:r>
            <a:r>
              <a:rPr lang="en-US" sz="2800" b="1" dirty="0">
                <a:solidFill>
                  <a:srgbClr val="2C14DE"/>
                </a:solidFill>
              </a:rPr>
              <a:t>S1 accesses </a:t>
            </a:r>
            <a:r>
              <a:rPr lang="en-US" sz="2800" dirty="0"/>
              <a:t>memory </a:t>
            </a:r>
            <a:r>
              <a:rPr lang="en-US" sz="2800" b="1" dirty="0">
                <a:solidFill>
                  <a:srgbClr val="2C14DE"/>
                </a:solidFill>
              </a:rPr>
              <a:t>location </a:t>
            </a:r>
            <a:r>
              <a:rPr lang="en-US" sz="2800" b="1" i="1" dirty="0">
                <a:solidFill>
                  <a:srgbClr val="2C14DE"/>
                </a:solidFill>
              </a:rPr>
              <a:t>M</a:t>
            </a:r>
            <a:r>
              <a:rPr lang="en-US" sz="2800" i="1" dirty="0">
                <a:solidFill>
                  <a:srgbClr val="2C14DE"/>
                </a:solidFill>
              </a:rPr>
              <a:t> </a:t>
            </a:r>
            <a:r>
              <a:rPr lang="en-US" sz="2800" dirty="0"/>
              <a:t>on iteration </a:t>
            </a:r>
            <a:r>
              <a:rPr lang="en-US" sz="2800" b="1" i="1" dirty="0" err="1">
                <a:solidFill>
                  <a:srgbClr val="B80000"/>
                </a:solidFill>
              </a:rPr>
              <a:t>i</a:t>
            </a:r>
            <a:r>
              <a:rPr lang="en-US" sz="2800" b="1" i="1" dirty="0"/>
              <a:t> </a:t>
            </a:r>
            <a:r>
              <a:rPr lang="en-US" sz="2800" dirty="0"/>
              <a:t>and </a:t>
            </a:r>
            <a:r>
              <a:rPr lang="en-US" sz="2800" b="1" dirty="0">
                <a:solidFill>
                  <a:srgbClr val="2C14DE"/>
                </a:solidFill>
              </a:rPr>
              <a:t>statement S2 </a:t>
            </a:r>
            <a:r>
              <a:rPr lang="en-US" sz="2800" dirty="0"/>
              <a:t>accesses </a:t>
            </a:r>
            <a:r>
              <a:rPr lang="en-US" sz="2800" b="1" dirty="0">
                <a:solidFill>
                  <a:srgbClr val="2C14DE"/>
                </a:solidFill>
              </a:rPr>
              <a:t>location </a:t>
            </a:r>
            <a:r>
              <a:rPr lang="en-US" sz="2800" b="1" i="1" dirty="0">
                <a:solidFill>
                  <a:srgbClr val="2C14DE"/>
                </a:solidFill>
              </a:rPr>
              <a:t>M</a:t>
            </a:r>
            <a:r>
              <a:rPr lang="en-US" sz="2800" i="1" dirty="0"/>
              <a:t> </a:t>
            </a:r>
            <a:r>
              <a:rPr lang="en-US" sz="2800" dirty="0"/>
              <a:t>on iteration </a:t>
            </a:r>
            <a:r>
              <a:rPr lang="en-US" sz="2800" b="1" i="1" dirty="0">
                <a:solidFill>
                  <a:srgbClr val="B80000"/>
                </a:solidFill>
              </a:rPr>
              <a:t>j</a:t>
            </a:r>
            <a:r>
              <a:rPr lang="en-US" sz="2800" dirty="0"/>
              <a:t>, and </a:t>
            </a:r>
          </a:p>
          <a:p>
            <a:pPr marL="801688" indent="-355600">
              <a:buFont typeface="+mj-lt"/>
              <a:buAutoNum type="arabicPeriod"/>
              <a:tabLst>
                <a:tab pos="801688" algn="l"/>
              </a:tabLst>
            </a:pPr>
            <a:r>
              <a:rPr lang="en-US" sz="2800" b="1" dirty="0">
                <a:solidFill>
                  <a:srgbClr val="2C14DE"/>
                </a:solidFill>
              </a:rPr>
              <a:t>one</a:t>
            </a:r>
            <a:r>
              <a:rPr lang="en-US" sz="2800" dirty="0"/>
              <a:t> of these </a:t>
            </a:r>
            <a:r>
              <a:rPr lang="en-US" sz="2800" b="1" dirty="0">
                <a:solidFill>
                  <a:srgbClr val="2C14DE"/>
                </a:solidFill>
              </a:rPr>
              <a:t>accesses</a:t>
            </a:r>
            <a:r>
              <a:rPr lang="en-US" sz="2800" dirty="0"/>
              <a:t> is a </a:t>
            </a:r>
            <a:r>
              <a:rPr lang="en-US" sz="2800" b="1" dirty="0" smtClean="0">
                <a:solidFill>
                  <a:srgbClr val="2C14DE"/>
                </a:solidFill>
              </a:rPr>
              <a:t>write</a:t>
            </a:r>
            <a:r>
              <a:rPr lang="en-US" sz="3200" dirty="0"/>
              <a:t/>
            </a:r>
            <a:br>
              <a:rPr lang="en-US" sz="3200" dirty="0"/>
            </a:b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2448118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816" y="44488"/>
            <a:ext cx="9114184" cy="785192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B80000"/>
                </a:solidFill>
              </a:rPr>
              <a:t>Transformations</a:t>
            </a:r>
            <a:endParaRPr lang="en-US" b="1" dirty="0">
              <a:solidFill>
                <a:srgbClr val="B8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0223" y="8382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76200" y="963573"/>
            <a:ext cx="8960296" cy="5155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0" algn="just">
              <a:spcBef>
                <a:spcPts val="600"/>
              </a:spcBef>
            </a:pPr>
            <a:r>
              <a:rPr lang="en-US" sz="2800" dirty="0" smtClean="0"/>
              <a:t>• </a:t>
            </a:r>
            <a:r>
              <a:rPr lang="en-US" sz="2800" dirty="0"/>
              <a:t>We call a </a:t>
            </a:r>
            <a:r>
              <a:rPr lang="en-US" sz="2800" b="1" dirty="0">
                <a:solidFill>
                  <a:srgbClr val="2C14DE"/>
                </a:solidFill>
              </a:rPr>
              <a:t>transformation</a:t>
            </a:r>
            <a:r>
              <a:rPr lang="en-US" sz="2800" dirty="0"/>
              <a:t> </a:t>
            </a:r>
            <a:r>
              <a:rPr lang="en-US" sz="2800" b="1" dirty="0">
                <a:solidFill>
                  <a:srgbClr val="008000"/>
                </a:solidFill>
              </a:rPr>
              <a:t>safe</a:t>
            </a:r>
            <a:r>
              <a:rPr lang="en-US" sz="2800" dirty="0">
                <a:solidFill>
                  <a:srgbClr val="008000"/>
                </a:solidFill>
              </a:rPr>
              <a:t> </a:t>
            </a:r>
            <a:r>
              <a:rPr lang="en-US" sz="2800" dirty="0"/>
              <a:t>if the </a:t>
            </a:r>
            <a:r>
              <a:rPr lang="en-US" sz="2800" b="1" dirty="0">
                <a:solidFill>
                  <a:srgbClr val="2C14DE"/>
                </a:solidFill>
              </a:rPr>
              <a:t>transformed program </a:t>
            </a:r>
            <a:r>
              <a:rPr lang="en-US" sz="2800" dirty="0"/>
              <a:t>has the </a:t>
            </a:r>
            <a:r>
              <a:rPr lang="en-US" sz="2800" b="1" dirty="0" smtClean="0">
                <a:solidFill>
                  <a:srgbClr val="2C14DE"/>
                </a:solidFill>
              </a:rPr>
              <a:t>same</a:t>
            </a:r>
            <a:r>
              <a:rPr lang="en-US" sz="2800" dirty="0" smtClean="0">
                <a:solidFill>
                  <a:srgbClr val="2C14DE"/>
                </a:solidFill>
              </a:rPr>
              <a:t> "</a:t>
            </a:r>
            <a:r>
              <a:rPr lang="en-US" sz="2800" b="1" dirty="0" smtClean="0">
                <a:solidFill>
                  <a:srgbClr val="2C14DE"/>
                </a:solidFill>
              </a:rPr>
              <a:t>meaning</a:t>
            </a:r>
            <a:r>
              <a:rPr lang="en-US" sz="2800" dirty="0">
                <a:solidFill>
                  <a:srgbClr val="2C14DE"/>
                </a:solidFill>
              </a:rPr>
              <a:t>" </a:t>
            </a:r>
            <a:r>
              <a:rPr lang="en-US" sz="2800" dirty="0"/>
              <a:t>as the </a:t>
            </a:r>
            <a:r>
              <a:rPr lang="en-US" sz="2800" b="1" u="sng" dirty="0">
                <a:solidFill>
                  <a:srgbClr val="2C14DE"/>
                </a:solidFill>
              </a:rPr>
              <a:t>original </a:t>
            </a:r>
            <a:r>
              <a:rPr lang="en-US" sz="2800" b="1" u="sng" dirty="0" smtClean="0">
                <a:solidFill>
                  <a:srgbClr val="2C14DE"/>
                </a:solidFill>
              </a:rPr>
              <a:t>program</a:t>
            </a:r>
          </a:p>
          <a:p>
            <a:pPr marL="36000">
              <a:spcBef>
                <a:spcPts val="600"/>
              </a:spcBef>
            </a:pPr>
            <a:endParaRPr lang="en-US" sz="2800" dirty="0" smtClean="0"/>
          </a:p>
          <a:p>
            <a:pPr marL="36000">
              <a:spcBef>
                <a:spcPts val="600"/>
              </a:spcBef>
            </a:pPr>
            <a:r>
              <a:rPr lang="en-US" sz="2800" dirty="0"/>
              <a:t>• But, what is the </a:t>
            </a:r>
            <a:r>
              <a:rPr lang="en-US" sz="2800" dirty="0">
                <a:solidFill>
                  <a:srgbClr val="2C14DE"/>
                </a:solidFill>
              </a:rPr>
              <a:t>"</a:t>
            </a:r>
            <a:r>
              <a:rPr lang="en-US" sz="2800" b="1" dirty="0">
                <a:solidFill>
                  <a:srgbClr val="2C14DE"/>
                </a:solidFill>
              </a:rPr>
              <a:t>meaning</a:t>
            </a:r>
            <a:r>
              <a:rPr lang="en-US" sz="2800" dirty="0">
                <a:solidFill>
                  <a:srgbClr val="2C14DE"/>
                </a:solidFill>
              </a:rPr>
              <a:t>" </a:t>
            </a:r>
            <a:r>
              <a:rPr lang="en-US" sz="2800" dirty="0"/>
              <a:t>of a </a:t>
            </a:r>
            <a:r>
              <a:rPr lang="en-US" sz="2800" b="1" dirty="0"/>
              <a:t>program?</a:t>
            </a:r>
            <a:r>
              <a:rPr lang="en-US" sz="2800" dirty="0"/>
              <a:t> </a:t>
            </a:r>
          </a:p>
          <a:p>
            <a:pPr marL="36000">
              <a:spcBef>
                <a:spcPts val="600"/>
              </a:spcBef>
            </a:pPr>
            <a:r>
              <a:rPr lang="en-US" sz="2800" dirty="0" smtClean="0"/>
              <a:t> </a:t>
            </a:r>
          </a:p>
          <a:p>
            <a:pPr marL="36000">
              <a:spcBef>
                <a:spcPts val="600"/>
              </a:spcBef>
            </a:pPr>
            <a:endParaRPr lang="en-US" sz="2800" dirty="0" smtClean="0"/>
          </a:p>
          <a:p>
            <a:pPr marL="36000">
              <a:spcBef>
                <a:spcPts val="600"/>
              </a:spcBef>
            </a:pPr>
            <a:r>
              <a:rPr lang="en-US" sz="3200" b="1" u="sng" dirty="0" smtClean="0">
                <a:solidFill>
                  <a:srgbClr val="B80000"/>
                </a:solidFill>
              </a:rPr>
              <a:t>“Meaning</a:t>
            </a:r>
            <a:r>
              <a:rPr lang="en-US" sz="3200" u="sng" dirty="0" smtClean="0">
                <a:solidFill>
                  <a:srgbClr val="B80000"/>
                </a:solidFill>
              </a:rPr>
              <a:t>” </a:t>
            </a:r>
            <a:r>
              <a:rPr lang="en-US" sz="3200" u="sng" dirty="0">
                <a:solidFill>
                  <a:srgbClr val="B80000"/>
                </a:solidFill>
              </a:rPr>
              <a:t>of a </a:t>
            </a:r>
            <a:r>
              <a:rPr lang="en-US" sz="3200" b="1" u="sng" dirty="0" smtClean="0">
                <a:solidFill>
                  <a:srgbClr val="B80000"/>
                </a:solidFill>
              </a:rPr>
              <a:t>program: </a:t>
            </a:r>
            <a:endParaRPr lang="en-US" sz="3200" b="1" u="sng" dirty="0">
              <a:solidFill>
                <a:srgbClr val="B80000"/>
              </a:solidFill>
            </a:endParaRPr>
          </a:p>
          <a:p>
            <a:pPr marL="36000" algn="just">
              <a:spcBef>
                <a:spcPts val="600"/>
              </a:spcBef>
              <a:spcAft>
                <a:spcPts val="1200"/>
              </a:spcAft>
            </a:pPr>
            <a:r>
              <a:rPr lang="en-US" sz="2800" dirty="0" smtClean="0"/>
              <a:t>• </a:t>
            </a:r>
            <a:r>
              <a:rPr lang="en-US" sz="2800" b="1" dirty="0" smtClean="0">
                <a:solidFill>
                  <a:srgbClr val="2C14DE"/>
                </a:solidFill>
              </a:rPr>
              <a:t>Two </a:t>
            </a:r>
            <a:r>
              <a:rPr lang="en-US" sz="2800" b="1" dirty="0">
                <a:solidFill>
                  <a:srgbClr val="2C14DE"/>
                </a:solidFill>
              </a:rPr>
              <a:t>computations </a:t>
            </a:r>
            <a:r>
              <a:rPr lang="en-US" sz="2800" dirty="0"/>
              <a:t>are </a:t>
            </a:r>
            <a:r>
              <a:rPr lang="en-US" sz="2800" b="1" dirty="0">
                <a:solidFill>
                  <a:srgbClr val="2C14DE"/>
                </a:solidFill>
              </a:rPr>
              <a:t>equivalent</a:t>
            </a:r>
            <a:r>
              <a:rPr lang="en-US" sz="2800" dirty="0"/>
              <a:t> if, on the </a:t>
            </a:r>
            <a:r>
              <a:rPr lang="en-US" sz="2800" b="1" dirty="0">
                <a:solidFill>
                  <a:srgbClr val="2C14DE"/>
                </a:solidFill>
              </a:rPr>
              <a:t>same inputs </a:t>
            </a:r>
            <a:r>
              <a:rPr lang="en-US" sz="2800" b="1" dirty="0"/>
              <a:t> </a:t>
            </a:r>
            <a:r>
              <a:rPr lang="en-US" sz="2800" b="1" dirty="0" smtClean="0"/>
              <a:t>      </a:t>
            </a:r>
            <a:r>
              <a:rPr lang="en-US" sz="2800" dirty="0" smtClean="0"/>
              <a:t>they </a:t>
            </a:r>
            <a:r>
              <a:rPr lang="en-US" sz="2800" b="1" dirty="0">
                <a:solidFill>
                  <a:srgbClr val="2C14DE"/>
                </a:solidFill>
              </a:rPr>
              <a:t>produce</a:t>
            </a:r>
            <a:r>
              <a:rPr lang="en-US" sz="2800" dirty="0"/>
              <a:t> the </a:t>
            </a:r>
            <a:r>
              <a:rPr lang="en-US" sz="2800" b="1" dirty="0">
                <a:solidFill>
                  <a:srgbClr val="2C14DE"/>
                </a:solidFill>
              </a:rPr>
              <a:t>same outputs </a:t>
            </a:r>
            <a:r>
              <a:rPr lang="en-US" sz="2800" dirty="0"/>
              <a:t>in the </a:t>
            </a:r>
            <a:r>
              <a:rPr lang="en-US" sz="2800" b="1" dirty="0">
                <a:solidFill>
                  <a:srgbClr val="2C14DE"/>
                </a:solidFill>
              </a:rPr>
              <a:t>same order</a:t>
            </a:r>
            <a:r>
              <a:rPr lang="en-US" sz="2800" b="1" dirty="0" smtClean="0"/>
              <a:t>.</a:t>
            </a:r>
            <a:endParaRPr lang="en-US" sz="2800" b="1" dirty="0"/>
          </a:p>
          <a:p>
            <a:pPr marL="36000">
              <a:spcBef>
                <a:spcPts val="600"/>
              </a:spcBef>
              <a:spcAft>
                <a:spcPts val="1200"/>
              </a:spcAft>
            </a:pPr>
            <a:r>
              <a:rPr lang="en-US" sz="2800" dirty="0"/>
              <a:t>• Of course the </a:t>
            </a:r>
            <a:r>
              <a:rPr lang="en-US" sz="2800" b="1" dirty="0">
                <a:solidFill>
                  <a:srgbClr val="2C14DE"/>
                </a:solidFill>
              </a:rPr>
              <a:t>performance</a:t>
            </a:r>
            <a:r>
              <a:rPr lang="en-US" sz="2800" dirty="0"/>
              <a:t> of the program </a:t>
            </a:r>
            <a:r>
              <a:rPr lang="en-US" sz="2800" b="1" dirty="0">
                <a:solidFill>
                  <a:srgbClr val="2C14DE"/>
                </a:solidFill>
              </a:rPr>
              <a:t>may change</a:t>
            </a:r>
            <a:r>
              <a:rPr lang="en-US" sz="2800" dirty="0"/>
              <a:t>! </a:t>
            </a:r>
          </a:p>
        </p:txBody>
      </p:sp>
    </p:spTree>
    <p:extLst>
      <p:ext uri="{BB962C8B-B14F-4D97-AF65-F5344CB8AC3E}">
        <p14:creationId xmlns:p14="http://schemas.microsoft.com/office/powerpoint/2010/main" val="1945645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76200"/>
            <a:ext cx="8991600" cy="708992"/>
          </a:xfrm>
        </p:spPr>
        <p:txBody>
          <a:bodyPr>
            <a:noAutofit/>
          </a:bodyPr>
          <a:lstStyle/>
          <a:p>
            <a:r>
              <a:rPr lang="en-US" b="1" dirty="0" smtClean="0">
                <a:solidFill>
                  <a:srgbClr val="B80000"/>
                </a:solidFill>
              </a:rPr>
              <a:t>Re-Ordering Transformations</a:t>
            </a:r>
            <a:endParaRPr lang="en-US" b="1" dirty="0">
              <a:solidFill>
                <a:srgbClr val="B8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0223" y="8382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76200" y="963573"/>
            <a:ext cx="8888288" cy="5247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dirty="0" smtClean="0"/>
              <a:t>• </a:t>
            </a:r>
            <a:r>
              <a:rPr lang="en-US" sz="3000" dirty="0"/>
              <a:t>A </a:t>
            </a:r>
            <a:r>
              <a:rPr lang="en-US" sz="3000" b="1" dirty="0">
                <a:solidFill>
                  <a:srgbClr val="B80000"/>
                </a:solidFill>
              </a:rPr>
              <a:t>reordering transformation </a:t>
            </a:r>
            <a:r>
              <a:rPr lang="en-US" sz="3000" dirty="0"/>
              <a:t>is any program </a:t>
            </a:r>
            <a:r>
              <a:rPr lang="en-US" sz="3000" b="1" dirty="0">
                <a:solidFill>
                  <a:srgbClr val="2C14DE"/>
                </a:solidFill>
              </a:rPr>
              <a:t>transformation</a:t>
            </a:r>
            <a:r>
              <a:rPr lang="en-US" sz="3000" dirty="0"/>
              <a:t> that </a:t>
            </a:r>
            <a:r>
              <a:rPr lang="en-US" sz="3000" b="1" dirty="0">
                <a:solidFill>
                  <a:srgbClr val="2C14DE"/>
                </a:solidFill>
              </a:rPr>
              <a:t>merely changes </a:t>
            </a:r>
            <a:r>
              <a:rPr lang="en-US" sz="3000" dirty="0"/>
              <a:t>the </a:t>
            </a:r>
            <a:r>
              <a:rPr lang="en-US" sz="3000" b="1" dirty="0">
                <a:solidFill>
                  <a:srgbClr val="2C14DE"/>
                </a:solidFill>
              </a:rPr>
              <a:t>order of execution </a:t>
            </a:r>
            <a:r>
              <a:rPr lang="en-US" sz="3000" dirty="0"/>
              <a:t>of the </a:t>
            </a:r>
            <a:r>
              <a:rPr lang="en-US" sz="3000" b="1" dirty="0">
                <a:solidFill>
                  <a:srgbClr val="2C14DE"/>
                </a:solidFill>
              </a:rPr>
              <a:t>code</a:t>
            </a:r>
            <a:r>
              <a:rPr lang="en-US" sz="3000" dirty="0"/>
              <a:t>, </a:t>
            </a:r>
            <a:r>
              <a:rPr lang="en-US" sz="3000" b="1" u="sng" dirty="0">
                <a:solidFill>
                  <a:srgbClr val="2C14DE"/>
                </a:solidFill>
              </a:rPr>
              <a:t>without adding </a:t>
            </a:r>
            <a:r>
              <a:rPr lang="en-US" sz="3000" dirty="0"/>
              <a:t>or </a:t>
            </a:r>
            <a:r>
              <a:rPr lang="en-US" sz="3000" b="1" u="sng" dirty="0">
                <a:solidFill>
                  <a:srgbClr val="2C14DE"/>
                </a:solidFill>
              </a:rPr>
              <a:t>deleting</a:t>
            </a:r>
            <a:r>
              <a:rPr lang="en-US" sz="3000" dirty="0">
                <a:solidFill>
                  <a:srgbClr val="2C14DE"/>
                </a:solidFill>
              </a:rPr>
              <a:t> </a:t>
            </a:r>
            <a:r>
              <a:rPr lang="en-US" sz="3000" b="1" dirty="0">
                <a:solidFill>
                  <a:srgbClr val="2C14DE"/>
                </a:solidFill>
              </a:rPr>
              <a:t>any executions </a:t>
            </a:r>
            <a:r>
              <a:rPr lang="en-US" sz="3000" dirty="0"/>
              <a:t>of any </a:t>
            </a:r>
            <a:r>
              <a:rPr lang="en-US" sz="3000" b="1" dirty="0">
                <a:solidFill>
                  <a:srgbClr val="2C14DE"/>
                </a:solidFill>
              </a:rPr>
              <a:t>statements</a:t>
            </a:r>
            <a:r>
              <a:rPr lang="en-US" sz="3000" dirty="0"/>
              <a:t>. </a:t>
            </a:r>
          </a:p>
          <a:p>
            <a:pPr marL="36000">
              <a:spcBef>
                <a:spcPts val="600"/>
              </a:spcBef>
            </a:pPr>
            <a:endParaRPr lang="en-US" sz="2800" dirty="0" smtClean="0"/>
          </a:p>
          <a:p>
            <a:pPr marL="36000" algn="just">
              <a:spcBef>
                <a:spcPts val="600"/>
              </a:spcBef>
            </a:pPr>
            <a:r>
              <a:rPr lang="en-US" sz="3000" dirty="0"/>
              <a:t>• A </a:t>
            </a:r>
            <a:r>
              <a:rPr lang="en-US" sz="3000" b="1" u="sng" dirty="0">
                <a:solidFill>
                  <a:srgbClr val="2C14DE"/>
                </a:solidFill>
              </a:rPr>
              <a:t>reordering transformation</a:t>
            </a:r>
            <a:r>
              <a:rPr lang="en-US" sz="3000" b="1" dirty="0">
                <a:solidFill>
                  <a:srgbClr val="2C14DE"/>
                </a:solidFill>
              </a:rPr>
              <a:t> </a:t>
            </a:r>
            <a:r>
              <a:rPr lang="en-US" sz="3000" dirty="0"/>
              <a:t>does </a:t>
            </a:r>
            <a:r>
              <a:rPr lang="en-US" sz="3000" b="1" u="sng" dirty="0">
                <a:solidFill>
                  <a:srgbClr val="2C14DE"/>
                </a:solidFill>
              </a:rPr>
              <a:t>not eliminate dependences</a:t>
            </a:r>
            <a:r>
              <a:rPr lang="en-US" sz="3000" b="1" u="sng" dirty="0"/>
              <a:t>. </a:t>
            </a:r>
          </a:p>
          <a:p>
            <a:pPr marL="36000">
              <a:spcBef>
                <a:spcPts val="600"/>
              </a:spcBef>
            </a:pPr>
            <a:endParaRPr lang="en-US" sz="2800" dirty="0"/>
          </a:p>
          <a:p>
            <a:r>
              <a:rPr lang="en-US" sz="2800" dirty="0" smtClean="0"/>
              <a:t>• </a:t>
            </a:r>
            <a:r>
              <a:rPr lang="en-US" sz="2800" b="1" dirty="0">
                <a:solidFill>
                  <a:srgbClr val="B80000"/>
                </a:solidFill>
              </a:rPr>
              <a:t>However</a:t>
            </a:r>
            <a:r>
              <a:rPr lang="en-US" sz="2800" dirty="0">
                <a:solidFill>
                  <a:srgbClr val="B80000"/>
                </a:solidFill>
              </a:rPr>
              <a:t>, </a:t>
            </a:r>
            <a:r>
              <a:rPr lang="en-US" sz="2800" dirty="0"/>
              <a:t>it can </a:t>
            </a:r>
            <a:r>
              <a:rPr lang="en-US" sz="2800" b="1" dirty="0">
                <a:solidFill>
                  <a:srgbClr val="2C14DE"/>
                </a:solidFill>
              </a:rPr>
              <a:t>change</a:t>
            </a:r>
            <a:r>
              <a:rPr lang="en-US" sz="2800" dirty="0"/>
              <a:t> the </a:t>
            </a:r>
            <a:r>
              <a:rPr lang="en-US" sz="2800" b="1" dirty="0">
                <a:solidFill>
                  <a:srgbClr val="2C14DE"/>
                </a:solidFill>
              </a:rPr>
              <a:t>ordering</a:t>
            </a:r>
            <a:r>
              <a:rPr lang="en-US" sz="2800" dirty="0"/>
              <a:t> of </a:t>
            </a:r>
            <a:r>
              <a:rPr lang="en-US" sz="2800" b="1" dirty="0">
                <a:solidFill>
                  <a:srgbClr val="2C14DE"/>
                </a:solidFill>
              </a:rPr>
              <a:t>the </a:t>
            </a:r>
            <a:r>
              <a:rPr lang="en-US" sz="2800" b="1" dirty="0" smtClean="0">
                <a:solidFill>
                  <a:srgbClr val="2C14DE"/>
                </a:solidFill>
              </a:rPr>
              <a:t>dependence</a:t>
            </a:r>
            <a:r>
              <a:rPr lang="en-US" sz="2800" dirty="0" smtClean="0">
                <a:solidFill>
                  <a:srgbClr val="2C14DE"/>
                </a:solidFill>
              </a:rPr>
              <a:t>:</a:t>
            </a:r>
            <a:endParaRPr lang="en-US" sz="2800" dirty="0">
              <a:solidFill>
                <a:srgbClr val="2C14DE"/>
              </a:solidFill>
            </a:endParaRPr>
          </a:p>
          <a:p>
            <a:r>
              <a:rPr lang="en-US" sz="2800" dirty="0" smtClean="0"/>
              <a:t>	• e.g</a:t>
            </a:r>
            <a:r>
              <a:rPr lang="en-US" sz="2800" dirty="0"/>
              <a:t>. change from </a:t>
            </a:r>
            <a:r>
              <a:rPr lang="en-US" sz="2800" b="1" dirty="0">
                <a:solidFill>
                  <a:srgbClr val="2C14DE"/>
                </a:solidFill>
              </a:rPr>
              <a:t>true </a:t>
            </a:r>
            <a:r>
              <a:rPr lang="en-US" sz="2800" b="1" dirty="0" smtClean="0">
                <a:solidFill>
                  <a:srgbClr val="2C14DE"/>
                </a:solidFill>
                <a:sym typeface="Wingdings"/>
              </a:rPr>
              <a:t></a:t>
            </a:r>
            <a:r>
              <a:rPr lang="en-US" sz="2800" b="1" dirty="0" smtClean="0">
                <a:solidFill>
                  <a:srgbClr val="2C14DE"/>
                </a:solidFill>
              </a:rPr>
              <a:t> </a:t>
            </a:r>
            <a:r>
              <a:rPr lang="en-US" sz="2800" b="1" dirty="0">
                <a:solidFill>
                  <a:srgbClr val="2C14DE"/>
                </a:solidFill>
              </a:rPr>
              <a:t>anti-dependence </a:t>
            </a:r>
            <a:r>
              <a:rPr lang="en-US" sz="2800" dirty="0"/>
              <a:t>or </a:t>
            </a:r>
            <a:r>
              <a:rPr lang="en-US" sz="2800" b="1" dirty="0">
                <a:solidFill>
                  <a:srgbClr val="2C14DE"/>
                </a:solidFill>
              </a:rPr>
              <a:t>vice </a:t>
            </a:r>
            <a:r>
              <a:rPr lang="en-US" sz="2800" b="1" dirty="0" smtClean="0">
                <a:solidFill>
                  <a:srgbClr val="2C14DE"/>
                </a:solidFill>
              </a:rPr>
              <a:t> 	versa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3014476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732" y="53008"/>
            <a:ext cx="8882268" cy="785192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B80000"/>
                </a:solidFill>
              </a:rPr>
              <a:t>Re-Ordering Transformations</a:t>
            </a:r>
            <a:endParaRPr lang="en-US" b="1" dirty="0">
              <a:solidFill>
                <a:srgbClr val="B8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0223" y="8382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76200" y="963573"/>
            <a:ext cx="8915400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dirty="0" smtClean="0"/>
              <a:t>• </a:t>
            </a:r>
            <a:r>
              <a:rPr lang="en-US" sz="3000" dirty="0"/>
              <a:t>A </a:t>
            </a:r>
            <a:r>
              <a:rPr lang="en-US" sz="3000" b="1" dirty="0"/>
              <a:t>reordering transformation </a:t>
            </a:r>
            <a:r>
              <a:rPr lang="en-US" sz="3000" b="1" dirty="0">
                <a:solidFill>
                  <a:srgbClr val="2C14DE"/>
                </a:solidFill>
              </a:rPr>
              <a:t>preserves a dependence </a:t>
            </a:r>
            <a:r>
              <a:rPr lang="en-US" sz="3000" dirty="0"/>
              <a:t>if it </a:t>
            </a:r>
            <a:r>
              <a:rPr lang="en-US" sz="3000" dirty="0">
                <a:solidFill>
                  <a:srgbClr val="2C14DE"/>
                </a:solidFill>
              </a:rPr>
              <a:t>preserves the </a:t>
            </a:r>
            <a:r>
              <a:rPr lang="en-US" sz="3000" b="1" u="sng" dirty="0">
                <a:solidFill>
                  <a:srgbClr val="2C14DE"/>
                </a:solidFill>
              </a:rPr>
              <a:t>relative execution order</a:t>
            </a:r>
            <a:r>
              <a:rPr lang="en-US" sz="3000" b="1" u="sng" dirty="0"/>
              <a:t> </a:t>
            </a:r>
            <a:r>
              <a:rPr lang="en-US" sz="3000" dirty="0"/>
              <a:t>of the </a:t>
            </a:r>
            <a:r>
              <a:rPr lang="en-US" sz="3000" b="1" i="1" u="sng" dirty="0">
                <a:solidFill>
                  <a:srgbClr val="2C14DE"/>
                </a:solidFill>
              </a:rPr>
              <a:t>source</a:t>
            </a:r>
            <a:r>
              <a:rPr lang="en-US" sz="3000" dirty="0"/>
              <a:t> and </a:t>
            </a:r>
            <a:r>
              <a:rPr lang="en-US" sz="3000" b="1" i="1" u="sng" dirty="0">
                <a:solidFill>
                  <a:srgbClr val="2C14DE"/>
                </a:solidFill>
              </a:rPr>
              <a:t>sink</a:t>
            </a:r>
            <a:r>
              <a:rPr lang="en-US" sz="3000" dirty="0">
                <a:solidFill>
                  <a:srgbClr val="2C14DE"/>
                </a:solidFill>
              </a:rPr>
              <a:t> </a:t>
            </a:r>
            <a:r>
              <a:rPr lang="en-US" sz="3000" dirty="0"/>
              <a:t>of that </a:t>
            </a:r>
            <a:r>
              <a:rPr lang="en-US" sz="3000" b="1" dirty="0">
                <a:solidFill>
                  <a:srgbClr val="2C14DE"/>
                </a:solidFill>
              </a:rPr>
              <a:t>dependence</a:t>
            </a:r>
            <a:r>
              <a:rPr lang="en-US" sz="3000" dirty="0"/>
              <a:t>. </a:t>
            </a:r>
            <a:endParaRPr lang="en-US" sz="3000" dirty="0" smtClean="0"/>
          </a:p>
          <a:p>
            <a:pPr algn="just"/>
            <a:endParaRPr lang="en-US" sz="3000" dirty="0"/>
          </a:p>
          <a:p>
            <a:pPr algn="just"/>
            <a:endParaRPr lang="en-US" sz="3000" dirty="0"/>
          </a:p>
          <a:p>
            <a:pPr algn="just"/>
            <a:r>
              <a:rPr lang="en-US" sz="3000" dirty="0"/>
              <a:t>• </a:t>
            </a:r>
            <a:r>
              <a:rPr lang="en-US" sz="3000" b="1" dirty="0">
                <a:solidFill>
                  <a:srgbClr val="2C14DE"/>
                </a:solidFill>
              </a:rPr>
              <a:t>Reordering transformations </a:t>
            </a:r>
            <a:r>
              <a:rPr lang="en-US" sz="3000" dirty="0"/>
              <a:t>changing the </a:t>
            </a:r>
            <a:r>
              <a:rPr lang="en-US" sz="3000" b="1" u="sng" dirty="0">
                <a:solidFill>
                  <a:srgbClr val="2C14DE"/>
                </a:solidFill>
              </a:rPr>
              <a:t>control flow </a:t>
            </a:r>
            <a:r>
              <a:rPr lang="en-US" sz="3000" dirty="0"/>
              <a:t>can be applied to </a:t>
            </a:r>
            <a:r>
              <a:rPr lang="en-US" sz="3000" dirty="0">
                <a:solidFill>
                  <a:srgbClr val="2C14DE"/>
                </a:solidFill>
              </a:rPr>
              <a:t>improve the code </a:t>
            </a:r>
            <a:r>
              <a:rPr lang="en-US" sz="3000" b="1" u="sng" dirty="0"/>
              <a:t>unless </a:t>
            </a:r>
            <a:r>
              <a:rPr lang="en-US" sz="3000" b="1" u="sng" dirty="0">
                <a:solidFill>
                  <a:srgbClr val="2C14DE"/>
                </a:solidFill>
              </a:rPr>
              <a:t>any dependence is violated</a:t>
            </a:r>
            <a:r>
              <a:rPr lang="en-US" sz="3000" b="1" u="sng" dirty="0"/>
              <a:t>. </a:t>
            </a:r>
          </a:p>
          <a:p>
            <a:endParaRPr lang="en-US" sz="2800" dirty="0"/>
          </a:p>
          <a:p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1699841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23" y="53008"/>
            <a:ext cx="9113777" cy="785192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B80000"/>
                </a:solidFill>
              </a:rPr>
              <a:t>Example: Improving Data Locality</a:t>
            </a:r>
            <a:endParaRPr lang="en-US" b="1" dirty="0">
              <a:solidFill>
                <a:srgbClr val="B8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0223" y="8382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290" y="1124744"/>
            <a:ext cx="7281665" cy="5309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902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23" y="30148"/>
            <a:ext cx="9067800" cy="708992"/>
          </a:xfrm>
          <a:solidFill>
            <a:schemeClr val="bg1"/>
          </a:solidFill>
        </p:spPr>
        <p:txBody>
          <a:bodyPr>
            <a:noAutofit/>
          </a:bodyPr>
          <a:lstStyle/>
          <a:p>
            <a:r>
              <a:rPr lang="en-US" sz="4000" b="1" dirty="0" smtClean="0">
                <a:solidFill>
                  <a:srgbClr val="B80000"/>
                </a:solidFill>
              </a:rPr>
              <a:t>Fundamental Theorem of Dependence</a:t>
            </a:r>
            <a:endParaRPr lang="en-US" sz="4000" b="1" dirty="0">
              <a:solidFill>
                <a:srgbClr val="B8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0223" y="7162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8323" y="762000"/>
            <a:ext cx="89916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u="sng" dirty="0" smtClean="0">
                <a:solidFill>
                  <a:srgbClr val="B80000"/>
                </a:solidFill>
              </a:rPr>
              <a:t>• </a:t>
            </a:r>
            <a:r>
              <a:rPr lang="en-US" sz="3000" b="1" u="sng" dirty="0">
                <a:solidFill>
                  <a:srgbClr val="B80000"/>
                </a:solidFill>
              </a:rPr>
              <a:t>Fundamental Theorem of Dependence: </a:t>
            </a:r>
            <a:endParaRPr lang="en-US" sz="3000" b="1" u="sng" dirty="0" smtClean="0">
              <a:solidFill>
                <a:srgbClr val="B80000"/>
              </a:solidFill>
            </a:endParaRPr>
          </a:p>
          <a:p>
            <a:pPr marL="914400" lvl="1" indent="-457200" algn="just">
              <a:buFont typeface="Wingdings" charset="2"/>
              <a:buChar char="²"/>
            </a:pPr>
            <a:r>
              <a:rPr lang="en-US" sz="3000" dirty="0" smtClean="0"/>
              <a:t>Any </a:t>
            </a:r>
            <a:r>
              <a:rPr lang="en-US" sz="3000" b="1" dirty="0" smtClean="0">
                <a:solidFill>
                  <a:srgbClr val="2C14DE"/>
                </a:solidFill>
              </a:rPr>
              <a:t>reordering transformation </a:t>
            </a:r>
            <a:r>
              <a:rPr lang="en-US" sz="3000" dirty="0" smtClean="0"/>
              <a:t>that </a:t>
            </a:r>
            <a:r>
              <a:rPr lang="en-US" sz="3000" b="1" dirty="0" smtClean="0">
                <a:solidFill>
                  <a:srgbClr val="2C14DE"/>
                </a:solidFill>
              </a:rPr>
              <a:t>preserves</a:t>
            </a:r>
            <a:r>
              <a:rPr lang="en-US" sz="3000" b="1" dirty="0" smtClean="0"/>
              <a:t> </a:t>
            </a:r>
            <a:r>
              <a:rPr lang="en-US" sz="3000" b="1" dirty="0" smtClean="0">
                <a:solidFill>
                  <a:srgbClr val="2C14DE"/>
                </a:solidFill>
              </a:rPr>
              <a:t>every </a:t>
            </a:r>
            <a:r>
              <a:rPr lang="en-US" sz="3000" b="1" dirty="0">
                <a:solidFill>
                  <a:srgbClr val="2C14DE"/>
                </a:solidFill>
              </a:rPr>
              <a:t>dependence</a:t>
            </a:r>
            <a:r>
              <a:rPr lang="en-US" sz="3000" dirty="0">
                <a:solidFill>
                  <a:srgbClr val="2C14DE"/>
                </a:solidFill>
              </a:rPr>
              <a:t> </a:t>
            </a:r>
            <a:r>
              <a:rPr lang="en-US" sz="3000" dirty="0"/>
              <a:t>in a </a:t>
            </a:r>
            <a:r>
              <a:rPr lang="en-US" sz="3000" b="1" dirty="0">
                <a:solidFill>
                  <a:srgbClr val="2C14DE"/>
                </a:solidFill>
              </a:rPr>
              <a:t>program</a:t>
            </a:r>
            <a:r>
              <a:rPr lang="en-US" sz="3000" dirty="0"/>
              <a:t> </a:t>
            </a:r>
            <a:r>
              <a:rPr lang="en-US" sz="3000" b="1" dirty="0" smtClean="0">
                <a:solidFill>
                  <a:srgbClr val="008000"/>
                </a:solidFill>
              </a:rPr>
              <a:t>preserves </a:t>
            </a:r>
            <a:r>
              <a:rPr lang="en-US" sz="3000" b="1" dirty="0">
                <a:solidFill>
                  <a:srgbClr val="008000"/>
                </a:solidFill>
              </a:rPr>
              <a:t>the meaning of that program</a:t>
            </a:r>
            <a:r>
              <a:rPr lang="en-US" sz="3000" dirty="0">
                <a:solidFill>
                  <a:srgbClr val="008000"/>
                </a:solidFill>
              </a:rPr>
              <a:t> </a:t>
            </a:r>
          </a:p>
          <a:p>
            <a:endParaRPr lang="en-US" sz="3000" dirty="0" smtClean="0"/>
          </a:p>
          <a:p>
            <a:pPr marL="457200" indent="-457200" algn="just">
              <a:buFont typeface="Arial"/>
              <a:buChar char="•"/>
            </a:pPr>
            <a:r>
              <a:rPr lang="en-US" sz="3000" dirty="0" smtClean="0"/>
              <a:t>A </a:t>
            </a:r>
            <a:r>
              <a:rPr lang="en-US" sz="3000" b="1" dirty="0">
                <a:solidFill>
                  <a:srgbClr val="2C14DE"/>
                </a:solidFill>
              </a:rPr>
              <a:t>transformation</a:t>
            </a:r>
            <a:r>
              <a:rPr lang="en-US" sz="3000" dirty="0"/>
              <a:t> is </a:t>
            </a:r>
            <a:r>
              <a:rPr lang="en-US" sz="3000" dirty="0" smtClean="0"/>
              <a:t>said to </a:t>
            </a:r>
            <a:r>
              <a:rPr lang="en-US" sz="3000" dirty="0"/>
              <a:t>be </a:t>
            </a:r>
            <a:r>
              <a:rPr lang="en-US" sz="3000" b="1" i="1" dirty="0">
                <a:solidFill>
                  <a:srgbClr val="008000"/>
                </a:solidFill>
              </a:rPr>
              <a:t>valid</a:t>
            </a:r>
            <a:r>
              <a:rPr lang="en-US" sz="3000" i="1" dirty="0">
                <a:solidFill>
                  <a:srgbClr val="008000"/>
                </a:solidFill>
              </a:rPr>
              <a:t> </a:t>
            </a:r>
            <a:r>
              <a:rPr lang="en-US" sz="3000" dirty="0"/>
              <a:t>for the program to which it applies </a:t>
            </a:r>
            <a:r>
              <a:rPr lang="en-US" sz="3000" b="1" u="sng" dirty="0">
                <a:solidFill>
                  <a:srgbClr val="2F1BC7"/>
                </a:solidFill>
              </a:rPr>
              <a:t>if it </a:t>
            </a:r>
            <a:r>
              <a:rPr lang="en-US" sz="3000" b="1" u="sng" dirty="0" smtClean="0">
                <a:solidFill>
                  <a:srgbClr val="2F1BC7"/>
                </a:solidFill>
              </a:rPr>
              <a:t>preserves </a:t>
            </a:r>
            <a:r>
              <a:rPr lang="en-US" sz="3000" b="1" u="sng" dirty="0">
                <a:solidFill>
                  <a:srgbClr val="2F1BC7"/>
                </a:solidFill>
              </a:rPr>
              <a:t>all dependences </a:t>
            </a:r>
            <a:r>
              <a:rPr lang="en-US" sz="3000" dirty="0"/>
              <a:t>in the program. </a:t>
            </a:r>
            <a:endParaRPr lang="en-US" sz="3000" dirty="0" smtClean="0"/>
          </a:p>
          <a:p>
            <a:endParaRPr lang="en-US" sz="3000" dirty="0"/>
          </a:p>
          <a:p>
            <a:pPr marL="457200" indent="-457200" algn="just">
              <a:buFont typeface="Arial"/>
              <a:buChar char="•"/>
            </a:pPr>
            <a:r>
              <a:rPr lang="en-US" sz="3000" dirty="0" smtClean="0"/>
              <a:t>A </a:t>
            </a:r>
            <a:r>
              <a:rPr lang="en-US" sz="3000" b="1" u="sng" dirty="0" smtClean="0">
                <a:solidFill>
                  <a:srgbClr val="2C14DE"/>
                </a:solidFill>
              </a:rPr>
              <a:t>valid transformation preserves </a:t>
            </a:r>
            <a:r>
              <a:rPr lang="en-US" sz="3000" dirty="0" smtClean="0"/>
              <a:t>the </a:t>
            </a:r>
            <a:r>
              <a:rPr lang="en-US" sz="3000" b="1" dirty="0" smtClean="0">
                <a:solidFill>
                  <a:srgbClr val="2C14DE"/>
                </a:solidFill>
              </a:rPr>
              <a:t>order of loads and stores</a:t>
            </a:r>
            <a:r>
              <a:rPr lang="en-US" sz="3000" dirty="0" smtClean="0"/>
              <a:t> to every </a:t>
            </a:r>
            <a:r>
              <a:rPr lang="en-US" sz="3000" b="1" dirty="0" smtClean="0">
                <a:solidFill>
                  <a:srgbClr val="2C14DE"/>
                </a:solidFill>
              </a:rPr>
              <a:t>memory location </a:t>
            </a:r>
            <a:r>
              <a:rPr lang="en-US" sz="3000" dirty="0" smtClean="0"/>
              <a:t>in the program – </a:t>
            </a:r>
            <a:r>
              <a:rPr lang="en-US" sz="3000" b="1" dirty="0" smtClean="0">
                <a:solidFill>
                  <a:srgbClr val="B80000"/>
                </a:solidFill>
              </a:rPr>
              <a:t>only input accesses can be reordered. </a:t>
            </a:r>
            <a:endParaRPr lang="en-US" sz="3000" b="1" dirty="0">
              <a:solidFill>
                <a:srgbClr val="B8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5332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8459"/>
            <a:ext cx="9144000" cy="677583"/>
          </a:xfrm>
        </p:spPr>
        <p:txBody>
          <a:bodyPr>
            <a:noAutofit/>
          </a:bodyPr>
          <a:lstStyle/>
          <a:p>
            <a:r>
              <a:rPr lang="en-US" b="1" dirty="0" smtClean="0">
                <a:solidFill>
                  <a:srgbClr val="B80000"/>
                </a:solidFill>
              </a:rPr>
              <a:t>Distance Vectors</a:t>
            </a:r>
            <a:endParaRPr lang="en-US" b="1" dirty="0">
              <a:solidFill>
                <a:srgbClr val="B8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6200" y="726043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-27382" y="726042"/>
            <a:ext cx="9171382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/>
              <a:buChar char="•"/>
            </a:pPr>
            <a:r>
              <a:rPr lang="en-US" sz="2700" b="1" dirty="0">
                <a:solidFill>
                  <a:srgbClr val="B80000"/>
                </a:solidFill>
              </a:rPr>
              <a:t>Distance vectors </a:t>
            </a:r>
            <a:r>
              <a:rPr lang="en-US" sz="2700" dirty="0"/>
              <a:t>describe </a:t>
            </a:r>
            <a:r>
              <a:rPr lang="en-US" sz="2700" b="1" dirty="0">
                <a:solidFill>
                  <a:srgbClr val="2C14DE"/>
                </a:solidFill>
              </a:rPr>
              <a:t>dependences</a:t>
            </a:r>
            <a:r>
              <a:rPr lang="en-US" sz="2700" b="1" dirty="0"/>
              <a:t> </a:t>
            </a:r>
            <a:r>
              <a:rPr lang="en-US" sz="2700" b="1" dirty="0">
                <a:solidFill>
                  <a:srgbClr val="2C14DE"/>
                </a:solidFill>
              </a:rPr>
              <a:t>among iterations</a:t>
            </a:r>
            <a:r>
              <a:rPr lang="en-US" sz="2700" dirty="0" smtClean="0"/>
              <a:t>.</a:t>
            </a:r>
          </a:p>
          <a:p>
            <a:r>
              <a:rPr lang="en-US" sz="2700" dirty="0" smtClean="0"/>
              <a:t> </a:t>
            </a:r>
            <a:endParaRPr lang="en-US" sz="2700" dirty="0"/>
          </a:p>
          <a:p>
            <a:pPr marL="457200" indent="-457200" algn="just">
              <a:buFont typeface="Arial"/>
              <a:buChar char="•"/>
            </a:pPr>
            <a:r>
              <a:rPr lang="en-US" sz="2700" dirty="0" smtClean="0"/>
              <a:t>A </a:t>
            </a:r>
            <a:r>
              <a:rPr lang="en-US" sz="2700" b="1" dirty="0" smtClean="0">
                <a:solidFill>
                  <a:srgbClr val="2C14DE"/>
                </a:solidFill>
              </a:rPr>
              <a:t>dependence</a:t>
            </a:r>
            <a:r>
              <a:rPr lang="en-US" sz="2700" dirty="0" smtClean="0"/>
              <a:t> </a:t>
            </a:r>
            <a:r>
              <a:rPr lang="en-US" sz="2700" dirty="0"/>
              <a:t>is </a:t>
            </a:r>
            <a:r>
              <a:rPr lang="en-US" sz="2700" b="1" dirty="0">
                <a:solidFill>
                  <a:srgbClr val="B80000"/>
                </a:solidFill>
              </a:rPr>
              <a:t>loop carried </a:t>
            </a:r>
            <a:r>
              <a:rPr lang="en-US" sz="2700" dirty="0"/>
              <a:t>or </a:t>
            </a:r>
            <a:r>
              <a:rPr lang="en-US" sz="2700" b="1" dirty="0">
                <a:solidFill>
                  <a:srgbClr val="B80000"/>
                </a:solidFill>
              </a:rPr>
              <a:t>independent</a:t>
            </a:r>
            <a:r>
              <a:rPr lang="en-US" sz="2700" dirty="0">
                <a:solidFill>
                  <a:srgbClr val="B80000"/>
                </a:solidFill>
              </a:rPr>
              <a:t> </a:t>
            </a:r>
            <a:r>
              <a:rPr lang="en-US" sz="2700" dirty="0" smtClean="0"/>
              <a:t>is </a:t>
            </a:r>
            <a:r>
              <a:rPr lang="en-US" sz="2700" dirty="0"/>
              <a:t>crucial to determine </a:t>
            </a:r>
            <a:r>
              <a:rPr lang="en-US" sz="2700" dirty="0" smtClean="0"/>
              <a:t>--&gt; a </a:t>
            </a:r>
            <a:r>
              <a:rPr lang="en-US" sz="2700" b="1" dirty="0">
                <a:solidFill>
                  <a:srgbClr val="2C14DE"/>
                </a:solidFill>
              </a:rPr>
              <a:t>loop can be executed</a:t>
            </a:r>
            <a:r>
              <a:rPr lang="en-US" sz="2700" dirty="0">
                <a:solidFill>
                  <a:srgbClr val="2C14DE"/>
                </a:solidFill>
              </a:rPr>
              <a:t> </a:t>
            </a:r>
            <a:r>
              <a:rPr lang="en-US" sz="2700" dirty="0"/>
              <a:t>in </a:t>
            </a:r>
            <a:r>
              <a:rPr lang="en-US" sz="2700" b="1" dirty="0">
                <a:solidFill>
                  <a:srgbClr val="2C14DE"/>
                </a:solidFill>
              </a:rPr>
              <a:t>parallel or </a:t>
            </a:r>
            <a:r>
              <a:rPr lang="en-US" sz="2700" b="1" dirty="0" smtClean="0">
                <a:solidFill>
                  <a:srgbClr val="2C14DE"/>
                </a:solidFill>
              </a:rPr>
              <a:t>not</a:t>
            </a:r>
            <a:r>
              <a:rPr lang="en-US" sz="2700" dirty="0" smtClean="0"/>
              <a:t>?</a:t>
            </a:r>
          </a:p>
          <a:p>
            <a:endParaRPr lang="en-US" sz="2700" dirty="0"/>
          </a:p>
          <a:p>
            <a:pPr marL="457200" indent="-457200" algn="just">
              <a:buFont typeface="Arial"/>
              <a:buChar char="•"/>
            </a:pPr>
            <a:r>
              <a:rPr lang="en-US" sz="2700" dirty="0" smtClean="0"/>
              <a:t>They are </a:t>
            </a:r>
            <a:r>
              <a:rPr lang="en-US" sz="2700" b="1" dirty="0" smtClean="0">
                <a:solidFill>
                  <a:srgbClr val="2C14DE"/>
                </a:solidFill>
              </a:rPr>
              <a:t>important</a:t>
            </a:r>
            <a:r>
              <a:rPr lang="en-US" sz="2700" b="1" dirty="0" smtClean="0"/>
              <a:t> </a:t>
            </a:r>
            <a:r>
              <a:rPr lang="en-US" sz="2700" b="1" dirty="0" smtClean="0">
                <a:solidFill>
                  <a:srgbClr val="2C14DE"/>
                </a:solidFill>
              </a:rPr>
              <a:t>to reason </a:t>
            </a:r>
            <a:r>
              <a:rPr lang="en-US" sz="2700" dirty="0" smtClean="0"/>
              <a:t>about </a:t>
            </a:r>
            <a:r>
              <a:rPr lang="en-US" sz="2700" b="1" dirty="0" smtClean="0">
                <a:solidFill>
                  <a:srgbClr val="2C14DE"/>
                </a:solidFill>
              </a:rPr>
              <a:t>dependences</a:t>
            </a:r>
            <a:r>
              <a:rPr lang="en-US" sz="2700" dirty="0" smtClean="0"/>
              <a:t> inside of loops. </a:t>
            </a:r>
          </a:p>
          <a:p>
            <a:pPr marL="457200" indent="-457200">
              <a:buFont typeface="Arial"/>
              <a:buChar char="•"/>
            </a:pPr>
            <a:endParaRPr lang="en-US" sz="2700" dirty="0" smtClean="0"/>
          </a:p>
          <a:p>
            <a:pPr marL="285750" indent="-285750">
              <a:buFont typeface="Arial"/>
              <a:buChar char="•"/>
            </a:pPr>
            <a:r>
              <a:rPr lang="en-US" sz="2700" dirty="0" smtClean="0"/>
              <a:t>Consider </a:t>
            </a:r>
            <a:r>
              <a:rPr lang="en-US" sz="2700" dirty="0"/>
              <a:t>a </a:t>
            </a:r>
            <a:r>
              <a:rPr lang="en-US" sz="2700" b="1" dirty="0">
                <a:solidFill>
                  <a:srgbClr val="2C14DE"/>
                </a:solidFill>
              </a:rPr>
              <a:t>dependence</a:t>
            </a:r>
            <a:r>
              <a:rPr lang="en-US" sz="2700" dirty="0"/>
              <a:t> in a loop </a:t>
            </a:r>
            <a:r>
              <a:rPr lang="en-US" sz="2700" b="1" dirty="0">
                <a:solidFill>
                  <a:srgbClr val="2C14DE"/>
                </a:solidFill>
              </a:rPr>
              <a:t>nest of </a:t>
            </a:r>
            <a:r>
              <a:rPr lang="en-US" sz="2700" b="1" i="1" dirty="0">
                <a:solidFill>
                  <a:srgbClr val="2C14DE"/>
                </a:solidFill>
              </a:rPr>
              <a:t>n</a:t>
            </a:r>
            <a:r>
              <a:rPr lang="en-US" sz="2700" b="1" dirty="0">
                <a:solidFill>
                  <a:srgbClr val="2C14DE"/>
                </a:solidFill>
              </a:rPr>
              <a:t> loops </a:t>
            </a:r>
            <a:endParaRPr lang="en-US" sz="2700" b="1" dirty="0" smtClean="0">
              <a:solidFill>
                <a:srgbClr val="2C14DE"/>
              </a:solidFill>
            </a:endParaRPr>
          </a:p>
          <a:p>
            <a:pPr marL="285750" indent="-285750">
              <a:buFont typeface="Arial"/>
              <a:buChar char="•"/>
            </a:pPr>
            <a:endParaRPr lang="en-US" sz="2700" dirty="0"/>
          </a:p>
          <a:p>
            <a:pPr marL="285750" indent="-285750">
              <a:buFont typeface="Arial"/>
              <a:buChar char="•"/>
            </a:pPr>
            <a:r>
              <a:rPr lang="en-US" sz="2700" b="1" i="1" dirty="0"/>
              <a:t>S</a:t>
            </a:r>
            <a:r>
              <a:rPr lang="en-US" sz="2700" b="1" i="1" baseline="-25000" dirty="0"/>
              <a:t>2</a:t>
            </a:r>
            <a:r>
              <a:rPr lang="en-US" sz="2700" b="1" i="1" dirty="0"/>
              <a:t> depends on </a:t>
            </a:r>
            <a:r>
              <a:rPr lang="en-US" sz="2700" b="1" i="1" dirty="0" smtClean="0"/>
              <a:t>S</a:t>
            </a:r>
            <a:r>
              <a:rPr lang="en-US" sz="2700" b="1" i="1" baseline="-25000" dirty="0" smtClean="0"/>
              <a:t>1</a:t>
            </a:r>
            <a:r>
              <a:rPr lang="en-US" sz="2700" dirty="0" smtClean="0"/>
              <a:t>: </a:t>
            </a:r>
            <a:r>
              <a:rPr lang="en-US" sz="2700" b="1" dirty="0" smtClean="0"/>
              <a:t> </a:t>
            </a:r>
            <a:endParaRPr lang="en-US" sz="2700" dirty="0" smtClean="0"/>
          </a:p>
          <a:p>
            <a:pPr lvl="1"/>
            <a:r>
              <a:rPr lang="en-US" sz="2700" dirty="0" smtClean="0"/>
              <a:t>–  Statement </a:t>
            </a:r>
            <a:r>
              <a:rPr lang="en-US" sz="2700" b="1" dirty="0" smtClean="0">
                <a:solidFill>
                  <a:srgbClr val="2C14DE"/>
                </a:solidFill>
              </a:rPr>
              <a:t>S1</a:t>
            </a:r>
            <a:r>
              <a:rPr lang="en-US" sz="2700" dirty="0" smtClean="0">
                <a:solidFill>
                  <a:srgbClr val="2C14DE"/>
                </a:solidFill>
              </a:rPr>
              <a:t> </a:t>
            </a:r>
            <a:r>
              <a:rPr lang="en-US" sz="2700" dirty="0" smtClean="0"/>
              <a:t>on </a:t>
            </a:r>
            <a:r>
              <a:rPr lang="en-US" sz="2700" dirty="0" smtClean="0">
                <a:solidFill>
                  <a:srgbClr val="2C14DE"/>
                </a:solidFill>
              </a:rPr>
              <a:t>iteration</a:t>
            </a:r>
            <a:r>
              <a:rPr lang="en-US" sz="2700" b="1" i="1" dirty="0" smtClean="0">
                <a:solidFill>
                  <a:srgbClr val="2C14DE"/>
                </a:solidFill>
              </a:rPr>
              <a:t> </a:t>
            </a:r>
            <a:r>
              <a:rPr lang="en-US" sz="2700" b="1" i="1" dirty="0" err="1" smtClean="0">
                <a:solidFill>
                  <a:srgbClr val="B80000"/>
                </a:solidFill>
              </a:rPr>
              <a:t>i</a:t>
            </a:r>
            <a:r>
              <a:rPr lang="en-US" sz="2700" b="1" i="1" dirty="0" smtClean="0">
                <a:solidFill>
                  <a:srgbClr val="B80000"/>
                </a:solidFill>
              </a:rPr>
              <a:t> </a:t>
            </a:r>
            <a:r>
              <a:rPr lang="en-US" sz="2700" dirty="0" smtClean="0"/>
              <a:t>is the </a:t>
            </a:r>
            <a:r>
              <a:rPr lang="en-US" sz="2700" b="1" dirty="0" smtClean="0">
                <a:solidFill>
                  <a:srgbClr val="B80000"/>
                </a:solidFill>
              </a:rPr>
              <a:t>source</a:t>
            </a:r>
            <a:r>
              <a:rPr lang="en-US" sz="2700" dirty="0" smtClean="0"/>
              <a:t> of the </a:t>
            </a:r>
            <a:r>
              <a:rPr lang="en-US" sz="2700" b="1" dirty="0" smtClean="0">
                <a:solidFill>
                  <a:srgbClr val="2C14DE"/>
                </a:solidFill>
              </a:rPr>
              <a:t>dependence </a:t>
            </a:r>
          </a:p>
          <a:p>
            <a:pPr lvl="1"/>
            <a:r>
              <a:rPr lang="en-US" sz="2700" dirty="0" smtClean="0"/>
              <a:t>– </a:t>
            </a:r>
            <a:r>
              <a:rPr lang="en-US" sz="2700" dirty="0"/>
              <a:t> Statement </a:t>
            </a:r>
            <a:r>
              <a:rPr lang="en-US" sz="2700" b="1" dirty="0">
                <a:solidFill>
                  <a:srgbClr val="2C14DE"/>
                </a:solidFill>
              </a:rPr>
              <a:t>S2</a:t>
            </a:r>
            <a:r>
              <a:rPr lang="en-US" sz="2700" dirty="0"/>
              <a:t> on </a:t>
            </a:r>
            <a:r>
              <a:rPr lang="en-US" sz="2700" dirty="0">
                <a:solidFill>
                  <a:srgbClr val="2C14DE"/>
                </a:solidFill>
              </a:rPr>
              <a:t>iteration </a:t>
            </a:r>
            <a:r>
              <a:rPr lang="en-US" sz="2700" b="1" i="1" dirty="0">
                <a:solidFill>
                  <a:srgbClr val="B80000"/>
                </a:solidFill>
              </a:rPr>
              <a:t>j</a:t>
            </a:r>
            <a:r>
              <a:rPr lang="en-US" sz="2700" dirty="0">
                <a:solidFill>
                  <a:srgbClr val="B80000"/>
                </a:solidFill>
              </a:rPr>
              <a:t> </a:t>
            </a:r>
            <a:r>
              <a:rPr lang="en-US" sz="2700" dirty="0"/>
              <a:t>is the </a:t>
            </a:r>
            <a:r>
              <a:rPr lang="en-US" sz="2700" b="1" dirty="0">
                <a:solidFill>
                  <a:srgbClr val="B80000"/>
                </a:solidFill>
              </a:rPr>
              <a:t>sink</a:t>
            </a:r>
            <a:r>
              <a:rPr lang="en-US" sz="2700" dirty="0"/>
              <a:t> of the </a:t>
            </a:r>
            <a:r>
              <a:rPr lang="en-US" sz="2700" b="1" dirty="0">
                <a:solidFill>
                  <a:srgbClr val="2C14DE"/>
                </a:solidFill>
              </a:rPr>
              <a:t>dependence </a:t>
            </a:r>
            <a:endParaRPr lang="en-US" sz="2700" b="1" dirty="0" smtClean="0">
              <a:solidFill>
                <a:srgbClr val="2C14DE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4900" y="4581128"/>
            <a:ext cx="9652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730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1238"/>
            <a:ext cx="9174294" cy="753466"/>
          </a:xfrm>
        </p:spPr>
        <p:txBody>
          <a:bodyPr>
            <a:noAutofit/>
          </a:bodyPr>
          <a:lstStyle/>
          <a:p>
            <a:r>
              <a:rPr lang="en-US" b="1" dirty="0" smtClean="0">
                <a:solidFill>
                  <a:srgbClr val="B80000"/>
                </a:solidFill>
              </a:rPr>
              <a:t>Distance Vectors</a:t>
            </a:r>
            <a:endParaRPr lang="en-US" b="1" dirty="0">
              <a:solidFill>
                <a:srgbClr val="B8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1347" y="764704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76200" y="685800"/>
            <a:ext cx="906780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endParaRPr lang="en-US" sz="2600" dirty="0"/>
          </a:p>
          <a:p>
            <a:pPr marL="0" lvl="1" indent="457200">
              <a:buFont typeface="Arial"/>
              <a:buChar char="•"/>
            </a:pPr>
            <a:r>
              <a:rPr lang="en-US" sz="2800" dirty="0" smtClean="0"/>
              <a:t>The </a:t>
            </a:r>
            <a:r>
              <a:rPr lang="en-US" sz="2800" b="1" dirty="0">
                <a:solidFill>
                  <a:srgbClr val="2C14DE"/>
                </a:solidFill>
              </a:rPr>
              <a:t>distance vector </a:t>
            </a:r>
            <a:r>
              <a:rPr lang="en-US" sz="2800" b="1" dirty="0">
                <a:solidFill>
                  <a:srgbClr val="B80000"/>
                </a:solidFill>
              </a:rPr>
              <a:t>d(</a:t>
            </a:r>
            <a:r>
              <a:rPr lang="en-US" sz="2800" b="1" dirty="0" err="1">
                <a:solidFill>
                  <a:srgbClr val="B80000"/>
                </a:solidFill>
              </a:rPr>
              <a:t>i</a:t>
            </a:r>
            <a:r>
              <a:rPr lang="en-US" sz="2800" b="1" dirty="0" smtClean="0">
                <a:solidFill>
                  <a:srgbClr val="B80000"/>
                </a:solidFill>
              </a:rPr>
              <a:t>, j</a:t>
            </a:r>
            <a:r>
              <a:rPr lang="en-US" sz="2800" b="1" dirty="0">
                <a:solidFill>
                  <a:srgbClr val="B80000"/>
                </a:solidFill>
              </a:rPr>
              <a:t>) </a:t>
            </a:r>
            <a:r>
              <a:rPr lang="en-US" sz="2800" dirty="0"/>
              <a:t>is a </a:t>
            </a:r>
            <a:r>
              <a:rPr lang="en-US" sz="2800" b="1" dirty="0">
                <a:solidFill>
                  <a:srgbClr val="2C14DE"/>
                </a:solidFill>
              </a:rPr>
              <a:t>vector</a:t>
            </a:r>
            <a:r>
              <a:rPr lang="en-US" sz="2800" dirty="0"/>
              <a:t> of </a:t>
            </a:r>
            <a:r>
              <a:rPr lang="en-US" sz="2800" b="1" i="1" dirty="0">
                <a:solidFill>
                  <a:srgbClr val="2C14DE"/>
                </a:solidFill>
              </a:rPr>
              <a:t>length n </a:t>
            </a:r>
            <a:r>
              <a:rPr lang="en-US" sz="2800" dirty="0"/>
              <a:t>such that: </a:t>
            </a:r>
            <a:endParaRPr lang="en-US" sz="2800" dirty="0" smtClean="0"/>
          </a:p>
          <a:p>
            <a:pPr marL="0" lvl="1" indent="457200">
              <a:buFont typeface="Arial"/>
              <a:buChar char="•"/>
            </a:pPr>
            <a:endParaRPr lang="en-US" sz="2800" dirty="0" smtClean="0"/>
          </a:p>
          <a:p>
            <a:pPr marL="0" lvl="1" indent="457200">
              <a:buFont typeface="Arial"/>
              <a:buChar char="•"/>
            </a:pPr>
            <a:endParaRPr lang="en-US" sz="2800" dirty="0" smtClean="0"/>
          </a:p>
          <a:p>
            <a:pPr marL="0" lvl="1" indent="457200">
              <a:buFont typeface="Arial"/>
              <a:buChar char="•"/>
            </a:pPr>
            <a:endParaRPr lang="en-US" sz="2800" dirty="0" smtClean="0"/>
          </a:p>
          <a:p>
            <a:pPr marL="285750" indent="-285750">
              <a:buFont typeface="Arial"/>
              <a:buChar char="•"/>
            </a:pPr>
            <a:r>
              <a:rPr lang="en-US" sz="2800" dirty="0"/>
              <a:t>We </a:t>
            </a:r>
            <a:r>
              <a:rPr lang="en-US" sz="2800" dirty="0">
                <a:solidFill>
                  <a:srgbClr val="2C14DE"/>
                </a:solidFill>
              </a:rPr>
              <a:t>shall normalize </a:t>
            </a:r>
            <a:r>
              <a:rPr lang="en-US" sz="2800" b="1" dirty="0">
                <a:solidFill>
                  <a:srgbClr val="2C14DE"/>
                </a:solidFill>
              </a:rPr>
              <a:t>distance vectors </a:t>
            </a:r>
            <a:r>
              <a:rPr lang="en-US" sz="2800" dirty="0"/>
              <a:t>for loops in which the index </a:t>
            </a:r>
            <a:r>
              <a:rPr lang="en-US" sz="2800" b="1" u="sng" dirty="0">
                <a:solidFill>
                  <a:srgbClr val="D20000"/>
                </a:solidFill>
              </a:rPr>
              <a:t>step size is not equal to 1</a:t>
            </a:r>
            <a:r>
              <a:rPr lang="en-US" sz="2800" dirty="0"/>
              <a:t>. </a:t>
            </a:r>
            <a:endParaRPr lang="en-US" sz="2800" dirty="0" smtClean="0"/>
          </a:p>
          <a:p>
            <a:pPr marL="285750" indent="-285750">
              <a:buFont typeface="Arial"/>
              <a:buChar char="•"/>
            </a:pPr>
            <a:endParaRPr lang="en-US" sz="2800" dirty="0"/>
          </a:p>
          <a:p>
            <a:pPr marL="285750" indent="-285750">
              <a:buFont typeface="Arial"/>
              <a:buChar char="•"/>
            </a:pPr>
            <a:r>
              <a:rPr lang="en-US" sz="2800" dirty="0"/>
              <a:t>Note that </a:t>
            </a:r>
            <a:r>
              <a:rPr lang="en-US" sz="2800" b="1" dirty="0">
                <a:solidFill>
                  <a:srgbClr val="2C14DE"/>
                </a:solidFill>
              </a:rPr>
              <a:t>distance vectors </a:t>
            </a:r>
            <a:r>
              <a:rPr lang="en-US" sz="2800" dirty="0"/>
              <a:t>describe </a:t>
            </a:r>
            <a:r>
              <a:rPr lang="en-US" sz="2800" dirty="0">
                <a:solidFill>
                  <a:srgbClr val="2C14DE"/>
                </a:solidFill>
              </a:rPr>
              <a:t>dependences</a:t>
            </a:r>
            <a:r>
              <a:rPr lang="en-US" sz="2800" dirty="0"/>
              <a:t> among </a:t>
            </a:r>
            <a:r>
              <a:rPr lang="en-US" sz="2800" b="1" dirty="0">
                <a:solidFill>
                  <a:srgbClr val="2C14DE"/>
                </a:solidFill>
              </a:rPr>
              <a:t>iterations</a:t>
            </a:r>
            <a:r>
              <a:rPr lang="en-US" sz="2800" dirty="0">
                <a:solidFill>
                  <a:srgbClr val="2C14DE"/>
                </a:solidFill>
              </a:rPr>
              <a:t> </a:t>
            </a:r>
            <a:r>
              <a:rPr lang="en-US" sz="2800" b="1" dirty="0">
                <a:solidFill>
                  <a:srgbClr val="B80000"/>
                </a:solidFill>
              </a:rPr>
              <a:t>not</a:t>
            </a:r>
            <a:r>
              <a:rPr lang="en-US" sz="2800" dirty="0"/>
              <a:t> among </a:t>
            </a:r>
            <a:r>
              <a:rPr lang="en-US" sz="2800" b="1" dirty="0">
                <a:solidFill>
                  <a:srgbClr val="B80000"/>
                </a:solidFill>
              </a:rPr>
              <a:t>array elements</a:t>
            </a:r>
            <a:r>
              <a:rPr lang="en-US" sz="2800" dirty="0"/>
              <a:t>. </a:t>
            </a:r>
          </a:p>
          <a:p>
            <a:pPr marL="0" lvl="1" indent="457200">
              <a:buFont typeface="Arial"/>
              <a:buChar char="•"/>
            </a:pPr>
            <a:endParaRPr lang="en-US" sz="2600" dirty="0"/>
          </a:p>
          <a:p>
            <a:pPr lvl="1"/>
            <a:endParaRPr lang="en-US" sz="2600" dirty="0"/>
          </a:p>
          <a:p>
            <a:pPr marL="457200" indent="-457200">
              <a:buFont typeface="Arial"/>
              <a:buChar char="•"/>
            </a:pPr>
            <a:endParaRPr lang="en-US" sz="26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5816" y="1916832"/>
            <a:ext cx="2676128" cy="587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922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323" y="0"/>
            <a:ext cx="9102080" cy="762000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B80000"/>
                </a:solidFill>
              </a:rPr>
              <a:t>Direction Vectors</a:t>
            </a:r>
            <a:endParaRPr lang="en-US" b="1" dirty="0">
              <a:solidFill>
                <a:srgbClr val="B8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7620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0906" y="896215"/>
            <a:ext cx="90678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dirty="0" smtClean="0"/>
              <a:t>Suppose </a:t>
            </a:r>
            <a:r>
              <a:rPr lang="en-US" sz="3000" dirty="0"/>
              <a:t>that there is a </a:t>
            </a:r>
            <a:r>
              <a:rPr lang="en-US" sz="3000" b="1" dirty="0">
                <a:solidFill>
                  <a:srgbClr val="2C14DE"/>
                </a:solidFill>
              </a:rPr>
              <a:t>dependence</a:t>
            </a:r>
            <a:r>
              <a:rPr lang="en-US" sz="3000" dirty="0"/>
              <a:t> from </a:t>
            </a:r>
            <a:r>
              <a:rPr lang="en-US" sz="3000" b="1" dirty="0">
                <a:solidFill>
                  <a:srgbClr val="2C14DE"/>
                </a:solidFill>
              </a:rPr>
              <a:t>statement S1 </a:t>
            </a:r>
            <a:r>
              <a:rPr lang="en-US" sz="3000" dirty="0"/>
              <a:t>on </a:t>
            </a:r>
            <a:r>
              <a:rPr lang="en-US" sz="3000" b="1" dirty="0">
                <a:solidFill>
                  <a:srgbClr val="2F1BC7"/>
                </a:solidFill>
              </a:rPr>
              <a:t>iteration </a:t>
            </a:r>
            <a:r>
              <a:rPr lang="en-US" sz="3000" b="1" i="1" dirty="0" err="1">
                <a:solidFill>
                  <a:srgbClr val="2F1BC7"/>
                </a:solidFill>
              </a:rPr>
              <a:t>i</a:t>
            </a:r>
            <a:r>
              <a:rPr lang="en-US" sz="3000" i="1" dirty="0">
                <a:solidFill>
                  <a:srgbClr val="2F1BC7"/>
                </a:solidFill>
              </a:rPr>
              <a:t> </a:t>
            </a:r>
            <a:r>
              <a:rPr lang="en-US" sz="3000" dirty="0"/>
              <a:t>of a loop nest of </a:t>
            </a:r>
            <a:r>
              <a:rPr lang="en-US" sz="3000" i="1" dirty="0"/>
              <a:t>n </a:t>
            </a:r>
            <a:r>
              <a:rPr lang="en-US" sz="3000" dirty="0"/>
              <a:t>loops and statement </a:t>
            </a:r>
            <a:r>
              <a:rPr lang="en-US" sz="3000" b="1" dirty="0">
                <a:solidFill>
                  <a:srgbClr val="2C14DE"/>
                </a:solidFill>
              </a:rPr>
              <a:t>S2 on iteration </a:t>
            </a:r>
            <a:r>
              <a:rPr lang="en-US" sz="3000" b="1" i="1" dirty="0">
                <a:solidFill>
                  <a:srgbClr val="2C14DE"/>
                </a:solidFill>
              </a:rPr>
              <a:t>j</a:t>
            </a:r>
            <a:r>
              <a:rPr lang="en-US" sz="3000" dirty="0"/>
              <a:t>, then the </a:t>
            </a:r>
            <a:r>
              <a:rPr lang="en-US" sz="3000" b="1" i="1" dirty="0">
                <a:solidFill>
                  <a:srgbClr val="B80000"/>
                </a:solidFill>
              </a:rPr>
              <a:t>dependence direction vector D</a:t>
            </a:r>
            <a:r>
              <a:rPr lang="en-US" sz="3000" dirty="0">
                <a:solidFill>
                  <a:srgbClr val="B80000"/>
                </a:solidFill>
              </a:rPr>
              <a:t>(</a:t>
            </a:r>
            <a:r>
              <a:rPr lang="en-US" sz="3000" b="1" i="1" dirty="0" err="1">
                <a:solidFill>
                  <a:srgbClr val="B80000"/>
                </a:solidFill>
              </a:rPr>
              <a:t>i</a:t>
            </a:r>
            <a:r>
              <a:rPr lang="en-US" sz="3000" i="1" dirty="0" err="1">
                <a:solidFill>
                  <a:srgbClr val="B80000"/>
                </a:solidFill>
              </a:rPr>
              <a:t>,</a:t>
            </a:r>
            <a:r>
              <a:rPr lang="en-US" sz="3000" b="1" i="1" dirty="0" err="1">
                <a:solidFill>
                  <a:srgbClr val="B80000"/>
                </a:solidFill>
              </a:rPr>
              <a:t>j</a:t>
            </a:r>
            <a:r>
              <a:rPr lang="en-US" sz="3000" dirty="0">
                <a:solidFill>
                  <a:srgbClr val="B80000"/>
                </a:solidFill>
              </a:rPr>
              <a:t>)</a:t>
            </a:r>
            <a:r>
              <a:rPr lang="en-US" sz="3000" dirty="0"/>
              <a:t> is defined as a </a:t>
            </a:r>
            <a:r>
              <a:rPr lang="en-US" sz="3000" b="1" dirty="0">
                <a:solidFill>
                  <a:srgbClr val="2C14DE"/>
                </a:solidFill>
              </a:rPr>
              <a:t>vector of length </a:t>
            </a:r>
            <a:r>
              <a:rPr lang="en-US" sz="3000" b="1" i="1" dirty="0">
                <a:solidFill>
                  <a:srgbClr val="2C14DE"/>
                </a:solidFill>
              </a:rPr>
              <a:t>n </a:t>
            </a:r>
            <a:r>
              <a:rPr lang="en-US" sz="3000" dirty="0"/>
              <a:t>such </a:t>
            </a:r>
            <a:r>
              <a:rPr lang="en-US" sz="3000" dirty="0" smtClean="0"/>
              <a:t>that:</a:t>
            </a:r>
            <a:endParaRPr lang="en-US" sz="30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9712" y="3140968"/>
            <a:ext cx="5832648" cy="2397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073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85794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B80000"/>
                </a:solidFill>
              </a:rPr>
              <a:t>Direction Vectors – Example1</a:t>
            </a:r>
            <a:endParaRPr lang="en-US" b="1" dirty="0">
              <a:solidFill>
                <a:srgbClr val="B8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10480" y="785794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r="32574"/>
          <a:stretch/>
        </p:blipFill>
        <p:spPr>
          <a:xfrm>
            <a:off x="381000" y="1143000"/>
            <a:ext cx="5486400" cy="5426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044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85794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B80000"/>
                </a:solidFill>
              </a:rPr>
              <a:t>Direction Vectors – Example1</a:t>
            </a:r>
            <a:endParaRPr lang="en-US" b="1" dirty="0">
              <a:solidFill>
                <a:srgbClr val="B8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10480" y="785794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143000"/>
            <a:ext cx="8136904" cy="5426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038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07" y="37668"/>
            <a:ext cx="9100861" cy="727035"/>
          </a:xfrm>
        </p:spPr>
        <p:txBody>
          <a:bodyPr>
            <a:noAutofit/>
          </a:bodyPr>
          <a:lstStyle/>
          <a:p>
            <a:r>
              <a:rPr lang="en-US" b="1" dirty="0" smtClean="0">
                <a:solidFill>
                  <a:srgbClr val="B80000"/>
                </a:solidFill>
              </a:rPr>
              <a:t>Direction Vectors – Example2</a:t>
            </a:r>
            <a:endParaRPr lang="en-US" b="1" dirty="0">
              <a:solidFill>
                <a:srgbClr val="B8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007" y="764704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b="40701"/>
          <a:stretch/>
        </p:blipFill>
        <p:spPr>
          <a:xfrm>
            <a:off x="533399" y="934691"/>
            <a:ext cx="7855025" cy="3180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551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07" y="37668"/>
            <a:ext cx="9100861" cy="727035"/>
          </a:xfrm>
        </p:spPr>
        <p:txBody>
          <a:bodyPr>
            <a:noAutofit/>
          </a:bodyPr>
          <a:lstStyle/>
          <a:p>
            <a:r>
              <a:rPr lang="en-US" b="1" dirty="0" smtClean="0">
                <a:solidFill>
                  <a:srgbClr val="B80000"/>
                </a:solidFill>
              </a:rPr>
              <a:t>Direction Vectors – Example2</a:t>
            </a:r>
            <a:endParaRPr lang="en-US" b="1" dirty="0">
              <a:solidFill>
                <a:srgbClr val="B8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007" y="764704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399" y="934691"/>
            <a:ext cx="7855025" cy="5362779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55810" y="2204864"/>
            <a:ext cx="7620000" cy="23622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r>
              <a:rPr lang="en-US" sz="2200" b="1" dirty="0" smtClean="0">
                <a:solidFill>
                  <a:srgbClr val="2C14DE"/>
                </a:solidFill>
              </a:rPr>
              <a:t>TWO Sample Iterations:</a:t>
            </a:r>
          </a:p>
          <a:p>
            <a:endParaRPr lang="en-US" sz="2200" dirty="0">
              <a:solidFill>
                <a:schemeClr val="tx1"/>
              </a:solidFill>
            </a:endParaRPr>
          </a:p>
          <a:p>
            <a:r>
              <a:rPr lang="en-US" sz="2200" dirty="0" smtClean="0">
                <a:solidFill>
                  <a:schemeClr val="tx1"/>
                </a:solidFill>
              </a:rPr>
              <a:t>Source Iteration </a:t>
            </a:r>
            <a:r>
              <a:rPr lang="en-US" sz="2200" dirty="0" smtClean="0">
                <a:solidFill>
                  <a:srgbClr val="2C14DE"/>
                </a:solidFill>
              </a:rPr>
              <a:t>I=2, J=2, K=2 </a:t>
            </a:r>
            <a:r>
              <a:rPr lang="en-US" sz="2200" dirty="0" smtClean="0">
                <a:solidFill>
                  <a:schemeClr val="tx1"/>
                </a:solidFill>
              </a:rPr>
              <a:t>accesses the data item </a:t>
            </a:r>
            <a:r>
              <a:rPr lang="en-US" sz="2200" b="1" dirty="0" smtClean="0">
                <a:solidFill>
                  <a:schemeClr val="tx1"/>
                </a:solidFill>
              </a:rPr>
              <a:t>A(3,2,1)</a:t>
            </a:r>
          </a:p>
          <a:p>
            <a:r>
              <a:rPr lang="en-US" sz="2200" dirty="0" smtClean="0">
                <a:solidFill>
                  <a:schemeClr val="tx1"/>
                </a:solidFill>
              </a:rPr>
              <a:t>Sink iteration </a:t>
            </a:r>
            <a:r>
              <a:rPr lang="en-US" sz="2200" dirty="0" smtClean="0">
                <a:solidFill>
                  <a:srgbClr val="2C14DE"/>
                </a:solidFill>
              </a:rPr>
              <a:t>I=3, J=2, K=1 </a:t>
            </a:r>
            <a:r>
              <a:rPr lang="en-US" sz="2200" dirty="0" smtClean="0">
                <a:solidFill>
                  <a:schemeClr val="tx1"/>
                </a:solidFill>
              </a:rPr>
              <a:t>accesses the data item </a:t>
            </a:r>
            <a:r>
              <a:rPr lang="en-US" sz="2200" b="1" dirty="0" smtClean="0">
                <a:solidFill>
                  <a:schemeClr val="tx1"/>
                </a:solidFill>
              </a:rPr>
              <a:t>A(3,2,1)</a:t>
            </a:r>
          </a:p>
          <a:p>
            <a:r>
              <a:rPr lang="en-US" sz="2200" b="1" dirty="0" smtClean="0">
                <a:solidFill>
                  <a:schemeClr val="tx1"/>
                </a:solidFill>
              </a:rPr>
              <a:t>Sink-Source </a:t>
            </a:r>
            <a:r>
              <a:rPr lang="en-US" sz="2200" dirty="0" smtClean="0">
                <a:solidFill>
                  <a:schemeClr val="tx1"/>
                </a:solidFill>
              </a:rPr>
              <a:t>= (3,2,1) – (2,2,2) = </a:t>
            </a:r>
            <a:r>
              <a:rPr lang="en-US" sz="2200" dirty="0" smtClean="0">
                <a:solidFill>
                  <a:srgbClr val="2C14DE"/>
                </a:solidFill>
              </a:rPr>
              <a:t>(1,0,-1)</a:t>
            </a:r>
            <a:endParaRPr lang="en-US" sz="2200" dirty="0">
              <a:solidFill>
                <a:srgbClr val="2C14D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459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4704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B80000"/>
                </a:solidFill>
              </a:rPr>
              <a:t>Source and Sink of Dependence</a:t>
            </a:r>
            <a:endParaRPr lang="en-US" b="1" dirty="0">
              <a:solidFill>
                <a:srgbClr val="B8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6200" y="764704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76200" y="716786"/>
            <a:ext cx="8991600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indent="-457200" algn="just">
              <a:buFont typeface="Arial"/>
              <a:buChar char="•"/>
            </a:pPr>
            <a:r>
              <a:rPr lang="en-US" sz="2800" b="1" dirty="0" smtClean="0">
                <a:solidFill>
                  <a:srgbClr val="B80000"/>
                </a:solidFill>
              </a:rPr>
              <a:t>Dependence </a:t>
            </a:r>
            <a:r>
              <a:rPr lang="en-US" sz="2800" b="1" dirty="0">
                <a:solidFill>
                  <a:srgbClr val="B80000"/>
                </a:solidFill>
              </a:rPr>
              <a:t>source </a:t>
            </a:r>
            <a:r>
              <a:rPr lang="en-US" sz="2800" dirty="0"/>
              <a:t>is the </a:t>
            </a:r>
            <a:r>
              <a:rPr lang="en-US" sz="2800" b="1" dirty="0">
                <a:solidFill>
                  <a:srgbClr val="2C14DE"/>
                </a:solidFill>
              </a:rPr>
              <a:t>earlier statement</a:t>
            </a:r>
            <a:r>
              <a:rPr lang="en-US" sz="2800" b="1" dirty="0"/>
              <a:t> </a:t>
            </a:r>
            <a:r>
              <a:rPr lang="en-US" sz="2800" dirty="0"/>
              <a:t>(the</a:t>
            </a:r>
            <a:r>
              <a:rPr lang="en-US" sz="2800" b="1" dirty="0"/>
              <a:t> statement at the tail of the dependence arrow</a:t>
            </a:r>
            <a:r>
              <a:rPr lang="en-US" sz="2800" dirty="0" smtClean="0"/>
              <a:t>)</a:t>
            </a:r>
          </a:p>
          <a:p>
            <a:pPr lvl="1" indent="-457200" algn="just">
              <a:buFont typeface="Arial"/>
              <a:buChar char="•"/>
            </a:pPr>
            <a:endParaRPr lang="en-US" sz="2800" dirty="0" smtClean="0"/>
          </a:p>
          <a:p>
            <a:pPr lvl="1" indent="-457200" algn="just">
              <a:buFont typeface="Arial"/>
              <a:buChar char="•"/>
            </a:pPr>
            <a:r>
              <a:rPr lang="en-US" sz="2800" b="1" dirty="0" smtClean="0">
                <a:solidFill>
                  <a:srgbClr val="B80000"/>
                </a:solidFill>
              </a:rPr>
              <a:t>Dependence </a:t>
            </a:r>
            <a:r>
              <a:rPr lang="en-US" sz="2800" b="1" dirty="0">
                <a:solidFill>
                  <a:srgbClr val="B80000"/>
                </a:solidFill>
              </a:rPr>
              <a:t>sink </a:t>
            </a:r>
            <a:r>
              <a:rPr lang="en-US" sz="2800" dirty="0"/>
              <a:t>is the </a:t>
            </a:r>
            <a:r>
              <a:rPr lang="en-US" sz="2800" b="1" dirty="0">
                <a:solidFill>
                  <a:srgbClr val="2C14DE"/>
                </a:solidFill>
              </a:rPr>
              <a:t>later statement </a:t>
            </a:r>
            <a:r>
              <a:rPr lang="en-US" sz="2800" dirty="0"/>
              <a:t>(the </a:t>
            </a:r>
            <a:r>
              <a:rPr lang="en-US" sz="2800" b="1" dirty="0"/>
              <a:t>statement at the head of the dependence arrow</a:t>
            </a:r>
            <a:r>
              <a:rPr lang="en-US" sz="2800" dirty="0"/>
              <a:t>) </a:t>
            </a:r>
            <a:endParaRPr lang="en-US" sz="2800" dirty="0" smtClean="0"/>
          </a:p>
          <a:p>
            <a:pPr lvl="1" indent="-457200">
              <a:buFont typeface="Arial"/>
              <a:buChar char="•"/>
            </a:pPr>
            <a:endParaRPr lang="en-US" sz="2800" dirty="0" smtClean="0"/>
          </a:p>
          <a:p>
            <a:pPr lvl="1" indent="-457200">
              <a:buFont typeface="Arial"/>
              <a:buChar char="•"/>
            </a:pPr>
            <a:endParaRPr lang="en-US" sz="2800" dirty="0"/>
          </a:p>
          <a:p>
            <a:pPr lvl="1" indent="-457200">
              <a:buFont typeface="Arial"/>
              <a:buChar char="•"/>
            </a:pPr>
            <a:endParaRPr lang="en-US" sz="2800" dirty="0" smtClean="0"/>
          </a:p>
          <a:p>
            <a:pPr lvl="1" indent="-457200">
              <a:buFont typeface="Arial"/>
              <a:buChar char="•"/>
            </a:pPr>
            <a:endParaRPr lang="en-US" sz="2800" dirty="0"/>
          </a:p>
          <a:p>
            <a:pPr lvl="1" indent="-457200">
              <a:buFont typeface="Arial"/>
              <a:buChar char="•"/>
            </a:pPr>
            <a:endParaRPr lang="en-US" sz="2800" dirty="0" smtClean="0"/>
          </a:p>
          <a:p>
            <a:pPr lvl="1" indent="-457200">
              <a:buFont typeface="Arial"/>
              <a:buChar char="•"/>
            </a:pPr>
            <a:endParaRPr lang="en-US" sz="2800" dirty="0"/>
          </a:p>
          <a:p>
            <a:pPr lvl="1" indent="-457200">
              <a:buFont typeface="Arial"/>
              <a:buChar char="•"/>
            </a:pPr>
            <a:endParaRPr lang="en-US" sz="2800" dirty="0" smtClean="0"/>
          </a:p>
          <a:p>
            <a:pPr lvl="1" indent="-457200">
              <a:buFont typeface="Arial"/>
              <a:buChar char="•"/>
            </a:pPr>
            <a:r>
              <a:rPr lang="en-US" sz="2800" b="1" dirty="0" smtClean="0">
                <a:solidFill>
                  <a:srgbClr val="B80000"/>
                </a:solidFill>
              </a:rPr>
              <a:t>Dependences </a:t>
            </a:r>
            <a:r>
              <a:rPr lang="en-US" sz="2800" b="1" dirty="0">
                <a:solidFill>
                  <a:srgbClr val="B80000"/>
                </a:solidFill>
              </a:rPr>
              <a:t>can only go forward in time</a:t>
            </a:r>
            <a:r>
              <a:rPr lang="en-US" sz="2800" dirty="0"/>
              <a:t>: </a:t>
            </a:r>
            <a:r>
              <a:rPr lang="en-US" sz="2800" b="1" dirty="0"/>
              <a:t>always from an earlier iteration to a later iteration. </a:t>
            </a:r>
          </a:p>
          <a:p>
            <a:pPr lvl="1" indent="-457200">
              <a:buFont typeface="Arial"/>
              <a:buChar char="•"/>
            </a:pPr>
            <a:endParaRPr lang="en-US" sz="2800" dirty="0"/>
          </a:p>
          <a:p>
            <a:pPr marL="0" lvl="1" indent="457200">
              <a:buFont typeface="Arial"/>
              <a:buChar char="•"/>
            </a:pPr>
            <a:endParaRPr lang="en-US" sz="2800" dirty="0" smtClean="0"/>
          </a:p>
        </p:txBody>
      </p:sp>
      <p:pic>
        <p:nvPicPr>
          <p:cNvPr id="3" name="Picture 2" descr="Screen Shot 2016-04-28 at 5.30.09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276600"/>
            <a:ext cx="7467600" cy="186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756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55" y="0"/>
            <a:ext cx="9067799" cy="764704"/>
          </a:xfrm>
        </p:spPr>
        <p:txBody>
          <a:bodyPr>
            <a:noAutofit/>
          </a:bodyPr>
          <a:lstStyle/>
          <a:p>
            <a:r>
              <a:rPr lang="en-US" b="1" dirty="0" smtClean="0">
                <a:solidFill>
                  <a:srgbClr val="B80000"/>
                </a:solidFill>
              </a:rPr>
              <a:t>Direction Vectors</a:t>
            </a:r>
            <a:endParaRPr lang="en-US" b="1" dirty="0">
              <a:solidFill>
                <a:srgbClr val="B8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2455" y="764704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4692" y="476672"/>
            <a:ext cx="9024054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endParaRPr lang="en-US" sz="2800" dirty="0"/>
          </a:p>
          <a:p>
            <a:pPr lvl="1" indent="-457200">
              <a:buFont typeface="Arial"/>
              <a:buChar char="•"/>
            </a:pPr>
            <a:r>
              <a:rPr lang="en-US" sz="2800" dirty="0"/>
              <a:t>A </a:t>
            </a:r>
            <a:r>
              <a:rPr lang="en-US" sz="2800" b="1" dirty="0">
                <a:solidFill>
                  <a:srgbClr val="2C14DE"/>
                </a:solidFill>
              </a:rPr>
              <a:t>dependence</a:t>
            </a:r>
            <a:r>
              <a:rPr lang="en-US" sz="2800" dirty="0"/>
              <a:t> </a:t>
            </a:r>
            <a:r>
              <a:rPr lang="en-US" sz="2800" b="1" dirty="0">
                <a:solidFill>
                  <a:srgbClr val="B80000"/>
                </a:solidFill>
              </a:rPr>
              <a:t>cannot exist </a:t>
            </a:r>
            <a:r>
              <a:rPr lang="en-US" sz="2800" dirty="0"/>
              <a:t>if it has a </a:t>
            </a:r>
            <a:r>
              <a:rPr lang="en-US" sz="2800" b="1" dirty="0">
                <a:solidFill>
                  <a:srgbClr val="2C14DE"/>
                </a:solidFill>
              </a:rPr>
              <a:t>direction vector </a:t>
            </a:r>
            <a:r>
              <a:rPr lang="en-US" sz="2800" dirty="0"/>
              <a:t>whose </a:t>
            </a:r>
            <a:r>
              <a:rPr lang="en-US" sz="2800" b="1" dirty="0">
                <a:solidFill>
                  <a:srgbClr val="2C14DE"/>
                </a:solidFill>
              </a:rPr>
              <a:t>leftmost non</a:t>
            </a:r>
            <a:r>
              <a:rPr lang="en-US" sz="2800" dirty="0">
                <a:solidFill>
                  <a:srgbClr val="2C14DE"/>
                </a:solidFill>
              </a:rPr>
              <a:t> "=" </a:t>
            </a:r>
            <a:r>
              <a:rPr lang="en-US" sz="2800" dirty="0"/>
              <a:t>component </a:t>
            </a:r>
            <a:r>
              <a:rPr lang="en-US" sz="2800" b="1" dirty="0">
                <a:solidFill>
                  <a:srgbClr val="2C14DE"/>
                </a:solidFill>
              </a:rPr>
              <a:t>is not "&lt;" </a:t>
            </a:r>
            <a:endParaRPr lang="en-US" sz="2800" b="1" dirty="0" smtClean="0">
              <a:solidFill>
                <a:srgbClr val="2C14DE"/>
              </a:solidFill>
            </a:endParaRPr>
          </a:p>
          <a:p>
            <a:pPr lvl="2" indent="-457200">
              <a:buFont typeface="Arial"/>
              <a:buChar char="•"/>
            </a:pPr>
            <a:r>
              <a:rPr lang="en-US" sz="2800" dirty="0" smtClean="0"/>
              <a:t>As </a:t>
            </a:r>
            <a:r>
              <a:rPr lang="en-US" sz="2800" dirty="0"/>
              <a:t>this would imply that the </a:t>
            </a:r>
            <a:r>
              <a:rPr lang="en-US" sz="2800" b="1" dirty="0">
                <a:solidFill>
                  <a:srgbClr val="2C14DE"/>
                </a:solidFill>
              </a:rPr>
              <a:t>sink of the dependence occurs before the source </a:t>
            </a:r>
            <a:r>
              <a:rPr lang="en-US" sz="2800" b="1" dirty="0" smtClean="0">
                <a:solidFill>
                  <a:srgbClr val="2C14DE"/>
                </a:solidFill>
              </a:rPr>
              <a:t>(</a:t>
            </a:r>
            <a:r>
              <a:rPr lang="en-US" sz="2800" b="1" u="sng" dirty="0" smtClean="0">
                <a:solidFill>
                  <a:srgbClr val="2C14DE"/>
                </a:solidFill>
              </a:rPr>
              <a:t>which is not true</a:t>
            </a:r>
            <a:r>
              <a:rPr lang="en-US" sz="2800" b="1" dirty="0" smtClean="0">
                <a:solidFill>
                  <a:srgbClr val="2C14DE"/>
                </a:solidFill>
              </a:rPr>
              <a:t>)</a:t>
            </a:r>
            <a:endParaRPr lang="en-US" sz="2800" b="1" dirty="0">
              <a:solidFill>
                <a:srgbClr val="2C14DE"/>
              </a:solidFill>
            </a:endParaRPr>
          </a:p>
          <a:p>
            <a:pPr marL="0" lvl="1" indent="457200">
              <a:buFont typeface="Arial"/>
              <a:buChar char="•"/>
            </a:pPr>
            <a:endParaRPr lang="en-US" sz="2800" dirty="0" smtClean="0"/>
          </a:p>
          <a:p>
            <a:pPr marL="0" lvl="1" indent="457200">
              <a:buFont typeface="Arial"/>
              <a:buChar char="•"/>
            </a:pPr>
            <a:r>
              <a:rPr lang="en-US" sz="2800" b="1" dirty="0">
                <a:solidFill>
                  <a:srgbClr val="B80000"/>
                </a:solidFill>
              </a:rPr>
              <a:t>How many dependences are there between a pair of </a:t>
            </a:r>
            <a:r>
              <a:rPr lang="en-US" sz="2800" b="1" dirty="0" smtClean="0">
                <a:solidFill>
                  <a:srgbClr val="B80000"/>
                </a:solidFill>
              </a:rPr>
              <a:t>    	statements </a:t>
            </a:r>
            <a:r>
              <a:rPr lang="en-US" sz="2800" b="1" dirty="0">
                <a:solidFill>
                  <a:srgbClr val="B80000"/>
                </a:solidFill>
              </a:rPr>
              <a:t>in a loop nest? </a:t>
            </a:r>
          </a:p>
          <a:p>
            <a:pPr lvl="2" indent="-457200">
              <a:buFont typeface="Wingdings" charset="2"/>
              <a:buChar char="²"/>
            </a:pPr>
            <a:r>
              <a:rPr lang="en-US" sz="2800" b="1" dirty="0">
                <a:solidFill>
                  <a:srgbClr val="2C14DE"/>
                </a:solidFill>
              </a:rPr>
              <a:t>One dependence </a:t>
            </a:r>
            <a:r>
              <a:rPr lang="en-US" sz="2800" dirty="0"/>
              <a:t>for </a:t>
            </a:r>
            <a:r>
              <a:rPr lang="en-US" sz="2800" b="1" dirty="0">
                <a:solidFill>
                  <a:srgbClr val="2C14DE"/>
                </a:solidFill>
              </a:rPr>
              <a:t>every statement instance </a:t>
            </a:r>
            <a:r>
              <a:rPr lang="en-US" sz="2800" dirty="0"/>
              <a:t>that is the </a:t>
            </a:r>
            <a:r>
              <a:rPr lang="en-US" sz="2800" b="1" dirty="0">
                <a:solidFill>
                  <a:srgbClr val="2C14DE"/>
                </a:solidFill>
              </a:rPr>
              <a:t>source</a:t>
            </a:r>
            <a:r>
              <a:rPr lang="en-US" sz="2800" dirty="0"/>
              <a:t> of a </a:t>
            </a:r>
            <a:r>
              <a:rPr lang="en-US" sz="2800" b="1" dirty="0">
                <a:solidFill>
                  <a:srgbClr val="2C14DE"/>
                </a:solidFill>
              </a:rPr>
              <a:t>dependence</a:t>
            </a:r>
            <a:r>
              <a:rPr lang="en-US" sz="2800" dirty="0">
                <a:solidFill>
                  <a:srgbClr val="2C14DE"/>
                </a:solidFill>
              </a:rPr>
              <a:t> </a:t>
            </a:r>
            <a:r>
              <a:rPr lang="en-US" sz="2800" dirty="0"/>
              <a:t>to </a:t>
            </a:r>
            <a:r>
              <a:rPr lang="en-US" sz="2800" b="1" dirty="0"/>
              <a:t>another statement instance </a:t>
            </a:r>
            <a:r>
              <a:rPr lang="en-US" sz="2800" dirty="0"/>
              <a:t>in the </a:t>
            </a:r>
            <a:r>
              <a:rPr lang="en-US" sz="2800" b="1" dirty="0"/>
              <a:t>same loop nest</a:t>
            </a:r>
            <a:r>
              <a:rPr lang="en-US" sz="2800" dirty="0"/>
              <a:t>. </a:t>
            </a:r>
            <a:endParaRPr lang="en-US" sz="2800" dirty="0" smtClean="0"/>
          </a:p>
          <a:p>
            <a:pPr lvl="2" indent="-457200">
              <a:buFont typeface="Wingdings" charset="2"/>
              <a:buChar char="²"/>
            </a:pPr>
            <a:endParaRPr lang="en-US" sz="2800" dirty="0"/>
          </a:p>
          <a:p>
            <a:pPr lvl="2" indent="-457200" algn="just">
              <a:buFont typeface="Wingdings" charset="2"/>
              <a:buChar char="²"/>
            </a:pPr>
            <a:r>
              <a:rPr lang="en-US" sz="2800" b="1" dirty="0" smtClean="0"/>
              <a:t>Compiler </a:t>
            </a:r>
            <a:r>
              <a:rPr lang="en-US" sz="2800" b="1" dirty="0"/>
              <a:t>collect </a:t>
            </a:r>
            <a:r>
              <a:rPr lang="en-US" sz="2800" dirty="0"/>
              <a:t>only the </a:t>
            </a:r>
            <a:r>
              <a:rPr lang="en-US" sz="2800" b="1" dirty="0">
                <a:solidFill>
                  <a:srgbClr val="2C14DE"/>
                </a:solidFill>
              </a:rPr>
              <a:t>different direction vectors </a:t>
            </a:r>
            <a:r>
              <a:rPr lang="en-US" sz="2800" dirty="0"/>
              <a:t>for </a:t>
            </a:r>
            <a:r>
              <a:rPr lang="en-US" sz="2800" b="1" dirty="0"/>
              <a:t>every different pair of statements</a:t>
            </a:r>
            <a:r>
              <a:rPr lang="en-US" sz="2800" dirty="0"/>
              <a:t>. </a:t>
            </a:r>
            <a:endParaRPr 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4182468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1"/>
            <a:ext cx="9029700" cy="743804"/>
          </a:xfrm>
        </p:spPr>
        <p:txBody>
          <a:bodyPr>
            <a:noAutofit/>
          </a:bodyPr>
          <a:lstStyle/>
          <a:p>
            <a:r>
              <a:rPr lang="en-US" b="1" dirty="0" smtClean="0">
                <a:solidFill>
                  <a:srgbClr val="B80000"/>
                </a:solidFill>
              </a:rPr>
              <a:t>Example-1</a:t>
            </a:r>
            <a:endParaRPr lang="en-US" b="1" dirty="0">
              <a:solidFill>
                <a:srgbClr val="B8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8100" y="743805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r="65464"/>
          <a:stretch/>
        </p:blipFill>
        <p:spPr>
          <a:xfrm>
            <a:off x="587400" y="908720"/>
            <a:ext cx="2765400" cy="1592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812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1"/>
            <a:ext cx="9029700" cy="743804"/>
          </a:xfrm>
        </p:spPr>
        <p:txBody>
          <a:bodyPr>
            <a:noAutofit/>
          </a:bodyPr>
          <a:lstStyle/>
          <a:p>
            <a:r>
              <a:rPr lang="en-US" b="1" dirty="0" smtClean="0">
                <a:solidFill>
                  <a:srgbClr val="B80000"/>
                </a:solidFill>
              </a:rPr>
              <a:t>Example-1</a:t>
            </a:r>
            <a:endParaRPr lang="en-US" b="1" dirty="0">
              <a:solidFill>
                <a:srgbClr val="B8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8100" y="743805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34550" y="2276872"/>
            <a:ext cx="8991600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spcBef>
                <a:spcPts val="600"/>
              </a:spcBef>
            </a:pPr>
            <a:endParaRPr lang="en-US" sz="2800" dirty="0"/>
          </a:p>
          <a:p>
            <a:pPr marL="457200" indent="-457200">
              <a:spcBef>
                <a:spcPts val="600"/>
              </a:spcBef>
              <a:buFont typeface="Arial"/>
              <a:buChar char="•"/>
            </a:pPr>
            <a:r>
              <a:rPr lang="en-US" sz="2800" dirty="0"/>
              <a:t>There is an </a:t>
            </a:r>
            <a:r>
              <a:rPr lang="en-US" sz="2800" b="1" dirty="0">
                <a:solidFill>
                  <a:srgbClr val="2C14DE"/>
                </a:solidFill>
              </a:rPr>
              <a:t>instance</a:t>
            </a:r>
            <a:r>
              <a:rPr lang="en-US" sz="2800" dirty="0"/>
              <a:t> of </a:t>
            </a:r>
            <a:r>
              <a:rPr lang="en-US" sz="2800" b="1" i="1" dirty="0">
                <a:solidFill>
                  <a:srgbClr val="2C14DE"/>
                </a:solidFill>
              </a:rPr>
              <a:t>S1</a:t>
            </a:r>
            <a:r>
              <a:rPr lang="en-US" sz="2800" dirty="0"/>
              <a:t> that </a:t>
            </a:r>
            <a:r>
              <a:rPr lang="en-US" sz="2800" b="1" dirty="0">
                <a:solidFill>
                  <a:srgbClr val="B80000"/>
                </a:solidFill>
              </a:rPr>
              <a:t>precedes </a:t>
            </a:r>
            <a:r>
              <a:rPr lang="en-US" sz="2800" b="1" dirty="0"/>
              <a:t>an </a:t>
            </a:r>
            <a:r>
              <a:rPr lang="en-US" sz="2800" b="1" dirty="0">
                <a:solidFill>
                  <a:srgbClr val="2C14DE"/>
                </a:solidFill>
              </a:rPr>
              <a:t>instance</a:t>
            </a:r>
            <a:r>
              <a:rPr lang="en-US" sz="2800" b="1" dirty="0"/>
              <a:t> </a:t>
            </a:r>
            <a:r>
              <a:rPr lang="en-US" sz="2800" dirty="0"/>
              <a:t>of </a:t>
            </a:r>
            <a:r>
              <a:rPr lang="en-US" sz="2800" b="1" i="1" dirty="0">
                <a:solidFill>
                  <a:srgbClr val="2C14DE"/>
                </a:solidFill>
              </a:rPr>
              <a:t>S2</a:t>
            </a:r>
            <a:r>
              <a:rPr lang="en-US" sz="2800" dirty="0"/>
              <a:t> in </a:t>
            </a:r>
            <a:r>
              <a:rPr lang="en-US" sz="2800" dirty="0" smtClean="0"/>
              <a:t>execution, </a:t>
            </a:r>
            <a:r>
              <a:rPr lang="en-US" sz="2800" dirty="0"/>
              <a:t>and </a:t>
            </a:r>
            <a:r>
              <a:rPr lang="en-US" sz="2800" b="1" dirty="0">
                <a:solidFill>
                  <a:srgbClr val="2C14DE"/>
                </a:solidFill>
              </a:rPr>
              <a:t>S1 produces data </a:t>
            </a:r>
            <a:r>
              <a:rPr lang="en-US" sz="2800" dirty="0"/>
              <a:t>that </a:t>
            </a:r>
            <a:r>
              <a:rPr lang="en-US" sz="2800" b="1" dirty="0">
                <a:solidFill>
                  <a:srgbClr val="2C14DE"/>
                </a:solidFill>
              </a:rPr>
              <a:t>S2 consumes</a:t>
            </a:r>
            <a:r>
              <a:rPr lang="en-US" sz="2800" dirty="0"/>
              <a:t>. </a:t>
            </a:r>
          </a:p>
          <a:p>
            <a:pPr marL="457200" indent="-457200">
              <a:spcBef>
                <a:spcPts val="600"/>
              </a:spcBef>
              <a:buFont typeface="Arial"/>
              <a:buChar char="•"/>
            </a:pPr>
            <a:r>
              <a:rPr lang="en-US" sz="2800" b="1" dirty="0">
                <a:solidFill>
                  <a:srgbClr val="2C14DE"/>
                </a:solidFill>
              </a:rPr>
              <a:t>S1 is the source </a:t>
            </a:r>
            <a:r>
              <a:rPr lang="en-US" sz="2800" dirty="0"/>
              <a:t>of the dependence; </a:t>
            </a:r>
            <a:r>
              <a:rPr lang="en-US" sz="2800" b="1" dirty="0">
                <a:solidFill>
                  <a:srgbClr val="2C14DE"/>
                </a:solidFill>
              </a:rPr>
              <a:t>S2 is the sink </a:t>
            </a:r>
            <a:r>
              <a:rPr lang="en-US" sz="2800" dirty="0"/>
              <a:t>of the dependence. </a:t>
            </a:r>
          </a:p>
          <a:p>
            <a:pPr marL="457200" indent="-457200">
              <a:spcBef>
                <a:spcPts val="600"/>
              </a:spcBef>
              <a:buFont typeface="Arial"/>
              <a:buChar char="•"/>
            </a:pPr>
            <a:r>
              <a:rPr lang="en-US" sz="2800" dirty="0"/>
              <a:t>The </a:t>
            </a:r>
            <a:r>
              <a:rPr lang="en-US" sz="2800" b="1" dirty="0">
                <a:solidFill>
                  <a:srgbClr val="2F1BC7"/>
                </a:solidFill>
              </a:rPr>
              <a:t>dependence flows </a:t>
            </a:r>
            <a:r>
              <a:rPr lang="en-US" sz="2800" dirty="0"/>
              <a:t>between instances of statements in the </a:t>
            </a:r>
            <a:r>
              <a:rPr lang="en-US" sz="2800" b="1" dirty="0"/>
              <a:t>same iteration </a:t>
            </a:r>
            <a:r>
              <a:rPr lang="en-US" sz="2800" dirty="0"/>
              <a:t>(</a:t>
            </a:r>
            <a:r>
              <a:rPr lang="en-US" sz="2800" b="1" i="1" dirty="0">
                <a:solidFill>
                  <a:srgbClr val="B80000"/>
                </a:solidFill>
              </a:rPr>
              <a:t>loop-independent dependence</a:t>
            </a:r>
            <a:r>
              <a:rPr lang="en-US" sz="2800" dirty="0"/>
              <a:t>). </a:t>
            </a:r>
          </a:p>
          <a:p>
            <a:pPr marL="457200" indent="-457200">
              <a:spcBef>
                <a:spcPts val="600"/>
              </a:spcBef>
              <a:buFont typeface="Arial"/>
              <a:buChar char="•"/>
            </a:pPr>
            <a:r>
              <a:rPr lang="en-US" sz="2800" dirty="0"/>
              <a:t>The number of </a:t>
            </a:r>
            <a:r>
              <a:rPr lang="en-US" sz="2800" b="1" i="1" dirty="0">
                <a:solidFill>
                  <a:srgbClr val="2C14DE"/>
                </a:solidFill>
              </a:rPr>
              <a:t>iterations</a:t>
            </a:r>
            <a:r>
              <a:rPr lang="en-US" sz="2800" dirty="0"/>
              <a:t> between </a:t>
            </a:r>
            <a:r>
              <a:rPr lang="en-US" sz="2800" b="1" dirty="0">
                <a:solidFill>
                  <a:srgbClr val="2C14DE"/>
                </a:solidFill>
              </a:rPr>
              <a:t>source</a:t>
            </a:r>
            <a:r>
              <a:rPr lang="en-US" sz="2800" dirty="0">
                <a:solidFill>
                  <a:srgbClr val="2C14DE"/>
                </a:solidFill>
              </a:rPr>
              <a:t> </a:t>
            </a:r>
            <a:r>
              <a:rPr lang="en-US" sz="2800" dirty="0"/>
              <a:t>and </a:t>
            </a:r>
            <a:r>
              <a:rPr lang="en-US" sz="2800" b="1" dirty="0">
                <a:solidFill>
                  <a:srgbClr val="2C14DE"/>
                </a:solidFill>
              </a:rPr>
              <a:t>sink</a:t>
            </a:r>
            <a:r>
              <a:rPr lang="en-US" sz="2800" dirty="0">
                <a:solidFill>
                  <a:srgbClr val="2C14DE"/>
                </a:solidFill>
              </a:rPr>
              <a:t> </a:t>
            </a:r>
            <a:r>
              <a:rPr lang="en-US" sz="2800" i="1" dirty="0">
                <a:solidFill>
                  <a:srgbClr val="2C14DE"/>
                </a:solidFill>
              </a:rPr>
              <a:t>(</a:t>
            </a:r>
            <a:r>
              <a:rPr lang="en-US" sz="2800" b="1" i="1" dirty="0">
                <a:solidFill>
                  <a:srgbClr val="2F1BC7"/>
                </a:solidFill>
              </a:rPr>
              <a:t>dependence distance</a:t>
            </a:r>
            <a:r>
              <a:rPr lang="en-US" sz="2800" i="1" dirty="0">
                <a:solidFill>
                  <a:srgbClr val="2C14DE"/>
                </a:solidFill>
              </a:rPr>
              <a:t>) </a:t>
            </a:r>
            <a:r>
              <a:rPr lang="en-US" sz="2800" dirty="0"/>
              <a:t>is </a:t>
            </a:r>
            <a:r>
              <a:rPr lang="en-US" sz="2800" b="1" dirty="0">
                <a:solidFill>
                  <a:srgbClr val="B80000"/>
                </a:solidFill>
              </a:rPr>
              <a:t>0</a:t>
            </a:r>
            <a:r>
              <a:rPr lang="en-US" sz="2800" dirty="0"/>
              <a:t>. Dependence </a:t>
            </a:r>
            <a:r>
              <a:rPr lang="en-US" sz="2800" b="1" dirty="0">
                <a:solidFill>
                  <a:srgbClr val="B80000"/>
                </a:solidFill>
              </a:rPr>
              <a:t>direction is ( = )</a:t>
            </a:r>
            <a:r>
              <a:rPr lang="en-US" sz="2800" dirty="0"/>
              <a:t>.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400" y="908720"/>
            <a:ext cx="8007300" cy="1592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740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30" y="53007"/>
            <a:ext cx="9103770" cy="654009"/>
          </a:xfrm>
        </p:spPr>
        <p:txBody>
          <a:bodyPr>
            <a:noAutofit/>
          </a:bodyPr>
          <a:lstStyle/>
          <a:p>
            <a:r>
              <a:rPr lang="en-US" b="1" dirty="0" smtClean="0">
                <a:solidFill>
                  <a:srgbClr val="B80000"/>
                </a:solidFill>
              </a:rPr>
              <a:t>Example-2</a:t>
            </a:r>
            <a:endParaRPr lang="en-US" b="1" dirty="0">
              <a:solidFill>
                <a:srgbClr val="B8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0230" y="749005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0230" y="2348880"/>
            <a:ext cx="8991600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spcBef>
                <a:spcPts val="600"/>
              </a:spcBef>
            </a:pPr>
            <a:endParaRPr lang="en-US" sz="2800" dirty="0"/>
          </a:p>
          <a:p>
            <a:pPr marL="457200" indent="-457200">
              <a:spcBef>
                <a:spcPts val="600"/>
              </a:spcBef>
              <a:buFont typeface="Arial"/>
              <a:buChar char="•"/>
            </a:pPr>
            <a:r>
              <a:rPr lang="en-US" sz="2800" dirty="0"/>
              <a:t>There is an </a:t>
            </a:r>
            <a:r>
              <a:rPr lang="en-US" sz="2800" dirty="0">
                <a:solidFill>
                  <a:srgbClr val="2C14DE"/>
                </a:solidFill>
              </a:rPr>
              <a:t>instance</a:t>
            </a:r>
            <a:r>
              <a:rPr lang="en-US" sz="2800" dirty="0"/>
              <a:t> of </a:t>
            </a:r>
            <a:r>
              <a:rPr lang="en-US" sz="2800" b="1" i="1" dirty="0">
                <a:solidFill>
                  <a:srgbClr val="2C14DE"/>
                </a:solidFill>
              </a:rPr>
              <a:t>S1</a:t>
            </a:r>
            <a:r>
              <a:rPr lang="en-US" sz="2800" dirty="0"/>
              <a:t> that </a:t>
            </a:r>
            <a:r>
              <a:rPr lang="en-US" sz="2800" dirty="0">
                <a:solidFill>
                  <a:srgbClr val="B80000"/>
                </a:solidFill>
              </a:rPr>
              <a:t>precedes </a:t>
            </a:r>
            <a:r>
              <a:rPr lang="en-US" sz="2800" dirty="0"/>
              <a:t>an </a:t>
            </a:r>
            <a:r>
              <a:rPr lang="en-US" sz="2800" dirty="0">
                <a:solidFill>
                  <a:srgbClr val="2C14DE"/>
                </a:solidFill>
              </a:rPr>
              <a:t>instance</a:t>
            </a:r>
            <a:r>
              <a:rPr lang="en-US" sz="2800" dirty="0"/>
              <a:t> of </a:t>
            </a:r>
            <a:r>
              <a:rPr lang="en-US" sz="2800" b="1" i="1" dirty="0">
                <a:solidFill>
                  <a:srgbClr val="2C14DE"/>
                </a:solidFill>
              </a:rPr>
              <a:t>S2</a:t>
            </a:r>
            <a:r>
              <a:rPr lang="en-US" sz="2800" dirty="0"/>
              <a:t> in </a:t>
            </a:r>
            <a:r>
              <a:rPr lang="en-US" sz="2800" dirty="0" smtClean="0"/>
              <a:t>execution, </a:t>
            </a:r>
            <a:r>
              <a:rPr lang="en-US" sz="2800" dirty="0"/>
              <a:t>and </a:t>
            </a:r>
            <a:r>
              <a:rPr lang="en-US" sz="2800" dirty="0">
                <a:solidFill>
                  <a:srgbClr val="2C14DE"/>
                </a:solidFill>
              </a:rPr>
              <a:t>S1 produces data </a:t>
            </a:r>
            <a:r>
              <a:rPr lang="en-US" sz="2800" dirty="0"/>
              <a:t>that </a:t>
            </a:r>
            <a:r>
              <a:rPr lang="en-US" sz="2800" dirty="0">
                <a:solidFill>
                  <a:srgbClr val="2C14DE"/>
                </a:solidFill>
              </a:rPr>
              <a:t>S2 consumes</a:t>
            </a:r>
            <a:r>
              <a:rPr lang="en-US" sz="2800" dirty="0"/>
              <a:t>. </a:t>
            </a:r>
          </a:p>
          <a:p>
            <a:pPr marL="457200" indent="-457200">
              <a:spcBef>
                <a:spcPts val="600"/>
              </a:spcBef>
              <a:buFont typeface="Arial"/>
              <a:buChar char="•"/>
            </a:pPr>
            <a:r>
              <a:rPr lang="en-US" sz="2800" b="1" dirty="0">
                <a:solidFill>
                  <a:srgbClr val="2C14DE"/>
                </a:solidFill>
              </a:rPr>
              <a:t>S1 is the source </a:t>
            </a:r>
            <a:r>
              <a:rPr lang="en-US" sz="2800" dirty="0"/>
              <a:t>of the dependence; </a:t>
            </a:r>
            <a:r>
              <a:rPr lang="en-US" sz="2800" b="1" dirty="0">
                <a:solidFill>
                  <a:srgbClr val="2C14DE"/>
                </a:solidFill>
              </a:rPr>
              <a:t>S2 is the sink </a:t>
            </a:r>
            <a:r>
              <a:rPr lang="en-US" sz="2800" dirty="0"/>
              <a:t>of the dependence. </a:t>
            </a:r>
          </a:p>
          <a:p>
            <a:pPr marL="457200" indent="-457200">
              <a:spcBef>
                <a:spcPts val="600"/>
              </a:spcBef>
              <a:buFont typeface="Arial"/>
              <a:buChar char="•"/>
            </a:pPr>
            <a:r>
              <a:rPr lang="en-US" sz="2800" dirty="0"/>
              <a:t>The dependence flows between </a:t>
            </a:r>
            <a:r>
              <a:rPr lang="en-US" sz="2800" dirty="0" smtClean="0"/>
              <a:t>iterations (</a:t>
            </a:r>
            <a:r>
              <a:rPr lang="en-US" sz="2800" b="1" i="1" dirty="0">
                <a:solidFill>
                  <a:srgbClr val="B80000"/>
                </a:solidFill>
              </a:rPr>
              <a:t>loop</a:t>
            </a:r>
            <a:r>
              <a:rPr lang="en-US" sz="2800" b="1" i="1" dirty="0" smtClean="0">
                <a:solidFill>
                  <a:srgbClr val="B80000"/>
                </a:solidFill>
              </a:rPr>
              <a:t>-carried dependence</a:t>
            </a:r>
            <a:r>
              <a:rPr lang="en-US" sz="2800" dirty="0"/>
              <a:t>). </a:t>
            </a:r>
          </a:p>
          <a:p>
            <a:pPr marL="457200" indent="-457200">
              <a:spcBef>
                <a:spcPts val="600"/>
              </a:spcBef>
              <a:buFont typeface="Arial"/>
              <a:buChar char="•"/>
            </a:pPr>
            <a:r>
              <a:rPr lang="en-US" sz="2800" dirty="0"/>
              <a:t>The number of </a:t>
            </a:r>
            <a:r>
              <a:rPr lang="en-US" sz="2800" b="1" i="1" dirty="0">
                <a:solidFill>
                  <a:srgbClr val="2C14DE"/>
                </a:solidFill>
              </a:rPr>
              <a:t>iterations</a:t>
            </a:r>
            <a:r>
              <a:rPr lang="en-US" sz="2800" dirty="0"/>
              <a:t> between </a:t>
            </a:r>
            <a:r>
              <a:rPr lang="en-US" sz="2800" b="1" dirty="0">
                <a:solidFill>
                  <a:srgbClr val="2C14DE"/>
                </a:solidFill>
              </a:rPr>
              <a:t>source</a:t>
            </a:r>
            <a:r>
              <a:rPr lang="en-US" sz="2800" dirty="0">
                <a:solidFill>
                  <a:srgbClr val="2C14DE"/>
                </a:solidFill>
              </a:rPr>
              <a:t> </a:t>
            </a:r>
            <a:r>
              <a:rPr lang="en-US" sz="2800" dirty="0"/>
              <a:t>and </a:t>
            </a:r>
            <a:r>
              <a:rPr lang="en-US" sz="2800" b="1" dirty="0">
                <a:solidFill>
                  <a:srgbClr val="2C14DE"/>
                </a:solidFill>
              </a:rPr>
              <a:t>sink</a:t>
            </a:r>
            <a:r>
              <a:rPr lang="en-US" sz="2800" dirty="0">
                <a:solidFill>
                  <a:srgbClr val="2C14DE"/>
                </a:solidFill>
              </a:rPr>
              <a:t> </a:t>
            </a:r>
            <a:r>
              <a:rPr lang="en-US" sz="2800" i="1" dirty="0">
                <a:solidFill>
                  <a:srgbClr val="2C14DE"/>
                </a:solidFill>
              </a:rPr>
              <a:t>(</a:t>
            </a:r>
            <a:r>
              <a:rPr lang="en-US" sz="2800" b="1" i="1" dirty="0">
                <a:solidFill>
                  <a:srgbClr val="2C14DE"/>
                </a:solidFill>
              </a:rPr>
              <a:t>dependence distance</a:t>
            </a:r>
            <a:r>
              <a:rPr lang="en-US" sz="2800" i="1" dirty="0">
                <a:solidFill>
                  <a:srgbClr val="2C14DE"/>
                </a:solidFill>
              </a:rPr>
              <a:t>) </a:t>
            </a:r>
            <a:r>
              <a:rPr lang="en-US" sz="2800" dirty="0"/>
              <a:t>is </a:t>
            </a:r>
            <a:r>
              <a:rPr lang="en-US" sz="2800" b="1" dirty="0" smtClean="0">
                <a:solidFill>
                  <a:srgbClr val="B80000"/>
                </a:solidFill>
              </a:rPr>
              <a:t>1</a:t>
            </a:r>
            <a:r>
              <a:rPr lang="en-US" sz="2800" dirty="0" smtClean="0"/>
              <a:t>. </a:t>
            </a:r>
            <a:r>
              <a:rPr lang="en-US" sz="2800" dirty="0"/>
              <a:t>Dependence </a:t>
            </a:r>
            <a:r>
              <a:rPr lang="en-US" sz="2800" b="1" dirty="0">
                <a:solidFill>
                  <a:srgbClr val="B80000"/>
                </a:solidFill>
              </a:rPr>
              <a:t>direction is ( </a:t>
            </a:r>
            <a:r>
              <a:rPr lang="en-US" sz="2800" b="1" dirty="0" smtClean="0">
                <a:solidFill>
                  <a:srgbClr val="B80000"/>
                </a:solidFill>
              </a:rPr>
              <a:t>&lt; </a:t>
            </a:r>
            <a:r>
              <a:rPr lang="en-US" sz="2800" b="1" dirty="0">
                <a:solidFill>
                  <a:srgbClr val="B80000"/>
                </a:solidFill>
              </a:rPr>
              <a:t>)</a:t>
            </a:r>
            <a:r>
              <a:rPr lang="en-US" sz="2800" dirty="0"/>
              <a:t>.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7" y="836712"/>
            <a:ext cx="8113705" cy="1872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665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7933"/>
            <a:ext cx="9116007" cy="700598"/>
          </a:xfrm>
        </p:spPr>
        <p:txBody>
          <a:bodyPr>
            <a:noAutofit/>
          </a:bodyPr>
          <a:lstStyle/>
          <a:p>
            <a:r>
              <a:rPr lang="en-US" b="1" dirty="0" smtClean="0">
                <a:solidFill>
                  <a:srgbClr val="B80000"/>
                </a:solidFill>
              </a:rPr>
              <a:t>Example-3</a:t>
            </a:r>
            <a:endParaRPr lang="en-US" b="1" dirty="0">
              <a:solidFill>
                <a:srgbClr val="B8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6200" y="753606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993485"/>
            <a:ext cx="7488832" cy="5862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032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732" y="53007"/>
            <a:ext cx="8882268" cy="719724"/>
          </a:xfrm>
        </p:spPr>
        <p:txBody>
          <a:bodyPr>
            <a:noAutofit/>
          </a:bodyPr>
          <a:lstStyle/>
          <a:p>
            <a:r>
              <a:rPr lang="en-US" b="1" dirty="0" smtClean="0">
                <a:solidFill>
                  <a:srgbClr val="B80000"/>
                </a:solidFill>
              </a:rPr>
              <a:t>Example-4</a:t>
            </a:r>
            <a:endParaRPr lang="en-US" b="1" dirty="0">
              <a:solidFill>
                <a:srgbClr val="B8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6876" y="77273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568" y="1268760"/>
            <a:ext cx="7947992" cy="4510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281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53008"/>
            <a:ext cx="9084366" cy="723756"/>
          </a:xfrm>
        </p:spPr>
        <p:txBody>
          <a:bodyPr>
            <a:noAutofit/>
          </a:bodyPr>
          <a:lstStyle/>
          <a:p>
            <a:r>
              <a:rPr lang="en-US" b="1" dirty="0" smtClean="0">
                <a:solidFill>
                  <a:srgbClr val="B80000"/>
                </a:solidFill>
              </a:rPr>
              <a:t>Example-4 continued…</a:t>
            </a:r>
            <a:endParaRPr lang="en-US" b="1" dirty="0">
              <a:solidFill>
                <a:srgbClr val="B8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6566" y="796734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/>
          <p:cNvGrpSpPr/>
          <p:nvPr/>
        </p:nvGrpSpPr>
        <p:grpSpPr>
          <a:xfrm>
            <a:off x="240029" y="1196752"/>
            <a:ext cx="8250553" cy="5048710"/>
            <a:chOff x="65863" y="828562"/>
            <a:chExt cx="8925737" cy="5496038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863" y="828562"/>
              <a:ext cx="8925737" cy="5496038"/>
            </a:xfrm>
            <a:prstGeom prst="rect">
              <a:avLst/>
            </a:prstGeom>
          </p:spPr>
        </p:pic>
        <p:cxnSp>
          <p:nvCxnSpPr>
            <p:cNvPr id="6" name="Straight Connector 5"/>
            <p:cNvCxnSpPr/>
            <p:nvPr/>
          </p:nvCxnSpPr>
          <p:spPr>
            <a:xfrm>
              <a:off x="7025640" y="2362200"/>
              <a:ext cx="746760" cy="762000"/>
            </a:xfrm>
            <a:prstGeom prst="line">
              <a:avLst/>
            </a:prstGeom>
            <a:ln w="31750">
              <a:solidFill>
                <a:srgbClr val="D20000"/>
              </a:solidFill>
              <a:headEnd type="triangle"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7025640" y="2819400"/>
              <a:ext cx="746760" cy="762000"/>
            </a:xfrm>
            <a:prstGeom prst="line">
              <a:avLst/>
            </a:prstGeom>
            <a:ln w="31750">
              <a:solidFill>
                <a:srgbClr val="D20000"/>
              </a:solidFill>
              <a:headEnd type="triangle"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7025640" y="3657600"/>
              <a:ext cx="746760" cy="762000"/>
            </a:xfrm>
            <a:prstGeom prst="line">
              <a:avLst/>
            </a:prstGeom>
            <a:ln w="31750">
              <a:solidFill>
                <a:srgbClr val="D20000"/>
              </a:solidFill>
              <a:headEnd type="triangle"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68890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-76199"/>
            <a:ext cx="9098022" cy="907366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B80000"/>
                </a:solidFill>
              </a:rPr>
              <a:t>Loop Carried Dependence</a:t>
            </a:r>
            <a:endParaRPr lang="en-US" b="1" dirty="0">
              <a:solidFill>
                <a:srgbClr val="B8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6566" y="785448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99594" y="470889"/>
            <a:ext cx="89916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endParaRPr lang="en-US" sz="2800" dirty="0"/>
          </a:p>
          <a:p>
            <a:pPr marL="457200" indent="-457200" algn="just">
              <a:buFont typeface="Arial"/>
              <a:buChar char="•"/>
            </a:pPr>
            <a:r>
              <a:rPr lang="en-US" sz="2800" dirty="0"/>
              <a:t>Statement </a:t>
            </a:r>
            <a:r>
              <a:rPr lang="en-US" sz="2800" b="1" i="1" dirty="0">
                <a:solidFill>
                  <a:srgbClr val="2C14DE"/>
                </a:solidFill>
              </a:rPr>
              <a:t>S2</a:t>
            </a:r>
            <a:r>
              <a:rPr lang="en-US" sz="2800" dirty="0"/>
              <a:t> has a </a:t>
            </a:r>
            <a:r>
              <a:rPr lang="en-US" sz="2800" b="1" i="1" dirty="0">
                <a:solidFill>
                  <a:srgbClr val="B80000"/>
                </a:solidFill>
              </a:rPr>
              <a:t>loop-carried dependence</a:t>
            </a:r>
            <a:r>
              <a:rPr lang="en-US" sz="2800" i="1" dirty="0">
                <a:solidFill>
                  <a:srgbClr val="B80000"/>
                </a:solidFill>
              </a:rPr>
              <a:t> </a:t>
            </a:r>
            <a:r>
              <a:rPr lang="en-US" sz="2800" dirty="0"/>
              <a:t>on statement </a:t>
            </a:r>
            <a:r>
              <a:rPr lang="en-US" sz="2800" b="1" i="1" dirty="0" smtClean="0">
                <a:solidFill>
                  <a:srgbClr val="2C14DE"/>
                </a:solidFill>
              </a:rPr>
              <a:t>S1,</a:t>
            </a:r>
            <a:r>
              <a:rPr lang="en-US" sz="2800" b="1" dirty="0" smtClean="0"/>
              <a:t> </a:t>
            </a:r>
            <a:r>
              <a:rPr lang="en-US" sz="2800" b="1" dirty="0">
                <a:solidFill>
                  <a:srgbClr val="B80000"/>
                </a:solidFill>
              </a:rPr>
              <a:t>if and only if </a:t>
            </a:r>
            <a:r>
              <a:rPr lang="en-US" sz="2800" b="1" i="1" dirty="0">
                <a:solidFill>
                  <a:srgbClr val="2C14DE"/>
                </a:solidFill>
              </a:rPr>
              <a:t>S1 </a:t>
            </a:r>
            <a:r>
              <a:rPr lang="en-US" sz="2800" dirty="0"/>
              <a:t>references </a:t>
            </a:r>
            <a:r>
              <a:rPr lang="en-US" sz="2800" b="1" dirty="0">
                <a:solidFill>
                  <a:srgbClr val="2C14DE"/>
                </a:solidFill>
              </a:rPr>
              <a:t>location </a:t>
            </a:r>
            <a:r>
              <a:rPr lang="en-US" sz="2800" b="1" i="1" dirty="0">
                <a:solidFill>
                  <a:srgbClr val="2C14DE"/>
                </a:solidFill>
              </a:rPr>
              <a:t>M </a:t>
            </a:r>
            <a:r>
              <a:rPr lang="en-US" sz="2800" dirty="0"/>
              <a:t>on </a:t>
            </a:r>
            <a:r>
              <a:rPr lang="en-US" sz="2800" dirty="0">
                <a:solidFill>
                  <a:srgbClr val="2C14DE"/>
                </a:solidFill>
              </a:rPr>
              <a:t>iteration </a:t>
            </a:r>
            <a:r>
              <a:rPr lang="en-US" sz="2800" b="1" i="1" dirty="0" err="1">
                <a:solidFill>
                  <a:srgbClr val="2C14DE"/>
                </a:solidFill>
              </a:rPr>
              <a:t>i</a:t>
            </a:r>
            <a:r>
              <a:rPr lang="en-US" sz="2800" dirty="0"/>
              <a:t>, </a:t>
            </a:r>
            <a:r>
              <a:rPr lang="en-US" sz="2800" b="1" i="1" dirty="0">
                <a:solidFill>
                  <a:srgbClr val="2C14DE"/>
                </a:solidFill>
              </a:rPr>
              <a:t>S2</a:t>
            </a:r>
            <a:r>
              <a:rPr lang="en-US" sz="2800" dirty="0"/>
              <a:t> references </a:t>
            </a:r>
            <a:r>
              <a:rPr lang="en-US" sz="2800" b="1" i="1" dirty="0">
                <a:solidFill>
                  <a:srgbClr val="2C14DE"/>
                </a:solidFill>
              </a:rPr>
              <a:t>M</a:t>
            </a:r>
            <a:r>
              <a:rPr lang="en-US" sz="2800" i="1" dirty="0"/>
              <a:t> </a:t>
            </a:r>
            <a:r>
              <a:rPr lang="en-US" sz="2800" dirty="0"/>
              <a:t>on </a:t>
            </a:r>
            <a:r>
              <a:rPr lang="en-US" sz="2800" dirty="0">
                <a:solidFill>
                  <a:srgbClr val="2C14DE"/>
                </a:solidFill>
              </a:rPr>
              <a:t>iteration </a:t>
            </a:r>
            <a:r>
              <a:rPr lang="en-US" sz="2800" b="1" i="1" dirty="0">
                <a:solidFill>
                  <a:srgbClr val="2C14DE"/>
                </a:solidFill>
              </a:rPr>
              <a:t>j </a:t>
            </a:r>
            <a:r>
              <a:rPr lang="en-US" sz="2800" dirty="0"/>
              <a:t>and </a:t>
            </a:r>
            <a:r>
              <a:rPr lang="en-US" sz="2800" dirty="0" smtClean="0"/>
              <a:t>  </a:t>
            </a:r>
            <a:r>
              <a:rPr lang="en-US" sz="2800" b="1" i="1" dirty="0" smtClean="0"/>
              <a:t>d</a:t>
            </a:r>
            <a:r>
              <a:rPr lang="en-US" sz="2800" b="1" dirty="0" smtClean="0"/>
              <a:t>(</a:t>
            </a:r>
            <a:r>
              <a:rPr lang="en-US" sz="2800" b="1" i="1" dirty="0" err="1" smtClean="0"/>
              <a:t>i,j</a:t>
            </a:r>
            <a:r>
              <a:rPr lang="en-US" sz="2800" b="1" dirty="0"/>
              <a:t>) &gt; 0 </a:t>
            </a:r>
            <a:r>
              <a:rPr lang="en-US" sz="2800" dirty="0"/>
              <a:t>(that is, </a:t>
            </a:r>
            <a:r>
              <a:rPr lang="en-US" sz="2800" b="1" i="1" dirty="0"/>
              <a:t>D</a:t>
            </a:r>
            <a:r>
              <a:rPr lang="en-US" sz="2800" dirty="0"/>
              <a:t>(</a:t>
            </a:r>
            <a:r>
              <a:rPr lang="en-US" sz="2800" b="1" i="1" dirty="0" err="1"/>
              <a:t>i</a:t>
            </a:r>
            <a:r>
              <a:rPr lang="en-US" sz="2800" i="1" dirty="0" err="1"/>
              <a:t>,</a:t>
            </a:r>
            <a:r>
              <a:rPr lang="en-US" sz="2800" b="1" i="1" dirty="0" err="1"/>
              <a:t>j</a:t>
            </a:r>
            <a:r>
              <a:rPr lang="en-US" sz="2800" dirty="0"/>
              <a:t>) contains a “&lt;” as leftmost non “=” component).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730" y="3393734"/>
            <a:ext cx="7334605" cy="3149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267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810422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B80000"/>
                </a:solidFill>
              </a:rPr>
              <a:t>Loop Carried Dependence</a:t>
            </a:r>
            <a:endParaRPr lang="en-US" b="1" dirty="0">
              <a:solidFill>
                <a:srgbClr val="B8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6200" y="764704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8" y="1066800"/>
            <a:ext cx="7720425" cy="5304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080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732" y="53007"/>
            <a:ext cx="8882268" cy="774705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B80000"/>
                </a:solidFill>
              </a:rPr>
              <a:t>Loop Carried Transformations</a:t>
            </a:r>
            <a:endParaRPr lang="en-US" b="1" dirty="0">
              <a:solidFill>
                <a:srgbClr val="B8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6200" y="781994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066800"/>
            <a:ext cx="4919868" cy="53459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3124200"/>
            <a:ext cx="7429552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160C5C"/>
                </a:solidFill>
              </a:rPr>
              <a:t>Can be transformed or Not?</a:t>
            </a:r>
          </a:p>
          <a:p>
            <a:r>
              <a:rPr lang="en-US" sz="2400" b="1" dirty="0" smtClean="0">
                <a:solidFill>
                  <a:srgbClr val="160C5C"/>
                </a:solidFill>
              </a:rPr>
              <a:t>Will the dependencies be retained or inverted?</a:t>
            </a:r>
            <a:endParaRPr lang="en-GB" sz="2400" b="1" dirty="0">
              <a:solidFill>
                <a:srgbClr val="160C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840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732" y="53008"/>
            <a:ext cx="8882268" cy="702728"/>
          </a:xfrm>
        </p:spPr>
        <p:txBody>
          <a:bodyPr>
            <a:noAutofit/>
          </a:bodyPr>
          <a:lstStyle/>
          <a:p>
            <a:r>
              <a:rPr lang="en-US" b="1" dirty="0" smtClean="0">
                <a:solidFill>
                  <a:srgbClr val="B80000"/>
                </a:solidFill>
              </a:rPr>
              <a:t>Loop-Independent Dependence</a:t>
            </a:r>
            <a:endParaRPr lang="en-US" b="1" dirty="0">
              <a:solidFill>
                <a:srgbClr val="B8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3003" y="770666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19203" y="476672"/>
            <a:ext cx="8915400" cy="35394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endParaRPr lang="en-US" sz="2800" dirty="0"/>
          </a:p>
          <a:p>
            <a:pPr algn="just"/>
            <a:r>
              <a:rPr lang="en-US" sz="2800" b="1" dirty="0" smtClean="0">
                <a:solidFill>
                  <a:srgbClr val="B80000"/>
                </a:solidFill>
              </a:rPr>
              <a:t>Definition:</a:t>
            </a:r>
            <a:r>
              <a:rPr lang="en-US" sz="2800" dirty="0" smtClean="0"/>
              <a:t> </a:t>
            </a:r>
            <a:r>
              <a:rPr lang="en-US" sz="2800" dirty="0"/>
              <a:t>Statement </a:t>
            </a:r>
            <a:r>
              <a:rPr lang="en-US" sz="2800" b="1" dirty="0">
                <a:solidFill>
                  <a:srgbClr val="2C14DE"/>
                </a:solidFill>
              </a:rPr>
              <a:t>S2</a:t>
            </a:r>
            <a:r>
              <a:rPr lang="en-US" sz="2800" dirty="0"/>
              <a:t> has a </a:t>
            </a:r>
            <a:r>
              <a:rPr lang="en-US" sz="2800" b="1" i="1" dirty="0">
                <a:solidFill>
                  <a:srgbClr val="2C14DE"/>
                </a:solidFill>
              </a:rPr>
              <a:t>loop-independent</a:t>
            </a:r>
            <a:r>
              <a:rPr lang="en-US" sz="2800" i="1" dirty="0">
                <a:solidFill>
                  <a:srgbClr val="2C14DE"/>
                </a:solidFill>
              </a:rPr>
              <a:t> </a:t>
            </a:r>
            <a:r>
              <a:rPr lang="en-US" sz="2800" b="1" i="1" dirty="0">
                <a:solidFill>
                  <a:srgbClr val="2C14DE"/>
                </a:solidFill>
              </a:rPr>
              <a:t>dependence</a:t>
            </a:r>
            <a:r>
              <a:rPr lang="en-US" sz="2800" i="1" dirty="0"/>
              <a:t> </a:t>
            </a:r>
            <a:r>
              <a:rPr lang="en-US" sz="2800" dirty="0"/>
              <a:t>on statement </a:t>
            </a:r>
            <a:r>
              <a:rPr lang="en-US" sz="2800" dirty="0" smtClean="0">
                <a:solidFill>
                  <a:srgbClr val="2C14DE"/>
                </a:solidFill>
              </a:rPr>
              <a:t>S1,</a:t>
            </a:r>
            <a:r>
              <a:rPr lang="en-US" sz="2800" dirty="0" smtClean="0"/>
              <a:t> </a:t>
            </a:r>
            <a:r>
              <a:rPr lang="en-US" sz="2800" b="1" dirty="0">
                <a:solidFill>
                  <a:srgbClr val="B80000"/>
                </a:solidFill>
              </a:rPr>
              <a:t>if and only if</a:t>
            </a:r>
            <a:r>
              <a:rPr lang="en-US" sz="2800" dirty="0">
                <a:solidFill>
                  <a:srgbClr val="B80000"/>
                </a:solidFill>
              </a:rPr>
              <a:t> </a:t>
            </a:r>
            <a:r>
              <a:rPr lang="en-US" sz="2800" dirty="0"/>
              <a:t>there exist </a:t>
            </a:r>
            <a:r>
              <a:rPr lang="en-US" sz="2800" b="1" dirty="0">
                <a:solidFill>
                  <a:srgbClr val="2C14DE"/>
                </a:solidFill>
              </a:rPr>
              <a:t>two iteration vectors </a:t>
            </a:r>
            <a:r>
              <a:rPr lang="en-US" sz="2800" b="1" i="1" dirty="0" err="1">
                <a:solidFill>
                  <a:srgbClr val="B80000"/>
                </a:solidFill>
              </a:rPr>
              <a:t>i</a:t>
            </a:r>
            <a:r>
              <a:rPr lang="en-US" sz="2800" b="1" i="1" dirty="0">
                <a:solidFill>
                  <a:srgbClr val="B80000"/>
                </a:solidFill>
              </a:rPr>
              <a:t> </a:t>
            </a:r>
            <a:r>
              <a:rPr lang="en-US" sz="2800" dirty="0"/>
              <a:t>and </a:t>
            </a:r>
            <a:r>
              <a:rPr lang="en-US" sz="2800" b="1" i="1" dirty="0">
                <a:solidFill>
                  <a:srgbClr val="B80000"/>
                </a:solidFill>
              </a:rPr>
              <a:t>j</a:t>
            </a:r>
            <a:r>
              <a:rPr lang="en-US" sz="2800" b="1" i="1" dirty="0"/>
              <a:t> </a:t>
            </a:r>
            <a:r>
              <a:rPr lang="en-US" sz="2800" dirty="0"/>
              <a:t>such that: </a:t>
            </a:r>
          </a:p>
          <a:p>
            <a:pPr marL="457200" indent="-457200">
              <a:buFont typeface="Arial"/>
              <a:buChar char="•"/>
            </a:pPr>
            <a:r>
              <a:rPr lang="en-US" sz="2800" dirty="0" smtClean="0"/>
              <a:t>Statement </a:t>
            </a:r>
            <a:r>
              <a:rPr lang="en-US" sz="2800" b="1" dirty="0">
                <a:solidFill>
                  <a:srgbClr val="2C14DE"/>
                </a:solidFill>
              </a:rPr>
              <a:t>S1</a:t>
            </a:r>
            <a:r>
              <a:rPr lang="en-US" sz="2800" dirty="0">
                <a:solidFill>
                  <a:srgbClr val="2C14DE"/>
                </a:solidFill>
              </a:rPr>
              <a:t> </a:t>
            </a:r>
            <a:r>
              <a:rPr lang="en-US" sz="2800" dirty="0"/>
              <a:t>refers to </a:t>
            </a:r>
            <a:r>
              <a:rPr lang="en-US" sz="2800" dirty="0">
                <a:solidFill>
                  <a:srgbClr val="2C14DE"/>
                </a:solidFill>
              </a:rPr>
              <a:t>memory location </a:t>
            </a:r>
            <a:r>
              <a:rPr lang="en-US" sz="2800" b="1" i="1" dirty="0">
                <a:solidFill>
                  <a:srgbClr val="2C14DE"/>
                </a:solidFill>
              </a:rPr>
              <a:t>M</a:t>
            </a:r>
            <a:r>
              <a:rPr lang="en-US" sz="2800" i="1" dirty="0">
                <a:solidFill>
                  <a:srgbClr val="2C14DE"/>
                </a:solidFill>
              </a:rPr>
              <a:t> </a:t>
            </a:r>
            <a:r>
              <a:rPr lang="en-US" sz="2800" dirty="0"/>
              <a:t>on </a:t>
            </a:r>
            <a:r>
              <a:rPr lang="en-US" sz="2800" b="1" dirty="0">
                <a:solidFill>
                  <a:srgbClr val="2C14DE"/>
                </a:solidFill>
              </a:rPr>
              <a:t>iteration</a:t>
            </a:r>
            <a:r>
              <a:rPr lang="en-US" sz="2800" dirty="0">
                <a:solidFill>
                  <a:srgbClr val="2C14DE"/>
                </a:solidFill>
              </a:rPr>
              <a:t> </a:t>
            </a:r>
            <a:r>
              <a:rPr lang="en-US" sz="2800" b="1" i="1" dirty="0" err="1">
                <a:solidFill>
                  <a:srgbClr val="2C14DE"/>
                </a:solidFill>
              </a:rPr>
              <a:t>i</a:t>
            </a:r>
            <a:r>
              <a:rPr lang="en-US" sz="2800" dirty="0"/>
              <a:t>, </a:t>
            </a:r>
            <a:r>
              <a:rPr lang="en-US" sz="2800" b="1" dirty="0">
                <a:solidFill>
                  <a:srgbClr val="2C14DE"/>
                </a:solidFill>
              </a:rPr>
              <a:t>S2</a:t>
            </a:r>
            <a:r>
              <a:rPr lang="en-US" sz="2800" dirty="0"/>
              <a:t> refers to </a:t>
            </a:r>
            <a:r>
              <a:rPr lang="en-US" sz="2800" b="1" i="1" dirty="0">
                <a:solidFill>
                  <a:srgbClr val="2C14DE"/>
                </a:solidFill>
              </a:rPr>
              <a:t>M</a:t>
            </a:r>
            <a:r>
              <a:rPr lang="en-US" sz="2800" i="1" dirty="0"/>
              <a:t> </a:t>
            </a:r>
            <a:r>
              <a:rPr lang="en-US" sz="2800" dirty="0"/>
              <a:t>on </a:t>
            </a:r>
            <a:r>
              <a:rPr lang="en-US" sz="2800" dirty="0">
                <a:solidFill>
                  <a:srgbClr val="2C14DE"/>
                </a:solidFill>
              </a:rPr>
              <a:t>iteration </a:t>
            </a:r>
            <a:r>
              <a:rPr lang="en-US" sz="2800" b="1" i="1" dirty="0">
                <a:solidFill>
                  <a:srgbClr val="2C14DE"/>
                </a:solidFill>
              </a:rPr>
              <a:t>j</a:t>
            </a:r>
            <a:r>
              <a:rPr lang="en-US" sz="2800" dirty="0"/>
              <a:t>, and </a:t>
            </a:r>
            <a:r>
              <a:rPr lang="en-US" sz="2800" b="1" i="1" dirty="0" err="1">
                <a:solidFill>
                  <a:srgbClr val="B80000"/>
                </a:solidFill>
              </a:rPr>
              <a:t>i</a:t>
            </a:r>
            <a:r>
              <a:rPr lang="en-US" sz="2800" b="1" i="1" dirty="0">
                <a:solidFill>
                  <a:srgbClr val="B80000"/>
                </a:solidFill>
              </a:rPr>
              <a:t> </a:t>
            </a:r>
            <a:r>
              <a:rPr lang="en-US" sz="2800" b="1" i="1" dirty="0" smtClean="0">
                <a:solidFill>
                  <a:srgbClr val="B80000"/>
                </a:solidFill>
              </a:rPr>
              <a:t>== j</a:t>
            </a:r>
            <a:endParaRPr lang="en-US" sz="2800" b="1" dirty="0" smtClean="0">
              <a:solidFill>
                <a:srgbClr val="B80000"/>
              </a:solidFill>
            </a:endParaRPr>
          </a:p>
          <a:p>
            <a:pPr marL="457200" indent="-457200">
              <a:buFont typeface="Arial"/>
              <a:buChar char="•"/>
            </a:pPr>
            <a:r>
              <a:rPr lang="en-US" sz="2800" dirty="0" smtClean="0"/>
              <a:t>There is a </a:t>
            </a:r>
            <a:r>
              <a:rPr lang="en-US" sz="2800" dirty="0" smtClean="0">
                <a:solidFill>
                  <a:srgbClr val="B80000"/>
                </a:solidFill>
              </a:rPr>
              <a:t>control flow path </a:t>
            </a:r>
            <a:r>
              <a:rPr lang="en-US" sz="2800" dirty="0" smtClean="0"/>
              <a:t>from </a:t>
            </a:r>
            <a:r>
              <a:rPr lang="en-US" sz="2800" b="1" dirty="0" smtClean="0">
                <a:solidFill>
                  <a:srgbClr val="B80000"/>
                </a:solidFill>
              </a:rPr>
              <a:t>S1</a:t>
            </a:r>
            <a:r>
              <a:rPr lang="en-US" sz="2800" dirty="0" smtClean="0">
                <a:solidFill>
                  <a:srgbClr val="B80000"/>
                </a:solidFill>
              </a:rPr>
              <a:t> to </a:t>
            </a:r>
            <a:r>
              <a:rPr lang="en-US" sz="2800" b="1" dirty="0" smtClean="0">
                <a:solidFill>
                  <a:srgbClr val="B80000"/>
                </a:solidFill>
              </a:rPr>
              <a:t>S2</a:t>
            </a:r>
            <a:r>
              <a:rPr lang="en-US" sz="2800" dirty="0" smtClean="0">
                <a:solidFill>
                  <a:srgbClr val="B80000"/>
                </a:solidFill>
              </a:rPr>
              <a:t> </a:t>
            </a:r>
            <a:r>
              <a:rPr lang="en-US" sz="2800" dirty="0" smtClean="0"/>
              <a:t>within the iteration. </a:t>
            </a:r>
            <a:endParaRPr lang="en-US" sz="28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4191000"/>
            <a:ext cx="3432359" cy="1948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501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76200" y="53008"/>
            <a:ext cx="9220200" cy="711696"/>
          </a:xfrm>
        </p:spPr>
        <p:txBody>
          <a:bodyPr>
            <a:noAutofit/>
          </a:bodyPr>
          <a:lstStyle/>
          <a:p>
            <a:r>
              <a:rPr lang="en-US" b="1" dirty="0" smtClean="0">
                <a:solidFill>
                  <a:srgbClr val="B80000"/>
                </a:solidFill>
              </a:rPr>
              <a:t>Loop-Independent Dependence</a:t>
            </a:r>
            <a:endParaRPr lang="en-US" b="1" dirty="0">
              <a:solidFill>
                <a:srgbClr val="B8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6200" y="764704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516" y="1196752"/>
            <a:ext cx="7710884" cy="3744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395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4625"/>
            <a:ext cx="9144000" cy="750116"/>
          </a:xfrm>
        </p:spPr>
        <p:txBody>
          <a:bodyPr>
            <a:noAutofit/>
          </a:bodyPr>
          <a:lstStyle/>
          <a:p>
            <a:r>
              <a:rPr lang="en-US" b="1" dirty="0" smtClean="0">
                <a:solidFill>
                  <a:srgbClr val="B80000"/>
                </a:solidFill>
              </a:rPr>
              <a:t>Parallelization and </a:t>
            </a:r>
            <a:r>
              <a:rPr lang="en-US" b="1" dirty="0" err="1" smtClean="0">
                <a:solidFill>
                  <a:srgbClr val="B80000"/>
                </a:solidFill>
              </a:rPr>
              <a:t>Vectorization</a:t>
            </a:r>
            <a:endParaRPr lang="en-US" b="1" dirty="0">
              <a:solidFill>
                <a:srgbClr val="B8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6200" y="749022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06423" y="609600"/>
            <a:ext cx="89154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endParaRPr lang="en-US" sz="2800" dirty="0"/>
          </a:p>
          <a:p>
            <a:pPr algn="just"/>
            <a:r>
              <a:rPr lang="en-US" sz="2800" b="1" dirty="0" smtClean="0">
                <a:solidFill>
                  <a:srgbClr val="B80000"/>
                </a:solidFill>
              </a:rPr>
              <a:t>Theorem: </a:t>
            </a:r>
            <a:r>
              <a:rPr lang="en-US" sz="2800" b="1" dirty="0" smtClean="0"/>
              <a:t>it </a:t>
            </a:r>
            <a:r>
              <a:rPr lang="en-US" sz="2800" b="1" dirty="0"/>
              <a:t>is </a:t>
            </a:r>
            <a:r>
              <a:rPr lang="en-US" sz="2800" b="1" dirty="0">
                <a:solidFill>
                  <a:srgbClr val="2C14DE"/>
                </a:solidFill>
              </a:rPr>
              <a:t>valid</a:t>
            </a:r>
            <a:r>
              <a:rPr lang="en-US" sz="2800" b="1" dirty="0"/>
              <a:t> to </a:t>
            </a:r>
            <a:r>
              <a:rPr lang="en-US" sz="2800" b="1" dirty="0">
                <a:solidFill>
                  <a:srgbClr val="2C14DE"/>
                </a:solidFill>
              </a:rPr>
              <a:t>convert</a:t>
            </a:r>
            <a:r>
              <a:rPr lang="en-US" sz="2800" b="1" dirty="0"/>
              <a:t> a </a:t>
            </a:r>
            <a:r>
              <a:rPr lang="en-US" sz="2800" b="1" dirty="0">
                <a:solidFill>
                  <a:srgbClr val="2C14DE"/>
                </a:solidFill>
              </a:rPr>
              <a:t>sequential loop</a:t>
            </a:r>
            <a:r>
              <a:rPr lang="en-US" sz="2800" b="1" dirty="0"/>
              <a:t> to a </a:t>
            </a:r>
            <a:r>
              <a:rPr lang="en-US" sz="2800" b="1" dirty="0">
                <a:solidFill>
                  <a:srgbClr val="2C14DE"/>
                </a:solidFill>
              </a:rPr>
              <a:t>parallel loop</a:t>
            </a:r>
            <a:r>
              <a:rPr lang="en-US" sz="2800" b="1" dirty="0"/>
              <a:t> </a:t>
            </a:r>
            <a:r>
              <a:rPr lang="en-US" sz="2800" b="1" i="1" dirty="0"/>
              <a:t>if the loop carries no dependence</a:t>
            </a:r>
            <a:r>
              <a:rPr lang="en-US" sz="2800" b="1" dirty="0"/>
              <a:t>. </a:t>
            </a:r>
          </a:p>
          <a:p>
            <a:endParaRPr lang="en-US" sz="28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616" y="2404885"/>
            <a:ext cx="6480720" cy="4120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045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732" y="53008"/>
            <a:ext cx="8577468" cy="708992"/>
          </a:xfrm>
        </p:spPr>
        <p:txBody>
          <a:bodyPr>
            <a:noAutofit/>
          </a:bodyPr>
          <a:lstStyle/>
          <a:p>
            <a:r>
              <a:rPr lang="en-US" b="1" dirty="0" smtClean="0">
                <a:solidFill>
                  <a:srgbClr val="B80000"/>
                </a:solidFill>
              </a:rPr>
              <a:t>Loop Distribution</a:t>
            </a:r>
            <a:endParaRPr lang="en-US" b="1" dirty="0">
              <a:solidFill>
                <a:srgbClr val="B8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0223" y="7924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45075" y="1014735"/>
            <a:ext cx="883809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B80000"/>
                </a:solidFill>
              </a:rPr>
              <a:t>Can statements in loops which carry dependences be </a:t>
            </a:r>
            <a:r>
              <a:rPr lang="en-US" sz="3200" b="1" dirty="0" err="1">
                <a:solidFill>
                  <a:srgbClr val="B80000"/>
                </a:solidFill>
              </a:rPr>
              <a:t>vectorized</a:t>
            </a:r>
            <a:r>
              <a:rPr lang="en-US" sz="3200" b="1" dirty="0">
                <a:solidFill>
                  <a:srgbClr val="B80000"/>
                </a:solidFill>
              </a:rPr>
              <a:t>?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2362200"/>
            <a:ext cx="7239000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668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732" y="53008"/>
            <a:ext cx="8882268" cy="708992"/>
          </a:xfrm>
        </p:spPr>
        <p:txBody>
          <a:bodyPr>
            <a:noAutofit/>
          </a:bodyPr>
          <a:lstStyle/>
          <a:p>
            <a:r>
              <a:rPr lang="en-US" b="1" dirty="0" smtClean="0">
                <a:solidFill>
                  <a:srgbClr val="B80000"/>
                </a:solidFill>
              </a:rPr>
              <a:t>Loop Distribution – Example2</a:t>
            </a:r>
            <a:endParaRPr lang="en-US" b="1" dirty="0">
              <a:solidFill>
                <a:srgbClr val="B8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0223" y="7924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644" y="1124744"/>
            <a:ext cx="5323714" cy="5428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04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23" y="53008"/>
            <a:ext cx="8808977" cy="708992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rgbClr val="B80000"/>
                </a:solidFill>
              </a:rPr>
              <a:t>Loop Distribution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0223" y="7924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52400" y="914400"/>
            <a:ext cx="8991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B80000"/>
                </a:solidFill>
              </a:rPr>
              <a:t>Loop distribution fails </a:t>
            </a:r>
            <a:r>
              <a:rPr lang="en-US" sz="3200" b="1" u="sng" dirty="0" smtClean="0">
                <a:solidFill>
                  <a:srgbClr val="B80000"/>
                </a:solidFill>
              </a:rPr>
              <a:t>if there is a cyclic dependence</a:t>
            </a:r>
            <a:endParaRPr lang="en-US" sz="3200" b="1" u="sng" dirty="0">
              <a:solidFill>
                <a:srgbClr val="B8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6" y="1844824"/>
            <a:ext cx="5115420" cy="4495014"/>
          </a:xfrm>
          <a:prstGeom prst="rect">
            <a:avLst/>
          </a:prstGeom>
        </p:spPr>
      </p:pic>
      <p:sp>
        <p:nvSpPr>
          <p:cNvPr id="9" name="Oval Callout 8"/>
          <p:cNvSpPr/>
          <p:nvPr/>
        </p:nvSpPr>
        <p:spPr>
          <a:xfrm>
            <a:off x="4427984" y="3140968"/>
            <a:ext cx="4339208" cy="1371600"/>
          </a:xfrm>
          <a:prstGeom prst="wedgeEllipseCallout">
            <a:avLst>
              <a:gd name="adj1" fmla="val -61798"/>
              <a:gd name="adj2" fmla="val 109260"/>
            </a:avLst>
          </a:prstGeom>
          <a:solidFill>
            <a:schemeClr val="bg1"/>
          </a:solidFill>
          <a:ln w="38100">
            <a:solidFill>
              <a:srgbClr val="0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sz="2200" b="1" dirty="0" smtClean="0">
                <a:solidFill>
                  <a:srgbClr val="008000"/>
                </a:solidFill>
              </a:rPr>
              <a:t>Loop can be distributed </a:t>
            </a:r>
            <a:r>
              <a:rPr lang="en-US" sz="2200" b="1" dirty="0" smtClean="0">
                <a:solidFill>
                  <a:srgbClr val="008000"/>
                </a:solidFill>
                <a:sym typeface="Wingdings"/>
              </a:rPr>
              <a:t> only 1 loop carried dependence</a:t>
            </a:r>
            <a:r>
              <a:rPr lang="en-US" sz="2200" b="1" dirty="0" smtClean="0">
                <a:solidFill>
                  <a:srgbClr val="008000"/>
                </a:solidFill>
              </a:rPr>
              <a:t> </a:t>
            </a:r>
            <a:endParaRPr lang="en-US" sz="2200" b="1" dirty="0">
              <a:solidFill>
                <a:srgbClr val="008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1571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23" y="0"/>
            <a:ext cx="9113777" cy="838200"/>
          </a:xfrm>
        </p:spPr>
        <p:txBody>
          <a:bodyPr>
            <a:noAutofit/>
          </a:bodyPr>
          <a:lstStyle/>
          <a:p>
            <a:r>
              <a:rPr lang="en-US" sz="4800" b="1" dirty="0" smtClean="0">
                <a:solidFill>
                  <a:srgbClr val="B80000"/>
                </a:solidFill>
              </a:rPr>
              <a:t>Dependence Testing Complications</a:t>
            </a:r>
            <a:endParaRPr lang="en-US" sz="4800" b="1" dirty="0">
              <a:solidFill>
                <a:srgbClr val="B8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0223" y="7924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52400" y="914400"/>
            <a:ext cx="6019800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B80000"/>
                </a:solidFill>
              </a:rPr>
              <a:t>- Un-known Loop bounds:</a:t>
            </a:r>
            <a:endParaRPr lang="en-US" sz="3200" b="1" dirty="0">
              <a:solidFill>
                <a:srgbClr val="B8000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1600200"/>
            <a:ext cx="2819400" cy="11557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3505200"/>
            <a:ext cx="7696200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i="1" dirty="0"/>
              <a:t>What is the </a:t>
            </a:r>
            <a:r>
              <a:rPr lang="en-US" sz="3200" i="1" dirty="0">
                <a:solidFill>
                  <a:srgbClr val="2C14DE"/>
                </a:solidFill>
              </a:rPr>
              <a:t>relationship</a:t>
            </a:r>
            <a:r>
              <a:rPr lang="en-US" sz="3200" i="1" dirty="0"/>
              <a:t> between </a:t>
            </a:r>
            <a:r>
              <a:rPr lang="en-US" sz="3200" b="1" i="1" dirty="0">
                <a:solidFill>
                  <a:srgbClr val="2C14DE"/>
                </a:solidFill>
              </a:rPr>
              <a:t>N</a:t>
            </a:r>
            <a:r>
              <a:rPr lang="en-US" sz="3200" i="1" dirty="0"/>
              <a:t> and </a:t>
            </a:r>
            <a:r>
              <a:rPr lang="en-US" sz="3200" b="1" i="1" dirty="0">
                <a:solidFill>
                  <a:srgbClr val="2C14DE"/>
                </a:solidFill>
              </a:rPr>
              <a:t>10</a:t>
            </a:r>
            <a:r>
              <a:rPr lang="en-US" sz="3200" i="1" dirty="0"/>
              <a:t>? 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76400" y="4343400"/>
            <a:ext cx="5334000" cy="137160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sz="2400" dirty="0" smtClean="0">
                <a:solidFill>
                  <a:schemeClr val="tx1"/>
                </a:solidFill>
                <a:latin typeface="Calibri"/>
                <a:cs typeface="Calibri"/>
              </a:rPr>
              <a:t>If </a:t>
            </a:r>
            <a:r>
              <a:rPr lang="en-US" sz="2400" b="1" dirty="0" smtClean="0">
                <a:solidFill>
                  <a:srgbClr val="2C14DE"/>
                </a:solidFill>
                <a:latin typeface="Calibri"/>
                <a:cs typeface="Calibri"/>
              </a:rPr>
              <a:t>N&lt;=10 </a:t>
            </a:r>
            <a:r>
              <a:rPr lang="en-US" sz="2400" dirty="0" smtClean="0">
                <a:solidFill>
                  <a:schemeClr val="tx1"/>
                </a:solidFill>
                <a:latin typeface="Calibri"/>
                <a:cs typeface="Calibri"/>
                <a:sym typeface="Wingdings"/>
              </a:rPr>
              <a:t> No </a:t>
            </a:r>
            <a:r>
              <a:rPr lang="en-US" sz="2400" dirty="0">
                <a:solidFill>
                  <a:schemeClr val="tx1"/>
                </a:solidFill>
                <a:latin typeface="Calibri"/>
                <a:cs typeface="Calibri"/>
                <a:sym typeface="Wingdings"/>
              </a:rPr>
              <a:t>loop carried </a:t>
            </a:r>
            <a:r>
              <a:rPr lang="en-US" sz="2400" dirty="0" smtClean="0">
                <a:solidFill>
                  <a:schemeClr val="tx1"/>
                </a:solidFill>
                <a:latin typeface="Calibri"/>
                <a:cs typeface="Calibri"/>
                <a:sym typeface="Wingdings"/>
              </a:rPr>
              <a:t>dependence</a:t>
            </a:r>
          </a:p>
          <a:p>
            <a:pPr algn="ctr"/>
            <a:endParaRPr lang="en-US" sz="2400" dirty="0">
              <a:solidFill>
                <a:schemeClr val="tx1"/>
              </a:solidFill>
              <a:latin typeface="Calibri"/>
              <a:cs typeface="Calibri"/>
              <a:sym typeface="Wingdings"/>
            </a:endParaRPr>
          </a:p>
          <a:p>
            <a:pPr algn="ctr"/>
            <a:r>
              <a:rPr lang="en-US" sz="2400" dirty="0" smtClean="0">
                <a:solidFill>
                  <a:schemeClr val="tx1"/>
                </a:solidFill>
                <a:latin typeface="Calibri"/>
                <a:cs typeface="Calibri"/>
                <a:sym typeface="Wingdings"/>
              </a:rPr>
              <a:t>If </a:t>
            </a:r>
            <a:r>
              <a:rPr lang="en-US" sz="2400" b="1" dirty="0" smtClean="0">
                <a:solidFill>
                  <a:srgbClr val="2C14DE"/>
                </a:solidFill>
                <a:latin typeface="Calibri"/>
                <a:cs typeface="Calibri"/>
                <a:sym typeface="Wingdings"/>
              </a:rPr>
              <a:t>N&gt;10 </a:t>
            </a:r>
            <a:r>
              <a:rPr lang="en-US" sz="2400" dirty="0" smtClean="0">
                <a:solidFill>
                  <a:schemeClr val="tx1"/>
                </a:solidFill>
                <a:latin typeface="Calibri"/>
                <a:cs typeface="Calibri"/>
                <a:sym typeface="Wingdings"/>
              </a:rPr>
              <a:t> loop </a:t>
            </a:r>
            <a:r>
              <a:rPr lang="en-US" sz="2400" dirty="0">
                <a:solidFill>
                  <a:schemeClr val="tx1"/>
                </a:solidFill>
                <a:latin typeface="Calibri"/>
                <a:cs typeface="Calibri"/>
                <a:sym typeface="Wingdings"/>
              </a:rPr>
              <a:t>carried dependences</a:t>
            </a:r>
            <a:endParaRPr lang="en-US" sz="2400" dirty="0">
              <a:solidFill>
                <a:schemeClr val="tx1"/>
              </a:solidFill>
              <a:latin typeface="Calibri"/>
              <a:cs typeface="Calibri"/>
            </a:endParaRPr>
          </a:p>
          <a:p>
            <a:pPr algn="ctr"/>
            <a:endParaRPr lang="en-US" sz="26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39148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7583" y="0"/>
            <a:ext cx="8270439" cy="838200"/>
          </a:xfrm>
        </p:spPr>
        <p:txBody>
          <a:bodyPr>
            <a:normAutofit/>
          </a:bodyPr>
          <a:lstStyle/>
          <a:p>
            <a:r>
              <a:rPr lang="en-US" sz="4000" b="1" dirty="0" smtClean="0">
                <a:solidFill>
                  <a:srgbClr val="B80000"/>
                </a:solidFill>
              </a:rPr>
              <a:t>Dependence Testing Complications</a:t>
            </a:r>
            <a:endParaRPr lang="en-US" sz="4000" b="1" dirty="0">
              <a:solidFill>
                <a:srgbClr val="B8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0223" y="7924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52400" y="838200"/>
            <a:ext cx="6019800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B80000"/>
                </a:solidFill>
              </a:rPr>
              <a:t>- </a:t>
            </a:r>
            <a:r>
              <a:rPr lang="en-US" sz="3200" b="1" dirty="0">
                <a:solidFill>
                  <a:srgbClr val="B80000"/>
                </a:solidFill>
              </a:rPr>
              <a:t>Triangular </a:t>
            </a:r>
            <a:r>
              <a:rPr lang="en-US" sz="3200" b="1" dirty="0" smtClean="0">
                <a:solidFill>
                  <a:srgbClr val="B80000"/>
                </a:solidFill>
              </a:rPr>
              <a:t>loops</a:t>
            </a:r>
            <a:r>
              <a:rPr lang="en-US" sz="3200" b="1" dirty="0">
                <a:solidFill>
                  <a:srgbClr val="B80000"/>
                </a:solidFill>
              </a:rPr>
              <a:t>: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9912" y="3645024"/>
            <a:ext cx="2569941" cy="165618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08112" y="1331670"/>
            <a:ext cx="8735888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ourier"/>
              </a:rPr>
              <a:t>for (j = 0; j &lt; height; j++) {</a:t>
            </a:r>
          </a:p>
          <a:p>
            <a:r>
              <a:rPr lang="da-DK" sz="2000" b="1" dirty="0">
                <a:latin typeface="Courier"/>
              </a:rPr>
              <a:t>    for (i = 0; i &lt;= j; i++) {</a:t>
            </a:r>
          </a:p>
          <a:p>
            <a:r>
              <a:rPr lang="ro-RO" sz="2000" b="1" dirty="0">
                <a:latin typeface="Courier"/>
              </a:rPr>
              <a:t>        printf("*");</a:t>
            </a:r>
          </a:p>
          <a:p>
            <a:r>
              <a:rPr lang="en-US" sz="2000" b="1" dirty="0">
                <a:latin typeface="Courier"/>
              </a:rPr>
              <a:t>    }</a:t>
            </a:r>
          </a:p>
          <a:p>
            <a:r>
              <a:rPr lang="ro-RO" sz="2000" b="1" dirty="0">
                <a:latin typeface="Courier"/>
              </a:rPr>
              <a:t>    printf("\n");</a:t>
            </a:r>
          </a:p>
          <a:p>
            <a:r>
              <a:rPr lang="en-US" sz="2000" b="1" dirty="0" smtClean="0">
                <a:latin typeface="Courier"/>
              </a:rPr>
              <a:t>}</a:t>
            </a:r>
          </a:p>
          <a:p>
            <a:endParaRPr lang="en-US" sz="2800" dirty="0"/>
          </a:p>
          <a:p>
            <a:r>
              <a:rPr lang="en-US" sz="2000" dirty="0"/>
              <a:t>Example run:</a:t>
            </a:r>
          </a:p>
          <a:p>
            <a:r>
              <a:rPr lang="en-US" sz="2000" dirty="0"/>
              <a:t>height of triangle: </a:t>
            </a:r>
            <a:r>
              <a:rPr lang="en-US" sz="2000" b="1" dirty="0"/>
              <a:t>6</a:t>
            </a:r>
            <a:endParaRPr lang="en-US" sz="2000" dirty="0"/>
          </a:p>
          <a:p>
            <a:r>
              <a:rPr lang="en-US" sz="2000" dirty="0"/>
              <a:t>*</a:t>
            </a:r>
          </a:p>
          <a:p>
            <a:r>
              <a:rPr lang="en-US" sz="2000" dirty="0"/>
              <a:t>**</a:t>
            </a:r>
          </a:p>
          <a:p>
            <a:r>
              <a:rPr lang="en-US" sz="2000" dirty="0"/>
              <a:t>***</a:t>
            </a:r>
          </a:p>
          <a:p>
            <a:r>
              <a:rPr lang="en-US" sz="2000" dirty="0"/>
              <a:t>****</a:t>
            </a:r>
          </a:p>
          <a:p>
            <a:r>
              <a:rPr lang="en-US" sz="2000" dirty="0"/>
              <a:t>*****</a:t>
            </a:r>
          </a:p>
          <a:p>
            <a:r>
              <a:rPr lang="en-US" sz="2000" dirty="0"/>
              <a:t>******</a:t>
            </a:r>
          </a:p>
        </p:txBody>
      </p:sp>
    </p:spTree>
    <p:extLst>
      <p:ext uri="{BB962C8B-B14F-4D97-AF65-F5344CB8AC3E}">
        <p14:creationId xmlns:p14="http://schemas.microsoft.com/office/powerpoint/2010/main" val="179106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-99391"/>
            <a:ext cx="9098022" cy="891872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B80000"/>
                </a:solidFill>
              </a:rPr>
              <a:t>Dependence Testing Complications</a:t>
            </a:r>
            <a:endParaRPr lang="en-US" b="1" dirty="0">
              <a:solidFill>
                <a:srgbClr val="B8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0223" y="7924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699792" y="2164414"/>
            <a:ext cx="34731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 smtClean="0">
                <a:solidFill>
                  <a:srgbClr val="B80000"/>
                </a:solidFill>
              </a:rPr>
              <a:t>i</a:t>
            </a:r>
            <a:r>
              <a:rPr lang="en-US" sz="2400" b="1" dirty="0" smtClean="0">
                <a:solidFill>
                  <a:srgbClr val="B80000"/>
                </a:solidFill>
              </a:rPr>
              <a:t>     </a:t>
            </a:r>
            <a:r>
              <a:rPr lang="en-US" sz="2400" b="1" dirty="0" smtClean="0">
                <a:solidFill>
                  <a:srgbClr val="B80000"/>
                </a:solidFill>
                <a:sym typeface="Wingdings"/>
              </a:rPr>
              <a:t>    1   to    3 </a:t>
            </a:r>
          </a:p>
          <a:p>
            <a:r>
              <a:rPr lang="en-US" sz="2400" b="1" dirty="0" smtClean="0">
                <a:solidFill>
                  <a:srgbClr val="B80000"/>
                </a:solidFill>
                <a:sym typeface="Wingdings"/>
              </a:rPr>
              <a:t>J        1    to    2 </a:t>
            </a:r>
            <a:endParaRPr lang="en-US" sz="2400" b="1" dirty="0">
              <a:solidFill>
                <a:srgbClr val="B80000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9" y="1124744"/>
            <a:ext cx="2407569" cy="1551544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>
            <p:extLst/>
          </p:nvPr>
        </p:nvGraphicFramePr>
        <p:xfrm>
          <a:off x="2514600" y="2971800"/>
          <a:ext cx="3505200" cy="2748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9600"/>
                <a:gridCol w="609600"/>
                <a:gridCol w="1143000"/>
                <a:gridCol w="1143000"/>
              </a:tblGrid>
              <a:tr h="52324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err="1" smtClean="0"/>
                        <a:t>i</a:t>
                      </a:r>
                      <a:endParaRPr lang="en-US" sz="2000" b="1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j</a:t>
                      </a:r>
                      <a:endParaRPr lang="en-US" sz="2000" b="1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A (</a:t>
                      </a:r>
                      <a:r>
                        <a:rPr lang="en-US" sz="2000" b="1" dirty="0" err="1" smtClean="0"/>
                        <a:t>I,j</a:t>
                      </a:r>
                      <a:r>
                        <a:rPr lang="en-US" sz="2000" b="1" dirty="0" smtClean="0"/>
                        <a:t>)</a:t>
                      </a:r>
                      <a:endParaRPr lang="en-US" sz="2000" b="1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 smtClean="0"/>
                        <a:t>A(j,1)</a:t>
                      </a:r>
                      <a:endParaRPr lang="en-US" sz="2000" b="1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1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1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A(1,1)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smtClean="0"/>
                        <a:t>A(1,1)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1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2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smtClean="0"/>
                        <a:t>A(1,2)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smtClean="0"/>
                        <a:t>A(2,1)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2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1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smtClean="0"/>
                        <a:t>A(2,1)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smtClean="0"/>
                        <a:t>A(1,2)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2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2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smtClean="0"/>
                        <a:t>A(2,2)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smtClean="0"/>
                        <a:t>A(2,2)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3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1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smtClean="0"/>
                        <a:t>A(3,1)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smtClean="0"/>
                        <a:t>A(1,3)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3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2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smtClean="0"/>
                        <a:t>A(3,2)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smtClean="0"/>
                        <a:t>A(2,1)</a:t>
                      </a:r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19" name="Group 18"/>
          <p:cNvGrpSpPr/>
          <p:nvPr/>
        </p:nvGrpSpPr>
        <p:grpSpPr>
          <a:xfrm>
            <a:off x="4572000" y="3698230"/>
            <a:ext cx="631444" cy="1792274"/>
            <a:chOff x="4572000" y="3698230"/>
            <a:chExt cx="631444" cy="1792274"/>
          </a:xfrm>
        </p:grpSpPr>
        <p:cxnSp>
          <p:nvCxnSpPr>
            <p:cNvPr id="12" name="Straight Connector 11"/>
            <p:cNvCxnSpPr/>
            <p:nvPr/>
          </p:nvCxnSpPr>
          <p:spPr>
            <a:xfrm>
              <a:off x="4595960" y="3698230"/>
              <a:ext cx="555244" cy="4104"/>
            </a:xfrm>
            <a:prstGeom prst="line">
              <a:avLst/>
            </a:prstGeom>
            <a:ln w="31750">
              <a:solidFill>
                <a:srgbClr val="B80000"/>
              </a:solidFill>
              <a:headEnd type="triangle" w="lg"/>
              <a:tailEnd type="triangle" w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4572000" y="4114800"/>
              <a:ext cx="609600" cy="304800"/>
            </a:xfrm>
            <a:prstGeom prst="line">
              <a:avLst/>
            </a:prstGeom>
            <a:ln w="31750">
              <a:solidFill>
                <a:srgbClr val="B80000"/>
              </a:solidFill>
              <a:headEnd type="triangle" w="lg"/>
              <a:tailEnd type="triangle" w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4572000" y="4114800"/>
              <a:ext cx="609600" cy="304800"/>
            </a:xfrm>
            <a:prstGeom prst="line">
              <a:avLst/>
            </a:prstGeom>
            <a:ln w="31750">
              <a:solidFill>
                <a:srgbClr val="B80000"/>
              </a:solidFill>
              <a:headEnd type="triangle" w="lg"/>
              <a:tailEnd type="triangle" w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4612260" y="4800600"/>
              <a:ext cx="555244" cy="4104"/>
            </a:xfrm>
            <a:prstGeom prst="line">
              <a:avLst/>
            </a:prstGeom>
            <a:ln w="31750">
              <a:solidFill>
                <a:srgbClr val="B80000"/>
              </a:solidFill>
              <a:headEnd type="triangle" w="lg"/>
              <a:tailEnd type="triangle" w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4572000" y="4495800"/>
              <a:ext cx="631444" cy="994704"/>
            </a:xfrm>
            <a:prstGeom prst="line">
              <a:avLst/>
            </a:prstGeom>
            <a:ln w="31750">
              <a:solidFill>
                <a:srgbClr val="B80000"/>
              </a:solidFill>
              <a:headEnd type="triangle" w="lg"/>
              <a:tailEnd type="triangle" w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19157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53008"/>
            <a:ext cx="9098022" cy="785192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B80000"/>
                </a:solidFill>
              </a:rPr>
              <a:t>Dependence Testing Complications</a:t>
            </a:r>
            <a:endParaRPr lang="en-US" b="1" dirty="0">
              <a:solidFill>
                <a:srgbClr val="B8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0223" y="8686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52400" y="1091624"/>
            <a:ext cx="6019800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B80000"/>
                </a:solidFill>
              </a:rPr>
              <a:t>- User Variables:</a:t>
            </a:r>
            <a:endParaRPr lang="en-US" sz="3200" b="1" dirty="0">
              <a:solidFill>
                <a:srgbClr val="B8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8600" y="3886200"/>
            <a:ext cx="73437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B80000"/>
                </a:solidFill>
              </a:rPr>
              <a:t>- Serious Problem: </a:t>
            </a:r>
            <a:r>
              <a:rPr lang="en-US" sz="3200" b="1" i="1" dirty="0" smtClean="0">
                <a:solidFill>
                  <a:srgbClr val="0000FF"/>
                </a:solidFill>
              </a:rPr>
              <a:t>Aliases/Pointers </a:t>
            </a:r>
            <a:endParaRPr lang="en-US" sz="3200" b="1" i="1" dirty="0">
              <a:solidFill>
                <a:srgbClr val="0000FF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1676400"/>
            <a:ext cx="2565400" cy="115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360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132" y="53008"/>
            <a:ext cx="9110868" cy="785192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sz="4000" b="1" dirty="0" smtClean="0">
                <a:solidFill>
                  <a:srgbClr val="B80000"/>
                </a:solidFill>
              </a:rPr>
              <a:t>Eliminating Anti and Output Dependence</a:t>
            </a:r>
            <a:endParaRPr lang="en-US" sz="4000" b="1" dirty="0">
              <a:solidFill>
                <a:srgbClr val="B8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0223" y="8382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980728"/>
            <a:ext cx="9115275" cy="5516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181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809724"/>
          </a:xfrm>
        </p:spPr>
        <p:txBody>
          <a:bodyPr>
            <a:noAutofit/>
          </a:bodyPr>
          <a:lstStyle/>
          <a:p>
            <a:r>
              <a:rPr lang="en-US" b="1" dirty="0" smtClean="0">
                <a:solidFill>
                  <a:srgbClr val="B80000"/>
                </a:solidFill>
              </a:rPr>
              <a:t>Loop Parallelization</a:t>
            </a:r>
            <a:endParaRPr lang="en-US" b="1" dirty="0">
              <a:solidFill>
                <a:srgbClr val="B8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07504" y="809725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0" y="893517"/>
            <a:ext cx="8839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Tx/>
              <a:buChar char="-"/>
            </a:pPr>
            <a:r>
              <a:rPr lang="en-US" sz="2400" b="1" dirty="0" smtClean="0"/>
              <a:t>A </a:t>
            </a:r>
            <a:r>
              <a:rPr lang="en-US" sz="2400" b="1" dirty="0">
                <a:solidFill>
                  <a:srgbClr val="2C14DE"/>
                </a:solidFill>
              </a:rPr>
              <a:t>dependence</a:t>
            </a:r>
            <a:r>
              <a:rPr lang="en-US" sz="2400" b="1" dirty="0"/>
              <a:t> is said to be </a:t>
            </a:r>
            <a:r>
              <a:rPr lang="en-US" sz="2400" b="1" dirty="0">
                <a:solidFill>
                  <a:srgbClr val="2C14DE"/>
                </a:solidFill>
              </a:rPr>
              <a:t>carried by a </a:t>
            </a:r>
            <a:r>
              <a:rPr lang="en-US" sz="2400" b="1" dirty="0" smtClean="0">
                <a:solidFill>
                  <a:srgbClr val="2C14DE"/>
                </a:solidFill>
              </a:rPr>
              <a:t>loop</a:t>
            </a:r>
            <a:r>
              <a:rPr lang="en-US" sz="2400" b="1" dirty="0" smtClean="0"/>
              <a:t>, </a:t>
            </a:r>
            <a:r>
              <a:rPr lang="en-US" sz="2400" b="1" dirty="0"/>
              <a:t>if the </a:t>
            </a:r>
            <a:r>
              <a:rPr lang="en-US" sz="2400" b="1" dirty="0">
                <a:solidFill>
                  <a:srgbClr val="2C14DE"/>
                </a:solidFill>
              </a:rPr>
              <a:t>loop</a:t>
            </a:r>
            <a:r>
              <a:rPr lang="en-US" sz="2400" b="1" dirty="0"/>
              <a:t> is the </a:t>
            </a:r>
            <a:r>
              <a:rPr lang="en-US" sz="2400" b="1" dirty="0">
                <a:solidFill>
                  <a:srgbClr val="2C14DE"/>
                </a:solidFill>
              </a:rPr>
              <a:t>outermost loop</a:t>
            </a:r>
            <a:r>
              <a:rPr lang="en-US" sz="2400" b="1" dirty="0"/>
              <a:t> whose </a:t>
            </a:r>
            <a:r>
              <a:rPr lang="en-US" sz="2400" b="1" dirty="0">
                <a:solidFill>
                  <a:srgbClr val="2C14DE"/>
                </a:solidFill>
              </a:rPr>
              <a:t>removal eliminates</a:t>
            </a:r>
            <a:r>
              <a:rPr lang="en-US" sz="2400" b="1" dirty="0"/>
              <a:t> the </a:t>
            </a:r>
            <a:r>
              <a:rPr lang="en-US" sz="2400" b="1" dirty="0">
                <a:solidFill>
                  <a:srgbClr val="2C14DE"/>
                </a:solidFill>
              </a:rPr>
              <a:t>dependence</a:t>
            </a:r>
            <a:r>
              <a:rPr lang="en-US" sz="2400" b="1" dirty="0"/>
              <a:t>. </a:t>
            </a:r>
            <a:endParaRPr lang="en-US" sz="2400" b="1" dirty="0" smtClean="0"/>
          </a:p>
          <a:p>
            <a:pPr marL="342900" indent="-342900" algn="just">
              <a:buFontTx/>
              <a:buChar char="-"/>
            </a:pPr>
            <a:endParaRPr lang="en-US" sz="2400" dirty="0" smtClean="0"/>
          </a:p>
          <a:p>
            <a:pPr algn="just"/>
            <a:r>
              <a:rPr lang="en-US" sz="2400" b="1" dirty="0" smtClean="0"/>
              <a:t>- If </a:t>
            </a:r>
            <a:r>
              <a:rPr lang="en-US" sz="2400" b="1" dirty="0"/>
              <a:t>a </a:t>
            </a:r>
            <a:r>
              <a:rPr lang="en-US" sz="2400" b="1" dirty="0">
                <a:solidFill>
                  <a:srgbClr val="2C14DE"/>
                </a:solidFill>
              </a:rPr>
              <a:t>dependence</a:t>
            </a:r>
            <a:r>
              <a:rPr lang="en-US" sz="2400" b="1" dirty="0"/>
              <a:t> is </a:t>
            </a:r>
            <a:r>
              <a:rPr lang="en-US" sz="2400" b="1" dirty="0">
                <a:solidFill>
                  <a:srgbClr val="2C14DE"/>
                </a:solidFill>
              </a:rPr>
              <a:t>not carried</a:t>
            </a:r>
            <a:r>
              <a:rPr lang="en-US" sz="2400" b="1" dirty="0"/>
              <a:t> by the loop, </a:t>
            </a:r>
            <a:r>
              <a:rPr lang="en-US" sz="2400" b="1" dirty="0">
                <a:solidFill>
                  <a:srgbClr val="2C14DE"/>
                </a:solidFill>
              </a:rPr>
              <a:t>it is loop-independent.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1" y="2474008"/>
            <a:ext cx="5729064" cy="4069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628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732" y="53008"/>
            <a:ext cx="8882268" cy="785192"/>
          </a:xfrm>
        </p:spPr>
        <p:txBody>
          <a:bodyPr>
            <a:noAutofit/>
          </a:bodyPr>
          <a:lstStyle/>
          <a:p>
            <a:r>
              <a:rPr lang="en-US" b="1" dirty="0" smtClean="0">
                <a:solidFill>
                  <a:srgbClr val="B80000"/>
                </a:solidFill>
              </a:rPr>
              <a:t>Loop Parallelization</a:t>
            </a:r>
            <a:endParaRPr lang="en-US" b="1" dirty="0">
              <a:solidFill>
                <a:srgbClr val="B8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8382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381000" y="1249740"/>
            <a:ext cx="7315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dirty="0"/>
              <a:t>The </a:t>
            </a:r>
            <a:r>
              <a:rPr lang="en-US" sz="3200" dirty="0">
                <a:solidFill>
                  <a:srgbClr val="2C14DE"/>
                </a:solidFill>
              </a:rPr>
              <a:t>iterations</a:t>
            </a:r>
            <a:r>
              <a:rPr lang="en-US" sz="3200" dirty="0"/>
              <a:t> of a </a:t>
            </a:r>
            <a:r>
              <a:rPr lang="en-US" sz="3200" dirty="0">
                <a:solidFill>
                  <a:srgbClr val="2C14DE"/>
                </a:solidFill>
              </a:rPr>
              <a:t>loop</a:t>
            </a:r>
            <a:r>
              <a:rPr lang="en-US" sz="3200" dirty="0"/>
              <a:t> may be </a:t>
            </a:r>
            <a:r>
              <a:rPr lang="en-US" sz="3200" dirty="0">
                <a:solidFill>
                  <a:srgbClr val="2C14DE"/>
                </a:solidFill>
              </a:rPr>
              <a:t>executed in parallel</a:t>
            </a:r>
            <a:r>
              <a:rPr lang="en-US" sz="3200" dirty="0"/>
              <a:t> with one another </a:t>
            </a:r>
            <a:r>
              <a:rPr lang="en-US" sz="3200" b="1" i="1" dirty="0">
                <a:solidFill>
                  <a:srgbClr val="2C14DE"/>
                </a:solidFill>
              </a:rPr>
              <a:t>if and only if </a:t>
            </a:r>
            <a:r>
              <a:rPr lang="en-US" sz="3200" b="1" i="1" dirty="0" smtClean="0">
                <a:solidFill>
                  <a:srgbClr val="2C14DE"/>
                </a:solidFill>
              </a:rPr>
              <a:t>NO dependences </a:t>
            </a:r>
            <a:r>
              <a:rPr lang="en-US" sz="3200" b="1" i="1" dirty="0">
                <a:solidFill>
                  <a:srgbClr val="2C14DE"/>
                </a:solidFill>
              </a:rPr>
              <a:t>are carried by the loop! </a:t>
            </a:r>
          </a:p>
        </p:txBody>
      </p:sp>
    </p:spTree>
    <p:extLst>
      <p:ext uri="{BB962C8B-B14F-4D97-AF65-F5344CB8AC3E}">
        <p14:creationId xmlns:p14="http://schemas.microsoft.com/office/powerpoint/2010/main" val="826244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53008"/>
            <a:ext cx="9144000" cy="785192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B80000"/>
                </a:solidFill>
              </a:rPr>
              <a:t>Loop Parallelization Example-1</a:t>
            </a:r>
            <a:endParaRPr lang="en-US" b="1" dirty="0">
              <a:solidFill>
                <a:srgbClr val="B8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8382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52400" y="4114800"/>
            <a:ext cx="87630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dirty="0"/>
              <a:t>• </a:t>
            </a:r>
            <a:r>
              <a:rPr lang="en-US" sz="3200" dirty="0" smtClean="0">
                <a:solidFill>
                  <a:srgbClr val="2C14DE"/>
                </a:solidFill>
              </a:rPr>
              <a:t>Iterations</a:t>
            </a:r>
            <a:r>
              <a:rPr lang="en-US" sz="3200" dirty="0" smtClean="0"/>
              <a:t> </a:t>
            </a:r>
            <a:r>
              <a:rPr lang="en-US" sz="3200" dirty="0"/>
              <a:t>of </a:t>
            </a:r>
            <a:r>
              <a:rPr lang="en-US" sz="3200" dirty="0">
                <a:solidFill>
                  <a:srgbClr val="2C14DE"/>
                </a:solidFill>
              </a:rPr>
              <a:t>loop j </a:t>
            </a:r>
            <a:r>
              <a:rPr lang="en-US" sz="3200" dirty="0"/>
              <a:t>must be executed </a:t>
            </a:r>
            <a:r>
              <a:rPr lang="en-US" sz="3200" b="1" dirty="0">
                <a:solidFill>
                  <a:srgbClr val="2C14DE"/>
                </a:solidFill>
              </a:rPr>
              <a:t>sequentially</a:t>
            </a:r>
            <a:r>
              <a:rPr lang="en-US" sz="3200" dirty="0"/>
              <a:t>, but the </a:t>
            </a:r>
            <a:r>
              <a:rPr lang="en-US" sz="3200" dirty="0">
                <a:solidFill>
                  <a:srgbClr val="2C14DE"/>
                </a:solidFill>
              </a:rPr>
              <a:t>iterations</a:t>
            </a:r>
            <a:r>
              <a:rPr lang="en-US" sz="3200" dirty="0"/>
              <a:t> of </a:t>
            </a:r>
            <a:r>
              <a:rPr lang="en-US" sz="3200" dirty="0">
                <a:solidFill>
                  <a:srgbClr val="2C14DE"/>
                </a:solidFill>
              </a:rPr>
              <a:t>loop </a:t>
            </a:r>
            <a:r>
              <a:rPr lang="en-US" sz="3200" dirty="0" err="1">
                <a:solidFill>
                  <a:srgbClr val="2C14DE"/>
                </a:solidFill>
              </a:rPr>
              <a:t>i</a:t>
            </a:r>
            <a:r>
              <a:rPr lang="en-US" sz="3200" dirty="0">
                <a:solidFill>
                  <a:srgbClr val="2C14DE"/>
                </a:solidFill>
              </a:rPr>
              <a:t> </a:t>
            </a:r>
            <a:r>
              <a:rPr lang="en-US" sz="3200" dirty="0"/>
              <a:t>may be </a:t>
            </a:r>
            <a:r>
              <a:rPr lang="en-US" sz="3200" b="1" dirty="0">
                <a:solidFill>
                  <a:srgbClr val="2C14DE"/>
                </a:solidFill>
              </a:rPr>
              <a:t>executed in parallel. </a:t>
            </a:r>
            <a:endParaRPr lang="en-US" sz="3200" b="1" dirty="0" smtClean="0">
              <a:solidFill>
                <a:srgbClr val="2C14DE"/>
              </a:solidFill>
            </a:endParaRPr>
          </a:p>
          <a:p>
            <a:pPr algn="just"/>
            <a:endParaRPr lang="en-US" sz="3200" b="1" dirty="0">
              <a:solidFill>
                <a:srgbClr val="2C14DE"/>
              </a:solidFill>
            </a:endParaRPr>
          </a:p>
          <a:p>
            <a:pPr algn="just"/>
            <a:r>
              <a:rPr lang="en-US" sz="3200" b="1" dirty="0">
                <a:solidFill>
                  <a:srgbClr val="B80000"/>
                </a:solidFill>
              </a:rPr>
              <a:t>• Outer loop parallelism.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0200" y="1143000"/>
            <a:ext cx="3606800" cy="271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263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53007"/>
            <a:ext cx="9067800" cy="830911"/>
          </a:xfrm>
        </p:spPr>
        <p:txBody>
          <a:bodyPr>
            <a:noAutofit/>
          </a:bodyPr>
          <a:lstStyle/>
          <a:p>
            <a:r>
              <a:rPr lang="en-US" sz="4800" b="1" dirty="0" smtClean="0">
                <a:solidFill>
                  <a:srgbClr val="B80000"/>
                </a:solidFill>
              </a:rPr>
              <a:t>Loop Parallelization Example-2</a:t>
            </a:r>
            <a:endParaRPr lang="en-US" sz="4800" b="1" dirty="0">
              <a:solidFill>
                <a:srgbClr val="B8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8382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52400" y="4419600"/>
            <a:ext cx="8763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000" dirty="0"/>
              <a:t>• </a:t>
            </a:r>
            <a:r>
              <a:rPr lang="en-US" sz="3000" dirty="0" smtClean="0">
                <a:solidFill>
                  <a:srgbClr val="2C14DE"/>
                </a:solidFill>
              </a:rPr>
              <a:t>Iterations</a:t>
            </a:r>
            <a:r>
              <a:rPr lang="en-US" sz="3000" dirty="0" smtClean="0"/>
              <a:t> </a:t>
            </a:r>
            <a:r>
              <a:rPr lang="en-US" sz="3000" dirty="0"/>
              <a:t>of </a:t>
            </a:r>
            <a:r>
              <a:rPr lang="en-US" sz="3000" dirty="0">
                <a:solidFill>
                  <a:srgbClr val="2C14DE"/>
                </a:solidFill>
              </a:rPr>
              <a:t>loop </a:t>
            </a:r>
            <a:r>
              <a:rPr lang="en-US" sz="3000" dirty="0" err="1" smtClean="0">
                <a:solidFill>
                  <a:srgbClr val="2C14DE"/>
                </a:solidFill>
              </a:rPr>
              <a:t>i</a:t>
            </a:r>
            <a:r>
              <a:rPr lang="en-US" sz="3000" dirty="0" smtClean="0">
                <a:solidFill>
                  <a:srgbClr val="2C14DE"/>
                </a:solidFill>
              </a:rPr>
              <a:t> </a:t>
            </a:r>
            <a:r>
              <a:rPr lang="en-US" sz="3000" dirty="0"/>
              <a:t>must be executed </a:t>
            </a:r>
            <a:r>
              <a:rPr lang="en-US" sz="3000" b="1" dirty="0">
                <a:solidFill>
                  <a:srgbClr val="2C14DE"/>
                </a:solidFill>
              </a:rPr>
              <a:t>sequentially</a:t>
            </a:r>
            <a:r>
              <a:rPr lang="en-US" sz="3000" dirty="0"/>
              <a:t>, but the </a:t>
            </a:r>
            <a:r>
              <a:rPr lang="en-US" sz="3000" dirty="0">
                <a:solidFill>
                  <a:srgbClr val="2C14DE"/>
                </a:solidFill>
              </a:rPr>
              <a:t>iterations</a:t>
            </a:r>
            <a:r>
              <a:rPr lang="en-US" sz="3000" dirty="0"/>
              <a:t> of </a:t>
            </a:r>
            <a:r>
              <a:rPr lang="en-US" sz="3000" dirty="0">
                <a:solidFill>
                  <a:srgbClr val="2C14DE"/>
                </a:solidFill>
              </a:rPr>
              <a:t>loop </a:t>
            </a:r>
            <a:r>
              <a:rPr lang="en-US" sz="3000" dirty="0" smtClean="0">
                <a:solidFill>
                  <a:srgbClr val="2C14DE"/>
                </a:solidFill>
              </a:rPr>
              <a:t>j </a:t>
            </a:r>
            <a:r>
              <a:rPr lang="en-US" sz="3000" dirty="0"/>
              <a:t>may be </a:t>
            </a:r>
            <a:r>
              <a:rPr lang="en-US" sz="3000" b="1" dirty="0">
                <a:solidFill>
                  <a:srgbClr val="2C14DE"/>
                </a:solidFill>
              </a:rPr>
              <a:t>executed in parallel. </a:t>
            </a:r>
            <a:endParaRPr lang="en-US" sz="3000" b="1" dirty="0" smtClean="0">
              <a:solidFill>
                <a:srgbClr val="2C14DE"/>
              </a:solidFill>
            </a:endParaRPr>
          </a:p>
          <a:p>
            <a:pPr algn="just"/>
            <a:endParaRPr lang="en-US" sz="3000" b="1" dirty="0">
              <a:solidFill>
                <a:srgbClr val="2C14DE"/>
              </a:solidFill>
            </a:endParaRPr>
          </a:p>
          <a:p>
            <a:pPr algn="just"/>
            <a:r>
              <a:rPr lang="en-US" sz="3000" b="1" dirty="0">
                <a:solidFill>
                  <a:srgbClr val="B80000"/>
                </a:solidFill>
              </a:rPr>
              <a:t>• </a:t>
            </a:r>
            <a:r>
              <a:rPr lang="en-US" sz="3000" b="1" dirty="0" smtClean="0">
                <a:solidFill>
                  <a:srgbClr val="B80000"/>
                </a:solidFill>
              </a:rPr>
              <a:t>Inner-loop </a:t>
            </a:r>
            <a:r>
              <a:rPr lang="en-US" sz="3000" b="1" dirty="0">
                <a:solidFill>
                  <a:srgbClr val="B80000"/>
                </a:solidFill>
              </a:rPr>
              <a:t>parallelism.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9400" y="1219200"/>
            <a:ext cx="3514165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717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53007"/>
            <a:ext cx="8991600" cy="983311"/>
          </a:xfrm>
        </p:spPr>
        <p:txBody>
          <a:bodyPr>
            <a:noAutofit/>
          </a:bodyPr>
          <a:lstStyle/>
          <a:p>
            <a:r>
              <a:rPr lang="en-US" sz="3000" b="1" dirty="0">
                <a:solidFill>
                  <a:srgbClr val="B80000"/>
                </a:solidFill>
              </a:rPr>
              <a:t>Techniques for Breaking Dependencies </a:t>
            </a:r>
            <a:r>
              <a:rPr lang="en-US" sz="3000" b="1" dirty="0" smtClean="0">
                <a:solidFill>
                  <a:srgbClr val="B80000"/>
                </a:solidFill>
              </a:rPr>
              <a:t>and </a:t>
            </a:r>
            <a:br>
              <a:rPr lang="en-US" sz="3000" b="1" dirty="0" smtClean="0">
                <a:solidFill>
                  <a:srgbClr val="B80000"/>
                </a:solidFill>
              </a:rPr>
            </a:br>
            <a:r>
              <a:rPr lang="en-US" sz="3000" b="1" dirty="0" smtClean="0">
                <a:solidFill>
                  <a:srgbClr val="B80000"/>
                </a:solidFill>
              </a:rPr>
              <a:t>for </a:t>
            </a:r>
            <a:r>
              <a:rPr lang="en-US" sz="3000" b="1" dirty="0">
                <a:solidFill>
                  <a:srgbClr val="B80000"/>
                </a:solidFill>
              </a:rPr>
              <a:t>Dealing with Scalars </a:t>
            </a:r>
            <a:endParaRPr lang="en-US" sz="3000" dirty="0">
              <a:solidFill>
                <a:srgbClr val="B8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9906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76200" y="1149489"/>
            <a:ext cx="883920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/>
              <a:buChar char="•"/>
            </a:pPr>
            <a:r>
              <a:rPr lang="en-US" sz="3000" b="1" dirty="0" smtClean="0">
                <a:solidFill>
                  <a:srgbClr val="B80000"/>
                </a:solidFill>
              </a:rPr>
              <a:t>Privatization</a:t>
            </a:r>
          </a:p>
          <a:p>
            <a:pPr marL="914400" lvl="1" indent="-457200" algn="just">
              <a:buFont typeface="Arial"/>
              <a:buChar char="•"/>
            </a:pPr>
            <a:r>
              <a:rPr lang="en-US" sz="3000" b="1" dirty="0">
                <a:solidFill>
                  <a:srgbClr val="2C14DE"/>
                </a:solidFill>
              </a:rPr>
              <a:t>remove dependencies </a:t>
            </a:r>
            <a:r>
              <a:rPr lang="en-US" sz="3000" dirty="0"/>
              <a:t>created by use of </a:t>
            </a:r>
            <a:r>
              <a:rPr lang="en-US" sz="3000" b="1" dirty="0">
                <a:solidFill>
                  <a:srgbClr val="2C14DE"/>
                </a:solidFill>
              </a:rPr>
              <a:t>temporary workspaces </a:t>
            </a:r>
            <a:endParaRPr lang="en-US" sz="3000" dirty="0" smtClean="0"/>
          </a:p>
          <a:p>
            <a:pPr marL="914400" lvl="1" indent="-457200" algn="just">
              <a:buFont typeface="Arial"/>
              <a:buChar char="•"/>
            </a:pPr>
            <a:endParaRPr lang="en-US" sz="3000" dirty="0"/>
          </a:p>
          <a:p>
            <a:pPr marL="457200" indent="-457200" algn="just">
              <a:buFont typeface="Arial"/>
              <a:buChar char="•"/>
            </a:pPr>
            <a:r>
              <a:rPr lang="en-US" sz="3000" b="1" dirty="0" smtClean="0">
                <a:solidFill>
                  <a:srgbClr val="B80000"/>
                </a:solidFill>
              </a:rPr>
              <a:t>Induction </a:t>
            </a:r>
            <a:r>
              <a:rPr lang="en-US" sz="3000" b="1" dirty="0">
                <a:solidFill>
                  <a:srgbClr val="B80000"/>
                </a:solidFill>
              </a:rPr>
              <a:t>Variable </a:t>
            </a:r>
            <a:r>
              <a:rPr lang="en-US" sz="3000" b="1" dirty="0" smtClean="0">
                <a:solidFill>
                  <a:srgbClr val="B80000"/>
                </a:solidFill>
              </a:rPr>
              <a:t>Substitution</a:t>
            </a:r>
          </a:p>
          <a:p>
            <a:pPr marL="914400" lvl="1" indent="-457200" algn="just">
              <a:buFont typeface="Arial"/>
              <a:buChar char="•"/>
            </a:pPr>
            <a:r>
              <a:rPr lang="en-US" sz="3000" dirty="0" smtClean="0"/>
              <a:t>find </a:t>
            </a:r>
            <a:r>
              <a:rPr lang="en-US" sz="3000" b="1" dirty="0">
                <a:solidFill>
                  <a:srgbClr val="2C14DE"/>
                </a:solidFill>
              </a:rPr>
              <a:t>closed solutions </a:t>
            </a:r>
            <a:r>
              <a:rPr lang="en-US" sz="3000" dirty="0"/>
              <a:t>for </a:t>
            </a:r>
            <a:r>
              <a:rPr lang="en-US" sz="3000" b="1" dirty="0">
                <a:solidFill>
                  <a:srgbClr val="2C14DE"/>
                </a:solidFill>
              </a:rPr>
              <a:t>basic induction </a:t>
            </a:r>
            <a:r>
              <a:rPr lang="en-US" sz="3000" b="1" dirty="0" smtClean="0">
                <a:solidFill>
                  <a:srgbClr val="2C14DE"/>
                </a:solidFill>
              </a:rPr>
              <a:t>variables </a:t>
            </a:r>
            <a:endParaRPr lang="en-US" sz="3000" dirty="0" smtClean="0"/>
          </a:p>
          <a:p>
            <a:pPr marL="914400" lvl="1" indent="-457200" algn="just">
              <a:buFont typeface="Arial"/>
              <a:buChar char="•"/>
            </a:pPr>
            <a:endParaRPr lang="en-US" sz="3000" dirty="0" smtClean="0"/>
          </a:p>
          <a:p>
            <a:pPr marL="457200" indent="-457200" algn="just">
              <a:buFont typeface="Arial"/>
              <a:buChar char="•"/>
            </a:pPr>
            <a:r>
              <a:rPr lang="fr-FR" sz="3000" b="1" dirty="0" err="1" smtClean="0">
                <a:solidFill>
                  <a:srgbClr val="B80000"/>
                </a:solidFill>
              </a:rPr>
              <a:t>Reduction</a:t>
            </a:r>
            <a:endParaRPr lang="fr-FR" sz="3000" b="1" dirty="0" smtClean="0">
              <a:solidFill>
                <a:srgbClr val="B80000"/>
              </a:solidFill>
            </a:endParaRPr>
          </a:p>
          <a:p>
            <a:pPr marL="914400" lvl="1" indent="-457200" algn="just">
              <a:buFont typeface="Arial"/>
              <a:buChar char="•"/>
            </a:pPr>
            <a:r>
              <a:rPr lang="en-US" sz="3000" dirty="0" smtClean="0"/>
              <a:t>Use</a:t>
            </a:r>
            <a:r>
              <a:rPr lang="en-US" sz="3000" b="1" dirty="0" smtClean="0">
                <a:solidFill>
                  <a:srgbClr val="2C14DE"/>
                </a:solidFill>
              </a:rPr>
              <a:t> reductions </a:t>
            </a:r>
            <a:r>
              <a:rPr lang="en-US" sz="3000" dirty="0" smtClean="0"/>
              <a:t>as </a:t>
            </a:r>
            <a:r>
              <a:rPr lang="en-US" sz="3000" dirty="0" smtClean="0"/>
              <a:t>compared </a:t>
            </a:r>
            <a:r>
              <a:rPr lang="en-US" sz="3000" dirty="0" smtClean="0"/>
              <a:t>to </a:t>
            </a:r>
            <a:r>
              <a:rPr lang="en-US" sz="3000" b="1" dirty="0" smtClean="0">
                <a:solidFill>
                  <a:srgbClr val="2C14DE"/>
                </a:solidFill>
              </a:rPr>
              <a:t>own-implemented </a:t>
            </a:r>
            <a:r>
              <a:rPr lang="en-US" sz="3000" b="1" dirty="0" smtClean="0">
                <a:solidFill>
                  <a:srgbClr val="2C14DE"/>
                </a:solidFill>
              </a:rPr>
              <a:t>code </a:t>
            </a:r>
            <a:r>
              <a:rPr lang="en-US" sz="3000" dirty="0" smtClean="0"/>
              <a:t>etc</a:t>
            </a:r>
            <a:r>
              <a:rPr lang="en-US" sz="3000" b="1" dirty="0" smtClean="0">
                <a:solidFill>
                  <a:srgbClr val="2C14DE"/>
                </a:solidFill>
              </a:rPr>
              <a:t>.</a:t>
            </a:r>
            <a:endParaRPr lang="en-US" sz="3000" b="1" dirty="0"/>
          </a:p>
        </p:txBody>
      </p:sp>
    </p:spTree>
    <p:extLst>
      <p:ext uri="{BB962C8B-B14F-4D97-AF65-F5344CB8AC3E}">
        <p14:creationId xmlns:p14="http://schemas.microsoft.com/office/powerpoint/2010/main" val="420882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0"/>
            <a:ext cx="8839200" cy="898118"/>
          </a:xfrm>
        </p:spPr>
        <p:txBody>
          <a:bodyPr>
            <a:noAutofit/>
          </a:bodyPr>
          <a:lstStyle/>
          <a:p>
            <a:r>
              <a:rPr lang="en-US" sz="4000" b="1" dirty="0" smtClean="0">
                <a:solidFill>
                  <a:srgbClr val="B80000"/>
                </a:solidFill>
              </a:rPr>
              <a:t>Privatization or Scalar Expansion</a:t>
            </a:r>
            <a:endParaRPr lang="en-US" sz="4000" b="1" dirty="0">
              <a:solidFill>
                <a:srgbClr val="B8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838200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76200" y="3734580"/>
            <a:ext cx="89916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en-US" sz="3000" dirty="0">
                <a:solidFill>
                  <a:srgbClr val="2C14DE"/>
                </a:solidFill>
              </a:rPr>
              <a:t>All scalar assignments </a:t>
            </a:r>
            <a:r>
              <a:rPr lang="en-US" sz="3000" dirty="0"/>
              <a:t>will </a:t>
            </a:r>
            <a:r>
              <a:rPr lang="en-US" sz="3000" dirty="0">
                <a:solidFill>
                  <a:srgbClr val="2C14DE"/>
                </a:solidFill>
              </a:rPr>
              <a:t>cause loop-carried dependencies </a:t>
            </a:r>
            <a:endParaRPr lang="en-US" sz="3000" dirty="0" smtClean="0">
              <a:solidFill>
                <a:srgbClr val="2C14DE"/>
              </a:solidFill>
            </a:endParaRPr>
          </a:p>
          <a:p>
            <a:pPr marL="457200" indent="-457200">
              <a:buFont typeface="Arial"/>
              <a:buChar char="•"/>
            </a:pPr>
            <a:endParaRPr lang="en-US" sz="3000" dirty="0"/>
          </a:p>
          <a:p>
            <a:pPr marL="457200" indent="-457200">
              <a:buFont typeface="Arial"/>
              <a:buChar char="•"/>
            </a:pPr>
            <a:r>
              <a:rPr lang="en-US" sz="3000" dirty="0"/>
              <a:t>Can create </a:t>
            </a:r>
            <a:r>
              <a:rPr lang="en-US" sz="3000" dirty="0">
                <a:solidFill>
                  <a:srgbClr val="2C14DE"/>
                </a:solidFill>
              </a:rPr>
              <a:t>local per-iteration </a:t>
            </a:r>
            <a:r>
              <a:rPr lang="en-US" sz="3000" dirty="0"/>
              <a:t>or (more practically) </a:t>
            </a:r>
            <a:r>
              <a:rPr lang="en-US" sz="3000" dirty="0">
                <a:solidFill>
                  <a:srgbClr val="2C14DE"/>
                </a:solidFill>
              </a:rPr>
              <a:t>per thread copies </a:t>
            </a:r>
          </a:p>
          <a:p>
            <a:r>
              <a:rPr lang="en-US" sz="3000" dirty="0" smtClean="0"/>
              <a:t>     – </a:t>
            </a:r>
            <a:r>
              <a:rPr lang="en-US" sz="3000" b="1" dirty="0" smtClean="0">
                <a:solidFill>
                  <a:srgbClr val="B80000"/>
                </a:solidFill>
              </a:rPr>
              <a:t>scalar </a:t>
            </a:r>
            <a:r>
              <a:rPr lang="en-US" sz="3000" b="1" dirty="0">
                <a:solidFill>
                  <a:srgbClr val="B80000"/>
                </a:solidFill>
              </a:rPr>
              <a:t>expansion </a:t>
            </a:r>
            <a:r>
              <a:rPr lang="en-US" sz="3000" dirty="0"/>
              <a:t>or </a:t>
            </a:r>
            <a:r>
              <a:rPr lang="en-US" sz="3000" b="1" dirty="0">
                <a:solidFill>
                  <a:srgbClr val="B80000"/>
                </a:solidFill>
              </a:rPr>
              <a:t>privatization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80" y="1196752"/>
            <a:ext cx="5424264" cy="2523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264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071" y="76200"/>
            <a:ext cx="8991600" cy="762000"/>
          </a:xfrm>
        </p:spPr>
        <p:txBody>
          <a:bodyPr>
            <a:noAutofit/>
          </a:bodyPr>
          <a:lstStyle/>
          <a:p>
            <a:r>
              <a:rPr lang="en-US" sz="4000" b="1" dirty="0" smtClean="0">
                <a:solidFill>
                  <a:srgbClr val="B80000"/>
                </a:solidFill>
              </a:rPr>
              <a:t>Induction Variable Substitution</a:t>
            </a:r>
            <a:endParaRPr lang="en-US" sz="4000" b="1" dirty="0">
              <a:solidFill>
                <a:srgbClr val="B8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8686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1412776"/>
            <a:ext cx="7274768" cy="4073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291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-1"/>
            <a:ext cx="8991600" cy="868681"/>
          </a:xfrm>
        </p:spPr>
        <p:txBody>
          <a:bodyPr>
            <a:noAutofit/>
          </a:bodyPr>
          <a:lstStyle/>
          <a:p>
            <a:r>
              <a:rPr lang="en-US" b="1" dirty="0" smtClean="0">
                <a:solidFill>
                  <a:srgbClr val="B80000"/>
                </a:solidFill>
              </a:rPr>
              <a:t>Reduction</a:t>
            </a:r>
            <a:endParaRPr lang="en-US" b="1" dirty="0">
              <a:solidFill>
                <a:srgbClr val="B8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868681"/>
            <a:ext cx="9067800" cy="45719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b="38040"/>
          <a:stretch/>
        </p:blipFill>
        <p:spPr>
          <a:xfrm>
            <a:off x="533400" y="1676400"/>
            <a:ext cx="8211977" cy="2549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753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2286000"/>
            <a:ext cx="7886700" cy="838200"/>
          </a:xfrm>
        </p:spPr>
        <p:txBody>
          <a:bodyPr>
            <a:noAutofit/>
          </a:bodyPr>
          <a:lstStyle/>
          <a:p>
            <a:r>
              <a:rPr lang="en-US" sz="4000" b="1" u="sng" dirty="0" smtClean="0">
                <a:solidFill>
                  <a:srgbClr val="B80000"/>
                </a:solidFill>
              </a:rPr>
              <a:t>Any Questions</a:t>
            </a:r>
            <a:endParaRPr lang="en-US" sz="4000" b="1" u="sng" dirty="0">
              <a:solidFill>
                <a:srgbClr val="B8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5647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8145</TotalTime>
  <Words>2666</Words>
  <Application>Microsoft Office PowerPoint</Application>
  <PresentationFormat>On-screen Show (4:3)</PresentationFormat>
  <Paragraphs>545</Paragraphs>
  <Slides>71</Slides>
  <Notes>63</Notes>
  <HiddenSlides>5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79" baseType="lpstr">
      <vt:lpstr>Arial</vt:lpstr>
      <vt:lpstr>Calibri</vt:lpstr>
      <vt:lpstr>Comic Sans MS</vt:lpstr>
      <vt:lpstr>Courier</vt:lpstr>
      <vt:lpstr>Courier New</vt:lpstr>
      <vt:lpstr>Times New Roman</vt:lpstr>
      <vt:lpstr>Wingdings</vt:lpstr>
      <vt:lpstr>Office Theme</vt:lpstr>
      <vt:lpstr>Dependence Analysis (CS 3006)</vt:lpstr>
      <vt:lpstr>The Big Picture</vt:lpstr>
      <vt:lpstr>Data Dependence</vt:lpstr>
      <vt:lpstr>Motivation</vt:lpstr>
      <vt:lpstr>Examples</vt:lpstr>
      <vt:lpstr>Dependence Analysis</vt:lpstr>
      <vt:lpstr>Control Dependence</vt:lpstr>
      <vt:lpstr>Data Dependence</vt:lpstr>
      <vt:lpstr>Load/Store Classification</vt:lpstr>
      <vt:lpstr>Data Dependence of Scalar Variables</vt:lpstr>
      <vt:lpstr>Array Accesses in a Loop</vt:lpstr>
      <vt:lpstr>Array Anti-dependence</vt:lpstr>
      <vt:lpstr>Array True-dependence</vt:lpstr>
      <vt:lpstr>A Parallel DOALL Loop</vt:lpstr>
      <vt:lpstr>Recognizing DOALL Loops</vt:lpstr>
      <vt:lpstr>Example: Loop Parallelization</vt:lpstr>
      <vt:lpstr>Dependence in Loops</vt:lpstr>
      <vt:lpstr>Iteration Numbers</vt:lpstr>
      <vt:lpstr>Algorithm: Normalizing Loops</vt:lpstr>
      <vt:lpstr>Normalizing Loops: Examples</vt:lpstr>
      <vt:lpstr>Normalizing Loops: Examples</vt:lpstr>
      <vt:lpstr>Normalizing Loops: Examples</vt:lpstr>
      <vt:lpstr>Normalized Iteration Space</vt:lpstr>
      <vt:lpstr>Iteration Vectors</vt:lpstr>
      <vt:lpstr>Iteration Vectors - Example</vt:lpstr>
      <vt:lpstr>Iteration Space</vt:lpstr>
      <vt:lpstr>Ordering of iteration vectors</vt:lpstr>
      <vt:lpstr>Formal Definition: Loop Dependence</vt:lpstr>
      <vt:lpstr>Transformations</vt:lpstr>
      <vt:lpstr>Re-Ordering Transformations</vt:lpstr>
      <vt:lpstr>Re-Ordering Transformations</vt:lpstr>
      <vt:lpstr>Example: Improving Data Locality</vt:lpstr>
      <vt:lpstr>Fundamental Theorem of Dependence</vt:lpstr>
      <vt:lpstr>Distance Vectors</vt:lpstr>
      <vt:lpstr>Distance Vectors</vt:lpstr>
      <vt:lpstr>Direction Vectors</vt:lpstr>
      <vt:lpstr>Direction Vectors – Example1</vt:lpstr>
      <vt:lpstr>Direction Vectors – Example1</vt:lpstr>
      <vt:lpstr>Direction Vectors – Example2</vt:lpstr>
      <vt:lpstr>Direction Vectors – Example2</vt:lpstr>
      <vt:lpstr>Source and Sink of Dependence</vt:lpstr>
      <vt:lpstr>Direction Vectors</vt:lpstr>
      <vt:lpstr>Example-1</vt:lpstr>
      <vt:lpstr>Example-1</vt:lpstr>
      <vt:lpstr>Example-2</vt:lpstr>
      <vt:lpstr>Example-3</vt:lpstr>
      <vt:lpstr>Example-4</vt:lpstr>
      <vt:lpstr>Example-4 continued…</vt:lpstr>
      <vt:lpstr>Loop Carried Dependence</vt:lpstr>
      <vt:lpstr>Loop Carried Dependence</vt:lpstr>
      <vt:lpstr>Loop Carried Transformations</vt:lpstr>
      <vt:lpstr>Loop-Independent Dependence</vt:lpstr>
      <vt:lpstr>Loop-Independent Dependence</vt:lpstr>
      <vt:lpstr>Parallelization and Vectorization</vt:lpstr>
      <vt:lpstr>Loop Distribution</vt:lpstr>
      <vt:lpstr>Loop Distribution – Example2</vt:lpstr>
      <vt:lpstr>Loop Distribution</vt:lpstr>
      <vt:lpstr>Dependence Testing Complications</vt:lpstr>
      <vt:lpstr>Dependence Testing Complications</vt:lpstr>
      <vt:lpstr>Dependence Testing Complications</vt:lpstr>
      <vt:lpstr>Dependence Testing Complications</vt:lpstr>
      <vt:lpstr>Eliminating Anti and Output Dependence</vt:lpstr>
      <vt:lpstr>Loop Parallelization</vt:lpstr>
      <vt:lpstr>Loop Parallelization</vt:lpstr>
      <vt:lpstr>Loop Parallelization Example-1</vt:lpstr>
      <vt:lpstr>Loop Parallelization Example-2</vt:lpstr>
      <vt:lpstr>Techniques for Breaking Dependencies and  for Dealing with Scalars </vt:lpstr>
      <vt:lpstr>Privatization or Scalar Expansion</vt:lpstr>
      <vt:lpstr>Induction Variable Substitution</vt:lpstr>
      <vt:lpstr>Reduction</vt:lpstr>
      <vt:lpstr>Any Questions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aleem</dc:creator>
  <cp:lastModifiedBy>Aleem</cp:lastModifiedBy>
  <cp:revision>721</cp:revision>
  <dcterms:created xsi:type="dcterms:W3CDTF">2012-08-28T12:59:58Z</dcterms:created>
  <dcterms:modified xsi:type="dcterms:W3CDTF">2021-12-15T08:19:00Z</dcterms:modified>
</cp:coreProperties>
</file>