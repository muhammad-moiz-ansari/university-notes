
<file path=[Content_Types].xml><?xml version="1.0" encoding="utf-8"?>
<Types xmlns="http://schemas.openxmlformats.org/package/2006/content-types">
  <Default Extension="bin" ContentType="application/vnd.openxmlformats-officedocument.oleObject"/>
  <Default Extension="gif" ContentType="image/gif"/>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0"/>
  </p:notesMasterIdLst>
  <p:sldIdLst>
    <p:sldId id="392" r:id="rId2"/>
    <p:sldId id="257" r:id="rId3"/>
    <p:sldId id="364" r:id="rId4"/>
    <p:sldId id="365" r:id="rId5"/>
    <p:sldId id="366" r:id="rId6"/>
    <p:sldId id="367" r:id="rId7"/>
    <p:sldId id="258" r:id="rId8"/>
    <p:sldId id="259" r:id="rId9"/>
    <p:sldId id="260" r:id="rId10"/>
    <p:sldId id="395" r:id="rId11"/>
    <p:sldId id="263" r:id="rId12"/>
    <p:sldId id="264" r:id="rId13"/>
    <p:sldId id="265" r:id="rId14"/>
    <p:sldId id="266" r:id="rId15"/>
    <p:sldId id="267" r:id="rId16"/>
    <p:sldId id="268" r:id="rId17"/>
    <p:sldId id="269" r:id="rId18"/>
    <p:sldId id="270" r:id="rId19"/>
    <p:sldId id="271" r:id="rId20"/>
    <p:sldId id="369" r:id="rId21"/>
    <p:sldId id="274" r:id="rId22"/>
    <p:sldId id="275" r:id="rId23"/>
    <p:sldId id="276" r:id="rId24"/>
    <p:sldId id="277" r:id="rId25"/>
    <p:sldId id="278" r:id="rId26"/>
    <p:sldId id="282" r:id="rId27"/>
    <p:sldId id="283" r:id="rId28"/>
    <p:sldId id="284" r:id="rId29"/>
    <p:sldId id="370" r:id="rId30"/>
    <p:sldId id="371" r:id="rId31"/>
    <p:sldId id="285" r:id="rId32"/>
    <p:sldId id="286" r:id="rId33"/>
    <p:sldId id="287" r:id="rId34"/>
    <p:sldId id="288" r:id="rId35"/>
    <p:sldId id="289" r:id="rId36"/>
    <p:sldId id="290" r:id="rId37"/>
    <p:sldId id="291" r:id="rId38"/>
    <p:sldId id="292" r:id="rId39"/>
    <p:sldId id="293" r:id="rId40"/>
    <p:sldId id="294" r:id="rId41"/>
    <p:sldId id="295" r:id="rId42"/>
    <p:sldId id="372" r:id="rId43"/>
    <p:sldId id="296" r:id="rId44"/>
    <p:sldId id="297" r:id="rId45"/>
    <p:sldId id="298" r:id="rId46"/>
    <p:sldId id="299" r:id="rId47"/>
    <p:sldId id="396" r:id="rId48"/>
    <p:sldId id="397" r:id="rId49"/>
    <p:sldId id="303" r:id="rId50"/>
    <p:sldId id="304" r:id="rId51"/>
    <p:sldId id="305" r:id="rId52"/>
    <p:sldId id="306" r:id="rId53"/>
    <p:sldId id="307" r:id="rId54"/>
    <p:sldId id="308" r:id="rId55"/>
    <p:sldId id="309" r:id="rId56"/>
    <p:sldId id="310" r:id="rId57"/>
    <p:sldId id="311" r:id="rId58"/>
    <p:sldId id="312" r:id="rId59"/>
    <p:sldId id="313" r:id="rId60"/>
    <p:sldId id="373" r:id="rId61"/>
    <p:sldId id="374" r:id="rId62"/>
    <p:sldId id="375" r:id="rId63"/>
    <p:sldId id="376" r:id="rId64"/>
    <p:sldId id="377" r:id="rId65"/>
    <p:sldId id="379" r:id="rId66"/>
    <p:sldId id="380" r:id="rId67"/>
    <p:sldId id="381" r:id="rId68"/>
    <p:sldId id="383" r:id="rId69"/>
    <p:sldId id="382" r:id="rId70"/>
    <p:sldId id="384" r:id="rId71"/>
    <p:sldId id="385" r:id="rId72"/>
    <p:sldId id="386" r:id="rId73"/>
    <p:sldId id="314" r:id="rId74"/>
    <p:sldId id="315" r:id="rId75"/>
    <p:sldId id="316" r:id="rId76"/>
    <p:sldId id="317" r:id="rId77"/>
    <p:sldId id="318" r:id="rId78"/>
    <p:sldId id="319" r:id="rId79"/>
    <p:sldId id="320" r:id="rId80"/>
    <p:sldId id="321" r:id="rId81"/>
    <p:sldId id="322" r:id="rId82"/>
    <p:sldId id="323" r:id="rId83"/>
    <p:sldId id="324" r:id="rId84"/>
    <p:sldId id="325" r:id="rId85"/>
    <p:sldId id="326" r:id="rId86"/>
    <p:sldId id="327" r:id="rId87"/>
    <p:sldId id="328" r:id="rId88"/>
    <p:sldId id="329" r:id="rId89"/>
    <p:sldId id="330" r:id="rId90"/>
    <p:sldId id="331" r:id="rId91"/>
    <p:sldId id="388" r:id="rId92"/>
    <p:sldId id="389" r:id="rId93"/>
    <p:sldId id="390" r:id="rId94"/>
    <p:sldId id="391" r:id="rId95"/>
    <p:sldId id="387" r:id="rId96"/>
    <p:sldId id="332" r:id="rId97"/>
    <p:sldId id="333" r:id="rId98"/>
    <p:sldId id="334" r:id="rId99"/>
    <p:sldId id="335" r:id="rId100"/>
    <p:sldId id="336" r:id="rId101"/>
    <p:sldId id="337" r:id="rId102"/>
    <p:sldId id="338" r:id="rId103"/>
    <p:sldId id="339" r:id="rId104"/>
    <p:sldId id="340" r:id="rId105"/>
    <p:sldId id="341" r:id="rId106"/>
    <p:sldId id="342" r:id="rId107"/>
    <p:sldId id="343" r:id="rId108"/>
    <p:sldId id="344" r:id="rId109"/>
    <p:sldId id="345" r:id="rId110"/>
    <p:sldId id="346" r:id="rId111"/>
    <p:sldId id="347" r:id="rId11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93" r:id="rId129"/>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1" d="100"/>
          <a:sy n="151" d="100"/>
        </p:scale>
        <p:origin x="1637" y="10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36AB59CE-0B0F-49E2-B8E1-BACDBC86EBC9}" type="datetimeFigureOut">
              <a:rPr lang="en-US" smtClean="0"/>
              <a:t>11/18/2025</a:t>
            </a:fld>
            <a:endParaRPr lang="en-US"/>
          </a:p>
        </p:txBody>
      </p:sp>
      <p:sp>
        <p:nvSpPr>
          <p:cNvPr id="4" name="Slide Image Placeholder 3"/>
          <p:cNvSpPr>
            <a:spLocks noGrp="1" noRot="1" noChangeAspect="1"/>
          </p:cNvSpPr>
          <p:nvPr>
            <p:ph type="sldImg" idx="2"/>
          </p:nvPr>
        </p:nvSpPr>
        <p:spPr>
          <a:xfrm>
            <a:off x="1441450" y="260350"/>
            <a:ext cx="1727200" cy="12969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44650"/>
            <a:ext cx="3689350" cy="1557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BA265072-F1AD-4DF6-A21A-6652508D3FC0}" type="slidenum">
              <a:rPr lang="en-US" smtClean="0"/>
              <a:t>‹#›</a:t>
            </a:fld>
            <a:endParaRPr lang="en-US"/>
          </a:p>
        </p:txBody>
      </p:sp>
    </p:spTree>
    <p:extLst>
      <p:ext uri="{BB962C8B-B14F-4D97-AF65-F5344CB8AC3E}">
        <p14:creationId xmlns:p14="http://schemas.microsoft.com/office/powerpoint/2010/main" val="2021618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itchFamily="18" charset="0"/>
            </a:endParaRPr>
          </a:p>
        </p:txBody>
      </p:sp>
      <p:sp>
        <p:nvSpPr>
          <p:cNvPr id="67588" name="Slide Number Placeholder 3"/>
          <p:cNvSpPr>
            <a:spLocks noGrp="1"/>
          </p:cNvSpPr>
          <p:nvPr>
            <p:ph type="sldNum" sz="quarter" idx="4294967295"/>
          </p:nvPr>
        </p:nvSpPr>
        <p:spPr bwMode="auto">
          <a:xfrm>
            <a:off x="3885003" y="8685183"/>
            <a:ext cx="2971364" cy="4573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FCA1156-D8FE-4585-8E4C-B38894DC1A7F}" type="slidenum">
              <a:rPr lang="en-US"/>
              <a:pPr/>
              <a:t>47</a:t>
            </a:fld>
            <a:endParaRPr lang="en-US"/>
          </a:p>
        </p:txBody>
      </p:sp>
    </p:spTree>
    <p:extLst>
      <p:ext uri="{BB962C8B-B14F-4D97-AF65-F5344CB8AC3E}">
        <p14:creationId xmlns:p14="http://schemas.microsoft.com/office/powerpoint/2010/main" val="2897230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
        <p:nvSpPr>
          <p:cNvPr id="60420" name="Slide Number Placeholder 3"/>
          <p:cNvSpPr>
            <a:spLocks noGrp="1"/>
          </p:cNvSpPr>
          <p:nvPr>
            <p:ph type="sldNum" sz="quarter" idx="4294967295"/>
          </p:nvPr>
        </p:nvSpPr>
        <p:spPr bwMode="auto">
          <a:xfrm>
            <a:off x="2611585" y="3287100"/>
            <a:ext cx="1997417" cy="17309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defRPr>
            </a:lvl1pPr>
            <a:lvl2pPr marL="374670" indent="-144104">
              <a:defRPr sz="1200">
                <a:solidFill>
                  <a:schemeClr val="tx1"/>
                </a:solidFill>
                <a:latin typeface="Times New Roman" pitchFamily="18" charset="0"/>
              </a:defRPr>
            </a:lvl2pPr>
            <a:lvl3pPr marL="576415" indent="-115283">
              <a:defRPr sz="1200">
                <a:solidFill>
                  <a:schemeClr val="tx1"/>
                </a:solidFill>
                <a:latin typeface="Times New Roman" pitchFamily="18" charset="0"/>
              </a:defRPr>
            </a:lvl3pPr>
            <a:lvl4pPr marL="806981" indent="-115283">
              <a:defRPr sz="1200">
                <a:solidFill>
                  <a:schemeClr val="tx1"/>
                </a:solidFill>
                <a:latin typeface="Times New Roman" pitchFamily="18" charset="0"/>
              </a:defRPr>
            </a:lvl4pPr>
            <a:lvl5pPr marL="1037547" indent="-115283">
              <a:defRPr sz="1200">
                <a:solidFill>
                  <a:schemeClr val="tx1"/>
                </a:solidFill>
                <a:latin typeface="Times New Roman" pitchFamily="18" charset="0"/>
              </a:defRPr>
            </a:lvl5pPr>
            <a:lvl6pPr marL="1268113" indent="-115283" eaLnBrk="0" fontAlgn="base" hangingPunct="0">
              <a:spcBef>
                <a:spcPct val="0"/>
              </a:spcBef>
              <a:spcAft>
                <a:spcPct val="0"/>
              </a:spcAft>
              <a:defRPr sz="1200">
                <a:solidFill>
                  <a:schemeClr val="tx1"/>
                </a:solidFill>
                <a:latin typeface="Times New Roman" pitchFamily="18" charset="0"/>
              </a:defRPr>
            </a:lvl6pPr>
            <a:lvl7pPr marL="1498679" indent="-115283" eaLnBrk="0" fontAlgn="base" hangingPunct="0">
              <a:spcBef>
                <a:spcPct val="0"/>
              </a:spcBef>
              <a:spcAft>
                <a:spcPct val="0"/>
              </a:spcAft>
              <a:defRPr sz="1200">
                <a:solidFill>
                  <a:schemeClr val="tx1"/>
                </a:solidFill>
                <a:latin typeface="Times New Roman" pitchFamily="18" charset="0"/>
              </a:defRPr>
            </a:lvl7pPr>
            <a:lvl8pPr marL="1729245" indent="-115283" eaLnBrk="0" fontAlgn="base" hangingPunct="0">
              <a:spcBef>
                <a:spcPct val="0"/>
              </a:spcBef>
              <a:spcAft>
                <a:spcPct val="0"/>
              </a:spcAft>
              <a:defRPr sz="1200">
                <a:solidFill>
                  <a:schemeClr val="tx1"/>
                </a:solidFill>
                <a:latin typeface="Times New Roman" pitchFamily="18" charset="0"/>
              </a:defRPr>
            </a:lvl8pPr>
            <a:lvl9pPr marL="1959811" indent="-115283" eaLnBrk="0" fontAlgn="base" hangingPunct="0">
              <a:spcBef>
                <a:spcPct val="0"/>
              </a:spcBef>
              <a:spcAft>
                <a:spcPct val="0"/>
              </a:spcAft>
              <a:defRPr sz="1200">
                <a:solidFill>
                  <a:schemeClr val="tx1"/>
                </a:solidFill>
                <a:latin typeface="Times New Roman" pitchFamily="18" charset="0"/>
              </a:defRPr>
            </a:lvl9pPr>
          </a:lstStyle>
          <a:p>
            <a:fld id="{3FFFA1E9-07B3-4D31-94A2-B3BB4041C7C9}" type="slidenum">
              <a:rPr lang="en-US"/>
              <a:pPr/>
              <a:t>94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
        <p:nvSpPr>
          <p:cNvPr id="60420" name="Slide Number Placeholder 3"/>
          <p:cNvSpPr>
            <a:spLocks noGrp="1"/>
          </p:cNvSpPr>
          <p:nvPr>
            <p:ph type="sldNum" sz="quarter" idx="4294967295"/>
          </p:nvPr>
        </p:nvSpPr>
        <p:spPr bwMode="auto">
          <a:xfrm>
            <a:off x="2611585" y="3287100"/>
            <a:ext cx="1997417" cy="17309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defRPr>
            </a:lvl1pPr>
            <a:lvl2pPr marL="374670" indent="-144104">
              <a:defRPr sz="1200">
                <a:solidFill>
                  <a:schemeClr val="tx1"/>
                </a:solidFill>
                <a:latin typeface="Times New Roman" pitchFamily="18" charset="0"/>
              </a:defRPr>
            </a:lvl2pPr>
            <a:lvl3pPr marL="576415" indent="-115283">
              <a:defRPr sz="1200">
                <a:solidFill>
                  <a:schemeClr val="tx1"/>
                </a:solidFill>
                <a:latin typeface="Times New Roman" pitchFamily="18" charset="0"/>
              </a:defRPr>
            </a:lvl3pPr>
            <a:lvl4pPr marL="806981" indent="-115283">
              <a:defRPr sz="1200">
                <a:solidFill>
                  <a:schemeClr val="tx1"/>
                </a:solidFill>
                <a:latin typeface="Times New Roman" pitchFamily="18" charset="0"/>
              </a:defRPr>
            </a:lvl4pPr>
            <a:lvl5pPr marL="1037547" indent="-115283">
              <a:defRPr sz="1200">
                <a:solidFill>
                  <a:schemeClr val="tx1"/>
                </a:solidFill>
                <a:latin typeface="Times New Roman" pitchFamily="18" charset="0"/>
              </a:defRPr>
            </a:lvl5pPr>
            <a:lvl6pPr marL="1268113" indent="-115283" eaLnBrk="0" fontAlgn="base" hangingPunct="0">
              <a:spcBef>
                <a:spcPct val="0"/>
              </a:spcBef>
              <a:spcAft>
                <a:spcPct val="0"/>
              </a:spcAft>
              <a:defRPr sz="1200">
                <a:solidFill>
                  <a:schemeClr val="tx1"/>
                </a:solidFill>
                <a:latin typeface="Times New Roman" pitchFamily="18" charset="0"/>
              </a:defRPr>
            </a:lvl6pPr>
            <a:lvl7pPr marL="1498679" indent="-115283" eaLnBrk="0" fontAlgn="base" hangingPunct="0">
              <a:spcBef>
                <a:spcPct val="0"/>
              </a:spcBef>
              <a:spcAft>
                <a:spcPct val="0"/>
              </a:spcAft>
              <a:defRPr sz="1200">
                <a:solidFill>
                  <a:schemeClr val="tx1"/>
                </a:solidFill>
                <a:latin typeface="Times New Roman" pitchFamily="18" charset="0"/>
              </a:defRPr>
            </a:lvl7pPr>
            <a:lvl8pPr marL="1729245" indent="-115283" eaLnBrk="0" fontAlgn="base" hangingPunct="0">
              <a:spcBef>
                <a:spcPct val="0"/>
              </a:spcBef>
              <a:spcAft>
                <a:spcPct val="0"/>
              </a:spcAft>
              <a:defRPr sz="1200">
                <a:solidFill>
                  <a:schemeClr val="tx1"/>
                </a:solidFill>
                <a:latin typeface="Times New Roman" pitchFamily="18" charset="0"/>
              </a:defRPr>
            </a:lvl8pPr>
            <a:lvl9pPr marL="1959811" indent="-115283" eaLnBrk="0" fontAlgn="base" hangingPunct="0">
              <a:spcBef>
                <a:spcPct val="0"/>
              </a:spcBef>
              <a:spcAft>
                <a:spcPct val="0"/>
              </a:spcAft>
              <a:defRPr sz="1200">
                <a:solidFill>
                  <a:schemeClr val="tx1"/>
                </a:solidFill>
                <a:latin typeface="Times New Roman" pitchFamily="18" charset="0"/>
              </a:defRPr>
            </a:lvl9pPr>
          </a:lstStyle>
          <a:p>
            <a:fld id="{3FFFA1E9-07B3-4D31-94A2-B3BB4041C7C9}" type="slidenum">
              <a:rPr lang="en-US"/>
              <a:pPr/>
              <a:t>95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4762" y="-5107"/>
            <a:ext cx="4300575" cy="24447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600" b="1" i="0">
                <a:solidFill>
                  <a:schemeClr val="bg1"/>
                </a:solidFill>
                <a:latin typeface="LM Sans 10"/>
                <a:cs typeface="LM Sans 10"/>
              </a:defRPr>
            </a:lvl1pPr>
          </a:lstStyle>
          <a:p>
            <a:pPr marL="12700">
              <a:lnSpc>
                <a:spcPts val="685"/>
              </a:lnSpc>
            </a:pPr>
            <a:r>
              <a:rPr spc="-5" dirty="0"/>
              <a:t>Version of </a:t>
            </a:r>
            <a:r>
              <a:rPr dirty="0"/>
              <a:t>October </a:t>
            </a:r>
            <a:r>
              <a:rPr spc="-5" dirty="0"/>
              <a:t>26,</a:t>
            </a:r>
            <a:r>
              <a:rPr spc="-65" dirty="0"/>
              <a:t> </a:t>
            </a:r>
            <a:r>
              <a:rPr spc="-5" dirty="0"/>
              <a:t>2016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9240DE4-CC25-40AA-A8F7-45B731E37E9A}" type="datetime1">
              <a:rPr lang="en-US" smtClean="0"/>
              <a:t>11/18/2025</a:t>
            </a:fld>
            <a:endParaRPr lang="en-US"/>
          </a:p>
        </p:txBody>
      </p:sp>
      <p:sp>
        <p:nvSpPr>
          <p:cNvPr id="6" name="Holder 6"/>
          <p:cNvSpPr>
            <a:spLocks noGrp="1"/>
          </p:cNvSpPr>
          <p:nvPr>
            <p:ph type="sldNum" sz="quarter" idx="7"/>
          </p:nvPr>
        </p:nvSpPr>
        <p:spPr/>
        <p:txBody>
          <a:bodyPr lIns="0" tIns="0" rIns="0" bIns="0"/>
          <a:lstStyle>
            <a:lvl1pPr>
              <a:defRPr sz="600" b="1" i="0">
                <a:solidFill>
                  <a:schemeClr val="bg1"/>
                </a:solidFill>
                <a:latin typeface="LM Sans 10"/>
                <a:cs typeface="LM Sans 10"/>
              </a:defRPr>
            </a:lvl1pPr>
          </a:lstStyle>
          <a:p>
            <a:pPr marL="38100">
              <a:lnSpc>
                <a:spcPts val="685"/>
              </a:lnSpc>
            </a:pPr>
            <a:fld id="{81D60167-4931-47E6-BA6A-407CBD079E47}" type="slidenum">
              <a:rPr spc="-5" dirty="0"/>
              <a:t>‹#›</a:t>
            </a:fld>
            <a:r>
              <a:rPr spc="-5" dirty="0"/>
              <a:t> /</a:t>
            </a:r>
            <a:r>
              <a:rPr spc="-70" dirty="0"/>
              <a:t> </a:t>
            </a:r>
            <a:r>
              <a:rPr spc="-5" dirty="0"/>
              <a:t>27</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LM Sans 12"/>
                <a:cs typeface="LM Sans 12"/>
              </a:defRPr>
            </a:lvl1pPr>
          </a:lstStyle>
          <a:p>
            <a:endParaRPr/>
          </a:p>
        </p:txBody>
      </p:sp>
      <p:sp>
        <p:nvSpPr>
          <p:cNvPr id="3" name="Holder 3"/>
          <p:cNvSpPr>
            <a:spLocks noGrp="1"/>
          </p:cNvSpPr>
          <p:nvPr>
            <p:ph type="body" idx="1"/>
          </p:nvPr>
        </p:nvSpPr>
        <p:spPr/>
        <p:txBody>
          <a:bodyPr lIns="0" tIns="0" rIns="0" bIns="0"/>
          <a:lstStyle>
            <a:lvl1pPr>
              <a:defRPr sz="800" b="0" i="1">
                <a:solidFill>
                  <a:schemeClr val="tx1"/>
                </a:solidFill>
                <a:latin typeface="LM Sans 8"/>
                <a:cs typeface="LM Sans 8"/>
              </a:defRPr>
            </a:lvl1pPr>
          </a:lstStyle>
          <a:p>
            <a:endParaRPr/>
          </a:p>
        </p:txBody>
      </p:sp>
      <p:sp>
        <p:nvSpPr>
          <p:cNvPr id="4" name="Holder 4"/>
          <p:cNvSpPr>
            <a:spLocks noGrp="1"/>
          </p:cNvSpPr>
          <p:nvPr>
            <p:ph type="ftr" sz="quarter" idx="5"/>
          </p:nvPr>
        </p:nvSpPr>
        <p:spPr/>
        <p:txBody>
          <a:bodyPr lIns="0" tIns="0" rIns="0" bIns="0"/>
          <a:lstStyle>
            <a:lvl1pPr>
              <a:defRPr sz="600" b="1" i="0">
                <a:solidFill>
                  <a:schemeClr val="bg1"/>
                </a:solidFill>
                <a:latin typeface="LM Sans 10"/>
                <a:cs typeface="LM Sans 10"/>
              </a:defRPr>
            </a:lvl1pPr>
          </a:lstStyle>
          <a:p>
            <a:pPr marL="12700">
              <a:lnSpc>
                <a:spcPts val="685"/>
              </a:lnSpc>
            </a:pPr>
            <a:r>
              <a:rPr spc="-5" dirty="0"/>
              <a:t>Version of </a:t>
            </a:r>
            <a:r>
              <a:rPr dirty="0"/>
              <a:t>October </a:t>
            </a:r>
            <a:r>
              <a:rPr spc="-5" dirty="0"/>
              <a:t>26,</a:t>
            </a:r>
            <a:r>
              <a:rPr spc="-65" dirty="0"/>
              <a:t> </a:t>
            </a:r>
            <a:r>
              <a:rPr spc="-5" dirty="0"/>
              <a:t>2016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5666B75-06AE-41C6-887D-6C99A47C5D5A}" type="datetime1">
              <a:rPr lang="en-US" smtClean="0"/>
              <a:t>11/18/2025</a:t>
            </a:fld>
            <a:endParaRPr lang="en-US"/>
          </a:p>
        </p:txBody>
      </p:sp>
      <p:sp>
        <p:nvSpPr>
          <p:cNvPr id="6" name="Holder 6"/>
          <p:cNvSpPr>
            <a:spLocks noGrp="1"/>
          </p:cNvSpPr>
          <p:nvPr>
            <p:ph type="sldNum" sz="quarter" idx="7"/>
          </p:nvPr>
        </p:nvSpPr>
        <p:spPr/>
        <p:txBody>
          <a:bodyPr lIns="0" tIns="0" rIns="0" bIns="0"/>
          <a:lstStyle>
            <a:lvl1pPr>
              <a:defRPr sz="600" b="1" i="0">
                <a:solidFill>
                  <a:schemeClr val="bg1"/>
                </a:solidFill>
                <a:latin typeface="LM Sans 10"/>
                <a:cs typeface="LM Sans 10"/>
              </a:defRPr>
            </a:lvl1pPr>
          </a:lstStyle>
          <a:p>
            <a:pPr marL="38100">
              <a:lnSpc>
                <a:spcPts val="685"/>
              </a:lnSpc>
            </a:pPr>
            <a:fld id="{81D60167-4931-47E6-BA6A-407CBD079E47}" type="slidenum">
              <a:rPr spc="-5" dirty="0"/>
              <a:t>‹#›</a:t>
            </a:fld>
            <a:r>
              <a:rPr spc="-5" dirty="0"/>
              <a:t> /</a:t>
            </a:r>
            <a:r>
              <a:rPr spc="-70" dirty="0"/>
              <a:t> </a:t>
            </a:r>
            <a:r>
              <a:rPr spc="-5" dirty="0"/>
              <a:t>27</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LM Sans 12"/>
                <a:cs typeface="LM Sans 12"/>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1" i="0">
                <a:solidFill>
                  <a:schemeClr val="bg1"/>
                </a:solidFill>
                <a:latin typeface="LM Sans 10"/>
                <a:cs typeface="LM Sans 10"/>
              </a:defRPr>
            </a:lvl1pPr>
          </a:lstStyle>
          <a:p>
            <a:pPr marL="12700">
              <a:lnSpc>
                <a:spcPts val="685"/>
              </a:lnSpc>
            </a:pPr>
            <a:r>
              <a:rPr spc="-5" dirty="0"/>
              <a:t>Version of </a:t>
            </a:r>
            <a:r>
              <a:rPr dirty="0"/>
              <a:t>October </a:t>
            </a:r>
            <a:r>
              <a:rPr spc="-5" dirty="0"/>
              <a:t>26,</a:t>
            </a:r>
            <a:r>
              <a:rPr spc="-65" dirty="0"/>
              <a:t> </a:t>
            </a:r>
            <a:r>
              <a:rPr spc="-5" dirty="0"/>
              <a:t>2016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68B3B15D-3805-4576-BBA3-2A65BA3D8FAD}" type="datetime1">
              <a:rPr lang="en-US" smtClean="0"/>
              <a:t>11/18/2025</a:t>
            </a:fld>
            <a:endParaRPr lang="en-US"/>
          </a:p>
        </p:txBody>
      </p:sp>
      <p:sp>
        <p:nvSpPr>
          <p:cNvPr id="7" name="Holder 7"/>
          <p:cNvSpPr>
            <a:spLocks noGrp="1"/>
          </p:cNvSpPr>
          <p:nvPr>
            <p:ph type="sldNum" sz="quarter" idx="7"/>
          </p:nvPr>
        </p:nvSpPr>
        <p:spPr/>
        <p:txBody>
          <a:bodyPr lIns="0" tIns="0" rIns="0" bIns="0"/>
          <a:lstStyle>
            <a:lvl1pPr>
              <a:defRPr sz="600" b="1" i="0">
                <a:solidFill>
                  <a:schemeClr val="bg1"/>
                </a:solidFill>
                <a:latin typeface="LM Sans 10"/>
                <a:cs typeface="LM Sans 10"/>
              </a:defRPr>
            </a:lvl1pPr>
          </a:lstStyle>
          <a:p>
            <a:pPr marL="38100">
              <a:lnSpc>
                <a:spcPts val="685"/>
              </a:lnSpc>
            </a:pPr>
            <a:fld id="{81D60167-4931-47E6-BA6A-407CBD079E47}" type="slidenum">
              <a:rPr spc="-5" dirty="0"/>
              <a:t>‹#›</a:t>
            </a:fld>
            <a:r>
              <a:rPr spc="-5" dirty="0"/>
              <a:t> /</a:t>
            </a:r>
            <a:r>
              <a:rPr spc="-70" dirty="0"/>
              <a:t> </a:t>
            </a:r>
            <a:r>
              <a:rPr spc="-5" dirty="0"/>
              <a:t>27</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LM Sans 12"/>
                <a:cs typeface="LM Sans 12"/>
              </a:defRPr>
            </a:lvl1pPr>
          </a:lstStyle>
          <a:p>
            <a:endParaRPr/>
          </a:p>
        </p:txBody>
      </p:sp>
      <p:sp>
        <p:nvSpPr>
          <p:cNvPr id="3" name="Holder 3"/>
          <p:cNvSpPr>
            <a:spLocks noGrp="1"/>
          </p:cNvSpPr>
          <p:nvPr>
            <p:ph type="ftr" sz="quarter" idx="5"/>
          </p:nvPr>
        </p:nvSpPr>
        <p:spPr/>
        <p:txBody>
          <a:bodyPr lIns="0" tIns="0" rIns="0" bIns="0"/>
          <a:lstStyle>
            <a:lvl1pPr>
              <a:defRPr sz="600" b="1" i="0">
                <a:solidFill>
                  <a:schemeClr val="bg1"/>
                </a:solidFill>
                <a:latin typeface="LM Sans 10"/>
                <a:cs typeface="LM Sans 10"/>
              </a:defRPr>
            </a:lvl1pPr>
          </a:lstStyle>
          <a:p>
            <a:pPr marL="12700">
              <a:lnSpc>
                <a:spcPts val="685"/>
              </a:lnSpc>
            </a:pPr>
            <a:r>
              <a:rPr spc="-5" dirty="0"/>
              <a:t>Version of </a:t>
            </a:r>
            <a:r>
              <a:rPr dirty="0"/>
              <a:t>October </a:t>
            </a:r>
            <a:r>
              <a:rPr spc="-5" dirty="0"/>
              <a:t>26,</a:t>
            </a:r>
            <a:r>
              <a:rPr spc="-65" dirty="0"/>
              <a:t> </a:t>
            </a:r>
            <a:r>
              <a:rPr spc="-5" dirty="0"/>
              <a:t>2016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9C10CCB-3254-4726-A9A2-803AAF5464CD}" type="datetime1">
              <a:rPr lang="en-US" smtClean="0"/>
              <a:t>11/18/2025</a:t>
            </a:fld>
            <a:endParaRPr lang="en-US"/>
          </a:p>
        </p:txBody>
      </p:sp>
      <p:sp>
        <p:nvSpPr>
          <p:cNvPr id="5" name="Holder 5"/>
          <p:cNvSpPr>
            <a:spLocks noGrp="1"/>
          </p:cNvSpPr>
          <p:nvPr>
            <p:ph type="sldNum" sz="quarter" idx="7"/>
          </p:nvPr>
        </p:nvSpPr>
        <p:spPr/>
        <p:txBody>
          <a:bodyPr lIns="0" tIns="0" rIns="0" bIns="0"/>
          <a:lstStyle>
            <a:lvl1pPr>
              <a:defRPr sz="600" b="1" i="0">
                <a:solidFill>
                  <a:schemeClr val="bg1"/>
                </a:solidFill>
                <a:latin typeface="LM Sans 10"/>
                <a:cs typeface="LM Sans 10"/>
              </a:defRPr>
            </a:lvl1pPr>
          </a:lstStyle>
          <a:p>
            <a:pPr marL="38100">
              <a:lnSpc>
                <a:spcPts val="685"/>
              </a:lnSpc>
            </a:pPr>
            <a:fld id="{81D60167-4931-47E6-BA6A-407CBD079E47}" type="slidenum">
              <a:rPr spc="-5" dirty="0"/>
              <a:t>‹#›</a:t>
            </a:fld>
            <a:r>
              <a:rPr spc="-5" dirty="0"/>
              <a:t> /</a:t>
            </a:r>
            <a:r>
              <a:rPr spc="-70" dirty="0"/>
              <a:t> </a:t>
            </a:r>
            <a:r>
              <a:rPr spc="-5" dirty="0"/>
              <a:t>27</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1" i="0">
                <a:solidFill>
                  <a:schemeClr val="bg1"/>
                </a:solidFill>
                <a:latin typeface="LM Sans 10"/>
                <a:cs typeface="LM Sans 10"/>
              </a:defRPr>
            </a:lvl1pPr>
          </a:lstStyle>
          <a:p>
            <a:pPr marL="12700">
              <a:lnSpc>
                <a:spcPts val="685"/>
              </a:lnSpc>
            </a:pPr>
            <a:r>
              <a:rPr spc="-5" dirty="0"/>
              <a:t>Version of </a:t>
            </a:r>
            <a:r>
              <a:rPr dirty="0"/>
              <a:t>October </a:t>
            </a:r>
            <a:r>
              <a:rPr spc="-5" dirty="0"/>
              <a:t>26,</a:t>
            </a:r>
            <a:r>
              <a:rPr spc="-65" dirty="0"/>
              <a:t> </a:t>
            </a:r>
            <a:r>
              <a:rPr spc="-5" dirty="0"/>
              <a:t>2016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A8F6FA16-147F-4EE2-A632-84AEB09F0A13}" type="datetime1">
              <a:rPr lang="en-US" smtClean="0"/>
              <a:t>11/18/2025</a:t>
            </a:fld>
            <a:endParaRPr lang="en-US"/>
          </a:p>
        </p:txBody>
      </p:sp>
      <p:sp>
        <p:nvSpPr>
          <p:cNvPr id="4" name="Holder 4"/>
          <p:cNvSpPr>
            <a:spLocks noGrp="1"/>
          </p:cNvSpPr>
          <p:nvPr>
            <p:ph type="sldNum" sz="quarter" idx="7"/>
          </p:nvPr>
        </p:nvSpPr>
        <p:spPr/>
        <p:txBody>
          <a:bodyPr lIns="0" tIns="0" rIns="0" bIns="0"/>
          <a:lstStyle>
            <a:lvl1pPr>
              <a:defRPr sz="600" b="1" i="0">
                <a:solidFill>
                  <a:schemeClr val="bg1"/>
                </a:solidFill>
                <a:latin typeface="LM Sans 10"/>
                <a:cs typeface="LM Sans 10"/>
              </a:defRPr>
            </a:lvl1pPr>
          </a:lstStyle>
          <a:p>
            <a:pPr marL="38100">
              <a:lnSpc>
                <a:spcPts val="685"/>
              </a:lnSpc>
            </a:pPr>
            <a:fld id="{81D60167-4931-47E6-BA6A-407CBD079E47}" type="slidenum">
              <a:rPr spc="-5" dirty="0"/>
              <a:t>‹#›</a:t>
            </a:fld>
            <a:r>
              <a:rPr spc="-5" dirty="0"/>
              <a:t> /</a:t>
            </a:r>
            <a:r>
              <a:rPr spc="-70" dirty="0"/>
              <a:t> </a:t>
            </a:r>
            <a:r>
              <a:rPr spc="-5" dirty="0"/>
              <a:t>27</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608004" cy="306197"/>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54762" y="-5107"/>
            <a:ext cx="4300575" cy="244475"/>
          </a:xfrm>
          <a:prstGeom prst="rect">
            <a:avLst/>
          </a:prstGeom>
        </p:spPr>
        <p:txBody>
          <a:bodyPr wrap="square" lIns="0" tIns="0" rIns="0" bIns="0">
            <a:spAutoFit/>
          </a:bodyPr>
          <a:lstStyle>
            <a:lvl1pPr>
              <a:defRPr sz="1400" b="0" i="0">
                <a:solidFill>
                  <a:schemeClr val="bg1"/>
                </a:solidFill>
                <a:latin typeface="LM Sans 12"/>
                <a:cs typeface="LM Sans 12"/>
              </a:defRPr>
            </a:lvl1pPr>
          </a:lstStyle>
          <a:p>
            <a:endParaRPr/>
          </a:p>
        </p:txBody>
      </p:sp>
      <p:sp>
        <p:nvSpPr>
          <p:cNvPr id="3" name="Holder 3"/>
          <p:cNvSpPr>
            <a:spLocks noGrp="1"/>
          </p:cNvSpPr>
          <p:nvPr>
            <p:ph type="body" idx="1"/>
          </p:nvPr>
        </p:nvSpPr>
        <p:spPr>
          <a:xfrm>
            <a:off x="321894" y="1194689"/>
            <a:ext cx="3912235" cy="1102995"/>
          </a:xfrm>
          <a:prstGeom prst="rect">
            <a:avLst/>
          </a:prstGeom>
        </p:spPr>
        <p:txBody>
          <a:bodyPr wrap="square" lIns="0" tIns="0" rIns="0" bIns="0">
            <a:spAutoFit/>
          </a:bodyPr>
          <a:lstStyle>
            <a:lvl1pPr>
              <a:defRPr sz="800" b="0" i="1">
                <a:solidFill>
                  <a:schemeClr val="tx1"/>
                </a:solidFill>
                <a:latin typeface="LM Sans 8"/>
                <a:cs typeface="LM Sans 8"/>
              </a:defRPr>
            </a:lvl1pPr>
          </a:lstStyle>
          <a:p>
            <a:endParaRPr/>
          </a:p>
        </p:txBody>
      </p:sp>
      <p:sp>
        <p:nvSpPr>
          <p:cNvPr id="4" name="Holder 4"/>
          <p:cNvSpPr>
            <a:spLocks noGrp="1"/>
          </p:cNvSpPr>
          <p:nvPr>
            <p:ph type="ftr" sz="quarter" idx="5"/>
          </p:nvPr>
        </p:nvSpPr>
        <p:spPr>
          <a:xfrm>
            <a:off x="745413" y="3349288"/>
            <a:ext cx="1016000" cy="104139"/>
          </a:xfrm>
          <a:prstGeom prst="rect">
            <a:avLst/>
          </a:prstGeom>
        </p:spPr>
        <p:txBody>
          <a:bodyPr wrap="square" lIns="0" tIns="0" rIns="0" bIns="0">
            <a:spAutoFit/>
          </a:bodyPr>
          <a:lstStyle>
            <a:lvl1pPr>
              <a:defRPr sz="600" b="1" i="0">
                <a:solidFill>
                  <a:schemeClr val="bg1"/>
                </a:solidFill>
                <a:latin typeface="LM Sans 10"/>
                <a:cs typeface="LM Sans 10"/>
              </a:defRPr>
            </a:lvl1pPr>
          </a:lstStyle>
          <a:p>
            <a:pPr marL="12700">
              <a:lnSpc>
                <a:spcPts val="685"/>
              </a:lnSpc>
            </a:pPr>
            <a:r>
              <a:rPr spc="-5" dirty="0"/>
              <a:t>Version of </a:t>
            </a:r>
            <a:r>
              <a:rPr dirty="0"/>
              <a:t>October </a:t>
            </a:r>
            <a:r>
              <a:rPr spc="-5" dirty="0"/>
              <a:t>26,</a:t>
            </a:r>
            <a:r>
              <a:rPr spc="-65" dirty="0"/>
              <a:t> </a:t>
            </a:r>
            <a:r>
              <a:rPr spc="-5" dirty="0"/>
              <a:t>2016</a:t>
            </a: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D47B106D-0ACC-4529-BCC9-19B36151BFA9}" type="datetime1">
              <a:rPr lang="en-US" smtClean="0"/>
              <a:t>11/18/2025</a:t>
            </a:fld>
            <a:endParaRPr lang="en-US"/>
          </a:p>
        </p:txBody>
      </p:sp>
      <p:sp>
        <p:nvSpPr>
          <p:cNvPr id="6" name="Holder 6"/>
          <p:cNvSpPr>
            <a:spLocks noGrp="1"/>
          </p:cNvSpPr>
          <p:nvPr>
            <p:ph type="sldNum" sz="quarter" idx="7"/>
          </p:nvPr>
        </p:nvSpPr>
        <p:spPr>
          <a:xfrm>
            <a:off x="4235945" y="3349288"/>
            <a:ext cx="315595" cy="104139"/>
          </a:xfrm>
          <a:prstGeom prst="rect">
            <a:avLst/>
          </a:prstGeom>
        </p:spPr>
        <p:txBody>
          <a:bodyPr wrap="square" lIns="0" tIns="0" rIns="0" bIns="0">
            <a:spAutoFit/>
          </a:bodyPr>
          <a:lstStyle>
            <a:lvl1pPr>
              <a:defRPr sz="600" b="1" i="0">
                <a:solidFill>
                  <a:schemeClr val="bg1"/>
                </a:solidFill>
                <a:latin typeface="LM Sans 10"/>
                <a:cs typeface="LM Sans 10"/>
              </a:defRPr>
            </a:lvl1pPr>
          </a:lstStyle>
          <a:p>
            <a:pPr marL="38100">
              <a:lnSpc>
                <a:spcPts val="685"/>
              </a:lnSpc>
            </a:pPr>
            <a:fld id="{81D60167-4931-47E6-BA6A-407CBD079E47}" type="slidenum">
              <a:rPr spc="-5" dirty="0"/>
              <a:t>‹#›</a:t>
            </a:fld>
            <a:r>
              <a:rPr spc="-5" dirty="0"/>
              <a:t> /</a:t>
            </a:r>
            <a:r>
              <a:rPr spc="-70" dirty="0"/>
              <a:t> </a:t>
            </a:r>
            <a:r>
              <a:rPr spc="-5" dirty="0"/>
              <a:t>27</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slide" Target="slide2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slide" Target="slide26.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slide" Target="slide1.xm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9.png"/><Relationship Id="rId10" Type="http://schemas.openxmlformats.org/officeDocument/2006/relationships/slide" Target="slide1.xml"/><Relationship Id="rId4" Type="http://schemas.openxmlformats.org/officeDocument/2006/relationships/image" Target="../media/image28.png"/><Relationship Id="rId9" Type="http://schemas.openxmlformats.org/officeDocument/2006/relationships/image" Target="../media/image31.png"/></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16.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38.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28.png"/><Relationship Id="rId9" Type="http://schemas.openxmlformats.org/officeDocument/2006/relationships/image" Target="../media/image36.png"/><Relationship Id="rId14" Type="http://schemas.openxmlformats.org/officeDocument/2006/relationships/slide" Target="slide1.xml"/></Relationships>
</file>

<file path=ppt/slides/_rels/slide2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6.png"/><Relationship Id="rId7" Type="http://schemas.openxmlformats.org/officeDocument/2006/relationships/image" Target="../media/image42.png"/><Relationship Id="rId12" Type="http://schemas.openxmlformats.org/officeDocument/2006/relationships/slide" Target="slide1.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45.png"/><Relationship Id="rId5" Type="http://schemas.openxmlformats.org/officeDocument/2006/relationships/image" Target="../media/image29.png"/><Relationship Id="rId10" Type="http://schemas.openxmlformats.org/officeDocument/2006/relationships/image" Target="../media/image44.png"/><Relationship Id="rId4" Type="http://schemas.openxmlformats.org/officeDocument/2006/relationships/image" Target="../media/image28.png"/><Relationship Id="rId9" Type="http://schemas.openxmlformats.org/officeDocument/2006/relationships/image" Target="../media/image38.png"/></Relationships>
</file>

<file path=ppt/slides/_rels/slide2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29.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50.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53.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9.png"/><Relationship Id="rId7" Type="http://schemas.openxmlformats.org/officeDocument/2006/relationships/image" Target="../media/image57.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10" Type="http://schemas.openxmlformats.org/officeDocument/2006/relationships/slide" Target="slide1.xml"/><Relationship Id="rId4" Type="http://schemas.openxmlformats.org/officeDocument/2006/relationships/image" Target="../media/image17.png"/><Relationship Id="rId9" Type="http://schemas.openxmlformats.org/officeDocument/2006/relationships/image" Target="../media/image58.png"/></Relationships>
</file>

<file path=ppt/slides/_rels/slide3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60.png"/><Relationship Id="rId7" Type="http://schemas.openxmlformats.org/officeDocument/2006/relationships/image" Target="../media/image62.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61.png"/><Relationship Id="rId4" Type="http://schemas.openxmlformats.org/officeDocument/2006/relationships/image" Target="../media/image28.png"/><Relationship Id="rId9" Type="http://schemas.openxmlformats.org/officeDocument/2006/relationships/slide" Target="slide1.xml"/></Relationships>
</file>

<file path=ppt/slides/_rels/slide3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4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 Id="rId6" Type="http://schemas.openxmlformats.org/officeDocument/2006/relationships/slide" Target="slide1.xml"/><Relationship Id="rId5" Type="http://schemas.openxmlformats.org/officeDocument/2006/relationships/image" Target="../media/image69.png"/><Relationship Id="rId4" Type="http://schemas.openxmlformats.org/officeDocument/2006/relationships/image" Target="../media/image17.png"/></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slide" Target="slide1.xml"/><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3.jpg"/><Relationship Id="rId5" Type="http://schemas.openxmlformats.org/officeDocument/2006/relationships/image" Target="../media/image72.png"/><Relationship Id="rId4" Type="http://schemas.openxmlformats.org/officeDocument/2006/relationships/image" Target="../media/image71.png"/></Relationships>
</file>

<file path=ppt/slides/_rels/slide5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4.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5.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6.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7.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8.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9.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80.png"/></Relationships>
</file>

<file path=ppt/slides/_rels/slide8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81.png"/><Relationship Id="rId4" Type="http://schemas.openxmlformats.org/officeDocument/2006/relationships/image" Target="../media/image28.png"/></Relationships>
</file>

<file path=ppt/slides/_rels/slide8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83.png"/><Relationship Id="rId4" Type="http://schemas.openxmlformats.org/officeDocument/2006/relationships/image" Target="../media/image17.png"/></Relationships>
</file>

<file path=ppt/slides/_rels/slide8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85.png"/><Relationship Id="rId4" Type="http://schemas.openxmlformats.org/officeDocument/2006/relationships/image" Target="../media/image12.png"/></Relationships>
</file>

<file path=ppt/slides/_rels/slide8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88.png"/><Relationship Id="rId4" Type="http://schemas.openxmlformats.org/officeDocument/2006/relationships/image" Target="../media/image87.png"/></Relationships>
</file>

<file path=ppt/slides/_rels/slide8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91.png"/><Relationship Id="rId4" Type="http://schemas.openxmlformats.org/officeDocument/2006/relationships/image" Target="../media/image17.png"/></Relationships>
</file>

<file path=ppt/slides/_rels/slide9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93.png"/><Relationship Id="rId4" Type="http://schemas.openxmlformats.org/officeDocument/2006/relationships/image" Target="../media/image17.png"/></Relationships>
</file>

<file path=ppt/slides/_rels/slide91.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6.wmf"/><Relationship Id="rId4" Type="http://schemas.openxmlformats.org/officeDocument/2006/relationships/oleObject" Target="../embeddings/oleObject3.bin"/></Relationships>
</file>

<file path=ppt/slides/_rels/slide9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6.wmf"/><Relationship Id="rId4" Type="http://schemas.openxmlformats.org/officeDocument/2006/relationships/oleObject" Target="../embeddings/oleObject3.bin"/></Relationships>
</file>

<file path=ppt/slides/_rels/slide9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7.png"/><Relationship Id="rId1" Type="http://schemas.openxmlformats.org/officeDocument/2006/relationships/slideLayout" Target="../slideLayouts/slideLayout1.xml"/><Relationship Id="rId6" Type="http://schemas.openxmlformats.org/officeDocument/2006/relationships/slide" Target="slide1.xml"/><Relationship Id="rId5" Type="http://schemas.openxmlformats.org/officeDocument/2006/relationships/image" Target="../media/image97.png"/><Relationship Id="rId4" Type="http://schemas.openxmlformats.org/officeDocument/2006/relationships/image" Target="../media/image28.png"/></Relationships>
</file>

<file path=ppt/slides/_rels/slide9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67.png"/><Relationship Id="rId1" Type="http://schemas.openxmlformats.org/officeDocument/2006/relationships/slideLayout" Target="../slideLayouts/slideLayout1.xml"/><Relationship Id="rId6" Type="http://schemas.openxmlformats.org/officeDocument/2006/relationships/slide" Target="slide1.xml"/><Relationship Id="rId5" Type="http://schemas.openxmlformats.org/officeDocument/2006/relationships/image" Target="../media/image99.png"/><Relationship Id="rId4" Type="http://schemas.openxmlformats.org/officeDocument/2006/relationships/image" Target="../media/image28.png"/></Relationships>
</file>

<file path=ppt/slides/_rels/slide9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00.png"/><Relationship Id="rId4" Type="http://schemas.openxmlformats.org/officeDocument/2006/relationships/image" Target="../media/image28.png"/></Relationships>
</file>

<file path=ppt/slides/_rels/slide9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01.png"/><Relationship Id="rId4" Type="http://schemas.openxmlformats.org/officeDocument/2006/relationships/image" Target="../media/image28.png"/></Relationships>
</file>

<file path=ppt/slides/_rels/slide10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02.png"/><Relationship Id="rId4" Type="http://schemas.openxmlformats.org/officeDocument/2006/relationships/image" Target="../media/image87.png"/></Relationships>
</file>

<file path=ppt/slides/_rels/slide10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06.png"/><Relationship Id="rId4" Type="http://schemas.openxmlformats.org/officeDocument/2006/relationships/image" Target="../media/image105.png"/></Relationships>
</file>

<file path=ppt/slides/_rels/slide10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07.png"/><Relationship Id="rId4" Type="http://schemas.openxmlformats.org/officeDocument/2006/relationships/image" Target="../media/image17.png"/></Relationships>
</file>

<file path=ppt/slides/_rels/slide10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09.png"/><Relationship Id="rId4" Type="http://schemas.openxmlformats.org/officeDocument/2006/relationships/image" Target="../media/image17.png"/></Relationships>
</file>

<file path=ppt/slides/_rels/slide10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11.png"/><Relationship Id="rId4" Type="http://schemas.openxmlformats.org/officeDocument/2006/relationships/image" Target="../media/image36.png"/></Relationships>
</file>

<file path=ppt/slides/_rels/slide10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13.png"/><Relationship Id="rId4" Type="http://schemas.openxmlformats.org/officeDocument/2006/relationships/image" Target="../media/image112.png"/></Relationships>
</file>

<file path=ppt/slides/_rels/slide10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762" y="-5107"/>
            <a:ext cx="4300575" cy="215444"/>
          </a:xfrm>
        </p:spPr>
        <p:txBody>
          <a:bodyPr/>
          <a:lstStyle/>
          <a:p>
            <a:r>
              <a:rPr lang="en-US" dirty="0">
                <a:solidFill>
                  <a:schemeClr val="bg1"/>
                </a:solidFill>
              </a:rPr>
              <a:t>Matrix Multiplication</a:t>
            </a:r>
          </a:p>
        </p:txBody>
      </p:sp>
      <p:sp>
        <p:nvSpPr>
          <p:cNvPr id="3" name="Subtitle 2"/>
          <p:cNvSpPr>
            <a:spLocks noGrp="1"/>
          </p:cNvSpPr>
          <p:nvPr>
            <p:ph type="subTitle" idx="4294967295"/>
          </p:nvPr>
        </p:nvSpPr>
        <p:spPr>
          <a:xfrm>
            <a:off x="171450" y="1501775"/>
            <a:ext cx="4038599" cy="539007"/>
          </a:xfrm>
          <a:prstGeom prst="rect">
            <a:avLst/>
          </a:prstGeom>
        </p:spPr>
        <p:style>
          <a:lnRef idx="1">
            <a:schemeClr val="accent3"/>
          </a:lnRef>
          <a:fillRef idx="2">
            <a:schemeClr val="accent3"/>
          </a:fillRef>
          <a:effectRef idx="1">
            <a:schemeClr val="accent3"/>
          </a:effectRef>
          <a:fontRef idx="minor">
            <a:schemeClr val="dk1"/>
          </a:fontRef>
        </p:style>
        <p:txBody>
          <a:bodyPr lIns="46113" tIns="23057" rIns="46113" bIns="23057"/>
          <a:lstStyle/>
          <a:p>
            <a:pPr algn="ctr"/>
            <a:r>
              <a:rPr lang="en-US" sz="1600" b="1" dirty="0">
                <a:solidFill>
                  <a:srgbClr val="0000FF"/>
                </a:solidFill>
              </a:rPr>
              <a:t>Matrix Chain Multiplication by </a:t>
            </a:r>
            <a:r>
              <a:rPr lang="en-US" sz="1600" b="1">
                <a:solidFill>
                  <a:srgbClr val="0000FF"/>
                </a:solidFill>
              </a:rPr>
              <a:t>Dynamic Programming</a:t>
            </a:r>
            <a:endParaRPr lang="en-US" sz="1600" b="1" dirty="0">
              <a:solidFill>
                <a:srgbClr val="0000FF"/>
              </a:solidFill>
            </a:endParaRPr>
          </a:p>
        </p:txBody>
      </p:sp>
    </p:spTree>
    <p:extLst>
      <p:ext uri="{BB962C8B-B14F-4D97-AF65-F5344CB8AC3E}">
        <p14:creationId xmlns:p14="http://schemas.microsoft.com/office/powerpoint/2010/main" val="50385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567690" cy="244475"/>
          </a:xfrm>
          <a:prstGeom prst="rect">
            <a:avLst/>
          </a:prstGeom>
        </p:spPr>
        <p:txBody>
          <a:bodyPr vert="horz" wrap="square" lIns="0" tIns="17145" rIns="0" bIns="0" rtlCol="0">
            <a:spAutoFit/>
          </a:bodyPr>
          <a:lstStyle/>
          <a:p>
            <a:pPr marL="12700">
              <a:lnSpc>
                <a:spcPct val="100000"/>
              </a:lnSpc>
              <a:spcBef>
                <a:spcPts val="135"/>
              </a:spcBef>
            </a:pPr>
            <a:r>
              <a:rPr spc="10" dirty="0"/>
              <a:t>Outline</a:t>
            </a:r>
          </a:p>
        </p:txBody>
      </p:sp>
      <p:sp>
        <p:nvSpPr>
          <p:cNvPr id="3" name="object 3"/>
          <p:cNvSpPr/>
          <p:nvPr/>
        </p:nvSpPr>
        <p:spPr>
          <a:xfrm>
            <a:off x="502551" y="1620888"/>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37095" y="1735023"/>
            <a:ext cx="1852295" cy="0"/>
          </a:xfrm>
          <a:custGeom>
            <a:avLst/>
            <a:gdLst/>
            <a:ahLst/>
            <a:cxnLst/>
            <a:rect l="l" t="t" r="r" b="b"/>
            <a:pathLst>
              <a:path w="1852295">
                <a:moveTo>
                  <a:pt x="0" y="0"/>
                </a:moveTo>
                <a:lnTo>
                  <a:pt x="1851698" y="0"/>
                </a:lnTo>
              </a:path>
            </a:pathLst>
          </a:custGeom>
          <a:ln w="5537">
            <a:solidFill>
              <a:srgbClr val="000000"/>
            </a:solidFill>
          </a:ln>
        </p:spPr>
        <p:txBody>
          <a:bodyPr wrap="square" lIns="0" tIns="0" rIns="0" bIns="0" rtlCol="0"/>
          <a:lstStyle/>
          <a:p>
            <a:endParaRPr/>
          </a:p>
        </p:txBody>
      </p:sp>
      <p:sp>
        <p:nvSpPr>
          <p:cNvPr id="5" name="object 5"/>
          <p:cNvSpPr/>
          <p:nvPr/>
        </p:nvSpPr>
        <p:spPr>
          <a:xfrm>
            <a:off x="502551" y="1830920"/>
            <a:ext cx="65265" cy="6526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502551" y="2040953"/>
            <a:ext cx="65265" cy="65265"/>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347294" y="1283624"/>
            <a:ext cx="3405556" cy="1038225"/>
          </a:xfrm>
          <a:prstGeom prst="rect">
            <a:avLst/>
          </a:prstGeom>
        </p:spPr>
        <p:txBody>
          <a:bodyPr vert="horz" wrap="square" lIns="0" tIns="55244" rIns="0" bIns="0" rtlCol="0">
            <a:spAutoFit/>
          </a:bodyPr>
          <a:lstStyle/>
          <a:p>
            <a:pPr marL="12700">
              <a:lnSpc>
                <a:spcPct val="100000"/>
              </a:lnSpc>
              <a:spcBef>
                <a:spcPts val="434"/>
              </a:spcBef>
            </a:pPr>
            <a:r>
              <a:rPr sz="1100" spc="-5" dirty="0">
                <a:solidFill>
                  <a:srgbClr val="0000FF"/>
                </a:solidFill>
                <a:latin typeface="LM Sans 10"/>
                <a:cs typeface="LM Sans 10"/>
              </a:rPr>
              <a:t>Outline</a:t>
            </a:r>
            <a:endParaRPr sz="1100" dirty="0">
              <a:latin typeface="LM Sans 10"/>
              <a:cs typeface="LM Sans 10"/>
            </a:endParaRPr>
          </a:p>
          <a:p>
            <a:pPr marL="289560">
              <a:lnSpc>
                <a:spcPct val="100000"/>
              </a:lnSpc>
              <a:spcBef>
                <a:spcPts val="334"/>
              </a:spcBef>
            </a:pPr>
            <a:r>
              <a:rPr sz="1100" spc="-5" dirty="0">
                <a:latin typeface="LM Sans 10"/>
                <a:cs typeface="LM Sans 10"/>
              </a:rPr>
              <a:t>Review of matrix</a:t>
            </a:r>
            <a:r>
              <a:rPr sz="1100" spc="-15" dirty="0">
                <a:latin typeface="LM Sans 10"/>
                <a:cs typeface="LM Sans 10"/>
              </a:rPr>
              <a:t> </a:t>
            </a:r>
            <a:r>
              <a:rPr sz="1100" spc="-5" dirty="0">
                <a:latin typeface="LM Sans 10"/>
                <a:cs typeface="LM Sans 10"/>
              </a:rPr>
              <a:t>multiplication.</a:t>
            </a:r>
            <a:endParaRPr sz="1100" dirty="0">
              <a:latin typeface="LM Sans 10"/>
              <a:cs typeface="LM Sans 10"/>
            </a:endParaRPr>
          </a:p>
          <a:p>
            <a:pPr marL="289560">
              <a:lnSpc>
                <a:spcPct val="100000"/>
              </a:lnSpc>
              <a:spcBef>
                <a:spcPts val="330"/>
              </a:spcBef>
            </a:pPr>
            <a:r>
              <a:rPr sz="1100" spc="-10" dirty="0">
                <a:latin typeface="LM Sans 10"/>
                <a:cs typeface="LM Sans 10"/>
              </a:rPr>
              <a:t>The </a:t>
            </a:r>
            <a:r>
              <a:rPr sz="1100" spc="-5" dirty="0">
                <a:latin typeface="LM Sans 10"/>
                <a:cs typeface="LM Sans 10"/>
              </a:rPr>
              <a:t>chain matrix multiplication</a:t>
            </a:r>
            <a:r>
              <a:rPr sz="1100" spc="-20" dirty="0">
                <a:latin typeface="LM Sans 10"/>
                <a:cs typeface="LM Sans 10"/>
              </a:rPr>
              <a:t> </a:t>
            </a:r>
            <a:r>
              <a:rPr sz="1100" spc="-10" dirty="0">
                <a:latin typeface="LM Sans 10"/>
                <a:cs typeface="LM Sans 10"/>
              </a:rPr>
              <a:t>problem.</a:t>
            </a:r>
            <a:endParaRPr sz="1100" dirty="0">
              <a:latin typeface="LM Sans 10"/>
              <a:cs typeface="LM Sans 10"/>
            </a:endParaRPr>
          </a:p>
          <a:p>
            <a:pPr marL="289560" marR="5080">
              <a:lnSpc>
                <a:spcPct val="102699"/>
              </a:lnSpc>
              <a:spcBef>
                <a:spcPts val="300"/>
              </a:spcBef>
            </a:pPr>
            <a:r>
              <a:rPr sz="1100" spc="-10" dirty="0">
                <a:latin typeface="LM Sans 10"/>
                <a:cs typeface="LM Sans 10"/>
              </a:rPr>
              <a:t>A</a:t>
            </a:r>
            <a:r>
              <a:rPr lang="en-US" sz="1100" spc="-10" dirty="0">
                <a:latin typeface="LM Sans 10"/>
                <a:cs typeface="LM Sans 10"/>
              </a:rPr>
              <a:t> </a:t>
            </a:r>
            <a:r>
              <a:rPr sz="1100" spc="-10" dirty="0">
                <a:solidFill>
                  <a:srgbClr val="0000FF"/>
                </a:solidFill>
                <a:latin typeface="LM Sans 10"/>
                <a:cs typeface="LM Sans 10"/>
              </a:rPr>
              <a:t>dynamic programming</a:t>
            </a:r>
            <a:r>
              <a:rPr lang="en-US" sz="1100" spc="-10" dirty="0">
                <a:solidFill>
                  <a:srgbClr val="0000FF"/>
                </a:solidFill>
                <a:latin typeface="LM Sans 10"/>
                <a:cs typeface="LM Sans 10"/>
              </a:rPr>
              <a:t> </a:t>
            </a:r>
            <a:r>
              <a:rPr sz="1100" spc="-10" dirty="0">
                <a:latin typeface="LM Sans 10"/>
                <a:cs typeface="LM Sans 10"/>
              </a:rPr>
              <a:t>algorithm </a:t>
            </a:r>
            <a:r>
              <a:rPr sz="1100" spc="-15" dirty="0">
                <a:latin typeface="LM Sans 10"/>
                <a:cs typeface="LM Sans 10"/>
              </a:rPr>
              <a:t>for </a:t>
            </a:r>
            <a:r>
              <a:rPr sz="1100" spc="-5" dirty="0">
                <a:latin typeface="LM Sans 10"/>
                <a:cs typeface="LM Sans 10"/>
              </a:rPr>
              <a:t>chain matrix  multiplication.</a:t>
            </a:r>
            <a:endParaRPr sz="1100" dirty="0">
              <a:latin typeface="LM Sans 10"/>
              <a:cs typeface="LM Sans 10"/>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4" action="ppaction://hlinksldjump"/>
              </a:rPr>
              <a:t>Chain </a:t>
            </a:r>
            <a:r>
              <a:rPr sz="600" b="1" spc="-5" dirty="0">
                <a:solidFill>
                  <a:srgbClr val="FFFFFF"/>
                </a:solidFill>
                <a:latin typeface="LM Sans 10"/>
                <a:cs typeface="LM Sans 10"/>
                <a:hlinkClick r:id="rId4" action="ppaction://hlinksldjump"/>
              </a:rPr>
              <a:t>Matrix Multiplication</a:t>
            </a:r>
            <a:endParaRPr sz="600">
              <a:latin typeface="LM Sans 10"/>
              <a:cs typeface="LM Sans 10"/>
            </a:endParaRPr>
          </a:p>
        </p:txBody>
      </p:sp>
      <p:sp>
        <p:nvSpPr>
          <p:cNvPr id="14" name="object 14"/>
          <p:cNvSpPr txBox="1"/>
          <p:nvPr/>
        </p:nvSpPr>
        <p:spPr>
          <a:xfrm>
            <a:off x="4277690" y="3349288"/>
            <a:ext cx="273685" cy="104139"/>
          </a:xfrm>
          <a:prstGeom prst="rect">
            <a:avLst/>
          </a:prstGeom>
        </p:spPr>
        <p:txBody>
          <a:bodyPr vert="horz" wrap="square" lIns="0" tIns="0" rIns="0" bIns="0" rtlCol="0">
            <a:spAutoFit/>
          </a:bodyPr>
          <a:lstStyle/>
          <a:p>
            <a:pPr marL="38100">
              <a:lnSpc>
                <a:spcPts val="685"/>
              </a:lnSpc>
            </a:pPr>
            <a:fld id="{81D60167-4931-47E6-BA6A-407CBD079E47}" type="slidenum">
              <a:rPr sz="600" b="1" spc="-5" dirty="0">
                <a:solidFill>
                  <a:srgbClr val="FFFFFF"/>
                </a:solidFill>
                <a:latin typeface="LM Sans 10"/>
                <a:cs typeface="LM Sans 10"/>
              </a:rPr>
              <a:t>2</a:t>
            </a:fld>
            <a:r>
              <a:rPr sz="600" b="1" spc="-5" dirty="0">
                <a:solidFill>
                  <a:srgbClr val="FFFFFF"/>
                </a:solidFill>
                <a:latin typeface="LM Sans 10"/>
                <a:cs typeface="LM Sans 10"/>
              </a:rPr>
              <a:t>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r>
              <a:rPr lang="en-US" dirty="0"/>
              <a:t>Rules to multiply Two Matrices</a:t>
            </a:r>
          </a:p>
        </p:txBody>
      </p:sp>
      <p:sp>
        <p:nvSpPr>
          <p:cNvPr id="3" name="Content Placeholder 2"/>
          <p:cNvSpPr>
            <a:spLocks noGrp="1"/>
          </p:cNvSpPr>
          <p:nvPr>
            <p:ph idx="1"/>
          </p:nvPr>
        </p:nvSpPr>
        <p:spPr>
          <a:xfrm>
            <a:off x="95250" y="434975"/>
            <a:ext cx="4379595" cy="1200329"/>
          </a:xfrm>
        </p:spPr>
        <p:txBody>
          <a:bodyPr/>
          <a:lstStyle/>
          <a:p>
            <a:r>
              <a:rPr lang="en-US" sz="1400" dirty="0"/>
              <a:t>The number of </a:t>
            </a:r>
            <a:r>
              <a:rPr lang="en-US" sz="1400" b="1" dirty="0">
                <a:solidFill>
                  <a:srgbClr val="FF0000"/>
                </a:solidFill>
              </a:rPr>
              <a:t>columns of the 1st matrix</a:t>
            </a:r>
            <a:r>
              <a:rPr lang="en-US" sz="1400" dirty="0"/>
              <a:t> must equal the number of </a:t>
            </a:r>
            <a:r>
              <a:rPr lang="en-US" sz="1400" b="1" dirty="0">
                <a:solidFill>
                  <a:srgbClr val="FF0000"/>
                </a:solidFill>
              </a:rPr>
              <a:t>rows of the 2nd matrix</a:t>
            </a:r>
            <a:r>
              <a:rPr lang="en-US" sz="1400" dirty="0"/>
              <a:t>.</a:t>
            </a:r>
          </a:p>
          <a:p>
            <a:r>
              <a:rPr lang="en-US" sz="1400" dirty="0"/>
              <a:t>And the result will have the same number of </a:t>
            </a:r>
            <a:r>
              <a:rPr lang="en-US" sz="1400" b="1" dirty="0"/>
              <a:t>rows as the 1st matrix</a:t>
            </a:r>
            <a:r>
              <a:rPr lang="en-US" sz="1400" dirty="0"/>
              <a:t>, and the same number of </a:t>
            </a:r>
            <a:r>
              <a:rPr lang="en-US" sz="1400" b="1" dirty="0"/>
              <a:t>columns as the 2nd matrix</a:t>
            </a:r>
            <a:r>
              <a:rPr lang="en-US" sz="1400" dirty="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845" y="2307167"/>
            <a:ext cx="3380740" cy="1384300"/>
          </a:xfrm>
          <a:prstGeom prst="rect">
            <a:avLst/>
          </a:prstGeom>
        </p:spPr>
      </p:pic>
    </p:spTree>
    <p:extLst>
      <p:ext uri="{BB962C8B-B14F-4D97-AF65-F5344CB8AC3E}">
        <p14:creationId xmlns:p14="http://schemas.microsoft.com/office/powerpoint/2010/main" val="3463299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877" y="807508"/>
            <a:ext cx="3295368" cy="1855347"/>
          </a:xfrm>
        </p:spPr>
      </p:pic>
      <p:sp>
        <p:nvSpPr>
          <p:cNvPr id="5" name="TextBox 4"/>
          <p:cNvSpPr txBox="1"/>
          <p:nvPr/>
        </p:nvSpPr>
        <p:spPr>
          <a:xfrm>
            <a:off x="1459865" y="3139582"/>
            <a:ext cx="1641577" cy="264032"/>
          </a:xfrm>
          <a:prstGeom prst="rect">
            <a:avLst/>
          </a:prstGeom>
        </p:spPr>
        <p:style>
          <a:lnRef idx="0">
            <a:schemeClr val="accent4"/>
          </a:lnRef>
          <a:fillRef idx="3">
            <a:schemeClr val="accent4"/>
          </a:fillRef>
          <a:effectRef idx="3">
            <a:schemeClr val="accent4"/>
          </a:effectRef>
          <a:fontRef idx="minor">
            <a:schemeClr val="lt1"/>
          </a:fontRef>
        </p:style>
        <p:txBody>
          <a:bodyPr wrap="none" lIns="46113" tIns="23057" rIns="46113" bIns="23057" rtlCol="0">
            <a:spAutoFit/>
          </a:bodyPr>
          <a:lstStyle/>
          <a:p>
            <a:r>
              <a:rPr lang="en-US" sz="1400" dirty="0"/>
              <a:t>Matrix Multiplication</a:t>
            </a:r>
          </a:p>
        </p:txBody>
      </p:sp>
    </p:spTree>
    <p:extLst>
      <p:ext uri="{BB962C8B-B14F-4D97-AF65-F5344CB8AC3E}">
        <p14:creationId xmlns:p14="http://schemas.microsoft.com/office/powerpoint/2010/main" val="3653103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endParaRPr lang="en-US"/>
          </a:p>
        </p:txBody>
      </p:sp>
      <p:sp>
        <p:nvSpPr>
          <p:cNvPr id="3" name="Content Placeholder 2"/>
          <p:cNvSpPr>
            <a:spLocks noGrp="1"/>
          </p:cNvSpPr>
          <p:nvPr>
            <p:ph idx="1"/>
          </p:nvPr>
        </p:nvSpPr>
        <p:spPr>
          <a:xfrm>
            <a:off x="321894" y="1194689"/>
            <a:ext cx="3912235" cy="123111"/>
          </a:xfrm>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608" y="76906"/>
            <a:ext cx="2818884" cy="990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327" y="1192036"/>
            <a:ext cx="2900521"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564" y="2217589"/>
            <a:ext cx="3692882" cy="932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459865" y="3139582"/>
            <a:ext cx="1641577" cy="264032"/>
          </a:xfrm>
          <a:prstGeom prst="rect">
            <a:avLst/>
          </a:prstGeom>
        </p:spPr>
        <p:style>
          <a:lnRef idx="0">
            <a:schemeClr val="accent4"/>
          </a:lnRef>
          <a:fillRef idx="3">
            <a:schemeClr val="accent4"/>
          </a:fillRef>
          <a:effectRef idx="3">
            <a:schemeClr val="accent4"/>
          </a:effectRef>
          <a:fontRef idx="minor">
            <a:schemeClr val="lt1"/>
          </a:fontRef>
        </p:style>
        <p:txBody>
          <a:bodyPr wrap="none" lIns="46113" tIns="23057" rIns="46113" bIns="23057" rtlCol="0">
            <a:spAutoFit/>
          </a:bodyPr>
          <a:lstStyle/>
          <a:p>
            <a:r>
              <a:rPr lang="en-US" sz="1400" dirty="0"/>
              <a:t>Matrix Multiplication</a:t>
            </a:r>
          </a:p>
        </p:txBody>
      </p:sp>
    </p:spTree>
    <p:extLst>
      <p:ext uri="{BB962C8B-B14F-4D97-AF65-F5344CB8AC3E}">
        <p14:creationId xmlns:p14="http://schemas.microsoft.com/office/powerpoint/2010/main" val="4198209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6263" y="922867"/>
            <a:ext cx="3202054" cy="1076678"/>
          </a:xfrm>
        </p:spPr>
      </p:pic>
    </p:spTree>
    <p:extLst>
      <p:ext uri="{BB962C8B-B14F-4D97-AF65-F5344CB8AC3E}">
        <p14:creationId xmlns:p14="http://schemas.microsoft.com/office/powerpoint/2010/main" val="3823570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4207688" cy="232756"/>
          </a:xfrm>
          <a:prstGeom prst="rect">
            <a:avLst/>
          </a:prstGeom>
        </p:spPr>
        <p:txBody>
          <a:bodyPr vert="horz" wrap="square" lIns="0" tIns="17145" rIns="0" bIns="0" rtlCol="0">
            <a:spAutoFit/>
          </a:bodyPr>
          <a:lstStyle/>
          <a:p>
            <a:pPr marL="12700">
              <a:lnSpc>
                <a:spcPct val="100000"/>
              </a:lnSpc>
              <a:spcBef>
                <a:spcPts val="135"/>
              </a:spcBef>
            </a:pPr>
            <a:r>
              <a:rPr spc="15" dirty="0"/>
              <a:t>Review </a:t>
            </a:r>
            <a:r>
              <a:rPr spc="10" dirty="0"/>
              <a:t>of Matrix</a:t>
            </a:r>
            <a:r>
              <a:rPr spc="-10" dirty="0"/>
              <a:t> </a:t>
            </a:r>
            <a:r>
              <a:rPr spc="10" dirty="0"/>
              <a:t>Multiplication</a:t>
            </a:r>
          </a:p>
        </p:txBody>
      </p:sp>
      <p:sp>
        <p:nvSpPr>
          <p:cNvPr id="3" name="object 3"/>
          <p:cNvSpPr txBox="1"/>
          <p:nvPr/>
        </p:nvSpPr>
        <p:spPr>
          <a:xfrm>
            <a:off x="347294" y="426731"/>
            <a:ext cx="3747770" cy="191770"/>
          </a:xfrm>
          <a:prstGeom prst="rect">
            <a:avLst/>
          </a:prstGeom>
        </p:spPr>
        <p:txBody>
          <a:bodyPr vert="horz" wrap="square" lIns="0" tIns="11430" rIns="0" bIns="0" rtlCol="0">
            <a:spAutoFit/>
          </a:bodyPr>
          <a:lstStyle/>
          <a:p>
            <a:pPr marL="12700">
              <a:lnSpc>
                <a:spcPct val="100000"/>
              </a:lnSpc>
              <a:spcBef>
                <a:spcPts val="90"/>
              </a:spcBef>
            </a:pPr>
            <a:r>
              <a:rPr sz="1100" spc="-5" dirty="0">
                <a:solidFill>
                  <a:srgbClr val="FF0000"/>
                </a:solidFill>
                <a:latin typeface="LM Sans 10"/>
                <a:cs typeface="LM Sans 10"/>
              </a:rPr>
              <a:t>Matrix</a:t>
            </a:r>
            <a:r>
              <a:rPr sz="1100" spc="-5" dirty="0">
                <a:latin typeface="LM Sans 10"/>
                <a:cs typeface="LM Sans 10"/>
              </a:rPr>
              <a:t>:</a:t>
            </a:r>
            <a:r>
              <a:rPr sz="1100" spc="110" dirty="0">
                <a:latin typeface="LM Sans 10"/>
                <a:cs typeface="LM Sans 10"/>
              </a:rPr>
              <a:t> </a:t>
            </a:r>
            <a:r>
              <a:rPr sz="1100" spc="-10" dirty="0">
                <a:latin typeface="LM Sans 10"/>
                <a:cs typeface="LM Sans 10"/>
              </a:rPr>
              <a:t>An</a:t>
            </a:r>
            <a:r>
              <a:rPr sz="1100" dirty="0">
                <a:latin typeface="LM Sans 10"/>
                <a:cs typeface="LM Sans 10"/>
              </a:rPr>
              <a:t> </a:t>
            </a:r>
            <a:r>
              <a:rPr sz="1100" i="1" spc="-10" dirty="0">
                <a:latin typeface="LM Sans 10"/>
                <a:cs typeface="LM Sans 10"/>
              </a:rPr>
              <a:t>n</a:t>
            </a:r>
            <a:r>
              <a:rPr sz="1100" i="1" spc="-105" dirty="0">
                <a:latin typeface="LM Sans 10"/>
                <a:cs typeface="LM Sans 10"/>
              </a:rPr>
              <a:t> </a:t>
            </a:r>
            <a:r>
              <a:rPr sz="1100" i="1" spc="15" dirty="0">
                <a:latin typeface="DejaVu Sans Condensed"/>
                <a:cs typeface="DejaVu Sans Condensed"/>
              </a:rPr>
              <a:t>×</a:t>
            </a:r>
            <a:r>
              <a:rPr sz="1100" i="1" spc="-80" dirty="0">
                <a:latin typeface="DejaVu Sans Condensed"/>
                <a:cs typeface="DejaVu Sans Condensed"/>
              </a:rPr>
              <a:t> </a:t>
            </a:r>
            <a:r>
              <a:rPr sz="1100" i="1" spc="-10" dirty="0">
                <a:latin typeface="LM Sans 10"/>
                <a:cs typeface="LM Sans 10"/>
              </a:rPr>
              <a:t>m</a:t>
            </a:r>
            <a:r>
              <a:rPr sz="1100" i="1" spc="15" dirty="0">
                <a:latin typeface="LM Sans 10"/>
                <a:cs typeface="LM Sans 10"/>
              </a:rPr>
              <a:t> </a:t>
            </a:r>
            <a:r>
              <a:rPr sz="1100" spc="-5" dirty="0">
                <a:latin typeface="LM Sans 10"/>
                <a:cs typeface="LM Sans 10"/>
              </a:rPr>
              <a:t>matrix </a:t>
            </a:r>
            <a:r>
              <a:rPr sz="1100" i="1" spc="-10" dirty="0">
                <a:latin typeface="LM Sans 10"/>
                <a:cs typeface="LM Sans 10"/>
              </a:rPr>
              <a:t>A</a:t>
            </a:r>
            <a:r>
              <a:rPr sz="1100" i="1" spc="-65" dirty="0">
                <a:latin typeface="LM Sans 10"/>
                <a:cs typeface="LM Sans 10"/>
              </a:rPr>
              <a:t> </a:t>
            </a:r>
            <a:r>
              <a:rPr sz="1100" spc="-10" dirty="0">
                <a:latin typeface="LM Sans 10"/>
                <a:cs typeface="LM Sans 10"/>
              </a:rPr>
              <a:t>=</a:t>
            </a:r>
            <a:r>
              <a:rPr sz="1100" spc="-70" dirty="0">
                <a:latin typeface="LM Sans 10"/>
                <a:cs typeface="LM Sans 10"/>
              </a:rPr>
              <a:t> </a:t>
            </a:r>
            <a:r>
              <a:rPr sz="1100" spc="-5" dirty="0">
                <a:latin typeface="LM Sans 10"/>
                <a:cs typeface="LM Sans 10"/>
              </a:rPr>
              <a:t>[</a:t>
            </a:r>
            <a:r>
              <a:rPr sz="1100" i="1" spc="-5" dirty="0">
                <a:latin typeface="LM Sans 10"/>
                <a:cs typeface="LM Sans 10"/>
              </a:rPr>
              <a:t>a</a:t>
            </a:r>
            <a:r>
              <a:rPr sz="1100" spc="-5" dirty="0">
                <a:latin typeface="LM Sans 10"/>
                <a:cs typeface="LM Sans 10"/>
              </a:rPr>
              <a:t>[</a:t>
            </a:r>
            <a:r>
              <a:rPr sz="1100" i="1" spc="-5"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 is </a:t>
            </a:r>
            <a:r>
              <a:rPr sz="1100" spc="-10" dirty="0">
                <a:latin typeface="LM Sans 10"/>
                <a:cs typeface="LM Sans 10"/>
              </a:rPr>
              <a:t>a two-dimensional</a:t>
            </a:r>
            <a:r>
              <a:rPr sz="1100" spc="-5" dirty="0">
                <a:latin typeface="LM Sans 10"/>
                <a:cs typeface="LM Sans 10"/>
              </a:rPr>
              <a:t> </a:t>
            </a:r>
            <a:r>
              <a:rPr sz="1100" spc="-20" dirty="0">
                <a:latin typeface="LM Sans 10"/>
                <a:cs typeface="LM Sans 10"/>
              </a:rPr>
              <a:t>array</a:t>
            </a:r>
            <a:endParaRPr sz="1100">
              <a:latin typeface="LM Sans 10"/>
              <a:cs typeface="LM Sans 10"/>
            </a:endParaRPr>
          </a:p>
        </p:txBody>
      </p:sp>
      <p:sp>
        <p:nvSpPr>
          <p:cNvPr id="4" name="object 4"/>
          <p:cNvSpPr txBox="1"/>
          <p:nvPr/>
        </p:nvSpPr>
        <p:spPr>
          <a:xfrm>
            <a:off x="626084" y="1026095"/>
            <a:ext cx="264160" cy="191770"/>
          </a:xfrm>
          <a:prstGeom prst="rect">
            <a:avLst/>
          </a:prstGeom>
        </p:spPr>
        <p:txBody>
          <a:bodyPr vert="horz" wrap="square" lIns="0" tIns="11430" rIns="0" bIns="0" rtlCol="0">
            <a:spAutoFit/>
          </a:bodyPr>
          <a:lstStyle/>
          <a:p>
            <a:pPr marL="12700">
              <a:lnSpc>
                <a:spcPct val="100000"/>
              </a:lnSpc>
              <a:spcBef>
                <a:spcPts val="90"/>
              </a:spcBef>
            </a:pPr>
            <a:r>
              <a:rPr sz="1100" i="1" spc="-10" dirty="0">
                <a:solidFill>
                  <a:srgbClr val="0000FF"/>
                </a:solidFill>
                <a:latin typeface="LM Sans 10"/>
                <a:cs typeface="LM Sans 10"/>
              </a:rPr>
              <a:t>A</a:t>
            </a:r>
            <a:r>
              <a:rPr sz="1100" i="1" spc="-140" dirty="0">
                <a:solidFill>
                  <a:srgbClr val="0000FF"/>
                </a:solidFill>
                <a:latin typeface="LM Sans 10"/>
                <a:cs typeface="LM Sans 10"/>
              </a:rPr>
              <a:t> </a:t>
            </a:r>
            <a:r>
              <a:rPr sz="1100" spc="-10" dirty="0">
                <a:solidFill>
                  <a:srgbClr val="0000FF"/>
                </a:solidFill>
                <a:latin typeface="LM Sans 10"/>
                <a:cs typeface="LM Sans 10"/>
              </a:rPr>
              <a:t>=</a:t>
            </a:r>
            <a:endParaRPr sz="1100">
              <a:latin typeface="LM Sans 10"/>
              <a:cs typeface="LM Sans 10"/>
            </a:endParaRPr>
          </a:p>
        </p:txBody>
      </p:sp>
      <p:sp>
        <p:nvSpPr>
          <p:cNvPr id="9" name="object 9"/>
          <p:cNvSpPr txBox="1"/>
          <p:nvPr/>
        </p:nvSpPr>
        <p:spPr>
          <a:xfrm>
            <a:off x="1058799" y="733652"/>
            <a:ext cx="373380" cy="363855"/>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Sans 10"/>
                <a:cs typeface="LM Sans 10"/>
              </a:rPr>
              <a:t>a</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275" dirty="0">
                <a:solidFill>
                  <a:srgbClr val="0000FF"/>
                </a:solidFill>
                <a:latin typeface="LM Roman Dunhill 10"/>
                <a:cs typeface="LM Roman Dunhill 10"/>
              </a:rPr>
              <a:t> </a:t>
            </a:r>
            <a:r>
              <a:rPr sz="1100" spc="-5" dirty="0">
                <a:solidFill>
                  <a:srgbClr val="0000FF"/>
                </a:solidFill>
                <a:latin typeface="LM Sans 10"/>
                <a:cs typeface="LM Sans 10"/>
              </a:rPr>
              <a:t>1]</a:t>
            </a:r>
            <a:endParaRPr sz="1100">
              <a:latin typeface="LM Sans 10"/>
              <a:cs typeface="LM Sans 10"/>
            </a:endParaRPr>
          </a:p>
          <a:p>
            <a:pPr marL="12700">
              <a:lnSpc>
                <a:spcPct val="100000"/>
              </a:lnSpc>
              <a:spcBef>
                <a:spcPts val="35"/>
              </a:spcBef>
            </a:pPr>
            <a:r>
              <a:rPr sz="1100" i="1" spc="-5" dirty="0">
                <a:solidFill>
                  <a:srgbClr val="0000FF"/>
                </a:solidFill>
                <a:latin typeface="LM Sans 10"/>
                <a:cs typeface="LM Sans 10"/>
              </a:rPr>
              <a:t>a</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275" dirty="0">
                <a:solidFill>
                  <a:srgbClr val="0000FF"/>
                </a:solidFill>
                <a:latin typeface="LM Roman Dunhill 10"/>
                <a:cs typeface="LM Roman Dunhill 10"/>
              </a:rPr>
              <a:t> </a:t>
            </a:r>
            <a:r>
              <a:rPr sz="1100" spc="-5" dirty="0">
                <a:solidFill>
                  <a:srgbClr val="0000FF"/>
                </a:solidFill>
                <a:latin typeface="LM Sans 10"/>
                <a:cs typeface="LM Sans 10"/>
              </a:rPr>
              <a:t>1]</a:t>
            </a:r>
            <a:endParaRPr sz="1100">
              <a:latin typeface="LM Sans 10"/>
              <a:cs typeface="LM Sans 10"/>
            </a:endParaRPr>
          </a:p>
        </p:txBody>
      </p:sp>
      <p:sp>
        <p:nvSpPr>
          <p:cNvPr id="10" name="object 10"/>
          <p:cNvSpPr txBox="1"/>
          <p:nvPr/>
        </p:nvSpPr>
        <p:spPr>
          <a:xfrm>
            <a:off x="1538198" y="733652"/>
            <a:ext cx="373380" cy="363855"/>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Sans 10"/>
                <a:cs typeface="LM Sans 10"/>
              </a:rPr>
              <a:t>a</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275" dirty="0">
                <a:solidFill>
                  <a:srgbClr val="0000FF"/>
                </a:solidFill>
                <a:latin typeface="LM Roman Dunhill 10"/>
                <a:cs typeface="LM Roman Dunhill 10"/>
              </a:rPr>
              <a:t> </a:t>
            </a:r>
            <a:r>
              <a:rPr sz="1100" spc="-5" dirty="0">
                <a:solidFill>
                  <a:srgbClr val="0000FF"/>
                </a:solidFill>
                <a:latin typeface="LM Sans 10"/>
                <a:cs typeface="LM Sans 10"/>
              </a:rPr>
              <a:t>2]</a:t>
            </a:r>
            <a:endParaRPr sz="1100">
              <a:latin typeface="LM Sans 10"/>
              <a:cs typeface="LM Sans 10"/>
            </a:endParaRPr>
          </a:p>
          <a:p>
            <a:pPr marL="12700">
              <a:lnSpc>
                <a:spcPct val="100000"/>
              </a:lnSpc>
              <a:spcBef>
                <a:spcPts val="35"/>
              </a:spcBef>
            </a:pPr>
            <a:r>
              <a:rPr sz="1100" i="1" spc="-5" dirty="0">
                <a:solidFill>
                  <a:srgbClr val="0000FF"/>
                </a:solidFill>
                <a:latin typeface="LM Sans 10"/>
                <a:cs typeface="LM Sans 10"/>
              </a:rPr>
              <a:t>a</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275" dirty="0">
                <a:solidFill>
                  <a:srgbClr val="0000FF"/>
                </a:solidFill>
                <a:latin typeface="LM Roman Dunhill 10"/>
                <a:cs typeface="LM Roman Dunhill 10"/>
              </a:rPr>
              <a:t> </a:t>
            </a:r>
            <a:r>
              <a:rPr sz="1100" spc="-5" dirty="0">
                <a:solidFill>
                  <a:srgbClr val="0000FF"/>
                </a:solidFill>
                <a:latin typeface="LM Sans 10"/>
                <a:cs typeface="LM Sans 10"/>
              </a:rPr>
              <a:t>2]</a:t>
            </a:r>
            <a:endParaRPr sz="1100">
              <a:latin typeface="LM Sans 10"/>
              <a:cs typeface="LM Sans 10"/>
            </a:endParaRPr>
          </a:p>
        </p:txBody>
      </p:sp>
      <p:sp>
        <p:nvSpPr>
          <p:cNvPr id="11" name="object 11"/>
          <p:cNvSpPr txBox="1"/>
          <p:nvPr/>
        </p:nvSpPr>
        <p:spPr>
          <a:xfrm>
            <a:off x="2328862" y="905724"/>
            <a:ext cx="655320"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Sans 10"/>
                <a:cs typeface="LM Sans 10"/>
              </a:rPr>
              <a:t>a</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204" dirty="0">
                <a:solidFill>
                  <a:srgbClr val="0000FF"/>
                </a:solidFill>
                <a:latin typeface="LM Roman Dunhill 10"/>
                <a:cs typeface="LM Roman Dunhill 10"/>
              </a:rPr>
              <a:t> </a:t>
            </a:r>
            <a:r>
              <a:rPr sz="1100" i="1" spc="-10" dirty="0">
                <a:solidFill>
                  <a:srgbClr val="0000FF"/>
                </a:solidFill>
                <a:latin typeface="LM Sans 10"/>
                <a:cs typeface="LM Sans 10"/>
              </a:rPr>
              <a:t>m</a:t>
            </a:r>
            <a:r>
              <a:rPr sz="1100" i="1" spc="-130" dirty="0">
                <a:solidFill>
                  <a:srgbClr val="0000FF"/>
                </a:solidFill>
                <a:latin typeface="LM Sans 10"/>
                <a:cs typeface="LM Sans 10"/>
              </a:rPr>
              <a:t> </a:t>
            </a:r>
            <a:r>
              <a:rPr sz="1100" i="1" spc="15" dirty="0">
                <a:solidFill>
                  <a:srgbClr val="0000FF"/>
                </a:solidFill>
                <a:latin typeface="DejaVu Sans Condensed"/>
                <a:cs typeface="DejaVu Sans Condensed"/>
              </a:rPr>
              <a:t>−</a:t>
            </a:r>
            <a:r>
              <a:rPr sz="1100" i="1" spc="-100" dirty="0">
                <a:solidFill>
                  <a:srgbClr val="0000FF"/>
                </a:solidFill>
                <a:latin typeface="DejaVu Sans Condensed"/>
                <a:cs typeface="DejaVu Sans Condensed"/>
              </a:rPr>
              <a:t> </a:t>
            </a:r>
            <a:r>
              <a:rPr sz="1100" spc="-5" dirty="0">
                <a:solidFill>
                  <a:srgbClr val="0000FF"/>
                </a:solidFill>
                <a:latin typeface="LM Sans 10"/>
                <a:cs typeface="LM Sans 10"/>
              </a:rPr>
              <a:t>1]</a:t>
            </a:r>
            <a:endParaRPr sz="1100">
              <a:latin typeface="LM Sans 10"/>
              <a:cs typeface="LM Sans 10"/>
            </a:endParaRPr>
          </a:p>
        </p:txBody>
      </p:sp>
      <p:sp>
        <p:nvSpPr>
          <p:cNvPr id="12" name="object 12"/>
          <p:cNvSpPr txBox="1"/>
          <p:nvPr/>
        </p:nvSpPr>
        <p:spPr>
          <a:xfrm>
            <a:off x="3090125" y="733652"/>
            <a:ext cx="417195" cy="363855"/>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Sans 10"/>
                <a:cs typeface="LM Sans 10"/>
              </a:rPr>
              <a:t>a</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270" dirty="0">
                <a:solidFill>
                  <a:srgbClr val="0000FF"/>
                </a:solidFill>
                <a:latin typeface="LM Roman Dunhill 10"/>
                <a:cs typeface="LM Roman Dunhill 10"/>
              </a:rPr>
              <a:t> </a:t>
            </a:r>
            <a:r>
              <a:rPr sz="1100" i="1" dirty="0">
                <a:solidFill>
                  <a:srgbClr val="0000FF"/>
                </a:solidFill>
                <a:latin typeface="LM Sans 10"/>
                <a:cs typeface="LM Sans 10"/>
              </a:rPr>
              <a:t>m</a:t>
            </a:r>
            <a:r>
              <a:rPr sz="1100" dirty="0">
                <a:solidFill>
                  <a:srgbClr val="0000FF"/>
                </a:solidFill>
                <a:latin typeface="LM Sans 10"/>
                <a:cs typeface="LM Sans 10"/>
              </a:rPr>
              <a:t>]</a:t>
            </a:r>
            <a:endParaRPr sz="1100">
              <a:latin typeface="LM Sans 10"/>
              <a:cs typeface="LM Sans 10"/>
            </a:endParaRPr>
          </a:p>
          <a:p>
            <a:pPr marL="12700">
              <a:lnSpc>
                <a:spcPct val="100000"/>
              </a:lnSpc>
              <a:spcBef>
                <a:spcPts val="35"/>
              </a:spcBef>
            </a:pPr>
            <a:r>
              <a:rPr sz="1100" i="1" spc="-5" dirty="0">
                <a:solidFill>
                  <a:srgbClr val="0000FF"/>
                </a:solidFill>
                <a:latin typeface="LM Sans 10"/>
                <a:cs typeface="LM Sans 10"/>
              </a:rPr>
              <a:t>a</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270" dirty="0">
                <a:solidFill>
                  <a:srgbClr val="0000FF"/>
                </a:solidFill>
                <a:latin typeface="LM Roman Dunhill 10"/>
                <a:cs typeface="LM Roman Dunhill 10"/>
              </a:rPr>
              <a:t> </a:t>
            </a:r>
            <a:r>
              <a:rPr sz="1100" i="1" dirty="0">
                <a:solidFill>
                  <a:srgbClr val="0000FF"/>
                </a:solidFill>
                <a:latin typeface="LM Sans 10"/>
                <a:cs typeface="LM Sans 10"/>
              </a:rPr>
              <a:t>m</a:t>
            </a:r>
            <a:r>
              <a:rPr sz="1100" dirty="0">
                <a:solidFill>
                  <a:srgbClr val="0000FF"/>
                </a:solidFill>
                <a:latin typeface="LM Sans 10"/>
                <a:cs typeface="LM Sans 10"/>
              </a:rPr>
              <a:t>]</a:t>
            </a:r>
            <a:endParaRPr sz="1100">
              <a:latin typeface="LM Sans 10"/>
              <a:cs typeface="LM Sans 10"/>
            </a:endParaRPr>
          </a:p>
        </p:txBody>
      </p:sp>
      <p:sp>
        <p:nvSpPr>
          <p:cNvPr id="13" name="object 13"/>
          <p:cNvSpPr txBox="1"/>
          <p:nvPr/>
        </p:nvSpPr>
        <p:spPr>
          <a:xfrm>
            <a:off x="1058799" y="1095411"/>
            <a:ext cx="64135" cy="191770"/>
          </a:xfrm>
          <a:prstGeom prst="rect">
            <a:avLst/>
          </a:prstGeom>
        </p:spPr>
        <p:txBody>
          <a:bodyPr vert="horz" wrap="square" lIns="0" tIns="11430" rIns="0" bIns="0" rtlCol="0">
            <a:spAutoFit/>
          </a:bodyPr>
          <a:lstStyle/>
          <a:p>
            <a:pPr marL="12700">
              <a:lnSpc>
                <a:spcPct val="100000"/>
              </a:lnSpc>
              <a:spcBef>
                <a:spcPts val="90"/>
              </a:spcBef>
            </a:pPr>
            <a:r>
              <a:rPr sz="1100" spc="-5" dirty="0">
                <a:solidFill>
                  <a:srgbClr val="0000FF"/>
                </a:solidFill>
                <a:latin typeface="LM Sans 10"/>
                <a:cs typeface="LM Sans 10"/>
              </a:rPr>
              <a:t>.</a:t>
            </a:r>
            <a:endParaRPr sz="1100">
              <a:latin typeface="LM Sans 10"/>
              <a:cs typeface="LM Sans 10"/>
            </a:endParaRPr>
          </a:p>
        </p:txBody>
      </p:sp>
      <p:sp>
        <p:nvSpPr>
          <p:cNvPr id="14" name="object 14"/>
          <p:cNvSpPr txBox="1"/>
          <p:nvPr/>
        </p:nvSpPr>
        <p:spPr>
          <a:xfrm>
            <a:off x="1538211" y="1095411"/>
            <a:ext cx="64135" cy="191770"/>
          </a:xfrm>
          <a:prstGeom prst="rect">
            <a:avLst/>
          </a:prstGeom>
        </p:spPr>
        <p:txBody>
          <a:bodyPr vert="horz" wrap="square" lIns="0" tIns="11430" rIns="0" bIns="0" rtlCol="0">
            <a:spAutoFit/>
          </a:bodyPr>
          <a:lstStyle/>
          <a:p>
            <a:pPr marL="12700">
              <a:lnSpc>
                <a:spcPct val="100000"/>
              </a:lnSpc>
              <a:spcBef>
                <a:spcPts val="90"/>
              </a:spcBef>
            </a:pPr>
            <a:r>
              <a:rPr sz="1100" spc="-5" dirty="0">
                <a:solidFill>
                  <a:srgbClr val="0000FF"/>
                </a:solidFill>
                <a:latin typeface="LM Sans 10"/>
                <a:cs typeface="LM Sans 10"/>
              </a:rPr>
              <a:t>.</a:t>
            </a:r>
            <a:endParaRPr sz="1100">
              <a:latin typeface="LM Sans 10"/>
              <a:cs typeface="LM Sans 10"/>
            </a:endParaRPr>
          </a:p>
        </p:txBody>
      </p:sp>
      <p:sp>
        <p:nvSpPr>
          <p:cNvPr id="15" name="object 15"/>
          <p:cNvSpPr txBox="1"/>
          <p:nvPr/>
        </p:nvSpPr>
        <p:spPr>
          <a:xfrm>
            <a:off x="2328862" y="1095411"/>
            <a:ext cx="64135" cy="191770"/>
          </a:xfrm>
          <a:prstGeom prst="rect">
            <a:avLst/>
          </a:prstGeom>
        </p:spPr>
        <p:txBody>
          <a:bodyPr vert="horz" wrap="square" lIns="0" tIns="11430" rIns="0" bIns="0" rtlCol="0">
            <a:spAutoFit/>
          </a:bodyPr>
          <a:lstStyle/>
          <a:p>
            <a:pPr marL="12700">
              <a:lnSpc>
                <a:spcPct val="100000"/>
              </a:lnSpc>
              <a:spcBef>
                <a:spcPts val="90"/>
              </a:spcBef>
            </a:pPr>
            <a:r>
              <a:rPr sz="1100" spc="-5" dirty="0">
                <a:solidFill>
                  <a:srgbClr val="0000FF"/>
                </a:solidFill>
                <a:latin typeface="LM Sans 10"/>
                <a:cs typeface="LM Sans 10"/>
              </a:rPr>
              <a:t>.</a:t>
            </a:r>
            <a:endParaRPr sz="1100">
              <a:latin typeface="LM Sans 10"/>
              <a:cs typeface="LM Sans 10"/>
            </a:endParaRPr>
          </a:p>
        </p:txBody>
      </p:sp>
      <p:sp>
        <p:nvSpPr>
          <p:cNvPr id="16" name="object 16"/>
          <p:cNvSpPr txBox="1"/>
          <p:nvPr/>
        </p:nvSpPr>
        <p:spPr>
          <a:xfrm>
            <a:off x="3090125" y="1095411"/>
            <a:ext cx="64135" cy="191770"/>
          </a:xfrm>
          <a:prstGeom prst="rect">
            <a:avLst/>
          </a:prstGeom>
        </p:spPr>
        <p:txBody>
          <a:bodyPr vert="horz" wrap="square" lIns="0" tIns="11430" rIns="0" bIns="0" rtlCol="0">
            <a:spAutoFit/>
          </a:bodyPr>
          <a:lstStyle/>
          <a:p>
            <a:pPr marL="12700">
              <a:lnSpc>
                <a:spcPct val="100000"/>
              </a:lnSpc>
              <a:spcBef>
                <a:spcPts val="90"/>
              </a:spcBef>
            </a:pPr>
            <a:r>
              <a:rPr sz="1100" spc="-5" dirty="0">
                <a:solidFill>
                  <a:srgbClr val="0000FF"/>
                </a:solidFill>
                <a:latin typeface="LM Sans 10"/>
                <a:cs typeface="LM Sans 10"/>
              </a:rPr>
              <a:t>.</a:t>
            </a:r>
            <a:endParaRPr sz="1100">
              <a:latin typeface="LM Sans 10"/>
              <a:cs typeface="LM Sans 10"/>
            </a:endParaRPr>
          </a:p>
        </p:txBody>
      </p:sp>
      <p:sp>
        <p:nvSpPr>
          <p:cNvPr id="17" name="object 17"/>
          <p:cNvSpPr txBox="1"/>
          <p:nvPr/>
        </p:nvSpPr>
        <p:spPr>
          <a:xfrm>
            <a:off x="1058799" y="733652"/>
            <a:ext cx="1925320" cy="776605"/>
          </a:xfrm>
          <a:prstGeom prst="rect">
            <a:avLst/>
          </a:prstGeom>
        </p:spPr>
        <p:txBody>
          <a:bodyPr vert="horz" wrap="square" lIns="0" tIns="11430" rIns="0" bIns="0" rtlCol="0">
            <a:spAutoFit/>
          </a:bodyPr>
          <a:lstStyle/>
          <a:p>
            <a:pPr marL="970915">
              <a:lnSpc>
                <a:spcPct val="100000"/>
              </a:lnSpc>
              <a:spcBef>
                <a:spcPts val="90"/>
              </a:spcBef>
              <a:tabLst>
                <a:tab pos="1282700" algn="l"/>
              </a:tabLst>
            </a:pPr>
            <a:r>
              <a:rPr sz="1100" i="1" spc="-15" dirty="0">
                <a:solidFill>
                  <a:srgbClr val="0000FF"/>
                </a:solidFill>
                <a:latin typeface="DejaVu Sans Condensed"/>
                <a:cs typeface="DejaVu Sans Condensed"/>
              </a:rPr>
              <a:t>·</a:t>
            </a:r>
            <a:r>
              <a:rPr sz="1100" i="1" spc="-135" dirty="0">
                <a:solidFill>
                  <a:srgbClr val="0000FF"/>
                </a:solidFill>
                <a:latin typeface="DejaVu Sans Condensed"/>
                <a:cs typeface="DejaVu Sans Condensed"/>
              </a:rPr>
              <a:t> </a:t>
            </a:r>
            <a:r>
              <a:rPr sz="1100" i="1" spc="-15" dirty="0">
                <a:solidFill>
                  <a:srgbClr val="0000FF"/>
                </a:solidFill>
                <a:latin typeface="DejaVu Sans Condensed"/>
                <a:cs typeface="DejaVu Sans Condensed"/>
              </a:rPr>
              <a:t>·</a:t>
            </a:r>
            <a:r>
              <a:rPr sz="1100" i="1" spc="-135" dirty="0">
                <a:solidFill>
                  <a:srgbClr val="0000FF"/>
                </a:solidFill>
                <a:latin typeface="DejaVu Sans Condensed"/>
                <a:cs typeface="DejaVu Sans Condensed"/>
              </a:rPr>
              <a:t>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a</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204" dirty="0">
                <a:solidFill>
                  <a:srgbClr val="0000FF"/>
                </a:solidFill>
                <a:latin typeface="LM Roman Dunhill 10"/>
                <a:cs typeface="LM Roman Dunhill 10"/>
              </a:rPr>
              <a:t> </a:t>
            </a:r>
            <a:r>
              <a:rPr sz="1100" i="1" spc="-10" dirty="0">
                <a:solidFill>
                  <a:srgbClr val="0000FF"/>
                </a:solidFill>
                <a:latin typeface="LM Sans 10"/>
                <a:cs typeface="LM Sans 10"/>
              </a:rPr>
              <a:t>m</a:t>
            </a:r>
            <a:r>
              <a:rPr sz="1100" i="1" spc="-130" dirty="0">
                <a:solidFill>
                  <a:srgbClr val="0000FF"/>
                </a:solidFill>
                <a:latin typeface="LM Sans 10"/>
                <a:cs typeface="LM Sans 10"/>
              </a:rPr>
              <a:t> </a:t>
            </a:r>
            <a:r>
              <a:rPr sz="1100" i="1" spc="15" dirty="0">
                <a:solidFill>
                  <a:srgbClr val="0000FF"/>
                </a:solidFill>
                <a:latin typeface="DejaVu Sans Condensed"/>
                <a:cs typeface="DejaVu Sans Condensed"/>
              </a:rPr>
              <a:t>−</a:t>
            </a:r>
            <a:r>
              <a:rPr sz="1100" i="1" spc="-100" dirty="0">
                <a:solidFill>
                  <a:srgbClr val="0000FF"/>
                </a:solidFill>
                <a:latin typeface="DejaVu Sans Condensed"/>
                <a:cs typeface="DejaVu Sans Condensed"/>
              </a:rPr>
              <a:t> </a:t>
            </a:r>
            <a:r>
              <a:rPr sz="1100" spc="-5" dirty="0">
                <a:solidFill>
                  <a:srgbClr val="0000FF"/>
                </a:solidFill>
                <a:latin typeface="LM Sans 10"/>
                <a:cs typeface="LM Sans 10"/>
              </a:rPr>
              <a:t>1]</a:t>
            </a:r>
            <a:endParaRPr sz="1100" dirty="0">
              <a:latin typeface="LM Sans 10"/>
              <a:cs typeface="LM Sans 10"/>
            </a:endParaRPr>
          </a:p>
          <a:p>
            <a:pPr marL="970915">
              <a:lnSpc>
                <a:spcPct val="100000"/>
              </a:lnSpc>
              <a:spcBef>
                <a:spcPts val="35"/>
              </a:spcBef>
            </a:pPr>
            <a:r>
              <a:rPr sz="1100" i="1" spc="-15" dirty="0">
                <a:solidFill>
                  <a:srgbClr val="0000FF"/>
                </a:solidFill>
                <a:latin typeface="DejaVu Sans Condensed"/>
                <a:cs typeface="DejaVu Sans Condensed"/>
              </a:rPr>
              <a:t>· ·</a:t>
            </a:r>
            <a:r>
              <a:rPr sz="1100" i="1" spc="-260" dirty="0">
                <a:solidFill>
                  <a:srgbClr val="0000FF"/>
                </a:solidFill>
                <a:latin typeface="DejaVu Sans Condensed"/>
                <a:cs typeface="DejaVu Sans Condensed"/>
              </a:rPr>
              <a:t> </a:t>
            </a:r>
            <a:r>
              <a:rPr sz="1100" i="1" spc="-15" dirty="0">
                <a:solidFill>
                  <a:srgbClr val="0000FF"/>
                </a:solidFill>
                <a:latin typeface="DejaVu Sans Condensed"/>
                <a:cs typeface="DejaVu Sans Condensed"/>
              </a:rPr>
              <a:t>·</a:t>
            </a:r>
            <a:endParaRPr sz="1100" dirty="0">
              <a:latin typeface="DejaVu Sans Condensed"/>
              <a:cs typeface="DejaVu Sans Condensed"/>
            </a:endParaRPr>
          </a:p>
          <a:p>
            <a:pPr marL="12700">
              <a:lnSpc>
                <a:spcPct val="100000"/>
              </a:lnSpc>
              <a:spcBef>
                <a:spcPts val="570"/>
              </a:spcBef>
              <a:tabLst>
                <a:tab pos="491490" algn="l"/>
              </a:tabLst>
            </a:pPr>
            <a:r>
              <a:rPr sz="1100" spc="-5" dirty="0">
                <a:solidFill>
                  <a:srgbClr val="0000FF"/>
                </a:solidFill>
                <a:latin typeface="LM Sans 10"/>
                <a:cs typeface="LM Sans 10"/>
              </a:rPr>
              <a:t>.	.</a:t>
            </a:r>
            <a:endParaRPr sz="1100" dirty="0">
              <a:latin typeface="LM Sans 10"/>
              <a:cs typeface="LM Sans 10"/>
            </a:endParaRPr>
          </a:p>
          <a:p>
            <a:pPr marL="12700">
              <a:lnSpc>
                <a:spcPct val="100000"/>
              </a:lnSpc>
              <a:spcBef>
                <a:spcPts val="35"/>
              </a:spcBef>
            </a:pPr>
            <a:r>
              <a:rPr sz="1100" i="1" dirty="0">
                <a:solidFill>
                  <a:srgbClr val="0000FF"/>
                </a:solidFill>
                <a:latin typeface="LM Sans 10"/>
                <a:cs typeface="LM Sans 10"/>
              </a:rPr>
              <a:t>a</a:t>
            </a:r>
            <a:r>
              <a:rPr sz="1100" dirty="0">
                <a:solidFill>
                  <a:srgbClr val="0000FF"/>
                </a:solidFill>
                <a:latin typeface="LM Sans 10"/>
                <a:cs typeface="LM Sans 10"/>
              </a:rPr>
              <a:t>[</a:t>
            </a:r>
            <a:r>
              <a:rPr sz="1100" i="1" dirty="0">
                <a:solidFill>
                  <a:srgbClr val="0000FF"/>
                </a:solidFill>
                <a:latin typeface="LM Sans 10"/>
                <a:cs typeface="LM Sans 10"/>
              </a:rPr>
              <a:t>n</a:t>
            </a:r>
            <a:r>
              <a:rPr sz="1100" i="1" dirty="0">
                <a:solidFill>
                  <a:srgbClr val="0000FF"/>
                </a:solidFill>
                <a:latin typeface="LM Roman Dunhill 10"/>
                <a:cs typeface="LM Roman Dunhill 10"/>
              </a:rPr>
              <a:t>, </a:t>
            </a:r>
            <a:r>
              <a:rPr sz="1100" spc="-5" dirty="0">
                <a:solidFill>
                  <a:srgbClr val="0000FF"/>
                </a:solidFill>
                <a:latin typeface="LM Sans 10"/>
                <a:cs typeface="LM Sans 10"/>
              </a:rPr>
              <a:t>1] </a:t>
            </a:r>
            <a:r>
              <a:rPr sz="1100" i="1" dirty="0">
                <a:solidFill>
                  <a:srgbClr val="0000FF"/>
                </a:solidFill>
                <a:latin typeface="LM Sans 10"/>
                <a:cs typeface="LM Sans 10"/>
              </a:rPr>
              <a:t>a</a:t>
            </a:r>
            <a:r>
              <a:rPr sz="1100" dirty="0">
                <a:solidFill>
                  <a:srgbClr val="0000FF"/>
                </a:solidFill>
                <a:latin typeface="LM Sans 10"/>
                <a:cs typeface="LM Sans 10"/>
              </a:rPr>
              <a:t>[</a:t>
            </a:r>
            <a:r>
              <a:rPr sz="1100" i="1" dirty="0">
                <a:solidFill>
                  <a:srgbClr val="0000FF"/>
                </a:solidFill>
                <a:latin typeface="LM Sans 10"/>
                <a:cs typeface="LM Sans 10"/>
              </a:rPr>
              <a:t>n</a:t>
            </a:r>
            <a:r>
              <a:rPr sz="1100" i="1" dirty="0">
                <a:solidFill>
                  <a:srgbClr val="0000FF"/>
                </a:solidFill>
                <a:latin typeface="LM Roman Dunhill 10"/>
                <a:cs typeface="LM Roman Dunhill 10"/>
              </a:rPr>
              <a:t>, </a:t>
            </a:r>
            <a:r>
              <a:rPr sz="1100" spc="-5" dirty="0">
                <a:solidFill>
                  <a:srgbClr val="0000FF"/>
                </a:solidFill>
                <a:latin typeface="LM Sans 10"/>
                <a:cs typeface="LM Sans 10"/>
              </a:rPr>
              <a:t>2] </a:t>
            </a:r>
            <a:r>
              <a:rPr sz="1100" i="1" spc="-15" dirty="0">
                <a:solidFill>
                  <a:srgbClr val="0000FF"/>
                </a:solidFill>
                <a:latin typeface="DejaVu Sans Condensed"/>
                <a:cs typeface="DejaVu Sans Condensed"/>
              </a:rPr>
              <a:t>· ·</a:t>
            </a:r>
            <a:r>
              <a:rPr sz="1100" i="1" spc="-105" dirty="0">
                <a:solidFill>
                  <a:srgbClr val="0000FF"/>
                </a:solidFill>
                <a:latin typeface="DejaVu Sans Condensed"/>
                <a:cs typeface="DejaVu Sans Condensed"/>
              </a:rPr>
              <a:t> </a:t>
            </a:r>
            <a:r>
              <a:rPr sz="1100" i="1" spc="-15" dirty="0">
                <a:solidFill>
                  <a:srgbClr val="0000FF"/>
                </a:solidFill>
                <a:latin typeface="DejaVu Sans Condensed"/>
                <a:cs typeface="DejaVu Sans Condensed"/>
              </a:rPr>
              <a:t>·</a:t>
            </a:r>
            <a:endParaRPr sz="1100" dirty="0">
              <a:latin typeface="DejaVu Sans Condensed"/>
              <a:cs typeface="DejaVu Sans Condensed"/>
            </a:endParaRPr>
          </a:p>
        </p:txBody>
      </p:sp>
      <p:sp>
        <p:nvSpPr>
          <p:cNvPr id="18" name="object 18"/>
          <p:cNvSpPr txBox="1"/>
          <p:nvPr/>
        </p:nvSpPr>
        <p:spPr>
          <a:xfrm>
            <a:off x="2328862" y="1146021"/>
            <a:ext cx="1183005" cy="363855"/>
          </a:xfrm>
          <a:prstGeom prst="rect">
            <a:avLst/>
          </a:prstGeom>
        </p:spPr>
        <p:txBody>
          <a:bodyPr vert="horz" wrap="square" lIns="0" tIns="11430" rIns="0" bIns="0" rtlCol="0">
            <a:spAutoFit/>
          </a:bodyPr>
          <a:lstStyle/>
          <a:p>
            <a:pPr marL="12700">
              <a:lnSpc>
                <a:spcPct val="100000"/>
              </a:lnSpc>
              <a:spcBef>
                <a:spcPts val="90"/>
              </a:spcBef>
              <a:tabLst>
                <a:tab pos="773430" algn="l"/>
              </a:tabLst>
            </a:pPr>
            <a:r>
              <a:rPr sz="1100" spc="-5" dirty="0">
                <a:solidFill>
                  <a:srgbClr val="0000FF"/>
                </a:solidFill>
                <a:latin typeface="LM Sans 10"/>
                <a:cs typeface="LM Sans 10"/>
              </a:rPr>
              <a:t>.	.</a:t>
            </a:r>
            <a:endParaRPr sz="1100">
              <a:latin typeface="LM Sans 10"/>
              <a:cs typeface="LM Sans 10"/>
            </a:endParaRPr>
          </a:p>
          <a:p>
            <a:pPr marL="12700">
              <a:lnSpc>
                <a:spcPct val="100000"/>
              </a:lnSpc>
              <a:spcBef>
                <a:spcPts val="35"/>
              </a:spcBef>
            </a:pPr>
            <a:r>
              <a:rPr sz="1100" i="1" dirty="0">
                <a:solidFill>
                  <a:srgbClr val="0000FF"/>
                </a:solidFill>
                <a:latin typeface="LM Sans 10"/>
                <a:cs typeface="LM Sans 10"/>
              </a:rPr>
              <a:t>a</a:t>
            </a:r>
            <a:r>
              <a:rPr sz="1100" dirty="0">
                <a:solidFill>
                  <a:srgbClr val="0000FF"/>
                </a:solidFill>
                <a:latin typeface="LM Sans 10"/>
                <a:cs typeface="LM Sans 10"/>
              </a:rPr>
              <a:t>[</a:t>
            </a:r>
            <a:r>
              <a:rPr sz="1100" i="1" dirty="0">
                <a:solidFill>
                  <a:srgbClr val="0000FF"/>
                </a:solidFill>
                <a:latin typeface="LM Sans 10"/>
                <a:cs typeface="LM Sans 10"/>
              </a:rPr>
              <a:t>n</a:t>
            </a:r>
            <a:r>
              <a:rPr sz="1100" i="1" dirty="0">
                <a:solidFill>
                  <a:srgbClr val="0000FF"/>
                </a:solidFill>
                <a:latin typeface="LM Roman Dunhill 10"/>
                <a:cs typeface="LM Roman Dunhill 10"/>
              </a:rPr>
              <a:t>, </a:t>
            </a:r>
            <a:r>
              <a:rPr sz="1100" i="1" spc="-10" dirty="0">
                <a:solidFill>
                  <a:srgbClr val="0000FF"/>
                </a:solidFill>
                <a:latin typeface="LM Sans 10"/>
                <a:cs typeface="LM Sans 10"/>
              </a:rPr>
              <a:t>m </a:t>
            </a:r>
            <a:r>
              <a:rPr sz="1100" i="1" spc="15" dirty="0">
                <a:solidFill>
                  <a:srgbClr val="0000FF"/>
                </a:solidFill>
                <a:latin typeface="DejaVu Sans Condensed"/>
                <a:cs typeface="DejaVu Sans Condensed"/>
              </a:rPr>
              <a:t>− </a:t>
            </a:r>
            <a:r>
              <a:rPr sz="1100" spc="-5" dirty="0">
                <a:solidFill>
                  <a:srgbClr val="0000FF"/>
                </a:solidFill>
                <a:latin typeface="LM Sans 10"/>
                <a:cs typeface="LM Sans 10"/>
              </a:rPr>
              <a:t>1]</a:t>
            </a:r>
            <a:r>
              <a:rPr sz="1100" spc="10" dirty="0">
                <a:solidFill>
                  <a:srgbClr val="0000FF"/>
                </a:solidFill>
                <a:latin typeface="LM Sans 10"/>
                <a:cs typeface="LM Sans 10"/>
              </a:rPr>
              <a:t> </a:t>
            </a:r>
            <a:r>
              <a:rPr sz="1100" i="1" dirty="0">
                <a:solidFill>
                  <a:srgbClr val="0000FF"/>
                </a:solidFill>
                <a:latin typeface="LM Sans 10"/>
                <a:cs typeface="LM Sans 10"/>
              </a:rPr>
              <a:t>a</a:t>
            </a:r>
            <a:r>
              <a:rPr sz="1100" dirty="0">
                <a:solidFill>
                  <a:srgbClr val="0000FF"/>
                </a:solidFill>
                <a:latin typeface="LM Sans 10"/>
                <a:cs typeface="LM Sans 10"/>
              </a:rPr>
              <a:t>[</a:t>
            </a:r>
            <a:r>
              <a:rPr sz="1100" i="1" dirty="0">
                <a:solidFill>
                  <a:srgbClr val="0000FF"/>
                </a:solidFill>
                <a:latin typeface="LM Sans 10"/>
                <a:cs typeface="LM Sans 10"/>
              </a:rPr>
              <a:t>n</a:t>
            </a:r>
            <a:r>
              <a:rPr sz="1100" i="1" dirty="0">
                <a:solidFill>
                  <a:srgbClr val="0000FF"/>
                </a:solidFill>
                <a:latin typeface="LM Roman Dunhill 10"/>
                <a:cs typeface="LM Roman Dunhill 10"/>
              </a:rPr>
              <a:t>, </a:t>
            </a:r>
            <a:r>
              <a:rPr sz="1100" i="1" dirty="0">
                <a:solidFill>
                  <a:srgbClr val="0000FF"/>
                </a:solidFill>
                <a:latin typeface="LM Sans 10"/>
                <a:cs typeface="LM Sans 10"/>
              </a:rPr>
              <a:t>m</a:t>
            </a:r>
            <a:r>
              <a:rPr sz="1100" dirty="0">
                <a:solidFill>
                  <a:srgbClr val="0000FF"/>
                </a:solidFill>
                <a:latin typeface="LM Sans 10"/>
                <a:cs typeface="LM Sans 10"/>
              </a:rPr>
              <a:t>]</a:t>
            </a:r>
            <a:endParaRPr sz="1100">
              <a:latin typeface="LM Sans 10"/>
              <a:cs typeface="LM Sans 10"/>
            </a:endParaRPr>
          </a:p>
        </p:txBody>
      </p:sp>
      <p:sp>
        <p:nvSpPr>
          <p:cNvPr id="23" name="object 23"/>
          <p:cNvSpPr txBox="1"/>
          <p:nvPr/>
        </p:nvSpPr>
        <p:spPr>
          <a:xfrm>
            <a:off x="3664978" y="1026095"/>
            <a:ext cx="64135"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Roman Dunhill 10"/>
                <a:cs typeface="LM Roman Dunhill 10"/>
              </a:rPr>
              <a:t>,</a:t>
            </a:r>
            <a:endParaRPr sz="1100">
              <a:latin typeface="LM Roman Dunhill 10"/>
              <a:cs typeface="LM Roman Dunhill 10"/>
            </a:endParaRPr>
          </a:p>
        </p:txBody>
      </p:sp>
      <p:grpSp>
        <p:nvGrpSpPr>
          <p:cNvPr id="24" name="object 24"/>
          <p:cNvGrpSpPr/>
          <p:nvPr/>
        </p:nvGrpSpPr>
        <p:grpSpPr>
          <a:xfrm>
            <a:off x="309193" y="1870277"/>
            <a:ext cx="4242182" cy="1286612"/>
            <a:chOff x="309193" y="1870277"/>
            <a:chExt cx="4040404" cy="1286612"/>
          </a:xfrm>
        </p:grpSpPr>
        <p:sp>
          <p:nvSpPr>
            <p:cNvPr id="25" name="object 25"/>
            <p:cNvSpPr/>
            <p:nvPr/>
          </p:nvSpPr>
          <p:spPr>
            <a:xfrm>
              <a:off x="309193" y="1870277"/>
              <a:ext cx="3989704" cy="186690"/>
            </a:xfrm>
            <a:custGeom>
              <a:avLst/>
              <a:gdLst/>
              <a:ahLst/>
              <a:cxnLst/>
              <a:rect l="l" t="t" r="r" b="b"/>
              <a:pathLst>
                <a:path w="3989704" h="186689">
                  <a:moveTo>
                    <a:pt x="3938854" y="0"/>
                  </a:moveTo>
                  <a:lnTo>
                    <a:pt x="50800" y="0"/>
                  </a:lnTo>
                  <a:lnTo>
                    <a:pt x="31075" y="4008"/>
                  </a:lnTo>
                  <a:lnTo>
                    <a:pt x="14922" y="14922"/>
                  </a:lnTo>
                  <a:lnTo>
                    <a:pt x="4008" y="31075"/>
                  </a:lnTo>
                  <a:lnTo>
                    <a:pt x="0" y="50800"/>
                  </a:lnTo>
                  <a:lnTo>
                    <a:pt x="0" y="186558"/>
                  </a:lnTo>
                  <a:lnTo>
                    <a:pt x="3989654" y="186558"/>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26" name="object 26"/>
            <p:cNvSpPr/>
            <p:nvPr/>
          </p:nvSpPr>
          <p:spPr>
            <a:xfrm>
              <a:off x="309194" y="2044179"/>
              <a:ext cx="3989653" cy="50609"/>
            </a:xfrm>
            <a:prstGeom prst="rect">
              <a:avLst/>
            </a:prstGeom>
            <a:blipFill>
              <a:blip r:embed="rId2" cstate="print"/>
              <a:stretch>
                <a:fillRect/>
              </a:stretch>
            </a:blipFill>
          </p:spPr>
          <p:txBody>
            <a:bodyPr wrap="square" lIns="0" tIns="0" rIns="0" bIns="0" rtlCol="0"/>
            <a:lstStyle/>
            <a:p>
              <a:endParaRPr/>
            </a:p>
          </p:txBody>
        </p:sp>
        <p:sp>
          <p:nvSpPr>
            <p:cNvPr id="27" name="object 27"/>
            <p:cNvSpPr/>
            <p:nvPr/>
          </p:nvSpPr>
          <p:spPr>
            <a:xfrm>
              <a:off x="359994" y="3055289"/>
              <a:ext cx="101600" cy="101600"/>
            </a:xfrm>
            <a:prstGeom prst="rect">
              <a:avLst/>
            </a:prstGeom>
            <a:blipFill>
              <a:blip r:embed="rId3" cstate="print"/>
              <a:stretch>
                <a:fillRect/>
              </a:stretch>
            </a:blipFill>
          </p:spPr>
          <p:txBody>
            <a:bodyPr wrap="square" lIns="0" tIns="0" rIns="0" bIns="0" rtlCol="0"/>
            <a:lstStyle/>
            <a:p>
              <a:endParaRPr/>
            </a:p>
          </p:txBody>
        </p:sp>
        <p:sp>
          <p:nvSpPr>
            <p:cNvPr id="28" name="object 28"/>
            <p:cNvSpPr/>
            <p:nvPr/>
          </p:nvSpPr>
          <p:spPr>
            <a:xfrm>
              <a:off x="410794" y="3042589"/>
              <a:ext cx="3938802" cy="114300"/>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4298848" y="1914512"/>
              <a:ext cx="50749" cy="1140777"/>
            </a:xfrm>
            <a:prstGeom prst="rect">
              <a:avLst/>
            </a:prstGeom>
            <a:blipFill>
              <a:blip r:embed="rId5" cstate="print"/>
              <a:stretch>
                <a:fillRect/>
              </a:stretch>
            </a:blipFill>
          </p:spPr>
          <p:txBody>
            <a:bodyPr wrap="square" lIns="0" tIns="0" rIns="0" bIns="0" rtlCol="0"/>
            <a:lstStyle/>
            <a:p>
              <a:endParaRPr/>
            </a:p>
          </p:txBody>
        </p:sp>
        <p:sp>
          <p:nvSpPr>
            <p:cNvPr id="31" name="object 31"/>
            <p:cNvSpPr/>
            <p:nvPr/>
          </p:nvSpPr>
          <p:spPr>
            <a:xfrm>
              <a:off x="4298848" y="1952606"/>
              <a:ext cx="0" cy="1122045"/>
            </a:xfrm>
            <a:custGeom>
              <a:avLst/>
              <a:gdLst/>
              <a:ahLst/>
              <a:cxnLst/>
              <a:rect l="l" t="t" r="r" b="b"/>
              <a:pathLst>
                <a:path h="1122045">
                  <a:moveTo>
                    <a:pt x="0" y="1121733"/>
                  </a:moveTo>
                  <a:lnTo>
                    <a:pt x="0" y="0"/>
                  </a:lnTo>
                </a:path>
              </a:pathLst>
            </a:custGeom>
            <a:ln w="3175">
              <a:solidFill>
                <a:srgbClr val="7F7F7F"/>
              </a:solidFill>
            </a:ln>
          </p:spPr>
          <p:txBody>
            <a:bodyPr wrap="square" lIns="0" tIns="0" rIns="0" bIns="0" rtlCol="0"/>
            <a:lstStyle/>
            <a:p>
              <a:endParaRPr/>
            </a:p>
          </p:txBody>
        </p:sp>
        <p:sp>
          <p:nvSpPr>
            <p:cNvPr id="32" name="object 32"/>
            <p:cNvSpPr/>
            <p:nvPr/>
          </p:nvSpPr>
          <p:spPr>
            <a:xfrm>
              <a:off x="4298848" y="1939906"/>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33" name="object 33"/>
            <p:cNvSpPr/>
            <p:nvPr/>
          </p:nvSpPr>
          <p:spPr>
            <a:xfrm>
              <a:off x="4298848" y="1927206"/>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a:p>
          </p:txBody>
        </p:sp>
        <p:sp>
          <p:nvSpPr>
            <p:cNvPr id="34" name="object 34"/>
            <p:cNvSpPr/>
            <p:nvPr/>
          </p:nvSpPr>
          <p:spPr>
            <a:xfrm>
              <a:off x="4298848" y="1914506"/>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35" name="object 35"/>
          <p:cNvSpPr txBox="1"/>
          <p:nvPr/>
        </p:nvSpPr>
        <p:spPr>
          <a:xfrm>
            <a:off x="347294" y="1548432"/>
            <a:ext cx="2084705" cy="702310"/>
          </a:xfrm>
          <a:prstGeom prst="rect">
            <a:avLst/>
          </a:prstGeom>
        </p:spPr>
        <p:txBody>
          <a:bodyPr vert="horz" wrap="square" lIns="0" tIns="12700" rIns="0" bIns="0" rtlCol="0">
            <a:spAutoFit/>
          </a:bodyPr>
          <a:lstStyle/>
          <a:p>
            <a:pPr marL="12700" marR="5080" indent="92075">
              <a:lnSpc>
                <a:spcPct val="140500"/>
              </a:lnSpc>
              <a:spcBef>
                <a:spcPts val="100"/>
              </a:spcBef>
            </a:pPr>
            <a:r>
              <a:rPr sz="1100" spc="-5" dirty="0">
                <a:latin typeface="LM Sans 10"/>
                <a:cs typeface="LM Sans 10"/>
              </a:rPr>
              <a:t>which has </a:t>
            </a:r>
            <a:r>
              <a:rPr sz="1100" i="1" spc="-10" dirty="0">
                <a:latin typeface="LM Sans 10"/>
                <a:cs typeface="LM Sans 10"/>
              </a:rPr>
              <a:t>n </a:t>
            </a:r>
            <a:r>
              <a:rPr sz="1100" spc="-15" dirty="0">
                <a:latin typeface="LM Sans 10"/>
                <a:cs typeface="LM Sans 10"/>
              </a:rPr>
              <a:t>rows </a:t>
            </a:r>
            <a:r>
              <a:rPr sz="1100" spc="-10" dirty="0">
                <a:latin typeface="LM Sans 10"/>
                <a:cs typeface="LM Sans 10"/>
              </a:rPr>
              <a:t>and </a:t>
            </a:r>
            <a:r>
              <a:rPr sz="1100" i="1" spc="-10" dirty="0">
                <a:latin typeface="LM Sans 10"/>
                <a:cs typeface="LM Sans 10"/>
              </a:rPr>
              <a:t>m </a:t>
            </a:r>
            <a:r>
              <a:rPr sz="1100" spc="-5" dirty="0">
                <a:latin typeface="LM Sans 10"/>
                <a:cs typeface="LM Sans 10"/>
              </a:rPr>
              <a:t>columns.  </a:t>
            </a:r>
            <a:r>
              <a:rPr sz="1100" spc="-10" dirty="0">
                <a:solidFill>
                  <a:srgbClr val="FFFFFF"/>
                </a:solidFill>
                <a:latin typeface="LM Sans 10"/>
                <a:cs typeface="LM Sans 10"/>
              </a:rPr>
              <a:t>Example</a:t>
            </a:r>
            <a:endParaRPr sz="1100">
              <a:latin typeface="LM Sans 10"/>
              <a:cs typeface="LM Sans 10"/>
            </a:endParaRPr>
          </a:p>
          <a:p>
            <a:pPr marL="12700">
              <a:lnSpc>
                <a:spcPct val="100000"/>
              </a:lnSpc>
              <a:spcBef>
                <a:spcPts val="300"/>
              </a:spcBef>
            </a:pPr>
            <a:r>
              <a:rPr sz="1100" spc="-10" dirty="0">
                <a:latin typeface="LM Sans 10"/>
                <a:cs typeface="LM Sans 10"/>
              </a:rPr>
              <a:t>A </a:t>
            </a:r>
            <a:r>
              <a:rPr sz="1100" spc="-5" dirty="0">
                <a:latin typeface="LM Sans 10"/>
                <a:cs typeface="LM Sans 10"/>
              </a:rPr>
              <a:t>4 </a:t>
            </a:r>
            <a:r>
              <a:rPr sz="1100" i="1" spc="15" dirty="0">
                <a:latin typeface="DejaVu Sans Condensed"/>
                <a:cs typeface="DejaVu Sans Condensed"/>
              </a:rPr>
              <a:t>× </a:t>
            </a:r>
            <a:r>
              <a:rPr sz="1100" spc="-5" dirty="0">
                <a:latin typeface="LM Sans 10"/>
                <a:cs typeface="LM Sans 10"/>
              </a:rPr>
              <a:t>5</a:t>
            </a:r>
            <a:r>
              <a:rPr sz="1100" spc="-225" dirty="0">
                <a:latin typeface="LM Sans 10"/>
                <a:cs typeface="LM Sans 10"/>
              </a:rPr>
              <a:t> </a:t>
            </a:r>
            <a:r>
              <a:rPr sz="1100" spc="-5" dirty="0">
                <a:latin typeface="LM Sans 10"/>
                <a:cs typeface="LM Sans 10"/>
              </a:rPr>
              <a:t>matrix:</a:t>
            </a:r>
            <a:endParaRPr sz="1100">
              <a:latin typeface="LM Sans 10"/>
              <a:cs typeface="LM Sans 10"/>
            </a:endParaRPr>
          </a:p>
        </p:txBody>
      </p:sp>
      <p:sp>
        <p:nvSpPr>
          <p:cNvPr id="39" name="object 39"/>
          <p:cNvSpPr txBox="1"/>
          <p:nvPr/>
        </p:nvSpPr>
        <p:spPr>
          <a:xfrm>
            <a:off x="1530718" y="2342564"/>
            <a:ext cx="1232535" cy="708025"/>
          </a:xfrm>
          <a:prstGeom prst="rect">
            <a:avLst/>
          </a:prstGeom>
        </p:spPr>
        <p:txBody>
          <a:bodyPr vert="horz" wrap="square" lIns="0" tIns="11430" rIns="0" bIns="0" rtlCol="0">
            <a:spAutoFit/>
          </a:bodyPr>
          <a:lstStyle/>
          <a:p>
            <a:pPr marL="12700">
              <a:lnSpc>
                <a:spcPct val="100000"/>
              </a:lnSpc>
              <a:spcBef>
                <a:spcPts val="90"/>
              </a:spcBef>
              <a:tabLst>
                <a:tab pos="542290" algn="l"/>
                <a:tab pos="845819" algn="l"/>
                <a:tab pos="1149350" algn="l"/>
              </a:tabLst>
            </a:pPr>
            <a:r>
              <a:rPr sz="1100" spc="-5" dirty="0">
                <a:latin typeface="LM Sans 10"/>
                <a:cs typeface="LM Sans 10"/>
              </a:rPr>
              <a:t>12  </a:t>
            </a:r>
            <a:r>
              <a:rPr sz="1100" spc="-105" dirty="0">
                <a:latin typeface="LM Sans 10"/>
                <a:cs typeface="LM Sans 10"/>
              </a:rPr>
              <a:t> </a:t>
            </a:r>
            <a:r>
              <a:rPr sz="1100" spc="-5" dirty="0">
                <a:latin typeface="LM Sans 10"/>
                <a:cs typeface="LM Sans 10"/>
              </a:rPr>
              <a:t>8</a:t>
            </a:r>
            <a:r>
              <a:rPr sz="1100" dirty="0">
                <a:latin typeface="LM Sans 10"/>
                <a:cs typeface="LM Sans 10"/>
              </a:rPr>
              <a:t>	</a:t>
            </a:r>
            <a:r>
              <a:rPr sz="1100" spc="-5" dirty="0">
                <a:latin typeface="LM Sans 10"/>
                <a:cs typeface="LM Sans 10"/>
              </a:rPr>
              <a:t>9</a:t>
            </a:r>
            <a:r>
              <a:rPr sz="1100" dirty="0">
                <a:latin typeface="LM Sans 10"/>
                <a:cs typeface="LM Sans 10"/>
              </a:rPr>
              <a:t>	</a:t>
            </a:r>
            <a:r>
              <a:rPr sz="1100" spc="-5" dirty="0">
                <a:latin typeface="LM Sans 10"/>
                <a:cs typeface="LM Sans 10"/>
              </a:rPr>
              <a:t>7</a:t>
            </a:r>
            <a:r>
              <a:rPr sz="1100" dirty="0">
                <a:latin typeface="LM Sans 10"/>
                <a:cs typeface="LM Sans 10"/>
              </a:rPr>
              <a:t>	</a:t>
            </a:r>
            <a:r>
              <a:rPr sz="1100" spc="-5" dirty="0">
                <a:latin typeface="LM Sans 10"/>
                <a:cs typeface="LM Sans 10"/>
              </a:rPr>
              <a:t>6</a:t>
            </a:r>
            <a:endParaRPr sz="1100" dirty="0">
              <a:latin typeface="LM Sans 10"/>
              <a:cs typeface="LM Sans 10"/>
            </a:endParaRPr>
          </a:p>
          <a:p>
            <a:pPr marL="81915">
              <a:lnSpc>
                <a:spcPct val="100000"/>
              </a:lnSpc>
              <a:spcBef>
                <a:spcPts val="35"/>
              </a:spcBef>
              <a:tabLst>
                <a:tab pos="776605" algn="l"/>
                <a:tab pos="1149350" algn="l"/>
              </a:tabLst>
            </a:pPr>
            <a:r>
              <a:rPr sz="1100" spc="-5" dirty="0">
                <a:latin typeface="LM Sans 10"/>
                <a:cs typeface="LM Sans 10"/>
              </a:rPr>
              <a:t>7  </a:t>
            </a:r>
            <a:r>
              <a:rPr sz="1100" spc="-105" dirty="0">
                <a:latin typeface="LM Sans 10"/>
                <a:cs typeface="LM Sans 10"/>
              </a:rPr>
              <a:t> </a:t>
            </a:r>
            <a:r>
              <a:rPr sz="1100" spc="-5" dirty="0">
                <a:latin typeface="LM Sans 10"/>
                <a:cs typeface="LM Sans 10"/>
              </a:rPr>
              <a:t>6</a:t>
            </a:r>
            <a:r>
              <a:rPr sz="1100" dirty="0">
                <a:latin typeface="LM Sans 10"/>
                <a:cs typeface="LM Sans 10"/>
              </a:rPr>
              <a:t>  </a:t>
            </a:r>
            <a:r>
              <a:rPr sz="1100" spc="-105" dirty="0">
                <a:latin typeface="LM Sans 10"/>
                <a:cs typeface="LM Sans 10"/>
              </a:rPr>
              <a:t> </a:t>
            </a:r>
            <a:r>
              <a:rPr sz="1100" spc="-5" dirty="0">
                <a:latin typeface="LM Sans 10"/>
                <a:cs typeface="LM Sans 10"/>
              </a:rPr>
              <a:t>89</a:t>
            </a:r>
            <a:r>
              <a:rPr sz="1100" dirty="0">
                <a:latin typeface="LM Sans 10"/>
                <a:cs typeface="LM Sans 10"/>
              </a:rPr>
              <a:t>	</a:t>
            </a:r>
            <a:r>
              <a:rPr sz="1100" spc="-5" dirty="0">
                <a:latin typeface="LM Sans 10"/>
                <a:cs typeface="LM Sans 10"/>
              </a:rPr>
              <a:t>56</a:t>
            </a:r>
            <a:r>
              <a:rPr sz="1100" dirty="0">
                <a:latin typeface="LM Sans 10"/>
                <a:cs typeface="LM Sans 10"/>
              </a:rPr>
              <a:t>	</a:t>
            </a:r>
            <a:r>
              <a:rPr sz="1100" spc="-5" dirty="0">
                <a:latin typeface="LM Sans 10"/>
                <a:cs typeface="LM Sans 10"/>
              </a:rPr>
              <a:t>2</a:t>
            </a:r>
            <a:endParaRPr sz="1100" dirty="0">
              <a:latin typeface="LM Sans 10"/>
              <a:cs typeface="LM Sans 10"/>
            </a:endParaRPr>
          </a:p>
          <a:p>
            <a:pPr marL="81915">
              <a:lnSpc>
                <a:spcPct val="100000"/>
              </a:lnSpc>
              <a:spcBef>
                <a:spcPts val="35"/>
              </a:spcBef>
              <a:tabLst>
                <a:tab pos="542290" algn="l"/>
                <a:tab pos="845819" algn="l"/>
                <a:tab pos="1080135" algn="l"/>
              </a:tabLst>
            </a:pPr>
            <a:r>
              <a:rPr sz="1100" spc="-5" dirty="0">
                <a:latin typeface="LM Sans 10"/>
                <a:cs typeface="LM Sans 10"/>
              </a:rPr>
              <a:t>5  </a:t>
            </a:r>
            <a:r>
              <a:rPr sz="1100" spc="-105" dirty="0">
                <a:latin typeface="LM Sans 10"/>
                <a:cs typeface="LM Sans 10"/>
              </a:rPr>
              <a:t> </a:t>
            </a:r>
            <a:r>
              <a:rPr sz="1100" spc="-5" dirty="0">
                <a:latin typeface="LM Sans 10"/>
                <a:cs typeface="LM Sans 10"/>
              </a:rPr>
              <a:t>5</a:t>
            </a:r>
            <a:r>
              <a:rPr sz="1100" dirty="0">
                <a:latin typeface="LM Sans 10"/>
                <a:cs typeface="LM Sans 10"/>
              </a:rPr>
              <a:t>	</a:t>
            </a:r>
            <a:r>
              <a:rPr sz="1100" spc="-5" dirty="0">
                <a:latin typeface="LM Sans 10"/>
                <a:cs typeface="LM Sans 10"/>
              </a:rPr>
              <a:t>6</a:t>
            </a:r>
            <a:r>
              <a:rPr sz="1100" dirty="0">
                <a:latin typeface="LM Sans 10"/>
                <a:cs typeface="LM Sans 10"/>
              </a:rPr>
              <a:t>	</a:t>
            </a:r>
            <a:r>
              <a:rPr sz="1100" spc="-5" dirty="0">
                <a:latin typeface="LM Sans 10"/>
                <a:cs typeface="LM Sans 10"/>
              </a:rPr>
              <a:t>9</a:t>
            </a:r>
            <a:r>
              <a:rPr lang="en-US" sz="1100" spc="-5" dirty="0">
                <a:latin typeface="LM Sans 10"/>
                <a:cs typeface="LM Sans 10"/>
              </a:rPr>
              <a:t>  </a:t>
            </a:r>
            <a:r>
              <a:rPr sz="1100" spc="-5" dirty="0">
                <a:latin typeface="LM Sans 10"/>
                <a:cs typeface="LM Sans 10"/>
              </a:rPr>
              <a:t>10</a:t>
            </a:r>
            <a:endParaRPr sz="1100" dirty="0">
              <a:latin typeface="LM Sans 10"/>
              <a:cs typeface="LM Sans 10"/>
            </a:endParaRPr>
          </a:p>
          <a:p>
            <a:pPr marL="81915">
              <a:lnSpc>
                <a:spcPct val="100000"/>
              </a:lnSpc>
              <a:spcBef>
                <a:spcPts val="35"/>
              </a:spcBef>
              <a:tabLst>
                <a:tab pos="542290" algn="l"/>
              </a:tabLst>
            </a:pPr>
            <a:r>
              <a:rPr sz="1100" spc="-5" dirty="0">
                <a:latin typeface="LM Sans 10"/>
                <a:cs typeface="LM Sans 10"/>
              </a:rPr>
              <a:t>8 </a:t>
            </a:r>
            <a:r>
              <a:rPr sz="1100" spc="265" dirty="0">
                <a:latin typeface="LM Sans 10"/>
                <a:cs typeface="LM Sans 10"/>
              </a:rPr>
              <a:t> </a:t>
            </a:r>
            <a:r>
              <a:rPr sz="1100" spc="-5" dirty="0">
                <a:latin typeface="LM Sans 10"/>
                <a:cs typeface="LM Sans 10"/>
              </a:rPr>
              <a:t>6	0   </a:t>
            </a:r>
            <a:r>
              <a:rPr sz="1100" i="1" spc="5" dirty="0">
                <a:latin typeface="DejaVu Sans Condensed"/>
                <a:cs typeface="DejaVu Sans Condensed"/>
              </a:rPr>
              <a:t>−</a:t>
            </a:r>
            <a:r>
              <a:rPr sz="1100" spc="5" dirty="0">
                <a:latin typeface="LM Sans 10"/>
                <a:cs typeface="LM Sans 10"/>
              </a:rPr>
              <a:t>8 </a:t>
            </a:r>
            <a:r>
              <a:rPr sz="1100" spc="75" dirty="0">
                <a:latin typeface="LM Sans 10"/>
                <a:cs typeface="LM Sans 10"/>
              </a:rPr>
              <a:t> </a:t>
            </a:r>
            <a:r>
              <a:rPr sz="1100" i="1" spc="5" dirty="0">
                <a:latin typeface="DejaVu Sans Condensed"/>
                <a:cs typeface="DejaVu Sans Condensed"/>
              </a:rPr>
              <a:t>−</a:t>
            </a:r>
            <a:r>
              <a:rPr sz="1100" spc="5" dirty="0">
                <a:latin typeface="LM Sans 10"/>
                <a:cs typeface="LM Sans 10"/>
              </a:rPr>
              <a:t>1</a:t>
            </a:r>
            <a:endParaRPr sz="1100" dirty="0">
              <a:latin typeface="LM Sans 10"/>
              <a:cs typeface="LM Sans 10"/>
            </a:endParaRPr>
          </a:p>
        </p:txBody>
      </p:sp>
      <p:sp>
        <p:nvSpPr>
          <p:cNvPr id="44" name="object 44"/>
          <p:cNvSpPr txBox="1"/>
          <p:nvPr/>
        </p:nvSpPr>
        <p:spPr>
          <a:xfrm>
            <a:off x="2915970" y="2600895"/>
            <a:ext cx="64135" cy="191770"/>
          </a:xfrm>
          <a:prstGeom prst="rect">
            <a:avLst/>
          </a:prstGeom>
        </p:spPr>
        <p:txBody>
          <a:bodyPr vert="horz" wrap="square" lIns="0" tIns="11430" rIns="0" bIns="0" rtlCol="0">
            <a:spAutoFit/>
          </a:bodyPr>
          <a:lstStyle/>
          <a:p>
            <a:pPr marL="12700">
              <a:lnSpc>
                <a:spcPct val="100000"/>
              </a:lnSpc>
              <a:spcBef>
                <a:spcPts val="90"/>
              </a:spcBef>
            </a:pPr>
            <a:r>
              <a:rPr sz="1100" i="1" spc="-5" dirty="0">
                <a:latin typeface="LM Roman Dunhill 10"/>
                <a:cs typeface="LM Roman Dunhill 10"/>
              </a:rPr>
              <a:t>.</a:t>
            </a:r>
            <a:endParaRPr sz="1100">
              <a:latin typeface="LM Roman Dunhill 10"/>
              <a:cs typeface="LM Roman Dunhill 10"/>
            </a:endParaRPr>
          </a:p>
        </p:txBody>
      </p:sp>
      <p:grpSp>
        <p:nvGrpSpPr>
          <p:cNvPr id="45" name="object 45"/>
          <p:cNvGrpSpPr/>
          <p:nvPr/>
        </p:nvGrpSpPr>
        <p:grpSpPr>
          <a:xfrm>
            <a:off x="0" y="3342919"/>
            <a:ext cx="4608195" cy="113664"/>
            <a:chOff x="0" y="3342919"/>
            <a:chExt cx="4608195" cy="113664"/>
          </a:xfrm>
        </p:grpSpPr>
        <p:sp>
          <p:nvSpPr>
            <p:cNvPr id="46" name="object 4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47" name="object 4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48" name="object 48"/>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50" name="object 5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51" name="object 51"/>
          <p:cNvSpPr txBox="1"/>
          <p:nvPr/>
        </p:nvSpPr>
        <p:spPr>
          <a:xfrm>
            <a:off x="4277690" y="3349288"/>
            <a:ext cx="273685" cy="104139"/>
          </a:xfrm>
          <a:prstGeom prst="rect">
            <a:avLst/>
          </a:prstGeom>
        </p:spPr>
        <p:txBody>
          <a:bodyPr vert="horz" wrap="square" lIns="0" tIns="0" rIns="0" bIns="0" rtlCol="0">
            <a:spAutoFit/>
          </a:bodyPr>
          <a:lstStyle/>
          <a:p>
            <a:pPr marL="38100">
              <a:lnSpc>
                <a:spcPts val="685"/>
              </a:lnSpc>
            </a:pPr>
            <a:fld id="{81D60167-4931-47E6-BA6A-407CBD079E47}" type="slidenum">
              <a:rPr sz="600" b="1" spc="-5" dirty="0">
                <a:solidFill>
                  <a:srgbClr val="FFFFFF"/>
                </a:solidFill>
                <a:latin typeface="LM Sans 10"/>
                <a:cs typeface="LM Sans 10"/>
              </a:rPr>
              <a:t>7</a:t>
            </a:fld>
            <a:r>
              <a:rPr sz="600" b="1" spc="-5" dirty="0">
                <a:solidFill>
                  <a:srgbClr val="FFFFFF"/>
                </a:solidFill>
                <a:latin typeface="LM Sans 10"/>
                <a:cs typeface="LM Sans 10"/>
              </a:rPr>
              <a:t>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
        <p:nvSpPr>
          <p:cNvPr id="52" name="Left Bracket 51"/>
          <p:cNvSpPr/>
          <p:nvPr/>
        </p:nvSpPr>
        <p:spPr>
          <a:xfrm>
            <a:off x="933450" y="733652"/>
            <a:ext cx="125349" cy="77622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Right Bracket 52"/>
          <p:cNvSpPr/>
          <p:nvPr/>
        </p:nvSpPr>
        <p:spPr>
          <a:xfrm>
            <a:off x="3507320" y="733652"/>
            <a:ext cx="157658" cy="776605"/>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445688" cy="232756"/>
          </a:xfrm>
          <a:prstGeom prst="rect">
            <a:avLst/>
          </a:prstGeom>
        </p:spPr>
        <p:txBody>
          <a:bodyPr vert="horz" wrap="square" lIns="0" tIns="17145" rIns="0" bIns="0" rtlCol="0">
            <a:spAutoFit/>
          </a:bodyPr>
          <a:lstStyle/>
          <a:p>
            <a:pPr marL="12700">
              <a:lnSpc>
                <a:spcPct val="100000"/>
              </a:lnSpc>
              <a:spcBef>
                <a:spcPts val="135"/>
              </a:spcBef>
            </a:pPr>
            <a:r>
              <a:rPr spc="15" dirty="0"/>
              <a:t>Review </a:t>
            </a:r>
            <a:r>
              <a:rPr spc="10" dirty="0"/>
              <a:t>of Matrix</a:t>
            </a:r>
            <a:r>
              <a:rPr spc="-10" dirty="0"/>
              <a:t> </a:t>
            </a:r>
            <a:r>
              <a:rPr spc="10" dirty="0"/>
              <a:t>Multiplication</a:t>
            </a:r>
          </a:p>
        </p:txBody>
      </p:sp>
      <p:sp>
        <p:nvSpPr>
          <p:cNvPr id="3" name="object 3"/>
          <p:cNvSpPr txBox="1"/>
          <p:nvPr/>
        </p:nvSpPr>
        <p:spPr>
          <a:xfrm>
            <a:off x="347294" y="398207"/>
            <a:ext cx="3894454" cy="594360"/>
          </a:xfrm>
          <a:prstGeom prst="rect">
            <a:avLst/>
          </a:prstGeom>
        </p:spPr>
        <p:txBody>
          <a:bodyPr vert="horz" wrap="square" lIns="0" tIns="6985" rIns="0" bIns="0" rtlCol="0">
            <a:spAutoFit/>
          </a:bodyPr>
          <a:lstStyle/>
          <a:p>
            <a:pPr marL="12700" marR="5080">
              <a:lnSpc>
                <a:spcPct val="102699"/>
              </a:lnSpc>
              <a:spcBef>
                <a:spcPts val="55"/>
              </a:spcBef>
            </a:pPr>
            <a:r>
              <a:rPr sz="1100" spc="-10" dirty="0">
                <a:latin typeface="LM Sans 10"/>
                <a:cs typeface="LM Sans 10"/>
              </a:rPr>
              <a:t>The </a:t>
            </a:r>
            <a:r>
              <a:rPr sz="1100" spc="-5" dirty="0">
                <a:latin typeface="LM Sans 10"/>
                <a:cs typeface="LM Sans 10"/>
              </a:rPr>
              <a:t>product </a:t>
            </a:r>
            <a:r>
              <a:rPr sz="1100" i="1" spc="-10" dirty="0">
                <a:solidFill>
                  <a:srgbClr val="FF0000"/>
                </a:solidFill>
                <a:latin typeface="LM Sans 10"/>
                <a:cs typeface="LM Sans 10"/>
              </a:rPr>
              <a:t>C </a:t>
            </a:r>
            <a:r>
              <a:rPr sz="1100" spc="-10" dirty="0">
                <a:solidFill>
                  <a:srgbClr val="FF0000"/>
                </a:solidFill>
                <a:latin typeface="LM Sans 10"/>
                <a:cs typeface="LM Sans 10"/>
              </a:rPr>
              <a:t>= </a:t>
            </a:r>
            <a:r>
              <a:rPr sz="1100" i="1" spc="-10" dirty="0">
                <a:solidFill>
                  <a:srgbClr val="FF0000"/>
                </a:solidFill>
                <a:latin typeface="LM Sans 10"/>
                <a:cs typeface="LM Sans 10"/>
              </a:rPr>
              <a:t>AB </a:t>
            </a:r>
            <a:r>
              <a:rPr sz="1100" spc="-5" dirty="0">
                <a:latin typeface="LM Sans 10"/>
                <a:cs typeface="LM Sans 10"/>
              </a:rPr>
              <a:t>of </a:t>
            </a:r>
            <a:r>
              <a:rPr sz="1100" spc="-10" dirty="0">
                <a:latin typeface="LM Sans 10"/>
                <a:cs typeface="LM Sans 10"/>
              </a:rPr>
              <a:t>a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10" dirty="0">
                <a:solidFill>
                  <a:srgbClr val="0000FF"/>
                </a:solidFill>
                <a:latin typeface="LM Sans 10"/>
                <a:cs typeface="LM Sans 10"/>
              </a:rPr>
              <a:t>q </a:t>
            </a:r>
            <a:r>
              <a:rPr sz="1100" spc="-5" dirty="0">
                <a:latin typeface="LM Sans 10"/>
                <a:cs typeface="LM Sans 10"/>
              </a:rPr>
              <a:t>matrix </a:t>
            </a:r>
            <a:r>
              <a:rPr sz="1100" i="1" spc="-10" dirty="0">
                <a:latin typeface="LM Sans 10"/>
                <a:cs typeface="LM Sans 10"/>
              </a:rPr>
              <a:t>A </a:t>
            </a:r>
            <a:r>
              <a:rPr sz="1100" spc="-10" dirty="0">
                <a:latin typeface="LM Sans 10"/>
                <a:cs typeface="LM Sans 10"/>
              </a:rPr>
              <a:t>and a </a:t>
            </a:r>
            <a:r>
              <a:rPr sz="1100" i="1" spc="-10" dirty="0">
                <a:solidFill>
                  <a:srgbClr val="0000FF"/>
                </a:solidFill>
                <a:latin typeface="LM Sans 10"/>
                <a:cs typeface="LM Sans 10"/>
              </a:rPr>
              <a:t>q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B </a:t>
            </a:r>
            <a:r>
              <a:rPr sz="1100" spc="-5" dirty="0">
                <a:latin typeface="LM Sans 10"/>
                <a:cs typeface="LM Sans 10"/>
              </a:rPr>
              <a:t>is  </a:t>
            </a:r>
            <a:r>
              <a:rPr sz="1100" spc="-10" dirty="0">
                <a:latin typeface="LM Sans 10"/>
                <a:cs typeface="LM Sans 10"/>
              </a:rPr>
              <a:t>a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C </a:t>
            </a:r>
            <a:r>
              <a:rPr sz="1100" spc="-5" dirty="0">
                <a:latin typeface="LM Sans 10"/>
                <a:cs typeface="LM Sans 10"/>
              </a:rPr>
              <a:t>given</a:t>
            </a:r>
            <a:r>
              <a:rPr sz="1100" spc="80" dirty="0">
                <a:latin typeface="LM Sans 10"/>
                <a:cs typeface="LM Sans 10"/>
              </a:rPr>
              <a:t> </a:t>
            </a:r>
            <a:r>
              <a:rPr sz="1100" spc="-20" dirty="0">
                <a:latin typeface="LM Sans 10"/>
                <a:cs typeface="LM Sans 10"/>
              </a:rPr>
              <a:t>by</a:t>
            </a:r>
            <a:endParaRPr sz="1100">
              <a:latin typeface="LM Sans 10"/>
              <a:cs typeface="LM Sans 10"/>
            </a:endParaRPr>
          </a:p>
          <a:p>
            <a:pPr marL="906144">
              <a:lnSpc>
                <a:spcPct val="100000"/>
              </a:lnSpc>
              <a:spcBef>
                <a:spcPts val="850"/>
              </a:spcBef>
            </a:pPr>
            <a:r>
              <a:rPr sz="800" i="1" spc="-5" dirty="0">
                <a:latin typeface="LM Sans 8"/>
                <a:cs typeface="LM Sans 8"/>
              </a:rPr>
              <a:t>q</a:t>
            </a:r>
            <a:endParaRPr sz="800">
              <a:latin typeface="LM Sans 8"/>
              <a:cs typeface="LM Sans 8"/>
            </a:endParaRPr>
          </a:p>
        </p:txBody>
      </p:sp>
      <p:sp>
        <p:nvSpPr>
          <p:cNvPr id="4" name="object 4"/>
          <p:cNvSpPr txBox="1"/>
          <p:nvPr/>
        </p:nvSpPr>
        <p:spPr>
          <a:xfrm>
            <a:off x="1170711" y="1000833"/>
            <a:ext cx="226060" cy="191770"/>
          </a:xfrm>
          <a:prstGeom prst="rect">
            <a:avLst/>
          </a:prstGeom>
        </p:spPr>
        <p:txBody>
          <a:bodyPr vert="horz" wrap="square" lIns="0" tIns="11430" rIns="0" bIns="0" rtlCol="0">
            <a:spAutoFit/>
          </a:bodyPr>
          <a:lstStyle/>
          <a:p>
            <a:pPr marL="12700">
              <a:lnSpc>
                <a:spcPct val="100000"/>
              </a:lnSpc>
              <a:spcBef>
                <a:spcPts val="90"/>
              </a:spcBef>
            </a:pPr>
            <a:r>
              <a:rPr sz="1100" spc="894" dirty="0">
                <a:latin typeface="Arial"/>
                <a:cs typeface="Arial"/>
              </a:rPr>
              <a:t>Σ</a:t>
            </a:r>
            <a:endParaRPr sz="1100" dirty="0">
              <a:latin typeface="Arial"/>
              <a:cs typeface="Arial"/>
            </a:endParaRPr>
          </a:p>
        </p:txBody>
      </p:sp>
      <p:sp>
        <p:nvSpPr>
          <p:cNvPr id="5" name="object 5"/>
          <p:cNvSpPr txBox="1"/>
          <p:nvPr/>
        </p:nvSpPr>
        <p:spPr>
          <a:xfrm>
            <a:off x="675043" y="932807"/>
            <a:ext cx="3242945" cy="409575"/>
          </a:xfrm>
          <a:prstGeom prst="rect">
            <a:avLst/>
          </a:prstGeom>
        </p:spPr>
        <p:txBody>
          <a:bodyPr vert="horz" wrap="square" lIns="0" tIns="67310" rIns="0" bIns="0" rtlCol="0">
            <a:spAutoFit/>
          </a:bodyPr>
          <a:lstStyle/>
          <a:p>
            <a:pPr marL="12700">
              <a:lnSpc>
                <a:spcPct val="100000"/>
              </a:lnSpc>
              <a:spcBef>
                <a:spcPts val="530"/>
              </a:spcBef>
              <a:tabLst>
                <a:tab pos="731520" algn="l"/>
                <a:tab pos="1628775" algn="l"/>
              </a:tabLst>
            </a:pPr>
            <a:r>
              <a:rPr sz="1100" i="1" spc="45" dirty="0">
                <a:latin typeface="LM Sans 10"/>
                <a:cs typeface="LM Sans 10"/>
              </a:rPr>
              <a:t>c</a:t>
            </a:r>
            <a:r>
              <a:rPr sz="1100" spc="45" dirty="0">
                <a:latin typeface="LM Sans 10"/>
                <a:cs typeface="LM Sans 10"/>
              </a:rPr>
              <a:t>[</a:t>
            </a:r>
            <a:r>
              <a:rPr sz="1100" i="1" spc="45" dirty="0">
                <a:latin typeface="LM Sans 10"/>
                <a:cs typeface="LM Sans 10"/>
              </a:rPr>
              <a:t>i</a:t>
            </a:r>
            <a:r>
              <a:rPr sz="1100" i="1" spc="4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	</a:t>
            </a:r>
            <a:r>
              <a:rPr sz="1100" i="1" spc="20" dirty="0">
                <a:latin typeface="LM Sans 10"/>
                <a:cs typeface="LM Sans 10"/>
              </a:rPr>
              <a:t>a</a:t>
            </a:r>
            <a:r>
              <a:rPr sz="1100" spc="20" dirty="0">
                <a:latin typeface="LM Sans 10"/>
                <a:cs typeface="LM Sans 10"/>
              </a:rPr>
              <a:t>[</a:t>
            </a:r>
            <a:r>
              <a:rPr sz="1100" i="1" spc="20" dirty="0">
                <a:latin typeface="LM Sans 10"/>
                <a:cs typeface="LM Sans 10"/>
              </a:rPr>
              <a:t>i</a:t>
            </a:r>
            <a:r>
              <a:rPr sz="1100" i="1" spc="20" dirty="0">
                <a:latin typeface="LM Roman Dunhill 10"/>
                <a:cs typeface="LM Roman Dunhill 10"/>
              </a:rPr>
              <a:t>,</a:t>
            </a:r>
            <a:r>
              <a:rPr sz="1100" i="1" spc="-185" dirty="0">
                <a:latin typeface="LM Roman Dunhill 10"/>
                <a:cs typeface="LM Roman Dunhill 10"/>
              </a:rPr>
              <a:t> </a:t>
            </a:r>
            <a:r>
              <a:rPr sz="1100" i="1" spc="30" dirty="0">
                <a:latin typeface="LM Sans 10"/>
                <a:cs typeface="LM Sans 10"/>
              </a:rPr>
              <a:t>k</a:t>
            </a:r>
            <a:r>
              <a:rPr sz="1100" spc="30" dirty="0">
                <a:latin typeface="LM Sans 10"/>
                <a:cs typeface="LM Sans 10"/>
              </a:rPr>
              <a:t>]</a:t>
            </a:r>
            <a:r>
              <a:rPr sz="1100" i="1" spc="30" dirty="0">
                <a:latin typeface="LM Sans 10"/>
                <a:cs typeface="LM Sans 10"/>
              </a:rPr>
              <a:t>b</a:t>
            </a:r>
            <a:r>
              <a:rPr sz="1100" spc="30" dirty="0">
                <a:latin typeface="LM Sans 10"/>
                <a:cs typeface="LM Sans 10"/>
              </a:rPr>
              <a:t>[</a:t>
            </a:r>
            <a:r>
              <a:rPr sz="1100" i="1" spc="30" dirty="0">
                <a:latin typeface="LM Sans 10"/>
                <a:cs typeface="LM Sans 10"/>
              </a:rPr>
              <a:t>k</a:t>
            </a:r>
            <a:r>
              <a:rPr sz="1100" i="1" spc="30" dirty="0">
                <a:latin typeface="LM Roman Dunhill 10"/>
                <a:cs typeface="LM Roman Dunhill 10"/>
              </a:rPr>
              <a:t>,</a:t>
            </a:r>
            <a:r>
              <a:rPr sz="1100" i="1" spc="-18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i="1" spc="-5" dirty="0">
                <a:latin typeface="LM Roman Dunhill 10"/>
                <a:cs typeface="LM Roman Dunhill 10"/>
              </a:rPr>
              <a:t>,	</a:t>
            </a:r>
            <a:r>
              <a:rPr sz="1100" spc="-15" dirty="0">
                <a:latin typeface="LM Sans 10"/>
                <a:cs typeface="LM Sans 10"/>
              </a:rPr>
              <a:t>for </a:t>
            </a:r>
            <a:r>
              <a:rPr sz="1100" spc="-5" dirty="0">
                <a:latin typeface="LM Sans 10"/>
                <a:cs typeface="LM Sans 10"/>
              </a:rPr>
              <a:t>1 </a:t>
            </a:r>
            <a:r>
              <a:rPr sz="1100" i="1" spc="15" dirty="0">
                <a:latin typeface="DejaVu Sans Condensed"/>
                <a:cs typeface="DejaVu Sans Condensed"/>
              </a:rPr>
              <a:t>≤ </a:t>
            </a:r>
            <a:r>
              <a:rPr sz="1100" i="1" spc="-5" dirty="0">
                <a:latin typeface="LM Sans 10"/>
                <a:cs typeface="LM Sans 10"/>
              </a:rPr>
              <a:t>i </a:t>
            </a:r>
            <a:r>
              <a:rPr sz="1100" i="1" spc="15" dirty="0">
                <a:latin typeface="DejaVu Sans Condensed"/>
                <a:cs typeface="DejaVu Sans Condensed"/>
              </a:rPr>
              <a:t>≤ </a:t>
            </a:r>
            <a:r>
              <a:rPr sz="1100" i="1" spc="-10" dirty="0">
                <a:latin typeface="LM Sans 10"/>
                <a:cs typeface="LM Sans 10"/>
              </a:rPr>
              <a:t>p </a:t>
            </a:r>
            <a:r>
              <a:rPr sz="1100" spc="-10" dirty="0">
                <a:latin typeface="LM Sans 10"/>
                <a:cs typeface="LM Sans 10"/>
              </a:rPr>
              <a:t>and </a:t>
            </a:r>
            <a:r>
              <a:rPr sz="1100" spc="-5" dirty="0">
                <a:latin typeface="LM Sans 10"/>
                <a:cs typeface="LM Sans 10"/>
              </a:rPr>
              <a:t>1 </a:t>
            </a:r>
            <a:r>
              <a:rPr sz="1100" i="1" spc="15" dirty="0">
                <a:latin typeface="DejaVu Sans Condensed"/>
                <a:cs typeface="DejaVu Sans Condensed"/>
              </a:rPr>
              <a:t>≤ </a:t>
            </a:r>
            <a:r>
              <a:rPr sz="1100" i="1" spc="-5" dirty="0">
                <a:latin typeface="LM Sans 10"/>
                <a:cs typeface="LM Sans 10"/>
              </a:rPr>
              <a:t>j </a:t>
            </a:r>
            <a:r>
              <a:rPr sz="1100" i="1" spc="15" dirty="0">
                <a:latin typeface="DejaVu Sans Condensed"/>
                <a:cs typeface="DejaVu Sans Condensed"/>
              </a:rPr>
              <a:t>≤</a:t>
            </a:r>
            <a:r>
              <a:rPr sz="1100" i="1" spc="-135" dirty="0">
                <a:latin typeface="DejaVu Sans Condensed"/>
                <a:cs typeface="DejaVu Sans Condensed"/>
              </a:rPr>
              <a:t> </a:t>
            </a:r>
            <a:r>
              <a:rPr sz="1100" i="1" spc="-5" dirty="0">
                <a:latin typeface="LM Sans 10"/>
                <a:cs typeface="LM Sans 10"/>
              </a:rPr>
              <a:t>r</a:t>
            </a:r>
            <a:endParaRPr sz="1100">
              <a:latin typeface="LM Sans 10"/>
              <a:cs typeface="LM Sans 10"/>
            </a:endParaRPr>
          </a:p>
          <a:p>
            <a:pPr marL="508634">
              <a:lnSpc>
                <a:spcPct val="100000"/>
              </a:lnSpc>
              <a:spcBef>
                <a:spcPts val="315"/>
              </a:spcBef>
            </a:pPr>
            <a:r>
              <a:rPr sz="800" i="1" spc="15" dirty="0">
                <a:latin typeface="LM Sans 8"/>
                <a:cs typeface="LM Sans 8"/>
              </a:rPr>
              <a:t>k</a:t>
            </a:r>
            <a:r>
              <a:rPr sz="800" spc="15" dirty="0">
                <a:latin typeface="LM Sans 8"/>
                <a:cs typeface="LM Sans 8"/>
              </a:rPr>
              <a:t>=1</a:t>
            </a:r>
            <a:endParaRPr sz="800">
              <a:latin typeface="LM Sans 8"/>
              <a:cs typeface="LM Sans 8"/>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2" name="object 12"/>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4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376805" cy="244475"/>
          </a:xfrm>
          <a:prstGeom prst="rect">
            <a:avLst/>
          </a:prstGeom>
        </p:spPr>
        <p:txBody>
          <a:bodyPr vert="horz" wrap="square" lIns="0" tIns="17145" rIns="0" bIns="0" rtlCol="0">
            <a:spAutoFit/>
          </a:bodyPr>
          <a:lstStyle/>
          <a:p>
            <a:pPr marL="12700">
              <a:lnSpc>
                <a:spcPct val="100000"/>
              </a:lnSpc>
              <a:spcBef>
                <a:spcPts val="135"/>
              </a:spcBef>
            </a:pPr>
            <a:r>
              <a:rPr spc="15" dirty="0"/>
              <a:t>Review </a:t>
            </a:r>
            <a:r>
              <a:rPr spc="10" dirty="0"/>
              <a:t>of Matrix</a:t>
            </a:r>
            <a:r>
              <a:rPr spc="-10" dirty="0"/>
              <a:t> </a:t>
            </a:r>
            <a:r>
              <a:rPr spc="10" dirty="0"/>
              <a:t>Multiplication</a:t>
            </a:r>
          </a:p>
        </p:txBody>
      </p:sp>
      <p:sp>
        <p:nvSpPr>
          <p:cNvPr id="3" name="object 3"/>
          <p:cNvSpPr txBox="1"/>
          <p:nvPr/>
        </p:nvSpPr>
        <p:spPr>
          <a:xfrm>
            <a:off x="347294" y="398207"/>
            <a:ext cx="3894454" cy="594360"/>
          </a:xfrm>
          <a:prstGeom prst="rect">
            <a:avLst/>
          </a:prstGeom>
        </p:spPr>
        <p:txBody>
          <a:bodyPr vert="horz" wrap="square" lIns="0" tIns="6985" rIns="0" bIns="0" rtlCol="0">
            <a:spAutoFit/>
          </a:bodyPr>
          <a:lstStyle/>
          <a:p>
            <a:pPr marL="12700" marR="5080">
              <a:lnSpc>
                <a:spcPct val="102699"/>
              </a:lnSpc>
              <a:spcBef>
                <a:spcPts val="55"/>
              </a:spcBef>
            </a:pPr>
            <a:r>
              <a:rPr sz="1100" spc="-10" dirty="0">
                <a:latin typeface="LM Sans 10"/>
                <a:cs typeface="LM Sans 10"/>
              </a:rPr>
              <a:t>The </a:t>
            </a:r>
            <a:r>
              <a:rPr sz="1100" spc="-5" dirty="0">
                <a:latin typeface="LM Sans 10"/>
                <a:cs typeface="LM Sans 10"/>
              </a:rPr>
              <a:t>product </a:t>
            </a:r>
            <a:r>
              <a:rPr sz="1100" i="1" spc="-10" dirty="0">
                <a:solidFill>
                  <a:srgbClr val="FF0000"/>
                </a:solidFill>
                <a:latin typeface="LM Sans 10"/>
                <a:cs typeface="LM Sans 10"/>
              </a:rPr>
              <a:t>C </a:t>
            </a:r>
            <a:r>
              <a:rPr sz="1100" spc="-10" dirty="0">
                <a:solidFill>
                  <a:srgbClr val="FF0000"/>
                </a:solidFill>
                <a:latin typeface="LM Sans 10"/>
                <a:cs typeface="LM Sans 10"/>
              </a:rPr>
              <a:t>= </a:t>
            </a:r>
            <a:r>
              <a:rPr sz="1100" i="1" spc="-10" dirty="0">
                <a:solidFill>
                  <a:srgbClr val="FF0000"/>
                </a:solidFill>
                <a:latin typeface="LM Sans 10"/>
                <a:cs typeface="LM Sans 10"/>
              </a:rPr>
              <a:t>AB </a:t>
            </a:r>
            <a:r>
              <a:rPr sz="1100" spc="-5" dirty="0">
                <a:latin typeface="LM Sans 10"/>
                <a:cs typeface="LM Sans 10"/>
              </a:rPr>
              <a:t>of </a:t>
            </a:r>
            <a:r>
              <a:rPr sz="1100" spc="-10" dirty="0">
                <a:latin typeface="LM Sans 10"/>
                <a:cs typeface="LM Sans 10"/>
              </a:rPr>
              <a:t>a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10" dirty="0">
                <a:solidFill>
                  <a:srgbClr val="0000FF"/>
                </a:solidFill>
                <a:latin typeface="LM Sans 10"/>
                <a:cs typeface="LM Sans 10"/>
              </a:rPr>
              <a:t>q </a:t>
            </a:r>
            <a:r>
              <a:rPr sz="1100" spc="-5" dirty="0">
                <a:latin typeface="LM Sans 10"/>
                <a:cs typeface="LM Sans 10"/>
              </a:rPr>
              <a:t>matrix </a:t>
            </a:r>
            <a:r>
              <a:rPr sz="1100" i="1" spc="-10" dirty="0">
                <a:latin typeface="LM Sans 10"/>
                <a:cs typeface="LM Sans 10"/>
              </a:rPr>
              <a:t>A </a:t>
            </a:r>
            <a:r>
              <a:rPr sz="1100" spc="-10" dirty="0">
                <a:latin typeface="LM Sans 10"/>
                <a:cs typeface="LM Sans 10"/>
              </a:rPr>
              <a:t>and a </a:t>
            </a:r>
            <a:r>
              <a:rPr sz="1100" i="1" spc="-10" dirty="0">
                <a:solidFill>
                  <a:srgbClr val="0000FF"/>
                </a:solidFill>
                <a:latin typeface="LM Sans 10"/>
                <a:cs typeface="LM Sans 10"/>
              </a:rPr>
              <a:t>q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B </a:t>
            </a:r>
            <a:r>
              <a:rPr sz="1100" spc="-5" dirty="0">
                <a:latin typeface="LM Sans 10"/>
                <a:cs typeface="LM Sans 10"/>
              </a:rPr>
              <a:t>is  </a:t>
            </a:r>
            <a:r>
              <a:rPr sz="1100" spc="-10" dirty="0">
                <a:latin typeface="LM Sans 10"/>
                <a:cs typeface="LM Sans 10"/>
              </a:rPr>
              <a:t>a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C </a:t>
            </a:r>
            <a:r>
              <a:rPr sz="1100" spc="-5" dirty="0">
                <a:latin typeface="LM Sans 10"/>
                <a:cs typeface="LM Sans 10"/>
              </a:rPr>
              <a:t>given</a:t>
            </a:r>
            <a:r>
              <a:rPr sz="1100" spc="80" dirty="0">
                <a:latin typeface="LM Sans 10"/>
                <a:cs typeface="LM Sans 10"/>
              </a:rPr>
              <a:t> </a:t>
            </a:r>
            <a:r>
              <a:rPr sz="1100" spc="-20" dirty="0">
                <a:latin typeface="LM Sans 10"/>
                <a:cs typeface="LM Sans 10"/>
              </a:rPr>
              <a:t>by</a:t>
            </a:r>
            <a:endParaRPr sz="1100">
              <a:latin typeface="LM Sans 10"/>
              <a:cs typeface="LM Sans 10"/>
            </a:endParaRPr>
          </a:p>
          <a:p>
            <a:pPr marL="906144">
              <a:lnSpc>
                <a:spcPct val="100000"/>
              </a:lnSpc>
              <a:spcBef>
                <a:spcPts val="850"/>
              </a:spcBef>
            </a:pPr>
            <a:r>
              <a:rPr sz="800" i="1" spc="-5" dirty="0">
                <a:latin typeface="LM Sans 8"/>
                <a:cs typeface="LM Sans 8"/>
              </a:rPr>
              <a:t>q</a:t>
            </a:r>
            <a:endParaRPr sz="800">
              <a:latin typeface="LM Sans 8"/>
              <a:cs typeface="LM Sans 8"/>
            </a:endParaRPr>
          </a:p>
        </p:txBody>
      </p:sp>
      <p:sp>
        <p:nvSpPr>
          <p:cNvPr id="4" name="object 4"/>
          <p:cNvSpPr txBox="1"/>
          <p:nvPr/>
        </p:nvSpPr>
        <p:spPr>
          <a:xfrm>
            <a:off x="1170711" y="1041709"/>
            <a:ext cx="226060" cy="191770"/>
          </a:xfrm>
          <a:prstGeom prst="rect">
            <a:avLst/>
          </a:prstGeom>
        </p:spPr>
        <p:txBody>
          <a:bodyPr vert="horz" wrap="square" lIns="0" tIns="11430" rIns="0" bIns="0" rtlCol="0">
            <a:spAutoFit/>
          </a:bodyPr>
          <a:lstStyle/>
          <a:p>
            <a:pPr marL="12700">
              <a:lnSpc>
                <a:spcPct val="100000"/>
              </a:lnSpc>
              <a:spcBef>
                <a:spcPts val="90"/>
              </a:spcBef>
            </a:pPr>
            <a:r>
              <a:rPr sz="1100" spc="894" dirty="0">
                <a:latin typeface="Arial"/>
                <a:cs typeface="Arial"/>
              </a:rPr>
              <a:t>Σ</a:t>
            </a:r>
            <a:endParaRPr sz="1100" dirty="0">
              <a:latin typeface="Arial"/>
              <a:cs typeface="Arial"/>
            </a:endParaRPr>
          </a:p>
        </p:txBody>
      </p:sp>
      <p:sp>
        <p:nvSpPr>
          <p:cNvPr id="5" name="object 5"/>
          <p:cNvSpPr txBox="1"/>
          <p:nvPr/>
        </p:nvSpPr>
        <p:spPr>
          <a:xfrm>
            <a:off x="675043" y="932807"/>
            <a:ext cx="3242945" cy="409575"/>
          </a:xfrm>
          <a:prstGeom prst="rect">
            <a:avLst/>
          </a:prstGeom>
        </p:spPr>
        <p:txBody>
          <a:bodyPr vert="horz" wrap="square" lIns="0" tIns="67310" rIns="0" bIns="0" rtlCol="0">
            <a:spAutoFit/>
          </a:bodyPr>
          <a:lstStyle/>
          <a:p>
            <a:pPr marL="12700">
              <a:lnSpc>
                <a:spcPct val="100000"/>
              </a:lnSpc>
              <a:spcBef>
                <a:spcPts val="530"/>
              </a:spcBef>
              <a:tabLst>
                <a:tab pos="731520" algn="l"/>
                <a:tab pos="1628775" algn="l"/>
              </a:tabLst>
            </a:pPr>
            <a:r>
              <a:rPr sz="1100" i="1" spc="45" dirty="0">
                <a:latin typeface="LM Sans 10"/>
                <a:cs typeface="LM Sans 10"/>
              </a:rPr>
              <a:t>c</a:t>
            </a:r>
            <a:r>
              <a:rPr sz="1100" spc="45" dirty="0">
                <a:latin typeface="LM Sans 10"/>
                <a:cs typeface="LM Sans 10"/>
              </a:rPr>
              <a:t>[</a:t>
            </a:r>
            <a:r>
              <a:rPr sz="1100" i="1" spc="45" dirty="0">
                <a:latin typeface="LM Sans 10"/>
                <a:cs typeface="LM Sans 10"/>
              </a:rPr>
              <a:t>i</a:t>
            </a:r>
            <a:r>
              <a:rPr sz="1100" i="1" spc="4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	</a:t>
            </a:r>
            <a:r>
              <a:rPr sz="1100" i="1" spc="20" dirty="0">
                <a:latin typeface="LM Sans 10"/>
                <a:cs typeface="LM Sans 10"/>
              </a:rPr>
              <a:t>a</a:t>
            </a:r>
            <a:r>
              <a:rPr sz="1100" spc="20" dirty="0">
                <a:latin typeface="LM Sans 10"/>
                <a:cs typeface="LM Sans 10"/>
              </a:rPr>
              <a:t>[</a:t>
            </a:r>
            <a:r>
              <a:rPr sz="1100" i="1" spc="20" dirty="0">
                <a:latin typeface="LM Sans 10"/>
                <a:cs typeface="LM Sans 10"/>
              </a:rPr>
              <a:t>i</a:t>
            </a:r>
            <a:r>
              <a:rPr sz="1100" i="1" spc="20" dirty="0">
                <a:latin typeface="LM Roman Dunhill 10"/>
                <a:cs typeface="LM Roman Dunhill 10"/>
              </a:rPr>
              <a:t>,</a:t>
            </a:r>
            <a:r>
              <a:rPr sz="1100" i="1" spc="-185" dirty="0">
                <a:latin typeface="LM Roman Dunhill 10"/>
                <a:cs typeface="LM Roman Dunhill 10"/>
              </a:rPr>
              <a:t> </a:t>
            </a:r>
            <a:r>
              <a:rPr sz="1100" i="1" spc="30" dirty="0">
                <a:latin typeface="LM Sans 10"/>
                <a:cs typeface="LM Sans 10"/>
              </a:rPr>
              <a:t>k</a:t>
            </a:r>
            <a:r>
              <a:rPr sz="1100" spc="30" dirty="0">
                <a:latin typeface="LM Sans 10"/>
                <a:cs typeface="LM Sans 10"/>
              </a:rPr>
              <a:t>]</a:t>
            </a:r>
            <a:r>
              <a:rPr sz="1100" i="1" spc="30" dirty="0">
                <a:latin typeface="LM Sans 10"/>
                <a:cs typeface="LM Sans 10"/>
              </a:rPr>
              <a:t>b</a:t>
            </a:r>
            <a:r>
              <a:rPr sz="1100" spc="30" dirty="0">
                <a:latin typeface="LM Sans 10"/>
                <a:cs typeface="LM Sans 10"/>
              </a:rPr>
              <a:t>[</a:t>
            </a:r>
            <a:r>
              <a:rPr sz="1100" i="1" spc="30" dirty="0">
                <a:latin typeface="LM Sans 10"/>
                <a:cs typeface="LM Sans 10"/>
              </a:rPr>
              <a:t>k</a:t>
            </a:r>
            <a:r>
              <a:rPr sz="1100" i="1" spc="30" dirty="0">
                <a:latin typeface="LM Roman Dunhill 10"/>
                <a:cs typeface="LM Roman Dunhill 10"/>
              </a:rPr>
              <a:t>,</a:t>
            </a:r>
            <a:r>
              <a:rPr sz="1100" i="1" spc="-18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i="1" spc="-5" dirty="0">
                <a:latin typeface="LM Roman Dunhill 10"/>
                <a:cs typeface="LM Roman Dunhill 10"/>
              </a:rPr>
              <a:t>,	</a:t>
            </a:r>
            <a:r>
              <a:rPr sz="1100" spc="-15" dirty="0">
                <a:latin typeface="LM Sans 10"/>
                <a:cs typeface="LM Sans 10"/>
              </a:rPr>
              <a:t>for </a:t>
            </a:r>
            <a:r>
              <a:rPr sz="1100" spc="-5" dirty="0">
                <a:latin typeface="LM Sans 10"/>
                <a:cs typeface="LM Sans 10"/>
              </a:rPr>
              <a:t>1 </a:t>
            </a:r>
            <a:r>
              <a:rPr sz="1100" i="1" spc="15" dirty="0">
                <a:latin typeface="DejaVu Sans Condensed"/>
                <a:cs typeface="DejaVu Sans Condensed"/>
              </a:rPr>
              <a:t>≤ </a:t>
            </a:r>
            <a:r>
              <a:rPr sz="1100" i="1" spc="-5" dirty="0">
                <a:latin typeface="LM Sans 10"/>
                <a:cs typeface="LM Sans 10"/>
              </a:rPr>
              <a:t>i </a:t>
            </a:r>
            <a:r>
              <a:rPr sz="1100" i="1" spc="15" dirty="0">
                <a:latin typeface="DejaVu Sans Condensed"/>
                <a:cs typeface="DejaVu Sans Condensed"/>
              </a:rPr>
              <a:t>≤ </a:t>
            </a:r>
            <a:r>
              <a:rPr sz="1100" i="1" spc="-10" dirty="0">
                <a:latin typeface="LM Sans 10"/>
                <a:cs typeface="LM Sans 10"/>
              </a:rPr>
              <a:t>p </a:t>
            </a:r>
            <a:r>
              <a:rPr sz="1100" spc="-10" dirty="0">
                <a:latin typeface="LM Sans 10"/>
                <a:cs typeface="LM Sans 10"/>
              </a:rPr>
              <a:t>and </a:t>
            </a:r>
            <a:r>
              <a:rPr sz="1100" spc="-5" dirty="0">
                <a:latin typeface="LM Sans 10"/>
                <a:cs typeface="LM Sans 10"/>
              </a:rPr>
              <a:t>1 </a:t>
            </a:r>
            <a:r>
              <a:rPr sz="1100" i="1" spc="15" dirty="0">
                <a:latin typeface="DejaVu Sans Condensed"/>
                <a:cs typeface="DejaVu Sans Condensed"/>
              </a:rPr>
              <a:t>≤ </a:t>
            </a:r>
            <a:r>
              <a:rPr sz="1100" i="1" spc="-5" dirty="0">
                <a:latin typeface="LM Sans 10"/>
                <a:cs typeface="LM Sans 10"/>
              </a:rPr>
              <a:t>j </a:t>
            </a:r>
            <a:r>
              <a:rPr sz="1100" i="1" spc="15" dirty="0">
                <a:latin typeface="DejaVu Sans Condensed"/>
                <a:cs typeface="DejaVu Sans Condensed"/>
              </a:rPr>
              <a:t>≤</a:t>
            </a:r>
            <a:r>
              <a:rPr sz="1100" i="1" spc="-135" dirty="0">
                <a:latin typeface="DejaVu Sans Condensed"/>
                <a:cs typeface="DejaVu Sans Condensed"/>
              </a:rPr>
              <a:t> </a:t>
            </a:r>
            <a:r>
              <a:rPr sz="1100" i="1" spc="-5" dirty="0">
                <a:latin typeface="LM Sans 10"/>
                <a:cs typeface="LM Sans 10"/>
              </a:rPr>
              <a:t>r</a:t>
            </a:r>
            <a:endParaRPr sz="1100">
              <a:latin typeface="LM Sans 10"/>
              <a:cs typeface="LM Sans 10"/>
            </a:endParaRPr>
          </a:p>
          <a:p>
            <a:pPr marL="508634">
              <a:lnSpc>
                <a:spcPct val="100000"/>
              </a:lnSpc>
              <a:spcBef>
                <a:spcPts val="315"/>
              </a:spcBef>
            </a:pPr>
            <a:r>
              <a:rPr sz="800" i="1" spc="15" dirty="0">
                <a:latin typeface="LM Sans 8"/>
                <a:cs typeface="LM Sans 8"/>
              </a:rPr>
              <a:t>k</a:t>
            </a:r>
            <a:r>
              <a:rPr sz="800" spc="15" dirty="0">
                <a:latin typeface="LM Sans 8"/>
                <a:cs typeface="LM Sans 8"/>
              </a:rPr>
              <a:t>=1</a:t>
            </a:r>
            <a:endParaRPr sz="800">
              <a:latin typeface="LM Sans 8"/>
              <a:cs typeface="LM Sans 8"/>
            </a:endParaRPr>
          </a:p>
        </p:txBody>
      </p:sp>
      <p:sp>
        <p:nvSpPr>
          <p:cNvPr id="6" name="object 6"/>
          <p:cNvSpPr txBox="1"/>
          <p:nvPr/>
        </p:nvSpPr>
        <p:spPr>
          <a:xfrm>
            <a:off x="347294" y="1495792"/>
            <a:ext cx="3848735" cy="535940"/>
          </a:xfrm>
          <a:prstGeom prst="rect">
            <a:avLst/>
          </a:prstGeom>
        </p:spPr>
        <p:txBody>
          <a:bodyPr vert="horz" wrap="square" lIns="0" tIns="6985" rIns="0" bIns="0" rtlCol="0">
            <a:spAutoFit/>
          </a:bodyPr>
          <a:lstStyle/>
          <a:p>
            <a:pPr marL="12700" marR="5080">
              <a:lnSpc>
                <a:spcPct val="102600"/>
              </a:lnSpc>
              <a:spcBef>
                <a:spcPts val="55"/>
              </a:spcBef>
            </a:pPr>
            <a:r>
              <a:rPr sz="1100" spc="-15" dirty="0">
                <a:solidFill>
                  <a:srgbClr val="0000FF"/>
                </a:solidFill>
                <a:latin typeface="LM Sans 10"/>
                <a:cs typeface="LM Sans 10"/>
              </a:rPr>
              <a:t>Complexity </a:t>
            </a:r>
            <a:r>
              <a:rPr sz="1100" spc="-5" dirty="0">
                <a:solidFill>
                  <a:srgbClr val="0000FF"/>
                </a:solidFill>
                <a:latin typeface="LM Sans 10"/>
                <a:cs typeface="LM Sans 10"/>
              </a:rPr>
              <a:t>of Matrix multiplication</a:t>
            </a:r>
            <a:r>
              <a:rPr sz="1100" spc="-5" dirty="0">
                <a:latin typeface="LM Sans 10"/>
                <a:cs typeface="LM Sans 10"/>
              </a:rPr>
              <a:t>: Note that </a:t>
            </a:r>
            <a:r>
              <a:rPr sz="1100" i="1" spc="-10" dirty="0">
                <a:latin typeface="LM Sans 10"/>
                <a:cs typeface="LM Sans 10"/>
              </a:rPr>
              <a:t>C </a:t>
            </a:r>
            <a:r>
              <a:rPr sz="1100" spc="-5" dirty="0">
                <a:latin typeface="LM Sans 10"/>
                <a:cs typeface="LM Sans 10"/>
              </a:rPr>
              <a:t>has </a:t>
            </a:r>
            <a:r>
              <a:rPr sz="1100" i="1" spc="-20" dirty="0">
                <a:latin typeface="LM Sans 10"/>
                <a:cs typeface="LM Sans 10"/>
              </a:rPr>
              <a:t>pr </a:t>
            </a:r>
            <a:r>
              <a:rPr sz="1100" spc="-5" dirty="0">
                <a:latin typeface="LM Sans 10"/>
                <a:cs typeface="LM Sans 10"/>
              </a:rPr>
              <a:t>entries  </a:t>
            </a:r>
            <a:r>
              <a:rPr sz="1100" spc="-10" dirty="0">
                <a:latin typeface="LM Sans 10"/>
                <a:cs typeface="LM Sans 10"/>
              </a:rPr>
              <a:t>and </a:t>
            </a:r>
            <a:r>
              <a:rPr sz="1100" spc="-5" dirty="0">
                <a:latin typeface="LM Sans 10"/>
                <a:cs typeface="LM Sans 10"/>
              </a:rPr>
              <a:t>each entry </a:t>
            </a:r>
            <a:r>
              <a:rPr sz="1100" spc="-10" dirty="0">
                <a:latin typeface="LM Sans 10"/>
                <a:cs typeface="LM Sans 10"/>
              </a:rPr>
              <a:t>takes</a:t>
            </a:r>
            <a:r>
              <a:rPr sz="1100" spc="-10" dirty="0">
                <a:solidFill>
                  <a:srgbClr val="0000FF"/>
                </a:solidFill>
                <a:latin typeface="LM Sans 10"/>
                <a:cs typeface="LM Sans 10"/>
              </a:rPr>
              <a:t>Θ( </a:t>
            </a:r>
            <a:r>
              <a:rPr sz="1100" i="1" dirty="0">
                <a:solidFill>
                  <a:srgbClr val="0000FF"/>
                </a:solidFill>
                <a:latin typeface="LM Sans 10"/>
                <a:cs typeface="LM Sans 10"/>
              </a:rPr>
              <a:t>q</a:t>
            </a:r>
            <a:r>
              <a:rPr sz="1100" dirty="0">
                <a:solidFill>
                  <a:srgbClr val="0000FF"/>
                </a:solidFill>
                <a:latin typeface="LM Sans 10"/>
                <a:cs typeface="LM Sans 10"/>
              </a:rPr>
              <a:t>)</a:t>
            </a:r>
            <a:r>
              <a:rPr sz="1100" dirty="0">
                <a:latin typeface="LM Sans 10"/>
                <a:cs typeface="LM Sans 10"/>
              </a:rPr>
              <a:t>time </a:t>
            </a:r>
            <a:r>
              <a:rPr sz="1100" spc="-5" dirty="0">
                <a:latin typeface="LM Sans 10"/>
                <a:cs typeface="LM Sans 10"/>
              </a:rPr>
              <a:t>to compute so the total </a:t>
            </a:r>
            <a:r>
              <a:rPr sz="1100" spc="-10" dirty="0">
                <a:latin typeface="LM Sans 10"/>
                <a:cs typeface="LM Sans 10"/>
              </a:rPr>
              <a:t>procedure  </a:t>
            </a:r>
            <a:r>
              <a:rPr sz="1100" spc="-15" dirty="0">
                <a:latin typeface="LM Sans 10"/>
                <a:cs typeface="LM Sans 10"/>
              </a:rPr>
              <a:t>takes </a:t>
            </a:r>
            <a:r>
              <a:rPr sz="1100" dirty="0">
                <a:latin typeface="LM Sans 10"/>
                <a:cs typeface="LM Sans 10"/>
              </a:rPr>
              <a:t>Θ(</a:t>
            </a:r>
            <a:r>
              <a:rPr sz="1100" i="1" dirty="0">
                <a:latin typeface="LM Sans 10"/>
                <a:cs typeface="LM Sans 10"/>
              </a:rPr>
              <a:t>pqr </a:t>
            </a:r>
            <a:r>
              <a:rPr sz="1100" spc="-5" dirty="0">
                <a:latin typeface="LM Sans 10"/>
                <a:cs typeface="LM Sans 10"/>
              </a:rPr>
              <a:t>)</a:t>
            </a:r>
            <a:r>
              <a:rPr sz="1100" spc="-250" dirty="0">
                <a:latin typeface="LM Sans 10"/>
                <a:cs typeface="LM Sans 10"/>
              </a:rPr>
              <a:t> </a:t>
            </a:r>
            <a:r>
              <a:rPr sz="1100" spc="-5" dirty="0">
                <a:latin typeface="LM Sans 10"/>
                <a:cs typeface="LM Sans 10"/>
              </a:rPr>
              <a:t>time.</a:t>
            </a:r>
            <a:endParaRPr sz="1100">
              <a:latin typeface="LM Sans 10"/>
              <a:cs typeface="LM Sans 10"/>
            </a:endParaRPr>
          </a:p>
        </p:txBody>
      </p:sp>
      <p:grpSp>
        <p:nvGrpSpPr>
          <p:cNvPr id="7" name="object 7"/>
          <p:cNvGrpSpPr/>
          <p:nvPr/>
        </p:nvGrpSpPr>
        <p:grpSpPr>
          <a:xfrm>
            <a:off x="0" y="3342919"/>
            <a:ext cx="4608195" cy="113664"/>
            <a:chOff x="0" y="3342919"/>
            <a:chExt cx="4608195" cy="113664"/>
          </a:xfrm>
        </p:grpSpPr>
        <p:sp>
          <p:nvSpPr>
            <p:cNvPr id="8" name="object 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9" name="object 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0" name="object 10"/>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2" name="object 1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3" name="object 13"/>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4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r>
              <a:rPr lang="en-US" dirty="0"/>
              <a:t>Review of Matrix</a:t>
            </a:r>
          </a:p>
        </p:txBody>
      </p:sp>
      <p:sp>
        <p:nvSpPr>
          <p:cNvPr id="3" name="Text Placeholder 2"/>
          <p:cNvSpPr>
            <a:spLocks noGrp="1"/>
          </p:cNvSpPr>
          <p:nvPr>
            <p:ph type="body" idx="1"/>
          </p:nvPr>
        </p:nvSpPr>
        <p:spPr/>
        <p:txBody>
          <a:bodyPr/>
          <a:lstStyle/>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87" y="269846"/>
            <a:ext cx="4241747" cy="3183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1092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52666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LM Sans 12"/>
                <a:cs typeface="LM Sans 12"/>
              </a:rPr>
              <a:t>Remarks </a:t>
            </a:r>
            <a:r>
              <a:rPr sz="1400" spc="15" dirty="0">
                <a:solidFill>
                  <a:srgbClr val="FFFFFF"/>
                </a:solidFill>
                <a:latin typeface="LM Sans 12"/>
                <a:cs typeface="LM Sans 12"/>
              </a:rPr>
              <a:t>on </a:t>
            </a:r>
            <a:r>
              <a:rPr sz="1400" spc="10" dirty="0">
                <a:solidFill>
                  <a:srgbClr val="FFFFFF"/>
                </a:solidFill>
                <a:latin typeface="LM Sans 12"/>
                <a:cs typeface="LM Sans 12"/>
              </a:rPr>
              <a:t>Matrix</a:t>
            </a:r>
            <a:r>
              <a:rPr sz="1400" spc="-10" dirty="0">
                <a:solidFill>
                  <a:srgbClr val="FFFFFF"/>
                </a:solidFill>
                <a:latin typeface="LM Sans 12"/>
                <a:cs typeface="LM Sans 12"/>
              </a:rPr>
              <a:t> </a:t>
            </a:r>
            <a:r>
              <a:rPr sz="1400" spc="10" dirty="0">
                <a:solidFill>
                  <a:srgbClr val="FFFFFF"/>
                </a:solidFill>
                <a:latin typeface="LM Sans 12"/>
                <a:cs typeface="LM Sans 12"/>
              </a:rPr>
              <a:t>Multiplication</a:t>
            </a:r>
            <a:endParaRPr sz="1400">
              <a:latin typeface="LM Sans 12"/>
              <a:cs typeface="LM Sans 12"/>
            </a:endParaRPr>
          </a:p>
        </p:txBody>
      </p:sp>
      <p:sp>
        <p:nvSpPr>
          <p:cNvPr id="3" name="object 3"/>
          <p:cNvSpPr/>
          <p:nvPr/>
        </p:nvSpPr>
        <p:spPr>
          <a:xfrm>
            <a:off x="502551" y="1002538"/>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24395" y="919084"/>
            <a:ext cx="2320290" cy="350096"/>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Matrix multiplication is</a:t>
            </a:r>
            <a:r>
              <a:rPr lang="en-US" sz="1100" spc="-5" dirty="0">
                <a:latin typeface="LM Sans 10"/>
                <a:cs typeface="LM Sans 10"/>
              </a:rPr>
              <a:t> </a:t>
            </a:r>
            <a:r>
              <a:rPr sz="1100" spc="-5" dirty="0">
                <a:solidFill>
                  <a:srgbClr val="FF0000"/>
                </a:solidFill>
                <a:latin typeface="LM Sans 10"/>
                <a:cs typeface="LM Sans 10"/>
              </a:rPr>
              <a:t>associative</a:t>
            </a:r>
            <a:r>
              <a:rPr sz="1100" spc="-5" dirty="0">
                <a:latin typeface="LM Sans 10"/>
                <a:cs typeface="LM Sans 10"/>
              </a:rPr>
              <a:t>,</a:t>
            </a:r>
            <a:r>
              <a:rPr sz="1100" spc="-45" dirty="0">
                <a:latin typeface="LM Sans 10"/>
                <a:cs typeface="LM Sans 10"/>
              </a:rPr>
              <a:t> </a:t>
            </a:r>
            <a:r>
              <a:rPr sz="1100" spc="-5" dirty="0">
                <a:latin typeface="LM Sans 10"/>
                <a:cs typeface="LM Sans 10"/>
              </a:rPr>
              <a:t>e.g.,</a:t>
            </a:r>
            <a:endParaRPr sz="1100" dirty="0">
              <a:latin typeface="LM Sans 10"/>
              <a:cs typeface="LM Sans 10"/>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1" name="object 11"/>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5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52666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LM Sans 12"/>
                <a:cs typeface="LM Sans 12"/>
              </a:rPr>
              <a:t>Remarks </a:t>
            </a:r>
            <a:r>
              <a:rPr sz="1400" spc="15" dirty="0">
                <a:solidFill>
                  <a:srgbClr val="FFFFFF"/>
                </a:solidFill>
                <a:latin typeface="LM Sans 12"/>
                <a:cs typeface="LM Sans 12"/>
              </a:rPr>
              <a:t>on </a:t>
            </a:r>
            <a:r>
              <a:rPr sz="1400" spc="10" dirty="0">
                <a:solidFill>
                  <a:srgbClr val="FFFFFF"/>
                </a:solidFill>
                <a:latin typeface="LM Sans 12"/>
                <a:cs typeface="LM Sans 12"/>
              </a:rPr>
              <a:t>Matrix</a:t>
            </a:r>
            <a:r>
              <a:rPr sz="1400" spc="-10" dirty="0">
                <a:solidFill>
                  <a:srgbClr val="FFFFFF"/>
                </a:solidFill>
                <a:latin typeface="LM Sans 12"/>
                <a:cs typeface="LM Sans 12"/>
              </a:rPr>
              <a:t> </a:t>
            </a:r>
            <a:r>
              <a:rPr sz="1400" spc="10" dirty="0">
                <a:solidFill>
                  <a:srgbClr val="FFFFFF"/>
                </a:solidFill>
                <a:latin typeface="LM Sans 12"/>
                <a:cs typeface="LM Sans 12"/>
              </a:rPr>
              <a:t>Multiplication</a:t>
            </a:r>
            <a:endParaRPr sz="1400">
              <a:latin typeface="LM Sans 12"/>
              <a:cs typeface="LM Sans 12"/>
            </a:endParaRPr>
          </a:p>
        </p:txBody>
      </p:sp>
      <p:sp>
        <p:nvSpPr>
          <p:cNvPr id="3" name="object 3"/>
          <p:cNvSpPr/>
          <p:nvPr/>
        </p:nvSpPr>
        <p:spPr>
          <a:xfrm>
            <a:off x="502551" y="1002538"/>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598995" y="919084"/>
            <a:ext cx="2778760" cy="724557"/>
          </a:xfrm>
          <a:prstGeom prst="rect">
            <a:avLst/>
          </a:prstGeom>
        </p:spPr>
        <p:txBody>
          <a:bodyPr vert="horz" wrap="square" lIns="0" tIns="11430" rIns="0" bIns="0" rtlCol="0">
            <a:spAutoFit/>
          </a:bodyPr>
          <a:lstStyle/>
          <a:p>
            <a:pPr marL="38100">
              <a:lnSpc>
                <a:spcPct val="100000"/>
              </a:lnSpc>
              <a:spcBef>
                <a:spcPts val="90"/>
              </a:spcBef>
            </a:pPr>
            <a:r>
              <a:rPr sz="1100" spc="-5" dirty="0">
                <a:latin typeface="LM Sans 10"/>
                <a:cs typeface="LM Sans 10"/>
              </a:rPr>
              <a:t>Matrix multiplication is</a:t>
            </a:r>
            <a:r>
              <a:rPr lang="en-US" sz="1100" spc="-5" dirty="0">
                <a:latin typeface="LM Sans 10"/>
                <a:cs typeface="LM Sans 10"/>
              </a:rPr>
              <a:t> </a:t>
            </a:r>
            <a:r>
              <a:rPr sz="1100" spc="-5" dirty="0">
                <a:solidFill>
                  <a:srgbClr val="FF0000"/>
                </a:solidFill>
                <a:latin typeface="LM Sans 10"/>
                <a:cs typeface="LM Sans 10"/>
              </a:rPr>
              <a:t>associative</a:t>
            </a:r>
            <a:r>
              <a:rPr sz="1100" spc="-5" dirty="0">
                <a:latin typeface="LM Sans 10"/>
                <a:cs typeface="LM Sans 10"/>
              </a:rPr>
              <a:t>,</a:t>
            </a:r>
            <a:r>
              <a:rPr sz="1100" spc="-15" dirty="0">
                <a:latin typeface="LM Sans 10"/>
                <a:cs typeface="LM Sans 10"/>
              </a:rPr>
              <a:t> </a:t>
            </a:r>
            <a:r>
              <a:rPr sz="1100" spc="-5" dirty="0">
                <a:latin typeface="LM Sans 10"/>
                <a:cs typeface="LM Sans 10"/>
              </a:rPr>
              <a:t>e.g.,</a:t>
            </a:r>
            <a:endParaRPr sz="1100" dirty="0">
              <a:latin typeface="LM Sans 10"/>
              <a:cs typeface="LM Sans 10"/>
            </a:endParaRPr>
          </a:p>
          <a:p>
            <a:pPr>
              <a:lnSpc>
                <a:spcPct val="100000"/>
              </a:lnSpc>
              <a:spcBef>
                <a:spcPts val="30"/>
              </a:spcBef>
            </a:pPr>
            <a:endParaRPr sz="750" dirty="0">
              <a:latin typeface="LM Sans 10"/>
              <a:cs typeface="LM Sans 10"/>
            </a:endParaRPr>
          </a:p>
          <a:p>
            <a:pPr marL="718820">
              <a:lnSpc>
                <a:spcPct val="100000"/>
              </a:lnSpc>
              <a:spcBef>
                <a:spcPts val="5"/>
              </a:spcBef>
            </a:pP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 </a:t>
            </a:r>
            <a:r>
              <a:rPr sz="1100" spc="-10"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3 </a:t>
            </a:r>
            <a:r>
              <a:rPr sz="1100" spc="-10" dirty="0">
                <a:latin typeface="LM Sans 10"/>
                <a:cs typeface="LM Sans 10"/>
              </a:rPr>
              <a:t>=</a:t>
            </a:r>
            <a:r>
              <a:rPr sz="1100" spc="-35"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r>
              <a:rPr sz="1100" i="1" spc="10" dirty="0">
                <a:latin typeface="LM Roman Dunhill 10"/>
                <a:cs typeface="LM Roman Dunhill 10"/>
              </a:rPr>
              <a:t>,</a:t>
            </a:r>
            <a:endParaRPr sz="1100" dirty="0">
              <a:latin typeface="LM Roman Dunhill 10"/>
              <a:cs typeface="LM Roman Dunhill 10"/>
            </a:endParaRPr>
          </a:p>
          <a:p>
            <a:pPr>
              <a:lnSpc>
                <a:spcPct val="100000"/>
              </a:lnSpc>
              <a:spcBef>
                <a:spcPts val="95"/>
              </a:spcBef>
            </a:pPr>
            <a:endParaRPr sz="500" dirty="0">
              <a:latin typeface="LM Roman Dunhill 10"/>
              <a:cs typeface="LM Roman Dunhill 10"/>
            </a:endParaRPr>
          </a:p>
          <a:p>
            <a:pPr marL="38100">
              <a:lnSpc>
                <a:spcPct val="100000"/>
              </a:lnSpc>
            </a:pPr>
            <a:r>
              <a:rPr sz="1100" spc="-5" dirty="0">
                <a:latin typeface="LM Sans 10"/>
                <a:cs typeface="LM Sans 10"/>
              </a:rPr>
              <a:t>so </a:t>
            </a:r>
            <a:r>
              <a:rPr sz="1100" spc="-10" dirty="0">
                <a:latin typeface="LM Sans 10"/>
                <a:cs typeface="LM Sans 10"/>
              </a:rPr>
              <a:t>parenthesization </a:t>
            </a:r>
            <a:r>
              <a:rPr sz="1100" dirty="0">
                <a:latin typeface="LM Sans 10"/>
                <a:cs typeface="LM Sans 10"/>
              </a:rPr>
              <a:t>does </a:t>
            </a:r>
            <a:r>
              <a:rPr sz="1100" spc="-5" dirty="0">
                <a:latin typeface="LM Sans 10"/>
                <a:cs typeface="LM Sans 10"/>
              </a:rPr>
              <a:t>not change</a:t>
            </a:r>
            <a:r>
              <a:rPr sz="1100" spc="-25" dirty="0">
                <a:latin typeface="LM Sans 10"/>
                <a:cs typeface="LM Sans 10"/>
              </a:rPr>
              <a:t> </a:t>
            </a:r>
            <a:r>
              <a:rPr sz="1100" spc="-5" dirty="0">
                <a:latin typeface="LM Sans 10"/>
                <a:cs typeface="LM Sans 10"/>
              </a:rPr>
              <a:t>result.</a:t>
            </a:r>
            <a:endParaRPr sz="1100" dirty="0">
              <a:latin typeface="LM Sans 10"/>
              <a:cs typeface="LM Sans 10"/>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1" name="object 11"/>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5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526665" cy="244475"/>
          </a:xfrm>
          <a:prstGeom prst="rect">
            <a:avLst/>
          </a:prstGeom>
        </p:spPr>
        <p:txBody>
          <a:bodyPr vert="horz" wrap="square" lIns="0" tIns="17145" rIns="0" bIns="0" rtlCol="0">
            <a:spAutoFit/>
          </a:bodyPr>
          <a:lstStyle/>
          <a:p>
            <a:pPr marL="12700">
              <a:lnSpc>
                <a:spcPct val="100000"/>
              </a:lnSpc>
              <a:spcBef>
                <a:spcPts val="135"/>
              </a:spcBef>
            </a:pPr>
            <a:r>
              <a:rPr spc="10" dirty="0"/>
              <a:t>Remarks </a:t>
            </a:r>
            <a:r>
              <a:rPr spc="15" dirty="0"/>
              <a:t>on </a:t>
            </a:r>
            <a:r>
              <a:rPr spc="10" dirty="0"/>
              <a:t>Matrix</a:t>
            </a:r>
            <a:r>
              <a:rPr spc="-10" dirty="0"/>
              <a:t> </a:t>
            </a:r>
            <a:r>
              <a:rPr spc="10" dirty="0"/>
              <a:t>Multiplication</a:t>
            </a:r>
          </a:p>
        </p:txBody>
      </p:sp>
      <p:sp>
        <p:nvSpPr>
          <p:cNvPr id="3" name="object 3"/>
          <p:cNvSpPr/>
          <p:nvPr/>
        </p:nvSpPr>
        <p:spPr>
          <a:xfrm>
            <a:off x="502551" y="1002538"/>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586295" y="919084"/>
            <a:ext cx="2843530" cy="1229824"/>
          </a:xfrm>
          <a:prstGeom prst="rect">
            <a:avLst/>
          </a:prstGeom>
        </p:spPr>
        <p:txBody>
          <a:bodyPr vert="horz" wrap="square" lIns="0" tIns="11430" rIns="0" bIns="0" rtlCol="0">
            <a:spAutoFit/>
          </a:bodyPr>
          <a:lstStyle/>
          <a:p>
            <a:pPr marL="50800">
              <a:lnSpc>
                <a:spcPct val="100000"/>
              </a:lnSpc>
              <a:spcBef>
                <a:spcPts val="90"/>
              </a:spcBef>
            </a:pPr>
            <a:r>
              <a:rPr sz="1100" spc="-5" dirty="0">
                <a:latin typeface="LM Sans 10"/>
                <a:cs typeface="LM Sans 10"/>
              </a:rPr>
              <a:t>Matrix multiplication is</a:t>
            </a:r>
            <a:r>
              <a:rPr lang="en-US" sz="1100" spc="-5" dirty="0">
                <a:latin typeface="LM Sans 10"/>
                <a:cs typeface="LM Sans 10"/>
              </a:rPr>
              <a:t> </a:t>
            </a:r>
            <a:r>
              <a:rPr sz="1100" spc="-5" dirty="0">
                <a:solidFill>
                  <a:srgbClr val="FF0000"/>
                </a:solidFill>
                <a:latin typeface="LM Sans 10"/>
                <a:cs typeface="LM Sans 10"/>
              </a:rPr>
              <a:t>associative</a:t>
            </a:r>
            <a:r>
              <a:rPr sz="1100" spc="-5" dirty="0">
                <a:latin typeface="LM Sans 10"/>
                <a:cs typeface="LM Sans 10"/>
              </a:rPr>
              <a:t>,</a:t>
            </a:r>
            <a:r>
              <a:rPr sz="1100" spc="-15" dirty="0">
                <a:latin typeface="LM Sans 10"/>
                <a:cs typeface="LM Sans 10"/>
              </a:rPr>
              <a:t> </a:t>
            </a:r>
            <a:r>
              <a:rPr sz="1100" spc="-5" dirty="0">
                <a:latin typeface="LM Sans 10"/>
                <a:cs typeface="LM Sans 10"/>
              </a:rPr>
              <a:t>e.g.,</a:t>
            </a:r>
            <a:endParaRPr sz="1100" dirty="0">
              <a:latin typeface="LM Sans 10"/>
              <a:cs typeface="LM Sans 10"/>
            </a:endParaRPr>
          </a:p>
          <a:p>
            <a:pPr>
              <a:lnSpc>
                <a:spcPct val="100000"/>
              </a:lnSpc>
              <a:spcBef>
                <a:spcPts val="30"/>
              </a:spcBef>
            </a:pPr>
            <a:endParaRPr sz="750" dirty="0">
              <a:latin typeface="LM Sans 10"/>
              <a:cs typeface="LM Sans 10"/>
            </a:endParaRPr>
          </a:p>
          <a:p>
            <a:pPr marL="731520">
              <a:lnSpc>
                <a:spcPct val="100000"/>
              </a:lnSpc>
              <a:spcBef>
                <a:spcPts val="5"/>
              </a:spcBef>
            </a:pP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 </a:t>
            </a:r>
            <a:r>
              <a:rPr sz="1100" spc="-10"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3 </a:t>
            </a:r>
            <a:r>
              <a:rPr sz="1100" spc="-10" dirty="0">
                <a:latin typeface="LM Sans 10"/>
                <a:cs typeface="LM Sans 10"/>
              </a:rPr>
              <a:t>=</a:t>
            </a:r>
            <a:r>
              <a:rPr sz="1100" spc="-30"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r>
              <a:rPr sz="1100" i="1" spc="10" dirty="0">
                <a:latin typeface="LM Roman Dunhill 10"/>
                <a:cs typeface="LM Roman Dunhill 10"/>
              </a:rPr>
              <a:t>,</a:t>
            </a:r>
            <a:endParaRPr sz="1100" dirty="0">
              <a:latin typeface="LM Roman Dunhill 10"/>
              <a:cs typeface="LM Roman Dunhill 10"/>
            </a:endParaRPr>
          </a:p>
          <a:p>
            <a:pPr>
              <a:lnSpc>
                <a:spcPct val="100000"/>
              </a:lnSpc>
              <a:spcBef>
                <a:spcPts val="95"/>
              </a:spcBef>
            </a:pPr>
            <a:endParaRPr sz="500" dirty="0">
              <a:latin typeface="LM Roman Dunhill 10"/>
              <a:cs typeface="LM Roman Dunhill 10"/>
            </a:endParaRPr>
          </a:p>
          <a:p>
            <a:pPr marL="50800">
              <a:lnSpc>
                <a:spcPct val="100000"/>
              </a:lnSpc>
            </a:pPr>
            <a:r>
              <a:rPr sz="1100" spc="-5" dirty="0">
                <a:latin typeface="LM Sans 10"/>
                <a:cs typeface="LM Sans 10"/>
              </a:rPr>
              <a:t>so </a:t>
            </a:r>
            <a:r>
              <a:rPr sz="1100" spc="-10" dirty="0">
                <a:latin typeface="LM Sans 10"/>
                <a:cs typeface="LM Sans 10"/>
              </a:rPr>
              <a:t>parenthesization </a:t>
            </a:r>
            <a:r>
              <a:rPr sz="1100" dirty="0">
                <a:latin typeface="LM Sans 10"/>
                <a:cs typeface="LM Sans 10"/>
              </a:rPr>
              <a:t>does </a:t>
            </a:r>
            <a:r>
              <a:rPr sz="1100" spc="-5" dirty="0">
                <a:latin typeface="LM Sans 10"/>
                <a:cs typeface="LM Sans 10"/>
              </a:rPr>
              <a:t>not change</a:t>
            </a:r>
            <a:r>
              <a:rPr sz="1100" spc="-20" dirty="0">
                <a:latin typeface="LM Sans 10"/>
                <a:cs typeface="LM Sans 10"/>
              </a:rPr>
              <a:t> </a:t>
            </a:r>
            <a:r>
              <a:rPr sz="1100" spc="-5" dirty="0">
                <a:latin typeface="LM Sans 10"/>
                <a:cs typeface="LM Sans 10"/>
              </a:rPr>
              <a:t>result.</a:t>
            </a:r>
            <a:endParaRPr sz="1100" dirty="0">
              <a:latin typeface="LM Sans 10"/>
              <a:cs typeface="LM Sans 10"/>
            </a:endParaRPr>
          </a:p>
          <a:p>
            <a:pPr>
              <a:lnSpc>
                <a:spcPct val="100000"/>
              </a:lnSpc>
              <a:spcBef>
                <a:spcPts val="70"/>
              </a:spcBef>
            </a:pPr>
            <a:endParaRPr sz="1000" dirty="0">
              <a:latin typeface="LM Sans 10"/>
              <a:cs typeface="LM Sans 10"/>
            </a:endParaRPr>
          </a:p>
          <a:p>
            <a:pPr marL="50800">
              <a:lnSpc>
                <a:spcPct val="100000"/>
              </a:lnSpc>
            </a:pPr>
            <a:r>
              <a:rPr sz="1100" spc="-5" dirty="0">
                <a:latin typeface="LM Sans 10"/>
                <a:cs typeface="LM Sans 10"/>
              </a:rPr>
              <a:t>Matrix multiplication </a:t>
            </a:r>
            <a:r>
              <a:rPr sz="1100" spc="-10" dirty="0">
                <a:latin typeface="LM Sans 10"/>
                <a:cs typeface="LM Sans 10"/>
              </a:rPr>
              <a:t>is</a:t>
            </a:r>
            <a:r>
              <a:rPr lang="en-US" sz="1100" spc="-10" dirty="0">
                <a:latin typeface="LM Sans 10"/>
                <a:cs typeface="LM Sans 10"/>
              </a:rPr>
              <a:t> </a:t>
            </a:r>
            <a:r>
              <a:rPr sz="1100" spc="-10" dirty="0">
                <a:solidFill>
                  <a:srgbClr val="FF0000"/>
                </a:solidFill>
                <a:latin typeface="LM Sans 10"/>
                <a:cs typeface="LM Sans 10"/>
              </a:rPr>
              <a:t>NOT </a:t>
            </a:r>
            <a:r>
              <a:rPr sz="1100" spc="-5" dirty="0">
                <a:solidFill>
                  <a:srgbClr val="FF0000"/>
                </a:solidFill>
                <a:latin typeface="LM Sans 10"/>
                <a:cs typeface="LM Sans 10"/>
              </a:rPr>
              <a:t>commutative</a:t>
            </a:r>
            <a:r>
              <a:rPr sz="1100" spc="-5" dirty="0">
                <a:latin typeface="LM Sans 10"/>
                <a:cs typeface="LM Sans 10"/>
              </a:rPr>
              <a:t>,</a:t>
            </a:r>
            <a:r>
              <a:rPr sz="1100" spc="-50" dirty="0">
                <a:latin typeface="LM Sans 10"/>
                <a:cs typeface="LM Sans 10"/>
              </a:rPr>
              <a:t> </a:t>
            </a:r>
            <a:r>
              <a:rPr sz="1100" spc="-5" dirty="0">
                <a:latin typeface="LM Sans 10"/>
                <a:cs typeface="LM Sans 10"/>
              </a:rPr>
              <a:t>e.g.,</a:t>
            </a:r>
            <a:endParaRPr sz="1100" dirty="0">
              <a:latin typeface="LM Sans 10"/>
              <a:cs typeface="LM Sans 10"/>
            </a:endParaRPr>
          </a:p>
        </p:txBody>
      </p:sp>
      <p:sp>
        <p:nvSpPr>
          <p:cNvPr id="5" name="object 5"/>
          <p:cNvSpPr/>
          <p:nvPr/>
        </p:nvSpPr>
        <p:spPr>
          <a:xfrm>
            <a:off x="502551" y="1986902"/>
            <a:ext cx="65265" cy="65265"/>
          </a:xfrm>
          <a:prstGeom prst="rect">
            <a:avLst/>
          </a:prstGeom>
          <a:blipFill>
            <a:blip r:embed="rId3" cstate="print"/>
            <a:stretch>
              <a:fillRect/>
            </a:stretch>
          </a:blipFill>
        </p:spPr>
        <p:txBody>
          <a:bodyPr wrap="square" lIns="0" tIns="0" rIns="0" bIns="0" rtlCol="0"/>
          <a:lstStyle/>
          <a:p>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4" action="ppaction://hlinksldjump"/>
              </a:rPr>
              <a:t>Chain </a:t>
            </a:r>
            <a:r>
              <a:rPr sz="600" b="1" spc="-5" dirty="0">
                <a:solidFill>
                  <a:srgbClr val="FFFFFF"/>
                </a:solidFill>
                <a:latin typeface="LM Sans 10"/>
                <a:cs typeface="LM Sans 10"/>
                <a:hlinkClick r:id="rId4" action="ppaction://hlinksldjump"/>
              </a:rPr>
              <a:t>Matrix Multiplication</a:t>
            </a:r>
            <a:endParaRPr sz="600">
              <a:latin typeface="LM Sans 10"/>
              <a:cs typeface="LM Sans 10"/>
            </a:endParaRPr>
          </a:p>
        </p:txBody>
      </p:sp>
      <p:sp>
        <p:nvSpPr>
          <p:cNvPr id="12" name="object 12"/>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5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526665" cy="244475"/>
          </a:xfrm>
          <a:prstGeom prst="rect">
            <a:avLst/>
          </a:prstGeom>
        </p:spPr>
        <p:txBody>
          <a:bodyPr vert="horz" wrap="square" lIns="0" tIns="17145" rIns="0" bIns="0" rtlCol="0">
            <a:spAutoFit/>
          </a:bodyPr>
          <a:lstStyle/>
          <a:p>
            <a:pPr marL="12700">
              <a:lnSpc>
                <a:spcPct val="100000"/>
              </a:lnSpc>
              <a:spcBef>
                <a:spcPts val="135"/>
              </a:spcBef>
            </a:pPr>
            <a:r>
              <a:rPr spc="10" dirty="0"/>
              <a:t>Remarks </a:t>
            </a:r>
            <a:r>
              <a:rPr spc="15" dirty="0"/>
              <a:t>on </a:t>
            </a:r>
            <a:r>
              <a:rPr spc="10" dirty="0"/>
              <a:t>Matrix</a:t>
            </a:r>
            <a:r>
              <a:rPr spc="-10" dirty="0"/>
              <a:t> </a:t>
            </a:r>
            <a:r>
              <a:rPr spc="10" dirty="0"/>
              <a:t>Multiplication</a:t>
            </a:r>
          </a:p>
        </p:txBody>
      </p:sp>
      <p:sp>
        <p:nvSpPr>
          <p:cNvPr id="3" name="object 3"/>
          <p:cNvSpPr/>
          <p:nvPr/>
        </p:nvSpPr>
        <p:spPr>
          <a:xfrm>
            <a:off x="502551" y="1002538"/>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573595" y="919084"/>
            <a:ext cx="2868930" cy="1514517"/>
          </a:xfrm>
          <a:prstGeom prst="rect">
            <a:avLst/>
          </a:prstGeom>
        </p:spPr>
        <p:txBody>
          <a:bodyPr vert="horz" wrap="square" lIns="0" tIns="11430" rIns="0" bIns="0" rtlCol="0">
            <a:spAutoFit/>
          </a:bodyPr>
          <a:lstStyle/>
          <a:p>
            <a:pPr marL="63500">
              <a:lnSpc>
                <a:spcPct val="100000"/>
              </a:lnSpc>
              <a:spcBef>
                <a:spcPts val="90"/>
              </a:spcBef>
            </a:pPr>
            <a:r>
              <a:rPr sz="1100" spc="-5" dirty="0">
                <a:latin typeface="LM Sans 10"/>
                <a:cs typeface="LM Sans 10"/>
              </a:rPr>
              <a:t>Matrix multiplication is</a:t>
            </a:r>
            <a:r>
              <a:rPr lang="en-US" sz="1100" spc="-5" dirty="0">
                <a:latin typeface="LM Sans 10"/>
                <a:cs typeface="LM Sans 10"/>
              </a:rPr>
              <a:t> </a:t>
            </a:r>
            <a:r>
              <a:rPr sz="1100" spc="-5" dirty="0">
                <a:solidFill>
                  <a:srgbClr val="FF0000"/>
                </a:solidFill>
                <a:latin typeface="LM Sans 10"/>
                <a:cs typeface="LM Sans 10"/>
              </a:rPr>
              <a:t>associative</a:t>
            </a:r>
            <a:r>
              <a:rPr sz="1100" spc="-5" dirty="0">
                <a:latin typeface="LM Sans 10"/>
                <a:cs typeface="LM Sans 10"/>
              </a:rPr>
              <a:t>,</a:t>
            </a:r>
            <a:r>
              <a:rPr sz="1100" spc="-15" dirty="0">
                <a:latin typeface="LM Sans 10"/>
                <a:cs typeface="LM Sans 10"/>
              </a:rPr>
              <a:t> </a:t>
            </a:r>
            <a:r>
              <a:rPr sz="1100" spc="-5" dirty="0">
                <a:latin typeface="LM Sans 10"/>
                <a:cs typeface="LM Sans 10"/>
              </a:rPr>
              <a:t>e.g.,</a:t>
            </a:r>
            <a:endParaRPr sz="1100" dirty="0">
              <a:latin typeface="LM Sans 10"/>
              <a:cs typeface="LM Sans 10"/>
            </a:endParaRPr>
          </a:p>
          <a:p>
            <a:pPr>
              <a:lnSpc>
                <a:spcPct val="100000"/>
              </a:lnSpc>
              <a:spcBef>
                <a:spcPts val="30"/>
              </a:spcBef>
            </a:pPr>
            <a:endParaRPr sz="750" dirty="0">
              <a:latin typeface="LM Sans 10"/>
              <a:cs typeface="LM Sans 10"/>
            </a:endParaRPr>
          </a:p>
          <a:p>
            <a:pPr marL="615950" algn="ctr">
              <a:lnSpc>
                <a:spcPct val="100000"/>
              </a:lnSpc>
              <a:spcBef>
                <a:spcPts val="5"/>
              </a:spcBef>
            </a:pP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 </a:t>
            </a:r>
            <a:r>
              <a:rPr sz="1100" spc="-10"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3 </a:t>
            </a:r>
            <a:r>
              <a:rPr sz="1100" spc="-10" dirty="0">
                <a:latin typeface="LM Sans 10"/>
                <a:cs typeface="LM Sans 10"/>
              </a:rPr>
              <a:t>=</a:t>
            </a:r>
            <a:r>
              <a:rPr sz="1100" spc="-30"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r>
              <a:rPr sz="1100" i="1" spc="10" dirty="0">
                <a:latin typeface="LM Roman Dunhill 10"/>
                <a:cs typeface="LM Roman Dunhill 10"/>
              </a:rPr>
              <a:t>,</a:t>
            </a:r>
            <a:endParaRPr sz="1100" dirty="0">
              <a:latin typeface="LM Roman Dunhill 10"/>
              <a:cs typeface="LM Roman Dunhill 10"/>
            </a:endParaRPr>
          </a:p>
          <a:p>
            <a:pPr>
              <a:lnSpc>
                <a:spcPct val="100000"/>
              </a:lnSpc>
              <a:spcBef>
                <a:spcPts val="95"/>
              </a:spcBef>
            </a:pPr>
            <a:endParaRPr sz="500" dirty="0">
              <a:latin typeface="LM Roman Dunhill 10"/>
              <a:cs typeface="LM Roman Dunhill 10"/>
            </a:endParaRPr>
          </a:p>
          <a:p>
            <a:pPr marL="63500">
              <a:lnSpc>
                <a:spcPct val="100000"/>
              </a:lnSpc>
            </a:pPr>
            <a:r>
              <a:rPr sz="1100" spc="-5" dirty="0">
                <a:latin typeface="LM Sans 10"/>
                <a:cs typeface="LM Sans 10"/>
              </a:rPr>
              <a:t>so </a:t>
            </a:r>
            <a:r>
              <a:rPr sz="1100" spc="-10" dirty="0">
                <a:latin typeface="LM Sans 10"/>
                <a:cs typeface="LM Sans 10"/>
              </a:rPr>
              <a:t>parenthesization </a:t>
            </a:r>
            <a:r>
              <a:rPr sz="1100" dirty="0">
                <a:latin typeface="LM Sans 10"/>
                <a:cs typeface="LM Sans 10"/>
              </a:rPr>
              <a:t>does </a:t>
            </a:r>
            <a:r>
              <a:rPr sz="1100" spc="-5" dirty="0">
                <a:latin typeface="LM Sans 10"/>
                <a:cs typeface="LM Sans 10"/>
              </a:rPr>
              <a:t>not change</a:t>
            </a:r>
            <a:r>
              <a:rPr sz="1100" spc="-20" dirty="0">
                <a:latin typeface="LM Sans 10"/>
                <a:cs typeface="LM Sans 10"/>
              </a:rPr>
              <a:t> </a:t>
            </a:r>
            <a:r>
              <a:rPr sz="1100" spc="-5" dirty="0">
                <a:latin typeface="LM Sans 10"/>
                <a:cs typeface="LM Sans 10"/>
              </a:rPr>
              <a:t>result.</a:t>
            </a:r>
            <a:endParaRPr sz="1100" dirty="0">
              <a:latin typeface="LM Sans 10"/>
              <a:cs typeface="LM Sans 10"/>
            </a:endParaRPr>
          </a:p>
          <a:p>
            <a:pPr>
              <a:lnSpc>
                <a:spcPct val="100000"/>
              </a:lnSpc>
              <a:spcBef>
                <a:spcPts val="70"/>
              </a:spcBef>
            </a:pPr>
            <a:endParaRPr sz="1000" dirty="0">
              <a:latin typeface="LM Sans 10"/>
              <a:cs typeface="LM Sans 10"/>
            </a:endParaRPr>
          </a:p>
          <a:p>
            <a:pPr marL="63500">
              <a:lnSpc>
                <a:spcPct val="100000"/>
              </a:lnSpc>
            </a:pPr>
            <a:r>
              <a:rPr sz="1100" spc="-5" dirty="0">
                <a:latin typeface="LM Sans 10"/>
                <a:cs typeface="LM Sans 10"/>
              </a:rPr>
              <a:t>Matrix multiplication </a:t>
            </a:r>
            <a:r>
              <a:rPr sz="1100" spc="-10" dirty="0">
                <a:latin typeface="LM Sans 10"/>
                <a:cs typeface="LM Sans 10"/>
              </a:rPr>
              <a:t>is</a:t>
            </a:r>
            <a:r>
              <a:rPr lang="en-US" sz="1100" spc="-10" dirty="0">
                <a:latin typeface="LM Sans 10"/>
                <a:cs typeface="LM Sans 10"/>
              </a:rPr>
              <a:t> </a:t>
            </a:r>
            <a:r>
              <a:rPr sz="1100" spc="-10" dirty="0">
                <a:solidFill>
                  <a:srgbClr val="FF0000"/>
                </a:solidFill>
                <a:latin typeface="LM Sans 10"/>
                <a:cs typeface="LM Sans 10"/>
              </a:rPr>
              <a:t>NOT </a:t>
            </a:r>
            <a:r>
              <a:rPr sz="1100" spc="-5" dirty="0">
                <a:solidFill>
                  <a:srgbClr val="FF0000"/>
                </a:solidFill>
                <a:latin typeface="LM Sans 10"/>
                <a:cs typeface="LM Sans 10"/>
              </a:rPr>
              <a:t>commutative</a:t>
            </a:r>
            <a:r>
              <a:rPr sz="1100" spc="-5" dirty="0">
                <a:latin typeface="LM Sans 10"/>
                <a:cs typeface="LM Sans 10"/>
              </a:rPr>
              <a:t>,</a:t>
            </a:r>
            <a:r>
              <a:rPr sz="1100" spc="-50" dirty="0">
                <a:latin typeface="LM Sans 10"/>
                <a:cs typeface="LM Sans 10"/>
              </a:rPr>
              <a:t> </a:t>
            </a:r>
            <a:r>
              <a:rPr sz="1100" spc="-5" dirty="0">
                <a:latin typeface="LM Sans 10"/>
                <a:cs typeface="LM Sans 10"/>
              </a:rPr>
              <a:t>e.g.,</a:t>
            </a:r>
            <a:endParaRPr sz="1100" dirty="0">
              <a:latin typeface="LM Sans 10"/>
              <a:cs typeface="LM Sans 10"/>
            </a:endParaRPr>
          </a:p>
          <a:p>
            <a:pPr>
              <a:lnSpc>
                <a:spcPct val="100000"/>
              </a:lnSpc>
              <a:spcBef>
                <a:spcPts val="30"/>
              </a:spcBef>
            </a:pPr>
            <a:endParaRPr sz="750" dirty="0">
              <a:latin typeface="LM Sans 10"/>
              <a:cs typeface="LM Sans 10"/>
            </a:endParaRPr>
          </a:p>
          <a:p>
            <a:pPr marL="609600" algn="ctr">
              <a:lnSpc>
                <a:spcPct val="100000"/>
              </a:lnSpc>
            </a:pP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 </a:t>
            </a:r>
            <a:r>
              <a:rPr lang="en-US" sz="1200" spc="7" baseline="-10416" dirty="0">
                <a:latin typeface="Matura MT Script Capitals"/>
                <a:cs typeface="LM Sans 8"/>
              </a:rPr>
              <a:t>≠</a:t>
            </a:r>
            <a:r>
              <a:rPr sz="1100" spc="-15" dirty="0">
                <a:latin typeface="LM Sans 10"/>
                <a:cs typeface="LM Sans 10"/>
              </a:rPr>
              <a:t> </a:t>
            </a:r>
            <a:r>
              <a:rPr sz="1100" i="1" spc="5" dirty="0">
                <a:latin typeface="LM Sans 10"/>
                <a:cs typeface="LM Sans 10"/>
              </a:rPr>
              <a:t>A</a:t>
            </a:r>
            <a:r>
              <a:rPr sz="1200" spc="7" baseline="-10416" dirty="0">
                <a:latin typeface="LM Sans 8"/>
                <a:cs typeface="LM Sans 8"/>
              </a:rPr>
              <a:t>2</a:t>
            </a:r>
            <a:r>
              <a:rPr sz="1100" i="1" spc="5" dirty="0">
                <a:latin typeface="LM Sans 10"/>
                <a:cs typeface="LM Sans 10"/>
              </a:rPr>
              <a:t>A</a:t>
            </a:r>
            <a:r>
              <a:rPr sz="1200" spc="7" baseline="-10416" dirty="0">
                <a:latin typeface="LM Sans 8"/>
                <a:cs typeface="LM Sans 8"/>
              </a:rPr>
              <a:t>1</a:t>
            </a:r>
            <a:endParaRPr sz="1200" baseline="-10416" dirty="0">
              <a:latin typeface="LM Sans 8"/>
              <a:cs typeface="LM Sans 8"/>
            </a:endParaRPr>
          </a:p>
        </p:txBody>
      </p:sp>
      <p:sp>
        <p:nvSpPr>
          <p:cNvPr id="5" name="object 5"/>
          <p:cNvSpPr/>
          <p:nvPr/>
        </p:nvSpPr>
        <p:spPr>
          <a:xfrm>
            <a:off x="502551" y="1986902"/>
            <a:ext cx="65265" cy="65265"/>
          </a:xfrm>
          <a:prstGeom prst="rect">
            <a:avLst/>
          </a:prstGeom>
          <a:blipFill>
            <a:blip r:embed="rId3" cstate="print"/>
            <a:stretch>
              <a:fillRect/>
            </a:stretch>
          </a:blipFill>
        </p:spPr>
        <p:txBody>
          <a:bodyPr wrap="square" lIns="0" tIns="0" rIns="0" bIns="0" rtlCol="0"/>
          <a:lstStyle/>
          <a:p>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4" action="ppaction://hlinksldjump"/>
              </a:rPr>
              <a:t>Chain </a:t>
            </a:r>
            <a:r>
              <a:rPr sz="600" b="1" spc="-5" dirty="0">
                <a:solidFill>
                  <a:srgbClr val="FFFFFF"/>
                </a:solidFill>
                <a:latin typeface="LM Sans 10"/>
                <a:cs typeface="LM Sans 10"/>
                <a:hlinkClick r:id="rId4" action="ppaction://hlinksldjump"/>
              </a:rPr>
              <a:t>Matrix Multiplication</a:t>
            </a:r>
            <a:endParaRPr sz="600">
              <a:latin typeface="LM Sans 10"/>
              <a:cs typeface="LM Sans 10"/>
            </a:endParaRPr>
          </a:p>
        </p:txBody>
      </p:sp>
      <p:sp>
        <p:nvSpPr>
          <p:cNvPr id="12" name="object 12"/>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5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0853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LM Sans 12"/>
                <a:cs typeface="LM Sans 12"/>
              </a:rPr>
              <a:t>Matrix Multiplication of</a:t>
            </a:r>
            <a:r>
              <a:rPr sz="1400" spc="-10" dirty="0">
                <a:solidFill>
                  <a:srgbClr val="FFFFFF"/>
                </a:solidFill>
                <a:latin typeface="LM Sans 12"/>
                <a:cs typeface="LM Sans 12"/>
              </a:rPr>
              <a:t> </a:t>
            </a:r>
            <a:r>
              <a:rPr sz="1400" i="1" spc="20" dirty="0">
                <a:solidFill>
                  <a:srgbClr val="FFFFFF"/>
                </a:solidFill>
                <a:latin typeface="LM Sans 12"/>
                <a:cs typeface="LM Sans 12"/>
              </a:rPr>
              <a:t>ABC</a:t>
            </a:r>
            <a:endParaRPr sz="1400">
              <a:latin typeface="LM Sans 12"/>
              <a:cs typeface="LM Sans 12"/>
            </a:endParaRPr>
          </a:p>
        </p:txBody>
      </p:sp>
      <p:sp>
        <p:nvSpPr>
          <p:cNvPr id="3" name="object 3"/>
          <p:cNvSpPr/>
          <p:nvPr/>
        </p:nvSpPr>
        <p:spPr>
          <a:xfrm>
            <a:off x="502551" y="476986"/>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24395" y="393546"/>
            <a:ext cx="3485515" cy="363855"/>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Given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10" dirty="0">
                <a:solidFill>
                  <a:srgbClr val="0000FF"/>
                </a:solidFill>
                <a:latin typeface="LM Sans 10"/>
                <a:cs typeface="LM Sans 10"/>
              </a:rPr>
              <a:t>q </a:t>
            </a:r>
            <a:r>
              <a:rPr sz="1100" spc="-5" dirty="0">
                <a:latin typeface="LM Sans 10"/>
                <a:cs typeface="LM Sans 10"/>
              </a:rPr>
              <a:t>matrix </a:t>
            </a:r>
            <a:r>
              <a:rPr sz="1100" i="1" spc="-10" dirty="0">
                <a:latin typeface="LM Sans 10"/>
                <a:cs typeface="LM Sans 10"/>
              </a:rPr>
              <a:t>A</a:t>
            </a:r>
            <a:r>
              <a:rPr sz="1100" spc="-10" dirty="0">
                <a:latin typeface="LM Sans 10"/>
                <a:cs typeface="LM Sans 10"/>
              </a:rPr>
              <a:t>, </a:t>
            </a:r>
            <a:r>
              <a:rPr sz="1100" i="1" spc="-10" dirty="0">
                <a:solidFill>
                  <a:srgbClr val="0000FF"/>
                </a:solidFill>
                <a:latin typeface="LM Sans 10"/>
                <a:cs typeface="LM Sans 10"/>
              </a:rPr>
              <a:t>q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B </a:t>
            </a:r>
            <a:r>
              <a:rPr sz="1100" spc="-10" dirty="0">
                <a:latin typeface="LM Sans 10"/>
                <a:cs typeface="LM Sans 10"/>
              </a:rPr>
              <a:t>and </a:t>
            </a:r>
            <a:r>
              <a:rPr sz="1100" i="1" spc="-5" dirty="0">
                <a:solidFill>
                  <a:srgbClr val="0000FF"/>
                </a:solidFill>
                <a:latin typeface="LM Sans 10"/>
                <a:cs typeface="LM Sans 10"/>
              </a:rPr>
              <a:t>r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s </a:t>
            </a:r>
            <a:r>
              <a:rPr sz="1100" spc="-5" dirty="0">
                <a:latin typeface="LM Sans 10"/>
                <a:cs typeface="LM Sans 10"/>
              </a:rPr>
              <a:t>matrix </a:t>
            </a:r>
            <a:r>
              <a:rPr sz="1100" i="1" spc="-10" dirty="0">
                <a:latin typeface="LM Sans 10"/>
                <a:cs typeface="LM Sans 10"/>
              </a:rPr>
              <a:t>C</a:t>
            </a:r>
            <a:r>
              <a:rPr sz="1100" i="1" spc="-315" dirty="0">
                <a:latin typeface="LM Sans 10"/>
                <a:cs typeface="LM Sans 10"/>
              </a:rPr>
              <a:t> </a:t>
            </a:r>
            <a:r>
              <a:rPr sz="1100" spc="-5" dirty="0">
                <a:latin typeface="LM Sans 10"/>
                <a:cs typeface="LM Sans 10"/>
              </a:rPr>
              <a:t>,</a:t>
            </a:r>
            <a:endParaRPr sz="1100" dirty="0">
              <a:latin typeface="LM Sans 10"/>
              <a:cs typeface="LM Sans 10"/>
            </a:endParaRPr>
          </a:p>
          <a:p>
            <a:pPr marL="12700">
              <a:lnSpc>
                <a:spcPct val="100000"/>
              </a:lnSpc>
              <a:spcBef>
                <a:spcPts val="35"/>
              </a:spcBef>
            </a:pPr>
            <a:r>
              <a:rPr sz="1100" i="1" spc="-10" dirty="0">
                <a:latin typeface="LM Sans 10"/>
                <a:cs typeface="LM Sans 10"/>
              </a:rPr>
              <a:t>ABC </a:t>
            </a:r>
            <a:r>
              <a:rPr sz="1100" spc="-10" dirty="0">
                <a:latin typeface="LM Sans 10"/>
                <a:cs typeface="LM Sans 10"/>
              </a:rPr>
              <a:t>can </a:t>
            </a:r>
            <a:r>
              <a:rPr sz="1100" spc="10" dirty="0">
                <a:latin typeface="LM Sans 10"/>
                <a:cs typeface="LM Sans 10"/>
              </a:rPr>
              <a:t>be </a:t>
            </a:r>
            <a:r>
              <a:rPr sz="1100" spc="-10" dirty="0">
                <a:latin typeface="LM Sans 10"/>
                <a:cs typeface="LM Sans 10"/>
              </a:rPr>
              <a:t>computed </a:t>
            </a:r>
            <a:r>
              <a:rPr sz="1100" spc="-5" dirty="0">
                <a:latin typeface="LM Sans 10"/>
                <a:cs typeface="LM Sans 10"/>
              </a:rPr>
              <a:t>in </a:t>
            </a:r>
            <a:r>
              <a:rPr sz="1100" spc="-30" dirty="0">
                <a:latin typeface="LM Sans 10"/>
                <a:cs typeface="LM Sans 10"/>
              </a:rPr>
              <a:t>two</a:t>
            </a:r>
            <a:r>
              <a:rPr sz="1100" spc="-235" dirty="0">
                <a:latin typeface="LM Sans 10"/>
                <a:cs typeface="LM Sans 10"/>
              </a:rPr>
              <a:t> </a:t>
            </a:r>
            <a:r>
              <a:rPr sz="1100" spc="-20" dirty="0">
                <a:latin typeface="LM Sans 10"/>
                <a:cs typeface="LM Sans 10"/>
              </a:rPr>
              <a:t>ways:</a:t>
            </a:r>
            <a:endParaRPr sz="1100" dirty="0">
              <a:latin typeface="LM Sans 10"/>
              <a:cs typeface="LM Sans 10"/>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1" name="object 11"/>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6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0853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LM Sans 12"/>
                <a:cs typeface="LM Sans 12"/>
              </a:rPr>
              <a:t>Matrix Multiplication of</a:t>
            </a:r>
            <a:r>
              <a:rPr sz="1400" spc="-10" dirty="0">
                <a:solidFill>
                  <a:srgbClr val="FFFFFF"/>
                </a:solidFill>
                <a:latin typeface="LM Sans 12"/>
                <a:cs typeface="LM Sans 12"/>
              </a:rPr>
              <a:t> </a:t>
            </a:r>
            <a:r>
              <a:rPr sz="1400" i="1" spc="20" dirty="0">
                <a:solidFill>
                  <a:srgbClr val="FFFFFF"/>
                </a:solidFill>
                <a:latin typeface="LM Sans 12"/>
                <a:cs typeface="LM Sans 12"/>
              </a:rPr>
              <a:t>ABC</a:t>
            </a:r>
            <a:endParaRPr sz="1400">
              <a:latin typeface="LM Sans 12"/>
              <a:cs typeface="LM Sans 12"/>
            </a:endParaRPr>
          </a:p>
        </p:txBody>
      </p:sp>
      <p:sp>
        <p:nvSpPr>
          <p:cNvPr id="3" name="object 3"/>
          <p:cNvSpPr/>
          <p:nvPr/>
        </p:nvSpPr>
        <p:spPr>
          <a:xfrm>
            <a:off x="502551" y="476986"/>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24395" y="393546"/>
            <a:ext cx="3485515" cy="363855"/>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Given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10" dirty="0">
                <a:solidFill>
                  <a:srgbClr val="0000FF"/>
                </a:solidFill>
                <a:latin typeface="LM Sans 10"/>
                <a:cs typeface="LM Sans 10"/>
              </a:rPr>
              <a:t>q </a:t>
            </a:r>
            <a:r>
              <a:rPr sz="1100" spc="-5" dirty="0">
                <a:latin typeface="LM Sans 10"/>
                <a:cs typeface="LM Sans 10"/>
              </a:rPr>
              <a:t>matrix </a:t>
            </a:r>
            <a:r>
              <a:rPr sz="1100" i="1" spc="-10" dirty="0">
                <a:latin typeface="LM Sans 10"/>
                <a:cs typeface="LM Sans 10"/>
              </a:rPr>
              <a:t>A</a:t>
            </a:r>
            <a:r>
              <a:rPr sz="1100" spc="-10" dirty="0">
                <a:latin typeface="LM Sans 10"/>
                <a:cs typeface="LM Sans 10"/>
              </a:rPr>
              <a:t>, </a:t>
            </a:r>
            <a:r>
              <a:rPr sz="1100" i="1" spc="-10" dirty="0">
                <a:solidFill>
                  <a:srgbClr val="0000FF"/>
                </a:solidFill>
                <a:latin typeface="LM Sans 10"/>
                <a:cs typeface="LM Sans 10"/>
              </a:rPr>
              <a:t>q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B </a:t>
            </a:r>
            <a:r>
              <a:rPr sz="1100" spc="-10" dirty="0">
                <a:latin typeface="LM Sans 10"/>
                <a:cs typeface="LM Sans 10"/>
              </a:rPr>
              <a:t>and </a:t>
            </a:r>
            <a:r>
              <a:rPr sz="1100" i="1" spc="-5" dirty="0">
                <a:solidFill>
                  <a:srgbClr val="0000FF"/>
                </a:solidFill>
                <a:latin typeface="LM Sans 10"/>
                <a:cs typeface="LM Sans 10"/>
              </a:rPr>
              <a:t>r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s </a:t>
            </a:r>
            <a:r>
              <a:rPr sz="1100" spc="-5" dirty="0">
                <a:latin typeface="LM Sans 10"/>
                <a:cs typeface="LM Sans 10"/>
              </a:rPr>
              <a:t>matrix </a:t>
            </a:r>
            <a:r>
              <a:rPr sz="1100" i="1" spc="-10" dirty="0">
                <a:latin typeface="LM Sans 10"/>
                <a:cs typeface="LM Sans 10"/>
              </a:rPr>
              <a:t>C</a:t>
            </a:r>
            <a:r>
              <a:rPr sz="1100" i="1" spc="-315" dirty="0">
                <a:latin typeface="LM Sans 10"/>
                <a:cs typeface="LM Sans 10"/>
              </a:rPr>
              <a:t> </a:t>
            </a:r>
            <a:r>
              <a:rPr sz="1100" spc="-5" dirty="0">
                <a:latin typeface="LM Sans 10"/>
                <a:cs typeface="LM Sans 10"/>
              </a:rPr>
              <a:t>,</a:t>
            </a:r>
            <a:endParaRPr sz="1100">
              <a:latin typeface="LM Sans 10"/>
              <a:cs typeface="LM Sans 10"/>
            </a:endParaRPr>
          </a:p>
          <a:p>
            <a:pPr marL="12700">
              <a:lnSpc>
                <a:spcPct val="100000"/>
              </a:lnSpc>
              <a:spcBef>
                <a:spcPts val="35"/>
              </a:spcBef>
            </a:pPr>
            <a:r>
              <a:rPr sz="1100" i="1" spc="-10" dirty="0">
                <a:latin typeface="LM Sans 10"/>
                <a:cs typeface="LM Sans 10"/>
              </a:rPr>
              <a:t>ABC </a:t>
            </a:r>
            <a:r>
              <a:rPr sz="1100" spc="-10" dirty="0">
                <a:latin typeface="LM Sans 10"/>
                <a:cs typeface="LM Sans 10"/>
              </a:rPr>
              <a:t>can </a:t>
            </a:r>
            <a:r>
              <a:rPr sz="1100" spc="10" dirty="0">
                <a:latin typeface="LM Sans 10"/>
                <a:cs typeface="LM Sans 10"/>
              </a:rPr>
              <a:t>be </a:t>
            </a:r>
            <a:r>
              <a:rPr sz="1100" spc="-10" dirty="0">
                <a:latin typeface="LM Sans 10"/>
                <a:cs typeface="LM Sans 10"/>
              </a:rPr>
              <a:t>computed </a:t>
            </a:r>
            <a:r>
              <a:rPr sz="1100" spc="-5" dirty="0">
                <a:latin typeface="LM Sans 10"/>
                <a:cs typeface="LM Sans 10"/>
              </a:rPr>
              <a:t>in </a:t>
            </a:r>
            <a:r>
              <a:rPr sz="1100" spc="-30" dirty="0">
                <a:latin typeface="LM Sans 10"/>
                <a:cs typeface="LM Sans 10"/>
              </a:rPr>
              <a:t>two </a:t>
            </a:r>
            <a:r>
              <a:rPr sz="1100" spc="-20" dirty="0">
                <a:latin typeface="LM Sans 10"/>
                <a:cs typeface="LM Sans 10"/>
              </a:rPr>
              <a:t>ways: </a:t>
            </a:r>
            <a:r>
              <a:rPr sz="1100" spc="10" dirty="0">
                <a:solidFill>
                  <a:srgbClr val="FF0000"/>
                </a:solidFill>
                <a:latin typeface="LM Sans 10"/>
                <a:cs typeface="LM Sans 10"/>
              </a:rPr>
              <a:t>(</a:t>
            </a:r>
            <a:r>
              <a:rPr sz="1100" i="1" spc="10" dirty="0">
                <a:solidFill>
                  <a:srgbClr val="FF0000"/>
                </a:solidFill>
                <a:latin typeface="LM Sans 10"/>
                <a:cs typeface="LM Sans 10"/>
              </a:rPr>
              <a:t>AB</a:t>
            </a:r>
            <a:r>
              <a:rPr sz="1100" spc="10" dirty="0">
                <a:solidFill>
                  <a:srgbClr val="FF0000"/>
                </a:solidFill>
                <a:latin typeface="LM Sans 10"/>
                <a:cs typeface="LM Sans 10"/>
              </a:rPr>
              <a:t>)</a:t>
            </a:r>
            <a:r>
              <a:rPr sz="1100" i="1" spc="10" dirty="0">
                <a:solidFill>
                  <a:srgbClr val="FF0000"/>
                </a:solidFill>
                <a:latin typeface="LM Sans 10"/>
                <a:cs typeface="LM Sans 10"/>
              </a:rPr>
              <a:t>C </a:t>
            </a:r>
            <a:r>
              <a:rPr sz="1100" spc="-10" dirty="0">
                <a:latin typeface="LM Sans 10"/>
                <a:cs typeface="LM Sans 10"/>
              </a:rPr>
              <a:t>and</a:t>
            </a:r>
            <a:r>
              <a:rPr sz="1100" spc="190" dirty="0">
                <a:latin typeface="LM Sans 10"/>
                <a:cs typeface="LM Sans 10"/>
              </a:rPr>
              <a:t> </a:t>
            </a:r>
            <a:r>
              <a:rPr sz="1100" i="1" spc="-10" dirty="0">
                <a:solidFill>
                  <a:srgbClr val="FF0000"/>
                </a:solidFill>
                <a:latin typeface="LM Sans 10"/>
                <a:cs typeface="LM Sans 10"/>
              </a:rPr>
              <a:t>A</a:t>
            </a:r>
            <a:r>
              <a:rPr sz="1100" spc="-10" dirty="0">
                <a:solidFill>
                  <a:srgbClr val="FF0000"/>
                </a:solidFill>
                <a:latin typeface="LM Sans 10"/>
                <a:cs typeface="LM Sans 10"/>
              </a:rPr>
              <a:t>(</a:t>
            </a:r>
            <a:r>
              <a:rPr sz="1100" i="1" spc="-10" dirty="0">
                <a:solidFill>
                  <a:srgbClr val="FF0000"/>
                </a:solidFill>
                <a:latin typeface="LM Sans 10"/>
                <a:cs typeface="LM Sans 10"/>
              </a:rPr>
              <a:t>BC </a:t>
            </a:r>
            <a:r>
              <a:rPr sz="1100" spc="-5" dirty="0">
                <a:solidFill>
                  <a:srgbClr val="FF0000"/>
                </a:solidFill>
                <a:latin typeface="LM Sans 10"/>
                <a:cs typeface="LM Sans 10"/>
              </a:rPr>
              <a:t>)</a:t>
            </a:r>
            <a:endParaRPr sz="1100">
              <a:latin typeface="LM Sans 10"/>
              <a:cs typeface="LM Sans 10"/>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1" name="object 11"/>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6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208530" cy="244475"/>
          </a:xfrm>
          <a:prstGeom prst="rect">
            <a:avLst/>
          </a:prstGeom>
        </p:spPr>
        <p:txBody>
          <a:bodyPr vert="horz" wrap="square" lIns="0" tIns="17145" rIns="0" bIns="0" rtlCol="0">
            <a:spAutoFit/>
          </a:bodyPr>
          <a:lstStyle/>
          <a:p>
            <a:pPr marL="12700">
              <a:lnSpc>
                <a:spcPct val="100000"/>
              </a:lnSpc>
              <a:spcBef>
                <a:spcPts val="135"/>
              </a:spcBef>
            </a:pPr>
            <a:r>
              <a:rPr spc="10" dirty="0"/>
              <a:t>Matrix Multiplication of</a:t>
            </a:r>
            <a:r>
              <a:rPr spc="-10" dirty="0"/>
              <a:t> </a:t>
            </a:r>
            <a:r>
              <a:rPr i="1" spc="20" dirty="0">
                <a:latin typeface="LM Sans 12"/>
                <a:cs typeface="LM Sans 12"/>
              </a:rPr>
              <a:t>ABC</a:t>
            </a:r>
          </a:p>
        </p:txBody>
      </p:sp>
      <p:sp>
        <p:nvSpPr>
          <p:cNvPr id="3" name="object 3"/>
          <p:cNvSpPr/>
          <p:nvPr/>
        </p:nvSpPr>
        <p:spPr>
          <a:xfrm>
            <a:off x="502551" y="476986"/>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24395" y="393546"/>
            <a:ext cx="3485515" cy="1047115"/>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Given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10" dirty="0">
                <a:solidFill>
                  <a:srgbClr val="0000FF"/>
                </a:solidFill>
                <a:latin typeface="LM Sans 10"/>
                <a:cs typeface="LM Sans 10"/>
              </a:rPr>
              <a:t>q </a:t>
            </a:r>
            <a:r>
              <a:rPr sz="1100" spc="-5" dirty="0">
                <a:latin typeface="LM Sans 10"/>
                <a:cs typeface="LM Sans 10"/>
              </a:rPr>
              <a:t>matrix </a:t>
            </a:r>
            <a:r>
              <a:rPr sz="1100" i="1" spc="-10" dirty="0">
                <a:latin typeface="LM Sans 10"/>
                <a:cs typeface="LM Sans 10"/>
              </a:rPr>
              <a:t>A</a:t>
            </a:r>
            <a:r>
              <a:rPr sz="1100" spc="-10" dirty="0">
                <a:latin typeface="LM Sans 10"/>
                <a:cs typeface="LM Sans 10"/>
              </a:rPr>
              <a:t>, </a:t>
            </a:r>
            <a:r>
              <a:rPr sz="1100" i="1" spc="-10" dirty="0">
                <a:solidFill>
                  <a:srgbClr val="0000FF"/>
                </a:solidFill>
                <a:latin typeface="LM Sans 10"/>
                <a:cs typeface="LM Sans 10"/>
              </a:rPr>
              <a:t>q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B </a:t>
            </a:r>
            <a:r>
              <a:rPr sz="1100" spc="-10" dirty="0">
                <a:latin typeface="LM Sans 10"/>
                <a:cs typeface="LM Sans 10"/>
              </a:rPr>
              <a:t>and </a:t>
            </a:r>
            <a:r>
              <a:rPr sz="1100" i="1" spc="-5" dirty="0">
                <a:solidFill>
                  <a:srgbClr val="0000FF"/>
                </a:solidFill>
                <a:latin typeface="LM Sans 10"/>
                <a:cs typeface="LM Sans 10"/>
              </a:rPr>
              <a:t>r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s </a:t>
            </a:r>
            <a:r>
              <a:rPr sz="1100" spc="-5" dirty="0">
                <a:latin typeface="LM Sans 10"/>
                <a:cs typeface="LM Sans 10"/>
              </a:rPr>
              <a:t>matrix </a:t>
            </a:r>
            <a:r>
              <a:rPr sz="1100" i="1" spc="-10" dirty="0">
                <a:latin typeface="LM Sans 10"/>
                <a:cs typeface="LM Sans 10"/>
              </a:rPr>
              <a:t>C</a:t>
            </a:r>
            <a:r>
              <a:rPr sz="1100" i="1" spc="-315" dirty="0">
                <a:latin typeface="LM Sans 10"/>
                <a:cs typeface="LM Sans 10"/>
              </a:rPr>
              <a:t> </a:t>
            </a:r>
            <a:r>
              <a:rPr sz="1100" spc="-5" dirty="0">
                <a:latin typeface="LM Sans 10"/>
                <a:cs typeface="LM Sans 10"/>
              </a:rPr>
              <a:t>,</a:t>
            </a:r>
            <a:endParaRPr sz="1100">
              <a:latin typeface="LM Sans 10"/>
              <a:cs typeface="LM Sans 10"/>
            </a:endParaRPr>
          </a:p>
          <a:p>
            <a:pPr marL="12700">
              <a:lnSpc>
                <a:spcPct val="100000"/>
              </a:lnSpc>
              <a:spcBef>
                <a:spcPts val="35"/>
              </a:spcBef>
            </a:pPr>
            <a:r>
              <a:rPr sz="1100" i="1" spc="-10" dirty="0">
                <a:latin typeface="LM Sans 10"/>
                <a:cs typeface="LM Sans 10"/>
              </a:rPr>
              <a:t>ABC </a:t>
            </a:r>
            <a:r>
              <a:rPr sz="1100" spc="-10" dirty="0">
                <a:latin typeface="LM Sans 10"/>
                <a:cs typeface="LM Sans 10"/>
              </a:rPr>
              <a:t>can </a:t>
            </a:r>
            <a:r>
              <a:rPr sz="1100" spc="10" dirty="0">
                <a:latin typeface="LM Sans 10"/>
                <a:cs typeface="LM Sans 10"/>
              </a:rPr>
              <a:t>be </a:t>
            </a:r>
            <a:r>
              <a:rPr sz="1100" spc="-10" dirty="0">
                <a:latin typeface="LM Sans 10"/>
                <a:cs typeface="LM Sans 10"/>
              </a:rPr>
              <a:t>computed </a:t>
            </a:r>
            <a:r>
              <a:rPr sz="1100" spc="-5" dirty="0">
                <a:latin typeface="LM Sans 10"/>
                <a:cs typeface="LM Sans 10"/>
              </a:rPr>
              <a:t>in </a:t>
            </a:r>
            <a:r>
              <a:rPr sz="1100" spc="-30" dirty="0">
                <a:latin typeface="LM Sans 10"/>
                <a:cs typeface="LM Sans 10"/>
              </a:rPr>
              <a:t>two </a:t>
            </a:r>
            <a:r>
              <a:rPr sz="1100" spc="-20" dirty="0">
                <a:latin typeface="LM Sans 10"/>
                <a:cs typeface="LM Sans 10"/>
              </a:rPr>
              <a:t>ways: </a:t>
            </a:r>
            <a:r>
              <a:rPr sz="1100" spc="10" dirty="0">
                <a:solidFill>
                  <a:srgbClr val="FF0000"/>
                </a:solidFill>
                <a:latin typeface="LM Sans 10"/>
                <a:cs typeface="LM Sans 10"/>
              </a:rPr>
              <a:t>(</a:t>
            </a:r>
            <a:r>
              <a:rPr sz="1100" i="1" spc="10" dirty="0">
                <a:solidFill>
                  <a:srgbClr val="FF0000"/>
                </a:solidFill>
                <a:latin typeface="LM Sans 10"/>
                <a:cs typeface="LM Sans 10"/>
              </a:rPr>
              <a:t>AB</a:t>
            </a:r>
            <a:r>
              <a:rPr sz="1100" spc="10" dirty="0">
                <a:solidFill>
                  <a:srgbClr val="FF0000"/>
                </a:solidFill>
                <a:latin typeface="LM Sans 10"/>
                <a:cs typeface="LM Sans 10"/>
              </a:rPr>
              <a:t>)</a:t>
            </a:r>
            <a:r>
              <a:rPr sz="1100" i="1" spc="10" dirty="0">
                <a:solidFill>
                  <a:srgbClr val="FF0000"/>
                </a:solidFill>
                <a:latin typeface="LM Sans 10"/>
                <a:cs typeface="LM Sans 10"/>
              </a:rPr>
              <a:t>C </a:t>
            </a:r>
            <a:r>
              <a:rPr sz="1100" spc="-10" dirty="0">
                <a:latin typeface="LM Sans 10"/>
                <a:cs typeface="LM Sans 10"/>
              </a:rPr>
              <a:t>and</a:t>
            </a:r>
            <a:r>
              <a:rPr sz="1100" spc="190" dirty="0">
                <a:latin typeface="LM Sans 10"/>
                <a:cs typeface="LM Sans 10"/>
              </a:rPr>
              <a:t> </a:t>
            </a:r>
            <a:r>
              <a:rPr sz="1100" i="1" spc="-10" dirty="0">
                <a:solidFill>
                  <a:srgbClr val="FF0000"/>
                </a:solidFill>
                <a:latin typeface="LM Sans 10"/>
                <a:cs typeface="LM Sans 10"/>
              </a:rPr>
              <a:t>A</a:t>
            </a:r>
            <a:r>
              <a:rPr sz="1100" spc="-10" dirty="0">
                <a:solidFill>
                  <a:srgbClr val="FF0000"/>
                </a:solidFill>
                <a:latin typeface="LM Sans 10"/>
                <a:cs typeface="LM Sans 10"/>
              </a:rPr>
              <a:t>(</a:t>
            </a:r>
            <a:r>
              <a:rPr sz="1100" i="1" spc="-10" dirty="0">
                <a:solidFill>
                  <a:srgbClr val="FF0000"/>
                </a:solidFill>
                <a:latin typeface="LM Sans 10"/>
                <a:cs typeface="LM Sans 10"/>
              </a:rPr>
              <a:t>BC </a:t>
            </a:r>
            <a:r>
              <a:rPr sz="1100" spc="-5" dirty="0">
                <a:solidFill>
                  <a:srgbClr val="FF0000"/>
                </a:solidFill>
                <a:latin typeface="LM Sans 10"/>
                <a:cs typeface="LM Sans 10"/>
              </a:rPr>
              <a:t>)</a:t>
            </a:r>
            <a:endParaRPr sz="1100">
              <a:latin typeface="LM Sans 10"/>
              <a:cs typeface="LM Sans 10"/>
            </a:endParaRPr>
          </a:p>
          <a:p>
            <a:pPr marL="12700">
              <a:lnSpc>
                <a:spcPct val="100000"/>
              </a:lnSpc>
              <a:spcBef>
                <a:spcPts val="204"/>
              </a:spcBef>
            </a:pPr>
            <a:r>
              <a:rPr sz="1100" spc="-10" dirty="0">
                <a:latin typeface="LM Sans 10"/>
                <a:cs typeface="LM Sans 10"/>
              </a:rPr>
              <a:t>The </a:t>
            </a:r>
            <a:r>
              <a:rPr sz="1100" spc="-5" dirty="0">
                <a:latin typeface="LM Sans 10"/>
                <a:cs typeface="LM Sans 10"/>
              </a:rPr>
              <a:t>number of multiplications needed</a:t>
            </a:r>
            <a:r>
              <a:rPr sz="1100" spc="-10" dirty="0">
                <a:latin typeface="LM Sans 10"/>
                <a:cs typeface="LM Sans 10"/>
              </a:rPr>
              <a:t> </a:t>
            </a:r>
            <a:r>
              <a:rPr sz="1100" spc="-15" dirty="0">
                <a:latin typeface="LM Sans 10"/>
                <a:cs typeface="LM Sans 10"/>
              </a:rPr>
              <a:t>are:</a:t>
            </a:r>
            <a:endParaRPr sz="1100">
              <a:latin typeface="LM Sans 10"/>
              <a:cs typeface="LM Sans 10"/>
            </a:endParaRPr>
          </a:p>
          <a:p>
            <a:pPr marL="946150">
              <a:lnSpc>
                <a:spcPct val="100000"/>
              </a:lnSpc>
              <a:spcBef>
                <a:spcPts val="880"/>
              </a:spcBef>
            </a:pPr>
            <a:r>
              <a:rPr sz="1100" i="1" spc="10" dirty="0">
                <a:latin typeface="LM Sans 10"/>
                <a:cs typeface="LM Sans 10"/>
              </a:rPr>
              <a:t>mult</a:t>
            </a:r>
            <a:r>
              <a:rPr sz="1100" spc="10" dirty="0">
                <a:latin typeface="LM Sans 10"/>
                <a:cs typeface="LM Sans 10"/>
              </a:rPr>
              <a:t>[(</a:t>
            </a:r>
            <a:r>
              <a:rPr sz="1100" i="1" spc="10" dirty="0">
                <a:latin typeface="LM Sans 10"/>
                <a:cs typeface="LM Sans 10"/>
              </a:rPr>
              <a:t>AB</a:t>
            </a:r>
            <a:r>
              <a:rPr sz="1100" spc="10" dirty="0">
                <a:latin typeface="LM Sans 10"/>
                <a:cs typeface="LM Sans 10"/>
              </a:rPr>
              <a:t>)</a:t>
            </a:r>
            <a:r>
              <a:rPr sz="1100" i="1" spc="10" dirty="0">
                <a:latin typeface="LM Sans 10"/>
                <a:cs typeface="LM Sans 10"/>
              </a:rPr>
              <a:t>C </a:t>
            </a:r>
            <a:r>
              <a:rPr sz="1100" spc="-5" dirty="0">
                <a:latin typeface="LM Sans 10"/>
                <a:cs typeface="LM Sans 10"/>
              </a:rPr>
              <a:t>]  </a:t>
            </a:r>
            <a:r>
              <a:rPr sz="1100" spc="-10" dirty="0">
                <a:latin typeface="LM Sans 10"/>
                <a:cs typeface="LM Sans 10"/>
              </a:rPr>
              <a:t>=  </a:t>
            </a:r>
            <a:r>
              <a:rPr sz="1100" i="1" dirty="0">
                <a:latin typeface="LM Sans 10"/>
                <a:cs typeface="LM Sans 10"/>
              </a:rPr>
              <a:t>pqr </a:t>
            </a:r>
            <a:r>
              <a:rPr sz="1100" spc="-10" dirty="0">
                <a:latin typeface="LM Sans 10"/>
                <a:cs typeface="LM Sans 10"/>
              </a:rPr>
              <a:t>+</a:t>
            </a:r>
            <a:r>
              <a:rPr sz="1100" spc="114" dirty="0">
                <a:latin typeface="LM Sans 10"/>
                <a:cs typeface="LM Sans 10"/>
              </a:rPr>
              <a:t> </a:t>
            </a:r>
            <a:r>
              <a:rPr sz="1100" i="1" spc="5" dirty="0">
                <a:latin typeface="LM Sans 10"/>
                <a:cs typeface="LM Sans 10"/>
              </a:rPr>
              <a:t>prs</a:t>
            </a:r>
            <a:r>
              <a:rPr sz="1100" i="1" spc="5" dirty="0">
                <a:latin typeface="LM Roman Dunhill 10"/>
                <a:cs typeface="LM Roman Dunhill 10"/>
              </a:rPr>
              <a:t>,</a:t>
            </a:r>
            <a:endParaRPr sz="1100">
              <a:latin typeface="LM Roman Dunhill 10"/>
              <a:cs typeface="LM Roman Dunhill 10"/>
            </a:endParaRPr>
          </a:p>
          <a:p>
            <a:pPr marL="957580">
              <a:lnSpc>
                <a:spcPct val="100000"/>
              </a:lnSpc>
              <a:spcBef>
                <a:spcPts val="335"/>
              </a:spcBef>
            </a:pPr>
            <a:r>
              <a:rPr sz="1100" i="1" dirty="0">
                <a:latin typeface="LM Sans 10"/>
                <a:cs typeface="LM Sans 10"/>
              </a:rPr>
              <a:t>mult</a:t>
            </a:r>
            <a:r>
              <a:rPr sz="1100" dirty="0">
                <a:latin typeface="LM Sans 10"/>
                <a:cs typeface="LM Sans 10"/>
              </a:rPr>
              <a:t>[</a:t>
            </a:r>
            <a:r>
              <a:rPr sz="1100" i="1" dirty="0">
                <a:latin typeface="LM Sans 10"/>
                <a:cs typeface="LM Sans 10"/>
              </a:rPr>
              <a:t>A</a:t>
            </a:r>
            <a:r>
              <a:rPr sz="1100" dirty="0">
                <a:latin typeface="LM Sans 10"/>
                <a:cs typeface="LM Sans 10"/>
              </a:rPr>
              <a:t>(</a:t>
            </a:r>
            <a:r>
              <a:rPr sz="1100" i="1" dirty="0">
                <a:latin typeface="LM Sans 10"/>
                <a:cs typeface="LM Sans 10"/>
              </a:rPr>
              <a:t>BC </a:t>
            </a:r>
            <a:r>
              <a:rPr sz="1100" spc="-5" dirty="0">
                <a:latin typeface="LM Sans 10"/>
                <a:cs typeface="LM Sans 10"/>
              </a:rPr>
              <a:t>)]  </a:t>
            </a:r>
            <a:r>
              <a:rPr sz="1100" spc="-10" dirty="0">
                <a:latin typeface="LM Sans 10"/>
                <a:cs typeface="LM Sans 10"/>
              </a:rPr>
              <a:t>=  </a:t>
            </a:r>
            <a:r>
              <a:rPr sz="1100" i="1" spc="-5" dirty="0">
                <a:latin typeface="LM Sans 10"/>
                <a:cs typeface="LM Sans 10"/>
              </a:rPr>
              <a:t>qrs </a:t>
            </a:r>
            <a:r>
              <a:rPr sz="1100" spc="-10" dirty="0">
                <a:latin typeface="LM Sans 10"/>
                <a:cs typeface="LM Sans 10"/>
              </a:rPr>
              <a:t>+</a:t>
            </a:r>
            <a:r>
              <a:rPr sz="1100" spc="95" dirty="0">
                <a:latin typeface="LM Sans 10"/>
                <a:cs typeface="LM Sans 10"/>
              </a:rPr>
              <a:t> </a:t>
            </a:r>
            <a:r>
              <a:rPr sz="1100" i="1" spc="20" dirty="0">
                <a:latin typeface="LM Sans 10"/>
                <a:cs typeface="LM Sans 10"/>
              </a:rPr>
              <a:t>pqs</a:t>
            </a:r>
            <a:r>
              <a:rPr sz="1100" i="1" spc="20" dirty="0">
                <a:latin typeface="LM Roman Dunhill 10"/>
                <a:cs typeface="LM Roman Dunhill 10"/>
              </a:rPr>
              <a:t>.</a:t>
            </a:r>
            <a:endParaRPr sz="1100">
              <a:latin typeface="LM Roman Dunhill 10"/>
              <a:cs typeface="LM Roman Dunhill 10"/>
            </a:endParaRPr>
          </a:p>
        </p:txBody>
      </p:sp>
      <p:sp>
        <p:nvSpPr>
          <p:cNvPr id="5" name="object 5"/>
          <p:cNvSpPr/>
          <p:nvPr/>
        </p:nvSpPr>
        <p:spPr>
          <a:xfrm>
            <a:off x="502551" y="843051"/>
            <a:ext cx="65265" cy="65265"/>
          </a:xfrm>
          <a:prstGeom prst="rect">
            <a:avLst/>
          </a:prstGeom>
          <a:blipFill>
            <a:blip r:embed="rId2" cstate="print"/>
            <a:stretch>
              <a:fillRect/>
            </a:stretch>
          </a:blipFill>
        </p:spPr>
        <p:txBody>
          <a:bodyPr wrap="square" lIns="0" tIns="0" rIns="0" bIns="0" rtlCol="0"/>
          <a:lstStyle/>
          <a:p>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2" name="object 12"/>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6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208530" cy="244475"/>
          </a:xfrm>
          <a:prstGeom prst="rect">
            <a:avLst/>
          </a:prstGeom>
        </p:spPr>
        <p:txBody>
          <a:bodyPr vert="horz" wrap="square" lIns="0" tIns="17145" rIns="0" bIns="0" rtlCol="0">
            <a:spAutoFit/>
          </a:bodyPr>
          <a:lstStyle/>
          <a:p>
            <a:pPr marL="12700">
              <a:lnSpc>
                <a:spcPct val="100000"/>
              </a:lnSpc>
              <a:spcBef>
                <a:spcPts val="135"/>
              </a:spcBef>
            </a:pPr>
            <a:r>
              <a:rPr spc="10" dirty="0"/>
              <a:t>Matrix Multiplication of</a:t>
            </a:r>
            <a:r>
              <a:rPr spc="-10" dirty="0"/>
              <a:t> </a:t>
            </a:r>
            <a:r>
              <a:rPr i="1" spc="20" dirty="0">
                <a:latin typeface="LM Sans 12"/>
                <a:cs typeface="LM Sans 12"/>
              </a:rPr>
              <a:t>ABC</a:t>
            </a:r>
          </a:p>
        </p:txBody>
      </p:sp>
      <p:sp>
        <p:nvSpPr>
          <p:cNvPr id="3" name="object 3"/>
          <p:cNvSpPr/>
          <p:nvPr/>
        </p:nvSpPr>
        <p:spPr>
          <a:xfrm>
            <a:off x="502551" y="476986"/>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02551" y="843051"/>
            <a:ext cx="65265" cy="65265"/>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337235" y="1715860"/>
            <a:ext cx="4040504" cy="1294765"/>
            <a:chOff x="309193" y="1632305"/>
            <a:chExt cx="4040504" cy="1294765"/>
          </a:xfrm>
        </p:grpSpPr>
        <p:sp>
          <p:nvSpPr>
            <p:cNvPr id="6" name="object 6"/>
            <p:cNvSpPr/>
            <p:nvPr/>
          </p:nvSpPr>
          <p:spPr>
            <a:xfrm>
              <a:off x="309193" y="1632305"/>
              <a:ext cx="3989704" cy="186690"/>
            </a:xfrm>
            <a:custGeom>
              <a:avLst/>
              <a:gdLst/>
              <a:ahLst/>
              <a:cxnLst/>
              <a:rect l="l" t="t" r="r" b="b"/>
              <a:pathLst>
                <a:path w="3989704" h="186689">
                  <a:moveTo>
                    <a:pt x="3938854" y="0"/>
                  </a:moveTo>
                  <a:lnTo>
                    <a:pt x="50800" y="0"/>
                  </a:lnTo>
                  <a:lnTo>
                    <a:pt x="31075" y="4008"/>
                  </a:lnTo>
                  <a:lnTo>
                    <a:pt x="14922" y="14922"/>
                  </a:lnTo>
                  <a:lnTo>
                    <a:pt x="4008" y="31075"/>
                  </a:lnTo>
                  <a:lnTo>
                    <a:pt x="0" y="50800"/>
                  </a:lnTo>
                  <a:lnTo>
                    <a:pt x="0" y="186558"/>
                  </a:lnTo>
                  <a:lnTo>
                    <a:pt x="3989654" y="186558"/>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7" name="object 7"/>
            <p:cNvSpPr/>
            <p:nvPr/>
          </p:nvSpPr>
          <p:spPr>
            <a:xfrm>
              <a:off x="309194" y="1806206"/>
              <a:ext cx="3989653" cy="50609"/>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359994" y="2825115"/>
              <a:ext cx="101600" cy="1016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10794" y="2812415"/>
              <a:ext cx="3938802" cy="114300"/>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4298848" y="1676539"/>
              <a:ext cx="50749" cy="1148575"/>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309193" y="1850481"/>
              <a:ext cx="3989704" cy="1025525"/>
            </a:xfrm>
            <a:custGeom>
              <a:avLst/>
              <a:gdLst/>
              <a:ahLst/>
              <a:cxnLst/>
              <a:rect l="l" t="t" r="r" b="b"/>
              <a:pathLst>
                <a:path w="3989704" h="1025525">
                  <a:moveTo>
                    <a:pt x="3989654" y="0"/>
                  </a:moveTo>
                  <a:lnTo>
                    <a:pt x="0" y="0"/>
                  </a:lnTo>
                  <a:lnTo>
                    <a:pt x="0" y="974633"/>
                  </a:lnTo>
                  <a:lnTo>
                    <a:pt x="4008" y="994358"/>
                  </a:lnTo>
                  <a:lnTo>
                    <a:pt x="14922" y="1010511"/>
                  </a:lnTo>
                  <a:lnTo>
                    <a:pt x="31075" y="1021425"/>
                  </a:lnTo>
                  <a:lnTo>
                    <a:pt x="50800" y="1025433"/>
                  </a:lnTo>
                  <a:lnTo>
                    <a:pt x="3938854" y="1025433"/>
                  </a:lnTo>
                  <a:lnTo>
                    <a:pt x="3958579" y="1021425"/>
                  </a:lnTo>
                  <a:lnTo>
                    <a:pt x="3974732" y="1010511"/>
                  </a:lnTo>
                  <a:lnTo>
                    <a:pt x="3985646" y="994358"/>
                  </a:lnTo>
                  <a:lnTo>
                    <a:pt x="3989654" y="974633"/>
                  </a:lnTo>
                  <a:lnTo>
                    <a:pt x="3989654" y="0"/>
                  </a:lnTo>
                  <a:close/>
                </a:path>
              </a:pathLst>
            </a:custGeom>
            <a:solidFill>
              <a:srgbClr val="E5EFE5"/>
            </a:solidFill>
          </p:spPr>
          <p:txBody>
            <a:bodyPr wrap="square" lIns="0" tIns="0" rIns="0" bIns="0" rtlCol="0"/>
            <a:lstStyle/>
            <a:p>
              <a:endParaRPr/>
            </a:p>
          </p:txBody>
        </p:sp>
        <p:sp>
          <p:nvSpPr>
            <p:cNvPr id="12" name="object 12"/>
            <p:cNvSpPr/>
            <p:nvPr/>
          </p:nvSpPr>
          <p:spPr>
            <a:xfrm>
              <a:off x="4298848" y="1714628"/>
              <a:ext cx="0" cy="1129665"/>
            </a:xfrm>
            <a:custGeom>
              <a:avLst/>
              <a:gdLst/>
              <a:ahLst/>
              <a:cxnLst/>
              <a:rect l="l" t="t" r="r" b="b"/>
              <a:pathLst>
                <a:path h="1129664">
                  <a:moveTo>
                    <a:pt x="0" y="1129536"/>
                  </a:moveTo>
                  <a:lnTo>
                    <a:pt x="0" y="0"/>
                  </a:lnTo>
                </a:path>
              </a:pathLst>
            </a:custGeom>
            <a:ln w="3175">
              <a:solidFill>
                <a:srgbClr val="7F7F7F"/>
              </a:solidFill>
            </a:ln>
          </p:spPr>
          <p:txBody>
            <a:bodyPr wrap="square" lIns="0" tIns="0" rIns="0" bIns="0" rtlCol="0"/>
            <a:lstStyle/>
            <a:p>
              <a:endParaRPr/>
            </a:p>
          </p:txBody>
        </p:sp>
        <p:sp>
          <p:nvSpPr>
            <p:cNvPr id="13" name="object 13"/>
            <p:cNvSpPr/>
            <p:nvPr/>
          </p:nvSpPr>
          <p:spPr>
            <a:xfrm>
              <a:off x="4298848" y="1701928"/>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4" name="object 14"/>
            <p:cNvSpPr/>
            <p:nvPr/>
          </p:nvSpPr>
          <p:spPr>
            <a:xfrm>
              <a:off x="4298848" y="1689228"/>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5" name="object 15"/>
            <p:cNvSpPr/>
            <p:nvPr/>
          </p:nvSpPr>
          <p:spPr>
            <a:xfrm>
              <a:off x="4298848" y="1676528"/>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6" name="object 16"/>
          <p:cNvSpPr txBox="1"/>
          <p:nvPr/>
        </p:nvSpPr>
        <p:spPr>
          <a:xfrm>
            <a:off x="347294" y="393546"/>
            <a:ext cx="3762375" cy="2451735"/>
          </a:xfrm>
          <a:prstGeom prst="rect">
            <a:avLst/>
          </a:prstGeom>
        </p:spPr>
        <p:txBody>
          <a:bodyPr vert="horz" wrap="square" lIns="0" tIns="11430" rIns="0" bIns="0" rtlCol="0">
            <a:spAutoFit/>
          </a:bodyPr>
          <a:lstStyle/>
          <a:p>
            <a:pPr marL="289560">
              <a:lnSpc>
                <a:spcPct val="100000"/>
              </a:lnSpc>
              <a:spcBef>
                <a:spcPts val="90"/>
              </a:spcBef>
            </a:pPr>
            <a:r>
              <a:rPr sz="1100" spc="-10" dirty="0">
                <a:latin typeface="LM Sans 10"/>
                <a:cs typeface="LM Sans 10"/>
              </a:rPr>
              <a:t>Given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10" dirty="0">
                <a:solidFill>
                  <a:srgbClr val="0000FF"/>
                </a:solidFill>
                <a:latin typeface="LM Sans 10"/>
                <a:cs typeface="LM Sans 10"/>
              </a:rPr>
              <a:t>q </a:t>
            </a:r>
            <a:r>
              <a:rPr sz="1100" spc="-5" dirty="0">
                <a:latin typeface="LM Sans 10"/>
                <a:cs typeface="LM Sans 10"/>
              </a:rPr>
              <a:t>matrix </a:t>
            </a:r>
            <a:r>
              <a:rPr sz="1100" i="1" spc="-10" dirty="0">
                <a:latin typeface="LM Sans 10"/>
                <a:cs typeface="LM Sans 10"/>
              </a:rPr>
              <a:t>A</a:t>
            </a:r>
            <a:r>
              <a:rPr sz="1100" spc="-10" dirty="0">
                <a:latin typeface="LM Sans 10"/>
                <a:cs typeface="LM Sans 10"/>
              </a:rPr>
              <a:t>, </a:t>
            </a:r>
            <a:r>
              <a:rPr sz="1100" i="1" spc="-10" dirty="0">
                <a:solidFill>
                  <a:srgbClr val="0000FF"/>
                </a:solidFill>
                <a:latin typeface="LM Sans 10"/>
                <a:cs typeface="LM Sans 10"/>
              </a:rPr>
              <a:t>q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B </a:t>
            </a:r>
            <a:r>
              <a:rPr sz="1100" spc="-10" dirty="0">
                <a:latin typeface="LM Sans 10"/>
                <a:cs typeface="LM Sans 10"/>
              </a:rPr>
              <a:t>and </a:t>
            </a:r>
            <a:r>
              <a:rPr sz="1100" i="1" spc="-5" dirty="0">
                <a:solidFill>
                  <a:srgbClr val="0000FF"/>
                </a:solidFill>
                <a:latin typeface="LM Sans 10"/>
                <a:cs typeface="LM Sans 10"/>
              </a:rPr>
              <a:t>r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s </a:t>
            </a:r>
            <a:r>
              <a:rPr sz="1100" spc="-5" dirty="0">
                <a:latin typeface="LM Sans 10"/>
                <a:cs typeface="LM Sans 10"/>
              </a:rPr>
              <a:t>matrix </a:t>
            </a:r>
            <a:r>
              <a:rPr sz="1100" i="1" spc="-10" dirty="0">
                <a:latin typeface="LM Sans 10"/>
                <a:cs typeface="LM Sans 10"/>
              </a:rPr>
              <a:t>C</a:t>
            </a:r>
            <a:r>
              <a:rPr sz="1100" i="1" spc="-315" dirty="0">
                <a:latin typeface="LM Sans 10"/>
                <a:cs typeface="LM Sans 10"/>
              </a:rPr>
              <a:t> </a:t>
            </a:r>
            <a:r>
              <a:rPr sz="1100" spc="-5" dirty="0">
                <a:latin typeface="LM Sans 10"/>
                <a:cs typeface="LM Sans 10"/>
              </a:rPr>
              <a:t>,</a:t>
            </a:r>
            <a:endParaRPr sz="1100" dirty="0">
              <a:latin typeface="LM Sans 10"/>
              <a:cs typeface="LM Sans 10"/>
            </a:endParaRPr>
          </a:p>
          <a:p>
            <a:pPr marL="289560">
              <a:lnSpc>
                <a:spcPct val="100000"/>
              </a:lnSpc>
              <a:spcBef>
                <a:spcPts val="35"/>
              </a:spcBef>
            </a:pPr>
            <a:r>
              <a:rPr sz="1100" i="1" spc="-10" dirty="0">
                <a:latin typeface="LM Sans 10"/>
                <a:cs typeface="LM Sans 10"/>
              </a:rPr>
              <a:t>ABC </a:t>
            </a:r>
            <a:r>
              <a:rPr sz="1100" spc="-10" dirty="0">
                <a:latin typeface="LM Sans 10"/>
                <a:cs typeface="LM Sans 10"/>
              </a:rPr>
              <a:t>can </a:t>
            </a:r>
            <a:r>
              <a:rPr sz="1100" spc="10" dirty="0">
                <a:latin typeface="LM Sans 10"/>
                <a:cs typeface="LM Sans 10"/>
              </a:rPr>
              <a:t>be </a:t>
            </a:r>
            <a:r>
              <a:rPr sz="1100" spc="-10" dirty="0">
                <a:latin typeface="LM Sans 10"/>
                <a:cs typeface="LM Sans 10"/>
              </a:rPr>
              <a:t>computed </a:t>
            </a:r>
            <a:r>
              <a:rPr sz="1100" spc="-5" dirty="0">
                <a:latin typeface="LM Sans 10"/>
                <a:cs typeface="LM Sans 10"/>
              </a:rPr>
              <a:t>in </a:t>
            </a:r>
            <a:r>
              <a:rPr sz="1100" spc="-30" dirty="0">
                <a:latin typeface="LM Sans 10"/>
                <a:cs typeface="LM Sans 10"/>
              </a:rPr>
              <a:t>two </a:t>
            </a:r>
            <a:r>
              <a:rPr sz="1100" spc="-20" dirty="0">
                <a:latin typeface="LM Sans 10"/>
                <a:cs typeface="LM Sans 10"/>
              </a:rPr>
              <a:t>ways: </a:t>
            </a:r>
            <a:r>
              <a:rPr sz="1100" spc="10" dirty="0">
                <a:solidFill>
                  <a:srgbClr val="FF0000"/>
                </a:solidFill>
                <a:latin typeface="LM Sans 10"/>
                <a:cs typeface="LM Sans 10"/>
              </a:rPr>
              <a:t>(</a:t>
            </a:r>
            <a:r>
              <a:rPr sz="1100" i="1" spc="10" dirty="0">
                <a:solidFill>
                  <a:srgbClr val="FF0000"/>
                </a:solidFill>
                <a:latin typeface="LM Sans 10"/>
                <a:cs typeface="LM Sans 10"/>
              </a:rPr>
              <a:t>AB</a:t>
            </a:r>
            <a:r>
              <a:rPr sz="1100" spc="10" dirty="0">
                <a:solidFill>
                  <a:srgbClr val="FF0000"/>
                </a:solidFill>
                <a:latin typeface="LM Sans 10"/>
                <a:cs typeface="LM Sans 10"/>
              </a:rPr>
              <a:t>)</a:t>
            </a:r>
            <a:r>
              <a:rPr sz="1100" i="1" spc="10" dirty="0">
                <a:solidFill>
                  <a:srgbClr val="FF0000"/>
                </a:solidFill>
                <a:latin typeface="LM Sans 10"/>
                <a:cs typeface="LM Sans 10"/>
              </a:rPr>
              <a:t>C </a:t>
            </a:r>
            <a:r>
              <a:rPr sz="1100" spc="-10" dirty="0">
                <a:latin typeface="LM Sans 10"/>
                <a:cs typeface="LM Sans 10"/>
              </a:rPr>
              <a:t>and</a:t>
            </a:r>
            <a:r>
              <a:rPr sz="1100" spc="190" dirty="0">
                <a:latin typeface="LM Sans 10"/>
                <a:cs typeface="LM Sans 10"/>
              </a:rPr>
              <a:t> </a:t>
            </a:r>
            <a:r>
              <a:rPr sz="1100" i="1" spc="-10" dirty="0">
                <a:solidFill>
                  <a:srgbClr val="FF0000"/>
                </a:solidFill>
                <a:latin typeface="LM Sans 10"/>
                <a:cs typeface="LM Sans 10"/>
              </a:rPr>
              <a:t>A</a:t>
            </a:r>
            <a:r>
              <a:rPr sz="1100" spc="-10" dirty="0">
                <a:solidFill>
                  <a:srgbClr val="FF0000"/>
                </a:solidFill>
                <a:latin typeface="LM Sans 10"/>
                <a:cs typeface="LM Sans 10"/>
              </a:rPr>
              <a:t>(</a:t>
            </a:r>
            <a:r>
              <a:rPr sz="1100" i="1" spc="-10" dirty="0">
                <a:solidFill>
                  <a:srgbClr val="FF0000"/>
                </a:solidFill>
                <a:latin typeface="LM Sans 10"/>
                <a:cs typeface="LM Sans 10"/>
              </a:rPr>
              <a:t>BC </a:t>
            </a:r>
            <a:r>
              <a:rPr sz="1100" spc="-5" dirty="0">
                <a:solidFill>
                  <a:srgbClr val="FF0000"/>
                </a:solidFill>
                <a:latin typeface="LM Sans 10"/>
                <a:cs typeface="LM Sans 10"/>
              </a:rPr>
              <a:t>)</a:t>
            </a:r>
            <a:endParaRPr sz="1100" dirty="0">
              <a:latin typeface="LM Sans 10"/>
              <a:cs typeface="LM Sans 10"/>
            </a:endParaRPr>
          </a:p>
          <a:p>
            <a:pPr marL="289560">
              <a:lnSpc>
                <a:spcPct val="100000"/>
              </a:lnSpc>
              <a:spcBef>
                <a:spcPts val="204"/>
              </a:spcBef>
            </a:pPr>
            <a:r>
              <a:rPr sz="1100" spc="-10" dirty="0">
                <a:latin typeface="LM Sans 10"/>
                <a:cs typeface="LM Sans 10"/>
              </a:rPr>
              <a:t>The </a:t>
            </a:r>
            <a:r>
              <a:rPr sz="1100" spc="-5" dirty="0">
                <a:latin typeface="LM Sans 10"/>
                <a:cs typeface="LM Sans 10"/>
              </a:rPr>
              <a:t>number of multiplications needed</a:t>
            </a:r>
            <a:r>
              <a:rPr sz="1100" spc="-10" dirty="0">
                <a:latin typeface="LM Sans 10"/>
                <a:cs typeface="LM Sans 10"/>
              </a:rPr>
              <a:t> </a:t>
            </a:r>
            <a:r>
              <a:rPr sz="1100" spc="-15" dirty="0">
                <a:latin typeface="LM Sans 10"/>
                <a:cs typeface="LM Sans 10"/>
              </a:rPr>
              <a:t>are:</a:t>
            </a:r>
            <a:endParaRPr sz="1100" dirty="0">
              <a:latin typeface="LM Sans 10"/>
              <a:cs typeface="LM Sans 10"/>
            </a:endParaRPr>
          </a:p>
          <a:p>
            <a:pPr marL="1223010">
              <a:lnSpc>
                <a:spcPct val="100000"/>
              </a:lnSpc>
              <a:spcBef>
                <a:spcPts val="880"/>
              </a:spcBef>
            </a:pPr>
            <a:r>
              <a:rPr sz="1100" i="1" spc="10" dirty="0">
                <a:latin typeface="LM Sans 10"/>
                <a:cs typeface="LM Sans 10"/>
              </a:rPr>
              <a:t>mult</a:t>
            </a:r>
            <a:r>
              <a:rPr sz="1100" spc="10" dirty="0">
                <a:latin typeface="LM Sans 10"/>
                <a:cs typeface="LM Sans 10"/>
              </a:rPr>
              <a:t>[(</a:t>
            </a:r>
            <a:r>
              <a:rPr sz="1100" i="1" spc="10" dirty="0">
                <a:latin typeface="LM Sans 10"/>
                <a:cs typeface="LM Sans 10"/>
              </a:rPr>
              <a:t>AB</a:t>
            </a:r>
            <a:r>
              <a:rPr sz="1100" spc="10" dirty="0">
                <a:latin typeface="LM Sans 10"/>
                <a:cs typeface="LM Sans 10"/>
              </a:rPr>
              <a:t>)</a:t>
            </a:r>
            <a:r>
              <a:rPr sz="1100" i="1" spc="10" dirty="0">
                <a:latin typeface="LM Sans 10"/>
                <a:cs typeface="LM Sans 10"/>
              </a:rPr>
              <a:t>C </a:t>
            </a:r>
            <a:r>
              <a:rPr sz="1100" spc="-5" dirty="0">
                <a:latin typeface="LM Sans 10"/>
                <a:cs typeface="LM Sans 10"/>
              </a:rPr>
              <a:t>]  </a:t>
            </a:r>
            <a:r>
              <a:rPr sz="1100" spc="-10" dirty="0">
                <a:latin typeface="LM Sans 10"/>
                <a:cs typeface="LM Sans 10"/>
              </a:rPr>
              <a:t>=  </a:t>
            </a:r>
            <a:r>
              <a:rPr sz="1100" i="1" dirty="0">
                <a:latin typeface="LM Sans 10"/>
                <a:cs typeface="LM Sans 10"/>
              </a:rPr>
              <a:t>pqr </a:t>
            </a:r>
            <a:r>
              <a:rPr sz="1100" spc="-10" dirty="0">
                <a:latin typeface="LM Sans 10"/>
                <a:cs typeface="LM Sans 10"/>
              </a:rPr>
              <a:t>+</a:t>
            </a:r>
            <a:r>
              <a:rPr sz="1100" spc="114" dirty="0">
                <a:latin typeface="LM Sans 10"/>
                <a:cs typeface="LM Sans 10"/>
              </a:rPr>
              <a:t> </a:t>
            </a:r>
            <a:r>
              <a:rPr sz="1100" i="1" spc="5" dirty="0">
                <a:latin typeface="LM Sans 10"/>
                <a:cs typeface="LM Sans 10"/>
              </a:rPr>
              <a:t>prs</a:t>
            </a:r>
            <a:r>
              <a:rPr sz="1100" i="1" spc="5" dirty="0">
                <a:latin typeface="LM Roman Dunhill 10"/>
                <a:cs typeface="LM Roman Dunhill 10"/>
              </a:rPr>
              <a:t>,</a:t>
            </a:r>
            <a:endParaRPr sz="1100" dirty="0">
              <a:latin typeface="LM Roman Dunhill 10"/>
              <a:cs typeface="LM Roman Dunhill 10"/>
            </a:endParaRPr>
          </a:p>
          <a:p>
            <a:pPr marL="1234440">
              <a:lnSpc>
                <a:spcPct val="100000"/>
              </a:lnSpc>
              <a:spcBef>
                <a:spcPts val="335"/>
              </a:spcBef>
            </a:pPr>
            <a:r>
              <a:rPr sz="1100" i="1" dirty="0">
                <a:latin typeface="LM Sans 10"/>
                <a:cs typeface="LM Sans 10"/>
              </a:rPr>
              <a:t>mult</a:t>
            </a:r>
            <a:r>
              <a:rPr sz="1100" dirty="0">
                <a:latin typeface="LM Sans 10"/>
                <a:cs typeface="LM Sans 10"/>
              </a:rPr>
              <a:t>[</a:t>
            </a:r>
            <a:r>
              <a:rPr sz="1100" i="1" dirty="0">
                <a:latin typeface="LM Sans 10"/>
                <a:cs typeface="LM Sans 10"/>
              </a:rPr>
              <a:t>A</a:t>
            </a:r>
            <a:r>
              <a:rPr sz="1100" dirty="0">
                <a:latin typeface="LM Sans 10"/>
                <a:cs typeface="LM Sans 10"/>
              </a:rPr>
              <a:t>(</a:t>
            </a:r>
            <a:r>
              <a:rPr sz="1100" i="1" dirty="0">
                <a:latin typeface="LM Sans 10"/>
                <a:cs typeface="LM Sans 10"/>
              </a:rPr>
              <a:t>BC </a:t>
            </a:r>
            <a:r>
              <a:rPr sz="1100" spc="-5" dirty="0">
                <a:latin typeface="LM Sans 10"/>
                <a:cs typeface="LM Sans 10"/>
              </a:rPr>
              <a:t>)]  </a:t>
            </a:r>
            <a:r>
              <a:rPr sz="1100" spc="-10" dirty="0">
                <a:latin typeface="LM Sans 10"/>
                <a:cs typeface="LM Sans 10"/>
              </a:rPr>
              <a:t>=  </a:t>
            </a:r>
            <a:r>
              <a:rPr sz="1100" i="1" spc="-5" dirty="0">
                <a:latin typeface="LM Sans 10"/>
                <a:cs typeface="LM Sans 10"/>
              </a:rPr>
              <a:t>qrs </a:t>
            </a:r>
            <a:r>
              <a:rPr sz="1100" spc="-10" dirty="0">
                <a:latin typeface="LM Sans 10"/>
                <a:cs typeface="LM Sans 10"/>
              </a:rPr>
              <a:t>+</a:t>
            </a:r>
            <a:r>
              <a:rPr sz="1100" spc="95" dirty="0">
                <a:latin typeface="LM Sans 10"/>
                <a:cs typeface="LM Sans 10"/>
              </a:rPr>
              <a:t> </a:t>
            </a:r>
            <a:r>
              <a:rPr sz="1100" i="1" spc="20" dirty="0">
                <a:latin typeface="LM Sans 10"/>
                <a:cs typeface="LM Sans 10"/>
              </a:rPr>
              <a:t>pqs</a:t>
            </a:r>
            <a:r>
              <a:rPr sz="1100" i="1" spc="20" dirty="0">
                <a:latin typeface="LM Roman Dunhill 10"/>
                <a:cs typeface="LM Roman Dunhill 10"/>
              </a:rPr>
              <a:t>.</a:t>
            </a:r>
            <a:endParaRPr sz="1100" dirty="0">
              <a:latin typeface="LM Roman Dunhill 10"/>
              <a:cs typeface="LM Roman Dunhill 10"/>
            </a:endParaRPr>
          </a:p>
          <a:p>
            <a:pPr>
              <a:lnSpc>
                <a:spcPct val="100000"/>
              </a:lnSpc>
              <a:spcBef>
                <a:spcPts val="15"/>
              </a:spcBef>
            </a:pPr>
            <a:endParaRPr sz="750" dirty="0">
              <a:latin typeface="LM Roman Dunhill 10"/>
              <a:cs typeface="LM Roman Dunhill 10"/>
            </a:endParaRPr>
          </a:p>
          <a:p>
            <a:pPr marL="12700">
              <a:lnSpc>
                <a:spcPct val="100000"/>
              </a:lnSpc>
              <a:spcBef>
                <a:spcPts val="5"/>
              </a:spcBef>
            </a:pPr>
            <a:endParaRPr lang="en-US" sz="1100" spc="-10" dirty="0">
              <a:solidFill>
                <a:srgbClr val="FFFFFF"/>
              </a:solidFill>
              <a:latin typeface="LM Sans 10"/>
              <a:cs typeface="LM Sans 10"/>
            </a:endParaRPr>
          </a:p>
          <a:p>
            <a:pPr marL="12700">
              <a:lnSpc>
                <a:spcPct val="100000"/>
              </a:lnSpc>
              <a:spcBef>
                <a:spcPts val="5"/>
              </a:spcBef>
            </a:pPr>
            <a:r>
              <a:rPr sz="1100" spc="-10" dirty="0">
                <a:solidFill>
                  <a:srgbClr val="FFFFFF"/>
                </a:solidFill>
                <a:latin typeface="LM Sans 10"/>
                <a:cs typeface="LM Sans 10"/>
              </a:rPr>
              <a:t>Example</a:t>
            </a:r>
            <a:endParaRPr sz="1100" dirty="0">
              <a:latin typeface="LM Sans 10"/>
              <a:cs typeface="LM Sans 10"/>
            </a:endParaRPr>
          </a:p>
          <a:p>
            <a:pPr marL="12700">
              <a:lnSpc>
                <a:spcPct val="100000"/>
              </a:lnSpc>
              <a:spcBef>
                <a:spcPts val="295"/>
              </a:spcBef>
            </a:pPr>
            <a:r>
              <a:rPr sz="1100" spc="-30" dirty="0">
                <a:latin typeface="LM Sans 10"/>
                <a:cs typeface="LM Sans 10"/>
              </a:rPr>
              <a:t>For </a:t>
            </a:r>
            <a:r>
              <a:rPr sz="1100" i="1" spc="-10" dirty="0">
                <a:latin typeface="LM Sans 10"/>
                <a:cs typeface="LM Sans 10"/>
              </a:rPr>
              <a:t>p </a:t>
            </a:r>
            <a:r>
              <a:rPr sz="1100" spc="-10" dirty="0">
                <a:latin typeface="LM Sans 10"/>
                <a:cs typeface="LM Sans 10"/>
              </a:rPr>
              <a:t>= </a:t>
            </a:r>
            <a:r>
              <a:rPr sz="1100" spc="-5" dirty="0">
                <a:latin typeface="LM Sans 10"/>
                <a:cs typeface="LM Sans 10"/>
              </a:rPr>
              <a:t>5, </a:t>
            </a:r>
            <a:r>
              <a:rPr sz="1100" i="1" spc="-10" dirty="0">
                <a:latin typeface="LM Sans 10"/>
                <a:cs typeface="LM Sans 10"/>
              </a:rPr>
              <a:t>q </a:t>
            </a:r>
            <a:r>
              <a:rPr sz="1100" spc="-10" dirty="0">
                <a:latin typeface="LM Sans 10"/>
                <a:cs typeface="LM Sans 10"/>
              </a:rPr>
              <a:t>= </a:t>
            </a:r>
            <a:r>
              <a:rPr sz="1100" spc="-5" dirty="0">
                <a:latin typeface="LM Sans 10"/>
                <a:cs typeface="LM Sans 10"/>
              </a:rPr>
              <a:t>4, </a:t>
            </a:r>
            <a:r>
              <a:rPr sz="1100" i="1" spc="-5" dirty="0">
                <a:latin typeface="LM Sans 10"/>
                <a:cs typeface="LM Sans 10"/>
              </a:rPr>
              <a:t>r </a:t>
            </a:r>
            <a:r>
              <a:rPr sz="1100" spc="-10" dirty="0">
                <a:latin typeface="LM Sans 10"/>
                <a:cs typeface="LM Sans 10"/>
              </a:rPr>
              <a:t>= </a:t>
            </a:r>
            <a:r>
              <a:rPr sz="1100" spc="-5" dirty="0">
                <a:latin typeface="LM Sans 10"/>
                <a:cs typeface="LM Sans 10"/>
              </a:rPr>
              <a:t>6 </a:t>
            </a:r>
            <a:r>
              <a:rPr sz="1100" spc="-10" dirty="0">
                <a:latin typeface="LM Sans 10"/>
                <a:cs typeface="LM Sans 10"/>
              </a:rPr>
              <a:t>and </a:t>
            </a:r>
            <a:r>
              <a:rPr sz="1100" i="1" spc="-5" dirty="0">
                <a:latin typeface="LM Sans 10"/>
                <a:cs typeface="LM Sans 10"/>
              </a:rPr>
              <a:t>s </a:t>
            </a:r>
            <a:r>
              <a:rPr sz="1100" spc="-10" dirty="0">
                <a:latin typeface="LM Sans 10"/>
                <a:cs typeface="LM Sans 10"/>
              </a:rPr>
              <a:t>=</a:t>
            </a:r>
            <a:r>
              <a:rPr sz="1100" spc="-155" dirty="0">
                <a:latin typeface="LM Sans 10"/>
                <a:cs typeface="LM Sans 10"/>
              </a:rPr>
              <a:t> </a:t>
            </a:r>
            <a:r>
              <a:rPr sz="1100" spc="-5" dirty="0">
                <a:latin typeface="LM Sans 10"/>
                <a:cs typeface="LM Sans 10"/>
              </a:rPr>
              <a:t>2,</a:t>
            </a:r>
            <a:endParaRPr sz="1100" dirty="0">
              <a:latin typeface="LM Sans 10"/>
              <a:cs typeface="LM Sans 10"/>
            </a:endParaRPr>
          </a:p>
          <a:p>
            <a:pPr>
              <a:lnSpc>
                <a:spcPct val="100000"/>
              </a:lnSpc>
              <a:spcBef>
                <a:spcPts val="35"/>
              </a:spcBef>
            </a:pPr>
            <a:endParaRPr sz="750" dirty="0">
              <a:latin typeface="LM Sans 10"/>
              <a:cs typeface="LM Sans 10"/>
            </a:endParaRPr>
          </a:p>
          <a:p>
            <a:pPr marL="1259205">
              <a:lnSpc>
                <a:spcPct val="100000"/>
              </a:lnSpc>
            </a:pPr>
            <a:r>
              <a:rPr sz="1100" i="1" spc="10" dirty="0">
                <a:latin typeface="LM Sans 10"/>
                <a:cs typeface="LM Sans 10"/>
              </a:rPr>
              <a:t>mult</a:t>
            </a:r>
            <a:r>
              <a:rPr sz="1100" spc="10" dirty="0">
                <a:latin typeface="LM Sans 10"/>
                <a:cs typeface="LM Sans 10"/>
              </a:rPr>
              <a:t>[(</a:t>
            </a:r>
            <a:r>
              <a:rPr sz="1100" i="1" spc="10" dirty="0">
                <a:latin typeface="LM Sans 10"/>
                <a:cs typeface="LM Sans 10"/>
              </a:rPr>
              <a:t>AB</a:t>
            </a:r>
            <a:r>
              <a:rPr sz="1100" spc="10" dirty="0">
                <a:latin typeface="LM Sans 10"/>
                <a:cs typeface="LM Sans 10"/>
              </a:rPr>
              <a:t>)</a:t>
            </a:r>
            <a:r>
              <a:rPr sz="1100" i="1" spc="10" dirty="0">
                <a:latin typeface="LM Sans 10"/>
                <a:cs typeface="LM Sans 10"/>
              </a:rPr>
              <a:t>C </a:t>
            </a:r>
            <a:r>
              <a:rPr sz="1100" spc="-5" dirty="0">
                <a:latin typeface="LM Sans 10"/>
                <a:cs typeface="LM Sans 10"/>
              </a:rPr>
              <a:t>] </a:t>
            </a:r>
            <a:r>
              <a:rPr sz="1100" spc="-10" dirty="0">
                <a:latin typeface="LM Sans 10"/>
                <a:cs typeface="LM Sans 10"/>
              </a:rPr>
              <a:t>=</a:t>
            </a:r>
            <a:r>
              <a:rPr sz="1100" spc="270" dirty="0">
                <a:latin typeface="LM Sans 10"/>
                <a:cs typeface="LM Sans 10"/>
              </a:rPr>
              <a:t> </a:t>
            </a:r>
            <a:r>
              <a:rPr sz="1100" spc="-5" dirty="0">
                <a:latin typeface="LM Sans 10"/>
                <a:cs typeface="LM Sans 10"/>
              </a:rPr>
              <a:t>180</a:t>
            </a:r>
            <a:r>
              <a:rPr sz="1100" i="1" spc="-5" dirty="0">
                <a:latin typeface="LM Roman Dunhill 10"/>
                <a:cs typeface="LM Roman Dunhill 10"/>
              </a:rPr>
              <a:t>,</a:t>
            </a:r>
            <a:endParaRPr sz="1100" dirty="0">
              <a:latin typeface="LM Roman Dunhill 10"/>
              <a:cs typeface="LM Roman Dunhill 10"/>
            </a:endParaRPr>
          </a:p>
          <a:p>
            <a:pPr marL="1270635">
              <a:lnSpc>
                <a:spcPct val="100000"/>
              </a:lnSpc>
              <a:spcBef>
                <a:spcPts val="330"/>
              </a:spcBef>
            </a:pPr>
            <a:r>
              <a:rPr sz="1100" i="1" dirty="0">
                <a:latin typeface="LM Sans 10"/>
                <a:cs typeface="LM Sans 10"/>
              </a:rPr>
              <a:t>mult</a:t>
            </a:r>
            <a:r>
              <a:rPr sz="1100" dirty="0">
                <a:latin typeface="LM Sans 10"/>
                <a:cs typeface="LM Sans 10"/>
              </a:rPr>
              <a:t>[</a:t>
            </a:r>
            <a:r>
              <a:rPr sz="1100" i="1" dirty="0">
                <a:latin typeface="LM Sans 10"/>
                <a:cs typeface="LM Sans 10"/>
              </a:rPr>
              <a:t>A</a:t>
            </a:r>
            <a:r>
              <a:rPr sz="1100" dirty="0">
                <a:latin typeface="LM Sans 10"/>
                <a:cs typeface="LM Sans 10"/>
              </a:rPr>
              <a:t>(</a:t>
            </a:r>
            <a:r>
              <a:rPr sz="1100" i="1" dirty="0">
                <a:latin typeface="LM Sans 10"/>
                <a:cs typeface="LM Sans 10"/>
              </a:rPr>
              <a:t>BC </a:t>
            </a:r>
            <a:r>
              <a:rPr sz="1100" spc="-5" dirty="0">
                <a:latin typeface="LM Sans 10"/>
                <a:cs typeface="LM Sans 10"/>
              </a:rPr>
              <a:t>)] </a:t>
            </a:r>
            <a:r>
              <a:rPr sz="1100" spc="-10" dirty="0">
                <a:latin typeface="LM Sans 10"/>
                <a:cs typeface="LM Sans 10"/>
              </a:rPr>
              <a:t>=</a:t>
            </a:r>
            <a:r>
              <a:rPr sz="1100" spc="285" dirty="0">
                <a:latin typeface="LM Sans 10"/>
                <a:cs typeface="LM Sans 10"/>
              </a:rPr>
              <a:t> </a:t>
            </a:r>
            <a:r>
              <a:rPr sz="1100" spc="-5" dirty="0">
                <a:latin typeface="LM Sans 10"/>
                <a:cs typeface="LM Sans 10"/>
              </a:rPr>
              <a:t>88</a:t>
            </a:r>
            <a:r>
              <a:rPr sz="1100" i="1" spc="-5" dirty="0">
                <a:latin typeface="LM Roman Dunhill 10"/>
                <a:cs typeface="LM Roman Dunhill 10"/>
              </a:rPr>
              <a:t>.</a:t>
            </a:r>
            <a:endParaRPr sz="1100" dirty="0">
              <a:latin typeface="LM Roman Dunhill 10"/>
              <a:cs typeface="LM Roman Dunhill 10"/>
            </a:endParaRPr>
          </a:p>
          <a:p>
            <a:pPr>
              <a:lnSpc>
                <a:spcPct val="100000"/>
              </a:lnSpc>
            </a:pPr>
            <a:endParaRPr sz="550" dirty="0">
              <a:latin typeface="LM Roman Dunhill 10"/>
              <a:cs typeface="LM Roman Dunhill 10"/>
            </a:endParaRPr>
          </a:p>
          <a:p>
            <a:pPr marL="12700">
              <a:lnSpc>
                <a:spcPct val="100000"/>
              </a:lnSpc>
            </a:pPr>
            <a:r>
              <a:rPr sz="1100" spc="-10" dirty="0">
                <a:latin typeface="LM Sans 10"/>
                <a:cs typeface="LM Sans 10"/>
              </a:rPr>
              <a:t>A </a:t>
            </a:r>
            <a:r>
              <a:rPr sz="1100" spc="-5" dirty="0">
                <a:latin typeface="LM Sans 10"/>
                <a:cs typeface="LM Sans 10"/>
              </a:rPr>
              <a:t>big </a:t>
            </a:r>
            <a:r>
              <a:rPr sz="1100" spc="-10" dirty="0">
                <a:latin typeface="LM Sans 10"/>
                <a:cs typeface="LM Sans 10"/>
              </a:rPr>
              <a:t>difference!</a:t>
            </a:r>
            <a:endParaRPr sz="1100" dirty="0">
              <a:latin typeface="LM Sans 10"/>
              <a:cs typeface="LM Sans 10"/>
            </a:endParaRPr>
          </a:p>
        </p:txBody>
      </p:sp>
      <p:grpSp>
        <p:nvGrpSpPr>
          <p:cNvPr id="17" name="object 17"/>
          <p:cNvGrpSpPr/>
          <p:nvPr/>
        </p:nvGrpSpPr>
        <p:grpSpPr>
          <a:xfrm>
            <a:off x="0" y="3342919"/>
            <a:ext cx="4608195" cy="113664"/>
            <a:chOff x="0" y="3342919"/>
            <a:chExt cx="4608195" cy="113664"/>
          </a:xfrm>
        </p:grpSpPr>
        <p:sp>
          <p:nvSpPr>
            <p:cNvPr id="18" name="object 1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9" name="object 1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0" name="object 20"/>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2" name="object 2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7" action="ppaction://hlinksldjump"/>
              </a:rPr>
              <a:t>Chain </a:t>
            </a:r>
            <a:r>
              <a:rPr sz="600" b="1" spc="-5" dirty="0">
                <a:solidFill>
                  <a:srgbClr val="FFFFFF"/>
                </a:solidFill>
                <a:latin typeface="LM Sans 10"/>
                <a:cs typeface="LM Sans 10"/>
                <a:hlinkClick r:id="rId7" action="ppaction://hlinksldjump"/>
              </a:rPr>
              <a:t>Matrix Multiplication</a:t>
            </a:r>
            <a:endParaRPr sz="600">
              <a:latin typeface="LM Sans 10"/>
              <a:cs typeface="LM Sans 10"/>
            </a:endParaRPr>
          </a:p>
        </p:txBody>
      </p:sp>
      <p:sp>
        <p:nvSpPr>
          <p:cNvPr id="23" name="object 23"/>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6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208530" cy="244475"/>
          </a:xfrm>
          <a:prstGeom prst="rect">
            <a:avLst/>
          </a:prstGeom>
        </p:spPr>
        <p:txBody>
          <a:bodyPr vert="horz" wrap="square" lIns="0" tIns="17145" rIns="0" bIns="0" rtlCol="0">
            <a:spAutoFit/>
          </a:bodyPr>
          <a:lstStyle/>
          <a:p>
            <a:pPr marL="12700">
              <a:lnSpc>
                <a:spcPct val="100000"/>
              </a:lnSpc>
              <a:spcBef>
                <a:spcPts val="135"/>
              </a:spcBef>
            </a:pPr>
            <a:r>
              <a:rPr spc="10" dirty="0"/>
              <a:t>Matrix Multiplication of</a:t>
            </a:r>
            <a:r>
              <a:rPr spc="-10" dirty="0"/>
              <a:t> </a:t>
            </a:r>
            <a:r>
              <a:rPr i="1" spc="20" dirty="0">
                <a:latin typeface="LM Sans 12"/>
                <a:cs typeface="LM Sans 12"/>
              </a:rPr>
              <a:t>ABC</a:t>
            </a:r>
          </a:p>
        </p:txBody>
      </p:sp>
      <p:sp>
        <p:nvSpPr>
          <p:cNvPr id="3" name="object 3"/>
          <p:cNvSpPr/>
          <p:nvPr/>
        </p:nvSpPr>
        <p:spPr>
          <a:xfrm>
            <a:off x="502551" y="476986"/>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02551" y="843051"/>
            <a:ext cx="65265" cy="65265"/>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308896" y="1523835"/>
            <a:ext cx="4205954" cy="1730539"/>
            <a:chOff x="309193" y="1632305"/>
            <a:chExt cx="4040504" cy="1294765"/>
          </a:xfrm>
        </p:grpSpPr>
        <p:sp>
          <p:nvSpPr>
            <p:cNvPr id="6" name="object 6"/>
            <p:cNvSpPr/>
            <p:nvPr/>
          </p:nvSpPr>
          <p:spPr>
            <a:xfrm>
              <a:off x="309193" y="1632305"/>
              <a:ext cx="3989704" cy="186690"/>
            </a:xfrm>
            <a:custGeom>
              <a:avLst/>
              <a:gdLst/>
              <a:ahLst/>
              <a:cxnLst/>
              <a:rect l="l" t="t" r="r" b="b"/>
              <a:pathLst>
                <a:path w="3989704" h="186689">
                  <a:moveTo>
                    <a:pt x="3938854" y="0"/>
                  </a:moveTo>
                  <a:lnTo>
                    <a:pt x="50800" y="0"/>
                  </a:lnTo>
                  <a:lnTo>
                    <a:pt x="31075" y="4008"/>
                  </a:lnTo>
                  <a:lnTo>
                    <a:pt x="14922" y="14922"/>
                  </a:lnTo>
                  <a:lnTo>
                    <a:pt x="4008" y="31075"/>
                  </a:lnTo>
                  <a:lnTo>
                    <a:pt x="0" y="50800"/>
                  </a:lnTo>
                  <a:lnTo>
                    <a:pt x="0" y="186558"/>
                  </a:lnTo>
                  <a:lnTo>
                    <a:pt x="3989654" y="186558"/>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7" name="object 7"/>
            <p:cNvSpPr/>
            <p:nvPr/>
          </p:nvSpPr>
          <p:spPr>
            <a:xfrm>
              <a:off x="309194" y="1806206"/>
              <a:ext cx="3989653" cy="50609"/>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359994" y="2825115"/>
              <a:ext cx="101600" cy="1016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10794" y="2812415"/>
              <a:ext cx="3938802" cy="114300"/>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4298848" y="1676539"/>
              <a:ext cx="50749" cy="1148575"/>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309193" y="1850481"/>
              <a:ext cx="3989704" cy="1025525"/>
            </a:xfrm>
            <a:custGeom>
              <a:avLst/>
              <a:gdLst/>
              <a:ahLst/>
              <a:cxnLst/>
              <a:rect l="l" t="t" r="r" b="b"/>
              <a:pathLst>
                <a:path w="3989704" h="1025525">
                  <a:moveTo>
                    <a:pt x="3989654" y="0"/>
                  </a:moveTo>
                  <a:lnTo>
                    <a:pt x="0" y="0"/>
                  </a:lnTo>
                  <a:lnTo>
                    <a:pt x="0" y="974633"/>
                  </a:lnTo>
                  <a:lnTo>
                    <a:pt x="4008" y="994358"/>
                  </a:lnTo>
                  <a:lnTo>
                    <a:pt x="14922" y="1010511"/>
                  </a:lnTo>
                  <a:lnTo>
                    <a:pt x="31075" y="1021425"/>
                  </a:lnTo>
                  <a:lnTo>
                    <a:pt x="50800" y="1025433"/>
                  </a:lnTo>
                  <a:lnTo>
                    <a:pt x="3938854" y="1025433"/>
                  </a:lnTo>
                  <a:lnTo>
                    <a:pt x="3958579" y="1021425"/>
                  </a:lnTo>
                  <a:lnTo>
                    <a:pt x="3974732" y="1010511"/>
                  </a:lnTo>
                  <a:lnTo>
                    <a:pt x="3985646" y="994358"/>
                  </a:lnTo>
                  <a:lnTo>
                    <a:pt x="3989654" y="974633"/>
                  </a:lnTo>
                  <a:lnTo>
                    <a:pt x="3989654" y="0"/>
                  </a:lnTo>
                  <a:close/>
                </a:path>
              </a:pathLst>
            </a:custGeom>
            <a:solidFill>
              <a:srgbClr val="E5EFE5"/>
            </a:solidFill>
          </p:spPr>
          <p:txBody>
            <a:bodyPr wrap="square" lIns="0" tIns="0" rIns="0" bIns="0" rtlCol="0"/>
            <a:lstStyle/>
            <a:p>
              <a:endParaRPr/>
            </a:p>
          </p:txBody>
        </p:sp>
        <p:sp>
          <p:nvSpPr>
            <p:cNvPr id="12" name="object 12"/>
            <p:cNvSpPr/>
            <p:nvPr/>
          </p:nvSpPr>
          <p:spPr>
            <a:xfrm>
              <a:off x="4298848" y="1714628"/>
              <a:ext cx="0" cy="1129665"/>
            </a:xfrm>
            <a:custGeom>
              <a:avLst/>
              <a:gdLst/>
              <a:ahLst/>
              <a:cxnLst/>
              <a:rect l="l" t="t" r="r" b="b"/>
              <a:pathLst>
                <a:path h="1129664">
                  <a:moveTo>
                    <a:pt x="0" y="1129536"/>
                  </a:moveTo>
                  <a:lnTo>
                    <a:pt x="0" y="0"/>
                  </a:lnTo>
                </a:path>
              </a:pathLst>
            </a:custGeom>
            <a:ln w="3175">
              <a:solidFill>
                <a:srgbClr val="7F7F7F"/>
              </a:solidFill>
            </a:ln>
          </p:spPr>
          <p:txBody>
            <a:bodyPr wrap="square" lIns="0" tIns="0" rIns="0" bIns="0" rtlCol="0"/>
            <a:lstStyle/>
            <a:p>
              <a:endParaRPr/>
            </a:p>
          </p:txBody>
        </p:sp>
        <p:sp>
          <p:nvSpPr>
            <p:cNvPr id="13" name="object 13"/>
            <p:cNvSpPr/>
            <p:nvPr/>
          </p:nvSpPr>
          <p:spPr>
            <a:xfrm>
              <a:off x="4298848" y="1701928"/>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4" name="object 14"/>
            <p:cNvSpPr/>
            <p:nvPr/>
          </p:nvSpPr>
          <p:spPr>
            <a:xfrm>
              <a:off x="4298848" y="1689228"/>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5" name="object 15"/>
            <p:cNvSpPr/>
            <p:nvPr/>
          </p:nvSpPr>
          <p:spPr>
            <a:xfrm>
              <a:off x="4298848" y="1676528"/>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6" name="object 16"/>
          <p:cNvSpPr txBox="1"/>
          <p:nvPr/>
        </p:nvSpPr>
        <p:spPr>
          <a:xfrm>
            <a:off x="347294" y="393546"/>
            <a:ext cx="3762375" cy="2912745"/>
          </a:xfrm>
          <a:prstGeom prst="rect">
            <a:avLst/>
          </a:prstGeom>
        </p:spPr>
        <p:txBody>
          <a:bodyPr vert="horz" wrap="square" lIns="0" tIns="11430" rIns="0" bIns="0" rtlCol="0">
            <a:spAutoFit/>
          </a:bodyPr>
          <a:lstStyle/>
          <a:p>
            <a:pPr marL="289560">
              <a:lnSpc>
                <a:spcPct val="100000"/>
              </a:lnSpc>
              <a:spcBef>
                <a:spcPts val="90"/>
              </a:spcBef>
            </a:pPr>
            <a:r>
              <a:rPr sz="1100" spc="-10" dirty="0">
                <a:latin typeface="LM Sans 10"/>
                <a:cs typeface="LM Sans 10"/>
              </a:rPr>
              <a:t>Given </a:t>
            </a:r>
            <a:r>
              <a:rPr sz="1100" i="1" spc="-10" dirty="0">
                <a:solidFill>
                  <a:srgbClr val="0000FF"/>
                </a:solidFill>
                <a:latin typeface="LM Sans 10"/>
                <a:cs typeface="LM Sans 10"/>
              </a:rPr>
              <a:t>p </a:t>
            </a:r>
            <a:r>
              <a:rPr sz="1100" i="1" spc="15" dirty="0">
                <a:solidFill>
                  <a:srgbClr val="0000FF"/>
                </a:solidFill>
                <a:latin typeface="DejaVu Sans Condensed"/>
                <a:cs typeface="DejaVu Sans Condensed"/>
              </a:rPr>
              <a:t>× </a:t>
            </a:r>
            <a:r>
              <a:rPr sz="1100" i="1" spc="-10" dirty="0">
                <a:solidFill>
                  <a:srgbClr val="0000FF"/>
                </a:solidFill>
                <a:latin typeface="LM Sans 10"/>
                <a:cs typeface="LM Sans 10"/>
              </a:rPr>
              <a:t>q </a:t>
            </a:r>
            <a:r>
              <a:rPr sz="1100" spc="-5" dirty="0">
                <a:latin typeface="LM Sans 10"/>
                <a:cs typeface="LM Sans 10"/>
              </a:rPr>
              <a:t>matrix </a:t>
            </a:r>
            <a:r>
              <a:rPr sz="1100" i="1" spc="-10" dirty="0">
                <a:latin typeface="LM Sans 10"/>
                <a:cs typeface="LM Sans 10"/>
              </a:rPr>
              <a:t>A</a:t>
            </a:r>
            <a:r>
              <a:rPr sz="1100" spc="-10" dirty="0">
                <a:latin typeface="LM Sans 10"/>
                <a:cs typeface="LM Sans 10"/>
              </a:rPr>
              <a:t>, </a:t>
            </a:r>
            <a:r>
              <a:rPr sz="1100" i="1" spc="-10" dirty="0">
                <a:solidFill>
                  <a:srgbClr val="0000FF"/>
                </a:solidFill>
                <a:latin typeface="LM Sans 10"/>
                <a:cs typeface="LM Sans 10"/>
              </a:rPr>
              <a:t>q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r </a:t>
            </a:r>
            <a:r>
              <a:rPr sz="1100" spc="-5" dirty="0">
                <a:latin typeface="LM Sans 10"/>
                <a:cs typeface="LM Sans 10"/>
              </a:rPr>
              <a:t>matrix </a:t>
            </a:r>
            <a:r>
              <a:rPr sz="1100" i="1" spc="-10" dirty="0">
                <a:latin typeface="LM Sans 10"/>
                <a:cs typeface="LM Sans 10"/>
              </a:rPr>
              <a:t>B </a:t>
            </a:r>
            <a:r>
              <a:rPr sz="1100" spc="-10" dirty="0">
                <a:latin typeface="LM Sans 10"/>
                <a:cs typeface="LM Sans 10"/>
              </a:rPr>
              <a:t>and </a:t>
            </a:r>
            <a:r>
              <a:rPr sz="1100" i="1" spc="-5" dirty="0">
                <a:solidFill>
                  <a:srgbClr val="0000FF"/>
                </a:solidFill>
                <a:latin typeface="LM Sans 10"/>
                <a:cs typeface="LM Sans 10"/>
              </a:rPr>
              <a:t>r </a:t>
            </a:r>
            <a:r>
              <a:rPr sz="1100" i="1" spc="15" dirty="0">
                <a:solidFill>
                  <a:srgbClr val="0000FF"/>
                </a:solidFill>
                <a:latin typeface="DejaVu Sans Condensed"/>
                <a:cs typeface="DejaVu Sans Condensed"/>
              </a:rPr>
              <a:t>× </a:t>
            </a:r>
            <a:r>
              <a:rPr sz="1100" i="1" spc="-5" dirty="0">
                <a:solidFill>
                  <a:srgbClr val="0000FF"/>
                </a:solidFill>
                <a:latin typeface="LM Sans 10"/>
                <a:cs typeface="LM Sans 10"/>
              </a:rPr>
              <a:t>s </a:t>
            </a:r>
            <a:r>
              <a:rPr sz="1100" spc="-5" dirty="0">
                <a:latin typeface="LM Sans 10"/>
                <a:cs typeface="LM Sans 10"/>
              </a:rPr>
              <a:t>matrix </a:t>
            </a:r>
            <a:r>
              <a:rPr sz="1100" i="1" spc="-10" dirty="0">
                <a:latin typeface="LM Sans 10"/>
                <a:cs typeface="LM Sans 10"/>
              </a:rPr>
              <a:t>C</a:t>
            </a:r>
            <a:r>
              <a:rPr sz="1100" i="1" spc="-315" dirty="0">
                <a:latin typeface="LM Sans 10"/>
                <a:cs typeface="LM Sans 10"/>
              </a:rPr>
              <a:t> </a:t>
            </a:r>
            <a:r>
              <a:rPr sz="1100" spc="-5" dirty="0">
                <a:latin typeface="LM Sans 10"/>
                <a:cs typeface="LM Sans 10"/>
              </a:rPr>
              <a:t>,</a:t>
            </a:r>
            <a:endParaRPr sz="1100">
              <a:latin typeface="LM Sans 10"/>
              <a:cs typeface="LM Sans 10"/>
            </a:endParaRPr>
          </a:p>
          <a:p>
            <a:pPr marL="289560">
              <a:lnSpc>
                <a:spcPct val="100000"/>
              </a:lnSpc>
              <a:spcBef>
                <a:spcPts val="35"/>
              </a:spcBef>
            </a:pPr>
            <a:r>
              <a:rPr sz="1100" i="1" spc="-10" dirty="0">
                <a:latin typeface="LM Sans 10"/>
                <a:cs typeface="LM Sans 10"/>
              </a:rPr>
              <a:t>ABC </a:t>
            </a:r>
            <a:r>
              <a:rPr sz="1100" spc="-10" dirty="0">
                <a:latin typeface="LM Sans 10"/>
                <a:cs typeface="LM Sans 10"/>
              </a:rPr>
              <a:t>can </a:t>
            </a:r>
            <a:r>
              <a:rPr sz="1100" spc="10" dirty="0">
                <a:latin typeface="LM Sans 10"/>
                <a:cs typeface="LM Sans 10"/>
              </a:rPr>
              <a:t>be </a:t>
            </a:r>
            <a:r>
              <a:rPr sz="1100" spc="-10" dirty="0">
                <a:latin typeface="LM Sans 10"/>
                <a:cs typeface="LM Sans 10"/>
              </a:rPr>
              <a:t>computed </a:t>
            </a:r>
            <a:r>
              <a:rPr sz="1100" spc="-5" dirty="0">
                <a:latin typeface="LM Sans 10"/>
                <a:cs typeface="LM Sans 10"/>
              </a:rPr>
              <a:t>in </a:t>
            </a:r>
            <a:r>
              <a:rPr sz="1100" spc="-30" dirty="0">
                <a:latin typeface="LM Sans 10"/>
                <a:cs typeface="LM Sans 10"/>
              </a:rPr>
              <a:t>two </a:t>
            </a:r>
            <a:r>
              <a:rPr sz="1100" spc="-20" dirty="0">
                <a:latin typeface="LM Sans 10"/>
                <a:cs typeface="LM Sans 10"/>
              </a:rPr>
              <a:t>ways: </a:t>
            </a:r>
            <a:r>
              <a:rPr sz="1100" spc="10" dirty="0">
                <a:solidFill>
                  <a:srgbClr val="FF0000"/>
                </a:solidFill>
                <a:latin typeface="LM Sans 10"/>
                <a:cs typeface="LM Sans 10"/>
              </a:rPr>
              <a:t>(</a:t>
            </a:r>
            <a:r>
              <a:rPr sz="1100" i="1" spc="10" dirty="0">
                <a:solidFill>
                  <a:srgbClr val="FF0000"/>
                </a:solidFill>
                <a:latin typeface="LM Sans 10"/>
                <a:cs typeface="LM Sans 10"/>
              </a:rPr>
              <a:t>AB</a:t>
            </a:r>
            <a:r>
              <a:rPr sz="1100" spc="10" dirty="0">
                <a:solidFill>
                  <a:srgbClr val="FF0000"/>
                </a:solidFill>
                <a:latin typeface="LM Sans 10"/>
                <a:cs typeface="LM Sans 10"/>
              </a:rPr>
              <a:t>)</a:t>
            </a:r>
            <a:r>
              <a:rPr sz="1100" i="1" spc="10" dirty="0">
                <a:solidFill>
                  <a:srgbClr val="FF0000"/>
                </a:solidFill>
                <a:latin typeface="LM Sans 10"/>
                <a:cs typeface="LM Sans 10"/>
              </a:rPr>
              <a:t>C </a:t>
            </a:r>
            <a:r>
              <a:rPr sz="1100" spc="-10" dirty="0">
                <a:latin typeface="LM Sans 10"/>
                <a:cs typeface="LM Sans 10"/>
              </a:rPr>
              <a:t>and</a:t>
            </a:r>
            <a:r>
              <a:rPr sz="1100" spc="190" dirty="0">
                <a:latin typeface="LM Sans 10"/>
                <a:cs typeface="LM Sans 10"/>
              </a:rPr>
              <a:t> </a:t>
            </a:r>
            <a:r>
              <a:rPr sz="1100" i="1" spc="-10" dirty="0">
                <a:solidFill>
                  <a:srgbClr val="FF0000"/>
                </a:solidFill>
                <a:latin typeface="LM Sans 10"/>
                <a:cs typeface="LM Sans 10"/>
              </a:rPr>
              <a:t>A</a:t>
            </a:r>
            <a:r>
              <a:rPr sz="1100" spc="-10" dirty="0">
                <a:solidFill>
                  <a:srgbClr val="FF0000"/>
                </a:solidFill>
                <a:latin typeface="LM Sans 10"/>
                <a:cs typeface="LM Sans 10"/>
              </a:rPr>
              <a:t>(</a:t>
            </a:r>
            <a:r>
              <a:rPr sz="1100" i="1" spc="-10" dirty="0">
                <a:solidFill>
                  <a:srgbClr val="FF0000"/>
                </a:solidFill>
                <a:latin typeface="LM Sans 10"/>
                <a:cs typeface="LM Sans 10"/>
              </a:rPr>
              <a:t>BC </a:t>
            </a:r>
            <a:r>
              <a:rPr sz="1100" spc="-5" dirty="0">
                <a:solidFill>
                  <a:srgbClr val="FF0000"/>
                </a:solidFill>
                <a:latin typeface="LM Sans 10"/>
                <a:cs typeface="LM Sans 10"/>
              </a:rPr>
              <a:t>)</a:t>
            </a:r>
            <a:endParaRPr sz="1100">
              <a:latin typeface="LM Sans 10"/>
              <a:cs typeface="LM Sans 10"/>
            </a:endParaRPr>
          </a:p>
          <a:p>
            <a:pPr marL="289560">
              <a:lnSpc>
                <a:spcPct val="100000"/>
              </a:lnSpc>
              <a:spcBef>
                <a:spcPts val="204"/>
              </a:spcBef>
            </a:pPr>
            <a:r>
              <a:rPr sz="1100" spc="-10" dirty="0">
                <a:latin typeface="LM Sans 10"/>
                <a:cs typeface="LM Sans 10"/>
              </a:rPr>
              <a:t>The </a:t>
            </a:r>
            <a:r>
              <a:rPr sz="1100" spc="-5" dirty="0">
                <a:latin typeface="LM Sans 10"/>
                <a:cs typeface="LM Sans 10"/>
              </a:rPr>
              <a:t>number of multiplications needed</a:t>
            </a:r>
            <a:r>
              <a:rPr sz="1100" spc="-10" dirty="0">
                <a:latin typeface="LM Sans 10"/>
                <a:cs typeface="LM Sans 10"/>
              </a:rPr>
              <a:t> </a:t>
            </a:r>
            <a:r>
              <a:rPr sz="1100" spc="-15" dirty="0">
                <a:latin typeface="LM Sans 10"/>
                <a:cs typeface="LM Sans 10"/>
              </a:rPr>
              <a:t>are:</a:t>
            </a:r>
            <a:endParaRPr sz="1100">
              <a:latin typeface="LM Sans 10"/>
              <a:cs typeface="LM Sans 10"/>
            </a:endParaRPr>
          </a:p>
          <a:p>
            <a:pPr marL="1223010">
              <a:lnSpc>
                <a:spcPct val="100000"/>
              </a:lnSpc>
              <a:spcBef>
                <a:spcPts val="880"/>
              </a:spcBef>
            </a:pPr>
            <a:r>
              <a:rPr sz="1100" i="1" spc="10" dirty="0">
                <a:latin typeface="LM Sans 10"/>
                <a:cs typeface="LM Sans 10"/>
              </a:rPr>
              <a:t>mult</a:t>
            </a:r>
            <a:r>
              <a:rPr sz="1100" spc="10" dirty="0">
                <a:latin typeface="LM Sans 10"/>
                <a:cs typeface="LM Sans 10"/>
              </a:rPr>
              <a:t>[(</a:t>
            </a:r>
            <a:r>
              <a:rPr sz="1100" i="1" spc="10" dirty="0">
                <a:latin typeface="LM Sans 10"/>
                <a:cs typeface="LM Sans 10"/>
              </a:rPr>
              <a:t>AB</a:t>
            </a:r>
            <a:r>
              <a:rPr sz="1100" spc="10" dirty="0">
                <a:latin typeface="LM Sans 10"/>
                <a:cs typeface="LM Sans 10"/>
              </a:rPr>
              <a:t>)</a:t>
            </a:r>
            <a:r>
              <a:rPr sz="1100" i="1" spc="10" dirty="0">
                <a:latin typeface="LM Sans 10"/>
                <a:cs typeface="LM Sans 10"/>
              </a:rPr>
              <a:t>C </a:t>
            </a:r>
            <a:r>
              <a:rPr sz="1100" spc="-5" dirty="0">
                <a:latin typeface="LM Sans 10"/>
                <a:cs typeface="LM Sans 10"/>
              </a:rPr>
              <a:t>]  </a:t>
            </a:r>
            <a:r>
              <a:rPr sz="1100" spc="-10" dirty="0">
                <a:latin typeface="LM Sans 10"/>
                <a:cs typeface="LM Sans 10"/>
              </a:rPr>
              <a:t>=  </a:t>
            </a:r>
            <a:r>
              <a:rPr sz="1100" i="1" dirty="0">
                <a:latin typeface="LM Sans 10"/>
                <a:cs typeface="LM Sans 10"/>
              </a:rPr>
              <a:t>pqr </a:t>
            </a:r>
            <a:r>
              <a:rPr sz="1100" spc="-10" dirty="0">
                <a:latin typeface="LM Sans 10"/>
                <a:cs typeface="LM Sans 10"/>
              </a:rPr>
              <a:t>+</a:t>
            </a:r>
            <a:r>
              <a:rPr sz="1100" spc="114" dirty="0">
                <a:latin typeface="LM Sans 10"/>
                <a:cs typeface="LM Sans 10"/>
              </a:rPr>
              <a:t> </a:t>
            </a:r>
            <a:r>
              <a:rPr sz="1100" i="1" spc="5" dirty="0">
                <a:latin typeface="LM Sans 10"/>
                <a:cs typeface="LM Sans 10"/>
              </a:rPr>
              <a:t>prs</a:t>
            </a:r>
            <a:r>
              <a:rPr sz="1100" i="1" spc="5" dirty="0">
                <a:latin typeface="LM Roman Dunhill 10"/>
                <a:cs typeface="LM Roman Dunhill 10"/>
              </a:rPr>
              <a:t>,</a:t>
            </a:r>
            <a:endParaRPr sz="1100">
              <a:latin typeface="LM Roman Dunhill 10"/>
              <a:cs typeface="LM Roman Dunhill 10"/>
            </a:endParaRPr>
          </a:p>
          <a:p>
            <a:pPr marL="1234440">
              <a:lnSpc>
                <a:spcPct val="100000"/>
              </a:lnSpc>
              <a:spcBef>
                <a:spcPts val="335"/>
              </a:spcBef>
            </a:pPr>
            <a:r>
              <a:rPr sz="1100" i="1" dirty="0">
                <a:latin typeface="LM Sans 10"/>
                <a:cs typeface="LM Sans 10"/>
              </a:rPr>
              <a:t>mult</a:t>
            </a:r>
            <a:r>
              <a:rPr sz="1100" dirty="0">
                <a:latin typeface="LM Sans 10"/>
                <a:cs typeface="LM Sans 10"/>
              </a:rPr>
              <a:t>[</a:t>
            </a:r>
            <a:r>
              <a:rPr sz="1100" i="1" dirty="0">
                <a:latin typeface="LM Sans 10"/>
                <a:cs typeface="LM Sans 10"/>
              </a:rPr>
              <a:t>A</a:t>
            </a:r>
            <a:r>
              <a:rPr sz="1100" dirty="0">
                <a:latin typeface="LM Sans 10"/>
                <a:cs typeface="LM Sans 10"/>
              </a:rPr>
              <a:t>(</a:t>
            </a:r>
            <a:r>
              <a:rPr sz="1100" i="1" dirty="0">
                <a:latin typeface="LM Sans 10"/>
                <a:cs typeface="LM Sans 10"/>
              </a:rPr>
              <a:t>BC </a:t>
            </a:r>
            <a:r>
              <a:rPr sz="1100" spc="-5" dirty="0">
                <a:latin typeface="LM Sans 10"/>
                <a:cs typeface="LM Sans 10"/>
              </a:rPr>
              <a:t>)]  </a:t>
            </a:r>
            <a:r>
              <a:rPr sz="1100" spc="-10" dirty="0">
                <a:latin typeface="LM Sans 10"/>
                <a:cs typeface="LM Sans 10"/>
              </a:rPr>
              <a:t>=  </a:t>
            </a:r>
            <a:r>
              <a:rPr sz="1100" i="1" spc="-5" dirty="0">
                <a:latin typeface="LM Sans 10"/>
                <a:cs typeface="LM Sans 10"/>
              </a:rPr>
              <a:t>qrs </a:t>
            </a:r>
            <a:r>
              <a:rPr sz="1100" spc="-10" dirty="0">
                <a:latin typeface="LM Sans 10"/>
                <a:cs typeface="LM Sans 10"/>
              </a:rPr>
              <a:t>+</a:t>
            </a:r>
            <a:r>
              <a:rPr sz="1100" spc="95" dirty="0">
                <a:latin typeface="LM Sans 10"/>
                <a:cs typeface="LM Sans 10"/>
              </a:rPr>
              <a:t> </a:t>
            </a:r>
            <a:r>
              <a:rPr sz="1100" i="1" spc="20" dirty="0">
                <a:latin typeface="LM Sans 10"/>
                <a:cs typeface="LM Sans 10"/>
              </a:rPr>
              <a:t>pqs</a:t>
            </a:r>
            <a:r>
              <a:rPr sz="1100" i="1" spc="20" dirty="0">
                <a:latin typeface="LM Roman Dunhill 10"/>
                <a:cs typeface="LM Roman Dunhill 10"/>
              </a:rPr>
              <a:t>.</a:t>
            </a:r>
            <a:endParaRPr sz="1100">
              <a:latin typeface="LM Roman Dunhill 10"/>
              <a:cs typeface="LM Roman Dunhill 10"/>
            </a:endParaRPr>
          </a:p>
          <a:p>
            <a:pPr>
              <a:lnSpc>
                <a:spcPct val="100000"/>
              </a:lnSpc>
              <a:spcBef>
                <a:spcPts val="15"/>
              </a:spcBef>
            </a:pPr>
            <a:endParaRPr sz="750">
              <a:latin typeface="LM Roman Dunhill 10"/>
              <a:cs typeface="LM Roman Dunhill 10"/>
            </a:endParaRPr>
          </a:p>
          <a:p>
            <a:pPr marL="12700">
              <a:lnSpc>
                <a:spcPct val="100000"/>
              </a:lnSpc>
              <a:spcBef>
                <a:spcPts val="5"/>
              </a:spcBef>
            </a:pPr>
            <a:r>
              <a:rPr sz="1100" spc="-10" dirty="0">
                <a:solidFill>
                  <a:srgbClr val="FFFFFF"/>
                </a:solidFill>
                <a:latin typeface="LM Sans 10"/>
                <a:cs typeface="LM Sans 10"/>
              </a:rPr>
              <a:t>Example</a:t>
            </a:r>
            <a:endParaRPr sz="1100">
              <a:latin typeface="LM Sans 10"/>
              <a:cs typeface="LM Sans 10"/>
            </a:endParaRPr>
          </a:p>
          <a:p>
            <a:pPr marL="12700">
              <a:lnSpc>
                <a:spcPct val="100000"/>
              </a:lnSpc>
              <a:spcBef>
                <a:spcPts val="295"/>
              </a:spcBef>
            </a:pPr>
            <a:r>
              <a:rPr sz="1100" spc="-30" dirty="0">
                <a:latin typeface="LM Sans 10"/>
                <a:cs typeface="LM Sans 10"/>
              </a:rPr>
              <a:t>For </a:t>
            </a:r>
            <a:r>
              <a:rPr sz="1100" i="1" spc="-10" dirty="0">
                <a:latin typeface="LM Sans 10"/>
                <a:cs typeface="LM Sans 10"/>
              </a:rPr>
              <a:t>p </a:t>
            </a:r>
            <a:r>
              <a:rPr sz="1100" spc="-10" dirty="0">
                <a:latin typeface="LM Sans 10"/>
                <a:cs typeface="LM Sans 10"/>
              </a:rPr>
              <a:t>= </a:t>
            </a:r>
            <a:r>
              <a:rPr sz="1100" spc="-5" dirty="0">
                <a:latin typeface="LM Sans 10"/>
                <a:cs typeface="LM Sans 10"/>
              </a:rPr>
              <a:t>5, </a:t>
            </a:r>
            <a:r>
              <a:rPr sz="1100" i="1" spc="-10" dirty="0">
                <a:latin typeface="LM Sans 10"/>
                <a:cs typeface="LM Sans 10"/>
              </a:rPr>
              <a:t>q </a:t>
            </a:r>
            <a:r>
              <a:rPr sz="1100" spc="-10" dirty="0">
                <a:latin typeface="LM Sans 10"/>
                <a:cs typeface="LM Sans 10"/>
              </a:rPr>
              <a:t>= </a:t>
            </a:r>
            <a:r>
              <a:rPr sz="1100" spc="-5" dirty="0">
                <a:latin typeface="LM Sans 10"/>
                <a:cs typeface="LM Sans 10"/>
              </a:rPr>
              <a:t>4, </a:t>
            </a:r>
            <a:r>
              <a:rPr sz="1100" i="1" spc="-5" dirty="0">
                <a:latin typeface="LM Sans 10"/>
                <a:cs typeface="LM Sans 10"/>
              </a:rPr>
              <a:t>r </a:t>
            </a:r>
            <a:r>
              <a:rPr sz="1100" spc="-10" dirty="0">
                <a:latin typeface="LM Sans 10"/>
                <a:cs typeface="LM Sans 10"/>
              </a:rPr>
              <a:t>= </a:t>
            </a:r>
            <a:r>
              <a:rPr sz="1100" spc="-5" dirty="0">
                <a:latin typeface="LM Sans 10"/>
                <a:cs typeface="LM Sans 10"/>
              </a:rPr>
              <a:t>6 </a:t>
            </a:r>
            <a:r>
              <a:rPr sz="1100" spc="-10" dirty="0">
                <a:latin typeface="LM Sans 10"/>
                <a:cs typeface="LM Sans 10"/>
              </a:rPr>
              <a:t>and </a:t>
            </a:r>
            <a:r>
              <a:rPr sz="1100" i="1" spc="-5" dirty="0">
                <a:latin typeface="LM Sans 10"/>
                <a:cs typeface="LM Sans 10"/>
              </a:rPr>
              <a:t>s </a:t>
            </a:r>
            <a:r>
              <a:rPr sz="1100" spc="-10" dirty="0">
                <a:latin typeface="LM Sans 10"/>
                <a:cs typeface="LM Sans 10"/>
              </a:rPr>
              <a:t>=</a:t>
            </a:r>
            <a:r>
              <a:rPr sz="1100" spc="-155" dirty="0">
                <a:latin typeface="LM Sans 10"/>
                <a:cs typeface="LM Sans 10"/>
              </a:rPr>
              <a:t> </a:t>
            </a:r>
            <a:r>
              <a:rPr sz="1100" spc="-5" dirty="0">
                <a:latin typeface="LM Sans 10"/>
                <a:cs typeface="LM Sans 10"/>
              </a:rPr>
              <a:t>2,</a:t>
            </a:r>
            <a:endParaRPr sz="1100">
              <a:latin typeface="LM Sans 10"/>
              <a:cs typeface="LM Sans 10"/>
            </a:endParaRPr>
          </a:p>
          <a:p>
            <a:pPr>
              <a:lnSpc>
                <a:spcPct val="100000"/>
              </a:lnSpc>
              <a:spcBef>
                <a:spcPts val="35"/>
              </a:spcBef>
            </a:pPr>
            <a:endParaRPr sz="750">
              <a:latin typeface="LM Sans 10"/>
              <a:cs typeface="LM Sans 10"/>
            </a:endParaRPr>
          </a:p>
          <a:p>
            <a:pPr marL="1259205">
              <a:lnSpc>
                <a:spcPct val="100000"/>
              </a:lnSpc>
            </a:pPr>
            <a:r>
              <a:rPr sz="1100" i="1" spc="10" dirty="0">
                <a:latin typeface="LM Sans 10"/>
                <a:cs typeface="LM Sans 10"/>
              </a:rPr>
              <a:t>mult</a:t>
            </a:r>
            <a:r>
              <a:rPr sz="1100" spc="10" dirty="0">
                <a:latin typeface="LM Sans 10"/>
                <a:cs typeface="LM Sans 10"/>
              </a:rPr>
              <a:t>[(</a:t>
            </a:r>
            <a:r>
              <a:rPr sz="1100" i="1" spc="10" dirty="0">
                <a:latin typeface="LM Sans 10"/>
                <a:cs typeface="LM Sans 10"/>
              </a:rPr>
              <a:t>AB</a:t>
            </a:r>
            <a:r>
              <a:rPr sz="1100" spc="10" dirty="0">
                <a:latin typeface="LM Sans 10"/>
                <a:cs typeface="LM Sans 10"/>
              </a:rPr>
              <a:t>)</a:t>
            </a:r>
            <a:r>
              <a:rPr sz="1100" i="1" spc="10" dirty="0">
                <a:latin typeface="LM Sans 10"/>
                <a:cs typeface="LM Sans 10"/>
              </a:rPr>
              <a:t>C </a:t>
            </a:r>
            <a:r>
              <a:rPr sz="1100" spc="-5" dirty="0">
                <a:latin typeface="LM Sans 10"/>
                <a:cs typeface="LM Sans 10"/>
              </a:rPr>
              <a:t>] </a:t>
            </a:r>
            <a:r>
              <a:rPr sz="1100" spc="-10" dirty="0">
                <a:latin typeface="LM Sans 10"/>
                <a:cs typeface="LM Sans 10"/>
              </a:rPr>
              <a:t>=</a:t>
            </a:r>
            <a:r>
              <a:rPr sz="1100" spc="270" dirty="0">
                <a:latin typeface="LM Sans 10"/>
                <a:cs typeface="LM Sans 10"/>
              </a:rPr>
              <a:t> </a:t>
            </a:r>
            <a:r>
              <a:rPr sz="1100" spc="-5" dirty="0">
                <a:latin typeface="LM Sans 10"/>
                <a:cs typeface="LM Sans 10"/>
              </a:rPr>
              <a:t>180</a:t>
            </a:r>
            <a:r>
              <a:rPr sz="1100" i="1" spc="-5" dirty="0">
                <a:latin typeface="LM Roman Dunhill 10"/>
                <a:cs typeface="LM Roman Dunhill 10"/>
              </a:rPr>
              <a:t>,</a:t>
            </a:r>
            <a:endParaRPr sz="1100">
              <a:latin typeface="LM Roman Dunhill 10"/>
              <a:cs typeface="LM Roman Dunhill 10"/>
            </a:endParaRPr>
          </a:p>
          <a:p>
            <a:pPr marL="1270635">
              <a:lnSpc>
                <a:spcPct val="100000"/>
              </a:lnSpc>
              <a:spcBef>
                <a:spcPts val="330"/>
              </a:spcBef>
            </a:pPr>
            <a:r>
              <a:rPr sz="1100" i="1" dirty="0">
                <a:latin typeface="LM Sans 10"/>
                <a:cs typeface="LM Sans 10"/>
              </a:rPr>
              <a:t>mult</a:t>
            </a:r>
            <a:r>
              <a:rPr sz="1100" dirty="0">
                <a:latin typeface="LM Sans 10"/>
                <a:cs typeface="LM Sans 10"/>
              </a:rPr>
              <a:t>[</a:t>
            </a:r>
            <a:r>
              <a:rPr sz="1100" i="1" dirty="0">
                <a:latin typeface="LM Sans 10"/>
                <a:cs typeface="LM Sans 10"/>
              </a:rPr>
              <a:t>A</a:t>
            </a:r>
            <a:r>
              <a:rPr sz="1100" dirty="0">
                <a:latin typeface="LM Sans 10"/>
                <a:cs typeface="LM Sans 10"/>
              </a:rPr>
              <a:t>(</a:t>
            </a:r>
            <a:r>
              <a:rPr sz="1100" i="1" dirty="0">
                <a:latin typeface="LM Sans 10"/>
                <a:cs typeface="LM Sans 10"/>
              </a:rPr>
              <a:t>BC </a:t>
            </a:r>
            <a:r>
              <a:rPr sz="1100" spc="-5" dirty="0">
                <a:latin typeface="LM Sans 10"/>
                <a:cs typeface="LM Sans 10"/>
              </a:rPr>
              <a:t>)] </a:t>
            </a:r>
            <a:r>
              <a:rPr sz="1100" spc="-10" dirty="0">
                <a:latin typeface="LM Sans 10"/>
                <a:cs typeface="LM Sans 10"/>
              </a:rPr>
              <a:t>=</a:t>
            </a:r>
            <a:r>
              <a:rPr sz="1100" spc="285" dirty="0">
                <a:latin typeface="LM Sans 10"/>
                <a:cs typeface="LM Sans 10"/>
              </a:rPr>
              <a:t> </a:t>
            </a:r>
            <a:r>
              <a:rPr sz="1100" spc="-5" dirty="0">
                <a:latin typeface="LM Sans 10"/>
                <a:cs typeface="LM Sans 10"/>
              </a:rPr>
              <a:t>88</a:t>
            </a:r>
            <a:r>
              <a:rPr sz="1100" i="1" spc="-5" dirty="0">
                <a:latin typeface="LM Roman Dunhill 10"/>
                <a:cs typeface="LM Roman Dunhill 10"/>
              </a:rPr>
              <a:t>.</a:t>
            </a:r>
            <a:endParaRPr sz="1100">
              <a:latin typeface="LM Roman Dunhill 10"/>
              <a:cs typeface="LM Roman Dunhill 10"/>
            </a:endParaRPr>
          </a:p>
          <a:p>
            <a:pPr>
              <a:lnSpc>
                <a:spcPct val="100000"/>
              </a:lnSpc>
            </a:pPr>
            <a:endParaRPr sz="550">
              <a:latin typeface="LM Roman Dunhill 10"/>
              <a:cs typeface="LM Roman Dunhill 10"/>
            </a:endParaRPr>
          </a:p>
          <a:p>
            <a:pPr marL="12700">
              <a:lnSpc>
                <a:spcPct val="100000"/>
              </a:lnSpc>
            </a:pPr>
            <a:r>
              <a:rPr sz="1100" spc="-10" dirty="0">
                <a:latin typeface="LM Sans 10"/>
                <a:cs typeface="LM Sans 10"/>
              </a:rPr>
              <a:t>A </a:t>
            </a:r>
            <a:r>
              <a:rPr sz="1100" spc="-5" dirty="0">
                <a:latin typeface="LM Sans 10"/>
                <a:cs typeface="LM Sans 10"/>
              </a:rPr>
              <a:t>big </a:t>
            </a:r>
            <a:r>
              <a:rPr sz="1100" spc="-10" dirty="0">
                <a:latin typeface="LM Sans 10"/>
                <a:cs typeface="LM Sans 10"/>
              </a:rPr>
              <a:t>difference!</a:t>
            </a:r>
            <a:endParaRPr sz="1100">
              <a:latin typeface="LM Sans 10"/>
              <a:cs typeface="LM Sans 10"/>
            </a:endParaRPr>
          </a:p>
          <a:p>
            <a:pPr marL="12700" marR="284480">
              <a:lnSpc>
                <a:spcPct val="102600"/>
              </a:lnSpc>
              <a:spcBef>
                <a:spcPts val="920"/>
              </a:spcBef>
            </a:pPr>
            <a:r>
              <a:rPr sz="1100" spc="-5" dirty="0">
                <a:solidFill>
                  <a:srgbClr val="0000FF"/>
                </a:solidFill>
                <a:latin typeface="LM Sans 10"/>
                <a:cs typeface="LM Sans 10"/>
              </a:rPr>
              <a:t>Implication</a:t>
            </a:r>
            <a:r>
              <a:rPr sz="1100" spc="-5" dirty="0">
                <a:latin typeface="LM Sans 10"/>
                <a:cs typeface="LM Sans 10"/>
              </a:rPr>
              <a:t>: Multiplication </a:t>
            </a:r>
            <a:r>
              <a:rPr sz="1100" dirty="0">
                <a:latin typeface="LM Sans 10"/>
                <a:cs typeface="LM Sans 10"/>
              </a:rPr>
              <a:t>“sequence” </a:t>
            </a:r>
            <a:r>
              <a:rPr sz="1100" spc="-10" dirty="0">
                <a:latin typeface="LM Sans 10"/>
                <a:cs typeface="LM Sans 10"/>
              </a:rPr>
              <a:t>(</a:t>
            </a:r>
            <a:r>
              <a:rPr sz="1100" spc="-10" dirty="0">
                <a:solidFill>
                  <a:srgbClr val="FF0000"/>
                </a:solidFill>
                <a:latin typeface="LM Sans 10"/>
                <a:cs typeface="LM Sans 10"/>
              </a:rPr>
              <a:t>parenthesization</a:t>
            </a:r>
            <a:r>
              <a:rPr sz="1100" spc="-10" dirty="0">
                <a:latin typeface="LM Sans 10"/>
                <a:cs typeface="LM Sans 10"/>
              </a:rPr>
              <a:t>) </a:t>
            </a:r>
            <a:r>
              <a:rPr sz="1100" spc="-5" dirty="0">
                <a:latin typeface="LM Sans 10"/>
                <a:cs typeface="LM Sans 10"/>
              </a:rPr>
              <a:t>is  important!!</a:t>
            </a:r>
            <a:endParaRPr sz="1100">
              <a:latin typeface="LM Sans 10"/>
              <a:cs typeface="LM Sans 10"/>
            </a:endParaRPr>
          </a:p>
        </p:txBody>
      </p:sp>
      <p:grpSp>
        <p:nvGrpSpPr>
          <p:cNvPr id="17" name="object 17"/>
          <p:cNvGrpSpPr/>
          <p:nvPr/>
        </p:nvGrpSpPr>
        <p:grpSpPr>
          <a:xfrm>
            <a:off x="0" y="3342919"/>
            <a:ext cx="4608195" cy="113664"/>
            <a:chOff x="0" y="3342919"/>
            <a:chExt cx="4608195" cy="113664"/>
          </a:xfrm>
        </p:grpSpPr>
        <p:sp>
          <p:nvSpPr>
            <p:cNvPr id="18" name="object 18"/>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19" name="object 1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0" name="object 20"/>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2" name="object 2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7" action="ppaction://hlinksldjump"/>
              </a:rPr>
              <a:t>Chain </a:t>
            </a:r>
            <a:r>
              <a:rPr sz="600" b="1" spc="-5" dirty="0">
                <a:solidFill>
                  <a:srgbClr val="FFFFFF"/>
                </a:solidFill>
                <a:latin typeface="LM Sans 10"/>
                <a:cs typeface="LM Sans 10"/>
                <a:hlinkClick r:id="rId7" action="ppaction://hlinksldjump"/>
              </a:rPr>
              <a:t>Matrix Multiplication</a:t>
            </a:r>
            <a:endParaRPr sz="600">
              <a:latin typeface="LM Sans 10"/>
              <a:cs typeface="LM Sans 10"/>
            </a:endParaRPr>
          </a:p>
        </p:txBody>
      </p:sp>
      <p:sp>
        <p:nvSpPr>
          <p:cNvPr id="23" name="object 23"/>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6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r>
              <a:rPr lang="en-US" dirty="0"/>
              <a:t>Conclusion</a:t>
            </a:r>
          </a:p>
        </p:txBody>
      </p:sp>
      <p:sp>
        <p:nvSpPr>
          <p:cNvPr id="3" name="Content Placeholder 2"/>
          <p:cNvSpPr>
            <a:spLocks noGrp="1"/>
          </p:cNvSpPr>
          <p:nvPr>
            <p:ph idx="1"/>
          </p:nvPr>
        </p:nvSpPr>
        <p:spPr>
          <a:xfrm>
            <a:off x="230505" y="807509"/>
            <a:ext cx="4149090" cy="430887"/>
          </a:xfrm>
        </p:spPr>
        <p:style>
          <a:lnRef idx="1">
            <a:schemeClr val="accent6"/>
          </a:lnRef>
          <a:fillRef idx="2">
            <a:schemeClr val="accent6"/>
          </a:fillRef>
          <a:effectRef idx="1">
            <a:schemeClr val="accent6"/>
          </a:effectRef>
          <a:fontRef idx="minor">
            <a:schemeClr val="dk1"/>
          </a:fontRef>
        </p:style>
        <p:txBody>
          <a:bodyPr/>
          <a:lstStyle/>
          <a:p>
            <a:r>
              <a:rPr lang="en-US" sz="1400" dirty="0"/>
              <a:t>Order of operations makes a huge difference. How do we compute the minimum?</a:t>
            </a:r>
          </a:p>
        </p:txBody>
      </p:sp>
      <p:sp>
        <p:nvSpPr>
          <p:cNvPr id="4" name="Rectangle 3"/>
          <p:cNvSpPr/>
          <p:nvPr/>
        </p:nvSpPr>
        <p:spPr>
          <a:xfrm>
            <a:off x="247650" y="1577975"/>
            <a:ext cx="4072255" cy="916348"/>
          </a:xfrm>
          <a:prstGeom prst="rect">
            <a:avLst/>
          </a:prstGeom>
        </p:spPr>
        <p:style>
          <a:lnRef idx="1">
            <a:schemeClr val="accent5"/>
          </a:lnRef>
          <a:fillRef idx="2">
            <a:schemeClr val="accent5"/>
          </a:fillRef>
          <a:effectRef idx="1">
            <a:schemeClr val="accent5"/>
          </a:effectRef>
          <a:fontRef idx="minor">
            <a:schemeClr val="dk1"/>
          </a:fontRef>
        </p:style>
        <p:txBody>
          <a:bodyPr wrap="square" lIns="46113" tIns="23057" rIns="46113" bIns="23057">
            <a:spAutoFit/>
          </a:bodyPr>
          <a:lstStyle/>
          <a:p>
            <a:pPr algn="just"/>
            <a:r>
              <a:rPr lang="en-US" sz="1400" dirty="0"/>
              <a:t>Each </a:t>
            </a:r>
            <a:r>
              <a:rPr lang="en-US" sz="1400" dirty="0" err="1"/>
              <a:t>parenthesization</a:t>
            </a:r>
            <a:r>
              <a:rPr lang="en-US" sz="1400" dirty="0"/>
              <a:t> defines a set of </a:t>
            </a:r>
            <a:r>
              <a:rPr lang="en-US" sz="1400" b="1" dirty="0"/>
              <a:t>n-1 </a:t>
            </a:r>
            <a:r>
              <a:rPr lang="en-US" sz="1400" dirty="0"/>
              <a:t>matrix multiplications. We just need to pick the </a:t>
            </a:r>
            <a:r>
              <a:rPr lang="en-US" sz="1400" dirty="0" err="1"/>
              <a:t>parenthesization</a:t>
            </a:r>
            <a:r>
              <a:rPr lang="en-US" sz="1400" dirty="0"/>
              <a:t> that corresponds to the best ordering. </a:t>
            </a:r>
          </a:p>
        </p:txBody>
      </p:sp>
      <p:sp>
        <p:nvSpPr>
          <p:cNvPr id="5" name="Rectangle 4"/>
          <p:cNvSpPr/>
          <p:nvPr/>
        </p:nvSpPr>
        <p:spPr>
          <a:xfrm>
            <a:off x="704850" y="2805926"/>
            <a:ext cx="3495993" cy="232970"/>
          </a:xfrm>
          <a:prstGeom prst="rect">
            <a:avLst/>
          </a:prstGeom>
        </p:spPr>
        <p:style>
          <a:lnRef idx="0">
            <a:schemeClr val="accent2"/>
          </a:lnRef>
          <a:fillRef idx="3">
            <a:schemeClr val="accent2"/>
          </a:fillRef>
          <a:effectRef idx="3">
            <a:schemeClr val="accent2"/>
          </a:effectRef>
          <a:fontRef idx="minor">
            <a:schemeClr val="lt1"/>
          </a:fontRef>
        </p:style>
        <p:txBody>
          <a:bodyPr wrap="square" lIns="46113" tIns="23057" rIns="46113" bIns="23057">
            <a:spAutoFit/>
          </a:bodyPr>
          <a:lstStyle/>
          <a:p>
            <a:r>
              <a:rPr lang="en-US" sz="1200" b="1" dirty="0"/>
              <a:t>Trying all possible </a:t>
            </a:r>
            <a:r>
              <a:rPr lang="en-US" sz="1200" b="1" dirty="0" err="1"/>
              <a:t>parenthesizations</a:t>
            </a:r>
            <a:r>
              <a:rPr lang="en-US" sz="1200" b="1" dirty="0"/>
              <a:t> is a bad idea!!!</a:t>
            </a:r>
          </a:p>
        </p:txBody>
      </p:sp>
    </p:spTree>
    <p:extLst>
      <p:ext uri="{BB962C8B-B14F-4D97-AF65-F5344CB8AC3E}">
        <p14:creationId xmlns:p14="http://schemas.microsoft.com/office/powerpoint/2010/main" val="2543197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4236" y="0"/>
            <a:ext cx="567690" cy="244475"/>
          </a:xfrm>
          <a:prstGeom prst="rect">
            <a:avLst/>
          </a:prstGeom>
        </p:spPr>
        <p:txBody>
          <a:bodyPr vert="horz" wrap="square" lIns="0" tIns="17145" rIns="0" bIns="0" rtlCol="0">
            <a:spAutoFit/>
          </a:bodyPr>
          <a:lstStyle/>
          <a:p>
            <a:pPr marL="12700">
              <a:lnSpc>
                <a:spcPct val="100000"/>
              </a:lnSpc>
              <a:spcBef>
                <a:spcPts val="135"/>
              </a:spcBef>
            </a:pPr>
            <a:r>
              <a:rPr spc="10" dirty="0"/>
              <a:t>Outline</a:t>
            </a:r>
          </a:p>
        </p:txBody>
      </p:sp>
      <p:sp>
        <p:nvSpPr>
          <p:cNvPr id="3" name="object 3"/>
          <p:cNvSpPr/>
          <p:nvPr/>
        </p:nvSpPr>
        <p:spPr>
          <a:xfrm>
            <a:off x="502551" y="1309243"/>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02551" y="1519275"/>
            <a:ext cx="65265" cy="6526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37095" y="1633397"/>
            <a:ext cx="2374900" cy="0"/>
          </a:xfrm>
          <a:custGeom>
            <a:avLst/>
            <a:gdLst/>
            <a:ahLst/>
            <a:cxnLst/>
            <a:rect l="l" t="t" r="r" b="b"/>
            <a:pathLst>
              <a:path w="2374900">
                <a:moveTo>
                  <a:pt x="0" y="0"/>
                </a:moveTo>
                <a:lnTo>
                  <a:pt x="2374519" y="0"/>
                </a:lnTo>
              </a:path>
            </a:pathLst>
          </a:custGeom>
          <a:ln w="5537">
            <a:solidFill>
              <a:srgbClr val="000000"/>
            </a:solidFill>
          </a:ln>
        </p:spPr>
        <p:txBody>
          <a:bodyPr wrap="square" lIns="0" tIns="0" rIns="0" bIns="0" rtlCol="0"/>
          <a:lstStyle/>
          <a:p>
            <a:endParaRPr/>
          </a:p>
        </p:txBody>
      </p:sp>
      <p:sp>
        <p:nvSpPr>
          <p:cNvPr id="6" name="object 6"/>
          <p:cNvSpPr txBox="1"/>
          <p:nvPr/>
        </p:nvSpPr>
        <p:spPr>
          <a:xfrm>
            <a:off x="624395" y="1182012"/>
            <a:ext cx="3211576" cy="828040"/>
          </a:xfrm>
          <a:prstGeom prst="rect">
            <a:avLst/>
          </a:prstGeom>
        </p:spPr>
        <p:txBody>
          <a:bodyPr vert="horz" wrap="square" lIns="0" tIns="55244" rIns="0" bIns="0" rtlCol="0">
            <a:spAutoFit/>
          </a:bodyPr>
          <a:lstStyle/>
          <a:p>
            <a:pPr marL="12700">
              <a:lnSpc>
                <a:spcPct val="100000"/>
              </a:lnSpc>
              <a:spcBef>
                <a:spcPts val="434"/>
              </a:spcBef>
            </a:pPr>
            <a:r>
              <a:rPr sz="1100" spc="-5" dirty="0">
                <a:latin typeface="LM Sans 10"/>
                <a:cs typeface="LM Sans 10"/>
              </a:rPr>
              <a:t>Review of matrix</a:t>
            </a:r>
            <a:r>
              <a:rPr sz="1100" spc="-15" dirty="0">
                <a:latin typeface="LM Sans 10"/>
                <a:cs typeface="LM Sans 10"/>
              </a:rPr>
              <a:t> </a:t>
            </a:r>
            <a:r>
              <a:rPr sz="1100" spc="-5" dirty="0">
                <a:latin typeface="LM Sans 10"/>
                <a:cs typeface="LM Sans 10"/>
              </a:rPr>
              <a:t>multiplication.</a:t>
            </a:r>
            <a:endParaRPr sz="1100" dirty="0">
              <a:latin typeface="LM Sans 10"/>
              <a:cs typeface="LM Sans 10"/>
            </a:endParaRPr>
          </a:p>
          <a:p>
            <a:pPr marL="12700">
              <a:lnSpc>
                <a:spcPct val="100000"/>
              </a:lnSpc>
              <a:spcBef>
                <a:spcPts val="334"/>
              </a:spcBef>
            </a:pPr>
            <a:r>
              <a:rPr sz="1100" spc="-10" dirty="0">
                <a:latin typeface="LM Sans 10"/>
                <a:cs typeface="LM Sans 10"/>
              </a:rPr>
              <a:t>The </a:t>
            </a:r>
            <a:r>
              <a:rPr sz="1100" spc="-5" dirty="0">
                <a:latin typeface="LM Sans 10"/>
                <a:cs typeface="LM Sans 10"/>
              </a:rPr>
              <a:t>chain matrix multiplication</a:t>
            </a:r>
            <a:r>
              <a:rPr sz="1100" spc="-20" dirty="0">
                <a:latin typeface="LM Sans 10"/>
                <a:cs typeface="LM Sans 10"/>
              </a:rPr>
              <a:t> </a:t>
            </a:r>
            <a:r>
              <a:rPr sz="1100" spc="-10" dirty="0">
                <a:latin typeface="LM Sans 10"/>
                <a:cs typeface="LM Sans 10"/>
              </a:rPr>
              <a:t>problem.</a:t>
            </a:r>
            <a:endParaRPr sz="1100" dirty="0">
              <a:latin typeface="LM Sans 10"/>
              <a:cs typeface="LM Sans 10"/>
            </a:endParaRPr>
          </a:p>
          <a:p>
            <a:pPr marL="12700" marR="5080">
              <a:lnSpc>
                <a:spcPct val="102600"/>
              </a:lnSpc>
              <a:spcBef>
                <a:spcPts val="295"/>
              </a:spcBef>
            </a:pPr>
            <a:r>
              <a:rPr sz="1100" spc="-10" dirty="0">
                <a:latin typeface="LM Sans 10"/>
                <a:cs typeface="LM Sans 10"/>
              </a:rPr>
              <a:t>A</a:t>
            </a:r>
            <a:r>
              <a:rPr lang="en-US" sz="1100" spc="-10" dirty="0">
                <a:latin typeface="LM Sans 10"/>
                <a:cs typeface="LM Sans 10"/>
              </a:rPr>
              <a:t> </a:t>
            </a:r>
            <a:r>
              <a:rPr sz="1100" spc="-10" dirty="0">
                <a:solidFill>
                  <a:srgbClr val="0000FF"/>
                </a:solidFill>
                <a:latin typeface="LM Sans 10"/>
                <a:cs typeface="LM Sans 10"/>
              </a:rPr>
              <a:t>dynamic programming</a:t>
            </a:r>
            <a:r>
              <a:rPr lang="en-US" sz="1100" spc="-10" dirty="0">
                <a:solidFill>
                  <a:srgbClr val="0000FF"/>
                </a:solidFill>
                <a:latin typeface="LM Sans 10"/>
                <a:cs typeface="LM Sans 10"/>
              </a:rPr>
              <a:t> </a:t>
            </a:r>
            <a:r>
              <a:rPr sz="1100" spc="-10" dirty="0">
                <a:latin typeface="LM Sans 10"/>
                <a:cs typeface="LM Sans 10"/>
              </a:rPr>
              <a:t>algorithm </a:t>
            </a:r>
            <a:r>
              <a:rPr sz="1100" spc="-15" dirty="0">
                <a:latin typeface="LM Sans 10"/>
                <a:cs typeface="LM Sans 10"/>
              </a:rPr>
              <a:t>for </a:t>
            </a:r>
            <a:r>
              <a:rPr sz="1100" spc="-5" dirty="0">
                <a:latin typeface="LM Sans 10"/>
                <a:cs typeface="LM Sans 10"/>
              </a:rPr>
              <a:t>chain matrix  multiplication.</a:t>
            </a:r>
            <a:endParaRPr sz="1100" dirty="0">
              <a:latin typeface="LM Sans 10"/>
              <a:cs typeface="LM Sans 10"/>
            </a:endParaRPr>
          </a:p>
        </p:txBody>
      </p:sp>
      <p:sp>
        <p:nvSpPr>
          <p:cNvPr id="7" name="object 7"/>
          <p:cNvSpPr/>
          <p:nvPr/>
        </p:nvSpPr>
        <p:spPr>
          <a:xfrm>
            <a:off x="502551" y="1729308"/>
            <a:ext cx="65265" cy="65265"/>
          </a:xfrm>
          <a:prstGeom prst="rect">
            <a:avLst/>
          </a:prstGeom>
          <a:blipFill>
            <a:blip r:embed="rId2" cstate="print"/>
            <a:stretch>
              <a:fillRect/>
            </a:stretch>
          </a:blipFill>
        </p:spPr>
        <p:txBody>
          <a:bodyPr wrap="square" lIns="0" tIns="0" rIns="0" bIns="0" rtlCol="0"/>
          <a:lstStyle/>
          <a:p>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4" name="object 14"/>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7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08325" cy="244475"/>
          </a:xfrm>
          <a:prstGeom prst="rect">
            <a:avLst/>
          </a:prstGeom>
        </p:spPr>
        <p:txBody>
          <a:bodyPr vert="horz" wrap="square" lIns="0" tIns="17145" rIns="0" bIns="0" rtlCol="0">
            <a:spAutoFit/>
          </a:bodyPr>
          <a:lstStyle/>
          <a:p>
            <a:pPr marL="12700">
              <a:lnSpc>
                <a:spcPct val="100000"/>
              </a:lnSpc>
              <a:spcBef>
                <a:spcPts val="135"/>
              </a:spcBef>
            </a:pPr>
            <a:r>
              <a:rPr spc="15" dirty="0"/>
              <a:t>The </a:t>
            </a:r>
            <a:r>
              <a:rPr spc="10" dirty="0"/>
              <a:t>Chain Matrix Multiplication</a:t>
            </a:r>
            <a:r>
              <a:rPr dirty="0"/>
              <a:t> </a:t>
            </a:r>
            <a:r>
              <a:rPr spc="15" dirty="0"/>
              <a:t>Problem</a:t>
            </a:r>
          </a:p>
        </p:txBody>
      </p:sp>
      <p:grpSp>
        <p:nvGrpSpPr>
          <p:cNvPr id="3" name="object 3"/>
          <p:cNvGrpSpPr/>
          <p:nvPr/>
        </p:nvGrpSpPr>
        <p:grpSpPr>
          <a:xfrm>
            <a:off x="309193" y="309854"/>
            <a:ext cx="4040504" cy="993775"/>
            <a:chOff x="309193" y="309854"/>
            <a:chExt cx="4040504" cy="993775"/>
          </a:xfrm>
        </p:grpSpPr>
        <p:sp>
          <p:nvSpPr>
            <p:cNvPr id="4" name="object 4"/>
            <p:cNvSpPr/>
            <p:nvPr/>
          </p:nvSpPr>
          <p:spPr>
            <a:xfrm>
              <a:off x="309193" y="309854"/>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262685"/>
            </a:solidFill>
          </p:spPr>
          <p:txBody>
            <a:bodyPr wrap="square" lIns="0" tIns="0" rIns="0" bIns="0" rtlCol="0"/>
            <a:lstStyle/>
            <a:p>
              <a:endParaRPr/>
            </a:p>
          </p:txBody>
        </p:sp>
        <p:sp>
          <p:nvSpPr>
            <p:cNvPr id="5" name="object 5"/>
            <p:cNvSpPr/>
            <p:nvPr/>
          </p:nvSpPr>
          <p:spPr>
            <a:xfrm>
              <a:off x="309194" y="499148"/>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1201737"/>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1189037"/>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354088"/>
              <a:ext cx="50749" cy="84764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543421"/>
              <a:ext cx="3989704" cy="709295"/>
            </a:xfrm>
            <a:custGeom>
              <a:avLst/>
              <a:gdLst/>
              <a:ahLst/>
              <a:cxnLst/>
              <a:rect l="l" t="t" r="r" b="b"/>
              <a:pathLst>
                <a:path w="3989704" h="709294">
                  <a:moveTo>
                    <a:pt x="3989654" y="0"/>
                  </a:moveTo>
                  <a:lnTo>
                    <a:pt x="0" y="0"/>
                  </a:lnTo>
                  <a:lnTo>
                    <a:pt x="0" y="658315"/>
                  </a:lnTo>
                  <a:lnTo>
                    <a:pt x="4008" y="678040"/>
                  </a:lnTo>
                  <a:lnTo>
                    <a:pt x="14922" y="694193"/>
                  </a:lnTo>
                  <a:lnTo>
                    <a:pt x="31075" y="705107"/>
                  </a:lnTo>
                  <a:lnTo>
                    <a:pt x="50800" y="709116"/>
                  </a:lnTo>
                  <a:lnTo>
                    <a:pt x="3938854" y="709116"/>
                  </a:lnTo>
                  <a:lnTo>
                    <a:pt x="3958579" y="705107"/>
                  </a:lnTo>
                  <a:lnTo>
                    <a:pt x="3974732" y="694193"/>
                  </a:lnTo>
                  <a:lnTo>
                    <a:pt x="3985646" y="678040"/>
                  </a:lnTo>
                  <a:lnTo>
                    <a:pt x="3989654" y="658315"/>
                  </a:lnTo>
                  <a:lnTo>
                    <a:pt x="3989654" y="0"/>
                  </a:lnTo>
                  <a:close/>
                </a:path>
              </a:pathLst>
            </a:custGeom>
            <a:solidFill>
              <a:srgbClr val="E9E9F2"/>
            </a:solidFill>
          </p:spPr>
          <p:txBody>
            <a:bodyPr wrap="square" lIns="0" tIns="0" rIns="0" bIns="0" rtlCol="0"/>
            <a:lstStyle/>
            <a:p>
              <a:endParaRPr/>
            </a:p>
          </p:txBody>
        </p:sp>
        <p:sp>
          <p:nvSpPr>
            <p:cNvPr id="10" name="object 10"/>
            <p:cNvSpPr/>
            <p:nvPr/>
          </p:nvSpPr>
          <p:spPr>
            <a:xfrm>
              <a:off x="4298848" y="392174"/>
              <a:ext cx="0" cy="828675"/>
            </a:xfrm>
            <a:custGeom>
              <a:avLst/>
              <a:gdLst/>
              <a:ahLst/>
              <a:cxnLst/>
              <a:rect l="l" t="t" r="r" b="b"/>
              <a:pathLst>
                <a:path h="828675">
                  <a:moveTo>
                    <a:pt x="0" y="828612"/>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379474"/>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366774"/>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354074"/>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14" name="object 14"/>
          <p:cNvSpPr/>
          <p:nvPr/>
        </p:nvSpPr>
        <p:spPr>
          <a:xfrm>
            <a:off x="502551" y="1448536"/>
            <a:ext cx="65265" cy="65265"/>
          </a:xfrm>
          <a:prstGeom prst="rect">
            <a:avLst/>
          </a:prstGeom>
          <a:blipFill>
            <a:blip r:embed="rId6" cstate="print"/>
            <a:stretch>
              <a:fillRect/>
            </a:stretch>
          </a:blipFill>
        </p:spPr>
        <p:txBody>
          <a:bodyPr wrap="square" lIns="0" tIns="0" rIns="0" bIns="0" rtlCol="0"/>
          <a:lstStyle/>
          <a:p>
            <a:endParaRPr/>
          </a:p>
        </p:txBody>
      </p:sp>
      <p:sp>
        <p:nvSpPr>
          <p:cNvPr id="15" name="object 15"/>
          <p:cNvSpPr txBox="1"/>
          <p:nvPr/>
        </p:nvSpPr>
        <p:spPr>
          <a:xfrm>
            <a:off x="271094" y="253794"/>
            <a:ext cx="4053840" cy="1303020"/>
          </a:xfrm>
          <a:prstGeom prst="rect">
            <a:avLst/>
          </a:prstGeom>
        </p:spPr>
        <p:txBody>
          <a:bodyPr vert="horz" wrap="square" lIns="0" tIns="58419" rIns="0" bIns="0" rtlCol="0">
            <a:spAutoFit/>
          </a:bodyPr>
          <a:lstStyle/>
          <a:p>
            <a:pPr marL="88900">
              <a:lnSpc>
                <a:spcPct val="100000"/>
              </a:lnSpc>
              <a:spcBef>
                <a:spcPts val="459"/>
              </a:spcBef>
            </a:pPr>
            <a:r>
              <a:rPr sz="1100" spc="-10" dirty="0">
                <a:solidFill>
                  <a:srgbClr val="FFFFFF"/>
                </a:solidFill>
                <a:latin typeface="LM Sans 10"/>
                <a:cs typeface="LM Sans 10"/>
              </a:rPr>
              <a:t>Definition (Chain </a:t>
            </a:r>
            <a:r>
              <a:rPr sz="1100" spc="-5" dirty="0">
                <a:solidFill>
                  <a:srgbClr val="FFFFFF"/>
                </a:solidFill>
                <a:latin typeface="LM Sans 10"/>
                <a:cs typeface="LM Sans 10"/>
              </a:rPr>
              <a:t>matrix multiplication</a:t>
            </a:r>
            <a:r>
              <a:rPr sz="1100" dirty="0">
                <a:solidFill>
                  <a:srgbClr val="FFFFFF"/>
                </a:solidFill>
                <a:latin typeface="LM Sans 10"/>
                <a:cs typeface="LM Sans 10"/>
              </a:rPr>
              <a:t> </a:t>
            </a:r>
            <a:r>
              <a:rPr sz="1100" spc="-10" dirty="0">
                <a:solidFill>
                  <a:srgbClr val="FFFFFF"/>
                </a:solidFill>
                <a:latin typeface="LM Sans 10"/>
                <a:cs typeface="LM Sans 10"/>
              </a:rPr>
              <a:t>problem)</a:t>
            </a:r>
            <a:endParaRPr sz="1100" dirty="0">
              <a:latin typeface="LM Sans 10"/>
              <a:cs typeface="LM Sans 10"/>
            </a:endParaRPr>
          </a:p>
          <a:p>
            <a:pPr marL="88265" marR="68580">
              <a:lnSpc>
                <a:spcPct val="102600"/>
              </a:lnSpc>
              <a:spcBef>
                <a:spcPts val="320"/>
              </a:spcBef>
            </a:pPr>
            <a:r>
              <a:rPr sz="1100" spc="-10" dirty="0">
                <a:latin typeface="LM Sans 10"/>
                <a:cs typeface="LM Sans 10"/>
              </a:rPr>
              <a:t>Given</a:t>
            </a:r>
            <a:r>
              <a:rPr sz="1100" spc="-5" dirty="0">
                <a:latin typeface="LM Sans 10"/>
                <a:cs typeface="LM Sans 10"/>
              </a:rPr>
              <a:t> dimensions</a:t>
            </a:r>
            <a:r>
              <a:rPr sz="1100" dirty="0">
                <a:latin typeface="LM Sans 10"/>
                <a:cs typeface="LM Sans 10"/>
              </a:rPr>
              <a:t> </a:t>
            </a:r>
            <a:r>
              <a:rPr sz="1100" i="1" spc="10" dirty="0">
                <a:latin typeface="LM Sans 10"/>
                <a:cs typeface="LM Sans 10"/>
              </a:rPr>
              <a:t>p</a:t>
            </a:r>
            <a:r>
              <a:rPr sz="1200" spc="15" baseline="-10416" dirty="0">
                <a:latin typeface="LM Sans 8"/>
                <a:cs typeface="LM Sans 8"/>
              </a:rPr>
              <a:t>0</a:t>
            </a:r>
            <a:r>
              <a:rPr sz="1100" i="1" spc="10" dirty="0">
                <a:latin typeface="LM Roman Dunhill 10"/>
                <a:cs typeface="LM Roman Dunhill 10"/>
              </a:rPr>
              <a:t>,</a:t>
            </a:r>
            <a:r>
              <a:rPr sz="1100" i="1" spc="-185" dirty="0">
                <a:latin typeface="LM Roman Dunhill 10"/>
                <a:cs typeface="LM Roman Dunhill 10"/>
              </a:rPr>
              <a:t> </a:t>
            </a:r>
            <a:r>
              <a:rPr sz="1100" i="1" spc="10" dirty="0">
                <a:latin typeface="LM Sans 10"/>
                <a:cs typeface="LM Sans 10"/>
              </a:rPr>
              <a:t>p</a:t>
            </a:r>
            <a:r>
              <a:rPr sz="1200" spc="15" baseline="-10416" dirty="0">
                <a:latin typeface="LM Sans 8"/>
                <a:cs typeface="LM Sans 8"/>
              </a:rPr>
              <a:t>1</a:t>
            </a:r>
            <a:r>
              <a:rPr sz="1100" i="1" spc="10"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15" dirty="0">
                <a:latin typeface="LM Sans 10"/>
                <a:cs typeface="LM Sans 10"/>
              </a:rPr>
              <a:t>p</a:t>
            </a:r>
            <a:r>
              <a:rPr sz="1200" i="1" spc="22" baseline="-10416" dirty="0">
                <a:latin typeface="LM Sans 8"/>
                <a:cs typeface="LM Sans 8"/>
              </a:rPr>
              <a:t>n</a:t>
            </a:r>
            <a:r>
              <a:rPr sz="1100" spc="15" dirty="0">
                <a:latin typeface="LM Sans 10"/>
                <a:cs typeface="LM Sans 10"/>
              </a:rPr>
              <a:t>,</a:t>
            </a:r>
            <a:r>
              <a:rPr sz="1100" spc="-5" dirty="0">
                <a:latin typeface="LM Sans 10"/>
                <a:cs typeface="LM Sans 10"/>
              </a:rPr>
              <a:t> </a:t>
            </a:r>
            <a:r>
              <a:rPr sz="1100" spc="-10" dirty="0">
                <a:latin typeface="LM Sans 10"/>
                <a:cs typeface="LM Sans 10"/>
              </a:rPr>
              <a:t>corresponding</a:t>
            </a:r>
            <a:r>
              <a:rPr sz="1100" spc="-5" dirty="0">
                <a:latin typeface="LM Sans 10"/>
                <a:cs typeface="LM Sans 10"/>
              </a:rPr>
              <a:t> to matrix sequence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spc="-20" dirty="0">
                <a:latin typeface="LM Sans 10"/>
                <a:cs typeface="LM Sans 10"/>
              </a:rPr>
              <a:t> </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spc="-2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spc="-5" dirty="0">
                <a:latin typeface="LM Sans 10"/>
                <a:cs typeface="LM Sans 10"/>
              </a:rPr>
              <a:t>,</a:t>
            </a:r>
            <a:r>
              <a:rPr sz="1100" spc="-20" dirty="0">
                <a:latin typeface="LM Sans 10"/>
                <a:cs typeface="LM Sans 10"/>
              </a:rPr>
              <a:t> </a:t>
            </a:r>
            <a:r>
              <a:rPr sz="1100" i="1" spc="-5" dirty="0">
                <a:latin typeface="LM Sans 10"/>
                <a:cs typeface="LM Sans 10"/>
              </a:rPr>
              <a:t>A</a:t>
            </a:r>
            <a:r>
              <a:rPr sz="1200" i="1" spc="-7" baseline="-10416" dirty="0">
                <a:latin typeface="LM Sans 8"/>
                <a:cs typeface="LM Sans 8"/>
              </a:rPr>
              <a:t>n</a:t>
            </a:r>
            <a:r>
              <a:rPr sz="1200" i="1" spc="187" baseline="-10416" dirty="0">
                <a:latin typeface="LM Sans 8"/>
                <a:cs typeface="LM Sans 8"/>
              </a:rPr>
              <a:t> </a:t>
            </a:r>
            <a:r>
              <a:rPr sz="1100" spc="-5" dirty="0">
                <a:latin typeface="LM Sans 10"/>
                <a:cs typeface="LM Sans 10"/>
              </a:rPr>
              <a:t>in</a:t>
            </a:r>
            <a:r>
              <a:rPr sz="1100" spc="-15" dirty="0">
                <a:latin typeface="LM Sans 10"/>
                <a:cs typeface="LM Sans 10"/>
              </a:rPr>
              <a:t> </a:t>
            </a:r>
            <a:r>
              <a:rPr sz="1100" spc="-5" dirty="0">
                <a:latin typeface="LM Sans 10"/>
                <a:cs typeface="LM Sans 10"/>
              </a:rPr>
              <a:t>which</a:t>
            </a:r>
            <a:r>
              <a:rPr sz="1100" spc="-20" dirty="0">
                <a:latin typeface="LM Sans 10"/>
                <a:cs typeface="LM Sans 10"/>
              </a:rPr>
              <a:t> </a:t>
            </a:r>
            <a:r>
              <a:rPr sz="1100" i="1" spc="-5" dirty="0">
                <a:latin typeface="LM Sans 10"/>
                <a:cs typeface="LM Sans 10"/>
              </a:rPr>
              <a:t>A</a:t>
            </a:r>
            <a:r>
              <a:rPr sz="1200" i="1" spc="-7" baseline="-10416" dirty="0">
                <a:latin typeface="LM Sans 8"/>
                <a:cs typeface="LM Sans 8"/>
              </a:rPr>
              <a:t>i</a:t>
            </a:r>
            <a:r>
              <a:rPr sz="1200" i="1" spc="292" baseline="-10416" dirty="0">
                <a:latin typeface="LM Sans 8"/>
                <a:cs typeface="LM Sans 8"/>
              </a:rPr>
              <a:t> </a:t>
            </a:r>
            <a:r>
              <a:rPr sz="1100" spc="-5" dirty="0">
                <a:latin typeface="LM Sans 10"/>
                <a:cs typeface="LM Sans 10"/>
              </a:rPr>
              <a:t>has</a:t>
            </a:r>
            <a:r>
              <a:rPr sz="1100" spc="-15" dirty="0">
                <a:latin typeface="LM Sans 10"/>
                <a:cs typeface="LM Sans 10"/>
              </a:rPr>
              <a:t> </a:t>
            </a:r>
            <a:r>
              <a:rPr sz="1100" spc="-5" dirty="0">
                <a:latin typeface="LM Sans 10"/>
                <a:cs typeface="LM Sans 10"/>
              </a:rPr>
              <a:t>dimension</a:t>
            </a:r>
            <a:r>
              <a:rPr sz="1100" spc="-20" dirty="0">
                <a:latin typeface="LM Sans 10"/>
                <a:cs typeface="LM Sans 10"/>
              </a:rPr>
              <a:t> </a:t>
            </a:r>
            <a:r>
              <a:rPr sz="1100" i="1" spc="60" dirty="0">
                <a:latin typeface="LM Sans 10"/>
                <a:cs typeface="LM Sans 10"/>
              </a:rPr>
              <a:t>p</a:t>
            </a:r>
            <a:r>
              <a:rPr sz="1200" i="1" spc="89" baseline="-10416" dirty="0">
                <a:latin typeface="LM Sans 8"/>
                <a:cs typeface="LM Sans 8"/>
              </a:rPr>
              <a:t>i</a:t>
            </a:r>
            <a:r>
              <a:rPr sz="1200" i="1" spc="89" baseline="-10416" dirty="0">
                <a:latin typeface="Arial"/>
                <a:cs typeface="Arial"/>
              </a:rPr>
              <a:t>−</a:t>
            </a:r>
            <a:r>
              <a:rPr sz="1200" spc="89" baseline="-10416" dirty="0">
                <a:latin typeface="LM Sans 8"/>
                <a:cs typeface="LM Sans 8"/>
              </a:rPr>
              <a:t>1</a:t>
            </a:r>
            <a:r>
              <a:rPr sz="1200" spc="-22" baseline="-10416" dirty="0">
                <a:latin typeface="LM Sans 8"/>
                <a:cs typeface="LM Sans 8"/>
              </a:rPr>
              <a:t> </a:t>
            </a:r>
            <a:r>
              <a:rPr sz="1100" i="1" spc="15" dirty="0">
                <a:latin typeface="DejaVu Sans Condensed"/>
                <a:cs typeface="DejaVu Sans Condensed"/>
              </a:rPr>
              <a:t>×</a:t>
            </a:r>
            <a:r>
              <a:rPr sz="1100" i="1" spc="-100" dirty="0">
                <a:latin typeface="DejaVu Sans Condensed"/>
                <a:cs typeface="DejaVu Sans Condensed"/>
              </a:rPr>
              <a:t> </a:t>
            </a:r>
            <a:r>
              <a:rPr sz="1100" i="1" spc="-5" dirty="0">
                <a:latin typeface="LM Sans 10"/>
                <a:cs typeface="LM Sans 10"/>
              </a:rPr>
              <a:t>p</a:t>
            </a:r>
            <a:r>
              <a:rPr sz="1200" i="1" spc="-7" baseline="-10416" dirty="0">
                <a:latin typeface="LM Sans 8"/>
                <a:cs typeface="LM Sans 8"/>
              </a:rPr>
              <a:t>i</a:t>
            </a:r>
            <a:r>
              <a:rPr sz="1200" i="1" spc="-232" baseline="-10416" dirty="0">
                <a:latin typeface="LM Sans 8"/>
                <a:cs typeface="LM Sans 8"/>
              </a:rPr>
              <a:t> </a:t>
            </a:r>
            <a:r>
              <a:rPr sz="1100" spc="-5" dirty="0">
                <a:latin typeface="LM Sans 10"/>
                <a:cs typeface="LM Sans 10"/>
              </a:rPr>
              <a:t>,</a:t>
            </a:r>
            <a:r>
              <a:rPr sz="1100" spc="-20" dirty="0">
                <a:latin typeface="LM Sans 10"/>
                <a:cs typeface="LM Sans 10"/>
              </a:rPr>
              <a:t> </a:t>
            </a:r>
            <a:r>
              <a:rPr sz="1100" spc="-5" dirty="0">
                <a:latin typeface="LM Sans 10"/>
                <a:cs typeface="LM Sans 10"/>
              </a:rPr>
              <a:t>determine</a:t>
            </a:r>
            <a:r>
              <a:rPr sz="1100" spc="-15" dirty="0">
                <a:latin typeface="LM Sans 10"/>
                <a:cs typeface="LM Sans 10"/>
              </a:rPr>
              <a:t> </a:t>
            </a:r>
            <a:r>
              <a:rPr sz="1100" spc="-5" dirty="0">
                <a:latin typeface="LM Sans 10"/>
                <a:cs typeface="LM Sans 10"/>
              </a:rPr>
              <a:t>the  </a:t>
            </a:r>
            <a:r>
              <a:rPr sz="1100" spc="-5" dirty="0">
                <a:solidFill>
                  <a:srgbClr val="FF0000"/>
                </a:solidFill>
                <a:latin typeface="LM Sans 10"/>
                <a:cs typeface="LM Sans 10"/>
              </a:rPr>
              <a:t>“multiplication </a:t>
            </a:r>
            <a:r>
              <a:rPr sz="1100" spc="-5" dirty="0" err="1">
                <a:solidFill>
                  <a:srgbClr val="FF0000"/>
                </a:solidFill>
                <a:latin typeface="LM Sans 10"/>
                <a:cs typeface="LM Sans 10"/>
              </a:rPr>
              <a:t>sequence”</a:t>
            </a:r>
            <a:r>
              <a:rPr sz="1100" spc="-5" dirty="0" err="1">
                <a:latin typeface="LM Sans 10"/>
                <a:cs typeface="LM Sans 10"/>
              </a:rPr>
              <a:t>that</a:t>
            </a:r>
            <a:r>
              <a:rPr lang="en-US" sz="1100" spc="-5" dirty="0">
                <a:latin typeface="LM Sans 10"/>
                <a:cs typeface="LM Sans 10"/>
              </a:rPr>
              <a:t> </a:t>
            </a:r>
            <a:r>
              <a:rPr sz="1100" spc="-5" dirty="0">
                <a:solidFill>
                  <a:srgbClr val="0000FF"/>
                </a:solidFill>
                <a:latin typeface="LM Sans 10"/>
                <a:cs typeface="LM Sans 10"/>
              </a:rPr>
              <a:t>minimizes</a:t>
            </a:r>
            <a:r>
              <a:rPr lang="en-US" sz="1100" spc="-5" dirty="0">
                <a:solidFill>
                  <a:srgbClr val="0000FF"/>
                </a:solidFill>
                <a:latin typeface="LM Sans 10"/>
                <a:cs typeface="LM Sans 10"/>
              </a:rPr>
              <a:t> </a:t>
            </a:r>
            <a:r>
              <a:rPr sz="1100" spc="-5" dirty="0">
                <a:latin typeface="LM Sans 10"/>
                <a:cs typeface="LM Sans 10"/>
              </a:rPr>
              <a:t>the number </a:t>
            </a:r>
            <a:r>
              <a:rPr sz="1100" spc="-10" dirty="0">
                <a:latin typeface="LM Sans 10"/>
                <a:cs typeface="LM Sans 10"/>
              </a:rPr>
              <a:t>of</a:t>
            </a:r>
            <a:r>
              <a:rPr lang="en-US" sz="1100" spc="-10" dirty="0">
                <a:latin typeface="LM Sans 10"/>
                <a:cs typeface="LM Sans 10"/>
              </a:rPr>
              <a:t> </a:t>
            </a:r>
            <a:r>
              <a:rPr sz="1100" spc="-10" dirty="0">
                <a:solidFill>
                  <a:srgbClr val="FF0000"/>
                </a:solidFill>
                <a:latin typeface="LM Sans 10"/>
                <a:cs typeface="LM Sans 10"/>
              </a:rPr>
              <a:t>scalar  </a:t>
            </a:r>
            <a:r>
              <a:rPr sz="1100" spc="-5" dirty="0">
                <a:solidFill>
                  <a:srgbClr val="FF0000"/>
                </a:solidFill>
                <a:latin typeface="LM Sans 10"/>
                <a:cs typeface="LM Sans 10"/>
              </a:rPr>
              <a:t>multiplications</a:t>
            </a:r>
            <a:r>
              <a:rPr lang="en-US" sz="1100" spc="-5" dirty="0">
                <a:solidFill>
                  <a:srgbClr val="FF0000"/>
                </a:solidFill>
                <a:latin typeface="LM Sans 10"/>
                <a:cs typeface="LM Sans 10"/>
              </a:rPr>
              <a:t> </a:t>
            </a:r>
            <a:r>
              <a:rPr sz="1100" spc="-5" dirty="0">
                <a:latin typeface="LM Sans 10"/>
                <a:cs typeface="LM Sans 10"/>
              </a:rPr>
              <a:t>in computing</a:t>
            </a:r>
            <a:r>
              <a:rPr sz="1100" spc="-70" dirty="0">
                <a:latin typeface="LM Sans 10"/>
                <a:cs typeface="LM Sans 10"/>
              </a:rPr>
              <a:t> </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 </a:t>
            </a:r>
            <a:r>
              <a:rPr sz="1100" i="1" spc="-15" dirty="0">
                <a:latin typeface="DejaVu Sans Condensed"/>
                <a:cs typeface="DejaVu Sans Condensed"/>
              </a:rPr>
              <a:t>· · · </a:t>
            </a:r>
            <a:r>
              <a:rPr sz="1100" i="1" spc="15" dirty="0">
                <a:latin typeface="LM Sans 10"/>
                <a:cs typeface="LM Sans 10"/>
              </a:rPr>
              <a:t>A</a:t>
            </a:r>
            <a:r>
              <a:rPr sz="1200" i="1" spc="22" baseline="-10416" dirty="0">
                <a:latin typeface="LM Sans 8"/>
                <a:cs typeface="LM Sans 8"/>
              </a:rPr>
              <a:t>n</a:t>
            </a:r>
            <a:r>
              <a:rPr sz="1100" spc="15" dirty="0">
                <a:latin typeface="LM Sans 10"/>
                <a:cs typeface="LM Sans 10"/>
              </a:rPr>
              <a:t>.</a:t>
            </a:r>
            <a:endParaRPr sz="1100" dirty="0">
              <a:latin typeface="LM Sans 10"/>
              <a:cs typeface="LM Sans 10"/>
            </a:endParaRPr>
          </a:p>
          <a:p>
            <a:pPr marL="365760">
              <a:lnSpc>
                <a:spcPct val="100000"/>
              </a:lnSpc>
              <a:spcBef>
                <a:spcPts val="1320"/>
              </a:spcBef>
            </a:pPr>
            <a:r>
              <a:rPr sz="1100" spc="-5" dirty="0">
                <a:latin typeface="LM Sans 10"/>
                <a:cs typeface="LM Sans 10"/>
              </a:rPr>
              <a:t>i.e.,, determine </a:t>
            </a:r>
            <a:r>
              <a:rPr sz="1100" spc="-20" dirty="0">
                <a:latin typeface="LM Sans 10"/>
                <a:cs typeface="LM Sans 10"/>
              </a:rPr>
              <a:t>how </a:t>
            </a:r>
            <a:r>
              <a:rPr sz="1100" spc="-5" dirty="0">
                <a:latin typeface="LM Sans 10"/>
                <a:cs typeface="LM Sans 10"/>
              </a:rPr>
              <a:t>to </a:t>
            </a:r>
            <a:r>
              <a:rPr sz="1100" spc="-10" dirty="0">
                <a:latin typeface="LM Sans 10"/>
                <a:cs typeface="LM Sans 10"/>
              </a:rPr>
              <a:t>parenthesize </a:t>
            </a:r>
            <a:r>
              <a:rPr sz="1100" spc="-5" dirty="0">
                <a:latin typeface="LM Sans 10"/>
                <a:cs typeface="LM Sans 10"/>
              </a:rPr>
              <a:t>the</a:t>
            </a:r>
            <a:r>
              <a:rPr sz="1100" dirty="0">
                <a:latin typeface="LM Sans 10"/>
                <a:cs typeface="LM Sans 10"/>
              </a:rPr>
              <a:t> </a:t>
            </a:r>
            <a:r>
              <a:rPr sz="1100" spc="-5" dirty="0">
                <a:latin typeface="LM Sans 10"/>
                <a:cs typeface="LM Sans 10"/>
              </a:rPr>
              <a:t>multiplications.</a:t>
            </a:r>
            <a:endParaRPr sz="1100" dirty="0">
              <a:latin typeface="LM Sans 10"/>
              <a:cs typeface="LM Sans 10"/>
            </a:endParaRPr>
          </a:p>
        </p:txBody>
      </p:sp>
      <p:grpSp>
        <p:nvGrpSpPr>
          <p:cNvPr id="16" name="object 16"/>
          <p:cNvGrpSpPr/>
          <p:nvPr/>
        </p:nvGrpSpPr>
        <p:grpSpPr>
          <a:xfrm>
            <a:off x="0" y="3342919"/>
            <a:ext cx="4608195" cy="113664"/>
            <a:chOff x="0" y="3342919"/>
            <a:chExt cx="4608195" cy="113664"/>
          </a:xfrm>
        </p:grpSpPr>
        <p:sp>
          <p:nvSpPr>
            <p:cNvPr id="17" name="object 1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8" name="object 1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9" name="object 19"/>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1" name="object 2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7" action="ppaction://hlinksldjump"/>
              </a:rPr>
              <a:t>Chain </a:t>
            </a:r>
            <a:r>
              <a:rPr sz="600" b="1" spc="-5" dirty="0">
                <a:solidFill>
                  <a:srgbClr val="FFFFFF"/>
                </a:solidFill>
                <a:latin typeface="LM Sans 10"/>
                <a:cs typeface="LM Sans 10"/>
                <a:hlinkClick r:id="rId7" action="ppaction://hlinksldjump"/>
              </a:rPr>
              <a:t>Matrix Multiplication</a:t>
            </a:r>
            <a:endParaRPr sz="600">
              <a:latin typeface="LM Sans 10"/>
              <a:cs typeface="LM Sans 10"/>
            </a:endParaRPr>
          </a:p>
        </p:txBody>
      </p:sp>
      <p:sp>
        <p:nvSpPr>
          <p:cNvPr id="22" name="object 22"/>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8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08325" cy="244475"/>
          </a:xfrm>
          <a:prstGeom prst="rect">
            <a:avLst/>
          </a:prstGeom>
        </p:spPr>
        <p:txBody>
          <a:bodyPr vert="horz" wrap="square" lIns="0" tIns="17145" rIns="0" bIns="0" rtlCol="0">
            <a:spAutoFit/>
          </a:bodyPr>
          <a:lstStyle/>
          <a:p>
            <a:pPr marL="12700">
              <a:lnSpc>
                <a:spcPct val="100000"/>
              </a:lnSpc>
              <a:spcBef>
                <a:spcPts val="135"/>
              </a:spcBef>
            </a:pPr>
            <a:r>
              <a:rPr spc="15" dirty="0"/>
              <a:t>The </a:t>
            </a:r>
            <a:r>
              <a:rPr spc="10" dirty="0"/>
              <a:t>Chain Matrix Multiplication</a:t>
            </a:r>
            <a:r>
              <a:rPr dirty="0"/>
              <a:t> </a:t>
            </a:r>
            <a:r>
              <a:rPr spc="15" dirty="0"/>
              <a:t>Problem</a:t>
            </a:r>
          </a:p>
        </p:txBody>
      </p:sp>
      <p:grpSp>
        <p:nvGrpSpPr>
          <p:cNvPr id="3" name="object 3"/>
          <p:cNvGrpSpPr/>
          <p:nvPr/>
        </p:nvGrpSpPr>
        <p:grpSpPr>
          <a:xfrm>
            <a:off x="309193" y="309854"/>
            <a:ext cx="4040504" cy="993775"/>
            <a:chOff x="309193" y="309854"/>
            <a:chExt cx="4040504" cy="993775"/>
          </a:xfrm>
        </p:grpSpPr>
        <p:sp>
          <p:nvSpPr>
            <p:cNvPr id="4" name="object 4"/>
            <p:cNvSpPr/>
            <p:nvPr/>
          </p:nvSpPr>
          <p:spPr>
            <a:xfrm>
              <a:off x="309193" y="309854"/>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262685"/>
            </a:solidFill>
          </p:spPr>
          <p:txBody>
            <a:bodyPr wrap="square" lIns="0" tIns="0" rIns="0" bIns="0" rtlCol="0"/>
            <a:lstStyle/>
            <a:p>
              <a:endParaRPr/>
            </a:p>
          </p:txBody>
        </p:sp>
        <p:sp>
          <p:nvSpPr>
            <p:cNvPr id="5" name="object 5"/>
            <p:cNvSpPr/>
            <p:nvPr/>
          </p:nvSpPr>
          <p:spPr>
            <a:xfrm>
              <a:off x="309194" y="499148"/>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1201737"/>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1189037"/>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354088"/>
              <a:ext cx="50749" cy="84764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543421"/>
              <a:ext cx="3989704" cy="709295"/>
            </a:xfrm>
            <a:custGeom>
              <a:avLst/>
              <a:gdLst/>
              <a:ahLst/>
              <a:cxnLst/>
              <a:rect l="l" t="t" r="r" b="b"/>
              <a:pathLst>
                <a:path w="3989704" h="709294">
                  <a:moveTo>
                    <a:pt x="3989654" y="0"/>
                  </a:moveTo>
                  <a:lnTo>
                    <a:pt x="0" y="0"/>
                  </a:lnTo>
                  <a:lnTo>
                    <a:pt x="0" y="658315"/>
                  </a:lnTo>
                  <a:lnTo>
                    <a:pt x="4008" y="678040"/>
                  </a:lnTo>
                  <a:lnTo>
                    <a:pt x="14922" y="694193"/>
                  </a:lnTo>
                  <a:lnTo>
                    <a:pt x="31075" y="705107"/>
                  </a:lnTo>
                  <a:lnTo>
                    <a:pt x="50800" y="709116"/>
                  </a:lnTo>
                  <a:lnTo>
                    <a:pt x="3938854" y="709116"/>
                  </a:lnTo>
                  <a:lnTo>
                    <a:pt x="3958579" y="705107"/>
                  </a:lnTo>
                  <a:lnTo>
                    <a:pt x="3974732" y="694193"/>
                  </a:lnTo>
                  <a:lnTo>
                    <a:pt x="3985646" y="678040"/>
                  </a:lnTo>
                  <a:lnTo>
                    <a:pt x="3989654" y="658315"/>
                  </a:lnTo>
                  <a:lnTo>
                    <a:pt x="3989654" y="0"/>
                  </a:lnTo>
                  <a:close/>
                </a:path>
              </a:pathLst>
            </a:custGeom>
            <a:solidFill>
              <a:srgbClr val="E9E9F2"/>
            </a:solidFill>
          </p:spPr>
          <p:txBody>
            <a:bodyPr wrap="square" lIns="0" tIns="0" rIns="0" bIns="0" rtlCol="0"/>
            <a:lstStyle/>
            <a:p>
              <a:endParaRPr/>
            </a:p>
          </p:txBody>
        </p:sp>
        <p:sp>
          <p:nvSpPr>
            <p:cNvPr id="10" name="object 10"/>
            <p:cNvSpPr/>
            <p:nvPr/>
          </p:nvSpPr>
          <p:spPr>
            <a:xfrm>
              <a:off x="4298848" y="392174"/>
              <a:ext cx="0" cy="828675"/>
            </a:xfrm>
            <a:custGeom>
              <a:avLst/>
              <a:gdLst/>
              <a:ahLst/>
              <a:cxnLst/>
              <a:rect l="l" t="t" r="r" b="b"/>
              <a:pathLst>
                <a:path h="828675">
                  <a:moveTo>
                    <a:pt x="0" y="828612"/>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379474"/>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366774"/>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354074"/>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14" name="object 14"/>
          <p:cNvSpPr/>
          <p:nvPr/>
        </p:nvSpPr>
        <p:spPr>
          <a:xfrm>
            <a:off x="502551" y="1448536"/>
            <a:ext cx="65265" cy="65265"/>
          </a:xfrm>
          <a:prstGeom prst="rect">
            <a:avLst/>
          </a:prstGeom>
          <a:blipFill>
            <a:blip r:embed="rId6" cstate="print"/>
            <a:stretch>
              <a:fillRect/>
            </a:stretch>
          </a:blipFill>
        </p:spPr>
        <p:txBody>
          <a:bodyPr wrap="square" lIns="0" tIns="0" rIns="0" bIns="0" rtlCol="0"/>
          <a:lstStyle/>
          <a:p>
            <a:endParaRPr/>
          </a:p>
        </p:txBody>
      </p:sp>
      <p:grpSp>
        <p:nvGrpSpPr>
          <p:cNvPr id="15" name="object 15"/>
          <p:cNvGrpSpPr/>
          <p:nvPr/>
        </p:nvGrpSpPr>
        <p:grpSpPr>
          <a:xfrm>
            <a:off x="309193" y="1677847"/>
            <a:ext cx="4040504" cy="711835"/>
            <a:chOff x="309193" y="1677847"/>
            <a:chExt cx="4040504" cy="711835"/>
          </a:xfrm>
        </p:grpSpPr>
        <p:sp>
          <p:nvSpPr>
            <p:cNvPr id="16" name="object 16"/>
            <p:cNvSpPr/>
            <p:nvPr/>
          </p:nvSpPr>
          <p:spPr>
            <a:xfrm>
              <a:off x="309193" y="1677847"/>
              <a:ext cx="3989704" cy="186690"/>
            </a:xfrm>
            <a:custGeom>
              <a:avLst/>
              <a:gdLst/>
              <a:ahLst/>
              <a:cxnLst/>
              <a:rect l="l" t="t" r="r" b="b"/>
              <a:pathLst>
                <a:path w="3989704" h="186689">
                  <a:moveTo>
                    <a:pt x="3938854" y="0"/>
                  </a:moveTo>
                  <a:lnTo>
                    <a:pt x="50800" y="0"/>
                  </a:lnTo>
                  <a:lnTo>
                    <a:pt x="31075" y="4008"/>
                  </a:lnTo>
                  <a:lnTo>
                    <a:pt x="14922" y="14922"/>
                  </a:lnTo>
                  <a:lnTo>
                    <a:pt x="4008" y="31075"/>
                  </a:lnTo>
                  <a:lnTo>
                    <a:pt x="0" y="50800"/>
                  </a:lnTo>
                  <a:lnTo>
                    <a:pt x="0" y="186558"/>
                  </a:lnTo>
                  <a:lnTo>
                    <a:pt x="3989654" y="186558"/>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17" name="object 17"/>
            <p:cNvSpPr/>
            <p:nvPr/>
          </p:nvSpPr>
          <p:spPr>
            <a:xfrm>
              <a:off x="309194" y="1851749"/>
              <a:ext cx="3989653" cy="50609"/>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359994" y="2288006"/>
              <a:ext cx="101600" cy="101600"/>
            </a:xfrm>
            <a:prstGeom prst="rect">
              <a:avLst/>
            </a:prstGeom>
            <a:blipFill>
              <a:blip r:embed="rId8" cstate="print"/>
              <a:stretch>
                <a:fillRect/>
              </a:stretch>
            </a:blipFill>
          </p:spPr>
          <p:txBody>
            <a:bodyPr wrap="square" lIns="0" tIns="0" rIns="0" bIns="0" rtlCol="0"/>
            <a:lstStyle/>
            <a:p>
              <a:endParaRPr/>
            </a:p>
          </p:txBody>
        </p:sp>
        <p:sp>
          <p:nvSpPr>
            <p:cNvPr id="19" name="object 19"/>
            <p:cNvSpPr/>
            <p:nvPr/>
          </p:nvSpPr>
          <p:spPr>
            <a:xfrm>
              <a:off x="410794" y="2275306"/>
              <a:ext cx="3938802" cy="114300"/>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4298848" y="1722082"/>
              <a:ext cx="50749" cy="565924"/>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309193" y="1896026"/>
              <a:ext cx="3989704" cy="443230"/>
            </a:xfrm>
            <a:custGeom>
              <a:avLst/>
              <a:gdLst/>
              <a:ahLst/>
              <a:cxnLst/>
              <a:rect l="l" t="t" r="r" b="b"/>
              <a:pathLst>
                <a:path w="3989704" h="443230">
                  <a:moveTo>
                    <a:pt x="3989654" y="0"/>
                  </a:moveTo>
                  <a:lnTo>
                    <a:pt x="0" y="0"/>
                  </a:lnTo>
                  <a:lnTo>
                    <a:pt x="0" y="391980"/>
                  </a:lnTo>
                  <a:lnTo>
                    <a:pt x="4008" y="411705"/>
                  </a:lnTo>
                  <a:lnTo>
                    <a:pt x="14922" y="427858"/>
                  </a:lnTo>
                  <a:lnTo>
                    <a:pt x="31075" y="438772"/>
                  </a:lnTo>
                  <a:lnTo>
                    <a:pt x="50800" y="442780"/>
                  </a:lnTo>
                  <a:lnTo>
                    <a:pt x="3938854" y="442780"/>
                  </a:lnTo>
                  <a:lnTo>
                    <a:pt x="3958579" y="438772"/>
                  </a:lnTo>
                  <a:lnTo>
                    <a:pt x="3974732" y="427858"/>
                  </a:lnTo>
                  <a:lnTo>
                    <a:pt x="3985646" y="411705"/>
                  </a:lnTo>
                  <a:lnTo>
                    <a:pt x="3989654" y="391980"/>
                  </a:lnTo>
                  <a:lnTo>
                    <a:pt x="3989654" y="0"/>
                  </a:lnTo>
                  <a:close/>
                </a:path>
              </a:pathLst>
            </a:custGeom>
            <a:solidFill>
              <a:srgbClr val="E5EFE5"/>
            </a:solidFill>
          </p:spPr>
          <p:txBody>
            <a:bodyPr wrap="square" lIns="0" tIns="0" rIns="0" bIns="0" rtlCol="0"/>
            <a:lstStyle/>
            <a:p>
              <a:endParaRPr/>
            </a:p>
          </p:txBody>
        </p:sp>
        <p:sp>
          <p:nvSpPr>
            <p:cNvPr id="22" name="object 22"/>
            <p:cNvSpPr/>
            <p:nvPr/>
          </p:nvSpPr>
          <p:spPr>
            <a:xfrm>
              <a:off x="4298848" y="1760173"/>
              <a:ext cx="0" cy="547370"/>
            </a:xfrm>
            <a:custGeom>
              <a:avLst/>
              <a:gdLst/>
              <a:ahLst/>
              <a:cxnLst/>
              <a:rect l="l" t="t" r="r" b="b"/>
              <a:pathLst>
                <a:path h="547369">
                  <a:moveTo>
                    <a:pt x="0" y="546883"/>
                  </a:moveTo>
                  <a:lnTo>
                    <a:pt x="0" y="0"/>
                  </a:lnTo>
                </a:path>
              </a:pathLst>
            </a:custGeom>
            <a:ln w="3175">
              <a:solidFill>
                <a:srgbClr val="7F7F7F"/>
              </a:solidFill>
            </a:ln>
          </p:spPr>
          <p:txBody>
            <a:bodyPr wrap="square" lIns="0" tIns="0" rIns="0" bIns="0" rtlCol="0"/>
            <a:lstStyle/>
            <a:p>
              <a:endParaRPr/>
            </a:p>
          </p:txBody>
        </p:sp>
        <p:sp>
          <p:nvSpPr>
            <p:cNvPr id="23" name="object 23"/>
            <p:cNvSpPr/>
            <p:nvPr/>
          </p:nvSpPr>
          <p:spPr>
            <a:xfrm>
              <a:off x="4298848" y="1747473"/>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24" name="object 24"/>
            <p:cNvSpPr/>
            <p:nvPr/>
          </p:nvSpPr>
          <p:spPr>
            <a:xfrm>
              <a:off x="4298848" y="1734773"/>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25" name="object 25"/>
            <p:cNvSpPr/>
            <p:nvPr/>
          </p:nvSpPr>
          <p:spPr>
            <a:xfrm>
              <a:off x="4298848" y="1722073"/>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26" name="object 26"/>
          <p:cNvSpPr txBox="1"/>
          <p:nvPr/>
        </p:nvSpPr>
        <p:spPr>
          <a:xfrm>
            <a:off x="232994" y="253794"/>
            <a:ext cx="4130040" cy="2340610"/>
          </a:xfrm>
          <a:prstGeom prst="rect">
            <a:avLst/>
          </a:prstGeom>
        </p:spPr>
        <p:txBody>
          <a:bodyPr vert="horz" wrap="square" lIns="0" tIns="58419" rIns="0" bIns="0" rtlCol="0">
            <a:spAutoFit/>
          </a:bodyPr>
          <a:lstStyle/>
          <a:p>
            <a:pPr marL="127000">
              <a:lnSpc>
                <a:spcPct val="100000"/>
              </a:lnSpc>
              <a:spcBef>
                <a:spcPts val="459"/>
              </a:spcBef>
            </a:pPr>
            <a:r>
              <a:rPr sz="1100" spc="-10" dirty="0">
                <a:solidFill>
                  <a:srgbClr val="FFFFFF"/>
                </a:solidFill>
                <a:latin typeface="LM Sans 10"/>
                <a:cs typeface="LM Sans 10"/>
              </a:rPr>
              <a:t>Definition (Chain </a:t>
            </a:r>
            <a:r>
              <a:rPr sz="1100" spc="-5" dirty="0">
                <a:solidFill>
                  <a:srgbClr val="FFFFFF"/>
                </a:solidFill>
                <a:latin typeface="LM Sans 10"/>
                <a:cs typeface="LM Sans 10"/>
              </a:rPr>
              <a:t>matrix multiplication</a:t>
            </a:r>
            <a:r>
              <a:rPr sz="1100" dirty="0">
                <a:solidFill>
                  <a:srgbClr val="FFFFFF"/>
                </a:solidFill>
                <a:latin typeface="LM Sans 10"/>
                <a:cs typeface="LM Sans 10"/>
              </a:rPr>
              <a:t> </a:t>
            </a:r>
            <a:r>
              <a:rPr sz="1100" spc="-10" dirty="0">
                <a:solidFill>
                  <a:srgbClr val="FFFFFF"/>
                </a:solidFill>
                <a:latin typeface="LM Sans 10"/>
                <a:cs typeface="LM Sans 10"/>
              </a:rPr>
              <a:t>problem)</a:t>
            </a:r>
            <a:endParaRPr sz="1100" dirty="0">
              <a:latin typeface="LM Sans 10"/>
              <a:cs typeface="LM Sans 10"/>
            </a:endParaRPr>
          </a:p>
          <a:p>
            <a:pPr marL="126364" marR="106680">
              <a:lnSpc>
                <a:spcPct val="102600"/>
              </a:lnSpc>
              <a:spcBef>
                <a:spcPts val="320"/>
              </a:spcBef>
            </a:pPr>
            <a:r>
              <a:rPr sz="1100" spc="-10" dirty="0">
                <a:latin typeface="LM Sans 10"/>
                <a:cs typeface="LM Sans 10"/>
              </a:rPr>
              <a:t>Given</a:t>
            </a:r>
            <a:r>
              <a:rPr sz="1100" spc="-5" dirty="0">
                <a:latin typeface="LM Sans 10"/>
                <a:cs typeface="LM Sans 10"/>
              </a:rPr>
              <a:t> dimensions</a:t>
            </a:r>
            <a:r>
              <a:rPr sz="1100" dirty="0">
                <a:latin typeface="LM Sans 10"/>
                <a:cs typeface="LM Sans 10"/>
              </a:rPr>
              <a:t> </a:t>
            </a:r>
            <a:r>
              <a:rPr sz="1100" i="1" spc="10" dirty="0">
                <a:latin typeface="LM Sans 10"/>
                <a:cs typeface="LM Sans 10"/>
              </a:rPr>
              <a:t>p</a:t>
            </a:r>
            <a:r>
              <a:rPr sz="1200" spc="15" baseline="-10416" dirty="0">
                <a:latin typeface="LM Sans 8"/>
                <a:cs typeface="LM Sans 8"/>
              </a:rPr>
              <a:t>0</a:t>
            </a:r>
            <a:r>
              <a:rPr sz="1100" i="1" spc="10" dirty="0">
                <a:latin typeface="LM Roman Dunhill 10"/>
                <a:cs typeface="LM Roman Dunhill 10"/>
              </a:rPr>
              <a:t>,</a:t>
            </a:r>
            <a:r>
              <a:rPr sz="1100" i="1" spc="-185" dirty="0">
                <a:latin typeface="LM Roman Dunhill 10"/>
                <a:cs typeface="LM Roman Dunhill 10"/>
              </a:rPr>
              <a:t> </a:t>
            </a:r>
            <a:r>
              <a:rPr sz="1100" i="1" spc="10" dirty="0">
                <a:latin typeface="LM Sans 10"/>
                <a:cs typeface="LM Sans 10"/>
              </a:rPr>
              <a:t>p</a:t>
            </a:r>
            <a:r>
              <a:rPr sz="1200" spc="15" baseline="-10416" dirty="0">
                <a:latin typeface="LM Sans 8"/>
                <a:cs typeface="LM Sans 8"/>
              </a:rPr>
              <a:t>1</a:t>
            </a:r>
            <a:r>
              <a:rPr sz="1100" i="1" spc="10"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15" dirty="0">
                <a:latin typeface="LM Sans 10"/>
                <a:cs typeface="LM Sans 10"/>
              </a:rPr>
              <a:t>p</a:t>
            </a:r>
            <a:r>
              <a:rPr sz="1200" i="1" spc="22" baseline="-10416" dirty="0">
                <a:latin typeface="LM Sans 8"/>
                <a:cs typeface="LM Sans 8"/>
              </a:rPr>
              <a:t>n</a:t>
            </a:r>
            <a:r>
              <a:rPr sz="1100" spc="15" dirty="0">
                <a:latin typeface="LM Sans 10"/>
                <a:cs typeface="LM Sans 10"/>
              </a:rPr>
              <a:t>,</a:t>
            </a:r>
            <a:r>
              <a:rPr sz="1100" spc="-5" dirty="0">
                <a:latin typeface="LM Sans 10"/>
                <a:cs typeface="LM Sans 10"/>
              </a:rPr>
              <a:t> </a:t>
            </a:r>
            <a:r>
              <a:rPr sz="1100" spc="-10" dirty="0">
                <a:latin typeface="LM Sans 10"/>
                <a:cs typeface="LM Sans 10"/>
              </a:rPr>
              <a:t>corresponding</a:t>
            </a:r>
            <a:r>
              <a:rPr sz="1100" spc="-5" dirty="0">
                <a:latin typeface="LM Sans 10"/>
                <a:cs typeface="LM Sans 10"/>
              </a:rPr>
              <a:t> to matrix sequence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spc="-20" dirty="0">
                <a:latin typeface="LM Sans 10"/>
                <a:cs typeface="LM Sans 10"/>
              </a:rPr>
              <a:t> </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spc="-2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spc="-5" dirty="0">
                <a:latin typeface="LM Sans 10"/>
                <a:cs typeface="LM Sans 10"/>
              </a:rPr>
              <a:t>,</a:t>
            </a:r>
            <a:r>
              <a:rPr sz="1100" spc="-20" dirty="0">
                <a:latin typeface="LM Sans 10"/>
                <a:cs typeface="LM Sans 10"/>
              </a:rPr>
              <a:t> </a:t>
            </a:r>
            <a:r>
              <a:rPr sz="1100" i="1" spc="-5" dirty="0">
                <a:latin typeface="LM Sans 10"/>
                <a:cs typeface="LM Sans 10"/>
              </a:rPr>
              <a:t>A</a:t>
            </a:r>
            <a:r>
              <a:rPr sz="1200" i="1" spc="-7" baseline="-10416" dirty="0">
                <a:latin typeface="LM Sans 8"/>
                <a:cs typeface="LM Sans 8"/>
              </a:rPr>
              <a:t>n</a:t>
            </a:r>
            <a:r>
              <a:rPr sz="1200" i="1" spc="187" baseline="-10416" dirty="0">
                <a:latin typeface="LM Sans 8"/>
                <a:cs typeface="LM Sans 8"/>
              </a:rPr>
              <a:t> </a:t>
            </a:r>
            <a:r>
              <a:rPr sz="1100" spc="-5" dirty="0">
                <a:latin typeface="LM Sans 10"/>
                <a:cs typeface="LM Sans 10"/>
              </a:rPr>
              <a:t>in</a:t>
            </a:r>
            <a:r>
              <a:rPr sz="1100" spc="-15" dirty="0">
                <a:latin typeface="LM Sans 10"/>
                <a:cs typeface="LM Sans 10"/>
              </a:rPr>
              <a:t> </a:t>
            </a:r>
            <a:r>
              <a:rPr sz="1100" spc="-5" dirty="0">
                <a:latin typeface="LM Sans 10"/>
                <a:cs typeface="LM Sans 10"/>
              </a:rPr>
              <a:t>which</a:t>
            </a:r>
            <a:r>
              <a:rPr sz="1100" spc="-20" dirty="0">
                <a:latin typeface="LM Sans 10"/>
                <a:cs typeface="LM Sans 10"/>
              </a:rPr>
              <a:t> </a:t>
            </a:r>
            <a:r>
              <a:rPr sz="1100" i="1" spc="-5" dirty="0">
                <a:latin typeface="LM Sans 10"/>
                <a:cs typeface="LM Sans 10"/>
              </a:rPr>
              <a:t>A</a:t>
            </a:r>
            <a:r>
              <a:rPr sz="1200" i="1" spc="-7" baseline="-10416" dirty="0">
                <a:latin typeface="LM Sans 8"/>
                <a:cs typeface="LM Sans 8"/>
              </a:rPr>
              <a:t>i</a:t>
            </a:r>
            <a:r>
              <a:rPr sz="1200" i="1" spc="292" baseline="-10416" dirty="0">
                <a:latin typeface="LM Sans 8"/>
                <a:cs typeface="LM Sans 8"/>
              </a:rPr>
              <a:t> </a:t>
            </a:r>
            <a:r>
              <a:rPr sz="1100" spc="-5" dirty="0">
                <a:latin typeface="LM Sans 10"/>
                <a:cs typeface="LM Sans 10"/>
              </a:rPr>
              <a:t>has</a:t>
            </a:r>
            <a:r>
              <a:rPr sz="1100" spc="-15" dirty="0">
                <a:latin typeface="LM Sans 10"/>
                <a:cs typeface="LM Sans 10"/>
              </a:rPr>
              <a:t> </a:t>
            </a:r>
            <a:r>
              <a:rPr sz="1100" spc="-5" dirty="0">
                <a:latin typeface="LM Sans 10"/>
                <a:cs typeface="LM Sans 10"/>
              </a:rPr>
              <a:t>dimension</a:t>
            </a:r>
            <a:r>
              <a:rPr sz="1100" spc="-20" dirty="0">
                <a:latin typeface="LM Sans 10"/>
                <a:cs typeface="LM Sans 10"/>
              </a:rPr>
              <a:t> </a:t>
            </a:r>
            <a:r>
              <a:rPr sz="1100" i="1" spc="60" dirty="0">
                <a:latin typeface="LM Sans 10"/>
                <a:cs typeface="LM Sans 10"/>
              </a:rPr>
              <a:t>p</a:t>
            </a:r>
            <a:r>
              <a:rPr sz="1200" i="1" spc="89" baseline="-10416" dirty="0">
                <a:latin typeface="LM Sans 8"/>
                <a:cs typeface="LM Sans 8"/>
              </a:rPr>
              <a:t>i</a:t>
            </a:r>
            <a:r>
              <a:rPr sz="1200" i="1" spc="89" baseline="-10416" dirty="0">
                <a:latin typeface="Arial"/>
                <a:cs typeface="Arial"/>
              </a:rPr>
              <a:t>−</a:t>
            </a:r>
            <a:r>
              <a:rPr sz="1200" spc="89" baseline="-10416" dirty="0">
                <a:latin typeface="LM Sans 8"/>
                <a:cs typeface="LM Sans 8"/>
              </a:rPr>
              <a:t>1</a:t>
            </a:r>
            <a:r>
              <a:rPr sz="1200" spc="-22" baseline="-10416" dirty="0">
                <a:latin typeface="LM Sans 8"/>
                <a:cs typeface="LM Sans 8"/>
              </a:rPr>
              <a:t> </a:t>
            </a:r>
            <a:r>
              <a:rPr sz="1100" i="1" spc="15" dirty="0">
                <a:latin typeface="DejaVu Sans Condensed"/>
                <a:cs typeface="DejaVu Sans Condensed"/>
              </a:rPr>
              <a:t>×</a:t>
            </a:r>
            <a:r>
              <a:rPr sz="1100" i="1" spc="-100" dirty="0">
                <a:latin typeface="DejaVu Sans Condensed"/>
                <a:cs typeface="DejaVu Sans Condensed"/>
              </a:rPr>
              <a:t> </a:t>
            </a:r>
            <a:r>
              <a:rPr sz="1100" i="1" spc="-5" dirty="0">
                <a:latin typeface="LM Sans 10"/>
                <a:cs typeface="LM Sans 10"/>
              </a:rPr>
              <a:t>p</a:t>
            </a:r>
            <a:r>
              <a:rPr sz="1200" i="1" spc="-7" baseline="-10416" dirty="0">
                <a:latin typeface="LM Sans 8"/>
                <a:cs typeface="LM Sans 8"/>
              </a:rPr>
              <a:t>i</a:t>
            </a:r>
            <a:r>
              <a:rPr sz="1200" i="1" spc="-232" baseline="-10416" dirty="0">
                <a:latin typeface="LM Sans 8"/>
                <a:cs typeface="LM Sans 8"/>
              </a:rPr>
              <a:t> </a:t>
            </a:r>
            <a:r>
              <a:rPr sz="1100" spc="-5" dirty="0">
                <a:latin typeface="LM Sans 10"/>
                <a:cs typeface="LM Sans 10"/>
              </a:rPr>
              <a:t>,</a:t>
            </a:r>
            <a:r>
              <a:rPr sz="1100" spc="-20" dirty="0">
                <a:latin typeface="LM Sans 10"/>
                <a:cs typeface="LM Sans 10"/>
              </a:rPr>
              <a:t> </a:t>
            </a:r>
            <a:r>
              <a:rPr sz="1100" spc="-5" dirty="0">
                <a:latin typeface="LM Sans 10"/>
                <a:cs typeface="LM Sans 10"/>
              </a:rPr>
              <a:t>determine</a:t>
            </a:r>
            <a:r>
              <a:rPr sz="1100" spc="-15" dirty="0">
                <a:latin typeface="LM Sans 10"/>
                <a:cs typeface="LM Sans 10"/>
              </a:rPr>
              <a:t> </a:t>
            </a:r>
            <a:r>
              <a:rPr sz="1100" spc="-5" dirty="0">
                <a:latin typeface="LM Sans 10"/>
                <a:cs typeface="LM Sans 10"/>
              </a:rPr>
              <a:t>the  </a:t>
            </a:r>
            <a:r>
              <a:rPr sz="1100" spc="-5" dirty="0">
                <a:solidFill>
                  <a:srgbClr val="FF0000"/>
                </a:solidFill>
                <a:latin typeface="LM Sans 10"/>
                <a:cs typeface="LM Sans 10"/>
              </a:rPr>
              <a:t>“multiplication sequence”</a:t>
            </a:r>
            <a:r>
              <a:rPr lang="en-US" sz="1100" spc="-5" dirty="0">
                <a:solidFill>
                  <a:srgbClr val="FF0000"/>
                </a:solidFill>
                <a:latin typeface="LM Sans 10"/>
                <a:cs typeface="LM Sans 10"/>
              </a:rPr>
              <a:t> </a:t>
            </a:r>
            <a:r>
              <a:rPr sz="1100" spc="-5" dirty="0">
                <a:latin typeface="LM Sans 10"/>
                <a:cs typeface="LM Sans 10"/>
              </a:rPr>
              <a:t>that</a:t>
            </a:r>
            <a:r>
              <a:rPr lang="en-US" sz="1100" spc="-5" dirty="0">
                <a:latin typeface="LM Sans 10"/>
                <a:cs typeface="LM Sans 10"/>
              </a:rPr>
              <a:t> </a:t>
            </a:r>
            <a:r>
              <a:rPr sz="1100" spc="-5" dirty="0">
                <a:solidFill>
                  <a:srgbClr val="0000FF"/>
                </a:solidFill>
                <a:latin typeface="LM Sans 10"/>
                <a:cs typeface="LM Sans 10"/>
              </a:rPr>
              <a:t>minimizes</a:t>
            </a:r>
            <a:r>
              <a:rPr lang="en-US" sz="1100" spc="-5" dirty="0">
                <a:solidFill>
                  <a:srgbClr val="0000FF"/>
                </a:solidFill>
                <a:latin typeface="LM Sans 10"/>
                <a:cs typeface="LM Sans 10"/>
              </a:rPr>
              <a:t> </a:t>
            </a:r>
            <a:r>
              <a:rPr sz="1100" spc="-5" dirty="0">
                <a:latin typeface="LM Sans 10"/>
                <a:cs typeface="LM Sans 10"/>
              </a:rPr>
              <a:t>the number </a:t>
            </a:r>
            <a:r>
              <a:rPr sz="1100" spc="-10" dirty="0">
                <a:latin typeface="LM Sans 10"/>
                <a:cs typeface="LM Sans 10"/>
              </a:rPr>
              <a:t>of</a:t>
            </a:r>
            <a:r>
              <a:rPr lang="en-US" sz="1100" spc="-10" dirty="0">
                <a:latin typeface="LM Sans 10"/>
                <a:cs typeface="LM Sans 10"/>
              </a:rPr>
              <a:t> </a:t>
            </a:r>
            <a:r>
              <a:rPr sz="1100" spc="-10" dirty="0">
                <a:solidFill>
                  <a:srgbClr val="FF0000"/>
                </a:solidFill>
                <a:latin typeface="LM Sans 10"/>
                <a:cs typeface="LM Sans 10"/>
              </a:rPr>
              <a:t>scalar  </a:t>
            </a:r>
            <a:r>
              <a:rPr sz="1100" spc="-5" dirty="0">
                <a:solidFill>
                  <a:srgbClr val="FF0000"/>
                </a:solidFill>
                <a:latin typeface="LM Sans 10"/>
                <a:cs typeface="LM Sans 10"/>
              </a:rPr>
              <a:t>multiplications</a:t>
            </a:r>
            <a:r>
              <a:rPr lang="en-US" sz="1100" spc="-5" dirty="0">
                <a:solidFill>
                  <a:srgbClr val="FF0000"/>
                </a:solidFill>
                <a:latin typeface="LM Sans 10"/>
                <a:cs typeface="LM Sans 10"/>
              </a:rPr>
              <a:t> </a:t>
            </a:r>
            <a:r>
              <a:rPr sz="1100" spc="-5" dirty="0">
                <a:latin typeface="LM Sans 10"/>
                <a:cs typeface="LM Sans 10"/>
              </a:rPr>
              <a:t>in computing</a:t>
            </a:r>
            <a:r>
              <a:rPr sz="1100" spc="-70" dirty="0">
                <a:latin typeface="LM Sans 10"/>
                <a:cs typeface="LM Sans 10"/>
              </a:rPr>
              <a:t> </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 </a:t>
            </a:r>
            <a:r>
              <a:rPr sz="1100" i="1" spc="-15" dirty="0">
                <a:latin typeface="DejaVu Sans Condensed"/>
                <a:cs typeface="DejaVu Sans Condensed"/>
              </a:rPr>
              <a:t>· · · </a:t>
            </a:r>
            <a:r>
              <a:rPr sz="1100" i="1" spc="15" dirty="0">
                <a:latin typeface="LM Sans 10"/>
                <a:cs typeface="LM Sans 10"/>
              </a:rPr>
              <a:t>A</a:t>
            </a:r>
            <a:r>
              <a:rPr sz="1200" i="1" spc="22" baseline="-10416" dirty="0">
                <a:latin typeface="LM Sans 8"/>
                <a:cs typeface="LM Sans 8"/>
              </a:rPr>
              <a:t>n</a:t>
            </a:r>
            <a:r>
              <a:rPr sz="1100" spc="15" dirty="0">
                <a:latin typeface="LM Sans 10"/>
                <a:cs typeface="LM Sans 10"/>
              </a:rPr>
              <a:t>.</a:t>
            </a:r>
            <a:endParaRPr sz="1100" dirty="0">
              <a:latin typeface="LM Sans 10"/>
              <a:cs typeface="LM Sans 10"/>
            </a:endParaRPr>
          </a:p>
          <a:p>
            <a:pPr marR="99060" algn="ctr">
              <a:lnSpc>
                <a:spcPct val="100000"/>
              </a:lnSpc>
              <a:spcBef>
                <a:spcPts val="1320"/>
              </a:spcBef>
            </a:pPr>
            <a:r>
              <a:rPr sz="1100" spc="-5" dirty="0">
                <a:latin typeface="LM Sans 10"/>
                <a:cs typeface="LM Sans 10"/>
              </a:rPr>
              <a:t>i.e.,, determine </a:t>
            </a:r>
            <a:r>
              <a:rPr sz="1100" spc="-20" dirty="0">
                <a:latin typeface="LM Sans 10"/>
                <a:cs typeface="LM Sans 10"/>
              </a:rPr>
              <a:t>how </a:t>
            </a:r>
            <a:r>
              <a:rPr sz="1100" spc="-5" dirty="0">
                <a:latin typeface="LM Sans 10"/>
                <a:cs typeface="LM Sans 10"/>
              </a:rPr>
              <a:t>to </a:t>
            </a:r>
            <a:r>
              <a:rPr sz="1100" spc="-10" dirty="0">
                <a:latin typeface="LM Sans 10"/>
                <a:cs typeface="LM Sans 10"/>
              </a:rPr>
              <a:t>parenthesize </a:t>
            </a:r>
            <a:r>
              <a:rPr sz="1100" spc="-5" dirty="0">
                <a:latin typeface="LM Sans 10"/>
                <a:cs typeface="LM Sans 10"/>
              </a:rPr>
              <a:t>the</a:t>
            </a:r>
            <a:r>
              <a:rPr sz="1100" dirty="0">
                <a:latin typeface="LM Sans 10"/>
                <a:cs typeface="LM Sans 10"/>
              </a:rPr>
              <a:t> </a:t>
            </a:r>
            <a:r>
              <a:rPr sz="1100" spc="-5" dirty="0">
                <a:latin typeface="LM Sans 10"/>
                <a:cs typeface="LM Sans 10"/>
              </a:rPr>
              <a:t>multiplications.</a:t>
            </a:r>
            <a:endParaRPr sz="1100" dirty="0">
              <a:latin typeface="LM Sans 10"/>
              <a:cs typeface="LM Sans 10"/>
            </a:endParaRPr>
          </a:p>
          <a:p>
            <a:pPr>
              <a:lnSpc>
                <a:spcPct val="100000"/>
              </a:lnSpc>
              <a:spcBef>
                <a:spcPts val="60"/>
              </a:spcBef>
            </a:pPr>
            <a:endParaRPr sz="650" dirty="0">
              <a:latin typeface="LM Sans 10"/>
              <a:cs typeface="LM Sans 10"/>
            </a:endParaRPr>
          </a:p>
          <a:p>
            <a:pPr marL="126364">
              <a:lnSpc>
                <a:spcPct val="100000"/>
              </a:lnSpc>
            </a:pPr>
            <a:r>
              <a:rPr sz="1100" spc="-10" dirty="0">
                <a:solidFill>
                  <a:srgbClr val="FFFFFF"/>
                </a:solidFill>
                <a:latin typeface="LM Sans 10"/>
                <a:cs typeface="LM Sans 10"/>
              </a:rPr>
              <a:t>Example</a:t>
            </a:r>
            <a:endParaRPr sz="1100" dirty="0">
              <a:latin typeface="LM Sans 10"/>
              <a:cs typeface="LM Sans 10"/>
            </a:endParaRPr>
          </a:p>
          <a:p>
            <a:pPr marL="162560">
              <a:lnSpc>
                <a:spcPct val="100000"/>
              </a:lnSpc>
              <a:spcBef>
                <a:spcPts val="550"/>
              </a:spcBef>
              <a:tabLst>
                <a:tab pos="899160" algn="l"/>
              </a:tabLst>
            </a:pP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	</a:t>
            </a:r>
            <a:r>
              <a:rPr sz="1100" spc="-10" dirty="0">
                <a:latin typeface="LM Sans 10"/>
                <a:cs typeface="LM Sans 10"/>
              </a:rPr>
              <a:t>=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 </a:t>
            </a:r>
            <a:r>
              <a:rPr sz="1100" spc="-10"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 </a:t>
            </a:r>
            <a:r>
              <a:rPr sz="1100" spc="-10" dirty="0">
                <a:latin typeface="LM Sans 10"/>
                <a:cs typeface="LM Sans 10"/>
              </a:rPr>
              <a:t>=</a:t>
            </a:r>
            <a:r>
              <a:rPr sz="1100"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a:t>
            </a:r>
            <a:endParaRPr sz="1100" dirty="0">
              <a:latin typeface="LM Sans 10"/>
              <a:cs typeface="LM Sans 10"/>
            </a:endParaRPr>
          </a:p>
          <a:p>
            <a:pPr marR="38100" algn="ctr">
              <a:lnSpc>
                <a:spcPct val="100000"/>
              </a:lnSpc>
              <a:spcBef>
                <a:spcPts val="334"/>
              </a:spcBef>
            </a:pPr>
            <a:r>
              <a:rPr sz="1100" spc="-10"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3</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4</a:t>
            </a:r>
            <a:r>
              <a:rPr sz="1100" spc="5" dirty="0">
                <a:latin typeface="LM Sans 10"/>
                <a:cs typeface="LM Sans 10"/>
              </a:rPr>
              <a:t>) </a:t>
            </a:r>
            <a:r>
              <a:rPr sz="1100" spc="-10" dirty="0">
                <a:latin typeface="LM Sans 10"/>
                <a:cs typeface="LM Sans 10"/>
              </a:rPr>
              <a:t>=</a:t>
            </a:r>
            <a:r>
              <a:rPr sz="1100" spc="-204"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2</a:t>
            </a:r>
            <a:r>
              <a:rPr sz="1100" i="1" spc="5" dirty="0">
                <a:latin typeface="LM Sans 10"/>
                <a:cs typeface="LM Sans 10"/>
              </a:rPr>
              <a:t>A</a:t>
            </a:r>
            <a:r>
              <a:rPr sz="1200" spc="7" baseline="-10416" dirty="0">
                <a:latin typeface="LM Sans 8"/>
                <a:cs typeface="LM Sans 8"/>
              </a:rPr>
              <a:t>3</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4</a:t>
            </a:r>
            <a:r>
              <a:rPr sz="1100" spc="5" dirty="0">
                <a:latin typeface="LM Sans 10"/>
                <a:cs typeface="LM Sans 10"/>
              </a:rPr>
              <a:t>)</a:t>
            </a:r>
            <a:endParaRPr sz="1100" dirty="0">
              <a:latin typeface="LM Sans 10"/>
              <a:cs typeface="LM Sans 10"/>
            </a:endParaRPr>
          </a:p>
          <a:p>
            <a:pPr marL="126364">
              <a:lnSpc>
                <a:spcPct val="100000"/>
              </a:lnSpc>
              <a:spcBef>
                <a:spcPts val="994"/>
              </a:spcBef>
            </a:pPr>
            <a:r>
              <a:rPr sz="1100" spc="-5" dirty="0">
                <a:solidFill>
                  <a:srgbClr val="0000FF"/>
                </a:solidFill>
                <a:latin typeface="LM Sans 10"/>
                <a:cs typeface="LM Sans 10"/>
              </a:rPr>
              <a:t>Exhaustive </a:t>
            </a:r>
            <a:r>
              <a:rPr sz="1100" spc="-10" dirty="0">
                <a:solidFill>
                  <a:srgbClr val="0000FF"/>
                </a:solidFill>
                <a:latin typeface="LM Sans 10"/>
                <a:cs typeface="LM Sans 10"/>
              </a:rPr>
              <a:t>search</a:t>
            </a:r>
            <a:r>
              <a:rPr sz="1100" spc="-10" dirty="0">
                <a:latin typeface="LM Sans 10"/>
                <a:cs typeface="LM Sans 10"/>
              </a:rPr>
              <a:t>:</a:t>
            </a:r>
            <a:r>
              <a:rPr sz="1100" spc="110" dirty="0">
                <a:latin typeface="LM Sans 10"/>
                <a:cs typeface="LM Sans 10"/>
              </a:rPr>
              <a:t> </a:t>
            </a:r>
            <a:r>
              <a:rPr sz="1100" spc="5" dirty="0">
                <a:latin typeface="LM Sans 10"/>
                <a:cs typeface="LM Sans 10"/>
              </a:rPr>
              <a:t>Ω(4</a:t>
            </a:r>
            <a:r>
              <a:rPr sz="1200" i="1" spc="7" baseline="27777" dirty="0">
                <a:latin typeface="LM Sans 8"/>
                <a:cs typeface="LM Sans 8"/>
              </a:rPr>
              <a:t>n</a:t>
            </a:r>
            <a:r>
              <a:rPr sz="1100" i="1" spc="5" dirty="0">
                <a:latin typeface="LM Roman Dunhill 10"/>
                <a:cs typeface="LM Roman Dunhill 10"/>
              </a:rPr>
              <a:t>/</a:t>
            </a:r>
            <a:r>
              <a:rPr sz="1100" i="1" spc="5" dirty="0">
                <a:latin typeface="LM Sans 10"/>
                <a:cs typeface="LM Sans 10"/>
              </a:rPr>
              <a:t>n</a:t>
            </a:r>
            <a:r>
              <a:rPr sz="1200" spc="7" baseline="27777" dirty="0">
                <a:latin typeface="LM Sans 8"/>
                <a:cs typeface="LM Sans 8"/>
              </a:rPr>
              <a:t>3</a:t>
            </a:r>
            <a:r>
              <a:rPr sz="1200" i="1" spc="7" baseline="27777" dirty="0">
                <a:latin typeface="LM Sans 8"/>
                <a:cs typeface="LM Sans 8"/>
              </a:rPr>
              <a:t>/</a:t>
            </a:r>
            <a:r>
              <a:rPr sz="1200" spc="7" baseline="27777" dirty="0">
                <a:latin typeface="LM Sans 8"/>
                <a:cs typeface="LM Sans 8"/>
              </a:rPr>
              <a:t>2</a:t>
            </a:r>
            <a:r>
              <a:rPr sz="1100" spc="5" dirty="0">
                <a:latin typeface="LM Sans 10"/>
                <a:cs typeface="LM Sans 10"/>
              </a:rPr>
              <a:t>).</a:t>
            </a:r>
            <a:endParaRPr sz="1100" dirty="0">
              <a:latin typeface="LM Sans 10"/>
              <a:cs typeface="LM Sans 10"/>
            </a:endParaRPr>
          </a:p>
        </p:txBody>
      </p:sp>
      <p:grpSp>
        <p:nvGrpSpPr>
          <p:cNvPr id="27" name="object 27"/>
          <p:cNvGrpSpPr/>
          <p:nvPr/>
        </p:nvGrpSpPr>
        <p:grpSpPr>
          <a:xfrm>
            <a:off x="0" y="3342919"/>
            <a:ext cx="4608195" cy="113664"/>
            <a:chOff x="0" y="3342919"/>
            <a:chExt cx="4608195" cy="113664"/>
          </a:xfrm>
        </p:grpSpPr>
        <p:sp>
          <p:nvSpPr>
            <p:cNvPr id="28" name="object 28"/>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29" name="object 2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30" name="object 30"/>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32" name="object 3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10" action="ppaction://hlinksldjump"/>
              </a:rPr>
              <a:t>Chain </a:t>
            </a:r>
            <a:r>
              <a:rPr sz="600" b="1" spc="-5" dirty="0">
                <a:solidFill>
                  <a:srgbClr val="FFFFFF"/>
                </a:solidFill>
                <a:latin typeface="LM Sans 10"/>
                <a:cs typeface="LM Sans 10"/>
                <a:hlinkClick r:id="rId10" action="ppaction://hlinksldjump"/>
              </a:rPr>
              <a:t>Matrix Multiplication</a:t>
            </a:r>
            <a:endParaRPr sz="600">
              <a:latin typeface="LM Sans 10"/>
              <a:cs typeface="LM Sans 10"/>
            </a:endParaRPr>
          </a:p>
        </p:txBody>
      </p:sp>
      <p:sp>
        <p:nvSpPr>
          <p:cNvPr id="33" name="object 33"/>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8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08325" cy="244475"/>
          </a:xfrm>
          <a:prstGeom prst="rect">
            <a:avLst/>
          </a:prstGeom>
        </p:spPr>
        <p:txBody>
          <a:bodyPr vert="horz" wrap="square" lIns="0" tIns="17145" rIns="0" bIns="0" rtlCol="0">
            <a:spAutoFit/>
          </a:bodyPr>
          <a:lstStyle/>
          <a:p>
            <a:pPr marL="12700">
              <a:lnSpc>
                <a:spcPct val="100000"/>
              </a:lnSpc>
              <a:spcBef>
                <a:spcPts val="135"/>
              </a:spcBef>
            </a:pPr>
            <a:r>
              <a:rPr spc="15" dirty="0"/>
              <a:t>The </a:t>
            </a:r>
            <a:r>
              <a:rPr spc="10" dirty="0"/>
              <a:t>Chain Matrix Multiplication</a:t>
            </a:r>
            <a:r>
              <a:rPr dirty="0"/>
              <a:t> </a:t>
            </a:r>
            <a:r>
              <a:rPr spc="15" dirty="0"/>
              <a:t>Problem</a:t>
            </a:r>
          </a:p>
        </p:txBody>
      </p:sp>
      <p:grpSp>
        <p:nvGrpSpPr>
          <p:cNvPr id="3" name="object 3"/>
          <p:cNvGrpSpPr/>
          <p:nvPr/>
        </p:nvGrpSpPr>
        <p:grpSpPr>
          <a:xfrm>
            <a:off x="309193" y="309854"/>
            <a:ext cx="4040504" cy="993775"/>
            <a:chOff x="309193" y="309854"/>
            <a:chExt cx="4040504" cy="993775"/>
          </a:xfrm>
        </p:grpSpPr>
        <p:sp>
          <p:nvSpPr>
            <p:cNvPr id="4" name="object 4"/>
            <p:cNvSpPr/>
            <p:nvPr/>
          </p:nvSpPr>
          <p:spPr>
            <a:xfrm>
              <a:off x="309193" y="309854"/>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262685"/>
            </a:solidFill>
          </p:spPr>
          <p:txBody>
            <a:bodyPr wrap="square" lIns="0" tIns="0" rIns="0" bIns="0" rtlCol="0"/>
            <a:lstStyle/>
            <a:p>
              <a:endParaRPr/>
            </a:p>
          </p:txBody>
        </p:sp>
        <p:sp>
          <p:nvSpPr>
            <p:cNvPr id="5" name="object 5"/>
            <p:cNvSpPr/>
            <p:nvPr/>
          </p:nvSpPr>
          <p:spPr>
            <a:xfrm>
              <a:off x="309194" y="499148"/>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1201737"/>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1189037"/>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354088"/>
              <a:ext cx="50749" cy="84764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543421"/>
              <a:ext cx="3989704" cy="709295"/>
            </a:xfrm>
            <a:custGeom>
              <a:avLst/>
              <a:gdLst/>
              <a:ahLst/>
              <a:cxnLst/>
              <a:rect l="l" t="t" r="r" b="b"/>
              <a:pathLst>
                <a:path w="3989704" h="709294">
                  <a:moveTo>
                    <a:pt x="3989654" y="0"/>
                  </a:moveTo>
                  <a:lnTo>
                    <a:pt x="0" y="0"/>
                  </a:lnTo>
                  <a:lnTo>
                    <a:pt x="0" y="658315"/>
                  </a:lnTo>
                  <a:lnTo>
                    <a:pt x="4008" y="678040"/>
                  </a:lnTo>
                  <a:lnTo>
                    <a:pt x="14922" y="694193"/>
                  </a:lnTo>
                  <a:lnTo>
                    <a:pt x="31075" y="705107"/>
                  </a:lnTo>
                  <a:lnTo>
                    <a:pt x="50800" y="709116"/>
                  </a:lnTo>
                  <a:lnTo>
                    <a:pt x="3938854" y="709116"/>
                  </a:lnTo>
                  <a:lnTo>
                    <a:pt x="3958579" y="705107"/>
                  </a:lnTo>
                  <a:lnTo>
                    <a:pt x="3974732" y="694193"/>
                  </a:lnTo>
                  <a:lnTo>
                    <a:pt x="3985646" y="678040"/>
                  </a:lnTo>
                  <a:lnTo>
                    <a:pt x="3989654" y="658315"/>
                  </a:lnTo>
                  <a:lnTo>
                    <a:pt x="3989654" y="0"/>
                  </a:lnTo>
                  <a:close/>
                </a:path>
              </a:pathLst>
            </a:custGeom>
            <a:solidFill>
              <a:srgbClr val="E9E9F2"/>
            </a:solidFill>
          </p:spPr>
          <p:txBody>
            <a:bodyPr wrap="square" lIns="0" tIns="0" rIns="0" bIns="0" rtlCol="0"/>
            <a:lstStyle/>
            <a:p>
              <a:endParaRPr/>
            </a:p>
          </p:txBody>
        </p:sp>
        <p:sp>
          <p:nvSpPr>
            <p:cNvPr id="10" name="object 10"/>
            <p:cNvSpPr/>
            <p:nvPr/>
          </p:nvSpPr>
          <p:spPr>
            <a:xfrm>
              <a:off x="4298848" y="392174"/>
              <a:ext cx="0" cy="828675"/>
            </a:xfrm>
            <a:custGeom>
              <a:avLst/>
              <a:gdLst/>
              <a:ahLst/>
              <a:cxnLst/>
              <a:rect l="l" t="t" r="r" b="b"/>
              <a:pathLst>
                <a:path h="828675">
                  <a:moveTo>
                    <a:pt x="0" y="828612"/>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379474"/>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366774"/>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354074"/>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14" name="object 14"/>
          <p:cNvSpPr/>
          <p:nvPr/>
        </p:nvSpPr>
        <p:spPr>
          <a:xfrm>
            <a:off x="502551" y="1448536"/>
            <a:ext cx="65265" cy="65265"/>
          </a:xfrm>
          <a:prstGeom prst="rect">
            <a:avLst/>
          </a:prstGeom>
          <a:blipFill>
            <a:blip r:embed="rId6" cstate="print"/>
            <a:stretch>
              <a:fillRect/>
            </a:stretch>
          </a:blipFill>
        </p:spPr>
        <p:txBody>
          <a:bodyPr wrap="square" lIns="0" tIns="0" rIns="0" bIns="0" rtlCol="0"/>
          <a:lstStyle/>
          <a:p>
            <a:endParaRPr/>
          </a:p>
        </p:txBody>
      </p:sp>
      <p:grpSp>
        <p:nvGrpSpPr>
          <p:cNvPr id="15" name="object 15"/>
          <p:cNvGrpSpPr/>
          <p:nvPr/>
        </p:nvGrpSpPr>
        <p:grpSpPr>
          <a:xfrm>
            <a:off x="309193" y="1677847"/>
            <a:ext cx="4040504" cy="711835"/>
            <a:chOff x="309193" y="1677847"/>
            <a:chExt cx="4040504" cy="711835"/>
          </a:xfrm>
        </p:grpSpPr>
        <p:sp>
          <p:nvSpPr>
            <p:cNvPr id="16" name="object 16"/>
            <p:cNvSpPr/>
            <p:nvPr/>
          </p:nvSpPr>
          <p:spPr>
            <a:xfrm>
              <a:off x="309193" y="1677847"/>
              <a:ext cx="3989704" cy="186690"/>
            </a:xfrm>
            <a:custGeom>
              <a:avLst/>
              <a:gdLst/>
              <a:ahLst/>
              <a:cxnLst/>
              <a:rect l="l" t="t" r="r" b="b"/>
              <a:pathLst>
                <a:path w="3989704" h="186689">
                  <a:moveTo>
                    <a:pt x="3938854" y="0"/>
                  </a:moveTo>
                  <a:lnTo>
                    <a:pt x="50800" y="0"/>
                  </a:lnTo>
                  <a:lnTo>
                    <a:pt x="31075" y="4008"/>
                  </a:lnTo>
                  <a:lnTo>
                    <a:pt x="14922" y="14922"/>
                  </a:lnTo>
                  <a:lnTo>
                    <a:pt x="4008" y="31075"/>
                  </a:lnTo>
                  <a:lnTo>
                    <a:pt x="0" y="50800"/>
                  </a:lnTo>
                  <a:lnTo>
                    <a:pt x="0" y="186558"/>
                  </a:lnTo>
                  <a:lnTo>
                    <a:pt x="3989654" y="186558"/>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17" name="object 17"/>
            <p:cNvSpPr/>
            <p:nvPr/>
          </p:nvSpPr>
          <p:spPr>
            <a:xfrm>
              <a:off x="309194" y="1851749"/>
              <a:ext cx="3989653" cy="50609"/>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359994" y="2288006"/>
              <a:ext cx="101600" cy="101600"/>
            </a:xfrm>
            <a:prstGeom prst="rect">
              <a:avLst/>
            </a:prstGeom>
            <a:blipFill>
              <a:blip r:embed="rId8" cstate="print"/>
              <a:stretch>
                <a:fillRect/>
              </a:stretch>
            </a:blipFill>
          </p:spPr>
          <p:txBody>
            <a:bodyPr wrap="square" lIns="0" tIns="0" rIns="0" bIns="0" rtlCol="0"/>
            <a:lstStyle/>
            <a:p>
              <a:endParaRPr/>
            </a:p>
          </p:txBody>
        </p:sp>
        <p:sp>
          <p:nvSpPr>
            <p:cNvPr id="19" name="object 19"/>
            <p:cNvSpPr/>
            <p:nvPr/>
          </p:nvSpPr>
          <p:spPr>
            <a:xfrm>
              <a:off x="410794" y="2275306"/>
              <a:ext cx="3938802" cy="114300"/>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4298848" y="1722082"/>
              <a:ext cx="50749" cy="565924"/>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309193" y="1896026"/>
              <a:ext cx="3989704" cy="443230"/>
            </a:xfrm>
            <a:custGeom>
              <a:avLst/>
              <a:gdLst/>
              <a:ahLst/>
              <a:cxnLst/>
              <a:rect l="l" t="t" r="r" b="b"/>
              <a:pathLst>
                <a:path w="3989704" h="443230">
                  <a:moveTo>
                    <a:pt x="3989654" y="0"/>
                  </a:moveTo>
                  <a:lnTo>
                    <a:pt x="0" y="0"/>
                  </a:lnTo>
                  <a:lnTo>
                    <a:pt x="0" y="391980"/>
                  </a:lnTo>
                  <a:lnTo>
                    <a:pt x="4008" y="411705"/>
                  </a:lnTo>
                  <a:lnTo>
                    <a:pt x="14922" y="427858"/>
                  </a:lnTo>
                  <a:lnTo>
                    <a:pt x="31075" y="438772"/>
                  </a:lnTo>
                  <a:lnTo>
                    <a:pt x="50800" y="442780"/>
                  </a:lnTo>
                  <a:lnTo>
                    <a:pt x="3938854" y="442780"/>
                  </a:lnTo>
                  <a:lnTo>
                    <a:pt x="3958579" y="438772"/>
                  </a:lnTo>
                  <a:lnTo>
                    <a:pt x="3974732" y="427858"/>
                  </a:lnTo>
                  <a:lnTo>
                    <a:pt x="3985646" y="411705"/>
                  </a:lnTo>
                  <a:lnTo>
                    <a:pt x="3989654" y="391980"/>
                  </a:lnTo>
                  <a:lnTo>
                    <a:pt x="3989654" y="0"/>
                  </a:lnTo>
                  <a:close/>
                </a:path>
              </a:pathLst>
            </a:custGeom>
            <a:solidFill>
              <a:srgbClr val="E5EFE5"/>
            </a:solidFill>
          </p:spPr>
          <p:txBody>
            <a:bodyPr wrap="square" lIns="0" tIns="0" rIns="0" bIns="0" rtlCol="0"/>
            <a:lstStyle/>
            <a:p>
              <a:endParaRPr/>
            </a:p>
          </p:txBody>
        </p:sp>
        <p:sp>
          <p:nvSpPr>
            <p:cNvPr id="22" name="object 22"/>
            <p:cNvSpPr/>
            <p:nvPr/>
          </p:nvSpPr>
          <p:spPr>
            <a:xfrm>
              <a:off x="4298848" y="1760173"/>
              <a:ext cx="0" cy="547370"/>
            </a:xfrm>
            <a:custGeom>
              <a:avLst/>
              <a:gdLst/>
              <a:ahLst/>
              <a:cxnLst/>
              <a:rect l="l" t="t" r="r" b="b"/>
              <a:pathLst>
                <a:path h="547369">
                  <a:moveTo>
                    <a:pt x="0" y="546883"/>
                  </a:moveTo>
                  <a:lnTo>
                    <a:pt x="0" y="0"/>
                  </a:lnTo>
                </a:path>
              </a:pathLst>
            </a:custGeom>
            <a:ln w="3175">
              <a:solidFill>
                <a:srgbClr val="7F7F7F"/>
              </a:solidFill>
            </a:ln>
          </p:spPr>
          <p:txBody>
            <a:bodyPr wrap="square" lIns="0" tIns="0" rIns="0" bIns="0" rtlCol="0"/>
            <a:lstStyle/>
            <a:p>
              <a:endParaRPr/>
            </a:p>
          </p:txBody>
        </p:sp>
        <p:sp>
          <p:nvSpPr>
            <p:cNvPr id="23" name="object 23"/>
            <p:cNvSpPr/>
            <p:nvPr/>
          </p:nvSpPr>
          <p:spPr>
            <a:xfrm>
              <a:off x="4298848" y="1747473"/>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24" name="object 24"/>
            <p:cNvSpPr/>
            <p:nvPr/>
          </p:nvSpPr>
          <p:spPr>
            <a:xfrm>
              <a:off x="4298848" y="1734773"/>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25" name="object 25"/>
            <p:cNvSpPr/>
            <p:nvPr/>
          </p:nvSpPr>
          <p:spPr>
            <a:xfrm>
              <a:off x="4298848" y="1722073"/>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grpSp>
        <p:nvGrpSpPr>
          <p:cNvPr id="26" name="object 26"/>
          <p:cNvGrpSpPr/>
          <p:nvPr/>
        </p:nvGrpSpPr>
        <p:grpSpPr>
          <a:xfrm>
            <a:off x="286680" y="2591329"/>
            <a:ext cx="4228170" cy="663046"/>
            <a:chOff x="309193" y="2674213"/>
            <a:chExt cx="4040504" cy="454025"/>
          </a:xfrm>
        </p:grpSpPr>
        <p:sp>
          <p:nvSpPr>
            <p:cNvPr id="27" name="object 27"/>
            <p:cNvSpPr/>
            <p:nvPr/>
          </p:nvSpPr>
          <p:spPr>
            <a:xfrm>
              <a:off x="309193" y="2674213"/>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28" name="object 28"/>
            <p:cNvSpPr/>
            <p:nvPr/>
          </p:nvSpPr>
          <p:spPr>
            <a:xfrm>
              <a:off x="309194" y="2840151"/>
              <a:ext cx="3989653" cy="50609"/>
            </a:xfrm>
            <a:prstGeom prst="rect">
              <a:avLst/>
            </a:prstGeom>
            <a:blipFill>
              <a:blip r:embed="rId11" cstate="print"/>
              <a:stretch>
                <a:fillRect/>
              </a:stretch>
            </a:blipFill>
          </p:spPr>
          <p:txBody>
            <a:bodyPr wrap="square" lIns="0" tIns="0" rIns="0" bIns="0" rtlCol="0"/>
            <a:lstStyle/>
            <a:p>
              <a:endParaRPr/>
            </a:p>
          </p:txBody>
        </p:sp>
        <p:sp>
          <p:nvSpPr>
            <p:cNvPr id="29" name="object 29"/>
            <p:cNvSpPr/>
            <p:nvPr/>
          </p:nvSpPr>
          <p:spPr>
            <a:xfrm>
              <a:off x="359994" y="3026524"/>
              <a:ext cx="101600" cy="101600"/>
            </a:xfrm>
            <a:prstGeom prst="rect">
              <a:avLst/>
            </a:prstGeom>
            <a:blipFill>
              <a:blip r:embed="rId12" cstate="print"/>
              <a:stretch>
                <a:fillRect/>
              </a:stretch>
            </a:blipFill>
          </p:spPr>
          <p:txBody>
            <a:bodyPr wrap="square" lIns="0" tIns="0" rIns="0" bIns="0" rtlCol="0"/>
            <a:lstStyle/>
            <a:p>
              <a:endParaRPr/>
            </a:p>
          </p:txBody>
        </p:sp>
        <p:sp>
          <p:nvSpPr>
            <p:cNvPr id="30" name="object 30"/>
            <p:cNvSpPr/>
            <p:nvPr/>
          </p:nvSpPr>
          <p:spPr>
            <a:xfrm>
              <a:off x="410794" y="3013824"/>
              <a:ext cx="3938802" cy="114300"/>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4298848" y="2718447"/>
              <a:ext cx="50749" cy="308076"/>
            </a:xfrm>
            <a:prstGeom prst="rect">
              <a:avLst/>
            </a:prstGeom>
            <a:blipFill>
              <a:blip r:embed="rId13" cstate="print"/>
              <a:stretch>
                <a:fillRect/>
              </a:stretch>
            </a:blipFill>
          </p:spPr>
          <p:txBody>
            <a:bodyPr wrap="square" lIns="0" tIns="0" rIns="0" bIns="0" rtlCol="0"/>
            <a:lstStyle/>
            <a:p>
              <a:endParaRPr/>
            </a:p>
          </p:txBody>
        </p:sp>
        <p:sp>
          <p:nvSpPr>
            <p:cNvPr id="32" name="object 32"/>
            <p:cNvSpPr/>
            <p:nvPr/>
          </p:nvSpPr>
          <p:spPr>
            <a:xfrm>
              <a:off x="309193" y="2884439"/>
              <a:ext cx="3989704" cy="193040"/>
            </a:xfrm>
            <a:custGeom>
              <a:avLst/>
              <a:gdLst/>
              <a:ahLst/>
              <a:cxnLst/>
              <a:rect l="l" t="t" r="r" b="b"/>
              <a:pathLst>
                <a:path w="3989704" h="193039">
                  <a:moveTo>
                    <a:pt x="3989654" y="0"/>
                  </a:moveTo>
                  <a:lnTo>
                    <a:pt x="0" y="0"/>
                  </a:lnTo>
                  <a:lnTo>
                    <a:pt x="0" y="142085"/>
                  </a:lnTo>
                  <a:lnTo>
                    <a:pt x="4008" y="161809"/>
                  </a:lnTo>
                  <a:lnTo>
                    <a:pt x="14922" y="177962"/>
                  </a:lnTo>
                  <a:lnTo>
                    <a:pt x="31075" y="188876"/>
                  </a:lnTo>
                  <a:lnTo>
                    <a:pt x="50800" y="192885"/>
                  </a:lnTo>
                  <a:lnTo>
                    <a:pt x="3938854" y="192885"/>
                  </a:lnTo>
                  <a:lnTo>
                    <a:pt x="3958579" y="188876"/>
                  </a:lnTo>
                  <a:lnTo>
                    <a:pt x="3974732" y="177962"/>
                  </a:lnTo>
                  <a:lnTo>
                    <a:pt x="3985646" y="161809"/>
                  </a:lnTo>
                  <a:lnTo>
                    <a:pt x="3989654" y="142085"/>
                  </a:lnTo>
                  <a:lnTo>
                    <a:pt x="3989654" y="0"/>
                  </a:lnTo>
                  <a:close/>
                </a:path>
              </a:pathLst>
            </a:custGeom>
            <a:solidFill>
              <a:srgbClr val="F8E5E5"/>
            </a:solidFill>
          </p:spPr>
          <p:txBody>
            <a:bodyPr wrap="square" lIns="0" tIns="0" rIns="0" bIns="0" rtlCol="0"/>
            <a:lstStyle/>
            <a:p>
              <a:endParaRPr/>
            </a:p>
          </p:txBody>
        </p:sp>
        <p:sp>
          <p:nvSpPr>
            <p:cNvPr id="33" name="object 33"/>
            <p:cNvSpPr/>
            <p:nvPr/>
          </p:nvSpPr>
          <p:spPr>
            <a:xfrm>
              <a:off x="4298848" y="2756547"/>
              <a:ext cx="0" cy="289560"/>
            </a:xfrm>
            <a:custGeom>
              <a:avLst/>
              <a:gdLst/>
              <a:ahLst/>
              <a:cxnLst/>
              <a:rect l="l" t="t" r="r" b="b"/>
              <a:pathLst>
                <a:path h="289560">
                  <a:moveTo>
                    <a:pt x="0" y="289026"/>
                  </a:moveTo>
                  <a:lnTo>
                    <a:pt x="0" y="0"/>
                  </a:lnTo>
                </a:path>
              </a:pathLst>
            </a:custGeom>
            <a:ln w="3175">
              <a:solidFill>
                <a:srgbClr val="7F7F7F"/>
              </a:solidFill>
            </a:ln>
          </p:spPr>
          <p:txBody>
            <a:bodyPr wrap="square" lIns="0" tIns="0" rIns="0" bIns="0" rtlCol="0"/>
            <a:lstStyle/>
            <a:p>
              <a:endParaRPr/>
            </a:p>
          </p:txBody>
        </p:sp>
        <p:sp>
          <p:nvSpPr>
            <p:cNvPr id="34" name="object 34"/>
            <p:cNvSpPr/>
            <p:nvPr/>
          </p:nvSpPr>
          <p:spPr>
            <a:xfrm>
              <a:off x="4298848" y="2743847"/>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35" name="object 35"/>
            <p:cNvSpPr/>
            <p:nvPr/>
          </p:nvSpPr>
          <p:spPr>
            <a:xfrm>
              <a:off x="4298848" y="2731147"/>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36" name="object 36"/>
            <p:cNvSpPr/>
            <p:nvPr/>
          </p:nvSpPr>
          <p:spPr>
            <a:xfrm>
              <a:off x="4298848" y="2718447"/>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37" name="object 37"/>
          <p:cNvSpPr txBox="1"/>
          <p:nvPr/>
        </p:nvSpPr>
        <p:spPr>
          <a:xfrm>
            <a:off x="220293" y="253794"/>
            <a:ext cx="4331081" cy="2822695"/>
          </a:xfrm>
          <a:prstGeom prst="rect">
            <a:avLst/>
          </a:prstGeom>
        </p:spPr>
        <p:txBody>
          <a:bodyPr vert="horz" wrap="square" lIns="0" tIns="58419" rIns="0" bIns="0" rtlCol="0">
            <a:spAutoFit/>
          </a:bodyPr>
          <a:lstStyle/>
          <a:p>
            <a:pPr marL="139700">
              <a:lnSpc>
                <a:spcPct val="100000"/>
              </a:lnSpc>
              <a:spcBef>
                <a:spcPts val="459"/>
              </a:spcBef>
            </a:pPr>
            <a:r>
              <a:rPr sz="1100" spc="-10" dirty="0">
                <a:solidFill>
                  <a:srgbClr val="FFFFFF"/>
                </a:solidFill>
                <a:latin typeface="LM Sans 10"/>
                <a:cs typeface="LM Sans 10"/>
              </a:rPr>
              <a:t>Definition (Chain </a:t>
            </a:r>
            <a:r>
              <a:rPr sz="1100" spc="-5" dirty="0">
                <a:solidFill>
                  <a:srgbClr val="FFFFFF"/>
                </a:solidFill>
                <a:latin typeface="LM Sans 10"/>
                <a:cs typeface="LM Sans 10"/>
              </a:rPr>
              <a:t>matrix multiplication</a:t>
            </a:r>
            <a:r>
              <a:rPr sz="1100" dirty="0">
                <a:solidFill>
                  <a:srgbClr val="FFFFFF"/>
                </a:solidFill>
                <a:latin typeface="LM Sans 10"/>
                <a:cs typeface="LM Sans 10"/>
              </a:rPr>
              <a:t> </a:t>
            </a:r>
            <a:r>
              <a:rPr sz="1100" spc="-10" dirty="0">
                <a:solidFill>
                  <a:srgbClr val="FFFFFF"/>
                </a:solidFill>
                <a:latin typeface="LM Sans 10"/>
                <a:cs typeface="LM Sans 10"/>
              </a:rPr>
              <a:t>problem)</a:t>
            </a:r>
            <a:endParaRPr sz="1100" dirty="0">
              <a:latin typeface="LM Sans 10"/>
              <a:cs typeface="LM Sans 10"/>
            </a:endParaRPr>
          </a:p>
          <a:p>
            <a:pPr marL="139065" marR="119380">
              <a:lnSpc>
                <a:spcPct val="102600"/>
              </a:lnSpc>
              <a:spcBef>
                <a:spcPts val="320"/>
              </a:spcBef>
            </a:pPr>
            <a:r>
              <a:rPr sz="1100" spc="-10" dirty="0">
                <a:latin typeface="LM Sans 10"/>
                <a:cs typeface="LM Sans 10"/>
              </a:rPr>
              <a:t>Given</a:t>
            </a:r>
            <a:r>
              <a:rPr sz="1100" spc="-5" dirty="0">
                <a:latin typeface="LM Sans 10"/>
                <a:cs typeface="LM Sans 10"/>
              </a:rPr>
              <a:t> dimensions</a:t>
            </a:r>
            <a:r>
              <a:rPr sz="1100" dirty="0">
                <a:latin typeface="LM Sans 10"/>
                <a:cs typeface="LM Sans 10"/>
              </a:rPr>
              <a:t> </a:t>
            </a:r>
            <a:r>
              <a:rPr sz="1100" i="1" spc="10" dirty="0">
                <a:latin typeface="LM Sans 10"/>
                <a:cs typeface="LM Sans 10"/>
              </a:rPr>
              <a:t>p</a:t>
            </a:r>
            <a:r>
              <a:rPr sz="1200" spc="15" baseline="-10416" dirty="0">
                <a:latin typeface="LM Sans 8"/>
                <a:cs typeface="LM Sans 8"/>
              </a:rPr>
              <a:t>0</a:t>
            </a:r>
            <a:r>
              <a:rPr sz="1100" i="1" spc="10" dirty="0">
                <a:latin typeface="LM Roman Dunhill 10"/>
                <a:cs typeface="LM Roman Dunhill 10"/>
              </a:rPr>
              <a:t>,</a:t>
            </a:r>
            <a:r>
              <a:rPr sz="1100" i="1" spc="-185" dirty="0">
                <a:latin typeface="LM Roman Dunhill 10"/>
                <a:cs typeface="LM Roman Dunhill 10"/>
              </a:rPr>
              <a:t> </a:t>
            </a:r>
            <a:r>
              <a:rPr sz="1100" i="1" spc="10" dirty="0">
                <a:latin typeface="LM Sans 10"/>
                <a:cs typeface="LM Sans 10"/>
              </a:rPr>
              <a:t>p</a:t>
            </a:r>
            <a:r>
              <a:rPr sz="1200" spc="15" baseline="-10416" dirty="0">
                <a:latin typeface="LM Sans 8"/>
                <a:cs typeface="LM Sans 8"/>
              </a:rPr>
              <a:t>1</a:t>
            </a:r>
            <a:r>
              <a:rPr sz="1100" i="1" spc="10"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15" dirty="0">
                <a:latin typeface="LM Sans 10"/>
                <a:cs typeface="LM Sans 10"/>
              </a:rPr>
              <a:t>p</a:t>
            </a:r>
            <a:r>
              <a:rPr sz="1200" i="1" spc="22" baseline="-10416" dirty="0">
                <a:latin typeface="LM Sans 8"/>
                <a:cs typeface="LM Sans 8"/>
              </a:rPr>
              <a:t>n</a:t>
            </a:r>
            <a:r>
              <a:rPr sz="1100" spc="15" dirty="0">
                <a:latin typeface="LM Sans 10"/>
                <a:cs typeface="LM Sans 10"/>
              </a:rPr>
              <a:t>,</a:t>
            </a:r>
            <a:r>
              <a:rPr sz="1100" spc="-5" dirty="0">
                <a:latin typeface="LM Sans 10"/>
                <a:cs typeface="LM Sans 10"/>
              </a:rPr>
              <a:t> </a:t>
            </a:r>
            <a:r>
              <a:rPr sz="1100" spc="-10" dirty="0">
                <a:latin typeface="LM Sans 10"/>
                <a:cs typeface="LM Sans 10"/>
              </a:rPr>
              <a:t>corresponding</a:t>
            </a:r>
            <a:r>
              <a:rPr sz="1100" spc="-5" dirty="0">
                <a:latin typeface="LM Sans 10"/>
                <a:cs typeface="LM Sans 10"/>
              </a:rPr>
              <a:t> to matrix sequence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spc="-20" dirty="0">
                <a:latin typeface="LM Sans 10"/>
                <a:cs typeface="LM Sans 10"/>
              </a:rPr>
              <a:t> </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spc="-2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spc="-5" dirty="0">
                <a:latin typeface="LM Sans 10"/>
                <a:cs typeface="LM Sans 10"/>
              </a:rPr>
              <a:t>,</a:t>
            </a:r>
            <a:r>
              <a:rPr sz="1100" spc="-20" dirty="0">
                <a:latin typeface="LM Sans 10"/>
                <a:cs typeface="LM Sans 10"/>
              </a:rPr>
              <a:t> </a:t>
            </a:r>
            <a:r>
              <a:rPr sz="1100" i="1" spc="-5" dirty="0">
                <a:latin typeface="LM Sans 10"/>
                <a:cs typeface="LM Sans 10"/>
              </a:rPr>
              <a:t>A</a:t>
            </a:r>
            <a:r>
              <a:rPr sz="1200" i="1" spc="-7" baseline="-10416" dirty="0">
                <a:latin typeface="LM Sans 8"/>
                <a:cs typeface="LM Sans 8"/>
              </a:rPr>
              <a:t>n</a:t>
            </a:r>
            <a:r>
              <a:rPr sz="1200" i="1" spc="187" baseline="-10416" dirty="0">
                <a:latin typeface="LM Sans 8"/>
                <a:cs typeface="LM Sans 8"/>
              </a:rPr>
              <a:t> </a:t>
            </a:r>
            <a:r>
              <a:rPr sz="1100" spc="-5" dirty="0">
                <a:latin typeface="LM Sans 10"/>
                <a:cs typeface="LM Sans 10"/>
              </a:rPr>
              <a:t>in</a:t>
            </a:r>
            <a:r>
              <a:rPr sz="1100" spc="-15" dirty="0">
                <a:latin typeface="LM Sans 10"/>
                <a:cs typeface="LM Sans 10"/>
              </a:rPr>
              <a:t> </a:t>
            </a:r>
            <a:r>
              <a:rPr sz="1100" spc="-5" dirty="0">
                <a:latin typeface="LM Sans 10"/>
                <a:cs typeface="LM Sans 10"/>
              </a:rPr>
              <a:t>which</a:t>
            </a:r>
            <a:r>
              <a:rPr sz="1100" spc="-20" dirty="0">
                <a:latin typeface="LM Sans 10"/>
                <a:cs typeface="LM Sans 10"/>
              </a:rPr>
              <a:t> </a:t>
            </a:r>
            <a:r>
              <a:rPr sz="1100" i="1" spc="-5" dirty="0">
                <a:latin typeface="LM Sans 10"/>
                <a:cs typeface="LM Sans 10"/>
              </a:rPr>
              <a:t>A</a:t>
            </a:r>
            <a:r>
              <a:rPr sz="1200" i="1" spc="-7" baseline="-10416" dirty="0">
                <a:latin typeface="LM Sans 8"/>
                <a:cs typeface="LM Sans 8"/>
              </a:rPr>
              <a:t>i</a:t>
            </a:r>
            <a:r>
              <a:rPr sz="1200" i="1" spc="292" baseline="-10416" dirty="0">
                <a:latin typeface="LM Sans 8"/>
                <a:cs typeface="LM Sans 8"/>
              </a:rPr>
              <a:t> </a:t>
            </a:r>
            <a:r>
              <a:rPr sz="1100" spc="-5" dirty="0">
                <a:latin typeface="LM Sans 10"/>
                <a:cs typeface="LM Sans 10"/>
              </a:rPr>
              <a:t>has</a:t>
            </a:r>
            <a:r>
              <a:rPr sz="1100" spc="-15" dirty="0">
                <a:latin typeface="LM Sans 10"/>
                <a:cs typeface="LM Sans 10"/>
              </a:rPr>
              <a:t> </a:t>
            </a:r>
            <a:r>
              <a:rPr sz="1100" spc="-5" dirty="0">
                <a:latin typeface="LM Sans 10"/>
                <a:cs typeface="LM Sans 10"/>
              </a:rPr>
              <a:t>dimension</a:t>
            </a:r>
            <a:r>
              <a:rPr sz="1100" spc="-20" dirty="0">
                <a:latin typeface="LM Sans 10"/>
                <a:cs typeface="LM Sans 10"/>
              </a:rPr>
              <a:t> </a:t>
            </a:r>
            <a:r>
              <a:rPr sz="1100" i="1" spc="60" dirty="0">
                <a:latin typeface="LM Sans 10"/>
                <a:cs typeface="LM Sans 10"/>
              </a:rPr>
              <a:t>p</a:t>
            </a:r>
            <a:r>
              <a:rPr sz="1200" i="1" spc="89" baseline="-10416" dirty="0">
                <a:latin typeface="LM Sans 8"/>
                <a:cs typeface="LM Sans 8"/>
              </a:rPr>
              <a:t>i</a:t>
            </a:r>
            <a:r>
              <a:rPr sz="1200" i="1" spc="89" baseline="-10416" dirty="0">
                <a:latin typeface="Arial"/>
                <a:cs typeface="Arial"/>
              </a:rPr>
              <a:t>−</a:t>
            </a:r>
            <a:r>
              <a:rPr sz="1200" spc="89" baseline="-10416" dirty="0">
                <a:latin typeface="LM Sans 8"/>
                <a:cs typeface="LM Sans 8"/>
              </a:rPr>
              <a:t>1</a:t>
            </a:r>
            <a:r>
              <a:rPr sz="1200" spc="-22" baseline="-10416" dirty="0">
                <a:latin typeface="LM Sans 8"/>
                <a:cs typeface="LM Sans 8"/>
              </a:rPr>
              <a:t> </a:t>
            </a:r>
            <a:r>
              <a:rPr sz="1100" i="1" spc="15" dirty="0">
                <a:latin typeface="DejaVu Sans Condensed"/>
                <a:cs typeface="DejaVu Sans Condensed"/>
              </a:rPr>
              <a:t>×</a:t>
            </a:r>
            <a:r>
              <a:rPr sz="1100" i="1" spc="-100" dirty="0">
                <a:latin typeface="DejaVu Sans Condensed"/>
                <a:cs typeface="DejaVu Sans Condensed"/>
              </a:rPr>
              <a:t> </a:t>
            </a:r>
            <a:r>
              <a:rPr sz="1100" i="1" spc="-5" dirty="0">
                <a:latin typeface="LM Sans 10"/>
                <a:cs typeface="LM Sans 10"/>
              </a:rPr>
              <a:t>p</a:t>
            </a:r>
            <a:r>
              <a:rPr sz="1200" i="1" spc="-7" baseline="-10416" dirty="0">
                <a:latin typeface="LM Sans 8"/>
                <a:cs typeface="LM Sans 8"/>
              </a:rPr>
              <a:t>i</a:t>
            </a:r>
            <a:r>
              <a:rPr sz="1200" i="1" spc="-232" baseline="-10416" dirty="0">
                <a:latin typeface="LM Sans 8"/>
                <a:cs typeface="LM Sans 8"/>
              </a:rPr>
              <a:t> </a:t>
            </a:r>
            <a:r>
              <a:rPr sz="1100" spc="-5" dirty="0">
                <a:latin typeface="LM Sans 10"/>
                <a:cs typeface="LM Sans 10"/>
              </a:rPr>
              <a:t>,</a:t>
            </a:r>
            <a:r>
              <a:rPr sz="1100" spc="-20" dirty="0">
                <a:latin typeface="LM Sans 10"/>
                <a:cs typeface="LM Sans 10"/>
              </a:rPr>
              <a:t> </a:t>
            </a:r>
            <a:r>
              <a:rPr sz="1100" spc="-5" dirty="0">
                <a:latin typeface="LM Sans 10"/>
                <a:cs typeface="LM Sans 10"/>
              </a:rPr>
              <a:t>determine</a:t>
            </a:r>
            <a:r>
              <a:rPr sz="1100" spc="-15" dirty="0">
                <a:latin typeface="LM Sans 10"/>
                <a:cs typeface="LM Sans 10"/>
              </a:rPr>
              <a:t> </a:t>
            </a:r>
            <a:r>
              <a:rPr sz="1100" spc="-5" dirty="0">
                <a:latin typeface="LM Sans 10"/>
                <a:cs typeface="LM Sans 10"/>
              </a:rPr>
              <a:t>the  </a:t>
            </a:r>
            <a:r>
              <a:rPr sz="1100" spc="-5" dirty="0">
                <a:solidFill>
                  <a:srgbClr val="FF0000"/>
                </a:solidFill>
                <a:latin typeface="LM Sans 10"/>
                <a:cs typeface="LM Sans 10"/>
              </a:rPr>
              <a:t>“multiplication sequence”</a:t>
            </a:r>
            <a:r>
              <a:rPr lang="en-US" sz="1100" spc="-5" dirty="0">
                <a:solidFill>
                  <a:srgbClr val="FF0000"/>
                </a:solidFill>
                <a:latin typeface="LM Sans 10"/>
                <a:cs typeface="LM Sans 10"/>
              </a:rPr>
              <a:t> </a:t>
            </a:r>
            <a:r>
              <a:rPr sz="1100" spc="-5" dirty="0">
                <a:latin typeface="LM Sans 10"/>
                <a:cs typeface="LM Sans 10"/>
              </a:rPr>
              <a:t>that</a:t>
            </a:r>
            <a:r>
              <a:rPr lang="en-US" sz="1100" spc="-5" dirty="0">
                <a:latin typeface="LM Sans 10"/>
                <a:cs typeface="LM Sans 10"/>
              </a:rPr>
              <a:t> </a:t>
            </a:r>
            <a:r>
              <a:rPr sz="1100" spc="-5" dirty="0">
                <a:solidFill>
                  <a:srgbClr val="0000FF"/>
                </a:solidFill>
                <a:latin typeface="LM Sans 10"/>
                <a:cs typeface="LM Sans 10"/>
              </a:rPr>
              <a:t>minimizes</a:t>
            </a:r>
            <a:r>
              <a:rPr lang="en-US" sz="1100" spc="-5" dirty="0">
                <a:solidFill>
                  <a:srgbClr val="0000FF"/>
                </a:solidFill>
                <a:latin typeface="LM Sans 10"/>
                <a:cs typeface="LM Sans 10"/>
              </a:rPr>
              <a:t> </a:t>
            </a:r>
            <a:r>
              <a:rPr sz="1100" spc="-5" dirty="0">
                <a:latin typeface="LM Sans 10"/>
                <a:cs typeface="LM Sans 10"/>
              </a:rPr>
              <a:t>the number </a:t>
            </a:r>
            <a:r>
              <a:rPr sz="1100" spc="-10" dirty="0">
                <a:latin typeface="LM Sans 10"/>
                <a:cs typeface="LM Sans 10"/>
              </a:rPr>
              <a:t>of</a:t>
            </a:r>
            <a:r>
              <a:rPr lang="en-US" sz="1100" spc="-10" dirty="0">
                <a:latin typeface="LM Sans 10"/>
                <a:cs typeface="LM Sans 10"/>
              </a:rPr>
              <a:t> </a:t>
            </a:r>
            <a:r>
              <a:rPr sz="1100" spc="-10" dirty="0">
                <a:solidFill>
                  <a:srgbClr val="FF0000"/>
                </a:solidFill>
                <a:latin typeface="LM Sans 10"/>
                <a:cs typeface="LM Sans 10"/>
              </a:rPr>
              <a:t>scalar  </a:t>
            </a:r>
            <a:r>
              <a:rPr sz="1100" spc="-5" dirty="0">
                <a:solidFill>
                  <a:srgbClr val="FF0000"/>
                </a:solidFill>
                <a:latin typeface="LM Sans 10"/>
                <a:cs typeface="LM Sans 10"/>
              </a:rPr>
              <a:t>multiplications</a:t>
            </a:r>
            <a:r>
              <a:rPr lang="en-US" sz="1100" spc="-5" dirty="0">
                <a:solidFill>
                  <a:srgbClr val="FF0000"/>
                </a:solidFill>
                <a:latin typeface="LM Sans 10"/>
                <a:cs typeface="LM Sans 10"/>
              </a:rPr>
              <a:t> </a:t>
            </a:r>
            <a:r>
              <a:rPr sz="1100" spc="-5" dirty="0">
                <a:latin typeface="LM Sans 10"/>
                <a:cs typeface="LM Sans 10"/>
              </a:rPr>
              <a:t>in computing</a:t>
            </a:r>
            <a:r>
              <a:rPr sz="1100" spc="-70" dirty="0">
                <a:latin typeface="LM Sans 10"/>
                <a:cs typeface="LM Sans 10"/>
              </a:rPr>
              <a:t> </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 </a:t>
            </a:r>
            <a:r>
              <a:rPr sz="1100" i="1" spc="-15" dirty="0">
                <a:latin typeface="DejaVu Sans Condensed"/>
                <a:cs typeface="DejaVu Sans Condensed"/>
              </a:rPr>
              <a:t>· · · </a:t>
            </a:r>
            <a:r>
              <a:rPr sz="1100" i="1" spc="15" dirty="0">
                <a:latin typeface="LM Sans 10"/>
                <a:cs typeface="LM Sans 10"/>
              </a:rPr>
              <a:t>A</a:t>
            </a:r>
            <a:r>
              <a:rPr sz="1200" i="1" spc="22" baseline="-10416" dirty="0">
                <a:latin typeface="LM Sans 8"/>
                <a:cs typeface="LM Sans 8"/>
              </a:rPr>
              <a:t>n</a:t>
            </a:r>
            <a:r>
              <a:rPr sz="1100" spc="15" dirty="0">
                <a:latin typeface="LM Sans 10"/>
                <a:cs typeface="LM Sans 10"/>
              </a:rPr>
              <a:t>.</a:t>
            </a:r>
            <a:endParaRPr sz="1100" dirty="0">
              <a:latin typeface="LM Sans 10"/>
              <a:cs typeface="LM Sans 10"/>
            </a:endParaRPr>
          </a:p>
          <a:p>
            <a:pPr marL="416559">
              <a:lnSpc>
                <a:spcPct val="100000"/>
              </a:lnSpc>
              <a:spcBef>
                <a:spcPts val="1320"/>
              </a:spcBef>
            </a:pPr>
            <a:r>
              <a:rPr sz="1100" spc="-5" dirty="0">
                <a:latin typeface="LM Sans 10"/>
                <a:cs typeface="LM Sans 10"/>
              </a:rPr>
              <a:t>i.e.,, determine </a:t>
            </a:r>
            <a:r>
              <a:rPr sz="1100" spc="-20" dirty="0">
                <a:latin typeface="LM Sans 10"/>
                <a:cs typeface="LM Sans 10"/>
              </a:rPr>
              <a:t>how </a:t>
            </a:r>
            <a:r>
              <a:rPr sz="1100" spc="-5" dirty="0">
                <a:latin typeface="LM Sans 10"/>
                <a:cs typeface="LM Sans 10"/>
              </a:rPr>
              <a:t>to </a:t>
            </a:r>
            <a:r>
              <a:rPr sz="1100" spc="-10" dirty="0">
                <a:latin typeface="LM Sans 10"/>
                <a:cs typeface="LM Sans 10"/>
              </a:rPr>
              <a:t>parenthesize </a:t>
            </a:r>
            <a:r>
              <a:rPr sz="1100" spc="-5" dirty="0">
                <a:latin typeface="LM Sans 10"/>
                <a:cs typeface="LM Sans 10"/>
              </a:rPr>
              <a:t>the</a:t>
            </a:r>
            <a:r>
              <a:rPr sz="1100" spc="5" dirty="0">
                <a:latin typeface="LM Sans 10"/>
                <a:cs typeface="LM Sans 10"/>
              </a:rPr>
              <a:t> </a:t>
            </a:r>
            <a:r>
              <a:rPr sz="1100" spc="-5" dirty="0">
                <a:latin typeface="LM Sans 10"/>
                <a:cs typeface="LM Sans 10"/>
              </a:rPr>
              <a:t>multiplications.</a:t>
            </a:r>
            <a:endParaRPr sz="1100" dirty="0">
              <a:latin typeface="LM Sans 10"/>
              <a:cs typeface="LM Sans 10"/>
            </a:endParaRPr>
          </a:p>
          <a:p>
            <a:pPr>
              <a:lnSpc>
                <a:spcPct val="100000"/>
              </a:lnSpc>
              <a:spcBef>
                <a:spcPts val="60"/>
              </a:spcBef>
            </a:pPr>
            <a:endParaRPr sz="650" dirty="0">
              <a:latin typeface="LM Sans 10"/>
              <a:cs typeface="LM Sans 10"/>
            </a:endParaRPr>
          </a:p>
          <a:p>
            <a:pPr marL="139065">
              <a:lnSpc>
                <a:spcPct val="100000"/>
              </a:lnSpc>
            </a:pPr>
            <a:r>
              <a:rPr sz="1100" spc="-10" dirty="0">
                <a:solidFill>
                  <a:srgbClr val="FFFFFF"/>
                </a:solidFill>
                <a:latin typeface="LM Sans 10"/>
                <a:cs typeface="LM Sans 10"/>
              </a:rPr>
              <a:t>Example</a:t>
            </a:r>
            <a:endParaRPr sz="1100" dirty="0">
              <a:latin typeface="LM Sans 10"/>
              <a:cs typeface="LM Sans 10"/>
            </a:endParaRPr>
          </a:p>
          <a:p>
            <a:pPr marL="175260">
              <a:lnSpc>
                <a:spcPct val="100000"/>
              </a:lnSpc>
              <a:spcBef>
                <a:spcPts val="550"/>
              </a:spcBef>
              <a:tabLst>
                <a:tab pos="911860" algn="l"/>
              </a:tabLst>
            </a:pP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	</a:t>
            </a:r>
            <a:r>
              <a:rPr sz="1100" spc="-10" dirty="0">
                <a:latin typeface="LM Sans 10"/>
                <a:cs typeface="LM Sans 10"/>
              </a:rPr>
              <a:t>=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 </a:t>
            </a:r>
            <a:r>
              <a:rPr sz="1100" spc="-10"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 </a:t>
            </a:r>
            <a:r>
              <a:rPr sz="1100" spc="-10" dirty="0">
                <a:latin typeface="LM Sans 10"/>
                <a:cs typeface="LM Sans 10"/>
              </a:rPr>
              <a:t>=</a:t>
            </a:r>
            <a:r>
              <a:rPr sz="1100"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a:t>
            </a:r>
            <a:endParaRPr sz="1100" dirty="0">
              <a:latin typeface="LM Sans 10"/>
              <a:cs typeface="LM Sans 10"/>
            </a:endParaRPr>
          </a:p>
          <a:p>
            <a:pPr marL="911860">
              <a:lnSpc>
                <a:spcPct val="100000"/>
              </a:lnSpc>
              <a:spcBef>
                <a:spcPts val="334"/>
              </a:spcBef>
            </a:pPr>
            <a:r>
              <a:rPr sz="1100" spc="-10"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3</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4</a:t>
            </a:r>
            <a:r>
              <a:rPr sz="1100" spc="5" dirty="0">
                <a:latin typeface="LM Sans 10"/>
                <a:cs typeface="LM Sans 10"/>
              </a:rPr>
              <a:t>) </a:t>
            </a:r>
            <a:r>
              <a:rPr sz="1100" spc="-10" dirty="0">
                <a:latin typeface="LM Sans 10"/>
                <a:cs typeface="LM Sans 10"/>
              </a:rPr>
              <a:t>=</a:t>
            </a:r>
            <a:r>
              <a:rPr sz="1100" spc="-204"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2</a:t>
            </a:r>
            <a:r>
              <a:rPr sz="1100" i="1" spc="5" dirty="0">
                <a:latin typeface="LM Sans 10"/>
                <a:cs typeface="LM Sans 10"/>
              </a:rPr>
              <a:t>A</a:t>
            </a:r>
            <a:r>
              <a:rPr sz="1200" spc="7" baseline="-10416" dirty="0">
                <a:latin typeface="LM Sans 8"/>
                <a:cs typeface="LM Sans 8"/>
              </a:rPr>
              <a:t>3</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4</a:t>
            </a:r>
            <a:r>
              <a:rPr sz="1100" spc="5" dirty="0">
                <a:latin typeface="LM Sans 10"/>
                <a:cs typeface="LM Sans 10"/>
              </a:rPr>
              <a:t>)</a:t>
            </a:r>
            <a:endParaRPr sz="1100" dirty="0">
              <a:latin typeface="LM Sans 10"/>
              <a:cs typeface="LM Sans 10"/>
            </a:endParaRPr>
          </a:p>
          <a:p>
            <a:pPr marL="139065" marR="2195830">
              <a:lnSpc>
                <a:spcPct val="151900"/>
              </a:lnSpc>
              <a:spcBef>
                <a:spcPts val="310"/>
              </a:spcBef>
            </a:pPr>
            <a:r>
              <a:rPr sz="1100" spc="-5" dirty="0">
                <a:solidFill>
                  <a:srgbClr val="0000FF"/>
                </a:solidFill>
                <a:latin typeface="LM Sans 10"/>
                <a:cs typeface="LM Sans 10"/>
              </a:rPr>
              <a:t>Exhaustive </a:t>
            </a:r>
            <a:r>
              <a:rPr sz="1100" spc="-10" dirty="0">
                <a:solidFill>
                  <a:srgbClr val="0000FF"/>
                </a:solidFill>
                <a:latin typeface="LM Sans 10"/>
                <a:cs typeface="LM Sans 10"/>
              </a:rPr>
              <a:t>search</a:t>
            </a:r>
            <a:r>
              <a:rPr sz="1100" spc="-10" dirty="0">
                <a:latin typeface="LM Sans 10"/>
                <a:cs typeface="LM Sans 10"/>
              </a:rPr>
              <a:t>:</a:t>
            </a:r>
            <a:r>
              <a:rPr lang="en-US" sz="1100" spc="-10" dirty="0">
                <a:latin typeface="LM Sans 10"/>
                <a:cs typeface="LM Sans 10"/>
              </a:rPr>
              <a:t> </a:t>
            </a:r>
            <a:r>
              <a:rPr lang="el-GR" sz="1100" spc="5" dirty="0">
                <a:latin typeface="LM Sans 10"/>
                <a:cs typeface="LM Sans 10"/>
              </a:rPr>
              <a:t>Ω(4</a:t>
            </a:r>
            <a:r>
              <a:rPr lang="en-US" sz="1200" i="1" spc="7" baseline="27777" dirty="0">
                <a:latin typeface="LM Sans 8"/>
                <a:cs typeface="LM Sans 8"/>
              </a:rPr>
              <a:t>n</a:t>
            </a:r>
            <a:r>
              <a:rPr lang="en-US" sz="1100" i="1" spc="5" dirty="0">
                <a:latin typeface="LM Roman Dunhill 10"/>
                <a:cs typeface="LM Roman Dunhill 10"/>
              </a:rPr>
              <a:t>/</a:t>
            </a:r>
            <a:r>
              <a:rPr lang="en-US" sz="1100" i="1" spc="5" dirty="0">
                <a:latin typeface="LM Sans 10"/>
                <a:cs typeface="LM Sans 10"/>
              </a:rPr>
              <a:t>n</a:t>
            </a:r>
            <a:r>
              <a:rPr lang="en-US" sz="1200" spc="7" baseline="27777" dirty="0">
                <a:latin typeface="LM Sans 8"/>
                <a:cs typeface="LM Sans 8"/>
              </a:rPr>
              <a:t>3</a:t>
            </a:r>
            <a:r>
              <a:rPr lang="en-US" sz="1200" i="1" spc="7" baseline="27777" dirty="0">
                <a:latin typeface="LM Sans 8"/>
                <a:cs typeface="LM Sans 8"/>
              </a:rPr>
              <a:t>/</a:t>
            </a:r>
            <a:r>
              <a:rPr lang="en-US" sz="1200" spc="7" baseline="27777" dirty="0">
                <a:latin typeface="LM Sans 8"/>
                <a:cs typeface="LM Sans 8"/>
              </a:rPr>
              <a:t>2</a:t>
            </a:r>
            <a:r>
              <a:rPr lang="en-US" sz="1100" spc="5" dirty="0">
                <a:latin typeface="LM Sans 10"/>
                <a:cs typeface="LM Sans 10"/>
              </a:rPr>
              <a:t>). </a:t>
            </a:r>
          </a:p>
          <a:p>
            <a:pPr marL="139065" marR="2195830">
              <a:lnSpc>
                <a:spcPct val="151900"/>
              </a:lnSpc>
              <a:spcBef>
                <a:spcPts val="310"/>
              </a:spcBef>
            </a:pPr>
            <a:r>
              <a:rPr sz="1100" spc="-5" dirty="0">
                <a:solidFill>
                  <a:srgbClr val="FFFFFF"/>
                </a:solidFill>
                <a:latin typeface="LM Sans 10"/>
                <a:cs typeface="LM Sans 10"/>
              </a:rPr>
              <a:t>Question</a:t>
            </a:r>
            <a:endParaRPr sz="1100" dirty="0">
              <a:latin typeface="LM Sans 10"/>
              <a:cs typeface="LM Sans 10"/>
            </a:endParaRPr>
          </a:p>
          <a:p>
            <a:pPr marL="139065">
              <a:lnSpc>
                <a:spcPct val="100000"/>
              </a:lnSpc>
              <a:spcBef>
                <a:spcPts val="234"/>
              </a:spcBef>
            </a:pPr>
            <a:r>
              <a:rPr sz="1100" spc="-5" dirty="0">
                <a:latin typeface="LM Sans 10"/>
                <a:cs typeface="LM Sans 10"/>
              </a:rPr>
              <a:t>Is there </a:t>
            </a:r>
            <a:r>
              <a:rPr sz="1100" spc="-10" dirty="0">
                <a:latin typeface="LM Sans 10"/>
                <a:cs typeface="LM Sans 10"/>
              </a:rPr>
              <a:t>a </a:t>
            </a:r>
            <a:r>
              <a:rPr sz="1100" dirty="0">
                <a:latin typeface="LM Sans 10"/>
                <a:cs typeface="LM Sans 10"/>
              </a:rPr>
              <a:t>better</a:t>
            </a:r>
            <a:r>
              <a:rPr sz="1100" spc="-5" dirty="0">
                <a:latin typeface="LM Sans 10"/>
                <a:cs typeface="LM Sans 10"/>
              </a:rPr>
              <a:t> </a:t>
            </a:r>
            <a:r>
              <a:rPr sz="1100" spc="-10" dirty="0">
                <a:latin typeface="LM Sans 10"/>
                <a:cs typeface="LM Sans 10"/>
              </a:rPr>
              <a:t>approach?</a:t>
            </a:r>
            <a:endParaRPr sz="1100" dirty="0">
              <a:latin typeface="LM Sans 10"/>
              <a:cs typeface="LM Sans 10"/>
            </a:endParaRPr>
          </a:p>
        </p:txBody>
      </p:sp>
      <p:grpSp>
        <p:nvGrpSpPr>
          <p:cNvPr id="38" name="object 38"/>
          <p:cNvGrpSpPr/>
          <p:nvPr/>
        </p:nvGrpSpPr>
        <p:grpSpPr>
          <a:xfrm>
            <a:off x="0" y="3342919"/>
            <a:ext cx="4608195" cy="113664"/>
            <a:chOff x="0" y="3342919"/>
            <a:chExt cx="4608195" cy="113664"/>
          </a:xfrm>
        </p:grpSpPr>
        <p:sp>
          <p:nvSpPr>
            <p:cNvPr id="39" name="object 39"/>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40" name="object 4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41" name="object 41"/>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43" name="object 4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14" action="ppaction://hlinksldjump"/>
              </a:rPr>
              <a:t>Chain </a:t>
            </a:r>
            <a:r>
              <a:rPr sz="600" b="1" spc="-5" dirty="0">
                <a:solidFill>
                  <a:srgbClr val="FFFFFF"/>
                </a:solidFill>
                <a:latin typeface="LM Sans 10"/>
                <a:cs typeface="LM Sans 10"/>
                <a:hlinkClick r:id="rId14" action="ppaction://hlinksldjump"/>
              </a:rPr>
              <a:t>Matrix Multiplication</a:t>
            </a:r>
            <a:endParaRPr sz="600">
              <a:latin typeface="LM Sans 10"/>
              <a:cs typeface="LM Sans 10"/>
            </a:endParaRPr>
          </a:p>
        </p:txBody>
      </p:sp>
      <p:sp>
        <p:nvSpPr>
          <p:cNvPr id="44" name="object 44"/>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8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08325" cy="244475"/>
          </a:xfrm>
          <a:prstGeom prst="rect">
            <a:avLst/>
          </a:prstGeom>
        </p:spPr>
        <p:txBody>
          <a:bodyPr vert="horz" wrap="square" lIns="0" tIns="17145" rIns="0" bIns="0" rtlCol="0">
            <a:spAutoFit/>
          </a:bodyPr>
          <a:lstStyle/>
          <a:p>
            <a:pPr marL="12700">
              <a:lnSpc>
                <a:spcPct val="100000"/>
              </a:lnSpc>
              <a:spcBef>
                <a:spcPts val="135"/>
              </a:spcBef>
            </a:pPr>
            <a:r>
              <a:rPr spc="15" dirty="0"/>
              <a:t>The </a:t>
            </a:r>
            <a:r>
              <a:rPr spc="10" dirty="0"/>
              <a:t>Chain Matrix Multiplication</a:t>
            </a:r>
            <a:r>
              <a:rPr dirty="0"/>
              <a:t> </a:t>
            </a:r>
            <a:r>
              <a:rPr spc="15" dirty="0"/>
              <a:t>Problem</a:t>
            </a:r>
          </a:p>
        </p:txBody>
      </p:sp>
      <p:grpSp>
        <p:nvGrpSpPr>
          <p:cNvPr id="3" name="object 3"/>
          <p:cNvGrpSpPr/>
          <p:nvPr/>
        </p:nvGrpSpPr>
        <p:grpSpPr>
          <a:xfrm>
            <a:off x="309193" y="309854"/>
            <a:ext cx="4040504" cy="993775"/>
            <a:chOff x="309193" y="309854"/>
            <a:chExt cx="4040504" cy="993775"/>
          </a:xfrm>
        </p:grpSpPr>
        <p:sp>
          <p:nvSpPr>
            <p:cNvPr id="4" name="object 4"/>
            <p:cNvSpPr/>
            <p:nvPr/>
          </p:nvSpPr>
          <p:spPr>
            <a:xfrm>
              <a:off x="309193" y="309854"/>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262685"/>
            </a:solidFill>
          </p:spPr>
          <p:txBody>
            <a:bodyPr wrap="square" lIns="0" tIns="0" rIns="0" bIns="0" rtlCol="0"/>
            <a:lstStyle/>
            <a:p>
              <a:endParaRPr/>
            </a:p>
          </p:txBody>
        </p:sp>
        <p:sp>
          <p:nvSpPr>
            <p:cNvPr id="5" name="object 5"/>
            <p:cNvSpPr/>
            <p:nvPr/>
          </p:nvSpPr>
          <p:spPr>
            <a:xfrm>
              <a:off x="309194" y="499148"/>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1201737"/>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1189037"/>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354088"/>
              <a:ext cx="50749" cy="84764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543421"/>
              <a:ext cx="3989704" cy="709295"/>
            </a:xfrm>
            <a:custGeom>
              <a:avLst/>
              <a:gdLst/>
              <a:ahLst/>
              <a:cxnLst/>
              <a:rect l="l" t="t" r="r" b="b"/>
              <a:pathLst>
                <a:path w="3989704" h="709294">
                  <a:moveTo>
                    <a:pt x="3989654" y="0"/>
                  </a:moveTo>
                  <a:lnTo>
                    <a:pt x="0" y="0"/>
                  </a:lnTo>
                  <a:lnTo>
                    <a:pt x="0" y="658315"/>
                  </a:lnTo>
                  <a:lnTo>
                    <a:pt x="4008" y="678040"/>
                  </a:lnTo>
                  <a:lnTo>
                    <a:pt x="14922" y="694193"/>
                  </a:lnTo>
                  <a:lnTo>
                    <a:pt x="31075" y="705107"/>
                  </a:lnTo>
                  <a:lnTo>
                    <a:pt x="50800" y="709116"/>
                  </a:lnTo>
                  <a:lnTo>
                    <a:pt x="3938854" y="709116"/>
                  </a:lnTo>
                  <a:lnTo>
                    <a:pt x="3958579" y="705107"/>
                  </a:lnTo>
                  <a:lnTo>
                    <a:pt x="3974732" y="694193"/>
                  </a:lnTo>
                  <a:lnTo>
                    <a:pt x="3985646" y="678040"/>
                  </a:lnTo>
                  <a:lnTo>
                    <a:pt x="3989654" y="658315"/>
                  </a:lnTo>
                  <a:lnTo>
                    <a:pt x="3989654" y="0"/>
                  </a:lnTo>
                  <a:close/>
                </a:path>
              </a:pathLst>
            </a:custGeom>
            <a:solidFill>
              <a:srgbClr val="E9E9F2"/>
            </a:solidFill>
          </p:spPr>
          <p:txBody>
            <a:bodyPr wrap="square" lIns="0" tIns="0" rIns="0" bIns="0" rtlCol="0"/>
            <a:lstStyle/>
            <a:p>
              <a:endParaRPr/>
            </a:p>
          </p:txBody>
        </p:sp>
        <p:sp>
          <p:nvSpPr>
            <p:cNvPr id="10" name="object 10"/>
            <p:cNvSpPr/>
            <p:nvPr/>
          </p:nvSpPr>
          <p:spPr>
            <a:xfrm>
              <a:off x="4298848" y="392174"/>
              <a:ext cx="0" cy="828675"/>
            </a:xfrm>
            <a:custGeom>
              <a:avLst/>
              <a:gdLst/>
              <a:ahLst/>
              <a:cxnLst/>
              <a:rect l="l" t="t" r="r" b="b"/>
              <a:pathLst>
                <a:path h="828675">
                  <a:moveTo>
                    <a:pt x="0" y="828612"/>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379474"/>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366774"/>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354074"/>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14" name="object 14"/>
          <p:cNvSpPr/>
          <p:nvPr/>
        </p:nvSpPr>
        <p:spPr>
          <a:xfrm>
            <a:off x="502551" y="1448536"/>
            <a:ext cx="65265" cy="65265"/>
          </a:xfrm>
          <a:prstGeom prst="rect">
            <a:avLst/>
          </a:prstGeom>
          <a:blipFill>
            <a:blip r:embed="rId6" cstate="print"/>
            <a:stretch>
              <a:fillRect/>
            </a:stretch>
          </a:blipFill>
        </p:spPr>
        <p:txBody>
          <a:bodyPr wrap="square" lIns="0" tIns="0" rIns="0" bIns="0" rtlCol="0"/>
          <a:lstStyle/>
          <a:p>
            <a:endParaRPr/>
          </a:p>
        </p:txBody>
      </p:sp>
      <p:grpSp>
        <p:nvGrpSpPr>
          <p:cNvPr id="15" name="object 15"/>
          <p:cNvGrpSpPr/>
          <p:nvPr/>
        </p:nvGrpSpPr>
        <p:grpSpPr>
          <a:xfrm>
            <a:off x="309193" y="1677847"/>
            <a:ext cx="4040504" cy="711835"/>
            <a:chOff x="309193" y="1677847"/>
            <a:chExt cx="4040504" cy="711835"/>
          </a:xfrm>
        </p:grpSpPr>
        <p:sp>
          <p:nvSpPr>
            <p:cNvPr id="16" name="object 16"/>
            <p:cNvSpPr/>
            <p:nvPr/>
          </p:nvSpPr>
          <p:spPr>
            <a:xfrm>
              <a:off x="309193" y="1677847"/>
              <a:ext cx="3989704" cy="186690"/>
            </a:xfrm>
            <a:custGeom>
              <a:avLst/>
              <a:gdLst/>
              <a:ahLst/>
              <a:cxnLst/>
              <a:rect l="l" t="t" r="r" b="b"/>
              <a:pathLst>
                <a:path w="3989704" h="186689">
                  <a:moveTo>
                    <a:pt x="3938854" y="0"/>
                  </a:moveTo>
                  <a:lnTo>
                    <a:pt x="50800" y="0"/>
                  </a:lnTo>
                  <a:lnTo>
                    <a:pt x="31075" y="4008"/>
                  </a:lnTo>
                  <a:lnTo>
                    <a:pt x="14922" y="14922"/>
                  </a:lnTo>
                  <a:lnTo>
                    <a:pt x="4008" y="31075"/>
                  </a:lnTo>
                  <a:lnTo>
                    <a:pt x="0" y="50800"/>
                  </a:lnTo>
                  <a:lnTo>
                    <a:pt x="0" y="186558"/>
                  </a:lnTo>
                  <a:lnTo>
                    <a:pt x="3989654" y="186558"/>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17" name="object 17"/>
            <p:cNvSpPr/>
            <p:nvPr/>
          </p:nvSpPr>
          <p:spPr>
            <a:xfrm>
              <a:off x="309194" y="1851749"/>
              <a:ext cx="3989653" cy="50609"/>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359994" y="2288006"/>
              <a:ext cx="101600" cy="101600"/>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410794" y="2275306"/>
              <a:ext cx="3938802" cy="114300"/>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4298848" y="1722082"/>
              <a:ext cx="50749" cy="565924"/>
            </a:xfrm>
            <a:prstGeom prst="rect">
              <a:avLst/>
            </a:prstGeom>
            <a:blipFill>
              <a:blip r:embed="rId8" cstate="print"/>
              <a:stretch>
                <a:fillRect/>
              </a:stretch>
            </a:blipFill>
          </p:spPr>
          <p:txBody>
            <a:bodyPr wrap="square" lIns="0" tIns="0" rIns="0" bIns="0" rtlCol="0"/>
            <a:lstStyle/>
            <a:p>
              <a:endParaRPr/>
            </a:p>
          </p:txBody>
        </p:sp>
        <p:sp>
          <p:nvSpPr>
            <p:cNvPr id="21" name="object 21"/>
            <p:cNvSpPr/>
            <p:nvPr/>
          </p:nvSpPr>
          <p:spPr>
            <a:xfrm>
              <a:off x="309193" y="1896026"/>
              <a:ext cx="3989704" cy="443230"/>
            </a:xfrm>
            <a:custGeom>
              <a:avLst/>
              <a:gdLst/>
              <a:ahLst/>
              <a:cxnLst/>
              <a:rect l="l" t="t" r="r" b="b"/>
              <a:pathLst>
                <a:path w="3989704" h="443230">
                  <a:moveTo>
                    <a:pt x="3989654" y="0"/>
                  </a:moveTo>
                  <a:lnTo>
                    <a:pt x="0" y="0"/>
                  </a:lnTo>
                  <a:lnTo>
                    <a:pt x="0" y="391980"/>
                  </a:lnTo>
                  <a:lnTo>
                    <a:pt x="4008" y="411705"/>
                  </a:lnTo>
                  <a:lnTo>
                    <a:pt x="14922" y="427858"/>
                  </a:lnTo>
                  <a:lnTo>
                    <a:pt x="31075" y="438772"/>
                  </a:lnTo>
                  <a:lnTo>
                    <a:pt x="50800" y="442780"/>
                  </a:lnTo>
                  <a:lnTo>
                    <a:pt x="3938854" y="442780"/>
                  </a:lnTo>
                  <a:lnTo>
                    <a:pt x="3958579" y="438772"/>
                  </a:lnTo>
                  <a:lnTo>
                    <a:pt x="3974732" y="427858"/>
                  </a:lnTo>
                  <a:lnTo>
                    <a:pt x="3985646" y="411705"/>
                  </a:lnTo>
                  <a:lnTo>
                    <a:pt x="3989654" y="391980"/>
                  </a:lnTo>
                  <a:lnTo>
                    <a:pt x="3989654" y="0"/>
                  </a:lnTo>
                  <a:close/>
                </a:path>
              </a:pathLst>
            </a:custGeom>
            <a:solidFill>
              <a:srgbClr val="E5EFE5"/>
            </a:solidFill>
          </p:spPr>
          <p:txBody>
            <a:bodyPr wrap="square" lIns="0" tIns="0" rIns="0" bIns="0" rtlCol="0"/>
            <a:lstStyle/>
            <a:p>
              <a:endParaRPr/>
            </a:p>
          </p:txBody>
        </p:sp>
        <p:sp>
          <p:nvSpPr>
            <p:cNvPr id="22" name="object 22"/>
            <p:cNvSpPr/>
            <p:nvPr/>
          </p:nvSpPr>
          <p:spPr>
            <a:xfrm>
              <a:off x="4298848" y="1760173"/>
              <a:ext cx="0" cy="547370"/>
            </a:xfrm>
            <a:custGeom>
              <a:avLst/>
              <a:gdLst/>
              <a:ahLst/>
              <a:cxnLst/>
              <a:rect l="l" t="t" r="r" b="b"/>
              <a:pathLst>
                <a:path h="547369">
                  <a:moveTo>
                    <a:pt x="0" y="546883"/>
                  </a:moveTo>
                  <a:lnTo>
                    <a:pt x="0" y="0"/>
                  </a:lnTo>
                </a:path>
              </a:pathLst>
            </a:custGeom>
            <a:ln w="3175">
              <a:solidFill>
                <a:srgbClr val="7F7F7F"/>
              </a:solidFill>
            </a:ln>
          </p:spPr>
          <p:txBody>
            <a:bodyPr wrap="square" lIns="0" tIns="0" rIns="0" bIns="0" rtlCol="0"/>
            <a:lstStyle/>
            <a:p>
              <a:endParaRPr/>
            </a:p>
          </p:txBody>
        </p:sp>
        <p:sp>
          <p:nvSpPr>
            <p:cNvPr id="23" name="object 23"/>
            <p:cNvSpPr/>
            <p:nvPr/>
          </p:nvSpPr>
          <p:spPr>
            <a:xfrm>
              <a:off x="4298848" y="1747473"/>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24" name="object 24"/>
            <p:cNvSpPr/>
            <p:nvPr/>
          </p:nvSpPr>
          <p:spPr>
            <a:xfrm>
              <a:off x="4298848" y="1734773"/>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25" name="object 25"/>
            <p:cNvSpPr/>
            <p:nvPr/>
          </p:nvSpPr>
          <p:spPr>
            <a:xfrm>
              <a:off x="4298848" y="1722073"/>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grpSp>
        <p:nvGrpSpPr>
          <p:cNvPr id="26" name="object 26"/>
          <p:cNvGrpSpPr/>
          <p:nvPr/>
        </p:nvGrpSpPr>
        <p:grpSpPr>
          <a:xfrm>
            <a:off x="309193" y="2674213"/>
            <a:ext cx="4040504" cy="454025"/>
            <a:chOff x="309193" y="2674213"/>
            <a:chExt cx="4040504" cy="454025"/>
          </a:xfrm>
        </p:grpSpPr>
        <p:sp>
          <p:nvSpPr>
            <p:cNvPr id="27" name="object 27"/>
            <p:cNvSpPr/>
            <p:nvPr/>
          </p:nvSpPr>
          <p:spPr>
            <a:xfrm>
              <a:off x="309193" y="2674213"/>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28" name="object 28"/>
            <p:cNvSpPr/>
            <p:nvPr/>
          </p:nvSpPr>
          <p:spPr>
            <a:xfrm>
              <a:off x="309194" y="2840151"/>
              <a:ext cx="3989653" cy="50609"/>
            </a:xfrm>
            <a:prstGeom prst="rect">
              <a:avLst/>
            </a:prstGeom>
            <a:blipFill>
              <a:blip r:embed="rId9" cstate="print"/>
              <a:stretch>
                <a:fillRect/>
              </a:stretch>
            </a:blipFill>
          </p:spPr>
          <p:txBody>
            <a:bodyPr wrap="square" lIns="0" tIns="0" rIns="0" bIns="0" rtlCol="0"/>
            <a:lstStyle/>
            <a:p>
              <a:endParaRPr/>
            </a:p>
          </p:txBody>
        </p:sp>
        <p:sp>
          <p:nvSpPr>
            <p:cNvPr id="29" name="object 29"/>
            <p:cNvSpPr/>
            <p:nvPr/>
          </p:nvSpPr>
          <p:spPr>
            <a:xfrm>
              <a:off x="359994" y="3026524"/>
              <a:ext cx="101600" cy="101600"/>
            </a:xfrm>
            <a:prstGeom prst="rect">
              <a:avLst/>
            </a:prstGeom>
            <a:blipFill>
              <a:blip r:embed="rId10" cstate="print"/>
              <a:stretch>
                <a:fillRect/>
              </a:stretch>
            </a:blipFill>
          </p:spPr>
          <p:txBody>
            <a:bodyPr wrap="square" lIns="0" tIns="0" rIns="0" bIns="0" rtlCol="0"/>
            <a:lstStyle/>
            <a:p>
              <a:endParaRPr/>
            </a:p>
          </p:txBody>
        </p:sp>
        <p:sp>
          <p:nvSpPr>
            <p:cNvPr id="30" name="object 30"/>
            <p:cNvSpPr/>
            <p:nvPr/>
          </p:nvSpPr>
          <p:spPr>
            <a:xfrm>
              <a:off x="410794" y="3013824"/>
              <a:ext cx="3938802" cy="114300"/>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4298848" y="2718447"/>
              <a:ext cx="50749" cy="308076"/>
            </a:xfrm>
            <a:prstGeom prst="rect">
              <a:avLst/>
            </a:prstGeom>
            <a:blipFill>
              <a:blip r:embed="rId11" cstate="print"/>
              <a:stretch>
                <a:fillRect/>
              </a:stretch>
            </a:blipFill>
          </p:spPr>
          <p:txBody>
            <a:bodyPr wrap="square" lIns="0" tIns="0" rIns="0" bIns="0" rtlCol="0"/>
            <a:lstStyle/>
            <a:p>
              <a:endParaRPr/>
            </a:p>
          </p:txBody>
        </p:sp>
        <p:sp>
          <p:nvSpPr>
            <p:cNvPr id="32" name="object 32"/>
            <p:cNvSpPr/>
            <p:nvPr/>
          </p:nvSpPr>
          <p:spPr>
            <a:xfrm>
              <a:off x="309193" y="2884439"/>
              <a:ext cx="3989704" cy="193040"/>
            </a:xfrm>
            <a:custGeom>
              <a:avLst/>
              <a:gdLst/>
              <a:ahLst/>
              <a:cxnLst/>
              <a:rect l="l" t="t" r="r" b="b"/>
              <a:pathLst>
                <a:path w="3989704" h="193039">
                  <a:moveTo>
                    <a:pt x="3989654" y="0"/>
                  </a:moveTo>
                  <a:lnTo>
                    <a:pt x="0" y="0"/>
                  </a:lnTo>
                  <a:lnTo>
                    <a:pt x="0" y="142085"/>
                  </a:lnTo>
                  <a:lnTo>
                    <a:pt x="4008" y="161809"/>
                  </a:lnTo>
                  <a:lnTo>
                    <a:pt x="14922" y="177962"/>
                  </a:lnTo>
                  <a:lnTo>
                    <a:pt x="31075" y="188876"/>
                  </a:lnTo>
                  <a:lnTo>
                    <a:pt x="50800" y="192885"/>
                  </a:lnTo>
                  <a:lnTo>
                    <a:pt x="3938854" y="192885"/>
                  </a:lnTo>
                  <a:lnTo>
                    <a:pt x="3958579" y="188876"/>
                  </a:lnTo>
                  <a:lnTo>
                    <a:pt x="3974732" y="177962"/>
                  </a:lnTo>
                  <a:lnTo>
                    <a:pt x="3985646" y="161809"/>
                  </a:lnTo>
                  <a:lnTo>
                    <a:pt x="3989654" y="142085"/>
                  </a:lnTo>
                  <a:lnTo>
                    <a:pt x="3989654" y="0"/>
                  </a:lnTo>
                  <a:close/>
                </a:path>
              </a:pathLst>
            </a:custGeom>
            <a:solidFill>
              <a:srgbClr val="F8E5E5"/>
            </a:solidFill>
          </p:spPr>
          <p:txBody>
            <a:bodyPr wrap="square" lIns="0" tIns="0" rIns="0" bIns="0" rtlCol="0"/>
            <a:lstStyle/>
            <a:p>
              <a:endParaRPr/>
            </a:p>
          </p:txBody>
        </p:sp>
        <p:sp>
          <p:nvSpPr>
            <p:cNvPr id="33" name="object 33"/>
            <p:cNvSpPr/>
            <p:nvPr/>
          </p:nvSpPr>
          <p:spPr>
            <a:xfrm>
              <a:off x="4298848" y="2756547"/>
              <a:ext cx="0" cy="289560"/>
            </a:xfrm>
            <a:custGeom>
              <a:avLst/>
              <a:gdLst/>
              <a:ahLst/>
              <a:cxnLst/>
              <a:rect l="l" t="t" r="r" b="b"/>
              <a:pathLst>
                <a:path h="289560">
                  <a:moveTo>
                    <a:pt x="0" y="289026"/>
                  </a:moveTo>
                  <a:lnTo>
                    <a:pt x="0" y="0"/>
                  </a:lnTo>
                </a:path>
              </a:pathLst>
            </a:custGeom>
            <a:ln w="3175">
              <a:solidFill>
                <a:srgbClr val="7F7F7F"/>
              </a:solidFill>
            </a:ln>
          </p:spPr>
          <p:txBody>
            <a:bodyPr wrap="square" lIns="0" tIns="0" rIns="0" bIns="0" rtlCol="0"/>
            <a:lstStyle/>
            <a:p>
              <a:endParaRPr/>
            </a:p>
          </p:txBody>
        </p:sp>
        <p:sp>
          <p:nvSpPr>
            <p:cNvPr id="34" name="object 34"/>
            <p:cNvSpPr/>
            <p:nvPr/>
          </p:nvSpPr>
          <p:spPr>
            <a:xfrm>
              <a:off x="4298848" y="2743847"/>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35" name="object 35"/>
            <p:cNvSpPr/>
            <p:nvPr/>
          </p:nvSpPr>
          <p:spPr>
            <a:xfrm>
              <a:off x="4298848" y="2731147"/>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36" name="object 36"/>
            <p:cNvSpPr/>
            <p:nvPr/>
          </p:nvSpPr>
          <p:spPr>
            <a:xfrm>
              <a:off x="4298848" y="2718447"/>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37" name="object 37"/>
          <p:cNvSpPr txBox="1"/>
          <p:nvPr/>
        </p:nvSpPr>
        <p:spPr>
          <a:xfrm>
            <a:off x="207594" y="253794"/>
            <a:ext cx="4307256" cy="3079115"/>
          </a:xfrm>
          <a:prstGeom prst="rect">
            <a:avLst/>
          </a:prstGeom>
        </p:spPr>
        <p:txBody>
          <a:bodyPr vert="horz" wrap="square" lIns="0" tIns="58419" rIns="0" bIns="0" rtlCol="0">
            <a:spAutoFit/>
          </a:bodyPr>
          <a:lstStyle/>
          <a:p>
            <a:pPr marL="152400">
              <a:lnSpc>
                <a:spcPct val="100000"/>
              </a:lnSpc>
              <a:spcBef>
                <a:spcPts val="459"/>
              </a:spcBef>
            </a:pPr>
            <a:r>
              <a:rPr sz="1100" spc="-10" dirty="0">
                <a:solidFill>
                  <a:srgbClr val="FFFFFF"/>
                </a:solidFill>
                <a:latin typeface="LM Sans 10"/>
                <a:cs typeface="LM Sans 10"/>
              </a:rPr>
              <a:t>Definition (Chain </a:t>
            </a:r>
            <a:r>
              <a:rPr sz="1100" spc="-5" dirty="0">
                <a:solidFill>
                  <a:srgbClr val="FFFFFF"/>
                </a:solidFill>
                <a:latin typeface="LM Sans 10"/>
                <a:cs typeface="LM Sans 10"/>
              </a:rPr>
              <a:t>matrix multiplication</a:t>
            </a:r>
            <a:r>
              <a:rPr sz="1100" dirty="0">
                <a:solidFill>
                  <a:srgbClr val="FFFFFF"/>
                </a:solidFill>
                <a:latin typeface="LM Sans 10"/>
                <a:cs typeface="LM Sans 10"/>
              </a:rPr>
              <a:t> </a:t>
            </a:r>
            <a:r>
              <a:rPr sz="1100" spc="-10" dirty="0">
                <a:solidFill>
                  <a:srgbClr val="FFFFFF"/>
                </a:solidFill>
                <a:latin typeface="LM Sans 10"/>
                <a:cs typeface="LM Sans 10"/>
              </a:rPr>
              <a:t>problem)</a:t>
            </a:r>
            <a:endParaRPr sz="1100" dirty="0">
              <a:latin typeface="LM Sans 10"/>
              <a:cs typeface="LM Sans 10"/>
            </a:endParaRPr>
          </a:p>
          <a:p>
            <a:pPr marL="151765" marR="132080">
              <a:lnSpc>
                <a:spcPct val="102600"/>
              </a:lnSpc>
              <a:spcBef>
                <a:spcPts val="320"/>
              </a:spcBef>
            </a:pPr>
            <a:r>
              <a:rPr sz="1100" spc="-10" dirty="0">
                <a:latin typeface="LM Sans 10"/>
                <a:cs typeface="LM Sans 10"/>
              </a:rPr>
              <a:t>Given</a:t>
            </a:r>
            <a:r>
              <a:rPr sz="1100" spc="-5" dirty="0">
                <a:latin typeface="LM Sans 10"/>
                <a:cs typeface="LM Sans 10"/>
              </a:rPr>
              <a:t> dimensions</a:t>
            </a:r>
            <a:r>
              <a:rPr sz="1100" dirty="0">
                <a:latin typeface="LM Sans 10"/>
                <a:cs typeface="LM Sans 10"/>
              </a:rPr>
              <a:t> </a:t>
            </a:r>
            <a:r>
              <a:rPr sz="1100" i="1" spc="10" dirty="0">
                <a:latin typeface="LM Sans 10"/>
                <a:cs typeface="LM Sans 10"/>
              </a:rPr>
              <a:t>p</a:t>
            </a:r>
            <a:r>
              <a:rPr sz="1200" spc="15" baseline="-10416" dirty="0">
                <a:latin typeface="LM Sans 8"/>
                <a:cs typeface="LM Sans 8"/>
              </a:rPr>
              <a:t>0</a:t>
            </a:r>
            <a:r>
              <a:rPr sz="1100" i="1" spc="10" dirty="0">
                <a:latin typeface="LM Roman Dunhill 10"/>
                <a:cs typeface="LM Roman Dunhill 10"/>
              </a:rPr>
              <a:t>,</a:t>
            </a:r>
            <a:r>
              <a:rPr sz="1100" i="1" spc="-185" dirty="0">
                <a:latin typeface="LM Roman Dunhill 10"/>
                <a:cs typeface="LM Roman Dunhill 10"/>
              </a:rPr>
              <a:t> </a:t>
            </a:r>
            <a:r>
              <a:rPr sz="1100" i="1" spc="10" dirty="0">
                <a:latin typeface="LM Sans 10"/>
                <a:cs typeface="LM Sans 10"/>
              </a:rPr>
              <a:t>p</a:t>
            </a:r>
            <a:r>
              <a:rPr sz="1200" spc="15" baseline="-10416" dirty="0">
                <a:latin typeface="LM Sans 8"/>
                <a:cs typeface="LM Sans 8"/>
              </a:rPr>
              <a:t>1</a:t>
            </a:r>
            <a:r>
              <a:rPr sz="1100" i="1" spc="10"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15" dirty="0">
                <a:latin typeface="LM Sans 10"/>
                <a:cs typeface="LM Sans 10"/>
              </a:rPr>
              <a:t>p</a:t>
            </a:r>
            <a:r>
              <a:rPr sz="1200" i="1" spc="22" baseline="-10416" dirty="0">
                <a:latin typeface="LM Sans 8"/>
                <a:cs typeface="LM Sans 8"/>
              </a:rPr>
              <a:t>n</a:t>
            </a:r>
            <a:r>
              <a:rPr sz="1100" spc="15" dirty="0">
                <a:latin typeface="LM Sans 10"/>
                <a:cs typeface="LM Sans 10"/>
              </a:rPr>
              <a:t>,</a:t>
            </a:r>
            <a:r>
              <a:rPr sz="1100" spc="-5" dirty="0">
                <a:latin typeface="LM Sans 10"/>
                <a:cs typeface="LM Sans 10"/>
              </a:rPr>
              <a:t> </a:t>
            </a:r>
            <a:r>
              <a:rPr sz="1100" spc="-10" dirty="0">
                <a:latin typeface="LM Sans 10"/>
                <a:cs typeface="LM Sans 10"/>
              </a:rPr>
              <a:t>corresponding</a:t>
            </a:r>
            <a:r>
              <a:rPr sz="1100" spc="-5" dirty="0">
                <a:latin typeface="LM Sans 10"/>
                <a:cs typeface="LM Sans 10"/>
              </a:rPr>
              <a:t> to matrix sequence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spc="-20" dirty="0">
                <a:latin typeface="LM Sans 10"/>
                <a:cs typeface="LM Sans 10"/>
              </a:rPr>
              <a:t> </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spc="-2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Roman Dunhill 10"/>
                <a:cs typeface="LM Roman Dunhill 10"/>
              </a:rPr>
              <a:t>.</a:t>
            </a:r>
            <a:r>
              <a:rPr sz="1100" spc="-5" dirty="0">
                <a:latin typeface="LM Sans 10"/>
                <a:cs typeface="LM Sans 10"/>
              </a:rPr>
              <a:t>,</a:t>
            </a:r>
            <a:r>
              <a:rPr sz="1100" spc="-20" dirty="0">
                <a:latin typeface="LM Sans 10"/>
                <a:cs typeface="LM Sans 10"/>
              </a:rPr>
              <a:t> </a:t>
            </a:r>
            <a:r>
              <a:rPr sz="1100" i="1" spc="-5" dirty="0">
                <a:latin typeface="LM Sans 10"/>
                <a:cs typeface="LM Sans 10"/>
              </a:rPr>
              <a:t>A</a:t>
            </a:r>
            <a:r>
              <a:rPr sz="1200" i="1" spc="-7" baseline="-10416" dirty="0">
                <a:latin typeface="LM Sans 8"/>
                <a:cs typeface="LM Sans 8"/>
              </a:rPr>
              <a:t>n</a:t>
            </a:r>
            <a:r>
              <a:rPr sz="1200" i="1" spc="187" baseline="-10416" dirty="0">
                <a:latin typeface="LM Sans 8"/>
                <a:cs typeface="LM Sans 8"/>
              </a:rPr>
              <a:t> </a:t>
            </a:r>
            <a:r>
              <a:rPr sz="1100" spc="-5" dirty="0">
                <a:latin typeface="LM Sans 10"/>
                <a:cs typeface="LM Sans 10"/>
              </a:rPr>
              <a:t>in</a:t>
            </a:r>
            <a:r>
              <a:rPr sz="1100" spc="-15" dirty="0">
                <a:latin typeface="LM Sans 10"/>
                <a:cs typeface="LM Sans 10"/>
              </a:rPr>
              <a:t> </a:t>
            </a:r>
            <a:r>
              <a:rPr sz="1100" spc="-5" dirty="0">
                <a:latin typeface="LM Sans 10"/>
                <a:cs typeface="LM Sans 10"/>
              </a:rPr>
              <a:t>which</a:t>
            </a:r>
            <a:r>
              <a:rPr sz="1100" spc="-20" dirty="0">
                <a:latin typeface="LM Sans 10"/>
                <a:cs typeface="LM Sans 10"/>
              </a:rPr>
              <a:t> </a:t>
            </a:r>
            <a:r>
              <a:rPr sz="1100" i="1" spc="-5" dirty="0">
                <a:latin typeface="LM Sans 10"/>
                <a:cs typeface="LM Sans 10"/>
              </a:rPr>
              <a:t>A</a:t>
            </a:r>
            <a:r>
              <a:rPr sz="1200" i="1" spc="-7" baseline="-10416" dirty="0">
                <a:latin typeface="LM Sans 8"/>
                <a:cs typeface="LM Sans 8"/>
              </a:rPr>
              <a:t>i</a:t>
            </a:r>
            <a:r>
              <a:rPr sz="1200" i="1" spc="292" baseline="-10416" dirty="0">
                <a:latin typeface="LM Sans 8"/>
                <a:cs typeface="LM Sans 8"/>
              </a:rPr>
              <a:t> </a:t>
            </a:r>
            <a:r>
              <a:rPr sz="1100" spc="-5" dirty="0">
                <a:latin typeface="LM Sans 10"/>
                <a:cs typeface="LM Sans 10"/>
              </a:rPr>
              <a:t>has</a:t>
            </a:r>
            <a:r>
              <a:rPr sz="1100" spc="-15" dirty="0">
                <a:latin typeface="LM Sans 10"/>
                <a:cs typeface="LM Sans 10"/>
              </a:rPr>
              <a:t> </a:t>
            </a:r>
            <a:r>
              <a:rPr sz="1100" spc="-5" dirty="0">
                <a:latin typeface="LM Sans 10"/>
                <a:cs typeface="LM Sans 10"/>
              </a:rPr>
              <a:t>dimension</a:t>
            </a:r>
            <a:r>
              <a:rPr sz="1100" spc="-20" dirty="0">
                <a:latin typeface="LM Sans 10"/>
                <a:cs typeface="LM Sans 10"/>
              </a:rPr>
              <a:t> </a:t>
            </a:r>
            <a:r>
              <a:rPr sz="1100" i="1" spc="60" dirty="0">
                <a:latin typeface="LM Sans 10"/>
                <a:cs typeface="LM Sans 10"/>
              </a:rPr>
              <a:t>p</a:t>
            </a:r>
            <a:r>
              <a:rPr sz="1200" i="1" spc="89" baseline="-10416" dirty="0">
                <a:latin typeface="LM Sans 8"/>
                <a:cs typeface="LM Sans 8"/>
              </a:rPr>
              <a:t>i</a:t>
            </a:r>
            <a:r>
              <a:rPr sz="1200" i="1" spc="89" baseline="-10416" dirty="0">
                <a:latin typeface="Arial"/>
                <a:cs typeface="Arial"/>
              </a:rPr>
              <a:t>−</a:t>
            </a:r>
            <a:r>
              <a:rPr sz="1200" spc="89" baseline="-10416" dirty="0">
                <a:latin typeface="LM Sans 8"/>
                <a:cs typeface="LM Sans 8"/>
              </a:rPr>
              <a:t>1</a:t>
            </a:r>
            <a:r>
              <a:rPr sz="1200" spc="-22" baseline="-10416" dirty="0">
                <a:latin typeface="LM Sans 8"/>
                <a:cs typeface="LM Sans 8"/>
              </a:rPr>
              <a:t> </a:t>
            </a:r>
            <a:r>
              <a:rPr sz="1100" i="1" spc="15" dirty="0">
                <a:latin typeface="DejaVu Sans Condensed"/>
                <a:cs typeface="DejaVu Sans Condensed"/>
              </a:rPr>
              <a:t>×</a:t>
            </a:r>
            <a:r>
              <a:rPr sz="1100" i="1" spc="-100" dirty="0">
                <a:latin typeface="DejaVu Sans Condensed"/>
                <a:cs typeface="DejaVu Sans Condensed"/>
              </a:rPr>
              <a:t> </a:t>
            </a:r>
            <a:r>
              <a:rPr sz="1100" i="1" spc="-5" dirty="0">
                <a:latin typeface="LM Sans 10"/>
                <a:cs typeface="LM Sans 10"/>
              </a:rPr>
              <a:t>p</a:t>
            </a:r>
            <a:r>
              <a:rPr sz="1200" i="1" spc="-7" baseline="-10416" dirty="0">
                <a:latin typeface="LM Sans 8"/>
                <a:cs typeface="LM Sans 8"/>
              </a:rPr>
              <a:t>i</a:t>
            </a:r>
            <a:r>
              <a:rPr sz="1200" i="1" spc="-232" baseline="-10416" dirty="0">
                <a:latin typeface="LM Sans 8"/>
                <a:cs typeface="LM Sans 8"/>
              </a:rPr>
              <a:t> </a:t>
            </a:r>
            <a:r>
              <a:rPr sz="1100" spc="-5" dirty="0">
                <a:latin typeface="LM Sans 10"/>
                <a:cs typeface="LM Sans 10"/>
              </a:rPr>
              <a:t>,</a:t>
            </a:r>
            <a:r>
              <a:rPr sz="1100" spc="-20" dirty="0">
                <a:latin typeface="LM Sans 10"/>
                <a:cs typeface="LM Sans 10"/>
              </a:rPr>
              <a:t> </a:t>
            </a:r>
            <a:r>
              <a:rPr sz="1100" spc="-5" dirty="0">
                <a:latin typeface="LM Sans 10"/>
                <a:cs typeface="LM Sans 10"/>
              </a:rPr>
              <a:t>determine</a:t>
            </a:r>
            <a:r>
              <a:rPr sz="1100" spc="-15" dirty="0">
                <a:latin typeface="LM Sans 10"/>
                <a:cs typeface="LM Sans 10"/>
              </a:rPr>
              <a:t> </a:t>
            </a:r>
            <a:r>
              <a:rPr sz="1100" spc="-5" dirty="0">
                <a:latin typeface="LM Sans 10"/>
                <a:cs typeface="LM Sans 10"/>
              </a:rPr>
              <a:t>the  </a:t>
            </a:r>
            <a:r>
              <a:rPr sz="1100" spc="-5" dirty="0">
                <a:solidFill>
                  <a:srgbClr val="FF0000"/>
                </a:solidFill>
                <a:latin typeface="LM Sans 10"/>
                <a:cs typeface="LM Sans 10"/>
              </a:rPr>
              <a:t>“multiplication sequence”</a:t>
            </a:r>
            <a:r>
              <a:rPr lang="en-US" sz="1100" spc="-5" dirty="0">
                <a:solidFill>
                  <a:srgbClr val="FF0000"/>
                </a:solidFill>
                <a:latin typeface="LM Sans 10"/>
                <a:cs typeface="LM Sans 10"/>
              </a:rPr>
              <a:t> </a:t>
            </a:r>
            <a:r>
              <a:rPr sz="1100" spc="-5" dirty="0">
                <a:latin typeface="LM Sans 10"/>
                <a:cs typeface="LM Sans 10"/>
              </a:rPr>
              <a:t>that</a:t>
            </a:r>
            <a:r>
              <a:rPr lang="en-US" sz="1100" spc="-5" dirty="0">
                <a:latin typeface="LM Sans 10"/>
                <a:cs typeface="LM Sans 10"/>
              </a:rPr>
              <a:t> </a:t>
            </a:r>
            <a:r>
              <a:rPr sz="1100" spc="-5" dirty="0">
                <a:solidFill>
                  <a:srgbClr val="0000FF"/>
                </a:solidFill>
                <a:latin typeface="LM Sans 10"/>
                <a:cs typeface="LM Sans 10"/>
              </a:rPr>
              <a:t>minimizes</a:t>
            </a:r>
            <a:r>
              <a:rPr lang="en-US" sz="1100" spc="-5" dirty="0">
                <a:solidFill>
                  <a:srgbClr val="0000FF"/>
                </a:solidFill>
                <a:latin typeface="LM Sans 10"/>
                <a:cs typeface="LM Sans 10"/>
              </a:rPr>
              <a:t> </a:t>
            </a:r>
            <a:r>
              <a:rPr sz="1100" spc="-5" dirty="0">
                <a:latin typeface="LM Sans 10"/>
                <a:cs typeface="LM Sans 10"/>
              </a:rPr>
              <a:t>the number </a:t>
            </a:r>
            <a:r>
              <a:rPr sz="1100" spc="-10" dirty="0">
                <a:latin typeface="LM Sans 10"/>
                <a:cs typeface="LM Sans 10"/>
              </a:rPr>
              <a:t>of</a:t>
            </a:r>
            <a:r>
              <a:rPr lang="en-US" sz="1100" spc="-10" dirty="0">
                <a:latin typeface="LM Sans 10"/>
                <a:cs typeface="LM Sans 10"/>
              </a:rPr>
              <a:t> </a:t>
            </a:r>
            <a:r>
              <a:rPr sz="1100" spc="-10" dirty="0">
                <a:solidFill>
                  <a:srgbClr val="FF0000"/>
                </a:solidFill>
                <a:latin typeface="LM Sans 10"/>
                <a:cs typeface="LM Sans 10"/>
              </a:rPr>
              <a:t>scalar  </a:t>
            </a:r>
            <a:r>
              <a:rPr sz="1100" spc="-5" dirty="0">
                <a:solidFill>
                  <a:srgbClr val="FF0000"/>
                </a:solidFill>
                <a:latin typeface="LM Sans 10"/>
                <a:cs typeface="LM Sans 10"/>
              </a:rPr>
              <a:t>multiplications</a:t>
            </a:r>
            <a:r>
              <a:rPr lang="en-US" sz="1100" spc="-5" dirty="0">
                <a:solidFill>
                  <a:srgbClr val="FF0000"/>
                </a:solidFill>
                <a:latin typeface="LM Sans 10"/>
                <a:cs typeface="LM Sans 10"/>
              </a:rPr>
              <a:t> </a:t>
            </a:r>
            <a:r>
              <a:rPr sz="1100" spc="-5" dirty="0">
                <a:latin typeface="LM Sans 10"/>
                <a:cs typeface="LM Sans 10"/>
              </a:rPr>
              <a:t>in computing</a:t>
            </a:r>
            <a:r>
              <a:rPr sz="1100" spc="-70" dirty="0">
                <a:latin typeface="LM Sans 10"/>
                <a:cs typeface="LM Sans 10"/>
              </a:rPr>
              <a:t> </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 </a:t>
            </a:r>
            <a:r>
              <a:rPr sz="1100" i="1" spc="-15" dirty="0">
                <a:latin typeface="DejaVu Sans Condensed"/>
                <a:cs typeface="DejaVu Sans Condensed"/>
              </a:rPr>
              <a:t>· · · </a:t>
            </a:r>
            <a:r>
              <a:rPr sz="1100" i="1" spc="15" dirty="0">
                <a:latin typeface="LM Sans 10"/>
                <a:cs typeface="LM Sans 10"/>
              </a:rPr>
              <a:t>A</a:t>
            </a:r>
            <a:r>
              <a:rPr sz="1200" i="1" spc="22" baseline="-10416" dirty="0">
                <a:latin typeface="LM Sans 8"/>
                <a:cs typeface="LM Sans 8"/>
              </a:rPr>
              <a:t>n</a:t>
            </a:r>
            <a:r>
              <a:rPr sz="1100" spc="15" dirty="0">
                <a:latin typeface="LM Sans 10"/>
                <a:cs typeface="LM Sans 10"/>
              </a:rPr>
              <a:t>.</a:t>
            </a:r>
            <a:endParaRPr sz="1100" dirty="0">
              <a:latin typeface="LM Sans 10"/>
              <a:cs typeface="LM Sans 10"/>
            </a:endParaRPr>
          </a:p>
          <a:p>
            <a:pPr marL="429259">
              <a:lnSpc>
                <a:spcPct val="100000"/>
              </a:lnSpc>
              <a:spcBef>
                <a:spcPts val="1320"/>
              </a:spcBef>
            </a:pPr>
            <a:r>
              <a:rPr sz="1100" spc="-5" dirty="0">
                <a:latin typeface="LM Sans 10"/>
                <a:cs typeface="LM Sans 10"/>
              </a:rPr>
              <a:t>i.e.,, determine </a:t>
            </a:r>
            <a:r>
              <a:rPr sz="1100" spc="-20" dirty="0">
                <a:latin typeface="LM Sans 10"/>
                <a:cs typeface="LM Sans 10"/>
              </a:rPr>
              <a:t>how </a:t>
            </a:r>
            <a:r>
              <a:rPr sz="1100" spc="-5" dirty="0">
                <a:latin typeface="LM Sans 10"/>
                <a:cs typeface="LM Sans 10"/>
              </a:rPr>
              <a:t>to </a:t>
            </a:r>
            <a:r>
              <a:rPr sz="1100" spc="-10" dirty="0">
                <a:latin typeface="LM Sans 10"/>
                <a:cs typeface="LM Sans 10"/>
              </a:rPr>
              <a:t>parenthesize </a:t>
            </a:r>
            <a:r>
              <a:rPr sz="1100" spc="-5" dirty="0">
                <a:latin typeface="LM Sans 10"/>
                <a:cs typeface="LM Sans 10"/>
              </a:rPr>
              <a:t>the</a:t>
            </a:r>
            <a:r>
              <a:rPr sz="1100" spc="5" dirty="0">
                <a:latin typeface="LM Sans 10"/>
                <a:cs typeface="LM Sans 10"/>
              </a:rPr>
              <a:t> </a:t>
            </a:r>
            <a:r>
              <a:rPr sz="1100" spc="-5" dirty="0">
                <a:latin typeface="LM Sans 10"/>
                <a:cs typeface="LM Sans 10"/>
              </a:rPr>
              <a:t>multiplications.</a:t>
            </a:r>
            <a:endParaRPr sz="1100" dirty="0">
              <a:latin typeface="LM Sans 10"/>
              <a:cs typeface="LM Sans 10"/>
            </a:endParaRPr>
          </a:p>
          <a:p>
            <a:pPr>
              <a:lnSpc>
                <a:spcPct val="100000"/>
              </a:lnSpc>
              <a:spcBef>
                <a:spcPts val="60"/>
              </a:spcBef>
            </a:pPr>
            <a:endParaRPr sz="650" dirty="0">
              <a:latin typeface="LM Sans 10"/>
              <a:cs typeface="LM Sans 10"/>
            </a:endParaRPr>
          </a:p>
          <a:p>
            <a:pPr marL="151765">
              <a:lnSpc>
                <a:spcPct val="100000"/>
              </a:lnSpc>
            </a:pPr>
            <a:r>
              <a:rPr sz="1100" spc="-10" dirty="0">
                <a:solidFill>
                  <a:srgbClr val="FFFFFF"/>
                </a:solidFill>
                <a:latin typeface="LM Sans 10"/>
                <a:cs typeface="LM Sans 10"/>
              </a:rPr>
              <a:t>Example</a:t>
            </a:r>
            <a:endParaRPr sz="1100" dirty="0">
              <a:latin typeface="LM Sans 10"/>
              <a:cs typeface="LM Sans 10"/>
            </a:endParaRPr>
          </a:p>
          <a:p>
            <a:pPr marL="187960">
              <a:lnSpc>
                <a:spcPct val="100000"/>
              </a:lnSpc>
              <a:spcBef>
                <a:spcPts val="550"/>
              </a:spcBef>
              <a:tabLst>
                <a:tab pos="924560" algn="l"/>
              </a:tabLst>
            </a:pP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	</a:t>
            </a:r>
            <a:r>
              <a:rPr sz="1100" spc="-10" dirty="0">
                <a:latin typeface="LM Sans 10"/>
                <a:cs typeface="LM Sans 10"/>
              </a:rPr>
              <a:t>=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 </a:t>
            </a:r>
            <a:r>
              <a:rPr sz="1100" spc="-10"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3</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 </a:t>
            </a:r>
            <a:r>
              <a:rPr sz="1100" spc="-10" dirty="0">
                <a:latin typeface="LM Sans 10"/>
                <a:cs typeface="LM Sans 10"/>
              </a:rPr>
              <a:t>=</a:t>
            </a:r>
            <a:r>
              <a:rPr sz="1100" dirty="0">
                <a:latin typeface="LM Sans 10"/>
                <a:cs typeface="LM Sans 10"/>
              </a:rPr>
              <a:t>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a:t>
            </a:r>
            <a:endParaRPr sz="1100" dirty="0">
              <a:latin typeface="LM Sans 10"/>
              <a:cs typeface="LM Sans 10"/>
            </a:endParaRPr>
          </a:p>
          <a:p>
            <a:pPr marL="924560">
              <a:lnSpc>
                <a:spcPct val="100000"/>
              </a:lnSpc>
              <a:spcBef>
                <a:spcPts val="334"/>
              </a:spcBef>
            </a:pPr>
            <a:r>
              <a:rPr sz="1100" spc="-10"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i="1" spc="5" dirty="0">
                <a:latin typeface="LM Sans 10"/>
                <a:cs typeface="LM Sans 10"/>
              </a:rPr>
              <a:t>A</a:t>
            </a:r>
            <a:r>
              <a:rPr sz="1200" spc="7" baseline="-10416" dirty="0">
                <a:latin typeface="LM Sans 8"/>
                <a:cs typeface="LM Sans 8"/>
              </a:rPr>
              <a:t>2</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3</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4</a:t>
            </a:r>
            <a:r>
              <a:rPr sz="1100" spc="5" dirty="0">
                <a:latin typeface="LM Sans 10"/>
                <a:cs typeface="LM Sans 10"/>
              </a:rPr>
              <a:t>) </a:t>
            </a:r>
            <a:r>
              <a:rPr sz="1100" spc="-10" dirty="0">
                <a:latin typeface="LM Sans 10"/>
                <a:cs typeface="LM Sans 10"/>
              </a:rPr>
              <a:t>=</a:t>
            </a:r>
            <a:r>
              <a:rPr sz="1100" spc="-204" dirty="0">
                <a:latin typeface="LM Sans 10"/>
                <a:cs typeface="LM Sans 10"/>
              </a:rPr>
              <a:t> </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2</a:t>
            </a:r>
            <a:r>
              <a:rPr sz="1100" i="1" spc="5" dirty="0">
                <a:latin typeface="LM Sans 10"/>
                <a:cs typeface="LM Sans 10"/>
              </a:rPr>
              <a:t>A</a:t>
            </a:r>
            <a:r>
              <a:rPr sz="1200" spc="7" baseline="-10416" dirty="0">
                <a:latin typeface="LM Sans 8"/>
                <a:cs typeface="LM Sans 8"/>
              </a:rPr>
              <a:t>3</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4</a:t>
            </a:r>
            <a:r>
              <a:rPr sz="1100" spc="5" dirty="0">
                <a:latin typeface="LM Sans 10"/>
                <a:cs typeface="LM Sans 10"/>
              </a:rPr>
              <a:t>)</a:t>
            </a:r>
            <a:endParaRPr sz="1100" dirty="0">
              <a:latin typeface="LM Sans 10"/>
              <a:cs typeface="LM Sans 10"/>
            </a:endParaRPr>
          </a:p>
          <a:p>
            <a:pPr marL="151765" marR="2208530">
              <a:lnSpc>
                <a:spcPct val="151900"/>
              </a:lnSpc>
              <a:spcBef>
                <a:spcPts val="310"/>
              </a:spcBef>
            </a:pPr>
            <a:r>
              <a:rPr sz="1100" spc="-5" dirty="0">
                <a:solidFill>
                  <a:srgbClr val="0000FF"/>
                </a:solidFill>
                <a:latin typeface="LM Sans 10"/>
                <a:cs typeface="LM Sans 10"/>
              </a:rPr>
              <a:t>Exhaustive </a:t>
            </a:r>
            <a:r>
              <a:rPr sz="1100" spc="-10" dirty="0">
                <a:solidFill>
                  <a:srgbClr val="0000FF"/>
                </a:solidFill>
                <a:latin typeface="LM Sans 10"/>
                <a:cs typeface="LM Sans 10"/>
              </a:rPr>
              <a:t>search</a:t>
            </a:r>
            <a:r>
              <a:rPr sz="1100" spc="-10" dirty="0">
                <a:latin typeface="LM Sans 10"/>
                <a:cs typeface="LM Sans 10"/>
              </a:rPr>
              <a:t>: </a:t>
            </a:r>
            <a:r>
              <a:rPr sz="1100" spc="5" dirty="0">
                <a:latin typeface="LM Sans 10"/>
                <a:cs typeface="LM Sans 10"/>
              </a:rPr>
              <a:t>Ω(4</a:t>
            </a:r>
            <a:r>
              <a:rPr sz="1200" i="1" spc="7" baseline="27777" dirty="0">
                <a:latin typeface="LM Sans 8"/>
                <a:cs typeface="LM Sans 8"/>
              </a:rPr>
              <a:t>n</a:t>
            </a:r>
            <a:r>
              <a:rPr sz="1100" i="1" spc="5" dirty="0">
                <a:latin typeface="LM Roman Dunhill 10"/>
                <a:cs typeface="LM Roman Dunhill 10"/>
              </a:rPr>
              <a:t>/</a:t>
            </a:r>
            <a:r>
              <a:rPr sz="1100" i="1" spc="5" dirty="0">
                <a:latin typeface="LM Sans 10"/>
                <a:cs typeface="LM Sans 10"/>
              </a:rPr>
              <a:t>n</a:t>
            </a:r>
            <a:r>
              <a:rPr sz="1200" spc="7" baseline="27777" dirty="0">
                <a:latin typeface="LM Sans 8"/>
                <a:cs typeface="LM Sans 8"/>
              </a:rPr>
              <a:t>3</a:t>
            </a:r>
            <a:r>
              <a:rPr sz="1200" i="1" spc="7" baseline="27777" dirty="0">
                <a:latin typeface="LM Sans 8"/>
                <a:cs typeface="LM Sans 8"/>
              </a:rPr>
              <a:t>/</a:t>
            </a:r>
            <a:r>
              <a:rPr sz="1200" spc="7" baseline="27777" dirty="0">
                <a:latin typeface="LM Sans 8"/>
                <a:cs typeface="LM Sans 8"/>
              </a:rPr>
              <a:t>2</a:t>
            </a:r>
            <a:r>
              <a:rPr sz="1100" spc="5" dirty="0">
                <a:latin typeface="LM Sans 10"/>
                <a:cs typeface="LM Sans 10"/>
              </a:rPr>
              <a:t>).  </a:t>
            </a:r>
            <a:r>
              <a:rPr sz="1100" spc="-5" dirty="0">
                <a:solidFill>
                  <a:srgbClr val="FFFFFF"/>
                </a:solidFill>
                <a:latin typeface="LM Sans 10"/>
                <a:cs typeface="LM Sans 10"/>
              </a:rPr>
              <a:t>Question</a:t>
            </a:r>
            <a:endParaRPr sz="1100" dirty="0">
              <a:latin typeface="LM Sans 10"/>
              <a:cs typeface="LM Sans 10"/>
            </a:endParaRPr>
          </a:p>
          <a:p>
            <a:pPr marL="151765">
              <a:lnSpc>
                <a:spcPct val="100000"/>
              </a:lnSpc>
              <a:spcBef>
                <a:spcPts val="234"/>
              </a:spcBef>
            </a:pPr>
            <a:r>
              <a:rPr sz="1100" spc="-5" dirty="0">
                <a:latin typeface="LM Sans 10"/>
                <a:cs typeface="LM Sans 10"/>
              </a:rPr>
              <a:t>Is there </a:t>
            </a:r>
            <a:r>
              <a:rPr sz="1100" spc="-10" dirty="0">
                <a:latin typeface="LM Sans 10"/>
                <a:cs typeface="LM Sans 10"/>
              </a:rPr>
              <a:t>a </a:t>
            </a:r>
            <a:r>
              <a:rPr sz="1100" dirty="0">
                <a:latin typeface="LM Sans 10"/>
                <a:cs typeface="LM Sans 10"/>
              </a:rPr>
              <a:t>better</a:t>
            </a:r>
            <a:r>
              <a:rPr sz="1100" spc="-5" dirty="0">
                <a:latin typeface="LM Sans 10"/>
                <a:cs typeface="LM Sans 10"/>
              </a:rPr>
              <a:t> </a:t>
            </a:r>
            <a:r>
              <a:rPr sz="1100" spc="-10" dirty="0">
                <a:latin typeface="LM Sans 10"/>
                <a:cs typeface="LM Sans 10"/>
              </a:rPr>
              <a:t>approach?</a:t>
            </a:r>
            <a:endParaRPr sz="1100" dirty="0">
              <a:latin typeface="LM Sans 10"/>
              <a:cs typeface="LM Sans 10"/>
            </a:endParaRPr>
          </a:p>
          <a:p>
            <a:pPr marL="151765">
              <a:lnSpc>
                <a:spcPct val="100000"/>
              </a:lnSpc>
              <a:spcBef>
                <a:spcPts val="935"/>
              </a:spcBef>
            </a:pPr>
            <a:r>
              <a:rPr sz="1100" spc="-35" dirty="0">
                <a:latin typeface="LM Sans 10"/>
                <a:cs typeface="LM Sans 10"/>
              </a:rPr>
              <a:t>Yes </a:t>
            </a:r>
            <a:r>
              <a:rPr sz="1100" spc="-5" dirty="0">
                <a:latin typeface="LM Sans 10"/>
                <a:cs typeface="LM Sans 10"/>
              </a:rPr>
              <a:t>–</a:t>
            </a:r>
            <a:r>
              <a:rPr sz="1100" spc="20" dirty="0">
                <a:latin typeface="LM Sans 10"/>
                <a:cs typeface="LM Sans 10"/>
              </a:rPr>
              <a:t> </a:t>
            </a:r>
            <a:r>
              <a:rPr sz="1100" spc="-10" dirty="0">
                <a:latin typeface="LM Sans 10"/>
                <a:cs typeface="LM Sans 10"/>
              </a:rPr>
              <a:t>DP</a:t>
            </a:r>
            <a:endParaRPr sz="1100" dirty="0">
              <a:latin typeface="LM Sans 10"/>
              <a:cs typeface="LM Sans 10"/>
            </a:endParaRPr>
          </a:p>
        </p:txBody>
      </p:sp>
      <p:grpSp>
        <p:nvGrpSpPr>
          <p:cNvPr id="38" name="object 38"/>
          <p:cNvGrpSpPr/>
          <p:nvPr/>
        </p:nvGrpSpPr>
        <p:grpSpPr>
          <a:xfrm>
            <a:off x="0" y="3342919"/>
            <a:ext cx="4608195" cy="113664"/>
            <a:chOff x="0" y="3342919"/>
            <a:chExt cx="4608195" cy="113664"/>
          </a:xfrm>
        </p:grpSpPr>
        <p:sp>
          <p:nvSpPr>
            <p:cNvPr id="39" name="object 39"/>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40" name="object 4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41" name="object 41"/>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43" name="object 4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12" action="ppaction://hlinksldjump"/>
              </a:rPr>
              <a:t>Chain </a:t>
            </a:r>
            <a:r>
              <a:rPr sz="600" b="1" spc="-5" dirty="0">
                <a:solidFill>
                  <a:srgbClr val="FFFFFF"/>
                </a:solidFill>
                <a:latin typeface="LM Sans 10"/>
                <a:cs typeface="LM Sans 10"/>
                <a:hlinkClick r:id="rId12" action="ppaction://hlinksldjump"/>
              </a:rPr>
              <a:t>Matrix Multiplication</a:t>
            </a:r>
            <a:endParaRPr sz="600">
              <a:latin typeface="LM Sans 10"/>
              <a:cs typeface="LM Sans 10"/>
            </a:endParaRPr>
          </a:p>
        </p:txBody>
      </p:sp>
      <p:sp>
        <p:nvSpPr>
          <p:cNvPr id="44" name="object 44"/>
          <p:cNvSpPr txBox="1"/>
          <p:nvPr/>
        </p:nvSpPr>
        <p:spPr>
          <a:xfrm>
            <a:off x="4303090" y="3349288"/>
            <a:ext cx="24828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8 /</a:t>
            </a:r>
            <a:r>
              <a:rPr sz="600" b="1" spc="-75"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3548379"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Developing </a:t>
            </a:r>
            <a:r>
              <a:rPr sz="1400" spc="10" dirty="0">
                <a:solidFill>
                  <a:srgbClr val="FFFFFF"/>
                </a:solidFill>
                <a:latin typeface="LM Sans 12"/>
                <a:cs typeface="LM Sans 12"/>
              </a:rPr>
              <a:t>a </a:t>
            </a:r>
            <a:r>
              <a:rPr sz="1400" spc="15" dirty="0">
                <a:solidFill>
                  <a:srgbClr val="FFFFFF"/>
                </a:solidFill>
                <a:latin typeface="LM Sans 12"/>
                <a:cs typeface="LM Sans 12"/>
              </a:rPr>
              <a:t>Dynamic Programming</a:t>
            </a:r>
            <a:r>
              <a:rPr sz="1400" spc="-60" dirty="0">
                <a:solidFill>
                  <a:srgbClr val="FFFFFF"/>
                </a:solidFill>
                <a:latin typeface="LM Sans 12"/>
                <a:cs typeface="LM Sans 12"/>
              </a:rPr>
              <a:t> </a:t>
            </a:r>
            <a:r>
              <a:rPr sz="1400" spc="10" dirty="0">
                <a:solidFill>
                  <a:srgbClr val="FFFFFF"/>
                </a:solidFill>
                <a:latin typeface="LM Sans 12"/>
                <a:cs typeface="LM Sans 12"/>
              </a:rPr>
              <a:t>Algorithm</a:t>
            </a:r>
            <a:endParaRPr sz="1400">
              <a:latin typeface="LM Sans 12"/>
              <a:cs typeface="LM Sans 12"/>
            </a:endParaRPr>
          </a:p>
        </p:txBody>
      </p:sp>
      <p:sp>
        <p:nvSpPr>
          <p:cNvPr id="3" name="object 3"/>
          <p:cNvSpPr txBox="1"/>
          <p:nvPr/>
        </p:nvSpPr>
        <p:spPr>
          <a:xfrm>
            <a:off x="628651" y="803567"/>
            <a:ext cx="2797302" cy="166712"/>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1: </a:t>
            </a:r>
            <a:r>
              <a:rPr sz="1100" spc="-10" dirty="0">
                <a:latin typeface="LM Sans 10"/>
                <a:cs typeface="LM Sans 10"/>
              </a:rPr>
              <a:t>Define Space </a:t>
            </a:r>
            <a:r>
              <a:rPr sz="1100" spc="-5" dirty="0">
                <a:latin typeface="LM Sans 10"/>
                <a:cs typeface="LM Sans 10"/>
              </a:rPr>
              <a:t>of</a:t>
            </a:r>
            <a:r>
              <a:rPr sz="1100" spc="105" dirty="0">
                <a:latin typeface="LM Sans 10"/>
                <a:cs typeface="LM Sans 10"/>
              </a:rPr>
              <a:t> </a:t>
            </a:r>
            <a:r>
              <a:rPr sz="1100" spc="-10" dirty="0">
                <a:latin typeface="LM Sans 10"/>
                <a:cs typeface="LM Sans 10"/>
              </a:rPr>
              <a:t>Subproblems</a:t>
            </a:r>
            <a:endParaRPr sz="1100" dirty="0">
              <a:latin typeface="LM Sans 10"/>
              <a:cs typeface="LM Sans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10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3548379"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Developing </a:t>
            </a:r>
            <a:r>
              <a:rPr sz="1400" spc="10" dirty="0">
                <a:solidFill>
                  <a:srgbClr val="FFFFFF"/>
                </a:solidFill>
                <a:latin typeface="LM Sans 12"/>
                <a:cs typeface="LM Sans 12"/>
              </a:rPr>
              <a:t>a </a:t>
            </a:r>
            <a:r>
              <a:rPr sz="1400" spc="15" dirty="0">
                <a:solidFill>
                  <a:srgbClr val="FFFFFF"/>
                </a:solidFill>
                <a:latin typeface="LM Sans 12"/>
                <a:cs typeface="LM Sans 12"/>
              </a:rPr>
              <a:t>Dynamic Programming</a:t>
            </a:r>
            <a:r>
              <a:rPr sz="1400" spc="-60" dirty="0">
                <a:solidFill>
                  <a:srgbClr val="FFFFFF"/>
                </a:solidFill>
                <a:latin typeface="LM Sans 12"/>
                <a:cs typeface="LM Sans 12"/>
              </a:rPr>
              <a:t> </a:t>
            </a:r>
            <a:r>
              <a:rPr sz="1400" spc="10" dirty="0">
                <a:solidFill>
                  <a:srgbClr val="FFFFFF"/>
                </a:solidFill>
                <a:latin typeface="LM Sans 12"/>
                <a:cs typeface="LM Sans 12"/>
              </a:rPr>
              <a:t>Algorithm</a:t>
            </a:r>
            <a:endParaRPr sz="1400">
              <a:latin typeface="LM Sans 12"/>
              <a:cs typeface="LM Sans 12"/>
            </a:endParaRPr>
          </a:p>
        </p:txBody>
      </p:sp>
      <p:sp>
        <p:nvSpPr>
          <p:cNvPr id="3" name="object 3"/>
          <p:cNvSpPr txBox="1"/>
          <p:nvPr/>
        </p:nvSpPr>
        <p:spPr>
          <a:xfrm>
            <a:off x="502551" y="877863"/>
            <a:ext cx="2923401" cy="166712"/>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1: </a:t>
            </a:r>
            <a:r>
              <a:rPr sz="1100" spc="-10" dirty="0">
                <a:latin typeface="LM Sans 10"/>
                <a:cs typeface="LM Sans 10"/>
              </a:rPr>
              <a:t>Define Space </a:t>
            </a:r>
            <a:r>
              <a:rPr sz="1100" spc="-5" dirty="0">
                <a:latin typeface="LM Sans 10"/>
                <a:cs typeface="LM Sans 10"/>
              </a:rPr>
              <a:t>of</a:t>
            </a:r>
            <a:r>
              <a:rPr sz="1100" spc="105" dirty="0">
                <a:latin typeface="LM Sans 10"/>
                <a:cs typeface="LM Sans 10"/>
              </a:rPr>
              <a:t> </a:t>
            </a:r>
            <a:r>
              <a:rPr sz="1100" spc="-10" dirty="0">
                <a:latin typeface="LM Sans 10"/>
                <a:cs typeface="LM Sans 10"/>
              </a:rPr>
              <a:t>Subproblems</a:t>
            </a:r>
            <a:endParaRPr sz="1100" dirty="0">
              <a:latin typeface="LM Sans 10"/>
              <a:cs typeface="LM Sans 10"/>
            </a:endParaRPr>
          </a:p>
        </p:txBody>
      </p:sp>
      <p:sp>
        <p:nvSpPr>
          <p:cNvPr id="4" name="object 4"/>
          <p:cNvSpPr/>
          <p:nvPr/>
        </p:nvSpPr>
        <p:spPr>
          <a:xfrm>
            <a:off x="502551" y="1269758"/>
            <a:ext cx="65265" cy="65265"/>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598995" y="1186305"/>
            <a:ext cx="3636010" cy="363855"/>
          </a:xfrm>
          <a:prstGeom prst="rect">
            <a:avLst/>
          </a:prstGeom>
        </p:spPr>
        <p:txBody>
          <a:bodyPr vert="horz" wrap="square" lIns="0" tIns="11430" rIns="0" bIns="0" rtlCol="0">
            <a:spAutoFit/>
          </a:bodyPr>
          <a:lstStyle/>
          <a:p>
            <a:pPr marL="38100">
              <a:lnSpc>
                <a:spcPct val="100000"/>
              </a:lnSpc>
              <a:spcBef>
                <a:spcPts val="90"/>
              </a:spcBef>
            </a:pPr>
            <a:r>
              <a:rPr sz="1100" spc="-5" dirty="0">
                <a:latin typeface="LM Sans 10"/>
                <a:cs typeface="LM Sans 10"/>
              </a:rPr>
              <a:t>Original</a:t>
            </a:r>
            <a:r>
              <a:rPr sz="1100" spc="-10" dirty="0">
                <a:latin typeface="LM Sans 10"/>
                <a:cs typeface="LM Sans 10"/>
              </a:rPr>
              <a:t> </a:t>
            </a:r>
            <a:r>
              <a:rPr sz="1100" spc="-5" dirty="0">
                <a:latin typeface="LM Sans 10"/>
                <a:cs typeface="LM Sans 10"/>
              </a:rPr>
              <a:t>Problem:</a:t>
            </a:r>
            <a:endParaRPr sz="1100">
              <a:latin typeface="LM Sans 10"/>
              <a:cs typeface="LM Sans 10"/>
            </a:endParaRPr>
          </a:p>
          <a:p>
            <a:pPr marL="266700">
              <a:lnSpc>
                <a:spcPct val="100000"/>
              </a:lnSpc>
              <a:spcBef>
                <a:spcPts val="35"/>
              </a:spcBef>
            </a:pPr>
            <a:r>
              <a:rPr sz="1100" spc="-5" dirty="0">
                <a:latin typeface="LM Sans 10"/>
                <a:cs typeface="LM Sans 10"/>
              </a:rPr>
              <a:t>Determine </a:t>
            </a:r>
            <a:r>
              <a:rPr sz="1100" spc="-10" dirty="0">
                <a:latin typeface="LM Sans 10"/>
                <a:cs typeface="LM Sans 10"/>
              </a:rPr>
              <a:t>minimal </a:t>
            </a:r>
            <a:r>
              <a:rPr sz="1100" spc="-5" dirty="0">
                <a:latin typeface="LM Sans 10"/>
                <a:cs typeface="LM Sans 10"/>
              </a:rPr>
              <a:t>cost multiplication </a:t>
            </a:r>
            <a:r>
              <a:rPr sz="1100" spc="-10" dirty="0">
                <a:latin typeface="LM Sans 10"/>
                <a:cs typeface="LM Sans 10"/>
              </a:rPr>
              <a:t>sequence </a:t>
            </a:r>
            <a:r>
              <a:rPr sz="1100" spc="-15" dirty="0">
                <a:latin typeface="LM Sans 10"/>
                <a:cs typeface="LM Sans 10"/>
              </a:rPr>
              <a:t>for</a:t>
            </a:r>
            <a:r>
              <a:rPr sz="1100" spc="5" dirty="0">
                <a:latin typeface="LM Sans 10"/>
                <a:cs typeface="LM Sans 10"/>
              </a:rPr>
              <a:t> </a:t>
            </a:r>
            <a:r>
              <a:rPr sz="1100" i="1" spc="5" dirty="0">
                <a:latin typeface="LM Sans 10"/>
                <a:cs typeface="LM Sans 10"/>
              </a:rPr>
              <a:t>A</a:t>
            </a:r>
            <a:r>
              <a:rPr sz="1200" spc="7" baseline="-10416" dirty="0">
                <a:latin typeface="LM Sans 8"/>
                <a:cs typeface="LM Sans 8"/>
              </a:rPr>
              <a:t>1</a:t>
            </a:r>
            <a:r>
              <a:rPr sz="1200" i="1" spc="7" baseline="-10416" dirty="0">
                <a:latin typeface="LM Sans 8"/>
                <a:cs typeface="LM Sans 8"/>
              </a:rPr>
              <a:t>..n</a:t>
            </a:r>
            <a:r>
              <a:rPr sz="1100" spc="5" dirty="0">
                <a:latin typeface="LM Sans 10"/>
                <a:cs typeface="LM Sans 10"/>
              </a:rPr>
              <a:t>.</a:t>
            </a:r>
            <a:endParaRPr sz="1100">
              <a:latin typeface="LM Sans 10"/>
              <a:cs typeface="LM Sans 10"/>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2" name="object 1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10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548379" cy="244475"/>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502551" y="803567"/>
            <a:ext cx="2923401" cy="166712"/>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1: </a:t>
            </a:r>
            <a:r>
              <a:rPr sz="1100" spc="-10" dirty="0">
                <a:latin typeface="LM Sans 10"/>
                <a:cs typeface="LM Sans 10"/>
              </a:rPr>
              <a:t>Define Space </a:t>
            </a:r>
            <a:r>
              <a:rPr sz="1100" spc="-5" dirty="0">
                <a:latin typeface="LM Sans 10"/>
                <a:cs typeface="LM Sans 10"/>
              </a:rPr>
              <a:t>of</a:t>
            </a:r>
            <a:r>
              <a:rPr sz="1100" spc="105" dirty="0">
                <a:latin typeface="LM Sans 10"/>
                <a:cs typeface="LM Sans 10"/>
              </a:rPr>
              <a:t> </a:t>
            </a:r>
            <a:r>
              <a:rPr sz="1100" spc="-10" dirty="0">
                <a:latin typeface="LM Sans 10"/>
                <a:cs typeface="LM Sans 10"/>
              </a:rPr>
              <a:t>Subproblems</a:t>
            </a:r>
            <a:endParaRPr sz="1100" dirty="0">
              <a:latin typeface="LM Sans 10"/>
              <a:cs typeface="LM Sans 10"/>
            </a:endParaRPr>
          </a:p>
        </p:txBody>
      </p:sp>
      <p:sp>
        <p:nvSpPr>
          <p:cNvPr id="4" name="object 4"/>
          <p:cNvSpPr/>
          <p:nvPr/>
        </p:nvSpPr>
        <p:spPr>
          <a:xfrm>
            <a:off x="502551" y="1269758"/>
            <a:ext cx="65265" cy="6526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02551" y="1651863"/>
            <a:ext cx="65265" cy="6526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792327" y="2165578"/>
            <a:ext cx="52590" cy="52590"/>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573595" y="1186305"/>
            <a:ext cx="3686810" cy="1072515"/>
          </a:xfrm>
          <a:prstGeom prst="rect">
            <a:avLst/>
          </a:prstGeom>
        </p:spPr>
        <p:txBody>
          <a:bodyPr vert="horz" wrap="square" lIns="0" tIns="11430" rIns="0" bIns="0" rtlCol="0">
            <a:spAutoFit/>
          </a:bodyPr>
          <a:lstStyle/>
          <a:p>
            <a:pPr marL="63500">
              <a:lnSpc>
                <a:spcPct val="100000"/>
              </a:lnSpc>
              <a:spcBef>
                <a:spcPts val="90"/>
              </a:spcBef>
            </a:pPr>
            <a:r>
              <a:rPr sz="1100" spc="-5" dirty="0">
                <a:latin typeface="LM Sans 10"/>
                <a:cs typeface="LM Sans 10"/>
              </a:rPr>
              <a:t>Original</a:t>
            </a:r>
            <a:r>
              <a:rPr sz="1100" spc="-10" dirty="0">
                <a:latin typeface="LM Sans 10"/>
                <a:cs typeface="LM Sans 10"/>
              </a:rPr>
              <a:t> </a:t>
            </a:r>
            <a:r>
              <a:rPr sz="1100" spc="-5" dirty="0">
                <a:latin typeface="LM Sans 10"/>
                <a:cs typeface="LM Sans 10"/>
              </a:rPr>
              <a:t>Problem:</a:t>
            </a:r>
            <a:endParaRPr sz="1100">
              <a:latin typeface="LM Sans 10"/>
              <a:cs typeface="LM Sans 10"/>
            </a:endParaRPr>
          </a:p>
          <a:p>
            <a:pPr marL="292100">
              <a:lnSpc>
                <a:spcPct val="100000"/>
              </a:lnSpc>
              <a:spcBef>
                <a:spcPts val="35"/>
              </a:spcBef>
            </a:pPr>
            <a:r>
              <a:rPr sz="1100" spc="-5" dirty="0">
                <a:latin typeface="LM Sans 10"/>
                <a:cs typeface="LM Sans 10"/>
              </a:rPr>
              <a:t>Determine </a:t>
            </a:r>
            <a:r>
              <a:rPr sz="1100" spc="-10" dirty="0">
                <a:latin typeface="LM Sans 10"/>
                <a:cs typeface="LM Sans 10"/>
              </a:rPr>
              <a:t>minimal </a:t>
            </a:r>
            <a:r>
              <a:rPr sz="1100" spc="-5" dirty="0">
                <a:latin typeface="LM Sans 10"/>
                <a:cs typeface="LM Sans 10"/>
              </a:rPr>
              <a:t>cost multiplication </a:t>
            </a:r>
            <a:r>
              <a:rPr sz="1100" spc="-10" dirty="0">
                <a:latin typeface="LM Sans 10"/>
                <a:cs typeface="LM Sans 10"/>
              </a:rPr>
              <a:t>sequence </a:t>
            </a:r>
            <a:r>
              <a:rPr sz="1100" spc="-15" dirty="0">
                <a:latin typeface="LM Sans 10"/>
                <a:cs typeface="LM Sans 10"/>
              </a:rPr>
              <a:t>for</a:t>
            </a:r>
            <a:r>
              <a:rPr sz="1100" spc="5" dirty="0">
                <a:latin typeface="LM Sans 10"/>
                <a:cs typeface="LM Sans 10"/>
              </a:rPr>
              <a:t> </a:t>
            </a:r>
            <a:r>
              <a:rPr sz="1100" i="1" spc="5" dirty="0">
                <a:latin typeface="LM Sans 10"/>
                <a:cs typeface="LM Sans 10"/>
              </a:rPr>
              <a:t>A</a:t>
            </a:r>
            <a:r>
              <a:rPr sz="1200" spc="7" baseline="-10416" dirty="0">
                <a:latin typeface="LM Sans 8"/>
                <a:cs typeface="LM Sans 8"/>
              </a:rPr>
              <a:t>1</a:t>
            </a:r>
            <a:r>
              <a:rPr sz="1200" i="1" spc="7" baseline="-10416" dirty="0">
                <a:latin typeface="LM Sans 8"/>
                <a:cs typeface="LM Sans 8"/>
              </a:rPr>
              <a:t>..n</a:t>
            </a:r>
            <a:r>
              <a:rPr sz="1100" spc="5" dirty="0">
                <a:latin typeface="LM Sans 10"/>
                <a:cs typeface="LM Sans 10"/>
              </a:rPr>
              <a:t>.</a:t>
            </a:r>
            <a:endParaRPr sz="1100">
              <a:latin typeface="LM Sans 10"/>
              <a:cs typeface="LM Sans 10"/>
            </a:endParaRPr>
          </a:p>
          <a:p>
            <a:pPr marR="1042035" algn="ctr">
              <a:lnSpc>
                <a:spcPct val="100000"/>
              </a:lnSpc>
              <a:spcBef>
                <a:spcPts val="334"/>
              </a:spcBef>
            </a:pPr>
            <a:r>
              <a:rPr sz="1100" spc="-10" dirty="0">
                <a:latin typeface="LM Sans 10"/>
                <a:cs typeface="LM Sans 10"/>
              </a:rPr>
              <a:t>Subproblems: </a:t>
            </a:r>
            <a:r>
              <a:rPr sz="1100" spc="-30" dirty="0">
                <a:latin typeface="LM Sans 10"/>
                <a:cs typeface="LM Sans 10"/>
              </a:rPr>
              <a:t>For </a:t>
            </a:r>
            <a:r>
              <a:rPr sz="1100" spc="-5" dirty="0">
                <a:latin typeface="LM Sans 10"/>
                <a:cs typeface="LM Sans 10"/>
              </a:rPr>
              <a:t>every pair 1 </a:t>
            </a:r>
            <a:r>
              <a:rPr sz="1100" i="1" spc="15" dirty="0">
                <a:latin typeface="DejaVu Sans Condensed"/>
                <a:cs typeface="DejaVu Sans Condensed"/>
              </a:rPr>
              <a:t>≤ </a:t>
            </a:r>
            <a:r>
              <a:rPr sz="1100" i="1" spc="-5" dirty="0">
                <a:latin typeface="LM Sans 10"/>
                <a:cs typeface="LM Sans 10"/>
              </a:rPr>
              <a:t>i </a:t>
            </a:r>
            <a:r>
              <a:rPr sz="1100" i="1" spc="15" dirty="0">
                <a:latin typeface="DejaVu Sans Condensed"/>
                <a:cs typeface="DejaVu Sans Condensed"/>
              </a:rPr>
              <a:t>≤ </a:t>
            </a:r>
            <a:r>
              <a:rPr sz="1100" i="1" spc="-5" dirty="0">
                <a:latin typeface="LM Sans 10"/>
                <a:cs typeface="LM Sans 10"/>
              </a:rPr>
              <a:t>j </a:t>
            </a:r>
            <a:r>
              <a:rPr sz="1100" i="1" spc="15" dirty="0">
                <a:latin typeface="DejaVu Sans Condensed"/>
                <a:cs typeface="DejaVu Sans Condensed"/>
              </a:rPr>
              <a:t>≤</a:t>
            </a:r>
            <a:r>
              <a:rPr sz="1100" i="1" spc="60" dirty="0">
                <a:latin typeface="DejaVu Sans Condensed"/>
                <a:cs typeface="DejaVu Sans Condensed"/>
              </a:rPr>
              <a:t> </a:t>
            </a:r>
            <a:r>
              <a:rPr sz="1100" i="1" spc="5" dirty="0">
                <a:latin typeface="LM Sans 10"/>
                <a:cs typeface="LM Sans 10"/>
              </a:rPr>
              <a:t>n</a:t>
            </a:r>
            <a:r>
              <a:rPr sz="1100" spc="5" dirty="0">
                <a:latin typeface="LM Sans 10"/>
                <a:cs typeface="LM Sans 10"/>
              </a:rPr>
              <a:t>:</a:t>
            </a:r>
            <a:endParaRPr sz="1100">
              <a:latin typeface="LM Sans 10"/>
              <a:cs typeface="LM Sans 10"/>
            </a:endParaRPr>
          </a:p>
          <a:p>
            <a:pPr marL="292100">
              <a:lnSpc>
                <a:spcPts val="1260"/>
              </a:lnSpc>
              <a:spcBef>
                <a:spcPts val="35"/>
              </a:spcBef>
            </a:pPr>
            <a:r>
              <a:rPr sz="1100" spc="-5" dirty="0">
                <a:latin typeface="LM Sans 10"/>
                <a:cs typeface="LM Sans 10"/>
              </a:rPr>
              <a:t>Determine </a:t>
            </a:r>
            <a:r>
              <a:rPr sz="1100" spc="-10" dirty="0">
                <a:latin typeface="LM Sans 10"/>
                <a:cs typeface="LM Sans 10"/>
              </a:rPr>
              <a:t>minimal </a:t>
            </a:r>
            <a:r>
              <a:rPr sz="1100" spc="-5" dirty="0">
                <a:latin typeface="LM Sans 10"/>
                <a:cs typeface="LM Sans 10"/>
              </a:rPr>
              <a:t>cost multiplication </a:t>
            </a:r>
            <a:r>
              <a:rPr sz="1100" spc="-10" dirty="0">
                <a:latin typeface="LM Sans 10"/>
                <a:cs typeface="LM Sans 10"/>
              </a:rPr>
              <a:t>sequence </a:t>
            </a:r>
            <a:r>
              <a:rPr sz="1100" spc="-15" dirty="0">
                <a:latin typeface="LM Sans 10"/>
                <a:cs typeface="LM Sans 10"/>
              </a:rPr>
              <a:t>for</a:t>
            </a:r>
            <a:endParaRPr sz="1100">
              <a:latin typeface="LM Sans 10"/>
              <a:cs typeface="LM Sans 10"/>
            </a:endParaRPr>
          </a:p>
          <a:p>
            <a:pPr marL="292100">
              <a:lnSpc>
                <a:spcPts val="1260"/>
              </a:lnSpc>
            </a:pPr>
            <a:r>
              <a:rPr sz="1100" i="1" spc="10" dirty="0">
                <a:solidFill>
                  <a:srgbClr val="FF0000"/>
                </a:solidFill>
                <a:latin typeface="LM Sans 10"/>
                <a:cs typeface="LM Sans 10"/>
              </a:rPr>
              <a:t>A</a:t>
            </a:r>
            <a:r>
              <a:rPr sz="1200" i="1" spc="15" baseline="-10416" dirty="0">
                <a:solidFill>
                  <a:srgbClr val="FF0000"/>
                </a:solidFill>
                <a:latin typeface="LM Sans 8"/>
                <a:cs typeface="LM Sans 8"/>
              </a:rPr>
              <a:t>i..j</a:t>
            </a:r>
            <a:r>
              <a:rPr sz="1200" i="1" spc="209" baseline="-10416" dirty="0">
                <a:solidFill>
                  <a:srgbClr val="FF0000"/>
                </a:solidFill>
                <a:latin typeface="LM Sans 8"/>
                <a:cs typeface="LM Sans 8"/>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232" baseline="-10416" dirty="0">
                <a:solidFill>
                  <a:srgbClr val="FF0000"/>
                </a:solidFill>
                <a:latin typeface="LM Sans 8"/>
                <a:cs typeface="LM Sans 8"/>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307" baseline="-10416" dirty="0">
                <a:solidFill>
                  <a:srgbClr val="FF0000"/>
                </a:solidFill>
                <a:latin typeface="LM Sans 8"/>
                <a:cs typeface="LM Sans 8"/>
              </a:rPr>
              <a:t> </a:t>
            </a:r>
            <a:r>
              <a:rPr sz="1200" spc="-7" baseline="-10416" dirty="0">
                <a:solidFill>
                  <a:srgbClr val="FF0000"/>
                </a:solidFill>
                <a:latin typeface="LM Sans 8"/>
                <a:cs typeface="LM Sans 8"/>
              </a:rPr>
              <a:t>+1</a:t>
            </a:r>
            <a:r>
              <a:rPr sz="1200" spc="-89" baseline="-10416"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j</a:t>
            </a:r>
            <a:r>
              <a:rPr sz="1200" i="1" spc="-240" baseline="-10416" dirty="0">
                <a:solidFill>
                  <a:srgbClr val="FF0000"/>
                </a:solidFill>
                <a:latin typeface="LM Sans 8"/>
                <a:cs typeface="LM Sans 8"/>
              </a:rPr>
              <a:t> </a:t>
            </a:r>
            <a:r>
              <a:rPr sz="1100" spc="-5" dirty="0">
                <a:latin typeface="LM Sans 10"/>
                <a:cs typeface="LM Sans 10"/>
              </a:rPr>
              <a:t>.</a:t>
            </a:r>
            <a:endParaRPr sz="1100">
              <a:latin typeface="LM Sans 10"/>
              <a:cs typeface="LM Sans 10"/>
            </a:endParaRPr>
          </a:p>
          <a:p>
            <a:pPr marR="1054735" algn="ctr">
              <a:lnSpc>
                <a:spcPct val="100000"/>
              </a:lnSpc>
              <a:spcBef>
                <a:spcPts val="175"/>
              </a:spcBef>
            </a:pPr>
            <a:r>
              <a:rPr sz="1000" spc="-5" dirty="0">
                <a:latin typeface="LM Sans 10"/>
                <a:cs typeface="LM Sans 10"/>
              </a:rPr>
              <a:t>Note that </a:t>
            </a:r>
            <a:r>
              <a:rPr sz="1000" i="1" dirty="0">
                <a:latin typeface="LM Sans 10"/>
                <a:cs typeface="LM Sans 10"/>
              </a:rPr>
              <a:t>A</a:t>
            </a:r>
            <a:r>
              <a:rPr sz="1050" i="1" baseline="-11904" dirty="0">
                <a:latin typeface="LM Sans 8"/>
                <a:cs typeface="LM Sans 8"/>
              </a:rPr>
              <a:t>i</a:t>
            </a:r>
            <a:r>
              <a:rPr sz="1050" i="1" baseline="-11904" dirty="0">
                <a:latin typeface="Verdana"/>
                <a:cs typeface="Verdana"/>
              </a:rPr>
              <a:t>..</a:t>
            </a:r>
            <a:r>
              <a:rPr sz="1050" i="1" baseline="-11904" dirty="0">
                <a:latin typeface="LM Sans 8"/>
                <a:cs typeface="LM Sans 8"/>
              </a:rPr>
              <a:t>j </a:t>
            </a:r>
            <a:r>
              <a:rPr sz="1000" spc="-5" dirty="0">
                <a:latin typeface="LM Sans 10"/>
                <a:cs typeface="LM Sans 10"/>
              </a:rPr>
              <a:t>is a </a:t>
            </a:r>
            <a:r>
              <a:rPr sz="1000" i="1" spc="65" dirty="0">
                <a:latin typeface="LM Sans 10"/>
                <a:cs typeface="LM Sans 10"/>
              </a:rPr>
              <a:t>p</a:t>
            </a:r>
            <a:r>
              <a:rPr sz="1050" i="1" spc="97" baseline="-11904" dirty="0">
                <a:latin typeface="LM Sans 8"/>
                <a:cs typeface="LM Sans 8"/>
              </a:rPr>
              <a:t>i</a:t>
            </a:r>
            <a:r>
              <a:rPr sz="1050" i="1" spc="97" baseline="-11904" dirty="0">
                <a:latin typeface="Arial"/>
                <a:cs typeface="Arial"/>
              </a:rPr>
              <a:t>−</a:t>
            </a:r>
            <a:r>
              <a:rPr sz="1050" spc="97" baseline="-11904" dirty="0">
                <a:latin typeface="LM Sans 8"/>
                <a:cs typeface="LM Sans 8"/>
              </a:rPr>
              <a:t>1 </a:t>
            </a:r>
            <a:r>
              <a:rPr sz="1000" i="1" spc="20" dirty="0">
                <a:latin typeface="DejaVu Sans Condensed"/>
                <a:cs typeface="DejaVu Sans Condensed"/>
              </a:rPr>
              <a:t>× </a:t>
            </a:r>
            <a:r>
              <a:rPr sz="1000" i="1" spc="-5" dirty="0">
                <a:latin typeface="LM Sans 10"/>
                <a:cs typeface="LM Sans 10"/>
              </a:rPr>
              <a:t>p</a:t>
            </a:r>
            <a:r>
              <a:rPr sz="1050" i="1" spc="-7" baseline="-11904" dirty="0">
                <a:latin typeface="LM Sans 8"/>
                <a:cs typeface="LM Sans 8"/>
              </a:rPr>
              <a:t>j</a:t>
            </a:r>
            <a:r>
              <a:rPr sz="1050" i="1" spc="30" baseline="-11904" dirty="0">
                <a:latin typeface="LM Sans 8"/>
                <a:cs typeface="LM Sans 8"/>
              </a:rPr>
              <a:t> </a:t>
            </a:r>
            <a:r>
              <a:rPr sz="1000" spc="-5" dirty="0">
                <a:latin typeface="LM Sans 10"/>
                <a:cs typeface="LM Sans 10"/>
              </a:rPr>
              <a:t>matrix.</a:t>
            </a:r>
            <a:endParaRPr sz="1000">
              <a:latin typeface="LM Sans 10"/>
              <a:cs typeface="LM Sans 10"/>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4" action="ppaction://hlinksldjump"/>
              </a:rPr>
              <a:t>Chain </a:t>
            </a:r>
            <a:r>
              <a:rPr sz="600" b="1" spc="-5" dirty="0">
                <a:solidFill>
                  <a:srgbClr val="FFFFFF"/>
                </a:solidFill>
                <a:latin typeface="LM Sans 10"/>
                <a:cs typeface="LM Sans 10"/>
                <a:hlinkClick r:id="rId4" action="ppaction://hlinksldjump"/>
              </a:rPr>
              <a:t>Matrix Multiplication</a:t>
            </a:r>
            <a:endParaRPr sz="600">
              <a:latin typeface="LM Sans 10"/>
              <a:cs typeface="LM Sans 10"/>
            </a:endParaRPr>
          </a:p>
        </p:txBody>
      </p:sp>
      <p:sp>
        <p:nvSpPr>
          <p:cNvPr id="14" name="object 1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10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54762" y="-5107"/>
            <a:ext cx="4300575" cy="215444"/>
          </a:xfrm>
        </p:spPr>
        <p:txBody>
          <a:bodyPr/>
          <a:lstStyle/>
          <a:p>
            <a:pPr eaLnBrk="1" hangingPunct="1"/>
            <a:r>
              <a:rPr lang="en-US" altLang="zh-TW">
                <a:ea typeface="新細明體" charset="-120"/>
              </a:rPr>
              <a:t>Example:</a:t>
            </a:r>
          </a:p>
        </p:txBody>
      </p:sp>
      <p:sp>
        <p:nvSpPr>
          <p:cNvPr id="27651" name="Rectangle 5"/>
          <p:cNvSpPr>
            <a:spLocks noChangeArrowheads="1"/>
          </p:cNvSpPr>
          <p:nvPr/>
        </p:nvSpPr>
        <p:spPr bwMode="auto">
          <a:xfrm>
            <a:off x="0" y="895670"/>
            <a:ext cx="93191" cy="32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6113" tIns="23057" rIns="46113" bIns="23057" anchor="ctr">
            <a:spAutoFit/>
          </a:bodyPr>
          <a:lstStyle/>
          <a:p>
            <a:endParaRPr lang="zh-TW" altLang="en-US">
              <a:ea typeface="新細明體" charset="-120"/>
            </a:endParaRPr>
          </a:p>
        </p:txBody>
      </p:sp>
      <p:graphicFrame>
        <p:nvGraphicFramePr>
          <p:cNvPr id="27652" name="Object 4"/>
          <p:cNvGraphicFramePr>
            <a:graphicFrameLocks noChangeAspect="1"/>
          </p:cNvGraphicFramePr>
          <p:nvPr/>
        </p:nvGraphicFramePr>
        <p:xfrm>
          <a:off x="998055" y="730603"/>
          <a:ext cx="2141776" cy="1949075"/>
        </p:xfrm>
        <a:graphic>
          <a:graphicData uri="http://schemas.openxmlformats.org/presentationml/2006/ole">
            <mc:AlternateContent xmlns:mc="http://schemas.openxmlformats.org/markup-compatibility/2006">
              <mc:Choice xmlns:v="urn:schemas-microsoft-com:vml" Requires="v">
                <p:oleObj name="方程式" r:id="rId2" imgW="2933700" imgH="2667000" progId="Equation.3">
                  <p:embed/>
                </p:oleObj>
              </mc:Choice>
              <mc:Fallback>
                <p:oleObj name="方程式" r:id="rId2" imgW="2933700" imgH="2667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055" y="730603"/>
                        <a:ext cx="2141776" cy="194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p:cNvSpPr/>
          <p:nvPr/>
        </p:nvSpPr>
        <p:spPr>
          <a:xfrm>
            <a:off x="115253" y="2817540"/>
            <a:ext cx="4379595" cy="481471"/>
          </a:xfrm>
          <a:prstGeom prst="rect">
            <a:avLst/>
          </a:prstGeom>
        </p:spPr>
        <p:style>
          <a:lnRef idx="0">
            <a:schemeClr val="accent2"/>
          </a:lnRef>
          <a:fillRef idx="3">
            <a:schemeClr val="accent2"/>
          </a:fillRef>
          <a:effectRef idx="3">
            <a:schemeClr val="accent2"/>
          </a:effectRef>
          <a:fontRef idx="minor">
            <a:schemeClr val="lt1"/>
          </a:fontRef>
        </p:style>
        <p:txBody>
          <a:bodyPr wrap="square" lIns="46113" tIns="23057" rIns="46113" bIns="23057">
            <a:spAutoFit/>
          </a:bodyPr>
          <a:lstStyle/>
          <a:p>
            <a:pPr marL="499560" lvl="1" indent="-268994"/>
            <a:r>
              <a:rPr lang="en-US" sz="1400" dirty="0"/>
              <a:t>Given a chain A</a:t>
            </a:r>
            <a:r>
              <a:rPr lang="en-US" sz="1400" baseline="-25000" dirty="0"/>
              <a:t>1</a:t>
            </a:r>
            <a:r>
              <a:rPr lang="en-US" sz="1400" dirty="0"/>
              <a:t>, A</a:t>
            </a:r>
            <a:r>
              <a:rPr lang="en-US" sz="1400" baseline="-25000" dirty="0"/>
              <a:t>2</a:t>
            </a:r>
            <a:r>
              <a:rPr lang="en-US" sz="1400" dirty="0"/>
              <a:t>, …, A</a:t>
            </a:r>
            <a:r>
              <a:rPr lang="en-US" sz="1400" i="1" baseline="-25000" dirty="0"/>
              <a:t>n</a:t>
            </a:r>
            <a:r>
              <a:rPr lang="en-US" sz="1400" dirty="0"/>
              <a:t> of </a:t>
            </a:r>
            <a:r>
              <a:rPr lang="en-US" sz="1400" i="1" dirty="0"/>
              <a:t>n</a:t>
            </a:r>
            <a:r>
              <a:rPr lang="en-US" sz="1400" dirty="0"/>
              <a:t> matrices, where for </a:t>
            </a:r>
            <a:r>
              <a:rPr lang="en-US" sz="1400" i="1" dirty="0" err="1"/>
              <a:t>i</a:t>
            </a:r>
            <a:r>
              <a:rPr lang="en-US" sz="1400" dirty="0"/>
              <a:t>=1, 2, …, </a:t>
            </a:r>
            <a:r>
              <a:rPr lang="en-US" sz="1400" i="1" dirty="0"/>
              <a:t>n</a:t>
            </a:r>
            <a:r>
              <a:rPr lang="en-US" sz="1400" dirty="0"/>
              <a:t>, matrix A</a:t>
            </a:r>
            <a:r>
              <a:rPr lang="en-US" sz="1400" i="1" baseline="-25000" dirty="0"/>
              <a:t>i</a:t>
            </a:r>
            <a:r>
              <a:rPr lang="en-US" sz="1400" dirty="0"/>
              <a:t> has dimension </a:t>
            </a:r>
            <a:r>
              <a:rPr lang="en-US" sz="1400" i="1" dirty="0"/>
              <a:t>p</a:t>
            </a:r>
            <a:r>
              <a:rPr lang="en-US" sz="1400" i="1" baseline="-25000" dirty="0"/>
              <a:t>i</a:t>
            </a:r>
            <a:r>
              <a:rPr lang="en-US" sz="1400" baseline="-25000" dirty="0"/>
              <a:t>-1</a:t>
            </a:r>
            <a:r>
              <a:rPr lang="en-US" sz="1400" dirty="0">
                <a:sym typeface="Symbol" pitchFamily="18" charset="2"/>
              </a:rPr>
              <a:t></a:t>
            </a:r>
            <a:r>
              <a:rPr lang="en-US" sz="1400" i="1" dirty="0"/>
              <a:t>p</a:t>
            </a:r>
            <a:r>
              <a:rPr lang="en-US" sz="1400" i="1" baseline="-25000" dirty="0"/>
              <a:t>i</a:t>
            </a:r>
          </a:p>
        </p:txBody>
      </p:sp>
      <p:sp>
        <p:nvSpPr>
          <p:cNvPr id="3" name="TextBox 2"/>
          <p:cNvSpPr txBox="1"/>
          <p:nvPr/>
        </p:nvSpPr>
        <p:spPr>
          <a:xfrm>
            <a:off x="345758" y="922867"/>
            <a:ext cx="313793" cy="600562"/>
          </a:xfrm>
          <a:prstGeom prst="rect">
            <a:avLst/>
          </a:prstGeom>
        </p:spPr>
        <p:style>
          <a:lnRef idx="1">
            <a:schemeClr val="accent2"/>
          </a:lnRef>
          <a:fillRef idx="2">
            <a:schemeClr val="accent2"/>
          </a:fillRef>
          <a:effectRef idx="1">
            <a:schemeClr val="accent2"/>
          </a:effectRef>
          <a:fontRef idx="minor">
            <a:schemeClr val="dk1"/>
          </a:fontRef>
        </p:style>
        <p:txBody>
          <a:bodyPr wrap="square" lIns="46113" tIns="23057" rIns="46113" bIns="23057" rtlCol="0">
            <a:spAutoFit/>
          </a:bodyPr>
          <a:lstStyle/>
          <a:p>
            <a:r>
              <a:rPr lang="en-US" dirty="0" err="1"/>
              <a:t>i</a:t>
            </a:r>
            <a:r>
              <a:rPr lang="en-US" dirty="0"/>
              <a:t>=1</a:t>
            </a:r>
          </a:p>
        </p:txBody>
      </p:sp>
      <p:cxnSp>
        <p:nvCxnSpPr>
          <p:cNvPr id="5" name="Straight Arrow Connector 4"/>
          <p:cNvCxnSpPr>
            <a:stCxn id="3" idx="3"/>
          </p:cNvCxnSpPr>
          <p:nvPr/>
        </p:nvCxnSpPr>
        <p:spPr>
          <a:xfrm flipV="1">
            <a:off x="659551" y="845962"/>
            <a:ext cx="377722" cy="377186"/>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7" name="Rectangle 6"/>
          <p:cNvSpPr/>
          <p:nvPr/>
        </p:nvSpPr>
        <p:spPr>
          <a:xfrm>
            <a:off x="2958148" y="461433"/>
            <a:ext cx="1575306" cy="264032"/>
          </a:xfrm>
          <a:prstGeom prst="rect">
            <a:avLst/>
          </a:prstGeom>
        </p:spPr>
        <p:style>
          <a:lnRef idx="1">
            <a:schemeClr val="accent2"/>
          </a:lnRef>
          <a:fillRef idx="2">
            <a:schemeClr val="accent2"/>
          </a:fillRef>
          <a:effectRef idx="1">
            <a:schemeClr val="accent2"/>
          </a:effectRef>
          <a:fontRef idx="minor">
            <a:schemeClr val="dk1"/>
          </a:fontRef>
        </p:style>
        <p:txBody>
          <a:bodyPr wrap="none" lIns="46113" tIns="23057" rIns="46113" bIns="23057">
            <a:spAutoFit/>
          </a:bodyPr>
          <a:lstStyle/>
          <a:p>
            <a:pPr marL="499560" lvl="1" indent="-268994"/>
            <a:r>
              <a:rPr lang="en-US" sz="1400" dirty="0"/>
              <a:t>dimension </a:t>
            </a:r>
            <a:r>
              <a:rPr lang="en-US" sz="1400" i="1" dirty="0"/>
              <a:t>p</a:t>
            </a:r>
            <a:r>
              <a:rPr lang="en-US" sz="1400" i="1" baseline="-25000" dirty="0"/>
              <a:t>i</a:t>
            </a:r>
            <a:r>
              <a:rPr lang="en-US" sz="1400" baseline="-25000" dirty="0"/>
              <a:t>-1</a:t>
            </a:r>
            <a:r>
              <a:rPr lang="en-US" sz="1400" dirty="0">
                <a:sym typeface="Symbol" pitchFamily="18" charset="2"/>
              </a:rPr>
              <a:t></a:t>
            </a:r>
            <a:r>
              <a:rPr lang="en-US" sz="1400" i="1" dirty="0"/>
              <a:t>p</a:t>
            </a:r>
            <a:r>
              <a:rPr lang="en-US" sz="1400" i="1" baseline="-25000" dirty="0"/>
              <a:t>i</a:t>
            </a:r>
          </a:p>
        </p:txBody>
      </p:sp>
      <p:cxnSp>
        <p:nvCxnSpPr>
          <p:cNvPr id="9" name="Straight Arrow Connector 8"/>
          <p:cNvCxnSpPr>
            <a:stCxn id="7" idx="1"/>
          </p:cNvCxnSpPr>
          <p:nvPr/>
        </p:nvCxnSpPr>
        <p:spPr>
          <a:xfrm flipH="1">
            <a:off x="2727643" y="593449"/>
            <a:ext cx="230505" cy="214059"/>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417800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282575"/>
            <a:ext cx="4300575" cy="215444"/>
          </a:xfrm>
        </p:spPr>
        <p:style>
          <a:lnRef idx="0">
            <a:schemeClr val="accent2"/>
          </a:lnRef>
          <a:fillRef idx="3">
            <a:schemeClr val="accent2"/>
          </a:fillRef>
          <a:effectRef idx="3">
            <a:schemeClr val="accent2"/>
          </a:effectRef>
          <a:fontRef idx="minor">
            <a:schemeClr val="lt1"/>
          </a:fontRef>
        </p:style>
        <p:txBody>
          <a:bodyPr/>
          <a:lstStyle/>
          <a:p>
            <a:r>
              <a:rPr lang="en-US" dirty="0"/>
              <a:t>Note</a:t>
            </a:r>
          </a:p>
        </p:txBody>
      </p:sp>
      <p:sp>
        <p:nvSpPr>
          <p:cNvPr id="3" name="Content Placeholder 2"/>
          <p:cNvSpPr>
            <a:spLocks noGrp="1"/>
          </p:cNvSpPr>
          <p:nvPr>
            <p:ph idx="1"/>
          </p:nvPr>
        </p:nvSpPr>
        <p:spPr>
          <a:xfrm>
            <a:off x="171450" y="739775"/>
            <a:ext cx="4343400" cy="2057400"/>
          </a:xfrm>
        </p:spPr>
        <p:style>
          <a:lnRef idx="1">
            <a:schemeClr val="accent1"/>
          </a:lnRef>
          <a:fillRef idx="2">
            <a:schemeClr val="accent1"/>
          </a:fillRef>
          <a:effectRef idx="1">
            <a:schemeClr val="accent1"/>
          </a:effectRef>
          <a:fontRef idx="minor">
            <a:schemeClr val="dk1"/>
          </a:fontRef>
        </p:style>
        <p:txBody>
          <a:bodyPr>
            <a:noAutofit/>
          </a:bodyPr>
          <a:lstStyle/>
          <a:p>
            <a:pPr algn="just"/>
            <a:r>
              <a:rPr lang="en-US" sz="1200" dirty="0"/>
              <a:t>In the matrix-chain multiplication problem, </a:t>
            </a:r>
            <a:r>
              <a:rPr lang="en-US" sz="1200" dirty="0">
                <a:solidFill>
                  <a:srgbClr val="FF0000"/>
                </a:solidFill>
              </a:rPr>
              <a:t>we are not actually multiplying matrices</a:t>
            </a:r>
            <a:r>
              <a:rPr lang="en-US" sz="1200" dirty="0"/>
              <a:t>. </a:t>
            </a:r>
          </a:p>
          <a:p>
            <a:pPr algn="just"/>
            <a:r>
              <a:rPr lang="en-US" sz="1200" dirty="0"/>
              <a:t>Our goal is only to </a:t>
            </a:r>
            <a:r>
              <a:rPr lang="en-US" sz="1200" b="1" dirty="0">
                <a:solidFill>
                  <a:srgbClr val="FF0000"/>
                </a:solidFill>
              </a:rPr>
              <a:t>determine an order for multiplying matrices</a:t>
            </a:r>
            <a:r>
              <a:rPr lang="en-US" sz="1200" dirty="0"/>
              <a:t> that has the lowest cost. </a:t>
            </a:r>
          </a:p>
          <a:p>
            <a:pPr algn="just"/>
            <a:r>
              <a:rPr lang="en-US" sz="1200" dirty="0"/>
              <a:t>Typically, the time invested in determining this optimal order is more than paid for by the time saved later on when actually performing the matrix multiplications (such as performing only 7500 scalar multiplications instead of 75,000).</a:t>
            </a:r>
          </a:p>
        </p:txBody>
      </p:sp>
    </p:spTree>
    <p:extLst>
      <p:ext uri="{BB962C8B-B14F-4D97-AF65-F5344CB8AC3E}">
        <p14:creationId xmlns:p14="http://schemas.microsoft.com/office/powerpoint/2010/main" val="22169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4106583"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502551" y="803567"/>
            <a:ext cx="2923401" cy="166712"/>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1: </a:t>
            </a:r>
            <a:r>
              <a:rPr sz="1100" spc="-10" dirty="0">
                <a:latin typeface="LM Sans 10"/>
                <a:cs typeface="LM Sans 10"/>
              </a:rPr>
              <a:t>Define Space </a:t>
            </a:r>
            <a:r>
              <a:rPr sz="1100" spc="-5" dirty="0">
                <a:latin typeface="LM Sans 10"/>
                <a:cs typeface="LM Sans 10"/>
              </a:rPr>
              <a:t>of</a:t>
            </a:r>
            <a:r>
              <a:rPr sz="1100" spc="105" dirty="0">
                <a:latin typeface="LM Sans 10"/>
                <a:cs typeface="LM Sans 10"/>
              </a:rPr>
              <a:t> </a:t>
            </a:r>
            <a:r>
              <a:rPr sz="1100" spc="-10" dirty="0">
                <a:latin typeface="LM Sans 10"/>
                <a:cs typeface="LM Sans 10"/>
              </a:rPr>
              <a:t>Subproblems</a:t>
            </a:r>
            <a:endParaRPr sz="1100" dirty="0">
              <a:latin typeface="LM Sans 10"/>
              <a:cs typeface="LM Sans 10"/>
            </a:endParaRPr>
          </a:p>
        </p:txBody>
      </p:sp>
      <p:sp>
        <p:nvSpPr>
          <p:cNvPr id="4" name="object 4"/>
          <p:cNvSpPr/>
          <p:nvPr/>
        </p:nvSpPr>
        <p:spPr>
          <a:xfrm>
            <a:off x="502551" y="1269758"/>
            <a:ext cx="65265" cy="6526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02551" y="1651863"/>
            <a:ext cx="65265" cy="6526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792327" y="2165578"/>
            <a:ext cx="52590" cy="52590"/>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573594" y="1186305"/>
            <a:ext cx="3865055" cy="1072515"/>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11430" rIns="0" bIns="0" rtlCol="0">
            <a:spAutoFit/>
          </a:bodyPr>
          <a:lstStyle/>
          <a:p>
            <a:pPr marL="63500">
              <a:lnSpc>
                <a:spcPct val="100000"/>
              </a:lnSpc>
              <a:spcBef>
                <a:spcPts val="90"/>
              </a:spcBef>
            </a:pPr>
            <a:r>
              <a:rPr sz="1100" spc="-5" dirty="0">
                <a:latin typeface="LM Sans 10"/>
                <a:cs typeface="LM Sans 10"/>
              </a:rPr>
              <a:t>Original</a:t>
            </a:r>
            <a:r>
              <a:rPr sz="1100" spc="-10" dirty="0">
                <a:latin typeface="LM Sans 10"/>
                <a:cs typeface="LM Sans 10"/>
              </a:rPr>
              <a:t> </a:t>
            </a:r>
            <a:r>
              <a:rPr sz="1100" spc="-5" dirty="0">
                <a:latin typeface="LM Sans 10"/>
                <a:cs typeface="LM Sans 10"/>
              </a:rPr>
              <a:t>Problem:</a:t>
            </a:r>
            <a:endParaRPr sz="1100" dirty="0">
              <a:latin typeface="LM Sans 10"/>
              <a:cs typeface="LM Sans 10"/>
            </a:endParaRPr>
          </a:p>
          <a:p>
            <a:pPr marL="292100">
              <a:lnSpc>
                <a:spcPct val="100000"/>
              </a:lnSpc>
              <a:spcBef>
                <a:spcPts val="35"/>
              </a:spcBef>
            </a:pPr>
            <a:r>
              <a:rPr sz="1100" spc="-5" dirty="0">
                <a:latin typeface="LM Sans 10"/>
                <a:cs typeface="LM Sans 10"/>
              </a:rPr>
              <a:t>Determine </a:t>
            </a:r>
            <a:r>
              <a:rPr sz="1100" spc="-10" dirty="0">
                <a:latin typeface="LM Sans 10"/>
                <a:cs typeface="LM Sans 10"/>
              </a:rPr>
              <a:t>minimal </a:t>
            </a:r>
            <a:r>
              <a:rPr sz="1100" spc="-5" dirty="0">
                <a:latin typeface="LM Sans 10"/>
                <a:cs typeface="LM Sans 10"/>
              </a:rPr>
              <a:t>cost multiplication </a:t>
            </a:r>
            <a:r>
              <a:rPr sz="1100" spc="-10" dirty="0">
                <a:latin typeface="LM Sans 10"/>
                <a:cs typeface="LM Sans 10"/>
              </a:rPr>
              <a:t>sequence </a:t>
            </a:r>
            <a:r>
              <a:rPr sz="1100" spc="-15" dirty="0">
                <a:latin typeface="LM Sans 10"/>
                <a:cs typeface="LM Sans 10"/>
              </a:rPr>
              <a:t>for</a:t>
            </a:r>
            <a:r>
              <a:rPr sz="1100" spc="5" dirty="0">
                <a:latin typeface="LM Sans 10"/>
                <a:cs typeface="LM Sans 10"/>
              </a:rPr>
              <a:t> </a:t>
            </a:r>
            <a:r>
              <a:rPr sz="1100" i="1" spc="5" dirty="0">
                <a:latin typeface="LM Sans 10"/>
                <a:cs typeface="LM Sans 10"/>
              </a:rPr>
              <a:t>A</a:t>
            </a:r>
            <a:r>
              <a:rPr sz="1200" spc="7" baseline="-10416" dirty="0">
                <a:latin typeface="LM Sans 8"/>
                <a:cs typeface="LM Sans 8"/>
              </a:rPr>
              <a:t>1</a:t>
            </a:r>
            <a:r>
              <a:rPr sz="1200" i="1" spc="7" baseline="-10416" dirty="0">
                <a:latin typeface="LM Sans 8"/>
                <a:cs typeface="LM Sans 8"/>
              </a:rPr>
              <a:t>..n</a:t>
            </a:r>
            <a:r>
              <a:rPr sz="1100" spc="5" dirty="0">
                <a:latin typeface="LM Sans 10"/>
                <a:cs typeface="LM Sans 10"/>
              </a:rPr>
              <a:t>.</a:t>
            </a:r>
            <a:endParaRPr sz="1100" dirty="0">
              <a:latin typeface="LM Sans 10"/>
              <a:cs typeface="LM Sans 10"/>
            </a:endParaRPr>
          </a:p>
          <a:p>
            <a:pPr marR="1042035" algn="ctr">
              <a:lnSpc>
                <a:spcPct val="100000"/>
              </a:lnSpc>
              <a:spcBef>
                <a:spcPts val="334"/>
              </a:spcBef>
            </a:pPr>
            <a:r>
              <a:rPr sz="1100" spc="-10" dirty="0">
                <a:latin typeface="LM Sans 10"/>
                <a:cs typeface="LM Sans 10"/>
              </a:rPr>
              <a:t>Subproblems: </a:t>
            </a:r>
            <a:r>
              <a:rPr sz="1100" spc="-30" dirty="0">
                <a:latin typeface="LM Sans 10"/>
                <a:cs typeface="LM Sans 10"/>
              </a:rPr>
              <a:t>For </a:t>
            </a:r>
            <a:r>
              <a:rPr sz="1100" spc="-5" dirty="0">
                <a:latin typeface="LM Sans 10"/>
                <a:cs typeface="LM Sans 10"/>
              </a:rPr>
              <a:t>every pair 1 </a:t>
            </a:r>
            <a:r>
              <a:rPr sz="1100" i="1" spc="15" dirty="0">
                <a:latin typeface="DejaVu Sans Condensed"/>
                <a:cs typeface="DejaVu Sans Condensed"/>
              </a:rPr>
              <a:t>≤ </a:t>
            </a:r>
            <a:r>
              <a:rPr sz="1100" i="1" spc="-5" dirty="0">
                <a:latin typeface="LM Sans 10"/>
                <a:cs typeface="LM Sans 10"/>
              </a:rPr>
              <a:t>i </a:t>
            </a:r>
            <a:r>
              <a:rPr sz="1100" i="1" spc="15" dirty="0">
                <a:latin typeface="DejaVu Sans Condensed"/>
                <a:cs typeface="DejaVu Sans Condensed"/>
              </a:rPr>
              <a:t>≤ </a:t>
            </a:r>
            <a:r>
              <a:rPr sz="1100" i="1" spc="-5" dirty="0">
                <a:latin typeface="LM Sans 10"/>
                <a:cs typeface="LM Sans 10"/>
              </a:rPr>
              <a:t>j </a:t>
            </a:r>
            <a:r>
              <a:rPr sz="1100" i="1" spc="15" dirty="0">
                <a:latin typeface="DejaVu Sans Condensed"/>
                <a:cs typeface="DejaVu Sans Condensed"/>
              </a:rPr>
              <a:t>≤</a:t>
            </a:r>
            <a:r>
              <a:rPr sz="1100" i="1" spc="60" dirty="0">
                <a:latin typeface="DejaVu Sans Condensed"/>
                <a:cs typeface="DejaVu Sans Condensed"/>
              </a:rPr>
              <a:t> </a:t>
            </a:r>
            <a:r>
              <a:rPr sz="1100" i="1" spc="5" dirty="0">
                <a:latin typeface="LM Sans 10"/>
                <a:cs typeface="LM Sans 10"/>
              </a:rPr>
              <a:t>n</a:t>
            </a:r>
            <a:r>
              <a:rPr sz="1100" spc="5" dirty="0">
                <a:latin typeface="LM Sans 10"/>
                <a:cs typeface="LM Sans 10"/>
              </a:rPr>
              <a:t>:</a:t>
            </a:r>
            <a:endParaRPr sz="1100" dirty="0">
              <a:latin typeface="LM Sans 10"/>
              <a:cs typeface="LM Sans 10"/>
            </a:endParaRPr>
          </a:p>
          <a:p>
            <a:pPr marL="292100">
              <a:lnSpc>
                <a:spcPts val="1260"/>
              </a:lnSpc>
              <a:spcBef>
                <a:spcPts val="35"/>
              </a:spcBef>
            </a:pPr>
            <a:r>
              <a:rPr sz="1100" spc="-5" dirty="0">
                <a:latin typeface="LM Sans 10"/>
                <a:cs typeface="LM Sans 10"/>
              </a:rPr>
              <a:t>Determine </a:t>
            </a:r>
            <a:r>
              <a:rPr sz="1100" spc="-10" dirty="0">
                <a:latin typeface="LM Sans 10"/>
                <a:cs typeface="LM Sans 10"/>
              </a:rPr>
              <a:t>minimal </a:t>
            </a:r>
            <a:r>
              <a:rPr sz="1100" spc="-5" dirty="0">
                <a:latin typeface="LM Sans 10"/>
                <a:cs typeface="LM Sans 10"/>
              </a:rPr>
              <a:t>cost multiplication </a:t>
            </a:r>
            <a:r>
              <a:rPr sz="1100" spc="-10" dirty="0">
                <a:latin typeface="LM Sans 10"/>
                <a:cs typeface="LM Sans 10"/>
              </a:rPr>
              <a:t>sequence </a:t>
            </a:r>
            <a:r>
              <a:rPr sz="1100" spc="-15" dirty="0">
                <a:latin typeface="LM Sans 10"/>
                <a:cs typeface="LM Sans 10"/>
              </a:rPr>
              <a:t>for</a:t>
            </a:r>
            <a:endParaRPr sz="1100" dirty="0">
              <a:latin typeface="LM Sans 10"/>
              <a:cs typeface="LM Sans 10"/>
            </a:endParaRPr>
          </a:p>
          <a:p>
            <a:pPr marL="292100">
              <a:lnSpc>
                <a:spcPts val="1260"/>
              </a:lnSpc>
            </a:pPr>
            <a:r>
              <a:rPr sz="1100" i="1" spc="10" dirty="0">
                <a:solidFill>
                  <a:srgbClr val="FF0000"/>
                </a:solidFill>
                <a:latin typeface="LM Sans 10"/>
                <a:cs typeface="LM Sans 10"/>
              </a:rPr>
              <a:t>A</a:t>
            </a:r>
            <a:r>
              <a:rPr sz="1200" i="1" spc="15" baseline="-10416" dirty="0">
                <a:solidFill>
                  <a:srgbClr val="FF0000"/>
                </a:solidFill>
                <a:latin typeface="LM Sans 8"/>
                <a:cs typeface="LM Sans 8"/>
              </a:rPr>
              <a:t>i..j</a:t>
            </a:r>
            <a:r>
              <a:rPr sz="1200" i="1" spc="209" baseline="-10416" dirty="0">
                <a:solidFill>
                  <a:srgbClr val="FF0000"/>
                </a:solidFill>
                <a:latin typeface="LM Sans 8"/>
                <a:cs typeface="LM Sans 8"/>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232" baseline="-10416" dirty="0">
                <a:solidFill>
                  <a:srgbClr val="FF0000"/>
                </a:solidFill>
                <a:latin typeface="LM Sans 8"/>
                <a:cs typeface="LM Sans 8"/>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307" baseline="-10416" dirty="0">
                <a:solidFill>
                  <a:srgbClr val="FF0000"/>
                </a:solidFill>
                <a:latin typeface="LM Sans 8"/>
                <a:cs typeface="LM Sans 8"/>
              </a:rPr>
              <a:t> </a:t>
            </a:r>
            <a:r>
              <a:rPr sz="1200" spc="-7" baseline="-10416" dirty="0">
                <a:solidFill>
                  <a:srgbClr val="FF0000"/>
                </a:solidFill>
                <a:latin typeface="LM Sans 8"/>
                <a:cs typeface="LM Sans 8"/>
              </a:rPr>
              <a:t>+1</a:t>
            </a:r>
            <a:r>
              <a:rPr sz="1200" spc="-89" baseline="-10416"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j</a:t>
            </a:r>
            <a:r>
              <a:rPr sz="1200" i="1" spc="-240" baseline="-10416" dirty="0">
                <a:solidFill>
                  <a:srgbClr val="FF0000"/>
                </a:solidFill>
                <a:latin typeface="LM Sans 8"/>
                <a:cs typeface="LM Sans 8"/>
              </a:rPr>
              <a:t> </a:t>
            </a:r>
            <a:r>
              <a:rPr sz="1100" spc="-5" dirty="0">
                <a:latin typeface="LM Sans 10"/>
                <a:cs typeface="LM Sans 10"/>
              </a:rPr>
              <a:t>.</a:t>
            </a:r>
            <a:endParaRPr sz="1100" dirty="0">
              <a:latin typeface="LM Sans 10"/>
              <a:cs typeface="LM Sans 10"/>
            </a:endParaRPr>
          </a:p>
          <a:p>
            <a:pPr marR="1054735" algn="ctr">
              <a:lnSpc>
                <a:spcPct val="100000"/>
              </a:lnSpc>
              <a:spcBef>
                <a:spcPts val="175"/>
              </a:spcBef>
            </a:pPr>
            <a:r>
              <a:rPr sz="1000" spc="-5" dirty="0">
                <a:latin typeface="LM Sans 10"/>
                <a:cs typeface="LM Sans 10"/>
              </a:rPr>
              <a:t>Note that </a:t>
            </a:r>
            <a:r>
              <a:rPr sz="1000" i="1" dirty="0">
                <a:latin typeface="LM Sans 10"/>
                <a:cs typeface="LM Sans 10"/>
              </a:rPr>
              <a:t>A</a:t>
            </a:r>
            <a:r>
              <a:rPr sz="1050" i="1" baseline="-11904" dirty="0">
                <a:latin typeface="LM Sans 8"/>
                <a:cs typeface="LM Sans 8"/>
              </a:rPr>
              <a:t>i</a:t>
            </a:r>
            <a:r>
              <a:rPr sz="1050" i="1" baseline="-11904" dirty="0">
                <a:latin typeface="Verdana"/>
                <a:cs typeface="Verdana"/>
              </a:rPr>
              <a:t>..</a:t>
            </a:r>
            <a:r>
              <a:rPr sz="1050" i="1" baseline="-11904" dirty="0">
                <a:latin typeface="LM Sans 8"/>
                <a:cs typeface="LM Sans 8"/>
              </a:rPr>
              <a:t>j </a:t>
            </a:r>
            <a:r>
              <a:rPr sz="1000" spc="-5" dirty="0">
                <a:latin typeface="LM Sans 10"/>
                <a:cs typeface="LM Sans 10"/>
              </a:rPr>
              <a:t>is a </a:t>
            </a:r>
            <a:r>
              <a:rPr sz="1000" i="1" spc="65" dirty="0">
                <a:latin typeface="LM Sans 10"/>
                <a:cs typeface="LM Sans 10"/>
              </a:rPr>
              <a:t>p</a:t>
            </a:r>
            <a:r>
              <a:rPr sz="1050" i="1" spc="97" baseline="-11904" dirty="0">
                <a:latin typeface="LM Sans 8"/>
                <a:cs typeface="LM Sans 8"/>
              </a:rPr>
              <a:t>i</a:t>
            </a:r>
            <a:r>
              <a:rPr sz="1050" i="1" spc="97" baseline="-11904" dirty="0">
                <a:latin typeface="Arial"/>
                <a:cs typeface="Arial"/>
              </a:rPr>
              <a:t>−</a:t>
            </a:r>
            <a:r>
              <a:rPr sz="1050" spc="97" baseline="-11904" dirty="0">
                <a:latin typeface="LM Sans 8"/>
                <a:cs typeface="LM Sans 8"/>
              </a:rPr>
              <a:t>1 </a:t>
            </a:r>
            <a:r>
              <a:rPr sz="1000" i="1" spc="20" dirty="0">
                <a:latin typeface="DejaVu Sans Condensed"/>
                <a:cs typeface="DejaVu Sans Condensed"/>
              </a:rPr>
              <a:t>× </a:t>
            </a:r>
            <a:r>
              <a:rPr sz="1000" i="1" spc="-5" dirty="0">
                <a:latin typeface="LM Sans 10"/>
                <a:cs typeface="LM Sans 10"/>
              </a:rPr>
              <a:t>p</a:t>
            </a:r>
            <a:r>
              <a:rPr sz="1050" i="1" spc="-7" baseline="-11904" dirty="0">
                <a:latin typeface="LM Sans 8"/>
                <a:cs typeface="LM Sans 8"/>
              </a:rPr>
              <a:t>j</a:t>
            </a:r>
            <a:r>
              <a:rPr sz="1050" i="1" spc="30" baseline="-11904" dirty="0">
                <a:latin typeface="LM Sans 8"/>
                <a:cs typeface="LM Sans 8"/>
              </a:rPr>
              <a:t> </a:t>
            </a:r>
            <a:r>
              <a:rPr sz="1000" spc="-5" dirty="0">
                <a:latin typeface="LM Sans 10"/>
                <a:cs typeface="LM Sans 10"/>
              </a:rPr>
              <a:t>matrix.</a:t>
            </a:r>
            <a:endParaRPr sz="1000" dirty="0">
              <a:latin typeface="LM Sans 10"/>
              <a:cs typeface="LM Sans 10"/>
            </a:endParaRPr>
          </a:p>
        </p:txBody>
      </p:sp>
      <p:sp>
        <p:nvSpPr>
          <p:cNvPr id="8" name="object 8"/>
          <p:cNvSpPr/>
          <p:nvPr/>
        </p:nvSpPr>
        <p:spPr>
          <a:xfrm>
            <a:off x="502551" y="2464168"/>
            <a:ext cx="65265" cy="65265"/>
          </a:xfrm>
          <a:prstGeom prst="rect">
            <a:avLst/>
          </a:prstGeom>
          <a:blipFill>
            <a:blip r:embed="rId4" cstate="print"/>
            <a:stretch>
              <a:fillRect/>
            </a:stretch>
          </a:blipFill>
        </p:spPr>
        <p:txBody>
          <a:bodyPr wrap="square" lIns="0" tIns="0" rIns="0" bIns="0" rtlCol="0"/>
          <a:lstStyle/>
          <a:p>
            <a:endParaRPr/>
          </a:p>
        </p:txBody>
      </p:sp>
      <p:sp>
        <p:nvSpPr>
          <p:cNvPr id="11" name="object 11"/>
          <p:cNvSpPr txBox="1"/>
          <p:nvPr/>
        </p:nvSpPr>
        <p:spPr>
          <a:xfrm>
            <a:off x="1262849" y="2367761"/>
            <a:ext cx="671195" cy="135293"/>
          </a:xfrm>
          <a:prstGeom prst="rect">
            <a:avLst/>
          </a:prstGeom>
        </p:spPr>
        <p:txBody>
          <a:bodyPr vert="horz" wrap="square" lIns="0" tIns="12065" rIns="0" bIns="0" rtlCol="0">
            <a:spAutoFit/>
          </a:bodyPr>
          <a:lstStyle/>
          <a:p>
            <a:pPr marL="38100">
              <a:lnSpc>
                <a:spcPct val="100000"/>
              </a:lnSpc>
              <a:spcBef>
                <a:spcPts val="95"/>
              </a:spcBef>
              <a:tabLst>
                <a:tab pos="579120" algn="l"/>
              </a:tabLst>
            </a:pPr>
            <a:r>
              <a:rPr sz="1200" i="1" spc="-7" baseline="6944" dirty="0">
                <a:latin typeface="LM Sans 8"/>
                <a:cs typeface="LM Sans 8"/>
              </a:rPr>
              <a:t>	</a:t>
            </a:r>
            <a:r>
              <a:rPr sz="800" spc="-5" dirty="0">
                <a:latin typeface="LM Sans 8"/>
                <a:cs typeface="LM Sans 8"/>
              </a:rPr>
              <a:t>2</a:t>
            </a:r>
            <a:endParaRPr sz="800" dirty="0">
              <a:latin typeface="LM Sans 8"/>
              <a:cs typeface="LM Sans 8"/>
            </a:endParaRPr>
          </a:p>
        </p:txBody>
      </p:sp>
      <p:sp>
        <p:nvSpPr>
          <p:cNvPr id="12" name="object 12"/>
          <p:cNvSpPr txBox="1"/>
          <p:nvPr/>
        </p:nvSpPr>
        <p:spPr>
          <a:xfrm>
            <a:off x="624395" y="2363554"/>
            <a:ext cx="3585655" cy="180819"/>
          </a:xfrm>
          <a:prstGeom prst="rect">
            <a:avLst/>
          </a:prstGeom>
        </p:spPr>
        <p:txBody>
          <a:bodyPr vert="horz" wrap="square" lIns="0" tIns="11430" rIns="0" bIns="0" rtlCol="0">
            <a:spAutoFit/>
          </a:bodyPr>
          <a:lstStyle/>
          <a:p>
            <a:pPr marL="12700">
              <a:lnSpc>
                <a:spcPct val="100000"/>
              </a:lnSpc>
              <a:spcBef>
                <a:spcPts val="90"/>
              </a:spcBef>
              <a:tabLst>
                <a:tab pos="835660" algn="l"/>
              </a:tabLst>
            </a:pPr>
            <a:r>
              <a:rPr sz="1100" spc="-10" dirty="0">
                <a:latin typeface="LM Sans 10"/>
                <a:cs typeface="LM Sans 10"/>
              </a:rPr>
              <a:t>There</a:t>
            </a:r>
            <a:r>
              <a:rPr sz="1100" dirty="0">
                <a:latin typeface="LM Sans 10"/>
                <a:cs typeface="LM Sans 10"/>
              </a:rPr>
              <a:t> </a:t>
            </a:r>
            <a:r>
              <a:rPr sz="1100" spc="-15" dirty="0">
                <a:latin typeface="LM Sans 10"/>
                <a:cs typeface="LM Sans 10"/>
              </a:rPr>
              <a:t>ar</a:t>
            </a:r>
            <a:r>
              <a:rPr lang="en-US" sz="1100" spc="-15" dirty="0">
                <a:latin typeface="LM Sans 10"/>
                <a:cs typeface="LM Sans 10"/>
              </a:rPr>
              <a:t>e          </a:t>
            </a:r>
            <a:r>
              <a:rPr sz="1100" spc="-10" dirty="0">
                <a:latin typeface="LM Sans 10"/>
                <a:cs typeface="LM Sans 10"/>
              </a:rPr>
              <a:t>Θ(</a:t>
            </a:r>
            <a:r>
              <a:rPr sz="1100" i="1" spc="-10" dirty="0">
                <a:latin typeface="LM Sans 10"/>
                <a:cs typeface="LM Sans 10"/>
              </a:rPr>
              <a:t>n </a:t>
            </a:r>
            <a:r>
              <a:rPr lang="en-US" sz="1100" i="1" spc="-10" dirty="0">
                <a:latin typeface="LM Sans 10"/>
                <a:cs typeface="LM Sans 10"/>
              </a:rPr>
              <a:t>  </a:t>
            </a:r>
            <a:r>
              <a:rPr sz="1100" spc="-5" dirty="0">
                <a:latin typeface="LM Sans 10"/>
                <a:cs typeface="LM Sans 10"/>
              </a:rPr>
              <a:t>) such </a:t>
            </a:r>
            <a:r>
              <a:rPr sz="1100" spc="-10" dirty="0">
                <a:latin typeface="LM Sans 10"/>
                <a:cs typeface="LM Sans 10"/>
              </a:rPr>
              <a:t>subproblems.</a:t>
            </a:r>
            <a:r>
              <a:rPr sz="1100" spc="-190" dirty="0">
                <a:latin typeface="LM Sans 10"/>
                <a:cs typeface="LM Sans 10"/>
              </a:rPr>
              <a:t> </a:t>
            </a:r>
            <a:r>
              <a:rPr sz="1100" spc="-10" dirty="0">
                <a:latin typeface="LM Sans 10"/>
                <a:cs typeface="LM Sans 10"/>
              </a:rPr>
              <a:t>(Why?)</a:t>
            </a:r>
            <a:endParaRPr sz="1100" dirty="0">
              <a:latin typeface="LM Sans 10"/>
              <a:cs typeface="LM Sans 10"/>
            </a:endParaRPr>
          </a:p>
        </p:txBody>
      </p:sp>
      <p:sp>
        <p:nvSpPr>
          <p:cNvPr id="13" name="object 13"/>
          <p:cNvSpPr/>
          <p:nvPr/>
        </p:nvSpPr>
        <p:spPr>
          <a:xfrm>
            <a:off x="502551" y="2674200"/>
            <a:ext cx="65265" cy="65265"/>
          </a:xfrm>
          <a:prstGeom prst="rect">
            <a:avLst/>
          </a:prstGeom>
          <a:blipFill>
            <a:blip r:embed="rId2" cstate="print"/>
            <a:stretch>
              <a:fillRect/>
            </a:stretch>
          </a:blipFill>
        </p:spPr>
        <p:txBody>
          <a:bodyPr wrap="square" lIns="0" tIns="0" rIns="0" bIns="0" rtlCol="0"/>
          <a:lstStyle/>
          <a:p>
            <a:endParaRPr/>
          </a:p>
        </p:txBody>
      </p:sp>
      <p:sp>
        <p:nvSpPr>
          <p:cNvPr id="14" name="object 14"/>
          <p:cNvSpPr txBox="1"/>
          <p:nvPr/>
        </p:nvSpPr>
        <p:spPr>
          <a:xfrm>
            <a:off x="624395" y="2590748"/>
            <a:ext cx="3636645" cy="191770"/>
          </a:xfrm>
          <a:prstGeom prst="rect">
            <a:avLst/>
          </a:prstGeom>
        </p:spPr>
        <p:txBody>
          <a:bodyPr vert="horz" wrap="square" lIns="0" tIns="11430" rIns="0" bIns="0" rtlCol="0">
            <a:spAutoFit/>
          </a:bodyPr>
          <a:lstStyle/>
          <a:p>
            <a:pPr marL="12700">
              <a:lnSpc>
                <a:spcPct val="100000"/>
              </a:lnSpc>
              <a:spcBef>
                <a:spcPts val="90"/>
              </a:spcBef>
            </a:pPr>
            <a:r>
              <a:rPr sz="1100" spc="-20" dirty="0">
                <a:latin typeface="LM Sans 10"/>
                <a:cs typeface="LM Sans 10"/>
              </a:rPr>
              <a:t>How </a:t>
            </a:r>
            <a:r>
              <a:rPr sz="1100" spc="-10" dirty="0">
                <a:latin typeface="LM Sans 10"/>
                <a:cs typeface="LM Sans 10"/>
              </a:rPr>
              <a:t>can </a:t>
            </a:r>
            <a:r>
              <a:rPr sz="1100" spc="-25" dirty="0">
                <a:latin typeface="LM Sans 10"/>
                <a:cs typeface="LM Sans 10"/>
              </a:rPr>
              <a:t>we </a:t>
            </a:r>
            <a:r>
              <a:rPr sz="1100" spc="-5" dirty="0">
                <a:latin typeface="LM Sans 10"/>
                <a:cs typeface="LM Sans 10"/>
              </a:rPr>
              <a:t>solve </a:t>
            </a:r>
            <a:r>
              <a:rPr sz="1100" spc="-10" dirty="0">
                <a:latin typeface="LM Sans 10"/>
                <a:cs typeface="LM Sans 10"/>
              </a:rPr>
              <a:t>larger problems </a:t>
            </a:r>
            <a:r>
              <a:rPr sz="1100" spc="-5" dirty="0">
                <a:latin typeface="LM Sans 10"/>
                <a:cs typeface="LM Sans 10"/>
              </a:rPr>
              <a:t>using </a:t>
            </a:r>
            <a:r>
              <a:rPr sz="1100" spc="-10" dirty="0">
                <a:latin typeface="LM Sans 10"/>
                <a:cs typeface="LM Sans 10"/>
              </a:rPr>
              <a:t>subproblem</a:t>
            </a:r>
            <a:r>
              <a:rPr sz="1100" spc="-60" dirty="0">
                <a:latin typeface="LM Sans 10"/>
                <a:cs typeface="LM Sans 10"/>
              </a:rPr>
              <a:t> </a:t>
            </a:r>
            <a:r>
              <a:rPr sz="1100" spc="-5" dirty="0">
                <a:latin typeface="LM Sans 10"/>
                <a:cs typeface="LM Sans 10"/>
              </a:rPr>
              <a:t>solutions?</a:t>
            </a:r>
            <a:endParaRPr sz="1100" dirty="0">
              <a:latin typeface="LM Sans 10"/>
              <a:cs typeface="LM Sans 10"/>
            </a:endParaRPr>
          </a:p>
        </p:txBody>
      </p:sp>
      <p:grpSp>
        <p:nvGrpSpPr>
          <p:cNvPr id="15" name="object 15"/>
          <p:cNvGrpSpPr/>
          <p:nvPr/>
        </p:nvGrpSpPr>
        <p:grpSpPr>
          <a:xfrm>
            <a:off x="0" y="3342919"/>
            <a:ext cx="4608195" cy="113664"/>
            <a:chOff x="0" y="3342919"/>
            <a:chExt cx="4608195" cy="113664"/>
          </a:xfrm>
        </p:grpSpPr>
        <p:sp>
          <p:nvSpPr>
            <p:cNvPr id="16" name="object 1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7" name="object 1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8" name="object 1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0" name="object 2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5" action="ppaction://hlinksldjump"/>
              </a:rPr>
              <a:t>Chain </a:t>
            </a:r>
            <a:r>
              <a:rPr sz="600" b="1" spc="-5" dirty="0">
                <a:solidFill>
                  <a:srgbClr val="FFFFFF"/>
                </a:solidFill>
                <a:latin typeface="LM Sans 10"/>
                <a:cs typeface="LM Sans 10"/>
                <a:hlinkClick r:id="rId5" action="ppaction://hlinksldjump"/>
              </a:rPr>
              <a:t>Matrix Multiplication</a:t>
            </a:r>
            <a:endParaRPr sz="600">
              <a:latin typeface="LM Sans 10"/>
              <a:cs typeface="LM Sans 10"/>
            </a:endParaRPr>
          </a:p>
        </p:txBody>
      </p:sp>
      <p:sp>
        <p:nvSpPr>
          <p:cNvPr id="21" name="object 2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10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40888"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txBox="1"/>
          <p:nvPr/>
        </p:nvSpPr>
        <p:spPr>
          <a:xfrm>
            <a:off x="321894" y="387221"/>
            <a:ext cx="3919220" cy="535940"/>
          </a:xfrm>
          <a:prstGeom prst="rect">
            <a:avLst/>
          </a:prstGeom>
        </p:spPr>
        <p:txBody>
          <a:bodyPr vert="horz" wrap="square" lIns="0" tIns="6985" rIns="0" bIns="0" rtlCol="0">
            <a:spAutoFit/>
          </a:bodyPr>
          <a:lstStyle/>
          <a:p>
            <a:pPr marL="38100" marR="30480">
              <a:lnSpc>
                <a:spcPct val="102600"/>
              </a:lnSpc>
              <a:spcBef>
                <a:spcPts val="55"/>
              </a:spcBef>
            </a:pPr>
            <a:r>
              <a:rPr sz="1100" spc="-25" dirty="0">
                <a:latin typeface="LM Sans 10"/>
                <a:cs typeface="LM Sans 10"/>
              </a:rPr>
              <a:t>At </a:t>
            </a:r>
            <a:r>
              <a:rPr sz="1100" spc="-5" dirty="0">
                <a:latin typeface="LM Sans 10"/>
                <a:cs typeface="LM Sans 10"/>
              </a:rPr>
              <a:t>the last step of </a:t>
            </a:r>
            <a:r>
              <a:rPr sz="1100" i="1" spc="-10" dirty="0">
                <a:latin typeface="LM Sans 10"/>
                <a:cs typeface="LM Sans 10"/>
              </a:rPr>
              <a:t>any </a:t>
            </a:r>
            <a:r>
              <a:rPr sz="1100" spc="-5" dirty="0">
                <a:latin typeface="LM Sans 10"/>
                <a:cs typeface="LM Sans 10"/>
              </a:rPr>
              <a:t>optimal multiplication sequence </a:t>
            </a:r>
            <a:r>
              <a:rPr sz="1100" spc="-15" dirty="0">
                <a:latin typeface="LM Sans 10"/>
                <a:cs typeface="LM Sans 10"/>
              </a:rPr>
              <a:t>(for </a:t>
            </a:r>
            <a:r>
              <a:rPr sz="1100" spc="-10" dirty="0">
                <a:latin typeface="LM Sans 10"/>
                <a:cs typeface="LM Sans 10"/>
              </a:rPr>
              <a:t>a  subbroblem), there </a:t>
            </a:r>
            <a:r>
              <a:rPr sz="1100" spc="-5" dirty="0">
                <a:latin typeface="LM Sans 10"/>
                <a:cs typeface="LM Sans 10"/>
              </a:rPr>
              <a:t>is some </a:t>
            </a:r>
            <a:r>
              <a:rPr sz="1100" i="1" spc="-10" dirty="0">
                <a:latin typeface="LM Sans 10"/>
                <a:cs typeface="LM Sans 10"/>
              </a:rPr>
              <a:t>k </a:t>
            </a:r>
            <a:r>
              <a:rPr sz="1100" spc="-5" dirty="0">
                <a:latin typeface="LM Sans 10"/>
                <a:cs typeface="LM Sans 10"/>
              </a:rPr>
              <a:t>such that the </a:t>
            </a:r>
            <a:r>
              <a:rPr sz="1100" spc="-30" dirty="0">
                <a:latin typeface="LM Sans 10"/>
                <a:cs typeface="LM Sans 10"/>
              </a:rPr>
              <a:t>two </a:t>
            </a:r>
            <a:r>
              <a:rPr sz="1100" spc="-5" dirty="0">
                <a:latin typeface="LM Sans 10"/>
                <a:cs typeface="LM Sans 10"/>
              </a:rPr>
              <a:t>matrices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15" dirty="0">
                <a:latin typeface="LM Sans 10"/>
                <a:cs typeface="LM Sans 10"/>
              </a:rPr>
              <a:t>are </a:t>
            </a:r>
            <a:r>
              <a:rPr sz="1100" spc="-10" dirty="0">
                <a:latin typeface="LM Sans 10"/>
                <a:cs typeface="LM Sans 10"/>
              </a:rPr>
              <a:t>multipled</a:t>
            </a:r>
            <a:r>
              <a:rPr sz="1100" spc="-90" dirty="0">
                <a:latin typeface="LM Sans 10"/>
                <a:cs typeface="LM Sans 10"/>
              </a:rPr>
              <a:t> </a:t>
            </a:r>
            <a:r>
              <a:rPr sz="1100" spc="-5" dirty="0">
                <a:latin typeface="LM Sans 10"/>
                <a:cs typeface="LM Sans 10"/>
              </a:rPr>
              <a:t>together.</a:t>
            </a:r>
            <a:endParaRPr sz="1100">
              <a:latin typeface="LM Sans 10"/>
              <a:cs typeface="LM Sans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11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3064688" cy="232756"/>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LM Sans 12"/>
                <a:cs typeface="LM Sans 12"/>
              </a:rPr>
              <a:t>Relationships </a:t>
            </a:r>
            <a:r>
              <a:rPr sz="1400" spc="15" dirty="0">
                <a:solidFill>
                  <a:srgbClr val="FFFFFF"/>
                </a:solidFill>
                <a:latin typeface="LM Sans 12"/>
                <a:cs typeface="LM Sans 12"/>
              </a:rPr>
              <a:t>among</a:t>
            </a:r>
            <a:r>
              <a:rPr sz="1400" spc="-5" dirty="0">
                <a:solidFill>
                  <a:srgbClr val="FFFFFF"/>
                </a:solidFill>
                <a:latin typeface="LM Sans 12"/>
                <a:cs typeface="LM Sans 12"/>
              </a:rPr>
              <a:t> </a:t>
            </a:r>
            <a:r>
              <a:rPr sz="1400" spc="10" dirty="0">
                <a:solidFill>
                  <a:srgbClr val="FFFFFF"/>
                </a:solidFill>
                <a:latin typeface="LM Sans 12"/>
                <a:cs typeface="LM Sans 12"/>
              </a:rPr>
              <a:t>subproblems</a:t>
            </a:r>
            <a:endParaRPr sz="1400" dirty="0">
              <a:latin typeface="LM Sans 12"/>
              <a:cs typeface="LM Sans 12"/>
            </a:endParaRPr>
          </a:p>
        </p:txBody>
      </p:sp>
      <p:sp>
        <p:nvSpPr>
          <p:cNvPr id="3" name="object 3"/>
          <p:cNvSpPr txBox="1"/>
          <p:nvPr/>
        </p:nvSpPr>
        <p:spPr>
          <a:xfrm>
            <a:off x="309194" y="387221"/>
            <a:ext cx="3944620" cy="847090"/>
          </a:xfrm>
          <a:prstGeom prst="rect">
            <a:avLst/>
          </a:prstGeom>
        </p:spPr>
        <p:txBody>
          <a:bodyPr vert="horz" wrap="square" lIns="0" tIns="6985" rIns="0" bIns="0" rtlCol="0">
            <a:spAutoFit/>
          </a:bodyPr>
          <a:lstStyle/>
          <a:p>
            <a:pPr marL="50800" marR="43180">
              <a:lnSpc>
                <a:spcPct val="102600"/>
              </a:lnSpc>
              <a:spcBef>
                <a:spcPts val="55"/>
              </a:spcBef>
            </a:pPr>
            <a:r>
              <a:rPr sz="1100" spc="-25" dirty="0">
                <a:latin typeface="LM Sans 10"/>
                <a:cs typeface="LM Sans 10"/>
              </a:rPr>
              <a:t>At </a:t>
            </a:r>
            <a:r>
              <a:rPr sz="1100" spc="-5" dirty="0">
                <a:latin typeface="LM Sans 10"/>
                <a:cs typeface="LM Sans 10"/>
              </a:rPr>
              <a:t>the last step of </a:t>
            </a:r>
            <a:r>
              <a:rPr sz="1100" i="1" spc="-10" dirty="0">
                <a:latin typeface="LM Sans 10"/>
                <a:cs typeface="LM Sans 10"/>
              </a:rPr>
              <a:t>any </a:t>
            </a:r>
            <a:r>
              <a:rPr sz="1100" spc="-5" dirty="0">
                <a:latin typeface="LM Sans 10"/>
                <a:cs typeface="LM Sans 10"/>
              </a:rPr>
              <a:t>optimal multiplication sequence </a:t>
            </a:r>
            <a:r>
              <a:rPr sz="1100" spc="-15" dirty="0">
                <a:latin typeface="LM Sans 10"/>
                <a:cs typeface="LM Sans 10"/>
              </a:rPr>
              <a:t>(for </a:t>
            </a:r>
            <a:r>
              <a:rPr sz="1100" spc="-10" dirty="0">
                <a:latin typeface="LM Sans 10"/>
                <a:cs typeface="LM Sans 10"/>
              </a:rPr>
              <a:t>a  subbroblem), there </a:t>
            </a:r>
            <a:r>
              <a:rPr sz="1100" spc="-5" dirty="0">
                <a:latin typeface="LM Sans 10"/>
                <a:cs typeface="LM Sans 10"/>
              </a:rPr>
              <a:t>is some </a:t>
            </a:r>
            <a:r>
              <a:rPr sz="1100" i="1" spc="-10" dirty="0">
                <a:latin typeface="LM Sans 10"/>
                <a:cs typeface="LM Sans 10"/>
              </a:rPr>
              <a:t>k </a:t>
            </a:r>
            <a:r>
              <a:rPr sz="1100" spc="-5" dirty="0">
                <a:latin typeface="LM Sans 10"/>
                <a:cs typeface="LM Sans 10"/>
              </a:rPr>
              <a:t>such that the </a:t>
            </a:r>
            <a:r>
              <a:rPr sz="1100" spc="-30" dirty="0">
                <a:latin typeface="LM Sans 10"/>
                <a:cs typeface="LM Sans 10"/>
              </a:rPr>
              <a:t>two </a:t>
            </a:r>
            <a:r>
              <a:rPr sz="1100" spc="-5" dirty="0">
                <a:latin typeface="LM Sans 10"/>
                <a:cs typeface="LM Sans 10"/>
              </a:rPr>
              <a:t>matrices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15" dirty="0">
                <a:latin typeface="LM Sans 10"/>
                <a:cs typeface="LM Sans 10"/>
              </a:rPr>
              <a:t>are </a:t>
            </a:r>
            <a:r>
              <a:rPr sz="1100" spc="-10" dirty="0">
                <a:latin typeface="LM Sans 10"/>
                <a:cs typeface="LM Sans 10"/>
              </a:rPr>
              <a:t>multipled </a:t>
            </a:r>
            <a:r>
              <a:rPr sz="1100" spc="-5" dirty="0">
                <a:latin typeface="LM Sans 10"/>
                <a:cs typeface="LM Sans 10"/>
              </a:rPr>
              <a:t>together. </a:t>
            </a:r>
            <a:r>
              <a:rPr sz="1100" spc="-10" dirty="0">
                <a:latin typeface="LM Sans 10"/>
                <a:cs typeface="LM Sans 10"/>
              </a:rPr>
              <a:t>That</a:t>
            </a:r>
            <a:r>
              <a:rPr sz="1100" spc="35" dirty="0">
                <a:latin typeface="LM Sans 10"/>
                <a:cs typeface="LM Sans 10"/>
              </a:rPr>
              <a:t> </a:t>
            </a:r>
            <a:r>
              <a:rPr sz="1100" spc="-5" dirty="0">
                <a:latin typeface="LM Sans 10"/>
                <a:cs typeface="LM Sans 10"/>
              </a:rPr>
              <a:t>is,</a:t>
            </a:r>
            <a:endParaRPr sz="1100">
              <a:latin typeface="LM Sans 10"/>
              <a:cs typeface="LM Sans 10"/>
            </a:endParaRPr>
          </a:p>
          <a:p>
            <a:pPr>
              <a:lnSpc>
                <a:spcPct val="100000"/>
              </a:lnSpc>
              <a:spcBef>
                <a:spcPts val="35"/>
              </a:spcBef>
            </a:pPr>
            <a:endParaRPr sz="750">
              <a:latin typeface="LM Sans 10"/>
              <a:cs typeface="LM Sans 10"/>
            </a:endParaRPr>
          </a:p>
          <a:p>
            <a:pPr marL="647065">
              <a:lnSpc>
                <a:spcPct val="100000"/>
              </a:lnSpc>
            </a:pPr>
            <a:r>
              <a:rPr sz="1100" i="1" spc="10" dirty="0">
                <a:solidFill>
                  <a:srgbClr val="FF0000"/>
                </a:solidFill>
                <a:latin typeface="LM Sans 10"/>
                <a:cs typeface="LM Sans 10"/>
              </a:rPr>
              <a:t>A</a:t>
            </a:r>
            <a:r>
              <a:rPr sz="1200" i="1" spc="15" baseline="-10416" dirty="0">
                <a:solidFill>
                  <a:srgbClr val="FF0000"/>
                </a:solidFill>
                <a:latin typeface="LM Sans 8"/>
                <a:cs typeface="LM Sans 8"/>
              </a:rPr>
              <a:t>i..j</a:t>
            </a:r>
            <a:r>
              <a:rPr sz="1200" i="1" spc="209" baseline="-10416" dirty="0">
                <a:solidFill>
                  <a:srgbClr val="FF0000"/>
                </a:solidFill>
                <a:latin typeface="LM Sans 8"/>
                <a:cs typeface="LM Sans 8"/>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37" baseline="-10416"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40"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i="1" spc="-254" baseline="-13888" dirty="0">
                <a:solidFill>
                  <a:srgbClr val="FF0000"/>
                </a:solidFill>
                <a:latin typeface="LM Sans 8"/>
                <a:cs typeface="LM Sans 8"/>
              </a:rPr>
              <a:t> </a:t>
            </a:r>
            <a:r>
              <a:rPr sz="1100" spc="-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spc="-82" baseline="-13888"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j</a:t>
            </a:r>
            <a:r>
              <a:rPr sz="1200" i="1" spc="-240" baseline="-10416" dirty="0">
                <a:solidFill>
                  <a:srgbClr val="FF0000"/>
                </a:solidFill>
                <a:latin typeface="LM Sans 8"/>
                <a:cs typeface="LM Sans 8"/>
              </a:rPr>
              <a:t> </a:t>
            </a:r>
            <a:r>
              <a:rPr sz="1100" spc="-5" dirty="0">
                <a:solidFill>
                  <a:srgbClr val="FF0000"/>
                </a:solidFill>
                <a:latin typeface="LM Sans 10"/>
                <a:cs typeface="LM Sans 10"/>
              </a:rPr>
              <a:t>)</a:t>
            </a:r>
            <a:endParaRPr sz="1100">
              <a:latin typeface="LM Sans 10"/>
              <a:cs typeface="LM Sans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11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4222977" cy="232756"/>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LM Sans 12"/>
                <a:cs typeface="LM Sans 12"/>
              </a:rPr>
              <a:t>Relationships </a:t>
            </a:r>
            <a:r>
              <a:rPr sz="1400" spc="15" dirty="0">
                <a:solidFill>
                  <a:srgbClr val="FFFFFF"/>
                </a:solidFill>
                <a:latin typeface="LM Sans 12"/>
                <a:cs typeface="LM Sans 12"/>
              </a:rPr>
              <a:t>among</a:t>
            </a:r>
            <a:r>
              <a:rPr sz="1400" spc="-5" dirty="0">
                <a:solidFill>
                  <a:srgbClr val="FFFFFF"/>
                </a:solidFill>
                <a:latin typeface="LM Sans 12"/>
                <a:cs typeface="LM Sans 12"/>
              </a:rPr>
              <a:t> </a:t>
            </a:r>
            <a:r>
              <a:rPr sz="1400" spc="10" dirty="0">
                <a:solidFill>
                  <a:srgbClr val="FFFFFF"/>
                </a:solidFill>
                <a:latin typeface="LM Sans 12"/>
                <a:cs typeface="LM Sans 12"/>
              </a:rPr>
              <a:t>subproblems</a:t>
            </a:r>
            <a:endParaRPr sz="1400" dirty="0">
              <a:latin typeface="LM Sans 12"/>
              <a:cs typeface="LM Sans 12"/>
            </a:endParaRPr>
          </a:p>
        </p:txBody>
      </p:sp>
      <p:sp>
        <p:nvSpPr>
          <p:cNvPr id="3" name="object 3"/>
          <p:cNvSpPr txBox="1"/>
          <p:nvPr/>
        </p:nvSpPr>
        <p:spPr>
          <a:xfrm>
            <a:off x="309194" y="387221"/>
            <a:ext cx="3944620" cy="847090"/>
          </a:xfrm>
          <a:prstGeom prst="rect">
            <a:avLst/>
          </a:prstGeom>
        </p:spPr>
        <p:txBody>
          <a:bodyPr vert="horz" wrap="square" lIns="0" tIns="6985" rIns="0" bIns="0" rtlCol="0">
            <a:spAutoFit/>
          </a:bodyPr>
          <a:lstStyle/>
          <a:p>
            <a:pPr marL="50800" marR="43180">
              <a:lnSpc>
                <a:spcPct val="102600"/>
              </a:lnSpc>
              <a:spcBef>
                <a:spcPts val="55"/>
              </a:spcBef>
            </a:pPr>
            <a:r>
              <a:rPr sz="1100" spc="-25" dirty="0">
                <a:latin typeface="LM Sans 10"/>
                <a:cs typeface="LM Sans 10"/>
              </a:rPr>
              <a:t>At </a:t>
            </a:r>
            <a:r>
              <a:rPr sz="1100" spc="-5" dirty="0">
                <a:latin typeface="LM Sans 10"/>
                <a:cs typeface="LM Sans 10"/>
              </a:rPr>
              <a:t>the last step of </a:t>
            </a:r>
            <a:r>
              <a:rPr sz="1100" i="1" spc="-10" dirty="0">
                <a:latin typeface="LM Sans 10"/>
                <a:cs typeface="LM Sans 10"/>
              </a:rPr>
              <a:t>any </a:t>
            </a:r>
            <a:r>
              <a:rPr sz="1100" spc="-5" dirty="0">
                <a:latin typeface="LM Sans 10"/>
                <a:cs typeface="LM Sans 10"/>
              </a:rPr>
              <a:t>optimal multiplication sequence </a:t>
            </a:r>
            <a:r>
              <a:rPr sz="1100" spc="-15" dirty="0">
                <a:latin typeface="LM Sans 10"/>
                <a:cs typeface="LM Sans 10"/>
              </a:rPr>
              <a:t>(for </a:t>
            </a:r>
            <a:r>
              <a:rPr sz="1100" spc="-10" dirty="0">
                <a:latin typeface="LM Sans 10"/>
                <a:cs typeface="LM Sans 10"/>
              </a:rPr>
              <a:t>a  subbroblem), there </a:t>
            </a:r>
            <a:r>
              <a:rPr sz="1100" spc="-5" dirty="0">
                <a:latin typeface="LM Sans 10"/>
                <a:cs typeface="LM Sans 10"/>
              </a:rPr>
              <a:t>is some </a:t>
            </a:r>
            <a:r>
              <a:rPr sz="1100" i="1" spc="-10" dirty="0">
                <a:latin typeface="LM Sans 10"/>
                <a:cs typeface="LM Sans 10"/>
              </a:rPr>
              <a:t>k </a:t>
            </a:r>
            <a:r>
              <a:rPr sz="1100" spc="-5" dirty="0">
                <a:latin typeface="LM Sans 10"/>
                <a:cs typeface="LM Sans 10"/>
              </a:rPr>
              <a:t>such that the </a:t>
            </a:r>
            <a:r>
              <a:rPr sz="1100" spc="-30" dirty="0">
                <a:latin typeface="LM Sans 10"/>
                <a:cs typeface="LM Sans 10"/>
              </a:rPr>
              <a:t>two </a:t>
            </a:r>
            <a:r>
              <a:rPr sz="1100" spc="-5" dirty="0">
                <a:latin typeface="LM Sans 10"/>
                <a:cs typeface="LM Sans 10"/>
              </a:rPr>
              <a:t>matrices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15" dirty="0">
                <a:latin typeface="LM Sans 10"/>
                <a:cs typeface="LM Sans 10"/>
              </a:rPr>
              <a:t>are </a:t>
            </a:r>
            <a:r>
              <a:rPr sz="1100" spc="-10" dirty="0">
                <a:latin typeface="LM Sans 10"/>
                <a:cs typeface="LM Sans 10"/>
              </a:rPr>
              <a:t>multipled </a:t>
            </a:r>
            <a:r>
              <a:rPr sz="1100" spc="-5" dirty="0">
                <a:latin typeface="LM Sans 10"/>
                <a:cs typeface="LM Sans 10"/>
              </a:rPr>
              <a:t>together. </a:t>
            </a:r>
            <a:r>
              <a:rPr sz="1100" spc="-10" dirty="0">
                <a:latin typeface="LM Sans 10"/>
                <a:cs typeface="LM Sans 10"/>
              </a:rPr>
              <a:t>That</a:t>
            </a:r>
            <a:r>
              <a:rPr sz="1100" spc="35" dirty="0">
                <a:latin typeface="LM Sans 10"/>
                <a:cs typeface="LM Sans 10"/>
              </a:rPr>
              <a:t> </a:t>
            </a:r>
            <a:r>
              <a:rPr sz="1100" spc="-5" dirty="0">
                <a:latin typeface="LM Sans 10"/>
                <a:cs typeface="LM Sans 10"/>
              </a:rPr>
              <a:t>is,</a:t>
            </a:r>
            <a:endParaRPr sz="1100">
              <a:latin typeface="LM Sans 10"/>
              <a:cs typeface="LM Sans 10"/>
            </a:endParaRPr>
          </a:p>
          <a:p>
            <a:pPr>
              <a:lnSpc>
                <a:spcPct val="100000"/>
              </a:lnSpc>
              <a:spcBef>
                <a:spcPts val="35"/>
              </a:spcBef>
            </a:pPr>
            <a:endParaRPr sz="750">
              <a:latin typeface="LM Sans 10"/>
              <a:cs typeface="LM Sans 10"/>
            </a:endParaRPr>
          </a:p>
          <a:p>
            <a:pPr marL="45085" algn="ctr">
              <a:lnSpc>
                <a:spcPct val="100000"/>
              </a:lnSpc>
            </a:pPr>
            <a:r>
              <a:rPr sz="1100" i="1" spc="10" dirty="0">
                <a:solidFill>
                  <a:srgbClr val="FF0000"/>
                </a:solidFill>
                <a:latin typeface="LM Sans 10"/>
                <a:cs typeface="LM Sans 10"/>
              </a:rPr>
              <a:t>A</a:t>
            </a:r>
            <a:r>
              <a:rPr sz="1200" i="1" spc="15" baseline="-10416" dirty="0">
                <a:solidFill>
                  <a:srgbClr val="FF0000"/>
                </a:solidFill>
                <a:latin typeface="LM Sans 8"/>
                <a:cs typeface="LM Sans 8"/>
              </a:rPr>
              <a:t>i..j</a:t>
            </a:r>
            <a:r>
              <a:rPr sz="1200" i="1" spc="209" baseline="-10416" dirty="0">
                <a:solidFill>
                  <a:srgbClr val="FF0000"/>
                </a:solidFill>
                <a:latin typeface="LM Sans 8"/>
                <a:cs typeface="LM Sans 8"/>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37" baseline="-10416"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i="1" spc="-254" baseline="-13888" dirty="0">
                <a:solidFill>
                  <a:srgbClr val="FF0000"/>
                </a:solidFill>
                <a:latin typeface="LM Sans 8"/>
                <a:cs typeface="LM Sans 8"/>
              </a:rPr>
              <a:t> </a:t>
            </a:r>
            <a:r>
              <a:rPr sz="1100" spc="-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spc="-82" baseline="-13888"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j</a:t>
            </a:r>
            <a:r>
              <a:rPr sz="1200" i="1" spc="-240" baseline="-10416" dirty="0">
                <a:solidFill>
                  <a:srgbClr val="FF0000"/>
                </a:solidFill>
                <a:latin typeface="LM Sans 8"/>
                <a:cs typeface="LM Sans 8"/>
              </a:rPr>
              <a:t> </a:t>
            </a:r>
            <a:r>
              <a:rPr sz="1100" spc="-5" dirty="0">
                <a:solidFill>
                  <a:srgbClr val="FF0000"/>
                </a:solidFill>
                <a:latin typeface="LM Sans 10"/>
                <a:cs typeface="LM Sans 10"/>
              </a:rPr>
              <a:t>)</a:t>
            </a:r>
            <a:r>
              <a:rPr sz="1100" spc="-65" dirty="0">
                <a:solidFill>
                  <a:srgbClr val="FF0000"/>
                </a:solidFill>
                <a:latin typeface="LM Sans 10"/>
                <a:cs typeface="LM Sans 10"/>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i="1" spc="10" dirty="0">
                <a:solidFill>
                  <a:srgbClr val="FF0000"/>
                </a:solidFill>
                <a:latin typeface="LM Sans 10"/>
                <a:cs typeface="LM Sans 10"/>
              </a:rPr>
              <a:t>A</a:t>
            </a:r>
            <a:r>
              <a:rPr sz="1200" i="1" spc="15" baseline="-13888" dirty="0">
                <a:solidFill>
                  <a:srgbClr val="FF0000"/>
                </a:solidFill>
                <a:latin typeface="LM Sans 8"/>
                <a:cs typeface="LM Sans 8"/>
              </a:rPr>
              <a:t>i..k</a:t>
            </a:r>
            <a:r>
              <a:rPr sz="1200" i="1" spc="-254" baseline="-13888" dirty="0">
                <a:solidFill>
                  <a:srgbClr val="FF0000"/>
                </a:solidFill>
                <a:latin typeface="LM Sans 8"/>
                <a:cs typeface="LM Sans 8"/>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i="1" spc="7" baseline="-13888" dirty="0">
                <a:solidFill>
                  <a:srgbClr val="FF0000"/>
                </a:solidFill>
                <a:latin typeface="LM Sans 8"/>
                <a:cs typeface="LM Sans 8"/>
              </a:rPr>
              <a:t>..j</a:t>
            </a:r>
            <a:r>
              <a:rPr sz="1200" i="1" spc="-247" baseline="-13888" dirty="0">
                <a:solidFill>
                  <a:srgbClr val="FF0000"/>
                </a:solidFill>
                <a:latin typeface="LM Sans 8"/>
                <a:cs typeface="LM Sans 8"/>
              </a:rPr>
              <a:t> </a:t>
            </a:r>
            <a:r>
              <a:rPr sz="1100" i="1" spc="-5" dirty="0">
                <a:solidFill>
                  <a:srgbClr val="FF0000"/>
                </a:solidFill>
                <a:latin typeface="LM Roman Dunhill 10"/>
                <a:cs typeface="LM Roman Dunhill 10"/>
              </a:rPr>
              <a:t>.</a:t>
            </a:r>
            <a:endParaRPr sz="1100">
              <a:latin typeface="LM Roman Dunhill 10"/>
              <a:cs typeface="LM Roman Dunhill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11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369488"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txBox="1"/>
          <p:nvPr/>
        </p:nvSpPr>
        <p:spPr>
          <a:xfrm>
            <a:off x="309194" y="387221"/>
            <a:ext cx="3944620" cy="847090"/>
          </a:xfrm>
          <a:prstGeom prst="rect">
            <a:avLst/>
          </a:prstGeom>
        </p:spPr>
        <p:txBody>
          <a:bodyPr vert="horz" wrap="square" lIns="0" tIns="6985" rIns="0" bIns="0" rtlCol="0">
            <a:spAutoFit/>
          </a:bodyPr>
          <a:lstStyle/>
          <a:p>
            <a:pPr marL="50800" marR="43180">
              <a:lnSpc>
                <a:spcPct val="102600"/>
              </a:lnSpc>
              <a:spcBef>
                <a:spcPts val="55"/>
              </a:spcBef>
            </a:pPr>
            <a:r>
              <a:rPr sz="1100" spc="-25" dirty="0">
                <a:latin typeface="LM Sans 10"/>
                <a:cs typeface="LM Sans 10"/>
              </a:rPr>
              <a:t>At </a:t>
            </a:r>
            <a:r>
              <a:rPr sz="1100" spc="-5" dirty="0">
                <a:latin typeface="LM Sans 10"/>
                <a:cs typeface="LM Sans 10"/>
              </a:rPr>
              <a:t>the last step of </a:t>
            </a:r>
            <a:r>
              <a:rPr sz="1100" i="1" spc="-10" dirty="0">
                <a:latin typeface="LM Sans 10"/>
                <a:cs typeface="LM Sans 10"/>
              </a:rPr>
              <a:t>any </a:t>
            </a:r>
            <a:r>
              <a:rPr sz="1100" spc="-5" dirty="0">
                <a:latin typeface="LM Sans 10"/>
                <a:cs typeface="LM Sans 10"/>
              </a:rPr>
              <a:t>optimal multiplication sequence </a:t>
            </a:r>
            <a:r>
              <a:rPr sz="1100" spc="-15" dirty="0">
                <a:latin typeface="LM Sans 10"/>
                <a:cs typeface="LM Sans 10"/>
              </a:rPr>
              <a:t>(for </a:t>
            </a:r>
            <a:r>
              <a:rPr sz="1100" spc="-10" dirty="0">
                <a:latin typeface="LM Sans 10"/>
                <a:cs typeface="LM Sans 10"/>
              </a:rPr>
              <a:t>a  subbroblem), there </a:t>
            </a:r>
            <a:r>
              <a:rPr sz="1100" spc="-5" dirty="0">
                <a:latin typeface="LM Sans 10"/>
                <a:cs typeface="LM Sans 10"/>
              </a:rPr>
              <a:t>is some </a:t>
            </a:r>
            <a:r>
              <a:rPr sz="1100" i="1" spc="-10" dirty="0">
                <a:latin typeface="LM Sans 10"/>
                <a:cs typeface="LM Sans 10"/>
              </a:rPr>
              <a:t>k </a:t>
            </a:r>
            <a:r>
              <a:rPr sz="1100" spc="-5" dirty="0">
                <a:latin typeface="LM Sans 10"/>
                <a:cs typeface="LM Sans 10"/>
              </a:rPr>
              <a:t>such that the </a:t>
            </a:r>
            <a:r>
              <a:rPr sz="1100" spc="-30" dirty="0">
                <a:latin typeface="LM Sans 10"/>
                <a:cs typeface="LM Sans 10"/>
              </a:rPr>
              <a:t>two </a:t>
            </a:r>
            <a:r>
              <a:rPr sz="1100" spc="-5" dirty="0">
                <a:latin typeface="LM Sans 10"/>
                <a:cs typeface="LM Sans 10"/>
              </a:rPr>
              <a:t>matrices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15" dirty="0">
                <a:latin typeface="LM Sans 10"/>
                <a:cs typeface="LM Sans 10"/>
              </a:rPr>
              <a:t>are </a:t>
            </a:r>
            <a:r>
              <a:rPr sz="1100" spc="-10" dirty="0">
                <a:latin typeface="LM Sans 10"/>
                <a:cs typeface="LM Sans 10"/>
              </a:rPr>
              <a:t>multipled </a:t>
            </a:r>
            <a:r>
              <a:rPr sz="1100" spc="-5" dirty="0">
                <a:latin typeface="LM Sans 10"/>
                <a:cs typeface="LM Sans 10"/>
              </a:rPr>
              <a:t>together. </a:t>
            </a:r>
            <a:r>
              <a:rPr sz="1100" spc="-10" dirty="0">
                <a:latin typeface="LM Sans 10"/>
                <a:cs typeface="LM Sans 10"/>
              </a:rPr>
              <a:t>That</a:t>
            </a:r>
            <a:r>
              <a:rPr sz="1100" spc="35" dirty="0">
                <a:latin typeface="LM Sans 10"/>
                <a:cs typeface="LM Sans 10"/>
              </a:rPr>
              <a:t> </a:t>
            </a:r>
            <a:r>
              <a:rPr sz="1100" spc="-5" dirty="0">
                <a:latin typeface="LM Sans 10"/>
                <a:cs typeface="LM Sans 10"/>
              </a:rPr>
              <a:t>is,</a:t>
            </a:r>
            <a:endParaRPr sz="1100">
              <a:latin typeface="LM Sans 10"/>
              <a:cs typeface="LM Sans 10"/>
            </a:endParaRPr>
          </a:p>
          <a:p>
            <a:pPr>
              <a:lnSpc>
                <a:spcPct val="100000"/>
              </a:lnSpc>
              <a:spcBef>
                <a:spcPts val="35"/>
              </a:spcBef>
            </a:pPr>
            <a:endParaRPr sz="750">
              <a:latin typeface="LM Sans 10"/>
              <a:cs typeface="LM Sans 10"/>
            </a:endParaRPr>
          </a:p>
          <a:p>
            <a:pPr marL="45085" algn="ctr">
              <a:lnSpc>
                <a:spcPct val="100000"/>
              </a:lnSpc>
            </a:pPr>
            <a:r>
              <a:rPr sz="1100" i="1" spc="10" dirty="0">
                <a:solidFill>
                  <a:srgbClr val="FF0000"/>
                </a:solidFill>
                <a:latin typeface="LM Sans 10"/>
                <a:cs typeface="LM Sans 10"/>
              </a:rPr>
              <a:t>A</a:t>
            </a:r>
            <a:r>
              <a:rPr sz="1200" i="1" spc="15" baseline="-10416" dirty="0">
                <a:solidFill>
                  <a:srgbClr val="FF0000"/>
                </a:solidFill>
                <a:latin typeface="LM Sans 8"/>
                <a:cs typeface="LM Sans 8"/>
              </a:rPr>
              <a:t>i..j</a:t>
            </a:r>
            <a:r>
              <a:rPr sz="1200" i="1" spc="209" baseline="-10416" dirty="0">
                <a:solidFill>
                  <a:srgbClr val="FF0000"/>
                </a:solidFill>
                <a:latin typeface="LM Sans 8"/>
                <a:cs typeface="LM Sans 8"/>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37" baseline="-10416"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i="1" spc="-254" baseline="-13888" dirty="0">
                <a:solidFill>
                  <a:srgbClr val="FF0000"/>
                </a:solidFill>
                <a:latin typeface="LM Sans 8"/>
                <a:cs typeface="LM Sans 8"/>
              </a:rPr>
              <a:t> </a:t>
            </a:r>
            <a:r>
              <a:rPr sz="1100" spc="-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spc="-82" baseline="-13888"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j</a:t>
            </a:r>
            <a:r>
              <a:rPr sz="1200" i="1" spc="-240" baseline="-10416" dirty="0">
                <a:solidFill>
                  <a:srgbClr val="FF0000"/>
                </a:solidFill>
                <a:latin typeface="LM Sans 8"/>
                <a:cs typeface="LM Sans 8"/>
              </a:rPr>
              <a:t> </a:t>
            </a:r>
            <a:r>
              <a:rPr sz="1100" spc="-5" dirty="0">
                <a:solidFill>
                  <a:srgbClr val="FF0000"/>
                </a:solidFill>
                <a:latin typeface="LM Sans 10"/>
                <a:cs typeface="LM Sans 10"/>
              </a:rPr>
              <a:t>)</a:t>
            </a:r>
            <a:r>
              <a:rPr sz="1100" spc="-65" dirty="0">
                <a:solidFill>
                  <a:srgbClr val="FF0000"/>
                </a:solidFill>
                <a:latin typeface="LM Sans 10"/>
                <a:cs typeface="LM Sans 10"/>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i="1" spc="10" dirty="0">
                <a:solidFill>
                  <a:srgbClr val="FF0000"/>
                </a:solidFill>
                <a:latin typeface="LM Sans 10"/>
                <a:cs typeface="LM Sans 10"/>
              </a:rPr>
              <a:t>A</a:t>
            </a:r>
            <a:r>
              <a:rPr sz="1200" i="1" spc="15" baseline="-13888" dirty="0">
                <a:solidFill>
                  <a:srgbClr val="FF0000"/>
                </a:solidFill>
                <a:latin typeface="LM Sans 8"/>
                <a:cs typeface="LM Sans 8"/>
              </a:rPr>
              <a:t>i..k</a:t>
            </a:r>
            <a:r>
              <a:rPr sz="1200" i="1" spc="-254" baseline="-13888" dirty="0">
                <a:solidFill>
                  <a:srgbClr val="FF0000"/>
                </a:solidFill>
                <a:latin typeface="LM Sans 8"/>
                <a:cs typeface="LM Sans 8"/>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i="1" spc="7" baseline="-13888" dirty="0">
                <a:solidFill>
                  <a:srgbClr val="FF0000"/>
                </a:solidFill>
                <a:latin typeface="LM Sans 8"/>
                <a:cs typeface="LM Sans 8"/>
              </a:rPr>
              <a:t>..j</a:t>
            </a:r>
            <a:r>
              <a:rPr sz="1200" i="1" spc="-247" baseline="-13888" dirty="0">
                <a:solidFill>
                  <a:srgbClr val="FF0000"/>
                </a:solidFill>
                <a:latin typeface="LM Sans 8"/>
                <a:cs typeface="LM Sans 8"/>
              </a:rPr>
              <a:t> </a:t>
            </a:r>
            <a:r>
              <a:rPr sz="1100" i="1" spc="-5" dirty="0">
                <a:solidFill>
                  <a:srgbClr val="FF0000"/>
                </a:solidFill>
                <a:latin typeface="LM Roman Dunhill 10"/>
                <a:cs typeface="LM Roman Dunhill 10"/>
              </a:rPr>
              <a:t>.</a:t>
            </a:r>
            <a:endParaRPr sz="1100">
              <a:latin typeface="LM Roman Dunhill 10"/>
              <a:cs typeface="LM Roman Dunhill 10"/>
            </a:endParaRPr>
          </a:p>
        </p:txBody>
      </p:sp>
      <p:grpSp>
        <p:nvGrpSpPr>
          <p:cNvPr id="4" name="object 4"/>
          <p:cNvGrpSpPr/>
          <p:nvPr/>
        </p:nvGrpSpPr>
        <p:grpSpPr>
          <a:xfrm>
            <a:off x="309192" y="1606384"/>
            <a:ext cx="4188957" cy="469900"/>
            <a:chOff x="309193" y="1606384"/>
            <a:chExt cx="4040504" cy="469900"/>
          </a:xfrm>
        </p:grpSpPr>
        <p:sp>
          <p:nvSpPr>
            <p:cNvPr id="5" name="object 5"/>
            <p:cNvSpPr/>
            <p:nvPr/>
          </p:nvSpPr>
          <p:spPr>
            <a:xfrm>
              <a:off x="309193" y="1606384"/>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772335"/>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974088"/>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961387"/>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650631"/>
              <a:ext cx="50749" cy="32345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816609"/>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688717"/>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676017"/>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663316"/>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650616"/>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15" name="object 15"/>
          <p:cNvSpPr txBox="1"/>
          <p:nvPr/>
        </p:nvSpPr>
        <p:spPr>
          <a:xfrm>
            <a:off x="347294" y="1550578"/>
            <a:ext cx="3634156" cy="436245"/>
          </a:xfrm>
          <a:prstGeom prst="rect">
            <a:avLst/>
          </a:prstGeom>
        </p:spPr>
        <p:txBody>
          <a:bodyPr vert="horz" wrap="square" lIns="0" tIns="50165" rIns="0" bIns="0" rtlCol="0">
            <a:spAutoFit/>
          </a:bodyPr>
          <a:lstStyle/>
          <a:p>
            <a:pPr marL="12700">
              <a:lnSpc>
                <a:spcPct val="100000"/>
              </a:lnSpc>
              <a:spcBef>
                <a:spcPts val="395"/>
              </a:spcBef>
            </a:pPr>
            <a:r>
              <a:rPr sz="1100" spc="-5" dirty="0">
                <a:solidFill>
                  <a:srgbClr val="FFFFFF"/>
                </a:solidFill>
                <a:latin typeface="LM Sans 10"/>
                <a:cs typeface="LM Sans 10"/>
              </a:rPr>
              <a:t>Question</a:t>
            </a:r>
            <a:endParaRPr sz="1100" dirty="0">
              <a:latin typeface="LM Sans 10"/>
              <a:cs typeface="LM Sans 10"/>
            </a:endParaRPr>
          </a:p>
          <a:p>
            <a:pPr marL="12700">
              <a:lnSpc>
                <a:spcPct val="100000"/>
              </a:lnSpc>
              <a:spcBef>
                <a:spcPts val="295"/>
              </a:spcBef>
            </a:pPr>
            <a:r>
              <a:rPr sz="1100" spc="-20" dirty="0">
                <a:latin typeface="LM Sans 10"/>
                <a:cs typeface="LM Sans 10"/>
              </a:rPr>
              <a:t>How </a:t>
            </a:r>
            <a:r>
              <a:rPr sz="1100" spc="-10" dirty="0">
                <a:latin typeface="LM Sans 10"/>
                <a:cs typeface="LM Sans 10"/>
              </a:rPr>
              <a:t>do </a:t>
            </a:r>
            <a:r>
              <a:rPr sz="1100" spc="-25" dirty="0">
                <a:latin typeface="LM Sans 10"/>
                <a:cs typeface="LM Sans 10"/>
              </a:rPr>
              <a:t>we </a:t>
            </a:r>
            <a:r>
              <a:rPr sz="1100" spc="-5" dirty="0">
                <a:latin typeface="LM Sans 10"/>
                <a:cs typeface="LM Sans 10"/>
              </a:rPr>
              <a:t>decide where to split the chain </a:t>
            </a:r>
            <a:r>
              <a:rPr sz="1100" spc="-10" dirty="0">
                <a:latin typeface="LM Sans 10"/>
                <a:cs typeface="LM Sans 10"/>
              </a:rPr>
              <a:t>(what </a:t>
            </a:r>
            <a:r>
              <a:rPr sz="1100" spc="-5" dirty="0">
                <a:latin typeface="LM Sans 10"/>
                <a:cs typeface="LM Sans 10"/>
              </a:rPr>
              <a:t>is</a:t>
            </a:r>
            <a:r>
              <a:rPr sz="1100" spc="5" dirty="0">
                <a:latin typeface="LM Sans 10"/>
                <a:cs typeface="LM Sans 10"/>
              </a:rPr>
              <a:t> </a:t>
            </a:r>
            <a:r>
              <a:rPr sz="1100" i="1" spc="25" dirty="0">
                <a:latin typeface="LM Sans 10"/>
                <a:cs typeface="LM Sans 10"/>
              </a:rPr>
              <a:t>k</a:t>
            </a:r>
            <a:r>
              <a:rPr sz="1100" spc="25" dirty="0">
                <a:latin typeface="LM Sans 10"/>
                <a:cs typeface="LM Sans 10"/>
              </a:rPr>
              <a:t>)?</a:t>
            </a:r>
            <a:endParaRPr sz="1100" dirty="0">
              <a:latin typeface="LM Sans 10"/>
              <a:cs typeface="LM Sans 10"/>
            </a:endParaRPr>
          </a:p>
        </p:txBody>
      </p:sp>
      <p:grpSp>
        <p:nvGrpSpPr>
          <p:cNvPr id="16" name="object 16"/>
          <p:cNvGrpSpPr/>
          <p:nvPr/>
        </p:nvGrpSpPr>
        <p:grpSpPr>
          <a:xfrm>
            <a:off x="0" y="3342919"/>
            <a:ext cx="4608195" cy="113664"/>
            <a:chOff x="0" y="3342919"/>
            <a:chExt cx="4608195" cy="113664"/>
          </a:xfrm>
        </p:grpSpPr>
        <p:sp>
          <p:nvSpPr>
            <p:cNvPr id="17" name="object 17"/>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18" name="object 1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9" name="object 19"/>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1" name="object 2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2" name="object 2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11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93288"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txBox="1"/>
          <p:nvPr/>
        </p:nvSpPr>
        <p:spPr>
          <a:xfrm>
            <a:off x="309194" y="387221"/>
            <a:ext cx="3944620" cy="847090"/>
          </a:xfrm>
          <a:prstGeom prst="rect">
            <a:avLst/>
          </a:prstGeom>
        </p:spPr>
        <p:txBody>
          <a:bodyPr vert="horz" wrap="square" lIns="0" tIns="6985" rIns="0" bIns="0" rtlCol="0">
            <a:spAutoFit/>
          </a:bodyPr>
          <a:lstStyle/>
          <a:p>
            <a:pPr marL="50800" marR="43180">
              <a:lnSpc>
                <a:spcPct val="102600"/>
              </a:lnSpc>
              <a:spcBef>
                <a:spcPts val="55"/>
              </a:spcBef>
            </a:pPr>
            <a:r>
              <a:rPr sz="1100" spc="-25" dirty="0">
                <a:latin typeface="LM Sans 10"/>
                <a:cs typeface="LM Sans 10"/>
              </a:rPr>
              <a:t>At </a:t>
            </a:r>
            <a:r>
              <a:rPr sz="1100" spc="-5" dirty="0">
                <a:latin typeface="LM Sans 10"/>
                <a:cs typeface="LM Sans 10"/>
              </a:rPr>
              <a:t>the last step of </a:t>
            </a:r>
            <a:r>
              <a:rPr sz="1100" i="1" spc="-10" dirty="0">
                <a:latin typeface="LM Sans 10"/>
                <a:cs typeface="LM Sans 10"/>
              </a:rPr>
              <a:t>any </a:t>
            </a:r>
            <a:r>
              <a:rPr sz="1100" spc="-5" dirty="0">
                <a:latin typeface="LM Sans 10"/>
                <a:cs typeface="LM Sans 10"/>
              </a:rPr>
              <a:t>optimal multiplication sequence </a:t>
            </a:r>
            <a:r>
              <a:rPr sz="1100" spc="-15" dirty="0">
                <a:latin typeface="LM Sans 10"/>
                <a:cs typeface="LM Sans 10"/>
              </a:rPr>
              <a:t>(for </a:t>
            </a:r>
            <a:r>
              <a:rPr sz="1100" spc="-10" dirty="0">
                <a:latin typeface="LM Sans 10"/>
                <a:cs typeface="LM Sans 10"/>
              </a:rPr>
              <a:t>a  subbroblem), there </a:t>
            </a:r>
            <a:r>
              <a:rPr sz="1100" spc="-5" dirty="0">
                <a:latin typeface="LM Sans 10"/>
                <a:cs typeface="LM Sans 10"/>
              </a:rPr>
              <a:t>is some </a:t>
            </a:r>
            <a:r>
              <a:rPr sz="1100" i="1" spc="-10" dirty="0">
                <a:latin typeface="LM Sans 10"/>
                <a:cs typeface="LM Sans 10"/>
              </a:rPr>
              <a:t>k </a:t>
            </a:r>
            <a:r>
              <a:rPr sz="1100" spc="-5" dirty="0">
                <a:latin typeface="LM Sans 10"/>
                <a:cs typeface="LM Sans 10"/>
              </a:rPr>
              <a:t>such that the </a:t>
            </a:r>
            <a:r>
              <a:rPr sz="1100" spc="-30" dirty="0">
                <a:latin typeface="LM Sans 10"/>
                <a:cs typeface="LM Sans 10"/>
              </a:rPr>
              <a:t>two </a:t>
            </a:r>
            <a:r>
              <a:rPr sz="1100" spc="-5" dirty="0">
                <a:latin typeface="LM Sans 10"/>
                <a:cs typeface="LM Sans 10"/>
              </a:rPr>
              <a:t>matrices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15" dirty="0">
                <a:latin typeface="LM Sans 10"/>
                <a:cs typeface="LM Sans 10"/>
              </a:rPr>
              <a:t>are </a:t>
            </a:r>
            <a:r>
              <a:rPr sz="1100" spc="-10" dirty="0">
                <a:latin typeface="LM Sans 10"/>
                <a:cs typeface="LM Sans 10"/>
              </a:rPr>
              <a:t>multipled </a:t>
            </a:r>
            <a:r>
              <a:rPr sz="1100" spc="-5" dirty="0">
                <a:latin typeface="LM Sans 10"/>
                <a:cs typeface="LM Sans 10"/>
              </a:rPr>
              <a:t>together. </a:t>
            </a:r>
            <a:r>
              <a:rPr sz="1100" spc="-10" dirty="0">
                <a:latin typeface="LM Sans 10"/>
                <a:cs typeface="LM Sans 10"/>
              </a:rPr>
              <a:t>That</a:t>
            </a:r>
            <a:r>
              <a:rPr sz="1100" spc="35" dirty="0">
                <a:latin typeface="LM Sans 10"/>
                <a:cs typeface="LM Sans 10"/>
              </a:rPr>
              <a:t> </a:t>
            </a:r>
            <a:r>
              <a:rPr sz="1100" spc="-5" dirty="0">
                <a:latin typeface="LM Sans 10"/>
                <a:cs typeface="LM Sans 10"/>
              </a:rPr>
              <a:t>is,</a:t>
            </a:r>
            <a:endParaRPr sz="1100">
              <a:latin typeface="LM Sans 10"/>
              <a:cs typeface="LM Sans 10"/>
            </a:endParaRPr>
          </a:p>
          <a:p>
            <a:pPr>
              <a:lnSpc>
                <a:spcPct val="100000"/>
              </a:lnSpc>
              <a:spcBef>
                <a:spcPts val="35"/>
              </a:spcBef>
            </a:pPr>
            <a:endParaRPr sz="750">
              <a:latin typeface="LM Sans 10"/>
              <a:cs typeface="LM Sans 10"/>
            </a:endParaRPr>
          </a:p>
          <a:p>
            <a:pPr marL="45085" algn="ctr">
              <a:lnSpc>
                <a:spcPct val="100000"/>
              </a:lnSpc>
            </a:pPr>
            <a:r>
              <a:rPr sz="1100" i="1" spc="10" dirty="0">
                <a:solidFill>
                  <a:srgbClr val="FF0000"/>
                </a:solidFill>
                <a:latin typeface="LM Sans 10"/>
                <a:cs typeface="LM Sans 10"/>
              </a:rPr>
              <a:t>A</a:t>
            </a:r>
            <a:r>
              <a:rPr sz="1200" i="1" spc="15" baseline="-10416" dirty="0">
                <a:solidFill>
                  <a:srgbClr val="FF0000"/>
                </a:solidFill>
                <a:latin typeface="LM Sans 8"/>
                <a:cs typeface="LM Sans 8"/>
              </a:rPr>
              <a:t>i..j</a:t>
            </a:r>
            <a:r>
              <a:rPr sz="1200" i="1" spc="209" baseline="-10416" dirty="0">
                <a:solidFill>
                  <a:srgbClr val="FF0000"/>
                </a:solidFill>
                <a:latin typeface="LM Sans 8"/>
                <a:cs typeface="LM Sans 8"/>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37" baseline="-10416"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i="1" spc="-254" baseline="-13888" dirty="0">
                <a:solidFill>
                  <a:srgbClr val="FF0000"/>
                </a:solidFill>
                <a:latin typeface="LM Sans 8"/>
                <a:cs typeface="LM Sans 8"/>
              </a:rPr>
              <a:t> </a:t>
            </a:r>
            <a:r>
              <a:rPr sz="1100" spc="-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spc="-82" baseline="-13888"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j</a:t>
            </a:r>
            <a:r>
              <a:rPr sz="1200" i="1" spc="-240" baseline="-10416" dirty="0">
                <a:solidFill>
                  <a:srgbClr val="FF0000"/>
                </a:solidFill>
                <a:latin typeface="LM Sans 8"/>
                <a:cs typeface="LM Sans 8"/>
              </a:rPr>
              <a:t> </a:t>
            </a:r>
            <a:r>
              <a:rPr sz="1100" spc="-5" dirty="0">
                <a:solidFill>
                  <a:srgbClr val="FF0000"/>
                </a:solidFill>
                <a:latin typeface="LM Sans 10"/>
                <a:cs typeface="LM Sans 10"/>
              </a:rPr>
              <a:t>)</a:t>
            </a:r>
            <a:r>
              <a:rPr sz="1100" spc="-65" dirty="0">
                <a:solidFill>
                  <a:srgbClr val="FF0000"/>
                </a:solidFill>
                <a:latin typeface="LM Sans 10"/>
                <a:cs typeface="LM Sans 10"/>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i="1" spc="10" dirty="0">
                <a:solidFill>
                  <a:srgbClr val="FF0000"/>
                </a:solidFill>
                <a:latin typeface="LM Sans 10"/>
                <a:cs typeface="LM Sans 10"/>
              </a:rPr>
              <a:t>A</a:t>
            </a:r>
            <a:r>
              <a:rPr sz="1200" i="1" spc="15" baseline="-13888" dirty="0">
                <a:solidFill>
                  <a:srgbClr val="FF0000"/>
                </a:solidFill>
                <a:latin typeface="LM Sans 8"/>
                <a:cs typeface="LM Sans 8"/>
              </a:rPr>
              <a:t>i..k</a:t>
            </a:r>
            <a:r>
              <a:rPr sz="1200" i="1" spc="-254" baseline="-13888" dirty="0">
                <a:solidFill>
                  <a:srgbClr val="FF0000"/>
                </a:solidFill>
                <a:latin typeface="LM Sans 8"/>
                <a:cs typeface="LM Sans 8"/>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i="1" spc="7" baseline="-13888" dirty="0">
                <a:solidFill>
                  <a:srgbClr val="FF0000"/>
                </a:solidFill>
                <a:latin typeface="LM Sans 8"/>
                <a:cs typeface="LM Sans 8"/>
              </a:rPr>
              <a:t>..j</a:t>
            </a:r>
            <a:r>
              <a:rPr sz="1200" i="1" spc="-247" baseline="-13888" dirty="0">
                <a:solidFill>
                  <a:srgbClr val="FF0000"/>
                </a:solidFill>
                <a:latin typeface="LM Sans 8"/>
                <a:cs typeface="LM Sans 8"/>
              </a:rPr>
              <a:t> </a:t>
            </a:r>
            <a:r>
              <a:rPr sz="1100" i="1" spc="-5" dirty="0">
                <a:solidFill>
                  <a:srgbClr val="FF0000"/>
                </a:solidFill>
                <a:latin typeface="LM Roman Dunhill 10"/>
                <a:cs typeface="LM Roman Dunhill 10"/>
              </a:rPr>
              <a:t>.</a:t>
            </a:r>
            <a:endParaRPr sz="1100">
              <a:latin typeface="LM Roman Dunhill 10"/>
              <a:cs typeface="LM Roman Dunhill 10"/>
            </a:endParaRPr>
          </a:p>
        </p:txBody>
      </p:sp>
      <p:grpSp>
        <p:nvGrpSpPr>
          <p:cNvPr id="4" name="object 4"/>
          <p:cNvGrpSpPr/>
          <p:nvPr/>
        </p:nvGrpSpPr>
        <p:grpSpPr>
          <a:xfrm>
            <a:off x="309193" y="1606384"/>
            <a:ext cx="4040504" cy="469900"/>
            <a:chOff x="309193" y="1606384"/>
            <a:chExt cx="4040504" cy="469900"/>
          </a:xfrm>
        </p:grpSpPr>
        <p:sp>
          <p:nvSpPr>
            <p:cNvPr id="5" name="object 5"/>
            <p:cNvSpPr/>
            <p:nvPr/>
          </p:nvSpPr>
          <p:spPr>
            <a:xfrm>
              <a:off x="309193" y="1606384"/>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772335"/>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974088"/>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961387"/>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650631"/>
              <a:ext cx="50749" cy="32345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816609"/>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688717"/>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676017"/>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663316"/>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650616"/>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15" name="object 15"/>
          <p:cNvSpPr txBox="1"/>
          <p:nvPr/>
        </p:nvSpPr>
        <p:spPr>
          <a:xfrm>
            <a:off x="347294" y="1550578"/>
            <a:ext cx="3557956" cy="704680"/>
          </a:xfrm>
          <a:prstGeom prst="rect">
            <a:avLst/>
          </a:prstGeom>
        </p:spPr>
        <p:txBody>
          <a:bodyPr vert="horz" wrap="square" lIns="0" tIns="50165" rIns="0" bIns="0" rtlCol="0">
            <a:spAutoFit/>
          </a:bodyPr>
          <a:lstStyle/>
          <a:p>
            <a:pPr marL="12700">
              <a:lnSpc>
                <a:spcPct val="100000"/>
              </a:lnSpc>
              <a:spcBef>
                <a:spcPts val="395"/>
              </a:spcBef>
            </a:pPr>
            <a:r>
              <a:rPr sz="1100" spc="-5" dirty="0">
                <a:solidFill>
                  <a:srgbClr val="FFFFFF"/>
                </a:solidFill>
                <a:latin typeface="LM Sans 10"/>
                <a:cs typeface="LM Sans 10"/>
              </a:rPr>
              <a:t>Question</a:t>
            </a:r>
            <a:endParaRPr sz="1100" dirty="0">
              <a:latin typeface="LM Sans 10"/>
              <a:cs typeface="LM Sans 10"/>
            </a:endParaRPr>
          </a:p>
          <a:p>
            <a:pPr marL="12700">
              <a:lnSpc>
                <a:spcPct val="100000"/>
              </a:lnSpc>
              <a:spcBef>
                <a:spcPts val="295"/>
              </a:spcBef>
            </a:pPr>
            <a:r>
              <a:rPr sz="1100" spc="-20" dirty="0">
                <a:latin typeface="LM Sans 10"/>
                <a:cs typeface="LM Sans 10"/>
              </a:rPr>
              <a:t>How </a:t>
            </a:r>
            <a:r>
              <a:rPr sz="1100" spc="-10" dirty="0">
                <a:latin typeface="LM Sans 10"/>
                <a:cs typeface="LM Sans 10"/>
              </a:rPr>
              <a:t>do </a:t>
            </a:r>
            <a:r>
              <a:rPr sz="1100" spc="-25" dirty="0">
                <a:latin typeface="LM Sans 10"/>
                <a:cs typeface="LM Sans 10"/>
              </a:rPr>
              <a:t>we </a:t>
            </a:r>
            <a:r>
              <a:rPr sz="1100" spc="-5" dirty="0">
                <a:latin typeface="LM Sans 10"/>
                <a:cs typeface="LM Sans 10"/>
              </a:rPr>
              <a:t>decide where to split the chain </a:t>
            </a:r>
            <a:r>
              <a:rPr sz="1100" spc="-10" dirty="0">
                <a:latin typeface="LM Sans 10"/>
                <a:cs typeface="LM Sans 10"/>
              </a:rPr>
              <a:t>(what </a:t>
            </a:r>
            <a:r>
              <a:rPr sz="1100" spc="-5" dirty="0">
                <a:latin typeface="LM Sans 10"/>
                <a:cs typeface="LM Sans 10"/>
              </a:rPr>
              <a:t>is</a:t>
            </a:r>
            <a:r>
              <a:rPr sz="1100" spc="5" dirty="0">
                <a:latin typeface="LM Sans 10"/>
                <a:cs typeface="LM Sans 10"/>
              </a:rPr>
              <a:t> </a:t>
            </a:r>
            <a:r>
              <a:rPr sz="1100" i="1" spc="25" dirty="0">
                <a:latin typeface="LM Sans 10"/>
                <a:cs typeface="LM Sans 10"/>
              </a:rPr>
              <a:t>k</a:t>
            </a:r>
            <a:r>
              <a:rPr sz="1100" spc="25" dirty="0">
                <a:latin typeface="LM Sans 10"/>
                <a:cs typeface="LM Sans 10"/>
              </a:rPr>
              <a:t>)?</a:t>
            </a:r>
            <a:endParaRPr sz="1100" dirty="0">
              <a:latin typeface="LM Sans 10"/>
              <a:cs typeface="LM Sans 10"/>
            </a:endParaRPr>
          </a:p>
          <a:p>
            <a:pPr>
              <a:lnSpc>
                <a:spcPct val="100000"/>
              </a:lnSpc>
              <a:spcBef>
                <a:spcPts val="30"/>
              </a:spcBef>
            </a:pPr>
            <a:endParaRPr sz="700" dirty="0">
              <a:latin typeface="LM Sans 10"/>
              <a:cs typeface="LM Sans 10"/>
            </a:endParaRPr>
          </a:p>
          <a:p>
            <a:pPr marL="12700">
              <a:lnSpc>
                <a:spcPct val="100000"/>
              </a:lnSpc>
              <a:spcBef>
                <a:spcPts val="5"/>
              </a:spcBef>
            </a:pPr>
            <a:r>
              <a:rPr sz="1100" spc="-10" dirty="0">
                <a:solidFill>
                  <a:srgbClr val="0000FF"/>
                </a:solidFill>
                <a:latin typeface="LM Sans 10"/>
                <a:cs typeface="LM Sans 10"/>
              </a:rPr>
              <a:t>ANS</a:t>
            </a:r>
            <a:r>
              <a:rPr sz="1100" spc="-10" dirty="0">
                <a:latin typeface="LM Sans 10"/>
                <a:cs typeface="LM Sans 10"/>
              </a:rPr>
              <a:t>: Can </a:t>
            </a:r>
            <a:r>
              <a:rPr sz="1100" spc="10" dirty="0">
                <a:latin typeface="LM Sans 10"/>
                <a:cs typeface="LM Sans 10"/>
              </a:rPr>
              <a:t>be </a:t>
            </a:r>
            <a:r>
              <a:rPr sz="1100" i="1" spc="-10" dirty="0">
                <a:latin typeface="LM Sans 10"/>
                <a:cs typeface="LM Sans 10"/>
              </a:rPr>
              <a:t>any </a:t>
            </a:r>
            <a:r>
              <a:rPr sz="1100" i="1" spc="40" dirty="0">
                <a:latin typeface="LM Sans 10"/>
                <a:cs typeface="LM Sans 10"/>
              </a:rPr>
              <a:t>k</a:t>
            </a:r>
            <a:r>
              <a:rPr sz="1100" spc="40" dirty="0">
                <a:latin typeface="LM Sans 10"/>
                <a:cs typeface="LM Sans 10"/>
              </a:rPr>
              <a:t>. </a:t>
            </a:r>
            <a:r>
              <a:rPr sz="1100" spc="-10" dirty="0">
                <a:latin typeface="LM Sans 10"/>
                <a:cs typeface="LM Sans 10"/>
              </a:rPr>
              <a:t>Need </a:t>
            </a:r>
            <a:r>
              <a:rPr sz="1100" spc="-5" dirty="0">
                <a:latin typeface="LM Sans 10"/>
                <a:cs typeface="LM Sans 10"/>
              </a:rPr>
              <a:t>to check all possible</a:t>
            </a:r>
            <a:r>
              <a:rPr sz="1100" spc="75" dirty="0">
                <a:latin typeface="LM Sans 10"/>
                <a:cs typeface="LM Sans 10"/>
              </a:rPr>
              <a:t> </a:t>
            </a:r>
            <a:r>
              <a:rPr sz="1100" spc="-5" dirty="0">
                <a:latin typeface="LM Sans 10"/>
                <a:cs typeface="LM Sans 10"/>
              </a:rPr>
              <a:t>values.</a:t>
            </a:r>
            <a:endParaRPr sz="1100" dirty="0">
              <a:latin typeface="LM Sans 10"/>
              <a:cs typeface="LM Sans 10"/>
            </a:endParaRPr>
          </a:p>
        </p:txBody>
      </p:sp>
      <p:grpSp>
        <p:nvGrpSpPr>
          <p:cNvPr id="16" name="object 16"/>
          <p:cNvGrpSpPr/>
          <p:nvPr/>
        </p:nvGrpSpPr>
        <p:grpSpPr>
          <a:xfrm>
            <a:off x="0" y="3342919"/>
            <a:ext cx="4608195" cy="113664"/>
            <a:chOff x="0" y="3342919"/>
            <a:chExt cx="4608195" cy="113664"/>
          </a:xfrm>
        </p:grpSpPr>
        <p:sp>
          <p:nvSpPr>
            <p:cNvPr id="17" name="object 17"/>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18" name="object 1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9" name="object 19"/>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1" name="object 2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2" name="object 2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11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064688"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txBox="1"/>
          <p:nvPr/>
        </p:nvSpPr>
        <p:spPr>
          <a:xfrm>
            <a:off x="309194" y="387221"/>
            <a:ext cx="3944620" cy="847090"/>
          </a:xfrm>
          <a:prstGeom prst="rect">
            <a:avLst/>
          </a:prstGeom>
        </p:spPr>
        <p:txBody>
          <a:bodyPr vert="horz" wrap="square" lIns="0" tIns="6985" rIns="0" bIns="0" rtlCol="0">
            <a:spAutoFit/>
          </a:bodyPr>
          <a:lstStyle/>
          <a:p>
            <a:pPr marL="50800" marR="43180">
              <a:lnSpc>
                <a:spcPct val="102600"/>
              </a:lnSpc>
              <a:spcBef>
                <a:spcPts val="55"/>
              </a:spcBef>
            </a:pPr>
            <a:r>
              <a:rPr sz="1100" spc="-25" dirty="0">
                <a:latin typeface="LM Sans 10"/>
                <a:cs typeface="LM Sans 10"/>
              </a:rPr>
              <a:t>At </a:t>
            </a:r>
            <a:r>
              <a:rPr sz="1100" spc="-5" dirty="0">
                <a:latin typeface="LM Sans 10"/>
                <a:cs typeface="LM Sans 10"/>
              </a:rPr>
              <a:t>the last step of </a:t>
            </a:r>
            <a:r>
              <a:rPr sz="1100" i="1" spc="-10" dirty="0">
                <a:latin typeface="LM Sans 10"/>
                <a:cs typeface="LM Sans 10"/>
              </a:rPr>
              <a:t>any </a:t>
            </a:r>
            <a:r>
              <a:rPr sz="1100" spc="-5" dirty="0">
                <a:latin typeface="LM Sans 10"/>
                <a:cs typeface="LM Sans 10"/>
              </a:rPr>
              <a:t>optimal multiplication sequence </a:t>
            </a:r>
            <a:r>
              <a:rPr sz="1100" spc="-15" dirty="0">
                <a:latin typeface="LM Sans 10"/>
                <a:cs typeface="LM Sans 10"/>
              </a:rPr>
              <a:t>(for </a:t>
            </a:r>
            <a:r>
              <a:rPr sz="1100" spc="-10" dirty="0">
                <a:latin typeface="LM Sans 10"/>
                <a:cs typeface="LM Sans 10"/>
              </a:rPr>
              <a:t>a  subbroblem), there </a:t>
            </a:r>
            <a:r>
              <a:rPr sz="1100" spc="-5" dirty="0">
                <a:latin typeface="LM Sans 10"/>
                <a:cs typeface="LM Sans 10"/>
              </a:rPr>
              <a:t>is some </a:t>
            </a:r>
            <a:r>
              <a:rPr sz="1100" i="1" spc="-10" dirty="0">
                <a:latin typeface="LM Sans 10"/>
                <a:cs typeface="LM Sans 10"/>
              </a:rPr>
              <a:t>k </a:t>
            </a:r>
            <a:r>
              <a:rPr sz="1100" spc="-5" dirty="0">
                <a:latin typeface="LM Sans 10"/>
                <a:cs typeface="LM Sans 10"/>
              </a:rPr>
              <a:t>such that the </a:t>
            </a:r>
            <a:r>
              <a:rPr sz="1100" spc="-30" dirty="0">
                <a:latin typeface="LM Sans 10"/>
                <a:cs typeface="LM Sans 10"/>
              </a:rPr>
              <a:t>two </a:t>
            </a:r>
            <a:r>
              <a:rPr sz="1100" spc="-5" dirty="0">
                <a:latin typeface="LM Sans 10"/>
                <a:cs typeface="LM Sans 10"/>
              </a:rPr>
              <a:t>matrices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15" dirty="0">
                <a:latin typeface="LM Sans 10"/>
                <a:cs typeface="LM Sans 10"/>
              </a:rPr>
              <a:t>are </a:t>
            </a:r>
            <a:r>
              <a:rPr sz="1100" spc="-10" dirty="0">
                <a:latin typeface="LM Sans 10"/>
                <a:cs typeface="LM Sans 10"/>
              </a:rPr>
              <a:t>multipled </a:t>
            </a:r>
            <a:r>
              <a:rPr sz="1100" spc="-5" dirty="0">
                <a:latin typeface="LM Sans 10"/>
                <a:cs typeface="LM Sans 10"/>
              </a:rPr>
              <a:t>together. </a:t>
            </a:r>
            <a:r>
              <a:rPr sz="1100" spc="-10" dirty="0">
                <a:latin typeface="LM Sans 10"/>
                <a:cs typeface="LM Sans 10"/>
              </a:rPr>
              <a:t>That</a:t>
            </a:r>
            <a:r>
              <a:rPr sz="1100" spc="35" dirty="0">
                <a:latin typeface="LM Sans 10"/>
                <a:cs typeface="LM Sans 10"/>
              </a:rPr>
              <a:t> </a:t>
            </a:r>
            <a:r>
              <a:rPr sz="1100" spc="-5" dirty="0">
                <a:latin typeface="LM Sans 10"/>
                <a:cs typeface="LM Sans 10"/>
              </a:rPr>
              <a:t>is,</a:t>
            </a:r>
            <a:endParaRPr sz="1100">
              <a:latin typeface="LM Sans 10"/>
              <a:cs typeface="LM Sans 10"/>
            </a:endParaRPr>
          </a:p>
          <a:p>
            <a:pPr>
              <a:lnSpc>
                <a:spcPct val="100000"/>
              </a:lnSpc>
              <a:spcBef>
                <a:spcPts val="35"/>
              </a:spcBef>
            </a:pPr>
            <a:endParaRPr sz="750">
              <a:latin typeface="LM Sans 10"/>
              <a:cs typeface="LM Sans 10"/>
            </a:endParaRPr>
          </a:p>
          <a:p>
            <a:pPr marL="45085" algn="ctr">
              <a:lnSpc>
                <a:spcPct val="100000"/>
              </a:lnSpc>
            </a:pPr>
            <a:r>
              <a:rPr sz="1100" i="1" spc="10" dirty="0">
                <a:solidFill>
                  <a:srgbClr val="FF0000"/>
                </a:solidFill>
                <a:latin typeface="LM Sans 10"/>
                <a:cs typeface="LM Sans 10"/>
              </a:rPr>
              <a:t>A</a:t>
            </a:r>
            <a:r>
              <a:rPr sz="1200" i="1" spc="15" baseline="-10416" dirty="0">
                <a:solidFill>
                  <a:srgbClr val="FF0000"/>
                </a:solidFill>
                <a:latin typeface="LM Sans 8"/>
                <a:cs typeface="LM Sans 8"/>
              </a:rPr>
              <a:t>i..j</a:t>
            </a:r>
            <a:r>
              <a:rPr sz="1200" i="1" spc="209" baseline="-10416" dirty="0">
                <a:solidFill>
                  <a:srgbClr val="FF0000"/>
                </a:solidFill>
                <a:latin typeface="LM Sans 8"/>
                <a:cs typeface="LM Sans 8"/>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37" baseline="-10416"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i="1" spc="-254" baseline="-13888" dirty="0">
                <a:solidFill>
                  <a:srgbClr val="FF0000"/>
                </a:solidFill>
                <a:latin typeface="LM Sans 8"/>
                <a:cs typeface="LM Sans 8"/>
              </a:rPr>
              <a:t> </a:t>
            </a:r>
            <a:r>
              <a:rPr sz="1100" spc="-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spc="-82" baseline="-13888"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j</a:t>
            </a:r>
            <a:r>
              <a:rPr sz="1200" i="1" spc="-240" baseline="-10416" dirty="0">
                <a:solidFill>
                  <a:srgbClr val="FF0000"/>
                </a:solidFill>
                <a:latin typeface="LM Sans 8"/>
                <a:cs typeface="LM Sans 8"/>
              </a:rPr>
              <a:t> </a:t>
            </a:r>
            <a:r>
              <a:rPr sz="1100" spc="-5" dirty="0">
                <a:solidFill>
                  <a:srgbClr val="FF0000"/>
                </a:solidFill>
                <a:latin typeface="LM Sans 10"/>
                <a:cs typeface="LM Sans 10"/>
              </a:rPr>
              <a:t>)</a:t>
            </a:r>
            <a:r>
              <a:rPr sz="1100" spc="-65" dirty="0">
                <a:solidFill>
                  <a:srgbClr val="FF0000"/>
                </a:solidFill>
                <a:latin typeface="LM Sans 10"/>
                <a:cs typeface="LM Sans 10"/>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i="1" spc="10" dirty="0">
                <a:solidFill>
                  <a:srgbClr val="FF0000"/>
                </a:solidFill>
                <a:latin typeface="LM Sans 10"/>
                <a:cs typeface="LM Sans 10"/>
              </a:rPr>
              <a:t>A</a:t>
            </a:r>
            <a:r>
              <a:rPr sz="1200" i="1" spc="15" baseline="-13888" dirty="0">
                <a:solidFill>
                  <a:srgbClr val="FF0000"/>
                </a:solidFill>
                <a:latin typeface="LM Sans 8"/>
                <a:cs typeface="LM Sans 8"/>
              </a:rPr>
              <a:t>i..k</a:t>
            </a:r>
            <a:r>
              <a:rPr sz="1200" i="1" spc="-254" baseline="-13888" dirty="0">
                <a:solidFill>
                  <a:srgbClr val="FF0000"/>
                </a:solidFill>
                <a:latin typeface="LM Sans 8"/>
                <a:cs typeface="LM Sans 8"/>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i="1" spc="7" baseline="-13888" dirty="0">
                <a:solidFill>
                  <a:srgbClr val="FF0000"/>
                </a:solidFill>
                <a:latin typeface="LM Sans 8"/>
                <a:cs typeface="LM Sans 8"/>
              </a:rPr>
              <a:t>..j</a:t>
            </a:r>
            <a:r>
              <a:rPr sz="1200" i="1" spc="-247" baseline="-13888" dirty="0">
                <a:solidFill>
                  <a:srgbClr val="FF0000"/>
                </a:solidFill>
                <a:latin typeface="LM Sans 8"/>
                <a:cs typeface="LM Sans 8"/>
              </a:rPr>
              <a:t> </a:t>
            </a:r>
            <a:r>
              <a:rPr sz="1100" i="1" spc="-5" dirty="0">
                <a:solidFill>
                  <a:srgbClr val="FF0000"/>
                </a:solidFill>
                <a:latin typeface="LM Roman Dunhill 10"/>
                <a:cs typeface="LM Roman Dunhill 10"/>
              </a:rPr>
              <a:t>.</a:t>
            </a:r>
            <a:endParaRPr sz="1100">
              <a:latin typeface="LM Roman Dunhill 10"/>
              <a:cs typeface="LM Roman Dunhill 10"/>
            </a:endParaRPr>
          </a:p>
        </p:txBody>
      </p:sp>
      <p:grpSp>
        <p:nvGrpSpPr>
          <p:cNvPr id="4" name="object 4"/>
          <p:cNvGrpSpPr/>
          <p:nvPr/>
        </p:nvGrpSpPr>
        <p:grpSpPr>
          <a:xfrm>
            <a:off x="309193" y="1606384"/>
            <a:ext cx="4040504" cy="469900"/>
            <a:chOff x="309193" y="1606384"/>
            <a:chExt cx="4040504" cy="469900"/>
          </a:xfrm>
        </p:grpSpPr>
        <p:sp>
          <p:nvSpPr>
            <p:cNvPr id="5" name="object 5"/>
            <p:cNvSpPr/>
            <p:nvPr/>
          </p:nvSpPr>
          <p:spPr>
            <a:xfrm>
              <a:off x="309193" y="1606384"/>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772335"/>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974088"/>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961387"/>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650631"/>
              <a:ext cx="50749" cy="32345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816609"/>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688717"/>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676017"/>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663316"/>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650616"/>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grpSp>
        <p:nvGrpSpPr>
          <p:cNvPr id="15" name="object 15"/>
          <p:cNvGrpSpPr/>
          <p:nvPr/>
        </p:nvGrpSpPr>
        <p:grpSpPr>
          <a:xfrm>
            <a:off x="309193" y="2297650"/>
            <a:ext cx="4040504" cy="469265"/>
            <a:chOff x="309193" y="2375826"/>
            <a:chExt cx="4040504" cy="469265"/>
          </a:xfrm>
        </p:grpSpPr>
        <p:sp>
          <p:nvSpPr>
            <p:cNvPr id="16" name="object 16"/>
            <p:cNvSpPr/>
            <p:nvPr/>
          </p:nvSpPr>
          <p:spPr>
            <a:xfrm>
              <a:off x="309193" y="2375826"/>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17" name="object 17"/>
            <p:cNvSpPr/>
            <p:nvPr/>
          </p:nvSpPr>
          <p:spPr>
            <a:xfrm>
              <a:off x="309194" y="2541778"/>
              <a:ext cx="3989653" cy="50609"/>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359994" y="2743454"/>
              <a:ext cx="101600" cy="101600"/>
            </a:xfrm>
            <a:prstGeom prst="rect">
              <a:avLst/>
            </a:prstGeom>
            <a:blipFill>
              <a:blip r:embed="rId7" cstate="print"/>
              <a:stretch>
                <a:fillRect/>
              </a:stretch>
            </a:blipFill>
          </p:spPr>
          <p:txBody>
            <a:bodyPr wrap="square" lIns="0" tIns="0" rIns="0" bIns="0" rtlCol="0"/>
            <a:lstStyle/>
            <a:p>
              <a:endParaRPr/>
            </a:p>
          </p:txBody>
        </p:sp>
        <p:sp>
          <p:nvSpPr>
            <p:cNvPr id="19" name="object 19"/>
            <p:cNvSpPr/>
            <p:nvPr/>
          </p:nvSpPr>
          <p:spPr>
            <a:xfrm>
              <a:off x="410794" y="2730754"/>
              <a:ext cx="3938802" cy="114300"/>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4298848" y="2420074"/>
              <a:ext cx="50749" cy="323380"/>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309193" y="2586055"/>
              <a:ext cx="3989704" cy="208279"/>
            </a:xfrm>
            <a:custGeom>
              <a:avLst/>
              <a:gdLst/>
              <a:ahLst/>
              <a:cxnLst/>
              <a:rect l="l" t="t" r="r" b="b"/>
              <a:pathLst>
                <a:path w="3989704" h="208280">
                  <a:moveTo>
                    <a:pt x="3989654" y="0"/>
                  </a:moveTo>
                  <a:lnTo>
                    <a:pt x="0" y="0"/>
                  </a:lnTo>
                  <a:lnTo>
                    <a:pt x="0" y="157398"/>
                  </a:lnTo>
                  <a:lnTo>
                    <a:pt x="4008" y="177123"/>
                  </a:lnTo>
                  <a:lnTo>
                    <a:pt x="14922" y="193276"/>
                  </a:lnTo>
                  <a:lnTo>
                    <a:pt x="31075" y="204190"/>
                  </a:lnTo>
                  <a:lnTo>
                    <a:pt x="50800" y="208199"/>
                  </a:lnTo>
                  <a:lnTo>
                    <a:pt x="3938854" y="208199"/>
                  </a:lnTo>
                  <a:lnTo>
                    <a:pt x="3958579" y="204190"/>
                  </a:lnTo>
                  <a:lnTo>
                    <a:pt x="3974732" y="193276"/>
                  </a:lnTo>
                  <a:lnTo>
                    <a:pt x="3985646" y="177123"/>
                  </a:lnTo>
                  <a:lnTo>
                    <a:pt x="3989654" y="157398"/>
                  </a:lnTo>
                  <a:lnTo>
                    <a:pt x="3989654" y="0"/>
                  </a:lnTo>
                  <a:close/>
                </a:path>
              </a:pathLst>
            </a:custGeom>
            <a:solidFill>
              <a:srgbClr val="F8E5E5"/>
            </a:solidFill>
          </p:spPr>
          <p:txBody>
            <a:bodyPr wrap="square" lIns="0" tIns="0" rIns="0" bIns="0" rtlCol="0"/>
            <a:lstStyle/>
            <a:p>
              <a:endParaRPr/>
            </a:p>
          </p:txBody>
        </p:sp>
        <p:sp>
          <p:nvSpPr>
            <p:cNvPr id="22" name="object 22"/>
            <p:cNvSpPr/>
            <p:nvPr/>
          </p:nvSpPr>
          <p:spPr>
            <a:xfrm>
              <a:off x="4298848" y="2458163"/>
              <a:ext cx="0" cy="304800"/>
            </a:xfrm>
            <a:custGeom>
              <a:avLst/>
              <a:gdLst/>
              <a:ahLst/>
              <a:cxnLst/>
              <a:rect l="l" t="t" r="r" b="b"/>
              <a:pathLst>
                <a:path h="304800">
                  <a:moveTo>
                    <a:pt x="0" y="304340"/>
                  </a:moveTo>
                  <a:lnTo>
                    <a:pt x="0" y="0"/>
                  </a:lnTo>
                </a:path>
              </a:pathLst>
            </a:custGeom>
            <a:ln w="3175">
              <a:solidFill>
                <a:srgbClr val="7F7F7F"/>
              </a:solidFill>
            </a:ln>
          </p:spPr>
          <p:txBody>
            <a:bodyPr wrap="square" lIns="0" tIns="0" rIns="0" bIns="0" rtlCol="0"/>
            <a:lstStyle/>
            <a:p>
              <a:endParaRPr/>
            </a:p>
          </p:txBody>
        </p:sp>
        <p:sp>
          <p:nvSpPr>
            <p:cNvPr id="23" name="object 23"/>
            <p:cNvSpPr/>
            <p:nvPr/>
          </p:nvSpPr>
          <p:spPr>
            <a:xfrm>
              <a:off x="4298848" y="2445463"/>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24" name="object 24"/>
            <p:cNvSpPr/>
            <p:nvPr/>
          </p:nvSpPr>
          <p:spPr>
            <a:xfrm>
              <a:off x="4298848" y="2432763"/>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25" name="object 25"/>
            <p:cNvSpPr/>
            <p:nvPr/>
          </p:nvSpPr>
          <p:spPr>
            <a:xfrm>
              <a:off x="4298848" y="2420063"/>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26" name="object 26"/>
          <p:cNvSpPr txBox="1"/>
          <p:nvPr/>
        </p:nvSpPr>
        <p:spPr>
          <a:xfrm>
            <a:off x="309193" y="1550578"/>
            <a:ext cx="3838117" cy="1197610"/>
          </a:xfrm>
          <a:prstGeom prst="rect">
            <a:avLst/>
          </a:prstGeom>
        </p:spPr>
        <p:txBody>
          <a:bodyPr vert="horz" wrap="square" lIns="0" tIns="50165" rIns="0" bIns="0" rtlCol="0">
            <a:spAutoFit/>
          </a:bodyPr>
          <a:lstStyle/>
          <a:p>
            <a:pPr marL="50165">
              <a:lnSpc>
                <a:spcPct val="100000"/>
              </a:lnSpc>
              <a:spcBef>
                <a:spcPts val="395"/>
              </a:spcBef>
            </a:pPr>
            <a:r>
              <a:rPr sz="1100" spc="-5" dirty="0">
                <a:solidFill>
                  <a:srgbClr val="FFFFFF"/>
                </a:solidFill>
                <a:latin typeface="LM Sans 10"/>
                <a:cs typeface="LM Sans 10"/>
              </a:rPr>
              <a:t>Question</a:t>
            </a:r>
            <a:endParaRPr sz="1100" dirty="0">
              <a:latin typeface="LM Sans 10"/>
              <a:cs typeface="LM Sans 10"/>
            </a:endParaRPr>
          </a:p>
          <a:p>
            <a:pPr marL="50165">
              <a:lnSpc>
                <a:spcPct val="100000"/>
              </a:lnSpc>
              <a:spcBef>
                <a:spcPts val="295"/>
              </a:spcBef>
            </a:pPr>
            <a:r>
              <a:rPr sz="1100" spc="-20" dirty="0">
                <a:latin typeface="LM Sans 10"/>
                <a:cs typeface="LM Sans 10"/>
              </a:rPr>
              <a:t>How </a:t>
            </a:r>
            <a:r>
              <a:rPr sz="1100" spc="-10" dirty="0">
                <a:latin typeface="LM Sans 10"/>
                <a:cs typeface="LM Sans 10"/>
              </a:rPr>
              <a:t>do </a:t>
            </a:r>
            <a:r>
              <a:rPr sz="1100" spc="-25" dirty="0">
                <a:latin typeface="LM Sans 10"/>
                <a:cs typeface="LM Sans 10"/>
              </a:rPr>
              <a:t>we </a:t>
            </a:r>
            <a:r>
              <a:rPr sz="1100" spc="-5" dirty="0">
                <a:latin typeface="LM Sans 10"/>
                <a:cs typeface="LM Sans 10"/>
              </a:rPr>
              <a:t>decide where to split the chain </a:t>
            </a:r>
            <a:r>
              <a:rPr sz="1100" spc="-10" dirty="0">
                <a:latin typeface="LM Sans 10"/>
                <a:cs typeface="LM Sans 10"/>
              </a:rPr>
              <a:t>(what </a:t>
            </a:r>
            <a:r>
              <a:rPr sz="1100" spc="-5" dirty="0">
                <a:latin typeface="LM Sans 10"/>
                <a:cs typeface="LM Sans 10"/>
              </a:rPr>
              <a:t>is</a:t>
            </a:r>
            <a:r>
              <a:rPr sz="1100" spc="20" dirty="0">
                <a:latin typeface="LM Sans 10"/>
                <a:cs typeface="LM Sans 10"/>
              </a:rPr>
              <a:t> </a:t>
            </a:r>
            <a:r>
              <a:rPr sz="1100" i="1" spc="25" dirty="0">
                <a:latin typeface="LM Sans 10"/>
                <a:cs typeface="LM Sans 10"/>
              </a:rPr>
              <a:t>k</a:t>
            </a:r>
            <a:r>
              <a:rPr sz="1100" spc="25" dirty="0">
                <a:latin typeface="LM Sans 10"/>
                <a:cs typeface="LM Sans 10"/>
              </a:rPr>
              <a:t>)?</a:t>
            </a:r>
            <a:endParaRPr sz="1100" dirty="0">
              <a:latin typeface="LM Sans 10"/>
              <a:cs typeface="LM Sans 10"/>
            </a:endParaRPr>
          </a:p>
          <a:p>
            <a:pPr marL="50800" marR="414655">
              <a:lnSpc>
                <a:spcPct val="156600"/>
              </a:lnSpc>
              <a:spcBef>
                <a:spcPts val="310"/>
              </a:spcBef>
            </a:pPr>
            <a:r>
              <a:rPr sz="1100" spc="-10" dirty="0">
                <a:solidFill>
                  <a:srgbClr val="0000FF"/>
                </a:solidFill>
                <a:latin typeface="LM Sans 10"/>
                <a:cs typeface="LM Sans 10"/>
              </a:rPr>
              <a:t>ANS</a:t>
            </a:r>
            <a:r>
              <a:rPr sz="1100" spc="-10" dirty="0">
                <a:latin typeface="LM Sans 10"/>
                <a:cs typeface="LM Sans 10"/>
              </a:rPr>
              <a:t>: Can </a:t>
            </a:r>
            <a:r>
              <a:rPr sz="1100" spc="10" dirty="0">
                <a:latin typeface="LM Sans 10"/>
                <a:cs typeface="LM Sans 10"/>
              </a:rPr>
              <a:t>be </a:t>
            </a:r>
            <a:r>
              <a:rPr sz="1100" i="1" spc="-10" dirty="0">
                <a:latin typeface="LM Sans 10"/>
                <a:cs typeface="LM Sans 10"/>
              </a:rPr>
              <a:t>any </a:t>
            </a:r>
            <a:r>
              <a:rPr sz="1100" i="1" spc="40" dirty="0">
                <a:latin typeface="LM Sans 10"/>
                <a:cs typeface="LM Sans 10"/>
              </a:rPr>
              <a:t>k</a:t>
            </a:r>
            <a:r>
              <a:rPr sz="1100" spc="40" dirty="0">
                <a:latin typeface="LM Sans 10"/>
                <a:cs typeface="LM Sans 10"/>
              </a:rPr>
              <a:t>. </a:t>
            </a:r>
            <a:r>
              <a:rPr sz="1100" spc="-10" dirty="0">
                <a:latin typeface="LM Sans 10"/>
                <a:cs typeface="LM Sans 10"/>
              </a:rPr>
              <a:t>Need </a:t>
            </a:r>
            <a:r>
              <a:rPr sz="1100" spc="-5" dirty="0">
                <a:latin typeface="LM Sans 10"/>
                <a:cs typeface="LM Sans 10"/>
              </a:rPr>
              <a:t>to check all possible values.  </a:t>
            </a:r>
            <a:r>
              <a:rPr sz="1100" spc="-5" dirty="0">
                <a:solidFill>
                  <a:srgbClr val="FFFFFF"/>
                </a:solidFill>
                <a:latin typeface="LM Sans 10"/>
                <a:cs typeface="LM Sans 10"/>
              </a:rPr>
              <a:t>Question</a:t>
            </a:r>
            <a:endParaRPr sz="1100" dirty="0">
              <a:latin typeface="LM Sans 10"/>
              <a:cs typeface="LM Sans 10"/>
            </a:endParaRPr>
          </a:p>
          <a:p>
            <a:pPr marL="50800">
              <a:lnSpc>
                <a:spcPct val="100000"/>
              </a:lnSpc>
              <a:spcBef>
                <a:spcPts val="235"/>
              </a:spcBef>
            </a:pPr>
            <a:r>
              <a:rPr sz="1100" spc="-20" dirty="0">
                <a:latin typeface="LM Sans 10"/>
                <a:cs typeface="LM Sans 10"/>
              </a:rPr>
              <a:t>How </a:t>
            </a:r>
            <a:r>
              <a:rPr sz="1100" spc="-10" dirty="0">
                <a:latin typeface="LM Sans 10"/>
                <a:cs typeface="LM Sans 10"/>
              </a:rPr>
              <a:t>do </a:t>
            </a:r>
            <a:r>
              <a:rPr sz="1100" spc="-25" dirty="0">
                <a:latin typeface="LM Sans 10"/>
                <a:cs typeface="LM Sans 10"/>
              </a:rPr>
              <a:t>we </a:t>
            </a:r>
            <a:r>
              <a:rPr sz="1100" spc="-10" dirty="0">
                <a:latin typeface="LM Sans 10"/>
                <a:cs typeface="LM Sans 10"/>
              </a:rPr>
              <a:t>parenthesize </a:t>
            </a:r>
            <a:r>
              <a:rPr sz="1100" spc="-5" dirty="0">
                <a:latin typeface="LM Sans 10"/>
                <a:cs typeface="LM Sans 10"/>
              </a:rPr>
              <a:t>the </a:t>
            </a:r>
            <a:r>
              <a:rPr sz="1100" spc="-30" dirty="0">
                <a:latin typeface="LM Sans 10"/>
                <a:cs typeface="LM Sans 10"/>
              </a:rPr>
              <a:t>two </a:t>
            </a:r>
            <a:r>
              <a:rPr sz="1100" spc="-5" dirty="0">
                <a:latin typeface="LM Sans 10"/>
                <a:cs typeface="LM Sans 10"/>
              </a:rPr>
              <a:t>subchains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47" baseline="-13888" dirty="0">
                <a:latin typeface="LM Sans 8"/>
                <a:cs typeface="LM Sans 8"/>
              </a:rPr>
              <a:t> </a:t>
            </a:r>
            <a:r>
              <a:rPr sz="1100" spc="-5" dirty="0">
                <a:latin typeface="LM Sans 10"/>
                <a:cs typeface="LM Sans 10"/>
              </a:rPr>
              <a:t>?</a:t>
            </a:r>
            <a:endParaRPr sz="1100" dirty="0">
              <a:latin typeface="LM Sans 10"/>
              <a:cs typeface="LM Sans 10"/>
            </a:endParaRPr>
          </a:p>
        </p:txBody>
      </p:sp>
      <p:grpSp>
        <p:nvGrpSpPr>
          <p:cNvPr id="27" name="object 27"/>
          <p:cNvGrpSpPr/>
          <p:nvPr/>
        </p:nvGrpSpPr>
        <p:grpSpPr>
          <a:xfrm>
            <a:off x="0" y="3342919"/>
            <a:ext cx="4608195" cy="113664"/>
            <a:chOff x="0" y="3342919"/>
            <a:chExt cx="4608195" cy="113664"/>
          </a:xfrm>
        </p:grpSpPr>
        <p:sp>
          <p:nvSpPr>
            <p:cNvPr id="28" name="object 2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9" name="object 2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30" name="object 30"/>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32" name="object 3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10" action="ppaction://hlinksldjump"/>
              </a:rPr>
              <a:t>Chain </a:t>
            </a:r>
            <a:r>
              <a:rPr sz="600" b="1" spc="-5" dirty="0">
                <a:solidFill>
                  <a:srgbClr val="FFFFFF"/>
                </a:solidFill>
                <a:latin typeface="LM Sans 10"/>
                <a:cs typeface="LM Sans 10"/>
                <a:hlinkClick r:id="rId10" action="ppaction://hlinksldjump"/>
              </a:rPr>
              <a:t>Matrix Multiplication</a:t>
            </a:r>
            <a:endParaRPr sz="600">
              <a:latin typeface="LM Sans 10"/>
              <a:cs typeface="LM Sans 10"/>
            </a:endParaRPr>
          </a:p>
        </p:txBody>
      </p:sp>
      <p:sp>
        <p:nvSpPr>
          <p:cNvPr id="33" name="object 3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11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86544"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txBox="1"/>
          <p:nvPr/>
        </p:nvSpPr>
        <p:spPr>
          <a:xfrm>
            <a:off x="309194" y="387221"/>
            <a:ext cx="3944620" cy="847090"/>
          </a:xfrm>
          <a:prstGeom prst="rect">
            <a:avLst/>
          </a:prstGeom>
        </p:spPr>
        <p:txBody>
          <a:bodyPr vert="horz" wrap="square" lIns="0" tIns="6985" rIns="0" bIns="0" rtlCol="0">
            <a:spAutoFit/>
          </a:bodyPr>
          <a:lstStyle/>
          <a:p>
            <a:pPr marL="50800" marR="43180">
              <a:lnSpc>
                <a:spcPct val="102600"/>
              </a:lnSpc>
              <a:spcBef>
                <a:spcPts val="55"/>
              </a:spcBef>
            </a:pPr>
            <a:r>
              <a:rPr sz="1100" spc="-25" dirty="0">
                <a:latin typeface="LM Sans 10"/>
                <a:cs typeface="LM Sans 10"/>
              </a:rPr>
              <a:t>At </a:t>
            </a:r>
            <a:r>
              <a:rPr sz="1100" spc="-5" dirty="0">
                <a:latin typeface="LM Sans 10"/>
                <a:cs typeface="LM Sans 10"/>
              </a:rPr>
              <a:t>the last step of </a:t>
            </a:r>
            <a:r>
              <a:rPr sz="1100" i="1" spc="-10" dirty="0">
                <a:latin typeface="LM Sans 10"/>
                <a:cs typeface="LM Sans 10"/>
              </a:rPr>
              <a:t>any </a:t>
            </a:r>
            <a:r>
              <a:rPr sz="1100" spc="-5" dirty="0">
                <a:latin typeface="LM Sans 10"/>
                <a:cs typeface="LM Sans 10"/>
              </a:rPr>
              <a:t>optimal multiplication sequence </a:t>
            </a:r>
            <a:r>
              <a:rPr sz="1100" spc="-15" dirty="0">
                <a:latin typeface="LM Sans 10"/>
                <a:cs typeface="LM Sans 10"/>
              </a:rPr>
              <a:t>(for </a:t>
            </a:r>
            <a:r>
              <a:rPr sz="1100" spc="-10" dirty="0">
                <a:latin typeface="LM Sans 10"/>
                <a:cs typeface="LM Sans 10"/>
              </a:rPr>
              <a:t>a  subbroblem), there </a:t>
            </a:r>
            <a:r>
              <a:rPr sz="1100" spc="-5" dirty="0">
                <a:latin typeface="LM Sans 10"/>
                <a:cs typeface="LM Sans 10"/>
              </a:rPr>
              <a:t>is some </a:t>
            </a:r>
            <a:r>
              <a:rPr sz="1100" i="1" spc="-10" dirty="0">
                <a:latin typeface="LM Sans 10"/>
                <a:cs typeface="LM Sans 10"/>
              </a:rPr>
              <a:t>k </a:t>
            </a:r>
            <a:r>
              <a:rPr sz="1100" spc="-5" dirty="0">
                <a:latin typeface="LM Sans 10"/>
                <a:cs typeface="LM Sans 10"/>
              </a:rPr>
              <a:t>such that the </a:t>
            </a:r>
            <a:r>
              <a:rPr sz="1100" spc="-30" dirty="0">
                <a:latin typeface="LM Sans 10"/>
                <a:cs typeface="LM Sans 10"/>
              </a:rPr>
              <a:t>two </a:t>
            </a:r>
            <a:r>
              <a:rPr sz="1100" spc="-5" dirty="0">
                <a:latin typeface="LM Sans 10"/>
                <a:cs typeface="LM Sans 10"/>
              </a:rPr>
              <a:t>matrices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15" dirty="0">
                <a:latin typeface="LM Sans 10"/>
                <a:cs typeface="LM Sans 10"/>
              </a:rPr>
              <a:t>are </a:t>
            </a:r>
            <a:r>
              <a:rPr sz="1100" spc="-10" dirty="0">
                <a:latin typeface="LM Sans 10"/>
                <a:cs typeface="LM Sans 10"/>
              </a:rPr>
              <a:t>multipled </a:t>
            </a:r>
            <a:r>
              <a:rPr sz="1100" spc="-5" dirty="0">
                <a:latin typeface="LM Sans 10"/>
                <a:cs typeface="LM Sans 10"/>
              </a:rPr>
              <a:t>together. </a:t>
            </a:r>
            <a:r>
              <a:rPr sz="1100" spc="-10" dirty="0">
                <a:latin typeface="LM Sans 10"/>
                <a:cs typeface="LM Sans 10"/>
              </a:rPr>
              <a:t>That</a:t>
            </a:r>
            <a:r>
              <a:rPr sz="1100" spc="35" dirty="0">
                <a:latin typeface="LM Sans 10"/>
                <a:cs typeface="LM Sans 10"/>
              </a:rPr>
              <a:t> </a:t>
            </a:r>
            <a:r>
              <a:rPr sz="1100" spc="-5" dirty="0">
                <a:latin typeface="LM Sans 10"/>
                <a:cs typeface="LM Sans 10"/>
              </a:rPr>
              <a:t>is,</a:t>
            </a:r>
            <a:endParaRPr sz="1100">
              <a:latin typeface="LM Sans 10"/>
              <a:cs typeface="LM Sans 10"/>
            </a:endParaRPr>
          </a:p>
          <a:p>
            <a:pPr>
              <a:lnSpc>
                <a:spcPct val="100000"/>
              </a:lnSpc>
              <a:spcBef>
                <a:spcPts val="35"/>
              </a:spcBef>
            </a:pPr>
            <a:endParaRPr sz="750">
              <a:latin typeface="LM Sans 10"/>
              <a:cs typeface="LM Sans 10"/>
            </a:endParaRPr>
          </a:p>
          <a:p>
            <a:pPr marL="45085" algn="ctr">
              <a:lnSpc>
                <a:spcPct val="100000"/>
              </a:lnSpc>
            </a:pPr>
            <a:r>
              <a:rPr sz="1100" i="1" spc="10" dirty="0">
                <a:solidFill>
                  <a:srgbClr val="FF0000"/>
                </a:solidFill>
                <a:latin typeface="LM Sans 10"/>
                <a:cs typeface="LM Sans 10"/>
              </a:rPr>
              <a:t>A</a:t>
            </a:r>
            <a:r>
              <a:rPr sz="1200" i="1" spc="15" baseline="-10416" dirty="0">
                <a:solidFill>
                  <a:srgbClr val="FF0000"/>
                </a:solidFill>
                <a:latin typeface="LM Sans 8"/>
                <a:cs typeface="LM Sans 8"/>
              </a:rPr>
              <a:t>i..j</a:t>
            </a:r>
            <a:r>
              <a:rPr sz="1200" i="1" spc="209" baseline="-10416" dirty="0">
                <a:solidFill>
                  <a:srgbClr val="FF0000"/>
                </a:solidFill>
                <a:latin typeface="LM Sans 8"/>
                <a:cs typeface="LM Sans 8"/>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0416" dirty="0">
                <a:solidFill>
                  <a:srgbClr val="FF0000"/>
                </a:solidFill>
                <a:latin typeface="LM Sans 8"/>
                <a:cs typeface="LM Sans 8"/>
              </a:rPr>
              <a:t>i</a:t>
            </a:r>
            <a:r>
              <a:rPr sz="1200" i="1" spc="37" baseline="-10416"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i="1" spc="-254" baseline="-13888" dirty="0">
                <a:solidFill>
                  <a:srgbClr val="FF0000"/>
                </a:solidFill>
                <a:latin typeface="LM Sans 8"/>
                <a:cs typeface="LM Sans 8"/>
              </a:rPr>
              <a:t> </a:t>
            </a:r>
            <a:r>
              <a:rPr sz="1100" spc="-5" dirty="0">
                <a:solidFill>
                  <a:srgbClr val="FF0000"/>
                </a:solidFill>
                <a:latin typeface="LM Sans 10"/>
                <a:cs typeface="LM Sans 10"/>
              </a:rPr>
              <a:t>) </a:t>
            </a:r>
            <a:r>
              <a:rPr sz="1100" spc="5" dirty="0">
                <a:solidFill>
                  <a:srgbClr val="FF0000"/>
                </a:solidFill>
                <a:latin typeface="LM Sans 10"/>
                <a:cs typeface="LM Sans 10"/>
              </a:rPr>
              <a:t>(</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spc="-82" baseline="-13888" dirty="0">
                <a:solidFill>
                  <a:srgbClr val="FF0000"/>
                </a:solidFill>
                <a:latin typeface="LM Sans 8"/>
                <a:cs typeface="LM Sans 8"/>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15" dirty="0">
                <a:solidFill>
                  <a:srgbClr val="FF0000"/>
                </a:solidFill>
                <a:latin typeface="DejaVu Sans Condensed"/>
                <a:cs typeface="DejaVu Sans Condensed"/>
              </a:rPr>
              <a:t>·</a:t>
            </a:r>
            <a:r>
              <a:rPr sz="1100" i="1" spc="-135" dirty="0">
                <a:solidFill>
                  <a:srgbClr val="FF0000"/>
                </a:solidFill>
                <a:latin typeface="DejaVu Sans Condensed"/>
                <a:cs typeface="DejaVu Sans Condensed"/>
              </a:rPr>
              <a:t> </a:t>
            </a:r>
            <a:r>
              <a:rPr sz="1100" i="1" spc="-5" dirty="0">
                <a:solidFill>
                  <a:srgbClr val="FF0000"/>
                </a:solidFill>
                <a:latin typeface="LM Sans 10"/>
                <a:cs typeface="LM Sans 10"/>
              </a:rPr>
              <a:t>A</a:t>
            </a:r>
            <a:r>
              <a:rPr sz="1200" i="1" spc="-7" baseline="-10416" dirty="0">
                <a:solidFill>
                  <a:srgbClr val="FF0000"/>
                </a:solidFill>
                <a:latin typeface="LM Sans 8"/>
                <a:cs typeface="LM Sans 8"/>
              </a:rPr>
              <a:t>j</a:t>
            </a:r>
            <a:r>
              <a:rPr sz="1200" i="1" spc="-240" baseline="-10416" dirty="0">
                <a:solidFill>
                  <a:srgbClr val="FF0000"/>
                </a:solidFill>
                <a:latin typeface="LM Sans 8"/>
                <a:cs typeface="LM Sans 8"/>
              </a:rPr>
              <a:t> </a:t>
            </a:r>
            <a:r>
              <a:rPr sz="1100" spc="-5" dirty="0">
                <a:solidFill>
                  <a:srgbClr val="FF0000"/>
                </a:solidFill>
                <a:latin typeface="LM Sans 10"/>
                <a:cs typeface="LM Sans 10"/>
              </a:rPr>
              <a:t>)</a:t>
            </a:r>
            <a:r>
              <a:rPr sz="1100" spc="-65" dirty="0">
                <a:solidFill>
                  <a:srgbClr val="FF0000"/>
                </a:solidFill>
                <a:latin typeface="LM Sans 10"/>
                <a:cs typeface="LM Sans 10"/>
              </a:rPr>
              <a:t> </a:t>
            </a:r>
            <a:r>
              <a:rPr sz="1100" spc="-10" dirty="0">
                <a:solidFill>
                  <a:srgbClr val="FF0000"/>
                </a:solidFill>
                <a:latin typeface="LM Sans 10"/>
                <a:cs typeface="LM Sans 10"/>
              </a:rPr>
              <a:t>=</a:t>
            </a:r>
            <a:r>
              <a:rPr sz="1100" spc="-65" dirty="0">
                <a:solidFill>
                  <a:srgbClr val="FF0000"/>
                </a:solidFill>
                <a:latin typeface="LM Sans 10"/>
                <a:cs typeface="LM Sans 10"/>
              </a:rPr>
              <a:t> </a:t>
            </a:r>
            <a:r>
              <a:rPr sz="1100" i="1" spc="10" dirty="0">
                <a:solidFill>
                  <a:srgbClr val="FF0000"/>
                </a:solidFill>
                <a:latin typeface="LM Sans 10"/>
                <a:cs typeface="LM Sans 10"/>
              </a:rPr>
              <a:t>A</a:t>
            </a:r>
            <a:r>
              <a:rPr sz="1200" i="1" spc="15" baseline="-13888" dirty="0">
                <a:solidFill>
                  <a:srgbClr val="FF0000"/>
                </a:solidFill>
                <a:latin typeface="LM Sans 8"/>
                <a:cs typeface="LM Sans 8"/>
              </a:rPr>
              <a:t>i..k</a:t>
            </a:r>
            <a:r>
              <a:rPr sz="1200" i="1" spc="-254" baseline="-13888" dirty="0">
                <a:solidFill>
                  <a:srgbClr val="FF0000"/>
                </a:solidFill>
                <a:latin typeface="LM Sans 8"/>
                <a:cs typeface="LM Sans 8"/>
              </a:rPr>
              <a:t> </a:t>
            </a:r>
            <a:r>
              <a:rPr sz="1100" i="1" spc="5" dirty="0">
                <a:solidFill>
                  <a:srgbClr val="FF0000"/>
                </a:solidFill>
                <a:latin typeface="LM Sans 10"/>
                <a:cs typeface="LM Sans 10"/>
              </a:rPr>
              <a:t>A</a:t>
            </a:r>
            <a:r>
              <a:rPr sz="1200" i="1" spc="7" baseline="-13888" dirty="0">
                <a:solidFill>
                  <a:srgbClr val="FF0000"/>
                </a:solidFill>
                <a:latin typeface="LM Sans 8"/>
                <a:cs typeface="LM Sans 8"/>
              </a:rPr>
              <a:t>k</a:t>
            </a:r>
            <a:r>
              <a:rPr sz="1200" spc="7" baseline="-13888" dirty="0">
                <a:solidFill>
                  <a:srgbClr val="FF0000"/>
                </a:solidFill>
                <a:latin typeface="LM Sans 8"/>
                <a:cs typeface="LM Sans 8"/>
              </a:rPr>
              <a:t>+1</a:t>
            </a:r>
            <a:r>
              <a:rPr sz="1200" i="1" spc="7" baseline="-13888" dirty="0">
                <a:solidFill>
                  <a:srgbClr val="FF0000"/>
                </a:solidFill>
                <a:latin typeface="LM Sans 8"/>
                <a:cs typeface="LM Sans 8"/>
              </a:rPr>
              <a:t>..j</a:t>
            </a:r>
            <a:r>
              <a:rPr sz="1200" i="1" spc="-247" baseline="-13888" dirty="0">
                <a:solidFill>
                  <a:srgbClr val="FF0000"/>
                </a:solidFill>
                <a:latin typeface="LM Sans 8"/>
                <a:cs typeface="LM Sans 8"/>
              </a:rPr>
              <a:t> </a:t>
            </a:r>
            <a:r>
              <a:rPr sz="1100" i="1" spc="-5" dirty="0">
                <a:solidFill>
                  <a:srgbClr val="FF0000"/>
                </a:solidFill>
                <a:latin typeface="LM Roman Dunhill 10"/>
                <a:cs typeface="LM Roman Dunhill 10"/>
              </a:rPr>
              <a:t>.</a:t>
            </a:r>
            <a:endParaRPr sz="1100">
              <a:latin typeface="LM Roman Dunhill 10"/>
              <a:cs typeface="LM Roman Dunhill 10"/>
            </a:endParaRPr>
          </a:p>
        </p:txBody>
      </p:sp>
      <p:grpSp>
        <p:nvGrpSpPr>
          <p:cNvPr id="4" name="object 4"/>
          <p:cNvGrpSpPr/>
          <p:nvPr/>
        </p:nvGrpSpPr>
        <p:grpSpPr>
          <a:xfrm>
            <a:off x="309193" y="1606384"/>
            <a:ext cx="4040504" cy="469900"/>
            <a:chOff x="309193" y="1606384"/>
            <a:chExt cx="4040504" cy="469900"/>
          </a:xfrm>
        </p:grpSpPr>
        <p:sp>
          <p:nvSpPr>
            <p:cNvPr id="5" name="object 5"/>
            <p:cNvSpPr/>
            <p:nvPr/>
          </p:nvSpPr>
          <p:spPr>
            <a:xfrm>
              <a:off x="309193" y="1606384"/>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772335"/>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974088"/>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961387"/>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650631"/>
              <a:ext cx="50749" cy="32345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816609"/>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688717"/>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676017"/>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663316"/>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650616"/>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grpSp>
        <p:nvGrpSpPr>
          <p:cNvPr id="15" name="object 15"/>
          <p:cNvGrpSpPr/>
          <p:nvPr/>
        </p:nvGrpSpPr>
        <p:grpSpPr>
          <a:xfrm>
            <a:off x="309193" y="2332449"/>
            <a:ext cx="4040504" cy="469265"/>
            <a:chOff x="309193" y="2375826"/>
            <a:chExt cx="4040504" cy="469265"/>
          </a:xfrm>
        </p:grpSpPr>
        <p:sp>
          <p:nvSpPr>
            <p:cNvPr id="16" name="object 16"/>
            <p:cNvSpPr/>
            <p:nvPr/>
          </p:nvSpPr>
          <p:spPr>
            <a:xfrm>
              <a:off x="309193" y="2375826"/>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17" name="object 17"/>
            <p:cNvSpPr/>
            <p:nvPr/>
          </p:nvSpPr>
          <p:spPr>
            <a:xfrm>
              <a:off x="309194" y="2541778"/>
              <a:ext cx="3989653" cy="50609"/>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359994" y="2743454"/>
              <a:ext cx="101600" cy="101600"/>
            </a:xfrm>
            <a:prstGeom prst="rect">
              <a:avLst/>
            </a:prstGeom>
            <a:blipFill>
              <a:blip r:embed="rId7" cstate="print"/>
              <a:stretch>
                <a:fillRect/>
              </a:stretch>
            </a:blipFill>
          </p:spPr>
          <p:txBody>
            <a:bodyPr wrap="square" lIns="0" tIns="0" rIns="0" bIns="0" rtlCol="0"/>
            <a:lstStyle/>
            <a:p>
              <a:endParaRPr/>
            </a:p>
          </p:txBody>
        </p:sp>
        <p:sp>
          <p:nvSpPr>
            <p:cNvPr id="19" name="object 19"/>
            <p:cNvSpPr/>
            <p:nvPr/>
          </p:nvSpPr>
          <p:spPr>
            <a:xfrm>
              <a:off x="410794" y="2730754"/>
              <a:ext cx="3938802" cy="114300"/>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4298848" y="2420074"/>
              <a:ext cx="50749" cy="323380"/>
            </a:xfrm>
            <a:prstGeom prst="rect">
              <a:avLst/>
            </a:prstGeom>
            <a:blipFill>
              <a:blip r:embed="rId8" cstate="print"/>
              <a:stretch>
                <a:fillRect/>
              </a:stretch>
            </a:blipFill>
          </p:spPr>
          <p:txBody>
            <a:bodyPr wrap="square" lIns="0" tIns="0" rIns="0" bIns="0" rtlCol="0"/>
            <a:lstStyle/>
            <a:p>
              <a:endParaRPr/>
            </a:p>
          </p:txBody>
        </p:sp>
        <p:sp>
          <p:nvSpPr>
            <p:cNvPr id="21" name="object 21"/>
            <p:cNvSpPr/>
            <p:nvPr/>
          </p:nvSpPr>
          <p:spPr>
            <a:xfrm>
              <a:off x="309193" y="2586055"/>
              <a:ext cx="3989704" cy="208279"/>
            </a:xfrm>
            <a:custGeom>
              <a:avLst/>
              <a:gdLst/>
              <a:ahLst/>
              <a:cxnLst/>
              <a:rect l="l" t="t" r="r" b="b"/>
              <a:pathLst>
                <a:path w="3989704" h="208280">
                  <a:moveTo>
                    <a:pt x="3989654" y="0"/>
                  </a:moveTo>
                  <a:lnTo>
                    <a:pt x="0" y="0"/>
                  </a:lnTo>
                  <a:lnTo>
                    <a:pt x="0" y="157398"/>
                  </a:lnTo>
                  <a:lnTo>
                    <a:pt x="4008" y="177123"/>
                  </a:lnTo>
                  <a:lnTo>
                    <a:pt x="14922" y="193276"/>
                  </a:lnTo>
                  <a:lnTo>
                    <a:pt x="31075" y="204190"/>
                  </a:lnTo>
                  <a:lnTo>
                    <a:pt x="50800" y="208199"/>
                  </a:lnTo>
                  <a:lnTo>
                    <a:pt x="3938854" y="208199"/>
                  </a:lnTo>
                  <a:lnTo>
                    <a:pt x="3958579" y="204190"/>
                  </a:lnTo>
                  <a:lnTo>
                    <a:pt x="3974732" y="193276"/>
                  </a:lnTo>
                  <a:lnTo>
                    <a:pt x="3985646" y="177123"/>
                  </a:lnTo>
                  <a:lnTo>
                    <a:pt x="3989654" y="157398"/>
                  </a:lnTo>
                  <a:lnTo>
                    <a:pt x="3989654" y="0"/>
                  </a:lnTo>
                  <a:close/>
                </a:path>
              </a:pathLst>
            </a:custGeom>
            <a:solidFill>
              <a:srgbClr val="F8E5E5"/>
            </a:solidFill>
          </p:spPr>
          <p:txBody>
            <a:bodyPr wrap="square" lIns="0" tIns="0" rIns="0" bIns="0" rtlCol="0"/>
            <a:lstStyle/>
            <a:p>
              <a:endParaRPr/>
            </a:p>
          </p:txBody>
        </p:sp>
        <p:sp>
          <p:nvSpPr>
            <p:cNvPr id="22" name="object 22"/>
            <p:cNvSpPr/>
            <p:nvPr/>
          </p:nvSpPr>
          <p:spPr>
            <a:xfrm>
              <a:off x="4298848" y="2458163"/>
              <a:ext cx="0" cy="304800"/>
            </a:xfrm>
            <a:custGeom>
              <a:avLst/>
              <a:gdLst/>
              <a:ahLst/>
              <a:cxnLst/>
              <a:rect l="l" t="t" r="r" b="b"/>
              <a:pathLst>
                <a:path h="304800">
                  <a:moveTo>
                    <a:pt x="0" y="304340"/>
                  </a:moveTo>
                  <a:lnTo>
                    <a:pt x="0" y="0"/>
                  </a:lnTo>
                </a:path>
              </a:pathLst>
            </a:custGeom>
            <a:ln w="3175">
              <a:solidFill>
                <a:srgbClr val="7F7F7F"/>
              </a:solidFill>
            </a:ln>
          </p:spPr>
          <p:txBody>
            <a:bodyPr wrap="square" lIns="0" tIns="0" rIns="0" bIns="0" rtlCol="0"/>
            <a:lstStyle/>
            <a:p>
              <a:endParaRPr/>
            </a:p>
          </p:txBody>
        </p:sp>
        <p:sp>
          <p:nvSpPr>
            <p:cNvPr id="23" name="object 23"/>
            <p:cNvSpPr/>
            <p:nvPr/>
          </p:nvSpPr>
          <p:spPr>
            <a:xfrm>
              <a:off x="4298848" y="2445463"/>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24" name="object 24"/>
            <p:cNvSpPr/>
            <p:nvPr/>
          </p:nvSpPr>
          <p:spPr>
            <a:xfrm>
              <a:off x="4298848" y="2432763"/>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25" name="object 25"/>
            <p:cNvSpPr/>
            <p:nvPr/>
          </p:nvSpPr>
          <p:spPr>
            <a:xfrm>
              <a:off x="4298848" y="2420063"/>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26" name="object 26"/>
          <p:cNvSpPr txBox="1"/>
          <p:nvPr/>
        </p:nvSpPr>
        <p:spPr>
          <a:xfrm>
            <a:off x="296494" y="1550578"/>
            <a:ext cx="3957320" cy="1678939"/>
          </a:xfrm>
          <a:prstGeom prst="rect">
            <a:avLst/>
          </a:prstGeom>
        </p:spPr>
        <p:txBody>
          <a:bodyPr vert="horz" wrap="square" lIns="0" tIns="50165" rIns="0" bIns="0" rtlCol="0">
            <a:spAutoFit/>
          </a:bodyPr>
          <a:lstStyle/>
          <a:p>
            <a:pPr marL="62865">
              <a:lnSpc>
                <a:spcPct val="100000"/>
              </a:lnSpc>
              <a:spcBef>
                <a:spcPts val="395"/>
              </a:spcBef>
            </a:pPr>
            <a:r>
              <a:rPr sz="1100" spc="-5" dirty="0">
                <a:solidFill>
                  <a:srgbClr val="FFFFFF"/>
                </a:solidFill>
                <a:latin typeface="LM Sans 10"/>
                <a:cs typeface="LM Sans 10"/>
              </a:rPr>
              <a:t>Question</a:t>
            </a:r>
            <a:endParaRPr sz="1100" dirty="0">
              <a:latin typeface="LM Sans 10"/>
              <a:cs typeface="LM Sans 10"/>
            </a:endParaRPr>
          </a:p>
          <a:p>
            <a:pPr marL="62865">
              <a:lnSpc>
                <a:spcPct val="100000"/>
              </a:lnSpc>
              <a:spcBef>
                <a:spcPts val="295"/>
              </a:spcBef>
            </a:pPr>
            <a:r>
              <a:rPr sz="1100" spc="-20" dirty="0">
                <a:latin typeface="LM Sans 10"/>
                <a:cs typeface="LM Sans 10"/>
              </a:rPr>
              <a:t>How </a:t>
            </a:r>
            <a:r>
              <a:rPr sz="1100" spc="-10" dirty="0">
                <a:latin typeface="LM Sans 10"/>
                <a:cs typeface="LM Sans 10"/>
              </a:rPr>
              <a:t>do </a:t>
            </a:r>
            <a:r>
              <a:rPr sz="1100" spc="-25" dirty="0">
                <a:latin typeface="LM Sans 10"/>
                <a:cs typeface="LM Sans 10"/>
              </a:rPr>
              <a:t>we </a:t>
            </a:r>
            <a:r>
              <a:rPr sz="1100" spc="-5" dirty="0">
                <a:latin typeface="LM Sans 10"/>
                <a:cs typeface="LM Sans 10"/>
              </a:rPr>
              <a:t>decide where to split the chain </a:t>
            </a:r>
            <a:r>
              <a:rPr sz="1100" spc="-10" dirty="0">
                <a:latin typeface="LM Sans 10"/>
                <a:cs typeface="LM Sans 10"/>
              </a:rPr>
              <a:t>(what </a:t>
            </a:r>
            <a:r>
              <a:rPr sz="1100" spc="-5" dirty="0">
                <a:latin typeface="LM Sans 10"/>
                <a:cs typeface="LM Sans 10"/>
              </a:rPr>
              <a:t>is</a:t>
            </a:r>
            <a:r>
              <a:rPr sz="1100" spc="20" dirty="0">
                <a:latin typeface="LM Sans 10"/>
                <a:cs typeface="LM Sans 10"/>
              </a:rPr>
              <a:t> </a:t>
            </a:r>
            <a:r>
              <a:rPr sz="1100" i="1" spc="25" dirty="0">
                <a:latin typeface="LM Sans 10"/>
                <a:cs typeface="LM Sans 10"/>
              </a:rPr>
              <a:t>k</a:t>
            </a:r>
            <a:r>
              <a:rPr sz="1100" spc="25" dirty="0">
                <a:latin typeface="LM Sans 10"/>
                <a:cs typeface="LM Sans 10"/>
              </a:rPr>
              <a:t>)?</a:t>
            </a:r>
            <a:endParaRPr sz="1100" dirty="0">
              <a:latin typeface="LM Sans 10"/>
              <a:cs typeface="LM Sans 10"/>
            </a:endParaRPr>
          </a:p>
          <a:p>
            <a:pPr marL="63500" marR="517525">
              <a:lnSpc>
                <a:spcPct val="156600"/>
              </a:lnSpc>
              <a:spcBef>
                <a:spcPts val="310"/>
              </a:spcBef>
            </a:pPr>
            <a:r>
              <a:rPr sz="1100" spc="-10" dirty="0">
                <a:solidFill>
                  <a:srgbClr val="0000FF"/>
                </a:solidFill>
                <a:latin typeface="LM Sans 10"/>
                <a:cs typeface="LM Sans 10"/>
              </a:rPr>
              <a:t>ANS</a:t>
            </a:r>
            <a:r>
              <a:rPr sz="1100" spc="-10" dirty="0">
                <a:latin typeface="LM Sans 10"/>
                <a:cs typeface="LM Sans 10"/>
              </a:rPr>
              <a:t>: Can </a:t>
            </a:r>
            <a:r>
              <a:rPr sz="1100" spc="10" dirty="0">
                <a:latin typeface="LM Sans 10"/>
                <a:cs typeface="LM Sans 10"/>
              </a:rPr>
              <a:t>be </a:t>
            </a:r>
            <a:r>
              <a:rPr sz="1100" i="1" spc="-10" dirty="0">
                <a:latin typeface="LM Sans 10"/>
                <a:cs typeface="LM Sans 10"/>
              </a:rPr>
              <a:t>any </a:t>
            </a:r>
            <a:r>
              <a:rPr sz="1100" i="1" spc="40" dirty="0">
                <a:latin typeface="LM Sans 10"/>
                <a:cs typeface="LM Sans 10"/>
              </a:rPr>
              <a:t>k</a:t>
            </a:r>
            <a:r>
              <a:rPr sz="1100" spc="40" dirty="0">
                <a:latin typeface="LM Sans 10"/>
                <a:cs typeface="LM Sans 10"/>
              </a:rPr>
              <a:t>. </a:t>
            </a:r>
            <a:r>
              <a:rPr sz="1100" spc="-10" dirty="0">
                <a:latin typeface="LM Sans 10"/>
                <a:cs typeface="LM Sans 10"/>
              </a:rPr>
              <a:t>Need </a:t>
            </a:r>
            <a:r>
              <a:rPr sz="1100" spc="-5" dirty="0">
                <a:latin typeface="LM Sans 10"/>
                <a:cs typeface="LM Sans 10"/>
              </a:rPr>
              <a:t>to check all possible values.  </a:t>
            </a:r>
            <a:r>
              <a:rPr sz="1100" spc="-5" dirty="0">
                <a:solidFill>
                  <a:srgbClr val="FFFFFF"/>
                </a:solidFill>
                <a:latin typeface="LM Sans 10"/>
                <a:cs typeface="LM Sans 10"/>
              </a:rPr>
              <a:t>Question</a:t>
            </a:r>
            <a:endParaRPr sz="1100" dirty="0">
              <a:latin typeface="LM Sans 10"/>
              <a:cs typeface="LM Sans 10"/>
            </a:endParaRPr>
          </a:p>
          <a:p>
            <a:pPr marL="63500">
              <a:lnSpc>
                <a:spcPct val="100000"/>
              </a:lnSpc>
              <a:spcBef>
                <a:spcPts val="235"/>
              </a:spcBef>
            </a:pPr>
            <a:r>
              <a:rPr sz="1100" spc="-20" dirty="0">
                <a:latin typeface="LM Sans 10"/>
                <a:cs typeface="LM Sans 10"/>
              </a:rPr>
              <a:t>How </a:t>
            </a:r>
            <a:r>
              <a:rPr sz="1100" spc="-10" dirty="0">
                <a:latin typeface="LM Sans 10"/>
                <a:cs typeface="LM Sans 10"/>
              </a:rPr>
              <a:t>do </a:t>
            </a:r>
            <a:r>
              <a:rPr sz="1100" spc="-25" dirty="0">
                <a:latin typeface="LM Sans 10"/>
                <a:cs typeface="LM Sans 10"/>
              </a:rPr>
              <a:t>we </a:t>
            </a:r>
            <a:r>
              <a:rPr sz="1100" spc="-10" dirty="0">
                <a:latin typeface="LM Sans 10"/>
                <a:cs typeface="LM Sans 10"/>
              </a:rPr>
              <a:t>parenthesize </a:t>
            </a:r>
            <a:r>
              <a:rPr sz="1100" spc="-5" dirty="0">
                <a:latin typeface="LM Sans 10"/>
                <a:cs typeface="LM Sans 10"/>
              </a:rPr>
              <a:t>the </a:t>
            </a:r>
            <a:r>
              <a:rPr sz="1100" spc="-30" dirty="0">
                <a:latin typeface="LM Sans 10"/>
                <a:cs typeface="LM Sans 10"/>
              </a:rPr>
              <a:t>two </a:t>
            </a:r>
            <a:r>
              <a:rPr sz="1100" spc="-5" dirty="0">
                <a:latin typeface="LM Sans 10"/>
                <a:cs typeface="LM Sans 10"/>
              </a:rPr>
              <a:t>subchains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54" baseline="-13888" dirty="0">
                <a:latin typeface="LM Sans 8"/>
                <a:cs typeface="LM Sans 8"/>
              </a:rPr>
              <a:t> </a:t>
            </a:r>
            <a:r>
              <a:rPr sz="1100" spc="-5" dirty="0">
                <a:latin typeface="LM Sans 10"/>
                <a:cs typeface="LM Sans 10"/>
              </a:rPr>
              <a:t>?</a:t>
            </a:r>
            <a:endParaRPr sz="1100" dirty="0">
              <a:latin typeface="LM Sans 10"/>
              <a:cs typeface="LM Sans 10"/>
            </a:endParaRPr>
          </a:p>
          <a:p>
            <a:pPr>
              <a:lnSpc>
                <a:spcPct val="100000"/>
              </a:lnSpc>
              <a:spcBef>
                <a:spcPts val="55"/>
              </a:spcBef>
            </a:pPr>
            <a:endParaRPr sz="700" dirty="0">
              <a:latin typeface="LM Sans 10"/>
              <a:cs typeface="LM Sans 10"/>
            </a:endParaRPr>
          </a:p>
          <a:p>
            <a:pPr marL="63500" marR="43180">
              <a:lnSpc>
                <a:spcPct val="102600"/>
              </a:lnSpc>
            </a:pPr>
            <a:r>
              <a:rPr sz="1100" spc="-10" dirty="0">
                <a:solidFill>
                  <a:srgbClr val="0000FF"/>
                </a:solidFill>
                <a:latin typeface="LM Sans 10"/>
                <a:cs typeface="LM Sans 10"/>
              </a:rPr>
              <a:t>ANS</a:t>
            </a:r>
            <a:r>
              <a:rPr sz="1100" spc="-10" dirty="0">
                <a:latin typeface="LM Sans 10"/>
                <a:cs typeface="LM Sans 10"/>
              </a:rPr>
              <a:t>: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5" dirty="0">
                <a:latin typeface="LM Sans 10"/>
                <a:cs typeface="LM Sans 10"/>
              </a:rPr>
              <a:t>must </a:t>
            </a:r>
            <a:r>
              <a:rPr sz="1100" spc="10" dirty="0">
                <a:latin typeface="LM Sans 10"/>
                <a:cs typeface="LM Sans 10"/>
              </a:rPr>
              <a:t>be </a:t>
            </a:r>
            <a:r>
              <a:rPr sz="1100" spc="-10" dirty="0">
                <a:latin typeface="LM Sans 10"/>
                <a:cs typeface="LM Sans 10"/>
              </a:rPr>
              <a:t>computed </a:t>
            </a:r>
            <a:r>
              <a:rPr sz="1100" spc="-15" dirty="0">
                <a:latin typeface="LM Sans 10"/>
                <a:cs typeface="LM Sans 10"/>
              </a:rPr>
              <a:t>optimally, </a:t>
            </a:r>
            <a:r>
              <a:rPr sz="1100" spc="-5" dirty="0">
                <a:latin typeface="LM Sans 10"/>
                <a:cs typeface="LM Sans 10"/>
              </a:rPr>
              <a:t>so </a:t>
            </a:r>
            <a:r>
              <a:rPr sz="1100" spc="-25" dirty="0">
                <a:latin typeface="LM Sans 10"/>
                <a:cs typeface="LM Sans 10"/>
              </a:rPr>
              <a:t>we </a:t>
            </a:r>
            <a:r>
              <a:rPr sz="1100" spc="-10" dirty="0">
                <a:latin typeface="LM Sans 10"/>
                <a:cs typeface="LM Sans 10"/>
              </a:rPr>
              <a:t>can  </a:t>
            </a:r>
            <a:r>
              <a:rPr sz="1100" spc="-5" dirty="0">
                <a:latin typeface="LM Sans 10"/>
                <a:cs typeface="LM Sans 10"/>
              </a:rPr>
              <a:t>apply the </a:t>
            </a:r>
            <a:r>
              <a:rPr sz="1100" spc="-10" dirty="0">
                <a:latin typeface="LM Sans 10"/>
                <a:cs typeface="LM Sans 10"/>
              </a:rPr>
              <a:t>same </a:t>
            </a:r>
            <a:r>
              <a:rPr sz="1100" spc="-5" dirty="0">
                <a:latin typeface="LM Sans 10"/>
                <a:cs typeface="LM Sans 10"/>
              </a:rPr>
              <a:t>procedure</a:t>
            </a:r>
            <a:r>
              <a:rPr sz="1100" spc="-10" dirty="0">
                <a:latin typeface="LM Sans 10"/>
                <a:cs typeface="LM Sans 10"/>
              </a:rPr>
              <a:t> </a:t>
            </a:r>
            <a:r>
              <a:rPr sz="1100" i="1" spc="-5" dirty="0">
                <a:latin typeface="LM Sans 10"/>
                <a:cs typeface="LM Sans 10"/>
              </a:rPr>
              <a:t>recursively</a:t>
            </a:r>
            <a:r>
              <a:rPr sz="1100" spc="-5" dirty="0">
                <a:latin typeface="LM Sans 10"/>
                <a:cs typeface="LM Sans 10"/>
              </a:rPr>
              <a:t>.</a:t>
            </a:r>
            <a:endParaRPr sz="1100" dirty="0">
              <a:latin typeface="LM Sans 10"/>
              <a:cs typeface="LM Sans 10"/>
            </a:endParaRPr>
          </a:p>
        </p:txBody>
      </p:sp>
      <p:grpSp>
        <p:nvGrpSpPr>
          <p:cNvPr id="27" name="object 27"/>
          <p:cNvGrpSpPr/>
          <p:nvPr/>
        </p:nvGrpSpPr>
        <p:grpSpPr>
          <a:xfrm>
            <a:off x="0" y="3342919"/>
            <a:ext cx="4608195" cy="113664"/>
            <a:chOff x="0" y="3342919"/>
            <a:chExt cx="4608195" cy="113664"/>
          </a:xfrm>
        </p:grpSpPr>
        <p:sp>
          <p:nvSpPr>
            <p:cNvPr id="28" name="object 2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9" name="object 2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30" name="object 30"/>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32" name="object 3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9" action="ppaction://hlinksldjump"/>
              </a:rPr>
              <a:t>Chain </a:t>
            </a:r>
            <a:r>
              <a:rPr sz="600" b="1" spc="-5" dirty="0">
                <a:solidFill>
                  <a:srgbClr val="FFFFFF"/>
                </a:solidFill>
                <a:latin typeface="LM Sans 10"/>
                <a:cs typeface="LM Sans 10"/>
                <a:hlinkClick r:id="rId9" action="ppaction://hlinksldjump"/>
              </a:rPr>
              <a:t>Matrix Multiplication</a:t>
            </a:r>
            <a:endParaRPr sz="600">
              <a:latin typeface="LM Sans 10"/>
              <a:cs typeface="LM Sans 10"/>
            </a:endParaRPr>
          </a:p>
        </p:txBody>
      </p:sp>
      <p:sp>
        <p:nvSpPr>
          <p:cNvPr id="33" name="object 3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11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86099" cy="232756"/>
          </a:xfrm>
          <a:prstGeom prst="rect">
            <a:avLst/>
          </a:prstGeom>
        </p:spPr>
        <p:txBody>
          <a:bodyPr vert="horz" wrap="square" lIns="0" tIns="17145" rIns="0" bIns="0" rtlCol="0">
            <a:spAutoFit/>
          </a:bodyPr>
          <a:lstStyle/>
          <a:p>
            <a:pPr marL="12700">
              <a:lnSpc>
                <a:spcPct val="100000"/>
              </a:lnSpc>
              <a:spcBef>
                <a:spcPts val="135"/>
              </a:spcBef>
            </a:pPr>
            <a:r>
              <a:rPr spc="15" dirty="0"/>
              <a:t>Optimal </a:t>
            </a:r>
            <a:r>
              <a:rPr spc="10" dirty="0"/>
              <a:t>Structure</a:t>
            </a:r>
            <a:r>
              <a:rPr spc="-25" dirty="0"/>
              <a:t> </a:t>
            </a:r>
            <a:r>
              <a:rPr spc="10" dirty="0"/>
              <a:t>Property</a:t>
            </a:r>
          </a:p>
        </p:txBody>
      </p:sp>
      <p:sp>
        <p:nvSpPr>
          <p:cNvPr id="3" name="object 3"/>
          <p:cNvSpPr txBox="1"/>
          <p:nvPr/>
        </p:nvSpPr>
        <p:spPr>
          <a:xfrm>
            <a:off x="321894" y="760170"/>
            <a:ext cx="3898265" cy="535940"/>
          </a:xfrm>
          <a:prstGeom prst="rect">
            <a:avLst/>
          </a:prstGeom>
        </p:spPr>
        <p:txBody>
          <a:bodyPr vert="horz" wrap="square" lIns="0" tIns="6985" rIns="0" bIns="0" rtlCol="0">
            <a:spAutoFit/>
          </a:bodyPr>
          <a:lstStyle/>
          <a:p>
            <a:pPr marL="38100" marR="30480">
              <a:lnSpc>
                <a:spcPct val="102600"/>
              </a:lnSpc>
              <a:spcBef>
                <a:spcPts val="55"/>
              </a:spcBef>
            </a:pPr>
            <a:r>
              <a:rPr sz="1100" spc="-5" dirty="0">
                <a:latin typeface="LM Sans 10"/>
                <a:cs typeface="LM Sans 10"/>
              </a:rPr>
              <a:t>If the </a:t>
            </a:r>
            <a:r>
              <a:rPr sz="1100" dirty="0">
                <a:latin typeface="LM Sans 10"/>
                <a:cs typeface="LM Sans 10"/>
              </a:rPr>
              <a:t>“optimal” </a:t>
            </a:r>
            <a:r>
              <a:rPr sz="1100" spc="-5" dirty="0">
                <a:latin typeface="LM Sans 10"/>
                <a:cs typeface="LM Sans 10"/>
              </a:rPr>
              <a:t>solution of </a:t>
            </a:r>
            <a:r>
              <a:rPr sz="1100" i="1" spc="10" dirty="0">
                <a:latin typeface="LM Sans 10"/>
                <a:cs typeface="LM Sans 10"/>
              </a:rPr>
              <a:t>A</a:t>
            </a:r>
            <a:r>
              <a:rPr sz="1200" i="1" spc="15" baseline="-10416" dirty="0">
                <a:latin typeface="LM Sans 8"/>
                <a:cs typeface="LM Sans 8"/>
              </a:rPr>
              <a:t>i..j </a:t>
            </a:r>
            <a:r>
              <a:rPr sz="1100" spc="-5" dirty="0">
                <a:latin typeface="LM Sans 10"/>
                <a:cs typeface="LM Sans 10"/>
              </a:rPr>
              <a:t>involves splitting into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5" dirty="0">
                <a:latin typeface="LM Sans 10"/>
                <a:cs typeface="LM Sans 10"/>
              </a:rPr>
              <a:t>at the </a:t>
            </a:r>
            <a:r>
              <a:rPr sz="1100" spc="-10" dirty="0">
                <a:latin typeface="LM Sans 10"/>
                <a:cs typeface="LM Sans 10"/>
              </a:rPr>
              <a:t>final </a:t>
            </a:r>
            <a:r>
              <a:rPr sz="1100" spc="-5" dirty="0">
                <a:latin typeface="LM Sans 10"/>
                <a:cs typeface="LM Sans 10"/>
              </a:rPr>
              <a:t>step, then </a:t>
            </a:r>
            <a:r>
              <a:rPr sz="1100" spc="-10" dirty="0">
                <a:latin typeface="LM Sans 10"/>
                <a:cs typeface="LM Sans 10"/>
              </a:rPr>
              <a:t>parenthesization </a:t>
            </a:r>
            <a:r>
              <a:rPr sz="1100" spc="-5" dirty="0">
                <a:latin typeface="LM Sans 10"/>
                <a:cs typeface="LM Sans 10"/>
              </a:rPr>
              <a:t>of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5" dirty="0">
                <a:latin typeface="LM Sans 10"/>
                <a:cs typeface="LM Sans 10"/>
              </a:rPr>
              <a:t>in the optimal solution must also</a:t>
            </a:r>
            <a:r>
              <a:rPr sz="1100" spc="-15" dirty="0">
                <a:latin typeface="LM Sans 10"/>
                <a:cs typeface="LM Sans 10"/>
              </a:rPr>
              <a:t> </a:t>
            </a:r>
            <a:r>
              <a:rPr sz="1100" spc="-5" dirty="0">
                <a:latin typeface="LM Sans 10"/>
                <a:cs typeface="LM Sans 10"/>
              </a:rPr>
              <a:t>be</a:t>
            </a:r>
            <a:r>
              <a:rPr sz="1100" spc="-5" dirty="0">
                <a:solidFill>
                  <a:srgbClr val="FF0000"/>
                </a:solidFill>
                <a:latin typeface="LM Sans 10"/>
                <a:cs typeface="LM Sans 10"/>
              </a:rPr>
              <a:t>optimal</a:t>
            </a:r>
            <a:endParaRPr sz="1100">
              <a:latin typeface="LM Sans 10"/>
              <a:cs typeface="LM Sans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12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912288" cy="232756"/>
          </a:xfrm>
          <a:prstGeom prst="rect">
            <a:avLst/>
          </a:prstGeom>
        </p:spPr>
        <p:txBody>
          <a:bodyPr vert="horz" wrap="square" lIns="0" tIns="17145" rIns="0" bIns="0" rtlCol="0">
            <a:spAutoFit/>
          </a:bodyPr>
          <a:lstStyle/>
          <a:p>
            <a:pPr marL="12700">
              <a:lnSpc>
                <a:spcPct val="100000"/>
              </a:lnSpc>
              <a:spcBef>
                <a:spcPts val="135"/>
              </a:spcBef>
            </a:pPr>
            <a:r>
              <a:rPr spc="15" dirty="0"/>
              <a:t>Optimal </a:t>
            </a:r>
            <a:r>
              <a:rPr spc="10" dirty="0"/>
              <a:t>Structure</a:t>
            </a:r>
            <a:r>
              <a:rPr spc="-25" dirty="0"/>
              <a:t> </a:t>
            </a:r>
            <a:r>
              <a:rPr spc="10" dirty="0"/>
              <a:t>Property</a:t>
            </a:r>
          </a:p>
        </p:txBody>
      </p:sp>
      <p:sp>
        <p:nvSpPr>
          <p:cNvPr id="3" name="object 3"/>
          <p:cNvSpPr/>
          <p:nvPr/>
        </p:nvSpPr>
        <p:spPr>
          <a:xfrm>
            <a:off x="502551" y="1511681"/>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09194" y="760170"/>
            <a:ext cx="3923665" cy="1339149"/>
          </a:xfrm>
          <a:prstGeom prst="rect">
            <a:avLst/>
          </a:prstGeom>
        </p:spPr>
        <p:txBody>
          <a:bodyPr vert="horz" wrap="square" lIns="0" tIns="6985" rIns="0" bIns="0" rtlCol="0">
            <a:spAutoFit/>
          </a:bodyPr>
          <a:lstStyle/>
          <a:p>
            <a:pPr marL="50800" marR="43180">
              <a:lnSpc>
                <a:spcPct val="102600"/>
              </a:lnSpc>
              <a:spcBef>
                <a:spcPts val="55"/>
              </a:spcBef>
            </a:pPr>
            <a:r>
              <a:rPr sz="1100" spc="-5" dirty="0">
                <a:latin typeface="LM Sans 10"/>
                <a:cs typeface="LM Sans 10"/>
              </a:rPr>
              <a:t>If the </a:t>
            </a:r>
            <a:r>
              <a:rPr sz="1100" dirty="0">
                <a:latin typeface="LM Sans 10"/>
                <a:cs typeface="LM Sans 10"/>
              </a:rPr>
              <a:t>“optimal” </a:t>
            </a:r>
            <a:r>
              <a:rPr sz="1100" spc="-5" dirty="0">
                <a:latin typeface="LM Sans 10"/>
                <a:cs typeface="LM Sans 10"/>
              </a:rPr>
              <a:t>solution of </a:t>
            </a:r>
            <a:r>
              <a:rPr sz="1100" i="1" spc="10" dirty="0">
                <a:latin typeface="LM Sans 10"/>
                <a:cs typeface="LM Sans 10"/>
              </a:rPr>
              <a:t>A</a:t>
            </a:r>
            <a:r>
              <a:rPr sz="1200" i="1" spc="15" baseline="-10416" dirty="0">
                <a:latin typeface="LM Sans 8"/>
                <a:cs typeface="LM Sans 8"/>
              </a:rPr>
              <a:t>i..j </a:t>
            </a:r>
            <a:r>
              <a:rPr sz="1100" spc="-5" dirty="0">
                <a:latin typeface="LM Sans 10"/>
                <a:cs typeface="LM Sans 10"/>
              </a:rPr>
              <a:t>involves splitting into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5" dirty="0">
                <a:latin typeface="LM Sans 10"/>
                <a:cs typeface="LM Sans 10"/>
              </a:rPr>
              <a:t>at the </a:t>
            </a:r>
            <a:r>
              <a:rPr sz="1100" spc="-10" dirty="0">
                <a:latin typeface="LM Sans 10"/>
                <a:cs typeface="LM Sans 10"/>
              </a:rPr>
              <a:t>final </a:t>
            </a:r>
            <a:r>
              <a:rPr sz="1100" spc="-5" dirty="0">
                <a:latin typeface="LM Sans 10"/>
                <a:cs typeface="LM Sans 10"/>
              </a:rPr>
              <a:t>step, then </a:t>
            </a:r>
            <a:r>
              <a:rPr sz="1100" spc="-10" dirty="0">
                <a:latin typeface="LM Sans 10"/>
                <a:cs typeface="LM Sans 10"/>
              </a:rPr>
              <a:t>parenthesization </a:t>
            </a:r>
            <a:r>
              <a:rPr sz="1100" spc="-5" dirty="0">
                <a:latin typeface="LM Sans 10"/>
                <a:cs typeface="LM Sans 10"/>
              </a:rPr>
              <a:t>of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5" dirty="0">
                <a:latin typeface="LM Sans 10"/>
                <a:cs typeface="LM Sans 10"/>
              </a:rPr>
              <a:t>in the optimal solution must also</a:t>
            </a:r>
            <a:r>
              <a:rPr sz="1100" spc="-15" dirty="0">
                <a:latin typeface="LM Sans 10"/>
                <a:cs typeface="LM Sans 10"/>
              </a:rPr>
              <a:t> </a:t>
            </a:r>
            <a:r>
              <a:rPr sz="1100" spc="-5" dirty="0">
                <a:latin typeface="LM Sans 10"/>
                <a:cs typeface="LM Sans 10"/>
              </a:rPr>
              <a:t>be</a:t>
            </a:r>
            <a:r>
              <a:rPr lang="en-US" sz="1100" spc="-5" dirty="0">
                <a:latin typeface="LM Sans 10"/>
                <a:cs typeface="LM Sans 10"/>
              </a:rPr>
              <a:t> </a:t>
            </a:r>
            <a:r>
              <a:rPr sz="1100" spc="-5" dirty="0">
                <a:solidFill>
                  <a:srgbClr val="FF0000"/>
                </a:solidFill>
                <a:latin typeface="LM Sans 10"/>
                <a:cs typeface="LM Sans 10"/>
              </a:rPr>
              <a:t>optimal</a:t>
            </a:r>
            <a:endParaRPr sz="1100" dirty="0">
              <a:latin typeface="LM Sans 10"/>
              <a:cs typeface="LM Sans 10"/>
            </a:endParaRPr>
          </a:p>
          <a:p>
            <a:pPr>
              <a:lnSpc>
                <a:spcPct val="100000"/>
              </a:lnSpc>
              <a:spcBef>
                <a:spcPts val="25"/>
              </a:spcBef>
            </a:pPr>
            <a:endParaRPr sz="800" spc="100" dirty="0">
              <a:latin typeface="LM Sans 10"/>
              <a:cs typeface="LM Sans 10"/>
            </a:endParaRPr>
          </a:p>
          <a:p>
            <a:pPr marL="327660" marR="222885">
              <a:lnSpc>
                <a:spcPct val="102600"/>
              </a:lnSpc>
            </a:pPr>
            <a:r>
              <a:rPr sz="1100" spc="100" dirty="0">
                <a:latin typeface="LM Sans 10"/>
                <a:cs typeface="LM Sans 10"/>
              </a:rPr>
              <a:t>If parenthesization of </a:t>
            </a:r>
            <a:r>
              <a:rPr sz="1100" i="1" spc="100" dirty="0" err="1">
                <a:latin typeface="LM Sans 10"/>
                <a:cs typeface="LM Sans 10"/>
              </a:rPr>
              <a:t>A</a:t>
            </a:r>
            <a:r>
              <a:rPr sz="1200" i="1" spc="100" baseline="-13888" dirty="0" err="1">
                <a:latin typeface="LM Sans 8"/>
                <a:cs typeface="LM Sans 8"/>
              </a:rPr>
              <a:t>i..k</a:t>
            </a:r>
            <a:r>
              <a:rPr sz="1200" i="1" spc="100" baseline="-13888" dirty="0">
                <a:latin typeface="LM Sans 8"/>
                <a:cs typeface="LM Sans 8"/>
              </a:rPr>
              <a:t> </a:t>
            </a:r>
            <a:r>
              <a:rPr sz="1100" spc="100" dirty="0">
                <a:latin typeface="LM Sans 10"/>
                <a:cs typeface="LM Sans 10"/>
              </a:rPr>
              <a:t>was</a:t>
            </a:r>
            <a:r>
              <a:rPr lang="en-US" sz="1100" spc="100" dirty="0">
                <a:latin typeface="LM Sans 10"/>
                <a:cs typeface="LM Sans 10"/>
              </a:rPr>
              <a:t> </a:t>
            </a:r>
            <a:r>
              <a:rPr sz="1100" spc="100" dirty="0">
                <a:solidFill>
                  <a:srgbClr val="0000FF"/>
                </a:solidFill>
                <a:latin typeface="LM Sans 10"/>
                <a:cs typeface="LM Sans 10"/>
              </a:rPr>
              <a:t>not</a:t>
            </a:r>
            <a:r>
              <a:rPr lang="en-US" sz="1100" spc="100" dirty="0">
                <a:solidFill>
                  <a:srgbClr val="0000FF"/>
                </a:solidFill>
                <a:latin typeface="LM Sans 10"/>
                <a:cs typeface="LM Sans 10"/>
              </a:rPr>
              <a:t> </a:t>
            </a:r>
            <a:r>
              <a:rPr sz="1100" spc="100" dirty="0">
                <a:latin typeface="LM Sans 10"/>
                <a:cs typeface="LM Sans 10"/>
              </a:rPr>
              <a:t>optimal, it could be  replaced by a cheaper parenthesization, yielding a cheaper  final solution, constradicting optimality</a:t>
            </a: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1" name="object 1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12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836088" cy="232756"/>
          </a:xfrm>
          <a:prstGeom prst="rect">
            <a:avLst/>
          </a:prstGeom>
        </p:spPr>
        <p:txBody>
          <a:bodyPr vert="horz" wrap="square" lIns="0" tIns="17145" rIns="0" bIns="0" rtlCol="0">
            <a:spAutoFit/>
          </a:bodyPr>
          <a:lstStyle/>
          <a:p>
            <a:pPr marL="12700">
              <a:lnSpc>
                <a:spcPct val="100000"/>
              </a:lnSpc>
              <a:spcBef>
                <a:spcPts val="135"/>
              </a:spcBef>
            </a:pPr>
            <a:r>
              <a:rPr spc="15" dirty="0"/>
              <a:t>Optimal </a:t>
            </a:r>
            <a:r>
              <a:rPr spc="10" dirty="0"/>
              <a:t>Structure</a:t>
            </a:r>
            <a:r>
              <a:rPr spc="-25" dirty="0"/>
              <a:t> </a:t>
            </a:r>
            <a:r>
              <a:rPr spc="10" dirty="0"/>
              <a:t>Property</a:t>
            </a:r>
          </a:p>
        </p:txBody>
      </p:sp>
      <p:sp>
        <p:nvSpPr>
          <p:cNvPr id="3" name="object 3"/>
          <p:cNvSpPr/>
          <p:nvPr/>
        </p:nvSpPr>
        <p:spPr>
          <a:xfrm>
            <a:off x="502551" y="1511681"/>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02551" y="2141778"/>
            <a:ext cx="65265" cy="65265"/>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296494" y="760170"/>
            <a:ext cx="4109948" cy="1834514"/>
          </a:xfrm>
          <a:prstGeom prst="rect">
            <a:avLst/>
          </a:prstGeom>
        </p:spPr>
        <p:txBody>
          <a:bodyPr vert="horz" wrap="square" lIns="0" tIns="6985" rIns="0" bIns="0" rtlCol="0">
            <a:spAutoFit/>
          </a:bodyPr>
          <a:lstStyle/>
          <a:p>
            <a:pPr marL="63500" marR="55880">
              <a:lnSpc>
                <a:spcPct val="102600"/>
              </a:lnSpc>
              <a:spcBef>
                <a:spcPts val="55"/>
              </a:spcBef>
            </a:pPr>
            <a:r>
              <a:rPr sz="1100" spc="-5" dirty="0">
                <a:latin typeface="LM Sans 10"/>
                <a:cs typeface="LM Sans 10"/>
              </a:rPr>
              <a:t>If the </a:t>
            </a:r>
            <a:r>
              <a:rPr sz="1100" dirty="0">
                <a:latin typeface="LM Sans 10"/>
                <a:cs typeface="LM Sans 10"/>
              </a:rPr>
              <a:t>“optimal” </a:t>
            </a:r>
            <a:r>
              <a:rPr sz="1100" spc="-5" dirty="0">
                <a:latin typeface="LM Sans 10"/>
                <a:cs typeface="LM Sans 10"/>
              </a:rPr>
              <a:t>solution of </a:t>
            </a:r>
            <a:r>
              <a:rPr sz="1100" i="1" spc="10" dirty="0">
                <a:latin typeface="LM Sans 10"/>
                <a:cs typeface="LM Sans 10"/>
              </a:rPr>
              <a:t>A</a:t>
            </a:r>
            <a:r>
              <a:rPr sz="1200" i="1" spc="15" baseline="-10416" dirty="0">
                <a:latin typeface="LM Sans 8"/>
                <a:cs typeface="LM Sans 8"/>
              </a:rPr>
              <a:t>i..j </a:t>
            </a:r>
            <a:r>
              <a:rPr sz="1100" spc="-5" dirty="0">
                <a:latin typeface="LM Sans 10"/>
                <a:cs typeface="LM Sans 10"/>
              </a:rPr>
              <a:t>involves splitting into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5" dirty="0">
                <a:latin typeface="LM Sans 10"/>
                <a:cs typeface="LM Sans 10"/>
              </a:rPr>
              <a:t>at the </a:t>
            </a:r>
            <a:r>
              <a:rPr sz="1100" spc="-10" dirty="0">
                <a:latin typeface="LM Sans 10"/>
                <a:cs typeface="LM Sans 10"/>
              </a:rPr>
              <a:t>final </a:t>
            </a:r>
            <a:r>
              <a:rPr sz="1100" spc="-5" dirty="0">
                <a:latin typeface="LM Sans 10"/>
                <a:cs typeface="LM Sans 10"/>
              </a:rPr>
              <a:t>step, then </a:t>
            </a:r>
            <a:r>
              <a:rPr sz="1100" spc="-10" dirty="0">
                <a:latin typeface="LM Sans 10"/>
                <a:cs typeface="LM Sans 10"/>
              </a:rPr>
              <a:t>parenthesization </a:t>
            </a:r>
            <a:r>
              <a:rPr sz="1100" spc="-5" dirty="0">
                <a:latin typeface="LM Sans 10"/>
                <a:cs typeface="LM Sans 10"/>
              </a:rPr>
              <a:t>of </a:t>
            </a:r>
            <a:r>
              <a:rPr sz="1100" i="1" spc="10" dirty="0">
                <a:latin typeface="LM Sans 10"/>
                <a:cs typeface="LM Sans 10"/>
              </a:rPr>
              <a:t>A</a:t>
            </a:r>
            <a:r>
              <a:rPr sz="1200" i="1" spc="15" baseline="-13888" dirty="0">
                <a:latin typeface="LM Sans 8"/>
                <a:cs typeface="LM Sans 8"/>
              </a:rPr>
              <a:t>i..k </a:t>
            </a:r>
            <a:r>
              <a:rPr sz="1100" spc="-10" dirty="0">
                <a:latin typeface="LM Sans 10"/>
                <a:cs typeface="LM Sans 10"/>
              </a:rPr>
              <a:t>and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5" dirty="0">
                <a:latin typeface="LM Sans 10"/>
                <a:cs typeface="LM Sans 10"/>
              </a:rPr>
              <a:t>in the optimal solution must also</a:t>
            </a:r>
            <a:r>
              <a:rPr sz="1100" spc="-15" dirty="0">
                <a:latin typeface="LM Sans 10"/>
                <a:cs typeface="LM Sans 10"/>
              </a:rPr>
              <a:t> </a:t>
            </a:r>
            <a:r>
              <a:rPr sz="1100" spc="-5" dirty="0">
                <a:latin typeface="LM Sans 10"/>
                <a:cs typeface="LM Sans 10"/>
              </a:rPr>
              <a:t>be</a:t>
            </a:r>
            <a:r>
              <a:rPr lang="en-US" sz="1100" spc="-5" dirty="0">
                <a:latin typeface="LM Sans 10"/>
                <a:cs typeface="LM Sans 10"/>
              </a:rPr>
              <a:t> </a:t>
            </a:r>
            <a:r>
              <a:rPr sz="1100" spc="-5" dirty="0">
                <a:solidFill>
                  <a:srgbClr val="FF0000"/>
                </a:solidFill>
                <a:latin typeface="LM Sans 10"/>
                <a:cs typeface="LM Sans 10"/>
              </a:rPr>
              <a:t>optimal</a:t>
            </a:r>
            <a:endParaRPr sz="1100" dirty="0">
              <a:latin typeface="LM Sans 10"/>
              <a:cs typeface="LM Sans 10"/>
            </a:endParaRPr>
          </a:p>
          <a:p>
            <a:pPr>
              <a:lnSpc>
                <a:spcPct val="100000"/>
              </a:lnSpc>
              <a:spcBef>
                <a:spcPts val="25"/>
              </a:spcBef>
            </a:pPr>
            <a:endParaRPr sz="800" dirty="0">
              <a:latin typeface="LM Sans 10"/>
              <a:cs typeface="LM Sans 10"/>
            </a:endParaRPr>
          </a:p>
          <a:p>
            <a:pPr marL="340360" marR="235585">
              <a:lnSpc>
                <a:spcPct val="102600"/>
              </a:lnSpc>
            </a:pPr>
            <a:r>
              <a:rPr sz="1100" spc="-5" dirty="0">
                <a:latin typeface="LM Sans 10"/>
                <a:cs typeface="LM Sans 10"/>
              </a:rPr>
              <a:t>If </a:t>
            </a:r>
            <a:r>
              <a:rPr sz="1100" spc="-10" dirty="0">
                <a:latin typeface="LM Sans 10"/>
                <a:cs typeface="LM Sans 10"/>
              </a:rPr>
              <a:t>parenthesization </a:t>
            </a:r>
            <a:r>
              <a:rPr sz="1100" spc="-5" dirty="0">
                <a:latin typeface="LM Sans 10"/>
                <a:cs typeface="LM Sans 10"/>
              </a:rPr>
              <a:t>of </a:t>
            </a:r>
            <a:r>
              <a:rPr sz="1100" i="1" spc="10" dirty="0" err="1">
                <a:latin typeface="LM Sans 10"/>
                <a:cs typeface="LM Sans 10"/>
              </a:rPr>
              <a:t>A</a:t>
            </a:r>
            <a:r>
              <a:rPr sz="1200" i="1" spc="15" baseline="-13888" dirty="0" err="1">
                <a:latin typeface="LM Sans 8"/>
                <a:cs typeface="LM Sans 8"/>
              </a:rPr>
              <a:t>i..k</a:t>
            </a:r>
            <a:r>
              <a:rPr sz="1200" i="1" spc="15" baseline="-13888" dirty="0">
                <a:latin typeface="LM Sans 8"/>
                <a:cs typeface="LM Sans 8"/>
              </a:rPr>
              <a:t> </a:t>
            </a:r>
            <a:r>
              <a:rPr sz="1100" spc="-10" dirty="0">
                <a:latin typeface="LM Sans 10"/>
                <a:cs typeface="LM Sans 10"/>
              </a:rPr>
              <a:t>was</a:t>
            </a:r>
            <a:r>
              <a:rPr lang="en-US" sz="1100" spc="-10" dirty="0">
                <a:latin typeface="LM Sans 10"/>
                <a:cs typeface="LM Sans 10"/>
              </a:rPr>
              <a:t> </a:t>
            </a:r>
            <a:r>
              <a:rPr sz="1100" spc="-10" dirty="0">
                <a:solidFill>
                  <a:srgbClr val="0000FF"/>
                </a:solidFill>
                <a:latin typeface="LM Sans 10"/>
                <a:cs typeface="LM Sans 10"/>
              </a:rPr>
              <a:t>not</a:t>
            </a:r>
            <a:r>
              <a:rPr lang="en-US" sz="1100" spc="-10" dirty="0">
                <a:solidFill>
                  <a:srgbClr val="0000FF"/>
                </a:solidFill>
                <a:latin typeface="LM Sans 10"/>
                <a:cs typeface="LM Sans 10"/>
              </a:rPr>
              <a:t> </a:t>
            </a:r>
            <a:r>
              <a:rPr sz="1100" spc="-10" dirty="0">
                <a:latin typeface="LM Sans 10"/>
                <a:cs typeface="LM Sans 10"/>
              </a:rPr>
              <a:t>optimal, </a:t>
            </a:r>
            <a:r>
              <a:rPr sz="1100" spc="-5" dirty="0">
                <a:latin typeface="LM Sans 10"/>
                <a:cs typeface="LM Sans 10"/>
              </a:rPr>
              <a:t>it could </a:t>
            </a:r>
            <a:r>
              <a:rPr sz="1100" spc="10" dirty="0">
                <a:latin typeface="LM Sans 10"/>
                <a:cs typeface="LM Sans 10"/>
              </a:rPr>
              <a:t>be  </a:t>
            </a:r>
            <a:r>
              <a:rPr sz="1100" spc="-5" dirty="0">
                <a:latin typeface="LM Sans 10"/>
                <a:cs typeface="LM Sans 10"/>
              </a:rPr>
              <a:t>replaced </a:t>
            </a:r>
            <a:r>
              <a:rPr sz="1100" spc="-20" dirty="0">
                <a:latin typeface="LM Sans 10"/>
                <a:cs typeface="LM Sans 10"/>
              </a:rPr>
              <a:t>by </a:t>
            </a:r>
            <a:r>
              <a:rPr sz="1100" spc="-10" dirty="0">
                <a:latin typeface="LM Sans 10"/>
                <a:cs typeface="LM Sans 10"/>
              </a:rPr>
              <a:t>a </a:t>
            </a:r>
            <a:r>
              <a:rPr sz="1100" spc="-5" dirty="0">
                <a:latin typeface="LM Sans 10"/>
                <a:cs typeface="LM Sans 10"/>
              </a:rPr>
              <a:t>cheaper </a:t>
            </a:r>
            <a:r>
              <a:rPr sz="1100" spc="-10" dirty="0">
                <a:latin typeface="LM Sans 10"/>
                <a:cs typeface="LM Sans 10"/>
              </a:rPr>
              <a:t>parenthesization, </a:t>
            </a:r>
            <a:r>
              <a:rPr sz="1100" spc="-5" dirty="0">
                <a:latin typeface="LM Sans 10"/>
                <a:cs typeface="LM Sans 10"/>
              </a:rPr>
              <a:t>yielding </a:t>
            </a:r>
            <a:r>
              <a:rPr sz="1100" spc="-10" dirty="0">
                <a:latin typeface="LM Sans 10"/>
                <a:cs typeface="LM Sans 10"/>
              </a:rPr>
              <a:t>a </a:t>
            </a:r>
            <a:r>
              <a:rPr sz="1100" spc="-5" dirty="0">
                <a:latin typeface="LM Sans 10"/>
                <a:cs typeface="LM Sans 10"/>
              </a:rPr>
              <a:t>cheaper  </a:t>
            </a:r>
            <a:r>
              <a:rPr sz="1100" spc="-10" dirty="0">
                <a:latin typeface="LM Sans 10"/>
                <a:cs typeface="LM Sans 10"/>
              </a:rPr>
              <a:t>final </a:t>
            </a:r>
            <a:r>
              <a:rPr sz="1100" spc="-5" dirty="0">
                <a:latin typeface="LM Sans 10"/>
                <a:cs typeface="LM Sans 10"/>
              </a:rPr>
              <a:t>solution, constradicting</a:t>
            </a:r>
            <a:r>
              <a:rPr sz="1100" spc="-10" dirty="0">
                <a:latin typeface="LM Sans 10"/>
                <a:cs typeface="LM Sans 10"/>
              </a:rPr>
              <a:t> optimality</a:t>
            </a:r>
            <a:endParaRPr sz="1100" dirty="0">
              <a:latin typeface="LM Sans 10"/>
              <a:cs typeface="LM Sans 10"/>
            </a:endParaRPr>
          </a:p>
          <a:p>
            <a:pPr marL="340360" marR="329565">
              <a:lnSpc>
                <a:spcPct val="102600"/>
              </a:lnSpc>
              <a:spcBef>
                <a:spcPts val="900"/>
              </a:spcBef>
            </a:pPr>
            <a:r>
              <a:rPr sz="1100" spc="-20" dirty="0">
                <a:latin typeface="LM Sans 10"/>
                <a:cs typeface="LM Sans 10"/>
              </a:rPr>
              <a:t>Similarly, </a:t>
            </a:r>
            <a:r>
              <a:rPr sz="1100" spc="-5" dirty="0">
                <a:latin typeface="LM Sans 10"/>
                <a:cs typeface="LM Sans 10"/>
              </a:rPr>
              <a:t>if </a:t>
            </a:r>
            <a:r>
              <a:rPr sz="1100" spc="-10" dirty="0">
                <a:latin typeface="LM Sans 10"/>
                <a:cs typeface="LM Sans 10"/>
              </a:rPr>
              <a:t>parenthesization </a:t>
            </a:r>
            <a:r>
              <a:rPr sz="1100" spc="-5" dirty="0">
                <a:latin typeface="LM Sans 10"/>
                <a:cs typeface="LM Sans 10"/>
              </a:rPr>
              <a:t>of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 </a:t>
            </a:r>
            <a:r>
              <a:rPr sz="1100" spc="-10" dirty="0">
                <a:latin typeface="LM Sans 10"/>
                <a:cs typeface="LM Sans 10"/>
              </a:rPr>
              <a:t>was</a:t>
            </a:r>
            <a:r>
              <a:rPr lang="en-US" sz="1100" spc="-10" dirty="0">
                <a:latin typeface="LM Sans 10"/>
                <a:cs typeface="LM Sans 10"/>
              </a:rPr>
              <a:t>  </a:t>
            </a:r>
            <a:r>
              <a:rPr sz="1100" spc="-10" dirty="0">
                <a:solidFill>
                  <a:srgbClr val="0000FF"/>
                </a:solidFill>
                <a:latin typeface="LM Sans 10"/>
                <a:cs typeface="LM Sans 10"/>
              </a:rPr>
              <a:t>not</a:t>
            </a:r>
            <a:r>
              <a:rPr lang="en-US" sz="1100" spc="-10" dirty="0">
                <a:solidFill>
                  <a:srgbClr val="0000FF"/>
                </a:solidFill>
                <a:latin typeface="LM Sans 10"/>
                <a:cs typeface="LM Sans 10"/>
              </a:rPr>
              <a:t> </a:t>
            </a:r>
            <a:r>
              <a:rPr sz="1100" spc="-10" dirty="0">
                <a:latin typeface="LM Sans 10"/>
                <a:cs typeface="LM Sans 10"/>
              </a:rPr>
              <a:t>optimal, </a:t>
            </a:r>
            <a:r>
              <a:rPr sz="1100" spc="-5" dirty="0">
                <a:latin typeface="LM Sans 10"/>
                <a:cs typeface="LM Sans 10"/>
              </a:rPr>
              <a:t>it  could </a:t>
            </a:r>
            <a:r>
              <a:rPr sz="1100" spc="10" dirty="0">
                <a:latin typeface="LM Sans 10"/>
                <a:cs typeface="LM Sans 10"/>
              </a:rPr>
              <a:t>be </a:t>
            </a:r>
            <a:r>
              <a:rPr sz="1100" spc="-5" dirty="0">
                <a:latin typeface="LM Sans 10"/>
                <a:cs typeface="LM Sans 10"/>
              </a:rPr>
              <a:t>replaced </a:t>
            </a:r>
            <a:r>
              <a:rPr sz="1100" spc="-20" dirty="0">
                <a:latin typeface="LM Sans 10"/>
                <a:cs typeface="LM Sans 10"/>
              </a:rPr>
              <a:t>by </a:t>
            </a:r>
            <a:r>
              <a:rPr sz="1100" spc="-10" dirty="0">
                <a:latin typeface="LM Sans 10"/>
                <a:cs typeface="LM Sans 10"/>
              </a:rPr>
              <a:t>a </a:t>
            </a:r>
            <a:r>
              <a:rPr sz="1100" spc="-5" dirty="0">
                <a:latin typeface="LM Sans 10"/>
                <a:cs typeface="LM Sans 10"/>
              </a:rPr>
              <a:t>cheaper </a:t>
            </a:r>
            <a:r>
              <a:rPr sz="1100" spc="-10" dirty="0">
                <a:latin typeface="LM Sans 10"/>
                <a:cs typeface="LM Sans 10"/>
              </a:rPr>
              <a:t>parenthesization, </a:t>
            </a:r>
            <a:r>
              <a:rPr sz="1100" spc="-5" dirty="0">
                <a:latin typeface="LM Sans 10"/>
                <a:cs typeface="LM Sans 10"/>
              </a:rPr>
              <a:t>again  yielding contradiction of cheaper </a:t>
            </a:r>
            <a:r>
              <a:rPr sz="1100" spc="-10" dirty="0">
                <a:latin typeface="LM Sans 10"/>
                <a:cs typeface="LM Sans 10"/>
              </a:rPr>
              <a:t>final</a:t>
            </a:r>
            <a:r>
              <a:rPr sz="1100" spc="-15" dirty="0">
                <a:latin typeface="LM Sans 10"/>
                <a:cs typeface="LM Sans 10"/>
              </a:rPr>
              <a:t> </a:t>
            </a:r>
            <a:r>
              <a:rPr sz="1100" spc="-5" dirty="0">
                <a:latin typeface="LM Sans 10"/>
                <a:cs typeface="LM Sans 10"/>
              </a:rPr>
              <a:t>solution.</a:t>
            </a:r>
            <a:endParaRPr sz="1100" dirty="0">
              <a:latin typeface="LM Sans 10"/>
              <a:cs typeface="LM Sans 10"/>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4" action="ppaction://hlinksldjump"/>
              </a:rPr>
              <a:t>Chain </a:t>
            </a:r>
            <a:r>
              <a:rPr sz="600" b="1" spc="-5" dirty="0">
                <a:solidFill>
                  <a:srgbClr val="FFFFFF"/>
                </a:solidFill>
                <a:latin typeface="LM Sans 10"/>
                <a:cs typeface="LM Sans 10"/>
                <a:hlinkClick r:id="rId4" action="ppaction://hlinksldjump"/>
              </a:rPr>
              <a:t>Matrix Multiplication</a:t>
            </a:r>
            <a:endParaRPr sz="600">
              <a:latin typeface="LM Sans 10"/>
              <a:cs typeface="LM Sans 10"/>
            </a:endParaRPr>
          </a:p>
        </p:txBody>
      </p:sp>
      <p:sp>
        <p:nvSpPr>
          <p:cNvPr id="12" name="object 1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12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endParaRPr lang="en-US"/>
          </a:p>
        </p:txBody>
      </p:sp>
      <p:sp>
        <p:nvSpPr>
          <p:cNvPr id="3" name="Content Placeholder 2"/>
          <p:cNvSpPr>
            <a:spLocks noGrp="1"/>
          </p:cNvSpPr>
          <p:nvPr>
            <p:ph idx="1"/>
          </p:nvPr>
        </p:nvSpPr>
        <p:spPr>
          <a:xfrm>
            <a:off x="321894" y="1194689"/>
            <a:ext cx="3912235" cy="123111"/>
          </a:xfrm>
        </p:spPr>
        <p:txBody>
          <a:bodyPr/>
          <a:lstStyle/>
          <a:p>
            <a:endParaRPr lang="en-US"/>
          </a:p>
        </p:txBody>
      </p:sp>
      <p:pic>
        <p:nvPicPr>
          <p:cNvPr id="59394" name="Picture 2" descr="https://miro.medium.com/max/1400/1*kVzSABWmsGX0HvpJec7ngw.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610" y="653697"/>
            <a:ext cx="4418013" cy="28070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76026" y="2332833"/>
            <a:ext cx="226176" cy="323563"/>
          </a:xfrm>
          <a:prstGeom prst="rect">
            <a:avLst/>
          </a:prstGeom>
          <a:noFill/>
        </p:spPr>
        <p:txBody>
          <a:bodyPr wrap="none" lIns="46113" tIns="23057" rIns="46113" bIns="23057" rtlCol="0">
            <a:spAutoFit/>
          </a:bodyPr>
          <a:lstStyle/>
          <a:p>
            <a:r>
              <a:rPr lang="en-US" dirty="0"/>
              <a:t>A</a:t>
            </a:r>
          </a:p>
        </p:txBody>
      </p:sp>
      <p:sp>
        <p:nvSpPr>
          <p:cNvPr id="6" name="TextBox 5"/>
          <p:cNvSpPr txBox="1"/>
          <p:nvPr/>
        </p:nvSpPr>
        <p:spPr>
          <a:xfrm>
            <a:off x="1306195" y="2332833"/>
            <a:ext cx="218161" cy="323563"/>
          </a:xfrm>
          <a:prstGeom prst="rect">
            <a:avLst/>
          </a:prstGeom>
          <a:noFill/>
        </p:spPr>
        <p:txBody>
          <a:bodyPr wrap="none" lIns="46113" tIns="23057" rIns="46113" bIns="23057" rtlCol="0">
            <a:spAutoFit/>
          </a:bodyPr>
          <a:lstStyle/>
          <a:p>
            <a:r>
              <a:rPr lang="en-US" dirty="0"/>
              <a:t>B</a:t>
            </a:r>
          </a:p>
        </p:txBody>
      </p:sp>
      <p:sp>
        <p:nvSpPr>
          <p:cNvPr id="7" name="TextBox 6"/>
          <p:cNvSpPr txBox="1"/>
          <p:nvPr/>
        </p:nvSpPr>
        <p:spPr>
          <a:xfrm>
            <a:off x="2535555" y="2332833"/>
            <a:ext cx="216558" cy="323563"/>
          </a:xfrm>
          <a:prstGeom prst="rect">
            <a:avLst/>
          </a:prstGeom>
          <a:noFill/>
        </p:spPr>
        <p:txBody>
          <a:bodyPr wrap="none" lIns="46113" tIns="23057" rIns="46113" bIns="23057" rtlCol="0">
            <a:spAutoFit/>
          </a:bodyPr>
          <a:lstStyle/>
          <a:p>
            <a:r>
              <a:rPr lang="en-US" dirty="0"/>
              <a:t>C</a:t>
            </a:r>
          </a:p>
        </p:txBody>
      </p:sp>
      <p:sp>
        <p:nvSpPr>
          <p:cNvPr id="8" name="TextBox 7"/>
          <p:cNvSpPr txBox="1"/>
          <p:nvPr/>
        </p:nvSpPr>
        <p:spPr>
          <a:xfrm>
            <a:off x="3265487" y="2883958"/>
            <a:ext cx="235794" cy="323563"/>
          </a:xfrm>
          <a:prstGeom prst="rect">
            <a:avLst/>
          </a:prstGeom>
          <a:noFill/>
        </p:spPr>
        <p:txBody>
          <a:bodyPr wrap="none" lIns="46113" tIns="23057" rIns="46113" bIns="23057" rtlCol="0">
            <a:spAutoFit/>
          </a:bodyPr>
          <a:lstStyle/>
          <a:p>
            <a:r>
              <a:rPr lang="en-US" dirty="0"/>
              <a:t>D</a:t>
            </a:r>
          </a:p>
        </p:txBody>
      </p:sp>
      <p:sp>
        <p:nvSpPr>
          <p:cNvPr id="9" name="TextBox 8"/>
          <p:cNvSpPr txBox="1"/>
          <p:nvPr/>
        </p:nvSpPr>
        <p:spPr>
          <a:xfrm>
            <a:off x="4033837" y="2890949"/>
            <a:ext cx="205337" cy="323563"/>
          </a:xfrm>
          <a:prstGeom prst="rect">
            <a:avLst/>
          </a:prstGeom>
          <a:noFill/>
        </p:spPr>
        <p:txBody>
          <a:bodyPr wrap="none" lIns="46113" tIns="23057" rIns="46113" bIns="23057" rtlCol="0">
            <a:spAutoFit/>
          </a:bodyPr>
          <a:lstStyle/>
          <a:p>
            <a:r>
              <a:rPr lang="en-US" dirty="0"/>
              <a:t>E</a:t>
            </a:r>
          </a:p>
        </p:txBody>
      </p:sp>
      <p:sp>
        <p:nvSpPr>
          <p:cNvPr id="10" name="Rectangle 2"/>
          <p:cNvSpPr txBox="1">
            <a:spLocks noChangeArrowheads="1"/>
          </p:cNvSpPr>
          <p:nvPr/>
        </p:nvSpPr>
        <p:spPr>
          <a:xfrm>
            <a:off x="164148" y="5754"/>
            <a:ext cx="4149090" cy="576792"/>
          </a:xfrm>
          <a:prstGeom prst="rect">
            <a:avLst/>
          </a:prstGeom>
        </p:spPr>
        <p:style>
          <a:lnRef idx="1">
            <a:schemeClr val="accent1"/>
          </a:lnRef>
          <a:fillRef idx="3">
            <a:schemeClr val="accent1"/>
          </a:fillRef>
          <a:effectRef idx="2">
            <a:schemeClr val="accent1"/>
          </a:effectRef>
          <a:fontRef idx="minor">
            <a:schemeClr val="lt1"/>
          </a:fontRef>
        </p:style>
        <p:txBody>
          <a:bodyPr vert="horz" lIns="46113" tIns="23057" rIns="46113" bIns="23057"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000" dirty="0"/>
              <a:t>Dynamic Programming Approach</a:t>
            </a:r>
            <a:endParaRPr lang="en-US" sz="900" dirty="0"/>
          </a:p>
        </p:txBody>
      </p:sp>
    </p:spTree>
    <p:extLst>
      <p:ext uri="{BB962C8B-B14F-4D97-AF65-F5344CB8AC3E}">
        <p14:creationId xmlns:p14="http://schemas.microsoft.com/office/powerpoint/2010/main" val="2910865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86544"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p:nvPr/>
        </p:nvSpPr>
        <p:spPr>
          <a:xfrm>
            <a:off x="144322" y="791425"/>
            <a:ext cx="4262120" cy="199390"/>
          </a:xfrm>
          <a:custGeom>
            <a:avLst/>
            <a:gdLst/>
            <a:ahLst/>
            <a:cxnLst/>
            <a:rect l="l" t="t" r="r" b="b"/>
            <a:pathLst>
              <a:path w="4248150" h="199390">
                <a:moveTo>
                  <a:pt x="0" y="199072"/>
                </a:moveTo>
                <a:lnTo>
                  <a:pt x="4248010" y="199072"/>
                </a:lnTo>
                <a:lnTo>
                  <a:pt x="4248010" y="0"/>
                </a:lnTo>
                <a:lnTo>
                  <a:pt x="0" y="0"/>
                </a:lnTo>
                <a:lnTo>
                  <a:pt x="0" y="199072"/>
                </a:lnTo>
                <a:close/>
              </a:path>
            </a:pathLst>
          </a:custGeom>
          <a:solidFill>
            <a:srgbClr val="FFF200"/>
          </a:solidFill>
        </p:spPr>
        <p:txBody>
          <a:bodyPr wrap="square" lIns="0" tIns="0" rIns="0" bIns="0" rtlCol="0"/>
          <a:lstStyle/>
          <a:p>
            <a:endParaRPr/>
          </a:p>
        </p:txBody>
      </p:sp>
      <p:sp>
        <p:nvSpPr>
          <p:cNvPr id="4" name="object 4"/>
          <p:cNvSpPr txBox="1"/>
          <p:nvPr/>
        </p:nvSpPr>
        <p:spPr>
          <a:xfrm>
            <a:off x="144321" y="789210"/>
            <a:ext cx="4465779" cy="180819"/>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Step 2: </a:t>
            </a:r>
            <a:r>
              <a:rPr sz="1100" spc="-10" dirty="0">
                <a:latin typeface="LM Sans 10"/>
                <a:cs typeface="LM Sans 10"/>
              </a:rPr>
              <a:t>Constructing </a:t>
            </a:r>
            <a:r>
              <a:rPr sz="1100" spc="-5" dirty="0">
                <a:latin typeface="LM Sans 10"/>
                <a:cs typeface="LM Sans 10"/>
              </a:rPr>
              <a:t>optimal solutions from optimal </a:t>
            </a:r>
            <a:r>
              <a:rPr sz="1100" spc="-10" dirty="0">
                <a:latin typeface="LM Sans 10"/>
                <a:cs typeface="LM Sans 10"/>
              </a:rPr>
              <a:t>subproblem</a:t>
            </a:r>
            <a:r>
              <a:rPr sz="1100" spc="70" dirty="0">
                <a:latin typeface="LM Sans 10"/>
                <a:cs typeface="LM Sans 10"/>
              </a:rPr>
              <a:t> </a:t>
            </a:r>
            <a:r>
              <a:rPr sz="1100" spc="-5" dirty="0">
                <a:latin typeface="LM Sans 10"/>
                <a:cs typeface="LM Sans 10"/>
              </a:rPr>
              <a:t>solution</a:t>
            </a:r>
            <a:endParaRPr sz="1100" dirty="0">
              <a:latin typeface="LM Sans 10"/>
              <a:cs typeface="LM Sans 10"/>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1" name="object 1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13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064688"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p:nvPr/>
        </p:nvSpPr>
        <p:spPr>
          <a:xfrm>
            <a:off x="359994" y="809993"/>
            <a:ext cx="4248150" cy="199390"/>
          </a:xfrm>
          <a:custGeom>
            <a:avLst/>
            <a:gdLst/>
            <a:ahLst/>
            <a:cxnLst/>
            <a:rect l="l" t="t" r="r" b="b"/>
            <a:pathLst>
              <a:path w="4248150" h="199390">
                <a:moveTo>
                  <a:pt x="0" y="199072"/>
                </a:moveTo>
                <a:lnTo>
                  <a:pt x="4248010" y="199072"/>
                </a:lnTo>
                <a:lnTo>
                  <a:pt x="4248010" y="0"/>
                </a:lnTo>
                <a:lnTo>
                  <a:pt x="0" y="0"/>
                </a:lnTo>
                <a:lnTo>
                  <a:pt x="0" y="199072"/>
                </a:lnTo>
                <a:close/>
              </a:path>
            </a:pathLst>
          </a:custGeom>
          <a:solidFill>
            <a:srgbClr val="FFF200"/>
          </a:solidFill>
        </p:spPr>
        <p:txBody>
          <a:bodyPr wrap="square" lIns="0" tIns="0" rIns="0" bIns="0" rtlCol="0"/>
          <a:lstStyle/>
          <a:p>
            <a:endParaRPr/>
          </a:p>
        </p:txBody>
      </p:sp>
      <p:sp>
        <p:nvSpPr>
          <p:cNvPr id="4" name="object 4"/>
          <p:cNvSpPr/>
          <p:nvPr/>
        </p:nvSpPr>
        <p:spPr>
          <a:xfrm>
            <a:off x="502551" y="1276184"/>
            <a:ext cx="65265" cy="65265"/>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5250" y="792923"/>
            <a:ext cx="4564824" cy="888513"/>
          </a:xfrm>
          <a:prstGeom prst="rect">
            <a:avLst/>
          </a:prstGeom>
        </p:spPr>
        <p:txBody>
          <a:bodyPr vert="horz" wrap="square" lIns="0" tIns="11430" rIns="0" bIns="0" rtlCol="0">
            <a:spAutoFit/>
          </a:bodyPr>
          <a:lstStyle/>
          <a:p>
            <a:pPr marL="25400">
              <a:lnSpc>
                <a:spcPct val="100000"/>
              </a:lnSpc>
              <a:spcBef>
                <a:spcPts val="90"/>
              </a:spcBef>
            </a:pPr>
            <a:r>
              <a:rPr sz="1100" spc="-5" dirty="0">
                <a:latin typeface="LM Sans 10"/>
                <a:cs typeface="LM Sans 10"/>
              </a:rPr>
              <a:t>Step 2: </a:t>
            </a:r>
            <a:r>
              <a:rPr sz="1100" spc="-10" dirty="0">
                <a:latin typeface="LM Sans 10"/>
                <a:cs typeface="LM Sans 10"/>
              </a:rPr>
              <a:t>Constructing </a:t>
            </a:r>
            <a:r>
              <a:rPr sz="1100" spc="-5" dirty="0">
                <a:latin typeface="LM Sans 10"/>
                <a:cs typeface="LM Sans 10"/>
              </a:rPr>
              <a:t>optimal solutions from optimal </a:t>
            </a:r>
            <a:r>
              <a:rPr sz="1100" spc="-10" dirty="0">
                <a:latin typeface="LM Sans 10"/>
                <a:cs typeface="LM Sans 10"/>
              </a:rPr>
              <a:t>subproblem</a:t>
            </a:r>
            <a:r>
              <a:rPr sz="1100" spc="70" dirty="0">
                <a:latin typeface="LM Sans 10"/>
                <a:cs typeface="LM Sans 10"/>
              </a:rPr>
              <a:t> </a:t>
            </a:r>
            <a:r>
              <a:rPr sz="1100" spc="-5" dirty="0">
                <a:latin typeface="LM Sans 10"/>
                <a:cs typeface="LM Sans 10"/>
              </a:rPr>
              <a:t>solution</a:t>
            </a:r>
            <a:endParaRPr sz="1100" dirty="0">
              <a:latin typeface="LM Sans 10"/>
              <a:cs typeface="LM Sans 10"/>
            </a:endParaRPr>
          </a:p>
          <a:p>
            <a:pPr>
              <a:lnSpc>
                <a:spcPct val="100000"/>
              </a:lnSpc>
              <a:spcBef>
                <a:spcPts val="35"/>
              </a:spcBef>
            </a:pPr>
            <a:endParaRPr sz="1200" dirty="0">
              <a:latin typeface="LM Sans 10"/>
              <a:cs typeface="LM Sans 10"/>
            </a:endParaRPr>
          </a:p>
          <a:p>
            <a:pPr marL="264160" marR="518795">
              <a:lnSpc>
                <a:spcPct val="102600"/>
              </a:lnSpc>
              <a:spcBef>
                <a:spcPts val="5"/>
              </a:spcBef>
            </a:pPr>
            <a:r>
              <a:rPr sz="1100" spc="-30" dirty="0">
                <a:latin typeface="LM Sans 10"/>
                <a:cs typeface="LM Sans 10"/>
              </a:rPr>
              <a:t>For</a:t>
            </a:r>
            <a:r>
              <a:rPr sz="1100" spc="-10" dirty="0">
                <a:latin typeface="LM Sans 10"/>
                <a:cs typeface="LM Sans 10"/>
              </a:rPr>
              <a:t> </a:t>
            </a:r>
            <a:r>
              <a:rPr sz="1100" spc="-5" dirty="0">
                <a:latin typeface="LM Sans 10"/>
                <a:cs typeface="LM Sans 10"/>
              </a:rPr>
              <a:t>1</a:t>
            </a:r>
            <a:r>
              <a:rPr sz="1100" spc="-65"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i</a:t>
            </a:r>
            <a:r>
              <a:rPr sz="1100" i="1" spc="40"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j</a:t>
            </a:r>
            <a:r>
              <a:rPr sz="1100" i="1" spc="35"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n</a:t>
            </a:r>
            <a:r>
              <a:rPr sz="1100" spc="5" dirty="0">
                <a:latin typeface="LM Sans 10"/>
                <a:cs typeface="LM Sans 10"/>
              </a:rPr>
              <a:t>,</a:t>
            </a:r>
            <a:r>
              <a:rPr sz="1100" spc="-5" dirty="0">
                <a:latin typeface="LM Sans 10"/>
                <a:cs typeface="LM Sans 10"/>
              </a:rPr>
              <a:t> let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5" dirty="0">
                <a:solidFill>
                  <a:srgbClr val="0000FF"/>
                </a:solidFill>
                <a:latin typeface="LM Sans 10"/>
                <a:cs typeface="LM Sans 10"/>
              </a:rPr>
              <a:t>j</a:t>
            </a:r>
            <a:r>
              <a:rPr sz="1100" i="1" spc="-270" dirty="0">
                <a:solidFill>
                  <a:srgbClr val="0000FF"/>
                </a:solidFill>
                <a:latin typeface="LM Sans 10"/>
                <a:cs typeface="LM Sans 10"/>
              </a:rPr>
              <a:t> </a:t>
            </a:r>
            <a:r>
              <a:rPr sz="1100" spc="-5" dirty="0">
                <a:solidFill>
                  <a:srgbClr val="0000FF"/>
                </a:solidFill>
                <a:latin typeface="LM Sans 10"/>
                <a:cs typeface="LM Sans 10"/>
              </a:rPr>
              <a:t>]</a:t>
            </a:r>
            <a:r>
              <a:rPr lang="en-US" sz="1100" spc="-5" dirty="0">
                <a:solidFill>
                  <a:srgbClr val="0000FF"/>
                </a:solidFill>
                <a:latin typeface="LM Sans 10"/>
                <a:cs typeface="LM Sans 10"/>
              </a:rPr>
              <a:t> </a:t>
            </a:r>
            <a:r>
              <a:rPr sz="1100" spc="-5" dirty="0">
                <a:latin typeface="LM Sans 10"/>
                <a:cs typeface="LM Sans 10"/>
              </a:rPr>
              <a:t>denote</a:t>
            </a:r>
            <a:r>
              <a:rPr sz="1100" spc="-10" dirty="0">
                <a:latin typeface="LM Sans 10"/>
                <a:cs typeface="LM Sans 10"/>
              </a:rPr>
              <a:t> </a:t>
            </a:r>
            <a:r>
              <a:rPr sz="1100" spc="-5" dirty="0">
                <a:latin typeface="LM Sans 10"/>
                <a:cs typeface="LM Sans 10"/>
              </a:rPr>
              <a:t>the </a:t>
            </a:r>
            <a:r>
              <a:rPr sz="1100" spc="-10" dirty="0">
                <a:latin typeface="LM Sans 10"/>
                <a:cs typeface="LM Sans 10"/>
              </a:rPr>
              <a:t>minimum</a:t>
            </a:r>
            <a:r>
              <a:rPr sz="1100" spc="-5" dirty="0">
                <a:latin typeface="LM Sans 10"/>
                <a:cs typeface="LM Sans 10"/>
              </a:rPr>
              <a:t> number of  multiplications needed to compute </a:t>
            </a:r>
            <a:r>
              <a:rPr sz="1100" i="1" spc="10" dirty="0">
                <a:latin typeface="LM Sans 10"/>
                <a:cs typeface="LM Sans 10"/>
              </a:rPr>
              <a:t>A</a:t>
            </a:r>
            <a:r>
              <a:rPr sz="1200" i="1" spc="15" baseline="-10416" dirty="0">
                <a:latin typeface="LM Sans 8"/>
                <a:cs typeface="LM Sans 8"/>
              </a:rPr>
              <a:t>i..j </a:t>
            </a:r>
            <a:r>
              <a:rPr sz="1100" spc="-5" dirty="0">
                <a:latin typeface="LM Sans 10"/>
                <a:cs typeface="LM Sans 10"/>
              </a:rPr>
              <a:t>. </a:t>
            </a:r>
            <a:r>
              <a:rPr sz="1100" spc="-10" dirty="0">
                <a:latin typeface="LM Sans 10"/>
                <a:cs typeface="LM Sans 10"/>
              </a:rPr>
              <a:t>This</a:t>
            </a:r>
            <a:r>
              <a:rPr lang="en-US" sz="1100" spc="-10" dirty="0">
                <a:latin typeface="LM Sans 10"/>
                <a:cs typeface="LM Sans 10"/>
              </a:rPr>
              <a:t>  </a:t>
            </a:r>
            <a:r>
              <a:rPr sz="1100" spc="-10" dirty="0">
                <a:solidFill>
                  <a:srgbClr val="FF0000"/>
                </a:solidFill>
                <a:latin typeface="LM Sans 10"/>
                <a:cs typeface="LM Sans 10"/>
              </a:rPr>
              <a:t>optimum </a:t>
            </a:r>
            <a:r>
              <a:rPr sz="1100" spc="-5" dirty="0">
                <a:solidFill>
                  <a:srgbClr val="FF0000"/>
                </a:solidFill>
                <a:latin typeface="LM Sans 10"/>
                <a:cs typeface="LM Sans 10"/>
              </a:rPr>
              <a:t>cost  </a:t>
            </a:r>
            <a:r>
              <a:rPr sz="1100" spc="-5" dirty="0">
                <a:latin typeface="LM Sans 10"/>
                <a:cs typeface="LM Sans 10"/>
              </a:rPr>
              <a:t>must satisify the </a:t>
            </a:r>
            <a:r>
              <a:rPr sz="1100" spc="-10" dirty="0">
                <a:latin typeface="LM Sans 10"/>
                <a:cs typeface="LM Sans 10"/>
              </a:rPr>
              <a:t>following </a:t>
            </a:r>
            <a:r>
              <a:rPr sz="1100" spc="-5" dirty="0">
                <a:latin typeface="LM Sans 10"/>
                <a:cs typeface="LM Sans 10"/>
              </a:rPr>
              <a:t>recursive</a:t>
            </a:r>
            <a:r>
              <a:rPr sz="1100" spc="-15" dirty="0">
                <a:latin typeface="LM Sans 10"/>
                <a:cs typeface="LM Sans 10"/>
              </a:rPr>
              <a:t> </a:t>
            </a:r>
            <a:r>
              <a:rPr sz="1100" spc="-5" dirty="0">
                <a:latin typeface="LM Sans 10"/>
                <a:cs typeface="LM Sans 10"/>
              </a:rPr>
              <a:t>definition.</a:t>
            </a:r>
            <a:endParaRPr sz="1100" dirty="0">
              <a:latin typeface="LM Sans 10"/>
              <a:cs typeface="LM Sans 10"/>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2" name="object 1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13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521888"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p:nvPr/>
        </p:nvSpPr>
        <p:spPr>
          <a:xfrm>
            <a:off x="359994" y="809993"/>
            <a:ext cx="4248150" cy="199390"/>
          </a:xfrm>
          <a:custGeom>
            <a:avLst/>
            <a:gdLst/>
            <a:ahLst/>
            <a:cxnLst/>
            <a:rect l="l" t="t" r="r" b="b"/>
            <a:pathLst>
              <a:path w="4248150" h="199390">
                <a:moveTo>
                  <a:pt x="0" y="199072"/>
                </a:moveTo>
                <a:lnTo>
                  <a:pt x="4248010" y="199072"/>
                </a:lnTo>
                <a:lnTo>
                  <a:pt x="4248010" y="0"/>
                </a:lnTo>
                <a:lnTo>
                  <a:pt x="0" y="0"/>
                </a:lnTo>
                <a:lnTo>
                  <a:pt x="0" y="199072"/>
                </a:lnTo>
                <a:close/>
              </a:path>
            </a:pathLst>
          </a:custGeom>
          <a:solidFill>
            <a:srgbClr val="FFF200"/>
          </a:solidFill>
        </p:spPr>
        <p:txBody>
          <a:bodyPr wrap="square" lIns="0" tIns="0" rIns="0" bIns="0" rtlCol="0"/>
          <a:lstStyle/>
          <a:p>
            <a:endParaRPr/>
          </a:p>
        </p:txBody>
      </p:sp>
      <p:sp>
        <p:nvSpPr>
          <p:cNvPr id="4" name="object 4"/>
          <p:cNvSpPr/>
          <p:nvPr/>
        </p:nvSpPr>
        <p:spPr>
          <a:xfrm>
            <a:off x="502551" y="1276184"/>
            <a:ext cx="65265" cy="65265"/>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5250" y="792923"/>
            <a:ext cx="4564824" cy="888513"/>
          </a:xfrm>
          <a:prstGeom prst="rect">
            <a:avLst/>
          </a:prstGeom>
        </p:spPr>
        <p:txBody>
          <a:bodyPr vert="horz" wrap="square" lIns="0" tIns="11430" rIns="0" bIns="0" rtlCol="0">
            <a:spAutoFit/>
          </a:bodyPr>
          <a:lstStyle/>
          <a:p>
            <a:pPr marL="25400">
              <a:lnSpc>
                <a:spcPct val="100000"/>
              </a:lnSpc>
              <a:spcBef>
                <a:spcPts val="90"/>
              </a:spcBef>
            </a:pPr>
            <a:r>
              <a:rPr sz="1100" spc="-5" dirty="0">
                <a:latin typeface="LM Sans 10"/>
                <a:cs typeface="LM Sans 10"/>
              </a:rPr>
              <a:t>Step 2: </a:t>
            </a:r>
            <a:r>
              <a:rPr sz="1100" spc="-10" dirty="0">
                <a:latin typeface="LM Sans 10"/>
                <a:cs typeface="LM Sans 10"/>
              </a:rPr>
              <a:t>Constructing </a:t>
            </a:r>
            <a:r>
              <a:rPr sz="1100" spc="-5" dirty="0">
                <a:latin typeface="LM Sans 10"/>
                <a:cs typeface="LM Sans 10"/>
              </a:rPr>
              <a:t>optimal solutions from optimal </a:t>
            </a:r>
            <a:r>
              <a:rPr sz="1100" spc="-10" dirty="0">
                <a:latin typeface="LM Sans 10"/>
                <a:cs typeface="LM Sans 10"/>
              </a:rPr>
              <a:t>subproblem</a:t>
            </a:r>
            <a:r>
              <a:rPr sz="1100" spc="70" dirty="0">
                <a:latin typeface="LM Sans 10"/>
                <a:cs typeface="LM Sans 10"/>
              </a:rPr>
              <a:t> </a:t>
            </a:r>
            <a:r>
              <a:rPr sz="1100" spc="-5" dirty="0">
                <a:latin typeface="LM Sans 10"/>
                <a:cs typeface="LM Sans 10"/>
              </a:rPr>
              <a:t>solution</a:t>
            </a:r>
            <a:endParaRPr sz="1100" dirty="0">
              <a:latin typeface="LM Sans 10"/>
              <a:cs typeface="LM Sans 10"/>
            </a:endParaRPr>
          </a:p>
          <a:p>
            <a:pPr>
              <a:lnSpc>
                <a:spcPct val="100000"/>
              </a:lnSpc>
              <a:spcBef>
                <a:spcPts val="35"/>
              </a:spcBef>
            </a:pPr>
            <a:endParaRPr sz="1200" dirty="0">
              <a:latin typeface="LM Sans 10"/>
              <a:cs typeface="LM Sans 10"/>
            </a:endParaRPr>
          </a:p>
          <a:p>
            <a:pPr marL="264160" marR="518795">
              <a:lnSpc>
                <a:spcPct val="102600"/>
              </a:lnSpc>
              <a:spcBef>
                <a:spcPts val="5"/>
              </a:spcBef>
            </a:pPr>
            <a:r>
              <a:rPr sz="1100" spc="-30" dirty="0">
                <a:latin typeface="LM Sans 10"/>
                <a:cs typeface="LM Sans 10"/>
              </a:rPr>
              <a:t>For</a:t>
            </a:r>
            <a:r>
              <a:rPr sz="1100" spc="-10" dirty="0">
                <a:latin typeface="LM Sans 10"/>
                <a:cs typeface="LM Sans 10"/>
              </a:rPr>
              <a:t> </a:t>
            </a:r>
            <a:r>
              <a:rPr sz="1100" spc="-5" dirty="0">
                <a:latin typeface="LM Sans 10"/>
                <a:cs typeface="LM Sans 10"/>
              </a:rPr>
              <a:t>1</a:t>
            </a:r>
            <a:r>
              <a:rPr sz="1100" spc="-65"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i</a:t>
            </a:r>
            <a:r>
              <a:rPr sz="1100" i="1" spc="40"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j</a:t>
            </a:r>
            <a:r>
              <a:rPr sz="1100" i="1" spc="35"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n</a:t>
            </a:r>
            <a:r>
              <a:rPr sz="1100" spc="5" dirty="0">
                <a:latin typeface="LM Sans 10"/>
                <a:cs typeface="LM Sans 10"/>
              </a:rPr>
              <a:t>,</a:t>
            </a:r>
            <a:r>
              <a:rPr sz="1100" spc="-5" dirty="0">
                <a:latin typeface="LM Sans 10"/>
                <a:cs typeface="LM Sans 10"/>
              </a:rPr>
              <a:t> let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5" dirty="0">
                <a:solidFill>
                  <a:srgbClr val="0000FF"/>
                </a:solidFill>
                <a:latin typeface="LM Sans 10"/>
                <a:cs typeface="LM Sans 10"/>
              </a:rPr>
              <a:t>j</a:t>
            </a:r>
            <a:r>
              <a:rPr sz="1100" i="1" spc="-270" dirty="0">
                <a:solidFill>
                  <a:srgbClr val="0000FF"/>
                </a:solidFill>
                <a:latin typeface="LM Sans 10"/>
                <a:cs typeface="LM Sans 10"/>
              </a:rPr>
              <a:t> </a:t>
            </a:r>
            <a:r>
              <a:rPr sz="1100" spc="-5" dirty="0">
                <a:solidFill>
                  <a:srgbClr val="0000FF"/>
                </a:solidFill>
                <a:latin typeface="LM Sans 10"/>
                <a:cs typeface="LM Sans 10"/>
              </a:rPr>
              <a:t>]</a:t>
            </a:r>
            <a:r>
              <a:rPr lang="en-US" sz="1100" spc="-5" dirty="0">
                <a:solidFill>
                  <a:srgbClr val="0000FF"/>
                </a:solidFill>
                <a:latin typeface="LM Sans 10"/>
                <a:cs typeface="LM Sans 10"/>
              </a:rPr>
              <a:t> </a:t>
            </a:r>
            <a:r>
              <a:rPr sz="1100" spc="-5" dirty="0">
                <a:latin typeface="LM Sans 10"/>
                <a:cs typeface="LM Sans 10"/>
              </a:rPr>
              <a:t>denote</a:t>
            </a:r>
            <a:r>
              <a:rPr sz="1100" spc="-10" dirty="0">
                <a:latin typeface="LM Sans 10"/>
                <a:cs typeface="LM Sans 10"/>
              </a:rPr>
              <a:t> </a:t>
            </a:r>
            <a:r>
              <a:rPr sz="1100" spc="-5" dirty="0">
                <a:latin typeface="LM Sans 10"/>
                <a:cs typeface="LM Sans 10"/>
              </a:rPr>
              <a:t>the </a:t>
            </a:r>
            <a:r>
              <a:rPr sz="1100" spc="-10" dirty="0">
                <a:latin typeface="LM Sans 10"/>
                <a:cs typeface="LM Sans 10"/>
              </a:rPr>
              <a:t>minimum</a:t>
            </a:r>
            <a:r>
              <a:rPr sz="1100" spc="-5" dirty="0">
                <a:latin typeface="LM Sans 10"/>
                <a:cs typeface="LM Sans 10"/>
              </a:rPr>
              <a:t> number of  multiplications needed to compute </a:t>
            </a:r>
            <a:r>
              <a:rPr sz="1100" i="1" spc="10" dirty="0">
                <a:latin typeface="LM Sans 10"/>
                <a:cs typeface="LM Sans 10"/>
              </a:rPr>
              <a:t>A</a:t>
            </a:r>
            <a:r>
              <a:rPr sz="1200" i="1" spc="15" baseline="-10416" dirty="0">
                <a:latin typeface="LM Sans 8"/>
                <a:cs typeface="LM Sans 8"/>
              </a:rPr>
              <a:t>i..j </a:t>
            </a:r>
            <a:r>
              <a:rPr sz="1100" spc="-5" dirty="0">
                <a:latin typeface="LM Sans 10"/>
                <a:cs typeface="LM Sans 10"/>
              </a:rPr>
              <a:t>. </a:t>
            </a:r>
            <a:r>
              <a:rPr sz="1100" spc="-10" dirty="0">
                <a:latin typeface="LM Sans 10"/>
                <a:cs typeface="LM Sans 10"/>
              </a:rPr>
              <a:t>This</a:t>
            </a:r>
            <a:r>
              <a:rPr lang="en-US" sz="1100" spc="-10" dirty="0">
                <a:latin typeface="LM Sans 10"/>
                <a:cs typeface="LM Sans 10"/>
              </a:rPr>
              <a:t> </a:t>
            </a:r>
            <a:r>
              <a:rPr sz="1100" spc="-10" dirty="0">
                <a:solidFill>
                  <a:srgbClr val="FF0000"/>
                </a:solidFill>
                <a:latin typeface="LM Sans 10"/>
                <a:cs typeface="LM Sans 10"/>
              </a:rPr>
              <a:t>optimum </a:t>
            </a:r>
            <a:r>
              <a:rPr sz="1100" spc="-5" dirty="0">
                <a:solidFill>
                  <a:srgbClr val="FF0000"/>
                </a:solidFill>
                <a:latin typeface="LM Sans 10"/>
                <a:cs typeface="LM Sans 10"/>
              </a:rPr>
              <a:t>cost  </a:t>
            </a:r>
            <a:r>
              <a:rPr sz="1100" spc="-5" dirty="0">
                <a:latin typeface="LM Sans 10"/>
                <a:cs typeface="LM Sans 10"/>
              </a:rPr>
              <a:t>must satisify the </a:t>
            </a:r>
            <a:r>
              <a:rPr sz="1100" spc="-10" dirty="0">
                <a:latin typeface="LM Sans 10"/>
                <a:cs typeface="LM Sans 10"/>
              </a:rPr>
              <a:t>following </a:t>
            </a:r>
            <a:r>
              <a:rPr sz="1100" spc="-5" dirty="0">
                <a:latin typeface="LM Sans 10"/>
                <a:cs typeface="LM Sans 10"/>
              </a:rPr>
              <a:t>recursive</a:t>
            </a:r>
            <a:r>
              <a:rPr sz="1100" spc="-15" dirty="0">
                <a:latin typeface="LM Sans 10"/>
                <a:cs typeface="LM Sans 10"/>
              </a:rPr>
              <a:t> </a:t>
            </a:r>
            <a:r>
              <a:rPr sz="1100" spc="-5" dirty="0">
                <a:latin typeface="LM Sans 10"/>
                <a:cs typeface="LM Sans 10"/>
              </a:rPr>
              <a:t>definition.</a:t>
            </a:r>
            <a:endParaRPr sz="1100" dirty="0">
              <a:latin typeface="LM Sans 10"/>
              <a:cs typeface="LM Sans 10"/>
            </a:endParaRPr>
          </a:p>
        </p:txBody>
      </p:sp>
      <p:sp>
        <p:nvSpPr>
          <p:cNvPr id="6" name="object 6"/>
          <p:cNvSpPr txBox="1"/>
          <p:nvPr/>
        </p:nvSpPr>
        <p:spPr>
          <a:xfrm>
            <a:off x="428116" y="1859113"/>
            <a:ext cx="521970" cy="191770"/>
          </a:xfrm>
          <a:prstGeom prst="rect">
            <a:avLst/>
          </a:prstGeom>
        </p:spPr>
        <p:txBody>
          <a:bodyPr vert="horz" wrap="square" lIns="0" tIns="11430" rIns="0" bIns="0" rtlCol="0">
            <a:spAutoFit/>
          </a:bodyPr>
          <a:lstStyle/>
          <a:p>
            <a:pPr marL="12700">
              <a:lnSpc>
                <a:spcPct val="100000"/>
              </a:lnSpc>
              <a:spcBef>
                <a:spcPts val="90"/>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210" dirty="0">
                <a:latin typeface="LM Roman Dunhill 10"/>
                <a:cs typeface="LM Roman Dunhill 10"/>
              </a:rPr>
              <a:t> </a:t>
            </a:r>
            <a:r>
              <a:rPr sz="1100" i="1" spc="-5" dirty="0">
                <a:latin typeface="LM Sans 10"/>
                <a:cs typeface="LM Sans 10"/>
              </a:rPr>
              <a:t>j</a:t>
            </a:r>
            <a:r>
              <a:rPr sz="1100" i="1" spc="-285" dirty="0">
                <a:latin typeface="LM Sans 10"/>
                <a:cs typeface="LM Sans 10"/>
              </a:rPr>
              <a:t> </a:t>
            </a:r>
            <a:r>
              <a:rPr sz="1100" spc="-5" dirty="0">
                <a:latin typeface="LM Sans 10"/>
                <a:cs typeface="LM Sans 10"/>
              </a:rPr>
              <a:t>]</a:t>
            </a:r>
            <a:r>
              <a:rPr sz="1100" spc="-105" dirty="0">
                <a:latin typeface="LM Sans 10"/>
                <a:cs typeface="LM Sans 10"/>
              </a:rPr>
              <a:t> </a:t>
            </a:r>
            <a:r>
              <a:rPr sz="1100" spc="-10" dirty="0">
                <a:latin typeface="LM Sans 10"/>
                <a:cs typeface="LM Sans 10"/>
              </a:rPr>
              <a:t>=</a:t>
            </a:r>
            <a:endParaRPr sz="1100">
              <a:latin typeface="LM Sans 10"/>
              <a:cs typeface="LM Sans 10"/>
            </a:endParaRPr>
          </a:p>
        </p:txBody>
      </p:sp>
      <p:sp>
        <p:nvSpPr>
          <p:cNvPr id="7" name="object 7"/>
          <p:cNvSpPr txBox="1"/>
          <p:nvPr/>
        </p:nvSpPr>
        <p:spPr>
          <a:xfrm>
            <a:off x="963206" y="1663762"/>
            <a:ext cx="129539" cy="191770"/>
          </a:xfrm>
          <a:prstGeom prst="rect">
            <a:avLst/>
          </a:prstGeom>
        </p:spPr>
        <p:txBody>
          <a:bodyPr vert="horz" wrap="square" lIns="0" tIns="11430" rIns="0" bIns="0" rtlCol="0">
            <a:spAutoFit/>
          </a:bodyPr>
          <a:lstStyle/>
          <a:p>
            <a:pPr marL="12700">
              <a:lnSpc>
                <a:spcPct val="100000"/>
              </a:lnSpc>
              <a:spcBef>
                <a:spcPts val="90"/>
              </a:spcBef>
            </a:pPr>
            <a:r>
              <a:rPr sz="1100" spc="509" dirty="0">
                <a:latin typeface="Arial"/>
                <a:cs typeface="Arial"/>
              </a:rPr>
              <a:t>.</a:t>
            </a:r>
            <a:endParaRPr sz="1100">
              <a:latin typeface="Arial"/>
              <a:cs typeface="Arial"/>
            </a:endParaRPr>
          </a:p>
        </p:txBody>
      </p:sp>
      <p:sp>
        <p:nvSpPr>
          <p:cNvPr id="8" name="object 8"/>
          <p:cNvSpPr txBox="1"/>
          <p:nvPr/>
        </p:nvSpPr>
        <p:spPr>
          <a:xfrm>
            <a:off x="1092276" y="1772855"/>
            <a:ext cx="3034665" cy="363855"/>
          </a:xfrm>
          <a:prstGeom prst="rect">
            <a:avLst/>
          </a:prstGeom>
        </p:spPr>
        <p:txBody>
          <a:bodyPr vert="horz" wrap="square" lIns="0" tIns="11430" rIns="0" bIns="0" rtlCol="0">
            <a:spAutoFit/>
          </a:bodyPr>
          <a:lstStyle/>
          <a:p>
            <a:pPr marL="50165">
              <a:lnSpc>
                <a:spcPct val="100000"/>
              </a:lnSpc>
              <a:spcBef>
                <a:spcPts val="90"/>
              </a:spcBef>
              <a:tabLst>
                <a:tab pos="2676525" algn="l"/>
              </a:tabLst>
            </a:pPr>
            <a:r>
              <a:rPr sz="1100" spc="-5" dirty="0">
                <a:latin typeface="LM Sans 10"/>
                <a:cs typeface="LM Sans 10"/>
              </a:rPr>
              <a:t>0	</a:t>
            </a:r>
            <a:r>
              <a:rPr sz="1100" i="1" spc="-5" dirty="0">
                <a:latin typeface="LM Sans 10"/>
                <a:cs typeface="LM Sans 10"/>
              </a:rPr>
              <a:t>i</a:t>
            </a:r>
            <a:r>
              <a:rPr sz="1100" i="1" spc="5" dirty="0">
                <a:latin typeface="LM Sans 10"/>
                <a:cs typeface="LM Sans 10"/>
              </a:rPr>
              <a:t> </a:t>
            </a:r>
            <a:r>
              <a:rPr sz="1100" spc="-10" dirty="0">
                <a:latin typeface="LM Sans 10"/>
                <a:cs typeface="LM Sans 10"/>
              </a:rPr>
              <a:t>=</a:t>
            </a:r>
            <a:r>
              <a:rPr sz="1100" spc="-90" dirty="0">
                <a:latin typeface="LM Sans 10"/>
                <a:cs typeface="LM Sans 10"/>
              </a:rPr>
              <a:t> </a:t>
            </a:r>
            <a:r>
              <a:rPr sz="1100" i="1" spc="-5" dirty="0">
                <a:latin typeface="LM Sans 10"/>
                <a:cs typeface="LM Sans 10"/>
              </a:rPr>
              <a:t>j</a:t>
            </a:r>
            <a:r>
              <a:rPr sz="1100" i="1" spc="-280" dirty="0">
                <a:latin typeface="LM Sans 10"/>
                <a:cs typeface="LM Sans 10"/>
              </a:rPr>
              <a:t> </a:t>
            </a:r>
            <a:r>
              <a:rPr sz="1100" i="1" spc="-5" dirty="0">
                <a:latin typeface="LM Roman Dunhill 10"/>
                <a:cs typeface="LM Roman Dunhill 10"/>
              </a:rPr>
              <a:t>,</a:t>
            </a:r>
            <a:endParaRPr sz="1100" dirty="0">
              <a:latin typeface="LM Roman Dunhill 10"/>
              <a:cs typeface="LM Roman Dunhill 10"/>
            </a:endParaRPr>
          </a:p>
          <a:p>
            <a:pPr marL="50800">
              <a:lnSpc>
                <a:spcPct val="100000"/>
              </a:lnSpc>
              <a:spcBef>
                <a:spcPts val="35"/>
              </a:spcBef>
            </a:pPr>
            <a:r>
              <a:rPr sz="1100" spc="40" dirty="0">
                <a:latin typeface="LM Sans 10"/>
                <a:cs typeface="LM Sans 10"/>
              </a:rPr>
              <a:t>min</a:t>
            </a:r>
            <a:r>
              <a:rPr sz="1200" i="1" spc="60" baseline="-13888" dirty="0">
                <a:latin typeface="LM Sans 8"/>
                <a:cs typeface="LM Sans 8"/>
              </a:rPr>
              <a:t>i</a:t>
            </a:r>
            <a:r>
              <a:rPr sz="1200" i="1" spc="60" baseline="-13888" dirty="0">
                <a:latin typeface="Arial"/>
                <a:cs typeface="Arial"/>
              </a:rPr>
              <a:t>≤</a:t>
            </a:r>
            <a:r>
              <a:rPr sz="1200" i="1" spc="60" baseline="-13888" dirty="0">
                <a:latin typeface="LM Sans 8"/>
                <a:cs typeface="LM Sans 8"/>
              </a:rPr>
              <a:t>k&lt;j</a:t>
            </a:r>
            <a:r>
              <a:rPr sz="1200" i="1" spc="22" baseline="-13888" dirty="0">
                <a:latin typeface="LM Sans 8"/>
                <a:cs typeface="LM Sans 8"/>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35"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0" baseline="-10416" dirty="0">
                <a:latin typeface="LM Sans 8"/>
                <a:cs typeface="LM Sans 8"/>
              </a:rPr>
              <a:t> </a:t>
            </a:r>
            <a:r>
              <a:rPr sz="1100" spc="-5" dirty="0">
                <a:latin typeface="LM Sans 10"/>
                <a:cs typeface="LM Sans 10"/>
              </a:rPr>
              <a:t>)</a:t>
            </a:r>
            <a:r>
              <a:rPr sz="1100" spc="260" dirty="0">
                <a:latin typeface="LM Sans 10"/>
                <a:cs typeface="LM Sans 10"/>
              </a:rPr>
              <a:t> </a:t>
            </a:r>
            <a:r>
              <a:rPr lang="en-US" sz="1100" spc="260" dirty="0">
                <a:latin typeface="LM Sans 10"/>
                <a:cs typeface="LM Sans 10"/>
              </a:rPr>
              <a:t>     </a:t>
            </a:r>
            <a:r>
              <a:rPr sz="1100" i="1" spc="-5" dirty="0" err="1">
                <a:latin typeface="LM Sans 10"/>
                <a:cs typeface="LM Sans 10"/>
              </a:rPr>
              <a:t>i</a:t>
            </a:r>
            <a:r>
              <a:rPr sz="1100" i="1" spc="35" dirty="0">
                <a:latin typeface="LM Sans 10"/>
                <a:cs typeface="LM Sans 10"/>
              </a:rPr>
              <a:t> </a:t>
            </a:r>
            <a:r>
              <a:rPr sz="1100" i="1" spc="-10" dirty="0">
                <a:latin typeface="LM Roman Dunhill 10"/>
                <a:cs typeface="LM Roman Dunhill 10"/>
              </a:rPr>
              <a:t>&lt;</a:t>
            </a:r>
            <a:r>
              <a:rPr sz="1100" i="1" spc="-65" dirty="0">
                <a:latin typeface="LM Roman Dunhill 10"/>
                <a:cs typeface="LM Roman Dunhill 10"/>
              </a:rPr>
              <a:t> </a:t>
            </a:r>
            <a:r>
              <a:rPr sz="1100" i="1" spc="-5" dirty="0">
                <a:latin typeface="LM Sans 10"/>
                <a:cs typeface="LM Sans 10"/>
              </a:rPr>
              <a:t>j</a:t>
            </a:r>
            <a:endParaRPr sz="1100" dirty="0">
              <a:latin typeface="LM Sans 10"/>
              <a:cs typeface="LM Sans 10"/>
            </a:endParaRPr>
          </a:p>
        </p:txBody>
      </p:sp>
      <p:grpSp>
        <p:nvGrpSpPr>
          <p:cNvPr id="9" name="object 9"/>
          <p:cNvGrpSpPr/>
          <p:nvPr/>
        </p:nvGrpSpPr>
        <p:grpSpPr>
          <a:xfrm>
            <a:off x="0" y="3342919"/>
            <a:ext cx="4608195" cy="113664"/>
            <a:chOff x="0" y="3342919"/>
            <a:chExt cx="4608195" cy="113664"/>
          </a:xfrm>
        </p:grpSpPr>
        <p:sp>
          <p:nvSpPr>
            <p:cNvPr id="10" name="object 10"/>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11" name="object 11"/>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2" name="object 12"/>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4" name="object 14"/>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5" name="object 15"/>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13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
        <p:nvSpPr>
          <p:cNvPr id="16" name="Left Brace 15"/>
          <p:cNvSpPr/>
          <p:nvPr/>
        </p:nvSpPr>
        <p:spPr>
          <a:xfrm>
            <a:off x="963206" y="1772855"/>
            <a:ext cx="129539" cy="41472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86544" cy="232756"/>
          </a:xfrm>
          <a:prstGeom prst="rect">
            <a:avLst/>
          </a:prstGeom>
        </p:spPr>
        <p:txBody>
          <a:bodyPr vert="horz" wrap="square" lIns="0" tIns="17145" rIns="0" bIns="0" rtlCol="0">
            <a:spAutoFit/>
          </a:bodyPr>
          <a:lstStyle/>
          <a:p>
            <a:pPr marL="12700">
              <a:lnSpc>
                <a:spcPct val="100000"/>
              </a:lnSpc>
              <a:spcBef>
                <a:spcPts val="135"/>
              </a:spcBef>
            </a:pPr>
            <a:r>
              <a:rPr spc="10" dirty="0"/>
              <a:t>Relationships </a:t>
            </a:r>
            <a:r>
              <a:rPr spc="15" dirty="0"/>
              <a:t>among</a:t>
            </a:r>
            <a:r>
              <a:rPr spc="-5" dirty="0"/>
              <a:t> </a:t>
            </a:r>
            <a:r>
              <a:rPr spc="10" dirty="0"/>
              <a:t>subproblems</a:t>
            </a:r>
          </a:p>
        </p:txBody>
      </p:sp>
      <p:sp>
        <p:nvSpPr>
          <p:cNvPr id="3" name="object 3"/>
          <p:cNvSpPr/>
          <p:nvPr/>
        </p:nvSpPr>
        <p:spPr>
          <a:xfrm>
            <a:off x="359994" y="809993"/>
            <a:ext cx="4248150" cy="199390"/>
          </a:xfrm>
          <a:custGeom>
            <a:avLst/>
            <a:gdLst/>
            <a:ahLst/>
            <a:cxnLst/>
            <a:rect l="l" t="t" r="r" b="b"/>
            <a:pathLst>
              <a:path w="4248150" h="199390">
                <a:moveTo>
                  <a:pt x="0" y="199072"/>
                </a:moveTo>
                <a:lnTo>
                  <a:pt x="4248010" y="199072"/>
                </a:lnTo>
                <a:lnTo>
                  <a:pt x="4248010" y="0"/>
                </a:lnTo>
                <a:lnTo>
                  <a:pt x="0" y="0"/>
                </a:lnTo>
                <a:lnTo>
                  <a:pt x="0" y="199072"/>
                </a:lnTo>
                <a:close/>
              </a:path>
            </a:pathLst>
          </a:custGeom>
          <a:solidFill>
            <a:srgbClr val="FFF200"/>
          </a:solidFill>
        </p:spPr>
        <p:txBody>
          <a:bodyPr wrap="square" lIns="0" tIns="0" rIns="0" bIns="0" rtlCol="0"/>
          <a:lstStyle/>
          <a:p>
            <a:endParaRPr/>
          </a:p>
        </p:txBody>
      </p:sp>
      <p:sp>
        <p:nvSpPr>
          <p:cNvPr id="4" name="object 4"/>
          <p:cNvSpPr/>
          <p:nvPr/>
        </p:nvSpPr>
        <p:spPr>
          <a:xfrm>
            <a:off x="502551" y="1276184"/>
            <a:ext cx="65265" cy="65265"/>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5250" y="792923"/>
            <a:ext cx="4564824" cy="888513"/>
          </a:xfrm>
          <a:prstGeom prst="rect">
            <a:avLst/>
          </a:prstGeom>
        </p:spPr>
        <p:txBody>
          <a:bodyPr vert="horz" wrap="square" lIns="0" tIns="11430" rIns="0" bIns="0" rtlCol="0">
            <a:spAutoFit/>
          </a:bodyPr>
          <a:lstStyle/>
          <a:p>
            <a:pPr marL="25400">
              <a:lnSpc>
                <a:spcPct val="100000"/>
              </a:lnSpc>
              <a:spcBef>
                <a:spcPts val="90"/>
              </a:spcBef>
            </a:pPr>
            <a:r>
              <a:rPr sz="1100" spc="-5" dirty="0">
                <a:latin typeface="LM Sans 10"/>
                <a:cs typeface="LM Sans 10"/>
              </a:rPr>
              <a:t>Step 2: </a:t>
            </a:r>
            <a:r>
              <a:rPr sz="1100" spc="-10" dirty="0">
                <a:latin typeface="LM Sans 10"/>
                <a:cs typeface="LM Sans 10"/>
              </a:rPr>
              <a:t>Constructing </a:t>
            </a:r>
            <a:r>
              <a:rPr sz="1100" spc="-5" dirty="0">
                <a:latin typeface="LM Sans 10"/>
                <a:cs typeface="LM Sans 10"/>
              </a:rPr>
              <a:t>optimal solutions from optimal </a:t>
            </a:r>
            <a:r>
              <a:rPr sz="1100" spc="-10" dirty="0">
                <a:latin typeface="LM Sans 10"/>
                <a:cs typeface="LM Sans 10"/>
              </a:rPr>
              <a:t>subproblem</a:t>
            </a:r>
            <a:r>
              <a:rPr sz="1100" spc="70" dirty="0">
                <a:latin typeface="LM Sans 10"/>
                <a:cs typeface="LM Sans 10"/>
              </a:rPr>
              <a:t> </a:t>
            </a:r>
            <a:r>
              <a:rPr sz="1100" spc="-5" dirty="0">
                <a:latin typeface="LM Sans 10"/>
                <a:cs typeface="LM Sans 10"/>
              </a:rPr>
              <a:t>solution</a:t>
            </a:r>
            <a:endParaRPr sz="1100" dirty="0">
              <a:latin typeface="LM Sans 10"/>
              <a:cs typeface="LM Sans 10"/>
            </a:endParaRPr>
          </a:p>
          <a:p>
            <a:pPr>
              <a:lnSpc>
                <a:spcPct val="100000"/>
              </a:lnSpc>
              <a:spcBef>
                <a:spcPts val="35"/>
              </a:spcBef>
            </a:pPr>
            <a:endParaRPr sz="1200" dirty="0">
              <a:latin typeface="LM Sans 10"/>
              <a:cs typeface="LM Sans 10"/>
            </a:endParaRPr>
          </a:p>
          <a:p>
            <a:pPr marL="264160" marR="518795">
              <a:lnSpc>
                <a:spcPct val="102600"/>
              </a:lnSpc>
              <a:spcBef>
                <a:spcPts val="5"/>
              </a:spcBef>
            </a:pPr>
            <a:r>
              <a:rPr sz="1100" spc="-30" dirty="0">
                <a:latin typeface="LM Sans 10"/>
                <a:cs typeface="LM Sans 10"/>
              </a:rPr>
              <a:t>For</a:t>
            </a:r>
            <a:r>
              <a:rPr sz="1100" spc="-10" dirty="0">
                <a:latin typeface="LM Sans 10"/>
                <a:cs typeface="LM Sans 10"/>
              </a:rPr>
              <a:t> </a:t>
            </a:r>
            <a:r>
              <a:rPr sz="1100" spc="-5" dirty="0">
                <a:latin typeface="LM Sans 10"/>
                <a:cs typeface="LM Sans 10"/>
              </a:rPr>
              <a:t>1</a:t>
            </a:r>
            <a:r>
              <a:rPr sz="1100" spc="-65"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i</a:t>
            </a:r>
            <a:r>
              <a:rPr sz="1100" i="1" spc="40"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j</a:t>
            </a:r>
            <a:r>
              <a:rPr sz="1100" i="1" spc="35" dirty="0">
                <a:latin typeface="LM Sans 10"/>
                <a:cs typeface="LM Sans 10"/>
              </a:rPr>
              <a:t> </a:t>
            </a:r>
            <a:r>
              <a:rPr sz="1100" i="1" spc="15" dirty="0">
                <a:latin typeface="DejaVu Sans Condensed"/>
                <a:cs typeface="DejaVu Sans Condensed"/>
              </a:rPr>
              <a:t>≤</a:t>
            </a:r>
            <a:r>
              <a:rPr sz="1100" i="1" spc="-15" dirty="0">
                <a:latin typeface="DejaVu Sans Condensed"/>
                <a:cs typeface="DejaVu Sans Condensed"/>
              </a:rPr>
              <a:t> </a:t>
            </a:r>
            <a:r>
              <a:rPr sz="1100" i="1" spc="5" dirty="0">
                <a:latin typeface="LM Sans 10"/>
                <a:cs typeface="LM Sans 10"/>
              </a:rPr>
              <a:t>n</a:t>
            </a:r>
            <a:r>
              <a:rPr sz="1100" spc="5" dirty="0">
                <a:latin typeface="LM Sans 10"/>
                <a:cs typeface="LM Sans 10"/>
              </a:rPr>
              <a:t>,</a:t>
            </a:r>
            <a:r>
              <a:rPr sz="1100" spc="-5" dirty="0">
                <a:latin typeface="LM Sans 10"/>
                <a:cs typeface="LM Sans 10"/>
              </a:rPr>
              <a:t> let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5" dirty="0">
                <a:solidFill>
                  <a:srgbClr val="0000FF"/>
                </a:solidFill>
                <a:latin typeface="LM Sans 10"/>
                <a:cs typeface="LM Sans 10"/>
              </a:rPr>
              <a:t>j</a:t>
            </a:r>
            <a:r>
              <a:rPr sz="1100" i="1" spc="-270" dirty="0">
                <a:solidFill>
                  <a:srgbClr val="0000FF"/>
                </a:solidFill>
                <a:latin typeface="LM Sans 10"/>
                <a:cs typeface="LM Sans 10"/>
              </a:rPr>
              <a:t> </a:t>
            </a:r>
            <a:r>
              <a:rPr sz="1100" spc="-5" dirty="0">
                <a:solidFill>
                  <a:srgbClr val="0000FF"/>
                </a:solidFill>
                <a:latin typeface="LM Sans 10"/>
                <a:cs typeface="LM Sans 10"/>
              </a:rPr>
              <a:t>]</a:t>
            </a:r>
            <a:r>
              <a:rPr sz="1100" spc="-5" dirty="0">
                <a:latin typeface="LM Sans 10"/>
                <a:cs typeface="LM Sans 10"/>
              </a:rPr>
              <a:t>denote</a:t>
            </a:r>
            <a:r>
              <a:rPr sz="1100" spc="-10" dirty="0">
                <a:latin typeface="LM Sans 10"/>
                <a:cs typeface="LM Sans 10"/>
              </a:rPr>
              <a:t> </a:t>
            </a:r>
            <a:r>
              <a:rPr sz="1100" spc="-5" dirty="0">
                <a:latin typeface="LM Sans 10"/>
                <a:cs typeface="LM Sans 10"/>
              </a:rPr>
              <a:t>the </a:t>
            </a:r>
            <a:r>
              <a:rPr sz="1100" spc="-10" dirty="0">
                <a:latin typeface="LM Sans 10"/>
                <a:cs typeface="LM Sans 10"/>
              </a:rPr>
              <a:t>minimum</a:t>
            </a:r>
            <a:r>
              <a:rPr sz="1100" spc="-5" dirty="0">
                <a:latin typeface="LM Sans 10"/>
                <a:cs typeface="LM Sans 10"/>
              </a:rPr>
              <a:t> number of  multiplications needed to compute </a:t>
            </a:r>
            <a:r>
              <a:rPr sz="1100" i="1" spc="10" dirty="0">
                <a:latin typeface="LM Sans 10"/>
                <a:cs typeface="LM Sans 10"/>
              </a:rPr>
              <a:t>A</a:t>
            </a:r>
            <a:r>
              <a:rPr sz="1200" i="1" spc="15" baseline="-10416" dirty="0">
                <a:latin typeface="LM Sans 8"/>
                <a:cs typeface="LM Sans 8"/>
              </a:rPr>
              <a:t>i..j </a:t>
            </a:r>
            <a:r>
              <a:rPr sz="1100" spc="-5" dirty="0">
                <a:latin typeface="LM Sans 10"/>
                <a:cs typeface="LM Sans 10"/>
              </a:rPr>
              <a:t>. </a:t>
            </a:r>
            <a:r>
              <a:rPr sz="1100" spc="-10" dirty="0">
                <a:latin typeface="LM Sans 10"/>
                <a:cs typeface="LM Sans 10"/>
              </a:rPr>
              <a:t>This</a:t>
            </a:r>
            <a:r>
              <a:rPr lang="en-US" sz="1100" spc="-10" dirty="0">
                <a:latin typeface="LM Sans 10"/>
                <a:cs typeface="LM Sans 10"/>
              </a:rPr>
              <a:t> </a:t>
            </a:r>
            <a:r>
              <a:rPr sz="1100" spc="-10" dirty="0">
                <a:solidFill>
                  <a:srgbClr val="FF0000"/>
                </a:solidFill>
                <a:latin typeface="LM Sans 10"/>
                <a:cs typeface="LM Sans 10"/>
              </a:rPr>
              <a:t>optimum </a:t>
            </a:r>
            <a:r>
              <a:rPr sz="1100" spc="-5" dirty="0">
                <a:solidFill>
                  <a:srgbClr val="FF0000"/>
                </a:solidFill>
                <a:latin typeface="LM Sans 10"/>
                <a:cs typeface="LM Sans 10"/>
              </a:rPr>
              <a:t>cost  </a:t>
            </a:r>
            <a:r>
              <a:rPr sz="1100" spc="-5" dirty="0">
                <a:latin typeface="LM Sans 10"/>
                <a:cs typeface="LM Sans 10"/>
              </a:rPr>
              <a:t>must satisify the </a:t>
            </a:r>
            <a:r>
              <a:rPr sz="1100" spc="-10" dirty="0">
                <a:latin typeface="LM Sans 10"/>
                <a:cs typeface="LM Sans 10"/>
              </a:rPr>
              <a:t>following </a:t>
            </a:r>
            <a:r>
              <a:rPr sz="1100" spc="-5" dirty="0">
                <a:latin typeface="LM Sans 10"/>
                <a:cs typeface="LM Sans 10"/>
              </a:rPr>
              <a:t>recursive</a:t>
            </a:r>
            <a:r>
              <a:rPr sz="1100" spc="-15" dirty="0">
                <a:latin typeface="LM Sans 10"/>
                <a:cs typeface="LM Sans 10"/>
              </a:rPr>
              <a:t> </a:t>
            </a:r>
            <a:r>
              <a:rPr sz="1100" spc="-5" dirty="0">
                <a:latin typeface="LM Sans 10"/>
                <a:cs typeface="LM Sans 10"/>
              </a:rPr>
              <a:t>definition.</a:t>
            </a:r>
            <a:endParaRPr sz="1100" dirty="0">
              <a:latin typeface="LM Sans 10"/>
              <a:cs typeface="LM Sans 10"/>
            </a:endParaRPr>
          </a:p>
        </p:txBody>
      </p:sp>
      <p:sp>
        <p:nvSpPr>
          <p:cNvPr id="6" name="object 6"/>
          <p:cNvSpPr txBox="1"/>
          <p:nvPr/>
        </p:nvSpPr>
        <p:spPr>
          <a:xfrm>
            <a:off x="428116" y="1859113"/>
            <a:ext cx="521970" cy="191770"/>
          </a:xfrm>
          <a:prstGeom prst="rect">
            <a:avLst/>
          </a:prstGeom>
        </p:spPr>
        <p:txBody>
          <a:bodyPr vert="horz" wrap="square" lIns="0" tIns="11430" rIns="0" bIns="0" rtlCol="0">
            <a:spAutoFit/>
          </a:bodyPr>
          <a:lstStyle/>
          <a:p>
            <a:pPr marL="12700">
              <a:lnSpc>
                <a:spcPct val="100000"/>
              </a:lnSpc>
              <a:spcBef>
                <a:spcPts val="90"/>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210" dirty="0">
                <a:latin typeface="LM Roman Dunhill 10"/>
                <a:cs typeface="LM Roman Dunhill 10"/>
              </a:rPr>
              <a:t> </a:t>
            </a:r>
            <a:r>
              <a:rPr sz="1100" i="1" spc="-5" dirty="0">
                <a:latin typeface="LM Sans 10"/>
                <a:cs typeface="LM Sans 10"/>
              </a:rPr>
              <a:t>j</a:t>
            </a:r>
            <a:r>
              <a:rPr sz="1100" i="1" spc="-285" dirty="0">
                <a:latin typeface="LM Sans 10"/>
                <a:cs typeface="LM Sans 10"/>
              </a:rPr>
              <a:t> </a:t>
            </a:r>
            <a:r>
              <a:rPr sz="1100" spc="-5" dirty="0">
                <a:latin typeface="LM Sans 10"/>
                <a:cs typeface="LM Sans 10"/>
              </a:rPr>
              <a:t>]</a:t>
            </a:r>
            <a:r>
              <a:rPr sz="1100" spc="-105" dirty="0">
                <a:latin typeface="LM Sans 10"/>
                <a:cs typeface="LM Sans 10"/>
              </a:rPr>
              <a:t> </a:t>
            </a:r>
            <a:r>
              <a:rPr sz="1100" spc="-10" dirty="0">
                <a:latin typeface="LM Sans 10"/>
                <a:cs typeface="LM Sans 10"/>
              </a:rPr>
              <a:t>=</a:t>
            </a:r>
            <a:endParaRPr sz="1100">
              <a:latin typeface="LM Sans 10"/>
              <a:cs typeface="LM Sans 10"/>
            </a:endParaRPr>
          </a:p>
        </p:txBody>
      </p:sp>
      <p:sp>
        <p:nvSpPr>
          <p:cNvPr id="7" name="object 7"/>
          <p:cNvSpPr txBox="1"/>
          <p:nvPr/>
        </p:nvSpPr>
        <p:spPr>
          <a:xfrm>
            <a:off x="963206" y="1663762"/>
            <a:ext cx="129539" cy="191770"/>
          </a:xfrm>
          <a:prstGeom prst="rect">
            <a:avLst/>
          </a:prstGeom>
        </p:spPr>
        <p:txBody>
          <a:bodyPr vert="horz" wrap="square" lIns="0" tIns="11430" rIns="0" bIns="0" rtlCol="0">
            <a:spAutoFit/>
          </a:bodyPr>
          <a:lstStyle/>
          <a:p>
            <a:pPr marL="12700">
              <a:lnSpc>
                <a:spcPct val="100000"/>
              </a:lnSpc>
              <a:spcBef>
                <a:spcPts val="90"/>
              </a:spcBef>
            </a:pPr>
            <a:r>
              <a:rPr sz="1100" spc="509" dirty="0">
                <a:latin typeface="Arial"/>
                <a:cs typeface="Arial"/>
              </a:rPr>
              <a:t>.</a:t>
            </a:r>
            <a:endParaRPr sz="1100">
              <a:latin typeface="Arial"/>
              <a:cs typeface="Arial"/>
            </a:endParaRPr>
          </a:p>
        </p:txBody>
      </p:sp>
      <p:sp>
        <p:nvSpPr>
          <p:cNvPr id="8" name="object 8"/>
          <p:cNvSpPr txBox="1"/>
          <p:nvPr/>
        </p:nvSpPr>
        <p:spPr>
          <a:xfrm>
            <a:off x="1092276" y="1772855"/>
            <a:ext cx="3034665" cy="363855"/>
          </a:xfrm>
          <a:prstGeom prst="rect">
            <a:avLst/>
          </a:prstGeom>
        </p:spPr>
        <p:txBody>
          <a:bodyPr vert="horz" wrap="square" lIns="0" tIns="11430" rIns="0" bIns="0" rtlCol="0">
            <a:spAutoFit/>
          </a:bodyPr>
          <a:lstStyle/>
          <a:p>
            <a:pPr marL="50800">
              <a:lnSpc>
                <a:spcPct val="100000"/>
              </a:lnSpc>
              <a:spcBef>
                <a:spcPts val="90"/>
              </a:spcBef>
              <a:tabLst>
                <a:tab pos="2676525" algn="l"/>
              </a:tabLst>
            </a:pPr>
            <a:r>
              <a:rPr sz="1100" spc="-5" dirty="0">
                <a:latin typeface="LM Sans 10"/>
                <a:cs typeface="LM Sans 10"/>
              </a:rPr>
              <a:t>0	</a:t>
            </a:r>
            <a:r>
              <a:rPr sz="1100" i="1" spc="-5" dirty="0">
                <a:latin typeface="LM Sans 10"/>
                <a:cs typeface="LM Sans 10"/>
              </a:rPr>
              <a:t>i</a:t>
            </a:r>
            <a:r>
              <a:rPr sz="1100" i="1" spc="5" dirty="0">
                <a:latin typeface="LM Sans 10"/>
                <a:cs typeface="LM Sans 10"/>
              </a:rPr>
              <a:t> </a:t>
            </a:r>
            <a:r>
              <a:rPr sz="1100" spc="-10" dirty="0">
                <a:latin typeface="LM Sans 10"/>
                <a:cs typeface="LM Sans 10"/>
              </a:rPr>
              <a:t>=</a:t>
            </a:r>
            <a:r>
              <a:rPr sz="1100" spc="-90" dirty="0">
                <a:latin typeface="LM Sans 10"/>
                <a:cs typeface="LM Sans 10"/>
              </a:rPr>
              <a:t> </a:t>
            </a:r>
            <a:r>
              <a:rPr sz="1100" i="1" spc="-5" dirty="0">
                <a:latin typeface="LM Sans 10"/>
                <a:cs typeface="LM Sans 10"/>
              </a:rPr>
              <a:t>j</a:t>
            </a:r>
            <a:r>
              <a:rPr sz="1100" i="1" spc="-280" dirty="0">
                <a:latin typeface="LM Sans 10"/>
                <a:cs typeface="LM Sans 10"/>
              </a:rPr>
              <a:t> </a:t>
            </a:r>
            <a:r>
              <a:rPr sz="1100" i="1" spc="-5" dirty="0">
                <a:latin typeface="LM Roman Dunhill 10"/>
                <a:cs typeface="LM Roman Dunhill 10"/>
              </a:rPr>
              <a:t>,</a:t>
            </a:r>
            <a:endParaRPr sz="1100" dirty="0">
              <a:latin typeface="LM Roman Dunhill 10"/>
              <a:cs typeface="LM Roman Dunhill 10"/>
            </a:endParaRPr>
          </a:p>
          <a:p>
            <a:pPr marL="50800">
              <a:lnSpc>
                <a:spcPct val="100000"/>
              </a:lnSpc>
              <a:spcBef>
                <a:spcPts val="35"/>
              </a:spcBef>
            </a:pPr>
            <a:r>
              <a:rPr sz="1100" spc="40" dirty="0">
                <a:latin typeface="LM Sans 10"/>
                <a:cs typeface="LM Sans 10"/>
              </a:rPr>
              <a:t>min</a:t>
            </a:r>
            <a:r>
              <a:rPr sz="1200" i="1" spc="60" baseline="-13888" dirty="0">
                <a:latin typeface="LM Sans 8"/>
                <a:cs typeface="LM Sans 8"/>
              </a:rPr>
              <a:t>i</a:t>
            </a:r>
            <a:r>
              <a:rPr sz="1200" i="1" spc="60" baseline="-13888" dirty="0">
                <a:latin typeface="Arial"/>
                <a:cs typeface="Arial"/>
              </a:rPr>
              <a:t>≤</a:t>
            </a:r>
            <a:r>
              <a:rPr sz="1200" i="1" spc="60" baseline="-13888" dirty="0">
                <a:latin typeface="LM Sans 8"/>
                <a:cs typeface="LM Sans 8"/>
              </a:rPr>
              <a:t>k&lt;j</a:t>
            </a:r>
            <a:r>
              <a:rPr sz="1200" i="1" spc="22" baseline="-13888" dirty="0">
                <a:latin typeface="LM Sans 8"/>
                <a:cs typeface="LM Sans 8"/>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35"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err="1">
                <a:latin typeface="LM Sans 10"/>
                <a:cs typeface="LM Sans 10"/>
              </a:rPr>
              <a:t>p</a:t>
            </a:r>
            <a:r>
              <a:rPr sz="1200" i="1" spc="-7" baseline="-10416" dirty="0" err="1">
                <a:latin typeface="LM Sans 8"/>
                <a:cs typeface="LM Sans 8"/>
              </a:rPr>
              <a:t>j</a:t>
            </a:r>
            <a:r>
              <a:rPr sz="1200" i="1" spc="-240" baseline="-10416" dirty="0">
                <a:latin typeface="LM Sans 8"/>
                <a:cs typeface="LM Sans 8"/>
              </a:rPr>
              <a:t> </a:t>
            </a:r>
            <a:r>
              <a:rPr sz="1100" spc="-5" dirty="0">
                <a:latin typeface="LM Sans 10"/>
                <a:cs typeface="LM Sans 10"/>
              </a:rPr>
              <a:t>)</a:t>
            </a:r>
            <a:r>
              <a:rPr lang="en-US" sz="1100" spc="-5" dirty="0">
                <a:latin typeface="LM Sans 10"/>
                <a:cs typeface="LM Sans 10"/>
              </a:rPr>
              <a:t>        </a:t>
            </a:r>
            <a:r>
              <a:rPr sz="1100" spc="260" dirty="0">
                <a:latin typeface="LM Sans 10"/>
                <a:cs typeface="LM Sans 10"/>
              </a:rPr>
              <a:t> </a:t>
            </a:r>
            <a:r>
              <a:rPr sz="1100" i="1" spc="-5" dirty="0">
                <a:latin typeface="LM Sans 10"/>
                <a:cs typeface="LM Sans 10"/>
              </a:rPr>
              <a:t>i</a:t>
            </a:r>
            <a:r>
              <a:rPr sz="1100" i="1" spc="35" dirty="0">
                <a:latin typeface="LM Sans 10"/>
                <a:cs typeface="LM Sans 10"/>
              </a:rPr>
              <a:t> </a:t>
            </a:r>
            <a:r>
              <a:rPr sz="1100" i="1" spc="-10" dirty="0">
                <a:latin typeface="LM Roman Dunhill 10"/>
                <a:cs typeface="LM Roman Dunhill 10"/>
              </a:rPr>
              <a:t>&lt;</a:t>
            </a:r>
            <a:r>
              <a:rPr sz="1100" i="1" spc="-65" dirty="0">
                <a:latin typeface="LM Roman Dunhill 10"/>
                <a:cs typeface="LM Roman Dunhill 10"/>
              </a:rPr>
              <a:t> </a:t>
            </a:r>
            <a:r>
              <a:rPr sz="1100" i="1" spc="-5" dirty="0">
                <a:latin typeface="LM Sans 10"/>
                <a:cs typeface="LM Sans 10"/>
              </a:rPr>
              <a:t>j</a:t>
            </a:r>
            <a:endParaRPr sz="1100" dirty="0">
              <a:latin typeface="LM Sans 10"/>
              <a:cs typeface="LM Sans 10"/>
            </a:endParaRPr>
          </a:p>
        </p:txBody>
      </p:sp>
      <p:sp>
        <p:nvSpPr>
          <p:cNvPr id="9" name="object 9"/>
          <p:cNvSpPr txBox="1"/>
          <p:nvPr/>
        </p:nvSpPr>
        <p:spPr>
          <a:xfrm>
            <a:off x="1732660" y="2840150"/>
            <a:ext cx="1127125" cy="191770"/>
          </a:xfrm>
          <a:prstGeom prst="rect">
            <a:avLst/>
          </a:prstGeom>
        </p:spPr>
        <p:txBody>
          <a:bodyPr vert="horz" wrap="square" lIns="0" tIns="11430" rIns="0" bIns="0" rtlCol="0">
            <a:spAutoFit/>
          </a:bodyPr>
          <a:lstStyle/>
          <a:p>
            <a:pPr marL="38100">
              <a:lnSpc>
                <a:spcPct val="100000"/>
              </a:lnSpc>
              <a:spcBef>
                <a:spcPts val="90"/>
              </a:spcBef>
            </a:pPr>
            <a:r>
              <a:rPr sz="1650" i="1" spc="15" baseline="10101" dirty="0">
                <a:latin typeface="LM Sans 10"/>
                <a:cs typeface="LM Sans 10"/>
              </a:rPr>
              <a:t>A</a:t>
            </a:r>
            <a:r>
              <a:rPr sz="800" i="1" spc="10" dirty="0">
                <a:latin typeface="LM Sans 8"/>
                <a:cs typeface="LM Sans 8"/>
              </a:rPr>
              <a:t>i..j </a:t>
            </a:r>
            <a:r>
              <a:rPr sz="1650" spc="-15" baseline="10101" dirty="0">
                <a:latin typeface="LM Sans 10"/>
                <a:cs typeface="LM Sans 10"/>
              </a:rPr>
              <a:t>= </a:t>
            </a:r>
            <a:r>
              <a:rPr sz="1650" i="1" spc="15" baseline="10101" dirty="0">
                <a:latin typeface="LM Sans 10"/>
                <a:cs typeface="LM Sans 10"/>
              </a:rPr>
              <a:t>A</a:t>
            </a:r>
            <a:r>
              <a:rPr sz="800" i="1" spc="10" dirty="0">
                <a:latin typeface="LM Sans 8"/>
                <a:cs typeface="LM Sans 8"/>
              </a:rPr>
              <a:t>i..k</a:t>
            </a:r>
            <a:r>
              <a:rPr sz="800" i="1" spc="-135" dirty="0">
                <a:latin typeface="LM Sans 8"/>
                <a:cs typeface="LM Sans 8"/>
              </a:rPr>
              <a:t> </a:t>
            </a:r>
            <a:r>
              <a:rPr sz="1650" i="1" spc="7" baseline="10101" dirty="0">
                <a:latin typeface="LM Sans 10"/>
                <a:cs typeface="LM Sans 10"/>
              </a:rPr>
              <a:t>A</a:t>
            </a:r>
            <a:r>
              <a:rPr sz="800" i="1" spc="5" dirty="0">
                <a:latin typeface="LM Sans 8"/>
                <a:cs typeface="LM Sans 8"/>
              </a:rPr>
              <a:t>k</a:t>
            </a:r>
            <a:r>
              <a:rPr sz="800" spc="5" dirty="0">
                <a:latin typeface="LM Sans 8"/>
                <a:cs typeface="LM Sans 8"/>
              </a:rPr>
              <a:t>+1</a:t>
            </a:r>
            <a:r>
              <a:rPr sz="800" i="1" spc="5" dirty="0">
                <a:latin typeface="LM Sans 8"/>
                <a:cs typeface="LM Sans 8"/>
              </a:rPr>
              <a:t>..j</a:t>
            </a:r>
            <a:endParaRPr sz="800">
              <a:latin typeface="LM Sans 8"/>
              <a:cs typeface="LM Sans 8"/>
            </a:endParaRPr>
          </a:p>
        </p:txBody>
      </p:sp>
      <p:grpSp>
        <p:nvGrpSpPr>
          <p:cNvPr id="10" name="object 10"/>
          <p:cNvGrpSpPr/>
          <p:nvPr/>
        </p:nvGrpSpPr>
        <p:grpSpPr>
          <a:xfrm>
            <a:off x="0" y="3342919"/>
            <a:ext cx="4608195" cy="113664"/>
            <a:chOff x="0" y="3342919"/>
            <a:chExt cx="4608195" cy="113664"/>
          </a:xfrm>
        </p:grpSpPr>
        <p:sp>
          <p:nvSpPr>
            <p:cNvPr id="11" name="object 11"/>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12" name="object 12"/>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3" name="object 13"/>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5" name="object 15"/>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6" name="object 16"/>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13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
        <p:nvSpPr>
          <p:cNvPr id="17" name="Left Brace 16"/>
          <p:cNvSpPr/>
          <p:nvPr/>
        </p:nvSpPr>
        <p:spPr>
          <a:xfrm>
            <a:off x="963206" y="1772855"/>
            <a:ext cx="129539" cy="41472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154762" y="-5107"/>
            <a:ext cx="4300575" cy="215444"/>
          </a:xfrm>
        </p:spPr>
        <p:txBody>
          <a:bodyPr/>
          <a:lstStyle/>
          <a:p>
            <a:pPr eaLnBrk="1" hangingPunct="1"/>
            <a:endParaRPr lang="en-US"/>
          </a:p>
        </p:txBody>
      </p:sp>
      <p:graphicFrame>
        <p:nvGraphicFramePr>
          <p:cNvPr id="37892" name="Object 3"/>
          <p:cNvGraphicFramePr>
            <a:graphicFrameLocks noGrp="1" noChangeAspect="1"/>
          </p:cNvGraphicFramePr>
          <p:nvPr>
            <p:ph sz="quarter" idx="1"/>
          </p:nvPr>
        </p:nvGraphicFramePr>
        <p:xfrm>
          <a:off x="0" y="1587"/>
          <a:ext cx="4610100" cy="3458376"/>
        </p:xfrm>
        <a:graphic>
          <a:graphicData uri="http://schemas.openxmlformats.org/presentationml/2006/ole">
            <mc:AlternateContent xmlns:mc="http://schemas.openxmlformats.org/markup-compatibility/2006">
              <mc:Choice xmlns:v="urn:schemas-microsoft-com:vml" Requires="v">
                <p:oleObj name="Photo Editor Photo" r:id="rId3" imgW="6857143" imgH="5144218" progId="MSPhotoEd.3">
                  <p:embed/>
                </p:oleObj>
              </mc:Choice>
              <mc:Fallback>
                <p:oleObj name="Photo Editor Photo" r:id="rId3" imgW="6857143" imgH="5144218" progId="MSPhotoEd.3">
                  <p:embed/>
                  <p:pic>
                    <p:nvPicPr>
                      <p:cNvPr id="3789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587"/>
                        <a:ext cx="4610100" cy="3458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0" name="Slide Number Placeholder 5"/>
          <p:cNvSpPr>
            <a:spLocks noGrp="1"/>
          </p:cNvSpPr>
          <p:nvPr>
            <p:ph type="sldNum" sz="quarter" idx="4294967295"/>
          </p:nvPr>
        </p:nvSpPr>
        <p:spPr bwMode="auto">
          <a:xfrm>
            <a:off x="3303905" y="3151823"/>
            <a:ext cx="1075690" cy="23050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10">
                <a:solidFill>
                  <a:schemeClr val="tx1"/>
                </a:solidFill>
                <a:latin typeface="Times New Roman" pitchFamily="18" charset="0"/>
              </a:defRPr>
            </a:lvl1pPr>
            <a:lvl2pPr marL="374595" indent="-144075">
              <a:defRPr sz="1210">
                <a:solidFill>
                  <a:schemeClr val="tx1"/>
                </a:solidFill>
                <a:latin typeface="Times New Roman" pitchFamily="18" charset="0"/>
              </a:defRPr>
            </a:lvl2pPr>
            <a:lvl3pPr marL="576301" indent="-115260">
              <a:defRPr sz="1210">
                <a:solidFill>
                  <a:schemeClr val="tx1"/>
                </a:solidFill>
                <a:latin typeface="Times New Roman" pitchFamily="18" charset="0"/>
              </a:defRPr>
            </a:lvl3pPr>
            <a:lvl4pPr marL="806821" indent="-115260">
              <a:defRPr sz="1210">
                <a:solidFill>
                  <a:schemeClr val="tx1"/>
                </a:solidFill>
                <a:latin typeface="Times New Roman" pitchFamily="18" charset="0"/>
              </a:defRPr>
            </a:lvl4pPr>
            <a:lvl5pPr marL="1037341" indent="-115260">
              <a:defRPr sz="1210">
                <a:solidFill>
                  <a:schemeClr val="tx1"/>
                </a:solidFill>
                <a:latin typeface="Times New Roman" pitchFamily="18" charset="0"/>
              </a:defRPr>
            </a:lvl5pPr>
            <a:lvl6pPr marL="1267861" indent="-115260" eaLnBrk="0" fontAlgn="base" hangingPunct="0">
              <a:spcBef>
                <a:spcPct val="0"/>
              </a:spcBef>
              <a:spcAft>
                <a:spcPct val="0"/>
              </a:spcAft>
              <a:defRPr sz="1210">
                <a:solidFill>
                  <a:schemeClr val="tx1"/>
                </a:solidFill>
                <a:latin typeface="Times New Roman" pitchFamily="18" charset="0"/>
              </a:defRPr>
            </a:lvl6pPr>
            <a:lvl7pPr marL="1498382" indent="-115260" eaLnBrk="0" fontAlgn="base" hangingPunct="0">
              <a:spcBef>
                <a:spcPct val="0"/>
              </a:spcBef>
              <a:spcAft>
                <a:spcPct val="0"/>
              </a:spcAft>
              <a:defRPr sz="1210">
                <a:solidFill>
                  <a:schemeClr val="tx1"/>
                </a:solidFill>
                <a:latin typeface="Times New Roman" pitchFamily="18" charset="0"/>
              </a:defRPr>
            </a:lvl7pPr>
            <a:lvl8pPr marL="1728902" indent="-115260" eaLnBrk="0" fontAlgn="base" hangingPunct="0">
              <a:spcBef>
                <a:spcPct val="0"/>
              </a:spcBef>
              <a:spcAft>
                <a:spcPct val="0"/>
              </a:spcAft>
              <a:defRPr sz="1210">
                <a:solidFill>
                  <a:schemeClr val="tx1"/>
                </a:solidFill>
                <a:latin typeface="Times New Roman" pitchFamily="18" charset="0"/>
              </a:defRPr>
            </a:lvl8pPr>
            <a:lvl9pPr marL="1959422" indent="-115260" eaLnBrk="0" fontAlgn="base" hangingPunct="0">
              <a:spcBef>
                <a:spcPct val="0"/>
              </a:spcBef>
              <a:spcAft>
                <a:spcPct val="0"/>
              </a:spcAft>
              <a:defRPr sz="1210">
                <a:solidFill>
                  <a:schemeClr val="tx1"/>
                </a:solidFill>
                <a:latin typeface="Times New Roman" pitchFamily="18" charset="0"/>
              </a:defRPr>
            </a:lvl9pPr>
          </a:lstStyle>
          <a:p>
            <a:fld id="{0C436302-EC44-48C6-9D14-9FED7F70A0EC}" type="slidenum">
              <a:rPr lang="en-US"/>
              <a:pPr/>
              <a:t>47</a:t>
            </a:fld>
            <a:endParaRPr lang="en-US"/>
          </a:p>
        </p:txBody>
      </p:sp>
    </p:spTree>
    <p:extLst>
      <p:ext uri="{BB962C8B-B14F-4D97-AF65-F5344CB8AC3E}">
        <p14:creationId xmlns:p14="http://schemas.microsoft.com/office/powerpoint/2010/main" val="3422564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r>
              <a:rPr lang="en-US" dirty="0"/>
              <a:t>Overlapping Sub-Problems</a:t>
            </a:r>
          </a:p>
        </p:txBody>
      </p:sp>
      <p:sp>
        <p:nvSpPr>
          <p:cNvPr id="3" name="Content Placeholder 2"/>
          <p:cNvSpPr>
            <a:spLocks noGrp="1"/>
          </p:cNvSpPr>
          <p:nvPr>
            <p:ph sz="quarter" idx="1"/>
          </p:nvPr>
        </p:nvSpPr>
        <p:spPr>
          <a:xfrm>
            <a:off x="321894" y="1194689"/>
            <a:ext cx="3912235" cy="123111"/>
          </a:xfrm>
        </p:spPr>
        <p:txBody>
          <a:bodyPr/>
          <a:lstStyle/>
          <a:p>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4" y="885190"/>
            <a:ext cx="4533264" cy="2252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4294967295"/>
          </p:nvPr>
        </p:nvSpPr>
        <p:spPr/>
        <p:txBody>
          <a:bodyPr/>
          <a:lstStyle/>
          <a:p>
            <a:endParaRPr lang="en-US" dirty="0"/>
          </a:p>
        </p:txBody>
      </p:sp>
    </p:spTree>
    <p:extLst>
      <p:ext uri="{BB962C8B-B14F-4D97-AF65-F5344CB8AC3E}">
        <p14:creationId xmlns:p14="http://schemas.microsoft.com/office/powerpoint/2010/main" val="268245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4106583" cy="232756"/>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Developing </a:t>
            </a:r>
            <a:r>
              <a:rPr sz="1400" spc="10" dirty="0">
                <a:solidFill>
                  <a:srgbClr val="FFFFFF"/>
                </a:solidFill>
                <a:latin typeface="LM Sans 12"/>
                <a:cs typeface="LM Sans 12"/>
              </a:rPr>
              <a:t>a </a:t>
            </a:r>
            <a:r>
              <a:rPr sz="1400" spc="15" dirty="0">
                <a:solidFill>
                  <a:srgbClr val="FFFFFF"/>
                </a:solidFill>
                <a:latin typeface="LM Sans 12"/>
                <a:cs typeface="LM Sans 12"/>
              </a:rPr>
              <a:t>Dynamic Programming</a:t>
            </a:r>
            <a:r>
              <a:rPr sz="1400" spc="-60" dirty="0">
                <a:solidFill>
                  <a:srgbClr val="FFFFFF"/>
                </a:solidFill>
                <a:latin typeface="LM Sans 12"/>
                <a:cs typeface="LM Sans 12"/>
              </a:rPr>
              <a:t> </a:t>
            </a:r>
            <a:r>
              <a:rPr sz="1400" spc="10" dirty="0">
                <a:solidFill>
                  <a:srgbClr val="FFFFFF"/>
                </a:solidFill>
                <a:latin typeface="LM Sans 12"/>
                <a:cs typeface="LM Sans 12"/>
              </a:rPr>
              <a:t>Algorithm</a:t>
            </a:r>
            <a:endParaRPr sz="1400" dirty="0">
              <a:latin typeface="LM Sans 12"/>
              <a:cs typeface="LM Sans 12"/>
            </a:endParaRPr>
          </a:p>
        </p:txBody>
      </p:sp>
      <p:sp>
        <p:nvSpPr>
          <p:cNvPr id="3" name="object 3"/>
          <p:cNvSpPr txBox="1"/>
          <p:nvPr/>
        </p:nvSpPr>
        <p:spPr>
          <a:xfrm>
            <a:off x="1000925" y="494639"/>
            <a:ext cx="490220"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a:t>
            </a:r>
            <a:r>
              <a:rPr sz="1100" spc="-60" dirty="0">
                <a:latin typeface="LM Sans 10"/>
                <a:cs typeface="LM Sans 10"/>
              </a:rPr>
              <a:t> </a:t>
            </a:r>
            <a:r>
              <a:rPr sz="1100" spc="-5" dirty="0">
                <a:latin typeface="LM Sans 10"/>
                <a:cs typeface="LM Sans 10"/>
              </a:rPr>
              <a:t>3:</a:t>
            </a:r>
            <a:endParaRPr sz="1100">
              <a:latin typeface="LM Sans 10"/>
              <a:cs typeface="LM Sans 10"/>
            </a:endParaRPr>
          </a:p>
        </p:txBody>
      </p:sp>
      <p:sp>
        <p:nvSpPr>
          <p:cNvPr id="4" name="object 4"/>
          <p:cNvSpPr txBox="1"/>
          <p:nvPr/>
        </p:nvSpPr>
        <p:spPr>
          <a:xfrm>
            <a:off x="1537119" y="486943"/>
            <a:ext cx="2070100" cy="214629"/>
          </a:xfrm>
          <a:prstGeom prst="rect">
            <a:avLst/>
          </a:prstGeom>
          <a:solidFill>
            <a:srgbClr val="FFF200"/>
          </a:solidFill>
        </p:spPr>
        <p:txBody>
          <a:bodyPr vert="horz" wrap="square" lIns="0" tIns="1905" rIns="0" bIns="0" rtlCol="0">
            <a:spAutoFit/>
          </a:bodyPr>
          <a:lstStyle/>
          <a:p>
            <a:pPr marL="37465">
              <a:lnSpc>
                <a:spcPct val="100000"/>
              </a:lnSpc>
              <a:spcBef>
                <a:spcPts val="15"/>
              </a:spcBef>
            </a:pPr>
            <a:r>
              <a:rPr sz="1100" spc="-5" dirty="0">
                <a:latin typeface="LM Sans 10"/>
                <a:cs typeface="LM Sans 10"/>
              </a:rPr>
              <a:t>Bottom-up</a:t>
            </a:r>
            <a:r>
              <a:rPr sz="1100" spc="-25" dirty="0">
                <a:latin typeface="LM Sans 10"/>
                <a:cs typeface="LM Sans 10"/>
              </a:rPr>
              <a:t> </a:t>
            </a:r>
            <a:r>
              <a:rPr sz="1100" spc="-5" dirty="0">
                <a:latin typeface="LM Sans 10"/>
                <a:cs typeface="LM Sans 10"/>
              </a:rPr>
              <a:t>computation</a:t>
            </a:r>
            <a:r>
              <a:rPr sz="1100" spc="-25" dirty="0">
                <a:latin typeface="LM Sans 10"/>
                <a:cs typeface="LM Sans 10"/>
              </a:rPr>
              <a:t> </a:t>
            </a:r>
            <a:r>
              <a:rPr sz="1100" spc="-5" dirty="0">
                <a:latin typeface="LM Sans 10"/>
                <a:cs typeface="LM Sans 10"/>
              </a:rPr>
              <a:t>of</a:t>
            </a:r>
            <a:r>
              <a:rPr sz="1100" spc="-30" dirty="0">
                <a:latin typeface="LM Sans 10"/>
                <a:cs typeface="LM Sans 10"/>
              </a:rPr>
              <a:t> </a:t>
            </a: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endParaRPr sz="1100">
              <a:latin typeface="LM Sans 10"/>
              <a:cs typeface="LM Sans 10"/>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1" name="object 1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92549"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000925" y="494639"/>
            <a:ext cx="490220"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a:t>
            </a:r>
            <a:r>
              <a:rPr sz="1100" spc="-60" dirty="0">
                <a:latin typeface="LM Sans 10"/>
                <a:cs typeface="LM Sans 10"/>
              </a:rPr>
              <a:t> </a:t>
            </a:r>
            <a:r>
              <a:rPr sz="1100" spc="-5" dirty="0">
                <a:latin typeface="LM Sans 10"/>
                <a:cs typeface="LM Sans 10"/>
              </a:rPr>
              <a:t>3:</a:t>
            </a:r>
            <a:endParaRPr sz="1100">
              <a:latin typeface="LM Sans 10"/>
              <a:cs typeface="LM Sans 10"/>
            </a:endParaRPr>
          </a:p>
        </p:txBody>
      </p:sp>
      <p:sp>
        <p:nvSpPr>
          <p:cNvPr id="4" name="object 4"/>
          <p:cNvSpPr txBox="1"/>
          <p:nvPr/>
        </p:nvSpPr>
        <p:spPr>
          <a:xfrm>
            <a:off x="1537119" y="486943"/>
            <a:ext cx="2070100" cy="214629"/>
          </a:xfrm>
          <a:prstGeom prst="rect">
            <a:avLst/>
          </a:prstGeom>
          <a:solidFill>
            <a:srgbClr val="FFF200"/>
          </a:solidFill>
        </p:spPr>
        <p:txBody>
          <a:bodyPr vert="horz" wrap="square" lIns="0" tIns="1905" rIns="0" bIns="0" rtlCol="0">
            <a:spAutoFit/>
          </a:bodyPr>
          <a:lstStyle/>
          <a:p>
            <a:pPr marL="37465">
              <a:lnSpc>
                <a:spcPct val="100000"/>
              </a:lnSpc>
              <a:spcBef>
                <a:spcPts val="15"/>
              </a:spcBef>
            </a:pPr>
            <a:r>
              <a:rPr sz="1100" spc="-5" dirty="0">
                <a:latin typeface="LM Sans 10"/>
                <a:cs typeface="LM Sans 10"/>
              </a:rPr>
              <a:t>Bottom-up</a:t>
            </a:r>
            <a:r>
              <a:rPr sz="1100" spc="-25" dirty="0">
                <a:latin typeface="LM Sans 10"/>
                <a:cs typeface="LM Sans 10"/>
              </a:rPr>
              <a:t> </a:t>
            </a:r>
            <a:r>
              <a:rPr sz="1100" spc="-5" dirty="0">
                <a:latin typeface="LM Sans 10"/>
                <a:cs typeface="LM Sans 10"/>
              </a:rPr>
              <a:t>computation</a:t>
            </a:r>
            <a:r>
              <a:rPr sz="1100" spc="-25" dirty="0">
                <a:latin typeface="LM Sans 10"/>
                <a:cs typeface="LM Sans 10"/>
              </a:rPr>
              <a:t> </a:t>
            </a:r>
            <a:r>
              <a:rPr sz="1100" spc="-5" dirty="0">
                <a:latin typeface="LM Sans 10"/>
                <a:cs typeface="LM Sans 10"/>
              </a:rPr>
              <a:t>of</a:t>
            </a:r>
            <a:r>
              <a:rPr sz="1100" spc="-30" dirty="0">
                <a:latin typeface="LM Sans 10"/>
                <a:cs typeface="LM Sans 10"/>
              </a:rPr>
              <a:t> </a:t>
            </a: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endParaRPr sz="1100">
              <a:latin typeface="LM Sans 10"/>
              <a:cs typeface="LM Sans 10"/>
            </a:endParaRPr>
          </a:p>
        </p:txBody>
      </p:sp>
      <p:sp>
        <p:nvSpPr>
          <p:cNvPr id="5" name="object 5"/>
          <p:cNvSpPr txBox="1"/>
          <p:nvPr/>
        </p:nvSpPr>
        <p:spPr>
          <a:xfrm>
            <a:off x="334594" y="790865"/>
            <a:ext cx="3439795" cy="578485"/>
          </a:xfrm>
          <a:prstGeom prst="rect">
            <a:avLst/>
          </a:prstGeom>
        </p:spPr>
        <p:txBody>
          <a:bodyPr vert="horz" wrap="square" lIns="0" tIns="11430" rIns="0" bIns="0" rtlCol="0">
            <a:spAutoFit/>
          </a:bodyPr>
          <a:lstStyle/>
          <a:p>
            <a:pPr marL="25400">
              <a:lnSpc>
                <a:spcPct val="100000"/>
              </a:lnSpc>
              <a:spcBef>
                <a:spcPts val="90"/>
              </a:spcBef>
            </a:pPr>
            <a:r>
              <a:rPr sz="1100" spc="-5" dirty="0">
                <a:latin typeface="LM Sans 10"/>
                <a:cs typeface="LM Sans 10"/>
              </a:rPr>
              <a:t>Recurrence:</a:t>
            </a:r>
            <a:endParaRPr sz="1100" dirty="0">
              <a:latin typeface="LM Sans 10"/>
              <a:cs typeface="LM Sans 10"/>
            </a:endParaRPr>
          </a:p>
          <a:p>
            <a:pPr>
              <a:lnSpc>
                <a:spcPct val="100000"/>
              </a:lnSpc>
              <a:spcBef>
                <a:spcPts val="20"/>
              </a:spcBef>
            </a:pPr>
            <a:endParaRPr sz="700" dirty="0">
              <a:latin typeface="LM Sans 10"/>
              <a:cs typeface="LM Sans 10"/>
            </a:endParaRPr>
          </a:p>
          <a:p>
            <a:pPr marL="561975">
              <a:lnSpc>
                <a:spcPts val="1180"/>
              </a:lnSpc>
              <a:spcBef>
                <a:spcPts val="5"/>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65" dirty="0">
                <a:latin typeface="LM Sans 10"/>
                <a:cs typeface="LM Sans 10"/>
              </a:rPr>
              <a:t> </a:t>
            </a:r>
            <a:r>
              <a:rPr sz="1200" i="1" spc="-7" baseline="-52083" dirty="0">
                <a:latin typeface="LM Sans 8"/>
                <a:cs typeface="LM Sans 8"/>
              </a:rPr>
              <a:t>i</a:t>
            </a:r>
            <a:r>
              <a:rPr sz="1200" i="1" spc="-225" baseline="-52083" dirty="0">
                <a:latin typeface="LM Sans 8"/>
                <a:cs typeface="LM Sans 8"/>
              </a:rPr>
              <a:t> </a:t>
            </a:r>
            <a:r>
              <a:rPr sz="1100" spc="-10" dirty="0">
                <a:latin typeface="LM Sans 10"/>
                <a:cs typeface="LM Sans 10"/>
              </a:rPr>
              <a:t>min</a:t>
            </a:r>
            <a:r>
              <a:rPr sz="1100" spc="155" dirty="0">
                <a:latin typeface="LM Sans 10"/>
                <a:cs typeface="LM Sans 10"/>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35" dirty="0">
                <a:latin typeface="LM Sans 10"/>
                <a:cs typeface="LM Sans 10"/>
              </a:rPr>
              <a:t> </a:t>
            </a:r>
            <a:r>
              <a:rPr sz="1100" spc="-10" dirty="0">
                <a:latin typeface="LM Sans 10"/>
                <a:cs typeface="LM Sans 10"/>
              </a:rPr>
              <a:t>+</a:t>
            </a:r>
            <a:r>
              <a:rPr sz="1100" spc="-130"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30"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0" baseline="-10416" dirty="0">
                <a:latin typeface="LM Sans 8"/>
                <a:cs typeface="LM Sans 8"/>
              </a:rPr>
              <a:t> </a:t>
            </a:r>
            <a:r>
              <a:rPr sz="1100" spc="-5" dirty="0">
                <a:latin typeface="LM Sans 10"/>
                <a:cs typeface="LM Sans 10"/>
              </a:rPr>
              <a:t>)</a:t>
            </a:r>
            <a:endParaRPr sz="1100" dirty="0">
              <a:latin typeface="LM Sans 10"/>
              <a:cs typeface="LM Sans 10"/>
            </a:endParaRPr>
          </a:p>
          <a:p>
            <a:pPr marL="1132840">
              <a:lnSpc>
                <a:spcPts val="819"/>
              </a:lnSpc>
            </a:pPr>
            <a:r>
              <a:rPr sz="800" i="1" spc="65" dirty="0">
                <a:latin typeface="Arial"/>
                <a:cs typeface="Arial"/>
              </a:rPr>
              <a:t>≤</a:t>
            </a:r>
            <a:r>
              <a:rPr sz="800" i="1" spc="65" dirty="0">
                <a:latin typeface="LM Sans 8"/>
                <a:cs typeface="LM Sans 8"/>
              </a:rPr>
              <a:t>k&lt;j</a:t>
            </a:r>
            <a:endParaRPr sz="800" dirty="0">
              <a:latin typeface="LM Sans 8"/>
              <a:cs typeface="LM Sans 8"/>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2" name="object 1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02888"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000925" y="494639"/>
            <a:ext cx="490220"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a:t>
            </a:r>
            <a:r>
              <a:rPr sz="1100" spc="-60" dirty="0">
                <a:latin typeface="LM Sans 10"/>
                <a:cs typeface="LM Sans 10"/>
              </a:rPr>
              <a:t> </a:t>
            </a:r>
            <a:r>
              <a:rPr sz="1100" spc="-5" dirty="0">
                <a:latin typeface="LM Sans 10"/>
                <a:cs typeface="LM Sans 10"/>
              </a:rPr>
              <a:t>3:</a:t>
            </a:r>
            <a:endParaRPr sz="1100">
              <a:latin typeface="LM Sans 10"/>
              <a:cs typeface="LM Sans 10"/>
            </a:endParaRPr>
          </a:p>
        </p:txBody>
      </p:sp>
      <p:sp>
        <p:nvSpPr>
          <p:cNvPr id="4" name="object 4"/>
          <p:cNvSpPr txBox="1"/>
          <p:nvPr/>
        </p:nvSpPr>
        <p:spPr>
          <a:xfrm>
            <a:off x="1537119" y="486943"/>
            <a:ext cx="2070100" cy="214629"/>
          </a:xfrm>
          <a:prstGeom prst="rect">
            <a:avLst/>
          </a:prstGeom>
          <a:solidFill>
            <a:srgbClr val="FFF200"/>
          </a:solidFill>
        </p:spPr>
        <p:txBody>
          <a:bodyPr vert="horz" wrap="square" lIns="0" tIns="1905" rIns="0" bIns="0" rtlCol="0">
            <a:spAutoFit/>
          </a:bodyPr>
          <a:lstStyle/>
          <a:p>
            <a:pPr marL="37465">
              <a:lnSpc>
                <a:spcPct val="100000"/>
              </a:lnSpc>
              <a:spcBef>
                <a:spcPts val="15"/>
              </a:spcBef>
            </a:pPr>
            <a:r>
              <a:rPr sz="1100" spc="-5" dirty="0">
                <a:latin typeface="LM Sans 10"/>
                <a:cs typeface="LM Sans 10"/>
              </a:rPr>
              <a:t>Bottom-up</a:t>
            </a:r>
            <a:r>
              <a:rPr sz="1100" spc="-25" dirty="0">
                <a:latin typeface="LM Sans 10"/>
                <a:cs typeface="LM Sans 10"/>
              </a:rPr>
              <a:t> </a:t>
            </a:r>
            <a:r>
              <a:rPr sz="1100" spc="-5" dirty="0">
                <a:latin typeface="LM Sans 10"/>
                <a:cs typeface="LM Sans 10"/>
              </a:rPr>
              <a:t>computation</a:t>
            </a:r>
            <a:r>
              <a:rPr sz="1100" spc="-25" dirty="0">
                <a:latin typeface="LM Sans 10"/>
                <a:cs typeface="LM Sans 10"/>
              </a:rPr>
              <a:t> </a:t>
            </a:r>
            <a:r>
              <a:rPr sz="1100" spc="-5" dirty="0">
                <a:latin typeface="LM Sans 10"/>
                <a:cs typeface="LM Sans 10"/>
              </a:rPr>
              <a:t>of</a:t>
            </a:r>
            <a:r>
              <a:rPr sz="1100" spc="-30" dirty="0">
                <a:latin typeface="LM Sans 10"/>
                <a:cs typeface="LM Sans 10"/>
              </a:rPr>
              <a:t> </a:t>
            </a: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endParaRPr sz="1100">
              <a:latin typeface="LM Sans 10"/>
              <a:cs typeface="LM Sans 10"/>
            </a:endParaRPr>
          </a:p>
        </p:txBody>
      </p:sp>
      <p:sp>
        <p:nvSpPr>
          <p:cNvPr id="5" name="object 5"/>
          <p:cNvSpPr txBox="1"/>
          <p:nvPr/>
        </p:nvSpPr>
        <p:spPr>
          <a:xfrm>
            <a:off x="347293" y="790865"/>
            <a:ext cx="1143851" cy="180819"/>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Recurrence:</a:t>
            </a:r>
            <a:endParaRPr sz="1100" dirty="0">
              <a:latin typeface="LM Sans 10"/>
              <a:cs typeface="LM Sans 10"/>
            </a:endParaRPr>
          </a:p>
        </p:txBody>
      </p:sp>
      <p:sp>
        <p:nvSpPr>
          <p:cNvPr id="6" name="object 6"/>
          <p:cNvSpPr txBox="1"/>
          <p:nvPr/>
        </p:nvSpPr>
        <p:spPr>
          <a:xfrm>
            <a:off x="859040" y="1091500"/>
            <a:ext cx="2889885" cy="278130"/>
          </a:xfrm>
          <a:prstGeom prst="rect">
            <a:avLst/>
          </a:prstGeom>
        </p:spPr>
        <p:txBody>
          <a:bodyPr vert="horz" wrap="square" lIns="0" tIns="11430" rIns="0" bIns="0" rtlCol="0">
            <a:spAutoFit/>
          </a:bodyPr>
          <a:lstStyle/>
          <a:p>
            <a:pPr marL="38100">
              <a:lnSpc>
                <a:spcPts val="1180"/>
              </a:lnSpc>
              <a:spcBef>
                <a:spcPts val="90"/>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270" dirty="0">
                <a:latin typeface="LM Sans 10"/>
                <a:cs typeface="LM Sans 10"/>
              </a:rPr>
              <a:t> </a:t>
            </a:r>
            <a:r>
              <a:rPr sz="1100" spc="-10" dirty="0">
                <a:latin typeface="LM Sans 10"/>
                <a:cs typeface="LM Sans 10"/>
              </a:rPr>
              <a:t>min</a:t>
            </a:r>
            <a:r>
              <a:rPr sz="1100" spc="150" dirty="0">
                <a:latin typeface="LM Sans 10"/>
                <a:cs typeface="LM Sans 10"/>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7" baseline="-10416" dirty="0">
                <a:latin typeface="LM Sans 8"/>
                <a:cs typeface="LM Sans 8"/>
              </a:rPr>
              <a:t> </a:t>
            </a:r>
            <a:r>
              <a:rPr sz="1100" spc="-5" dirty="0">
                <a:latin typeface="LM Sans 10"/>
                <a:cs typeface="LM Sans 10"/>
              </a:rPr>
              <a:t>)</a:t>
            </a:r>
            <a:endParaRPr sz="1100" dirty="0">
              <a:latin typeface="LM Sans 10"/>
              <a:cs typeface="LM Sans 10"/>
            </a:endParaRPr>
          </a:p>
          <a:p>
            <a:pPr marL="572770">
              <a:lnSpc>
                <a:spcPts val="819"/>
              </a:lnSpc>
            </a:pPr>
            <a:r>
              <a:rPr sz="800" i="1" spc="-5" dirty="0">
                <a:latin typeface="LM Sans 8"/>
                <a:cs typeface="LM Sans 8"/>
              </a:rPr>
              <a:t>i</a:t>
            </a:r>
            <a:endParaRPr sz="800" dirty="0">
              <a:latin typeface="LM Sans 8"/>
              <a:cs typeface="LM Sans 8"/>
            </a:endParaRPr>
          </a:p>
        </p:txBody>
      </p:sp>
      <p:sp>
        <p:nvSpPr>
          <p:cNvPr id="7" name="object 7"/>
          <p:cNvSpPr txBox="1"/>
          <p:nvPr/>
        </p:nvSpPr>
        <p:spPr>
          <a:xfrm>
            <a:off x="347294" y="1194689"/>
            <a:ext cx="3823335" cy="722630"/>
          </a:xfrm>
          <a:prstGeom prst="rect">
            <a:avLst/>
          </a:prstGeom>
        </p:spPr>
        <p:txBody>
          <a:bodyPr vert="horz" wrap="square" lIns="0" tIns="39370" rIns="0" bIns="0" rtlCol="0">
            <a:spAutoFit/>
          </a:bodyPr>
          <a:lstStyle/>
          <a:p>
            <a:pPr marL="1120140">
              <a:lnSpc>
                <a:spcPct val="100000"/>
              </a:lnSpc>
              <a:spcBef>
                <a:spcPts val="310"/>
              </a:spcBef>
            </a:pPr>
            <a:r>
              <a:rPr sz="800" i="1" spc="65" dirty="0">
                <a:latin typeface="Arial"/>
                <a:cs typeface="Arial"/>
              </a:rPr>
              <a:t>≤</a:t>
            </a:r>
            <a:r>
              <a:rPr sz="800" i="1" spc="65" dirty="0">
                <a:latin typeface="LM Sans 8"/>
                <a:cs typeface="LM Sans 8"/>
              </a:rPr>
              <a:t>k&lt;j</a:t>
            </a:r>
            <a:endParaRPr sz="800" dirty="0">
              <a:latin typeface="LM Sans 8"/>
              <a:cs typeface="LM Sans 8"/>
            </a:endParaRPr>
          </a:p>
          <a:p>
            <a:pPr marL="12700" marR="5080">
              <a:lnSpc>
                <a:spcPct val="102600"/>
              </a:lnSpc>
              <a:spcBef>
                <a:spcPts val="254"/>
              </a:spcBef>
            </a:pPr>
            <a:r>
              <a:rPr sz="1100" spc="-5" dirty="0">
                <a:solidFill>
                  <a:srgbClr val="0000FF"/>
                </a:solidFill>
                <a:latin typeface="LM Sans 10"/>
                <a:cs typeface="LM Sans 10"/>
              </a:rPr>
              <a:t>Fill in the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 </a:t>
            </a:r>
            <a:r>
              <a:rPr sz="1100" i="1" spc="-5" dirty="0">
                <a:solidFill>
                  <a:srgbClr val="0000FF"/>
                </a:solidFill>
                <a:latin typeface="LM Sans 10"/>
                <a:cs typeface="LM Sans 10"/>
              </a:rPr>
              <a:t>j </a:t>
            </a:r>
            <a:r>
              <a:rPr sz="1100" spc="-5" dirty="0">
                <a:solidFill>
                  <a:srgbClr val="0000FF"/>
                </a:solidFill>
                <a:latin typeface="LM Sans 10"/>
                <a:cs typeface="LM Sans 10"/>
              </a:rPr>
              <a:t>] table in </a:t>
            </a:r>
            <a:r>
              <a:rPr sz="1100" spc="-10" dirty="0">
                <a:solidFill>
                  <a:srgbClr val="0000FF"/>
                </a:solidFill>
                <a:latin typeface="LM Sans 10"/>
                <a:cs typeface="LM Sans 10"/>
              </a:rPr>
              <a:t>an </a:t>
            </a:r>
            <a:r>
              <a:rPr sz="1100" spc="-15" dirty="0">
                <a:solidFill>
                  <a:srgbClr val="0000FF"/>
                </a:solidFill>
                <a:latin typeface="LM Sans 10"/>
                <a:cs typeface="LM Sans 10"/>
              </a:rPr>
              <a:t>order, </a:t>
            </a:r>
            <a:r>
              <a:rPr sz="1100" spc="-5" dirty="0">
                <a:solidFill>
                  <a:srgbClr val="0000FF"/>
                </a:solidFill>
                <a:latin typeface="LM Sans 10"/>
                <a:cs typeface="LM Sans 10"/>
              </a:rPr>
              <a:t>such that </a:t>
            </a:r>
            <a:r>
              <a:rPr sz="1100" spc="-10" dirty="0">
                <a:solidFill>
                  <a:srgbClr val="0000FF"/>
                </a:solidFill>
                <a:latin typeface="LM Sans 10"/>
                <a:cs typeface="LM Sans 10"/>
              </a:rPr>
              <a:t>when </a:t>
            </a:r>
            <a:r>
              <a:rPr sz="1100" spc="-5" dirty="0">
                <a:solidFill>
                  <a:srgbClr val="0000FF"/>
                </a:solidFill>
                <a:latin typeface="LM Sans 10"/>
                <a:cs typeface="LM Sans 10"/>
              </a:rPr>
              <a:t>it is time to  calculate</a:t>
            </a:r>
            <a:r>
              <a:rPr sz="1100" spc="-10" dirty="0">
                <a:solidFill>
                  <a:srgbClr val="0000FF"/>
                </a:solidFill>
                <a:latin typeface="LM Sans 10"/>
                <a:cs typeface="LM Sans 10"/>
              </a:rPr>
              <a:t>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5" dirty="0">
                <a:solidFill>
                  <a:srgbClr val="0000FF"/>
                </a:solidFill>
                <a:latin typeface="LM Sans 10"/>
                <a:cs typeface="LM Sans 10"/>
              </a:rPr>
              <a:t>j</a:t>
            </a:r>
            <a:r>
              <a:rPr sz="1100" i="1" spc="-270" dirty="0">
                <a:solidFill>
                  <a:srgbClr val="0000FF"/>
                </a:solidFill>
                <a:latin typeface="LM Sans 10"/>
                <a:cs typeface="LM Sans 10"/>
              </a:rPr>
              <a:t> </a:t>
            </a:r>
            <a:r>
              <a:rPr sz="1100" spc="-5" dirty="0">
                <a:solidFill>
                  <a:srgbClr val="0000FF"/>
                </a:solidFill>
                <a:latin typeface="LM Sans 10"/>
                <a:cs typeface="LM Sans 10"/>
              </a:rPr>
              <a:t>],</a:t>
            </a:r>
            <a:r>
              <a:rPr sz="1100" spc="-10" dirty="0">
                <a:solidFill>
                  <a:srgbClr val="0000FF"/>
                </a:solidFill>
                <a:latin typeface="LM Sans 10"/>
                <a:cs typeface="LM Sans 10"/>
              </a:rPr>
              <a:t> </a:t>
            </a:r>
            <a:r>
              <a:rPr sz="1100" spc="-5" dirty="0">
                <a:solidFill>
                  <a:srgbClr val="0000FF"/>
                </a:solidFill>
                <a:latin typeface="LM Sans 10"/>
                <a:cs typeface="LM Sans 10"/>
              </a:rPr>
              <a:t>the values</a:t>
            </a:r>
            <a:r>
              <a:rPr sz="1100" spc="-10" dirty="0">
                <a:solidFill>
                  <a:srgbClr val="0000FF"/>
                </a:solidFill>
                <a:latin typeface="LM Sans 10"/>
                <a:cs typeface="LM Sans 10"/>
              </a:rPr>
              <a:t> </a:t>
            </a:r>
            <a:r>
              <a:rPr sz="1100" spc="-5" dirty="0">
                <a:solidFill>
                  <a:srgbClr val="0000FF"/>
                </a:solidFill>
                <a:latin typeface="LM Sans 10"/>
                <a:cs typeface="LM Sans 10"/>
              </a:rPr>
              <a:t>of</a:t>
            </a:r>
            <a:r>
              <a:rPr sz="1100" dirty="0">
                <a:solidFill>
                  <a:srgbClr val="0000FF"/>
                </a:solidFill>
                <a:latin typeface="LM Sans 10"/>
                <a:cs typeface="LM Sans 10"/>
              </a:rPr>
              <a:t>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40" dirty="0">
                <a:solidFill>
                  <a:srgbClr val="0000FF"/>
                </a:solidFill>
                <a:latin typeface="LM Sans 10"/>
                <a:cs typeface="LM Sans 10"/>
              </a:rPr>
              <a:t>k</a:t>
            </a:r>
            <a:r>
              <a:rPr sz="1100" spc="40" dirty="0">
                <a:solidFill>
                  <a:srgbClr val="0000FF"/>
                </a:solidFill>
                <a:latin typeface="LM Sans 10"/>
                <a:cs typeface="LM Sans 10"/>
              </a:rPr>
              <a:t>]</a:t>
            </a:r>
            <a:r>
              <a:rPr sz="1100" spc="-10" dirty="0">
                <a:solidFill>
                  <a:srgbClr val="0000FF"/>
                </a:solidFill>
                <a:latin typeface="LM Sans 10"/>
                <a:cs typeface="LM Sans 10"/>
              </a:rPr>
              <a:t> and</a:t>
            </a:r>
            <a:r>
              <a:rPr sz="1100" spc="-5"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a:t>
            </a:r>
            <a:r>
              <a:rPr sz="1100" i="1" spc="-5" dirty="0">
                <a:solidFill>
                  <a:srgbClr val="0000FF"/>
                </a:solidFill>
                <a:latin typeface="LM Sans 10"/>
                <a:cs typeface="LM Sans 10"/>
              </a:rPr>
              <a:t>k</a:t>
            </a:r>
            <a:r>
              <a:rPr sz="1100" i="1" spc="-3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5" dirty="0">
                <a:solidFill>
                  <a:srgbClr val="0000FF"/>
                </a:solidFill>
                <a:latin typeface="LM Sans 10"/>
                <a:cs typeface="LM Sans 10"/>
              </a:rPr>
              <a:t>j</a:t>
            </a:r>
            <a:r>
              <a:rPr sz="1100" i="1" spc="-270" dirty="0">
                <a:solidFill>
                  <a:srgbClr val="0000FF"/>
                </a:solidFill>
                <a:latin typeface="LM Sans 10"/>
                <a:cs typeface="LM Sans 10"/>
              </a:rPr>
              <a:t> </a:t>
            </a:r>
            <a:r>
              <a:rPr sz="1100" spc="-5" dirty="0">
                <a:solidFill>
                  <a:srgbClr val="0000FF"/>
                </a:solidFill>
                <a:latin typeface="LM Sans 10"/>
                <a:cs typeface="LM Sans 10"/>
              </a:rPr>
              <a:t>]</a:t>
            </a:r>
            <a:r>
              <a:rPr sz="1100" spc="-10" dirty="0">
                <a:solidFill>
                  <a:srgbClr val="0000FF"/>
                </a:solidFill>
                <a:latin typeface="LM Sans 10"/>
                <a:cs typeface="LM Sans 10"/>
              </a:rPr>
              <a:t> </a:t>
            </a:r>
            <a:r>
              <a:rPr sz="1100" spc="-15" dirty="0">
                <a:solidFill>
                  <a:srgbClr val="0000FF"/>
                </a:solidFill>
                <a:latin typeface="LM Sans 10"/>
                <a:cs typeface="LM Sans 10"/>
              </a:rPr>
              <a:t>for</a:t>
            </a:r>
            <a:r>
              <a:rPr sz="1100" spc="-5" dirty="0">
                <a:solidFill>
                  <a:srgbClr val="0000FF"/>
                </a:solidFill>
                <a:latin typeface="LM Sans 10"/>
                <a:cs typeface="LM Sans 10"/>
              </a:rPr>
              <a:t> all </a:t>
            </a:r>
            <a:r>
              <a:rPr sz="1100" i="1" spc="-10" dirty="0">
                <a:solidFill>
                  <a:srgbClr val="0000FF"/>
                </a:solidFill>
                <a:latin typeface="LM Sans 10"/>
                <a:cs typeface="LM Sans 10"/>
              </a:rPr>
              <a:t>k</a:t>
            </a:r>
            <a:r>
              <a:rPr sz="1100" i="1" spc="80" dirty="0">
                <a:solidFill>
                  <a:srgbClr val="0000FF"/>
                </a:solidFill>
                <a:latin typeface="LM Sans 10"/>
                <a:cs typeface="LM Sans 10"/>
              </a:rPr>
              <a:t> </a:t>
            </a:r>
            <a:r>
              <a:rPr sz="1100" spc="-15" dirty="0">
                <a:solidFill>
                  <a:srgbClr val="0000FF"/>
                </a:solidFill>
                <a:latin typeface="LM Sans 10"/>
                <a:cs typeface="LM Sans 10"/>
              </a:rPr>
              <a:t>are  </a:t>
            </a:r>
            <a:r>
              <a:rPr sz="1100" spc="-5" dirty="0">
                <a:solidFill>
                  <a:srgbClr val="0000FF"/>
                </a:solidFill>
                <a:latin typeface="LM Sans 10"/>
                <a:cs typeface="LM Sans 10"/>
              </a:rPr>
              <a:t>already</a:t>
            </a:r>
            <a:r>
              <a:rPr sz="1100" spc="-10" dirty="0">
                <a:solidFill>
                  <a:srgbClr val="0000FF"/>
                </a:solidFill>
                <a:latin typeface="LM Sans 10"/>
                <a:cs typeface="LM Sans 10"/>
              </a:rPr>
              <a:t> </a:t>
            </a:r>
            <a:r>
              <a:rPr sz="1100" spc="-5" dirty="0">
                <a:solidFill>
                  <a:srgbClr val="0000FF"/>
                </a:solidFill>
                <a:latin typeface="LM Sans 10"/>
                <a:cs typeface="LM Sans 10"/>
              </a:rPr>
              <a:t>available.</a:t>
            </a:r>
            <a:endParaRPr sz="1100" dirty="0">
              <a:latin typeface="LM Sans 10"/>
              <a:cs typeface="LM Sans 10"/>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4" name="object 1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92549"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000925" y="494639"/>
            <a:ext cx="490220"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a:t>
            </a:r>
            <a:r>
              <a:rPr sz="1100" spc="-60" dirty="0">
                <a:latin typeface="LM Sans 10"/>
                <a:cs typeface="LM Sans 10"/>
              </a:rPr>
              <a:t> </a:t>
            </a:r>
            <a:r>
              <a:rPr sz="1100" spc="-5" dirty="0">
                <a:latin typeface="LM Sans 10"/>
                <a:cs typeface="LM Sans 10"/>
              </a:rPr>
              <a:t>3:</a:t>
            </a:r>
            <a:endParaRPr sz="1100">
              <a:latin typeface="LM Sans 10"/>
              <a:cs typeface="LM Sans 10"/>
            </a:endParaRPr>
          </a:p>
        </p:txBody>
      </p:sp>
      <p:sp>
        <p:nvSpPr>
          <p:cNvPr id="4" name="object 4"/>
          <p:cNvSpPr txBox="1"/>
          <p:nvPr/>
        </p:nvSpPr>
        <p:spPr>
          <a:xfrm>
            <a:off x="1537119" y="486943"/>
            <a:ext cx="2070100" cy="214629"/>
          </a:xfrm>
          <a:prstGeom prst="rect">
            <a:avLst/>
          </a:prstGeom>
          <a:solidFill>
            <a:srgbClr val="FFF200"/>
          </a:solidFill>
        </p:spPr>
        <p:txBody>
          <a:bodyPr vert="horz" wrap="square" lIns="0" tIns="1905" rIns="0" bIns="0" rtlCol="0">
            <a:spAutoFit/>
          </a:bodyPr>
          <a:lstStyle/>
          <a:p>
            <a:pPr marL="37465">
              <a:lnSpc>
                <a:spcPct val="100000"/>
              </a:lnSpc>
              <a:spcBef>
                <a:spcPts val="15"/>
              </a:spcBef>
            </a:pPr>
            <a:r>
              <a:rPr sz="1100" spc="-5" dirty="0">
                <a:latin typeface="LM Sans 10"/>
                <a:cs typeface="LM Sans 10"/>
              </a:rPr>
              <a:t>Bottom-up</a:t>
            </a:r>
            <a:r>
              <a:rPr sz="1100" spc="-25" dirty="0">
                <a:latin typeface="LM Sans 10"/>
                <a:cs typeface="LM Sans 10"/>
              </a:rPr>
              <a:t> </a:t>
            </a:r>
            <a:r>
              <a:rPr sz="1100" spc="-5" dirty="0">
                <a:latin typeface="LM Sans 10"/>
                <a:cs typeface="LM Sans 10"/>
              </a:rPr>
              <a:t>computation</a:t>
            </a:r>
            <a:r>
              <a:rPr sz="1100" spc="-25" dirty="0">
                <a:latin typeface="LM Sans 10"/>
                <a:cs typeface="LM Sans 10"/>
              </a:rPr>
              <a:t> </a:t>
            </a:r>
            <a:r>
              <a:rPr sz="1100" spc="-5" dirty="0">
                <a:latin typeface="LM Sans 10"/>
                <a:cs typeface="LM Sans 10"/>
              </a:rPr>
              <a:t>of</a:t>
            </a:r>
            <a:r>
              <a:rPr sz="1100" spc="-30" dirty="0">
                <a:latin typeface="LM Sans 10"/>
                <a:cs typeface="LM Sans 10"/>
              </a:rPr>
              <a:t> </a:t>
            </a: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endParaRPr sz="1100">
              <a:latin typeface="LM Sans 10"/>
              <a:cs typeface="LM Sans 10"/>
            </a:endParaRPr>
          </a:p>
        </p:txBody>
      </p:sp>
      <p:sp>
        <p:nvSpPr>
          <p:cNvPr id="5" name="object 5"/>
          <p:cNvSpPr txBox="1"/>
          <p:nvPr/>
        </p:nvSpPr>
        <p:spPr>
          <a:xfrm>
            <a:off x="347294" y="790865"/>
            <a:ext cx="69977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Recurrence:</a:t>
            </a:r>
            <a:endParaRPr sz="1100">
              <a:latin typeface="LM Sans 10"/>
              <a:cs typeface="LM Sans 10"/>
            </a:endParaRPr>
          </a:p>
        </p:txBody>
      </p:sp>
      <p:sp>
        <p:nvSpPr>
          <p:cNvPr id="6" name="object 6"/>
          <p:cNvSpPr txBox="1"/>
          <p:nvPr/>
        </p:nvSpPr>
        <p:spPr>
          <a:xfrm>
            <a:off x="859040" y="1091500"/>
            <a:ext cx="2889885" cy="278130"/>
          </a:xfrm>
          <a:prstGeom prst="rect">
            <a:avLst/>
          </a:prstGeom>
        </p:spPr>
        <p:txBody>
          <a:bodyPr vert="horz" wrap="square" lIns="0" tIns="11430" rIns="0" bIns="0" rtlCol="0">
            <a:spAutoFit/>
          </a:bodyPr>
          <a:lstStyle/>
          <a:p>
            <a:pPr marL="38100">
              <a:lnSpc>
                <a:spcPts val="1180"/>
              </a:lnSpc>
              <a:spcBef>
                <a:spcPts val="90"/>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270" dirty="0">
                <a:latin typeface="LM Sans 10"/>
                <a:cs typeface="LM Sans 10"/>
              </a:rPr>
              <a:t> </a:t>
            </a:r>
            <a:r>
              <a:rPr sz="1100" spc="-10" dirty="0">
                <a:latin typeface="LM Sans 10"/>
                <a:cs typeface="LM Sans 10"/>
              </a:rPr>
              <a:t>min</a:t>
            </a:r>
            <a:r>
              <a:rPr sz="1100" spc="150" dirty="0">
                <a:latin typeface="LM Sans 10"/>
                <a:cs typeface="LM Sans 10"/>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7" baseline="-10416" dirty="0">
                <a:latin typeface="LM Sans 8"/>
                <a:cs typeface="LM Sans 8"/>
              </a:rPr>
              <a:t> </a:t>
            </a:r>
            <a:r>
              <a:rPr sz="1100" spc="-5" dirty="0">
                <a:latin typeface="LM Sans 10"/>
                <a:cs typeface="LM Sans 10"/>
              </a:rPr>
              <a:t>)</a:t>
            </a:r>
            <a:endParaRPr sz="1100">
              <a:latin typeface="LM Sans 10"/>
              <a:cs typeface="LM Sans 10"/>
            </a:endParaRPr>
          </a:p>
          <a:p>
            <a:pPr marL="572770">
              <a:lnSpc>
                <a:spcPts val="819"/>
              </a:lnSpc>
            </a:pPr>
            <a:r>
              <a:rPr sz="800" i="1" spc="-5" dirty="0">
                <a:latin typeface="LM Sans 8"/>
                <a:cs typeface="LM Sans 8"/>
              </a:rPr>
              <a:t>i</a:t>
            </a:r>
            <a:endParaRPr sz="800">
              <a:latin typeface="LM Sans 8"/>
              <a:cs typeface="LM Sans 8"/>
            </a:endParaRPr>
          </a:p>
        </p:txBody>
      </p:sp>
      <p:sp>
        <p:nvSpPr>
          <p:cNvPr id="7" name="object 7"/>
          <p:cNvSpPr txBox="1"/>
          <p:nvPr/>
        </p:nvSpPr>
        <p:spPr>
          <a:xfrm>
            <a:off x="321894" y="1194689"/>
            <a:ext cx="3964304" cy="1324610"/>
          </a:xfrm>
          <a:prstGeom prst="rect">
            <a:avLst/>
          </a:prstGeom>
        </p:spPr>
        <p:txBody>
          <a:bodyPr vert="horz" wrap="square" lIns="0" tIns="39370" rIns="0" bIns="0" rtlCol="0">
            <a:spAutoFit/>
          </a:bodyPr>
          <a:lstStyle/>
          <a:p>
            <a:pPr marL="1145540">
              <a:lnSpc>
                <a:spcPct val="100000"/>
              </a:lnSpc>
              <a:spcBef>
                <a:spcPts val="310"/>
              </a:spcBef>
            </a:pPr>
            <a:r>
              <a:rPr sz="800" i="1" spc="65" dirty="0">
                <a:latin typeface="Arial"/>
                <a:cs typeface="Arial"/>
              </a:rPr>
              <a:t>≤</a:t>
            </a:r>
            <a:r>
              <a:rPr sz="800" i="1" spc="65" dirty="0">
                <a:latin typeface="LM Sans 8"/>
                <a:cs typeface="LM Sans 8"/>
              </a:rPr>
              <a:t>k&lt;j</a:t>
            </a:r>
            <a:endParaRPr sz="800">
              <a:latin typeface="LM Sans 8"/>
              <a:cs typeface="LM Sans 8"/>
            </a:endParaRPr>
          </a:p>
          <a:p>
            <a:pPr marL="38100" marR="120650">
              <a:lnSpc>
                <a:spcPct val="102600"/>
              </a:lnSpc>
              <a:spcBef>
                <a:spcPts val="254"/>
              </a:spcBef>
            </a:pPr>
            <a:r>
              <a:rPr sz="1100" spc="-5" dirty="0">
                <a:solidFill>
                  <a:srgbClr val="0000FF"/>
                </a:solidFill>
                <a:latin typeface="LM Sans 10"/>
                <a:cs typeface="LM Sans 10"/>
              </a:rPr>
              <a:t>Fill in the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 </a:t>
            </a:r>
            <a:r>
              <a:rPr sz="1100" i="1" spc="-5" dirty="0">
                <a:solidFill>
                  <a:srgbClr val="0000FF"/>
                </a:solidFill>
                <a:latin typeface="LM Sans 10"/>
                <a:cs typeface="LM Sans 10"/>
              </a:rPr>
              <a:t>j </a:t>
            </a:r>
            <a:r>
              <a:rPr sz="1100" spc="-5" dirty="0">
                <a:solidFill>
                  <a:srgbClr val="0000FF"/>
                </a:solidFill>
                <a:latin typeface="LM Sans 10"/>
                <a:cs typeface="LM Sans 10"/>
              </a:rPr>
              <a:t>] table in </a:t>
            </a:r>
            <a:r>
              <a:rPr sz="1100" spc="-10" dirty="0">
                <a:solidFill>
                  <a:srgbClr val="0000FF"/>
                </a:solidFill>
                <a:latin typeface="LM Sans 10"/>
                <a:cs typeface="LM Sans 10"/>
              </a:rPr>
              <a:t>an </a:t>
            </a:r>
            <a:r>
              <a:rPr sz="1100" spc="-15" dirty="0">
                <a:solidFill>
                  <a:srgbClr val="0000FF"/>
                </a:solidFill>
                <a:latin typeface="LM Sans 10"/>
                <a:cs typeface="LM Sans 10"/>
              </a:rPr>
              <a:t>order, </a:t>
            </a:r>
            <a:r>
              <a:rPr sz="1100" spc="-5" dirty="0">
                <a:solidFill>
                  <a:srgbClr val="0000FF"/>
                </a:solidFill>
                <a:latin typeface="LM Sans 10"/>
                <a:cs typeface="LM Sans 10"/>
              </a:rPr>
              <a:t>such that </a:t>
            </a:r>
            <a:r>
              <a:rPr sz="1100" spc="-10" dirty="0">
                <a:solidFill>
                  <a:srgbClr val="0000FF"/>
                </a:solidFill>
                <a:latin typeface="LM Sans 10"/>
                <a:cs typeface="LM Sans 10"/>
              </a:rPr>
              <a:t>when </a:t>
            </a:r>
            <a:r>
              <a:rPr sz="1100" spc="-5" dirty="0">
                <a:solidFill>
                  <a:srgbClr val="0000FF"/>
                </a:solidFill>
                <a:latin typeface="LM Sans 10"/>
                <a:cs typeface="LM Sans 10"/>
              </a:rPr>
              <a:t>it is time to  calculate</a:t>
            </a:r>
            <a:r>
              <a:rPr sz="1100" spc="-10" dirty="0">
                <a:solidFill>
                  <a:srgbClr val="0000FF"/>
                </a:solidFill>
                <a:latin typeface="LM Sans 10"/>
                <a:cs typeface="LM Sans 10"/>
              </a:rPr>
              <a:t>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5" dirty="0">
                <a:solidFill>
                  <a:srgbClr val="0000FF"/>
                </a:solidFill>
                <a:latin typeface="LM Sans 10"/>
                <a:cs typeface="LM Sans 10"/>
              </a:rPr>
              <a:t>j</a:t>
            </a:r>
            <a:r>
              <a:rPr sz="1100" i="1" spc="-270" dirty="0">
                <a:solidFill>
                  <a:srgbClr val="0000FF"/>
                </a:solidFill>
                <a:latin typeface="LM Sans 10"/>
                <a:cs typeface="LM Sans 10"/>
              </a:rPr>
              <a:t> </a:t>
            </a:r>
            <a:r>
              <a:rPr sz="1100" spc="-5" dirty="0">
                <a:solidFill>
                  <a:srgbClr val="0000FF"/>
                </a:solidFill>
                <a:latin typeface="LM Sans 10"/>
                <a:cs typeface="LM Sans 10"/>
              </a:rPr>
              <a:t>],</a:t>
            </a:r>
            <a:r>
              <a:rPr sz="1100" spc="-10" dirty="0">
                <a:solidFill>
                  <a:srgbClr val="0000FF"/>
                </a:solidFill>
                <a:latin typeface="LM Sans 10"/>
                <a:cs typeface="LM Sans 10"/>
              </a:rPr>
              <a:t> </a:t>
            </a:r>
            <a:r>
              <a:rPr sz="1100" spc="-5" dirty="0">
                <a:solidFill>
                  <a:srgbClr val="0000FF"/>
                </a:solidFill>
                <a:latin typeface="LM Sans 10"/>
                <a:cs typeface="LM Sans 10"/>
              </a:rPr>
              <a:t>the values</a:t>
            </a:r>
            <a:r>
              <a:rPr sz="1100" spc="-10" dirty="0">
                <a:solidFill>
                  <a:srgbClr val="0000FF"/>
                </a:solidFill>
                <a:latin typeface="LM Sans 10"/>
                <a:cs typeface="LM Sans 10"/>
              </a:rPr>
              <a:t> </a:t>
            </a:r>
            <a:r>
              <a:rPr sz="1100" spc="-5" dirty="0">
                <a:solidFill>
                  <a:srgbClr val="0000FF"/>
                </a:solidFill>
                <a:latin typeface="LM Sans 10"/>
                <a:cs typeface="LM Sans 10"/>
              </a:rPr>
              <a:t>of</a:t>
            </a:r>
            <a:r>
              <a:rPr sz="1100" dirty="0">
                <a:solidFill>
                  <a:srgbClr val="0000FF"/>
                </a:solidFill>
                <a:latin typeface="LM Sans 10"/>
                <a:cs typeface="LM Sans 10"/>
              </a:rPr>
              <a:t> </a:t>
            </a:r>
            <a:r>
              <a:rPr sz="1100" i="1" spc="25" dirty="0">
                <a:solidFill>
                  <a:srgbClr val="0000FF"/>
                </a:solidFill>
                <a:latin typeface="LM Sans 10"/>
                <a:cs typeface="LM Sans 10"/>
              </a:rPr>
              <a:t>m</a:t>
            </a:r>
            <a:r>
              <a:rPr sz="1100" spc="25" dirty="0">
                <a:solidFill>
                  <a:srgbClr val="0000FF"/>
                </a:solidFill>
                <a:latin typeface="LM Sans 10"/>
                <a:cs typeface="LM Sans 10"/>
              </a:rPr>
              <a:t>[</a:t>
            </a:r>
            <a:r>
              <a:rPr sz="1100" i="1" spc="25" dirty="0">
                <a:solidFill>
                  <a:srgbClr val="0000FF"/>
                </a:solidFill>
                <a:latin typeface="LM Sans 10"/>
                <a:cs typeface="LM Sans 10"/>
              </a:rPr>
              <a:t>i</a:t>
            </a:r>
            <a:r>
              <a:rPr sz="1100" i="1" spc="2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40" dirty="0">
                <a:solidFill>
                  <a:srgbClr val="0000FF"/>
                </a:solidFill>
                <a:latin typeface="LM Sans 10"/>
                <a:cs typeface="LM Sans 10"/>
              </a:rPr>
              <a:t>k</a:t>
            </a:r>
            <a:r>
              <a:rPr sz="1100" spc="40" dirty="0">
                <a:solidFill>
                  <a:srgbClr val="0000FF"/>
                </a:solidFill>
                <a:latin typeface="LM Sans 10"/>
                <a:cs typeface="LM Sans 10"/>
              </a:rPr>
              <a:t>]</a:t>
            </a:r>
            <a:r>
              <a:rPr sz="1100" spc="-10" dirty="0">
                <a:solidFill>
                  <a:srgbClr val="0000FF"/>
                </a:solidFill>
                <a:latin typeface="LM Sans 10"/>
                <a:cs typeface="LM Sans 10"/>
              </a:rPr>
              <a:t> and</a:t>
            </a:r>
            <a:r>
              <a:rPr sz="1100" spc="-5"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a:t>
            </a:r>
            <a:r>
              <a:rPr sz="1100" i="1" spc="-5" dirty="0">
                <a:solidFill>
                  <a:srgbClr val="0000FF"/>
                </a:solidFill>
                <a:latin typeface="LM Sans 10"/>
                <a:cs typeface="LM Sans 10"/>
              </a:rPr>
              <a:t>k</a:t>
            </a:r>
            <a:r>
              <a:rPr sz="1100" i="1" spc="-3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i="1" spc="-5" dirty="0">
                <a:solidFill>
                  <a:srgbClr val="0000FF"/>
                </a:solidFill>
                <a:latin typeface="LM Sans 10"/>
                <a:cs typeface="LM Sans 10"/>
              </a:rPr>
              <a:t>j</a:t>
            </a:r>
            <a:r>
              <a:rPr sz="1100" i="1" spc="-270" dirty="0">
                <a:solidFill>
                  <a:srgbClr val="0000FF"/>
                </a:solidFill>
                <a:latin typeface="LM Sans 10"/>
                <a:cs typeface="LM Sans 10"/>
              </a:rPr>
              <a:t> </a:t>
            </a:r>
            <a:r>
              <a:rPr sz="1100" spc="-5" dirty="0">
                <a:solidFill>
                  <a:srgbClr val="0000FF"/>
                </a:solidFill>
                <a:latin typeface="LM Sans 10"/>
                <a:cs typeface="LM Sans 10"/>
              </a:rPr>
              <a:t>]</a:t>
            </a:r>
            <a:r>
              <a:rPr sz="1100" spc="-10" dirty="0">
                <a:solidFill>
                  <a:srgbClr val="0000FF"/>
                </a:solidFill>
                <a:latin typeface="LM Sans 10"/>
                <a:cs typeface="LM Sans 10"/>
              </a:rPr>
              <a:t> </a:t>
            </a:r>
            <a:r>
              <a:rPr sz="1100" spc="-15" dirty="0">
                <a:solidFill>
                  <a:srgbClr val="0000FF"/>
                </a:solidFill>
                <a:latin typeface="LM Sans 10"/>
                <a:cs typeface="LM Sans 10"/>
              </a:rPr>
              <a:t>for</a:t>
            </a:r>
            <a:r>
              <a:rPr sz="1100" spc="-5" dirty="0">
                <a:solidFill>
                  <a:srgbClr val="0000FF"/>
                </a:solidFill>
                <a:latin typeface="LM Sans 10"/>
                <a:cs typeface="LM Sans 10"/>
              </a:rPr>
              <a:t> all </a:t>
            </a:r>
            <a:r>
              <a:rPr sz="1100" i="1" spc="-10" dirty="0">
                <a:solidFill>
                  <a:srgbClr val="0000FF"/>
                </a:solidFill>
                <a:latin typeface="LM Sans 10"/>
                <a:cs typeface="LM Sans 10"/>
              </a:rPr>
              <a:t>k</a:t>
            </a:r>
            <a:r>
              <a:rPr sz="1100" i="1" spc="80" dirty="0">
                <a:solidFill>
                  <a:srgbClr val="0000FF"/>
                </a:solidFill>
                <a:latin typeface="LM Sans 10"/>
                <a:cs typeface="LM Sans 10"/>
              </a:rPr>
              <a:t> </a:t>
            </a:r>
            <a:r>
              <a:rPr sz="1100" spc="-15" dirty="0">
                <a:solidFill>
                  <a:srgbClr val="0000FF"/>
                </a:solidFill>
                <a:latin typeface="LM Sans 10"/>
                <a:cs typeface="LM Sans 10"/>
              </a:rPr>
              <a:t>are  </a:t>
            </a:r>
            <a:r>
              <a:rPr sz="1100" spc="-5" dirty="0">
                <a:solidFill>
                  <a:srgbClr val="0000FF"/>
                </a:solidFill>
                <a:latin typeface="LM Sans 10"/>
                <a:cs typeface="LM Sans 10"/>
              </a:rPr>
              <a:t>already</a:t>
            </a:r>
            <a:r>
              <a:rPr sz="1100" spc="-10" dirty="0">
                <a:solidFill>
                  <a:srgbClr val="0000FF"/>
                </a:solidFill>
                <a:latin typeface="LM Sans 10"/>
                <a:cs typeface="LM Sans 10"/>
              </a:rPr>
              <a:t> </a:t>
            </a:r>
            <a:r>
              <a:rPr sz="1100" spc="-5" dirty="0">
                <a:solidFill>
                  <a:srgbClr val="0000FF"/>
                </a:solidFill>
                <a:latin typeface="LM Sans 10"/>
                <a:cs typeface="LM Sans 10"/>
              </a:rPr>
              <a:t>available.</a:t>
            </a:r>
            <a:endParaRPr sz="1100">
              <a:latin typeface="LM Sans 10"/>
              <a:cs typeface="LM Sans 10"/>
            </a:endParaRPr>
          </a:p>
          <a:p>
            <a:pPr marL="38100" marR="81915">
              <a:lnSpc>
                <a:spcPct val="102600"/>
              </a:lnSpc>
              <a:spcBef>
                <a:spcPts val="285"/>
              </a:spcBef>
            </a:pPr>
            <a:r>
              <a:rPr sz="1100" spc="-10" dirty="0">
                <a:latin typeface="LM Sans 10"/>
                <a:cs typeface="LM Sans 10"/>
              </a:rPr>
              <a:t>An </a:t>
            </a:r>
            <a:r>
              <a:rPr sz="1100" spc="-5" dirty="0">
                <a:latin typeface="LM Sans 10"/>
                <a:cs typeface="LM Sans 10"/>
              </a:rPr>
              <a:t>easy </a:t>
            </a:r>
            <a:r>
              <a:rPr sz="1100" spc="-30" dirty="0">
                <a:latin typeface="LM Sans 10"/>
                <a:cs typeface="LM Sans 10"/>
              </a:rPr>
              <a:t>way </a:t>
            </a:r>
            <a:r>
              <a:rPr sz="1100" spc="-5" dirty="0">
                <a:latin typeface="LM Sans 10"/>
                <a:cs typeface="LM Sans 10"/>
              </a:rPr>
              <a:t>to ensure this </a:t>
            </a:r>
            <a:r>
              <a:rPr sz="1100" spc="-10" dirty="0">
                <a:latin typeface="LM Sans 10"/>
                <a:cs typeface="LM Sans 10"/>
              </a:rPr>
              <a:t>is </a:t>
            </a:r>
            <a:r>
              <a:rPr sz="1100" spc="-5" dirty="0">
                <a:latin typeface="LM Sans 10"/>
                <a:cs typeface="LM Sans 10"/>
              </a:rPr>
              <a:t>to compute </a:t>
            </a:r>
            <a:r>
              <a:rPr sz="1100" spc="-10" dirty="0">
                <a:latin typeface="LM Sans 10"/>
                <a:cs typeface="LM Sans 10"/>
              </a:rPr>
              <a:t>them </a:t>
            </a:r>
            <a:r>
              <a:rPr sz="1100" spc="-5" dirty="0">
                <a:latin typeface="LM Sans 10"/>
                <a:cs typeface="LM Sans 10"/>
              </a:rPr>
              <a:t>in increasing </a:t>
            </a:r>
            <a:r>
              <a:rPr sz="1100" spc="-15" dirty="0">
                <a:latin typeface="LM Sans 10"/>
                <a:cs typeface="LM Sans 10"/>
              </a:rPr>
              <a:t>order  </a:t>
            </a:r>
            <a:r>
              <a:rPr sz="1100" spc="-5" dirty="0">
                <a:latin typeface="LM Sans 10"/>
                <a:cs typeface="LM Sans 10"/>
              </a:rPr>
              <a:t>of</a:t>
            </a:r>
            <a:r>
              <a:rPr sz="1100" spc="-10" dirty="0">
                <a:latin typeface="LM Sans 10"/>
                <a:cs typeface="LM Sans 10"/>
              </a:rPr>
              <a:t> </a:t>
            </a:r>
            <a:r>
              <a:rPr sz="1100" spc="-5" dirty="0">
                <a:latin typeface="LM Sans 10"/>
                <a:cs typeface="LM Sans 10"/>
              </a:rPr>
              <a:t>the size (</a:t>
            </a:r>
            <a:r>
              <a:rPr sz="1100" i="1" spc="-5" dirty="0">
                <a:latin typeface="LM Sans 10"/>
                <a:cs typeface="LM Sans 10"/>
              </a:rPr>
              <a:t>j</a:t>
            </a:r>
            <a:r>
              <a:rPr sz="1100" i="1" spc="-30" dirty="0">
                <a:latin typeface="LM Sans 10"/>
                <a:cs typeface="LM Sans 10"/>
              </a:rPr>
              <a:t> </a:t>
            </a:r>
            <a:r>
              <a:rPr sz="1100" i="1" spc="15" dirty="0">
                <a:latin typeface="DejaVu Sans Condensed"/>
                <a:cs typeface="DejaVu Sans Condensed"/>
              </a:rPr>
              <a:t>−</a:t>
            </a:r>
            <a:r>
              <a:rPr sz="1100" i="1" spc="-75" dirty="0">
                <a:latin typeface="DejaVu Sans Condensed"/>
                <a:cs typeface="DejaVu Sans Condensed"/>
              </a:rPr>
              <a:t> </a:t>
            </a:r>
            <a:r>
              <a:rPr sz="1100" i="1" spc="-5" dirty="0">
                <a:latin typeface="LM Sans 10"/>
                <a:cs typeface="LM Sans 10"/>
              </a:rPr>
              <a:t>i</a:t>
            </a:r>
            <a:r>
              <a:rPr sz="1100" i="1" spc="-260" dirty="0">
                <a:latin typeface="LM Sans 10"/>
                <a:cs typeface="LM Sans 10"/>
              </a:rPr>
              <a:t> </a:t>
            </a:r>
            <a:r>
              <a:rPr sz="1100" spc="-5" dirty="0">
                <a:latin typeface="LM Sans 10"/>
                <a:cs typeface="LM Sans 10"/>
              </a:rPr>
              <a:t>) of</a:t>
            </a:r>
            <a:r>
              <a:rPr sz="1100" spc="-10" dirty="0">
                <a:latin typeface="LM Sans 10"/>
                <a:cs typeface="LM Sans 10"/>
              </a:rPr>
              <a:t> </a:t>
            </a:r>
            <a:r>
              <a:rPr sz="1100" spc="-5" dirty="0">
                <a:latin typeface="LM Sans 10"/>
                <a:cs typeface="LM Sans 10"/>
              </a:rPr>
              <a:t>the matrix-chain</a:t>
            </a:r>
            <a:r>
              <a:rPr sz="1100" dirty="0">
                <a:latin typeface="LM Sans 10"/>
                <a:cs typeface="LM Sans 10"/>
              </a:rPr>
              <a:t> </a:t>
            </a:r>
            <a:r>
              <a:rPr sz="1100" i="1" spc="10" dirty="0">
                <a:latin typeface="LM Sans 10"/>
                <a:cs typeface="LM Sans 10"/>
              </a:rPr>
              <a:t>A</a:t>
            </a:r>
            <a:r>
              <a:rPr sz="1200" i="1" spc="15" baseline="-10416" dirty="0">
                <a:latin typeface="LM Sans 8"/>
                <a:cs typeface="LM Sans 8"/>
              </a:rPr>
              <a:t>i..j</a:t>
            </a:r>
            <a:r>
              <a:rPr sz="1200" i="1" spc="-240" baseline="-10416" dirty="0">
                <a:latin typeface="LM Sans 8"/>
                <a:cs typeface="LM Sans 8"/>
              </a:rPr>
              <a:t> </a:t>
            </a:r>
            <a:r>
              <a:rPr sz="1100" spc="-5" dirty="0">
                <a:latin typeface="LM Sans 10"/>
                <a:cs typeface="LM Sans 10"/>
              </a:rPr>
              <a:t>:</a:t>
            </a:r>
            <a:endParaRPr sz="1100">
              <a:latin typeface="LM Sans 10"/>
              <a:cs typeface="LM Sans 10"/>
            </a:endParaRPr>
          </a:p>
          <a:p>
            <a:pPr marL="38100">
              <a:lnSpc>
                <a:spcPct val="100000"/>
              </a:lnSpc>
              <a:spcBef>
                <a:spcPts val="545"/>
              </a:spcBef>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spc="-165"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0"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p:txBody>
      </p:sp>
      <p:sp>
        <p:nvSpPr>
          <p:cNvPr id="12" name="TextBox 11"/>
          <p:cNvSpPr txBox="1"/>
          <p:nvPr/>
        </p:nvSpPr>
        <p:spPr>
          <a:xfrm>
            <a:off x="2818066" y="2731353"/>
            <a:ext cx="1242007"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Set of 2 Matrices</a:t>
            </a: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4" name="object 1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cxnSp>
        <p:nvCxnSpPr>
          <p:cNvPr id="17" name="Straight Arrow Connector 16"/>
          <p:cNvCxnSpPr>
            <a:stCxn id="12" idx="1"/>
            <a:endCxn id="7" idx="2"/>
          </p:cNvCxnSpPr>
          <p:nvPr/>
        </p:nvCxnSpPr>
        <p:spPr>
          <a:xfrm flipH="1" flipV="1">
            <a:off x="2304046" y="2519299"/>
            <a:ext cx="514020" cy="3505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transition>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4106583"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000925" y="494639"/>
            <a:ext cx="490220"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a:t>
            </a:r>
            <a:r>
              <a:rPr sz="1100" spc="-60" dirty="0">
                <a:latin typeface="LM Sans 10"/>
                <a:cs typeface="LM Sans 10"/>
              </a:rPr>
              <a:t> </a:t>
            </a:r>
            <a:r>
              <a:rPr sz="1100" spc="-5" dirty="0">
                <a:latin typeface="LM Sans 10"/>
                <a:cs typeface="LM Sans 10"/>
              </a:rPr>
              <a:t>3:</a:t>
            </a:r>
            <a:endParaRPr sz="1100">
              <a:latin typeface="LM Sans 10"/>
              <a:cs typeface="LM Sans 10"/>
            </a:endParaRPr>
          </a:p>
        </p:txBody>
      </p:sp>
      <p:sp>
        <p:nvSpPr>
          <p:cNvPr id="4" name="object 4"/>
          <p:cNvSpPr txBox="1"/>
          <p:nvPr/>
        </p:nvSpPr>
        <p:spPr>
          <a:xfrm>
            <a:off x="1537119" y="486943"/>
            <a:ext cx="2070100" cy="214629"/>
          </a:xfrm>
          <a:prstGeom prst="rect">
            <a:avLst/>
          </a:prstGeom>
          <a:solidFill>
            <a:srgbClr val="FFF200"/>
          </a:solidFill>
        </p:spPr>
        <p:txBody>
          <a:bodyPr vert="horz" wrap="square" lIns="0" tIns="1905" rIns="0" bIns="0" rtlCol="0">
            <a:spAutoFit/>
          </a:bodyPr>
          <a:lstStyle/>
          <a:p>
            <a:pPr marL="37465">
              <a:lnSpc>
                <a:spcPct val="100000"/>
              </a:lnSpc>
              <a:spcBef>
                <a:spcPts val="15"/>
              </a:spcBef>
            </a:pPr>
            <a:r>
              <a:rPr sz="1100" spc="-5" dirty="0">
                <a:latin typeface="LM Sans 10"/>
                <a:cs typeface="LM Sans 10"/>
              </a:rPr>
              <a:t>Bottom-up</a:t>
            </a:r>
            <a:r>
              <a:rPr sz="1100" spc="-25" dirty="0">
                <a:latin typeface="LM Sans 10"/>
                <a:cs typeface="LM Sans 10"/>
              </a:rPr>
              <a:t> </a:t>
            </a:r>
            <a:r>
              <a:rPr sz="1100" spc="-5" dirty="0">
                <a:latin typeface="LM Sans 10"/>
                <a:cs typeface="LM Sans 10"/>
              </a:rPr>
              <a:t>computation</a:t>
            </a:r>
            <a:r>
              <a:rPr sz="1100" spc="-25" dirty="0">
                <a:latin typeface="LM Sans 10"/>
                <a:cs typeface="LM Sans 10"/>
              </a:rPr>
              <a:t> </a:t>
            </a:r>
            <a:r>
              <a:rPr sz="1100" spc="-5" dirty="0">
                <a:latin typeface="LM Sans 10"/>
                <a:cs typeface="LM Sans 10"/>
              </a:rPr>
              <a:t>of</a:t>
            </a:r>
            <a:r>
              <a:rPr sz="1100" spc="-30" dirty="0">
                <a:latin typeface="LM Sans 10"/>
                <a:cs typeface="LM Sans 10"/>
              </a:rPr>
              <a:t> </a:t>
            </a: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endParaRPr sz="1100">
              <a:latin typeface="LM Sans 10"/>
              <a:cs typeface="LM Sans 10"/>
            </a:endParaRPr>
          </a:p>
        </p:txBody>
      </p:sp>
      <p:sp>
        <p:nvSpPr>
          <p:cNvPr id="5" name="object 5"/>
          <p:cNvSpPr txBox="1"/>
          <p:nvPr/>
        </p:nvSpPr>
        <p:spPr>
          <a:xfrm>
            <a:off x="347294" y="790865"/>
            <a:ext cx="69977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Recurrence:</a:t>
            </a:r>
            <a:endParaRPr sz="1100">
              <a:latin typeface="LM Sans 10"/>
              <a:cs typeface="LM Sans 10"/>
            </a:endParaRPr>
          </a:p>
        </p:txBody>
      </p:sp>
      <p:sp>
        <p:nvSpPr>
          <p:cNvPr id="6" name="object 6"/>
          <p:cNvSpPr txBox="1"/>
          <p:nvPr/>
        </p:nvSpPr>
        <p:spPr>
          <a:xfrm>
            <a:off x="859040" y="1091500"/>
            <a:ext cx="2889885" cy="278130"/>
          </a:xfrm>
          <a:prstGeom prst="rect">
            <a:avLst/>
          </a:prstGeom>
        </p:spPr>
        <p:txBody>
          <a:bodyPr vert="horz" wrap="square" lIns="0" tIns="11430" rIns="0" bIns="0" rtlCol="0">
            <a:spAutoFit/>
          </a:bodyPr>
          <a:lstStyle/>
          <a:p>
            <a:pPr marL="38100">
              <a:lnSpc>
                <a:spcPts val="1180"/>
              </a:lnSpc>
              <a:spcBef>
                <a:spcPts val="90"/>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270" dirty="0">
                <a:latin typeface="LM Sans 10"/>
                <a:cs typeface="LM Sans 10"/>
              </a:rPr>
              <a:t> </a:t>
            </a:r>
            <a:r>
              <a:rPr sz="1100" spc="-10" dirty="0">
                <a:latin typeface="LM Sans 10"/>
                <a:cs typeface="LM Sans 10"/>
              </a:rPr>
              <a:t>min</a:t>
            </a:r>
            <a:r>
              <a:rPr sz="1100" spc="150" dirty="0">
                <a:latin typeface="LM Sans 10"/>
                <a:cs typeface="LM Sans 10"/>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7" baseline="-10416" dirty="0">
                <a:latin typeface="LM Sans 8"/>
                <a:cs typeface="LM Sans 8"/>
              </a:rPr>
              <a:t> </a:t>
            </a:r>
            <a:r>
              <a:rPr sz="1100" spc="-5" dirty="0">
                <a:latin typeface="LM Sans 10"/>
                <a:cs typeface="LM Sans 10"/>
              </a:rPr>
              <a:t>)</a:t>
            </a:r>
            <a:endParaRPr sz="1100">
              <a:latin typeface="LM Sans 10"/>
              <a:cs typeface="LM Sans 10"/>
            </a:endParaRPr>
          </a:p>
          <a:p>
            <a:pPr marL="572770">
              <a:lnSpc>
                <a:spcPts val="819"/>
              </a:lnSpc>
            </a:pPr>
            <a:r>
              <a:rPr sz="800" i="1" spc="-5" dirty="0">
                <a:latin typeface="LM Sans 8"/>
                <a:cs typeface="LM Sans 8"/>
              </a:rPr>
              <a:t>i</a:t>
            </a:r>
            <a:endParaRPr sz="800">
              <a:latin typeface="LM Sans 8"/>
              <a:cs typeface="LM Sans 8"/>
            </a:endParaRPr>
          </a:p>
        </p:txBody>
      </p:sp>
      <p:sp>
        <p:nvSpPr>
          <p:cNvPr id="7" name="object 7"/>
          <p:cNvSpPr txBox="1">
            <a:spLocks noGrp="1"/>
          </p:cNvSpPr>
          <p:nvPr>
            <p:ph type="body" idx="1"/>
          </p:nvPr>
        </p:nvSpPr>
        <p:spPr>
          <a:prstGeom prst="rect">
            <a:avLst/>
          </a:prstGeom>
        </p:spPr>
        <p:txBody>
          <a:bodyPr vert="horz" wrap="square" lIns="0" tIns="39370" rIns="0" bIns="0" rtlCol="0">
            <a:spAutoFit/>
          </a:bodyPr>
          <a:lstStyle/>
          <a:p>
            <a:pPr marL="1145540">
              <a:lnSpc>
                <a:spcPct val="100000"/>
              </a:lnSpc>
              <a:spcBef>
                <a:spcPts val="310"/>
              </a:spcBef>
            </a:pPr>
            <a:r>
              <a:rPr spc="65" dirty="0">
                <a:latin typeface="Arial"/>
                <a:cs typeface="Arial"/>
              </a:rPr>
              <a:t>≤</a:t>
            </a:r>
            <a:r>
              <a:rPr spc="65" dirty="0"/>
              <a:t>k&lt;j</a:t>
            </a:r>
          </a:p>
          <a:p>
            <a:pPr marL="38100" marR="68580">
              <a:lnSpc>
                <a:spcPct val="102600"/>
              </a:lnSpc>
              <a:spcBef>
                <a:spcPts val="254"/>
              </a:spcBef>
            </a:pPr>
            <a:r>
              <a:rPr sz="1100" i="0" spc="-5" dirty="0">
                <a:solidFill>
                  <a:srgbClr val="0000FF"/>
                </a:solidFill>
                <a:latin typeface="LM Sans 10"/>
                <a:cs typeface="LM Sans 10"/>
              </a:rPr>
              <a:t>Fill in the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 </a:t>
            </a:r>
            <a:r>
              <a:rPr sz="1100" spc="-5" dirty="0">
                <a:solidFill>
                  <a:srgbClr val="0000FF"/>
                </a:solidFill>
                <a:latin typeface="LM Sans 10"/>
                <a:cs typeface="LM Sans 10"/>
              </a:rPr>
              <a:t>j </a:t>
            </a:r>
            <a:r>
              <a:rPr sz="1100" i="0" spc="-5" dirty="0">
                <a:solidFill>
                  <a:srgbClr val="0000FF"/>
                </a:solidFill>
                <a:latin typeface="LM Sans 10"/>
                <a:cs typeface="LM Sans 10"/>
              </a:rPr>
              <a:t>] table in </a:t>
            </a:r>
            <a:r>
              <a:rPr sz="1100" i="0" spc="-10" dirty="0">
                <a:solidFill>
                  <a:srgbClr val="0000FF"/>
                </a:solidFill>
                <a:latin typeface="LM Sans 10"/>
                <a:cs typeface="LM Sans 10"/>
              </a:rPr>
              <a:t>an </a:t>
            </a:r>
            <a:r>
              <a:rPr sz="1100" i="0" spc="-15" dirty="0">
                <a:solidFill>
                  <a:srgbClr val="0000FF"/>
                </a:solidFill>
                <a:latin typeface="LM Sans 10"/>
                <a:cs typeface="LM Sans 10"/>
              </a:rPr>
              <a:t>order, </a:t>
            </a:r>
            <a:r>
              <a:rPr sz="1100" i="0" spc="-5" dirty="0">
                <a:solidFill>
                  <a:srgbClr val="0000FF"/>
                </a:solidFill>
                <a:latin typeface="LM Sans 10"/>
                <a:cs typeface="LM Sans 10"/>
              </a:rPr>
              <a:t>such that </a:t>
            </a:r>
            <a:r>
              <a:rPr sz="1100" i="0" spc="-10" dirty="0">
                <a:solidFill>
                  <a:srgbClr val="0000FF"/>
                </a:solidFill>
                <a:latin typeface="LM Sans 10"/>
                <a:cs typeface="LM Sans 10"/>
              </a:rPr>
              <a:t>when </a:t>
            </a:r>
            <a:r>
              <a:rPr sz="1100" i="0" spc="-5" dirty="0">
                <a:solidFill>
                  <a:srgbClr val="0000FF"/>
                </a:solidFill>
                <a:latin typeface="LM Sans 10"/>
                <a:cs typeface="LM Sans 10"/>
              </a:rPr>
              <a:t>it is time to  calculate</a:t>
            </a:r>
            <a:r>
              <a:rPr sz="1100" i="0" spc="-10" dirty="0">
                <a:solidFill>
                  <a:srgbClr val="0000FF"/>
                </a:solidFill>
                <a:latin typeface="LM Sans 10"/>
                <a:cs typeface="LM Sans 10"/>
              </a:rPr>
              <a:t>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5" dirty="0">
                <a:solidFill>
                  <a:srgbClr val="0000FF"/>
                </a:solidFill>
                <a:latin typeface="LM Sans 10"/>
                <a:cs typeface="LM Sans 10"/>
              </a:rPr>
              <a:t>j</a:t>
            </a:r>
            <a:r>
              <a:rPr sz="1100" spc="-270" dirty="0">
                <a:solidFill>
                  <a:srgbClr val="0000FF"/>
                </a:solidFill>
                <a:latin typeface="LM Sans 10"/>
                <a:cs typeface="LM Sans 10"/>
              </a:rPr>
              <a:t> </a:t>
            </a:r>
            <a:r>
              <a:rPr sz="1100" i="0" spc="-5" dirty="0">
                <a:solidFill>
                  <a:srgbClr val="0000FF"/>
                </a:solidFill>
                <a:latin typeface="LM Sans 10"/>
                <a:cs typeface="LM Sans 10"/>
              </a:rPr>
              <a:t>],</a:t>
            </a:r>
            <a:r>
              <a:rPr sz="1100" i="0" spc="-10" dirty="0">
                <a:solidFill>
                  <a:srgbClr val="0000FF"/>
                </a:solidFill>
                <a:latin typeface="LM Sans 10"/>
                <a:cs typeface="LM Sans 10"/>
              </a:rPr>
              <a:t> </a:t>
            </a:r>
            <a:r>
              <a:rPr sz="1100" i="0" spc="-5" dirty="0">
                <a:solidFill>
                  <a:srgbClr val="0000FF"/>
                </a:solidFill>
                <a:latin typeface="LM Sans 10"/>
                <a:cs typeface="LM Sans 10"/>
              </a:rPr>
              <a:t>the values</a:t>
            </a:r>
            <a:r>
              <a:rPr sz="1100" i="0" spc="-10" dirty="0">
                <a:solidFill>
                  <a:srgbClr val="0000FF"/>
                </a:solidFill>
                <a:latin typeface="LM Sans 10"/>
                <a:cs typeface="LM Sans 10"/>
              </a:rPr>
              <a:t> </a:t>
            </a:r>
            <a:r>
              <a:rPr sz="1100" i="0" spc="-5" dirty="0">
                <a:solidFill>
                  <a:srgbClr val="0000FF"/>
                </a:solidFill>
                <a:latin typeface="LM Sans 10"/>
                <a:cs typeface="LM Sans 10"/>
              </a:rPr>
              <a:t>of</a:t>
            </a:r>
            <a:r>
              <a:rPr sz="1100" i="0" dirty="0">
                <a:solidFill>
                  <a:srgbClr val="0000FF"/>
                </a:solidFill>
                <a:latin typeface="LM Sans 10"/>
                <a:cs typeface="LM Sans 10"/>
              </a:rPr>
              <a:t>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40" dirty="0">
                <a:solidFill>
                  <a:srgbClr val="0000FF"/>
                </a:solidFill>
                <a:latin typeface="LM Sans 10"/>
                <a:cs typeface="LM Sans 10"/>
              </a:rPr>
              <a:t>k</a:t>
            </a:r>
            <a:r>
              <a:rPr sz="1100" i="0" spc="40" dirty="0">
                <a:solidFill>
                  <a:srgbClr val="0000FF"/>
                </a:solidFill>
                <a:latin typeface="LM Sans 10"/>
                <a:cs typeface="LM Sans 10"/>
              </a:rPr>
              <a:t>]</a:t>
            </a:r>
            <a:r>
              <a:rPr sz="1100" i="0" spc="-10" dirty="0">
                <a:solidFill>
                  <a:srgbClr val="0000FF"/>
                </a:solidFill>
                <a:latin typeface="LM Sans 10"/>
                <a:cs typeface="LM Sans 10"/>
              </a:rPr>
              <a:t> and</a:t>
            </a:r>
            <a:r>
              <a:rPr sz="1100" i="0" spc="-5" dirty="0">
                <a:solidFill>
                  <a:srgbClr val="0000FF"/>
                </a:solidFill>
                <a:latin typeface="LM Sans 10"/>
                <a:cs typeface="LM Sans 10"/>
              </a:rPr>
              <a:t> </a:t>
            </a:r>
            <a:r>
              <a:rPr sz="1100" spc="-5" dirty="0">
                <a:solidFill>
                  <a:srgbClr val="0000FF"/>
                </a:solidFill>
                <a:latin typeface="LM Sans 10"/>
                <a:cs typeface="LM Sans 10"/>
              </a:rPr>
              <a:t>m</a:t>
            </a:r>
            <a:r>
              <a:rPr sz="1100" i="0" spc="-5" dirty="0">
                <a:solidFill>
                  <a:srgbClr val="0000FF"/>
                </a:solidFill>
                <a:latin typeface="LM Sans 10"/>
                <a:cs typeface="LM Sans 10"/>
              </a:rPr>
              <a:t>[</a:t>
            </a:r>
            <a:r>
              <a:rPr sz="1100" spc="-5" dirty="0">
                <a:solidFill>
                  <a:srgbClr val="0000FF"/>
                </a:solidFill>
                <a:latin typeface="LM Sans 10"/>
                <a:cs typeface="LM Sans 10"/>
              </a:rPr>
              <a:t>k</a:t>
            </a:r>
            <a:r>
              <a:rPr sz="1100" spc="-35" dirty="0">
                <a:solidFill>
                  <a:srgbClr val="0000FF"/>
                </a:solidFill>
                <a:latin typeface="LM Sans 10"/>
                <a:cs typeface="LM Sans 10"/>
              </a:rPr>
              <a:t> </a:t>
            </a:r>
            <a:r>
              <a:rPr sz="1100" i="0" spc="-10" dirty="0">
                <a:solidFill>
                  <a:srgbClr val="0000FF"/>
                </a:solidFill>
                <a:latin typeface="LM Sans 10"/>
                <a:cs typeface="LM Sans 10"/>
              </a:rPr>
              <a:t>+</a:t>
            </a:r>
            <a:r>
              <a:rPr sz="1100" i="0" spc="-130" dirty="0">
                <a:solidFill>
                  <a:srgbClr val="0000FF"/>
                </a:solidFill>
                <a:latin typeface="LM Sans 10"/>
                <a:cs typeface="LM Sans 10"/>
              </a:rPr>
              <a:t> </a:t>
            </a:r>
            <a:r>
              <a:rPr sz="1100" i="0" spc="-5" dirty="0">
                <a:solidFill>
                  <a:srgbClr val="0000FF"/>
                </a:solidFill>
                <a:latin typeface="LM Sans 10"/>
                <a:cs typeface="LM Sans 10"/>
              </a:rPr>
              <a:t>1</a:t>
            </a:r>
            <a:r>
              <a:rPr sz="1100" spc="-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5" dirty="0">
                <a:solidFill>
                  <a:srgbClr val="0000FF"/>
                </a:solidFill>
                <a:latin typeface="LM Sans 10"/>
                <a:cs typeface="LM Sans 10"/>
              </a:rPr>
              <a:t>j</a:t>
            </a:r>
            <a:r>
              <a:rPr sz="1100" spc="-270" dirty="0">
                <a:solidFill>
                  <a:srgbClr val="0000FF"/>
                </a:solidFill>
                <a:latin typeface="LM Sans 10"/>
                <a:cs typeface="LM Sans 10"/>
              </a:rPr>
              <a:t> </a:t>
            </a:r>
            <a:r>
              <a:rPr sz="1100" i="0" spc="-5" dirty="0">
                <a:solidFill>
                  <a:srgbClr val="0000FF"/>
                </a:solidFill>
                <a:latin typeface="LM Sans 10"/>
                <a:cs typeface="LM Sans 10"/>
              </a:rPr>
              <a:t>]</a:t>
            </a:r>
            <a:r>
              <a:rPr sz="1100" i="0" spc="-10" dirty="0">
                <a:solidFill>
                  <a:srgbClr val="0000FF"/>
                </a:solidFill>
                <a:latin typeface="LM Sans 10"/>
                <a:cs typeface="LM Sans 10"/>
              </a:rPr>
              <a:t> </a:t>
            </a:r>
            <a:r>
              <a:rPr sz="1100" i="0" spc="-15" dirty="0">
                <a:solidFill>
                  <a:srgbClr val="0000FF"/>
                </a:solidFill>
                <a:latin typeface="LM Sans 10"/>
                <a:cs typeface="LM Sans 10"/>
              </a:rPr>
              <a:t>for</a:t>
            </a:r>
            <a:r>
              <a:rPr sz="1100" i="0" spc="-5" dirty="0">
                <a:solidFill>
                  <a:srgbClr val="0000FF"/>
                </a:solidFill>
                <a:latin typeface="LM Sans 10"/>
                <a:cs typeface="LM Sans 10"/>
              </a:rPr>
              <a:t> all </a:t>
            </a:r>
            <a:r>
              <a:rPr sz="1100" spc="-10" dirty="0">
                <a:solidFill>
                  <a:srgbClr val="0000FF"/>
                </a:solidFill>
                <a:latin typeface="LM Sans 10"/>
                <a:cs typeface="LM Sans 10"/>
              </a:rPr>
              <a:t>k</a:t>
            </a:r>
            <a:r>
              <a:rPr sz="1100" spc="80" dirty="0">
                <a:solidFill>
                  <a:srgbClr val="0000FF"/>
                </a:solidFill>
                <a:latin typeface="LM Sans 10"/>
                <a:cs typeface="LM Sans 10"/>
              </a:rPr>
              <a:t> </a:t>
            </a:r>
            <a:r>
              <a:rPr sz="1100" i="0" spc="-15" dirty="0">
                <a:solidFill>
                  <a:srgbClr val="0000FF"/>
                </a:solidFill>
                <a:latin typeface="LM Sans 10"/>
                <a:cs typeface="LM Sans 10"/>
              </a:rPr>
              <a:t>are  </a:t>
            </a:r>
            <a:r>
              <a:rPr sz="1100" i="0" spc="-5" dirty="0">
                <a:solidFill>
                  <a:srgbClr val="0000FF"/>
                </a:solidFill>
                <a:latin typeface="LM Sans 10"/>
                <a:cs typeface="LM Sans 10"/>
              </a:rPr>
              <a:t>already</a:t>
            </a:r>
            <a:r>
              <a:rPr sz="1100" i="0" spc="-10" dirty="0">
                <a:solidFill>
                  <a:srgbClr val="0000FF"/>
                </a:solidFill>
                <a:latin typeface="LM Sans 10"/>
                <a:cs typeface="LM Sans 10"/>
              </a:rPr>
              <a:t> </a:t>
            </a:r>
            <a:r>
              <a:rPr sz="1100" i="0" spc="-5" dirty="0">
                <a:solidFill>
                  <a:srgbClr val="0000FF"/>
                </a:solidFill>
                <a:latin typeface="LM Sans 10"/>
                <a:cs typeface="LM Sans 10"/>
              </a:rPr>
              <a:t>available.</a:t>
            </a:r>
            <a:endParaRPr sz="1100">
              <a:latin typeface="LM Sans 10"/>
              <a:cs typeface="LM Sans 10"/>
            </a:endParaRPr>
          </a:p>
          <a:p>
            <a:pPr marL="38100" marR="30480">
              <a:lnSpc>
                <a:spcPct val="102600"/>
              </a:lnSpc>
              <a:spcBef>
                <a:spcPts val="285"/>
              </a:spcBef>
            </a:pPr>
            <a:r>
              <a:rPr sz="1100" i="0" spc="-10" dirty="0">
                <a:latin typeface="LM Sans 10"/>
                <a:cs typeface="LM Sans 10"/>
              </a:rPr>
              <a:t>An </a:t>
            </a:r>
            <a:r>
              <a:rPr sz="1100" i="0" spc="-5" dirty="0">
                <a:latin typeface="LM Sans 10"/>
                <a:cs typeface="LM Sans 10"/>
              </a:rPr>
              <a:t>easy </a:t>
            </a:r>
            <a:r>
              <a:rPr sz="1100" i="0" spc="-30" dirty="0">
                <a:latin typeface="LM Sans 10"/>
                <a:cs typeface="LM Sans 10"/>
              </a:rPr>
              <a:t>way </a:t>
            </a:r>
            <a:r>
              <a:rPr sz="1100" i="0" spc="-5" dirty="0">
                <a:latin typeface="LM Sans 10"/>
                <a:cs typeface="LM Sans 10"/>
              </a:rPr>
              <a:t>to ensure this </a:t>
            </a:r>
            <a:r>
              <a:rPr sz="1100" i="0" spc="-10" dirty="0">
                <a:latin typeface="LM Sans 10"/>
                <a:cs typeface="LM Sans 10"/>
              </a:rPr>
              <a:t>is </a:t>
            </a:r>
            <a:r>
              <a:rPr sz="1100" i="0" spc="-5" dirty="0">
                <a:latin typeface="LM Sans 10"/>
                <a:cs typeface="LM Sans 10"/>
              </a:rPr>
              <a:t>to compute </a:t>
            </a:r>
            <a:r>
              <a:rPr sz="1100" i="0" spc="-10" dirty="0">
                <a:latin typeface="LM Sans 10"/>
                <a:cs typeface="LM Sans 10"/>
              </a:rPr>
              <a:t>them </a:t>
            </a:r>
            <a:r>
              <a:rPr sz="1100" i="0" spc="-5" dirty="0">
                <a:latin typeface="LM Sans 10"/>
                <a:cs typeface="LM Sans 10"/>
              </a:rPr>
              <a:t>in increasing </a:t>
            </a:r>
            <a:r>
              <a:rPr sz="1100" i="0" spc="-15" dirty="0">
                <a:latin typeface="LM Sans 10"/>
                <a:cs typeface="LM Sans 10"/>
              </a:rPr>
              <a:t>order  </a:t>
            </a:r>
            <a:r>
              <a:rPr sz="1100" i="0" spc="-5" dirty="0">
                <a:latin typeface="LM Sans 10"/>
                <a:cs typeface="LM Sans 10"/>
              </a:rPr>
              <a:t>of</a:t>
            </a:r>
            <a:r>
              <a:rPr sz="1100" i="0" spc="-10" dirty="0">
                <a:latin typeface="LM Sans 10"/>
                <a:cs typeface="LM Sans 10"/>
              </a:rPr>
              <a:t> </a:t>
            </a:r>
            <a:r>
              <a:rPr sz="1100" i="0" spc="-5" dirty="0">
                <a:latin typeface="LM Sans 10"/>
                <a:cs typeface="LM Sans 10"/>
              </a:rPr>
              <a:t>the size (</a:t>
            </a:r>
            <a:r>
              <a:rPr sz="1100" spc="-5" dirty="0">
                <a:latin typeface="LM Sans 10"/>
                <a:cs typeface="LM Sans 10"/>
              </a:rPr>
              <a:t>j</a:t>
            </a:r>
            <a:r>
              <a:rPr sz="1100" spc="-30" dirty="0">
                <a:latin typeface="LM Sans 10"/>
                <a:cs typeface="LM Sans 10"/>
              </a:rPr>
              <a:t> </a:t>
            </a:r>
            <a:r>
              <a:rPr sz="1100" spc="15" dirty="0">
                <a:latin typeface="DejaVu Sans Condensed"/>
                <a:cs typeface="DejaVu Sans Condensed"/>
              </a:rPr>
              <a:t>−</a:t>
            </a:r>
            <a:r>
              <a:rPr sz="1100" spc="-75" dirty="0">
                <a:latin typeface="DejaVu Sans Condensed"/>
                <a:cs typeface="DejaVu Sans Condensed"/>
              </a:rPr>
              <a:t> </a:t>
            </a:r>
            <a:r>
              <a:rPr sz="1100" spc="-5" dirty="0">
                <a:latin typeface="LM Sans 10"/>
                <a:cs typeface="LM Sans 10"/>
              </a:rPr>
              <a:t>i</a:t>
            </a:r>
            <a:r>
              <a:rPr sz="1100" spc="-260" dirty="0">
                <a:latin typeface="LM Sans 10"/>
                <a:cs typeface="LM Sans 10"/>
              </a:rPr>
              <a:t> </a:t>
            </a:r>
            <a:r>
              <a:rPr sz="1100" i="0" spc="-5" dirty="0">
                <a:latin typeface="LM Sans 10"/>
                <a:cs typeface="LM Sans 10"/>
              </a:rPr>
              <a:t>) of</a:t>
            </a:r>
            <a:r>
              <a:rPr sz="1100" i="0" spc="-10" dirty="0">
                <a:latin typeface="LM Sans 10"/>
                <a:cs typeface="LM Sans 10"/>
              </a:rPr>
              <a:t> </a:t>
            </a:r>
            <a:r>
              <a:rPr sz="1100" i="0" spc="-5" dirty="0">
                <a:latin typeface="LM Sans 10"/>
                <a:cs typeface="LM Sans 10"/>
              </a:rPr>
              <a:t>the matrix-chain</a:t>
            </a:r>
            <a:r>
              <a:rPr sz="1100" i="0" dirty="0">
                <a:latin typeface="LM Sans 10"/>
                <a:cs typeface="LM Sans 10"/>
              </a:rPr>
              <a:t> </a:t>
            </a:r>
            <a:r>
              <a:rPr sz="1100" spc="10" dirty="0">
                <a:latin typeface="LM Sans 10"/>
                <a:cs typeface="LM Sans 10"/>
              </a:rPr>
              <a:t>A</a:t>
            </a:r>
            <a:r>
              <a:rPr sz="1200" spc="15" baseline="-10416" dirty="0"/>
              <a:t>i..j</a:t>
            </a:r>
            <a:r>
              <a:rPr sz="1200" spc="-240" baseline="-10416" dirty="0"/>
              <a:t> </a:t>
            </a:r>
            <a:r>
              <a:rPr sz="1100" i="0" spc="-5" dirty="0">
                <a:latin typeface="LM Sans 10"/>
                <a:cs typeface="LM Sans 10"/>
              </a:rPr>
              <a:t>:</a:t>
            </a:r>
            <a:endParaRPr sz="1100">
              <a:latin typeface="LM Sans 10"/>
              <a:cs typeface="LM Sans 10"/>
            </a:endParaRPr>
          </a:p>
        </p:txBody>
      </p:sp>
      <p:sp>
        <p:nvSpPr>
          <p:cNvPr id="8" name="object 8"/>
          <p:cNvSpPr txBox="1"/>
          <p:nvPr/>
        </p:nvSpPr>
        <p:spPr>
          <a:xfrm>
            <a:off x="347294" y="2342050"/>
            <a:ext cx="3913504" cy="329565"/>
          </a:xfrm>
          <a:prstGeom prst="rect">
            <a:avLst/>
          </a:prstGeom>
        </p:spPr>
        <p:txBody>
          <a:bodyPr vert="horz" wrap="square" lIns="0" tIns="12065" rIns="0" bIns="0" rtlCol="0">
            <a:spAutoFit/>
          </a:bodyPr>
          <a:lstStyle/>
          <a:p>
            <a:pPr marL="12700">
              <a:lnSpc>
                <a:spcPts val="1200"/>
              </a:lnSpc>
              <a:spcBef>
                <a:spcPts val="95"/>
              </a:spcBef>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spc="-165"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200"/>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5]</a:t>
            </a:r>
            <a:r>
              <a:rPr sz="1000" i="1" spc="-5" dirty="0">
                <a:solidFill>
                  <a:srgbClr val="FF0000"/>
                </a:solidFill>
                <a:latin typeface="LM Roman Dunhill 10"/>
                <a:cs typeface="LM Roman Dunhill 10"/>
              </a:rPr>
              <a:t>, .</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p:txBody>
      </p:sp>
      <p:grpSp>
        <p:nvGrpSpPr>
          <p:cNvPr id="9" name="object 9"/>
          <p:cNvGrpSpPr/>
          <p:nvPr/>
        </p:nvGrpSpPr>
        <p:grpSpPr>
          <a:xfrm>
            <a:off x="0" y="3342919"/>
            <a:ext cx="4608195" cy="113664"/>
            <a:chOff x="0" y="3342919"/>
            <a:chExt cx="4608195" cy="113664"/>
          </a:xfrm>
        </p:grpSpPr>
        <p:sp>
          <p:nvSpPr>
            <p:cNvPr id="10" name="object 10"/>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1" name="object 11"/>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2" name="object 12"/>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4" name="object 14"/>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5" name="object 15"/>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
        <p:nvSpPr>
          <p:cNvPr id="16" name="TextBox 15"/>
          <p:cNvSpPr txBox="1"/>
          <p:nvPr/>
        </p:nvSpPr>
        <p:spPr>
          <a:xfrm>
            <a:off x="2846641" y="2874957"/>
            <a:ext cx="1242007"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Set of 3 Matrices</a:t>
            </a:r>
          </a:p>
        </p:txBody>
      </p:sp>
      <p:cxnSp>
        <p:nvCxnSpPr>
          <p:cNvPr id="17" name="Straight Arrow Connector 16"/>
          <p:cNvCxnSpPr>
            <a:stCxn id="16" idx="1"/>
          </p:cNvCxnSpPr>
          <p:nvPr/>
        </p:nvCxnSpPr>
        <p:spPr>
          <a:xfrm flipH="1" flipV="1">
            <a:off x="2332621" y="2662903"/>
            <a:ext cx="514020" cy="3505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92486"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000925" y="494639"/>
            <a:ext cx="490220"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a:t>
            </a:r>
            <a:r>
              <a:rPr sz="1100" spc="-60" dirty="0">
                <a:latin typeface="LM Sans 10"/>
                <a:cs typeface="LM Sans 10"/>
              </a:rPr>
              <a:t> </a:t>
            </a:r>
            <a:r>
              <a:rPr sz="1100" spc="-5" dirty="0">
                <a:latin typeface="LM Sans 10"/>
                <a:cs typeface="LM Sans 10"/>
              </a:rPr>
              <a:t>3:</a:t>
            </a:r>
            <a:endParaRPr sz="1100">
              <a:latin typeface="LM Sans 10"/>
              <a:cs typeface="LM Sans 10"/>
            </a:endParaRPr>
          </a:p>
        </p:txBody>
      </p:sp>
      <p:sp>
        <p:nvSpPr>
          <p:cNvPr id="4" name="object 4"/>
          <p:cNvSpPr txBox="1"/>
          <p:nvPr/>
        </p:nvSpPr>
        <p:spPr>
          <a:xfrm>
            <a:off x="1537119" y="486943"/>
            <a:ext cx="2070100" cy="214629"/>
          </a:xfrm>
          <a:prstGeom prst="rect">
            <a:avLst/>
          </a:prstGeom>
          <a:solidFill>
            <a:srgbClr val="FFF200"/>
          </a:solidFill>
        </p:spPr>
        <p:txBody>
          <a:bodyPr vert="horz" wrap="square" lIns="0" tIns="1905" rIns="0" bIns="0" rtlCol="0">
            <a:spAutoFit/>
          </a:bodyPr>
          <a:lstStyle/>
          <a:p>
            <a:pPr marL="37465">
              <a:lnSpc>
                <a:spcPct val="100000"/>
              </a:lnSpc>
              <a:spcBef>
                <a:spcPts val="15"/>
              </a:spcBef>
            </a:pPr>
            <a:r>
              <a:rPr sz="1100" spc="-5" dirty="0">
                <a:latin typeface="LM Sans 10"/>
                <a:cs typeface="LM Sans 10"/>
              </a:rPr>
              <a:t>Bottom-up</a:t>
            </a:r>
            <a:r>
              <a:rPr sz="1100" spc="-25" dirty="0">
                <a:latin typeface="LM Sans 10"/>
                <a:cs typeface="LM Sans 10"/>
              </a:rPr>
              <a:t> </a:t>
            </a:r>
            <a:r>
              <a:rPr sz="1100" spc="-5" dirty="0">
                <a:latin typeface="LM Sans 10"/>
                <a:cs typeface="LM Sans 10"/>
              </a:rPr>
              <a:t>computation</a:t>
            </a:r>
            <a:r>
              <a:rPr sz="1100" spc="-25" dirty="0">
                <a:latin typeface="LM Sans 10"/>
                <a:cs typeface="LM Sans 10"/>
              </a:rPr>
              <a:t> </a:t>
            </a:r>
            <a:r>
              <a:rPr sz="1100" spc="-5" dirty="0">
                <a:latin typeface="LM Sans 10"/>
                <a:cs typeface="LM Sans 10"/>
              </a:rPr>
              <a:t>of</a:t>
            </a:r>
            <a:r>
              <a:rPr sz="1100" spc="-30" dirty="0">
                <a:latin typeface="LM Sans 10"/>
                <a:cs typeface="LM Sans 10"/>
              </a:rPr>
              <a:t> </a:t>
            </a: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endParaRPr sz="1100">
              <a:latin typeface="LM Sans 10"/>
              <a:cs typeface="LM Sans 10"/>
            </a:endParaRPr>
          </a:p>
        </p:txBody>
      </p:sp>
      <p:sp>
        <p:nvSpPr>
          <p:cNvPr id="5" name="object 5"/>
          <p:cNvSpPr txBox="1"/>
          <p:nvPr/>
        </p:nvSpPr>
        <p:spPr>
          <a:xfrm>
            <a:off x="347294" y="790865"/>
            <a:ext cx="69977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Recurrence:</a:t>
            </a:r>
            <a:endParaRPr sz="1100">
              <a:latin typeface="LM Sans 10"/>
              <a:cs typeface="LM Sans 10"/>
            </a:endParaRPr>
          </a:p>
        </p:txBody>
      </p:sp>
      <p:sp>
        <p:nvSpPr>
          <p:cNvPr id="6" name="object 6"/>
          <p:cNvSpPr txBox="1"/>
          <p:nvPr/>
        </p:nvSpPr>
        <p:spPr>
          <a:xfrm>
            <a:off x="859040" y="1091500"/>
            <a:ext cx="2889885" cy="278130"/>
          </a:xfrm>
          <a:prstGeom prst="rect">
            <a:avLst/>
          </a:prstGeom>
        </p:spPr>
        <p:txBody>
          <a:bodyPr vert="horz" wrap="square" lIns="0" tIns="11430" rIns="0" bIns="0" rtlCol="0">
            <a:spAutoFit/>
          </a:bodyPr>
          <a:lstStyle/>
          <a:p>
            <a:pPr marL="38100">
              <a:lnSpc>
                <a:spcPts val="1180"/>
              </a:lnSpc>
              <a:spcBef>
                <a:spcPts val="90"/>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270" dirty="0">
                <a:latin typeface="LM Sans 10"/>
                <a:cs typeface="LM Sans 10"/>
              </a:rPr>
              <a:t> </a:t>
            </a:r>
            <a:r>
              <a:rPr sz="1100" spc="-10" dirty="0">
                <a:latin typeface="LM Sans 10"/>
                <a:cs typeface="LM Sans 10"/>
              </a:rPr>
              <a:t>min</a:t>
            </a:r>
            <a:r>
              <a:rPr sz="1100" spc="150" dirty="0">
                <a:latin typeface="LM Sans 10"/>
                <a:cs typeface="LM Sans 10"/>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7" baseline="-10416" dirty="0">
                <a:latin typeface="LM Sans 8"/>
                <a:cs typeface="LM Sans 8"/>
              </a:rPr>
              <a:t> </a:t>
            </a:r>
            <a:r>
              <a:rPr sz="1100" spc="-5" dirty="0">
                <a:latin typeface="LM Sans 10"/>
                <a:cs typeface="LM Sans 10"/>
              </a:rPr>
              <a:t>)</a:t>
            </a:r>
            <a:endParaRPr sz="1100">
              <a:latin typeface="LM Sans 10"/>
              <a:cs typeface="LM Sans 10"/>
            </a:endParaRPr>
          </a:p>
          <a:p>
            <a:pPr marL="572770">
              <a:lnSpc>
                <a:spcPts val="819"/>
              </a:lnSpc>
            </a:pPr>
            <a:r>
              <a:rPr sz="800" i="1" spc="-5" dirty="0">
                <a:latin typeface="LM Sans 8"/>
                <a:cs typeface="LM Sans 8"/>
              </a:rPr>
              <a:t>i</a:t>
            </a:r>
            <a:endParaRPr sz="800">
              <a:latin typeface="LM Sans 8"/>
              <a:cs typeface="LM Sans 8"/>
            </a:endParaRPr>
          </a:p>
        </p:txBody>
      </p:sp>
      <p:sp>
        <p:nvSpPr>
          <p:cNvPr id="7" name="object 7"/>
          <p:cNvSpPr txBox="1">
            <a:spLocks noGrp="1"/>
          </p:cNvSpPr>
          <p:nvPr>
            <p:ph type="body" idx="1"/>
          </p:nvPr>
        </p:nvSpPr>
        <p:spPr>
          <a:prstGeom prst="rect">
            <a:avLst/>
          </a:prstGeom>
        </p:spPr>
        <p:txBody>
          <a:bodyPr vert="horz" wrap="square" lIns="0" tIns="39370" rIns="0" bIns="0" rtlCol="0">
            <a:spAutoFit/>
          </a:bodyPr>
          <a:lstStyle/>
          <a:p>
            <a:pPr marL="1145540">
              <a:lnSpc>
                <a:spcPct val="100000"/>
              </a:lnSpc>
              <a:spcBef>
                <a:spcPts val="310"/>
              </a:spcBef>
            </a:pPr>
            <a:r>
              <a:rPr spc="65" dirty="0">
                <a:latin typeface="Arial"/>
                <a:cs typeface="Arial"/>
              </a:rPr>
              <a:t>≤</a:t>
            </a:r>
            <a:r>
              <a:rPr spc="65" dirty="0"/>
              <a:t>k&lt;j</a:t>
            </a:r>
          </a:p>
          <a:p>
            <a:pPr marL="38100" marR="68580">
              <a:lnSpc>
                <a:spcPct val="102600"/>
              </a:lnSpc>
              <a:spcBef>
                <a:spcPts val="254"/>
              </a:spcBef>
            </a:pPr>
            <a:r>
              <a:rPr sz="1100" i="0" spc="-5" dirty="0">
                <a:solidFill>
                  <a:srgbClr val="0000FF"/>
                </a:solidFill>
                <a:latin typeface="LM Sans 10"/>
                <a:cs typeface="LM Sans 10"/>
              </a:rPr>
              <a:t>Fill in the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 </a:t>
            </a:r>
            <a:r>
              <a:rPr sz="1100" spc="-5" dirty="0">
                <a:solidFill>
                  <a:srgbClr val="0000FF"/>
                </a:solidFill>
                <a:latin typeface="LM Sans 10"/>
                <a:cs typeface="LM Sans 10"/>
              </a:rPr>
              <a:t>j </a:t>
            </a:r>
            <a:r>
              <a:rPr sz="1100" i="0" spc="-5" dirty="0">
                <a:solidFill>
                  <a:srgbClr val="0000FF"/>
                </a:solidFill>
                <a:latin typeface="LM Sans 10"/>
                <a:cs typeface="LM Sans 10"/>
              </a:rPr>
              <a:t>] table in </a:t>
            </a:r>
            <a:r>
              <a:rPr sz="1100" i="0" spc="-10" dirty="0">
                <a:solidFill>
                  <a:srgbClr val="0000FF"/>
                </a:solidFill>
                <a:latin typeface="LM Sans 10"/>
                <a:cs typeface="LM Sans 10"/>
              </a:rPr>
              <a:t>an </a:t>
            </a:r>
            <a:r>
              <a:rPr sz="1100" i="0" spc="-15" dirty="0">
                <a:solidFill>
                  <a:srgbClr val="0000FF"/>
                </a:solidFill>
                <a:latin typeface="LM Sans 10"/>
                <a:cs typeface="LM Sans 10"/>
              </a:rPr>
              <a:t>order, </a:t>
            </a:r>
            <a:r>
              <a:rPr sz="1100" i="0" spc="-5" dirty="0">
                <a:solidFill>
                  <a:srgbClr val="0000FF"/>
                </a:solidFill>
                <a:latin typeface="LM Sans 10"/>
                <a:cs typeface="LM Sans 10"/>
              </a:rPr>
              <a:t>such that </a:t>
            </a:r>
            <a:r>
              <a:rPr sz="1100" i="0" spc="-10" dirty="0">
                <a:solidFill>
                  <a:srgbClr val="0000FF"/>
                </a:solidFill>
                <a:latin typeface="LM Sans 10"/>
                <a:cs typeface="LM Sans 10"/>
              </a:rPr>
              <a:t>when </a:t>
            </a:r>
            <a:r>
              <a:rPr sz="1100" i="0" spc="-5" dirty="0">
                <a:solidFill>
                  <a:srgbClr val="0000FF"/>
                </a:solidFill>
                <a:latin typeface="LM Sans 10"/>
                <a:cs typeface="LM Sans 10"/>
              </a:rPr>
              <a:t>it is time to  calculate</a:t>
            </a:r>
            <a:r>
              <a:rPr sz="1100" i="0" spc="-10" dirty="0">
                <a:solidFill>
                  <a:srgbClr val="0000FF"/>
                </a:solidFill>
                <a:latin typeface="LM Sans 10"/>
                <a:cs typeface="LM Sans 10"/>
              </a:rPr>
              <a:t>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5" dirty="0">
                <a:solidFill>
                  <a:srgbClr val="0000FF"/>
                </a:solidFill>
                <a:latin typeface="LM Sans 10"/>
                <a:cs typeface="LM Sans 10"/>
              </a:rPr>
              <a:t>j</a:t>
            </a:r>
            <a:r>
              <a:rPr sz="1100" spc="-270" dirty="0">
                <a:solidFill>
                  <a:srgbClr val="0000FF"/>
                </a:solidFill>
                <a:latin typeface="LM Sans 10"/>
                <a:cs typeface="LM Sans 10"/>
              </a:rPr>
              <a:t> </a:t>
            </a:r>
            <a:r>
              <a:rPr sz="1100" i="0" spc="-5" dirty="0">
                <a:solidFill>
                  <a:srgbClr val="0000FF"/>
                </a:solidFill>
                <a:latin typeface="LM Sans 10"/>
                <a:cs typeface="LM Sans 10"/>
              </a:rPr>
              <a:t>],</a:t>
            </a:r>
            <a:r>
              <a:rPr sz="1100" i="0" spc="-10" dirty="0">
                <a:solidFill>
                  <a:srgbClr val="0000FF"/>
                </a:solidFill>
                <a:latin typeface="LM Sans 10"/>
                <a:cs typeface="LM Sans 10"/>
              </a:rPr>
              <a:t> </a:t>
            </a:r>
            <a:r>
              <a:rPr sz="1100" i="0" spc="-5" dirty="0">
                <a:solidFill>
                  <a:srgbClr val="0000FF"/>
                </a:solidFill>
                <a:latin typeface="LM Sans 10"/>
                <a:cs typeface="LM Sans 10"/>
              </a:rPr>
              <a:t>the values</a:t>
            </a:r>
            <a:r>
              <a:rPr sz="1100" i="0" spc="-10" dirty="0">
                <a:solidFill>
                  <a:srgbClr val="0000FF"/>
                </a:solidFill>
                <a:latin typeface="LM Sans 10"/>
                <a:cs typeface="LM Sans 10"/>
              </a:rPr>
              <a:t> </a:t>
            </a:r>
            <a:r>
              <a:rPr sz="1100" i="0" spc="-5" dirty="0">
                <a:solidFill>
                  <a:srgbClr val="0000FF"/>
                </a:solidFill>
                <a:latin typeface="LM Sans 10"/>
                <a:cs typeface="LM Sans 10"/>
              </a:rPr>
              <a:t>of</a:t>
            </a:r>
            <a:r>
              <a:rPr sz="1100" i="0" dirty="0">
                <a:solidFill>
                  <a:srgbClr val="0000FF"/>
                </a:solidFill>
                <a:latin typeface="LM Sans 10"/>
                <a:cs typeface="LM Sans 10"/>
              </a:rPr>
              <a:t>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40" dirty="0">
                <a:solidFill>
                  <a:srgbClr val="0000FF"/>
                </a:solidFill>
                <a:latin typeface="LM Sans 10"/>
                <a:cs typeface="LM Sans 10"/>
              </a:rPr>
              <a:t>k</a:t>
            </a:r>
            <a:r>
              <a:rPr sz="1100" i="0" spc="40" dirty="0">
                <a:solidFill>
                  <a:srgbClr val="0000FF"/>
                </a:solidFill>
                <a:latin typeface="LM Sans 10"/>
                <a:cs typeface="LM Sans 10"/>
              </a:rPr>
              <a:t>]</a:t>
            </a:r>
            <a:r>
              <a:rPr sz="1100" i="0" spc="-10" dirty="0">
                <a:solidFill>
                  <a:srgbClr val="0000FF"/>
                </a:solidFill>
                <a:latin typeface="LM Sans 10"/>
                <a:cs typeface="LM Sans 10"/>
              </a:rPr>
              <a:t> and</a:t>
            </a:r>
            <a:r>
              <a:rPr sz="1100" i="0" spc="-5" dirty="0">
                <a:solidFill>
                  <a:srgbClr val="0000FF"/>
                </a:solidFill>
                <a:latin typeface="LM Sans 10"/>
                <a:cs typeface="LM Sans 10"/>
              </a:rPr>
              <a:t> </a:t>
            </a:r>
            <a:r>
              <a:rPr sz="1100" spc="-5" dirty="0">
                <a:solidFill>
                  <a:srgbClr val="0000FF"/>
                </a:solidFill>
                <a:latin typeface="LM Sans 10"/>
                <a:cs typeface="LM Sans 10"/>
              </a:rPr>
              <a:t>m</a:t>
            </a:r>
            <a:r>
              <a:rPr sz="1100" i="0" spc="-5" dirty="0">
                <a:solidFill>
                  <a:srgbClr val="0000FF"/>
                </a:solidFill>
                <a:latin typeface="LM Sans 10"/>
                <a:cs typeface="LM Sans 10"/>
              </a:rPr>
              <a:t>[</a:t>
            </a:r>
            <a:r>
              <a:rPr sz="1100" spc="-5" dirty="0">
                <a:solidFill>
                  <a:srgbClr val="0000FF"/>
                </a:solidFill>
                <a:latin typeface="LM Sans 10"/>
                <a:cs typeface="LM Sans 10"/>
              </a:rPr>
              <a:t>k</a:t>
            </a:r>
            <a:r>
              <a:rPr sz="1100" spc="-35" dirty="0">
                <a:solidFill>
                  <a:srgbClr val="0000FF"/>
                </a:solidFill>
                <a:latin typeface="LM Sans 10"/>
                <a:cs typeface="LM Sans 10"/>
              </a:rPr>
              <a:t> </a:t>
            </a:r>
            <a:r>
              <a:rPr sz="1100" i="0" spc="-10" dirty="0">
                <a:solidFill>
                  <a:srgbClr val="0000FF"/>
                </a:solidFill>
                <a:latin typeface="LM Sans 10"/>
                <a:cs typeface="LM Sans 10"/>
              </a:rPr>
              <a:t>+</a:t>
            </a:r>
            <a:r>
              <a:rPr sz="1100" i="0" spc="-130" dirty="0">
                <a:solidFill>
                  <a:srgbClr val="0000FF"/>
                </a:solidFill>
                <a:latin typeface="LM Sans 10"/>
                <a:cs typeface="LM Sans 10"/>
              </a:rPr>
              <a:t> </a:t>
            </a:r>
            <a:r>
              <a:rPr sz="1100" i="0" spc="-5" dirty="0">
                <a:solidFill>
                  <a:srgbClr val="0000FF"/>
                </a:solidFill>
                <a:latin typeface="LM Sans 10"/>
                <a:cs typeface="LM Sans 10"/>
              </a:rPr>
              <a:t>1</a:t>
            </a:r>
            <a:r>
              <a:rPr sz="1100" spc="-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5" dirty="0">
                <a:solidFill>
                  <a:srgbClr val="0000FF"/>
                </a:solidFill>
                <a:latin typeface="LM Sans 10"/>
                <a:cs typeface="LM Sans 10"/>
              </a:rPr>
              <a:t>j</a:t>
            </a:r>
            <a:r>
              <a:rPr sz="1100" spc="-270" dirty="0">
                <a:solidFill>
                  <a:srgbClr val="0000FF"/>
                </a:solidFill>
                <a:latin typeface="LM Sans 10"/>
                <a:cs typeface="LM Sans 10"/>
              </a:rPr>
              <a:t> </a:t>
            </a:r>
            <a:r>
              <a:rPr sz="1100" i="0" spc="-5" dirty="0">
                <a:solidFill>
                  <a:srgbClr val="0000FF"/>
                </a:solidFill>
                <a:latin typeface="LM Sans 10"/>
                <a:cs typeface="LM Sans 10"/>
              </a:rPr>
              <a:t>]</a:t>
            </a:r>
            <a:r>
              <a:rPr sz="1100" i="0" spc="-10" dirty="0">
                <a:solidFill>
                  <a:srgbClr val="0000FF"/>
                </a:solidFill>
                <a:latin typeface="LM Sans 10"/>
                <a:cs typeface="LM Sans 10"/>
              </a:rPr>
              <a:t> </a:t>
            </a:r>
            <a:r>
              <a:rPr sz="1100" i="0" spc="-15" dirty="0">
                <a:solidFill>
                  <a:srgbClr val="0000FF"/>
                </a:solidFill>
                <a:latin typeface="LM Sans 10"/>
                <a:cs typeface="LM Sans 10"/>
              </a:rPr>
              <a:t>for</a:t>
            </a:r>
            <a:r>
              <a:rPr sz="1100" i="0" spc="-5" dirty="0">
                <a:solidFill>
                  <a:srgbClr val="0000FF"/>
                </a:solidFill>
                <a:latin typeface="LM Sans 10"/>
                <a:cs typeface="LM Sans 10"/>
              </a:rPr>
              <a:t> all </a:t>
            </a:r>
            <a:r>
              <a:rPr sz="1100" spc="-10" dirty="0">
                <a:solidFill>
                  <a:srgbClr val="0000FF"/>
                </a:solidFill>
                <a:latin typeface="LM Sans 10"/>
                <a:cs typeface="LM Sans 10"/>
              </a:rPr>
              <a:t>k</a:t>
            </a:r>
            <a:r>
              <a:rPr sz="1100" spc="80" dirty="0">
                <a:solidFill>
                  <a:srgbClr val="0000FF"/>
                </a:solidFill>
                <a:latin typeface="LM Sans 10"/>
                <a:cs typeface="LM Sans 10"/>
              </a:rPr>
              <a:t> </a:t>
            </a:r>
            <a:r>
              <a:rPr sz="1100" i="0" spc="-15" dirty="0">
                <a:solidFill>
                  <a:srgbClr val="0000FF"/>
                </a:solidFill>
                <a:latin typeface="LM Sans 10"/>
                <a:cs typeface="LM Sans 10"/>
              </a:rPr>
              <a:t>are  </a:t>
            </a:r>
            <a:r>
              <a:rPr sz="1100" i="0" spc="-5" dirty="0">
                <a:solidFill>
                  <a:srgbClr val="0000FF"/>
                </a:solidFill>
                <a:latin typeface="LM Sans 10"/>
                <a:cs typeface="LM Sans 10"/>
              </a:rPr>
              <a:t>already</a:t>
            </a:r>
            <a:r>
              <a:rPr sz="1100" i="0" spc="-10" dirty="0">
                <a:solidFill>
                  <a:srgbClr val="0000FF"/>
                </a:solidFill>
                <a:latin typeface="LM Sans 10"/>
                <a:cs typeface="LM Sans 10"/>
              </a:rPr>
              <a:t> </a:t>
            </a:r>
            <a:r>
              <a:rPr sz="1100" i="0" spc="-5" dirty="0">
                <a:solidFill>
                  <a:srgbClr val="0000FF"/>
                </a:solidFill>
                <a:latin typeface="LM Sans 10"/>
                <a:cs typeface="LM Sans 10"/>
              </a:rPr>
              <a:t>available.</a:t>
            </a:r>
            <a:endParaRPr sz="1100">
              <a:latin typeface="LM Sans 10"/>
              <a:cs typeface="LM Sans 10"/>
            </a:endParaRPr>
          </a:p>
          <a:p>
            <a:pPr marL="38100" marR="30480">
              <a:lnSpc>
                <a:spcPct val="102600"/>
              </a:lnSpc>
              <a:spcBef>
                <a:spcPts val="285"/>
              </a:spcBef>
            </a:pPr>
            <a:r>
              <a:rPr sz="1100" i="0" spc="-10" dirty="0">
                <a:latin typeface="LM Sans 10"/>
                <a:cs typeface="LM Sans 10"/>
              </a:rPr>
              <a:t>An </a:t>
            </a:r>
            <a:r>
              <a:rPr sz="1100" i="0" spc="-5" dirty="0">
                <a:latin typeface="LM Sans 10"/>
                <a:cs typeface="LM Sans 10"/>
              </a:rPr>
              <a:t>easy </a:t>
            </a:r>
            <a:r>
              <a:rPr sz="1100" i="0" spc="-30" dirty="0">
                <a:latin typeface="LM Sans 10"/>
                <a:cs typeface="LM Sans 10"/>
              </a:rPr>
              <a:t>way </a:t>
            </a:r>
            <a:r>
              <a:rPr sz="1100" i="0" spc="-5" dirty="0">
                <a:latin typeface="LM Sans 10"/>
                <a:cs typeface="LM Sans 10"/>
              </a:rPr>
              <a:t>to ensure this </a:t>
            </a:r>
            <a:r>
              <a:rPr sz="1100" i="0" spc="-10" dirty="0">
                <a:latin typeface="LM Sans 10"/>
                <a:cs typeface="LM Sans 10"/>
              </a:rPr>
              <a:t>is </a:t>
            </a:r>
            <a:r>
              <a:rPr sz="1100" i="0" spc="-5" dirty="0">
                <a:latin typeface="LM Sans 10"/>
                <a:cs typeface="LM Sans 10"/>
              </a:rPr>
              <a:t>to compute </a:t>
            </a:r>
            <a:r>
              <a:rPr sz="1100" i="0" spc="-10" dirty="0">
                <a:latin typeface="LM Sans 10"/>
                <a:cs typeface="LM Sans 10"/>
              </a:rPr>
              <a:t>them </a:t>
            </a:r>
            <a:r>
              <a:rPr sz="1100" i="0" spc="-5" dirty="0">
                <a:latin typeface="LM Sans 10"/>
                <a:cs typeface="LM Sans 10"/>
              </a:rPr>
              <a:t>in increasing </a:t>
            </a:r>
            <a:r>
              <a:rPr sz="1100" i="0" spc="-15" dirty="0">
                <a:latin typeface="LM Sans 10"/>
                <a:cs typeface="LM Sans 10"/>
              </a:rPr>
              <a:t>order  </a:t>
            </a:r>
            <a:r>
              <a:rPr sz="1100" i="0" spc="-5" dirty="0">
                <a:latin typeface="LM Sans 10"/>
                <a:cs typeface="LM Sans 10"/>
              </a:rPr>
              <a:t>of</a:t>
            </a:r>
            <a:r>
              <a:rPr sz="1100" i="0" spc="-10" dirty="0">
                <a:latin typeface="LM Sans 10"/>
                <a:cs typeface="LM Sans 10"/>
              </a:rPr>
              <a:t> </a:t>
            </a:r>
            <a:r>
              <a:rPr sz="1100" i="0" spc="-5" dirty="0">
                <a:latin typeface="LM Sans 10"/>
                <a:cs typeface="LM Sans 10"/>
              </a:rPr>
              <a:t>the size (</a:t>
            </a:r>
            <a:r>
              <a:rPr sz="1100" spc="-5" dirty="0">
                <a:latin typeface="LM Sans 10"/>
                <a:cs typeface="LM Sans 10"/>
              </a:rPr>
              <a:t>j</a:t>
            </a:r>
            <a:r>
              <a:rPr sz="1100" spc="-30" dirty="0">
                <a:latin typeface="LM Sans 10"/>
                <a:cs typeface="LM Sans 10"/>
              </a:rPr>
              <a:t> </a:t>
            </a:r>
            <a:r>
              <a:rPr sz="1100" spc="15" dirty="0">
                <a:latin typeface="DejaVu Sans Condensed"/>
                <a:cs typeface="DejaVu Sans Condensed"/>
              </a:rPr>
              <a:t>−</a:t>
            </a:r>
            <a:r>
              <a:rPr sz="1100" spc="-75" dirty="0">
                <a:latin typeface="DejaVu Sans Condensed"/>
                <a:cs typeface="DejaVu Sans Condensed"/>
              </a:rPr>
              <a:t> </a:t>
            </a:r>
            <a:r>
              <a:rPr sz="1100" spc="-5" dirty="0">
                <a:latin typeface="LM Sans 10"/>
                <a:cs typeface="LM Sans 10"/>
              </a:rPr>
              <a:t>i</a:t>
            </a:r>
            <a:r>
              <a:rPr sz="1100" spc="-260" dirty="0">
                <a:latin typeface="LM Sans 10"/>
                <a:cs typeface="LM Sans 10"/>
              </a:rPr>
              <a:t> </a:t>
            </a:r>
            <a:r>
              <a:rPr sz="1100" i="0" spc="-5" dirty="0">
                <a:latin typeface="LM Sans 10"/>
                <a:cs typeface="LM Sans 10"/>
              </a:rPr>
              <a:t>) of</a:t>
            </a:r>
            <a:r>
              <a:rPr sz="1100" i="0" spc="-10" dirty="0">
                <a:latin typeface="LM Sans 10"/>
                <a:cs typeface="LM Sans 10"/>
              </a:rPr>
              <a:t> </a:t>
            </a:r>
            <a:r>
              <a:rPr sz="1100" i="0" spc="-5" dirty="0">
                <a:latin typeface="LM Sans 10"/>
                <a:cs typeface="LM Sans 10"/>
              </a:rPr>
              <a:t>the matrix-chain</a:t>
            </a:r>
            <a:r>
              <a:rPr sz="1100" i="0" dirty="0">
                <a:latin typeface="LM Sans 10"/>
                <a:cs typeface="LM Sans 10"/>
              </a:rPr>
              <a:t> </a:t>
            </a:r>
            <a:r>
              <a:rPr sz="1100" spc="10" dirty="0">
                <a:latin typeface="LM Sans 10"/>
                <a:cs typeface="LM Sans 10"/>
              </a:rPr>
              <a:t>A</a:t>
            </a:r>
            <a:r>
              <a:rPr sz="1200" spc="15" baseline="-10416" dirty="0"/>
              <a:t>i..j</a:t>
            </a:r>
            <a:r>
              <a:rPr sz="1200" spc="-240" baseline="-10416" dirty="0"/>
              <a:t> </a:t>
            </a:r>
            <a:r>
              <a:rPr sz="1100" i="0" spc="-5" dirty="0">
                <a:latin typeface="LM Sans 10"/>
                <a:cs typeface="LM Sans 10"/>
              </a:rPr>
              <a:t>:</a:t>
            </a:r>
            <a:endParaRPr sz="1100">
              <a:latin typeface="LM Sans 10"/>
              <a:cs typeface="LM Sans 10"/>
            </a:endParaRPr>
          </a:p>
        </p:txBody>
      </p:sp>
      <p:sp>
        <p:nvSpPr>
          <p:cNvPr id="8" name="object 8"/>
          <p:cNvSpPr txBox="1"/>
          <p:nvPr/>
        </p:nvSpPr>
        <p:spPr>
          <a:xfrm>
            <a:off x="347294" y="2342050"/>
            <a:ext cx="3913504" cy="481330"/>
          </a:xfrm>
          <a:prstGeom prst="rect">
            <a:avLst/>
          </a:prstGeom>
        </p:spPr>
        <p:txBody>
          <a:bodyPr vert="horz" wrap="square" lIns="0" tIns="12065" rIns="0" bIns="0" rtlCol="0">
            <a:spAutoFit/>
          </a:bodyPr>
          <a:lstStyle/>
          <a:p>
            <a:pPr marL="12700">
              <a:lnSpc>
                <a:spcPts val="1200"/>
              </a:lnSpc>
              <a:spcBef>
                <a:spcPts val="95"/>
              </a:spcBef>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spc="-165"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195"/>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5]</a:t>
            </a:r>
            <a:r>
              <a:rPr sz="1000" i="1" spc="-5" dirty="0">
                <a:solidFill>
                  <a:srgbClr val="FF0000"/>
                </a:solidFill>
                <a:latin typeface="LM Roman Dunhill 10"/>
                <a:cs typeface="LM Roman Dunhill 10"/>
              </a:rPr>
              <a:t>, .</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200"/>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5]</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6]</a:t>
            </a:r>
            <a:r>
              <a:rPr sz="1000" i="1" spc="-5" dirty="0">
                <a:solidFill>
                  <a:srgbClr val="FF0000"/>
                </a:solidFill>
                <a:latin typeface="LM Roman Dunhill 10"/>
                <a:cs typeface="LM Roman Dunhill 10"/>
              </a:rPr>
              <a:t>, .</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p:txBody>
      </p:sp>
      <p:grpSp>
        <p:nvGrpSpPr>
          <p:cNvPr id="9" name="object 9"/>
          <p:cNvGrpSpPr/>
          <p:nvPr/>
        </p:nvGrpSpPr>
        <p:grpSpPr>
          <a:xfrm>
            <a:off x="0" y="3342919"/>
            <a:ext cx="4608195" cy="113664"/>
            <a:chOff x="0" y="3342919"/>
            <a:chExt cx="4608195" cy="113664"/>
          </a:xfrm>
        </p:grpSpPr>
        <p:sp>
          <p:nvSpPr>
            <p:cNvPr id="10" name="object 10"/>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1" name="object 11"/>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2" name="object 12"/>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4" name="object 14"/>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5" name="object 15"/>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
        <p:nvSpPr>
          <p:cNvPr id="16" name="TextBox 15"/>
          <p:cNvSpPr txBox="1"/>
          <p:nvPr/>
        </p:nvSpPr>
        <p:spPr>
          <a:xfrm>
            <a:off x="2948885" y="2956708"/>
            <a:ext cx="1242007"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Set of 4 Matrices</a:t>
            </a:r>
          </a:p>
        </p:txBody>
      </p:sp>
      <p:cxnSp>
        <p:nvCxnSpPr>
          <p:cNvPr id="17" name="Straight Arrow Connector 16"/>
          <p:cNvCxnSpPr>
            <a:stCxn id="16" idx="1"/>
          </p:cNvCxnSpPr>
          <p:nvPr/>
        </p:nvCxnSpPr>
        <p:spPr>
          <a:xfrm flipH="1" flipV="1">
            <a:off x="2434865" y="2744654"/>
            <a:ext cx="514020" cy="3505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4106036"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000925" y="494639"/>
            <a:ext cx="490220"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a:t>
            </a:r>
            <a:r>
              <a:rPr sz="1100" spc="-60" dirty="0">
                <a:latin typeface="LM Sans 10"/>
                <a:cs typeface="LM Sans 10"/>
              </a:rPr>
              <a:t> </a:t>
            </a:r>
            <a:r>
              <a:rPr sz="1100" spc="-5" dirty="0">
                <a:latin typeface="LM Sans 10"/>
                <a:cs typeface="LM Sans 10"/>
              </a:rPr>
              <a:t>3:</a:t>
            </a:r>
            <a:endParaRPr sz="1100">
              <a:latin typeface="LM Sans 10"/>
              <a:cs typeface="LM Sans 10"/>
            </a:endParaRPr>
          </a:p>
        </p:txBody>
      </p:sp>
      <p:sp>
        <p:nvSpPr>
          <p:cNvPr id="4" name="object 4"/>
          <p:cNvSpPr txBox="1"/>
          <p:nvPr/>
        </p:nvSpPr>
        <p:spPr>
          <a:xfrm>
            <a:off x="1537119" y="486943"/>
            <a:ext cx="2070100" cy="214629"/>
          </a:xfrm>
          <a:prstGeom prst="rect">
            <a:avLst/>
          </a:prstGeom>
          <a:solidFill>
            <a:srgbClr val="FFF200"/>
          </a:solidFill>
        </p:spPr>
        <p:txBody>
          <a:bodyPr vert="horz" wrap="square" lIns="0" tIns="1905" rIns="0" bIns="0" rtlCol="0">
            <a:spAutoFit/>
          </a:bodyPr>
          <a:lstStyle/>
          <a:p>
            <a:pPr marL="37465">
              <a:lnSpc>
                <a:spcPct val="100000"/>
              </a:lnSpc>
              <a:spcBef>
                <a:spcPts val="15"/>
              </a:spcBef>
            </a:pPr>
            <a:r>
              <a:rPr sz="1100" spc="-5" dirty="0">
                <a:latin typeface="LM Sans 10"/>
                <a:cs typeface="LM Sans 10"/>
              </a:rPr>
              <a:t>Bottom-up</a:t>
            </a:r>
            <a:r>
              <a:rPr sz="1100" spc="-25" dirty="0">
                <a:latin typeface="LM Sans 10"/>
                <a:cs typeface="LM Sans 10"/>
              </a:rPr>
              <a:t> </a:t>
            </a:r>
            <a:r>
              <a:rPr sz="1100" spc="-5" dirty="0">
                <a:latin typeface="LM Sans 10"/>
                <a:cs typeface="LM Sans 10"/>
              </a:rPr>
              <a:t>computation</a:t>
            </a:r>
            <a:r>
              <a:rPr sz="1100" spc="-25" dirty="0">
                <a:latin typeface="LM Sans 10"/>
                <a:cs typeface="LM Sans 10"/>
              </a:rPr>
              <a:t> </a:t>
            </a:r>
            <a:r>
              <a:rPr sz="1100" spc="-5" dirty="0">
                <a:latin typeface="LM Sans 10"/>
                <a:cs typeface="LM Sans 10"/>
              </a:rPr>
              <a:t>of</a:t>
            </a:r>
            <a:r>
              <a:rPr sz="1100" spc="-30" dirty="0">
                <a:latin typeface="LM Sans 10"/>
                <a:cs typeface="LM Sans 10"/>
              </a:rPr>
              <a:t> </a:t>
            </a: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endParaRPr sz="1100">
              <a:latin typeface="LM Sans 10"/>
              <a:cs typeface="LM Sans 10"/>
            </a:endParaRPr>
          </a:p>
        </p:txBody>
      </p:sp>
      <p:sp>
        <p:nvSpPr>
          <p:cNvPr id="5" name="object 5"/>
          <p:cNvSpPr txBox="1"/>
          <p:nvPr/>
        </p:nvSpPr>
        <p:spPr>
          <a:xfrm>
            <a:off x="347294" y="790865"/>
            <a:ext cx="69977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Recurrence:</a:t>
            </a:r>
            <a:endParaRPr sz="1100">
              <a:latin typeface="LM Sans 10"/>
              <a:cs typeface="LM Sans 10"/>
            </a:endParaRPr>
          </a:p>
        </p:txBody>
      </p:sp>
      <p:sp>
        <p:nvSpPr>
          <p:cNvPr id="6" name="object 6"/>
          <p:cNvSpPr txBox="1"/>
          <p:nvPr/>
        </p:nvSpPr>
        <p:spPr>
          <a:xfrm>
            <a:off x="859040" y="1091500"/>
            <a:ext cx="2889885" cy="278130"/>
          </a:xfrm>
          <a:prstGeom prst="rect">
            <a:avLst/>
          </a:prstGeom>
        </p:spPr>
        <p:txBody>
          <a:bodyPr vert="horz" wrap="square" lIns="0" tIns="11430" rIns="0" bIns="0" rtlCol="0">
            <a:spAutoFit/>
          </a:bodyPr>
          <a:lstStyle/>
          <a:p>
            <a:pPr marL="38100">
              <a:lnSpc>
                <a:spcPts val="1180"/>
              </a:lnSpc>
              <a:spcBef>
                <a:spcPts val="90"/>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270" dirty="0">
                <a:latin typeface="LM Sans 10"/>
                <a:cs typeface="LM Sans 10"/>
              </a:rPr>
              <a:t> </a:t>
            </a:r>
            <a:r>
              <a:rPr sz="1100" spc="-10" dirty="0">
                <a:latin typeface="LM Sans 10"/>
                <a:cs typeface="LM Sans 10"/>
              </a:rPr>
              <a:t>min</a:t>
            </a:r>
            <a:r>
              <a:rPr sz="1100" spc="150" dirty="0">
                <a:latin typeface="LM Sans 10"/>
                <a:cs typeface="LM Sans 10"/>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7" baseline="-10416" dirty="0">
                <a:latin typeface="LM Sans 8"/>
                <a:cs typeface="LM Sans 8"/>
              </a:rPr>
              <a:t> </a:t>
            </a:r>
            <a:r>
              <a:rPr sz="1100" spc="-5" dirty="0">
                <a:latin typeface="LM Sans 10"/>
                <a:cs typeface="LM Sans 10"/>
              </a:rPr>
              <a:t>)</a:t>
            </a:r>
            <a:endParaRPr sz="1100">
              <a:latin typeface="LM Sans 10"/>
              <a:cs typeface="LM Sans 10"/>
            </a:endParaRPr>
          </a:p>
          <a:p>
            <a:pPr marL="572770">
              <a:lnSpc>
                <a:spcPts val="819"/>
              </a:lnSpc>
            </a:pPr>
            <a:r>
              <a:rPr sz="800" i="1" spc="-5" dirty="0">
                <a:latin typeface="LM Sans 8"/>
                <a:cs typeface="LM Sans 8"/>
              </a:rPr>
              <a:t>i</a:t>
            </a:r>
            <a:endParaRPr sz="800">
              <a:latin typeface="LM Sans 8"/>
              <a:cs typeface="LM Sans 8"/>
            </a:endParaRPr>
          </a:p>
        </p:txBody>
      </p:sp>
      <p:sp>
        <p:nvSpPr>
          <p:cNvPr id="7" name="object 7"/>
          <p:cNvSpPr txBox="1">
            <a:spLocks noGrp="1"/>
          </p:cNvSpPr>
          <p:nvPr>
            <p:ph type="body" idx="1"/>
          </p:nvPr>
        </p:nvSpPr>
        <p:spPr>
          <a:prstGeom prst="rect">
            <a:avLst/>
          </a:prstGeom>
        </p:spPr>
        <p:txBody>
          <a:bodyPr vert="horz" wrap="square" lIns="0" tIns="39370" rIns="0" bIns="0" rtlCol="0">
            <a:spAutoFit/>
          </a:bodyPr>
          <a:lstStyle/>
          <a:p>
            <a:pPr marL="1145540">
              <a:lnSpc>
                <a:spcPct val="100000"/>
              </a:lnSpc>
              <a:spcBef>
                <a:spcPts val="310"/>
              </a:spcBef>
            </a:pPr>
            <a:r>
              <a:rPr spc="65" dirty="0">
                <a:latin typeface="Arial"/>
                <a:cs typeface="Arial"/>
              </a:rPr>
              <a:t>≤</a:t>
            </a:r>
            <a:r>
              <a:rPr spc="65" dirty="0"/>
              <a:t>k&lt;j</a:t>
            </a:r>
          </a:p>
          <a:p>
            <a:pPr marL="38100" marR="68580">
              <a:lnSpc>
                <a:spcPct val="102600"/>
              </a:lnSpc>
              <a:spcBef>
                <a:spcPts val="254"/>
              </a:spcBef>
            </a:pPr>
            <a:r>
              <a:rPr sz="1100" i="0" spc="-5" dirty="0">
                <a:solidFill>
                  <a:srgbClr val="0000FF"/>
                </a:solidFill>
                <a:latin typeface="LM Sans 10"/>
                <a:cs typeface="LM Sans 10"/>
              </a:rPr>
              <a:t>Fill in the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 </a:t>
            </a:r>
            <a:r>
              <a:rPr sz="1100" spc="-5" dirty="0">
                <a:solidFill>
                  <a:srgbClr val="0000FF"/>
                </a:solidFill>
                <a:latin typeface="LM Sans 10"/>
                <a:cs typeface="LM Sans 10"/>
              </a:rPr>
              <a:t>j </a:t>
            </a:r>
            <a:r>
              <a:rPr sz="1100" i="0" spc="-5" dirty="0">
                <a:solidFill>
                  <a:srgbClr val="0000FF"/>
                </a:solidFill>
                <a:latin typeface="LM Sans 10"/>
                <a:cs typeface="LM Sans 10"/>
              </a:rPr>
              <a:t>] table in </a:t>
            </a:r>
            <a:r>
              <a:rPr sz="1100" i="0" spc="-10" dirty="0">
                <a:solidFill>
                  <a:srgbClr val="0000FF"/>
                </a:solidFill>
                <a:latin typeface="LM Sans 10"/>
                <a:cs typeface="LM Sans 10"/>
              </a:rPr>
              <a:t>an </a:t>
            </a:r>
            <a:r>
              <a:rPr sz="1100" i="0" spc="-15" dirty="0">
                <a:solidFill>
                  <a:srgbClr val="0000FF"/>
                </a:solidFill>
                <a:latin typeface="LM Sans 10"/>
                <a:cs typeface="LM Sans 10"/>
              </a:rPr>
              <a:t>order, </a:t>
            </a:r>
            <a:r>
              <a:rPr sz="1100" i="0" spc="-5" dirty="0">
                <a:solidFill>
                  <a:srgbClr val="0000FF"/>
                </a:solidFill>
                <a:latin typeface="LM Sans 10"/>
                <a:cs typeface="LM Sans 10"/>
              </a:rPr>
              <a:t>such that </a:t>
            </a:r>
            <a:r>
              <a:rPr sz="1100" i="0" spc="-10" dirty="0">
                <a:solidFill>
                  <a:srgbClr val="0000FF"/>
                </a:solidFill>
                <a:latin typeface="LM Sans 10"/>
                <a:cs typeface="LM Sans 10"/>
              </a:rPr>
              <a:t>when </a:t>
            </a:r>
            <a:r>
              <a:rPr sz="1100" i="0" spc="-5" dirty="0">
                <a:solidFill>
                  <a:srgbClr val="0000FF"/>
                </a:solidFill>
                <a:latin typeface="LM Sans 10"/>
                <a:cs typeface="LM Sans 10"/>
              </a:rPr>
              <a:t>it is time to  calculate</a:t>
            </a:r>
            <a:r>
              <a:rPr sz="1100" i="0" spc="-10" dirty="0">
                <a:solidFill>
                  <a:srgbClr val="0000FF"/>
                </a:solidFill>
                <a:latin typeface="LM Sans 10"/>
                <a:cs typeface="LM Sans 10"/>
              </a:rPr>
              <a:t>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5" dirty="0">
                <a:solidFill>
                  <a:srgbClr val="0000FF"/>
                </a:solidFill>
                <a:latin typeface="LM Sans 10"/>
                <a:cs typeface="LM Sans 10"/>
              </a:rPr>
              <a:t>j</a:t>
            </a:r>
            <a:r>
              <a:rPr sz="1100" spc="-270" dirty="0">
                <a:solidFill>
                  <a:srgbClr val="0000FF"/>
                </a:solidFill>
                <a:latin typeface="LM Sans 10"/>
                <a:cs typeface="LM Sans 10"/>
              </a:rPr>
              <a:t> </a:t>
            </a:r>
            <a:r>
              <a:rPr sz="1100" i="0" spc="-5" dirty="0">
                <a:solidFill>
                  <a:srgbClr val="0000FF"/>
                </a:solidFill>
                <a:latin typeface="LM Sans 10"/>
                <a:cs typeface="LM Sans 10"/>
              </a:rPr>
              <a:t>],</a:t>
            </a:r>
            <a:r>
              <a:rPr sz="1100" i="0" spc="-10" dirty="0">
                <a:solidFill>
                  <a:srgbClr val="0000FF"/>
                </a:solidFill>
                <a:latin typeface="LM Sans 10"/>
                <a:cs typeface="LM Sans 10"/>
              </a:rPr>
              <a:t> </a:t>
            </a:r>
            <a:r>
              <a:rPr sz="1100" i="0" spc="-5" dirty="0">
                <a:solidFill>
                  <a:srgbClr val="0000FF"/>
                </a:solidFill>
                <a:latin typeface="LM Sans 10"/>
                <a:cs typeface="LM Sans 10"/>
              </a:rPr>
              <a:t>the values</a:t>
            </a:r>
            <a:r>
              <a:rPr sz="1100" i="0" spc="-10" dirty="0">
                <a:solidFill>
                  <a:srgbClr val="0000FF"/>
                </a:solidFill>
                <a:latin typeface="LM Sans 10"/>
                <a:cs typeface="LM Sans 10"/>
              </a:rPr>
              <a:t> </a:t>
            </a:r>
            <a:r>
              <a:rPr sz="1100" i="0" spc="-5" dirty="0">
                <a:solidFill>
                  <a:srgbClr val="0000FF"/>
                </a:solidFill>
                <a:latin typeface="LM Sans 10"/>
                <a:cs typeface="LM Sans 10"/>
              </a:rPr>
              <a:t>of</a:t>
            </a:r>
            <a:r>
              <a:rPr sz="1100" i="0" dirty="0">
                <a:solidFill>
                  <a:srgbClr val="0000FF"/>
                </a:solidFill>
                <a:latin typeface="LM Sans 10"/>
                <a:cs typeface="LM Sans 10"/>
              </a:rPr>
              <a:t>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40" dirty="0">
                <a:solidFill>
                  <a:srgbClr val="0000FF"/>
                </a:solidFill>
                <a:latin typeface="LM Sans 10"/>
                <a:cs typeface="LM Sans 10"/>
              </a:rPr>
              <a:t>k</a:t>
            </a:r>
            <a:r>
              <a:rPr sz="1100" i="0" spc="40" dirty="0">
                <a:solidFill>
                  <a:srgbClr val="0000FF"/>
                </a:solidFill>
                <a:latin typeface="LM Sans 10"/>
                <a:cs typeface="LM Sans 10"/>
              </a:rPr>
              <a:t>]</a:t>
            </a:r>
            <a:r>
              <a:rPr sz="1100" i="0" spc="-10" dirty="0">
                <a:solidFill>
                  <a:srgbClr val="0000FF"/>
                </a:solidFill>
                <a:latin typeface="LM Sans 10"/>
                <a:cs typeface="LM Sans 10"/>
              </a:rPr>
              <a:t> and</a:t>
            </a:r>
            <a:r>
              <a:rPr sz="1100" i="0" spc="-5" dirty="0">
                <a:solidFill>
                  <a:srgbClr val="0000FF"/>
                </a:solidFill>
                <a:latin typeface="LM Sans 10"/>
                <a:cs typeface="LM Sans 10"/>
              </a:rPr>
              <a:t> </a:t>
            </a:r>
            <a:r>
              <a:rPr sz="1100" spc="-5" dirty="0">
                <a:solidFill>
                  <a:srgbClr val="0000FF"/>
                </a:solidFill>
                <a:latin typeface="LM Sans 10"/>
                <a:cs typeface="LM Sans 10"/>
              </a:rPr>
              <a:t>m</a:t>
            </a:r>
            <a:r>
              <a:rPr sz="1100" i="0" spc="-5" dirty="0">
                <a:solidFill>
                  <a:srgbClr val="0000FF"/>
                </a:solidFill>
                <a:latin typeface="LM Sans 10"/>
                <a:cs typeface="LM Sans 10"/>
              </a:rPr>
              <a:t>[</a:t>
            </a:r>
            <a:r>
              <a:rPr sz="1100" spc="-5" dirty="0">
                <a:solidFill>
                  <a:srgbClr val="0000FF"/>
                </a:solidFill>
                <a:latin typeface="LM Sans 10"/>
                <a:cs typeface="LM Sans 10"/>
              </a:rPr>
              <a:t>k</a:t>
            </a:r>
            <a:r>
              <a:rPr sz="1100" spc="-35" dirty="0">
                <a:solidFill>
                  <a:srgbClr val="0000FF"/>
                </a:solidFill>
                <a:latin typeface="LM Sans 10"/>
                <a:cs typeface="LM Sans 10"/>
              </a:rPr>
              <a:t> </a:t>
            </a:r>
            <a:r>
              <a:rPr sz="1100" i="0" spc="-10" dirty="0">
                <a:solidFill>
                  <a:srgbClr val="0000FF"/>
                </a:solidFill>
                <a:latin typeface="LM Sans 10"/>
                <a:cs typeface="LM Sans 10"/>
              </a:rPr>
              <a:t>+</a:t>
            </a:r>
            <a:r>
              <a:rPr sz="1100" i="0" spc="-130" dirty="0">
                <a:solidFill>
                  <a:srgbClr val="0000FF"/>
                </a:solidFill>
                <a:latin typeface="LM Sans 10"/>
                <a:cs typeface="LM Sans 10"/>
              </a:rPr>
              <a:t> </a:t>
            </a:r>
            <a:r>
              <a:rPr sz="1100" i="0" spc="-5" dirty="0">
                <a:solidFill>
                  <a:srgbClr val="0000FF"/>
                </a:solidFill>
                <a:latin typeface="LM Sans 10"/>
                <a:cs typeface="LM Sans 10"/>
              </a:rPr>
              <a:t>1</a:t>
            </a:r>
            <a:r>
              <a:rPr sz="1100" spc="-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5" dirty="0">
                <a:solidFill>
                  <a:srgbClr val="0000FF"/>
                </a:solidFill>
                <a:latin typeface="LM Sans 10"/>
                <a:cs typeface="LM Sans 10"/>
              </a:rPr>
              <a:t>j</a:t>
            </a:r>
            <a:r>
              <a:rPr sz="1100" spc="-270" dirty="0">
                <a:solidFill>
                  <a:srgbClr val="0000FF"/>
                </a:solidFill>
                <a:latin typeface="LM Sans 10"/>
                <a:cs typeface="LM Sans 10"/>
              </a:rPr>
              <a:t> </a:t>
            </a:r>
            <a:r>
              <a:rPr sz="1100" i="0" spc="-5" dirty="0">
                <a:solidFill>
                  <a:srgbClr val="0000FF"/>
                </a:solidFill>
                <a:latin typeface="LM Sans 10"/>
                <a:cs typeface="LM Sans 10"/>
              </a:rPr>
              <a:t>]</a:t>
            </a:r>
            <a:r>
              <a:rPr sz="1100" i="0" spc="-10" dirty="0">
                <a:solidFill>
                  <a:srgbClr val="0000FF"/>
                </a:solidFill>
                <a:latin typeface="LM Sans 10"/>
                <a:cs typeface="LM Sans 10"/>
              </a:rPr>
              <a:t> </a:t>
            </a:r>
            <a:r>
              <a:rPr sz="1100" i="0" spc="-15" dirty="0">
                <a:solidFill>
                  <a:srgbClr val="0000FF"/>
                </a:solidFill>
                <a:latin typeface="LM Sans 10"/>
                <a:cs typeface="LM Sans 10"/>
              </a:rPr>
              <a:t>for</a:t>
            </a:r>
            <a:r>
              <a:rPr sz="1100" i="0" spc="-5" dirty="0">
                <a:solidFill>
                  <a:srgbClr val="0000FF"/>
                </a:solidFill>
                <a:latin typeface="LM Sans 10"/>
                <a:cs typeface="LM Sans 10"/>
              </a:rPr>
              <a:t> all </a:t>
            </a:r>
            <a:r>
              <a:rPr sz="1100" spc="-10" dirty="0">
                <a:solidFill>
                  <a:srgbClr val="0000FF"/>
                </a:solidFill>
                <a:latin typeface="LM Sans 10"/>
                <a:cs typeface="LM Sans 10"/>
              </a:rPr>
              <a:t>k</a:t>
            </a:r>
            <a:r>
              <a:rPr sz="1100" spc="80" dirty="0">
                <a:solidFill>
                  <a:srgbClr val="0000FF"/>
                </a:solidFill>
                <a:latin typeface="LM Sans 10"/>
                <a:cs typeface="LM Sans 10"/>
              </a:rPr>
              <a:t> </a:t>
            </a:r>
            <a:r>
              <a:rPr sz="1100" i="0" spc="-15" dirty="0">
                <a:solidFill>
                  <a:srgbClr val="0000FF"/>
                </a:solidFill>
                <a:latin typeface="LM Sans 10"/>
                <a:cs typeface="LM Sans 10"/>
              </a:rPr>
              <a:t>are  </a:t>
            </a:r>
            <a:r>
              <a:rPr sz="1100" i="0" spc="-5" dirty="0">
                <a:solidFill>
                  <a:srgbClr val="0000FF"/>
                </a:solidFill>
                <a:latin typeface="LM Sans 10"/>
                <a:cs typeface="LM Sans 10"/>
              </a:rPr>
              <a:t>already</a:t>
            </a:r>
            <a:r>
              <a:rPr sz="1100" i="0" spc="-10" dirty="0">
                <a:solidFill>
                  <a:srgbClr val="0000FF"/>
                </a:solidFill>
                <a:latin typeface="LM Sans 10"/>
                <a:cs typeface="LM Sans 10"/>
              </a:rPr>
              <a:t> </a:t>
            </a:r>
            <a:r>
              <a:rPr sz="1100" i="0" spc="-5" dirty="0">
                <a:solidFill>
                  <a:srgbClr val="0000FF"/>
                </a:solidFill>
                <a:latin typeface="LM Sans 10"/>
                <a:cs typeface="LM Sans 10"/>
              </a:rPr>
              <a:t>available.</a:t>
            </a:r>
            <a:endParaRPr sz="1100">
              <a:latin typeface="LM Sans 10"/>
              <a:cs typeface="LM Sans 10"/>
            </a:endParaRPr>
          </a:p>
          <a:p>
            <a:pPr marL="38100" marR="30480">
              <a:lnSpc>
                <a:spcPct val="102600"/>
              </a:lnSpc>
              <a:spcBef>
                <a:spcPts val="285"/>
              </a:spcBef>
            </a:pPr>
            <a:r>
              <a:rPr sz="1100" i="0" spc="-10" dirty="0">
                <a:latin typeface="LM Sans 10"/>
                <a:cs typeface="LM Sans 10"/>
              </a:rPr>
              <a:t>An </a:t>
            </a:r>
            <a:r>
              <a:rPr sz="1100" i="0" spc="-5" dirty="0">
                <a:latin typeface="LM Sans 10"/>
                <a:cs typeface="LM Sans 10"/>
              </a:rPr>
              <a:t>easy </a:t>
            </a:r>
            <a:r>
              <a:rPr sz="1100" i="0" spc="-30" dirty="0">
                <a:latin typeface="LM Sans 10"/>
                <a:cs typeface="LM Sans 10"/>
              </a:rPr>
              <a:t>way </a:t>
            </a:r>
            <a:r>
              <a:rPr sz="1100" i="0" spc="-5" dirty="0">
                <a:latin typeface="LM Sans 10"/>
                <a:cs typeface="LM Sans 10"/>
              </a:rPr>
              <a:t>to ensure this </a:t>
            </a:r>
            <a:r>
              <a:rPr sz="1100" i="0" spc="-10" dirty="0">
                <a:latin typeface="LM Sans 10"/>
                <a:cs typeface="LM Sans 10"/>
              </a:rPr>
              <a:t>is </a:t>
            </a:r>
            <a:r>
              <a:rPr sz="1100" i="0" spc="-5" dirty="0">
                <a:latin typeface="LM Sans 10"/>
                <a:cs typeface="LM Sans 10"/>
              </a:rPr>
              <a:t>to compute </a:t>
            </a:r>
            <a:r>
              <a:rPr sz="1100" i="0" spc="-10" dirty="0">
                <a:latin typeface="LM Sans 10"/>
                <a:cs typeface="LM Sans 10"/>
              </a:rPr>
              <a:t>them </a:t>
            </a:r>
            <a:r>
              <a:rPr sz="1100" i="0" spc="-5" dirty="0">
                <a:latin typeface="LM Sans 10"/>
                <a:cs typeface="LM Sans 10"/>
              </a:rPr>
              <a:t>in increasing </a:t>
            </a:r>
            <a:r>
              <a:rPr sz="1100" i="0" spc="-15" dirty="0">
                <a:latin typeface="LM Sans 10"/>
                <a:cs typeface="LM Sans 10"/>
              </a:rPr>
              <a:t>order  </a:t>
            </a:r>
            <a:r>
              <a:rPr sz="1100" i="0" spc="-5" dirty="0">
                <a:latin typeface="LM Sans 10"/>
                <a:cs typeface="LM Sans 10"/>
              </a:rPr>
              <a:t>of</a:t>
            </a:r>
            <a:r>
              <a:rPr sz="1100" i="0" spc="-10" dirty="0">
                <a:latin typeface="LM Sans 10"/>
                <a:cs typeface="LM Sans 10"/>
              </a:rPr>
              <a:t> </a:t>
            </a:r>
            <a:r>
              <a:rPr sz="1100" i="0" spc="-5" dirty="0">
                <a:latin typeface="LM Sans 10"/>
                <a:cs typeface="LM Sans 10"/>
              </a:rPr>
              <a:t>the size (</a:t>
            </a:r>
            <a:r>
              <a:rPr sz="1100" spc="-5" dirty="0">
                <a:latin typeface="LM Sans 10"/>
                <a:cs typeface="LM Sans 10"/>
              </a:rPr>
              <a:t>j</a:t>
            </a:r>
            <a:r>
              <a:rPr sz="1100" spc="-30" dirty="0">
                <a:latin typeface="LM Sans 10"/>
                <a:cs typeface="LM Sans 10"/>
              </a:rPr>
              <a:t> </a:t>
            </a:r>
            <a:r>
              <a:rPr sz="1100" spc="15" dirty="0">
                <a:latin typeface="DejaVu Sans Condensed"/>
                <a:cs typeface="DejaVu Sans Condensed"/>
              </a:rPr>
              <a:t>−</a:t>
            </a:r>
            <a:r>
              <a:rPr sz="1100" spc="-75" dirty="0">
                <a:latin typeface="DejaVu Sans Condensed"/>
                <a:cs typeface="DejaVu Sans Condensed"/>
              </a:rPr>
              <a:t> </a:t>
            </a:r>
            <a:r>
              <a:rPr sz="1100" spc="-5" dirty="0">
                <a:latin typeface="LM Sans 10"/>
                <a:cs typeface="LM Sans 10"/>
              </a:rPr>
              <a:t>i</a:t>
            </a:r>
            <a:r>
              <a:rPr sz="1100" spc="-260" dirty="0">
                <a:latin typeface="LM Sans 10"/>
                <a:cs typeface="LM Sans 10"/>
              </a:rPr>
              <a:t> </a:t>
            </a:r>
            <a:r>
              <a:rPr sz="1100" i="0" spc="-5" dirty="0">
                <a:latin typeface="LM Sans 10"/>
                <a:cs typeface="LM Sans 10"/>
              </a:rPr>
              <a:t>) of</a:t>
            </a:r>
            <a:r>
              <a:rPr sz="1100" i="0" spc="-10" dirty="0">
                <a:latin typeface="LM Sans 10"/>
                <a:cs typeface="LM Sans 10"/>
              </a:rPr>
              <a:t> </a:t>
            </a:r>
            <a:r>
              <a:rPr sz="1100" i="0" spc="-5" dirty="0">
                <a:latin typeface="LM Sans 10"/>
                <a:cs typeface="LM Sans 10"/>
              </a:rPr>
              <a:t>the matrix-chain</a:t>
            </a:r>
            <a:r>
              <a:rPr sz="1100" i="0" dirty="0">
                <a:latin typeface="LM Sans 10"/>
                <a:cs typeface="LM Sans 10"/>
              </a:rPr>
              <a:t> </a:t>
            </a:r>
            <a:r>
              <a:rPr sz="1100" spc="10" dirty="0">
                <a:latin typeface="LM Sans 10"/>
                <a:cs typeface="LM Sans 10"/>
              </a:rPr>
              <a:t>A</a:t>
            </a:r>
            <a:r>
              <a:rPr sz="1200" spc="15" baseline="-10416" dirty="0"/>
              <a:t>i..j</a:t>
            </a:r>
            <a:r>
              <a:rPr sz="1200" spc="-240" baseline="-10416" dirty="0"/>
              <a:t> </a:t>
            </a:r>
            <a:r>
              <a:rPr sz="1100" i="0" spc="-5" dirty="0">
                <a:latin typeface="LM Sans 10"/>
                <a:cs typeface="LM Sans 10"/>
              </a:rPr>
              <a:t>:</a:t>
            </a:r>
            <a:endParaRPr sz="1100">
              <a:latin typeface="LM Sans 10"/>
              <a:cs typeface="LM Sans 10"/>
            </a:endParaRPr>
          </a:p>
        </p:txBody>
      </p:sp>
      <p:sp>
        <p:nvSpPr>
          <p:cNvPr id="8" name="object 8"/>
          <p:cNvSpPr txBox="1"/>
          <p:nvPr/>
        </p:nvSpPr>
        <p:spPr>
          <a:xfrm>
            <a:off x="347294" y="2342050"/>
            <a:ext cx="3913504" cy="784860"/>
          </a:xfrm>
          <a:prstGeom prst="rect">
            <a:avLst/>
          </a:prstGeom>
        </p:spPr>
        <p:txBody>
          <a:bodyPr vert="horz" wrap="square" lIns="0" tIns="12065" rIns="0" bIns="0" rtlCol="0">
            <a:spAutoFit/>
          </a:bodyPr>
          <a:lstStyle/>
          <a:p>
            <a:pPr marL="12700">
              <a:lnSpc>
                <a:spcPts val="1200"/>
              </a:lnSpc>
              <a:spcBef>
                <a:spcPts val="95"/>
              </a:spcBef>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spc="-165"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195"/>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5]</a:t>
            </a:r>
            <a:r>
              <a:rPr sz="1000" i="1" spc="-5" dirty="0">
                <a:solidFill>
                  <a:srgbClr val="FF0000"/>
                </a:solidFill>
                <a:latin typeface="LM Roman Dunhill 10"/>
                <a:cs typeface="LM Roman Dunhill 10"/>
              </a:rPr>
              <a:t>, .</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195"/>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5]</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6]</a:t>
            </a:r>
            <a:r>
              <a:rPr sz="1000" i="1" spc="-5" dirty="0">
                <a:solidFill>
                  <a:srgbClr val="FF0000"/>
                </a:solidFill>
                <a:latin typeface="LM Roman Dunhill 10"/>
                <a:cs typeface="LM Roman Dunhill 10"/>
              </a:rPr>
              <a:t>, .</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195"/>
              </a:lnSpc>
            </a:pPr>
            <a:r>
              <a:rPr sz="1000" i="1" spc="-5"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endParaRPr sz="1000">
              <a:latin typeface="LM Roman Dunhill 10"/>
              <a:cs typeface="LM Roman Dunhill 10"/>
            </a:endParaRPr>
          </a:p>
          <a:p>
            <a:pPr marL="12700">
              <a:lnSpc>
                <a:spcPts val="1200"/>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a:t>
            </a:r>
            <a:r>
              <a:rPr sz="1000" i="1" spc="16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p:txBody>
      </p:sp>
      <p:grpSp>
        <p:nvGrpSpPr>
          <p:cNvPr id="9" name="object 9"/>
          <p:cNvGrpSpPr/>
          <p:nvPr/>
        </p:nvGrpSpPr>
        <p:grpSpPr>
          <a:xfrm>
            <a:off x="0" y="3342919"/>
            <a:ext cx="4608195" cy="113664"/>
            <a:chOff x="0" y="3342919"/>
            <a:chExt cx="4608195" cy="113664"/>
          </a:xfrm>
        </p:grpSpPr>
        <p:sp>
          <p:nvSpPr>
            <p:cNvPr id="10" name="object 10"/>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1" name="object 11"/>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2" name="object 12"/>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4" name="object 14"/>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5" name="object 15"/>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02888"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000925" y="494639"/>
            <a:ext cx="490220"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a:t>
            </a:r>
            <a:r>
              <a:rPr sz="1100" spc="-60" dirty="0">
                <a:latin typeface="LM Sans 10"/>
                <a:cs typeface="LM Sans 10"/>
              </a:rPr>
              <a:t> </a:t>
            </a:r>
            <a:r>
              <a:rPr sz="1100" spc="-5" dirty="0">
                <a:latin typeface="LM Sans 10"/>
                <a:cs typeface="LM Sans 10"/>
              </a:rPr>
              <a:t>3:</a:t>
            </a:r>
            <a:endParaRPr sz="1100">
              <a:latin typeface="LM Sans 10"/>
              <a:cs typeface="LM Sans 10"/>
            </a:endParaRPr>
          </a:p>
        </p:txBody>
      </p:sp>
      <p:sp>
        <p:nvSpPr>
          <p:cNvPr id="4" name="object 4"/>
          <p:cNvSpPr txBox="1"/>
          <p:nvPr/>
        </p:nvSpPr>
        <p:spPr>
          <a:xfrm>
            <a:off x="1537119" y="486943"/>
            <a:ext cx="2070100" cy="214629"/>
          </a:xfrm>
          <a:prstGeom prst="rect">
            <a:avLst/>
          </a:prstGeom>
          <a:solidFill>
            <a:srgbClr val="FFF200"/>
          </a:solidFill>
        </p:spPr>
        <p:txBody>
          <a:bodyPr vert="horz" wrap="square" lIns="0" tIns="1905" rIns="0" bIns="0" rtlCol="0">
            <a:spAutoFit/>
          </a:bodyPr>
          <a:lstStyle/>
          <a:p>
            <a:pPr marL="37465">
              <a:lnSpc>
                <a:spcPct val="100000"/>
              </a:lnSpc>
              <a:spcBef>
                <a:spcPts val="15"/>
              </a:spcBef>
            </a:pPr>
            <a:r>
              <a:rPr sz="1100" spc="-5" dirty="0">
                <a:latin typeface="LM Sans 10"/>
                <a:cs typeface="LM Sans 10"/>
              </a:rPr>
              <a:t>Bottom-up</a:t>
            </a:r>
            <a:r>
              <a:rPr sz="1100" spc="-25" dirty="0">
                <a:latin typeface="LM Sans 10"/>
                <a:cs typeface="LM Sans 10"/>
              </a:rPr>
              <a:t> </a:t>
            </a:r>
            <a:r>
              <a:rPr sz="1100" spc="-5" dirty="0">
                <a:latin typeface="LM Sans 10"/>
                <a:cs typeface="LM Sans 10"/>
              </a:rPr>
              <a:t>computation</a:t>
            </a:r>
            <a:r>
              <a:rPr sz="1100" spc="-25" dirty="0">
                <a:latin typeface="LM Sans 10"/>
                <a:cs typeface="LM Sans 10"/>
              </a:rPr>
              <a:t> </a:t>
            </a:r>
            <a:r>
              <a:rPr sz="1100" spc="-5" dirty="0">
                <a:latin typeface="LM Sans 10"/>
                <a:cs typeface="LM Sans 10"/>
              </a:rPr>
              <a:t>of</a:t>
            </a:r>
            <a:r>
              <a:rPr sz="1100" spc="-30" dirty="0">
                <a:latin typeface="LM Sans 10"/>
                <a:cs typeface="LM Sans 10"/>
              </a:rPr>
              <a:t> </a:t>
            </a: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endParaRPr sz="1100">
              <a:latin typeface="LM Sans 10"/>
              <a:cs typeface="LM Sans 10"/>
            </a:endParaRPr>
          </a:p>
        </p:txBody>
      </p:sp>
      <p:sp>
        <p:nvSpPr>
          <p:cNvPr id="5" name="object 5"/>
          <p:cNvSpPr txBox="1"/>
          <p:nvPr/>
        </p:nvSpPr>
        <p:spPr>
          <a:xfrm>
            <a:off x="347293" y="790865"/>
            <a:ext cx="1143851" cy="180819"/>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Recurrence:</a:t>
            </a:r>
            <a:endParaRPr sz="1100" dirty="0">
              <a:latin typeface="LM Sans 10"/>
              <a:cs typeface="LM Sans 10"/>
            </a:endParaRPr>
          </a:p>
        </p:txBody>
      </p:sp>
      <p:sp>
        <p:nvSpPr>
          <p:cNvPr id="6" name="object 6"/>
          <p:cNvSpPr txBox="1"/>
          <p:nvPr/>
        </p:nvSpPr>
        <p:spPr>
          <a:xfrm>
            <a:off x="859040" y="1091500"/>
            <a:ext cx="2889885" cy="278130"/>
          </a:xfrm>
          <a:prstGeom prst="rect">
            <a:avLst/>
          </a:prstGeom>
        </p:spPr>
        <p:txBody>
          <a:bodyPr vert="horz" wrap="square" lIns="0" tIns="11430" rIns="0" bIns="0" rtlCol="0">
            <a:spAutoFit/>
          </a:bodyPr>
          <a:lstStyle/>
          <a:p>
            <a:pPr marL="38100">
              <a:lnSpc>
                <a:spcPts val="1180"/>
              </a:lnSpc>
              <a:spcBef>
                <a:spcPts val="90"/>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270" dirty="0">
                <a:latin typeface="LM Sans 10"/>
                <a:cs typeface="LM Sans 10"/>
              </a:rPr>
              <a:t> </a:t>
            </a:r>
            <a:r>
              <a:rPr sz="1100" spc="-10" dirty="0">
                <a:latin typeface="LM Sans 10"/>
                <a:cs typeface="LM Sans 10"/>
              </a:rPr>
              <a:t>min</a:t>
            </a:r>
            <a:r>
              <a:rPr sz="1100" spc="150" dirty="0">
                <a:latin typeface="LM Sans 10"/>
                <a:cs typeface="LM Sans 10"/>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5" dirty="0">
                <a:latin typeface="LM Sans 10"/>
                <a:cs typeface="LM Sans 10"/>
              </a:rPr>
              <a:t> </a:t>
            </a:r>
            <a:r>
              <a:rPr sz="1100" spc="-5"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7" baseline="-10416" dirty="0">
                <a:latin typeface="LM Sans 8"/>
                <a:cs typeface="LM Sans 8"/>
              </a:rPr>
              <a:t> </a:t>
            </a:r>
            <a:r>
              <a:rPr sz="1100" spc="-5" dirty="0">
                <a:latin typeface="LM Sans 10"/>
                <a:cs typeface="LM Sans 10"/>
              </a:rPr>
              <a:t>)</a:t>
            </a:r>
            <a:endParaRPr sz="1100">
              <a:latin typeface="LM Sans 10"/>
              <a:cs typeface="LM Sans 10"/>
            </a:endParaRPr>
          </a:p>
          <a:p>
            <a:pPr marL="572770">
              <a:lnSpc>
                <a:spcPts val="819"/>
              </a:lnSpc>
            </a:pPr>
            <a:r>
              <a:rPr sz="800" i="1" spc="-5" dirty="0">
                <a:latin typeface="LM Sans 8"/>
                <a:cs typeface="LM Sans 8"/>
              </a:rPr>
              <a:t>i</a:t>
            </a:r>
            <a:endParaRPr sz="800">
              <a:latin typeface="LM Sans 8"/>
              <a:cs typeface="LM Sans 8"/>
            </a:endParaRPr>
          </a:p>
        </p:txBody>
      </p:sp>
      <p:sp>
        <p:nvSpPr>
          <p:cNvPr id="7" name="object 7"/>
          <p:cNvSpPr txBox="1">
            <a:spLocks noGrp="1"/>
          </p:cNvSpPr>
          <p:nvPr>
            <p:ph type="body" idx="1"/>
          </p:nvPr>
        </p:nvSpPr>
        <p:spPr>
          <a:prstGeom prst="rect">
            <a:avLst/>
          </a:prstGeom>
        </p:spPr>
        <p:txBody>
          <a:bodyPr vert="horz" wrap="square" lIns="0" tIns="39370" rIns="0" bIns="0" rtlCol="0">
            <a:spAutoFit/>
          </a:bodyPr>
          <a:lstStyle/>
          <a:p>
            <a:pPr marL="1145540">
              <a:lnSpc>
                <a:spcPct val="100000"/>
              </a:lnSpc>
              <a:spcBef>
                <a:spcPts val="310"/>
              </a:spcBef>
            </a:pPr>
            <a:r>
              <a:rPr spc="65" dirty="0">
                <a:latin typeface="Arial"/>
                <a:cs typeface="Arial"/>
              </a:rPr>
              <a:t>≤</a:t>
            </a:r>
            <a:r>
              <a:rPr spc="65" dirty="0"/>
              <a:t>k&lt;j</a:t>
            </a:r>
          </a:p>
          <a:p>
            <a:pPr marL="38100" marR="68580">
              <a:lnSpc>
                <a:spcPct val="102600"/>
              </a:lnSpc>
              <a:spcBef>
                <a:spcPts val="254"/>
              </a:spcBef>
            </a:pPr>
            <a:r>
              <a:rPr sz="1100" i="0" spc="-5" dirty="0">
                <a:solidFill>
                  <a:srgbClr val="0000FF"/>
                </a:solidFill>
                <a:latin typeface="LM Sans 10"/>
                <a:cs typeface="LM Sans 10"/>
              </a:rPr>
              <a:t>Fill in the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 </a:t>
            </a:r>
            <a:r>
              <a:rPr sz="1100" spc="-5" dirty="0">
                <a:solidFill>
                  <a:srgbClr val="0000FF"/>
                </a:solidFill>
                <a:latin typeface="LM Sans 10"/>
                <a:cs typeface="LM Sans 10"/>
              </a:rPr>
              <a:t>j </a:t>
            </a:r>
            <a:r>
              <a:rPr sz="1100" i="0" spc="-5" dirty="0">
                <a:solidFill>
                  <a:srgbClr val="0000FF"/>
                </a:solidFill>
                <a:latin typeface="LM Sans 10"/>
                <a:cs typeface="LM Sans 10"/>
              </a:rPr>
              <a:t>] table in </a:t>
            </a:r>
            <a:r>
              <a:rPr sz="1100" i="0" spc="-10" dirty="0">
                <a:solidFill>
                  <a:srgbClr val="0000FF"/>
                </a:solidFill>
                <a:latin typeface="LM Sans 10"/>
                <a:cs typeface="LM Sans 10"/>
              </a:rPr>
              <a:t>an </a:t>
            </a:r>
            <a:r>
              <a:rPr sz="1100" i="0" spc="-15" dirty="0">
                <a:solidFill>
                  <a:srgbClr val="0000FF"/>
                </a:solidFill>
                <a:latin typeface="LM Sans 10"/>
                <a:cs typeface="LM Sans 10"/>
              </a:rPr>
              <a:t>order, </a:t>
            </a:r>
            <a:r>
              <a:rPr sz="1100" i="0" spc="-5" dirty="0">
                <a:solidFill>
                  <a:srgbClr val="0000FF"/>
                </a:solidFill>
                <a:latin typeface="LM Sans 10"/>
                <a:cs typeface="LM Sans 10"/>
              </a:rPr>
              <a:t>such that </a:t>
            </a:r>
            <a:r>
              <a:rPr sz="1100" i="0" spc="-10" dirty="0">
                <a:solidFill>
                  <a:srgbClr val="0000FF"/>
                </a:solidFill>
                <a:latin typeface="LM Sans 10"/>
                <a:cs typeface="LM Sans 10"/>
              </a:rPr>
              <a:t>when </a:t>
            </a:r>
            <a:r>
              <a:rPr sz="1100" i="0" spc="-5" dirty="0">
                <a:solidFill>
                  <a:srgbClr val="0000FF"/>
                </a:solidFill>
                <a:latin typeface="LM Sans 10"/>
                <a:cs typeface="LM Sans 10"/>
              </a:rPr>
              <a:t>it is time to  calculate</a:t>
            </a:r>
            <a:r>
              <a:rPr sz="1100" i="0" spc="-10" dirty="0">
                <a:solidFill>
                  <a:srgbClr val="0000FF"/>
                </a:solidFill>
                <a:latin typeface="LM Sans 10"/>
                <a:cs typeface="LM Sans 10"/>
              </a:rPr>
              <a:t>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5" dirty="0">
                <a:solidFill>
                  <a:srgbClr val="0000FF"/>
                </a:solidFill>
                <a:latin typeface="LM Sans 10"/>
                <a:cs typeface="LM Sans 10"/>
              </a:rPr>
              <a:t>j</a:t>
            </a:r>
            <a:r>
              <a:rPr sz="1100" spc="-270" dirty="0">
                <a:solidFill>
                  <a:srgbClr val="0000FF"/>
                </a:solidFill>
                <a:latin typeface="LM Sans 10"/>
                <a:cs typeface="LM Sans 10"/>
              </a:rPr>
              <a:t> </a:t>
            </a:r>
            <a:r>
              <a:rPr sz="1100" i="0" spc="-5" dirty="0">
                <a:solidFill>
                  <a:srgbClr val="0000FF"/>
                </a:solidFill>
                <a:latin typeface="LM Sans 10"/>
                <a:cs typeface="LM Sans 10"/>
              </a:rPr>
              <a:t>],</a:t>
            </a:r>
            <a:r>
              <a:rPr sz="1100" i="0" spc="-10" dirty="0">
                <a:solidFill>
                  <a:srgbClr val="0000FF"/>
                </a:solidFill>
                <a:latin typeface="LM Sans 10"/>
                <a:cs typeface="LM Sans 10"/>
              </a:rPr>
              <a:t> </a:t>
            </a:r>
            <a:r>
              <a:rPr sz="1100" i="0" spc="-5" dirty="0">
                <a:solidFill>
                  <a:srgbClr val="0000FF"/>
                </a:solidFill>
                <a:latin typeface="LM Sans 10"/>
                <a:cs typeface="LM Sans 10"/>
              </a:rPr>
              <a:t>the values</a:t>
            </a:r>
            <a:r>
              <a:rPr sz="1100" i="0" spc="-10" dirty="0">
                <a:solidFill>
                  <a:srgbClr val="0000FF"/>
                </a:solidFill>
                <a:latin typeface="LM Sans 10"/>
                <a:cs typeface="LM Sans 10"/>
              </a:rPr>
              <a:t> </a:t>
            </a:r>
            <a:r>
              <a:rPr sz="1100" i="0" spc="-5" dirty="0">
                <a:solidFill>
                  <a:srgbClr val="0000FF"/>
                </a:solidFill>
                <a:latin typeface="LM Sans 10"/>
                <a:cs typeface="LM Sans 10"/>
              </a:rPr>
              <a:t>of</a:t>
            </a:r>
            <a:r>
              <a:rPr sz="1100" i="0" dirty="0">
                <a:solidFill>
                  <a:srgbClr val="0000FF"/>
                </a:solidFill>
                <a:latin typeface="LM Sans 10"/>
                <a:cs typeface="LM Sans 10"/>
              </a:rPr>
              <a:t> </a:t>
            </a:r>
            <a:r>
              <a:rPr sz="1100" spc="25" dirty="0">
                <a:solidFill>
                  <a:srgbClr val="0000FF"/>
                </a:solidFill>
                <a:latin typeface="LM Sans 10"/>
                <a:cs typeface="LM Sans 10"/>
              </a:rPr>
              <a:t>m</a:t>
            </a:r>
            <a:r>
              <a:rPr sz="1100" i="0" spc="25" dirty="0">
                <a:solidFill>
                  <a:srgbClr val="0000FF"/>
                </a:solidFill>
                <a:latin typeface="LM Sans 10"/>
                <a:cs typeface="LM Sans 10"/>
              </a:rPr>
              <a:t>[</a:t>
            </a:r>
            <a:r>
              <a:rPr sz="1100" spc="25" dirty="0">
                <a:solidFill>
                  <a:srgbClr val="0000FF"/>
                </a:solidFill>
                <a:latin typeface="LM Sans 10"/>
                <a:cs typeface="LM Sans 10"/>
              </a:rPr>
              <a:t>i</a:t>
            </a:r>
            <a:r>
              <a:rPr sz="1100" spc="2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40" dirty="0">
                <a:solidFill>
                  <a:srgbClr val="0000FF"/>
                </a:solidFill>
                <a:latin typeface="LM Sans 10"/>
                <a:cs typeface="LM Sans 10"/>
              </a:rPr>
              <a:t>k</a:t>
            </a:r>
            <a:r>
              <a:rPr sz="1100" i="0" spc="40" dirty="0">
                <a:solidFill>
                  <a:srgbClr val="0000FF"/>
                </a:solidFill>
                <a:latin typeface="LM Sans 10"/>
                <a:cs typeface="LM Sans 10"/>
              </a:rPr>
              <a:t>]</a:t>
            </a:r>
            <a:r>
              <a:rPr sz="1100" i="0" spc="-10" dirty="0">
                <a:solidFill>
                  <a:srgbClr val="0000FF"/>
                </a:solidFill>
                <a:latin typeface="LM Sans 10"/>
                <a:cs typeface="LM Sans 10"/>
              </a:rPr>
              <a:t> and</a:t>
            </a:r>
            <a:r>
              <a:rPr sz="1100" i="0" spc="-5" dirty="0">
                <a:solidFill>
                  <a:srgbClr val="0000FF"/>
                </a:solidFill>
                <a:latin typeface="LM Sans 10"/>
                <a:cs typeface="LM Sans 10"/>
              </a:rPr>
              <a:t> </a:t>
            </a:r>
            <a:r>
              <a:rPr sz="1100" spc="-5" dirty="0">
                <a:solidFill>
                  <a:srgbClr val="0000FF"/>
                </a:solidFill>
                <a:latin typeface="LM Sans 10"/>
                <a:cs typeface="LM Sans 10"/>
              </a:rPr>
              <a:t>m</a:t>
            </a:r>
            <a:r>
              <a:rPr sz="1100" i="0" spc="-5" dirty="0">
                <a:solidFill>
                  <a:srgbClr val="0000FF"/>
                </a:solidFill>
                <a:latin typeface="LM Sans 10"/>
                <a:cs typeface="LM Sans 10"/>
              </a:rPr>
              <a:t>[</a:t>
            </a:r>
            <a:r>
              <a:rPr sz="1100" spc="-5" dirty="0">
                <a:solidFill>
                  <a:srgbClr val="0000FF"/>
                </a:solidFill>
                <a:latin typeface="LM Sans 10"/>
                <a:cs typeface="LM Sans 10"/>
              </a:rPr>
              <a:t>k</a:t>
            </a:r>
            <a:r>
              <a:rPr sz="1100" spc="-35" dirty="0">
                <a:solidFill>
                  <a:srgbClr val="0000FF"/>
                </a:solidFill>
                <a:latin typeface="LM Sans 10"/>
                <a:cs typeface="LM Sans 10"/>
              </a:rPr>
              <a:t> </a:t>
            </a:r>
            <a:r>
              <a:rPr sz="1100" i="0" spc="-10" dirty="0">
                <a:solidFill>
                  <a:srgbClr val="0000FF"/>
                </a:solidFill>
                <a:latin typeface="LM Sans 10"/>
                <a:cs typeface="LM Sans 10"/>
              </a:rPr>
              <a:t>+</a:t>
            </a:r>
            <a:r>
              <a:rPr sz="1100" i="0" spc="-130" dirty="0">
                <a:solidFill>
                  <a:srgbClr val="0000FF"/>
                </a:solidFill>
                <a:latin typeface="LM Sans 10"/>
                <a:cs typeface="LM Sans 10"/>
              </a:rPr>
              <a:t> </a:t>
            </a:r>
            <a:r>
              <a:rPr sz="1100" i="0" spc="-5" dirty="0">
                <a:solidFill>
                  <a:srgbClr val="0000FF"/>
                </a:solidFill>
                <a:latin typeface="LM Sans 10"/>
                <a:cs typeface="LM Sans 10"/>
              </a:rPr>
              <a:t>1</a:t>
            </a:r>
            <a:r>
              <a:rPr sz="1100" spc="-5" dirty="0">
                <a:solidFill>
                  <a:srgbClr val="0000FF"/>
                </a:solidFill>
                <a:latin typeface="LM Roman Dunhill 10"/>
                <a:cs typeface="LM Roman Dunhill 10"/>
              </a:rPr>
              <a:t>,</a:t>
            </a:r>
            <a:r>
              <a:rPr sz="1100" spc="-185" dirty="0">
                <a:solidFill>
                  <a:srgbClr val="0000FF"/>
                </a:solidFill>
                <a:latin typeface="LM Roman Dunhill 10"/>
                <a:cs typeface="LM Roman Dunhill 10"/>
              </a:rPr>
              <a:t> </a:t>
            </a:r>
            <a:r>
              <a:rPr sz="1100" spc="-5" dirty="0">
                <a:solidFill>
                  <a:srgbClr val="0000FF"/>
                </a:solidFill>
                <a:latin typeface="LM Sans 10"/>
                <a:cs typeface="LM Sans 10"/>
              </a:rPr>
              <a:t>j</a:t>
            </a:r>
            <a:r>
              <a:rPr sz="1100" spc="-270" dirty="0">
                <a:solidFill>
                  <a:srgbClr val="0000FF"/>
                </a:solidFill>
                <a:latin typeface="LM Sans 10"/>
                <a:cs typeface="LM Sans 10"/>
              </a:rPr>
              <a:t> </a:t>
            </a:r>
            <a:r>
              <a:rPr sz="1100" i="0" spc="-5" dirty="0">
                <a:solidFill>
                  <a:srgbClr val="0000FF"/>
                </a:solidFill>
                <a:latin typeface="LM Sans 10"/>
                <a:cs typeface="LM Sans 10"/>
              </a:rPr>
              <a:t>]</a:t>
            </a:r>
            <a:r>
              <a:rPr sz="1100" i="0" spc="-10" dirty="0">
                <a:solidFill>
                  <a:srgbClr val="0000FF"/>
                </a:solidFill>
                <a:latin typeface="LM Sans 10"/>
                <a:cs typeface="LM Sans 10"/>
              </a:rPr>
              <a:t> </a:t>
            </a:r>
            <a:r>
              <a:rPr sz="1100" i="0" spc="-15" dirty="0">
                <a:solidFill>
                  <a:srgbClr val="0000FF"/>
                </a:solidFill>
                <a:latin typeface="LM Sans 10"/>
                <a:cs typeface="LM Sans 10"/>
              </a:rPr>
              <a:t>for</a:t>
            </a:r>
            <a:r>
              <a:rPr sz="1100" i="0" spc="-5" dirty="0">
                <a:solidFill>
                  <a:srgbClr val="0000FF"/>
                </a:solidFill>
                <a:latin typeface="LM Sans 10"/>
                <a:cs typeface="LM Sans 10"/>
              </a:rPr>
              <a:t> all </a:t>
            </a:r>
            <a:r>
              <a:rPr sz="1100" spc="-10" dirty="0">
                <a:solidFill>
                  <a:srgbClr val="0000FF"/>
                </a:solidFill>
                <a:latin typeface="LM Sans 10"/>
                <a:cs typeface="LM Sans 10"/>
              </a:rPr>
              <a:t>k</a:t>
            </a:r>
            <a:r>
              <a:rPr sz="1100" spc="80" dirty="0">
                <a:solidFill>
                  <a:srgbClr val="0000FF"/>
                </a:solidFill>
                <a:latin typeface="LM Sans 10"/>
                <a:cs typeface="LM Sans 10"/>
              </a:rPr>
              <a:t> </a:t>
            </a:r>
            <a:r>
              <a:rPr sz="1100" i="0" spc="-15" dirty="0">
                <a:solidFill>
                  <a:srgbClr val="0000FF"/>
                </a:solidFill>
                <a:latin typeface="LM Sans 10"/>
                <a:cs typeface="LM Sans 10"/>
              </a:rPr>
              <a:t>are  </a:t>
            </a:r>
            <a:r>
              <a:rPr sz="1100" i="0" spc="-5" dirty="0">
                <a:solidFill>
                  <a:srgbClr val="0000FF"/>
                </a:solidFill>
                <a:latin typeface="LM Sans 10"/>
                <a:cs typeface="LM Sans 10"/>
              </a:rPr>
              <a:t>already</a:t>
            </a:r>
            <a:r>
              <a:rPr sz="1100" i="0" spc="-10" dirty="0">
                <a:solidFill>
                  <a:srgbClr val="0000FF"/>
                </a:solidFill>
                <a:latin typeface="LM Sans 10"/>
                <a:cs typeface="LM Sans 10"/>
              </a:rPr>
              <a:t> </a:t>
            </a:r>
            <a:r>
              <a:rPr sz="1100" i="0" spc="-5" dirty="0">
                <a:solidFill>
                  <a:srgbClr val="0000FF"/>
                </a:solidFill>
                <a:latin typeface="LM Sans 10"/>
                <a:cs typeface="LM Sans 10"/>
              </a:rPr>
              <a:t>available.</a:t>
            </a:r>
            <a:endParaRPr sz="1100" dirty="0">
              <a:latin typeface="LM Sans 10"/>
              <a:cs typeface="LM Sans 10"/>
            </a:endParaRPr>
          </a:p>
          <a:p>
            <a:pPr marL="38100" marR="30480">
              <a:lnSpc>
                <a:spcPct val="102600"/>
              </a:lnSpc>
              <a:spcBef>
                <a:spcPts val="285"/>
              </a:spcBef>
            </a:pPr>
            <a:r>
              <a:rPr sz="1100" i="0" spc="-10" dirty="0">
                <a:latin typeface="LM Sans 10"/>
                <a:cs typeface="LM Sans 10"/>
              </a:rPr>
              <a:t>An </a:t>
            </a:r>
            <a:r>
              <a:rPr sz="1100" i="0" spc="-5" dirty="0">
                <a:latin typeface="LM Sans 10"/>
                <a:cs typeface="LM Sans 10"/>
              </a:rPr>
              <a:t>easy </a:t>
            </a:r>
            <a:r>
              <a:rPr sz="1100" i="0" spc="-30" dirty="0">
                <a:latin typeface="LM Sans 10"/>
                <a:cs typeface="LM Sans 10"/>
              </a:rPr>
              <a:t>way </a:t>
            </a:r>
            <a:r>
              <a:rPr sz="1100" i="0" spc="-5" dirty="0">
                <a:latin typeface="LM Sans 10"/>
                <a:cs typeface="LM Sans 10"/>
              </a:rPr>
              <a:t>to ensure this </a:t>
            </a:r>
            <a:r>
              <a:rPr sz="1100" i="0" spc="-10" dirty="0">
                <a:latin typeface="LM Sans 10"/>
                <a:cs typeface="LM Sans 10"/>
              </a:rPr>
              <a:t>is </a:t>
            </a:r>
            <a:r>
              <a:rPr sz="1100" i="0" spc="-5" dirty="0">
                <a:latin typeface="LM Sans 10"/>
                <a:cs typeface="LM Sans 10"/>
              </a:rPr>
              <a:t>to compute </a:t>
            </a:r>
            <a:r>
              <a:rPr sz="1100" i="0" spc="-10" dirty="0">
                <a:latin typeface="LM Sans 10"/>
                <a:cs typeface="LM Sans 10"/>
              </a:rPr>
              <a:t>them </a:t>
            </a:r>
            <a:r>
              <a:rPr sz="1100" i="0" spc="-5" dirty="0">
                <a:latin typeface="LM Sans 10"/>
                <a:cs typeface="LM Sans 10"/>
              </a:rPr>
              <a:t>in increasing </a:t>
            </a:r>
            <a:r>
              <a:rPr sz="1100" i="0" spc="-15" dirty="0">
                <a:latin typeface="LM Sans 10"/>
                <a:cs typeface="LM Sans 10"/>
              </a:rPr>
              <a:t>order  </a:t>
            </a:r>
            <a:r>
              <a:rPr sz="1100" i="0" spc="-5" dirty="0">
                <a:latin typeface="LM Sans 10"/>
                <a:cs typeface="LM Sans 10"/>
              </a:rPr>
              <a:t>of</a:t>
            </a:r>
            <a:r>
              <a:rPr sz="1100" i="0" spc="-10" dirty="0">
                <a:latin typeface="LM Sans 10"/>
                <a:cs typeface="LM Sans 10"/>
              </a:rPr>
              <a:t> </a:t>
            </a:r>
            <a:r>
              <a:rPr sz="1100" i="0" spc="-5" dirty="0">
                <a:latin typeface="LM Sans 10"/>
                <a:cs typeface="LM Sans 10"/>
              </a:rPr>
              <a:t>the size (</a:t>
            </a:r>
            <a:r>
              <a:rPr sz="1100" spc="-5" dirty="0">
                <a:latin typeface="LM Sans 10"/>
                <a:cs typeface="LM Sans 10"/>
              </a:rPr>
              <a:t>j</a:t>
            </a:r>
            <a:r>
              <a:rPr sz="1100" spc="-30" dirty="0">
                <a:latin typeface="LM Sans 10"/>
                <a:cs typeface="LM Sans 10"/>
              </a:rPr>
              <a:t> </a:t>
            </a:r>
            <a:r>
              <a:rPr sz="1100" spc="15" dirty="0">
                <a:latin typeface="DejaVu Sans Condensed"/>
                <a:cs typeface="DejaVu Sans Condensed"/>
              </a:rPr>
              <a:t>−</a:t>
            </a:r>
            <a:r>
              <a:rPr sz="1100" spc="-75" dirty="0">
                <a:latin typeface="DejaVu Sans Condensed"/>
                <a:cs typeface="DejaVu Sans Condensed"/>
              </a:rPr>
              <a:t> </a:t>
            </a:r>
            <a:r>
              <a:rPr sz="1100" spc="-5" dirty="0">
                <a:latin typeface="LM Sans 10"/>
                <a:cs typeface="LM Sans 10"/>
              </a:rPr>
              <a:t>i</a:t>
            </a:r>
            <a:r>
              <a:rPr sz="1100" spc="-260" dirty="0">
                <a:latin typeface="LM Sans 10"/>
                <a:cs typeface="LM Sans 10"/>
              </a:rPr>
              <a:t> </a:t>
            </a:r>
            <a:r>
              <a:rPr sz="1100" i="0" spc="-5" dirty="0">
                <a:latin typeface="LM Sans 10"/>
                <a:cs typeface="LM Sans 10"/>
              </a:rPr>
              <a:t>) of</a:t>
            </a:r>
            <a:r>
              <a:rPr sz="1100" i="0" spc="-10" dirty="0">
                <a:latin typeface="LM Sans 10"/>
                <a:cs typeface="LM Sans 10"/>
              </a:rPr>
              <a:t> </a:t>
            </a:r>
            <a:r>
              <a:rPr sz="1100" i="0" spc="-5" dirty="0">
                <a:latin typeface="LM Sans 10"/>
                <a:cs typeface="LM Sans 10"/>
              </a:rPr>
              <a:t>the matrix-chain</a:t>
            </a:r>
            <a:r>
              <a:rPr sz="1100" i="0" dirty="0">
                <a:latin typeface="LM Sans 10"/>
                <a:cs typeface="LM Sans 10"/>
              </a:rPr>
              <a:t> </a:t>
            </a:r>
            <a:r>
              <a:rPr sz="1100" spc="10" dirty="0">
                <a:latin typeface="LM Sans 10"/>
                <a:cs typeface="LM Sans 10"/>
              </a:rPr>
              <a:t>A</a:t>
            </a:r>
            <a:r>
              <a:rPr sz="1200" spc="15" baseline="-10416" dirty="0"/>
              <a:t>i..j</a:t>
            </a:r>
            <a:r>
              <a:rPr sz="1200" spc="-240" baseline="-10416" dirty="0"/>
              <a:t> </a:t>
            </a:r>
            <a:r>
              <a:rPr sz="1100" i="0" spc="-5" dirty="0">
                <a:latin typeface="LM Sans 10"/>
                <a:cs typeface="LM Sans 10"/>
              </a:rPr>
              <a:t>:</a:t>
            </a:r>
            <a:endParaRPr sz="1100" dirty="0">
              <a:latin typeface="LM Sans 10"/>
              <a:cs typeface="LM Sans 10"/>
            </a:endParaRPr>
          </a:p>
        </p:txBody>
      </p:sp>
      <p:sp>
        <p:nvSpPr>
          <p:cNvPr id="8" name="object 8"/>
          <p:cNvSpPr txBox="1"/>
          <p:nvPr/>
        </p:nvSpPr>
        <p:spPr>
          <a:xfrm>
            <a:off x="347294" y="2342050"/>
            <a:ext cx="3913504" cy="956944"/>
          </a:xfrm>
          <a:prstGeom prst="rect">
            <a:avLst/>
          </a:prstGeom>
        </p:spPr>
        <p:txBody>
          <a:bodyPr vert="horz" wrap="square" lIns="0" tIns="12065" rIns="0" bIns="0" rtlCol="0">
            <a:spAutoFit/>
          </a:bodyPr>
          <a:lstStyle/>
          <a:p>
            <a:pPr marL="12700">
              <a:lnSpc>
                <a:spcPts val="1200"/>
              </a:lnSpc>
              <a:spcBef>
                <a:spcPts val="95"/>
              </a:spcBef>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spc="-165"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100"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10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7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195"/>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5]</a:t>
            </a:r>
            <a:r>
              <a:rPr sz="1000" i="1" spc="-5" dirty="0">
                <a:solidFill>
                  <a:srgbClr val="FF0000"/>
                </a:solidFill>
                <a:latin typeface="LM Roman Dunhill 10"/>
                <a:cs typeface="LM Roman Dunhill 10"/>
              </a:rPr>
              <a:t>, .</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2</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195"/>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spc="-5" dirty="0">
                <a:solidFill>
                  <a:srgbClr val="FF0000"/>
                </a:solidFill>
                <a:latin typeface="LM Sans 10"/>
                <a:cs typeface="LM Sans 10"/>
              </a:rPr>
              <a:t>4]</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5]</a:t>
            </a:r>
            <a:r>
              <a:rPr sz="1000" i="1" spc="-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[3</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spc="-5" dirty="0">
                <a:solidFill>
                  <a:srgbClr val="FF0000"/>
                </a:solidFill>
                <a:latin typeface="LM Sans 10"/>
                <a:cs typeface="LM Sans 10"/>
              </a:rPr>
              <a:t>6]</a:t>
            </a:r>
            <a:r>
              <a:rPr sz="1000" i="1" spc="-5" dirty="0">
                <a:solidFill>
                  <a:srgbClr val="FF0000"/>
                </a:solidFill>
                <a:latin typeface="LM Roman Dunhill 10"/>
                <a:cs typeface="LM Roman Dunhill 10"/>
              </a:rPr>
              <a:t>, .</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a:t>
            </a:r>
            <a:r>
              <a:rPr sz="1000" i="1"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3</a:t>
            </a:r>
            <a:r>
              <a:rPr sz="1000" i="1" spc="-5"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ts val="1195"/>
              </a:lnSpc>
            </a:pPr>
            <a:r>
              <a:rPr sz="1000" i="1" spc="-5"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Roman Dunhill 10"/>
                <a:cs typeface="LM Roman Dunhill 10"/>
              </a:rPr>
              <a:t>.</a:t>
            </a:r>
            <a:endParaRPr sz="1000">
              <a:latin typeface="LM Roman Dunhill 10"/>
              <a:cs typeface="LM Roman Dunhill 10"/>
            </a:endParaRPr>
          </a:p>
          <a:p>
            <a:pPr marL="12700">
              <a:lnSpc>
                <a:spcPts val="1200"/>
              </a:lnSpc>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i="1" spc="-5" dirty="0">
                <a:solidFill>
                  <a:srgbClr val="FF0000"/>
                </a:solidFill>
                <a:latin typeface="LM Sans 10"/>
                <a:cs typeface="LM Sans 10"/>
              </a:rPr>
              <a:t>n</a:t>
            </a:r>
            <a:r>
              <a:rPr sz="1000" i="1" spc="-95" dirty="0">
                <a:solidFill>
                  <a:srgbClr val="FF0000"/>
                </a:solidFill>
                <a:latin typeface="LM Sans 10"/>
                <a:cs typeface="LM Sans 10"/>
              </a:rPr>
              <a:t> </a:t>
            </a:r>
            <a:r>
              <a:rPr sz="1000" i="1" spc="20" dirty="0">
                <a:solidFill>
                  <a:srgbClr val="FF0000"/>
                </a:solidFill>
                <a:latin typeface="DejaVu Sans Condensed"/>
                <a:cs typeface="DejaVu Sans Condensed"/>
              </a:rPr>
              <a:t>−</a:t>
            </a:r>
            <a:r>
              <a:rPr sz="1000" i="1" spc="-65" dirty="0">
                <a:solidFill>
                  <a:srgbClr val="FF0000"/>
                </a:solidFill>
                <a:latin typeface="DejaVu Sans Condensed"/>
                <a:cs typeface="DejaVu Sans Condensed"/>
              </a:rPr>
              <a:t> </a:t>
            </a:r>
            <a:r>
              <a:rPr sz="1000" spc="-5" dirty="0">
                <a:solidFill>
                  <a:srgbClr val="FF0000"/>
                </a:solidFill>
                <a:latin typeface="LM Sans 10"/>
                <a:cs typeface="LM Sans 10"/>
              </a:rPr>
              <a:t>1]</a:t>
            </a:r>
            <a:r>
              <a:rPr sz="1000" i="1" spc="-5" dirty="0">
                <a:solidFill>
                  <a:srgbClr val="FF0000"/>
                </a:solidFill>
                <a:latin typeface="LM Roman Dunhill 10"/>
                <a:cs typeface="LM Roman Dunhill 10"/>
              </a:rPr>
              <a:t>,</a:t>
            </a:r>
            <a:r>
              <a:rPr sz="1000" i="1" spc="165" dirty="0">
                <a:solidFill>
                  <a:srgbClr val="FF0000"/>
                </a:solidFill>
                <a:latin typeface="LM Roman Dunhill 10"/>
                <a:cs typeface="LM Roman Dunhill 10"/>
              </a:rPr>
              <a:t> </a:t>
            </a:r>
            <a:r>
              <a:rPr sz="1000" i="1" dirty="0">
                <a:solidFill>
                  <a:srgbClr val="FF0000"/>
                </a:solidFill>
                <a:latin typeface="LM Sans 10"/>
                <a:cs typeface="LM Sans 10"/>
              </a:rPr>
              <a:t>m</a:t>
            </a:r>
            <a:r>
              <a:rPr sz="1000" dirty="0">
                <a:solidFill>
                  <a:srgbClr val="FF0000"/>
                </a:solidFill>
                <a:latin typeface="LM Sans 10"/>
                <a:cs typeface="LM Sans 10"/>
              </a:rPr>
              <a:t>[2</a:t>
            </a:r>
            <a:r>
              <a:rPr sz="1000" i="1" dirty="0">
                <a:solidFill>
                  <a:srgbClr val="FF0000"/>
                </a:solidFill>
                <a:latin typeface="LM Roman Dunhill 10"/>
                <a:cs typeface="LM Roman Dunhill 10"/>
              </a:rPr>
              <a:t>,</a:t>
            </a:r>
            <a:r>
              <a:rPr sz="1000" i="1" spc="-170"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a:p>
            <a:pPr marL="12700">
              <a:lnSpc>
                <a:spcPct val="100000"/>
              </a:lnSpc>
              <a:spcBef>
                <a:spcPts val="155"/>
              </a:spcBef>
            </a:pPr>
            <a:r>
              <a:rPr sz="1000" i="1" dirty="0">
                <a:solidFill>
                  <a:srgbClr val="FF0000"/>
                </a:solidFill>
                <a:latin typeface="LM Sans 10"/>
                <a:cs typeface="LM Sans 10"/>
              </a:rPr>
              <a:t>m</a:t>
            </a:r>
            <a:r>
              <a:rPr sz="1000" dirty="0">
                <a:solidFill>
                  <a:srgbClr val="FF0000"/>
                </a:solidFill>
                <a:latin typeface="LM Sans 10"/>
                <a:cs typeface="LM Sans 10"/>
              </a:rPr>
              <a:t>[1</a:t>
            </a:r>
            <a:r>
              <a:rPr sz="1000" i="1" dirty="0">
                <a:solidFill>
                  <a:srgbClr val="FF0000"/>
                </a:solidFill>
                <a:latin typeface="LM Roman Dunhill 10"/>
                <a:cs typeface="LM Roman Dunhill 10"/>
              </a:rPr>
              <a:t>,</a:t>
            </a:r>
            <a:r>
              <a:rPr sz="1000" i="1" spc="-175" dirty="0">
                <a:solidFill>
                  <a:srgbClr val="FF0000"/>
                </a:solidFill>
                <a:latin typeface="LM Roman Dunhill 10"/>
                <a:cs typeface="LM Roman Dunhill 10"/>
              </a:rPr>
              <a:t> </a:t>
            </a:r>
            <a:r>
              <a:rPr sz="1000" i="1" spc="5" dirty="0">
                <a:solidFill>
                  <a:srgbClr val="FF0000"/>
                </a:solidFill>
                <a:latin typeface="LM Sans 10"/>
                <a:cs typeface="LM Sans 10"/>
              </a:rPr>
              <a:t>n</a:t>
            </a:r>
            <a:r>
              <a:rPr sz="1000" spc="5" dirty="0">
                <a:solidFill>
                  <a:srgbClr val="FF0000"/>
                </a:solidFill>
                <a:latin typeface="LM Sans 10"/>
                <a:cs typeface="LM Sans 10"/>
              </a:rPr>
              <a:t>]</a:t>
            </a:r>
            <a:endParaRPr sz="1000">
              <a:latin typeface="LM Sans 10"/>
              <a:cs typeface="LM Sans 10"/>
            </a:endParaRPr>
          </a:p>
        </p:txBody>
      </p:sp>
      <p:grpSp>
        <p:nvGrpSpPr>
          <p:cNvPr id="9" name="object 9"/>
          <p:cNvGrpSpPr/>
          <p:nvPr/>
        </p:nvGrpSpPr>
        <p:grpSpPr>
          <a:xfrm>
            <a:off x="0" y="3342919"/>
            <a:ext cx="4608195" cy="113664"/>
            <a:chOff x="0" y="3342919"/>
            <a:chExt cx="4608195" cy="113664"/>
          </a:xfrm>
        </p:grpSpPr>
        <p:sp>
          <p:nvSpPr>
            <p:cNvPr id="10" name="object 10"/>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1" name="object 11"/>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2" name="object 12"/>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4" name="object 14"/>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Tree>
  </p:cSld>
  <p:clrMapOvr>
    <a:masterClrMapping/>
  </p:clrMapOvr>
  <p:transition>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3598088" cy="232756"/>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5" dirty="0">
                <a:solidFill>
                  <a:srgbClr val="FFFFFF"/>
                </a:solidFill>
                <a:latin typeface="LM Sans 12"/>
                <a:cs typeface="LM Sans 12"/>
              </a:rPr>
              <a:t>for </a:t>
            </a:r>
            <a:r>
              <a:rPr sz="1400" spc="10" dirty="0">
                <a:solidFill>
                  <a:srgbClr val="FFFFFF"/>
                </a:solidFill>
                <a:latin typeface="LM Sans 12"/>
                <a:cs typeface="LM Sans 12"/>
              </a:rPr>
              <a:t>the </a:t>
            </a:r>
            <a:r>
              <a:rPr sz="1400" spc="15" dirty="0">
                <a:solidFill>
                  <a:srgbClr val="FFFFFF"/>
                </a:solidFill>
                <a:latin typeface="LM Sans 12"/>
                <a:cs typeface="LM Sans 12"/>
              </a:rPr>
              <a:t>Bottom-Up</a:t>
            </a:r>
            <a:r>
              <a:rPr sz="1400" spc="-15" dirty="0">
                <a:solidFill>
                  <a:srgbClr val="FFFFFF"/>
                </a:solidFill>
                <a:latin typeface="LM Sans 12"/>
                <a:cs typeface="LM Sans 12"/>
              </a:rPr>
              <a:t> </a:t>
            </a:r>
            <a:r>
              <a:rPr sz="1400" spc="10" dirty="0">
                <a:solidFill>
                  <a:srgbClr val="FFFFFF"/>
                </a:solidFill>
                <a:latin typeface="LM Sans 12"/>
                <a:cs typeface="LM Sans 12"/>
              </a:rPr>
              <a:t>Computation</a:t>
            </a:r>
            <a:endParaRPr sz="1400" dirty="0">
              <a:latin typeface="LM Sans 12"/>
              <a:cs typeface="LM Sans 12"/>
            </a:endParaRPr>
          </a:p>
        </p:txBody>
      </p:sp>
      <p:grpSp>
        <p:nvGrpSpPr>
          <p:cNvPr id="3" name="object 3"/>
          <p:cNvGrpSpPr/>
          <p:nvPr/>
        </p:nvGrpSpPr>
        <p:grpSpPr>
          <a:xfrm>
            <a:off x="309193" y="405701"/>
            <a:ext cx="4040504" cy="641985"/>
            <a:chOff x="309193" y="405701"/>
            <a:chExt cx="4040504" cy="641985"/>
          </a:xfrm>
        </p:grpSpPr>
        <p:sp>
          <p:nvSpPr>
            <p:cNvPr id="4" name="object 4"/>
            <p:cNvSpPr/>
            <p:nvPr/>
          </p:nvSpPr>
          <p:spPr>
            <a:xfrm>
              <a:off x="309193" y="405701"/>
              <a:ext cx="3989704" cy="186690"/>
            </a:xfrm>
            <a:custGeom>
              <a:avLst/>
              <a:gdLst/>
              <a:ahLst/>
              <a:cxnLst/>
              <a:rect l="l" t="t" r="r" b="b"/>
              <a:pathLst>
                <a:path w="3989704" h="186690">
                  <a:moveTo>
                    <a:pt x="3938854" y="0"/>
                  </a:moveTo>
                  <a:lnTo>
                    <a:pt x="50800" y="0"/>
                  </a:lnTo>
                  <a:lnTo>
                    <a:pt x="31075" y="4008"/>
                  </a:lnTo>
                  <a:lnTo>
                    <a:pt x="14922" y="14922"/>
                  </a:lnTo>
                  <a:lnTo>
                    <a:pt x="4008" y="31075"/>
                  </a:lnTo>
                  <a:lnTo>
                    <a:pt x="0" y="50800"/>
                  </a:lnTo>
                  <a:lnTo>
                    <a:pt x="0" y="186558"/>
                  </a:lnTo>
                  <a:lnTo>
                    <a:pt x="3989654" y="186558"/>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579602"/>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94574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93304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449935"/>
              <a:ext cx="50749" cy="49580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623885"/>
              <a:ext cx="3989704" cy="372745"/>
            </a:xfrm>
            <a:custGeom>
              <a:avLst/>
              <a:gdLst/>
              <a:ahLst/>
              <a:cxnLst/>
              <a:rect l="l" t="t" r="r" b="b"/>
              <a:pathLst>
                <a:path w="3989704" h="372744">
                  <a:moveTo>
                    <a:pt x="3989654" y="0"/>
                  </a:moveTo>
                  <a:lnTo>
                    <a:pt x="0" y="0"/>
                  </a:lnTo>
                  <a:lnTo>
                    <a:pt x="0" y="321858"/>
                  </a:lnTo>
                  <a:lnTo>
                    <a:pt x="4008" y="341583"/>
                  </a:lnTo>
                  <a:lnTo>
                    <a:pt x="14922" y="357736"/>
                  </a:lnTo>
                  <a:lnTo>
                    <a:pt x="31075" y="368650"/>
                  </a:lnTo>
                  <a:lnTo>
                    <a:pt x="50800" y="372659"/>
                  </a:lnTo>
                  <a:lnTo>
                    <a:pt x="3938854" y="372659"/>
                  </a:lnTo>
                  <a:lnTo>
                    <a:pt x="3958579" y="368650"/>
                  </a:lnTo>
                  <a:lnTo>
                    <a:pt x="3974732" y="357736"/>
                  </a:lnTo>
                  <a:lnTo>
                    <a:pt x="3985646" y="341583"/>
                  </a:lnTo>
                  <a:lnTo>
                    <a:pt x="3989654" y="321858"/>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488031"/>
              <a:ext cx="0" cy="476884"/>
            </a:xfrm>
            <a:custGeom>
              <a:avLst/>
              <a:gdLst/>
              <a:ahLst/>
              <a:cxnLst/>
              <a:rect l="l" t="t" r="r" b="b"/>
              <a:pathLst>
                <a:path h="476884">
                  <a:moveTo>
                    <a:pt x="0" y="4767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47533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46263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44993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09194" y="349641"/>
            <a:ext cx="3418840" cy="608330"/>
          </a:xfrm>
          <a:prstGeom prst="rect">
            <a:avLst/>
          </a:prstGeom>
        </p:spPr>
        <p:txBody>
          <a:bodyPr vert="horz" wrap="square" lIns="0" tIns="50800" rIns="0" bIns="0" rtlCol="0">
            <a:spAutoFit/>
          </a:bodyPr>
          <a:lstStyle/>
          <a:p>
            <a:pPr marL="50800">
              <a:lnSpc>
                <a:spcPct val="100000"/>
              </a:lnSpc>
              <a:spcBef>
                <a:spcPts val="400"/>
              </a:spcBef>
            </a:pPr>
            <a:r>
              <a:rPr sz="1100" spc="-10" dirty="0">
                <a:solidFill>
                  <a:srgbClr val="FFFFFF"/>
                </a:solidFill>
                <a:latin typeface="LM Sans 10"/>
                <a:cs typeface="LM Sans 10"/>
              </a:rPr>
              <a:t>Example</a:t>
            </a:r>
            <a:endParaRPr sz="1100">
              <a:latin typeface="LM Sans 10"/>
              <a:cs typeface="LM Sans 10"/>
            </a:endParaRPr>
          </a:p>
          <a:p>
            <a:pPr marL="50800">
              <a:lnSpc>
                <a:spcPct val="100000"/>
              </a:lnSpc>
              <a:spcBef>
                <a:spcPts val="295"/>
              </a:spcBef>
            </a:pPr>
            <a:r>
              <a:rPr sz="1100" spc="-10" dirty="0">
                <a:latin typeface="LM Sans 10"/>
                <a:cs typeface="LM Sans 10"/>
              </a:rPr>
              <a:t>A </a:t>
            </a:r>
            <a:r>
              <a:rPr sz="1100" spc="-5" dirty="0">
                <a:latin typeface="LM Sans 10"/>
                <a:cs typeface="LM Sans 10"/>
              </a:rPr>
              <a:t>chain of four matrices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 </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 </a:t>
            </a:r>
            <a:r>
              <a:rPr sz="1100" i="1" spc="-5" dirty="0">
                <a:latin typeface="LM Sans 10"/>
                <a:cs typeface="LM Sans 10"/>
              </a:rPr>
              <a:t>A</a:t>
            </a:r>
            <a:r>
              <a:rPr sz="1200" spc="-7" baseline="-10416" dirty="0">
                <a:latin typeface="LM Sans 8"/>
                <a:cs typeface="LM Sans 8"/>
              </a:rPr>
              <a:t>3 </a:t>
            </a:r>
            <a:r>
              <a:rPr sz="1100" spc="-10" dirty="0">
                <a:latin typeface="LM Sans 10"/>
                <a:cs typeface="LM Sans 10"/>
              </a:rPr>
              <a:t>and </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a:t>
            </a:r>
            <a:r>
              <a:rPr sz="1100" spc="-190" dirty="0">
                <a:latin typeface="LM Sans 10"/>
                <a:cs typeface="LM Sans 10"/>
              </a:rPr>
              <a:t> </a:t>
            </a:r>
            <a:r>
              <a:rPr sz="1100" spc="-5" dirty="0">
                <a:latin typeface="LM Sans 10"/>
                <a:cs typeface="LM Sans 10"/>
              </a:rPr>
              <a:t>with</a:t>
            </a:r>
            <a:endParaRPr sz="1100">
              <a:latin typeface="LM Sans 10"/>
              <a:cs typeface="LM Sans 10"/>
            </a:endParaRPr>
          </a:p>
          <a:p>
            <a:pPr marL="50800">
              <a:lnSpc>
                <a:spcPct val="100000"/>
              </a:lnSpc>
              <a:spcBef>
                <a:spcPts val="35"/>
              </a:spcBef>
            </a:pPr>
            <a:r>
              <a:rPr sz="1100" i="1" spc="-5" dirty="0">
                <a:latin typeface="LM Sans 10"/>
                <a:cs typeface="LM Sans 10"/>
              </a:rPr>
              <a:t>p</a:t>
            </a:r>
            <a:r>
              <a:rPr sz="1200" spc="-7" baseline="-10416" dirty="0">
                <a:latin typeface="LM Sans 8"/>
                <a:cs typeface="LM Sans 8"/>
              </a:rPr>
              <a:t>0 </a:t>
            </a:r>
            <a:r>
              <a:rPr sz="1100" spc="-10" dirty="0">
                <a:latin typeface="LM Sans 10"/>
                <a:cs typeface="LM Sans 10"/>
              </a:rPr>
              <a:t>= </a:t>
            </a:r>
            <a:r>
              <a:rPr sz="1100" spc="-5" dirty="0">
                <a:latin typeface="LM Sans 10"/>
                <a:cs typeface="LM Sans 10"/>
              </a:rPr>
              <a:t>5, </a:t>
            </a:r>
            <a:r>
              <a:rPr sz="1100" i="1" spc="-5" dirty="0">
                <a:latin typeface="LM Sans 10"/>
                <a:cs typeface="LM Sans 10"/>
              </a:rPr>
              <a:t>p</a:t>
            </a:r>
            <a:r>
              <a:rPr sz="1200" spc="-7" baseline="-10416" dirty="0">
                <a:latin typeface="LM Sans 8"/>
                <a:cs typeface="LM Sans 8"/>
              </a:rPr>
              <a:t>1 </a:t>
            </a:r>
            <a:r>
              <a:rPr sz="1100" spc="-10" dirty="0">
                <a:latin typeface="LM Sans 10"/>
                <a:cs typeface="LM Sans 10"/>
              </a:rPr>
              <a:t>= </a:t>
            </a:r>
            <a:r>
              <a:rPr sz="1100" spc="-5" dirty="0">
                <a:latin typeface="LM Sans 10"/>
                <a:cs typeface="LM Sans 10"/>
              </a:rPr>
              <a:t>4, </a:t>
            </a:r>
            <a:r>
              <a:rPr sz="1100" i="1" spc="-5" dirty="0">
                <a:latin typeface="LM Sans 10"/>
                <a:cs typeface="LM Sans 10"/>
              </a:rPr>
              <a:t>p</a:t>
            </a:r>
            <a:r>
              <a:rPr sz="1200" spc="-7" baseline="-10416" dirty="0">
                <a:latin typeface="LM Sans 8"/>
                <a:cs typeface="LM Sans 8"/>
              </a:rPr>
              <a:t>2 </a:t>
            </a:r>
            <a:r>
              <a:rPr sz="1100" spc="-10" dirty="0">
                <a:latin typeface="LM Sans 10"/>
                <a:cs typeface="LM Sans 10"/>
              </a:rPr>
              <a:t>= </a:t>
            </a:r>
            <a:r>
              <a:rPr sz="1100" spc="-5" dirty="0">
                <a:latin typeface="LM Sans 10"/>
                <a:cs typeface="LM Sans 10"/>
              </a:rPr>
              <a:t>6, </a:t>
            </a:r>
            <a:r>
              <a:rPr sz="1100" i="1" spc="-5" dirty="0">
                <a:latin typeface="LM Sans 10"/>
                <a:cs typeface="LM Sans 10"/>
              </a:rPr>
              <a:t>p</a:t>
            </a:r>
            <a:r>
              <a:rPr sz="1200" spc="-7" baseline="-10416" dirty="0">
                <a:latin typeface="LM Sans 8"/>
                <a:cs typeface="LM Sans 8"/>
              </a:rPr>
              <a:t>3 </a:t>
            </a:r>
            <a:r>
              <a:rPr sz="1100" spc="-10" dirty="0">
                <a:latin typeface="LM Sans 10"/>
                <a:cs typeface="LM Sans 10"/>
              </a:rPr>
              <a:t>= </a:t>
            </a:r>
            <a:r>
              <a:rPr sz="1100" spc="-5" dirty="0">
                <a:latin typeface="LM Sans 10"/>
                <a:cs typeface="LM Sans 10"/>
              </a:rPr>
              <a:t>2 </a:t>
            </a:r>
            <a:r>
              <a:rPr sz="1100" spc="-10" dirty="0">
                <a:latin typeface="LM Sans 10"/>
                <a:cs typeface="LM Sans 10"/>
              </a:rPr>
              <a:t>and </a:t>
            </a:r>
            <a:r>
              <a:rPr sz="1100" i="1" spc="-5" dirty="0">
                <a:latin typeface="LM Sans 10"/>
                <a:cs typeface="LM Sans 10"/>
              </a:rPr>
              <a:t>p</a:t>
            </a:r>
            <a:r>
              <a:rPr sz="1200" spc="-7" baseline="-10416" dirty="0">
                <a:latin typeface="LM Sans 8"/>
                <a:cs typeface="LM Sans 8"/>
              </a:rPr>
              <a:t>4 </a:t>
            </a:r>
            <a:r>
              <a:rPr sz="1100" spc="-10" dirty="0">
                <a:latin typeface="LM Sans 10"/>
                <a:cs typeface="LM Sans 10"/>
              </a:rPr>
              <a:t>= </a:t>
            </a:r>
            <a:r>
              <a:rPr sz="1100" spc="-5" dirty="0">
                <a:latin typeface="LM Sans 10"/>
                <a:cs typeface="LM Sans 10"/>
              </a:rPr>
              <a:t>7. Find </a:t>
            </a:r>
            <a:r>
              <a:rPr sz="1100" i="1" spc="-5" dirty="0">
                <a:latin typeface="LM Sans 10"/>
                <a:cs typeface="LM Sans 10"/>
              </a:rPr>
              <a:t>m</a:t>
            </a:r>
            <a:r>
              <a:rPr sz="1100" spc="-5" dirty="0">
                <a:latin typeface="LM Sans 10"/>
                <a:cs typeface="LM Sans 10"/>
              </a:rPr>
              <a:t>[1</a:t>
            </a:r>
            <a:r>
              <a:rPr sz="1100" i="1" spc="-5" dirty="0">
                <a:latin typeface="LM Roman Dunhill 10"/>
                <a:cs typeface="LM Roman Dunhill 10"/>
              </a:rPr>
              <a:t>,</a:t>
            </a:r>
            <a:r>
              <a:rPr sz="1100" i="1" spc="-20" dirty="0">
                <a:latin typeface="LM Roman Dunhill 10"/>
                <a:cs typeface="LM Roman Dunhill 10"/>
              </a:rPr>
              <a:t> </a:t>
            </a:r>
            <a:r>
              <a:rPr sz="1100" spc="-5" dirty="0">
                <a:latin typeface="LM Sans 10"/>
                <a:cs typeface="LM Sans 10"/>
              </a:rPr>
              <a:t>4].</a:t>
            </a:r>
            <a:endParaRPr sz="1100">
              <a:latin typeface="LM Sans 10"/>
              <a:cs typeface="LM Sans 10"/>
            </a:endParaRPr>
          </a:p>
        </p:txBody>
      </p:sp>
      <p:grpSp>
        <p:nvGrpSpPr>
          <p:cNvPr id="15" name="object 15"/>
          <p:cNvGrpSpPr/>
          <p:nvPr/>
        </p:nvGrpSpPr>
        <p:grpSpPr>
          <a:xfrm>
            <a:off x="0" y="3342919"/>
            <a:ext cx="4608195" cy="113664"/>
            <a:chOff x="0" y="3342919"/>
            <a:chExt cx="4608195" cy="113664"/>
          </a:xfrm>
        </p:grpSpPr>
        <p:sp>
          <p:nvSpPr>
            <p:cNvPr id="16" name="object 1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7" name="object 1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8" name="object 18"/>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0" name="object 2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1" name="object 2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681209" cy="232756"/>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5" dirty="0"/>
              <a:t>for </a:t>
            </a:r>
            <a:r>
              <a:rPr spc="10" dirty="0"/>
              <a:t>the </a:t>
            </a:r>
            <a:r>
              <a:rPr spc="15" dirty="0"/>
              <a:t>Bottom-Up</a:t>
            </a:r>
            <a:r>
              <a:rPr spc="-15" dirty="0"/>
              <a:t> </a:t>
            </a:r>
            <a:r>
              <a:rPr spc="10" dirty="0"/>
              <a:t>Computation</a:t>
            </a:r>
          </a:p>
        </p:txBody>
      </p:sp>
      <p:grpSp>
        <p:nvGrpSpPr>
          <p:cNvPr id="3" name="object 3"/>
          <p:cNvGrpSpPr/>
          <p:nvPr/>
        </p:nvGrpSpPr>
        <p:grpSpPr>
          <a:xfrm>
            <a:off x="309193" y="405701"/>
            <a:ext cx="4040504" cy="641985"/>
            <a:chOff x="309193" y="405701"/>
            <a:chExt cx="4040504" cy="641985"/>
          </a:xfrm>
        </p:grpSpPr>
        <p:sp>
          <p:nvSpPr>
            <p:cNvPr id="4" name="object 4"/>
            <p:cNvSpPr/>
            <p:nvPr/>
          </p:nvSpPr>
          <p:spPr>
            <a:xfrm>
              <a:off x="309193" y="405701"/>
              <a:ext cx="3989704" cy="186690"/>
            </a:xfrm>
            <a:custGeom>
              <a:avLst/>
              <a:gdLst/>
              <a:ahLst/>
              <a:cxnLst/>
              <a:rect l="l" t="t" r="r" b="b"/>
              <a:pathLst>
                <a:path w="3989704" h="186690">
                  <a:moveTo>
                    <a:pt x="3938854" y="0"/>
                  </a:moveTo>
                  <a:lnTo>
                    <a:pt x="50800" y="0"/>
                  </a:lnTo>
                  <a:lnTo>
                    <a:pt x="31075" y="4008"/>
                  </a:lnTo>
                  <a:lnTo>
                    <a:pt x="14922" y="14922"/>
                  </a:lnTo>
                  <a:lnTo>
                    <a:pt x="4008" y="31075"/>
                  </a:lnTo>
                  <a:lnTo>
                    <a:pt x="0" y="50800"/>
                  </a:lnTo>
                  <a:lnTo>
                    <a:pt x="0" y="186558"/>
                  </a:lnTo>
                  <a:lnTo>
                    <a:pt x="3989654" y="186558"/>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579602"/>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94574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93304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449935"/>
              <a:ext cx="50749" cy="49580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623885"/>
              <a:ext cx="3989704" cy="372745"/>
            </a:xfrm>
            <a:custGeom>
              <a:avLst/>
              <a:gdLst/>
              <a:ahLst/>
              <a:cxnLst/>
              <a:rect l="l" t="t" r="r" b="b"/>
              <a:pathLst>
                <a:path w="3989704" h="372744">
                  <a:moveTo>
                    <a:pt x="3989654" y="0"/>
                  </a:moveTo>
                  <a:lnTo>
                    <a:pt x="0" y="0"/>
                  </a:lnTo>
                  <a:lnTo>
                    <a:pt x="0" y="321858"/>
                  </a:lnTo>
                  <a:lnTo>
                    <a:pt x="4008" y="341583"/>
                  </a:lnTo>
                  <a:lnTo>
                    <a:pt x="14922" y="357736"/>
                  </a:lnTo>
                  <a:lnTo>
                    <a:pt x="31075" y="368650"/>
                  </a:lnTo>
                  <a:lnTo>
                    <a:pt x="50800" y="372659"/>
                  </a:lnTo>
                  <a:lnTo>
                    <a:pt x="3938854" y="372659"/>
                  </a:lnTo>
                  <a:lnTo>
                    <a:pt x="3958579" y="368650"/>
                  </a:lnTo>
                  <a:lnTo>
                    <a:pt x="3974732" y="357736"/>
                  </a:lnTo>
                  <a:lnTo>
                    <a:pt x="3985646" y="341583"/>
                  </a:lnTo>
                  <a:lnTo>
                    <a:pt x="3989654" y="321858"/>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488031"/>
              <a:ext cx="0" cy="476884"/>
            </a:xfrm>
            <a:custGeom>
              <a:avLst/>
              <a:gdLst/>
              <a:ahLst/>
              <a:cxnLst/>
              <a:rect l="l" t="t" r="r" b="b"/>
              <a:pathLst>
                <a:path h="476884">
                  <a:moveTo>
                    <a:pt x="0" y="4767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47533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46263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44993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296494" y="349641"/>
            <a:ext cx="3444240" cy="904875"/>
          </a:xfrm>
          <a:prstGeom prst="rect">
            <a:avLst/>
          </a:prstGeom>
        </p:spPr>
        <p:txBody>
          <a:bodyPr vert="horz" wrap="square" lIns="0" tIns="50800" rIns="0" bIns="0" rtlCol="0">
            <a:spAutoFit/>
          </a:bodyPr>
          <a:lstStyle/>
          <a:p>
            <a:pPr marL="63500">
              <a:lnSpc>
                <a:spcPct val="100000"/>
              </a:lnSpc>
              <a:spcBef>
                <a:spcPts val="400"/>
              </a:spcBef>
            </a:pPr>
            <a:r>
              <a:rPr sz="1100" spc="-10" dirty="0">
                <a:solidFill>
                  <a:srgbClr val="FFFFFF"/>
                </a:solidFill>
                <a:latin typeface="LM Sans 10"/>
                <a:cs typeface="LM Sans 10"/>
              </a:rPr>
              <a:t>Example</a:t>
            </a:r>
            <a:endParaRPr sz="1100" dirty="0">
              <a:latin typeface="LM Sans 10"/>
              <a:cs typeface="LM Sans 10"/>
            </a:endParaRPr>
          </a:p>
          <a:p>
            <a:pPr marL="63500">
              <a:lnSpc>
                <a:spcPct val="100000"/>
              </a:lnSpc>
              <a:spcBef>
                <a:spcPts val="295"/>
              </a:spcBef>
            </a:pPr>
            <a:r>
              <a:rPr sz="1100" spc="-10" dirty="0">
                <a:latin typeface="LM Sans 10"/>
                <a:cs typeface="LM Sans 10"/>
              </a:rPr>
              <a:t>A </a:t>
            </a:r>
            <a:r>
              <a:rPr sz="1100" spc="-5" dirty="0">
                <a:latin typeface="LM Sans 10"/>
                <a:cs typeface="LM Sans 10"/>
              </a:rPr>
              <a:t>chain of four matrices </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 </a:t>
            </a:r>
            <a:r>
              <a:rPr sz="1100" i="1" spc="10" dirty="0">
                <a:latin typeface="LM Sans 10"/>
                <a:cs typeface="LM Sans 10"/>
              </a:rPr>
              <a:t>A</a:t>
            </a:r>
            <a:r>
              <a:rPr sz="1200" spc="15" baseline="-10416" dirty="0">
                <a:latin typeface="LM Sans 8"/>
                <a:cs typeface="LM Sans 8"/>
              </a:rPr>
              <a:t>2</a:t>
            </a:r>
            <a:r>
              <a:rPr sz="1100" spc="10" dirty="0">
                <a:latin typeface="LM Sans 10"/>
                <a:cs typeface="LM Sans 10"/>
              </a:rPr>
              <a:t>, </a:t>
            </a:r>
            <a:r>
              <a:rPr sz="1100" i="1" spc="-5" dirty="0">
                <a:latin typeface="LM Sans 10"/>
                <a:cs typeface="LM Sans 10"/>
              </a:rPr>
              <a:t>A</a:t>
            </a:r>
            <a:r>
              <a:rPr sz="1200" spc="-7" baseline="-10416" dirty="0">
                <a:latin typeface="LM Sans 8"/>
                <a:cs typeface="LM Sans 8"/>
              </a:rPr>
              <a:t>3 </a:t>
            </a:r>
            <a:r>
              <a:rPr sz="1100" spc="-10" dirty="0">
                <a:latin typeface="LM Sans 10"/>
                <a:cs typeface="LM Sans 10"/>
              </a:rPr>
              <a:t>and </a:t>
            </a:r>
            <a:r>
              <a:rPr sz="1100" i="1" spc="10" dirty="0">
                <a:latin typeface="LM Sans 10"/>
                <a:cs typeface="LM Sans 10"/>
              </a:rPr>
              <a:t>A</a:t>
            </a:r>
            <a:r>
              <a:rPr sz="1200" spc="15" baseline="-10416" dirty="0">
                <a:latin typeface="LM Sans 8"/>
                <a:cs typeface="LM Sans 8"/>
              </a:rPr>
              <a:t>4</a:t>
            </a:r>
            <a:r>
              <a:rPr sz="1100" spc="10" dirty="0">
                <a:latin typeface="LM Sans 10"/>
                <a:cs typeface="LM Sans 10"/>
              </a:rPr>
              <a:t>,</a:t>
            </a:r>
            <a:r>
              <a:rPr sz="1100" spc="-190" dirty="0">
                <a:latin typeface="LM Sans 10"/>
                <a:cs typeface="LM Sans 10"/>
              </a:rPr>
              <a:t> </a:t>
            </a:r>
            <a:r>
              <a:rPr sz="1100" spc="-5" dirty="0">
                <a:latin typeface="LM Sans 10"/>
                <a:cs typeface="LM Sans 10"/>
              </a:rPr>
              <a:t>with</a:t>
            </a:r>
            <a:endParaRPr sz="1100" dirty="0">
              <a:latin typeface="LM Sans 10"/>
              <a:cs typeface="LM Sans 10"/>
            </a:endParaRPr>
          </a:p>
          <a:p>
            <a:pPr marL="63500">
              <a:lnSpc>
                <a:spcPct val="100000"/>
              </a:lnSpc>
              <a:spcBef>
                <a:spcPts val="35"/>
              </a:spcBef>
            </a:pPr>
            <a:r>
              <a:rPr sz="1100" i="1" spc="-5" dirty="0">
                <a:latin typeface="LM Sans 10"/>
                <a:cs typeface="LM Sans 10"/>
              </a:rPr>
              <a:t>p</a:t>
            </a:r>
            <a:r>
              <a:rPr sz="1200" spc="-7" baseline="-10416" dirty="0">
                <a:latin typeface="LM Sans 8"/>
                <a:cs typeface="LM Sans 8"/>
              </a:rPr>
              <a:t>0 </a:t>
            </a:r>
            <a:r>
              <a:rPr sz="1100" spc="-10" dirty="0">
                <a:latin typeface="LM Sans 10"/>
                <a:cs typeface="LM Sans 10"/>
              </a:rPr>
              <a:t>= </a:t>
            </a:r>
            <a:r>
              <a:rPr sz="1100" spc="-5" dirty="0">
                <a:latin typeface="LM Sans 10"/>
                <a:cs typeface="LM Sans 10"/>
              </a:rPr>
              <a:t>5, </a:t>
            </a:r>
            <a:r>
              <a:rPr sz="1100" i="1" spc="-5" dirty="0">
                <a:latin typeface="LM Sans 10"/>
                <a:cs typeface="LM Sans 10"/>
              </a:rPr>
              <a:t>p</a:t>
            </a:r>
            <a:r>
              <a:rPr sz="1200" spc="-7" baseline="-10416" dirty="0">
                <a:latin typeface="LM Sans 8"/>
                <a:cs typeface="LM Sans 8"/>
              </a:rPr>
              <a:t>1 </a:t>
            </a:r>
            <a:r>
              <a:rPr sz="1100" spc="-10" dirty="0">
                <a:latin typeface="LM Sans 10"/>
                <a:cs typeface="LM Sans 10"/>
              </a:rPr>
              <a:t>= </a:t>
            </a:r>
            <a:r>
              <a:rPr sz="1100" spc="-5" dirty="0">
                <a:latin typeface="LM Sans 10"/>
                <a:cs typeface="LM Sans 10"/>
              </a:rPr>
              <a:t>4, </a:t>
            </a:r>
            <a:r>
              <a:rPr sz="1100" i="1" spc="-5" dirty="0">
                <a:latin typeface="LM Sans 10"/>
                <a:cs typeface="LM Sans 10"/>
              </a:rPr>
              <a:t>p</a:t>
            </a:r>
            <a:r>
              <a:rPr sz="1200" spc="-7" baseline="-10416" dirty="0">
                <a:latin typeface="LM Sans 8"/>
                <a:cs typeface="LM Sans 8"/>
              </a:rPr>
              <a:t>2 </a:t>
            </a:r>
            <a:r>
              <a:rPr sz="1100" spc="-10" dirty="0">
                <a:latin typeface="LM Sans 10"/>
                <a:cs typeface="LM Sans 10"/>
              </a:rPr>
              <a:t>= </a:t>
            </a:r>
            <a:r>
              <a:rPr sz="1100" spc="-5" dirty="0">
                <a:latin typeface="LM Sans 10"/>
                <a:cs typeface="LM Sans 10"/>
              </a:rPr>
              <a:t>6, </a:t>
            </a:r>
            <a:r>
              <a:rPr sz="1100" i="1" spc="-5" dirty="0">
                <a:latin typeface="LM Sans 10"/>
                <a:cs typeface="LM Sans 10"/>
              </a:rPr>
              <a:t>p</a:t>
            </a:r>
            <a:r>
              <a:rPr sz="1200" spc="-7" baseline="-10416" dirty="0">
                <a:latin typeface="LM Sans 8"/>
                <a:cs typeface="LM Sans 8"/>
              </a:rPr>
              <a:t>3 </a:t>
            </a:r>
            <a:r>
              <a:rPr sz="1100" spc="-10" dirty="0">
                <a:latin typeface="LM Sans 10"/>
                <a:cs typeface="LM Sans 10"/>
              </a:rPr>
              <a:t>= </a:t>
            </a:r>
            <a:r>
              <a:rPr sz="1100" spc="-5" dirty="0">
                <a:latin typeface="LM Sans 10"/>
                <a:cs typeface="LM Sans 10"/>
              </a:rPr>
              <a:t>2 </a:t>
            </a:r>
            <a:r>
              <a:rPr sz="1100" spc="-10" dirty="0">
                <a:latin typeface="LM Sans 10"/>
                <a:cs typeface="LM Sans 10"/>
              </a:rPr>
              <a:t>and </a:t>
            </a:r>
            <a:r>
              <a:rPr sz="1100" i="1" spc="-5" dirty="0">
                <a:latin typeface="LM Sans 10"/>
                <a:cs typeface="LM Sans 10"/>
              </a:rPr>
              <a:t>p</a:t>
            </a:r>
            <a:r>
              <a:rPr sz="1200" spc="-7" baseline="-10416" dirty="0">
                <a:latin typeface="LM Sans 8"/>
                <a:cs typeface="LM Sans 8"/>
              </a:rPr>
              <a:t>4 </a:t>
            </a:r>
            <a:r>
              <a:rPr sz="1100" spc="-10" dirty="0">
                <a:latin typeface="LM Sans 10"/>
                <a:cs typeface="LM Sans 10"/>
              </a:rPr>
              <a:t>= </a:t>
            </a:r>
            <a:r>
              <a:rPr sz="1100" spc="-5" dirty="0">
                <a:latin typeface="LM Sans 10"/>
                <a:cs typeface="LM Sans 10"/>
              </a:rPr>
              <a:t>7. Find </a:t>
            </a:r>
            <a:r>
              <a:rPr sz="1100" i="1" spc="-5" dirty="0">
                <a:latin typeface="LM Sans 10"/>
                <a:cs typeface="LM Sans 10"/>
              </a:rPr>
              <a:t>m</a:t>
            </a:r>
            <a:r>
              <a:rPr sz="1100" spc="-5" dirty="0">
                <a:latin typeface="LM Sans 10"/>
                <a:cs typeface="LM Sans 10"/>
              </a:rPr>
              <a:t>[1</a:t>
            </a:r>
            <a:r>
              <a:rPr sz="1100" i="1" spc="-5" dirty="0">
                <a:latin typeface="LM Roman Dunhill 10"/>
                <a:cs typeface="LM Roman Dunhill 10"/>
              </a:rPr>
              <a:t>,</a:t>
            </a:r>
            <a:r>
              <a:rPr sz="1100" i="1" spc="-15" dirty="0">
                <a:latin typeface="LM Roman Dunhill 10"/>
                <a:cs typeface="LM Roman Dunhill 10"/>
              </a:rPr>
              <a:t> </a:t>
            </a:r>
            <a:r>
              <a:rPr sz="1100" spc="-5" dirty="0">
                <a:latin typeface="LM Sans 10"/>
                <a:cs typeface="LM Sans 10"/>
              </a:rPr>
              <a:t>4].</a:t>
            </a:r>
            <a:endParaRPr sz="1100" dirty="0">
              <a:latin typeface="LM Sans 10"/>
              <a:cs typeface="LM Sans 10"/>
            </a:endParaRPr>
          </a:p>
          <a:p>
            <a:pPr marL="63500">
              <a:lnSpc>
                <a:spcPct val="100000"/>
              </a:lnSpc>
              <a:spcBef>
                <a:spcPts val="1010"/>
              </a:spcBef>
            </a:pPr>
            <a:r>
              <a:rPr sz="1100" spc="-5" dirty="0">
                <a:solidFill>
                  <a:srgbClr val="FF0000"/>
                </a:solidFill>
                <a:latin typeface="LM Sans 10"/>
                <a:cs typeface="LM Sans 10"/>
              </a:rPr>
              <a:t>S0:</a:t>
            </a:r>
            <a:r>
              <a:rPr sz="1100" spc="110" dirty="0">
                <a:solidFill>
                  <a:srgbClr val="FF0000"/>
                </a:solidFill>
                <a:latin typeface="LM Sans 10"/>
                <a:cs typeface="LM Sans 10"/>
              </a:rPr>
              <a:t> </a:t>
            </a:r>
            <a:r>
              <a:rPr sz="1100" spc="-5" dirty="0">
                <a:solidFill>
                  <a:srgbClr val="FF0000"/>
                </a:solidFill>
                <a:latin typeface="LM Sans 10"/>
                <a:cs typeface="LM Sans 10"/>
              </a:rPr>
              <a:t>Initialization</a:t>
            </a:r>
            <a:endParaRPr sz="1100" dirty="0">
              <a:latin typeface="LM Sans 10"/>
              <a:cs typeface="LM Sans 10"/>
            </a:endParaRPr>
          </a:p>
        </p:txBody>
      </p:sp>
      <p:sp>
        <p:nvSpPr>
          <p:cNvPr id="15" name="object 15"/>
          <p:cNvSpPr/>
          <p:nvPr/>
        </p:nvSpPr>
        <p:spPr>
          <a:xfrm>
            <a:off x="1313601" y="1385434"/>
            <a:ext cx="1985883" cy="1742714"/>
          </a:xfrm>
          <a:prstGeom prst="rect">
            <a:avLst/>
          </a:prstGeom>
          <a:blipFill>
            <a:blip r:embed="rId6" cstate="print"/>
            <a:stretch>
              <a:fillRect/>
            </a:stretch>
          </a:blipFill>
        </p:spPr>
        <p:txBody>
          <a:bodyPr wrap="square" lIns="0" tIns="0" rIns="0" bIns="0" rtlCol="0"/>
          <a:lstStyle/>
          <a:p>
            <a:endParaRPr/>
          </a:p>
        </p:txBody>
      </p:sp>
      <p:grpSp>
        <p:nvGrpSpPr>
          <p:cNvPr id="16" name="object 16"/>
          <p:cNvGrpSpPr/>
          <p:nvPr/>
        </p:nvGrpSpPr>
        <p:grpSpPr>
          <a:xfrm>
            <a:off x="0" y="3342919"/>
            <a:ext cx="4608195" cy="113664"/>
            <a:chOff x="0" y="3342919"/>
            <a:chExt cx="4608195" cy="113664"/>
          </a:xfrm>
        </p:grpSpPr>
        <p:sp>
          <p:nvSpPr>
            <p:cNvPr id="17" name="object 1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8" name="object 1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9" name="object 19"/>
            <p:cNvSpPr/>
            <p:nvPr/>
          </p:nvSpPr>
          <p:spPr>
            <a:xfrm>
              <a:off x="4147235"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1" name="object 2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7" action="ppaction://hlinksldjump"/>
              </a:rPr>
              <a:t>Chain </a:t>
            </a:r>
            <a:r>
              <a:rPr sz="600" b="1" spc="-5" dirty="0">
                <a:solidFill>
                  <a:srgbClr val="FFFFFF"/>
                </a:solidFill>
                <a:latin typeface="LM Sans 10"/>
                <a:cs typeface="LM Sans 10"/>
                <a:hlinkClick r:id="rId7" action="ppaction://hlinksldjump"/>
              </a:rPr>
              <a:t>Matrix Multiplication</a:t>
            </a:r>
            <a:endParaRPr sz="600">
              <a:latin typeface="LM Sans 10"/>
              <a:cs typeface="LM Sans 10"/>
            </a:endParaRPr>
          </a:p>
        </p:txBody>
      </p:sp>
      <p:sp>
        <p:nvSpPr>
          <p:cNvPr id="22" name="object 2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sz="1100" spc="-5" dirty="0">
                <a:solidFill>
                  <a:srgbClr val="FF0000"/>
                </a:solidFill>
                <a:latin typeface="LM Sans 10"/>
                <a:cs typeface="LM Sans 10"/>
              </a:rPr>
              <a:t>2]</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2421720024"/>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762000" cy="61555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latin typeface="LM Sans 10"/>
                <a:cs typeface="LM Sans 10"/>
              </a:rPr>
              <a:t>A1</a:t>
            </a:r>
            <a:r>
              <a:rPr lang="en-US" spc="15" baseline="-10416" dirty="0"/>
              <a:t>5x</a:t>
            </a:r>
            <a:r>
              <a:rPr lang="en-US" b="1" spc="15" baseline="-10416" dirty="0">
                <a:solidFill>
                  <a:srgbClr val="FF0000"/>
                </a:solidFill>
              </a:rPr>
              <a:t>4</a:t>
            </a:r>
            <a:r>
              <a:rPr lang="en-US" spc="15" baseline="-10416" dirty="0"/>
              <a:t> </a:t>
            </a:r>
            <a:r>
              <a:rPr lang="en-US" sz="1600" spc="10" dirty="0">
                <a:latin typeface="LM Sans 10"/>
                <a:cs typeface="LM Sans 10"/>
              </a:rPr>
              <a:t>A2</a:t>
            </a:r>
            <a:r>
              <a:rPr lang="en-US" b="1" spc="15" baseline="-10416" dirty="0">
                <a:solidFill>
                  <a:srgbClr val="FF0000"/>
                </a:solidFill>
              </a:rPr>
              <a:t>4</a:t>
            </a:r>
            <a:r>
              <a:rPr lang="en-US" spc="15" baseline="-10416" dirty="0"/>
              <a:t>x6</a:t>
            </a:r>
            <a:r>
              <a:rPr lang="en-US" spc="15" dirty="0"/>
              <a:t>    </a:t>
            </a:r>
            <a:endParaRPr lang="en-US" dirty="0"/>
          </a:p>
        </p:txBody>
      </p:sp>
      <p:sp>
        <p:nvSpPr>
          <p:cNvPr id="13" name="Rectangle 12"/>
          <p:cNvSpPr/>
          <p:nvPr/>
        </p:nvSpPr>
        <p:spPr>
          <a:xfrm>
            <a:off x="1267460" y="2644775"/>
            <a:ext cx="2514600"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latin typeface="LM Sans 10"/>
                <a:cs typeface="LM Sans 10"/>
              </a:rPr>
              <a:t>COST= 5 x </a:t>
            </a:r>
            <a:r>
              <a:rPr lang="en-US" b="1" spc="10" dirty="0">
                <a:solidFill>
                  <a:srgbClr val="FF0000"/>
                </a:solidFill>
                <a:latin typeface="LM Sans 10"/>
                <a:cs typeface="LM Sans 10"/>
              </a:rPr>
              <a:t>4</a:t>
            </a:r>
            <a:r>
              <a:rPr lang="en-US" sz="1600" spc="10" dirty="0">
                <a:latin typeface="LM Sans 10"/>
                <a:cs typeface="LM Sans 10"/>
              </a:rPr>
              <a:t> x 6=120</a:t>
            </a:r>
          </a:p>
          <a:p>
            <a:r>
              <a:rPr lang="en-US" sz="1600" spc="10" dirty="0">
                <a:latin typeface="LM Sans 10"/>
              </a:rPr>
              <a:t>M [1,2]= 120</a:t>
            </a:r>
            <a:r>
              <a:rPr lang="en-US" spc="15" dirty="0"/>
              <a:t>    </a:t>
            </a:r>
            <a:endParaRPr lang="en-US" dirty="0"/>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sz="1100" spc="-5" dirty="0">
                <a:solidFill>
                  <a:srgbClr val="FF0000"/>
                </a:solidFill>
                <a:latin typeface="LM Sans 10"/>
                <a:cs typeface="LM Sans 10"/>
              </a:rPr>
              <a:t>2]</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4244930553"/>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762000" cy="61555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latin typeface="LM Sans 10"/>
                <a:cs typeface="LM Sans 10"/>
              </a:rPr>
              <a:t>A1</a:t>
            </a:r>
            <a:r>
              <a:rPr lang="en-US" spc="15" baseline="-10416" dirty="0"/>
              <a:t>5x</a:t>
            </a:r>
            <a:r>
              <a:rPr lang="en-US" b="1" spc="15" baseline="-10416" dirty="0">
                <a:solidFill>
                  <a:srgbClr val="FF0000"/>
                </a:solidFill>
              </a:rPr>
              <a:t>4</a:t>
            </a:r>
            <a:r>
              <a:rPr lang="en-US" spc="15" baseline="-10416" dirty="0"/>
              <a:t> </a:t>
            </a:r>
            <a:r>
              <a:rPr lang="en-US" sz="1600" spc="10" dirty="0">
                <a:latin typeface="LM Sans 10"/>
                <a:cs typeface="LM Sans 10"/>
              </a:rPr>
              <a:t>A2</a:t>
            </a:r>
            <a:r>
              <a:rPr lang="en-US" b="1" spc="15" baseline="-10416" dirty="0">
                <a:solidFill>
                  <a:srgbClr val="FF0000"/>
                </a:solidFill>
              </a:rPr>
              <a:t>4</a:t>
            </a:r>
            <a:r>
              <a:rPr lang="en-US" spc="15" baseline="-10416" dirty="0"/>
              <a:t>x6</a:t>
            </a:r>
            <a:r>
              <a:rPr lang="en-US" spc="15" dirty="0"/>
              <a:t>    </a:t>
            </a:r>
            <a:endParaRPr lang="en-US" dirty="0"/>
          </a:p>
        </p:txBody>
      </p:sp>
      <p:sp>
        <p:nvSpPr>
          <p:cNvPr id="13" name="Rectangle 12"/>
          <p:cNvSpPr/>
          <p:nvPr/>
        </p:nvSpPr>
        <p:spPr>
          <a:xfrm>
            <a:off x="1267460" y="2644775"/>
            <a:ext cx="2514600"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latin typeface="LM Sans 10"/>
                <a:cs typeface="LM Sans 10"/>
              </a:rPr>
              <a:t>COST= 5 x </a:t>
            </a:r>
            <a:r>
              <a:rPr lang="en-US" b="1" spc="10" dirty="0">
                <a:solidFill>
                  <a:srgbClr val="FF0000"/>
                </a:solidFill>
                <a:latin typeface="LM Sans 10"/>
                <a:cs typeface="LM Sans 10"/>
              </a:rPr>
              <a:t>4</a:t>
            </a:r>
            <a:r>
              <a:rPr lang="en-US" sz="1600" spc="10" dirty="0">
                <a:latin typeface="LM Sans 10"/>
                <a:cs typeface="LM Sans 10"/>
              </a:rPr>
              <a:t> x 6=120</a:t>
            </a:r>
          </a:p>
          <a:p>
            <a:r>
              <a:rPr lang="en-US" sz="1600" spc="10" dirty="0">
                <a:latin typeface="LM Sans 10"/>
              </a:rPr>
              <a:t>M [1,2]= 120</a:t>
            </a:r>
            <a:r>
              <a:rPr lang="en-US" spc="15" dirty="0"/>
              <a:t>    </a:t>
            </a:r>
            <a:endParaRPr lang="en-US" dirty="0"/>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Tree>
    <p:extLst>
      <p:ext uri="{BB962C8B-B14F-4D97-AF65-F5344CB8AC3E}">
        <p14:creationId xmlns:p14="http://schemas.microsoft.com/office/powerpoint/2010/main" val="3479425825"/>
      </p:ext>
    </p:extLst>
  </p:cSld>
  <p:clrMapOvr>
    <a:masterClrMapping/>
  </p:clrMapOvr>
  <p:transition>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3</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1180270364"/>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762000" cy="61555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latin typeface="LM Sans 10"/>
                <a:cs typeface="LM Sans 10"/>
              </a:rPr>
              <a:t>A2</a:t>
            </a:r>
            <a:r>
              <a:rPr lang="en-US" spc="15" baseline="-10416" dirty="0"/>
              <a:t>4x</a:t>
            </a:r>
            <a:r>
              <a:rPr lang="en-US" b="1" spc="15" baseline="-10416" dirty="0">
                <a:solidFill>
                  <a:srgbClr val="FF0000"/>
                </a:solidFill>
              </a:rPr>
              <a:t>6</a:t>
            </a:r>
            <a:r>
              <a:rPr lang="en-US" spc="15" baseline="-10416" dirty="0"/>
              <a:t> </a:t>
            </a:r>
            <a:r>
              <a:rPr lang="en-US" sz="1600" spc="10" dirty="0">
                <a:latin typeface="LM Sans 10"/>
                <a:cs typeface="LM Sans 10"/>
              </a:rPr>
              <a:t>A3</a:t>
            </a:r>
            <a:r>
              <a:rPr lang="en-US" b="1" spc="15" baseline="-10416" dirty="0">
                <a:solidFill>
                  <a:srgbClr val="FF0000"/>
                </a:solidFill>
              </a:rPr>
              <a:t>6</a:t>
            </a:r>
            <a:r>
              <a:rPr lang="en-US" spc="15" baseline="-10416" dirty="0"/>
              <a:t>x2</a:t>
            </a:r>
            <a:r>
              <a:rPr lang="en-US" spc="15" dirty="0"/>
              <a:t>    </a:t>
            </a:r>
            <a:endParaRPr lang="en-US" dirty="0"/>
          </a:p>
        </p:txBody>
      </p:sp>
      <p:sp>
        <p:nvSpPr>
          <p:cNvPr id="13" name="Rectangle 12"/>
          <p:cNvSpPr/>
          <p:nvPr/>
        </p:nvSpPr>
        <p:spPr>
          <a:xfrm>
            <a:off x="1267460" y="2644775"/>
            <a:ext cx="2514600"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latin typeface="LM Sans 10"/>
                <a:cs typeface="LM Sans 10"/>
              </a:rPr>
              <a:t>COST= 4 x </a:t>
            </a:r>
            <a:r>
              <a:rPr lang="en-US" b="1" spc="10" dirty="0">
                <a:solidFill>
                  <a:srgbClr val="FF0000"/>
                </a:solidFill>
                <a:latin typeface="LM Sans 10"/>
                <a:cs typeface="LM Sans 10"/>
              </a:rPr>
              <a:t>6</a:t>
            </a:r>
            <a:r>
              <a:rPr lang="en-US" sz="1600" spc="10" dirty="0">
                <a:latin typeface="LM Sans 10"/>
                <a:cs typeface="LM Sans 10"/>
              </a:rPr>
              <a:t> x 2=48</a:t>
            </a:r>
          </a:p>
          <a:p>
            <a:r>
              <a:rPr lang="en-US" sz="1600" spc="10" dirty="0">
                <a:latin typeface="LM Sans 10"/>
              </a:rPr>
              <a:t>M [2, 3]= 48</a:t>
            </a:r>
            <a:r>
              <a:rPr lang="en-US" spc="15" dirty="0"/>
              <a:t>    </a:t>
            </a:r>
            <a:endParaRPr lang="en-US" dirty="0"/>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Tree>
    <p:extLst>
      <p:ext uri="{BB962C8B-B14F-4D97-AF65-F5344CB8AC3E}">
        <p14:creationId xmlns:p14="http://schemas.microsoft.com/office/powerpoint/2010/main" val="2254892807"/>
      </p:ext>
    </p:extLst>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3</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4</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130022325"/>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762000" cy="61555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latin typeface="LM Sans 10"/>
                <a:cs typeface="LM Sans 10"/>
              </a:rPr>
              <a:t>A3</a:t>
            </a:r>
            <a:r>
              <a:rPr lang="en-US" spc="15" baseline="-10416" dirty="0"/>
              <a:t>6x</a:t>
            </a:r>
            <a:r>
              <a:rPr lang="en-US" b="1" spc="15" baseline="-10416" dirty="0">
                <a:solidFill>
                  <a:srgbClr val="FF0000"/>
                </a:solidFill>
              </a:rPr>
              <a:t>2</a:t>
            </a:r>
            <a:r>
              <a:rPr lang="en-US" spc="15" baseline="-10416" dirty="0"/>
              <a:t> </a:t>
            </a:r>
            <a:r>
              <a:rPr lang="en-US" sz="1600" spc="10" dirty="0">
                <a:latin typeface="LM Sans 10"/>
                <a:cs typeface="LM Sans 10"/>
              </a:rPr>
              <a:t>A4</a:t>
            </a:r>
            <a:r>
              <a:rPr lang="en-US" b="1" spc="15" baseline="-10416" dirty="0">
                <a:solidFill>
                  <a:srgbClr val="FF0000"/>
                </a:solidFill>
              </a:rPr>
              <a:t>2</a:t>
            </a:r>
            <a:r>
              <a:rPr lang="en-US" spc="15" baseline="-10416" dirty="0"/>
              <a:t>x7</a:t>
            </a:r>
            <a:r>
              <a:rPr lang="en-US" spc="15" dirty="0"/>
              <a:t>    </a:t>
            </a:r>
            <a:endParaRPr lang="en-US" dirty="0"/>
          </a:p>
        </p:txBody>
      </p:sp>
      <p:sp>
        <p:nvSpPr>
          <p:cNvPr id="13" name="Rectangle 12"/>
          <p:cNvSpPr/>
          <p:nvPr/>
        </p:nvSpPr>
        <p:spPr>
          <a:xfrm>
            <a:off x="1267460" y="2644775"/>
            <a:ext cx="2514600"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latin typeface="LM Sans 10"/>
                <a:cs typeface="LM Sans 10"/>
              </a:rPr>
              <a:t>COST= 6 x </a:t>
            </a:r>
            <a:r>
              <a:rPr lang="en-US" b="1" spc="10" dirty="0">
                <a:solidFill>
                  <a:srgbClr val="FF0000"/>
                </a:solidFill>
                <a:latin typeface="LM Sans 10"/>
                <a:cs typeface="LM Sans 10"/>
              </a:rPr>
              <a:t>2</a:t>
            </a:r>
            <a:r>
              <a:rPr lang="en-US" sz="1600" spc="10" dirty="0">
                <a:latin typeface="LM Sans 10"/>
                <a:cs typeface="LM Sans 10"/>
              </a:rPr>
              <a:t> x 7=84</a:t>
            </a:r>
          </a:p>
          <a:p>
            <a:r>
              <a:rPr lang="en-US" sz="1600" spc="10" dirty="0">
                <a:latin typeface="LM Sans 10"/>
              </a:rPr>
              <a:t>M [3,4]= 84</a:t>
            </a:r>
            <a:r>
              <a:rPr lang="en-US" spc="15" dirty="0"/>
              <a:t>    </a:t>
            </a:r>
            <a:endParaRPr lang="en-US" dirty="0"/>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Tree>
    <p:extLst>
      <p:ext uri="{BB962C8B-B14F-4D97-AF65-F5344CB8AC3E}">
        <p14:creationId xmlns:p14="http://schemas.microsoft.com/office/powerpoint/2010/main" val="163108486"/>
      </p:ext>
    </p:extLst>
  </p:cSld>
  <p:clrMapOvr>
    <a:masterClrMapping/>
  </p:clrMapOvr>
  <p:transition>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3</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2994164929"/>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2971800"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A1. ( A2 .</a:t>
            </a:r>
            <a:r>
              <a:rPr lang="en-US" sz="1600" spc="15" baseline="-10416" dirty="0">
                <a:solidFill>
                  <a:srgbClr val="FF0000"/>
                </a:solidFill>
              </a:rPr>
              <a:t> </a:t>
            </a:r>
            <a:r>
              <a:rPr lang="en-US" sz="1400" spc="10" dirty="0">
                <a:solidFill>
                  <a:srgbClr val="FF0000"/>
                </a:solidFill>
                <a:latin typeface="LM Sans 10"/>
                <a:cs typeface="LM Sans 10"/>
              </a:rPr>
              <a:t>A3)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(A1. A2 ).</a:t>
            </a:r>
            <a:r>
              <a:rPr lang="en-US" sz="1600" spc="15" baseline="-10416" dirty="0">
                <a:solidFill>
                  <a:srgbClr val="C00000"/>
                </a:solidFill>
              </a:rPr>
              <a:t> </a:t>
            </a:r>
            <a:r>
              <a:rPr lang="en-US" sz="1400" spc="10" dirty="0">
                <a:solidFill>
                  <a:srgbClr val="C00000"/>
                </a:solidFill>
                <a:latin typeface="LM Sans 10"/>
                <a:cs typeface="LM Sans 10"/>
              </a:rPr>
              <a:t>A3 </a:t>
            </a:r>
            <a:endParaRPr lang="en-US" sz="1600" dirty="0">
              <a:solidFill>
                <a:srgbClr val="C00000"/>
              </a:solidFill>
            </a:endParaRPr>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11" name="TextBox 10"/>
          <p:cNvSpPr txBox="1"/>
          <p:nvPr/>
        </p:nvSpPr>
        <p:spPr>
          <a:xfrm>
            <a:off x="744023" y="3032025"/>
            <a:ext cx="3008965"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Two Possibilities to multiply 3 matrices</a:t>
            </a:r>
          </a:p>
        </p:txBody>
      </p:sp>
    </p:spTree>
    <p:extLst>
      <p:ext uri="{BB962C8B-B14F-4D97-AF65-F5344CB8AC3E}">
        <p14:creationId xmlns:p14="http://schemas.microsoft.com/office/powerpoint/2010/main" val="3409422042"/>
      </p:ext>
    </p:extLst>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3</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
        <p:nvSpPr>
          <p:cNvPr id="12" name="Rectangle 11"/>
          <p:cNvSpPr/>
          <p:nvPr/>
        </p:nvSpPr>
        <p:spPr>
          <a:xfrm>
            <a:off x="322439" y="892175"/>
            <a:ext cx="2971800"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A1. ( A2 .</a:t>
            </a:r>
            <a:r>
              <a:rPr lang="en-US" sz="1600" spc="15" baseline="-10416" dirty="0">
                <a:solidFill>
                  <a:srgbClr val="FF0000"/>
                </a:solidFill>
              </a:rPr>
              <a:t> </a:t>
            </a:r>
            <a:r>
              <a:rPr lang="en-US" sz="1400" spc="10" dirty="0">
                <a:solidFill>
                  <a:srgbClr val="FF0000"/>
                </a:solidFill>
                <a:latin typeface="LM Sans 10"/>
                <a:cs typeface="LM Sans 10"/>
              </a:rPr>
              <a:t>A3)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(A1. A2 ).</a:t>
            </a:r>
            <a:r>
              <a:rPr lang="en-US" sz="1600" spc="15" baseline="-10416" dirty="0">
                <a:solidFill>
                  <a:srgbClr val="C00000"/>
                </a:solidFill>
              </a:rPr>
              <a:t> </a:t>
            </a:r>
            <a:r>
              <a:rPr lang="en-US" sz="1400" spc="10" dirty="0">
                <a:solidFill>
                  <a:srgbClr val="C00000"/>
                </a:solidFill>
                <a:latin typeface="LM Sans 10"/>
                <a:cs typeface="LM Sans 10"/>
              </a:rPr>
              <a:t>A3 </a:t>
            </a:r>
            <a:endParaRPr lang="en-US" sz="1600" dirty="0">
              <a:solidFill>
                <a:srgbClr val="C00000"/>
              </a:solidFill>
            </a:endParaRPr>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11" name="TextBox 10"/>
          <p:cNvSpPr txBox="1"/>
          <p:nvPr/>
        </p:nvSpPr>
        <p:spPr>
          <a:xfrm>
            <a:off x="744023" y="3032025"/>
            <a:ext cx="3008965"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Two Possibilities to multiply 3 matrices</a:t>
            </a:r>
          </a:p>
        </p:txBody>
      </p:sp>
      <p:sp>
        <p:nvSpPr>
          <p:cNvPr id="15" name="Rectangle 14"/>
          <p:cNvSpPr/>
          <p:nvPr/>
        </p:nvSpPr>
        <p:spPr>
          <a:xfrm>
            <a:off x="295051" y="1360435"/>
            <a:ext cx="1926066" cy="1107996"/>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spc="10" dirty="0">
                <a:solidFill>
                  <a:schemeClr val="tx1"/>
                </a:solidFill>
                <a:latin typeface="LM Sans 10"/>
                <a:cs typeface="LM Sans 10"/>
              </a:rPr>
              <a:t>A1</a:t>
            </a:r>
            <a:r>
              <a:rPr lang="en-US" sz="1600" spc="15" baseline="-10416" dirty="0">
                <a:solidFill>
                  <a:schemeClr val="tx1"/>
                </a:solidFill>
              </a:rPr>
              <a:t>5x</a:t>
            </a:r>
            <a:r>
              <a:rPr lang="en-US" sz="1600" b="1" spc="15" baseline="-10416" dirty="0">
                <a:solidFill>
                  <a:srgbClr val="FF0000"/>
                </a:solidFill>
              </a:rPr>
              <a:t>4</a:t>
            </a:r>
            <a:r>
              <a:rPr lang="en-US" sz="1600" spc="15" baseline="-10416" dirty="0">
                <a:solidFill>
                  <a:schemeClr val="tx1"/>
                </a:solidFill>
              </a:rPr>
              <a:t> ,</a:t>
            </a:r>
            <a:r>
              <a:rPr lang="en-US" sz="1600" spc="15" dirty="0">
                <a:solidFill>
                  <a:schemeClr val="tx1"/>
                </a:solidFill>
              </a:rPr>
              <a:t> (</a:t>
            </a:r>
            <a:r>
              <a:rPr lang="en-US" sz="1600" spc="15" baseline="-10416" dirty="0">
                <a:solidFill>
                  <a:schemeClr val="tx1"/>
                </a:solidFill>
              </a:rPr>
              <a:t> </a:t>
            </a:r>
            <a:r>
              <a:rPr lang="en-US" sz="1400" spc="10" dirty="0">
                <a:solidFill>
                  <a:schemeClr val="tx1"/>
                </a:solidFill>
                <a:latin typeface="LM Sans 10"/>
                <a:cs typeface="LM Sans 10"/>
              </a:rPr>
              <a:t>A2</a:t>
            </a:r>
            <a:r>
              <a:rPr lang="en-US" sz="1600" b="1" spc="15" baseline="-10416" dirty="0">
                <a:solidFill>
                  <a:srgbClr val="FF0000"/>
                </a:solidFill>
              </a:rPr>
              <a:t>4</a:t>
            </a:r>
            <a:r>
              <a:rPr lang="en-US" sz="1600" spc="15" baseline="-10416" dirty="0">
                <a:solidFill>
                  <a:schemeClr val="tx1"/>
                </a:solidFill>
              </a:rPr>
              <a:t>x6 , </a:t>
            </a:r>
            <a:r>
              <a:rPr lang="en-US" sz="1400" spc="10" dirty="0">
                <a:solidFill>
                  <a:schemeClr val="tx1"/>
                </a:solidFill>
                <a:latin typeface="LM Sans 10"/>
                <a:cs typeface="LM Sans 10"/>
              </a:rPr>
              <a:t>A3</a:t>
            </a:r>
            <a:r>
              <a:rPr lang="en-US" sz="1600" spc="15" baseline="-10416" dirty="0">
                <a:solidFill>
                  <a:schemeClr val="tx1"/>
                </a:solidFill>
              </a:rPr>
              <a:t>6x2 </a:t>
            </a:r>
            <a:r>
              <a:rPr lang="en-US" sz="1600" b="1" spc="15" baseline="-10416" dirty="0">
                <a:solidFill>
                  <a:schemeClr val="tx1"/>
                </a:solidFill>
              </a:rPr>
              <a:t>)</a:t>
            </a:r>
          </a:p>
          <a:p>
            <a:r>
              <a:rPr lang="en-US" sz="1200" b="1" spc="15" dirty="0">
                <a:solidFill>
                  <a:schemeClr val="tx1"/>
                </a:solidFill>
              </a:rPr>
              <a:t>=</a:t>
            </a:r>
            <a:r>
              <a:rPr lang="en-US" sz="1400" spc="15" dirty="0">
                <a:solidFill>
                  <a:schemeClr val="tx1"/>
                </a:solidFill>
              </a:rPr>
              <a:t>m[1,1]+m[2,3]+5*4*2 </a:t>
            </a:r>
          </a:p>
          <a:p>
            <a:r>
              <a:rPr lang="en-US" spc="15" dirty="0">
                <a:solidFill>
                  <a:schemeClr val="tx1"/>
                </a:solidFill>
              </a:rPr>
              <a:t>=0+ 48 + 40</a:t>
            </a:r>
          </a:p>
          <a:p>
            <a:r>
              <a:rPr lang="en-US" spc="15" dirty="0">
                <a:solidFill>
                  <a:schemeClr val="tx1"/>
                </a:solidFill>
              </a:rPr>
              <a:t>=88</a:t>
            </a:r>
            <a:endParaRPr lang="en-US" dirty="0"/>
          </a:p>
        </p:txBody>
      </p:sp>
      <p:sp>
        <p:nvSpPr>
          <p:cNvPr id="16" name="Rectangle 15"/>
          <p:cNvSpPr/>
          <p:nvPr/>
        </p:nvSpPr>
        <p:spPr>
          <a:xfrm>
            <a:off x="2381250" y="1360436"/>
            <a:ext cx="2170290"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spc="10" dirty="0">
                <a:solidFill>
                  <a:schemeClr val="tx1"/>
                </a:solidFill>
                <a:latin typeface="LM Sans 10"/>
                <a:cs typeface="LM Sans 10"/>
              </a:rPr>
              <a:t>(A1</a:t>
            </a:r>
            <a:r>
              <a:rPr lang="en-US" sz="1600" spc="15" baseline="-10416" dirty="0">
                <a:solidFill>
                  <a:schemeClr val="tx1"/>
                </a:solidFill>
              </a:rPr>
              <a:t>5x4 .  </a:t>
            </a:r>
            <a:r>
              <a:rPr lang="en-US" sz="1400" spc="10" dirty="0">
                <a:solidFill>
                  <a:schemeClr val="tx1"/>
                </a:solidFill>
                <a:latin typeface="LM Sans 10"/>
                <a:cs typeface="LM Sans 10"/>
              </a:rPr>
              <a:t>A2</a:t>
            </a:r>
            <a:r>
              <a:rPr lang="en-US" sz="1600" spc="15" baseline="-10416" dirty="0">
                <a:solidFill>
                  <a:schemeClr val="tx1"/>
                </a:solidFill>
              </a:rPr>
              <a:t>4x</a:t>
            </a:r>
            <a:r>
              <a:rPr lang="en-US" sz="1600" b="1" spc="15" baseline="-10416" dirty="0">
                <a:solidFill>
                  <a:srgbClr val="FF0000"/>
                </a:solidFill>
              </a:rPr>
              <a:t>6</a:t>
            </a:r>
            <a:r>
              <a:rPr lang="en-US" sz="1600" spc="15" baseline="-10416" dirty="0">
                <a:solidFill>
                  <a:schemeClr val="tx1"/>
                </a:solidFill>
              </a:rPr>
              <a:t> )</a:t>
            </a:r>
            <a:r>
              <a:rPr lang="en-US" sz="1600" spc="15" dirty="0">
                <a:solidFill>
                  <a:schemeClr val="tx1"/>
                </a:solidFill>
              </a:rPr>
              <a:t> .</a:t>
            </a:r>
            <a:r>
              <a:rPr lang="en-US" sz="1600" spc="15" baseline="-10416" dirty="0">
                <a:solidFill>
                  <a:schemeClr val="tx1"/>
                </a:solidFill>
              </a:rPr>
              <a:t> </a:t>
            </a:r>
            <a:r>
              <a:rPr lang="en-US" sz="1400" spc="10" dirty="0">
                <a:solidFill>
                  <a:schemeClr val="tx1"/>
                </a:solidFill>
                <a:latin typeface="LM Sans 10"/>
                <a:cs typeface="LM Sans 10"/>
              </a:rPr>
              <a:t>A3</a:t>
            </a:r>
            <a:r>
              <a:rPr lang="en-US" sz="1600" b="1" spc="15" baseline="-10416" dirty="0">
                <a:solidFill>
                  <a:srgbClr val="FF0000"/>
                </a:solidFill>
              </a:rPr>
              <a:t>6</a:t>
            </a:r>
            <a:r>
              <a:rPr lang="en-US" sz="1600" spc="15" baseline="-10416" dirty="0">
                <a:solidFill>
                  <a:schemeClr val="tx1"/>
                </a:solidFill>
              </a:rPr>
              <a:t>x2</a:t>
            </a:r>
          </a:p>
          <a:p>
            <a:r>
              <a:rPr lang="en-US" sz="1400" spc="15" dirty="0">
                <a:solidFill>
                  <a:schemeClr val="tx1"/>
                </a:solidFill>
                <a:latin typeface="+mj-lt"/>
              </a:rPr>
              <a:t>=</a:t>
            </a:r>
            <a:r>
              <a:rPr lang="en-US" sz="1400" spc="15" dirty="0">
                <a:solidFill>
                  <a:schemeClr val="tx1"/>
                </a:solidFill>
              </a:rPr>
              <a:t> m[1,2]+ m[3,3]+ </a:t>
            </a:r>
            <a:r>
              <a:rPr lang="en-US" sz="1400" spc="15" dirty="0">
                <a:solidFill>
                  <a:schemeClr val="tx1"/>
                </a:solidFill>
                <a:latin typeface="+mj-lt"/>
              </a:rPr>
              <a:t>5x6x2</a:t>
            </a:r>
          </a:p>
          <a:p>
            <a:r>
              <a:rPr lang="en-US" sz="1400" spc="15" dirty="0">
                <a:solidFill>
                  <a:schemeClr val="tx1"/>
                </a:solidFill>
                <a:latin typeface="+mj-lt"/>
              </a:rPr>
              <a:t>=120 + 0 + 60</a:t>
            </a:r>
          </a:p>
          <a:p>
            <a:r>
              <a:rPr lang="en-US" sz="1400" spc="15" dirty="0">
                <a:solidFill>
                  <a:schemeClr val="tx1"/>
                </a:solidFill>
                <a:latin typeface="+mj-lt"/>
              </a:rPr>
              <a:t>=180</a:t>
            </a:r>
            <a:r>
              <a:rPr lang="en-US" sz="1600" spc="15" baseline="-10416" dirty="0">
                <a:solidFill>
                  <a:schemeClr val="tx1"/>
                </a:solidFill>
                <a:latin typeface="+mj-lt"/>
              </a:rPr>
              <a:t> </a:t>
            </a:r>
            <a:endParaRPr lang="en-US" sz="1600" dirty="0">
              <a:latin typeface="+mj-lt"/>
            </a:endParaRPr>
          </a:p>
        </p:txBody>
      </p:sp>
      <p:sp>
        <p:nvSpPr>
          <p:cNvPr id="17" name="TextBox 16"/>
          <p:cNvSpPr txBox="1"/>
          <p:nvPr/>
        </p:nvSpPr>
        <p:spPr>
          <a:xfrm>
            <a:off x="1767139" y="2570359"/>
            <a:ext cx="1228221"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1400" dirty="0"/>
              <a:t>Pick Minimum</a:t>
            </a:r>
          </a:p>
        </p:txBody>
      </p:sp>
      <p:cxnSp>
        <p:nvCxnSpPr>
          <p:cNvPr id="19" name="Straight Arrow Connector 18"/>
          <p:cNvCxnSpPr>
            <a:stCxn id="17" idx="1"/>
            <a:endCxn id="15" idx="2"/>
          </p:cNvCxnSpPr>
          <p:nvPr/>
        </p:nvCxnSpPr>
        <p:spPr>
          <a:xfrm flipH="1" flipV="1">
            <a:off x="1258084" y="2468431"/>
            <a:ext cx="509055" cy="255817"/>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651031626"/>
      </p:ext>
    </p:extLst>
  </p:cSld>
  <p:clrMapOvr>
    <a:masterClrMapping/>
  </p:clrMapOvr>
  <p:transition>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3</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1398404477"/>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2971800"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A1. ( A2 .</a:t>
            </a:r>
            <a:r>
              <a:rPr lang="en-US" sz="1600" spc="15" baseline="-10416" dirty="0">
                <a:solidFill>
                  <a:srgbClr val="FF0000"/>
                </a:solidFill>
              </a:rPr>
              <a:t> </a:t>
            </a:r>
            <a:r>
              <a:rPr lang="en-US" sz="1400" spc="10" dirty="0">
                <a:solidFill>
                  <a:srgbClr val="FF0000"/>
                </a:solidFill>
                <a:latin typeface="LM Sans 10"/>
                <a:cs typeface="LM Sans 10"/>
              </a:rPr>
              <a:t>A3)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(A1. A2 ).</a:t>
            </a:r>
            <a:r>
              <a:rPr lang="en-US" sz="1600" spc="15" baseline="-10416" dirty="0">
                <a:solidFill>
                  <a:srgbClr val="C00000"/>
                </a:solidFill>
              </a:rPr>
              <a:t> </a:t>
            </a:r>
            <a:r>
              <a:rPr lang="en-US" sz="1400" spc="10" dirty="0">
                <a:solidFill>
                  <a:srgbClr val="C00000"/>
                </a:solidFill>
                <a:latin typeface="LM Sans 10"/>
                <a:cs typeface="LM Sans 10"/>
              </a:rPr>
              <a:t>A3 </a:t>
            </a:r>
            <a:endParaRPr lang="en-US" sz="1600" dirty="0">
              <a:solidFill>
                <a:srgbClr val="C00000"/>
              </a:solidFill>
            </a:endParaRPr>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11" name="TextBox 10"/>
          <p:cNvSpPr txBox="1"/>
          <p:nvPr/>
        </p:nvSpPr>
        <p:spPr>
          <a:xfrm>
            <a:off x="744023" y="3032025"/>
            <a:ext cx="3008965"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Two Possibilities to multiply 3 matrices</a:t>
            </a:r>
          </a:p>
        </p:txBody>
      </p:sp>
    </p:spTree>
    <p:extLst>
      <p:ext uri="{BB962C8B-B14F-4D97-AF65-F5344CB8AC3E}">
        <p14:creationId xmlns:p14="http://schemas.microsoft.com/office/powerpoint/2010/main" val="1119650676"/>
      </p:ext>
    </p:extLst>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4</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3105119975"/>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2971800"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A2. ( A3 .</a:t>
            </a:r>
            <a:r>
              <a:rPr lang="en-US" sz="1600" spc="15" baseline="-10416" dirty="0">
                <a:solidFill>
                  <a:srgbClr val="FF0000"/>
                </a:solidFill>
              </a:rPr>
              <a:t> </a:t>
            </a:r>
            <a:r>
              <a:rPr lang="en-US" sz="1400" spc="10" dirty="0">
                <a:solidFill>
                  <a:srgbClr val="FF0000"/>
                </a:solidFill>
                <a:latin typeface="LM Sans 10"/>
                <a:cs typeface="LM Sans 10"/>
              </a:rPr>
              <a:t>A4)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(A2. A3 ).</a:t>
            </a:r>
            <a:r>
              <a:rPr lang="en-US" sz="1600" spc="15" baseline="-10416" dirty="0">
                <a:solidFill>
                  <a:srgbClr val="C00000"/>
                </a:solidFill>
              </a:rPr>
              <a:t> </a:t>
            </a:r>
            <a:r>
              <a:rPr lang="en-US" sz="1400" spc="10" dirty="0">
                <a:solidFill>
                  <a:srgbClr val="C00000"/>
                </a:solidFill>
                <a:latin typeface="LM Sans 10"/>
                <a:cs typeface="LM Sans 10"/>
              </a:rPr>
              <a:t>A4 </a:t>
            </a:r>
            <a:endParaRPr lang="en-US" sz="1600" dirty="0">
              <a:solidFill>
                <a:srgbClr val="C00000"/>
              </a:solidFill>
            </a:endParaRPr>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11" name="TextBox 10"/>
          <p:cNvSpPr txBox="1"/>
          <p:nvPr/>
        </p:nvSpPr>
        <p:spPr>
          <a:xfrm>
            <a:off x="744023" y="3032025"/>
            <a:ext cx="3008965"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Two Possibilities to multiply 3 matrices</a:t>
            </a:r>
          </a:p>
        </p:txBody>
      </p:sp>
    </p:spTree>
    <p:extLst>
      <p:ext uri="{BB962C8B-B14F-4D97-AF65-F5344CB8AC3E}">
        <p14:creationId xmlns:p14="http://schemas.microsoft.com/office/powerpoint/2010/main" val="2117009320"/>
      </p:ext>
    </p:extLst>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4</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
        <p:nvSpPr>
          <p:cNvPr id="12" name="Rectangle 11"/>
          <p:cNvSpPr/>
          <p:nvPr/>
        </p:nvSpPr>
        <p:spPr>
          <a:xfrm>
            <a:off x="322439" y="892175"/>
            <a:ext cx="2971800"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A2. ( A3 .</a:t>
            </a:r>
            <a:r>
              <a:rPr lang="en-US" sz="1600" spc="15" baseline="-10416" dirty="0">
                <a:solidFill>
                  <a:srgbClr val="FF0000"/>
                </a:solidFill>
              </a:rPr>
              <a:t> </a:t>
            </a:r>
            <a:r>
              <a:rPr lang="en-US" sz="1400" spc="10" dirty="0">
                <a:solidFill>
                  <a:srgbClr val="FF0000"/>
                </a:solidFill>
                <a:latin typeface="LM Sans 10"/>
                <a:cs typeface="LM Sans 10"/>
              </a:rPr>
              <a:t>A4)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(A2. A3 ).</a:t>
            </a:r>
            <a:r>
              <a:rPr lang="en-US" sz="1600" spc="15" baseline="-10416" dirty="0">
                <a:solidFill>
                  <a:srgbClr val="C00000"/>
                </a:solidFill>
              </a:rPr>
              <a:t> </a:t>
            </a:r>
            <a:r>
              <a:rPr lang="en-US" sz="1400" spc="10" dirty="0">
                <a:solidFill>
                  <a:srgbClr val="C00000"/>
                </a:solidFill>
                <a:latin typeface="LM Sans 10"/>
                <a:cs typeface="LM Sans 10"/>
              </a:rPr>
              <a:t>A4 </a:t>
            </a:r>
            <a:endParaRPr lang="en-US" sz="1600" dirty="0">
              <a:solidFill>
                <a:srgbClr val="C00000"/>
              </a:solidFill>
            </a:endParaRPr>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11" name="TextBox 10"/>
          <p:cNvSpPr txBox="1"/>
          <p:nvPr/>
        </p:nvSpPr>
        <p:spPr>
          <a:xfrm>
            <a:off x="744023" y="3032025"/>
            <a:ext cx="3008965"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Two Possibilities to multiply 3 matrices</a:t>
            </a:r>
          </a:p>
        </p:txBody>
      </p:sp>
      <p:sp>
        <p:nvSpPr>
          <p:cNvPr id="15" name="Rectangle 14"/>
          <p:cNvSpPr/>
          <p:nvPr/>
        </p:nvSpPr>
        <p:spPr>
          <a:xfrm>
            <a:off x="295051" y="1360435"/>
            <a:ext cx="1926066" cy="1107996"/>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spc="10" dirty="0">
                <a:solidFill>
                  <a:schemeClr val="tx1"/>
                </a:solidFill>
                <a:latin typeface="LM Sans 10"/>
                <a:cs typeface="LM Sans 10"/>
              </a:rPr>
              <a:t>A2</a:t>
            </a:r>
            <a:r>
              <a:rPr lang="en-US" sz="1600" spc="15" baseline="-10416" dirty="0">
                <a:solidFill>
                  <a:schemeClr val="tx1"/>
                </a:solidFill>
              </a:rPr>
              <a:t>4x</a:t>
            </a:r>
            <a:r>
              <a:rPr lang="en-US" sz="1600" b="1" spc="15" baseline="-10416" dirty="0">
                <a:solidFill>
                  <a:srgbClr val="FF0000"/>
                </a:solidFill>
              </a:rPr>
              <a:t>6</a:t>
            </a:r>
            <a:r>
              <a:rPr lang="en-US" sz="1600" spc="15" baseline="-10416" dirty="0">
                <a:solidFill>
                  <a:schemeClr val="tx1"/>
                </a:solidFill>
              </a:rPr>
              <a:t> .</a:t>
            </a:r>
            <a:r>
              <a:rPr lang="en-US" sz="1600" spc="15" dirty="0">
                <a:solidFill>
                  <a:schemeClr val="tx1"/>
                </a:solidFill>
              </a:rPr>
              <a:t> (</a:t>
            </a:r>
            <a:r>
              <a:rPr lang="en-US" sz="1600" spc="15" baseline="-10416" dirty="0">
                <a:solidFill>
                  <a:schemeClr val="tx1"/>
                </a:solidFill>
              </a:rPr>
              <a:t> </a:t>
            </a:r>
            <a:r>
              <a:rPr lang="en-US" sz="1400" spc="10" dirty="0">
                <a:solidFill>
                  <a:schemeClr val="tx1"/>
                </a:solidFill>
                <a:latin typeface="LM Sans 10"/>
                <a:cs typeface="LM Sans 10"/>
              </a:rPr>
              <a:t>A3</a:t>
            </a:r>
            <a:r>
              <a:rPr lang="en-US" sz="1600" b="1" spc="15" baseline="-10416" dirty="0">
                <a:solidFill>
                  <a:srgbClr val="FF0000"/>
                </a:solidFill>
              </a:rPr>
              <a:t>6</a:t>
            </a:r>
            <a:r>
              <a:rPr lang="en-US" sz="1600" spc="15" baseline="-10416" dirty="0">
                <a:solidFill>
                  <a:schemeClr val="tx1"/>
                </a:solidFill>
              </a:rPr>
              <a:t>x2 , </a:t>
            </a:r>
            <a:r>
              <a:rPr lang="en-US" sz="1400" spc="10" dirty="0">
                <a:solidFill>
                  <a:schemeClr val="tx1"/>
                </a:solidFill>
                <a:latin typeface="LM Sans 10"/>
                <a:cs typeface="LM Sans 10"/>
              </a:rPr>
              <a:t>A4</a:t>
            </a:r>
            <a:r>
              <a:rPr lang="en-US" sz="1600" spc="15" baseline="-10416" dirty="0">
                <a:solidFill>
                  <a:schemeClr val="tx1"/>
                </a:solidFill>
              </a:rPr>
              <a:t>2x7 </a:t>
            </a:r>
            <a:r>
              <a:rPr lang="en-US" sz="1600" b="1" spc="15" baseline="-10416" dirty="0">
                <a:solidFill>
                  <a:schemeClr val="tx1"/>
                </a:solidFill>
              </a:rPr>
              <a:t>)</a:t>
            </a:r>
          </a:p>
          <a:p>
            <a:r>
              <a:rPr lang="en-US" sz="1200" b="1" spc="15" dirty="0">
                <a:solidFill>
                  <a:schemeClr val="tx1"/>
                </a:solidFill>
              </a:rPr>
              <a:t>=</a:t>
            </a:r>
            <a:r>
              <a:rPr lang="en-US" sz="1400" spc="15" dirty="0">
                <a:solidFill>
                  <a:schemeClr val="tx1"/>
                </a:solidFill>
              </a:rPr>
              <a:t>m[2,2]+m[3,4]+ 4x6x7 </a:t>
            </a:r>
          </a:p>
          <a:p>
            <a:r>
              <a:rPr lang="en-US" spc="15" dirty="0">
                <a:solidFill>
                  <a:schemeClr val="tx1"/>
                </a:solidFill>
              </a:rPr>
              <a:t>=0+ 84 + 168</a:t>
            </a:r>
          </a:p>
          <a:p>
            <a:r>
              <a:rPr lang="en-US" spc="15" dirty="0">
                <a:solidFill>
                  <a:schemeClr val="tx1"/>
                </a:solidFill>
              </a:rPr>
              <a:t>=252</a:t>
            </a:r>
            <a:endParaRPr lang="en-US" dirty="0"/>
          </a:p>
        </p:txBody>
      </p:sp>
      <p:sp>
        <p:nvSpPr>
          <p:cNvPr id="16" name="Rectangle 15"/>
          <p:cNvSpPr/>
          <p:nvPr/>
        </p:nvSpPr>
        <p:spPr>
          <a:xfrm>
            <a:off x="2381250" y="1360436"/>
            <a:ext cx="2170290" cy="98488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spc="10" dirty="0">
                <a:solidFill>
                  <a:schemeClr val="tx1"/>
                </a:solidFill>
                <a:latin typeface="LM Sans 10"/>
                <a:cs typeface="LM Sans 10"/>
              </a:rPr>
              <a:t> (A2</a:t>
            </a:r>
            <a:r>
              <a:rPr lang="en-US" sz="1400" spc="15" baseline="-10416" dirty="0">
                <a:solidFill>
                  <a:schemeClr val="tx1"/>
                </a:solidFill>
              </a:rPr>
              <a:t>4x6 .</a:t>
            </a:r>
            <a:r>
              <a:rPr lang="en-US" sz="1400" spc="15" dirty="0">
                <a:solidFill>
                  <a:schemeClr val="tx1"/>
                </a:solidFill>
              </a:rPr>
              <a:t> </a:t>
            </a:r>
            <a:r>
              <a:rPr lang="en-US" sz="1400" spc="15" baseline="-10416" dirty="0">
                <a:solidFill>
                  <a:schemeClr val="tx1"/>
                </a:solidFill>
              </a:rPr>
              <a:t> </a:t>
            </a:r>
            <a:r>
              <a:rPr lang="en-US" sz="1200" spc="10" dirty="0">
                <a:solidFill>
                  <a:schemeClr val="tx1"/>
                </a:solidFill>
                <a:latin typeface="LM Sans 10"/>
                <a:cs typeface="LM Sans 10"/>
              </a:rPr>
              <a:t>A3</a:t>
            </a:r>
            <a:r>
              <a:rPr lang="en-US" sz="1400" spc="15" baseline="-10416" dirty="0">
                <a:solidFill>
                  <a:schemeClr val="tx1"/>
                </a:solidFill>
              </a:rPr>
              <a:t>6x</a:t>
            </a:r>
            <a:r>
              <a:rPr lang="en-US" sz="1400" b="1" spc="15" baseline="-10416" dirty="0">
                <a:solidFill>
                  <a:srgbClr val="FF0000"/>
                </a:solidFill>
              </a:rPr>
              <a:t>2</a:t>
            </a:r>
            <a:r>
              <a:rPr lang="en-US" sz="1400" spc="15" baseline="-10416" dirty="0">
                <a:solidFill>
                  <a:schemeClr val="tx1"/>
                </a:solidFill>
              </a:rPr>
              <a:t>) . </a:t>
            </a:r>
            <a:r>
              <a:rPr lang="en-US" sz="1200" spc="10" dirty="0">
                <a:solidFill>
                  <a:schemeClr val="tx1"/>
                </a:solidFill>
                <a:latin typeface="LM Sans 10"/>
                <a:cs typeface="LM Sans 10"/>
              </a:rPr>
              <a:t>A4</a:t>
            </a:r>
            <a:r>
              <a:rPr lang="en-US" sz="1400" b="1" spc="15" baseline="-10416" dirty="0">
                <a:solidFill>
                  <a:srgbClr val="FF0000"/>
                </a:solidFill>
              </a:rPr>
              <a:t>2</a:t>
            </a:r>
            <a:r>
              <a:rPr lang="en-US" sz="1400" spc="15" baseline="-10416" dirty="0">
                <a:solidFill>
                  <a:schemeClr val="tx1"/>
                </a:solidFill>
              </a:rPr>
              <a:t>x7 </a:t>
            </a:r>
          </a:p>
          <a:p>
            <a:r>
              <a:rPr lang="en-US" sz="1400" spc="15" dirty="0">
                <a:solidFill>
                  <a:schemeClr val="tx1"/>
                </a:solidFill>
                <a:latin typeface="+mj-lt"/>
              </a:rPr>
              <a:t>=</a:t>
            </a:r>
            <a:r>
              <a:rPr lang="en-US" sz="1400" spc="15" dirty="0">
                <a:solidFill>
                  <a:schemeClr val="tx1"/>
                </a:solidFill>
              </a:rPr>
              <a:t> m[1,2]+ m[3,3]+ </a:t>
            </a:r>
            <a:r>
              <a:rPr lang="en-US" sz="1400" spc="15" dirty="0">
                <a:solidFill>
                  <a:schemeClr val="tx1"/>
                </a:solidFill>
                <a:latin typeface="+mj-lt"/>
              </a:rPr>
              <a:t>4x2x7</a:t>
            </a:r>
          </a:p>
          <a:p>
            <a:r>
              <a:rPr lang="en-US" sz="1400" spc="15" dirty="0">
                <a:solidFill>
                  <a:schemeClr val="tx1"/>
                </a:solidFill>
                <a:latin typeface="+mj-lt"/>
              </a:rPr>
              <a:t>=48 + 0 + 56</a:t>
            </a:r>
          </a:p>
          <a:p>
            <a:r>
              <a:rPr lang="en-US" sz="1400" spc="15" dirty="0">
                <a:solidFill>
                  <a:schemeClr val="tx1"/>
                </a:solidFill>
                <a:latin typeface="+mj-lt"/>
              </a:rPr>
              <a:t>=104</a:t>
            </a:r>
            <a:r>
              <a:rPr lang="en-US" sz="1600" spc="15" baseline="-10416" dirty="0">
                <a:solidFill>
                  <a:schemeClr val="tx1"/>
                </a:solidFill>
                <a:latin typeface="+mj-lt"/>
              </a:rPr>
              <a:t> </a:t>
            </a:r>
            <a:endParaRPr lang="en-US" sz="1600" dirty="0">
              <a:latin typeface="+mj-lt"/>
            </a:endParaRPr>
          </a:p>
        </p:txBody>
      </p:sp>
      <p:sp>
        <p:nvSpPr>
          <p:cNvPr id="17" name="TextBox 16"/>
          <p:cNvSpPr txBox="1"/>
          <p:nvPr/>
        </p:nvSpPr>
        <p:spPr>
          <a:xfrm>
            <a:off x="1767139" y="2570359"/>
            <a:ext cx="1228221"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1400" dirty="0"/>
              <a:t>Pick Minimum</a:t>
            </a:r>
          </a:p>
        </p:txBody>
      </p:sp>
      <p:cxnSp>
        <p:nvCxnSpPr>
          <p:cNvPr id="19" name="Straight Arrow Connector 18"/>
          <p:cNvCxnSpPr>
            <a:endCxn id="16" idx="2"/>
          </p:cNvCxnSpPr>
          <p:nvPr/>
        </p:nvCxnSpPr>
        <p:spPr>
          <a:xfrm flipV="1">
            <a:off x="2534920" y="2345321"/>
            <a:ext cx="931475" cy="189463"/>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32741769"/>
      </p:ext>
    </p:extLst>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lang="en-US" sz="1100" i="1" spc="-5" dirty="0">
                <a:solidFill>
                  <a:srgbClr val="FF0000"/>
                </a:solidFill>
                <a:latin typeface="LM Roman Dunhill 10"/>
                <a:cs typeface="LM Roman Dunhill 10"/>
              </a:rPr>
              <a:t>4</a:t>
            </a:r>
            <a:r>
              <a:rPr sz="1100" i="1" spc="-125" dirty="0">
                <a:solidFill>
                  <a:srgbClr val="FF0000"/>
                </a:solidFill>
                <a:latin typeface="LM Roman Dunhill 10"/>
                <a:cs typeface="LM Roman Dunhill 10"/>
              </a:rPr>
              <a:t> </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179387836"/>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2971800"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A1. ( A2 .</a:t>
            </a:r>
            <a:r>
              <a:rPr lang="en-US" sz="1600" spc="15" baseline="-10416" dirty="0">
                <a:solidFill>
                  <a:srgbClr val="FF0000"/>
                </a:solidFill>
              </a:rPr>
              <a:t> </a:t>
            </a:r>
            <a:r>
              <a:rPr lang="en-US" sz="1400" spc="10" dirty="0">
                <a:solidFill>
                  <a:srgbClr val="FF0000"/>
                </a:solidFill>
                <a:latin typeface="LM Sans 10"/>
                <a:cs typeface="LM Sans 10"/>
              </a:rPr>
              <a:t>A3)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(A1. A2 ).</a:t>
            </a:r>
            <a:r>
              <a:rPr lang="en-US" sz="1600" spc="15" baseline="-10416" dirty="0">
                <a:solidFill>
                  <a:srgbClr val="C00000"/>
                </a:solidFill>
              </a:rPr>
              <a:t> </a:t>
            </a:r>
            <a:r>
              <a:rPr lang="en-US" sz="1400" spc="10" dirty="0">
                <a:solidFill>
                  <a:srgbClr val="C00000"/>
                </a:solidFill>
                <a:latin typeface="LM Sans 10"/>
                <a:cs typeface="LM Sans 10"/>
              </a:rPr>
              <a:t>A3 </a:t>
            </a:r>
            <a:endParaRPr lang="en-US" sz="1600" dirty="0">
              <a:solidFill>
                <a:srgbClr val="C00000"/>
              </a:solidFill>
            </a:endParaRPr>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11" name="TextBox 10"/>
          <p:cNvSpPr txBox="1"/>
          <p:nvPr/>
        </p:nvSpPr>
        <p:spPr>
          <a:xfrm>
            <a:off x="744023" y="3032025"/>
            <a:ext cx="3008965"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Two Possibilities to multiply 3 matrices</a:t>
            </a:r>
          </a:p>
        </p:txBody>
      </p:sp>
    </p:spTree>
    <p:extLst>
      <p:ext uri="{BB962C8B-B14F-4D97-AF65-F5344CB8AC3E}">
        <p14:creationId xmlns:p14="http://schemas.microsoft.com/office/powerpoint/2010/main" val="2206725953"/>
      </p:ext>
    </p:extLst>
  </p:cSld>
  <p:clrMapOvr>
    <a:masterClrMapping/>
  </p:clrMapOvr>
  <p:transition>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4</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404459299"/>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3733800" cy="52322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A1. ( A2 .</a:t>
            </a:r>
            <a:r>
              <a:rPr lang="en-US" sz="1600" spc="15" baseline="-10416" dirty="0">
                <a:solidFill>
                  <a:srgbClr val="FF0000"/>
                </a:solidFill>
              </a:rPr>
              <a:t> </a:t>
            </a:r>
            <a:r>
              <a:rPr lang="en-US" sz="1400" spc="10" dirty="0">
                <a:solidFill>
                  <a:srgbClr val="FF0000"/>
                </a:solidFill>
                <a:latin typeface="LM Sans 10"/>
                <a:cs typeface="LM Sans 10"/>
              </a:rPr>
              <a:t>A3. A4)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(A1. A2 ). (</a:t>
            </a:r>
            <a:r>
              <a:rPr lang="en-US" sz="1600" spc="15" baseline="-10416" dirty="0">
                <a:solidFill>
                  <a:srgbClr val="C00000"/>
                </a:solidFill>
              </a:rPr>
              <a:t> </a:t>
            </a:r>
            <a:r>
              <a:rPr lang="en-US" sz="1400" spc="10" dirty="0">
                <a:solidFill>
                  <a:srgbClr val="C00000"/>
                </a:solidFill>
                <a:latin typeface="LM Sans 10"/>
                <a:cs typeface="LM Sans 10"/>
              </a:rPr>
              <a:t>A3 . A4) or </a:t>
            </a:r>
            <a:r>
              <a:rPr lang="en-US" sz="1400" spc="10" dirty="0">
                <a:solidFill>
                  <a:schemeClr val="accent4">
                    <a:lumMod val="50000"/>
                  </a:schemeClr>
                </a:solidFill>
                <a:latin typeface="LM Sans 10"/>
                <a:cs typeface="LM Sans 10"/>
              </a:rPr>
              <a:t>(A1 .A2. A3). A4</a:t>
            </a:r>
            <a:endParaRPr lang="en-US" sz="1600" dirty="0">
              <a:solidFill>
                <a:schemeClr val="accent4">
                  <a:lumMod val="50000"/>
                </a:schemeClr>
              </a:solidFill>
            </a:endParaRPr>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11" name="TextBox 10"/>
          <p:cNvSpPr txBox="1"/>
          <p:nvPr/>
        </p:nvSpPr>
        <p:spPr>
          <a:xfrm>
            <a:off x="3017697" y="2949575"/>
            <a:ext cx="1496372"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Three Possibilities</a:t>
            </a:r>
          </a:p>
        </p:txBody>
      </p:sp>
    </p:spTree>
    <p:extLst>
      <p:ext uri="{BB962C8B-B14F-4D97-AF65-F5344CB8AC3E}">
        <p14:creationId xmlns:p14="http://schemas.microsoft.com/office/powerpoint/2010/main" val="731642445"/>
      </p:ext>
    </p:extLst>
  </p:cSld>
  <p:clrMapOvr>
    <a:masterClrMapping/>
  </p:clrMapOvr>
  <p:transition>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3" name="Rectangle 2"/>
          <p:cNvSpPr/>
          <p:nvPr/>
        </p:nvSpPr>
        <p:spPr>
          <a:xfrm>
            <a:off x="170039" y="815975"/>
            <a:ext cx="3733800" cy="52322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A1. ( A2 .</a:t>
            </a:r>
            <a:r>
              <a:rPr lang="en-US" sz="1600" spc="15" baseline="-10416" dirty="0">
                <a:solidFill>
                  <a:srgbClr val="FF0000"/>
                </a:solidFill>
              </a:rPr>
              <a:t> </a:t>
            </a:r>
            <a:r>
              <a:rPr lang="en-US" sz="1400" spc="10" dirty="0">
                <a:solidFill>
                  <a:srgbClr val="FF0000"/>
                </a:solidFill>
                <a:latin typeface="LM Sans 10"/>
                <a:cs typeface="LM Sans 10"/>
              </a:rPr>
              <a:t>A3. A4)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(A1. A2 ). (</a:t>
            </a:r>
            <a:r>
              <a:rPr lang="en-US" sz="1600" spc="15" baseline="-10416" dirty="0">
                <a:solidFill>
                  <a:srgbClr val="C00000"/>
                </a:solidFill>
              </a:rPr>
              <a:t> </a:t>
            </a:r>
            <a:r>
              <a:rPr lang="en-US" sz="1400" spc="10" dirty="0">
                <a:solidFill>
                  <a:srgbClr val="C00000"/>
                </a:solidFill>
                <a:latin typeface="LM Sans 10"/>
                <a:cs typeface="LM Sans 10"/>
              </a:rPr>
              <a:t>A3 . A4) or </a:t>
            </a:r>
            <a:r>
              <a:rPr lang="en-US" sz="1400" spc="10" dirty="0">
                <a:solidFill>
                  <a:schemeClr val="accent4">
                    <a:lumMod val="50000"/>
                  </a:schemeClr>
                </a:solidFill>
                <a:latin typeface="LM Sans 10"/>
                <a:cs typeface="LM Sans 10"/>
              </a:rPr>
              <a:t>(A1 .A2. A3). A4</a:t>
            </a:r>
            <a:endParaRPr lang="en-US" sz="1600" dirty="0">
              <a:solidFill>
                <a:schemeClr val="accent4">
                  <a:lumMod val="50000"/>
                </a:schemeClr>
              </a:solidFill>
            </a:endParaRPr>
          </a:p>
        </p:txBody>
      </p:sp>
      <p:sp>
        <p:nvSpPr>
          <p:cNvPr id="4" name="Rectangle 3"/>
          <p:cNvSpPr/>
          <p:nvPr/>
        </p:nvSpPr>
        <p:spPr>
          <a:xfrm>
            <a:off x="170039" y="1470158"/>
            <a:ext cx="3733800" cy="73866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1400" spc="10" dirty="0">
                <a:solidFill>
                  <a:srgbClr val="FF0000"/>
                </a:solidFill>
                <a:latin typeface="LM Sans 10"/>
                <a:cs typeface="LM Sans 10"/>
              </a:rPr>
              <a:t>M[1,4]= m[1,1] + m[2,4] + 5 x4 x 7,</a:t>
            </a:r>
          </a:p>
          <a:p>
            <a:r>
              <a:rPr lang="en-US" sz="1400" spc="10" dirty="0">
                <a:solidFill>
                  <a:srgbClr val="FF0000"/>
                </a:solidFill>
                <a:latin typeface="LM Sans 10"/>
              </a:rPr>
              <a:t>             </a:t>
            </a:r>
            <a:r>
              <a:rPr lang="en-US" sz="1400" spc="10" dirty="0">
                <a:solidFill>
                  <a:srgbClr val="C00000"/>
                </a:solidFill>
                <a:latin typeface="LM Sans 10"/>
              </a:rPr>
              <a:t>m[1,2]+ m[3,4] + 5x6x7, </a:t>
            </a:r>
          </a:p>
          <a:p>
            <a:r>
              <a:rPr lang="en-US" sz="1400" spc="10" dirty="0">
                <a:solidFill>
                  <a:srgbClr val="C00000"/>
                </a:solidFill>
                <a:latin typeface="LM Sans 10"/>
              </a:rPr>
              <a:t>             </a:t>
            </a:r>
            <a:r>
              <a:rPr lang="en-US" sz="1400" spc="10" dirty="0">
                <a:solidFill>
                  <a:schemeClr val="tx2">
                    <a:lumMod val="75000"/>
                  </a:schemeClr>
                </a:solidFill>
                <a:latin typeface="LM Sans 10"/>
              </a:rPr>
              <a:t>m[1, 3] + m[4,4] + 5x 2x 7</a:t>
            </a:r>
            <a:endParaRPr lang="en-US" sz="1600" dirty="0">
              <a:solidFill>
                <a:schemeClr val="tx2">
                  <a:lumMod val="75000"/>
                </a:schemeClr>
              </a:solidFill>
            </a:endParaRPr>
          </a:p>
        </p:txBody>
      </p:sp>
      <p:sp>
        <p:nvSpPr>
          <p:cNvPr id="6" name="Rectangle 5"/>
          <p:cNvSpPr/>
          <p:nvPr/>
        </p:nvSpPr>
        <p:spPr>
          <a:xfrm>
            <a:off x="170039" y="2339975"/>
            <a:ext cx="2058811" cy="73866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1400" spc="10" dirty="0">
                <a:solidFill>
                  <a:srgbClr val="FF0000"/>
                </a:solidFill>
                <a:latin typeface="LM Sans 10"/>
                <a:cs typeface="LM Sans 10"/>
              </a:rPr>
              <a:t>M[1,4]= 0 + 104+ 140,</a:t>
            </a:r>
          </a:p>
          <a:p>
            <a:r>
              <a:rPr lang="en-US" sz="1400" spc="10" dirty="0">
                <a:solidFill>
                  <a:srgbClr val="FF0000"/>
                </a:solidFill>
                <a:latin typeface="LM Sans 10"/>
              </a:rPr>
              <a:t>             </a:t>
            </a:r>
            <a:r>
              <a:rPr lang="en-US" sz="1400" spc="10" dirty="0">
                <a:solidFill>
                  <a:srgbClr val="C00000"/>
                </a:solidFill>
                <a:latin typeface="LM Sans 10"/>
              </a:rPr>
              <a:t>120+84+210, </a:t>
            </a:r>
          </a:p>
          <a:p>
            <a:r>
              <a:rPr lang="en-US" sz="1400" spc="10" dirty="0">
                <a:solidFill>
                  <a:srgbClr val="C00000"/>
                </a:solidFill>
                <a:latin typeface="LM Sans 10"/>
              </a:rPr>
              <a:t>             </a:t>
            </a:r>
            <a:r>
              <a:rPr lang="en-US" sz="1400" spc="10" dirty="0">
                <a:solidFill>
                  <a:schemeClr val="tx2">
                    <a:lumMod val="75000"/>
                  </a:schemeClr>
                </a:solidFill>
                <a:latin typeface="LM Sans 10"/>
              </a:rPr>
              <a:t>88+0+70</a:t>
            </a:r>
            <a:endParaRPr lang="en-US" sz="1600" dirty="0">
              <a:solidFill>
                <a:schemeClr val="tx2">
                  <a:lumMod val="75000"/>
                </a:schemeClr>
              </a:solidFill>
            </a:endParaRPr>
          </a:p>
        </p:txBody>
      </p:sp>
      <p:sp>
        <p:nvSpPr>
          <p:cNvPr id="7" name="Rectangle 6"/>
          <p:cNvSpPr/>
          <p:nvPr/>
        </p:nvSpPr>
        <p:spPr>
          <a:xfrm>
            <a:off x="2393373" y="2339975"/>
            <a:ext cx="2058811" cy="73866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400" spc="10" dirty="0">
                <a:solidFill>
                  <a:srgbClr val="FF0000"/>
                </a:solidFill>
                <a:latin typeface="LM Sans 10"/>
                <a:cs typeface="LM Sans 10"/>
              </a:rPr>
              <a:t>M[1,4]= 244,</a:t>
            </a:r>
          </a:p>
          <a:p>
            <a:r>
              <a:rPr lang="en-US" sz="1400" spc="10" dirty="0">
                <a:solidFill>
                  <a:srgbClr val="FF0000"/>
                </a:solidFill>
                <a:latin typeface="LM Sans 10"/>
              </a:rPr>
              <a:t>             </a:t>
            </a:r>
            <a:r>
              <a:rPr lang="en-US" sz="1400" spc="10" dirty="0">
                <a:solidFill>
                  <a:srgbClr val="C00000"/>
                </a:solidFill>
                <a:latin typeface="LM Sans 10"/>
              </a:rPr>
              <a:t>414, </a:t>
            </a:r>
          </a:p>
          <a:p>
            <a:r>
              <a:rPr lang="en-US" sz="1400" spc="10" dirty="0">
                <a:solidFill>
                  <a:srgbClr val="C00000"/>
                </a:solidFill>
                <a:latin typeface="LM Sans 10"/>
              </a:rPr>
              <a:t>             </a:t>
            </a:r>
            <a:r>
              <a:rPr lang="en-US" sz="1400" spc="10" dirty="0">
                <a:solidFill>
                  <a:schemeClr val="tx2">
                    <a:lumMod val="75000"/>
                  </a:schemeClr>
                </a:solidFill>
                <a:latin typeface="LM Sans 10"/>
              </a:rPr>
              <a:t>158</a:t>
            </a:r>
            <a:endParaRPr lang="en-US" sz="1600" dirty="0">
              <a:solidFill>
                <a:schemeClr val="tx2">
                  <a:lumMod val="75000"/>
                </a:schemeClr>
              </a:solidFill>
            </a:endParaRPr>
          </a:p>
        </p:txBody>
      </p:sp>
      <p:sp>
        <p:nvSpPr>
          <p:cNvPr id="8" name="TextBox 7"/>
          <p:cNvSpPr txBox="1"/>
          <p:nvPr/>
        </p:nvSpPr>
        <p:spPr>
          <a:xfrm>
            <a:off x="3067050" y="3152973"/>
            <a:ext cx="1228221"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1400" dirty="0"/>
              <a:t>Pick Minimum</a:t>
            </a:r>
          </a:p>
        </p:txBody>
      </p:sp>
      <p:cxnSp>
        <p:nvCxnSpPr>
          <p:cNvPr id="9" name="Straight Arrow Connector 8"/>
          <p:cNvCxnSpPr>
            <a:stCxn id="8" idx="0"/>
          </p:cNvCxnSpPr>
          <p:nvPr/>
        </p:nvCxnSpPr>
        <p:spPr>
          <a:xfrm flipH="1" flipV="1">
            <a:off x="3502441" y="2959354"/>
            <a:ext cx="178720" cy="193619"/>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 name="TextBox 9"/>
          <p:cNvSpPr txBox="1"/>
          <p:nvPr/>
        </p:nvSpPr>
        <p:spPr>
          <a:xfrm>
            <a:off x="323850" y="3152972"/>
            <a:ext cx="1496372"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Three Possibilities</a:t>
            </a:r>
          </a:p>
        </p:txBody>
      </p:sp>
    </p:spTree>
    <p:extLst>
      <p:ext uri="{BB962C8B-B14F-4D97-AF65-F5344CB8AC3E}">
        <p14:creationId xmlns:p14="http://schemas.microsoft.com/office/powerpoint/2010/main" val="28146575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a:t>
            </a:r>
            <a:r>
              <a:rPr lang="en-US"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25" dirty="0">
                <a:solidFill>
                  <a:srgbClr val="FF0000"/>
                </a:solidFill>
                <a:latin typeface="LM Roman Dunhill 10"/>
                <a:cs typeface="LM Roman Dunhill 10"/>
              </a:rPr>
              <a:t> </a:t>
            </a:r>
            <a:r>
              <a:rPr lang="en-US" sz="1100" i="1" spc="-125" dirty="0">
                <a:solidFill>
                  <a:srgbClr val="FF0000"/>
                </a:solidFill>
                <a:latin typeface="LM Roman Dunhill 10"/>
                <a:cs typeface="LM Roman Dunhill 10"/>
              </a:rPr>
              <a:t>4</a:t>
            </a:r>
            <a:r>
              <a:rPr sz="1100" spc="-5" dirty="0">
                <a:solidFill>
                  <a:srgbClr val="FF0000"/>
                </a:solidFill>
                <a:latin typeface="LM Sans 10"/>
                <a:cs typeface="LM Sans 10"/>
              </a:rPr>
              <a:t>]</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1464662621"/>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104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Rectangle 11"/>
          <p:cNvSpPr/>
          <p:nvPr/>
        </p:nvSpPr>
        <p:spPr>
          <a:xfrm>
            <a:off x="247650" y="2644775"/>
            <a:ext cx="3733800" cy="52322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spc="10" dirty="0">
                <a:solidFill>
                  <a:srgbClr val="FF0000"/>
                </a:solidFill>
                <a:latin typeface="LM Sans 10"/>
                <a:cs typeface="LM Sans 10"/>
              </a:rPr>
              <a:t>A1. ( A2 .</a:t>
            </a:r>
            <a:r>
              <a:rPr lang="en-US" sz="1600" spc="15" baseline="-10416" dirty="0">
                <a:solidFill>
                  <a:srgbClr val="FF0000"/>
                </a:solidFill>
              </a:rPr>
              <a:t> </a:t>
            </a:r>
            <a:r>
              <a:rPr lang="en-US" sz="1400" spc="10" dirty="0">
                <a:solidFill>
                  <a:srgbClr val="FF0000"/>
                </a:solidFill>
                <a:latin typeface="LM Sans 10"/>
                <a:cs typeface="LM Sans 10"/>
              </a:rPr>
              <a:t>A3. A4)    </a:t>
            </a:r>
            <a:r>
              <a:rPr lang="en-US" sz="1400" spc="10" dirty="0">
                <a:solidFill>
                  <a:schemeClr val="tx1"/>
                </a:solidFill>
                <a:latin typeface="LM Sans 10"/>
                <a:cs typeface="LM Sans 10"/>
              </a:rPr>
              <a:t>or    </a:t>
            </a:r>
            <a:r>
              <a:rPr lang="en-US" sz="1400" spc="10" dirty="0">
                <a:solidFill>
                  <a:srgbClr val="C00000"/>
                </a:solidFill>
                <a:latin typeface="LM Sans 10"/>
                <a:cs typeface="LM Sans 10"/>
              </a:rPr>
              <a:t>(A1. A2 ). (</a:t>
            </a:r>
            <a:r>
              <a:rPr lang="en-US" sz="1600" spc="15" baseline="-10416" dirty="0">
                <a:solidFill>
                  <a:srgbClr val="C00000"/>
                </a:solidFill>
              </a:rPr>
              <a:t> </a:t>
            </a:r>
            <a:r>
              <a:rPr lang="en-US" sz="1400" spc="10" dirty="0">
                <a:solidFill>
                  <a:srgbClr val="C00000"/>
                </a:solidFill>
                <a:latin typeface="LM Sans 10"/>
                <a:cs typeface="LM Sans 10"/>
              </a:rPr>
              <a:t>A3 . A4) or </a:t>
            </a:r>
            <a:r>
              <a:rPr lang="en-US" sz="1400" spc="10" dirty="0">
                <a:solidFill>
                  <a:schemeClr val="accent4">
                    <a:lumMod val="50000"/>
                  </a:schemeClr>
                </a:solidFill>
                <a:latin typeface="LM Sans 10"/>
                <a:cs typeface="LM Sans 10"/>
              </a:rPr>
              <a:t>(A1 .A2. A3). A4</a:t>
            </a:r>
            <a:endParaRPr lang="en-US" sz="1600" dirty="0">
              <a:solidFill>
                <a:schemeClr val="accent4">
                  <a:lumMod val="50000"/>
                </a:schemeClr>
              </a:solidFill>
            </a:endParaRPr>
          </a:p>
        </p:txBody>
      </p:sp>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
        <p:nvSpPr>
          <p:cNvPr id="11" name="TextBox 10"/>
          <p:cNvSpPr txBox="1"/>
          <p:nvPr/>
        </p:nvSpPr>
        <p:spPr>
          <a:xfrm>
            <a:off x="3017697" y="2949575"/>
            <a:ext cx="1496372" cy="3077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1400" dirty="0"/>
              <a:t>Three Possibilities</a:t>
            </a:r>
          </a:p>
        </p:txBody>
      </p:sp>
    </p:spTree>
    <p:extLst>
      <p:ext uri="{BB962C8B-B14F-4D97-AF65-F5344CB8AC3E}">
        <p14:creationId xmlns:p14="http://schemas.microsoft.com/office/powerpoint/2010/main" val="549491906"/>
      </p:ext>
    </p:extLst>
  </p:cSld>
  <p:clrMapOvr>
    <a:masterClrMapping/>
  </p:clrMapOvr>
  <p:transition>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2226488" cy="5334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Example –</a:t>
            </a:r>
            <a:r>
              <a:rPr sz="1400" spc="-30" dirty="0">
                <a:solidFill>
                  <a:srgbClr val="FFFFFF"/>
                </a:solidFill>
                <a:latin typeface="LM Sans 12"/>
                <a:cs typeface="LM Sans 12"/>
              </a:rPr>
              <a:t> </a:t>
            </a:r>
            <a:r>
              <a:rPr sz="1400" spc="10" dirty="0">
                <a:solidFill>
                  <a:srgbClr val="FFFFFF"/>
                </a:solidFill>
                <a:latin typeface="LM Sans 12"/>
                <a:cs typeface="LM Sans 12"/>
              </a:rPr>
              <a:t>Continued</a:t>
            </a:r>
            <a:endParaRPr sz="1400" dirty="0">
              <a:latin typeface="LM Sans 12"/>
              <a:cs typeface="LM Sans 12"/>
            </a:endParaRPr>
          </a:p>
          <a:p>
            <a:pPr marL="205104">
              <a:lnSpc>
                <a:spcPct val="100000"/>
              </a:lnSpc>
              <a:spcBef>
                <a:spcPts val="965"/>
              </a:spcBef>
            </a:pPr>
            <a:r>
              <a:rPr lang="en-US" sz="1100" spc="-5" dirty="0">
                <a:solidFill>
                  <a:srgbClr val="FF0000"/>
                </a:solidFill>
                <a:latin typeface="LM Sans 10"/>
                <a:cs typeface="LM Sans 10"/>
              </a:rPr>
              <a:t>Split point Matrix</a:t>
            </a:r>
            <a:endParaRPr sz="1100" dirty="0">
              <a:latin typeface="LM Sans 10"/>
              <a:cs typeface="LM Sans 10"/>
            </a:endParaRPr>
          </a:p>
        </p:txBody>
      </p:sp>
      <p:grpSp>
        <p:nvGrpSpPr>
          <p:cNvPr id="3" name="object 3"/>
          <p:cNvGrpSpPr/>
          <p:nvPr/>
        </p:nvGrpSpPr>
        <p:grpSpPr>
          <a:xfrm>
            <a:off x="0" y="3342919"/>
            <a:ext cx="4608195" cy="113664"/>
            <a:chOff x="0" y="3342919"/>
            <a:chExt cx="4608195" cy="113664"/>
          </a:xfrm>
        </p:grpSpPr>
        <p:sp>
          <p:nvSpPr>
            <p:cNvPr id="4" name="object 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5" name="object 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6" name="object 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8" name="object 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9" name="object 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graphicFrame>
        <p:nvGraphicFramePr>
          <p:cNvPr id="10" name="Table 9"/>
          <p:cNvGraphicFramePr>
            <a:graphicFrameLocks noGrp="1"/>
          </p:cNvGraphicFramePr>
          <p:nvPr>
            <p:extLst>
              <p:ext uri="{D42A27DB-BD31-4B8C-83A1-F6EECF244321}">
                <p14:modId xmlns:p14="http://schemas.microsoft.com/office/powerpoint/2010/main" val="1952749859"/>
              </p:ext>
            </p:extLst>
          </p:nvPr>
        </p:nvGraphicFramePr>
        <p:xfrm>
          <a:off x="768350" y="705908"/>
          <a:ext cx="3073400" cy="1854200"/>
        </p:xfrm>
        <a:graphic>
          <a:graphicData uri="http://schemas.openxmlformats.org/drawingml/2006/table">
            <a:tbl>
              <a:tblPr firstRow="1" bandRow="1">
                <a:tableStyleId>{F2DE63D5-997A-4646-A377-4702673A728D}</a:tableStyleId>
              </a:tblPr>
              <a:tblGrid>
                <a:gridCol w="614680">
                  <a:extLst>
                    <a:ext uri="{9D8B030D-6E8A-4147-A177-3AD203B41FA5}">
                      <a16:colId xmlns:a16="http://schemas.microsoft.com/office/drawing/2014/main" val="20000"/>
                    </a:ext>
                  </a:extLst>
                </a:gridCol>
                <a:gridCol w="614680">
                  <a:extLst>
                    <a:ext uri="{9D8B030D-6E8A-4147-A177-3AD203B41FA5}">
                      <a16:colId xmlns:a16="http://schemas.microsoft.com/office/drawing/2014/main" val="20001"/>
                    </a:ext>
                  </a:extLst>
                </a:gridCol>
                <a:gridCol w="614680">
                  <a:extLst>
                    <a:ext uri="{9D8B030D-6E8A-4147-A177-3AD203B41FA5}">
                      <a16:colId xmlns:a16="http://schemas.microsoft.com/office/drawing/2014/main" val="20002"/>
                    </a:ext>
                  </a:extLst>
                </a:gridCol>
                <a:gridCol w="614680">
                  <a:extLst>
                    <a:ext uri="{9D8B030D-6E8A-4147-A177-3AD203B41FA5}">
                      <a16:colId xmlns:a16="http://schemas.microsoft.com/office/drawing/2014/main" val="20003"/>
                    </a:ext>
                  </a:extLst>
                </a:gridCol>
                <a:gridCol w="614680">
                  <a:extLst>
                    <a:ext uri="{9D8B030D-6E8A-4147-A177-3AD203B41FA5}">
                      <a16:colId xmlns:a16="http://schemas.microsoft.com/office/drawing/2014/main" val="20004"/>
                    </a:ext>
                  </a:extLst>
                </a:gridCol>
              </a:tblGrid>
              <a:tr h="370840">
                <a:tc>
                  <a:txBody>
                    <a:bodyPr/>
                    <a:lstStyle/>
                    <a:p>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Rectangle 13"/>
          <p:cNvSpPr/>
          <p:nvPr/>
        </p:nvSpPr>
        <p:spPr>
          <a:xfrm>
            <a:off x="2036939" y="38676"/>
            <a:ext cx="2514601"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spc="10" dirty="0">
                <a:solidFill>
                  <a:schemeClr val="tx1"/>
                </a:solidFill>
                <a:latin typeface="LM Sans 10"/>
                <a:cs typeface="LM Sans 10"/>
              </a:rPr>
              <a:t>A1</a:t>
            </a:r>
            <a:r>
              <a:rPr lang="en-US" spc="15" baseline="-10416" dirty="0">
                <a:solidFill>
                  <a:schemeClr val="tx1"/>
                </a:solidFill>
              </a:rPr>
              <a:t>5x</a:t>
            </a:r>
            <a:r>
              <a:rPr lang="en-US" b="1" spc="15" baseline="-10416" dirty="0">
                <a:solidFill>
                  <a:schemeClr val="tx1"/>
                </a:solidFill>
              </a:rPr>
              <a:t>4 , </a:t>
            </a:r>
            <a:r>
              <a:rPr lang="en-US" spc="15" baseline="-10416" dirty="0">
                <a:solidFill>
                  <a:schemeClr val="tx1"/>
                </a:solidFill>
              </a:rPr>
              <a:t> </a:t>
            </a:r>
            <a:r>
              <a:rPr lang="en-US" sz="1600" spc="10" dirty="0">
                <a:solidFill>
                  <a:schemeClr val="tx1"/>
                </a:solidFill>
                <a:latin typeface="LM Sans 10"/>
                <a:cs typeface="LM Sans 10"/>
              </a:rPr>
              <a:t>A2</a:t>
            </a:r>
            <a:r>
              <a:rPr lang="en-US" b="1" spc="15" baseline="-10416" dirty="0">
                <a:solidFill>
                  <a:schemeClr val="tx1"/>
                </a:solidFill>
              </a:rPr>
              <a:t>4</a:t>
            </a:r>
            <a:r>
              <a:rPr lang="en-US" spc="15" baseline="-10416" dirty="0">
                <a:solidFill>
                  <a:schemeClr val="tx1"/>
                </a:solidFill>
              </a:rPr>
              <a:t>x6 , </a:t>
            </a:r>
            <a:r>
              <a:rPr lang="en-US" sz="1600" spc="10" dirty="0">
                <a:solidFill>
                  <a:schemeClr val="tx1"/>
                </a:solidFill>
                <a:latin typeface="LM Sans 10"/>
                <a:cs typeface="LM Sans 10"/>
              </a:rPr>
              <a:t>A3</a:t>
            </a:r>
            <a:r>
              <a:rPr lang="en-US" spc="15" baseline="-10416" dirty="0">
                <a:solidFill>
                  <a:schemeClr val="tx1"/>
                </a:solidFill>
              </a:rPr>
              <a:t>6x</a:t>
            </a:r>
            <a:r>
              <a:rPr lang="en-US" b="1" spc="15" baseline="-10416" dirty="0">
                <a:solidFill>
                  <a:schemeClr val="tx1"/>
                </a:solidFill>
              </a:rPr>
              <a:t>2</a:t>
            </a:r>
            <a:r>
              <a:rPr lang="en-US" spc="15" baseline="-10416" dirty="0">
                <a:solidFill>
                  <a:schemeClr val="tx1"/>
                </a:solidFill>
              </a:rPr>
              <a:t> , </a:t>
            </a:r>
            <a:r>
              <a:rPr lang="en-US" sz="1600" spc="10" dirty="0">
                <a:solidFill>
                  <a:schemeClr val="tx1"/>
                </a:solidFill>
                <a:latin typeface="LM Sans 10"/>
                <a:cs typeface="LM Sans 10"/>
              </a:rPr>
              <a:t>A4</a:t>
            </a:r>
            <a:r>
              <a:rPr lang="en-US" b="1" spc="15" baseline="-10416" dirty="0">
                <a:solidFill>
                  <a:schemeClr val="tx1"/>
                </a:solidFill>
              </a:rPr>
              <a:t>2</a:t>
            </a:r>
            <a:r>
              <a:rPr lang="en-US" spc="15" baseline="-10416" dirty="0">
                <a:solidFill>
                  <a:schemeClr val="tx1"/>
                </a:solidFill>
              </a:rPr>
              <a:t>x7</a:t>
            </a:r>
            <a:r>
              <a:rPr lang="en-US" spc="15" dirty="0">
                <a:solidFill>
                  <a:schemeClr val="tx1"/>
                </a:solidFill>
              </a:rPr>
              <a:t>   </a:t>
            </a:r>
            <a:endParaRPr lang="en-US" dirty="0">
              <a:solidFill>
                <a:schemeClr val="tx1"/>
              </a:solidFill>
            </a:endParaRPr>
          </a:p>
          <a:p>
            <a:r>
              <a:rPr lang="en-US" spc="15" dirty="0"/>
              <a:t>    </a:t>
            </a:r>
            <a:endParaRPr lang="en-US" dirty="0"/>
          </a:p>
        </p:txBody>
      </p:sp>
    </p:spTree>
    <p:extLst>
      <p:ext uri="{BB962C8B-B14F-4D97-AF65-F5344CB8AC3E}">
        <p14:creationId xmlns:p14="http://schemas.microsoft.com/office/powerpoint/2010/main" val="928810147"/>
      </p:ext>
    </p:extLst>
  </p:cSld>
  <p:clrMapOvr>
    <a:masterClrMapping/>
  </p:clrMapOvr>
  <p:transition>
    <p:cu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614805" cy="244475"/>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09194" y="336345"/>
            <a:ext cx="3575050" cy="908685"/>
          </a:xfrm>
          <a:prstGeom prst="rect">
            <a:avLst/>
          </a:prstGeom>
        </p:spPr>
        <p:txBody>
          <a:bodyPr vert="horz" wrap="square" lIns="0" tIns="11430" rIns="0" bIns="0" rtlCol="0">
            <a:spAutoFit/>
          </a:bodyPr>
          <a:lstStyle/>
          <a:p>
            <a:pPr marL="50800">
              <a:lnSpc>
                <a:spcPct val="100000"/>
              </a:lnSpc>
              <a:spcBef>
                <a:spcPts val="90"/>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65" dirty="0">
                <a:solidFill>
                  <a:srgbClr val="FF0000"/>
                </a:solidFill>
                <a:latin typeface="LM Roman Dunhill 10"/>
                <a:cs typeface="LM Roman Dunhill 10"/>
              </a:rPr>
              <a:t> </a:t>
            </a:r>
            <a:r>
              <a:rPr sz="1100" spc="-5" dirty="0">
                <a:solidFill>
                  <a:srgbClr val="FF0000"/>
                </a:solidFill>
                <a:latin typeface="LM Sans 10"/>
                <a:cs typeface="LM Sans 10"/>
              </a:rPr>
              <a:t>2]</a:t>
            </a:r>
            <a:endParaRPr sz="1100">
              <a:latin typeface="LM Sans 10"/>
              <a:cs typeface="LM Sans 10"/>
            </a:endParaRPr>
          </a:p>
          <a:p>
            <a:pPr marL="50800">
              <a:lnSpc>
                <a:spcPct val="100000"/>
              </a:lnSpc>
              <a:spcBef>
                <a:spcPts val="35"/>
              </a:spcBef>
            </a:pPr>
            <a:r>
              <a:rPr sz="1100" spc="-10" dirty="0">
                <a:latin typeface="LM Sans 10"/>
                <a:cs typeface="LM Sans 10"/>
              </a:rPr>
              <a:t>By definition</a:t>
            </a:r>
            <a:endParaRPr sz="1100">
              <a:latin typeface="LM Sans 10"/>
              <a:cs typeface="LM Sans 10"/>
            </a:endParaRPr>
          </a:p>
          <a:p>
            <a:pPr marL="503555">
              <a:lnSpc>
                <a:spcPts val="1180"/>
              </a:lnSpc>
              <a:spcBef>
                <a:spcPts val="770"/>
              </a:spcBef>
              <a:tabLst>
                <a:tab pos="1190625" algn="l"/>
                <a:tab pos="1592580" algn="l"/>
              </a:tabLst>
            </a:pP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85" dirty="0">
                <a:solidFill>
                  <a:srgbClr val="FF0000"/>
                </a:solidFill>
                <a:latin typeface="LM Roman Dunhill 10"/>
                <a:cs typeface="LM Roman Dunhill 10"/>
              </a:rPr>
              <a:t> </a:t>
            </a:r>
            <a:r>
              <a:rPr sz="1100" spc="-10" dirty="0">
                <a:solidFill>
                  <a:srgbClr val="FF0000"/>
                </a:solidFill>
                <a:latin typeface="LM Sans 10"/>
                <a:cs typeface="LM Sans 10"/>
              </a:rPr>
              <a:t>2]</a:t>
            </a:r>
            <a:r>
              <a:rPr sz="1100" spc="-10" dirty="0">
                <a:latin typeface="LM Sans 10"/>
                <a:cs typeface="LM Sans 10"/>
              </a:rPr>
              <a:t>=	min	</a:t>
            </a:r>
            <a:r>
              <a:rPr sz="1100" spc="-5" dirty="0">
                <a:latin typeface="LM Sans 10"/>
                <a:cs typeface="LM Sans 10"/>
              </a:rPr>
              <a:t>(</a:t>
            </a:r>
            <a:r>
              <a:rPr sz="1100" i="1" spc="-5" dirty="0">
                <a:latin typeface="LM Sans 10"/>
                <a:cs typeface="LM Sans 10"/>
              </a:rPr>
              <a:t>m</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30"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2]</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p</a:t>
            </a:r>
            <a:r>
              <a:rPr sz="1200" spc="7" baseline="-10416" dirty="0">
                <a:latin typeface="LM Sans 8"/>
                <a:cs typeface="LM Sans 8"/>
              </a:rPr>
              <a:t>0</a:t>
            </a:r>
            <a:r>
              <a:rPr sz="1100" i="1" spc="5" dirty="0">
                <a:latin typeface="LM Sans 10"/>
                <a:cs typeface="LM Sans 10"/>
              </a:rPr>
              <a:t>p</a:t>
            </a:r>
            <a:r>
              <a:rPr sz="1200" i="1" spc="7" baseline="-13888" dirty="0">
                <a:latin typeface="LM Sans 8"/>
                <a:cs typeface="LM Sans 8"/>
              </a:rPr>
              <a:t>k</a:t>
            </a:r>
            <a:r>
              <a:rPr sz="1200" i="1" spc="-254" baseline="-13888" dirty="0">
                <a:latin typeface="LM Sans 8"/>
                <a:cs typeface="LM Sans 8"/>
              </a:rPr>
              <a:t> </a:t>
            </a:r>
            <a:r>
              <a:rPr sz="1100" i="1" spc="10" dirty="0">
                <a:latin typeface="LM Sans 10"/>
                <a:cs typeface="LM Sans 10"/>
              </a:rPr>
              <a:t>p</a:t>
            </a:r>
            <a:r>
              <a:rPr sz="1200" spc="15" baseline="-10416" dirty="0">
                <a:latin typeface="LM Sans 8"/>
                <a:cs typeface="LM Sans 8"/>
              </a:rPr>
              <a:t>2</a:t>
            </a:r>
            <a:r>
              <a:rPr sz="1100" spc="10" dirty="0">
                <a:latin typeface="LM Sans 10"/>
                <a:cs typeface="LM Sans 10"/>
              </a:rPr>
              <a:t>)</a:t>
            </a:r>
            <a:endParaRPr sz="1100">
              <a:latin typeface="LM Sans 10"/>
              <a:cs typeface="LM Sans 10"/>
            </a:endParaRPr>
          </a:p>
          <a:p>
            <a:pPr marR="716280" algn="ctr">
              <a:lnSpc>
                <a:spcPts val="819"/>
              </a:lnSpc>
            </a:pPr>
            <a:r>
              <a:rPr sz="800" spc="55" dirty="0">
                <a:latin typeface="LM Sans 8"/>
                <a:cs typeface="LM Sans 8"/>
              </a:rPr>
              <a:t>1</a:t>
            </a:r>
            <a:r>
              <a:rPr sz="800" i="1" spc="55" dirty="0">
                <a:latin typeface="Arial"/>
                <a:cs typeface="Arial"/>
              </a:rPr>
              <a:t>≤</a:t>
            </a:r>
            <a:r>
              <a:rPr sz="800" i="1" spc="55" dirty="0">
                <a:latin typeface="LM Sans 8"/>
                <a:cs typeface="LM Sans 8"/>
              </a:rPr>
              <a:t>k&lt;</a:t>
            </a:r>
            <a:r>
              <a:rPr sz="800" spc="55" dirty="0">
                <a:latin typeface="LM Sans 8"/>
                <a:cs typeface="LM Sans 8"/>
              </a:rPr>
              <a:t>2</a:t>
            </a:r>
            <a:endParaRPr sz="800">
              <a:latin typeface="LM Sans 8"/>
              <a:cs typeface="LM Sans 8"/>
            </a:endParaRPr>
          </a:p>
          <a:p>
            <a:pPr marL="1022985">
              <a:lnSpc>
                <a:spcPct val="100000"/>
              </a:lnSpc>
              <a:spcBef>
                <a:spcPts val="200"/>
              </a:spcBef>
            </a:pPr>
            <a:r>
              <a:rPr sz="1100" spc="-10" dirty="0">
                <a:latin typeface="LM Sans 10"/>
                <a:cs typeface="LM Sans 10"/>
              </a:rPr>
              <a:t>=</a:t>
            </a:r>
            <a:r>
              <a:rPr sz="1100" spc="265" dirty="0">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1]</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25"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2]</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25"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0</a:t>
            </a:r>
            <a:r>
              <a:rPr sz="1100" i="1" spc="10" dirty="0">
                <a:solidFill>
                  <a:srgbClr val="0000FF"/>
                </a:solidFill>
                <a:latin typeface="LM Sans 10"/>
                <a:cs typeface="LM Sans 10"/>
              </a:rPr>
              <a:t>p</a:t>
            </a:r>
            <a:r>
              <a:rPr sz="1200" spc="15" baseline="-10416" dirty="0">
                <a:solidFill>
                  <a:srgbClr val="0000FF"/>
                </a:solidFill>
                <a:latin typeface="LM Sans 8"/>
                <a:cs typeface="LM Sans 8"/>
              </a:rPr>
              <a:t>1</a:t>
            </a:r>
            <a:r>
              <a:rPr sz="1100" i="1" spc="10" dirty="0">
                <a:solidFill>
                  <a:srgbClr val="0000FF"/>
                </a:solidFill>
                <a:latin typeface="LM Sans 10"/>
                <a:cs typeface="LM Sans 10"/>
              </a:rPr>
              <a:t>p</a:t>
            </a:r>
            <a:r>
              <a:rPr sz="1200" spc="15" baseline="-10416" dirty="0">
                <a:solidFill>
                  <a:srgbClr val="0000FF"/>
                </a:solidFill>
                <a:latin typeface="LM Sans 8"/>
                <a:cs typeface="LM Sans 8"/>
              </a:rPr>
              <a:t>2</a:t>
            </a:r>
            <a:r>
              <a:rPr sz="1200" spc="97" baseline="-10416" dirty="0">
                <a:solidFill>
                  <a:srgbClr val="0000FF"/>
                </a:solidFill>
                <a:latin typeface="LM Sans 8"/>
                <a:cs typeface="LM Sans 8"/>
              </a:rPr>
              <a:t> </a:t>
            </a:r>
            <a:r>
              <a:rPr sz="1100" spc="-10" dirty="0">
                <a:latin typeface="LM Sans 10"/>
                <a:cs typeface="LM Sans 10"/>
              </a:rPr>
              <a:t>=</a:t>
            </a:r>
            <a:r>
              <a:rPr sz="1100" spc="-10" dirty="0">
                <a:solidFill>
                  <a:srgbClr val="FF0000"/>
                </a:solidFill>
                <a:latin typeface="LM Sans 10"/>
                <a:cs typeface="LM Sans 10"/>
              </a:rPr>
              <a:t>120</a:t>
            </a:r>
            <a:r>
              <a:rPr sz="1100" spc="-65"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614805" cy="244475"/>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09194" y="336345"/>
            <a:ext cx="3575050" cy="908685"/>
          </a:xfrm>
          <a:prstGeom prst="rect">
            <a:avLst/>
          </a:prstGeom>
        </p:spPr>
        <p:txBody>
          <a:bodyPr vert="horz" wrap="square" lIns="0" tIns="11430" rIns="0" bIns="0" rtlCol="0">
            <a:spAutoFit/>
          </a:bodyPr>
          <a:lstStyle/>
          <a:p>
            <a:pPr marL="50800">
              <a:lnSpc>
                <a:spcPct val="100000"/>
              </a:lnSpc>
              <a:spcBef>
                <a:spcPts val="90"/>
              </a:spcBef>
            </a:pPr>
            <a:r>
              <a:rPr sz="1100" spc="-5" dirty="0">
                <a:solidFill>
                  <a:srgbClr val="FF0000"/>
                </a:solidFill>
                <a:latin typeface="LM Sans 10"/>
                <a:cs typeface="LM Sans 10"/>
              </a:rPr>
              <a:t>Step 1: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65" dirty="0">
                <a:solidFill>
                  <a:srgbClr val="FF0000"/>
                </a:solidFill>
                <a:latin typeface="LM Roman Dunhill 10"/>
                <a:cs typeface="LM Roman Dunhill 10"/>
              </a:rPr>
              <a:t> </a:t>
            </a:r>
            <a:r>
              <a:rPr sz="1100" spc="-5" dirty="0">
                <a:solidFill>
                  <a:srgbClr val="FF0000"/>
                </a:solidFill>
                <a:latin typeface="LM Sans 10"/>
                <a:cs typeface="LM Sans 10"/>
              </a:rPr>
              <a:t>2]</a:t>
            </a:r>
            <a:endParaRPr sz="1100">
              <a:latin typeface="LM Sans 10"/>
              <a:cs typeface="LM Sans 10"/>
            </a:endParaRPr>
          </a:p>
          <a:p>
            <a:pPr marL="50800">
              <a:lnSpc>
                <a:spcPct val="100000"/>
              </a:lnSpc>
              <a:spcBef>
                <a:spcPts val="35"/>
              </a:spcBef>
            </a:pPr>
            <a:r>
              <a:rPr sz="1100" spc="-10" dirty="0">
                <a:latin typeface="LM Sans 10"/>
                <a:cs typeface="LM Sans 10"/>
              </a:rPr>
              <a:t>By definition</a:t>
            </a:r>
            <a:endParaRPr sz="1100">
              <a:latin typeface="LM Sans 10"/>
              <a:cs typeface="LM Sans 10"/>
            </a:endParaRPr>
          </a:p>
          <a:p>
            <a:pPr marL="503555">
              <a:lnSpc>
                <a:spcPts val="1180"/>
              </a:lnSpc>
              <a:spcBef>
                <a:spcPts val="770"/>
              </a:spcBef>
              <a:tabLst>
                <a:tab pos="1190625" algn="l"/>
                <a:tab pos="1592580" algn="l"/>
              </a:tabLst>
            </a:pP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85" dirty="0">
                <a:solidFill>
                  <a:srgbClr val="FF0000"/>
                </a:solidFill>
                <a:latin typeface="LM Roman Dunhill 10"/>
                <a:cs typeface="LM Roman Dunhill 10"/>
              </a:rPr>
              <a:t> </a:t>
            </a:r>
            <a:r>
              <a:rPr sz="1100" spc="-10" dirty="0">
                <a:solidFill>
                  <a:srgbClr val="FF0000"/>
                </a:solidFill>
                <a:latin typeface="LM Sans 10"/>
                <a:cs typeface="LM Sans 10"/>
              </a:rPr>
              <a:t>2]</a:t>
            </a:r>
            <a:r>
              <a:rPr sz="1100" spc="-10" dirty="0">
                <a:latin typeface="LM Sans 10"/>
                <a:cs typeface="LM Sans 10"/>
              </a:rPr>
              <a:t>=	min	</a:t>
            </a:r>
            <a:r>
              <a:rPr sz="1100" spc="-5" dirty="0">
                <a:latin typeface="LM Sans 10"/>
                <a:cs typeface="LM Sans 10"/>
              </a:rPr>
              <a:t>(</a:t>
            </a:r>
            <a:r>
              <a:rPr sz="1100" i="1" spc="-5" dirty="0">
                <a:latin typeface="LM Sans 10"/>
                <a:cs typeface="LM Sans 10"/>
              </a:rPr>
              <a:t>m</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30"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2]</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p</a:t>
            </a:r>
            <a:r>
              <a:rPr sz="1200" spc="7" baseline="-10416" dirty="0">
                <a:latin typeface="LM Sans 8"/>
                <a:cs typeface="LM Sans 8"/>
              </a:rPr>
              <a:t>0</a:t>
            </a:r>
            <a:r>
              <a:rPr sz="1100" i="1" spc="5" dirty="0">
                <a:latin typeface="LM Sans 10"/>
                <a:cs typeface="LM Sans 10"/>
              </a:rPr>
              <a:t>p</a:t>
            </a:r>
            <a:r>
              <a:rPr sz="1200" i="1" spc="7" baseline="-13888" dirty="0">
                <a:latin typeface="LM Sans 8"/>
                <a:cs typeface="LM Sans 8"/>
              </a:rPr>
              <a:t>k</a:t>
            </a:r>
            <a:r>
              <a:rPr sz="1200" i="1" spc="-254" baseline="-13888" dirty="0">
                <a:latin typeface="LM Sans 8"/>
                <a:cs typeface="LM Sans 8"/>
              </a:rPr>
              <a:t> </a:t>
            </a:r>
            <a:r>
              <a:rPr sz="1100" i="1" spc="10" dirty="0">
                <a:latin typeface="LM Sans 10"/>
                <a:cs typeface="LM Sans 10"/>
              </a:rPr>
              <a:t>p</a:t>
            </a:r>
            <a:r>
              <a:rPr sz="1200" spc="15" baseline="-10416" dirty="0">
                <a:latin typeface="LM Sans 8"/>
                <a:cs typeface="LM Sans 8"/>
              </a:rPr>
              <a:t>2</a:t>
            </a:r>
            <a:r>
              <a:rPr sz="1100" spc="10" dirty="0">
                <a:latin typeface="LM Sans 10"/>
                <a:cs typeface="LM Sans 10"/>
              </a:rPr>
              <a:t>)</a:t>
            </a:r>
            <a:endParaRPr sz="1100">
              <a:latin typeface="LM Sans 10"/>
              <a:cs typeface="LM Sans 10"/>
            </a:endParaRPr>
          </a:p>
          <a:p>
            <a:pPr marR="716280" algn="ctr">
              <a:lnSpc>
                <a:spcPts val="819"/>
              </a:lnSpc>
            </a:pPr>
            <a:r>
              <a:rPr sz="800" spc="55" dirty="0">
                <a:latin typeface="LM Sans 8"/>
                <a:cs typeface="LM Sans 8"/>
              </a:rPr>
              <a:t>1</a:t>
            </a:r>
            <a:r>
              <a:rPr sz="800" i="1" spc="55" dirty="0">
                <a:latin typeface="Arial"/>
                <a:cs typeface="Arial"/>
              </a:rPr>
              <a:t>≤</a:t>
            </a:r>
            <a:r>
              <a:rPr sz="800" i="1" spc="55" dirty="0">
                <a:latin typeface="LM Sans 8"/>
                <a:cs typeface="LM Sans 8"/>
              </a:rPr>
              <a:t>k&lt;</a:t>
            </a:r>
            <a:r>
              <a:rPr sz="800" spc="55" dirty="0">
                <a:latin typeface="LM Sans 8"/>
                <a:cs typeface="LM Sans 8"/>
              </a:rPr>
              <a:t>2</a:t>
            </a:r>
            <a:endParaRPr sz="800">
              <a:latin typeface="LM Sans 8"/>
              <a:cs typeface="LM Sans 8"/>
            </a:endParaRPr>
          </a:p>
          <a:p>
            <a:pPr marL="1022985">
              <a:lnSpc>
                <a:spcPct val="100000"/>
              </a:lnSpc>
              <a:spcBef>
                <a:spcPts val="200"/>
              </a:spcBef>
            </a:pPr>
            <a:r>
              <a:rPr sz="1100" spc="-10" dirty="0">
                <a:latin typeface="LM Sans 10"/>
                <a:cs typeface="LM Sans 10"/>
              </a:rPr>
              <a:t>=</a:t>
            </a:r>
            <a:r>
              <a:rPr sz="1100" spc="265" dirty="0">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1]</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25"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2]</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25"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0</a:t>
            </a:r>
            <a:r>
              <a:rPr sz="1100" i="1" spc="10" dirty="0">
                <a:solidFill>
                  <a:srgbClr val="0000FF"/>
                </a:solidFill>
                <a:latin typeface="LM Sans 10"/>
                <a:cs typeface="LM Sans 10"/>
              </a:rPr>
              <a:t>p</a:t>
            </a:r>
            <a:r>
              <a:rPr sz="1200" spc="15" baseline="-10416" dirty="0">
                <a:solidFill>
                  <a:srgbClr val="0000FF"/>
                </a:solidFill>
                <a:latin typeface="LM Sans 8"/>
                <a:cs typeface="LM Sans 8"/>
              </a:rPr>
              <a:t>1</a:t>
            </a:r>
            <a:r>
              <a:rPr sz="1100" i="1" spc="10" dirty="0">
                <a:solidFill>
                  <a:srgbClr val="0000FF"/>
                </a:solidFill>
                <a:latin typeface="LM Sans 10"/>
                <a:cs typeface="LM Sans 10"/>
              </a:rPr>
              <a:t>p</a:t>
            </a:r>
            <a:r>
              <a:rPr sz="1200" spc="15" baseline="-10416" dirty="0">
                <a:solidFill>
                  <a:srgbClr val="0000FF"/>
                </a:solidFill>
                <a:latin typeface="LM Sans 8"/>
                <a:cs typeface="LM Sans 8"/>
              </a:rPr>
              <a:t>2</a:t>
            </a:r>
            <a:r>
              <a:rPr sz="1200" spc="97" baseline="-10416" dirty="0">
                <a:solidFill>
                  <a:srgbClr val="0000FF"/>
                </a:solidFill>
                <a:latin typeface="LM Sans 8"/>
                <a:cs typeface="LM Sans 8"/>
              </a:rPr>
              <a:t> </a:t>
            </a:r>
            <a:r>
              <a:rPr sz="1100" spc="-10" dirty="0">
                <a:latin typeface="LM Sans 10"/>
                <a:cs typeface="LM Sans 10"/>
              </a:rPr>
              <a:t>=</a:t>
            </a:r>
            <a:r>
              <a:rPr sz="1100" spc="-10" dirty="0">
                <a:solidFill>
                  <a:srgbClr val="FF0000"/>
                </a:solidFill>
                <a:latin typeface="LM Sans 10"/>
                <a:cs typeface="LM Sans 10"/>
              </a:rPr>
              <a:t>120</a:t>
            </a:r>
            <a:r>
              <a:rPr sz="1100" spc="-65"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sp>
        <p:nvSpPr>
          <p:cNvPr id="4" name="object 4"/>
          <p:cNvSpPr/>
          <p:nvPr/>
        </p:nvSpPr>
        <p:spPr>
          <a:xfrm>
            <a:off x="1273291" y="1357348"/>
            <a:ext cx="2114296" cy="1818294"/>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1" name="object 1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18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614805" cy="244475"/>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09194" y="336345"/>
            <a:ext cx="3610610" cy="908685"/>
          </a:xfrm>
          <a:prstGeom prst="rect">
            <a:avLst/>
          </a:prstGeom>
        </p:spPr>
        <p:txBody>
          <a:bodyPr vert="horz" wrap="square" lIns="0" tIns="11430" rIns="0" bIns="0" rtlCol="0">
            <a:spAutoFit/>
          </a:bodyPr>
          <a:lstStyle/>
          <a:p>
            <a:pPr marL="50800">
              <a:lnSpc>
                <a:spcPct val="100000"/>
              </a:lnSpc>
              <a:spcBef>
                <a:spcPts val="90"/>
              </a:spcBef>
            </a:pPr>
            <a:r>
              <a:rPr sz="1100" spc="-5" dirty="0">
                <a:solidFill>
                  <a:srgbClr val="FF0000"/>
                </a:solidFill>
                <a:latin typeface="LM Sans 10"/>
                <a:cs typeface="LM Sans 10"/>
              </a:rPr>
              <a:t>Step 2: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65" dirty="0">
                <a:solidFill>
                  <a:srgbClr val="FF0000"/>
                </a:solidFill>
                <a:latin typeface="LM Roman Dunhill 10"/>
                <a:cs typeface="LM Roman Dunhill 10"/>
              </a:rPr>
              <a:t> </a:t>
            </a:r>
            <a:r>
              <a:rPr sz="1100" spc="-5" dirty="0">
                <a:solidFill>
                  <a:srgbClr val="FF0000"/>
                </a:solidFill>
                <a:latin typeface="LM Sans 10"/>
                <a:cs typeface="LM Sans 10"/>
              </a:rPr>
              <a:t>3]</a:t>
            </a:r>
            <a:endParaRPr sz="1100">
              <a:latin typeface="LM Sans 10"/>
              <a:cs typeface="LM Sans 10"/>
            </a:endParaRPr>
          </a:p>
          <a:p>
            <a:pPr marL="50800">
              <a:lnSpc>
                <a:spcPct val="100000"/>
              </a:lnSpc>
              <a:spcBef>
                <a:spcPts val="35"/>
              </a:spcBef>
            </a:pPr>
            <a:r>
              <a:rPr sz="1100" spc="-10" dirty="0">
                <a:latin typeface="LM Sans 10"/>
                <a:cs typeface="LM Sans 10"/>
              </a:rPr>
              <a:t>By definition</a:t>
            </a:r>
            <a:endParaRPr sz="1100">
              <a:latin typeface="LM Sans 10"/>
              <a:cs typeface="LM Sans 10"/>
            </a:endParaRPr>
          </a:p>
          <a:p>
            <a:pPr marL="467995">
              <a:lnSpc>
                <a:spcPts val="1180"/>
              </a:lnSpc>
              <a:spcBef>
                <a:spcPts val="770"/>
              </a:spcBef>
              <a:tabLst>
                <a:tab pos="1155065" algn="l"/>
                <a:tab pos="1557020" algn="l"/>
              </a:tabLst>
            </a:pPr>
            <a:r>
              <a:rPr sz="1100" i="1" spc="-5" dirty="0">
                <a:solidFill>
                  <a:srgbClr val="FF0000"/>
                </a:solidFill>
                <a:latin typeface="LM Sans 10"/>
                <a:cs typeface="LM Sans 10"/>
              </a:rPr>
              <a:t>m</a:t>
            </a:r>
            <a:r>
              <a:rPr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185" dirty="0">
                <a:solidFill>
                  <a:srgbClr val="FF0000"/>
                </a:solidFill>
                <a:latin typeface="LM Roman Dunhill 10"/>
                <a:cs typeface="LM Roman Dunhill 10"/>
              </a:rPr>
              <a:t> </a:t>
            </a:r>
            <a:r>
              <a:rPr sz="1100" spc="-10" dirty="0">
                <a:solidFill>
                  <a:srgbClr val="FF0000"/>
                </a:solidFill>
                <a:latin typeface="LM Sans 10"/>
                <a:cs typeface="LM Sans 10"/>
              </a:rPr>
              <a:t>3]</a:t>
            </a:r>
            <a:r>
              <a:rPr sz="1100" spc="-10" dirty="0">
                <a:latin typeface="LM Sans 10"/>
                <a:cs typeface="LM Sans 10"/>
              </a:rPr>
              <a:t>=	min	</a:t>
            </a:r>
            <a:r>
              <a:rPr sz="1100" spc="-5" dirty="0">
                <a:latin typeface="LM Sans 10"/>
                <a:cs typeface="LM Sans 10"/>
              </a:rPr>
              <a:t>(</a:t>
            </a:r>
            <a:r>
              <a:rPr sz="1100" i="1" spc="-5" dirty="0">
                <a:latin typeface="LM Sans 10"/>
                <a:cs typeface="LM Sans 10"/>
              </a:rPr>
              <a:t>m</a:t>
            </a:r>
            <a:r>
              <a:rPr sz="1100" spc="-5" dirty="0">
                <a:latin typeface="LM Sans 10"/>
                <a:cs typeface="LM Sans 10"/>
              </a:rPr>
              <a:t>[2</a:t>
            </a:r>
            <a:r>
              <a:rPr sz="1100" i="1" spc="-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pm</a:t>
            </a:r>
            <a:r>
              <a:rPr sz="1100" spc="-5" dirty="0">
                <a:latin typeface="LM Sans 10"/>
                <a:cs typeface="LM Sans 10"/>
              </a:rPr>
              <a:t>[</a:t>
            </a:r>
            <a:r>
              <a:rPr sz="1100" i="1" spc="-5" dirty="0">
                <a:latin typeface="LM Sans 10"/>
                <a:cs typeface="LM Sans 10"/>
              </a:rPr>
              <a:t>k</a:t>
            </a:r>
            <a:r>
              <a:rPr sz="1100" i="1" spc="-35" dirty="0">
                <a:latin typeface="LM Sans 10"/>
                <a:cs typeface="LM Sans 10"/>
              </a:rPr>
              <a:t> </a:t>
            </a:r>
            <a:r>
              <a:rPr sz="1100" spc="-10" dirty="0">
                <a:latin typeface="LM Sans 10"/>
                <a:cs typeface="LM Sans 10"/>
              </a:rPr>
              <a:t>+</a:t>
            </a:r>
            <a:r>
              <a:rPr sz="1100" spc="-130"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90" dirty="0">
                <a:latin typeface="LM Roman Dunhill 10"/>
                <a:cs typeface="LM Roman Dunhill 10"/>
              </a:rPr>
              <a:t> </a:t>
            </a:r>
            <a:r>
              <a:rPr sz="1100" spc="-5" dirty="0">
                <a:latin typeface="LM Sans 10"/>
                <a:cs typeface="LM Sans 10"/>
              </a:rPr>
              <a:t>3]</a:t>
            </a:r>
            <a:r>
              <a:rPr sz="1100" spc="-125"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p</a:t>
            </a:r>
            <a:r>
              <a:rPr sz="1200" spc="7" baseline="-10416" dirty="0">
                <a:latin typeface="LM Sans 8"/>
                <a:cs typeface="LM Sans 8"/>
              </a:rPr>
              <a:t>1</a:t>
            </a:r>
            <a:r>
              <a:rPr sz="1100" i="1" spc="5" dirty="0">
                <a:latin typeface="LM Sans 10"/>
                <a:cs typeface="LM Sans 10"/>
              </a:rPr>
              <a:t>p</a:t>
            </a:r>
            <a:r>
              <a:rPr sz="1200" i="1" spc="7" baseline="-13888" dirty="0">
                <a:latin typeface="LM Sans 8"/>
                <a:cs typeface="LM Sans 8"/>
              </a:rPr>
              <a:t>k</a:t>
            </a:r>
            <a:r>
              <a:rPr sz="1200" i="1" spc="-254" baseline="-13888" dirty="0">
                <a:latin typeface="LM Sans 8"/>
                <a:cs typeface="LM Sans 8"/>
              </a:rPr>
              <a:t> </a:t>
            </a:r>
            <a:r>
              <a:rPr sz="1100" i="1" spc="10" dirty="0">
                <a:latin typeface="LM Sans 10"/>
                <a:cs typeface="LM Sans 10"/>
              </a:rPr>
              <a:t>p</a:t>
            </a:r>
            <a:r>
              <a:rPr sz="1200" spc="15" baseline="-10416" dirty="0">
                <a:latin typeface="LM Sans 8"/>
                <a:cs typeface="LM Sans 8"/>
              </a:rPr>
              <a:t>3</a:t>
            </a:r>
            <a:r>
              <a:rPr sz="1100" spc="10" dirty="0">
                <a:latin typeface="LM Sans 10"/>
                <a:cs typeface="LM Sans 10"/>
              </a:rPr>
              <a:t>)</a:t>
            </a:r>
            <a:endParaRPr sz="1100">
              <a:latin typeface="LM Sans 10"/>
              <a:cs typeface="LM Sans 10"/>
            </a:endParaRPr>
          </a:p>
          <a:p>
            <a:pPr marR="823594" algn="ctr">
              <a:lnSpc>
                <a:spcPts val="819"/>
              </a:lnSpc>
            </a:pPr>
            <a:r>
              <a:rPr sz="800" spc="55" dirty="0">
                <a:latin typeface="LM Sans 8"/>
                <a:cs typeface="LM Sans 8"/>
              </a:rPr>
              <a:t>2</a:t>
            </a:r>
            <a:r>
              <a:rPr sz="800" i="1" spc="55" dirty="0">
                <a:latin typeface="Arial"/>
                <a:cs typeface="Arial"/>
              </a:rPr>
              <a:t>≤</a:t>
            </a:r>
            <a:r>
              <a:rPr sz="800" i="1" spc="55" dirty="0">
                <a:latin typeface="LM Sans 8"/>
                <a:cs typeface="LM Sans 8"/>
              </a:rPr>
              <a:t>k&lt;</a:t>
            </a:r>
            <a:r>
              <a:rPr sz="800" spc="55" dirty="0">
                <a:latin typeface="LM Sans 8"/>
                <a:cs typeface="LM Sans 8"/>
              </a:rPr>
              <a:t>3</a:t>
            </a:r>
            <a:endParaRPr sz="800">
              <a:latin typeface="LM Sans 8"/>
              <a:cs typeface="LM Sans 8"/>
            </a:endParaRPr>
          </a:p>
          <a:p>
            <a:pPr marL="986790">
              <a:lnSpc>
                <a:spcPct val="100000"/>
              </a:lnSpc>
              <a:spcBef>
                <a:spcPts val="200"/>
              </a:spcBef>
            </a:pPr>
            <a:r>
              <a:rPr sz="1100" spc="-10" dirty="0">
                <a:latin typeface="LM Sans 10"/>
                <a:cs typeface="LM Sans 10"/>
              </a:rPr>
              <a:t>=</a:t>
            </a:r>
            <a:r>
              <a:rPr sz="1100" spc="265" dirty="0">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2]</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[3</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3]</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25"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1</a:t>
            </a:r>
            <a:r>
              <a:rPr sz="1100" i="1" spc="10" dirty="0">
                <a:solidFill>
                  <a:srgbClr val="0000FF"/>
                </a:solidFill>
                <a:latin typeface="LM Sans 10"/>
                <a:cs typeface="LM Sans 10"/>
              </a:rPr>
              <a:t>p</a:t>
            </a:r>
            <a:r>
              <a:rPr sz="1200" spc="15" baseline="-10416" dirty="0">
                <a:solidFill>
                  <a:srgbClr val="0000FF"/>
                </a:solidFill>
                <a:latin typeface="LM Sans 8"/>
                <a:cs typeface="LM Sans 8"/>
              </a:rPr>
              <a:t>2</a:t>
            </a:r>
            <a:r>
              <a:rPr sz="1100" i="1" spc="10" dirty="0">
                <a:solidFill>
                  <a:srgbClr val="0000FF"/>
                </a:solidFill>
                <a:latin typeface="LM Sans 10"/>
                <a:cs typeface="LM Sans 10"/>
              </a:rPr>
              <a:t>p</a:t>
            </a:r>
            <a:r>
              <a:rPr sz="1200" spc="15" baseline="-10416" dirty="0">
                <a:solidFill>
                  <a:srgbClr val="0000FF"/>
                </a:solidFill>
                <a:latin typeface="LM Sans 8"/>
                <a:cs typeface="LM Sans 8"/>
              </a:rPr>
              <a:t>3</a:t>
            </a:r>
            <a:r>
              <a:rPr sz="1200" spc="97" baseline="-10416" dirty="0">
                <a:solidFill>
                  <a:srgbClr val="0000FF"/>
                </a:solidFill>
                <a:latin typeface="LM Sans 8"/>
                <a:cs typeface="LM Sans 8"/>
              </a:rPr>
              <a:t> </a:t>
            </a:r>
            <a:r>
              <a:rPr sz="1100" spc="-10" dirty="0">
                <a:latin typeface="LM Sans 10"/>
                <a:cs typeface="LM Sans 10"/>
              </a:rPr>
              <a:t>=</a:t>
            </a:r>
            <a:r>
              <a:rPr sz="1100" spc="-10" dirty="0">
                <a:solidFill>
                  <a:srgbClr val="FF0000"/>
                </a:solidFill>
                <a:latin typeface="LM Sans 10"/>
                <a:cs typeface="LM Sans 10"/>
              </a:rPr>
              <a:t>48</a:t>
            </a:r>
            <a:r>
              <a:rPr sz="1100" spc="-70"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19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074088" cy="232756"/>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09194" y="336345"/>
            <a:ext cx="3610610" cy="908685"/>
          </a:xfrm>
          <a:prstGeom prst="rect">
            <a:avLst/>
          </a:prstGeom>
        </p:spPr>
        <p:txBody>
          <a:bodyPr vert="horz" wrap="square" lIns="0" tIns="11430" rIns="0" bIns="0" rtlCol="0">
            <a:spAutoFit/>
          </a:bodyPr>
          <a:lstStyle/>
          <a:p>
            <a:pPr marL="50800">
              <a:lnSpc>
                <a:spcPct val="100000"/>
              </a:lnSpc>
              <a:spcBef>
                <a:spcPts val="90"/>
              </a:spcBef>
            </a:pPr>
            <a:r>
              <a:rPr sz="1100" spc="-5" dirty="0">
                <a:solidFill>
                  <a:srgbClr val="FF0000"/>
                </a:solidFill>
                <a:latin typeface="LM Sans 10"/>
                <a:cs typeface="LM Sans 10"/>
              </a:rPr>
              <a:t>Step 2: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65" dirty="0">
                <a:solidFill>
                  <a:srgbClr val="FF0000"/>
                </a:solidFill>
                <a:latin typeface="LM Roman Dunhill 10"/>
                <a:cs typeface="LM Roman Dunhill 10"/>
              </a:rPr>
              <a:t> </a:t>
            </a:r>
            <a:r>
              <a:rPr sz="1100" spc="-5" dirty="0">
                <a:solidFill>
                  <a:srgbClr val="FF0000"/>
                </a:solidFill>
                <a:latin typeface="LM Sans 10"/>
                <a:cs typeface="LM Sans 10"/>
              </a:rPr>
              <a:t>3]</a:t>
            </a:r>
            <a:endParaRPr sz="1100">
              <a:latin typeface="LM Sans 10"/>
              <a:cs typeface="LM Sans 10"/>
            </a:endParaRPr>
          </a:p>
          <a:p>
            <a:pPr marL="50800">
              <a:lnSpc>
                <a:spcPct val="100000"/>
              </a:lnSpc>
              <a:spcBef>
                <a:spcPts val="35"/>
              </a:spcBef>
            </a:pPr>
            <a:r>
              <a:rPr sz="1100" spc="-10" dirty="0">
                <a:latin typeface="LM Sans 10"/>
                <a:cs typeface="LM Sans 10"/>
              </a:rPr>
              <a:t>By definition</a:t>
            </a:r>
            <a:endParaRPr sz="1100">
              <a:latin typeface="LM Sans 10"/>
              <a:cs typeface="LM Sans 10"/>
            </a:endParaRPr>
          </a:p>
          <a:p>
            <a:pPr marL="467995">
              <a:lnSpc>
                <a:spcPts val="1180"/>
              </a:lnSpc>
              <a:spcBef>
                <a:spcPts val="770"/>
              </a:spcBef>
              <a:tabLst>
                <a:tab pos="1155065" algn="l"/>
                <a:tab pos="1557020" algn="l"/>
              </a:tabLst>
            </a:pPr>
            <a:r>
              <a:rPr sz="1100" i="1" spc="-5" dirty="0">
                <a:solidFill>
                  <a:srgbClr val="FF0000"/>
                </a:solidFill>
                <a:latin typeface="LM Sans 10"/>
                <a:cs typeface="LM Sans 10"/>
              </a:rPr>
              <a:t>m</a:t>
            </a:r>
            <a:r>
              <a:rPr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185" dirty="0">
                <a:solidFill>
                  <a:srgbClr val="FF0000"/>
                </a:solidFill>
                <a:latin typeface="LM Roman Dunhill 10"/>
                <a:cs typeface="LM Roman Dunhill 10"/>
              </a:rPr>
              <a:t> </a:t>
            </a:r>
            <a:r>
              <a:rPr sz="1100" spc="-10" dirty="0">
                <a:solidFill>
                  <a:srgbClr val="FF0000"/>
                </a:solidFill>
                <a:latin typeface="LM Sans 10"/>
                <a:cs typeface="LM Sans 10"/>
              </a:rPr>
              <a:t>3]</a:t>
            </a:r>
            <a:r>
              <a:rPr sz="1100" spc="-10" dirty="0">
                <a:latin typeface="LM Sans 10"/>
                <a:cs typeface="LM Sans 10"/>
              </a:rPr>
              <a:t>=	min	</a:t>
            </a:r>
            <a:r>
              <a:rPr sz="1100" spc="-5" dirty="0">
                <a:latin typeface="LM Sans 10"/>
                <a:cs typeface="LM Sans 10"/>
              </a:rPr>
              <a:t>(</a:t>
            </a:r>
            <a:r>
              <a:rPr sz="1100" i="1" spc="-5" dirty="0">
                <a:latin typeface="LM Sans 10"/>
                <a:cs typeface="LM Sans 10"/>
              </a:rPr>
              <a:t>m</a:t>
            </a:r>
            <a:r>
              <a:rPr sz="1100" spc="-5" dirty="0">
                <a:latin typeface="LM Sans 10"/>
                <a:cs typeface="LM Sans 10"/>
              </a:rPr>
              <a:t>[2</a:t>
            </a:r>
            <a:r>
              <a:rPr sz="1100" i="1" spc="-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pm</a:t>
            </a:r>
            <a:r>
              <a:rPr sz="1100" spc="-5" dirty="0">
                <a:latin typeface="LM Sans 10"/>
                <a:cs typeface="LM Sans 10"/>
              </a:rPr>
              <a:t>[</a:t>
            </a:r>
            <a:r>
              <a:rPr sz="1100" i="1" spc="-5" dirty="0">
                <a:latin typeface="LM Sans 10"/>
                <a:cs typeface="LM Sans 10"/>
              </a:rPr>
              <a:t>k</a:t>
            </a:r>
            <a:r>
              <a:rPr sz="1100" i="1" spc="-35" dirty="0">
                <a:latin typeface="LM Sans 10"/>
                <a:cs typeface="LM Sans 10"/>
              </a:rPr>
              <a:t> </a:t>
            </a:r>
            <a:r>
              <a:rPr sz="1100" spc="-10" dirty="0">
                <a:latin typeface="LM Sans 10"/>
                <a:cs typeface="LM Sans 10"/>
              </a:rPr>
              <a:t>+</a:t>
            </a:r>
            <a:r>
              <a:rPr sz="1100" spc="-130"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90" dirty="0">
                <a:latin typeface="LM Roman Dunhill 10"/>
                <a:cs typeface="LM Roman Dunhill 10"/>
              </a:rPr>
              <a:t> </a:t>
            </a:r>
            <a:r>
              <a:rPr sz="1100" spc="-5" dirty="0">
                <a:latin typeface="LM Sans 10"/>
                <a:cs typeface="LM Sans 10"/>
              </a:rPr>
              <a:t>3]</a:t>
            </a:r>
            <a:r>
              <a:rPr sz="1100" spc="-125"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p</a:t>
            </a:r>
            <a:r>
              <a:rPr sz="1200" spc="7" baseline="-10416" dirty="0">
                <a:latin typeface="LM Sans 8"/>
                <a:cs typeface="LM Sans 8"/>
              </a:rPr>
              <a:t>1</a:t>
            </a:r>
            <a:r>
              <a:rPr sz="1100" i="1" spc="5" dirty="0">
                <a:latin typeface="LM Sans 10"/>
                <a:cs typeface="LM Sans 10"/>
              </a:rPr>
              <a:t>p</a:t>
            </a:r>
            <a:r>
              <a:rPr sz="1200" i="1" spc="7" baseline="-13888" dirty="0">
                <a:latin typeface="LM Sans 8"/>
                <a:cs typeface="LM Sans 8"/>
              </a:rPr>
              <a:t>k</a:t>
            </a:r>
            <a:r>
              <a:rPr sz="1200" i="1" spc="-254" baseline="-13888" dirty="0">
                <a:latin typeface="LM Sans 8"/>
                <a:cs typeface="LM Sans 8"/>
              </a:rPr>
              <a:t> </a:t>
            </a:r>
            <a:r>
              <a:rPr sz="1100" i="1" spc="10" dirty="0">
                <a:latin typeface="LM Sans 10"/>
                <a:cs typeface="LM Sans 10"/>
              </a:rPr>
              <a:t>p</a:t>
            </a:r>
            <a:r>
              <a:rPr sz="1200" spc="15" baseline="-10416" dirty="0">
                <a:latin typeface="LM Sans 8"/>
                <a:cs typeface="LM Sans 8"/>
              </a:rPr>
              <a:t>3</a:t>
            </a:r>
            <a:r>
              <a:rPr sz="1100" spc="10" dirty="0">
                <a:latin typeface="LM Sans 10"/>
                <a:cs typeface="LM Sans 10"/>
              </a:rPr>
              <a:t>)</a:t>
            </a:r>
            <a:endParaRPr sz="1100">
              <a:latin typeface="LM Sans 10"/>
              <a:cs typeface="LM Sans 10"/>
            </a:endParaRPr>
          </a:p>
          <a:p>
            <a:pPr marR="823594" algn="ctr">
              <a:lnSpc>
                <a:spcPts val="819"/>
              </a:lnSpc>
            </a:pPr>
            <a:r>
              <a:rPr sz="800" spc="55" dirty="0">
                <a:latin typeface="LM Sans 8"/>
                <a:cs typeface="LM Sans 8"/>
              </a:rPr>
              <a:t>2</a:t>
            </a:r>
            <a:r>
              <a:rPr sz="800" i="1" spc="55" dirty="0">
                <a:latin typeface="Arial"/>
                <a:cs typeface="Arial"/>
              </a:rPr>
              <a:t>≤</a:t>
            </a:r>
            <a:r>
              <a:rPr sz="800" i="1" spc="55" dirty="0">
                <a:latin typeface="LM Sans 8"/>
                <a:cs typeface="LM Sans 8"/>
              </a:rPr>
              <a:t>k&lt;</a:t>
            </a:r>
            <a:r>
              <a:rPr sz="800" spc="55" dirty="0">
                <a:latin typeface="LM Sans 8"/>
                <a:cs typeface="LM Sans 8"/>
              </a:rPr>
              <a:t>3</a:t>
            </a:r>
            <a:endParaRPr sz="800">
              <a:latin typeface="LM Sans 8"/>
              <a:cs typeface="LM Sans 8"/>
            </a:endParaRPr>
          </a:p>
          <a:p>
            <a:pPr marL="986790">
              <a:lnSpc>
                <a:spcPct val="100000"/>
              </a:lnSpc>
              <a:spcBef>
                <a:spcPts val="200"/>
              </a:spcBef>
            </a:pPr>
            <a:r>
              <a:rPr sz="1100" spc="-10" dirty="0">
                <a:latin typeface="LM Sans 10"/>
                <a:cs typeface="LM Sans 10"/>
              </a:rPr>
              <a:t>=</a:t>
            </a:r>
            <a:r>
              <a:rPr sz="1100" spc="265" dirty="0">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2]</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[3</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3]</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25"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1</a:t>
            </a:r>
            <a:r>
              <a:rPr sz="1100" i="1" spc="10" dirty="0">
                <a:solidFill>
                  <a:srgbClr val="0000FF"/>
                </a:solidFill>
                <a:latin typeface="LM Sans 10"/>
                <a:cs typeface="LM Sans 10"/>
              </a:rPr>
              <a:t>p</a:t>
            </a:r>
            <a:r>
              <a:rPr sz="1200" spc="15" baseline="-10416" dirty="0">
                <a:solidFill>
                  <a:srgbClr val="0000FF"/>
                </a:solidFill>
                <a:latin typeface="LM Sans 8"/>
                <a:cs typeface="LM Sans 8"/>
              </a:rPr>
              <a:t>2</a:t>
            </a:r>
            <a:r>
              <a:rPr sz="1100" i="1" spc="10" dirty="0">
                <a:solidFill>
                  <a:srgbClr val="0000FF"/>
                </a:solidFill>
                <a:latin typeface="LM Sans 10"/>
                <a:cs typeface="LM Sans 10"/>
              </a:rPr>
              <a:t>p</a:t>
            </a:r>
            <a:r>
              <a:rPr sz="1200" spc="15" baseline="-10416" dirty="0">
                <a:solidFill>
                  <a:srgbClr val="0000FF"/>
                </a:solidFill>
                <a:latin typeface="LM Sans 8"/>
                <a:cs typeface="LM Sans 8"/>
              </a:rPr>
              <a:t>3</a:t>
            </a:r>
            <a:r>
              <a:rPr sz="1200" spc="97" baseline="-10416" dirty="0">
                <a:solidFill>
                  <a:srgbClr val="0000FF"/>
                </a:solidFill>
                <a:latin typeface="LM Sans 8"/>
                <a:cs typeface="LM Sans 8"/>
              </a:rPr>
              <a:t> </a:t>
            </a:r>
            <a:r>
              <a:rPr sz="1100" spc="-10" dirty="0">
                <a:latin typeface="LM Sans 10"/>
                <a:cs typeface="LM Sans 10"/>
              </a:rPr>
              <a:t>=</a:t>
            </a:r>
            <a:r>
              <a:rPr sz="1100" spc="-10" dirty="0">
                <a:solidFill>
                  <a:srgbClr val="FF0000"/>
                </a:solidFill>
                <a:latin typeface="LM Sans 10"/>
                <a:cs typeface="LM Sans 10"/>
              </a:rPr>
              <a:t>48</a:t>
            </a:r>
            <a:r>
              <a:rPr sz="1100" spc="-70"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sp>
        <p:nvSpPr>
          <p:cNvPr id="4" name="object 4"/>
          <p:cNvSpPr/>
          <p:nvPr/>
        </p:nvSpPr>
        <p:spPr>
          <a:xfrm>
            <a:off x="1269071" y="1357402"/>
            <a:ext cx="2096058" cy="1802610"/>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1" name="object 1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19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074088" cy="232756"/>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47294" y="336345"/>
            <a:ext cx="1575435" cy="363855"/>
          </a:xfrm>
          <a:prstGeom prst="rect">
            <a:avLst/>
          </a:prstGeom>
        </p:spPr>
        <p:txBody>
          <a:bodyPr vert="horz" wrap="square" lIns="0" tIns="6985" rIns="0" bIns="0" rtlCol="0">
            <a:spAutoFit/>
          </a:bodyPr>
          <a:lstStyle/>
          <a:p>
            <a:pPr marL="12700" marR="5080">
              <a:lnSpc>
                <a:spcPct val="102699"/>
              </a:lnSpc>
              <a:spcBef>
                <a:spcPts val="55"/>
              </a:spcBef>
            </a:pPr>
            <a:r>
              <a:rPr sz="1100" spc="-5" dirty="0">
                <a:solidFill>
                  <a:srgbClr val="FF0000"/>
                </a:solidFill>
                <a:latin typeface="LM Sans 10"/>
                <a:cs typeface="LM Sans 10"/>
              </a:rPr>
              <a:t>Step 3: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[3</a:t>
            </a:r>
            <a:r>
              <a:rPr sz="1100" i="1" spc="-5" dirty="0">
                <a:solidFill>
                  <a:srgbClr val="FF0000"/>
                </a:solidFill>
                <a:latin typeface="LM Roman Dunhill 10"/>
                <a:cs typeface="LM Roman Dunhill 10"/>
              </a:rPr>
              <a:t>,</a:t>
            </a:r>
            <a:r>
              <a:rPr sz="1100" i="1" spc="-130" dirty="0">
                <a:solidFill>
                  <a:srgbClr val="FF0000"/>
                </a:solidFill>
                <a:latin typeface="LM Roman Dunhill 10"/>
                <a:cs typeface="LM Roman Dunhill 10"/>
              </a:rPr>
              <a:t> </a:t>
            </a:r>
            <a:r>
              <a:rPr sz="1100" spc="-5" dirty="0">
                <a:solidFill>
                  <a:srgbClr val="FF0000"/>
                </a:solidFill>
                <a:latin typeface="LM Sans 10"/>
                <a:cs typeface="LM Sans 10"/>
              </a:rPr>
              <a:t>4]  </a:t>
            </a:r>
            <a:r>
              <a:rPr sz="1100" spc="-10" dirty="0">
                <a:latin typeface="LM Sans 10"/>
                <a:cs typeface="LM Sans 10"/>
              </a:rPr>
              <a:t>By definition</a:t>
            </a:r>
            <a:endParaRPr sz="1100">
              <a:latin typeface="LM Sans 10"/>
              <a:cs typeface="LM Sans 10"/>
            </a:endParaRPr>
          </a:p>
        </p:txBody>
      </p:sp>
      <p:sp>
        <p:nvSpPr>
          <p:cNvPr id="4" name="object 4"/>
          <p:cNvSpPr txBox="1"/>
          <p:nvPr/>
        </p:nvSpPr>
        <p:spPr>
          <a:xfrm>
            <a:off x="800354" y="773949"/>
            <a:ext cx="525780"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FF0000"/>
                </a:solidFill>
                <a:latin typeface="LM Sans 10"/>
                <a:cs typeface="LM Sans 10"/>
              </a:rPr>
              <a:t>m</a:t>
            </a:r>
            <a:r>
              <a:rPr sz="1100" spc="-5" dirty="0">
                <a:solidFill>
                  <a:srgbClr val="FF0000"/>
                </a:solidFill>
                <a:latin typeface="LM Sans 10"/>
                <a:cs typeface="LM Sans 10"/>
              </a:rPr>
              <a:t>[3</a:t>
            </a:r>
            <a:r>
              <a:rPr sz="1100" i="1" spc="-5" dirty="0">
                <a:solidFill>
                  <a:srgbClr val="FF0000"/>
                </a:solidFill>
                <a:latin typeface="LM Roman Dunhill 10"/>
                <a:cs typeface="LM Roman Dunhill 10"/>
              </a:rPr>
              <a:t>,</a:t>
            </a:r>
            <a:r>
              <a:rPr sz="1100" i="1" spc="-229" dirty="0">
                <a:solidFill>
                  <a:srgbClr val="FF0000"/>
                </a:solidFill>
                <a:latin typeface="LM Roman Dunhill 10"/>
                <a:cs typeface="LM Roman Dunhill 10"/>
              </a:rPr>
              <a:t> </a:t>
            </a:r>
            <a:r>
              <a:rPr sz="1100" spc="-10" dirty="0">
                <a:solidFill>
                  <a:srgbClr val="FF0000"/>
                </a:solidFill>
                <a:latin typeface="LM Sans 10"/>
                <a:cs typeface="LM Sans 10"/>
              </a:rPr>
              <a:t>4]</a:t>
            </a:r>
            <a:r>
              <a:rPr sz="1100" spc="-10" dirty="0">
                <a:latin typeface="LM Sans 10"/>
                <a:cs typeface="LM Sans 10"/>
              </a:rPr>
              <a:t>=</a:t>
            </a:r>
            <a:endParaRPr sz="1100">
              <a:latin typeface="LM Sans 10"/>
              <a:cs typeface="LM Sans 10"/>
            </a:endParaRPr>
          </a:p>
        </p:txBody>
      </p:sp>
      <p:sp>
        <p:nvSpPr>
          <p:cNvPr id="5" name="object 5"/>
          <p:cNvSpPr txBox="1"/>
          <p:nvPr/>
        </p:nvSpPr>
        <p:spPr>
          <a:xfrm>
            <a:off x="1487725" y="773949"/>
            <a:ext cx="427355" cy="278130"/>
          </a:xfrm>
          <a:prstGeom prst="rect">
            <a:avLst/>
          </a:prstGeom>
        </p:spPr>
        <p:txBody>
          <a:bodyPr vert="horz" wrap="square" lIns="0" tIns="11430" rIns="0" bIns="0" rtlCol="0">
            <a:spAutoFit/>
          </a:bodyPr>
          <a:lstStyle/>
          <a:p>
            <a:pPr marL="12700">
              <a:lnSpc>
                <a:spcPts val="1180"/>
              </a:lnSpc>
              <a:spcBef>
                <a:spcPts val="90"/>
              </a:spcBef>
            </a:pPr>
            <a:r>
              <a:rPr sz="1100" spc="-10" dirty="0">
                <a:latin typeface="LM Sans 10"/>
                <a:cs typeface="LM Sans 10"/>
              </a:rPr>
              <a:t>min</a:t>
            </a:r>
            <a:endParaRPr sz="1100">
              <a:latin typeface="LM Sans 10"/>
              <a:cs typeface="LM Sans 10"/>
            </a:endParaRPr>
          </a:p>
          <a:p>
            <a:pPr marL="78740">
              <a:lnSpc>
                <a:spcPts val="819"/>
              </a:lnSpc>
            </a:pPr>
            <a:r>
              <a:rPr sz="800" spc="-5" dirty="0">
                <a:latin typeface="LM Sans 8"/>
                <a:cs typeface="LM Sans 8"/>
              </a:rPr>
              <a:t>3</a:t>
            </a:r>
            <a:r>
              <a:rPr sz="800" i="1" spc="215" dirty="0">
                <a:latin typeface="Arial"/>
                <a:cs typeface="Arial"/>
              </a:rPr>
              <a:t>≤</a:t>
            </a:r>
            <a:r>
              <a:rPr sz="800" i="1" spc="60" dirty="0">
                <a:latin typeface="LM Sans 8"/>
                <a:cs typeface="LM Sans 8"/>
              </a:rPr>
              <a:t>k</a:t>
            </a:r>
            <a:r>
              <a:rPr sz="800" i="1" spc="-5" dirty="0">
                <a:latin typeface="LM Sans 8"/>
                <a:cs typeface="LM Sans 8"/>
              </a:rPr>
              <a:t>&lt;</a:t>
            </a:r>
            <a:r>
              <a:rPr sz="800" spc="-5" dirty="0">
                <a:latin typeface="LM Sans 8"/>
                <a:cs typeface="LM Sans 8"/>
              </a:rPr>
              <a:t>4</a:t>
            </a:r>
            <a:endParaRPr sz="800">
              <a:latin typeface="LM Sans 8"/>
              <a:cs typeface="LM Sans 8"/>
            </a:endParaRPr>
          </a:p>
        </p:txBody>
      </p:sp>
      <p:sp>
        <p:nvSpPr>
          <p:cNvPr id="6" name="object 6"/>
          <p:cNvSpPr txBox="1"/>
          <p:nvPr/>
        </p:nvSpPr>
        <p:spPr>
          <a:xfrm>
            <a:off x="1864220" y="773949"/>
            <a:ext cx="1969135" cy="191770"/>
          </a:xfrm>
          <a:prstGeom prst="rect">
            <a:avLst/>
          </a:prstGeom>
        </p:spPr>
        <p:txBody>
          <a:bodyPr vert="horz" wrap="square" lIns="0" tIns="11430" rIns="0" bIns="0" rtlCol="0">
            <a:spAutoFit/>
          </a:bodyPr>
          <a:lstStyle/>
          <a:p>
            <a:pPr marL="38100">
              <a:lnSpc>
                <a:spcPct val="100000"/>
              </a:lnSpc>
              <a:spcBef>
                <a:spcPts val="90"/>
              </a:spcBef>
            </a:pPr>
            <a:r>
              <a:rPr sz="1100" spc="-5" dirty="0">
                <a:latin typeface="LM Sans 10"/>
                <a:cs typeface="LM Sans 10"/>
              </a:rPr>
              <a:t>(</a:t>
            </a:r>
            <a:r>
              <a:rPr sz="1100" i="1" spc="-5" dirty="0">
                <a:latin typeface="LM Sans 10"/>
                <a:cs typeface="LM Sans 10"/>
              </a:rPr>
              <a:t>m</a:t>
            </a:r>
            <a:r>
              <a:rPr sz="1100" spc="-5" dirty="0">
                <a:latin typeface="LM Sans 10"/>
                <a:cs typeface="LM Sans 10"/>
              </a:rPr>
              <a:t>[3</a:t>
            </a:r>
            <a:r>
              <a:rPr sz="1100" i="1" spc="-5" dirty="0">
                <a:latin typeface="LM Roman Dunhill 10"/>
                <a:cs typeface="LM Roman Dunhill 10"/>
              </a:rPr>
              <a:t>,</a:t>
            </a:r>
            <a:r>
              <a:rPr sz="1100" i="1" spc="-190"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90" dirty="0">
                <a:latin typeface="LM Roman Dunhill 10"/>
                <a:cs typeface="LM Roman Dunhill 10"/>
              </a:rPr>
              <a:t> </a:t>
            </a:r>
            <a:r>
              <a:rPr sz="1100" spc="-5" dirty="0">
                <a:latin typeface="LM Sans 10"/>
                <a:cs typeface="LM Sans 10"/>
              </a:rPr>
              <a:t>4]</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p</a:t>
            </a:r>
            <a:r>
              <a:rPr sz="1200" spc="7" baseline="-10416" dirty="0">
                <a:latin typeface="LM Sans 8"/>
                <a:cs typeface="LM Sans 8"/>
              </a:rPr>
              <a:t>2</a:t>
            </a:r>
            <a:r>
              <a:rPr sz="1100" i="1" spc="5" dirty="0">
                <a:latin typeface="LM Sans 10"/>
                <a:cs typeface="LM Sans 10"/>
              </a:rPr>
              <a:t>p</a:t>
            </a:r>
            <a:r>
              <a:rPr sz="1200" i="1" spc="7" baseline="-13888" dirty="0">
                <a:latin typeface="LM Sans 8"/>
                <a:cs typeface="LM Sans 8"/>
              </a:rPr>
              <a:t>k</a:t>
            </a:r>
            <a:r>
              <a:rPr sz="1200" i="1" spc="-262" baseline="-13888" dirty="0">
                <a:latin typeface="LM Sans 8"/>
                <a:cs typeface="LM Sans 8"/>
              </a:rPr>
              <a:t> </a:t>
            </a:r>
            <a:r>
              <a:rPr sz="1100" i="1" spc="10" dirty="0">
                <a:latin typeface="LM Sans 10"/>
                <a:cs typeface="LM Sans 10"/>
              </a:rPr>
              <a:t>p</a:t>
            </a:r>
            <a:r>
              <a:rPr sz="1200" spc="15" baseline="-10416" dirty="0">
                <a:latin typeface="LM Sans 8"/>
                <a:cs typeface="LM Sans 8"/>
              </a:rPr>
              <a:t>4</a:t>
            </a:r>
            <a:r>
              <a:rPr sz="1100" spc="10" dirty="0">
                <a:latin typeface="LM Sans 10"/>
                <a:cs typeface="LM Sans 10"/>
              </a:rPr>
              <a:t>)</a:t>
            </a:r>
            <a:endParaRPr sz="1100">
              <a:latin typeface="LM Sans 10"/>
              <a:cs typeface="LM Sans 10"/>
            </a:endParaRPr>
          </a:p>
        </p:txBody>
      </p:sp>
      <p:grpSp>
        <p:nvGrpSpPr>
          <p:cNvPr id="7" name="object 7"/>
          <p:cNvGrpSpPr/>
          <p:nvPr/>
        </p:nvGrpSpPr>
        <p:grpSpPr>
          <a:xfrm>
            <a:off x="0" y="3342919"/>
            <a:ext cx="4608195" cy="113664"/>
            <a:chOff x="0" y="3342919"/>
            <a:chExt cx="4608195" cy="113664"/>
          </a:xfrm>
        </p:grpSpPr>
        <p:sp>
          <p:nvSpPr>
            <p:cNvPr id="8" name="object 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9" name="object 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0" name="object 1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2" name="object 1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3" name="object 1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20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074088" cy="232756"/>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09194" y="336345"/>
            <a:ext cx="3575050" cy="908685"/>
          </a:xfrm>
          <a:prstGeom prst="rect">
            <a:avLst/>
          </a:prstGeom>
        </p:spPr>
        <p:txBody>
          <a:bodyPr vert="horz" wrap="square" lIns="0" tIns="11430" rIns="0" bIns="0" rtlCol="0">
            <a:spAutoFit/>
          </a:bodyPr>
          <a:lstStyle/>
          <a:p>
            <a:pPr marL="50800">
              <a:lnSpc>
                <a:spcPct val="100000"/>
              </a:lnSpc>
              <a:spcBef>
                <a:spcPts val="90"/>
              </a:spcBef>
            </a:pPr>
            <a:r>
              <a:rPr sz="1100" spc="-5" dirty="0">
                <a:solidFill>
                  <a:srgbClr val="FF0000"/>
                </a:solidFill>
                <a:latin typeface="LM Sans 10"/>
                <a:cs typeface="LM Sans 10"/>
              </a:rPr>
              <a:t>Step 3: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[3</a:t>
            </a:r>
            <a:r>
              <a:rPr sz="1100" i="1" spc="-5" dirty="0">
                <a:solidFill>
                  <a:srgbClr val="FF0000"/>
                </a:solidFill>
                <a:latin typeface="LM Roman Dunhill 10"/>
                <a:cs typeface="LM Roman Dunhill 10"/>
              </a:rPr>
              <a:t>,</a:t>
            </a:r>
            <a:r>
              <a:rPr sz="1100" i="1" spc="-65" dirty="0">
                <a:solidFill>
                  <a:srgbClr val="FF0000"/>
                </a:solidFill>
                <a:latin typeface="LM Roman Dunhill 10"/>
                <a:cs typeface="LM Roman Dunhill 10"/>
              </a:rPr>
              <a:t> </a:t>
            </a:r>
            <a:r>
              <a:rPr sz="1100" spc="-5" dirty="0">
                <a:solidFill>
                  <a:srgbClr val="FF0000"/>
                </a:solidFill>
                <a:latin typeface="LM Sans 10"/>
                <a:cs typeface="LM Sans 10"/>
              </a:rPr>
              <a:t>4]</a:t>
            </a:r>
            <a:endParaRPr sz="1100">
              <a:latin typeface="LM Sans 10"/>
              <a:cs typeface="LM Sans 10"/>
            </a:endParaRPr>
          </a:p>
          <a:p>
            <a:pPr marL="50800">
              <a:lnSpc>
                <a:spcPct val="100000"/>
              </a:lnSpc>
              <a:spcBef>
                <a:spcPts val="35"/>
              </a:spcBef>
            </a:pPr>
            <a:r>
              <a:rPr sz="1100" spc="-10" dirty="0">
                <a:latin typeface="LM Sans 10"/>
                <a:cs typeface="LM Sans 10"/>
              </a:rPr>
              <a:t>By definition</a:t>
            </a:r>
            <a:endParaRPr sz="1100">
              <a:latin typeface="LM Sans 10"/>
              <a:cs typeface="LM Sans 10"/>
            </a:endParaRPr>
          </a:p>
          <a:p>
            <a:pPr marL="503555">
              <a:lnSpc>
                <a:spcPts val="1180"/>
              </a:lnSpc>
              <a:spcBef>
                <a:spcPts val="770"/>
              </a:spcBef>
              <a:tabLst>
                <a:tab pos="1190625" algn="l"/>
                <a:tab pos="1592580" algn="l"/>
              </a:tabLst>
            </a:pPr>
            <a:r>
              <a:rPr sz="1100" i="1" spc="-5" dirty="0">
                <a:solidFill>
                  <a:srgbClr val="FF0000"/>
                </a:solidFill>
                <a:latin typeface="LM Sans 10"/>
                <a:cs typeface="LM Sans 10"/>
              </a:rPr>
              <a:t>m</a:t>
            </a:r>
            <a:r>
              <a:rPr sz="1100" spc="-5" dirty="0">
                <a:solidFill>
                  <a:srgbClr val="FF0000"/>
                </a:solidFill>
                <a:latin typeface="LM Sans 10"/>
                <a:cs typeface="LM Sans 10"/>
              </a:rPr>
              <a:t>[3</a:t>
            </a:r>
            <a:r>
              <a:rPr sz="1100" i="1" spc="-5" dirty="0">
                <a:solidFill>
                  <a:srgbClr val="FF0000"/>
                </a:solidFill>
                <a:latin typeface="LM Roman Dunhill 10"/>
                <a:cs typeface="LM Roman Dunhill 10"/>
              </a:rPr>
              <a:t>,</a:t>
            </a:r>
            <a:r>
              <a:rPr sz="1100" i="1" spc="-185" dirty="0">
                <a:solidFill>
                  <a:srgbClr val="FF0000"/>
                </a:solidFill>
                <a:latin typeface="LM Roman Dunhill 10"/>
                <a:cs typeface="LM Roman Dunhill 10"/>
              </a:rPr>
              <a:t> </a:t>
            </a:r>
            <a:r>
              <a:rPr sz="1100" spc="-10" dirty="0">
                <a:solidFill>
                  <a:srgbClr val="FF0000"/>
                </a:solidFill>
                <a:latin typeface="LM Sans 10"/>
                <a:cs typeface="LM Sans 10"/>
              </a:rPr>
              <a:t>4]</a:t>
            </a:r>
            <a:r>
              <a:rPr sz="1100" spc="-10" dirty="0">
                <a:latin typeface="LM Sans 10"/>
                <a:cs typeface="LM Sans 10"/>
              </a:rPr>
              <a:t>=	min	</a:t>
            </a:r>
            <a:r>
              <a:rPr sz="1100" spc="-5" dirty="0">
                <a:latin typeface="LM Sans 10"/>
                <a:cs typeface="LM Sans 10"/>
              </a:rPr>
              <a:t>(</a:t>
            </a:r>
            <a:r>
              <a:rPr sz="1100" i="1" spc="-5" dirty="0">
                <a:latin typeface="LM Sans 10"/>
                <a:cs typeface="LM Sans 10"/>
              </a:rPr>
              <a:t>m</a:t>
            </a:r>
            <a:r>
              <a:rPr sz="1100" spc="-5" dirty="0">
                <a:latin typeface="LM Sans 10"/>
                <a:cs typeface="LM Sans 10"/>
              </a:rPr>
              <a:t>[3</a:t>
            </a:r>
            <a:r>
              <a:rPr sz="1100" i="1" spc="-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30"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4]</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p</a:t>
            </a:r>
            <a:r>
              <a:rPr sz="1200" spc="7" baseline="-10416" dirty="0">
                <a:latin typeface="LM Sans 8"/>
                <a:cs typeface="LM Sans 8"/>
              </a:rPr>
              <a:t>2</a:t>
            </a:r>
            <a:r>
              <a:rPr sz="1100" i="1" spc="5" dirty="0">
                <a:latin typeface="LM Sans 10"/>
                <a:cs typeface="LM Sans 10"/>
              </a:rPr>
              <a:t>p</a:t>
            </a:r>
            <a:r>
              <a:rPr sz="1200" i="1" spc="7" baseline="-13888" dirty="0">
                <a:latin typeface="LM Sans 8"/>
                <a:cs typeface="LM Sans 8"/>
              </a:rPr>
              <a:t>k</a:t>
            </a:r>
            <a:r>
              <a:rPr sz="1200" i="1" spc="-254" baseline="-13888" dirty="0">
                <a:latin typeface="LM Sans 8"/>
                <a:cs typeface="LM Sans 8"/>
              </a:rPr>
              <a:t> </a:t>
            </a:r>
            <a:r>
              <a:rPr sz="1100" i="1" spc="10" dirty="0">
                <a:latin typeface="LM Sans 10"/>
                <a:cs typeface="LM Sans 10"/>
              </a:rPr>
              <a:t>p</a:t>
            </a:r>
            <a:r>
              <a:rPr sz="1200" spc="15" baseline="-10416" dirty="0">
                <a:latin typeface="LM Sans 8"/>
                <a:cs typeface="LM Sans 8"/>
              </a:rPr>
              <a:t>4</a:t>
            </a:r>
            <a:r>
              <a:rPr sz="1100" spc="10" dirty="0">
                <a:latin typeface="LM Sans 10"/>
                <a:cs typeface="LM Sans 10"/>
              </a:rPr>
              <a:t>)</a:t>
            </a:r>
            <a:endParaRPr sz="1100">
              <a:latin typeface="LM Sans 10"/>
              <a:cs typeface="LM Sans 10"/>
            </a:endParaRPr>
          </a:p>
          <a:p>
            <a:pPr marR="716280" algn="ctr">
              <a:lnSpc>
                <a:spcPts val="819"/>
              </a:lnSpc>
            </a:pPr>
            <a:r>
              <a:rPr sz="800" spc="55" dirty="0">
                <a:latin typeface="LM Sans 8"/>
                <a:cs typeface="LM Sans 8"/>
              </a:rPr>
              <a:t>3</a:t>
            </a:r>
            <a:r>
              <a:rPr sz="800" i="1" spc="55" dirty="0">
                <a:latin typeface="Arial"/>
                <a:cs typeface="Arial"/>
              </a:rPr>
              <a:t>≤</a:t>
            </a:r>
            <a:r>
              <a:rPr sz="800" i="1" spc="55" dirty="0">
                <a:latin typeface="LM Sans 8"/>
                <a:cs typeface="LM Sans 8"/>
              </a:rPr>
              <a:t>k&lt;</a:t>
            </a:r>
            <a:r>
              <a:rPr sz="800" spc="55" dirty="0">
                <a:latin typeface="LM Sans 8"/>
                <a:cs typeface="LM Sans 8"/>
              </a:rPr>
              <a:t>4</a:t>
            </a:r>
            <a:endParaRPr sz="800">
              <a:latin typeface="LM Sans 8"/>
              <a:cs typeface="LM Sans 8"/>
            </a:endParaRPr>
          </a:p>
          <a:p>
            <a:pPr marL="1022985">
              <a:lnSpc>
                <a:spcPct val="100000"/>
              </a:lnSpc>
              <a:spcBef>
                <a:spcPts val="200"/>
              </a:spcBef>
            </a:pPr>
            <a:r>
              <a:rPr sz="1100" spc="-10" dirty="0">
                <a:latin typeface="LM Sans 10"/>
                <a:cs typeface="LM Sans 10"/>
              </a:rPr>
              <a:t>=</a:t>
            </a:r>
            <a:r>
              <a:rPr sz="1100" spc="265" dirty="0">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[3</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3]</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[4</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4]</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25"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2</a:t>
            </a:r>
            <a:r>
              <a:rPr sz="1100" i="1" spc="10" dirty="0">
                <a:solidFill>
                  <a:srgbClr val="0000FF"/>
                </a:solidFill>
                <a:latin typeface="LM Sans 10"/>
                <a:cs typeface="LM Sans 10"/>
              </a:rPr>
              <a:t>p</a:t>
            </a:r>
            <a:r>
              <a:rPr sz="1200" spc="15" baseline="-10416" dirty="0">
                <a:solidFill>
                  <a:srgbClr val="0000FF"/>
                </a:solidFill>
                <a:latin typeface="LM Sans 8"/>
                <a:cs typeface="LM Sans 8"/>
              </a:rPr>
              <a:t>3</a:t>
            </a:r>
            <a:r>
              <a:rPr sz="1100" i="1" spc="10" dirty="0">
                <a:solidFill>
                  <a:srgbClr val="0000FF"/>
                </a:solidFill>
                <a:latin typeface="LM Sans 10"/>
                <a:cs typeface="LM Sans 10"/>
              </a:rPr>
              <a:t>p</a:t>
            </a:r>
            <a:r>
              <a:rPr sz="1200" spc="15" baseline="-10416" dirty="0">
                <a:solidFill>
                  <a:srgbClr val="0000FF"/>
                </a:solidFill>
                <a:latin typeface="LM Sans 8"/>
                <a:cs typeface="LM Sans 8"/>
              </a:rPr>
              <a:t>4</a:t>
            </a:r>
            <a:r>
              <a:rPr sz="1200" spc="97" baseline="-10416" dirty="0">
                <a:solidFill>
                  <a:srgbClr val="0000FF"/>
                </a:solidFill>
                <a:latin typeface="LM Sans 8"/>
                <a:cs typeface="LM Sans 8"/>
              </a:rPr>
              <a:t> </a:t>
            </a:r>
            <a:r>
              <a:rPr sz="1100" spc="-10" dirty="0">
                <a:latin typeface="LM Sans 10"/>
                <a:cs typeface="LM Sans 10"/>
              </a:rPr>
              <a:t>=</a:t>
            </a:r>
            <a:r>
              <a:rPr sz="1100" spc="-10" dirty="0">
                <a:solidFill>
                  <a:srgbClr val="FF0000"/>
                </a:solidFill>
                <a:latin typeface="LM Sans 10"/>
                <a:cs typeface="LM Sans 10"/>
              </a:rPr>
              <a:t>84</a:t>
            </a:r>
            <a:r>
              <a:rPr sz="1100" spc="-70"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20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379649" cy="232756"/>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09194" y="336345"/>
            <a:ext cx="3575050" cy="908685"/>
          </a:xfrm>
          <a:prstGeom prst="rect">
            <a:avLst/>
          </a:prstGeom>
        </p:spPr>
        <p:txBody>
          <a:bodyPr vert="horz" wrap="square" lIns="0" tIns="11430" rIns="0" bIns="0" rtlCol="0">
            <a:spAutoFit/>
          </a:bodyPr>
          <a:lstStyle/>
          <a:p>
            <a:pPr marL="50800">
              <a:lnSpc>
                <a:spcPct val="100000"/>
              </a:lnSpc>
              <a:spcBef>
                <a:spcPts val="90"/>
              </a:spcBef>
            </a:pPr>
            <a:r>
              <a:rPr sz="1100" spc="-5" dirty="0">
                <a:solidFill>
                  <a:srgbClr val="FF0000"/>
                </a:solidFill>
                <a:latin typeface="LM Sans 10"/>
                <a:cs typeface="LM Sans 10"/>
              </a:rPr>
              <a:t>Step 3: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[3</a:t>
            </a:r>
            <a:r>
              <a:rPr sz="1100" i="1" spc="-5" dirty="0">
                <a:solidFill>
                  <a:srgbClr val="FF0000"/>
                </a:solidFill>
                <a:latin typeface="LM Roman Dunhill 10"/>
                <a:cs typeface="LM Roman Dunhill 10"/>
              </a:rPr>
              <a:t>,</a:t>
            </a:r>
            <a:r>
              <a:rPr sz="1100" i="1" spc="-65" dirty="0">
                <a:solidFill>
                  <a:srgbClr val="FF0000"/>
                </a:solidFill>
                <a:latin typeface="LM Roman Dunhill 10"/>
                <a:cs typeface="LM Roman Dunhill 10"/>
              </a:rPr>
              <a:t> </a:t>
            </a:r>
            <a:r>
              <a:rPr sz="1100" spc="-5" dirty="0">
                <a:solidFill>
                  <a:srgbClr val="FF0000"/>
                </a:solidFill>
                <a:latin typeface="LM Sans 10"/>
                <a:cs typeface="LM Sans 10"/>
              </a:rPr>
              <a:t>4]</a:t>
            </a:r>
            <a:endParaRPr sz="1100">
              <a:latin typeface="LM Sans 10"/>
              <a:cs typeface="LM Sans 10"/>
            </a:endParaRPr>
          </a:p>
          <a:p>
            <a:pPr marL="50800">
              <a:lnSpc>
                <a:spcPct val="100000"/>
              </a:lnSpc>
              <a:spcBef>
                <a:spcPts val="35"/>
              </a:spcBef>
            </a:pPr>
            <a:r>
              <a:rPr sz="1100" spc="-10" dirty="0">
                <a:latin typeface="LM Sans 10"/>
                <a:cs typeface="LM Sans 10"/>
              </a:rPr>
              <a:t>By definition</a:t>
            </a:r>
            <a:endParaRPr sz="1100">
              <a:latin typeface="LM Sans 10"/>
              <a:cs typeface="LM Sans 10"/>
            </a:endParaRPr>
          </a:p>
          <a:p>
            <a:pPr marL="503555">
              <a:lnSpc>
                <a:spcPts val="1180"/>
              </a:lnSpc>
              <a:spcBef>
                <a:spcPts val="770"/>
              </a:spcBef>
              <a:tabLst>
                <a:tab pos="1190625" algn="l"/>
                <a:tab pos="1592580" algn="l"/>
              </a:tabLst>
            </a:pPr>
            <a:r>
              <a:rPr sz="1100" i="1" spc="-5" dirty="0">
                <a:solidFill>
                  <a:srgbClr val="FF0000"/>
                </a:solidFill>
                <a:latin typeface="LM Sans 10"/>
                <a:cs typeface="LM Sans 10"/>
              </a:rPr>
              <a:t>m</a:t>
            </a:r>
            <a:r>
              <a:rPr sz="1100" spc="-5" dirty="0">
                <a:solidFill>
                  <a:srgbClr val="FF0000"/>
                </a:solidFill>
                <a:latin typeface="LM Sans 10"/>
                <a:cs typeface="LM Sans 10"/>
              </a:rPr>
              <a:t>[3</a:t>
            </a:r>
            <a:r>
              <a:rPr sz="1100" i="1" spc="-5" dirty="0">
                <a:solidFill>
                  <a:srgbClr val="FF0000"/>
                </a:solidFill>
                <a:latin typeface="LM Roman Dunhill 10"/>
                <a:cs typeface="LM Roman Dunhill 10"/>
              </a:rPr>
              <a:t>,</a:t>
            </a:r>
            <a:r>
              <a:rPr sz="1100" i="1" spc="-185" dirty="0">
                <a:solidFill>
                  <a:srgbClr val="FF0000"/>
                </a:solidFill>
                <a:latin typeface="LM Roman Dunhill 10"/>
                <a:cs typeface="LM Roman Dunhill 10"/>
              </a:rPr>
              <a:t> </a:t>
            </a:r>
            <a:r>
              <a:rPr sz="1100" spc="-10" dirty="0">
                <a:solidFill>
                  <a:srgbClr val="FF0000"/>
                </a:solidFill>
                <a:latin typeface="LM Sans 10"/>
                <a:cs typeface="LM Sans 10"/>
              </a:rPr>
              <a:t>4]</a:t>
            </a:r>
            <a:r>
              <a:rPr sz="1100" spc="-10" dirty="0">
                <a:latin typeface="LM Sans 10"/>
                <a:cs typeface="LM Sans 10"/>
              </a:rPr>
              <a:t>=	min	</a:t>
            </a:r>
            <a:r>
              <a:rPr sz="1100" spc="-5" dirty="0">
                <a:latin typeface="LM Sans 10"/>
                <a:cs typeface="LM Sans 10"/>
              </a:rPr>
              <a:t>(</a:t>
            </a:r>
            <a:r>
              <a:rPr sz="1100" i="1" spc="-5" dirty="0">
                <a:latin typeface="LM Sans 10"/>
                <a:cs typeface="LM Sans 10"/>
              </a:rPr>
              <a:t>m</a:t>
            </a:r>
            <a:r>
              <a:rPr sz="1100" spc="-5" dirty="0">
                <a:latin typeface="LM Sans 10"/>
                <a:cs typeface="LM Sans 10"/>
              </a:rPr>
              <a:t>[3</a:t>
            </a:r>
            <a:r>
              <a:rPr sz="1100" i="1" spc="-5" dirty="0">
                <a:latin typeface="LM Roman Dunhill 10"/>
                <a:cs typeface="LM Roman Dunhill 10"/>
              </a:rPr>
              <a:t>,</a:t>
            </a:r>
            <a:r>
              <a:rPr sz="1100" i="1" spc="-185"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30"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4]</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p</a:t>
            </a:r>
            <a:r>
              <a:rPr sz="1200" spc="7" baseline="-10416" dirty="0">
                <a:latin typeface="LM Sans 8"/>
                <a:cs typeface="LM Sans 8"/>
              </a:rPr>
              <a:t>2</a:t>
            </a:r>
            <a:r>
              <a:rPr sz="1100" i="1" spc="5" dirty="0">
                <a:latin typeface="LM Sans 10"/>
                <a:cs typeface="LM Sans 10"/>
              </a:rPr>
              <a:t>p</a:t>
            </a:r>
            <a:r>
              <a:rPr sz="1200" i="1" spc="7" baseline="-13888" dirty="0">
                <a:latin typeface="LM Sans 8"/>
                <a:cs typeface="LM Sans 8"/>
              </a:rPr>
              <a:t>k</a:t>
            </a:r>
            <a:r>
              <a:rPr sz="1200" i="1" spc="-254" baseline="-13888" dirty="0">
                <a:latin typeface="LM Sans 8"/>
                <a:cs typeface="LM Sans 8"/>
              </a:rPr>
              <a:t> </a:t>
            </a:r>
            <a:r>
              <a:rPr sz="1100" i="1" spc="10" dirty="0">
                <a:latin typeface="LM Sans 10"/>
                <a:cs typeface="LM Sans 10"/>
              </a:rPr>
              <a:t>p</a:t>
            </a:r>
            <a:r>
              <a:rPr sz="1200" spc="15" baseline="-10416" dirty="0">
                <a:latin typeface="LM Sans 8"/>
                <a:cs typeface="LM Sans 8"/>
              </a:rPr>
              <a:t>4</a:t>
            </a:r>
            <a:r>
              <a:rPr sz="1100" spc="10" dirty="0">
                <a:latin typeface="LM Sans 10"/>
                <a:cs typeface="LM Sans 10"/>
              </a:rPr>
              <a:t>)</a:t>
            </a:r>
            <a:endParaRPr sz="1100">
              <a:latin typeface="LM Sans 10"/>
              <a:cs typeface="LM Sans 10"/>
            </a:endParaRPr>
          </a:p>
          <a:p>
            <a:pPr marR="716280" algn="ctr">
              <a:lnSpc>
                <a:spcPts val="819"/>
              </a:lnSpc>
            </a:pPr>
            <a:r>
              <a:rPr sz="800" spc="55" dirty="0">
                <a:latin typeface="LM Sans 8"/>
                <a:cs typeface="LM Sans 8"/>
              </a:rPr>
              <a:t>3</a:t>
            </a:r>
            <a:r>
              <a:rPr sz="800" i="1" spc="55" dirty="0">
                <a:latin typeface="Arial"/>
                <a:cs typeface="Arial"/>
              </a:rPr>
              <a:t>≤</a:t>
            </a:r>
            <a:r>
              <a:rPr sz="800" i="1" spc="55" dirty="0">
                <a:latin typeface="LM Sans 8"/>
                <a:cs typeface="LM Sans 8"/>
              </a:rPr>
              <a:t>k&lt;</a:t>
            </a:r>
            <a:r>
              <a:rPr sz="800" spc="55" dirty="0">
                <a:latin typeface="LM Sans 8"/>
                <a:cs typeface="LM Sans 8"/>
              </a:rPr>
              <a:t>4</a:t>
            </a:r>
            <a:endParaRPr sz="800">
              <a:latin typeface="LM Sans 8"/>
              <a:cs typeface="LM Sans 8"/>
            </a:endParaRPr>
          </a:p>
          <a:p>
            <a:pPr marL="1022985">
              <a:lnSpc>
                <a:spcPct val="100000"/>
              </a:lnSpc>
              <a:spcBef>
                <a:spcPts val="200"/>
              </a:spcBef>
            </a:pPr>
            <a:r>
              <a:rPr sz="1100" spc="-10" dirty="0">
                <a:latin typeface="LM Sans 10"/>
                <a:cs typeface="LM Sans 10"/>
              </a:rPr>
              <a:t>=</a:t>
            </a:r>
            <a:r>
              <a:rPr sz="1100" spc="265" dirty="0">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[3</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3]</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[4</a:t>
            </a:r>
            <a:r>
              <a:rPr sz="1100" i="1" spc="-5" dirty="0">
                <a:solidFill>
                  <a:srgbClr val="0000FF"/>
                </a:solidFill>
                <a:latin typeface="LM Roman Dunhill 10"/>
                <a:cs typeface="LM Roman Dunhill 10"/>
              </a:rPr>
              <a:t>,</a:t>
            </a:r>
            <a:r>
              <a:rPr sz="1100" i="1" spc="-185" dirty="0">
                <a:solidFill>
                  <a:srgbClr val="0000FF"/>
                </a:solidFill>
                <a:latin typeface="LM Roman Dunhill 10"/>
                <a:cs typeface="LM Roman Dunhill 10"/>
              </a:rPr>
              <a:t> </a:t>
            </a:r>
            <a:r>
              <a:rPr sz="1100" spc="-5" dirty="0">
                <a:solidFill>
                  <a:srgbClr val="0000FF"/>
                </a:solidFill>
                <a:latin typeface="LM Sans 10"/>
                <a:cs typeface="LM Sans 10"/>
              </a:rPr>
              <a:t>4]</a:t>
            </a:r>
            <a:r>
              <a:rPr sz="1100" spc="-125" dirty="0">
                <a:solidFill>
                  <a:srgbClr val="0000FF"/>
                </a:solidFill>
                <a:latin typeface="LM Sans 10"/>
                <a:cs typeface="LM Sans 10"/>
              </a:rPr>
              <a:t> </a:t>
            </a:r>
            <a:r>
              <a:rPr sz="1100" spc="-10" dirty="0">
                <a:solidFill>
                  <a:srgbClr val="0000FF"/>
                </a:solidFill>
                <a:latin typeface="LM Sans 10"/>
                <a:cs typeface="LM Sans 10"/>
              </a:rPr>
              <a:t>+</a:t>
            </a:r>
            <a:r>
              <a:rPr sz="1100" spc="-125"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2</a:t>
            </a:r>
            <a:r>
              <a:rPr sz="1100" i="1" spc="10" dirty="0">
                <a:solidFill>
                  <a:srgbClr val="0000FF"/>
                </a:solidFill>
                <a:latin typeface="LM Sans 10"/>
                <a:cs typeface="LM Sans 10"/>
              </a:rPr>
              <a:t>p</a:t>
            </a:r>
            <a:r>
              <a:rPr sz="1200" spc="15" baseline="-10416" dirty="0">
                <a:solidFill>
                  <a:srgbClr val="0000FF"/>
                </a:solidFill>
                <a:latin typeface="LM Sans 8"/>
                <a:cs typeface="LM Sans 8"/>
              </a:rPr>
              <a:t>3</a:t>
            </a:r>
            <a:r>
              <a:rPr sz="1100" i="1" spc="10" dirty="0">
                <a:solidFill>
                  <a:srgbClr val="0000FF"/>
                </a:solidFill>
                <a:latin typeface="LM Sans 10"/>
                <a:cs typeface="LM Sans 10"/>
              </a:rPr>
              <a:t>p</a:t>
            </a:r>
            <a:r>
              <a:rPr sz="1200" spc="15" baseline="-10416" dirty="0">
                <a:solidFill>
                  <a:srgbClr val="0000FF"/>
                </a:solidFill>
                <a:latin typeface="LM Sans 8"/>
                <a:cs typeface="LM Sans 8"/>
              </a:rPr>
              <a:t>4</a:t>
            </a:r>
            <a:r>
              <a:rPr sz="1200" spc="97" baseline="-10416" dirty="0">
                <a:solidFill>
                  <a:srgbClr val="0000FF"/>
                </a:solidFill>
                <a:latin typeface="LM Sans 8"/>
                <a:cs typeface="LM Sans 8"/>
              </a:rPr>
              <a:t> </a:t>
            </a:r>
            <a:r>
              <a:rPr sz="1100" spc="-10" dirty="0">
                <a:latin typeface="LM Sans 10"/>
                <a:cs typeface="LM Sans 10"/>
              </a:rPr>
              <a:t>=</a:t>
            </a:r>
            <a:r>
              <a:rPr sz="1100" spc="-10" dirty="0">
                <a:solidFill>
                  <a:srgbClr val="FF0000"/>
                </a:solidFill>
                <a:latin typeface="LM Sans 10"/>
                <a:cs typeface="LM Sans 10"/>
              </a:rPr>
              <a:t>84</a:t>
            </a:r>
            <a:r>
              <a:rPr sz="1100" spc="-70"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sp>
        <p:nvSpPr>
          <p:cNvPr id="4" name="object 4"/>
          <p:cNvSpPr/>
          <p:nvPr/>
        </p:nvSpPr>
        <p:spPr>
          <a:xfrm>
            <a:off x="1255614" y="1357427"/>
            <a:ext cx="2102053" cy="1807765"/>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1" y="0"/>
                  </a:moveTo>
                  <a:lnTo>
                    <a:pt x="0" y="0"/>
                  </a:lnTo>
                  <a:lnTo>
                    <a:pt x="0" y="113080"/>
                  </a:lnTo>
                  <a:lnTo>
                    <a:pt x="2534411" y="113080"/>
                  </a:lnTo>
                  <a:lnTo>
                    <a:pt x="2534411"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11" name="object 1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20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921688" cy="232756"/>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47294" y="336345"/>
            <a:ext cx="1575435" cy="363855"/>
          </a:xfrm>
          <a:prstGeom prst="rect">
            <a:avLst/>
          </a:prstGeom>
        </p:spPr>
        <p:txBody>
          <a:bodyPr vert="horz" wrap="square" lIns="0" tIns="6985" rIns="0" bIns="0" rtlCol="0">
            <a:spAutoFit/>
          </a:bodyPr>
          <a:lstStyle/>
          <a:p>
            <a:pPr marL="12700" marR="5080">
              <a:lnSpc>
                <a:spcPct val="102699"/>
              </a:lnSpc>
              <a:spcBef>
                <a:spcPts val="55"/>
              </a:spcBef>
            </a:pPr>
            <a:r>
              <a:rPr sz="1100" spc="-5" dirty="0">
                <a:solidFill>
                  <a:srgbClr val="FF0000"/>
                </a:solidFill>
                <a:latin typeface="LM Sans 10"/>
                <a:cs typeface="LM Sans 10"/>
              </a:rPr>
              <a:t>Step 4: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30" dirty="0">
                <a:solidFill>
                  <a:srgbClr val="FF0000"/>
                </a:solidFill>
                <a:latin typeface="LM Roman Dunhill 10"/>
                <a:cs typeface="LM Roman Dunhill 10"/>
              </a:rPr>
              <a:t> </a:t>
            </a:r>
            <a:r>
              <a:rPr sz="1100" spc="-5" dirty="0">
                <a:solidFill>
                  <a:srgbClr val="FF0000"/>
                </a:solidFill>
                <a:latin typeface="LM Sans 10"/>
                <a:cs typeface="LM Sans 10"/>
              </a:rPr>
              <a:t>3]  </a:t>
            </a:r>
            <a:r>
              <a:rPr sz="1100" spc="-10" dirty="0">
                <a:latin typeface="LM Sans 10"/>
                <a:cs typeface="LM Sans 10"/>
              </a:rPr>
              <a:t>By definition</a:t>
            </a:r>
            <a:endParaRPr sz="1100">
              <a:latin typeface="LM Sans 10"/>
              <a:cs typeface="LM Sans 10"/>
            </a:endParaRPr>
          </a:p>
        </p:txBody>
      </p:sp>
      <p:sp>
        <p:nvSpPr>
          <p:cNvPr id="4" name="object 4"/>
          <p:cNvSpPr txBox="1"/>
          <p:nvPr/>
        </p:nvSpPr>
        <p:spPr>
          <a:xfrm>
            <a:off x="800354" y="743761"/>
            <a:ext cx="525780"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229" dirty="0">
                <a:solidFill>
                  <a:srgbClr val="FF0000"/>
                </a:solidFill>
                <a:latin typeface="LM Roman Dunhill 10"/>
                <a:cs typeface="LM Roman Dunhill 10"/>
              </a:rPr>
              <a:t> </a:t>
            </a:r>
            <a:r>
              <a:rPr sz="1100" spc="-10" dirty="0">
                <a:solidFill>
                  <a:srgbClr val="FF0000"/>
                </a:solidFill>
                <a:latin typeface="LM Sans 10"/>
                <a:cs typeface="LM Sans 10"/>
              </a:rPr>
              <a:t>3]</a:t>
            </a:r>
            <a:r>
              <a:rPr sz="1100" spc="-10" dirty="0">
                <a:latin typeface="LM Sans 10"/>
                <a:cs typeface="LM Sans 10"/>
              </a:rPr>
              <a:t>=</a:t>
            </a:r>
            <a:endParaRPr sz="1100">
              <a:latin typeface="LM Sans 10"/>
              <a:cs typeface="LM Sans 10"/>
            </a:endParaRPr>
          </a:p>
        </p:txBody>
      </p:sp>
      <p:sp>
        <p:nvSpPr>
          <p:cNvPr id="5" name="object 5"/>
          <p:cNvSpPr txBox="1"/>
          <p:nvPr/>
        </p:nvSpPr>
        <p:spPr>
          <a:xfrm>
            <a:off x="1487725" y="743761"/>
            <a:ext cx="427355" cy="278130"/>
          </a:xfrm>
          <a:prstGeom prst="rect">
            <a:avLst/>
          </a:prstGeom>
        </p:spPr>
        <p:txBody>
          <a:bodyPr vert="horz" wrap="square" lIns="0" tIns="11430" rIns="0" bIns="0" rtlCol="0">
            <a:spAutoFit/>
          </a:bodyPr>
          <a:lstStyle/>
          <a:p>
            <a:pPr marL="12700">
              <a:lnSpc>
                <a:spcPts val="1180"/>
              </a:lnSpc>
              <a:spcBef>
                <a:spcPts val="90"/>
              </a:spcBef>
            </a:pPr>
            <a:r>
              <a:rPr sz="1100" spc="-10" dirty="0">
                <a:latin typeface="LM Sans 10"/>
                <a:cs typeface="LM Sans 10"/>
              </a:rPr>
              <a:t>min</a:t>
            </a:r>
            <a:endParaRPr sz="1100">
              <a:latin typeface="LM Sans 10"/>
              <a:cs typeface="LM Sans 10"/>
            </a:endParaRPr>
          </a:p>
          <a:p>
            <a:pPr marL="78740">
              <a:lnSpc>
                <a:spcPts val="819"/>
              </a:lnSpc>
            </a:pPr>
            <a:r>
              <a:rPr sz="800" spc="-5" dirty="0">
                <a:latin typeface="LM Sans 8"/>
                <a:cs typeface="LM Sans 8"/>
              </a:rPr>
              <a:t>1</a:t>
            </a:r>
            <a:r>
              <a:rPr sz="800" i="1" spc="215" dirty="0">
                <a:latin typeface="Arial"/>
                <a:cs typeface="Arial"/>
              </a:rPr>
              <a:t>≤</a:t>
            </a:r>
            <a:r>
              <a:rPr sz="800" i="1" spc="60" dirty="0">
                <a:latin typeface="LM Sans 8"/>
                <a:cs typeface="LM Sans 8"/>
              </a:rPr>
              <a:t>k</a:t>
            </a:r>
            <a:r>
              <a:rPr sz="800" i="1" spc="-5" dirty="0">
                <a:latin typeface="LM Sans 8"/>
                <a:cs typeface="LM Sans 8"/>
              </a:rPr>
              <a:t>&lt;</a:t>
            </a:r>
            <a:r>
              <a:rPr sz="800" spc="-5" dirty="0">
                <a:latin typeface="LM Sans 8"/>
                <a:cs typeface="LM Sans 8"/>
              </a:rPr>
              <a:t>3</a:t>
            </a:r>
            <a:endParaRPr sz="800">
              <a:latin typeface="LM Sans 8"/>
              <a:cs typeface="LM Sans 8"/>
            </a:endParaRPr>
          </a:p>
        </p:txBody>
      </p:sp>
      <p:sp>
        <p:nvSpPr>
          <p:cNvPr id="6" name="object 6"/>
          <p:cNvSpPr txBox="1"/>
          <p:nvPr/>
        </p:nvSpPr>
        <p:spPr>
          <a:xfrm>
            <a:off x="1864220" y="743761"/>
            <a:ext cx="1969135" cy="191770"/>
          </a:xfrm>
          <a:prstGeom prst="rect">
            <a:avLst/>
          </a:prstGeom>
        </p:spPr>
        <p:txBody>
          <a:bodyPr vert="horz" wrap="square" lIns="0" tIns="11430" rIns="0" bIns="0" rtlCol="0">
            <a:spAutoFit/>
          </a:bodyPr>
          <a:lstStyle/>
          <a:p>
            <a:pPr marL="38100">
              <a:lnSpc>
                <a:spcPct val="100000"/>
              </a:lnSpc>
              <a:spcBef>
                <a:spcPts val="90"/>
              </a:spcBef>
            </a:pPr>
            <a:r>
              <a:rPr sz="1100" spc="-5" dirty="0">
                <a:latin typeface="LM Sans 10"/>
                <a:cs typeface="LM Sans 10"/>
              </a:rPr>
              <a:t>(</a:t>
            </a:r>
            <a:r>
              <a:rPr sz="1100" i="1" spc="-5" dirty="0">
                <a:latin typeface="LM Sans 10"/>
                <a:cs typeface="LM Sans 10"/>
              </a:rPr>
              <a:t>m</a:t>
            </a:r>
            <a:r>
              <a:rPr sz="1100" spc="-5" dirty="0">
                <a:latin typeface="LM Sans 10"/>
                <a:cs typeface="LM Sans 10"/>
              </a:rPr>
              <a:t>[1</a:t>
            </a:r>
            <a:r>
              <a:rPr sz="1100" i="1" spc="-5" dirty="0">
                <a:latin typeface="LM Roman Dunhill 10"/>
                <a:cs typeface="LM Roman Dunhill 10"/>
              </a:rPr>
              <a:t>,</a:t>
            </a:r>
            <a:r>
              <a:rPr sz="1100" i="1" spc="-190"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90" dirty="0">
                <a:latin typeface="LM Roman Dunhill 10"/>
                <a:cs typeface="LM Roman Dunhill 10"/>
              </a:rPr>
              <a:t> </a:t>
            </a:r>
            <a:r>
              <a:rPr sz="1100" spc="-5" dirty="0">
                <a:latin typeface="LM Sans 10"/>
                <a:cs typeface="LM Sans 10"/>
              </a:rPr>
              <a:t>3]</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p</a:t>
            </a:r>
            <a:r>
              <a:rPr sz="1200" spc="7" baseline="-10416" dirty="0">
                <a:latin typeface="LM Sans 8"/>
                <a:cs typeface="LM Sans 8"/>
              </a:rPr>
              <a:t>0</a:t>
            </a:r>
            <a:r>
              <a:rPr sz="1100" i="1" spc="5" dirty="0">
                <a:latin typeface="LM Sans 10"/>
                <a:cs typeface="LM Sans 10"/>
              </a:rPr>
              <a:t>p</a:t>
            </a:r>
            <a:r>
              <a:rPr sz="1200" i="1" spc="7" baseline="-13888" dirty="0">
                <a:latin typeface="LM Sans 8"/>
                <a:cs typeface="LM Sans 8"/>
              </a:rPr>
              <a:t>k</a:t>
            </a:r>
            <a:r>
              <a:rPr sz="1200" i="1" spc="-262" baseline="-13888" dirty="0">
                <a:latin typeface="LM Sans 8"/>
                <a:cs typeface="LM Sans 8"/>
              </a:rPr>
              <a:t> </a:t>
            </a:r>
            <a:r>
              <a:rPr sz="1100" i="1" spc="10" dirty="0">
                <a:latin typeface="LM Sans 10"/>
                <a:cs typeface="LM Sans 10"/>
              </a:rPr>
              <a:t>p</a:t>
            </a:r>
            <a:r>
              <a:rPr sz="1200" spc="15" baseline="-10416" dirty="0">
                <a:latin typeface="LM Sans 8"/>
                <a:cs typeface="LM Sans 8"/>
              </a:rPr>
              <a:t>3</a:t>
            </a:r>
            <a:r>
              <a:rPr sz="1100" spc="10" dirty="0">
                <a:latin typeface="LM Sans 10"/>
                <a:cs typeface="LM Sans 10"/>
              </a:rPr>
              <a:t>)</a:t>
            </a:r>
            <a:endParaRPr sz="1100">
              <a:latin typeface="LM Sans 10"/>
              <a:cs typeface="LM Sans 10"/>
            </a:endParaRPr>
          </a:p>
        </p:txBody>
      </p:sp>
      <p:sp>
        <p:nvSpPr>
          <p:cNvPr id="7" name="object 7"/>
          <p:cNvSpPr txBox="1"/>
          <p:nvPr/>
        </p:nvSpPr>
        <p:spPr>
          <a:xfrm>
            <a:off x="1319580" y="1125383"/>
            <a:ext cx="34798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a:t>
            </a:r>
            <a:r>
              <a:rPr sz="1100" spc="-10" dirty="0">
                <a:solidFill>
                  <a:srgbClr val="0000FF"/>
                </a:solidFill>
                <a:latin typeface="LM Sans 10"/>
                <a:cs typeface="LM Sans 10"/>
              </a:rPr>
              <a:t>min</a:t>
            </a:r>
            <a:endParaRPr sz="1100">
              <a:latin typeface="LM Sans 10"/>
              <a:cs typeface="LM Sans 10"/>
            </a:endParaRPr>
          </a:p>
        </p:txBody>
      </p:sp>
      <p:sp>
        <p:nvSpPr>
          <p:cNvPr id="8" name="object 8"/>
          <p:cNvSpPr txBox="1"/>
          <p:nvPr/>
        </p:nvSpPr>
        <p:spPr>
          <a:xfrm>
            <a:off x="1958873" y="1039125"/>
            <a:ext cx="1681156" cy="180819"/>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Sans 10"/>
                <a:cs typeface="LM Sans 10"/>
              </a:rPr>
              <a:t>m</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1]</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3]</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10" dirty="0">
                <a:solidFill>
                  <a:srgbClr val="0000FF"/>
                </a:solidFill>
                <a:latin typeface="LM Sans 10"/>
                <a:cs typeface="LM Sans 10"/>
              </a:rPr>
              <a:t>p</a:t>
            </a:r>
            <a:r>
              <a:rPr sz="1100" i="1" spc="95" dirty="0">
                <a:solidFill>
                  <a:srgbClr val="0000FF"/>
                </a:solidFill>
                <a:latin typeface="LM Sans 10"/>
                <a:cs typeface="LM Sans 10"/>
              </a:rPr>
              <a:t> </a:t>
            </a:r>
            <a:r>
              <a:rPr lang="en-US" sz="1100" i="1" spc="95" dirty="0">
                <a:solidFill>
                  <a:srgbClr val="0000FF"/>
                </a:solidFill>
                <a:latin typeface="LM Sans 10"/>
                <a:cs typeface="LM Sans 10"/>
              </a:rPr>
              <a:t> </a:t>
            </a:r>
            <a:r>
              <a:rPr sz="1100" i="1" spc="-10" dirty="0" err="1">
                <a:solidFill>
                  <a:srgbClr val="0000FF"/>
                </a:solidFill>
                <a:latin typeface="LM Sans 10"/>
                <a:cs typeface="LM Sans 10"/>
              </a:rPr>
              <a:t>p</a:t>
            </a:r>
            <a:r>
              <a:rPr sz="1100" i="1" spc="95" dirty="0">
                <a:solidFill>
                  <a:srgbClr val="0000FF"/>
                </a:solidFill>
                <a:latin typeface="LM Sans 10"/>
                <a:cs typeface="LM Sans 10"/>
              </a:rPr>
              <a:t> </a:t>
            </a:r>
            <a:r>
              <a:rPr lang="en-US" sz="1100" i="1" spc="95" dirty="0">
                <a:solidFill>
                  <a:srgbClr val="0000FF"/>
                </a:solidFill>
                <a:latin typeface="LM Sans 10"/>
                <a:cs typeface="LM Sans 10"/>
              </a:rPr>
              <a:t>  </a:t>
            </a:r>
            <a:r>
              <a:rPr sz="1100" i="1" spc="-10" dirty="0" err="1">
                <a:solidFill>
                  <a:srgbClr val="0000FF"/>
                </a:solidFill>
                <a:latin typeface="LM Sans 10"/>
                <a:cs typeface="LM Sans 10"/>
              </a:rPr>
              <a:t>p</a:t>
            </a:r>
            <a:endParaRPr sz="1100" dirty="0">
              <a:latin typeface="LM Sans 10"/>
              <a:cs typeface="LM Sans 10"/>
            </a:endParaRPr>
          </a:p>
        </p:txBody>
      </p:sp>
      <p:sp>
        <p:nvSpPr>
          <p:cNvPr id="9" name="object 9"/>
          <p:cNvSpPr txBox="1"/>
          <p:nvPr/>
        </p:nvSpPr>
        <p:spPr>
          <a:xfrm>
            <a:off x="3067050" y="1083192"/>
            <a:ext cx="598336" cy="135293"/>
          </a:xfrm>
          <a:prstGeom prst="rect">
            <a:avLst/>
          </a:prstGeom>
        </p:spPr>
        <p:txBody>
          <a:bodyPr vert="horz" wrap="square" lIns="0" tIns="12065" rIns="0" bIns="0" rtlCol="0">
            <a:spAutoFit/>
          </a:bodyPr>
          <a:lstStyle/>
          <a:p>
            <a:pPr marL="12700">
              <a:lnSpc>
                <a:spcPct val="100000"/>
              </a:lnSpc>
              <a:spcBef>
                <a:spcPts val="95"/>
              </a:spcBef>
            </a:pPr>
            <a:r>
              <a:rPr sz="800" spc="-5" dirty="0">
                <a:solidFill>
                  <a:srgbClr val="0000FF"/>
                </a:solidFill>
                <a:latin typeface="LM Sans 8"/>
                <a:cs typeface="LM Sans 8"/>
              </a:rPr>
              <a:t>0 </a:t>
            </a:r>
            <a:r>
              <a:rPr lang="en-US" sz="800" spc="-5" dirty="0">
                <a:solidFill>
                  <a:srgbClr val="0000FF"/>
                </a:solidFill>
                <a:latin typeface="LM Sans 8"/>
                <a:cs typeface="LM Sans 8"/>
              </a:rPr>
              <a:t>     </a:t>
            </a:r>
            <a:r>
              <a:rPr sz="800" spc="-5" dirty="0">
                <a:solidFill>
                  <a:srgbClr val="0000FF"/>
                </a:solidFill>
                <a:latin typeface="LM Sans 8"/>
                <a:cs typeface="LM Sans 8"/>
              </a:rPr>
              <a:t>1</a:t>
            </a:r>
            <a:r>
              <a:rPr sz="800" spc="20" dirty="0">
                <a:solidFill>
                  <a:srgbClr val="0000FF"/>
                </a:solidFill>
                <a:latin typeface="LM Sans 8"/>
                <a:cs typeface="LM Sans 8"/>
              </a:rPr>
              <a:t> </a:t>
            </a:r>
            <a:r>
              <a:rPr lang="en-US" sz="800" spc="20" dirty="0">
                <a:solidFill>
                  <a:srgbClr val="0000FF"/>
                </a:solidFill>
                <a:latin typeface="LM Sans 8"/>
                <a:cs typeface="LM Sans 8"/>
              </a:rPr>
              <a:t>    </a:t>
            </a:r>
            <a:r>
              <a:rPr sz="800" spc="-5" dirty="0">
                <a:solidFill>
                  <a:srgbClr val="0000FF"/>
                </a:solidFill>
                <a:latin typeface="LM Sans 8"/>
                <a:cs typeface="LM Sans 8"/>
              </a:rPr>
              <a:t>3</a:t>
            </a:r>
            <a:endParaRPr sz="800" dirty="0">
              <a:latin typeface="LM Sans 8"/>
              <a:cs typeface="LM Sans 8"/>
            </a:endParaRPr>
          </a:p>
        </p:txBody>
      </p:sp>
      <p:sp>
        <p:nvSpPr>
          <p:cNvPr id="10" name="object 10"/>
          <p:cNvSpPr txBox="1"/>
          <p:nvPr/>
        </p:nvSpPr>
        <p:spPr>
          <a:xfrm>
            <a:off x="1933473" y="1211210"/>
            <a:ext cx="1589405" cy="191770"/>
          </a:xfrm>
          <a:prstGeom prst="rect">
            <a:avLst/>
          </a:prstGeom>
        </p:spPr>
        <p:txBody>
          <a:bodyPr vert="horz" wrap="square" lIns="0" tIns="11430" rIns="0" bIns="0" rtlCol="0">
            <a:spAutoFit/>
          </a:bodyPr>
          <a:lstStyle/>
          <a:p>
            <a:pPr marL="38100">
              <a:lnSpc>
                <a:spcPct val="100000"/>
              </a:lnSpc>
              <a:spcBef>
                <a:spcPts val="90"/>
              </a:spcBef>
            </a:pPr>
            <a:r>
              <a:rPr sz="1100" i="1" spc="-5" dirty="0">
                <a:solidFill>
                  <a:srgbClr val="0000FF"/>
                </a:solidFill>
                <a:latin typeface="LM Sans 10"/>
                <a:cs typeface="LM Sans 10"/>
              </a:rPr>
              <a:t>m</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2]</a:t>
            </a:r>
            <a:r>
              <a:rPr sz="1100" spc="-13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[3</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3]</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0</a:t>
            </a:r>
            <a:r>
              <a:rPr sz="1100" i="1" spc="10" dirty="0">
                <a:solidFill>
                  <a:srgbClr val="0000FF"/>
                </a:solidFill>
                <a:latin typeface="LM Sans 10"/>
                <a:cs typeface="LM Sans 10"/>
              </a:rPr>
              <a:t>p</a:t>
            </a:r>
            <a:r>
              <a:rPr sz="1200" spc="15" baseline="-10416" dirty="0">
                <a:solidFill>
                  <a:srgbClr val="0000FF"/>
                </a:solidFill>
                <a:latin typeface="LM Sans 8"/>
                <a:cs typeface="LM Sans 8"/>
              </a:rPr>
              <a:t>2</a:t>
            </a:r>
            <a:r>
              <a:rPr sz="1100" i="1" spc="10" dirty="0">
                <a:solidFill>
                  <a:srgbClr val="0000FF"/>
                </a:solidFill>
                <a:latin typeface="LM Sans 10"/>
                <a:cs typeface="LM Sans 10"/>
              </a:rPr>
              <a:t>p</a:t>
            </a:r>
            <a:r>
              <a:rPr sz="1200" spc="15" baseline="-10416" dirty="0">
                <a:solidFill>
                  <a:srgbClr val="0000FF"/>
                </a:solidFill>
                <a:latin typeface="LM Sans 8"/>
                <a:cs typeface="LM Sans 8"/>
              </a:rPr>
              <a:t>3</a:t>
            </a:r>
            <a:endParaRPr sz="1200" baseline="-10416">
              <a:latin typeface="LM Sans 8"/>
              <a:cs typeface="LM Sans 8"/>
            </a:endParaRPr>
          </a:p>
        </p:txBody>
      </p:sp>
      <p:sp>
        <p:nvSpPr>
          <p:cNvPr id="12" name="object 12"/>
          <p:cNvSpPr txBox="1"/>
          <p:nvPr/>
        </p:nvSpPr>
        <p:spPr>
          <a:xfrm>
            <a:off x="1319580" y="1404263"/>
            <a:ext cx="43688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a:t>
            </a:r>
            <a:r>
              <a:rPr sz="1100" spc="-10" dirty="0">
                <a:solidFill>
                  <a:srgbClr val="FF0000"/>
                </a:solidFill>
                <a:latin typeface="LM Sans 10"/>
                <a:cs typeface="LM Sans 10"/>
              </a:rPr>
              <a:t>88</a:t>
            </a:r>
            <a:r>
              <a:rPr sz="1100" spc="190"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grpSp>
        <p:nvGrpSpPr>
          <p:cNvPr id="13" name="object 13"/>
          <p:cNvGrpSpPr/>
          <p:nvPr/>
        </p:nvGrpSpPr>
        <p:grpSpPr>
          <a:xfrm>
            <a:off x="0" y="1570120"/>
            <a:ext cx="4608195" cy="1885950"/>
            <a:chOff x="0" y="1570120"/>
            <a:chExt cx="4608195" cy="1885950"/>
          </a:xfrm>
        </p:grpSpPr>
        <p:sp>
          <p:nvSpPr>
            <p:cNvPr id="14" name="object 14"/>
            <p:cNvSpPr/>
            <p:nvPr/>
          </p:nvSpPr>
          <p:spPr>
            <a:xfrm>
              <a:off x="1291336" y="1570120"/>
              <a:ext cx="2025331" cy="1737417"/>
            </a:xfrm>
            <a:prstGeom prst="rect">
              <a:avLst/>
            </a:prstGeom>
            <a:blipFill>
              <a:blip r:embed="rId2" cstate="print"/>
              <a:stretch>
                <a:fillRect/>
              </a:stretch>
            </a:blipFill>
          </p:spPr>
          <p:txBody>
            <a:bodyPr wrap="square" lIns="0" tIns="0" rIns="0" bIns="0" rtlCol="0"/>
            <a:lstStyle/>
            <a:p>
              <a:endParaRPr/>
            </a:p>
          </p:txBody>
        </p:sp>
        <p:sp>
          <p:nvSpPr>
            <p:cNvPr id="15" name="object 1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6" name="object 1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7" name="object 1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9" name="object 1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21" name="Left Brace 20"/>
          <p:cNvSpPr/>
          <p:nvPr/>
        </p:nvSpPr>
        <p:spPr>
          <a:xfrm>
            <a:off x="1756460" y="1039125"/>
            <a:ext cx="177013" cy="3651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ransition>
    <p:cu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379649" cy="232756"/>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47294" y="336345"/>
            <a:ext cx="1575435" cy="363855"/>
          </a:xfrm>
          <a:prstGeom prst="rect">
            <a:avLst/>
          </a:prstGeom>
        </p:spPr>
        <p:txBody>
          <a:bodyPr vert="horz" wrap="square" lIns="0" tIns="6985" rIns="0" bIns="0" rtlCol="0">
            <a:spAutoFit/>
          </a:bodyPr>
          <a:lstStyle/>
          <a:p>
            <a:pPr marL="12700" marR="5080">
              <a:lnSpc>
                <a:spcPct val="102699"/>
              </a:lnSpc>
              <a:spcBef>
                <a:spcPts val="55"/>
              </a:spcBef>
            </a:pPr>
            <a:r>
              <a:rPr sz="1100" spc="-5" dirty="0">
                <a:solidFill>
                  <a:srgbClr val="FF0000"/>
                </a:solidFill>
                <a:latin typeface="LM Sans 10"/>
                <a:cs typeface="LM Sans 10"/>
              </a:rPr>
              <a:t>Step 5: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130" dirty="0">
                <a:solidFill>
                  <a:srgbClr val="FF0000"/>
                </a:solidFill>
                <a:latin typeface="LM Roman Dunhill 10"/>
                <a:cs typeface="LM Roman Dunhill 10"/>
              </a:rPr>
              <a:t> </a:t>
            </a:r>
            <a:r>
              <a:rPr sz="1100" spc="-5" dirty="0">
                <a:solidFill>
                  <a:srgbClr val="FF0000"/>
                </a:solidFill>
                <a:latin typeface="LM Sans 10"/>
                <a:cs typeface="LM Sans 10"/>
              </a:rPr>
              <a:t>4]  </a:t>
            </a:r>
            <a:r>
              <a:rPr sz="1100" spc="-10" dirty="0">
                <a:latin typeface="LM Sans 10"/>
                <a:cs typeface="LM Sans 10"/>
              </a:rPr>
              <a:t>By definition</a:t>
            </a:r>
            <a:endParaRPr sz="1100">
              <a:latin typeface="LM Sans 10"/>
              <a:cs typeface="LM Sans 10"/>
            </a:endParaRPr>
          </a:p>
        </p:txBody>
      </p:sp>
      <p:sp>
        <p:nvSpPr>
          <p:cNvPr id="4" name="object 4"/>
          <p:cNvSpPr txBox="1"/>
          <p:nvPr/>
        </p:nvSpPr>
        <p:spPr>
          <a:xfrm>
            <a:off x="800354" y="743761"/>
            <a:ext cx="525780"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FF0000"/>
                </a:solidFill>
                <a:latin typeface="LM Sans 10"/>
                <a:cs typeface="LM Sans 10"/>
              </a:rPr>
              <a:t>m</a:t>
            </a:r>
            <a:r>
              <a:rPr sz="1100" spc="-5" dirty="0">
                <a:solidFill>
                  <a:srgbClr val="FF0000"/>
                </a:solidFill>
                <a:latin typeface="LM Sans 10"/>
                <a:cs typeface="LM Sans 10"/>
              </a:rPr>
              <a:t>[2</a:t>
            </a:r>
            <a:r>
              <a:rPr sz="1100" i="1" spc="-5" dirty="0">
                <a:solidFill>
                  <a:srgbClr val="FF0000"/>
                </a:solidFill>
                <a:latin typeface="LM Roman Dunhill 10"/>
                <a:cs typeface="LM Roman Dunhill 10"/>
              </a:rPr>
              <a:t>,</a:t>
            </a:r>
            <a:r>
              <a:rPr sz="1100" i="1" spc="-229" dirty="0">
                <a:solidFill>
                  <a:srgbClr val="FF0000"/>
                </a:solidFill>
                <a:latin typeface="LM Roman Dunhill 10"/>
                <a:cs typeface="LM Roman Dunhill 10"/>
              </a:rPr>
              <a:t> </a:t>
            </a:r>
            <a:r>
              <a:rPr sz="1100" spc="-10" dirty="0">
                <a:solidFill>
                  <a:srgbClr val="FF0000"/>
                </a:solidFill>
                <a:latin typeface="LM Sans 10"/>
                <a:cs typeface="LM Sans 10"/>
              </a:rPr>
              <a:t>4]</a:t>
            </a:r>
            <a:r>
              <a:rPr sz="1100" spc="-10" dirty="0">
                <a:latin typeface="LM Sans 10"/>
                <a:cs typeface="LM Sans 10"/>
              </a:rPr>
              <a:t>=</a:t>
            </a:r>
            <a:endParaRPr sz="1100">
              <a:latin typeface="LM Sans 10"/>
              <a:cs typeface="LM Sans 10"/>
            </a:endParaRPr>
          </a:p>
        </p:txBody>
      </p:sp>
      <p:sp>
        <p:nvSpPr>
          <p:cNvPr id="5" name="object 5"/>
          <p:cNvSpPr txBox="1"/>
          <p:nvPr/>
        </p:nvSpPr>
        <p:spPr>
          <a:xfrm>
            <a:off x="1487725" y="743761"/>
            <a:ext cx="427355" cy="278130"/>
          </a:xfrm>
          <a:prstGeom prst="rect">
            <a:avLst/>
          </a:prstGeom>
        </p:spPr>
        <p:txBody>
          <a:bodyPr vert="horz" wrap="square" lIns="0" tIns="11430" rIns="0" bIns="0" rtlCol="0">
            <a:spAutoFit/>
          </a:bodyPr>
          <a:lstStyle/>
          <a:p>
            <a:pPr marL="12700">
              <a:lnSpc>
                <a:spcPts val="1180"/>
              </a:lnSpc>
              <a:spcBef>
                <a:spcPts val="90"/>
              </a:spcBef>
            </a:pPr>
            <a:r>
              <a:rPr sz="1100" spc="-10" dirty="0">
                <a:latin typeface="LM Sans 10"/>
                <a:cs typeface="LM Sans 10"/>
              </a:rPr>
              <a:t>min</a:t>
            </a:r>
            <a:endParaRPr sz="1100">
              <a:latin typeface="LM Sans 10"/>
              <a:cs typeface="LM Sans 10"/>
            </a:endParaRPr>
          </a:p>
          <a:p>
            <a:pPr marL="78740">
              <a:lnSpc>
                <a:spcPts val="819"/>
              </a:lnSpc>
            </a:pPr>
            <a:r>
              <a:rPr sz="800" spc="-5" dirty="0">
                <a:latin typeface="LM Sans 8"/>
                <a:cs typeface="LM Sans 8"/>
              </a:rPr>
              <a:t>2</a:t>
            </a:r>
            <a:r>
              <a:rPr sz="800" i="1" spc="215" dirty="0">
                <a:latin typeface="Arial"/>
                <a:cs typeface="Arial"/>
              </a:rPr>
              <a:t>≤</a:t>
            </a:r>
            <a:r>
              <a:rPr sz="800" i="1" spc="60" dirty="0">
                <a:latin typeface="LM Sans 8"/>
                <a:cs typeface="LM Sans 8"/>
              </a:rPr>
              <a:t>k</a:t>
            </a:r>
            <a:r>
              <a:rPr sz="800" i="1" spc="-5" dirty="0">
                <a:latin typeface="LM Sans 8"/>
                <a:cs typeface="LM Sans 8"/>
              </a:rPr>
              <a:t>&lt;</a:t>
            </a:r>
            <a:r>
              <a:rPr sz="800" spc="-5" dirty="0">
                <a:latin typeface="LM Sans 8"/>
                <a:cs typeface="LM Sans 8"/>
              </a:rPr>
              <a:t>4</a:t>
            </a:r>
            <a:endParaRPr sz="800">
              <a:latin typeface="LM Sans 8"/>
              <a:cs typeface="LM Sans 8"/>
            </a:endParaRPr>
          </a:p>
        </p:txBody>
      </p:sp>
      <p:sp>
        <p:nvSpPr>
          <p:cNvPr id="6" name="object 6"/>
          <p:cNvSpPr txBox="1"/>
          <p:nvPr/>
        </p:nvSpPr>
        <p:spPr>
          <a:xfrm>
            <a:off x="1864220" y="743761"/>
            <a:ext cx="1969135" cy="191770"/>
          </a:xfrm>
          <a:prstGeom prst="rect">
            <a:avLst/>
          </a:prstGeom>
        </p:spPr>
        <p:txBody>
          <a:bodyPr vert="horz" wrap="square" lIns="0" tIns="11430" rIns="0" bIns="0" rtlCol="0">
            <a:spAutoFit/>
          </a:bodyPr>
          <a:lstStyle/>
          <a:p>
            <a:pPr marL="38100">
              <a:lnSpc>
                <a:spcPct val="100000"/>
              </a:lnSpc>
              <a:spcBef>
                <a:spcPts val="90"/>
              </a:spcBef>
            </a:pPr>
            <a:r>
              <a:rPr sz="1100" spc="-5" dirty="0">
                <a:latin typeface="LM Sans 10"/>
                <a:cs typeface="LM Sans 10"/>
              </a:rPr>
              <a:t>(</a:t>
            </a:r>
            <a:r>
              <a:rPr sz="1100" i="1" spc="-5" dirty="0">
                <a:latin typeface="LM Sans 10"/>
                <a:cs typeface="LM Sans 10"/>
              </a:rPr>
              <a:t>m</a:t>
            </a:r>
            <a:r>
              <a:rPr sz="1100" spc="-5" dirty="0">
                <a:latin typeface="LM Sans 10"/>
                <a:cs typeface="LM Sans 10"/>
              </a:rPr>
              <a:t>[2</a:t>
            </a:r>
            <a:r>
              <a:rPr sz="1100" i="1" spc="-5" dirty="0">
                <a:latin typeface="LM Roman Dunhill 10"/>
                <a:cs typeface="LM Roman Dunhill 10"/>
              </a:rPr>
              <a:t>,</a:t>
            </a:r>
            <a:r>
              <a:rPr sz="1100" i="1" spc="-190"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90" dirty="0">
                <a:latin typeface="LM Roman Dunhill 10"/>
                <a:cs typeface="LM Roman Dunhill 10"/>
              </a:rPr>
              <a:t> </a:t>
            </a:r>
            <a:r>
              <a:rPr sz="1100" spc="-5" dirty="0">
                <a:latin typeface="LM Sans 10"/>
                <a:cs typeface="LM Sans 10"/>
              </a:rPr>
              <a:t>4]</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p</a:t>
            </a:r>
            <a:r>
              <a:rPr sz="1200" spc="7" baseline="-10416" dirty="0">
                <a:latin typeface="LM Sans 8"/>
                <a:cs typeface="LM Sans 8"/>
              </a:rPr>
              <a:t>1</a:t>
            </a:r>
            <a:r>
              <a:rPr sz="1100" i="1" spc="5" dirty="0">
                <a:latin typeface="LM Sans 10"/>
                <a:cs typeface="LM Sans 10"/>
              </a:rPr>
              <a:t>p</a:t>
            </a:r>
            <a:r>
              <a:rPr sz="1200" i="1" spc="7" baseline="-13888" dirty="0">
                <a:latin typeface="LM Sans 8"/>
                <a:cs typeface="LM Sans 8"/>
              </a:rPr>
              <a:t>k</a:t>
            </a:r>
            <a:r>
              <a:rPr sz="1200" i="1" spc="-262" baseline="-13888" dirty="0">
                <a:latin typeface="LM Sans 8"/>
                <a:cs typeface="LM Sans 8"/>
              </a:rPr>
              <a:t> </a:t>
            </a:r>
            <a:r>
              <a:rPr sz="1100" i="1" spc="10" dirty="0">
                <a:latin typeface="LM Sans 10"/>
                <a:cs typeface="LM Sans 10"/>
              </a:rPr>
              <a:t>p</a:t>
            </a:r>
            <a:r>
              <a:rPr sz="1200" spc="15" baseline="-10416" dirty="0">
                <a:latin typeface="LM Sans 8"/>
                <a:cs typeface="LM Sans 8"/>
              </a:rPr>
              <a:t>4</a:t>
            </a:r>
            <a:r>
              <a:rPr sz="1100" spc="10" dirty="0">
                <a:latin typeface="LM Sans 10"/>
                <a:cs typeface="LM Sans 10"/>
              </a:rPr>
              <a:t>)</a:t>
            </a:r>
            <a:endParaRPr sz="1100">
              <a:latin typeface="LM Sans 10"/>
              <a:cs typeface="LM Sans 10"/>
            </a:endParaRPr>
          </a:p>
        </p:txBody>
      </p:sp>
      <p:sp>
        <p:nvSpPr>
          <p:cNvPr id="7" name="object 7"/>
          <p:cNvSpPr txBox="1"/>
          <p:nvPr/>
        </p:nvSpPr>
        <p:spPr>
          <a:xfrm>
            <a:off x="1319580" y="1125383"/>
            <a:ext cx="34798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a:t>
            </a:r>
            <a:r>
              <a:rPr sz="1100" spc="-10" dirty="0">
                <a:solidFill>
                  <a:srgbClr val="0000FF"/>
                </a:solidFill>
                <a:latin typeface="LM Sans 10"/>
                <a:cs typeface="LM Sans 10"/>
              </a:rPr>
              <a:t>min</a:t>
            </a:r>
            <a:endParaRPr sz="1100">
              <a:latin typeface="LM Sans 10"/>
              <a:cs typeface="LM Sans 10"/>
            </a:endParaRPr>
          </a:p>
        </p:txBody>
      </p:sp>
      <p:sp>
        <p:nvSpPr>
          <p:cNvPr id="8" name="object 8"/>
          <p:cNvSpPr txBox="1"/>
          <p:nvPr/>
        </p:nvSpPr>
        <p:spPr>
          <a:xfrm>
            <a:off x="1958872" y="1039125"/>
            <a:ext cx="1641577" cy="180819"/>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Sans 10"/>
                <a:cs typeface="LM Sans 10"/>
              </a:rPr>
              <a:t>m</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2]</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[3</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4]</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10" dirty="0">
                <a:solidFill>
                  <a:srgbClr val="0000FF"/>
                </a:solidFill>
                <a:latin typeface="LM Sans 10"/>
                <a:cs typeface="LM Sans 10"/>
              </a:rPr>
              <a:t>p</a:t>
            </a:r>
            <a:r>
              <a:rPr sz="1100" i="1" spc="95" dirty="0">
                <a:solidFill>
                  <a:srgbClr val="0000FF"/>
                </a:solidFill>
                <a:latin typeface="LM Sans 10"/>
                <a:cs typeface="LM Sans 10"/>
              </a:rPr>
              <a:t> </a:t>
            </a:r>
            <a:r>
              <a:rPr lang="en-US" sz="1100" i="1" spc="95" dirty="0">
                <a:solidFill>
                  <a:srgbClr val="0000FF"/>
                </a:solidFill>
                <a:latin typeface="LM Sans 10"/>
                <a:cs typeface="LM Sans 10"/>
              </a:rPr>
              <a:t>  </a:t>
            </a:r>
            <a:r>
              <a:rPr sz="1100" i="1" spc="-10" dirty="0" err="1">
                <a:solidFill>
                  <a:srgbClr val="0000FF"/>
                </a:solidFill>
                <a:latin typeface="LM Sans 10"/>
                <a:cs typeface="LM Sans 10"/>
              </a:rPr>
              <a:t>p</a:t>
            </a:r>
            <a:r>
              <a:rPr sz="1100" i="1" spc="95" dirty="0">
                <a:solidFill>
                  <a:srgbClr val="0000FF"/>
                </a:solidFill>
                <a:latin typeface="LM Sans 10"/>
                <a:cs typeface="LM Sans 10"/>
              </a:rPr>
              <a:t> </a:t>
            </a:r>
            <a:r>
              <a:rPr lang="en-US" sz="1100" i="1" spc="95" dirty="0">
                <a:solidFill>
                  <a:srgbClr val="0000FF"/>
                </a:solidFill>
                <a:latin typeface="LM Sans 10"/>
                <a:cs typeface="LM Sans 10"/>
              </a:rPr>
              <a:t> </a:t>
            </a:r>
            <a:r>
              <a:rPr sz="1100" i="1" spc="-10" dirty="0" err="1">
                <a:solidFill>
                  <a:srgbClr val="0000FF"/>
                </a:solidFill>
                <a:latin typeface="LM Sans 10"/>
                <a:cs typeface="LM Sans 10"/>
              </a:rPr>
              <a:t>p</a:t>
            </a:r>
            <a:endParaRPr sz="1100" dirty="0">
              <a:latin typeface="LM Sans 10"/>
              <a:cs typeface="LM Sans 10"/>
            </a:endParaRPr>
          </a:p>
        </p:txBody>
      </p:sp>
      <p:sp>
        <p:nvSpPr>
          <p:cNvPr id="9" name="object 9"/>
          <p:cNvSpPr txBox="1"/>
          <p:nvPr/>
        </p:nvSpPr>
        <p:spPr>
          <a:xfrm>
            <a:off x="3100602" y="1097240"/>
            <a:ext cx="576047" cy="135293"/>
          </a:xfrm>
          <a:prstGeom prst="rect">
            <a:avLst/>
          </a:prstGeom>
        </p:spPr>
        <p:txBody>
          <a:bodyPr vert="horz" wrap="square" lIns="0" tIns="12065" rIns="0" bIns="0" rtlCol="0">
            <a:spAutoFit/>
          </a:bodyPr>
          <a:lstStyle/>
          <a:p>
            <a:pPr marL="12700">
              <a:lnSpc>
                <a:spcPct val="100000"/>
              </a:lnSpc>
              <a:spcBef>
                <a:spcPts val="95"/>
              </a:spcBef>
            </a:pPr>
            <a:r>
              <a:rPr sz="800" spc="-5" dirty="0">
                <a:solidFill>
                  <a:srgbClr val="0000FF"/>
                </a:solidFill>
                <a:latin typeface="LM Sans 8"/>
                <a:cs typeface="LM Sans 8"/>
              </a:rPr>
              <a:t>1 </a:t>
            </a:r>
            <a:r>
              <a:rPr lang="en-US" sz="800" spc="-5" dirty="0">
                <a:solidFill>
                  <a:srgbClr val="0000FF"/>
                </a:solidFill>
                <a:latin typeface="LM Sans 8"/>
                <a:cs typeface="LM Sans 8"/>
              </a:rPr>
              <a:t>     </a:t>
            </a:r>
            <a:r>
              <a:rPr sz="800" spc="-5" dirty="0">
                <a:solidFill>
                  <a:srgbClr val="0000FF"/>
                </a:solidFill>
                <a:latin typeface="LM Sans 8"/>
                <a:cs typeface="LM Sans 8"/>
              </a:rPr>
              <a:t>2</a:t>
            </a:r>
            <a:r>
              <a:rPr lang="en-US" sz="800" spc="-5" dirty="0">
                <a:solidFill>
                  <a:srgbClr val="0000FF"/>
                </a:solidFill>
                <a:latin typeface="LM Sans 8"/>
                <a:cs typeface="LM Sans 8"/>
              </a:rPr>
              <a:t>    </a:t>
            </a:r>
            <a:r>
              <a:rPr sz="800" spc="20" dirty="0">
                <a:solidFill>
                  <a:srgbClr val="0000FF"/>
                </a:solidFill>
                <a:latin typeface="LM Sans 8"/>
                <a:cs typeface="LM Sans 8"/>
              </a:rPr>
              <a:t> </a:t>
            </a:r>
            <a:r>
              <a:rPr sz="800" spc="-5" dirty="0">
                <a:solidFill>
                  <a:srgbClr val="0000FF"/>
                </a:solidFill>
                <a:latin typeface="LM Sans 8"/>
                <a:cs typeface="LM Sans 8"/>
              </a:rPr>
              <a:t>4</a:t>
            </a:r>
            <a:endParaRPr sz="800" dirty="0">
              <a:latin typeface="LM Sans 8"/>
              <a:cs typeface="LM Sans 8"/>
            </a:endParaRPr>
          </a:p>
        </p:txBody>
      </p:sp>
      <p:sp>
        <p:nvSpPr>
          <p:cNvPr id="10" name="object 10"/>
          <p:cNvSpPr txBox="1"/>
          <p:nvPr/>
        </p:nvSpPr>
        <p:spPr>
          <a:xfrm>
            <a:off x="1933473" y="1211210"/>
            <a:ext cx="1589405" cy="191770"/>
          </a:xfrm>
          <a:prstGeom prst="rect">
            <a:avLst/>
          </a:prstGeom>
        </p:spPr>
        <p:txBody>
          <a:bodyPr vert="horz" wrap="square" lIns="0" tIns="11430" rIns="0" bIns="0" rtlCol="0">
            <a:spAutoFit/>
          </a:bodyPr>
          <a:lstStyle/>
          <a:p>
            <a:pPr marL="38100">
              <a:lnSpc>
                <a:spcPct val="100000"/>
              </a:lnSpc>
              <a:spcBef>
                <a:spcPts val="90"/>
              </a:spcBef>
            </a:pPr>
            <a:r>
              <a:rPr sz="1100" i="1" spc="-5" dirty="0">
                <a:solidFill>
                  <a:srgbClr val="0000FF"/>
                </a:solidFill>
                <a:latin typeface="LM Sans 10"/>
                <a:cs typeface="LM Sans 10"/>
              </a:rPr>
              <a:t>m</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3]</a:t>
            </a:r>
            <a:r>
              <a:rPr sz="1100" spc="-13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[4</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4]</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1</a:t>
            </a:r>
            <a:r>
              <a:rPr sz="1100" i="1" spc="10" dirty="0">
                <a:solidFill>
                  <a:srgbClr val="0000FF"/>
                </a:solidFill>
                <a:latin typeface="LM Sans 10"/>
                <a:cs typeface="LM Sans 10"/>
              </a:rPr>
              <a:t>p</a:t>
            </a:r>
            <a:r>
              <a:rPr sz="1200" spc="15" baseline="-10416" dirty="0">
                <a:solidFill>
                  <a:srgbClr val="0000FF"/>
                </a:solidFill>
                <a:latin typeface="LM Sans 8"/>
                <a:cs typeface="LM Sans 8"/>
              </a:rPr>
              <a:t>3</a:t>
            </a:r>
            <a:r>
              <a:rPr sz="1100" i="1" spc="10" dirty="0">
                <a:solidFill>
                  <a:srgbClr val="0000FF"/>
                </a:solidFill>
                <a:latin typeface="LM Sans 10"/>
                <a:cs typeface="LM Sans 10"/>
              </a:rPr>
              <a:t>p</a:t>
            </a:r>
            <a:r>
              <a:rPr sz="1200" spc="15" baseline="-10416" dirty="0">
                <a:solidFill>
                  <a:srgbClr val="0000FF"/>
                </a:solidFill>
                <a:latin typeface="LM Sans 8"/>
                <a:cs typeface="LM Sans 8"/>
              </a:rPr>
              <a:t>4</a:t>
            </a:r>
            <a:endParaRPr sz="1200" baseline="-10416">
              <a:latin typeface="LM Sans 8"/>
              <a:cs typeface="LM Sans 8"/>
            </a:endParaRPr>
          </a:p>
        </p:txBody>
      </p:sp>
      <p:sp>
        <p:nvSpPr>
          <p:cNvPr id="12" name="object 12"/>
          <p:cNvSpPr txBox="1"/>
          <p:nvPr/>
        </p:nvSpPr>
        <p:spPr>
          <a:xfrm>
            <a:off x="1319580" y="1404263"/>
            <a:ext cx="506095"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a:t>
            </a:r>
            <a:r>
              <a:rPr sz="1100" spc="-10" dirty="0">
                <a:solidFill>
                  <a:srgbClr val="FF0000"/>
                </a:solidFill>
                <a:latin typeface="LM Sans 10"/>
                <a:cs typeface="LM Sans 10"/>
              </a:rPr>
              <a:t>104</a:t>
            </a:r>
            <a:r>
              <a:rPr sz="1100" spc="195"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grpSp>
        <p:nvGrpSpPr>
          <p:cNvPr id="13" name="object 13"/>
          <p:cNvGrpSpPr/>
          <p:nvPr/>
        </p:nvGrpSpPr>
        <p:grpSpPr>
          <a:xfrm>
            <a:off x="0" y="1570161"/>
            <a:ext cx="4608195" cy="1885950"/>
            <a:chOff x="0" y="1570161"/>
            <a:chExt cx="4608195" cy="1885950"/>
          </a:xfrm>
        </p:grpSpPr>
        <p:sp>
          <p:nvSpPr>
            <p:cNvPr id="14" name="object 14"/>
            <p:cNvSpPr/>
            <p:nvPr/>
          </p:nvSpPr>
          <p:spPr>
            <a:xfrm>
              <a:off x="1294638" y="1570161"/>
              <a:ext cx="2018712" cy="1737376"/>
            </a:xfrm>
            <a:prstGeom prst="rect">
              <a:avLst/>
            </a:prstGeom>
            <a:blipFill>
              <a:blip r:embed="rId2" cstate="print"/>
              <a:stretch>
                <a:fillRect/>
              </a:stretch>
            </a:blipFill>
          </p:spPr>
          <p:txBody>
            <a:bodyPr wrap="square" lIns="0" tIns="0" rIns="0" bIns="0" rtlCol="0"/>
            <a:lstStyle/>
            <a:p>
              <a:endParaRPr/>
            </a:p>
          </p:txBody>
        </p:sp>
        <p:sp>
          <p:nvSpPr>
            <p:cNvPr id="15" name="object 1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6" name="object 1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7" name="object 1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9" name="object 1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21" name="Left Brace 20"/>
          <p:cNvSpPr/>
          <p:nvPr/>
        </p:nvSpPr>
        <p:spPr>
          <a:xfrm>
            <a:off x="1701402" y="1039125"/>
            <a:ext cx="232071" cy="3638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ransition>
    <p:cu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2455088" cy="232756"/>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70" dirty="0"/>
              <a:t> </a:t>
            </a:r>
            <a:r>
              <a:rPr spc="10" dirty="0"/>
              <a:t>Continued</a:t>
            </a:r>
          </a:p>
        </p:txBody>
      </p:sp>
      <p:sp>
        <p:nvSpPr>
          <p:cNvPr id="3" name="object 3"/>
          <p:cNvSpPr txBox="1"/>
          <p:nvPr/>
        </p:nvSpPr>
        <p:spPr>
          <a:xfrm>
            <a:off x="347294" y="336345"/>
            <a:ext cx="1575435" cy="363855"/>
          </a:xfrm>
          <a:prstGeom prst="rect">
            <a:avLst/>
          </a:prstGeom>
        </p:spPr>
        <p:txBody>
          <a:bodyPr vert="horz" wrap="square" lIns="0" tIns="6985" rIns="0" bIns="0" rtlCol="0">
            <a:spAutoFit/>
          </a:bodyPr>
          <a:lstStyle/>
          <a:p>
            <a:pPr marL="12700" marR="5080">
              <a:lnSpc>
                <a:spcPct val="102699"/>
              </a:lnSpc>
              <a:spcBef>
                <a:spcPts val="55"/>
              </a:spcBef>
            </a:pPr>
            <a:r>
              <a:rPr sz="1100" spc="-5" dirty="0">
                <a:solidFill>
                  <a:srgbClr val="FF0000"/>
                </a:solidFill>
                <a:latin typeface="LM Sans 10"/>
                <a:cs typeface="LM Sans 10"/>
              </a:rPr>
              <a:t>Step 6: </a:t>
            </a:r>
            <a:r>
              <a:rPr sz="1100" spc="-10" dirty="0">
                <a:solidFill>
                  <a:srgbClr val="FF0000"/>
                </a:solidFill>
                <a:latin typeface="LM Sans 10"/>
                <a:cs typeface="LM Sans 10"/>
              </a:rPr>
              <a:t>Computing </a:t>
            </a: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130" dirty="0">
                <a:solidFill>
                  <a:srgbClr val="FF0000"/>
                </a:solidFill>
                <a:latin typeface="LM Roman Dunhill 10"/>
                <a:cs typeface="LM Roman Dunhill 10"/>
              </a:rPr>
              <a:t> </a:t>
            </a:r>
            <a:r>
              <a:rPr sz="1100" spc="-5" dirty="0">
                <a:solidFill>
                  <a:srgbClr val="FF0000"/>
                </a:solidFill>
                <a:latin typeface="LM Sans 10"/>
                <a:cs typeface="LM Sans 10"/>
              </a:rPr>
              <a:t>4]  </a:t>
            </a:r>
            <a:r>
              <a:rPr sz="1100" spc="-10" dirty="0">
                <a:latin typeface="LM Sans 10"/>
                <a:cs typeface="LM Sans 10"/>
              </a:rPr>
              <a:t>By definition</a:t>
            </a:r>
            <a:endParaRPr sz="1100">
              <a:latin typeface="LM Sans 10"/>
              <a:cs typeface="LM Sans 10"/>
            </a:endParaRPr>
          </a:p>
        </p:txBody>
      </p:sp>
      <p:sp>
        <p:nvSpPr>
          <p:cNvPr id="4" name="object 4"/>
          <p:cNvSpPr txBox="1"/>
          <p:nvPr/>
        </p:nvSpPr>
        <p:spPr>
          <a:xfrm>
            <a:off x="800354" y="743761"/>
            <a:ext cx="525780"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FF0000"/>
                </a:solidFill>
                <a:latin typeface="LM Sans 10"/>
                <a:cs typeface="LM Sans 10"/>
              </a:rPr>
              <a:t>m</a:t>
            </a:r>
            <a:r>
              <a:rPr sz="1100" spc="-5" dirty="0">
                <a:solidFill>
                  <a:srgbClr val="FF0000"/>
                </a:solidFill>
                <a:latin typeface="LM Sans 10"/>
                <a:cs typeface="LM Sans 10"/>
              </a:rPr>
              <a:t>[1</a:t>
            </a:r>
            <a:r>
              <a:rPr sz="1100" i="1" spc="-5" dirty="0">
                <a:solidFill>
                  <a:srgbClr val="FF0000"/>
                </a:solidFill>
                <a:latin typeface="LM Roman Dunhill 10"/>
                <a:cs typeface="LM Roman Dunhill 10"/>
              </a:rPr>
              <a:t>,</a:t>
            </a:r>
            <a:r>
              <a:rPr sz="1100" i="1" spc="-229" dirty="0">
                <a:solidFill>
                  <a:srgbClr val="FF0000"/>
                </a:solidFill>
                <a:latin typeface="LM Roman Dunhill 10"/>
                <a:cs typeface="LM Roman Dunhill 10"/>
              </a:rPr>
              <a:t> </a:t>
            </a:r>
            <a:r>
              <a:rPr sz="1100" spc="-10" dirty="0">
                <a:solidFill>
                  <a:srgbClr val="FF0000"/>
                </a:solidFill>
                <a:latin typeface="LM Sans 10"/>
                <a:cs typeface="LM Sans 10"/>
              </a:rPr>
              <a:t>4]</a:t>
            </a:r>
            <a:r>
              <a:rPr sz="1100" spc="-10" dirty="0">
                <a:latin typeface="LM Sans 10"/>
                <a:cs typeface="LM Sans 10"/>
              </a:rPr>
              <a:t>=</a:t>
            </a:r>
            <a:endParaRPr sz="1100">
              <a:latin typeface="LM Sans 10"/>
              <a:cs typeface="LM Sans 10"/>
            </a:endParaRPr>
          </a:p>
        </p:txBody>
      </p:sp>
      <p:sp>
        <p:nvSpPr>
          <p:cNvPr id="5" name="object 5"/>
          <p:cNvSpPr txBox="1"/>
          <p:nvPr/>
        </p:nvSpPr>
        <p:spPr>
          <a:xfrm>
            <a:off x="1487725" y="743761"/>
            <a:ext cx="427355" cy="278130"/>
          </a:xfrm>
          <a:prstGeom prst="rect">
            <a:avLst/>
          </a:prstGeom>
        </p:spPr>
        <p:txBody>
          <a:bodyPr vert="horz" wrap="square" lIns="0" tIns="11430" rIns="0" bIns="0" rtlCol="0">
            <a:spAutoFit/>
          </a:bodyPr>
          <a:lstStyle/>
          <a:p>
            <a:pPr marL="12700">
              <a:lnSpc>
                <a:spcPts val="1180"/>
              </a:lnSpc>
              <a:spcBef>
                <a:spcPts val="90"/>
              </a:spcBef>
            </a:pPr>
            <a:r>
              <a:rPr sz="1100" spc="-10" dirty="0">
                <a:latin typeface="LM Sans 10"/>
                <a:cs typeface="LM Sans 10"/>
              </a:rPr>
              <a:t>min</a:t>
            </a:r>
            <a:endParaRPr sz="1100">
              <a:latin typeface="LM Sans 10"/>
              <a:cs typeface="LM Sans 10"/>
            </a:endParaRPr>
          </a:p>
          <a:p>
            <a:pPr marL="78740">
              <a:lnSpc>
                <a:spcPts val="819"/>
              </a:lnSpc>
            </a:pPr>
            <a:r>
              <a:rPr sz="800" spc="-5" dirty="0">
                <a:latin typeface="LM Sans 8"/>
                <a:cs typeface="LM Sans 8"/>
              </a:rPr>
              <a:t>1</a:t>
            </a:r>
            <a:r>
              <a:rPr sz="800" i="1" spc="215" dirty="0">
                <a:latin typeface="Arial"/>
                <a:cs typeface="Arial"/>
              </a:rPr>
              <a:t>≤</a:t>
            </a:r>
            <a:r>
              <a:rPr sz="800" i="1" spc="60" dirty="0">
                <a:latin typeface="LM Sans 8"/>
                <a:cs typeface="LM Sans 8"/>
              </a:rPr>
              <a:t>k</a:t>
            </a:r>
            <a:r>
              <a:rPr sz="800" i="1" spc="-5" dirty="0">
                <a:latin typeface="LM Sans 8"/>
                <a:cs typeface="LM Sans 8"/>
              </a:rPr>
              <a:t>&lt;</a:t>
            </a:r>
            <a:r>
              <a:rPr sz="800" spc="-5" dirty="0">
                <a:latin typeface="LM Sans 8"/>
                <a:cs typeface="LM Sans 8"/>
              </a:rPr>
              <a:t>4</a:t>
            </a:r>
            <a:endParaRPr sz="800">
              <a:latin typeface="LM Sans 8"/>
              <a:cs typeface="LM Sans 8"/>
            </a:endParaRPr>
          </a:p>
        </p:txBody>
      </p:sp>
      <p:sp>
        <p:nvSpPr>
          <p:cNvPr id="6" name="object 6"/>
          <p:cNvSpPr txBox="1"/>
          <p:nvPr/>
        </p:nvSpPr>
        <p:spPr>
          <a:xfrm>
            <a:off x="1864220" y="743761"/>
            <a:ext cx="1969135" cy="191770"/>
          </a:xfrm>
          <a:prstGeom prst="rect">
            <a:avLst/>
          </a:prstGeom>
        </p:spPr>
        <p:txBody>
          <a:bodyPr vert="horz" wrap="square" lIns="0" tIns="11430" rIns="0" bIns="0" rtlCol="0">
            <a:spAutoFit/>
          </a:bodyPr>
          <a:lstStyle/>
          <a:p>
            <a:pPr marL="38100">
              <a:lnSpc>
                <a:spcPct val="100000"/>
              </a:lnSpc>
              <a:spcBef>
                <a:spcPts val="90"/>
              </a:spcBef>
            </a:pPr>
            <a:r>
              <a:rPr sz="1100" spc="-5" dirty="0">
                <a:latin typeface="LM Sans 10"/>
                <a:cs typeface="LM Sans 10"/>
              </a:rPr>
              <a:t>(</a:t>
            </a:r>
            <a:r>
              <a:rPr sz="1100" i="1" spc="-5" dirty="0">
                <a:latin typeface="LM Sans 10"/>
                <a:cs typeface="LM Sans 10"/>
              </a:rPr>
              <a:t>m</a:t>
            </a:r>
            <a:r>
              <a:rPr sz="1100" spc="-5" dirty="0">
                <a:latin typeface="LM Sans 10"/>
                <a:cs typeface="LM Sans 10"/>
              </a:rPr>
              <a:t>[1</a:t>
            </a:r>
            <a:r>
              <a:rPr sz="1100" i="1" spc="-5" dirty="0">
                <a:latin typeface="LM Roman Dunhill 10"/>
                <a:cs typeface="LM Roman Dunhill 10"/>
              </a:rPr>
              <a:t>,</a:t>
            </a:r>
            <a:r>
              <a:rPr sz="1100" i="1" spc="-190"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30" dirty="0">
                <a:latin typeface="LM Sans 10"/>
                <a:cs typeface="LM Sans 10"/>
              </a:rPr>
              <a:t> </a:t>
            </a:r>
            <a:r>
              <a:rPr sz="1100" spc="-10" dirty="0">
                <a:latin typeface="LM Sans 10"/>
                <a:cs typeface="LM Sans 10"/>
              </a:rPr>
              <a:t>+</a:t>
            </a:r>
            <a:r>
              <a:rPr sz="1100" spc="-130"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40"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90" dirty="0">
                <a:latin typeface="LM Roman Dunhill 10"/>
                <a:cs typeface="LM Roman Dunhill 10"/>
              </a:rPr>
              <a:t> </a:t>
            </a:r>
            <a:r>
              <a:rPr sz="1100" spc="-5" dirty="0">
                <a:latin typeface="LM Sans 10"/>
                <a:cs typeface="LM Sans 10"/>
              </a:rPr>
              <a:t>4]</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p</a:t>
            </a:r>
            <a:r>
              <a:rPr sz="1200" spc="7" baseline="-10416" dirty="0">
                <a:latin typeface="LM Sans 8"/>
                <a:cs typeface="LM Sans 8"/>
              </a:rPr>
              <a:t>0</a:t>
            </a:r>
            <a:r>
              <a:rPr sz="1100" i="1" spc="5" dirty="0">
                <a:latin typeface="LM Sans 10"/>
                <a:cs typeface="LM Sans 10"/>
              </a:rPr>
              <a:t>p</a:t>
            </a:r>
            <a:r>
              <a:rPr sz="1200" i="1" spc="7" baseline="-13888" dirty="0">
                <a:latin typeface="LM Sans 8"/>
                <a:cs typeface="LM Sans 8"/>
              </a:rPr>
              <a:t>k</a:t>
            </a:r>
            <a:r>
              <a:rPr sz="1200" i="1" spc="-262" baseline="-13888" dirty="0">
                <a:latin typeface="LM Sans 8"/>
                <a:cs typeface="LM Sans 8"/>
              </a:rPr>
              <a:t> </a:t>
            </a:r>
            <a:r>
              <a:rPr sz="1100" i="1" spc="10" dirty="0">
                <a:latin typeface="LM Sans 10"/>
                <a:cs typeface="LM Sans 10"/>
              </a:rPr>
              <a:t>p</a:t>
            </a:r>
            <a:r>
              <a:rPr sz="1200" spc="15" baseline="-10416" dirty="0">
                <a:latin typeface="LM Sans 8"/>
                <a:cs typeface="LM Sans 8"/>
              </a:rPr>
              <a:t>4</a:t>
            </a:r>
            <a:r>
              <a:rPr sz="1100" spc="10" dirty="0">
                <a:latin typeface="LM Sans 10"/>
                <a:cs typeface="LM Sans 10"/>
              </a:rPr>
              <a:t>)</a:t>
            </a:r>
            <a:endParaRPr sz="1100">
              <a:latin typeface="LM Sans 10"/>
              <a:cs typeface="LM Sans 10"/>
            </a:endParaRPr>
          </a:p>
        </p:txBody>
      </p:sp>
      <p:sp>
        <p:nvSpPr>
          <p:cNvPr id="7" name="object 7"/>
          <p:cNvSpPr txBox="1"/>
          <p:nvPr/>
        </p:nvSpPr>
        <p:spPr>
          <a:xfrm>
            <a:off x="1319580" y="1211426"/>
            <a:ext cx="34798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a:t>
            </a:r>
            <a:r>
              <a:rPr sz="1100" spc="-10" dirty="0">
                <a:solidFill>
                  <a:srgbClr val="0000FF"/>
                </a:solidFill>
                <a:latin typeface="LM Sans 10"/>
                <a:cs typeface="LM Sans 10"/>
              </a:rPr>
              <a:t>min</a:t>
            </a:r>
            <a:endParaRPr sz="1100">
              <a:latin typeface="LM Sans 10"/>
              <a:cs typeface="LM Sans 10"/>
            </a:endParaRPr>
          </a:p>
        </p:txBody>
      </p:sp>
      <p:sp>
        <p:nvSpPr>
          <p:cNvPr id="11" name="object 11"/>
          <p:cNvSpPr txBox="1"/>
          <p:nvPr/>
        </p:nvSpPr>
        <p:spPr>
          <a:xfrm>
            <a:off x="1978112" y="1039125"/>
            <a:ext cx="1698537" cy="180819"/>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Sans 10"/>
                <a:cs typeface="LM Sans 10"/>
              </a:rPr>
              <a:t>m</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1]</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[2</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4]</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10" dirty="0">
                <a:solidFill>
                  <a:srgbClr val="0000FF"/>
                </a:solidFill>
                <a:latin typeface="LM Sans 10"/>
                <a:cs typeface="LM Sans 10"/>
              </a:rPr>
              <a:t>p</a:t>
            </a:r>
            <a:r>
              <a:rPr sz="1100" i="1" spc="95" dirty="0">
                <a:solidFill>
                  <a:srgbClr val="0000FF"/>
                </a:solidFill>
                <a:latin typeface="LM Sans 10"/>
                <a:cs typeface="LM Sans 10"/>
              </a:rPr>
              <a:t> </a:t>
            </a:r>
            <a:r>
              <a:rPr sz="1100" i="1" spc="-10" dirty="0">
                <a:solidFill>
                  <a:srgbClr val="0000FF"/>
                </a:solidFill>
                <a:latin typeface="LM Sans 10"/>
                <a:cs typeface="LM Sans 10"/>
              </a:rPr>
              <a:t>p</a:t>
            </a:r>
            <a:r>
              <a:rPr sz="1100" i="1" spc="95" dirty="0">
                <a:solidFill>
                  <a:srgbClr val="0000FF"/>
                </a:solidFill>
                <a:latin typeface="LM Sans 10"/>
                <a:cs typeface="LM Sans 10"/>
              </a:rPr>
              <a:t> </a:t>
            </a:r>
            <a:r>
              <a:rPr sz="1100" i="1" spc="-10" dirty="0">
                <a:solidFill>
                  <a:srgbClr val="0000FF"/>
                </a:solidFill>
                <a:latin typeface="LM Sans 10"/>
                <a:cs typeface="LM Sans 10"/>
              </a:rPr>
              <a:t>p</a:t>
            </a:r>
            <a:endParaRPr sz="1100" dirty="0">
              <a:latin typeface="LM Sans 10"/>
              <a:cs typeface="LM Sans 10"/>
            </a:endParaRPr>
          </a:p>
        </p:txBody>
      </p:sp>
      <p:sp>
        <p:nvSpPr>
          <p:cNvPr id="12" name="object 12"/>
          <p:cNvSpPr txBox="1"/>
          <p:nvPr/>
        </p:nvSpPr>
        <p:spPr>
          <a:xfrm>
            <a:off x="3029762" y="1100640"/>
            <a:ext cx="502895" cy="135293"/>
          </a:xfrm>
          <a:prstGeom prst="rect">
            <a:avLst/>
          </a:prstGeom>
        </p:spPr>
        <p:txBody>
          <a:bodyPr vert="horz" wrap="square" lIns="0" tIns="12065" rIns="0" bIns="0" rtlCol="0">
            <a:spAutoFit/>
          </a:bodyPr>
          <a:lstStyle/>
          <a:p>
            <a:pPr marL="12700">
              <a:lnSpc>
                <a:spcPct val="100000"/>
              </a:lnSpc>
              <a:spcBef>
                <a:spcPts val="95"/>
              </a:spcBef>
            </a:pPr>
            <a:r>
              <a:rPr lang="en-US" sz="800" spc="-5" dirty="0">
                <a:solidFill>
                  <a:srgbClr val="0000FF"/>
                </a:solidFill>
                <a:latin typeface="LM Sans 8"/>
                <a:cs typeface="LM Sans 8"/>
              </a:rPr>
              <a:t>  </a:t>
            </a:r>
            <a:r>
              <a:rPr sz="800" spc="-5" dirty="0">
                <a:solidFill>
                  <a:srgbClr val="0000FF"/>
                </a:solidFill>
                <a:latin typeface="LM Sans 8"/>
                <a:cs typeface="LM Sans 8"/>
              </a:rPr>
              <a:t>0</a:t>
            </a:r>
            <a:r>
              <a:rPr lang="en-US" sz="800" spc="-5" dirty="0">
                <a:solidFill>
                  <a:srgbClr val="0000FF"/>
                </a:solidFill>
                <a:latin typeface="LM Sans 8"/>
                <a:cs typeface="LM Sans 8"/>
              </a:rPr>
              <a:t>  </a:t>
            </a:r>
            <a:r>
              <a:rPr sz="800" spc="-5" dirty="0">
                <a:solidFill>
                  <a:srgbClr val="0000FF"/>
                </a:solidFill>
                <a:latin typeface="LM Sans 8"/>
                <a:cs typeface="LM Sans 8"/>
              </a:rPr>
              <a:t> 1</a:t>
            </a:r>
            <a:r>
              <a:rPr sz="800" spc="20" dirty="0">
                <a:solidFill>
                  <a:srgbClr val="0000FF"/>
                </a:solidFill>
                <a:latin typeface="LM Sans 8"/>
                <a:cs typeface="LM Sans 8"/>
              </a:rPr>
              <a:t> </a:t>
            </a:r>
            <a:r>
              <a:rPr sz="800" spc="-5" dirty="0">
                <a:solidFill>
                  <a:srgbClr val="0000FF"/>
                </a:solidFill>
                <a:latin typeface="LM Sans 8"/>
                <a:cs typeface="LM Sans 8"/>
              </a:rPr>
              <a:t>4</a:t>
            </a:r>
            <a:endParaRPr sz="800" dirty="0">
              <a:latin typeface="LM Sans 8"/>
              <a:cs typeface="LM Sans 8"/>
            </a:endParaRPr>
          </a:p>
        </p:txBody>
      </p:sp>
      <p:sp>
        <p:nvSpPr>
          <p:cNvPr id="13" name="object 13"/>
          <p:cNvSpPr txBox="1"/>
          <p:nvPr/>
        </p:nvSpPr>
        <p:spPr>
          <a:xfrm>
            <a:off x="1952713" y="1211210"/>
            <a:ext cx="1723937" cy="180819"/>
          </a:xfrm>
          <a:prstGeom prst="rect">
            <a:avLst/>
          </a:prstGeom>
        </p:spPr>
        <p:txBody>
          <a:bodyPr vert="horz" wrap="square" lIns="0" tIns="11430" rIns="0" bIns="0" rtlCol="0">
            <a:spAutoFit/>
          </a:bodyPr>
          <a:lstStyle/>
          <a:p>
            <a:pPr marL="38100">
              <a:lnSpc>
                <a:spcPct val="100000"/>
              </a:lnSpc>
              <a:spcBef>
                <a:spcPts val="90"/>
              </a:spcBef>
            </a:pPr>
            <a:r>
              <a:rPr sz="1100" i="1" spc="-5" dirty="0">
                <a:solidFill>
                  <a:srgbClr val="0000FF"/>
                </a:solidFill>
                <a:latin typeface="LM Sans 10"/>
                <a:cs typeface="LM Sans 10"/>
              </a:rPr>
              <a:t>m</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2]</a:t>
            </a:r>
            <a:r>
              <a:rPr sz="1100" spc="-135"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[3</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4]</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10" dirty="0">
                <a:solidFill>
                  <a:srgbClr val="0000FF"/>
                </a:solidFill>
                <a:latin typeface="LM Sans 10"/>
                <a:cs typeface="LM Sans 10"/>
              </a:rPr>
              <a:t>p</a:t>
            </a:r>
            <a:r>
              <a:rPr sz="1200" spc="15" baseline="-10416" dirty="0">
                <a:solidFill>
                  <a:srgbClr val="0000FF"/>
                </a:solidFill>
                <a:latin typeface="LM Sans 8"/>
                <a:cs typeface="LM Sans 8"/>
              </a:rPr>
              <a:t>0</a:t>
            </a:r>
            <a:r>
              <a:rPr sz="1100" i="1" spc="10" dirty="0">
                <a:solidFill>
                  <a:srgbClr val="0000FF"/>
                </a:solidFill>
                <a:latin typeface="LM Sans 10"/>
                <a:cs typeface="LM Sans 10"/>
              </a:rPr>
              <a:t>p</a:t>
            </a:r>
            <a:r>
              <a:rPr sz="1200" spc="15" baseline="-10416" dirty="0">
                <a:solidFill>
                  <a:srgbClr val="0000FF"/>
                </a:solidFill>
                <a:latin typeface="LM Sans 8"/>
                <a:cs typeface="LM Sans 8"/>
              </a:rPr>
              <a:t>2</a:t>
            </a:r>
            <a:r>
              <a:rPr sz="1100" i="1" spc="10" dirty="0">
                <a:solidFill>
                  <a:srgbClr val="0000FF"/>
                </a:solidFill>
                <a:latin typeface="LM Sans 10"/>
                <a:cs typeface="LM Sans 10"/>
              </a:rPr>
              <a:t>p</a:t>
            </a:r>
            <a:r>
              <a:rPr sz="1200" spc="15" baseline="-10416" dirty="0">
                <a:solidFill>
                  <a:srgbClr val="0000FF"/>
                </a:solidFill>
                <a:latin typeface="LM Sans 8"/>
                <a:cs typeface="LM Sans 8"/>
              </a:rPr>
              <a:t>4</a:t>
            </a:r>
            <a:endParaRPr sz="1200" baseline="-10416" dirty="0">
              <a:latin typeface="LM Sans 8"/>
              <a:cs typeface="LM Sans 8"/>
            </a:endParaRPr>
          </a:p>
        </p:txBody>
      </p:sp>
      <p:sp>
        <p:nvSpPr>
          <p:cNvPr id="14" name="object 14"/>
          <p:cNvSpPr txBox="1"/>
          <p:nvPr/>
        </p:nvSpPr>
        <p:spPr>
          <a:xfrm>
            <a:off x="1978112" y="1383282"/>
            <a:ext cx="1698537" cy="180819"/>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LM Sans 10"/>
                <a:cs typeface="LM Sans 10"/>
              </a:rPr>
              <a:t>m</a:t>
            </a:r>
            <a:r>
              <a:rPr sz="1100" spc="-5" dirty="0">
                <a:solidFill>
                  <a:srgbClr val="0000FF"/>
                </a:solidFill>
                <a:latin typeface="LM Sans 10"/>
                <a:cs typeface="LM Sans 10"/>
              </a:rPr>
              <a:t>[1</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3]</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5" dirty="0">
                <a:solidFill>
                  <a:srgbClr val="0000FF"/>
                </a:solidFill>
                <a:latin typeface="LM Sans 10"/>
                <a:cs typeface="LM Sans 10"/>
              </a:rPr>
              <a:t>m</a:t>
            </a:r>
            <a:r>
              <a:rPr sz="1100" spc="-5" dirty="0">
                <a:solidFill>
                  <a:srgbClr val="0000FF"/>
                </a:solidFill>
                <a:latin typeface="LM Sans 10"/>
                <a:cs typeface="LM Sans 10"/>
              </a:rPr>
              <a:t>[4</a:t>
            </a:r>
            <a:r>
              <a:rPr sz="1100" i="1" spc="-5" dirty="0">
                <a:solidFill>
                  <a:srgbClr val="0000FF"/>
                </a:solidFill>
                <a:latin typeface="LM Roman Dunhill 10"/>
                <a:cs typeface="LM Roman Dunhill 10"/>
              </a:rPr>
              <a:t>,</a:t>
            </a:r>
            <a:r>
              <a:rPr sz="1100" i="1" spc="-190" dirty="0">
                <a:solidFill>
                  <a:srgbClr val="0000FF"/>
                </a:solidFill>
                <a:latin typeface="LM Roman Dunhill 10"/>
                <a:cs typeface="LM Roman Dunhill 10"/>
              </a:rPr>
              <a:t> </a:t>
            </a:r>
            <a:r>
              <a:rPr sz="1100" spc="-5" dirty="0">
                <a:solidFill>
                  <a:srgbClr val="0000FF"/>
                </a:solidFill>
                <a:latin typeface="LM Sans 10"/>
                <a:cs typeface="LM Sans 10"/>
              </a:rPr>
              <a:t>4]</a:t>
            </a:r>
            <a:r>
              <a:rPr sz="1100" spc="-130" dirty="0">
                <a:solidFill>
                  <a:srgbClr val="0000FF"/>
                </a:solidFill>
                <a:latin typeface="LM Sans 10"/>
                <a:cs typeface="LM Sans 10"/>
              </a:rPr>
              <a:t> </a:t>
            </a:r>
            <a:r>
              <a:rPr sz="1100" spc="-10" dirty="0">
                <a:solidFill>
                  <a:srgbClr val="0000FF"/>
                </a:solidFill>
                <a:latin typeface="LM Sans 10"/>
                <a:cs typeface="LM Sans 10"/>
              </a:rPr>
              <a:t>+</a:t>
            </a:r>
            <a:r>
              <a:rPr sz="1100" spc="-130" dirty="0">
                <a:solidFill>
                  <a:srgbClr val="0000FF"/>
                </a:solidFill>
                <a:latin typeface="LM Sans 10"/>
                <a:cs typeface="LM Sans 10"/>
              </a:rPr>
              <a:t> </a:t>
            </a:r>
            <a:r>
              <a:rPr sz="1100" i="1" spc="-10" dirty="0">
                <a:solidFill>
                  <a:srgbClr val="0000FF"/>
                </a:solidFill>
                <a:latin typeface="LM Sans 10"/>
                <a:cs typeface="LM Sans 10"/>
              </a:rPr>
              <a:t>p</a:t>
            </a:r>
            <a:r>
              <a:rPr sz="1100" i="1" spc="95" dirty="0">
                <a:solidFill>
                  <a:srgbClr val="0000FF"/>
                </a:solidFill>
                <a:latin typeface="LM Sans 10"/>
                <a:cs typeface="LM Sans 10"/>
              </a:rPr>
              <a:t> </a:t>
            </a:r>
            <a:r>
              <a:rPr sz="1100" i="1" spc="-10" dirty="0">
                <a:solidFill>
                  <a:srgbClr val="0000FF"/>
                </a:solidFill>
                <a:latin typeface="LM Sans 10"/>
                <a:cs typeface="LM Sans 10"/>
              </a:rPr>
              <a:t>p</a:t>
            </a:r>
            <a:r>
              <a:rPr sz="1100" i="1" spc="95" dirty="0">
                <a:solidFill>
                  <a:srgbClr val="0000FF"/>
                </a:solidFill>
                <a:latin typeface="LM Sans 10"/>
                <a:cs typeface="LM Sans 10"/>
              </a:rPr>
              <a:t> </a:t>
            </a:r>
            <a:r>
              <a:rPr sz="1100" i="1" spc="-10" dirty="0">
                <a:solidFill>
                  <a:srgbClr val="0000FF"/>
                </a:solidFill>
                <a:latin typeface="LM Sans 10"/>
                <a:cs typeface="LM Sans 10"/>
              </a:rPr>
              <a:t>p</a:t>
            </a:r>
            <a:endParaRPr sz="1100" dirty="0">
              <a:latin typeface="LM Sans 10"/>
              <a:cs typeface="LM Sans 10"/>
            </a:endParaRPr>
          </a:p>
        </p:txBody>
      </p:sp>
      <p:sp>
        <p:nvSpPr>
          <p:cNvPr id="15" name="object 15"/>
          <p:cNvSpPr txBox="1"/>
          <p:nvPr/>
        </p:nvSpPr>
        <p:spPr>
          <a:xfrm>
            <a:off x="3080726" y="1438965"/>
            <a:ext cx="480607" cy="135293"/>
          </a:xfrm>
          <a:prstGeom prst="rect">
            <a:avLst/>
          </a:prstGeom>
        </p:spPr>
        <p:txBody>
          <a:bodyPr vert="horz" wrap="square" lIns="0" tIns="12065" rIns="0" bIns="0" rtlCol="0">
            <a:spAutoFit/>
          </a:bodyPr>
          <a:lstStyle/>
          <a:p>
            <a:pPr marL="12700">
              <a:lnSpc>
                <a:spcPct val="100000"/>
              </a:lnSpc>
              <a:spcBef>
                <a:spcPts val="95"/>
              </a:spcBef>
            </a:pPr>
            <a:r>
              <a:rPr sz="800" spc="-5" dirty="0">
                <a:solidFill>
                  <a:srgbClr val="0000FF"/>
                </a:solidFill>
                <a:latin typeface="LM Sans 8"/>
                <a:cs typeface="LM Sans 8"/>
              </a:rPr>
              <a:t>0</a:t>
            </a:r>
            <a:r>
              <a:rPr lang="en-US" sz="800" spc="-5" dirty="0">
                <a:solidFill>
                  <a:srgbClr val="0000FF"/>
                </a:solidFill>
                <a:latin typeface="LM Sans 8"/>
                <a:cs typeface="LM Sans 8"/>
              </a:rPr>
              <a:t> </a:t>
            </a:r>
            <a:r>
              <a:rPr sz="800" spc="-5" dirty="0">
                <a:solidFill>
                  <a:srgbClr val="0000FF"/>
                </a:solidFill>
                <a:latin typeface="LM Sans 8"/>
                <a:cs typeface="LM Sans 8"/>
              </a:rPr>
              <a:t> </a:t>
            </a:r>
            <a:r>
              <a:rPr lang="en-US" sz="800" spc="-5" dirty="0">
                <a:solidFill>
                  <a:srgbClr val="0000FF"/>
                </a:solidFill>
                <a:latin typeface="LM Sans 8"/>
                <a:cs typeface="LM Sans 8"/>
              </a:rPr>
              <a:t> </a:t>
            </a:r>
            <a:r>
              <a:rPr sz="800" spc="-5" dirty="0">
                <a:solidFill>
                  <a:srgbClr val="0000FF"/>
                </a:solidFill>
                <a:latin typeface="LM Sans 8"/>
                <a:cs typeface="LM Sans 8"/>
              </a:rPr>
              <a:t>3</a:t>
            </a:r>
            <a:r>
              <a:rPr sz="800" spc="20" dirty="0">
                <a:solidFill>
                  <a:srgbClr val="0000FF"/>
                </a:solidFill>
                <a:latin typeface="LM Sans 8"/>
                <a:cs typeface="LM Sans 8"/>
              </a:rPr>
              <a:t> </a:t>
            </a:r>
            <a:r>
              <a:rPr lang="en-US" sz="800" spc="20" dirty="0">
                <a:solidFill>
                  <a:srgbClr val="0000FF"/>
                </a:solidFill>
                <a:latin typeface="LM Sans 8"/>
                <a:cs typeface="LM Sans 8"/>
              </a:rPr>
              <a:t> </a:t>
            </a:r>
            <a:r>
              <a:rPr sz="800" spc="-5" dirty="0">
                <a:solidFill>
                  <a:srgbClr val="0000FF"/>
                </a:solidFill>
                <a:latin typeface="LM Sans 8"/>
                <a:cs typeface="LM Sans 8"/>
              </a:rPr>
              <a:t>4</a:t>
            </a:r>
            <a:endParaRPr sz="800" dirty="0">
              <a:latin typeface="LM Sans 8"/>
              <a:cs typeface="LM Sans 8"/>
            </a:endParaRPr>
          </a:p>
        </p:txBody>
      </p:sp>
      <p:sp>
        <p:nvSpPr>
          <p:cNvPr id="19" name="object 19"/>
          <p:cNvSpPr txBox="1"/>
          <p:nvPr/>
        </p:nvSpPr>
        <p:spPr>
          <a:xfrm>
            <a:off x="1319580" y="1576335"/>
            <a:ext cx="506095"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LM Sans 10"/>
                <a:cs typeface="LM Sans 10"/>
              </a:rPr>
              <a:t>=</a:t>
            </a:r>
            <a:r>
              <a:rPr sz="1100" spc="-10" dirty="0">
                <a:solidFill>
                  <a:srgbClr val="FF0000"/>
                </a:solidFill>
                <a:latin typeface="LM Sans 10"/>
                <a:cs typeface="LM Sans 10"/>
              </a:rPr>
              <a:t>158</a:t>
            </a:r>
            <a:r>
              <a:rPr sz="1100" spc="195" dirty="0">
                <a:solidFill>
                  <a:srgbClr val="FF0000"/>
                </a:solidFill>
                <a:latin typeface="LM Sans 10"/>
                <a:cs typeface="LM Sans 10"/>
              </a:rPr>
              <a:t> </a:t>
            </a:r>
            <a:r>
              <a:rPr sz="1100" i="1" spc="-5" dirty="0">
                <a:latin typeface="LM Roman Dunhill 10"/>
                <a:cs typeface="LM Roman Dunhill 10"/>
              </a:rPr>
              <a:t>.</a:t>
            </a:r>
            <a:endParaRPr sz="1100">
              <a:latin typeface="LM Roman Dunhill 10"/>
              <a:cs typeface="LM Roman Dunhill 10"/>
            </a:endParaRPr>
          </a:p>
        </p:txBody>
      </p:sp>
      <p:sp>
        <p:nvSpPr>
          <p:cNvPr id="20" name="object 20"/>
          <p:cNvSpPr/>
          <p:nvPr/>
        </p:nvSpPr>
        <p:spPr>
          <a:xfrm>
            <a:off x="1409725" y="1742237"/>
            <a:ext cx="1788549" cy="1554492"/>
          </a:xfrm>
          <a:prstGeom prst="rect">
            <a:avLst/>
          </a:prstGeom>
          <a:blipFill>
            <a:blip r:embed="rId2" cstate="print"/>
            <a:stretch>
              <a:fillRect/>
            </a:stretch>
          </a:blipFill>
        </p:spPr>
        <p:txBody>
          <a:bodyPr wrap="square" lIns="0" tIns="0" rIns="0" bIns="0" rtlCol="0"/>
          <a:lstStyle/>
          <a:p>
            <a:endParaRPr/>
          </a:p>
        </p:txBody>
      </p:sp>
      <p:grpSp>
        <p:nvGrpSpPr>
          <p:cNvPr id="21" name="object 21"/>
          <p:cNvGrpSpPr/>
          <p:nvPr/>
        </p:nvGrpSpPr>
        <p:grpSpPr>
          <a:xfrm>
            <a:off x="0" y="3342919"/>
            <a:ext cx="4608195" cy="113664"/>
            <a:chOff x="0" y="3342919"/>
            <a:chExt cx="4608195" cy="113664"/>
          </a:xfrm>
        </p:grpSpPr>
        <p:sp>
          <p:nvSpPr>
            <p:cNvPr id="22" name="object 22"/>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3" name="object 23"/>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4" name="object 24"/>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6" name="object 26"/>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3" action="ppaction://hlinksldjump"/>
              </a:rPr>
              <a:t>Chain </a:t>
            </a:r>
            <a:r>
              <a:rPr sz="600" b="1" spc="-5" dirty="0">
                <a:solidFill>
                  <a:srgbClr val="FFFFFF"/>
                </a:solidFill>
                <a:latin typeface="LM Sans 10"/>
                <a:cs typeface="LM Sans 10"/>
                <a:hlinkClick r:id="rId3" action="ppaction://hlinksldjump"/>
              </a:rPr>
              <a:t>Matrix Multiplication</a:t>
            </a:r>
            <a:endParaRPr sz="600">
              <a:latin typeface="LM Sans 10"/>
              <a:cs typeface="LM Sans 10"/>
            </a:endParaRPr>
          </a:p>
        </p:txBody>
      </p:sp>
      <p:sp>
        <p:nvSpPr>
          <p:cNvPr id="28" name="Left Brace 27"/>
          <p:cNvSpPr/>
          <p:nvPr/>
        </p:nvSpPr>
        <p:spPr>
          <a:xfrm>
            <a:off x="1701402" y="1039125"/>
            <a:ext cx="251311" cy="63309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ransition>
    <p:cu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1" y="0"/>
            <a:ext cx="2379649" cy="232756"/>
          </a:xfrm>
          <a:prstGeom prst="rect">
            <a:avLst/>
          </a:prstGeom>
        </p:spPr>
        <p:txBody>
          <a:bodyPr vert="horz" wrap="square" lIns="0" tIns="17145" rIns="0" bIns="0" rtlCol="0">
            <a:spAutoFit/>
          </a:bodyPr>
          <a:lstStyle/>
          <a:p>
            <a:pPr marL="12700">
              <a:lnSpc>
                <a:spcPct val="100000"/>
              </a:lnSpc>
              <a:spcBef>
                <a:spcPts val="135"/>
              </a:spcBef>
            </a:pPr>
            <a:r>
              <a:rPr spc="5" dirty="0"/>
              <a:t>Constructing </a:t>
            </a:r>
            <a:r>
              <a:rPr spc="10" dirty="0"/>
              <a:t>a</a:t>
            </a:r>
            <a:r>
              <a:rPr spc="5" dirty="0"/>
              <a:t> </a:t>
            </a:r>
            <a:r>
              <a:rPr spc="10" dirty="0"/>
              <a:t>Solution</a:t>
            </a:r>
          </a:p>
        </p:txBody>
      </p:sp>
      <p:sp>
        <p:nvSpPr>
          <p:cNvPr id="3" name="object 3"/>
          <p:cNvSpPr/>
          <p:nvPr/>
        </p:nvSpPr>
        <p:spPr>
          <a:xfrm>
            <a:off x="502551" y="966597"/>
            <a:ext cx="65265" cy="6526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11695" y="839366"/>
            <a:ext cx="3662045" cy="1607185"/>
          </a:xfrm>
          <a:prstGeom prst="rect">
            <a:avLst/>
          </a:prstGeom>
        </p:spPr>
        <p:txBody>
          <a:bodyPr vert="horz" wrap="square" lIns="0" tIns="55244" rIns="0" bIns="0" rtlCol="0">
            <a:spAutoFit/>
          </a:bodyPr>
          <a:lstStyle/>
          <a:p>
            <a:pPr marL="25400">
              <a:lnSpc>
                <a:spcPct val="100000"/>
              </a:lnSpc>
              <a:spcBef>
                <a:spcPts val="434"/>
              </a:spcBef>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30" dirty="0">
                <a:latin typeface="LM Sans 10"/>
                <a:cs typeface="LM Sans 10"/>
              </a:rPr>
              <a:t> </a:t>
            </a:r>
            <a:r>
              <a:rPr sz="1100" spc="-5" dirty="0">
                <a:latin typeface="LM Sans 10"/>
                <a:cs typeface="LM Sans 10"/>
              </a:rPr>
              <a:t>only</a:t>
            </a:r>
            <a:r>
              <a:rPr sz="1100" spc="-30" dirty="0">
                <a:latin typeface="LM Sans 10"/>
                <a:cs typeface="LM Sans 10"/>
              </a:rPr>
              <a:t> </a:t>
            </a:r>
            <a:r>
              <a:rPr sz="1100" spc="-15" dirty="0">
                <a:latin typeface="LM Sans 10"/>
                <a:cs typeface="LM Sans 10"/>
              </a:rPr>
              <a:t>keeps</a:t>
            </a:r>
            <a:r>
              <a:rPr sz="1100" spc="-30" dirty="0">
                <a:latin typeface="LM Sans 10"/>
                <a:cs typeface="LM Sans 10"/>
              </a:rPr>
              <a:t> </a:t>
            </a:r>
            <a:r>
              <a:rPr sz="1100" spc="-5" dirty="0">
                <a:latin typeface="LM Sans 10"/>
                <a:cs typeface="LM Sans 10"/>
              </a:rPr>
              <a:t>costs</a:t>
            </a:r>
            <a:r>
              <a:rPr sz="1100" spc="-30" dirty="0">
                <a:latin typeface="LM Sans 10"/>
                <a:cs typeface="LM Sans 10"/>
              </a:rPr>
              <a:t> </a:t>
            </a:r>
            <a:r>
              <a:rPr sz="1100" spc="-5" dirty="0">
                <a:latin typeface="LM Sans 10"/>
                <a:cs typeface="LM Sans 10"/>
              </a:rPr>
              <a:t>but</a:t>
            </a:r>
            <a:r>
              <a:rPr sz="1100" spc="-30" dirty="0">
                <a:latin typeface="LM Sans 10"/>
                <a:cs typeface="LM Sans 10"/>
              </a:rPr>
              <a:t> </a:t>
            </a:r>
            <a:r>
              <a:rPr sz="1100" spc="-5" dirty="0">
                <a:latin typeface="LM Sans 10"/>
                <a:cs typeface="LM Sans 10"/>
              </a:rPr>
              <a:t>not</a:t>
            </a:r>
            <a:r>
              <a:rPr sz="1100" spc="-30" dirty="0">
                <a:latin typeface="LM Sans 10"/>
                <a:cs typeface="LM Sans 10"/>
              </a:rPr>
              <a:t> </a:t>
            </a:r>
            <a:r>
              <a:rPr sz="1100" spc="-5" dirty="0">
                <a:latin typeface="LM Sans 10"/>
                <a:cs typeface="LM Sans 10"/>
              </a:rPr>
              <a:t>actual</a:t>
            </a:r>
            <a:r>
              <a:rPr sz="1100" spc="-30" dirty="0">
                <a:latin typeface="LM Sans 10"/>
                <a:cs typeface="LM Sans 10"/>
              </a:rPr>
              <a:t> </a:t>
            </a:r>
            <a:r>
              <a:rPr sz="1100" spc="-5" dirty="0">
                <a:latin typeface="LM Sans 10"/>
                <a:cs typeface="LM Sans 10"/>
              </a:rPr>
              <a:t>multiplication</a:t>
            </a:r>
            <a:r>
              <a:rPr sz="1100" spc="-30" dirty="0">
                <a:latin typeface="LM Sans 10"/>
                <a:cs typeface="LM Sans 10"/>
              </a:rPr>
              <a:t> </a:t>
            </a:r>
            <a:r>
              <a:rPr sz="1100" spc="-5" dirty="0">
                <a:latin typeface="LM Sans 10"/>
                <a:cs typeface="LM Sans 10"/>
              </a:rPr>
              <a:t>sequence.</a:t>
            </a:r>
            <a:endParaRPr sz="1100">
              <a:latin typeface="LM Sans 10"/>
              <a:cs typeface="LM Sans 10"/>
            </a:endParaRPr>
          </a:p>
          <a:p>
            <a:pPr marL="25400" marR="41275">
              <a:lnSpc>
                <a:spcPct val="102600"/>
              </a:lnSpc>
              <a:spcBef>
                <a:spcPts val="300"/>
              </a:spcBef>
            </a:pPr>
            <a:r>
              <a:rPr sz="1100" spc="-55" dirty="0">
                <a:latin typeface="LM Sans 10"/>
                <a:cs typeface="LM Sans 10"/>
              </a:rPr>
              <a:t>To </a:t>
            </a:r>
            <a:r>
              <a:rPr sz="1100" spc="-5" dirty="0">
                <a:latin typeface="LM Sans 10"/>
                <a:cs typeface="LM Sans 10"/>
              </a:rPr>
              <a:t>solve </a:t>
            </a:r>
            <a:r>
              <a:rPr sz="1100" spc="-10" dirty="0">
                <a:latin typeface="LM Sans 10"/>
                <a:cs typeface="LM Sans 10"/>
              </a:rPr>
              <a:t>problem, </a:t>
            </a:r>
            <a:r>
              <a:rPr sz="1100" spc="-5" dirty="0">
                <a:latin typeface="LM Sans 10"/>
                <a:cs typeface="LM Sans 10"/>
              </a:rPr>
              <a:t>need to reconstruct multiplication sequence  that yields </a:t>
            </a:r>
            <a:r>
              <a:rPr sz="1100" i="1" spc="-5" dirty="0">
                <a:latin typeface="LM Sans 10"/>
                <a:cs typeface="LM Sans 10"/>
              </a:rPr>
              <a:t>m</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dirty="0">
                <a:latin typeface="LM Sans 10"/>
                <a:cs typeface="LM Sans 10"/>
              </a:rPr>
              <a:t>n</a:t>
            </a:r>
            <a:r>
              <a:rPr sz="1100" dirty="0">
                <a:latin typeface="LM Sans 10"/>
                <a:cs typeface="LM Sans 10"/>
              </a:rPr>
              <a:t>].</a:t>
            </a:r>
            <a:endParaRPr sz="1100">
              <a:latin typeface="LM Sans 10"/>
              <a:cs typeface="LM Sans 10"/>
            </a:endParaRPr>
          </a:p>
          <a:p>
            <a:pPr marL="25400" marR="17780">
              <a:lnSpc>
                <a:spcPct val="102699"/>
              </a:lnSpc>
              <a:spcBef>
                <a:spcPts val="295"/>
              </a:spcBef>
            </a:pPr>
            <a:r>
              <a:rPr sz="1100" spc="-5" dirty="0">
                <a:latin typeface="LM Sans 10"/>
                <a:cs typeface="LM Sans 10"/>
              </a:rPr>
              <a:t>Solution: </a:t>
            </a:r>
            <a:r>
              <a:rPr sz="1100" spc="-10" dirty="0">
                <a:latin typeface="LM Sans 10"/>
                <a:cs typeface="LM Sans 10"/>
              </a:rPr>
              <a:t>similar </a:t>
            </a:r>
            <a:r>
              <a:rPr sz="1100" spc="-5" dirty="0">
                <a:latin typeface="LM Sans 10"/>
                <a:cs typeface="LM Sans 10"/>
              </a:rPr>
              <a:t>to </a:t>
            </a:r>
            <a:r>
              <a:rPr sz="1100" spc="-10" dirty="0">
                <a:latin typeface="LM Sans 10"/>
                <a:cs typeface="LM Sans 10"/>
              </a:rPr>
              <a:t>previous DP algorithm(s) </a:t>
            </a:r>
            <a:r>
              <a:rPr sz="1100" spc="-15" dirty="0">
                <a:latin typeface="LM Sans 10"/>
                <a:cs typeface="LM Sans 10"/>
              </a:rPr>
              <a:t>keep </a:t>
            </a:r>
            <a:r>
              <a:rPr sz="1100" spc="-10" dirty="0">
                <a:latin typeface="LM Sans 10"/>
                <a:cs typeface="LM Sans 10"/>
              </a:rPr>
              <a:t>an auxillary  </a:t>
            </a:r>
            <a:r>
              <a:rPr sz="1100" spc="-20" dirty="0">
                <a:latin typeface="LM Sans 10"/>
                <a:cs typeface="LM Sans 10"/>
              </a:rPr>
              <a:t>array </a:t>
            </a:r>
            <a:r>
              <a:rPr sz="1100" i="1" spc="-55" dirty="0">
                <a:latin typeface="LM Sans 10"/>
                <a:cs typeface="LM Sans 10"/>
              </a:rPr>
              <a:t>s</a:t>
            </a:r>
            <a:r>
              <a:rPr sz="1100" spc="-55" dirty="0">
                <a:latin typeface="LM Sans 10"/>
                <a:cs typeface="LM Sans 10"/>
              </a:rPr>
              <a:t>[</a:t>
            </a:r>
            <a:r>
              <a:rPr sz="1100" i="1" spc="-55" dirty="0">
                <a:latin typeface="DejaVu Sans Condensed"/>
                <a:cs typeface="DejaVu Sans Condensed"/>
              </a:rPr>
              <a:t>∗</a:t>
            </a:r>
            <a:r>
              <a:rPr sz="1100" i="1" spc="-55" dirty="0">
                <a:latin typeface="LM Roman Dunhill 10"/>
                <a:cs typeface="LM Roman Dunhill 10"/>
              </a:rPr>
              <a:t>,</a:t>
            </a:r>
            <a:r>
              <a:rPr sz="1100" i="1" spc="-175" dirty="0">
                <a:latin typeface="LM Roman Dunhill 10"/>
                <a:cs typeface="LM Roman Dunhill 10"/>
              </a:rPr>
              <a:t> </a:t>
            </a:r>
            <a:r>
              <a:rPr sz="1100" i="1" spc="-100" dirty="0">
                <a:latin typeface="DejaVu Sans Condensed"/>
                <a:cs typeface="DejaVu Sans Condensed"/>
              </a:rPr>
              <a:t>∗</a:t>
            </a:r>
            <a:r>
              <a:rPr sz="1100" spc="-100" dirty="0">
                <a:latin typeface="LM Sans 10"/>
                <a:cs typeface="LM Sans 10"/>
              </a:rPr>
              <a:t>].</a:t>
            </a:r>
            <a:endParaRPr sz="1100">
              <a:latin typeface="LM Sans 10"/>
              <a:cs typeface="LM Sans 10"/>
            </a:endParaRPr>
          </a:p>
          <a:p>
            <a:pPr marL="25400">
              <a:lnSpc>
                <a:spcPct val="100000"/>
              </a:lnSpc>
              <a:spcBef>
                <a:spcPts val="335"/>
              </a:spcBef>
            </a:pP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5"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65" dirty="0">
                <a:latin typeface="LM Sans 10"/>
                <a:cs typeface="LM Sans 10"/>
              </a:rPr>
              <a:t> </a:t>
            </a:r>
            <a:r>
              <a:rPr sz="1100" i="1" spc="-10" dirty="0">
                <a:latin typeface="LM Sans 10"/>
                <a:cs typeface="LM Sans 10"/>
              </a:rPr>
              <a:t>k</a:t>
            </a:r>
            <a:r>
              <a:rPr sz="1100" i="1" spc="85" dirty="0">
                <a:latin typeface="LM Sans 10"/>
                <a:cs typeface="LM Sans 10"/>
              </a:rPr>
              <a:t> </a:t>
            </a:r>
            <a:r>
              <a:rPr sz="1100" spc="-5" dirty="0">
                <a:latin typeface="LM Sans 10"/>
                <a:cs typeface="LM Sans 10"/>
              </a:rPr>
              <a:t>where</a:t>
            </a:r>
            <a:r>
              <a:rPr sz="1100" spc="-10" dirty="0">
                <a:latin typeface="LM Sans 10"/>
                <a:cs typeface="LM Sans 10"/>
              </a:rPr>
              <a:t> </a:t>
            </a:r>
            <a:r>
              <a:rPr sz="1100" i="1" spc="-10" dirty="0">
                <a:latin typeface="LM Sans 10"/>
                <a:cs typeface="LM Sans 10"/>
              </a:rPr>
              <a:t>k</a:t>
            </a:r>
            <a:r>
              <a:rPr sz="1100" i="1" spc="85" dirty="0">
                <a:latin typeface="LM Sans 10"/>
                <a:cs typeface="LM Sans 10"/>
              </a:rPr>
              <a:t> </a:t>
            </a:r>
            <a:r>
              <a:rPr sz="1100" spc="-5" dirty="0">
                <a:latin typeface="LM Sans 10"/>
                <a:cs typeface="LM Sans 10"/>
              </a:rPr>
              <a:t>is the</a:t>
            </a:r>
            <a:r>
              <a:rPr sz="1100" spc="-10" dirty="0">
                <a:latin typeface="LM Sans 10"/>
                <a:cs typeface="LM Sans 10"/>
              </a:rPr>
              <a:t> </a:t>
            </a:r>
            <a:r>
              <a:rPr sz="1100" spc="-5" dirty="0">
                <a:latin typeface="LM Sans 10"/>
                <a:cs typeface="LM Sans 10"/>
              </a:rPr>
              <a:t>index that achieves </a:t>
            </a:r>
            <a:r>
              <a:rPr sz="1100" spc="-10" dirty="0">
                <a:latin typeface="LM Sans 10"/>
                <a:cs typeface="LM Sans 10"/>
              </a:rPr>
              <a:t>minimum </a:t>
            </a:r>
            <a:r>
              <a:rPr sz="1100" spc="-5" dirty="0">
                <a:latin typeface="LM Sans 10"/>
                <a:cs typeface="LM Sans 10"/>
              </a:rPr>
              <a:t>in</a:t>
            </a:r>
            <a:endParaRPr sz="1100">
              <a:latin typeface="LM Sans 10"/>
              <a:cs typeface="LM Sans 10"/>
            </a:endParaRPr>
          </a:p>
          <a:p>
            <a:pPr>
              <a:lnSpc>
                <a:spcPct val="100000"/>
              </a:lnSpc>
              <a:spcBef>
                <a:spcPts val="35"/>
              </a:spcBef>
            </a:pPr>
            <a:endParaRPr sz="750">
              <a:latin typeface="LM Sans 10"/>
              <a:cs typeface="LM Sans 10"/>
            </a:endParaRPr>
          </a:p>
          <a:p>
            <a:pPr marL="393065">
              <a:lnSpc>
                <a:spcPts val="1180"/>
              </a:lnSpc>
            </a:pPr>
            <a:r>
              <a:rPr sz="1100" i="1" spc="25" dirty="0">
                <a:latin typeface="LM Sans 10"/>
                <a:cs typeface="LM Sans 10"/>
              </a:rPr>
              <a:t>m</a:t>
            </a:r>
            <a:r>
              <a:rPr sz="1100" spc="25" dirty="0">
                <a:latin typeface="LM Sans 10"/>
                <a:cs typeface="LM Sans 10"/>
              </a:rPr>
              <a:t>[</a:t>
            </a:r>
            <a:r>
              <a:rPr sz="1100" i="1" spc="25" dirty="0">
                <a:latin typeface="LM Sans 10"/>
                <a:cs typeface="LM Sans 10"/>
              </a:rPr>
              <a:t>i</a:t>
            </a:r>
            <a:r>
              <a:rPr sz="1100" i="1" spc="2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65" dirty="0">
                <a:latin typeface="LM Sans 10"/>
                <a:cs typeface="LM Sans 10"/>
              </a:rPr>
              <a:t> </a:t>
            </a:r>
            <a:r>
              <a:rPr sz="1100" spc="-10" dirty="0">
                <a:latin typeface="LM Sans 10"/>
                <a:cs typeface="LM Sans 10"/>
              </a:rPr>
              <a:t>=</a:t>
            </a:r>
            <a:r>
              <a:rPr sz="1100" spc="-65" dirty="0">
                <a:latin typeface="LM Sans 10"/>
                <a:cs typeface="LM Sans 10"/>
              </a:rPr>
              <a:t> </a:t>
            </a:r>
            <a:r>
              <a:rPr sz="1200" i="1" spc="-7" baseline="-52083" dirty="0">
                <a:latin typeface="LM Sans 8"/>
                <a:cs typeface="LM Sans 8"/>
              </a:rPr>
              <a:t>i</a:t>
            </a:r>
            <a:r>
              <a:rPr sz="1200" i="1" spc="-217" baseline="-52083" dirty="0">
                <a:latin typeface="LM Sans 8"/>
                <a:cs typeface="LM Sans 8"/>
              </a:rPr>
              <a:t> </a:t>
            </a:r>
            <a:r>
              <a:rPr sz="1100" spc="-10" dirty="0">
                <a:latin typeface="LM Sans 10"/>
                <a:cs typeface="LM Sans 10"/>
              </a:rPr>
              <a:t>min</a:t>
            </a:r>
            <a:r>
              <a:rPr sz="1100" spc="155" dirty="0">
                <a:latin typeface="LM Sans 10"/>
                <a:cs typeface="LM Sans 10"/>
              </a:rPr>
              <a:t> </a:t>
            </a:r>
            <a:r>
              <a:rPr sz="1100" spc="15" dirty="0">
                <a:latin typeface="LM Sans 10"/>
                <a:cs typeface="LM Sans 10"/>
              </a:rPr>
              <a:t>(</a:t>
            </a:r>
            <a:r>
              <a:rPr sz="1100" i="1" spc="15" dirty="0">
                <a:latin typeface="LM Sans 10"/>
                <a:cs typeface="LM Sans 10"/>
              </a:rPr>
              <a:t>m</a:t>
            </a:r>
            <a:r>
              <a:rPr sz="1100" spc="15" dirty="0">
                <a:latin typeface="LM Sans 10"/>
                <a:cs typeface="LM Sans 10"/>
              </a:rPr>
              <a:t>[</a:t>
            </a:r>
            <a:r>
              <a:rPr sz="1100" i="1" spc="15" dirty="0">
                <a:latin typeface="LM Sans 10"/>
                <a:cs typeface="LM Sans 10"/>
              </a:rPr>
              <a:t>i</a:t>
            </a:r>
            <a:r>
              <a:rPr sz="1100" i="1" spc="15" dirty="0">
                <a:latin typeface="LM Roman Dunhill 10"/>
                <a:cs typeface="LM Roman Dunhill 10"/>
              </a:rPr>
              <a:t>,</a:t>
            </a:r>
            <a:r>
              <a:rPr sz="1100" i="1" spc="-190" dirty="0">
                <a:latin typeface="LM Roman Dunhill 10"/>
                <a:cs typeface="LM Roman Dunhill 10"/>
              </a:rPr>
              <a:t> </a:t>
            </a:r>
            <a:r>
              <a:rPr sz="1100" i="1" spc="40" dirty="0">
                <a:latin typeface="LM Sans 10"/>
                <a:cs typeface="LM Sans 10"/>
              </a:rPr>
              <a:t>k</a:t>
            </a:r>
            <a:r>
              <a:rPr sz="1100" spc="40" dirty="0">
                <a:latin typeface="LM Sans 10"/>
                <a:cs typeface="LM Sans 10"/>
              </a:rPr>
              <a:t>]</a:t>
            </a:r>
            <a:r>
              <a:rPr sz="1100" spc="-125" dirty="0">
                <a:latin typeface="LM Sans 10"/>
                <a:cs typeface="LM Sans 10"/>
              </a:rPr>
              <a:t> </a:t>
            </a:r>
            <a:r>
              <a:rPr sz="1100" spc="-10" dirty="0">
                <a:latin typeface="LM Sans 10"/>
                <a:cs typeface="LM Sans 10"/>
              </a:rPr>
              <a:t>+</a:t>
            </a:r>
            <a:r>
              <a:rPr sz="1100" spc="-125" dirty="0">
                <a:latin typeface="LM Sans 10"/>
                <a:cs typeface="LM Sans 10"/>
              </a:rPr>
              <a:t> </a:t>
            </a:r>
            <a:r>
              <a:rPr sz="1100" i="1" spc="-5" dirty="0">
                <a:latin typeface="LM Sans 10"/>
                <a:cs typeface="LM Sans 10"/>
              </a:rPr>
              <a:t>m</a:t>
            </a:r>
            <a:r>
              <a:rPr sz="1100" spc="-5" dirty="0">
                <a:latin typeface="LM Sans 10"/>
                <a:cs typeface="LM Sans 10"/>
              </a:rPr>
              <a:t>[</a:t>
            </a:r>
            <a:r>
              <a:rPr sz="1100" i="1" spc="-5" dirty="0">
                <a:latin typeface="LM Sans 10"/>
                <a:cs typeface="LM Sans 10"/>
              </a:rPr>
              <a:t>k</a:t>
            </a:r>
            <a:r>
              <a:rPr sz="1100" i="1" spc="-35" dirty="0">
                <a:latin typeface="LM Sans 10"/>
                <a:cs typeface="LM Sans 10"/>
              </a:rPr>
              <a:t> </a:t>
            </a:r>
            <a:r>
              <a:rPr sz="1100" spc="-10" dirty="0">
                <a:latin typeface="LM Sans 10"/>
                <a:cs typeface="LM Sans 10"/>
              </a:rPr>
              <a:t>+</a:t>
            </a:r>
            <a:r>
              <a:rPr sz="1100" spc="-125" dirty="0">
                <a:latin typeface="LM Sans 10"/>
                <a:cs typeface="LM Sans 10"/>
              </a:rPr>
              <a:t> </a:t>
            </a:r>
            <a:r>
              <a:rPr sz="1100" spc="-5" dirty="0">
                <a:latin typeface="LM Sans 10"/>
                <a:cs typeface="LM Sans 10"/>
              </a:rPr>
              <a:t>1</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r>
              <a:rPr sz="1100" spc="-130" dirty="0">
                <a:latin typeface="LM Sans 10"/>
                <a:cs typeface="LM Sans 10"/>
              </a:rPr>
              <a:t> </a:t>
            </a:r>
            <a:r>
              <a:rPr sz="1100" spc="-10" dirty="0">
                <a:latin typeface="LM Sans 10"/>
                <a:cs typeface="LM Sans 10"/>
              </a:rPr>
              <a:t>+</a:t>
            </a:r>
            <a:r>
              <a:rPr sz="1100" spc="-125" dirty="0">
                <a:latin typeface="LM Sans 10"/>
                <a:cs typeface="LM Sans 10"/>
              </a:rPr>
              <a:t> </a:t>
            </a:r>
            <a:r>
              <a:rPr sz="1100" i="1" spc="50" dirty="0">
                <a:latin typeface="LM Sans 10"/>
                <a:cs typeface="LM Sans 10"/>
              </a:rPr>
              <a:t>p</a:t>
            </a:r>
            <a:r>
              <a:rPr sz="1200" i="1" spc="75" baseline="-10416" dirty="0">
                <a:latin typeface="LM Sans 8"/>
                <a:cs typeface="LM Sans 8"/>
              </a:rPr>
              <a:t>i</a:t>
            </a:r>
            <a:r>
              <a:rPr sz="1200" i="1" spc="75" baseline="-10416" dirty="0">
                <a:latin typeface="Arial"/>
                <a:cs typeface="Arial"/>
              </a:rPr>
              <a:t>−</a:t>
            </a:r>
            <a:r>
              <a:rPr sz="1200" spc="75" baseline="-10416" dirty="0">
                <a:latin typeface="LM Sans 8"/>
                <a:cs typeface="LM Sans 8"/>
              </a:rPr>
              <a:t>1</a:t>
            </a:r>
            <a:r>
              <a:rPr sz="1100" i="1" spc="50" dirty="0">
                <a:latin typeface="LM Sans 10"/>
                <a:cs typeface="LM Sans 10"/>
              </a:rPr>
              <a:t>p</a:t>
            </a:r>
            <a:r>
              <a:rPr sz="1200" i="1" spc="75" baseline="-13888" dirty="0">
                <a:latin typeface="LM Sans 8"/>
                <a:cs typeface="LM Sans 8"/>
              </a:rPr>
              <a:t>k</a:t>
            </a:r>
            <a:r>
              <a:rPr sz="1200" i="1" spc="-254" baseline="-13888" dirty="0">
                <a:latin typeface="LM Sans 8"/>
                <a:cs typeface="LM Sans 8"/>
              </a:rPr>
              <a:t> </a:t>
            </a:r>
            <a:r>
              <a:rPr sz="1100" i="1" spc="-5" dirty="0">
                <a:latin typeface="LM Sans 10"/>
                <a:cs typeface="LM Sans 10"/>
              </a:rPr>
              <a:t>p</a:t>
            </a:r>
            <a:r>
              <a:rPr sz="1200" i="1" spc="-7" baseline="-10416" dirty="0">
                <a:latin typeface="LM Sans 8"/>
                <a:cs typeface="LM Sans 8"/>
              </a:rPr>
              <a:t>j</a:t>
            </a:r>
            <a:r>
              <a:rPr sz="1200" i="1" spc="-240" baseline="-10416" dirty="0">
                <a:latin typeface="LM Sans 8"/>
                <a:cs typeface="LM Sans 8"/>
              </a:rPr>
              <a:t> </a:t>
            </a:r>
            <a:r>
              <a:rPr sz="1100" spc="-5" dirty="0">
                <a:latin typeface="LM Sans 10"/>
                <a:cs typeface="LM Sans 10"/>
              </a:rPr>
              <a:t>)</a:t>
            </a:r>
            <a:r>
              <a:rPr sz="1100" spc="-185" dirty="0">
                <a:latin typeface="LM Sans 10"/>
                <a:cs typeface="LM Sans 10"/>
              </a:rPr>
              <a:t> </a:t>
            </a:r>
            <a:r>
              <a:rPr sz="1100" i="1" spc="-5" dirty="0">
                <a:latin typeface="LM Roman Dunhill 10"/>
                <a:cs typeface="LM Roman Dunhill 10"/>
              </a:rPr>
              <a:t>.</a:t>
            </a:r>
            <a:endParaRPr sz="1100">
              <a:latin typeface="LM Roman Dunhill 10"/>
              <a:cs typeface="LM Roman Dunhill 10"/>
            </a:endParaRPr>
          </a:p>
          <a:p>
            <a:pPr marL="963930">
              <a:lnSpc>
                <a:spcPts val="819"/>
              </a:lnSpc>
            </a:pPr>
            <a:r>
              <a:rPr sz="800" i="1" spc="65" dirty="0">
                <a:latin typeface="Arial"/>
                <a:cs typeface="Arial"/>
              </a:rPr>
              <a:t>≤</a:t>
            </a:r>
            <a:r>
              <a:rPr sz="800" i="1" spc="65" dirty="0">
                <a:latin typeface="LM Sans 8"/>
                <a:cs typeface="LM Sans 8"/>
              </a:rPr>
              <a:t>k&lt;j</a:t>
            </a:r>
            <a:endParaRPr sz="800">
              <a:latin typeface="LM Sans 8"/>
              <a:cs typeface="LM Sans 8"/>
            </a:endParaRPr>
          </a:p>
        </p:txBody>
      </p:sp>
      <p:sp>
        <p:nvSpPr>
          <p:cNvPr id="5" name="object 5"/>
          <p:cNvSpPr/>
          <p:nvPr/>
        </p:nvSpPr>
        <p:spPr>
          <a:xfrm>
            <a:off x="502551" y="1176629"/>
            <a:ext cx="65265" cy="6526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502551" y="1558734"/>
            <a:ext cx="65265" cy="6526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502551" y="1940839"/>
            <a:ext cx="65265" cy="65265"/>
          </a:xfrm>
          <a:prstGeom prst="rect">
            <a:avLst/>
          </a:prstGeom>
          <a:blipFill>
            <a:blip r:embed="rId4" cstate="print"/>
            <a:stretch>
              <a:fillRect/>
            </a:stretch>
          </a:blipFill>
        </p:spPr>
        <p:txBody>
          <a:bodyPr wrap="square" lIns="0" tIns="0" rIns="0" bIns="0" rtlCol="0"/>
          <a:lstStyle/>
          <a:p>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5" action="ppaction://hlinksldjump"/>
              </a:rPr>
              <a:t>Chain </a:t>
            </a:r>
            <a:r>
              <a:rPr sz="600" b="1" spc="-5" dirty="0">
                <a:solidFill>
                  <a:srgbClr val="FFFFFF"/>
                </a:solidFill>
                <a:latin typeface="LM Sans 10"/>
                <a:cs typeface="LM Sans 10"/>
                <a:hlinkClick r:id="rId5" action="ppaction://hlinksldjump"/>
              </a:rPr>
              <a:t>Matrix Multiplication</a:t>
            </a:r>
            <a:endParaRPr sz="600">
              <a:latin typeface="LM Sans 10"/>
              <a:cs typeface="LM Sans 10"/>
            </a:endParaRPr>
          </a:p>
        </p:txBody>
      </p:sp>
    </p:spTree>
  </p:cSld>
  <p:clrMapOvr>
    <a:masterClrMapping/>
  </p:clrMapOvr>
  <p:transition>
    <p:cu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3902888" cy="232756"/>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Developing </a:t>
            </a:r>
            <a:r>
              <a:rPr sz="1400" spc="10" dirty="0">
                <a:solidFill>
                  <a:srgbClr val="FFFFFF"/>
                </a:solidFill>
                <a:latin typeface="LM Sans 12"/>
                <a:cs typeface="LM Sans 12"/>
              </a:rPr>
              <a:t>a </a:t>
            </a:r>
            <a:r>
              <a:rPr sz="1400" spc="15" dirty="0">
                <a:solidFill>
                  <a:srgbClr val="FFFFFF"/>
                </a:solidFill>
                <a:latin typeface="LM Sans 12"/>
                <a:cs typeface="LM Sans 12"/>
              </a:rPr>
              <a:t>Dynamic Programming</a:t>
            </a:r>
            <a:r>
              <a:rPr sz="1400" spc="-60" dirty="0">
                <a:solidFill>
                  <a:srgbClr val="FFFFFF"/>
                </a:solidFill>
                <a:latin typeface="LM Sans 12"/>
                <a:cs typeface="LM Sans 12"/>
              </a:rPr>
              <a:t> </a:t>
            </a:r>
            <a:r>
              <a:rPr sz="1400" spc="10" dirty="0">
                <a:solidFill>
                  <a:srgbClr val="FFFFFF"/>
                </a:solidFill>
                <a:latin typeface="LM Sans 12"/>
                <a:cs typeface="LM Sans 12"/>
              </a:rPr>
              <a:t>Algorithm</a:t>
            </a:r>
            <a:endParaRPr sz="1400" dirty="0">
              <a:latin typeface="LM Sans 12"/>
              <a:cs typeface="LM Sans 12"/>
            </a:endParaRPr>
          </a:p>
        </p:txBody>
      </p:sp>
      <p:sp>
        <p:nvSpPr>
          <p:cNvPr id="3" name="object 3"/>
          <p:cNvSpPr txBox="1"/>
          <p:nvPr/>
        </p:nvSpPr>
        <p:spPr>
          <a:xfrm>
            <a:off x="1148054" y="586346"/>
            <a:ext cx="2312035"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4: </a:t>
            </a:r>
            <a:r>
              <a:rPr sz="1100" spc="-10" dirty="0">
                <a:latin typeface="LM Sans 10"/>
                <a:cs typeface="LM Sans 10"/>
              </a:rPr>
              <a:t>Constructing </a:t>
            </a:r>
            <a:r>
              <a:rPr sz="1100" spc="-5" dirty="0">
                <a:latin typeface="LM Sans 10"/>
                <a:cs typeface="LM Sans 10"/>
              </a:rPr>
              <a:t>optimal</a:t>
            </a:r>
            <a:r>
              <a:rPr sz="1100" spc="65" dirty="0">
                <a:latin typeface="LM Sans 10"/>
                <a:cs typeface="LM Sans 10"/>
              </a:rPr>
              <a:t> </a:t>
            </a:r>
            <a:r>
              <a:rPr sz="1100" spc="-5" dirty="0">
                <a:latin typeface="LM Sans 10"/>
                <a:cs typeface="LM Sans 10"/>
              </a:rPr>
              <a:t>solution</a:t>
            </a:r>
            <a:endParaRPr sz="1100">
              <a:latin typeface="LM Sans 10"/>
              <a:cs typeface="LM Sans 10"/>
            </a:endParaRPr>
          </a:p>
        </p:txBody>
      </p:sp>
      <p:sp>
        <p:nvSpPr>
          <p:cNvPr id="4" name="object 4"/>
          <p:cNvSpPr txBox="1"/>
          <p:nvPr/>
        </p:nvSpPr>
        <p:spPr>
          <a:xfrm>
            <a:off x="321894" y="893177"/>
            <a:ext cx="3945890" cy="363855"/>
          </a:xfrm>
          <a:prstGeom prst="rect">
            <a:avLst/>
          </a:prstGeom>
        </p:spPr>
        <p:txBody>
          <a:bodyPr vert="horz" wrap="square" lIns="0" tIns="6985" rIns="0" bIns="0" rtlCol="0">
            <a:spAutoFit/>
          </a:bodyPr>
          <a:lstStyle/>
          <a:p>
            <a:pPr marL="38100" marR="30480">
              <a:lnSpc>
                <a:spcPct val="102600"/>
              </a:lnSpc>
              <a:spcBef>
                <a:spcPts val="55"/>
              </a:spcBef>
            </a:pPr>
            <a:r>
              <a:rPr sz="1100" spc="-5" dirty="0">
                <a:solidFill>
                  <a:srgbClr val="FF0000"/>
                </a:solidFill>
                <a:latin typeface="LM Sans 10"/>
                <a:cs typeface="LM Sans 10"/>
              </a:rPr>
              <a:t>Idea</a:t>
            </a:r>
            <a:r>
              <a:rPr sz="1100" spc="-5" dirty="0">
                <a:latin typeface="LM Sans 10"/>
                <a:cs typeface="LM Sans 10"/>
              </a:rPr>
              <a:t>:</a:t>
            </a:r>
            <a:r>
              <a:rPr sz="1100" spc="114" dirty="0">
                <a:latin typeface="LM Sans 10"/>
                <a:cs typeface="LM Sans 10"/>
              </a:rPr>
              <a:t> </a:t>
            </a:r>
            <a:r>
              <a:rPr sz="1100" spc="-5" dirty="0">
                <a:latin typeface="LM Sans 10"/>
                <a:cs typeface="LM Sans 10"/>
              </a:rPr>
              <a:t>Maintain </a:t>
            </a:r>
            <a:r>
              <a:rPr sz="1100" spc="-10" dirty="0">
                <a:latin typeface="LM Sans 10"/>
                <a:cs typeface="LM Sans 10"/>
              </a:rPr>
              <a:t>an</a:t>
            </a:r>
            <a:r>
              <a:rPr sz="1100" spc="-5" dirty="0">
                <a:latin typeface="LM Sans 10"/>
                <a:cs typeface="LM Sans 10"/>
              </a:rPr>
              <a:t> </a:t>
            </a:r>
            <a:r>
              <a:rPr sz="1100" spc="-20" dirty="0">
                <a:latin typeface="LM Sans 10"/>
                <a:cs typeface="LM Sans 10"/>
              </a:rPr>
              <a:t>array</a:t>
            </a:r>
            <a:r>
              <a:rPr sz="1100" dirty="0">
                <a:latin typeface="LM Sans 10"/>
                <a:cs typeface="LM Sans 10"/>
              </a:rPr>
              <a:t> </a:t>
            </a:r>
            <a:r>
              <a:rPr sz="1100" i="1" spc="10" dirty="0">
                <a:latin typeface="LM Sans 10"/>
                <a:cs typeface="LM Sans 10"/>
              </a:rPr>
              <a:t>s</a:t>
            </a:r>
            <a:r>
              <a:rPr sz="1100" spc="10" dirty="0">
                <a:latin typeface="LM Sans 10"/>
                <a:cs typeface="LM Sans 10"/>
              </a:rPr>
              <a:t>[1</a:t>
            </a:r>
            <a:r>
              <a:rPr sz="1100" i="1" spc="10" dirty="0">
                <a:latin typeface="LM Roman Dunhill 10"/>
                <a:cs typeface="LM Roman Dunhill 10"/>
              </a:rPr>
              <a:t>..</a:t>
            </a:r>
            <a:r>
              <a:rPr sz="1100" i="1" spc="10" dirty="0">
                <a:latin typeface="LM Sans 10"/>
                <a:cs typeface="LM Sans 10"/>
              </a:rPr>
              <a:t>n</a:t>
            </a:r>
            <a:r>
              <a:rPr sz="1100" i="1" spc="10"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i="1" spc="-5" dirty="0">
                <a:latin typeface="LM Sans 10"/>
                <a:cs typeface="LM Sans 10"/>
              </a:rPr>
              <a:t>n</a:t>
            </a:r>
            <a:r>
              <a:rPr sz="1100" spc="-5" dirty="0">
                <a:latin typeface="LM Sans 10"/>
                <a:cs typeface="LM Sans 10"/>
              </a:rPr>
              <a:t>], where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 denotes </a:t>
            </a:r>
            <a:r>
              <a:rPr sz="1100" i="1" spc="-10" dirty="0">
                <a:latin typeface="LM Sans 10"/>
                <a:cs typeface="LM Sans 10"/>
              </a:rPr>
              <a:t>k</a:t>
            </a:r>
            <a:r>
              <a:rPr sz="1100" i="1" spc="85" dirty="0">
                <a:latin typeface="LM Sans 10"/>
                <a:cs typeface="LM Sans 10"/>
              </a:rPr>
              <a:t> </a:t>
            </a:r>
            <a:r>
              <a:rPr sz="1100" spc="-15" dirty="0">
                <a:latin typeface="LM Sans 10"/>
                <a:cs typeface="LM Sans 10"/>
              </a:rPr>
              <a:t>for</a:t>
            </a:r>
            <a:r>
              <a:rPr sz="1100" spc="-5" dirty="0">
                <a:latin typeface="LM Sans 10"/>
                <a:cs typeface="LM Sans 10"/>
              </a:rPr>
              <a:t> </a:t>
            </a:r>
            <a:r>
              <a:rPr sz="1100" spc="-10" dirty="0">
                <a:latin typeface="LM Sans 10"/>
                <a:cs typeface="LM Sans 10"/>
              </a:rPr>
              <a:t>the  </a:t>
            </a:r>
            <a:r>
              <a:rPr sz="1100" spc="-5" dirty="0">
                <a:latin typeface="LM Sans 10"/>
                <a:cs typeface="LM Sans 10"/>
              </a:rPr>
              <a:t>optimal</a:t>
            </a:r>
            <a:r>
              <a:rPr sz="1100" spc="-10" dirty="0">
                <a:latin typeface="LM Sans 10"/>
                <a:cs typeface="LM Sans 10"/>
              </a:rPr>
              <a:t> </a:t>
            </a:r>
            <a:r>
              <a:rPr sz="1100" spc="-5" dirty="0">
                <a:latin typeface="LM Sans 10"/>
                <a:cs typeface="LM Sans 10"/>
              </a:rPr>
              <a:t>splitting in computing </a:t>
            </a:r>
            <a:r>
              <a:rPr sz="1100" i="1" spc="10" dirty="0">
                <a:latin typeface="LM Sans 10"/>
                <a:cs typeface="LM Sans 10"/>
              </a:rPr>
              <a:t>A</a:t>
            </a:r>
            <a:r>
              <a:rPr sz="1200" i="1" spc="15" baseline="-10416" dirty="0">
                <a:latin typeface="LM Sans 8"/>
                <a:cs typeface="LM Sans 8"/>
              </a:rPr>
              <a:t>i..j</a:t>
            </a:r>
            <a:r>
              <a:rPr sz="1200" i="1" spc="217" baseline="-10416" dirty="0">
                <a:latin typeface="LM Sans 8"/>
                <a:cs typeface="LM Sans 8"/>
              </a:rPr>
              <a:t> </a:t>
            </a:r>
            <a:r>
              <a:rPr sz="1100" spc="-10" dirty="0">
                <a:latin typeface="LM Sans 10"/>
                <a:cs typeface="LM Sans 10"/>
              </a:rPr>
              <a:t>=</a:t>
            </a:r>
            <a:r>
              <a:rPr sz="1100" spc="-70" dirty="0">
                <a:latin typeface="LM Sans 10"/>
                <a:cs typeface="LM Sans 10"/>
              </a:rPr>
              <a:t> </a:t>
            </a:r>
            <a:r>
              <a:rPr sz="1100" i="1" spc="10" dirty="0">
                <a:latin typeface="LM Sans 10"/>
                <a:cs typeface="LM Sans 10"/>
              </a:rPr>
              <a:t>A</a:t>
            </a:r>
            <a:r>
              <a:rPr sz="1200" i="1" spc="15" baseline="-13888" dirty="0">
                <a:latin typeface="LM Sans 8"/>
                <a:cs typeface="LM Sans 8"/>
              </a:rPr>
              <a:t>i..k</a:t>
            </a:r>
            <a:r>
              <a:rPr sz="1200" i="1" spc="-254" baseline="-13888" dirty="0">
                <a:latin typeface="LM Sans 8"/>
                <a:cs typeface="LM Sans 8"/>
              </a:rPr>
              <a:t>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40" baseline="-13888" dirty="0">
                <a:latin typeface="LM Sans 8"/>
                <a:cs typeface="LM Sans 8"/>
              </a:rPr>
              <a:t> </a:t>
            </a:r>
            <a:r>
              <a:rPr sz="1100" spc="-5" dirty="0">
                <a:latin typeface="LM Sans 10"/>
                <a:cs typeface="LM Sans 10"/>
              </a:rPr>
              <a:t>.</a:t>
            </a:r>
            <a:endParaRPr sz="1100">
              <a:latin typeface="LM Sans 10"/>
              <a:cs typeface="LM Sans 10"/>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1" name="object 1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25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92486"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148054" y="586346"/>
            <a:ext cx="2312035"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4: </a:t>
            </a:r>
            <a:r>
              <a:rPr sz="1100" spc="-10" dirty="0">
                <a:latin typeface="LM Sans 10"/>
                <a:cs typeface="LM Sans 10"/>
              </a:rPr>
              <a:t>Constructing </a:t>
            </a:r>
            <a:r>
              <a:rPr sz="1100" spc="-5" dirty="0">
                <a:latin typeface="LM Sans 10"/>
                <a:cs typeface="LM Sans 10"/>
              </a:rPr>
              <a:t>optimal</a:t>
            </a:r>
            <a:r>
              <a:rPr sz="1100" spc="65" dirty="0">
                <a:latin typeface="LM Sans 10"/>
                <a:cs typeface="LM Sans 10"/>
              </a:rPr>
              <a:t> </a:t>
            </a:r>
            <a:r>
              <a:rPr sz="1100" spc="-5" dirty="0">
                <a:latin typeface="LM Sans 10"/>
                <a:cs typeface="LM Sans 10"/>
              </a:rPr>
              <a:t>solution</a:t>
            </a:r>
            <a:endParaRPr sz="1100">
              <a:latin typeface="LM Sans 10"/>
              <a:cs typeface="LM Sans 10"/>
            </a:endParaRPr>
          </a:p>
        </p:txBody>
      </p:sp>
      <p:grpSp>
        <p:nvGrpSpPr>
          <p:cNvPr id="4" name="object 4"/>
          <p:cNvGrpSpPr/>
          <p:nvPr/>
        </p:nvGrpSpPr>
        <p:grpSpPr>
          <a:xfrm>
            <a:off x="309193" y="1360017"/>
            <a:ext cx="4040504" cy="469900"/>
            <a:chOff x="309193" y="1360017"/>
            <a:chExt cx="4040504" cy="469900"/>
          </a:xfrm>
        </p:grpSpPr>
        <p:sp>
          <p:nvSpPr>
            <p:cNvPr id="5" name="object 5"/>
            <p:cNvSpPr/>
            <p:nvPr/>
          </p:nvSpPr>
          <p:spPr>
            <a:xfrm>
              <a:off x="309193" y="1360017"/>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525968"/>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727720"/>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715020"/>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404251"/>
              <a:ext cx="50749" cy="323469"/>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570242"/>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442350"/>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429650"/>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416949"/>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404249"/>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5" name="object 15"/>
          <p:cNvSpPr txBox="1"/>
          <p:nvPr/>
        </p:nvSpPr>
        <p:spPr>
          <a:xfrm>
            <a:off x="309194" y="893177"/>
            <a:ext cx="3971290" cy="847090"/>
          </a:xfrm>
          <a:prstGeom prst="rect">
            <a:avLst/>
          </a:prstGeom>
        </p:spPr>
        <p:txBody>
          <a:bodyPr vert="horz" wrap="square" lIns="0" tIns="6985" rIns="0" bIns="0" rtlCol="0">
            <a:spAutoFit/>
          </a:bodyPr>
          <a:lstStyle/>
          <a:p>
            <a:pPr marL="50800" marR="43180">
              <a:lnSpc>
                <a:spcPct val="102600"/>
              </a:lnSpc>
              <a:spcBef>
                <a:spcPts val="55"/>
              </a:spcBef>
            </a:pPr>
            <a:r>
              <a:rPr sz="1100" spc="-5" dirty="0">
                <a:solidFill>
                  <a:srgbClr val="FF0000"/>
                </a:solidFill>
                <a:latin typeface="LM Sans 10"/>
                <a:cs typeface="LM Sans 10"/>
              </a:rPr>
              <a:t>Idea</a:t>
            </a:r>
            <a:r>
              <a:rPr sz="1100" spc="-5" dirty="0">
                <a:latin typeface="LM Sans 10"/>
                <a:cs typeface="LM Sans 10"/>
              </a:rPr>
              <a:t>:</a:t>
            </a:r>
            <a:r>
              <a:rPr sz="1100" spc="114" dirty="0">
                <a:latin typeface="LM Sans 10"/>
                <a:cs typeface="LM Sans 10"/>
              </a:rPr>
              <a:t> </a:t>
            </a:r>
            <a:r>
              <a:rPr sz="1100" spc="-5" dirty="0">
                <a:latin typeface="LM Sans 10"/>
                <a:cs typeface="LM Sans 10"/>
              </a:rPr>
              <a:t>Maintain </a:t>
            </a:r>
            <a:r>
              <a:rPr sz="1100" spc="-10" dirty="0">
                <a:latin typeface="LM Sans 10"/>
                <a:cs typeface="LM Sans 10"/>
              </a:rPr>
              <a:t>an</a:t>
            </a:r>
            <a:r>
              <a:rPr sz="1100" spc="-5" dirty="0">
                <a:latin typeface="LM Sans 10"/>
                <a:cs typeface="LM Sans 10"/>
              </a:rPr>
              <a:t> </a:t>
            </a:r>
            <a:r>
              <a:rPr sz="1100" spc="-20" dirty="0">
                <a:latin typeface="LM Sans 10"/>
                <a:cs typeface="LM Sans 10"/>
              </a:rPr>
              <a:t>array</a:t>
            </a:r>
            <a:r>
              <a:rPr sz="1100" dirty="0">
                <a:latin typeface="LM Sans 10"/>
                <a:cs typeface="LM Sans 10"/>
              </a:rPr>
              <a:t> </a:t>
            </a:r>
            <a:r>
              <a:rPr sz="1100" i="1" spc="10" dirty="0">
                <a:latin typeface="LM Sans 10"/>
                <a:cs typeface="LM Sans 10"/>
              </a:rPr>
              <a:t>s</a:t>
            </a:r>
            <a:r>
              <a:rPr sz="1100" spc="10" dirty="0">
                <a:latin typeface="LM Sans 10"/>
                <a:cs typeface="LM Sans 10"/>
              </a:rPr>
              <a:t>[1</a:t>
            </a:r>
            <a:r>
              <a:rPr sz="1100" i="1" spc="10" dirty="0">
                <a:latin typeface="LM Roman Dunhill 10"/>
                <a:cs typeface="LM Roman Dunhill 10"/>
              </a:rPr>
              <a:t>..</a:t>
            </a:r>
            <a:r>
              <a:rPr sz="1100" i="1" spc="10" dirty="0">
                <a:latin typeface="LM Sans 10"/>
                <a:cs typeface="LM Sans 10"/>
              </a:rPr>
              <a:t>n</a:t>
            </a:r>
            <a:r>
              <a:rPr sz="1100" i="1" spc="10"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i="1" spc="-5" dirty="0">
                <a:latin typeface="LM Sans 10"/>
                <a:cs typeface="LM Sans 10"/>
              </a:rPr>
              <a:t>n</a:t>
            </a:r>
            <a:r>
              <a:rPr sz="1100" spc="-5" dirty="0">
                <a:latin typeface="LM Sans 10"/>
                <a:cs typeface="LM Sans 10"/>
              </a:rPr>
              <a:t>], where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 denotes </a:t>
            </a:r>
            <a:r>
              <a:rPr sz="1100" i="1" spc="-10" dirty="0">
                <a:latin typeface="LM Sans 10"/>
                <a:cs typeface="LM Sans 10"/>
              </a:rPr>
              <a:t>k</a:t>
            </a:r>
            <a:r>
              <a:rPr sz="1100" i="1" spc="85" dirty="0">
                <a:latin typeface="LM Sans 10"/>
                <a:cs typeface="LM Sans 10"/>
              </a:rPr>
              <a:t> </a:t>
            </a:r>
            <a:r>
              <a:rPr sz="1100" spc="-15" dirty="0">
                <a:latin typeface="LM Sans 10"/>
                <a:cs typeface="LM Sans 10"/>
              </a:rPr>
              <a:t>for</a:t>
            </a:r>
            <a:r>
              <a:rPr sz="1100" spc="-5" dirty="0">
                <a:latin typeface="LM Sans 10"/>
                <a:cs typeface="LM Sans 10"/>
              </a:rPr>
              <a:t> </a:t>
            </a:r>
            <a:r>
              <a:rPr sz="1100" spc="-10" dirty="0">
                <a:latin typeface="LM Sans 10"/>
                <a:cs typeface="LM Sans 10"/>
              </a:rPr>
              <a:t>the  </a:t>
            </a:r>
            <a:r>
              <a:rPr sz="1100" spc="-5" dirty="0">
                <a:latin typeface="LM Sans 10"/>
                <a:cs typeface="LM Sans 10"/>
              </a:rPr>
              <a:t>optimal</a:t>
            </a:r>
            <a:r>
              <a:rPr sz="1100" spc="-10" dirty="0">
                <a:latin typeface="LM Sans 10"/>
                <a:cs typeface="LM Sans 10"/>
              </a:rPr>
              <a:t> </a:t>
            </a:r>
            <a:r>
              <a:rPr sz="1100" spc="-5" dirty="0">
                <a:latin typeface="LM Sans 10"/>
                <a:cs typeface="LM Sans 10"/>
              </a:rPr>
              <a:t>splitting in computing </a:t>
            </a:r>
            <a:r>
              <a:rPr sz="1100" i="1" spc="10" dirty="0">
                <a:latin typeface="LM Sans 10"/>
                <a:cs typeface="LM Sans 10"/>
              </a:rPr>
              <a:t>A</a:t>
            </a:r>
            <a:r>
              <a:rPr sz="1200" i="1" spc="15" baseline="-10416" dirty="0">
                <a:latin typeface="LM Sans 8"/>
                <a:cs typeface="LM Sans 8"/>
              </a:rPr>
              <a:t>i..j</a:t>
            </a:r>
            <a:r>
              <a:rPr sz="1200" i="1" spc="217" baseline="-10416" dirty="0">
                <a:latin typeface="LM Sans 8"/>
                <a:cs typeface="LM Sans 8"/>
              </a:rPr>
              <a:t> </a:t>
            </a:r>
            <a:r>
              <a:rPr sz="1100" spc="-10" dirty="0">
                <a:latin typeface="LM Sans 10"/>
                <a:cs typeface="LM Sans 10"/>
              </a:rPr>
              <a:t>=</a:t>
            </a:r>
            <a:r>
              <a:rPr sz="1100" spc="-70" dirty="0">
                <a:latin typeface="LM Sans 10"/>
                <a:cs typeface="LM Sans 10"/>
              </a:rPr>
              <a:t> </a:t>
            </a:r>
            <a:r>
              <a:rPr sz="1100" i="1" spc="10" dirty="0">
                <a:latin typeface="LM Sans 10"/>
                <a:cs typeface="LM Sans 10"/>
              </a:rPr>
              <a:t>A</a:t>
            </a:r>
            <a:r>
              <a:rPr sz="1200" i="1" spc="15" baseline="-13888" dirty="0">
                <a:latin typeface="LM Sans 8"/>
                <a:cs typeface="LM Sans 8"/>
              </a:rPr>
              <a:t>i..k</a:t>
            </a:r>
            <a:r>
              <a:rPr sz="1200" i="1" spc="-254" baseline="-13888" dirty="0">
                <a:latin typeface="LM Sans 8"/>
                <a:cs typeface="LM Sans 8"/>
              </a:rPr>
              <a:t>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40" baseline="-13888" dirty="0">
                <a:latin typeface="LM Sans 8"/>
                <a:cs typeface="LM Sans 8"/>
              </a:rPr>
              <a:t> </a:t>
            </a:r>
            <a:r>
              <a:rPr sz="1100" spc="-5" dirty="0">
                <a:latin typeface="LM Sans 10"/>
                <a:cs typeface="LM Sans 10"/>
              </a:rPr>
              <a:t>.</a:t>
            </a:r>
            <a:endParaRPr sz="1100">
              <a:latin typeface="LM Sans 10"/>
              <a:cs typeface="LM Sans 10"/>
            </a:endParaRPr>
          </a:p>
          <a:p>
            <a:pPr marL="50800">
              <a:lnSpc>
                <a:spcPct val="100000"/>
              </a:lnSpc>
              <a:spcBef>
                <a:spcPts val="870"/>
              </a:spcBef>
            </a:pPr>
            <a:r>
              <a:rPr sz="1100" spc="-5" dirty="0">
                <a:solidFill>
                  <a:srgbClr val="FFFFFF"/>
                </a:solidFill>
                <a:latin typeface="LM Sans 10"/>
                <a:cs typeface="LM Sans 10"/>
              </a:rPr>
              <a:t>Question</a:t>
            </a:r>
            <a:endParaRPr sz="1100">
              <a:latin typeface="LM Sans 10"/>
              <a:cs typeface="LM Sans 10"/>
            </a:endParaRPr>
          </a:p>
          <a:p>
            <a:pPr marL="50800">
              <a:lnSpc>
                <a:spcPct val="100000"/>
              </a:lnSpc>
              <a:spcBef>
                <a:spcPts val="295"/>
              </a:spcBef>
            </a:pPr>
            <a:r>
              <a:rPr sz="1100" spc="-20" dirty="0">
                <a:latin typeface="LM Sans 10"/>
                <a:cs typeface="LM Sans 10"/>
              </a:rPr>
              <a:t>How</a:t>
            </a:r>
            <a:r>
              <a:rPr sz="1100" spc="-10" dirty="0">
                <a:latin typeface="LM Sans 10"/>
                <a:cs typeface="LM Sans 10"/>
              </a:rPr>
              <a:t> </a:t>
            </a:r>
            <a:r>
              <a:rPr sz="1100" spc="-5" dirty="0">
                <a:latin typeface="LM Sans 10"/>
                <a:cs typeface="LM Sans 10"/>
              </a:rPr>
              <a:t>to</a:t>
            </a:r>
            <a:r>
              <a:rPr sz="1100" spc="-10" dirty="0">
                <a:latin typeface="LM Sans 10"/>
                <a:cs typeface="LM Sans 10"/>
              </a:rPr>
              <a:t> </a:t>
            </a:r>
            <a:r>
              <a:rPr sz="1100" spc="-5" dirty="0">
                <a:latin typeface="LM Sans 10"/>
                <a:cs typeface="LM Sans 10"/>
              </a:rPr>
              <a:t>Recover the</a:t>
            </a:r>
            <a:r>
              <a:rPr sz="1100" spc="-10" dirty="0">
                <a:latin typeface="LM Sans 10"/>
                <a:cs typeface="LM Sans 10"/>
              </a:rPr>
              <a:t> </a:t>
            </a:r>
            <a:r>
              <a:rPr sz="1100" spc="-5" dirty="0">
                <a:latin typeface="LM Sans 10"/>
                <a:cs typeface="LM Sans 10"/>
              </a:rPr>
              <a:t>Multiplication Sequence</a:t>
            </a:r>
            <a:r>
              <a:rPr sz="1100" spc="-10" dirty="0">
                <a:latin typeface="LM Sans 10"/>
                <a:cs typeface="LM Sans 10"/>
              </a:rPr>
              <a:t> </a:t>
            </a:r>
            <a:r>
              <a:rPr sz="1100" spc="-5" dirty="0">
                <a:latin typeface="LM Sans 10"/>
                <a:cs typeface="LM Sans 10"/>
              </a:rPr>
              <a:t>using</a:t>
            </a:r>
            <a:r>
              <a:rPr sz="1100" dirty="0">
                <a:latin typeface="LM Sans 10"/>
                <a:cs typeface="LM Sans 10"/>
              </a:rPr>
              <a:t>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endParaRPr sz="1100">
              <a:latin typeface="LM Sans 10"/>
              <a:cs typeface="LM Sans 10"/>
            </a:endParaRPr>
          </a:p>
        </p:txBody>
      </p:sp>
      <p:grpSp>
        <p:nvGrpSpPr>
          <p:cNvPr id="16" name="object 16"/>
          <p:cNvGrpSpPr/>
          <p:nvPr/>
        </p:nvGrpSpPr>
        <p:grpSpPr>
          <a:xfrm>
            <a:off x="0" y="3342919"/>
            <a:ext cx="4608195" cy="113664"/>
            <a:chOff x="0" y="3342919"/>
            <a:chExt cx="4608195" cy="113664"/>
          </a:xfrm>
        </p:grpSpPr>
        <p:sp>
          <p:nvSpPr>
            <p:cNvPr id="17" name="object 1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8" name="object 1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9" name="object 1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1" name="object 2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2" name="object 2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25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4106583"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148054" y="586346"/>
            <a:ext cx="2312035"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4: </a:t>
            </a:r>
            <a:r>
              <a:rPr sz="1100" spc="-10" dirty="0">
                <a:latin typeface="LM Sans 10"/>
                <a:cs typeface="LM Sans 10"/>
              </a:rPr>
              <a:t>Constructing </a:t>
            </a:r>
            <a:r>
              <a:rPr sz="1100" spc="-5" dirty="0">
                <a:latin typeface="LM Sans 10"/>
                <a:cs typeface="LM Sans 10"/>
              </a:rPr>
              <a:t>optimal</a:t>
            </a:r>
            <a:r>
              <a:rPr sz="1100" spc="65" dirty="0">
                <a:latin typeface="LM Sans 10"/>
                <a:cs typeface="LM Sans 10"/>
              </a:rPr>
              <a:t> </a:t>
            </a:r>
            <a:r>
              <a:rPr sz="1100" spc="-5" dirty="0">
                <a:latin typeface="LM Sans 10"/>
                <a:cs typeface="LM Sans 10"/>
              </a:rPr>
              <a:t>solution</a:t>
            </a:r>
            <a:endParaRPr sz="1100">
              <a:latin typeface="LM Sans 10"/>
              <a:cs typeface="LM Sans 10"/>
            </a:endParaRPr>
          </a:p>
        </p:txBody>
      </p:sp>
      <p:grpSp>
        <p:nvGrpSpPr>
          <p:cNvPr id="4" name="object 4"/>
          <p:cNvGrpSpPr/>
          <p:nvPr/>
        </p:nvGrpSpPr>
        <p:grpSpPr>
          <a:xfrm>
            <a:off x="309193" y="1360017"/>
            <a:ext cx="4040504" cy="469900"/>
            <a:chOff x="309193" y="1360017"/>
            <a:chExt cx="4040504" cy="469900"/>
          </a:xfrm>
        </p:grpSpPr>
        <p:sp>
          <p:nvSpPr>
            <p:cNvPr id="5" name="object 5"/>
            <p:cNvSpPr/>
            <p:nvPr/>
          </p:nvSpPr>
          <p:spPr>
            <a:xfrm>
              <a:off x="309193" y="1360017"/>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525968"/>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727720"/>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715020"/>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404251"/>
              <a:ext cx="50749" cy="323469"/>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570242"/>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442350"/>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429650"/>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416949"/>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404249"/>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5" name="object 15"/>
          <p:cNvSpPr txBox="1"/>
          <p:nvPr/>
        </p:nvSpPr>
        <p:spPr>
          <a:xfrm>
            <a:off x="309194" y="893177"/>
            <a:ext cx="3971290" cy="847090"/>
          </a:xfrm>
          <a:prstGeom prst="rect">
            <a:avLst/>
          </a:prstGeom>
        </p:spPr>
        <p:txBody>
          <a:bodyPr vert="horz" wrap="square" lIns="0" tIns="6985" rIns="0" bIns="0" rtlCol="0">
            <a:spAutoFit/>
          </a:bodyPr>
          <a:lstStyle/>
          <a:p>
            <a:pPr marL="50800" marR="43180">
              <a:lnSpc>
                <a:spcPct val="102600"/>
              </a:lnSpc>
              <a:spcBef>
                <a:spcPts val="55"/>
              </a:spcBef>
            </a:pPr>
            <a:r>
              <a:rPr sz="1100" spc="-5" dirty="0">
                <a:solidFill>
                  <a:srgbClr val="FF0000"/>
                </a:solidFill>
                <a:latin typeface="LM Sans 10"/>
                <a:cs typeface="LM Sans 10"/>
              </a:rPr>
              <a:t>Idea</a:t>
            </a:r>
            <a:r>
              <a:rPr sz="1100" spc="-5" dirty="0">
                <a:latin typeface="LM Sans 10"/>
                <a:cs typeface="LM Sans 10"/>
              </a:rPr>
              <a:t>:</a:t>
            </a:r>
            <a:r>
              <a:rPr sz="1100" spc="114" dirty="0">
                <a:latin typeface="LM Sans 10"/>
                <a:cs typeface="LM Sans 10"/>
              </a:rPr>
              <a:t> </a:t>
            </a:r>
            <a:r>
              <a:rPr sz="1100" spc="-5" dirty="0">
                <a:latin typeface="LM Sans 10"/>
                <a:cs typeface="LM Sans 10"/>
              </a:rPr>
              <a:t>Maintain </a:t>
            </a:r>
            <a:r>
              <a:rPr sz="1100" spc="-10" dirty="0">
                <a:latin typeface="LM Sans 10"/>
                <a:cs typeface="LM Sans 10"/>
              </a:rPr>
              <a:t>an</a:t>
            </a:r>
            <a:r>
              <a:rPr sz="1100" spc="-5" dirty="0">
                <a:latin typeface="LM Sans 10"/>
                <a:cs typeface="LM Sans 10"/>
              </a:rPr>
              <a:t> </a:t>
            </a:r>
            <a:r>
              <a:rPr sz="1100" spc="-20" dirty="0">
                <a:latin typeface="LM Sans 10"/>
                <a:cs typeface="LM Sans 10"/>
              </a:rPr>
              <a:t>array</a:t>
            </a:r>
            <a:r>
              <a:rPr sz="1100" dirty="0">
                <a:latin typeface="LM Sans 10"/>
                <a:cs typeface="LM Sans 10"/>
              </a:rPr>
              <a:t> </a:t>
            </a:r>
            <a:r>
              <a:rPr sz="1100" i="1" spc="10" dirty="0">
                <a:latin typeface="LM Sans 10"/>
                <a:cs typeface="LM Sans 10"/>
              </a:rPr>
              <a:t>s</a:t>
            </a:r>
            <a:r>
              <a:rPr sz="1100" spc="10" dirty="0">
                <a:latin typeface="LM Sans 10"/>
                <a:cs typeface="LM Sans 10"/>
              </a:rPr>
              <a:t>[1</a:t>
            </a:r>
            <a:r>
              <a:rPr sz="1100" i="1" spc="10" dirty="0">
                <a:latin typeface="LM Roman Dunhill 10"/>
                <a:cs typeface="LM Roman Dunhill 10"/>
              </a:rPr>
              <a:t>..</a:t>
            </a:r>
            <a:r>
              <a:rPr sz="1100" i="1" spc="10" dirty="0">
                <a:latin typeface="LM Sans 10"/>
                <a:cs typeface="LM Sans 10"/>
              </a:rPr>
              <a:t>n</a:t>
            </a:r>
            <a:r>
              <a:rPr sz="1100" i="1" spc="10"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i="1" spc="-5" dirty="0">
                <a:latin typeface="LM Sans 10"/>
                <a:cs typeface="LM Sans 10"/>
              </a:rPr>
              <a:t>n</a:t>
            </a:r>
            <a:r>
              <a:rPr sz="1100" spc="-5" dirty="0">
                <a:latin typeface="LM Sans 10"/>
                <a:cs typeface="LM Sans 10"/>
              </a:rPr>
              <a:t>], where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 denotes </a:t>
            </a:r>
            <a:r>
              <a:rPr sz="1100" i="1" spc="-10" dirty="0">
                <a:latin typeface="LM Sans 10"/>
                <a:cs typeface="LM Sans 10"/>
              </a:rPr>
              <a:t>k</a:t>
            </a:r>
            <a:r>
              <a:rPr sz="1100" i="1" spc="85" dirty="0">
                <a:latin typeface="LM Sans 10"/>
                <a:cs typeface="LM Sans 10"/>
              </a:rPr>
              <a:t> </a:t>
            </a:r>
            <a:r>
              <a:rPr sz="1100" spc="-15" dirty="0">
                <a:latin typeface="LM Sans 10"/>
                <a:cs typeface="LM Sans 10"/>
              </a:rPr>
              <a:t>for</a:t>
            </a:r>
            <a:r>
              <a:rPr sz="1100" spc="-5" dirty="0">
                <a:latin typeface="LM Sans 10"/>
                <a:cs typeface="LM Sans 10"/>
              </a:rPr>
              <a:t> </a:t>
            </a:r>
            <a:r>
              <a:rPr sz="1100" spc="-10" dirty="0">
                <a:latin typeface="LM Sans 10"/>
                <a:cs typeface="LM Sans 10"/>
              </a:rPr>
              <a:t>the  </a:t>
            </a:r>
            <a:r>
              <a:rPr sz="1100" spc="-5" dirty="0">
                <a:latin typeface="LM Sans 10"/>
                <a:cs typeface="LM Sans 10"/>
              </a:rPr>
              <a:t>optimal</a:t>
            </a:r>
            <a:r>
              <a:rPr sz="1100" spc="-10" dirty="0">
                <a:latin typeface="LM Sans 10"/>
                <a:cs typeface="LM Sans 10"/>
              </a:rPr>
              <a:t> </a:t>
            </a:r>
            <a:r>
              <a:rPr sz="1100" spc="-5" dirty="0">
                <a:latin typeface="LM Sans 10"/>
                <a:cs typeface="LM Sans 10"/>
              </a:rPr>
              <a:t>splitting in computing </a:t>
            </a:r>
            <a:r>
              <a:rPr sz="1100" i="1" spc="10" dirty="0">
                <a:latin typeface="LM Sans 10"/>
                <a:cs typeface="LM Sans 10"/>
              </a:rPr>
              <a:t>A</a:t>
            </a:r>
            <a:r>
              <a:rPr sz="1200" i="1" spc="15" baseline="-10416" dirty="0">
                <a:latin typeface="LM Sans 8"/>
                <a:cs typeface="LM Sans 8"/>
              </a:rPr>
              <a:t>i..j</a:t>
            </a:r>
            <a:r>
              <a:rPr sz="1200" i="1" spc="217" baseline="-10416" dirty="0">
                <a:latin typeface="LM Sans 8"/>
                <a:cs typeface="LM Sans 8"/>
              </a:rPr>
              <a:t> </a:t>
            </a:r>
            <a:r>
              <a:rPr sz="1100" spc="-10" dirty="0">
                <a:latin typeface="LM Sans 10"/>
                <a:cs typeface="LM Sans 10"/>
              </a:rPr>
              <a:t>=</a:t>
            </a:r>
            <a:r>
              <a:rPr sz="1100" spc="-70" dirty="0">
                <a:latin typeface="LM Sans 10"/>
                <a:cs typeface="LM Sans 10"/>
              </a:rPr>
              <a:t> </a:t>
            </a:r>
            <a:r>
              <a:rPr sz="1100" i="1" spc="10" dirty="0">
                <a:latin typeface="LM Sans 10"/>
                <a:cs typeface="LM Sans 10"/>
              </a:rPr>
              <a:t>A</a:t>
            </a:r>
            <a:r>
              <a:rPr sz="1200" i="1" spc="15" baseline="-13888" dirty="0">
                <a:latin typeface="LM Sans 8"/>
                <a:cs typeface="LM Sans 8"/>
              </a:rPr>
              <a:t>i..k</a:t>
            </a:r>
            <a:r>
              <a:rPr sz="1200" i="1" spc="-254" baseline="-13888" dirty="0">
                <a:latin typeface="LM Sans 8"/>
                <a:cs typeface="LM Sans 8"/>
              </a:rPr>
              <a:t>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40" baseline="-13888" dirty="0">
                <a:latin typeface="LM Sans 8"/>
                <a:cs typeface="LM Sans 8"/>
              </a:rPr>
              <a:t> </a:t>
            </a:r>
            <a:r>
              <a:rPr sz="1100" spc="-5" dirty="0">
                <a:latin typeface="LM Sans 10"/>
                <a:cs typeface="LM Sans 10"/>
              </a:rPr>
              <a:t>.</a:t>
            </a:r>
            <a:endParaRPr sz="1100">
              <a:latin typeface="LM Sans 10"/>
              <a:cs typeface="LM Sans 10"/>
            </a:endParaRPr>
          </a:p>
          <a:p>
            <a:pPr marL="50800">
              <a:lnSpc>
                <a:spcPct val="100000"/>
              </a:lnSpc>
              <a:spcBef>
                <a:spcPts val="870"/>
              </a:spcBef>
            </a:pPr>
            <a:r>
              <a:rPr sz="1100" spc="-5" dirty="0">
                <a:solidFill>
                  <a:srgbClr val="FFFFFF"/>
                </a:solidFill>
                <a:latin typeface="LM Sans 10"/>
                <a:cs typeface="LM Sans 10"/>
              </a:rPr>
              <a:t>Question</a:t>
            </a:r>
            <a:endParaRPr sz="1100">
              <a:latin typeface="LM Sans 10"/>
              <a:cs typeface="LM Sans 10"/>
            </a:endParaRPr>
          </a:p>
          <a:p>
            <a:pPr marL="50800">
              <a:lnSpc>
                <a:spcPct val="100000"/>
              </a:lnSpc>
              <a:spcBef>
                <a:spcPts val="295"/>
              </a:spcBef>
            </a:pPr>
            <a:r>
              <a:rPr sz="1100" spc="-20" dirty="0">
                <a:latin typeface="LM Sans 10"/>
                <a:cs typeface="LM Sans 10"/>
              </a:rPr>
              <a:t>How</a:t>
            </a:r>
            <a:r>
              <a:rPr sz="1100" spc="-10" dirty="0">
                <a:latin typeface="LM Sans 10"/>
                <a:cs typeface="LM Sans 10"/>
              </a:rPr>
              <a:t> </a:t>
            </a:r>
            <a:r>
              <a:rPr sz="1100" spc="-5" dirty="0">
                <a:latin typeface="LM Sans 10"/>
                <a:cs typeface="LM Sans 10"/>
              </a:rPr>
              <a:t>to</a:t>
            </a:r>
            <a:r>
              <a:rPr sz="1100" spc="-10" dirty="0">
                <a:latin typeface="LM Sans 10"/>
                <a:cs typeface="LM Sans 10"/>
              </a:rPr>
              <a:t> </a:t>
            </a:r>
            <a:r>
              <a:rPr sz="1100" spc="-5" dirty="0">
                <a:latin typeface="LM Sans 10"/>
                <a:cs typeface="LM Sans 10"/>
              </a:rPr>
              <a:t>Recover the</a:t>
            </a:r>
            <a:r>
              <a:rPr sz="1100" spc="-10" dirty="0">
                <a:latin typeface="LM Sans 10"/>
                <a:cs typeface="LM Sans 10"/>
              </a:rPr>
              <a:t> </a:t>
            </a:r>
            <a:r>
              <a:rPr sz="1100" spc="-5" dirty="0">
                <a:latin typeface="LM Sans 10"/>
                <a:cs typeface="LM Sans 10"/>
              </a:rPr>
              <a:t>Multiplication Sequence</a:t>
            </a:r>
            <a:r>
              <a:rPr sz="1100" spc="-10" dirty="0">
                <a:latin typeface="LM Sans 10"/>
                <a:cs typeface="LM Sans 10"/>
              </a:rPr>
              <a:t> </a:t>
            </a:r>
            <a:r>
              <a:rPr sz="1100" spc="-5" dirty="0">
                <a:latin typeface="LM Sans 10"/>
                <a:cs typeface="LM Sans 10"/>
              </a:rPr>
              <a:t>using</a:t>
            </a:r>
            <a:r>
              <a:rPr sz="1100" dirty="0">
                <a:latin typeface="LM Sans 10"/>
                <a:cs typeface="LM Sans 10"/>
              </a:rPr>
              <a:t>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endParaRPr sz="1100">
              <a:latin typeface="LM Sans 10"/>
              <a:cs typeface="LM Sans 10"/>
            </a:endParaRPr>
          </a:p>
        </p:txBody>
      </p:sp>
      <p:sp>
        <p:nvSpPr>
          <p:cNvPr id="16" name="object 16"/>
          <p:cNvSpPr txBox="1"/>
          <p:nvPr/>
        </p:nvSpPr>
        <p:spPr>
          <a:xfrm>
            <a:off x="445109" y="1904370"/>
            <a:ext cx="344170" cy="177800"/>
          </a:xfrm>
          <a:prstGeom prst="rect">
            <a:avLst/>
          </a:prstGeom>
        </p:spPr>
        <p:txBody>
          <a:bodyPr vert="horz" wrap="square" lIns="0" tIns="12065" rIns="0" bIns="0" rtlCol="0">
            <a:spAutoFit/>
          </a:bodyPr>
          <a:lstStyle/>
          <a:p>
            <a:pPr marL="12700">
              <a:lnSpc>
                <a:spcPct val="100000"/>
              </a:lnSpc>
              <a:spcBef>
                <a:spcPts val="95"/>
              </a:spcBef>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225" dirty="0">
                <a:latin typeface="LM Roman Dunhill 10"/>
                <a:cs typeface="LM Roman Dunhill 10"/>
              </a:rPr>
              <a:t> </a:t>
            </a:r>
            <a:r>
              <a:rPr sz="1000" i="1" spc="5" dirty="0">
                <a:latin typeface="LM Sans 10"/>
                <a:cs typeface="LM Sans 10"/>
              </a:rPr>
              <a:t>n</a:t>
            </a:r>
            <a:r>
              <a:rPr sz="1000" spc="5" dirty="0">
                <a:latin typeface="LM Sans 10"/>
                <a:cs typeface="LM Sans 10"/>
              </a:rPr>
              <a:t>]</a:t>
            </a:r>
            <a:endParaRPr sz="1000">
              <a:latin typeface="LM Sans 10"/>
              <a:cs typeface="LM Sans 10"/>
            </a:endParaRPr>
          </a:p>
        </p:txBody>
      </p:sp>
      <p:sp>
        <p:nvSpPr>
          <p:cNvPr id="17" name="object 17"/>
          <p:cNvSpPr txBox="1"/>
          <p:nvPr/>
        </p:nvSpPr>
        <p:spPr>
          <a:xfrm>
            <a:off x="1338007" y="1927217"/>
            <a:ext cx="1703705"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60" baseline="3968"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54"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40"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1050" i="1" spc="-7" baseline="3968" dirty="0">
                <a:latin typeface="LM Sans 8"/>
                <a:cs typeface="LM Sans 8"/>
              </a:rPr>
              <a:t>n</a:t>
            </a:r>
            <a:r>
              <a:rPr sz="1050" i="1" spc="-284" baseline="3968" dirty="0">
                <a:latin typeface="LM Sans 8"/>
                <a:cs typeface="LM Sans 8"/>
              </a:rPr>
              <a:t> </a:t>
            </a:r>
            <a:r>
              <a:rPr sz="1500" spc="-7" baseline="11111" dirty="0">
                <a:latin typeface="LM Sans 10"/>
                <a:cs typeface="LM Sans 10"/>
              </a:rPr>
              <a:t>)</a:t>
            </a:r>
            <a:endParaRPr sz="1500" baseline="11111">
              <a:latin typeface="LM Sans 10"/>
              <a:cs typeface="LM Sans 10"/>
            </a:endParaRPr>
          </a:p>
        </p:txBody>
      </p:sp>
      <p:grpSp>
        <p:nvGrpSpPr>
          <p:cNvPr id="18" name="object 18"/>
          <p:cNvGrpSpPr/>
          <p:nvPr/>
        </p:nvGrpSpPr>
        <p:grpSpPr>
          <a:xfrm>
            <a:off x="0" y="3342919"/>
            <a:ext cx="4608195" cy="113664"/>
            <a:chOff x="0" y="3342919"/>
            <a:chExt cx="4608195" cy="113664"/>
          </a:xfrm>
        </p:grpSpPr>
        <p:sp>
          <p:nvSpPr>
            <p:cNvPr id="19" name="object 1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0" name="object 2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1" name="object 2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3" name="object 2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4" name="object 2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25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92486"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148054" y="586346"/>
            <a:ext cx="2312035"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4: </a:t>
            </a:r>
            <a:r>
              <a:rPr sz="1100" spc="-10" dirty="0">
                <a:latin typeface="LM Sans 10"/>
                <a:cs typeface="LM Sans 10"/>
              </a:rPr>
              <a:t>Constructing </a:t>
            </a:r>
            <a:r>
              <a:rPr sz="1100" spc="-5" dirty="0">
                <a:latin typeface="LM Sans 10"/>
                <a:cs typeface="LM Sans 10"/>
              </a:rPr>
              <a:t>optimal</a:t>
            </a:r>
            <a:r>
              <a:rPr sz="1100" spc="65" dirty="0">
                <a:latin typeface="LM Sans 10"/>
                <a:cs typeface="LM Sans 10"/>
              </a:rPr>
              <a:t> </a:t>
            </a:r>
            <a:r>
              <a:rPr sz="1100" spc="-5" dirty="0">
                <a:latin typeface="LM Sans 10"/>
                <a:cs typeface="LM Sans 10"/>
              </a:rPr>
              <a:t>solution</a:t>
            </a:r>
            <a:endParaRPr sz="1100">
              <a:latin typeface="LM Sans 10"/>
              <a:cs typeface="LM Sans 10"/>
            </a:endParaRPr>
          </a:p>
        </p:txBody>
      </p:sp>
      <p:grpSp>
        <p:nvGrpSpPr>
          <p:cNvPr id="4" name="object 4"/>
          <p:cNvGrpSpPr/>
          <p:nvPr/>
        </p:nvGrpSpPr>
        <p:grpSpPr>
          <a:xfrm>
            <a:off x="309193" y="1360017"/>
            <a:ext cx="4040504" cy="469900"/>
            <a:chOff x="309193" y="1360017"/>
            <a:chExt cx="4040504" cy="469900"/>
          </a:xfrm>
        </p:grpSpPr>
        <p:sp>
          <p:nvSpPr>
            <p:cNvPr id="5" name="object 5"/>
            <p:cNvSpPr/>
            <p:nvPr/>
          </p:nvSpPr>
          <p:spPr>
            <a:xfrm>
              <a:off x="309193" y="1360017"/>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525968"/>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727720"/>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715020"/>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404251"/>
              <a:ext cx="50749" cy="323469"/>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570242"/>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442350"/>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429650"/>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416949"/>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404249"/>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5" name="object 15"/>
          <p:cNvSpPr txBox="1"/>
          <p:nvPr/>
        </p:nvSpPr>
        <p:spPr>
          <a:xfrm>
            <a:off x="309194" y="893177"/>
            <a:ext cx="3971290" cy="847090"/>
          </a:xfrm>
          <a:prstGeom prst="rect">
            <a:avLst/>
          </a:prstGeom>
        </p:spPr>
        <p:txBody>
          <a:bodyPr vert="horz" wrap="square" lIns="0" tIns="6985" rIns="0" bIns="0" rtlCol="0">
            <a:spAutoFit/>
          </a:bodyPr>
          <a:lstStyle/>
          <a:p>
            <a:pPr marL="50800" marR="43180">
              <a:lnSpc>
                <a:spcPct val="102600"/>
              </a:lnSpc>
              <a:spcBef>
                <a:spcPts val="55"/>
              </a:spcBef>
            </a:pPr>
            <a:r>
              <a:rPr sz="1100" spc="-5" dirty="0">
                <a:solidFill>
                  <a:srgbClr val="FF0000"/>
                </a:solidFill>
                <a:latin typeface="LM Sans 10"/>
                <a:cs typeface="LM Sans 10"/>
              </a:rPr>
              <a:t>Idea</a:t>
            </a:r>
            <a:r>
              <a:rPr sz="1100" spc="-5" dirty="0">
                <a:latin typeface="LM Sans 10"/>
                <a:cs typeface="LM Sans 10"/>
              </a:rPr>
              <a:t>:</a:t>
            </a:r>
            <a:r>
              <a:rPr sz="1100" spc="114" dirty="0">
                <a:latin typeface="LM Sans 10"/>
                <a:cs typeface="LM Sans 10"/>
              </a:rPr>
              <a:t> </a:t>
            </a:r>
            <a:r>
              <a:rPr sz="1100" spc="-5" dirty="0">
                <a:latin typeface="LM Sans 10"/>
                <a:cs typeface="LM Sans 10"/>
              </a:rPr>
              <a:t>Maintain </a:t>
            </a:r>
            <a:r>
              <a:rPr sz="1100" spc="-10" dirty="0">
                <a:latin typeface="LM Sans 10"/>
                <a:cs typeface="LM Sans 10"/>
              </a:rPr>
              <a:t>an</a:t>
            </a:r>
            <a:r>
              <a:rPr sz="1100" spc="-5" dirty="0">
                <a:latin typeface="LM Sans 10"/>
                <a:cs typeface="LM Sans 10"/>
              </a:rPr>
              <a:t> </a:t>
            </a:r>
            <a:r>
              <a:rPr sz="1100" spc="-20" dirty="0">
                <a:latin typeface="LM Sans 10"/>
                <a:cs typeface="LM Sans 10"/>
              </a:rPr>
              <a:t>array</a:t>
            </a:r>
            <a:r>
              <a:rPr sz="1100" dirty="0">
                <a:latin typeface="LM Sans 10"/>
                <a:cs typeface="LM Sans 10"/>
              </a:rPr>
              <a:t> </a:t>
            </a:r>
            <a:r>
              <a:rPr sz="1100" i="1" spc="10" dirty="0">
                <a:latin typeface="LM Sans 10"/>
                <a:cs typeface="LM Sans 10"/>
              </a:rPr>
              <a:t>s</a:t>
            </a:r>
            <a:r>
              <a:rPr sz="1100" spc="10" dirty="0">
                <a:latin typeface="LM Sans 10"/>
                <a:cs typeface="LM Sans 10"/>
              </a:rPr>
              <a:t>[1</a:t>
            </a:r>
            <a:r>
              <a:rPr sz="1100" i="1" spc="10" dirty="0">
                <a:latin typeface="LM Roman Dunhill 10"/>
                <a:cs typeface="LM Roman Dunhill 10"/>
              </a:rPr>
              <a:t>..</a:t>
            </a:r>
            <a:r>
              <a:rPr sz="1100" i="1" spc="10" dirty="0">
                <a:latin typeface="LM Sans 10"/>
                <a:cs typeface="LM Sans 10"/>
              </a:rPr>
              <a:t>n</a:t>
            </a:r>
            <a:r>
              <a:rPr sz="1100" i="1" spc="10"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i="1" spc="-5" dirty="0">
                <a:latin typeface="LM Sans 10"/>
                <a:cs typeface="LM Sans 10"/>
              </a:rPr>
              <a:t>n</a:t>
            </a:r>
            <a:r>
              <a:rPr sz="1100" spc="-5" dirty="0">
                <a:latin typeface="LM Sans 10"/>
                <a:cs typeface="LM Sans 10"/>
              </a:rPr>
              <a:t>], where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 denotes </a:t>
            </a:r>
            <a:r>
              <a:rPr sz="1100" i="1" spc="-10" dirty="0">
                <a:latin typeface="LM Sans 10"/>
                <a:cs typeface="LM Sans 10"/>
              </a:rPr>
              <a:t>k</a:t>
            </a:r>
            <a:r>
              <a:rPr sz="1100" i="1" spc="85" dirty="0">
                <a:latin typeface="LM Sans 10"/>
                <a:cs typeface="LM Sans 10"/>
              </a:rPr>
              <a:t> </a:t>
            </a:r>
            <a:r>
              <a:rPr sz="1100" spc="-15" dirty="0">
                <a:latin typeface="LM Sans 10"/>
                <a:cs typeface="LM Sans 10"/>
              </a:rPr>
              <a:t>for</a:t>
            </a:r>
            <a:r>
              <a:rPr sz="1100" spc="-5" dirty="0">
                <a:latin typeface="LM Sans 10"/>
                <a:cs typeface="LM Sans 10"/>
              </a:rPr>
              <a:t> </a:t>
            </a:r>
            <a:r>
              <a:rPr sz="1100" spc="-10" dirty="0">
                <a:latin typeface="LM Sans 10"/>
                <a:cs typeface="LM Sans 10"/>
              </a:rPr>
              <a:t>the  </a:t>
            </a:r>
            <a:r>
              <a:rPr sz="1100" spc="-5" dirty="0">
                <a:latin typeface="LM Sans 10"/>
                <a:cs typeface="LM Sans 10"/>
              </a:rPr>
              <a:t>optimal</a:t>
            </a:r>
            <a:r>
              <a:rPr sz="1100" spc="-10" dirty="0">
                <a:latin typeface="LM Sans 10"/>
                <a:cs typeface="LM Sans 10"/>
              </a:rPr>
              <a:t> </a:t>
            </a:r>
            <a:r>
              <a:rPr sz="1100" spc="-5" dirty="0">
                <a:latin typeface="LM Sans 10"/>
                <a:cs typeface="LM Sans 10"/>
              </a:rPr>
              <a:t>splitting in computing </a:t>
            </a:r>
            <a:r>
              <a:rPr sz="1100" i="1" spc="10" dirty="0">
                <a:latin typeface="LM Sans 10"/>
                <a:cs typeface="LM Sans 10"/>
              </a:rPr>
              <a:t>A</a:t>
            </a:r>
            <a:r>
              <a:rPr sz="1200" i="1" spc="15" baseline="-10416" dirty="0">
                <a:latin typeface="LM Sans 8"/>
                <a:cs typeface="LM Sans 8"/>
              </a:rPr>
              <a:t>i..j</a:t>
            </a:r>
            <a:r>
              <a:rPr sz="1200" i="1" spc="217" baseline="-10416" dirty="0">
                <a:latin typeface="LM Sans 8"/>
                <a:cs typeface="LM Sans 8"/>
              </a:rPr>
              <a:t> </a:t>
            </a:r>
            <a:r>
              <a:rPr sz="1100" spc="-10" dirty="0">
                <a:latin typeface="LM Sans 10"/>
                <a:cs typeface="LM Sans 10"/>
              </a:rPr>
              <a:t>=</a:t>
            </a:r>
            <a:r>
              <a:rPr sz="1100" spc="-70" dirty="0">
                <a:latin typeface="LM Sans 10"/>
                <a:cs typeface="LM Sans 10"/>
              </a:rPr>
              <a:t> </a:t>
            </a:r>
            <a:r>
              <a:rPr sz="1100" i="1" spc="10" dirty="0">
                <a:latin typeface="LM Sans 10"/>
                <a:cs typeface="LM Sans 10"/>
              </a:rPr>
              <a:t>A</a:t>
            </a:r>
            <a:r>
              <a:rPr sz="1200" i="1" spc="15" baseline="-13888" dirty="0">
                <a:latin typeface="LM Sans 8"/>
                <a:cs typeface="LM Sans 8"/>
              </a:rPr>
              <a:t>i..k</a:t>
            </a:r>
            <a:r>
              <a:rPr sz="1200" i="1" spc="-254" baseline="-13888" dirty="0">
                <a:latin typeface="LM Sans 8"/>
                <a:cs typeface="LM Sans 8"/>
              </a:rPr>
              <a:t>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40" baseline="-13888" dirty="0">
                <a:latin typeface="LM Sans 8"/>
                <a:cs typeface="LM Sans 8"/>
              </a:rPr>
              <a:t> </a:t>
            </a:r>
            <a:r>
              <a:rPr sz="1100" spc="-5" dirty="0">
                <a:latin typeface="LM Sans 10"/>
                <a:cs typeface="LM Sans 10"/>
              </a:rPr>
              <a:t>.</a:t>
            </a:r>
            <a:endParaRPr sz="1100">
              <a:latin typeface="LM Sans 10"/>
              <a:cs typeface="LM Sans 10"/>
            </a:endParaRPr>
          </a:p>
          <a:p>
            <a:pPr marL="50800">
              <a:lnSpc>
                <a:spcPct val="100000"/>
              </a:lnSpc>
              <a:spcBef>
                <a:spcPts val="870"/>
              </a:spcBef>
            </a:pPr>
            <a:r>
              <a:rPr sz="1100" spc="-5" dirty="0">
                <a:solidFill>
                  <a:srgbClr val="FFFFFF"/>
                </a:solidFill>
                <a:latin typeface="LM Sans 10"/>
                <a:cs typeface="LM Sans 10"/>
              </a:rPr>
              <a:t>Question</a:t>
            </a:r>
            <a:endParaRPr sz="1100">
              <a:latin typeface="LM Sans 10"/>
              <a:cs typeface="LM Sans 10"/>
            </a:endParaRPr>
          </a:p>
          <a:p>
            <a:pPr marL="50800">
              <a:lnSpc>
                <a:spcPct val="100000"/>
              </a:lnSpc>
              <a:spcBef>
                <a:spcPts val="295"/>
              </a:spcBef>
            </a:pPr>
            <a:r>
              <a:rPr sz="1100" spc="-20" dirty="0">
                <a:latin typeface="LM Sans 10"/>
                <a:cs typeface="LM Sans 10"/>
              </a:rPr>
              <a:t>How</a:t>
            </a:r>
            <a:r>
              <a:rPr sz="1100" spc="-10" dirty="0">
                <a:latin typeface="LM Sans 10"/>
                <a:cs typeface="LM Sans 10"/>
              </a:rPr>
              <a:t> </a:t>
            </a:r>
            <a:r>
              <a:rPr sz="1100" spc="-5" dirty="0">
                <a:latin typeface="LM Sans 10"/>
                <a:cs typeface="LM Sans 10"/>
              </a:rPr>
              <a:t>to</a:t>
            </a:r>
            <a:r>
              <a:rPr sz="1100" spc="-10" dirty="0">
                <a:latin typeface="LM Sans 10"/>
                <a:cs typeface="LM Sans 10"/>
              </a:rPr>
              <a:t> </a:t>
            </a:r>
            <a:r>
              <a:rPr sz="1100" spc="-5" dirty="0">
                <a:latin typeface="LM Sans 10"/>
                <a:cs typeface="LM Sans 10"/>
              </a:rPr>
              <a:t>Recover the</a:t>
            </a:r>
            <a:r>
              <a:rPr sz="1100" spc="-10" dirty="0">
                <a:latin typeface="LM Sans 10"/>
                <a:cs typeface="LM Sans 10"/>
              </a:rPr>
              <a:t> </a:t>
            </a:r>
            <a:r>
              <a:rPr sz="1100" spc="-5" dirty="0">
                <a:latin typeface="LM Sans 10"/>
                <a:cs typeface="LM Sans 10"/>
              </a:rPr>
              <a:t>Multiplication Sequence</a:t>
            </a:r>
            <a:r>
              <a:rPr sz="1100" spc="-10" dirty="0">
                <a:latin typeface="LM Sans 10"/>
                <a:cs typeface="LM Sans 10"/>
              </a:rPr>
              <a:t> </a:t>
            </a:r>
            <a:r>
              <a:rPr sz="1100" spc="-5" dirty="0">
                <a:latin typeface="LM Sans 10"/>
                <a:cs typeface="LM Sans 10"/>
              </a:rPr>
              <a:t>using</a:t>
            </a:r>
            <a:r>
              <a:rPr sz="1100" dirty="0">
                <a:latin typeface="LM Sans 10"/>
                <a:cs typeface="LM Sans 10"/>
              </a:rPr>
              <a:t>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endParaRPr sz="1100">
              <a:latin typeface="LM Sans 10"/>
              <a:cs typeface="LM Sans 10"/>
            </a:endParaRPr>
          </a:p>
        </p:txBody>
      </p:sp>
      <p:sp>
        <p:nvSpPr>
          <p:cNvPr id="16" name="object 16"/>
          <p:cNvSpPr txBox="1"/>
          <p:nvPr/>
        </p:nvSpPr>
        <p:spPr>
          <a:xfrm>
            <a:off x="445109" y="1904370"/>
            <a:ext cx="594995" cy="329565"/>
          </a:xfrm>
          <a:prstGeom prst="rect">
            <a:avLst/>
          </a:prstGeom>
        </p:spPr>
        <p:txBody>
          <a:bodyPr vert="horz" wrap="square" lIns="0" tIns="12065" rIns="0" bIns="0" rtlCol="0">
            <a:spAutoFit/>
          </a:bodyPr>
          <a:lstStyle/>
          <a:p>
            <a:pPr marL="12700">
              <a:lnSpc>
                <a:spcPts val="1200"/>
              </a:lnSpc>
              <a:spcBef>
                <a:spcPts val="95"/>
              </a:spcBef>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80" dirty="0">
                <a:latin typeface="LM Roman Dunhill 10"/>
                <a:cs typeface="LM Roman Dunhill 10"/>
              </a:rPr>
              <a:t> </a:t>
            </a:r>
            <a:r>
              <a:rPr sz="1000" i="1" spc="5" dirty="0">
                <a:latin typeface="LM Sans 10"/>
                <a:cs typeface="LM Sans 10"/>
              </a:rPr>
              <a:t>n</a:t>
            </a:r>
            <a:r>
              <a:rPr sz="1000" spc="5" dirty="0">
                <a:latin typeface="LM Sans 10"/>
                <a:cs typeface="LM Sans 10"/>
              </a:rPr>
              <a:t>]</a:t>
            </a:r>
            <a:endParaRPr sz="1000">
              <a:latin typeface="LM Sans 10"/>
              <a:cs typeface="LM Sans 10"/>
            </a:endParaRPr>
          </a:p>
          <a:p>
            <a:pPr marL="12700">
              <a:lnSpc>
                <a:spcPts val="1200"/>
              </a:lnSpc>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200" dirty="0">
                <a:latin typeface="LM Roman Dunhill 10"/>
                <a:cs typeface="LM Roman Dunhill 10"/>
              </a:rPr>
              <a:t> </a:t>
            </a: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200" dirty="0">
                <a:latin typeface="LM Roman Dunhill 10"/>
                <a:cs typeface="LM Roman Dunhill 10"/>
              </a:rPr>
              <a:t> </a:t>
            </a:r>
            <a:r>
              <a:rPr sz="1000" i="1" dirty="0">
                <a:latin typeface="LM Sans 10"/>
                <a:cs typeface="LM Sans 10"/>
              </a:rPr>
              <a:t>n</a:t>
            </a:r>
            <a:r>
              <a:rPr sz="1000" dirty="0">
                <a:latin typeface="LM Sans 10"/>
                <a:cs typeface="LM Sans 10"/>
              </a:rPr>
              <a:t>]]</a:t>
            </a:r>
            <a:endParaRPr sz="1000">
              <a:latin typeface="LM Sans 10"/>
              <a:cs typeface="LM Sans 10"/>
            </a:endParaRPr>
          </a:p>
        </p:txBody>
      </p:sp>
      <p:sp>
        <p:nvSpPr>
          <p:cNvPr id="17" name="object 17"/>
          <p:cNvSpPr txBox="1"/>
          <p:nvPr/>
        </p:nvSpPr>
        <p:spPr>
          <a:xfrm>
            <a:off x="1338007" y="1927217"/>
            <a:ext cx="1703705"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60" baseline="3968"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54"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40"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1050" i="1" spc="-7" baseline="3968" dirty="0">
                <a:latin typeface="LM Sans 8"/>
                <a:cs typeface="LM Sans 8"/>
              </a:rPr>
              <a:t>n</a:t>
            </a:r>
            <a:r>
              <a:rPr sz="1050" i="1" spc="-284" baseline="3968" dirty="0">
                <a:latin typeface="LM Sans 8"/>
                <a:cs typeface="LM Sans 8"/>
              </a:rPr>
              <a:t> </a:t>
            </a:r>
            <a:r>
              <a:rPr sz="1500" spc="-7" baseline="11111" dirty="0">
                <a:latin typeface="LM Sans 10"/>
                <a:cs typeface="LM Sans 10"/>
              </a:rPr>
              <a:t>)</a:t>
            </a:r>
            <a:endParaRPr sz="1500" baseline="11111">
              <a:latin typeface="LM Sans 10"/>
              <a:cs typeface="LM Sans 10"/>
            </a:endParaRPr>
          </a:p>
        </p:txBody>
      </p:sp>
      <p:sp>
        <p:nvSpPr>
          <p:cNvPr id="18" name="object 18"/>
          <p:cNvSpPr txBox="1"/>
          <p:nvPr/>
        </p:nvSpPr>
        <p:spPr>
          <a:xfrm>
            <a:off x="1338050" y="2079045"/>
            <a:ext cx="2227580"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52" baseline="3968"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47"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endParaRPr sz="1500" baseline="11111">
              <a:latin typeface="LM Sans 10"/>
              <a:cs typeface="LM Sans 10"/>
            </a:endParaRPr>
          </a:p>
        </p:txBody>
      </p:sp>
      <p:grpSp>
        <p:nvGrpSpPr>
          <p:cNvPr id="19" name="object 19"/>
          <p:cNvGrpSpPr/>
          <p:nvPr/>
        </p:nvGrpSpPr>
        <p:grpSpPr>
          <a:xfrm>
            <a:off x="0" y="3342919"/>
            <a:ext cx="4608195" cy="113664"/>
            <a:chOff x="0" y="3342919"/>
            <a:chExt cx="4608195" cy="113664"/>
          </a:xfrm>
        </p:grpSpPr>
        <p:sp>
          <p:nvSpPr>
            <p:cNvPr id="20" name="object 20"/>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1" name="object 21"/>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2" name="object 22"/>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4" name="object 24"/>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5" name="object 25"/>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25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92486"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148054" y="586346"/>
            <a:ext cx="2312035"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4: </a:t>
            </a:r>
            <a:r>
              <a:rPr sz="1100" spc="-10" dirty="0">
                <a:latin typeface="LM Sans 10"/>
                <a:cs typeface="LM Sans 10"/>
              </a:rPr>
              <a:t>Constructing </a:t>
            </a:r>
            <a:r>
              <a:rPr sz="1100" spc="-5" dirty="0">
                <a:latin typeface="LM Sans 10"/>
                <a:cs typeface="LM Sans 10"/>
              </a:rPr>
              <a:t>optimal</a:t>
            </a:r>
            <a:r>
              <a:rPr sz="1100" spc="65" dirty="0">
                <a:latin typeface="LM Sans 10"/>
                <a:cs typeface="LM Sans 10"/>
              </a:rPr>
              <a:t> </a:t>
            </a:r>
            <a:r>
              <a:rPr sz="1100" spc="-5" dirty="0">
                <a:latin typeface="LM Sans 10"/>
                <a:cs typeface="LM Sans 10"/>
              </a:rPr>
              <a:t>solution</a:t>
            </a:r>
            <a:endParaRPr sz="1100">
              <a:latin typeface="LM Sans 10"/>
              <a:cs typeface="LM Sans 10"/>
            </a:endParaRPr>
          </a:p>
        </p:txBody>
      </p:sp>
      <p:grpSp>
        <p:nvGrpSpPr>
          <p:cNvPr id="4" name="object 4"/>
          <p:cNvGrpSpPr/>
          <p:nvPr/>
        </p:nvGrpSpPr>
        <p:grpSpPr>
          <a:xfrm>
            <a:off x="309193" y="1360017"/>
            <a:ext cx="4040504" cy="469900"/>
            <a:chOff x="309193" y="1360017"/>
            <a:chExt cx="4040504" cy="469900"/>
          </a:xfrm>
        </p:grpSpPr>
        <p:sp>
          <p:nvSpPr>
            <p:cNvPr id="5" name="object 5"/>
            <p:cNvSpPr/>
            <p:nvPr/>
          </p:nvSpPr>
          <p:spPr>
            <a:xfrm>
              <a:off x="309193" y="1360017"/>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525968"/>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727720"/>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715020"/>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404251"/>
              <a:ext cx="50749" cy="323469"/>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570242"/>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442350"/>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429650"/>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416949"/>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404249"/>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5" name="object 15"/>
          <p:cNvSpPr txBox="1"/>
          <p:nvPr/>
        </p:nvSpPr>
        <p:spPr>
          <a:xfrm>
            <a:off x="309194" y="893177"/>
            <a:ext cx="3971290" cy="847090"/>
          </a:xfrm>
          <a:prstGeom prst="rect">
            <a:avLst/>
          </a:prstGeom>
        </p:spPr>
        <p:txBody>
          <a:bodyPr vert="horz" wrap="square" lIns="0" tIns="6985" rIns="0" bIns="0" rtlCol="0">
            <a:spAutoFit/>
          </a:bodyPr>
          <a:lstStyle/>
          <a:p>
            <a:pPr marL="50800" marR="43180">
              <a:lnSpc>
                <a:spcPct val="102600"/>
              </a:lnSpc>
              <a:spcBef>
                <a:spcPts val="55"/>
              </a:spcBef>
            </a:pPr>
            <a:r>
              <a:rPr sz="1100" spc="-5" dirty="0">
                <a:solidFill>
                  <a:srgbClr val="FF0000"/>
                </a:solidFill>
                <a:latin typeface="LM Sans 10"/>
                <a:cs typeface="LM Sans 10"/>
              </a:rPr>
              <a:t>Idea</a:t>
            </a:r>
            <a:r>
              <a:rPr sz="1100" spc="-5" dirty="0">
                <a:latin typeface="LM Sans 10"/>
                <a:cs typeface="LM Sans 10"/>
              </a:rPr>
              <a:t>:</a:t>
            </a:r>
            <a:r>
              <a:rPr sz="1100" spc="114" dirty="0">
                <a:latin typeface="LM Sans 10"/>
                <a:cs typeface="LM Sans 10"/>
              </a:rPr>
              <a:t> </a:t>
            </a:r>
            <a:r>
              <a:rPr sz="1100" spc="-5" dirty="0">
                <a:latin typeface="LM Sans 10"/>
                <a:cs typeface="LM Sans 10"/>
              </a:rPr>
              <a:t>Maintain </a:t>
            </a:r>
            <a:r>
              <a:rPr sz="1100" spc="-10" dirty="0">
                <a:latin typeface="LM Sans 10"/>
                <a:cs typeface="LM Sans 10"/>
              </a:rPr>
              <a:t>an</a:t>
            </a:r>
            <a:r>
              <a:rPr sz="1100" spc="-5" dirty="0">
                <a:latin typeface="LM Sans 10"/>
                <a:cs typeface="LM Sans 10"/>
              </a:rPr>
              <a:t> </a:t>
            </a:r>
            <a:r>
              <a:rPr sz="1100" spc="-20" dirty="0">
                <a:latin typeface="LM Sans 10"/>
                <a:cs typeface="LM Sans 10"/>
              </a:rPr>
              <a:t>array</a:t>
            </a:r>
            <a:r>
              <a:rPr sz="1100" dirty="0">
                <a:latin typeface="LM Sans 10"/>
                <a:cs typeface="LM Sans 10"/>
              </a:rPr>
              <a:t> </a:t>
            </a:r>
            <a:r>
              <a:rPr sz="1100" i="1" spc="10" dirty="0">
                <a:latin typeface="LM Sans 10"/>
                <a:cs typeface="LM Sans 10"/>
              </a:rPr>
              <a:t>s</a:t>
            </a:r>
            <a:r>
              <a:rPr sz="1100" spc="10" dirty="0">
                <a:latin typeface="LM Sans 10"/>
                <a:cs typeface="LM Sans 10"/>
              </a:rPr>
              <a:t>[1</a:t>
            </a:r>
            <a:r>
              <a:rPr sz="1100" i="1" spc="10" dirty="0">
                <a:latin typeface="LM Roman Dunhill 10"/>
                <a:cs typeface="LM Roman Dunhill 10"/>
              </a:rPr>
              <a:t>..</a:t>
            </a:r>
            <a:r>
              <a:rPr sz="1100" i="1" spc="10" dirty="0">
                <a:latin typeface="LM Sans 10"/>
                <a:cs typeface="LM Sans 10"/>
              </a:rPr>
              <a:t>n</a:t>
            </a:r>
            <a:r>
              <a:rPr sz="1100" i="1" spc="10"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i="1" spc="-5" dirty="0">
                <a:latin typeface="LM Sans 10"/>
                <a:cs typeface="LM Sans 10"/>
              </a:rPr>
              <a:t>n</a:t>
            </a:r>
            <a:r>
              <a:rPr sz="1100" spc="-5" dirty="0">
                <a:latin typeface="LM Sans 10"/>
                <a:cs typeface="LM Sans 10"/>
              </a:rPr>
              <a:t>], where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 denotes </a:t>
            </a:r>
            <a:r>
              <a:rPr sz="1100" i="1" spc="-10" dirty="0">
                <a:latin typeface="LM Sans 10"/>
                <a:cs typeface="LM Sans 10"/>
              </a:rPr>
              <a:t>k</a:t>
            </a:r>
            <a:r>
              <a:rPr sz="1100" i="1" spc="85" dirty="0">
                <a:latin typeface="LM Sans 10"/>
                <a:cs typeface="LM Sans 10"/>
              </a:rPr>
              <a:t> </a:t>
            </a:r>
            <a:r>
              <a:rPr sz="1100" spc="-15" dirty="0">
                <a:latin typeface="LM Sans 10"/>
                <a:cs typeface="LM Sans 10"/>
              </a:rPr>
              <a:t>for</a:t>
            </a:r>
            <a:r>
              <a:rPr sz="1100" spc="-5" dirty="0">
                <a:latin typeface="LM Sans 10"/>
                <a:cs typeface="LM Sans 10"/>
              </a:rPr>
              <a:t> </a:t>
            </a:r>
            <a:r>
              <a:rPr sz="1100" spc="-10" dirty="0">
                <a:latin typeface="LM Sans 10"/>
                <a:cs typeface="LM Sans 10"/>
              </a:rPr>
              <a:t>the  </a:t>
            </a:r>
            <a:r>
              <a:rPr sz="1100" spc="-5" dirty="0">
                <a:latin typeface="LM Sans 10"/>
                <a:cs typeface="LM Sans 10"/>
              </a:rPr>
              <a:t>optimal</a:t>
            </a:r>
            <a:r>
              <a:rPr sz="1100" spc="-10" dirty="0">
                <a:latin typeface="LM Sans 10"/>
                <a:cs typeface="LM Sans 10"/>
              </a:rPr>
              <a:t> </a:t>
            </a:r>
            <a:r>
              <a:rPr sz="1100" spc="-5" dirty="0">
                <a:latin typeface="LM Sans 10"/>
                <a:cs typeface="LM Sans 10"/>
              </a:rPr>
              <a:t>splitting in computing </a:t>
            </a:r>
            <a:r>
              <a:rPr sz="1100" i="1" spc="10" dirty="0">
                <a:latin typeface="LM Sans 10"/>
                <a:cs typeface="LM Sans 10"/>
              </a:rPr>
              <a:t>A</a:t>
            </a:r>
            <a:r>
              <a:rPr sz="1200" i="1" spc="15" baseline="-10416" dirty="0">
                <a:latin typeface="LM Sans 8"/>
                <a:cs typeface="LM Sans 8"/>
              </a:rPr>
              <a:t>i..j</a:t>
            </a:r>
            <a:r>
              <a:rPr sz="1200" i="1" spc="217" baseline="-10416" dirty="0">
                <a:latin typeface="LM Sans 8"/>
                <a:cs typeface="LM Sans 8"/>
              </a:rPr>
              <a:t> </a:t>
            </a:r>
            <a:r>
              <a:rPr sz="1100" spc="-10" dirty="0">
                <a:latin typeface="LM Sans 10"/>
                <a:cs typeface="LM Sans 10"/>
              </a:rPr>
              <a:t>=</a:t>
            </a:r>
            <a:r>
              <a:rPr sz="1100" spc="-70" dirty="0">
                <a:latin typeface="LM Sans 10"/>
                <a:cs typeface="LM Sans 10"/>
              </a:rPr>
              <a:t> </a:t>
            </a:r>
            <a:r>
              <a:rPr sz="1100" i="1" spc="10" dirty="0">
                <a:latin typeface="LM Sans 10"/>
                <a:cs typeface="LM Sans 10"/>
              </a:rPr>
              <a:t>A</a:t>
            </a:r>
            <a:r>
              <a:rPr sz="1200" i="1" spc="15" baseline="-13888" dirty="0">
                <a:latin typeface="LM Sans 8"/>
                <a:cs typeface="LM Sans 8"/>
              </a:rPr>
              <a:t>i..k</a:t>
            </a:r>
            <a:r>
              <a:rPr sz="1200" i="1" spc="-254" baseline="-13888" dirty="0">
                <a:latin typeface="LM Sans 8"/>
                <a:cs typeface="LM Sans 8"/>
              </a:rPr>
              <a:t>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40" baseline="-13888" dirty="0">
                <a:latin typeface="LM Sans 8"/>
                <a:cs typeface="LM Sans 8"/>
              </a:rPr>
              <a:t> </a:t>
            </a:r>
            <a:r>
              <a:rPr sz="1100" spc="-5" dirty="0">
                <a:latin typeface="LM Sans 10"/>
                <a:cs typeface="LM Sans 10"/>
              </a:rPr>
              <a:t>.</a:t>
            </a:r>
            <a:endParaRPr sz="1100">
              <a:latin typeface="LM Sans 10"/>
              <a:cs typeface="LM Sans 10"/>
            </a:endParaRPr>
          </a:p>
          <a:p>
            <a:pPr marL="50800">
              <a:lnSpc>
                <a:spcPct val="100000"/>
              </a:lnSpc>
              <a:spcBef>
                <a:spcPts val="870"/>
              </a:spcBef>
            </a:pPr>
            <a:r>
              <a:rPr sz="1100" spc="-5" dirty="0">
                <a:solidFill>
                  <a:srgbClr val="FFFFFF"/>
                </a:solidFill>
                <a:latin typeface="LM Sans 10"/>
                <a:cs typeface="LM Sans 10"/>
              </a:rPr>
              <a:t>Question</a:t>
            </a:r>
            <a:endParaRPr sz="1100">
              <a:latin typeface="LM Sans 10"/>
              <a:cs typeface="LM Sans 10"/>
            </a:endParaRPr>
          </a:p>
          <a:p>
            <a:pPr marL="50800">
              <a:lnSpc>
                <a:spcPct val="100000"/>
              </a:lnSpc>
              <a:spcBef>
                <a:spcPts val="295"/>
              </a:spcBef>
            </a:pPr>
            <a:r>
              <a:rPr sz="1100" spc="-20" dirty="0">
                <a:latin typeface="LM Sans 10"/>
                <a:cs typeface="LM Sans 10"/>
              </a:rPr>
              <a:t>How</a:t>
            </a:r>
            <a:r>
              <a:rPr sz="1100" spc="-10" dirty="0">
                <a:latin typeface="LM Sans 10"/>
                <a:cs typeface="LM Sans 10"/>
              </a:rPr>
              <a:t> </a:t>
            </a:r>
            <a:r>
              <a:rPr sz="1100" spc="-5" dirty="0">
                <a:latin typeface="LM Sans 10"/>
                <a:cs typeface="LM Sans 10"/>
              </a:rPr>
              <a:t>to</a:t>
            </a:r>
            <a:r>
              <a:rPr sz="1100" spc="-10" dirty="0">
                <a:latin typeface="LM Sans 10"/>
                <a:cs typeface="LM Sans 10"/>
              </a:rPr>
              <a:t> </a:t>
            </a:r>
            <a:r>
              <a:rPr sz="1100" spc="-5" dirty="0">
                <a:latin typeface="LM Sans 10"/>
                <a:cs typeface="LM Sans 10"/>
              </a:rPr>
              <a:t>Recover the</a:t>
            </a:r>
            <a:r>
              <a:rPr sz="1100" spc="-10" dirty="0">
                <a:latin typeface="LM Sans 10"/>
                <a:cs typeface="LM Sans 10"/>
              </a:rPr>
              <a:t> </a:t>
            </a:r>
            <a:r>
              <a:rPr sz="1100" spc="-5" dirty="0">
                <a:latin typeface="LM Sans 10"/>
                <a:cs typeface="LM Sans 10"/>
              </a:rPr>
              <a:t>Multiplication Sequence</a:t>
            </a:r>
            <a:r>
              <a:rPr sz="1100" spc="-10" dirty="0">
                <a:latin typeface="LM Sans 10"/>
                <a:cs typeface="LM Sans 10"/>
              </a:rPr>
              <a:t> </a:t>
            </a:r>
            <a:r>
              <a:rPr sz="1100" spc="-5" dirty="0">
                <a:latin typeface="LM Sans 10"/>
                <a:cs typeface="LM Sans 10"/>
              </a:rPr>
              <a:t>using</a:t>
            </a:r>
            <a:r>
              <a:rPr sz="1100" dirty="0">
                <a:latin typeface="LM Sans 10"/>
                <a:cs typeface="LM Sans 10"/>
              </a:rPr>
              <a:t>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endParaRPr sz="1100">
              <a:latin typeface="LM Sans 10"/>
              <a:cs typeface="LM Sans 10"/>
            </a:endParaRPr>
          </a:p>
        </p:txBody>
      </p:sp>
      <p:sp>
        <p:nvSpPr>
          <p:cNvPr id="16" name="object 16"/>
          <p:cNvSpPr txBox="1"/>
          <p:nvPr/>
        </p:nvSpPr>
        <p:spPr>
          <a:xfrm>
            <a:off x="445109" y="1904370"/>
            <a:ext cx="817244" cy="481330"/>
          </a:xfrm>
          <a:prstGeom prst="rect">
            <a:avLst/>
          </a:prstGeom>
        </p:spPr>
        <p:txBody>
          <a:bodyPr vert="horz" wrap="square" lIns="0" tIns="12065" rIns="0" bIns="0" rtlCol="0">
            <a:spAutoFit/>
          </a:bodyPr>
          <a:lstStyle/>
          <a:p>
            <a:pPr marL="12700">
              <a:lnSpc>
                <a:spcPts val="1200"/>
              </a:lnSpc>
              <a:spcBef>
                <a:spcPts val="95"/>
              </a:spcBef>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75" dirty="0">
                <a:latin typeface="LM Roman Dunhill 10"/>
                <a:cs typeface="LM Roman Dunhill 10"/>
              </a:rPr>
              <a:t> </a:t>
            </a:r>
            <a:r>
              <a:rPr sz="1000" i="1" spc="5" dirty="0">
                <a:latin typeface="LM Sans 10"/>
                <a:cs typeface="LM Sans 10"/>
              </a:rPr>
              <a:t>n</a:t>
            </a:r>
            <a:r>
              <a:rPr sz="1000" spc="5" dirty="0">
                <a:latin typeface="LM Sans 10"/>
                <a:cs typeface="LM Sans 10"/>
              </a:rPr>
              <a:t>]</a:t>
            </a:r>
            <a:endParaRPr sz="1000">
              <a:latin typeface="LM Sans 10"/>
              <a:cs typeface="LM Sans 10"/>
            </a:endParaRPr>
          </a:p>
          <a:p>
            <a:pPr marL="12700">
              <a:lnSpc>
                <a:spcPts val="1195"/>
              </a:lnSpc>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80" dirty="0">
                <a:latin typeface="LM Roman Dunhill 10"/>
                <a:cs typeface="LM Roman Dunhill 10"/>
              </a:rPr>
              <a:t> </a:t>
            </a: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75" dirty="0">
                <a:latin typeface="LM Roman Dunhill 10"/>
                <a:cs typeface="LM Roman Dunhill 10"/>
              </a:rPr>
              <a:t> </a:t>
            </a:r>
            <a:r>
              <a:rPr sz="1000" i="1" dirty="0">
                <a:latin typeface="LM Sans 10"/>
                <a:cs typeface="LM Sans 10"/>
              </a:rPr>
              <a:t>n</a:t>
            </a:r>
            <a:r>
              <a:rPr sz="1000" dirty="0">
                <a:latin typeface="LM Sans 10"/>
                <a:cs typeface="LM Sans 10"/>
              </a:rPr>
              <a:t>]]</a:t>
            </a:r>
            <a:endParaRPr sz="1000">
              <a:latin typeface="LM Sans 10"/>
              <a:cs typeface="LM Sans 10"/>
            </a:endParaRPr>
          </a:p>
          <a:p>
            <a:pPr marL="12700">
              <a:lnSpc>
                <a:spcPts val="1200"/>
              </a:lnSpc>
            </a:pPr>
            <a:r>
              <a:rPr sz="1000" i="1" spc="20" dirty="0">
                <a:latin typeface="LM Sans 10"/>
                <a:cs typeface="LM Sans 10"/>
              </a:rPr>
              <a:t>s</a:t>
            </a:r>
            <a:r>
              <a:rPr sz="1000" spc="20" dirty="0">
                <a:latin typeface="LM Sans 10"/>
                <a:cs typeface="LM Sans 10"/>
              </a:rPr>
              <a:t>[</a:t>
            </a:r>
            <a:r>
              <a:rPr sz="1000" i="1" spc="20" dirty="0">
                <a:latin typeface="LM Sans 10"/>
                <a:cs typeface="LM Sans 10"/>
              </a:rPr>
              <a:t>s</a:t>
            </a:r>
            <a:r>
              <a:rPr sz="1000" spc="20" dirty="0">
                <a:latin typeface="LM Sans 10"/>
                <a:cs typeface="LM Sans 10"/>
              </a:rPr>
              <a:t>[1</a:t>
            </a:r>
            <a:r>
              <a:rPr sz="1000" i="1" spc="20" dirty="0">
                <a:latin typeface="LM Roman Dunhill 10"/>
                <a:cs typeface="LM Roman Dunhill 10"/>
              </a:rPr>
              <a:t>,</a:t>
            </a:r>
            <a:r>
              <a:rPr sz="1000" i="1" spc="-185" dirty="0">
                <a:latin typeface="LM Roman Dunhill 10"/>
                <a:cs typeface="LM Roman Dunhill 10"/>
              </a:rPr>
              <a:t> </a:t>
            </a:r>
            <a:r>
              <a:rPr sz="1000" i="1" spc="5" dirty="0">
                <a:latin typeface="LM Sans 10"/>
                <a:cs typeface="LM Sans 10"/>
              </a:rPr>
              <a:t>n</a:t>
            </a:r>
            <a:r>
              <a:rPr sz="1000" spc="5" dirty="0">
                <a:latin typeface="LM Sans 10"/>
                <a:cs typeface="LM Sans 10"/>
              </a:rPr>
              <a:t>]</a:t>
            </a:r>
            <a:r>
              <a:rPr sz="1000" spc="-135" dirty="0">
                <a:latin typeface="LM Sans 10"/>
                <a:cs typeface="LM Sans 10"/>
              </a:rPr>
              <a:t> </a:t>
            </a:r>
            <a:r>
              <a:rPr sz="1000" spc="-5" dirty="0">
                <a:latin typeface="LM Sans 10"/>
                <a:cs typeface="LM Sans 10"/>
              </a:rPr>
              <a:t>+</a:t>
            </a:r>
            <a:r>
              <a:rPr sz="1000" spc="-130" dirty="0">
                <a:latin typeface="LM Sans 10"/>
                <a:cs typeface="LM Sans 10"/>
              </a:rPr>
              <a:t> </a:t>
            </a:r>
            <a:r>
              <a:rPr sz="1000" spc="-5" dirty="0">
                <a:latin typeface="LM Sans 10"/>
                <a:cs typeface="LM Sans 10"/>
              </a:rPr>
              <a:t>1</a:t>
            </a:r>
            <a:r>
              <a:rPr sz="1000" i="1" spc="-5" dirty="0">
                <a:latin typeface="LM Roman Dunhill 10"/>
                <a:cs typeface="LM Roman Dunhill 10"/>
              </a:rPr>
              <a:t>,</a:t>
            </a:r>
            <a:r>
              <a:rPr sz="1000" i="1" spc="-185" dirty="0">
                <a:latin typeface="LM Roman Dunhill 10"/>
                <a:cs typeface="LM Roman Dunhill 10"/>
              </a:rPr>
              <a:t> </a:t>
            </a:r>
            <a:r>
              <a:rPr sz="1000" i="1" spc="5" dirty="0">
                <a:latin typeface="LM Sans 10"/>
                <a:cs typeface="LM Sans 10"/>
              </a:rPr>
              <a:t>n</a:t>
            </a:r>
            <a:r>
              <a:rPr sz="1000" spc="5" dirty="0">
                <a:latin typeface="LM Sans 10"/>
                <a:cs typeface="LM Sans 10"/>
              </a:rPr>
              <a:t>]</a:t>
            </a:r>
            <a:endParaRPr sz="1000">
              <a:latin typeface="LM Sans 10"/>
              <a:cs typeface="LM Sans 10"/>
            </a:endParaRPr>
          </a:p>
        </p:txBody>
      </p:sp>
      <p:sp>
        <p:nvSpPr>
          <p:cNvPr id="17" name="object 17"/>
          <p:cNvSpPr txBox="1"/>
          <p:nvPr/>
        </p:nvSpPr>
        <p:spPr>
          <a:xfrm>
            <a:off x="1338007" y="1927217"/>
            <a:ext cx="1703705"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60" baseline="3968"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54"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40"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1050" i="1" spc="-7" baseline="3968" dirty="0">
                <a:latin typeface="LM Sans 8"/>
                <a:cs typeface="LM Sans 8"/>
              </a:rPr>
              <a:t>n</a:t>
            </a:r>
            <a:r>
              <a:rPr sz="1050" i="1" spc="-284" baseline="3968" dirty="0">
                <a:latin typeface="LM Sans 8"/>
                <a:cs typeface="LM Sans 8"/>
              </a:rPr>
              <a:t> </a:t>
            </a:r>
            <a:r>
              <a:rPr sz="1500" spc="-7" baseline="11111" dirty="0">
                <a:latin typeface="LM Sans 10"/>
                <a:cs typeface="LM Sans 10"/>
              </a:rPr>
              <a:t>)</a:t>
            </a:r>
            <a:endParaRPr sz="1500" baseline="11111">
              <a:latin typeface="LM Sans 10"/>
              <a:cs typeface="LM Sans 10"/>
            </a:endParaRPr>
          </a:p>
        </p:txBody>
      </p:sp>
      <p:sp>
        <p:nvSpPr>
          <p:cNvPr id="18" name="object 18"/>
          <p:cNvSpPr txBox="1"/>
          <p:nvPr/>
        </p:nvSpPr>
        <p:spPr>
          <a:xfrm>
            <a:off x="1338050" y="2079045"/>
            <a:ext cx="2227580"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52" baseline="3968"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47"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endParaRPr sz="1500" baseline="11111">
              <a:latin typeface="LM Sans 10"/>
              <a:cs typeface="LM Sans 10"/>
            </a:endParaRPr>
          </a:p>
        </p:txBody>
      </p:sp>
      <p:sp>
        <p:nvSpPr>
          <p:cNvPr id="19" name="object 19"/>
          <p:cNvSpPr txBox="1"/>
          <p:nvPr/>
        </p:nvSpPr>
        <p:spPr>
          <a:xfrm>
            <a:off x="1338005" y="2230874"/>
            <a:ext cx="2597150" cy="177800"/>
          </a:xfrm>
          <a:prstGeom prst="rect">
            <a:avLst/>
          </a:prstGeom>
        </p:spPr>
        <p:txBody>
          <a:bodyPr vert="horz" wrap="square" lIns="0" tIns="12065" rIns="0" bIns="0" rtlCol="0">
            <a:spAutoFit/>
          </a:bodyPr>
          <a:lstStyle/>
          <a:p>
            <a:pPr marL="38100">
              <a:lnSpc>
                <a:spcPct val="100000"/>
              </a:lnSpc>
              <a:spcBef>
                <a:spcPts val="95"/>
              </a:spcBef>
            </a:pP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47"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7" baseline="11111" dirty="0">
                <a:latin typeface="LM Sans 10"/>
                <a:cs typeface="LM Sans 10"/>
              </a:rPr>
              <a:t>A</a:t>
            </a:r>
            <a:r>
              <a:rPr sz="1050" i="1" spc="-7" baseline="3968" dirty="0">
                <a:latin typeface="LM Sans 8"/>
                <a:cs typeface="LM Sans 8"/>
              </a:rPr>
              <a:t>n</a:t>
            </a:r>
            <a:r>
              <a:rPr sz="1050" i="1" spc="-284" baseline="3968" dirty="0">
                <a:latin typeface="LM Sans 8"/>
                <a:cs typeface="LM Sans 8"/>
              </a:rPr>
              <a:t> </a:t>
            </a:r>
            <a:r>
              <a:rPr sz="1500" spc="-7" baseline="11111" dirty="0">
                <a:latin typeface="LM Sans 10"/>
                <a:cs typeface="LM Sans 10"/>
              </a:rPr>
              <a:t>)</a:t>
            </a:r>
            <a:endParaRPr sz="1500" baseline="11111">
              <a:latin typeface="LM Sans 10"/>
              <a:cs typeface="LM Sans 10"/>
            </a:endParaRPr>
          </a:p>
        </p:txBody>
      </p:sp>
      <p:grpSp>
        <p:nvGrpSpPr>
          <p:cNvPr id="20" name="object 20"/>
          <p:cNvGrpSpPr/>
          <p:nvPr/>
        </p:nvGrpSpPr>
        <p:grpSpPr>
          <a:xfrm>
            <a:off x="0" y="3342919"/>
            <a:ext cx="4608195" cy="113664"/>
            <a:chOff x="0" y="3342919"/>
            <a:chExt cx="4608195" cy="113664"/>
          </a:xfrm>
        </p:grpSpPr>
        <p:sp>
          <p:nvSpPr>
            <p:cNvPr id="21" name="object 21"/>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2" name="object 22"/>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3" name="object 23"/>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5" name="object 25"/>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6" name="object 26"/>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25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02888"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148054" y="586346"/>
            <a:ext cx="2312035"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4: </a:t>
            </a:r>
            <a:r>
              <a:rPr sz="1100" spc="-10" dirty="0">
                <a:latin typeface="LM Sans 10"/>
                <a:cs typeface="LM Sans 10"/>
              </a:rPr>
              <a:t>Constructing </a:t>
            </a:r>
            <a:r>
              <a:rPr sz="1100" spc="-5" dirty="0">
                <a:latin typeface="LM Sans 10"/>
                <a:cs typeface="LM Sans 10"/>
              </a:rPr>
              <a:t>optimal</a:t>
            </a:r>
            <a:r>
              <a:rPr sz="1100" spc="65" dirty="0">
                <a:latin typeface="LM Sans 10"/>
                <a:cs typeface="LM Sans 10"/>
              </a:rPr>
              <a:t> </a:t>
            </a:r>
            <a:r>
              <a:rPr sz="1100" spc="-5" dirty="0">
                <a:latin typeface="LM Sans 10"/>
                <a:cs typeface="LM Sans 10"/>
              </a:rPr>
              <a:t>solution</a:t>
            </a:r>
            <a:endParaRPr sz="1100">
              <a:latin typeface="LM Sans 10"/>
              <a:cs typeface="LM Sans 10"/>
            </a:endParaRPr>
          </a:p>
        </p:txBody>
      </p:sp>
      <p:grpSp>
        <p:nvGrpSpPr>
          <p:cNvPr id="4" name="object 4"/>
          <p:cNvGrpSpPr/>
          <p:nvPr/>
        </p:nvGrpSpPr>
        <p:grpSpPr>
          <a:xfrm>
            <a:off x="309193" y="1360017"/>
            <a:ext cx="4040504" cy="469900"/>
            <a:chOff x="309193" y="1360017"/>
            <a:chExt cx="4040504" cy="469900"/>
          </a:xfrm>
        </p:grpSpPr>
        <p:sp>
          <p:nvSpPr>
            <p:cNvPr id="5" name="object 5"/>
            <p:cNvSpPr/>
            <p:nvPr/>
          </p:nvSpPr>
          <p:spPr>
            <a:xfrm>
              <a:off x="309193" y="1360017"/>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525968"/>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727720"/>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715020"/>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404251"/>
              <a:ext cx="50749" cy="323469"/>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570242"/>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442350"/>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429650"/>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416949"/>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404249"/>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5" name="object 15"/>
          <p:cNvSpPr txBox="1"/>
          <p:nvPr/>
        </p:nvSpPr>
        <p:spPr>
          <a:xfrm>
            <a:off x="309194" y="893177"/>
            <a:ext cx="3971290" cy="847090"/>
          </a:xfrm>
          <a:prstGeom prst="rect">
            <a:avLst/>
          </a:prstGeom>
        </p:spPr>
        <p:txBody>
          <a:bodyPr vert="horz" wrap="square" lIns="0" tIns="6985" rIns="0" bIns="0" rtlCol="0">
            <a:spAutoFit/>
          </a:bodyPr>
          <a:lstStyle/>
          <a:p>
            <a:pPr marL="50800" marR="43180">
              <a:lnSpc>
                <a:spcPct val="102600"/>
              </a:lnSpc>
              <a:spcBef>
                <a:spcPts val="55"/>
              </a:spcBef>
            </a:pPr>
            <a:r>
              <a:rPr sz="1100" spc="-5" dirty="0">
                <a:solidFill>
                  <a:srgbClr val="FF0000"/>
                </a:solidFill>
                <a:latin typeface="LM Sans 10"/>
                <a:cs typeface="LM Sans 10"/>
              </a:rPr>
              <a:t>Idea</a:t>
            </a:r>
            <a:r>
              <a:rPr sz="1100" spc="-5" dirty="0">
                <a:latin typeface="LM Sans 10"/>
                <a:cs typeface="LM Sans 10"/>
              </a:rPr>
              <a:t>:</a:t>
            </a:r>
            <a:r>
              <a:rPr sz="1100" spc="114" dirty="0">
                <a:latin typeface="LM Sans 10"/>
                <a:cs typeface="LM Sans 10"/>
              </a:rPr>
              <a:t> </a:t>
            </a:r>
            <a:r>
              <a:rPr sz="1100" spc="-5" dirty="0">
                <a:latin typeface="LM Sans 10"/>
                <a:cs typeface="LM Sans 10"/>
              </a:rPr>
              <a:t>Maintain </a:t>
            </a:r>
            <a:r>
              <a:rPr sz="1100" spc="-10" dirty="0">
                <a:latin typeface="LM Sans 10"/>
                <a:cs typeface="LM Sans 10"/>
              </a:rPr>
              <a:t>an</a:t>
            </a:r>
            <a:r>
              <a:rPr sz="1100" spc="-5" dirty="0">
                <a:latin typeface="LM Sans 10"/>
                <a:cs typeface="LM Sans 10"/>
              </a:rPr>
              <a:t> </a:t>
            </a:r>
            <a:r>
              <a:rPr sz="1100" spc="-20" dirty="0">
                <a:latin typeface="LM Sans 10"/>
                <a:cs typeface="LM Sans 10"/>
              </a:rPr>
              <a:t>array</a:t>
            </a:r>
            <a:r>
              <a:rPr sz="1100" dirty="0">
                <a:latin typeface="LM Sans 10"/>
                <a:cs typeface="LM Sans 10"/>
              </a:rPr>
              <a:t> </a:t>
            </a:r>
            <a:r>
              <a:rPr sz="1100" i="1" spc="10" dirty="0">
                <a:latin typeface="LM Sans 10"/>
                <a:cs typeface="LM Sans 10"/>
              </a:rPr>
              <a:t>s</a:t>
            </a:r>
            <a:r>
              <a:rPr sz="1100" spc="10" dirty="0">
                <a:latin typeface="LM Sans 10"/>
                <a:cs typeface="LM Sans 10"/>
              </a:rPr>
              <a:t>[1</a:t>
            </a:r>
            <a:r>
              <a:rPr sz="1100" i="1" spc="10" dirty="0">
                <a:latin typeface="LM Roman Dunhill 10"/>
                <a:cs typeface="LM Roman Dunhill 10"/>
              </a:rPr>
              <a:t>..</a:t>
            </a:r>
            <a:r>
              <a:rPr sz="1100" i="1" spc="10" dirty="0">
                <a:latin typeface="LM Sans 10"/>
                <a:cs typeface="LM Sans 10"/>
              </a:rPr>
              <a:t>n</a:t>
            </a:r>
            <a:r>
              <a:rPr sz="1100" i="1" spc="10"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i="1" spc="-5" dirty="0">
                <a:latin typeface="LM Sans 10"/>
                <a:cs typeface="LM Sans 10"/>
              </a:rPr>
              <a:t>n</a:t>
            </a:r>
            <a:r>
              <a:rPr sz="1100" spc="-5" dirty="0">
                <a:latin typeface="LM Sans 10"/>
                <a:cs typeface="LM Sans 10"/>
              </a:rPr>
              <a:t>], where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 denotes </a:t>
            </a:r>
            <a:r>
              <a:rPr sz="1100" i="1" spc="-10" dirty="0">
                <a:latin typeface="LM Sans 10"/>
                <a:cs typeface="LM Sans 10"/>
              </a:rPr>
              <a:t>k</a:t>
            </a:r>
            <a:r>
              <a:rPr sz="1100" i="1" spc="85" dirty="0">
                <a:latin typeface="LM Sans 10"/>
                <a:cs typeface="LM Sans 10"/>
              </a:rPr>
              <a:t> </a:t>
            </a:r>
            <a:r>
              <a:rPr sz="1100" spc="-15" dirty="0">
                <a:latin typeface="LM Sans 10"/>
                <a:cs typeface="LM Sans 10"/>
              </a:rPr>
              <a:t>for</a:t>
            </a:r>
            <a:r>
              <a:rPr sz="1100" spc="-5" dirty="0">
                <a:latin typeface="LM Sans 10"/>
                <a:cs typeface="LM Sans 10"/>
              </a:rPr>
              <a:t> </a:t>
            </a:r>
            <a:r>
              <a:rPr sz="1100" spc="-10" dirty="0">
                <a:latin typeface="LM Sans 10"/>
                <a:cs typeface="LM Sans 10"/>
              </a:rPr>
              <a:t>the  </a:t>
            </a:r>
            <a:r>
              <a:rPr sz="1100" spc="-5" dirty="0">
                <a:latin typeface="LM Sans 10"/>
                <a:cs typeface="LM Sans 10"/>
              </a:rPr>
              <a:t>optimal</a:t>
            </a:r>
            <a:r>
              <a:rPr sz="1100" spc="-10" dirty="0">
                <a:latin typeface="LM Sans 10"/>
                <a:cs typeface="LM Sans 10"/>
              </a:rPr>
              <a:t> </a:t>
            </a:r>
            <a:r>
              <a:rPr sz="1100" spc="-5" dirty="0">
                <a:latin typeface="LM Sans 10"/>
                <a:cs typeface="LM Sans 10"/>
              </a:rPr>
              <a:t>splitting in computing </a:t>
            </a:r>
            <a:r>
              <a:rPr sz="1100" i="1" spc="10" dirty="0">
                <a:latin typeface="LM Sans 10"/>
                <a:cs typeface="LM Sans 10"/>
              </a:rPr>
              <a:t>A</a:t>
            </a:r>
            <a:r>
              <a:rPr sz="1200" i="1" spc="15" baseline="-10416" dirty="0">
                <a:latin typeface="LM Sans 8"/>
                <a:cs typeface="LM Sans 8"/>
              </a:rPr>
              <a:t>i..j</a:t>
            </a:r>
            <a:r>
              <a:rPr sz="1200" i="1" spc="217" baseline="-10416" dirty="0">
                <a:latin typeface="LM Sans 8"/>
                <a:cs typeface="LM Sans 8"/>
              </a:rPr>
              <a:t> </a:t>
            </a:r>
            <a:r>
              <a:rPr sz="1100" spc="-10" dirty="0">
                <a:latin typeface="LM Sans 10"/>
                <a:cs typeface="LM Sans 10"/>
              </a:rPr>
              <a:t>=</a:t>
            </a:r>
            <a:r>
              <a:rPr sz="1100" spc="-70" dirty="0">
                <a:latin typeface="LM Sans 10"/>
                <a:cs typeface="LM Sans 10"/>
              </a:rPr>
              <a:t> </a:t>
            </a:r>
            <a:r>
              <a:rPr sz="1100" i="1" spc="10" dirty="0">
                <a:latin typeface="LM Sans 10"/>
                <a:cs typeface="LM Sans 10"/>
              </a:rPr>
              <a:t>A</a:t>
            </a:r>
            <a:r>
              <a:rPr sz="1200" i="1" spc="15" baseline="-13888" dirty="0">
                <a:latin typeface="LM Sans 8"/>
                <a:cs typeface="LM Sans 8"/>
              </a:rPr>
              <a:t>i..k</a:t>
            </a:r>
            <a:r>
              <a:rPr sz="1200" i="1" spc="-254" baseline="-13888" dirty="0">
                <a:latin typeface="LM Sans 8"/>
                <a:cs typeface="LM Sans 8"/>
              </a:rPr>
              <a:t>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40" baseline="-13888" dirty="0">
                <a:latin typeface="LM Sans 8"/>
                <a:cs typeface="LM Sans 8"/>
              </a:rPr>
              <a:t> </a:t>
            </a:r>
            <a:r>
              <a:rPr sz="1100" spc="-5" dirty="0">
                <a:latin typeface="LM Sans 10"/>
                <a:cs typeface="LM Sans 10"/>
              </a:rPr>
              <a:t>.</a:t>
            </a:r>
            <a:endParaRPr sz="1100">
              <a:latin typeface="LM Sans 10"/>
              <a:cs typeface="LM Sans 10"/>
            </a:endParaRPr>
          </a:p>
          <a:p>
            <a:pPr marL="50800">
              <a:lnSpc>
                <a:spcPct val="100000"/>
              </a:lnSpc>
              <a:spcBef>
                <a:spcPts val="870"/>
              </a:spcBef>
            </a:pPr>
            <a:r>
              <a:rPr sz="1100" spc="-5" dirty="0">
                <a:solidFill>
                  <a:srgbClr val="FFFFFF"/>
                </a:solidFill>
                <a:latin typeface="LM Sans 10"/>
                <a:cs typeface="LM Sans 10"/>
              </a:rPr>
              <a:t>Question</a:t>
            </a:r>
            <a:endParaRPr sz="1100">
              <a:latin typeface="LM Sans 10"/>
              <a:cs typeface="LM Sans 10"/>
            </a:endParaRPr>
          </a:p>
          <a:p>
            <a:pPr marL="50800">
              <a:lnSpc>
                <a:spcPct val="100000"/>
              </a:lnSpc>
              <a:spcBef>
                <a:spcPts val="295"/>
              </a:spcBef>
            </a:pPr>
            <a:r>
              <a:rPr sz="1100" spc="-20" dirty="0">
                <a:latin typeface="LM Sans 10"/>
                <a:cs typeface="LM Sans 10"/>
              </a:rPr>
              <a:t>How</a:t>
            </a:r>
            <a:r>
              <a:rPr sz="1100" spc="-10" dirty="0">
                <a:latin typeface="LM Sans 10"/>
                <a:cs typeface="LM Sans 10"/>
              </a:rPr>
              <a:t> </a:t>
            </a:r>
            <a:r>
              <a:rPr sz="1100" spc="-5" dirty="0">
                <a:latin typeface="LM Sans 10"/>
                <a:cs typeface="LM Sans 10"/>
              </a:rPr>
              <a:t>to</a:t>
            </a:r>
            <a:r>
              <a:rPr sz="1100" spc="-10" dirty="0">
                <a:latin typeface="LM Sans 10"/>
                <a:cs typeface="LM Sans 10"/>
              </a:rPr>
              <a:t> </a:t>
            </a:r>
            <a:r>
              <a:rPr sz="1100" spc="-5" dirty="0">
                <a:latin typeface="LM Sans 10"/>
                <a:cs typeface="LM Sans 10"/>
              </a:rPr>
              <a:t>Recover the</a:t>
            </a:r>
            <a:r>
              <a:rPr sz="1100" spc="-10" dirty="0">
                <a:latin typeface="LM Sans 10"/>
                <a:cs typeface="LM Sans 10"/>
              </a:rPr>
              <a:t> </a:t>
            </a:r>
            <a:r>
              <a:rPr sz="1100" spc="-5" dirty="0">
                <a:latin typeface="LM Sans 10"/>
                <a:cs typeface="LM Sans 10"/>
              </a:rPr>
              <a:t>Multiplication Sequence</a:t>
            </a:r>
            <a:r>
              <a:rPr sz="1100" spc="-10" dirty="0">
                <a:latin typeface="LM Sans 10"/>
                <a:cs typeface="LM Sans 10"/>
              </a:rPr>
              <a:t> </a:t>
            </a:r>
            <a:r>
              <a:rPr sz="1100" spc="-5" dirty="0">
                <a:latin typeface="LM Sans 10"/>
                <a:cs typeface="LM Sans 10"/>
              </a:rPr>
              <a:t>using</a:t>
            </a:r>
            <a:r>
              <a:rPr sz="1100" dirty="0">
                <a:latin typeface="LM Sans 10"/>
                <a:cs typeface="LM Sans 10"/>
              </a:rPr>
              <a:t>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endParaRPr sz="1100">
              <a:latin typeface="LM Sans 10"/>
              <a:cs typeface="LM Sans 10"/>
            </a:endParaRPr>
          </a:p>
        </p:txBody>
      </p:sp>
      <p:sp>
        <p:nvSpPr>
          <p:cNvPr id="16" name="object 16"/>
          <p:cNvSpPr txBox="1"/>
          <p:nvPr/>
        </p:nvSpPr>
        <p:spPr>
          <a:xfrm>
            <a:off x="445109" y="1904370"/>
            <a:ext cx="817244" cy="481330"/>
          </a:xfrm>
          <a:prstGeom prst="rect">
            <a:avLst/>
          </a:prstGeom>
        </p:spPr>
        <p:txBody>
          <a:bodyPr vert="horz" wrap="square" lIns="0" tIns="12065" rIns="0" bIns="0" rtlCol="0">
            <a:spAutoFit/>
          </a:bodyPr>
          <a:lstStyle/>
          <a:p>
            <a:pPr marL="12700">
              <a:lnSpc>
                <a:spcPts val="1200"/>
              </a:lnSpc>
              <a:spcBef>
                <a:spcPts val="95"/>
              </a:spcBef>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75" dirty="0">
                <a:latin typeface="LM Roman Dunhill 10"/>
                <a:cs typeface="LM Roman Dunhill 10"/>
              </a:rPr>
              <a:t> </a:t>
            </a:r>
            <a:r>
              <a:rPr sz="1000" i="1" spc="5" dirty="0">
                <a:latin typeface="LM Sans 10"/>
                <a:cs typeface="LM Sans 10"/>
              </a:rPr>
              <a:t>n</a:t>
            </a:r>
            <a:r>
              <a:rPr sz="1000" spc="5" dirty="0">
                <a:latin typeface="LM Sans 10"/>
                <a:cs typeface="LM Sans 10"/>
              </a:rPr>
              <a:t>]</a:t>
            </a:r>
            <a:endParaRPr sz="1000">
              <a:latin typeface="LM Sans 10"/>
              <a:cs typeface="LM Sans 10"/>
            </a:endParaRPr>
          </a:p>
          <a:p>
            <a:pPr marL="12700">
              <a:lnSpc>
                <a:spcPts val="1195"/>
              </a:lnSpc>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80" dirty="0">
                <a:latin typeface="LM Roman Dunhill 10"/>
                <a:cs typeface="LM Roman Dunhill 10"/>
              </a:rPr>
              <a:t> </a:t>
            </a: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75" dirty="0">
                <a:latin typeface="LM Roman Dunhill 10"/>
                <a:cs typeface="LM Roman Dunhill 10"/>
              </a:rPr>
              <a:t> </a:t>
            </a:r>
            <a:r>
              <a:rPr sz="1000" i="1" dirty="0">
                <a:latin typeface="LM Sans 10"/>
                <a:cs typeface="LM Sans 10"/>
              </a:rPr>
              <a:t>n</a:t>
            </a:r>
            <a:r>
              <a:rPr sz="1000" dirty="0">
                <a:latin typeface="LM Sans 10"/>
                <a:cs typeface="LM Sans 10"/>
              </a:rPr>
              <a:t>]]</a:t>
            </a:r>
            <a:endParaRPr sz="1000">
              <a:latin typeface="LM Sans 10"/>
              <a:cs typeface="LM Sans 10"/>
            </a:endParaRPr>
          </a:p>
          <a:p>
            <a:pPr marL="12700">
              <a:lnSpc>
                <a:spcPts val="1200"/>
              </a:lnSpc>
            </a:pPr>
            <a:r>
              <a:rPr sz="1000" i="1" spc="20" dirty="0">
                <a:latin typeface="LM Sans 10"/>
                <a:cs typeface="LM Sans 10"/>
              </a:rPr>
              <a:t>s</a:t>
            </a:r>
            <a:r>
              <a:rPr sz="1000" spc="20" dirty="0">
                <a:latin typeface="LM Sans 10"/>
                <a:cs typeface="LM Sans 10"/>
              </a:rPr>
              <a:t>[</a:t>
            </a:r>
            <a:r>
              <a:rPr sz="1000" i="1" spc="20" dirty="0">
                <a:latin typeface="LM Sans 10"/>
                <a:cs typeface="LM Sans 10"/>
              </a:rPr>
              <a:t>s</a:t>
            </a:r>
            <a:r>
              <a:rPr sz="1000" spc="20" dirty="0">
                <a:latin typeface="LM Sans 10"/>
                <a:cs typeface="LM Sans 10"/>
              </a:rPr>
              <a:t>[1</a:t>
            </a:r>
            <a:r>
              <a:rPr sz="1000" i="1" spc="20" dirty="0">
                <a:latin typeface="LM Roman Dunhill 10"/>
                <a:cs typeface="LM Roman Dunhill 10"/>
              </a:rPr>
              <a:t>,</a:t>
            </a:r>
            <a:r>
              <a:rPr sz="1000" i="1" spc="-185" dirty="0">
                <a:latin typeface="LM Roman Dunhill 10"/>
                <a:cs typeface="LM Roman Dunhill 10"/>
              </a:rPr>
              <a:t> </a:t>
            </a:r>
            <a:r>
              <a:rPr sz="1000" i="1" spc="5" dirty="0">
                <a:latin typeface="LM Sans 10"/>
                <a:cs typeface="LM Sans 10"/>
              </a:rPr>
              <a:t>n</a:t>
            </a:r>
            <a:r>
              <a:rPr sz="1000" spc="5" dirty="0">
                <a:latin typeface="LM Sans 10"/>
                <a:cs typeface="LM Sans 10"/>
              </a:rPr>
              <a:t>]</a:t>
            </a:r>
            <a:r>
              <a:rPr sz="1000" spc="-135" dirty="0">
                <a:latin typeface="LM Sans 10"/>
                <a:cs typeface="LM Sans 10"/>
              </a:rPr>
              <a:t> </a:t>
            </a:r>
            <a:r>
              <a:rPr sz="1000" spc="-5" dirty="0">
                <a:latin typeface="LM Sans 10"/>
                <a:cs typeface="LM Sans 10"/>
              </a:rPr>
              <a:t>+</a:t>
            </a:r>
            <a:r>
              <a:rPr sz="1000" spc="-130" dirty="0">
                <a:latin typeface="LM Sans 10"/>
                <a:cs typeface="LM Sans 10"/>
              </a:rPr>
              <a:t> </a:t>
            </a:r>
            <a:r>
              <a:rPr sz="1000" spc="-5" dirty="0">
                <a:latin typeface="LM Sans 10"/>
                <a:cs typeface="LM Sans 10"/>
              </a:rPr>
              <a:t>1</a:t>
            </a:r>
            <a:r>
              <a:rPr sz="1000" i="1" spc="-5" dirty="0">
                <a:latin typeface="LM Roman Dunhill 10"/>
                <a:cs typeface="LM Roman Dunhill 10"/>
              </a:rPr>
              <a:t>,</a:t>
            </a:r>
            <a:r>
              <a:rPr sz="1000" i="1" spc="-185" dirty="0">
                <a:latin typeface="LM Roman Dunhill 10"/>
                <a:cs typeface="LM Roman Dunhill 10"/>
              </a:rPr>
              <a:t> </a:t>
            </a:r>
            <a:r>
              <a:rPr sz="1000" i="1" spc="5" dirty="0">
                <a:latin typeface="LM Sans 10"/>
                <a:cs typeface="LM Sans 10"/>
              </a:rPr>
              <a:t>n</a:t>
            </a:r>
            <a:r>
              <a:rPr sz="1000" spc="5" dirty="0">
                <a:latin typeface="LM Sans 10"/>
                <a:cs typeface="LM Sans 10"/>
              </a:rPr>
              <a:t>]</a:t>
            </a:r>
            <a:endParaRPr sz="1000">
              <a:latin typeface="LM Sans 10"/>
              <a:cs typeface="LM Sans 10"/>
            </a:endParaRPr>
          </a:p>
        </p:txBody>
      </p:sp>
      <p:sp>
        <p:nvSpPr>
          <p:cNvPr id="17" name="object 17"/>
          <p:cNvSpPr txBox="1"/>
          <p:nvPr/>
        </p:nvSpPr>
        <p:spPr>
          <a:xfrm>
            <a:off x="1338007" y="1927217"/>
            <a:ext cx="1703705"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60" baseline="3968"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54"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40"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1050" i="1" spc="-7" baseline="3968" dirty="0">
                <a:latin typeface="LM Sans 8"/>
                <a:cs typeface="LM Sans 8"/>
              </a:rPr>
              <a:t>n</a:t>
            </a:r>
            <a:r>
              <a:rPr sz="1050" i="1" spc="-284" baseline="3968" dirty="0">
                <a:latin typeface="LM Sans 8"/>
                <a:cs typeface="LM Sans 8"/>
              </a:rPr>
              <a:t> </a:t>
            </a:r>
            <a:r>
              <a:rPr sz="1500" spc="-7" baseline="11111" dirty="0">
                <a:latin typeface="LM Sans 10"/>
                <a:cs typeface="LM Sans 10"/>
              </a:rPr>
              <a:t>)</a:t>
            </a:r>
            <a:endParaRPr sz="1500" baseline="11111">
              <a:latin typeface="LM Sans 10"/>
              <a:cs typeface="LM Sans 10"/>
            </a:endParaRPr>
          </a:p>
        </p:txBody>
      </p:sp>
      <p:sp>
        <p:nvSpPr>
          <p:cNvPr id="18" name="object 18"/>
          <p:cNvSpPr txBox="1"/>
          <p:nvPr/>
        </p:nvSpPr>
        <p:spPr>
          <a:xfrm>
            <a:off x="1338050" y="2079045"/>
            <a:ext cx="2227580"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52" baseline="3968"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47"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endParaRPr sz="1500" baseline="11111">
              <a:latin typeface="LM Sans 10"/>
              <a:cs typeface="LM Sans 10"/>
            </a:endParaRPr>
          </a:p>
        </p:txBody>
      </p:sp>
      <p:sp>
        <p:nvSpPr>
          <p:cNvPr id="19" name="object 19"/>
          <p:cNvSpPr txBox="1"/>
          <p:nvPr/>
        </p:nvSpPr>
        <p:spPr>
          <a:xfrm>
            <a:off x="1338005" y="2230874"/>
            <a:ext cx="2597150" cy="177800"/>
          </a:xfrm>
          <a:prstGeom prst="rect">
            <a:avLst/>
          </a:prstGeom>
        </p:spPr>
        <p:txBody>
          <a:bodyPr vert="horz" wrap="square" lIns="0" tIns="12065" rIns="0" bIns="0" rtlCol="0">
            <a:spAutoFit/>
          </a:bodyPr>
          <a:lstStyle/>
          <a:p>
            <a:pPr marL="38100">
              <a:lnSpc>
                <a:spcPct val="100000"/>
              </a:lnSpc>
              <a:spcBef>
                <a:spcPts val="95"/>
              </a:spcBef>
            </a:pP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47"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7" baseline="11111" dirty="0">
                <a:latin typeface="LM Sans 10"/>
                <a:cs typeface="LM Sans 10"/>
              </a:rPr>
              <a:t>A</a:t>
            </a:r>
            <a:r>
              <a:rPr sz="1050" i="1" spc="-7" baseline="3968" dirty="0">
                <a:latin typeface="LM Sans 8"/>
                <a:cs typeface="LM Sans 8"/>
              </a:rPr>
              <a:t>n</a:t>
            </a:r>
            <a:r>
              <a:rPr sz="1050" i="1" spc="-284" baseline="3968" dirty="0">
                <a:latin typeface="LM Sans 8"/>
                <a:cs typeface="LM Sans 8"/>
              </a:rPr>
              <a:t> </a:t>
            </a:r>
            <a:r>
              <a:rPr sz="1500" spc="-7" baseline="11111" dirty="0">
                <a:latin typeface="LM Sans 10"/>
                <a:cs typeface="LM Sans 10"/>
              </a:rPr>
              <a:t>)</a:t>
            </a:r>
            <a:endParaRPr sz="1500" baseline="11111">
              <a:latin typeface="LM Sans 10"/>
              <a:cs typeface="LM Sans 10"/>
            </a:endParaRPr>
          </a:p>
        </p:txBody>
      </p:sp>
      <p:sp>
        <p:nvSpPr>
          <p:cNvPr id="20" name="object 20"/>
          <p:cNvSpPr txBox="1"/>
          <p:nvPr/>
        </p:nvSpPr>
        <p:spPr>
          <a:xfrm>
            <a:off x="445109" y="2390653"/>
            <a:ext cx="979169" cy="177800"/>
          </a:xfrm>
          <a:prstGeom prst="rect">
            <a:avLst/>
          </a:prstGeom>
        </p:spPr>
        <p:txBody>
          <a:bodyPr vert="horz" wrap="square" lIns="0" tIns="12065" rIns="0" bIns="0" rtlCol="0">
            <a:spAutoFit/>
          </a:bodyPr>
          <a:lstStyle/>
          <a:p>
            <a:pPr marL="12700">
              <a:lnSpc>
                <a:spcPct val="100000"/>
              </a:lnSpc>
              <a:spcBef>
                <a:spcPts val="95"/>
              </a:spcBef>
              <a:tabLst>
                <a:tab pos="930910" algn="l"/>
              </a:tabLst>
            </a:pPr>
            <a:r>
              <a:rPr sz="1000" spc="-5" dirty="0">
                <a:latin typeface="LM Sans 10"/>
                <a:cs typeface="LM Sans 10"/>
              </a:rPr>
              <a:t>.	.</a:t>
            </a:r>
            <a:endParaRPr sz="1000">
              <a:latin typeface="LM Sans 10"/>
              <a:cs typeface="LM Sans 10"/>
            </a:endParaRPr>
          </a:p>
        </p:txBody>
      </p:sp>
      <p:sp>
        <p:nvSpPr>
          <p:cNvPr id="21" name="object 21"/>
          <p:cNvSpPr txBox="1"/>
          <p:nvPr/>
        </p:nvSpPr>
        <p:spPr>
          <a:xfrm>
            <a:off x="445109" y="2441262"/>
            <a:ext cx="979169" cy="177800"/>
          </a:xfrm>
          <a:prstGeom prst="rect">
            <a:avLst/>
          </a:prstGeom>
        </p:spPr>
        <p:txBody>
          <a:bodyPr vert="horz" wrap="square" lIns="0" tIns="12065" rIns="0" bIns="0" rtlCol="0">
            <a:spAutoFit/>
          </a:bodyPr>
          <a:lstStyle/>
          <a:p>
            <a:pPr marL="12700">
              <a:lnSpc>
                <a:spcPct val="100000"/>
              </a:lnSpc>
              <a:spcBef>
                <a:spcPts val="95"/>
              </a:spcBef>
              <a:tabLst>
                <a:tab pos="930910" algn="l"/>
              </a:tabLst>
            </a:pPr>
            <a:r>
              <a:rPr sz="1000" spc="-5" dirty="0">
                <a:latin typeface="LM Sans 10"/>
                <a:cs typeface="LM Sans 10"/>
              </a:rPr>
              <a:t>.	.</a:t>
            </a:r>
            <a:endParaRPr sz="1000">
              <a:latin typeface="LM Sans 10"/>
              <a:cs typeface="LM Sans 10"/>
            </a:endParaRPr>
          </a:p>
        </p:txBody>
      </p:sp>
      <p:grpSp>
        <p:nvGrpSpPr>
          <p:cNvPr id="22" name="object 22"/>
          <p:cNvGrpSpPr/>
          <p:nvPr/>
        </p:nvGrpSpPr>
        <p:grpSpPr>
          <a:xfrm>
            <a:off x="0" y="3342919"/>
            <a:ext cx="4608195" cy="113664"/>
            <a:chOff x="0" y="3342919"/>
            <a:chExt cx="4608195" cy="113664"/>
          </a:xfrm>
        </p:grpSpPr>
        <p:sp>
          <p:nvSpPr>
            <p:cNvPr id="23" name="object 23"/>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4" name="object 24"/>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5" name="object 25"/>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7" name="object 27"/>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8" name="object 28"/>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25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4144085" cy="232756"/>
          </a:xfrm>
          <a:prstGeom prst="rect">
            <a:avLst/>
          </a:prstGeom>
        </p:spPr>
        <p:txBody>
          <a:bodyPr vert="horz" wrap="square" lIns="0" tIns="17145" rIns="0" bIns="0" rtlCol="0">
            <a:spAutoFit/>
          </a:bodyPr>
          <a:lstStyle/>
          <a:p>
            <a:pPr marL="12700">
              <a:lnSpc>
                <a:spcPct val="100000"/>
              </a:lnSpc>
              <a:spcBef>
                <a:spcPts val="135"/>
              </a:spcBef>
            </a:pPr>
            <a:r>
              <a:rPr spc="15" dirty="0"/>
              <a:t>Developing </a:t>
            </a:r>
            <a:r>
              <a:rPr spc="10" dirty="0"/>
              <a:t>a </a:t>
            </a:r>
            <a:r>
              <a:rPr spc="15" dirty="0"/>
              <a:t>Dynamic Programming</a:t>
            </a:r>
            <a:r>
              <a:rPr spc="-60" dirty="0"/>
              <a:t> </a:t>
            </a:r>
            <a:r>
              <a:rPr spc="10" dirty="0"/>
              <a:t>Algorithm</a:t>
            </a:r>
          </a:p>
        </p:txBody>
      </p:sp>
      <p:sp>
        <p:nvSpPr>
          <p:cNvPr id="3" name="object 3"/>
          <p:cNvSpPr txBox="1"/>
          <p:nvPr/>
        </p:nvSpPr>
        <p:spPr>
          <a:xfrm>
            <a:off x="1148054" y="586346"/>
            <a:ext cx="2312035" cy="199390"/>
          </a:xfrm>
          <a:prstGeom prst="rect">
            <a:avLst/>
          </a:prstGeom>
          <a:solidFill>
            <a:srgbClr val="FFF200"/>
          </a:solidFill>
        </p:spPr>
        <p:txBody>
          <a:bodyPr vert="horz" wrap="square" lIns="0" tIns="0" rIns="0" bIns="0" rtlCol="0">
            <a:spAutoFit/>
          </a:bodyPr>
          <a:lstStyle/>
          <a:p>
            <a:pPr marL="37465">
              <a:lnSpc>
                <a:spcPts val="1275"/>
              </a:lnSpc>
            </a:pPr>
            <a:r>
              <a:rPr sz="1100" spc="-5" dirty="0">
                <a:latin typeface="LM Sans 10"/>
                <a:cs typeface="LM Sans 10"/>
              </a:rPr>
              <a:t>Step 4: </a:t>
            </a:r>
            <a:r>
              <a:rPr sz="1100" spc="-10" dirty="0">
                <a:latin typeface="LM Sans 10"/>
                <a:cs typeface="LM Sans 10"/>
              </a:rPr>
              <a:t>Constructing </a:t>
            </a:r>
            <a:r>
              <a:rPr sz="1100" spc="-5" dirty="0">
                <a:latin typeface="LM Sans 10"/>
                <a:cs typeface="LM Sans 10"/>
              </a:rPr>
              <a:t>optimal</a:t>
            </a:r>
            <a:r>
              <a:rPr sz="1100" spc="65" dirty="0">
                <a:latin typeface="LM Sans 10"/>
                <a:cs typeface="LM Sans 10"/>
              </a:rPr>
              <a:t> </a:t>
            </a:r>
            <a:r>
              <a:rPr sz="1100" spc="-5" dirty="0">
                <a:latin typeface="LM Sans 10"/>
                <a:cs typeface="LM Sans 10"/>
              </a:rPr>
              <a:t>solution</a:t>
            </a:r>
            <a:endParaRPr sz="1100">
              <a:latin typeface="LM Sans 10"/>
              <a:cs typeface="LM Sans 10"/>
            </a:endParaRPr>
          </a:p>
        </p:txBody>
      </p:sp>
      <p:grpSp>
        <p:nvGrpSpPr>
          <p:cNvPr id="4" name="object 4"/>
          <p:cNvGrpSpPr/>
          <p:nvPr/>
        </p:nvGrpSpPr>
        <p:grpSpPr>
          <a:xfrm>
            <a:off x="309193" y="1360017"/>
            <a:ext cx="4040504" cy="469900"/>
            <a:chOff x="309193" y="1360017"/>
            <a:chExt cx="4040504" cy="469900"/>
          </a:xfrm>
        </p:grpSpPr>
        <p:sp>
          <p:nvSpPr>
            <p:cNvPr id="5" name="object 5"/>
            <p:cNvSpPr/>
            <p:nvPr/>
          </p:nvSpPr>
          <p:spPr>
            <a:xfrm>
              <a:off x="309193" y="1360017"/>
              <a:ext cx="3989704" cy="179070"/>
            </a:xfrm>
            <a:custGeom>
              <a:avLst/>
              <a:gdLst/>
              <a:ahLst/>
              <a:cxnLst/>
              <a:rect l="l" t="t" r="r" b="b"/>
              <a:pathLst>
                <a:path w="3989704" h="179069">
                  <a:moveTo>
                    <a:pt x="3938854" y="0"/>
                  </a:moveTo>
                  <a:lnTo>
                    <a:pt x="50800" y="0"/>
                  </a:lnTo>
                  <a:lnTo>
                    <a:pt x="31075" y="4008"/>
                  </a:lnTo>
                  <a:lnTo>
                    <a:pt x="14922" y="14922"/>
                  </a:lnTo>
                  <a:lnTo>
                    <a:pt x="4008" y="31075"/>
                  </a:lnTo>
                  <a:lnTo>
                    <a:pt x="0" y="50800"/>
                  </a:lnTo>
                  <a:lnTo>
                    <a:pt x="0" y="178597"/>
                  </a:lnTo>
                  <a:lnTo>
                    <a:pt x="3989654" y="178597"/>
                  </a:lnTo>
                  <a:lnTo>
                    <a:pt x="3989654" y="50800"/>
                  </a:lnTo>
                  <a:lnTo>
                    <a:pt x="3985646" y="31075"/>
                  </a:lnTo>
                  <a:lnTo>
                    <a:pt x="3974732" y="14922"/>
                  </a:lnTo>
                  <a:lnTo>
                    <a:pt x="3958579" y="4008"/>
                  </a:lnTo>
                  <a:lnTo>
                    <a:pt x="3938854" y="0"/>
                  </a:lnTo>
                  <a:close/>
                </a:path>
              </a:pathLst>
            </a:custGeom>
            <a:solidFill>
              <a:srgbClr val="BF0000"/>
            </a:solidFill>
          </p:spPr>
          <p:txBody>
            <a:bodyPr wrap="square" lIns="0" tIns="0" rIns="0" bIns="0" rtlCol="0"/>
            <a:lstStyle/>
            <a:p>
              <a:endParaRPr/>
            </a:p>
          </p:txBody>
        </p:sp>
        <p:sp>
          <p:nvSpPr>
            <p:cNvPr id="6" name="object 6"/>
            <p:cNvSpPr/>
            <p:nvPr/>
          </p:nvSpPr>
          <p:spPr>
            <a:xfrm>
              <a:off x="309194" y="1525968"/>
              <a:ext cx="3989653" cy="5060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59994" y="1727720"/>
              <a:ext cx="101600" cy="1016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10794" y="1715020"/>
              <a:ext cx="3938802" cy="11430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298848" y="1404251"/>
              <a:ext cx="50749" cy="323469"/>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09193" y="1570242"/>
              <a:ext cx="3989704" cy="208279"/>
            </a:xfrm>
            <a:custGeom>
              <a:avLst/>
              <a:gdLst/>
              <a:ahLst/>
              <a:cxnLst/>
              <a:rect l="l" t="t" r="r" b="b"/>
              <a:pathLst>
                <a:path w="3989704" h="208280">
                  <a:moveTo>
                    <a:pt x="3989654" y="0"/>
                  </a:moveTo>
                  <a:lnTo>
                    <a:pt x="0" y="0"/>
                  </a:lnTo>
                  <a:lnTo>
                    <a:pt x="0" y="157478"/>
                  </a:lnTo>
                  <a:lnTo>
                    <a:pt x="4008" y="177203"/>
                  </a:lnTo>
                  <a:lnTo>
                    <a:pt x="14922" y="193356"/>
                  </a:lnTo>
                  <a:lnTo>
                    <a:pt x="31075" y="204270"/>
                  </a:lnTo>
                  <a:lnTo>
                    <a:pt x="50800" y="208279"/>
                  </a:lnTo>
                  <a:lnTo>
                    <a:pt x="3938854" y="208279"/>
                  </a:lnTo>
                  <a:lnTo>
                    <a:pt x="3958579" y="204270"/>
                  </a:lnTo>
                  <a:lnTo>
                    <a:pt x="3974732" y="193356"/>
                  </a:lnTo>
                  <a:lnTo>
                    <a:pt x="3985646" y="177203"/>
                  </a:lnTo>
                  <a:lnTo>
                    <a:pt x="3989654" y="157478"/>
                  </a:lnTo>
                  <a:lnTo>
                    <a:pt x="3989654" y="0"/>
                  </a:lnTo>
                  <a:close/>
                </a:path>
              </a:pathLst>
            </a:custGeom>
            <a:solidFill>
              <a:srgbClr val="F8E5E5"/>
            </a:solidFill>
          </p:spPr>
          <p:txBody>
            <a:bodyPr wrap="square" lIns="0" tIns="0" rIns="0" bIns="0" rtlCol="0"/>
            <a:lstStyle/>
            <a:p>
              <a:endParaRPr/>
            </a:p>
          </p:txBody>
        </p:sp>
        <p:sp>
          <p:nvSpPr>
            <p:cNvPr id="11" name="object 11"/>
            <p:cNvSpPr/>
            <p:nvPr/>
          </p:nvSpPr>
          <p:spPr>
            <a:xfrm>
              <a:off x="4298848" y="1442350"/>
              <a:ext cx="0" cy="304800"/>
            </a:xfrm>
            <a:custGeom>
              <a:avLst/>
              <a:gdLst/>
              <a:ahLst/>
              <a:cxnLst/>
              <a:rect l="l" t="t" r="r" b="b"/>
              <a:pathLst>
                <a:path h="304800">
                  <a:moveTo>
                    <a:pt x="0" y="30442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298848" y="1429650"/>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298848" y="1416949"/>
              <a:ext cx="0" cy="12700"/>
            </a:xfrm>
            <a:custGeom>
              <a:avLst/>
              <a:gdLst/>
              <a:ahLst/>
              <a:cxnLst/>
              <a:rect l="l" t="t" r="r" b="b"/>
              <a:pathLst>
                <a:path h="12700">
                  <a:moveTo>
                    <a:pt x="0" y="12701"/>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298848" y="1404249"/>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5" name="object 15"/>
          <p:cNvSpPr txBox="1"/>
          <p:nvPr/>
        </p:nvSpPr>
        <p:spPr>
          <a:xfrm>
            <a:off x="309194" y="893177"/>
            <a:ext cx="3971290" cy="847090"/>
          </a:xfrm>
          <a:prstGeom prst="rect">
            <a:avLst/>
          </a:prstGeom>
        </p:spPr>
        <p:txBody>
          <a:bodyPr vert="horz" wrap="square" lIns="0" tIns="6985" rIns="0" bIns="0" rtlCol="0">
            <a:spAutoFit/>
          </a:bodyPr>
          <a:lstStyle/>
          <a:p>
            <a:pPr marL="50800" marR="43180">
              <a:lnSpc>
                <a:spcPct val="102600"/>
              </a:lnSpc>
              <a:spcBef>
                <a:spcPts val="55"/>
              </a:spcBef>
            </a:pPr>
            <a:r>
              <a:rPr sz="1100" spc="-5" dirty="0">
                <a:solidFill>
                  <a:srgbClr val="FF0000"/>
                </a:solidFill>
                <a:latin typeface="LM Sans 10"/>
                <a:cs typeface="LM Sans 10"/>
              </a:rPr>
              <a:t>Idea</a:t>
            </a:r>
            <a:r>
              <a:rPr sz="1100" spc="-5" dirty="0">
                <a:latin typeface="LM Sans 10"/>
                <a:cs typeface="LM Sans 10"/>
              </a:rPr>
              <a:t>:</a:t>
            </a:r>
            <a:r>
              <a:rPr sz="1100" spc="114" dirty="0">
                <a:latin typeface="LM Sans 10"/>
                <a:cs typeface="LM Sans 10"/>
              </a:rPr>
              <a:t> </a:t>
            </a:r>
            <a:r>
              <a:rPr sz="1100" spc="-5" dirty="0">
                <a:latin typeface="LM Sans 10"/>
                <a:cs typeface="LM Sans 10"/>
              </a:rPr>
              <a:t>Maintain </a:t>
            </a:r>
            <a:r>
              <a:rPr sz="1100" spc="-10" dirty="0">
                <a:latin typeface="LM Sans 10"/>
                <a:cs typeface="LM Sans 10"/>
              </a:rPr>
              <a:t>an</a:t>
            </a:r>
            <a:r>
              <a:rPr sz="1100" spc="-5" dirty="0">
                <a:latin typeface="LM Sans 10"/>
                <a:cs typeface="LM Sans 10"/>
              </a:rPr>
              <a:t> </a:t>
            </a:r>
            <a:r>
              <a:rPr sz="1100" spc="-20" dirty="0">
                <a:latin typeface="LM Sans 10"/>
                <a:cs typeface="LM Sans 10"/>
              </a:rPr>
              <a:t>array</a:t>
            </a:r>
            <a:r>
              <a:rPr sz="1100" dirty="0">
                <a:latin typeface="LM Sans 10"/>
                <a:cs typeface="LM Sans 10"/>
              </a:rPr>
              <a:t> </a:t>
            </a:r>
            <a:r>
              <a:rPr sz="1100" i="1" spc="10" dirty="0">
                <a:latin typeface="LM Sans 10"/>
                <a:cs typeface="LM Sans 10"/>
              </a:rPr>
              <a:t>s</a:t>
            </a:r>
            <a:r>
              <a:rPr sz="1100" spc="10" dirty="0">
                <a:latin typeface="LM Sans 10"/>
                <a:cs typeface="LM Sans 10"/>
              </a:rPr>
              <a:t>[1</a:t>
            </a:r>
            <a:r>
              <a:rPr sz="1100" i="1" spc="10" dirty="0">
                <a:latin typeface="LM Roman Dunhill 10"/>
                <a:cs typeface="LM Roman Dunhill 10"/>
              </a:rPr>
              <a:t>..</a:t>
            </a:r>
            <a:r>
              <a:rPr sz="1100" i="1" spc="10" dirty="0">
                <a:latin typeface="LM Sans 10"/>
                <a:cs typeface="LM Sans 10"/>
              </a:rPr>
              <a:t>n</a:t>
            </a:r>
            <a:r>
              <a:rPr sz="1100" i="1" spc="10" dirty="0">
                <a:latin typeface="LM Roman Dunhill 10"/>
                <a:cs typeface="LM Roman Dunhill 10"/>
              </a:rPr>
              <a:t>,</a:t>
            </a:r>
            <a:r>
              <a:rPr sz="1100" i="1" spc="-18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i="1" spc="-5" dirty="0">
                <a:latin typeface="LM Sans 10"/>
                <a:cs typeface="LM Sans 10"/>
              </a:rPr>
              <a:t>n</a:t>
            </a:r>
            <a:r>
              <a:rPr sz="1100" spc="-5" dirty="0">
                <a:latin typeface="LM Sans 10"/>
                <a:cs typeface="LM Sans 10"/>
              </a:rPr>
              <a:t>], where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85"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 denotes </a:t>
            </a:r>
            <a:r>
              <a:rPr sz="1100" i="1" spc="-10" dirty="0">
                <a:latin typeface="LM Sans 10"/>
                <a:cs typeface="LM Sans 10"/>
              </a:rPr>
              <a:t>k</a:t>
            </a:r>
            <a:r>
              <a:rPr sz="1100" i="1" spc="85" dirty="0">
                <a:latin typeface="LM Sans 10"/>
                <a:cs typeface="LM Sans 10"/>
              </a:rPr>
              <a:t> </a:t>
            </a:r>
            <a:r>
              <a:rPr sz="1100" spc="-15" dirty="0">
                <a:latin typeface="LM Sans 10"/>
                <a:cs typeface="LM Sans 10"/>
              </a:rPr>
              <a:t>for</a:t>
            </a:r>
            <a:r>
              <a:rPr sz="1100" spc="-5" dirty="0">
                <a:latin typeface="LM Sans 10"/>
                <a:cs typeface="LM Sans 10"/>
              </a:rPr>
              <a:t> </a:t>
            </a:r>
            <a:r>
              <a:rPr sz="1100" spc="-10" dirty="0">
                <a:latin typeface="LM Sans 10"/>
                <a:cs typeface="LM Sans 10"/>
              </a:rPr>
              <a:t>the  </a:t>
            </a:r>
            <a:r>
              <a:rPr sz="1100" spc="-5" dirty="0">
                <a:latin typeface="LM Sans 10"/>
                <a:cs typeface="LM Sans 10"/>
              </a:rPr>
              <a:t>optimal</a:t>
            </a:r>
            <a:r>
              <a:rPr sz="1100" spc="-10" dirty="0">
                <a:latin typeface="LM Sans 10"/>
                <a:cs typeface="LM Sans 10"/>
              </a:rPr>
              <a:t> </a:t>
            </a:r>
            <a:r>
              <a:rPr sz="1100" spc="-5" dirty="0">
                <a:latin typeface="LM Sans 10"/>
                <a:cs typeface="LM Sans 10"/>
              </a:rPr>
              <a:t>splitting in computing </a:t>
            </a:r>
            <a:r>
              <a:rPr sz="1100" i="1" spc="10" dirty="0">
                <a:latin typeface="LM Sans 10"/>
                <a:cs typeface="LM Sans 10"/>
              </a:rPr>
              <a:t>A</a:t>
            </a:r>
            <a:r>
              <a:rPr sz="1200" i="1" spc="15" baseline="-10416" dirty="0">
                <a:latin typeface="LM Sans 8"/>
                <a:cs typeface="LM Sans 8"/>
              </a:rPr>
              <a:t>i..j</a:t>
            </a:r>
            <a:r>
              <a:rPr sz="1200" i="1" spc="217" baseline="-10416" dirty="0">
                <a:latin typeface="LM Sans 8"/>
                <a:cs typeface="LM Sans 8"/>
              </a:rPr>
              <a:t> </a:t>
            </a:r>
            <a:r>
              <a:rPr sz="1100" spc="-10" dirty="0">
                <a:latin typeface="LM Sans 10"/>
                <a:cs typeface="LM Sans 10"/>
              </a:rPr>
              <a:t>=</a:t>
            </a:r>
            <a:r>
              <a:rPr sz="1100" spc="-70" dirty="0">
                <a:latin typeface="LM Sans 10"/>
                <a:cs typeface="LM Sans 10"/>
              </a:rPr>
              <a:t> </a:t>
            </a:r>
            <a:r>
              <a:rPr sz="1100" i="1" spc="10" dirty="0">
                <a:latin typeface="LM Sans 10"/>
                <a:cs typeface="LM Sans 10"/>
              </a:rPr>
              <a:t>A</a:t>
            </a:r>
            <a:r>
              <a:rPr sz="1200" i="1" spc="15" baseline="-13888" dirty="0">
                <a:latin typeface="LM Sans 8"/>
                <a:cs typeface="LM Sans 8"/>
              </a:rPr>
              <a:t>i..k</a:t>
            </a:r>
            <a:r>
              <a:rPr sz="1200" i="1" spc="-254" baseline="-13888" dirty="0">
                <a:latin typeface="LM Sans 8"/>
                <a:cs typeface="LM Sans 8"/>
              </a:rPr>
              <a:t> </a:t>
            </a:r>
            <a:r>
              <a:rPr sz="1100" i="1" spc="5" dirty="0">
                <a:latin typeface="LM Sans 10"/>
                <a:cs typeface="LM Sans 10"/>
              </a:rPr>
              <a:t>A</a:t>
            </a:r>
            <a:r>
              <a:rPr sz="1200" i="1" spc="7" baseline="-13888" dirty="0">
                <a:latin typeface="LM Sans 8"/>
                <a:cs typeface="LM Sans 8"/>
              </a:rPr>
              <a:t>k</a:t>
            </a:r>
            <a:r>
              <a:rPr sz="1200" spc="7" baseline="-13888" dirty="0">
                <a:latin typeface="LM Sans 8"/>
                <a:cs typeface="LM Sans 8"/>
              </a:rPr>
              <a:t>+1</a:t>
            </a:r>
            <a:r>
              <a:rPr sz="1200" i="1" spc="7" baseline="-13888" dirty="0">
                <a:latin typeface="LM Sans 8"/>
                <a:cs typeface="LM Sans 8"/>
              </a:rPr>
              <a:t>..j</a:t>
            </a:r>
            <a:r>
              <a:rPr sz="1200" i="1" spc="-240" baseline="-13888" dirty="0">
                <a:latin typeface="LM Sans 8"/>
                <a:cs typeface="LM Sans 8"/>
              </a:rPr>
              <a:t> </a:t>
            </a:r>
            <a:r>
              <a:rPr sz="1100" spc="-5" dirty="0">
                <a:latin typeface="LM Sans 10"/>
                <a:cs typeface="LM Sans 10"/>
              </a:rPr>
              <a:t>.</a:t>
            </a:r>
            <a:endParaRPr sz="1100">
              <a:latin typeface="LM Sans 10"/>
              <a:cs typeface="LM Sans 10"/>
            </a:endParaRPr>
          </a:p>
          <a:p>
            <a:pPr marL="50800">
              <a:lnSpc>
                <a:spcPct val="100000"/>
              </a:lnSpc>
              <a:spcBef>
                <a:spcPts val="870"/>
              </a:spcBef>
            </a:pPr>
            <a:r>
              <a:rPr sz="1100" spc="-5" dirty="0">
                <a:solidFill>
                  <a:srgbClr val="FFFFFF"/>
                </a:solidFill>
                <a:latin typeface="LM Sans 10"/>
                <a:cs typeface="LM Sans 10"/>
              </a:rPr>
              <a:t>Question</a:t>
            </a:r>
            <a:endParaRPr sz="1100">
              <a:latin typeface="LM Sans 10"/>
              <a:cs typeface="LM Sans 10"/>
            </a:endParaRPr>
          </a:p>
          <a:p>
            <a:pPr marL="50800">
              <a:lnSpc>
                <a:spcPct val="100000"/>
              </a:lnSpc>
              <a:spcBef>
                <a:spcPts val="295"/>
              </a:spcBef>
            </a:pPr>
            <a:r>
              <a:rPr sz="1100" spc="-20" dirty="0">
                <a:latin typeface="LM Sans 10"/>
                <a:cs typeface="LM Sans 10"/>
              </a:rPr>
              <a:t>How</a:t>
            </a:r>
            <a:r>
              <a:rPr sz="1100" spc="-10" dirty="0">
                <a:latin typeface="LM Sans 10"/>
                <a:cs typeface="LM Sans 10"/>
              </a:rPr>
              <a:t> </a:t>
            </a:r>
            <a:r>
              <a:rPr sz="1100" spc="-5" dirty="0">
                <a:latin typeface="LM Sans 10"/>
                <a:cs typeface="LM Sans 10"/>
              </a:rPr>
              <a:t>to</a:t>
            </a:r>
            <a:r>
              <a:rPr sz="1100" spc="-10" dirty="0">
                <a:latin typeface="LM Sans 10"/>
                <a:cs typeface="LM Sans 10"/>
              </a:rPr>
              <a:t> </a:t>
            </a:r>
            <a:r>
              <a:rPr sz="1100" spc="-5" dirty="0">
                <a:latin typeface="LM Sans 10"/>
                <a:cs typeface="LM Sans 10"/>
              </a:rPr>
              <a:t>Recover the</a:t>
            </a:r>
            <a:r>
              <a:rPr sz="1100" spc="-10" dirty="0">
                <a:latin typeface="LM Sans 10"/>
                <a:cs typeface="LM Sans 10"/>
              </a:rPr>
              <a:t> </a:t>
            </a:r>
            <a:r>
              <a:rPr sz="1100" spc="-5" dirty="0">
                <a:latin typeface="LM Sans 10"/>
                <a:cs typeface="LM Sans 10"/>
              </a:rPr>
              <a:t>Multiplication Sequence</a:t>
            </a:r>
            <a:r>
              <a:rPr sz="1100" spc="-10" dirty="0">
                <a:latin typeface="LM Sans 10"/>
                <a:cs typeface="LM Sans 10"/>
              </a:rPr>
              <a:t> </a:t>
            </a:r>
            <a:r>
              <a:rPr sz="1100" spc="-5" dirty="0">
                <a:latin typeface="LM Sans 10"/>
                <a:cs typeface="LM Sans 10"/>
              </a:rPr>
              <a:t>using</a:t>
            </a:r>
            <a:r>
              <a:rPr sz="1100" dirty="0">
                <a:latin typeface="LM Sans 10"/>
                <a:cs typeface="LM Sans 10"/>
              </a:rPr>
              <a:t> </a:t>
            </a:r>
            <a:r>
              <a:rPr sz="1100" i="1" spc="20" dirty="0">
                <a:latin typeface="LM Sans 10"/>
                <a:cs typeface="LM Sans 10"/>
              </a:rPr>
              <a:t>s</a:t>
            </a:r>
            <a:r>
              <a:rPr sz="1100" spc="20" dirty="0">
                <a:latin typeface="LM Sans 10"/>
                <a:cs typeface="LM Sans 10"/>
              </a:rPr>
              <a:t>[</a:t>
            </a:r>
            <a:r>
              <a:rPr sz="1100" i="1" spc="20" dirty="0">
                <a:latin typeface="LM Sans 10"/>
                <a:cs typeface="LM Sans 10"/>
              </a:rPr>
              <a:t>i</a:t>
            </a:r>
            <a:r>
              <a:rPr sz="1100" i="1" spc="-260" dirty="0">
                <a:latin typeface="LM Sans 10"/>
                <a:cs typeface="LM Sans 10"/>
              </a:rPr>
              <a:t> </a:t>
            </a:r>
            <a:r>
              <a:rPr sz="1100" i="1" spc="-5" dirty="0">
                <a:latin typeface="LM Roman Dunhill 10"/>
                <a:cs typeface="LM Roman Dunhill 10"/>
              </a:rPr>
              <a:t>,</a:t>
            </a:r>
            <a:r>
              <a:rPr sz="1100" i="1" spc="-190" dirty="0">
                <a:latin typeface="LM Roman Dunhill 10"/>
                <a:cs typeface="LM Roman Dunhill 10"/>
              </a:rPr>
              <a:t> </a:t>
            </a:r>
            <a:r>
              <a:rPr sz="1100" i="1" spc="-5" dirty="0">
                <a:latin typeface="LM Sans 10"/>
                <a:cs typeface="LM Sans 10"/>
              </a:rPr>
              <a:t>j</a:t>
            </a:r>
            <a:r>
              <a:rPr sz="1100" i="1" spc="-270" dirty="0">
                <a:latin typeface="LM Sans 10"/>
                <a:cs typeface="LM Sans 10"/>
              </a:rPr>
              <a:t> </a:t>
            </a:r>
            <a:r>
              <a:rPr sz="1100" spc="-5" dirty="0">
                <a:latin typeface="LM Sans 10"/>
                <a:cs typeface="LM Sans 10"/>
              </a:rPr>
              <a:t>]?</a:t>
            </a:r>
            <a:endParaRPr sz="1100">
              <a:latin typeface="LM Sans 10"/>
              <a:cs typeface="LM Sans 10"/>
            </a:endParaRPr>
          </a:p>
        </p:txBody>
      </p:sp>
      <p:sp>
        <p:nvSpPr>
          <p:cNvPr id="16" name="object 16"/>
          <p:cNvSpPr txBox="1"/>
          <p:nvPr/>
        </p:nvSpPr>
        <p:spPr>
          <a:xfrm>
            <a:off x="445109" y="1904370"/>
            <a:ext cx="817244" cy="481330"/>
          </a:xfrm>
          <a:prstGeom prst="rect">
            <a:avLst/>
          </a:prstGeom>
        </p:spPr>
        <p:txBody>
          <a:bodyPr vert="horz" wrap="square" lIns="0" tIns="12065" rIns="0" bIns="0" rtlCol="0">
            <a:spAutoFit/>
          </a:bodyPr>
          <a:lstStyle/>
          <a:p>
            <a:pPr marL="12700">
              <a:lnSpc>
                <a:spcPts val="1200"/>
              </a:lnSpc>
              <a:spcBef>
                <a:spcPts val="95"/>
              </a:spcBef>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75" dirty="0">
                <a:latin typeface="LM Roman Dunhill 10"/>
                <a:cs typeface="LM Roman Dunhill 10"/>
              </a:rPr>
              <a:t> </a:t>
            </a:r>
            <a:r>
              <a:rPr sz="1000" i="1" spc="5" dirty="0">
                <a:latin typeface="LM Sans 10"/>
                <a:cs typeface="LM Sans 10"/>
              </a:rPr>
              <a:t>n</a:t>
            </a:r>
            <a:r>
              <a:rPr sz="1000" spc="5" dirty="0">
                <a:latin typeface="LM Sans 10"/>
                <a:cs typeface="LM Sans 10"/>
              </a:rPr>
              <a:t>]</a:t>
            </a:r>
            <a:endParaRPr sz="1000">
              <a:latin typeface="LM Sans 10"/>
              <a:cs typeface="LM Sans 10"/>
            </a:endParaRPr>
          </a:p>
          <a:p>
            <a:pPr marL="12700">
              <a:lnSpc>
                <a:spcPts val="1195"/>
              </a:lnSpc>
            </a:pP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80" dirty="0">
                <a:latin typeface="LM Roman Dunhill 10"/>
                <a:cs typeface="LM Roman Dunhill 10"/>
              </a:rPr>
              <a:t> </a:t>
            </a:r>
            <a:r>
              <a:rPr sz="1000" i="1" spc="15" dirty="0">
                <a:latin typeface="LM Sans 10"/>
                <a:cs typeface="LM Sans 10"/>
              </a:rPr>
              <a:t>s</a:t>
            </a:r>
            <a:r>
              <a:rPr sz="1000" spc="15" dirty="0">
                <a:latin typeface="LM Sans 10"/>
                <a:cs typeface="LM Sans 10"/>
              </a:rPr>
              <a:t>[1</a:t>
            </a:r>
            <a:r>
              <a:rPr sz="1000" i="1" spc="15" dirty="0">
                <a:latin typeface="LM Roman Dunhill 10"/>
                <a:cs typeface="LM Roman Dunhill 10"/>
              </a:rPr>
              <a:t>,</a:t>
            </a:r>
            <a:r>
              <a:rPr sz="1000" i="1" spc="-175" dirty="0">
                <a:latin typeface="LM Roman Dunhill 10"/>
                <a:cs typeface="LM Roman Dunhill 10"/>
              </a:rPr>
              <a:t> </a:t>
            </a:r>
            <a:r>
              <a:rPr sz="1000" i="1" dirty="0">
                <a:latin typeface="LM Sans 10"/>
                <a:cs typeface="LM Sans 10"/>
              </a:rPr>
              <a:t>n</a:t>
            </a:r>
            <a:r>
              <a:rPr sz="1000" dirty="0">
                <a:latin typeface="LM Sans 10"/>
                <a:cs typeface="LM Sans 10"/>
              </a:rPr>
              <a:t>]]</a:t>
            </a:r>
            <a:endParaRPr sz="1000">
              <a:latin typeface="LM Sans 10"/>
              <a:cs typeface="LM Sans 10"/>
            </a:endParaRPr>
          </a:p>
          <a:p>
            <a:pPr marL="12700">
              <a:lnSpc>
                <a:spcPts val="1200"/>
              </a:lnSpc>
            </a:pPr>
            <a:r>
              <a:rPr sz="1000" i="1" spc="20" dirty="0">
                <a:latin typeface="LM Sans 10"/>
                <a:cs typeface="LM Sans 10"/>
              </a:rPr>
              <a:t>s</a:t>
            </a:r>
            <a:r>
              <a:rPr sz="1000" spc="20" dirty="0">
                <a:latin typeface="LM Sans 10"/>
                <a:cs typeface="LM Sans 10"/>
              </a:rPr>
              <a:t>[</a:t>
            </a:r>
            <a:r>
              <a:rPr sz="1000" i="1" spc="20" dirty="0">
                <a:latin typeface="LM Sans 10"/>
                <a:cs typeface="LM Sans 10"/>
              </a:rPr>
              <a:t>s</a:t>
            </a:r>
            <a:r>
              <a:rPr sz="1000" spc="20" dirty="0">
                <a:latin typeface="LM Sans 10"/>
                <a:cs typeface="LM Sans 10"/>
              </a:rPr>
              <a:t>[1</a:t>
            </a:r>
            <a:r>
              <a:rPr sz="1000" i="1" spc="20" dirty="0">
                <a:latin typeface="LM Roman Dunhill 10"/>
                <a:cs typeface="LM Roman Dunhill 10"/>
              </a:rPr>
              <a:t>,</a:t>
            </a:r>
            <a:r>
              <a:rPr sz="1000" i="1" spc="-185" dirty="0">
                <a:latin typeface="LM Roman Dunhill 10"/>
                <a:cs typeface="LM Roman Dunhill 10"/>
              </a:rPr>
              <a:t> </a:t>
            </a:r>
            <a:r>
              <a:rPr sz="1000" i="1" spc="5" dirty="0">
                <a:latin typeface="LM Sans 10"/>
                <a:cs typeface="LM Sans 10"/>
              </a:rPr>
              <a:t>n</a:t>
            </a:r>
            <a:r>
              <a:rPr sz="1000" spc="5" dirty="0">
                <a:latin typeface="LM Sans 10"/>
                <a:cs typeface="LM Sans 10"/>
              </a:rPr>
              <a:t>]</a:t>
            </a:r>
            <a:r>
              <a:rPr sz="1000" spc="-135" dirty="0">
                <a:latin typeface="LM Sans 10"/>
                <a:cs typeface="LM Sans 10"/>
              </a:rPr>
              <a:t> </a:t>
            </a:r>
            <a:r>
              <a:rPr sz="1000" spc="-5" dirty="0">
                <a:latin typeface="LM Sans 10"/>
                <a:cs typeface="LM Sans 10"/>
              </a:rPr>
              <a:t>+</a:t>
            </a:r>
            <a:r>
              <a:rPr sz="1000" spc="-130" dirty="0">
                <a:latin typeface="LM Sans 10"/>
                <a:cs typeface="LM Sans 10"/>
              </a:rPr>
              <a:t> </a:t>
            </a:r>
            <a:r>
              <a:rPr sz="1000" spc="-5" dirty="0">
                <a:latin typeface="LM Sans 10"/>
                <a:cs typeface="LM Sans 10"/>
              </a:rPr>
              <a:t>1</a:t>
            </a:r>
            <a:r>
              <a:rPr sz="1000" i="1" spc="-5" dirty="0">
                <a:latin typeface="LM Roman Dunhill 10"/>
                <a:cs typeface="LM Roman Dunhill 10"/>
              </a:rPr>
              <a:t>,</a:t>
            </a:r>
            <a:r>
              <a:rPr sz="1000" i="1" spc="-185" dirty="0">
                <a:latin typeface="LM Roman Dunhill 10"/>
                <a:cs typeface="LM Roman Dunhill 10"/>
              </a:rPr>
              <a:t> </a:t>
            </a:r>
            <a:r>
              <a:rPr sz="1000" i="1" spc="5" dirty="0">
                <a:latin typeface="LM Sans 10"/>
                <a:cs typeface="LM Sans 10"/>
              </a:rPr>
              <a:t>n</a:t>
            </a:r>
            <a:r>
              <a:rPr sz="1000" spc="5" dirty="0">
                <a:latin typeface="LM Sans 10"/>
                <a:cs typeface="LM Sans 10"/>
              </a:rPr>
              <a:t>]</a:t>
            </a:r>
            <a:endParaRPr sz="1000">
              <a:latin typeface="LM Sans 10"/>
              <a:cs typeface="LM Sans 10"/>
            </a:endParaRPr>
          </a:p>
        </p:txBody>
      </p:sp>
      <p:sp>
        <p:nvSpPr>
          <p:cNvPr id="17" name="object 17"/>
          <p:cNvSpPr txBox="1"/>
          <p:nvPr/>
        </p:nvSpPr>
        <p:spPr>
          <a:xfrm>
            <a:off x="1338007" y="1927217"/>
            <a:ext cx="1703705"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60" baseline="3968"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54"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40" dirty="0">
                <a:latin typeface="LM Sans 8"/>
                <a:cs typeface="LM Sans 8"/>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87"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1050" i="1" spc="-7" baseline="3968" dirty="0">
                <a:latin typeface="LM Sans 8"/>
                <a:cs typeface="LM Sans 8"/>
              </a:rPr>
              <a:t>n</a:t>
            </a:r>
            <a:r>
              <a:rPr sz="1050" i="1" spc="-284" baseline="3968" dirty="0">
                <a:latin typeface="LM Sans 8"/>
                <a:cs typeface="LM Sans 8"/>
              </a:rPr>
              <a:t> </a:t>
            </a:r>
            <a:r>
              <a:rPr sz="1500" spc="-7" baseline="11111" dirty="0">
                <a:latin typeface="LM Sans 10"/>
                <a:cs typeface="LM Sans 10"/>
              </a:rPr>
              <a:t>)</a:t>
            </a:r>
            <a:endParaRPr sz="1500" baseline="11111">
              <a:latin typeface="LM Sans 10"/>
              <a:cs typeface="LM Sans 10"/>
            </a:endParaRPr>
          </a:p>
        </p:txBody>
      </p:sp>
      <p:sp>
        <p:nvSpPr>
          <p:cNvPr id="18" name="object 18"/>
          <p:cNvSpPr txBox="1"/>
          <p:nvPr/>
        </p:nvSpPr>
        <p:spPr>
          <a:xfrm>
            <a:off x="1338050" y="2079045"/>
            <a:ext cx="2227580" cy="177800"/>
          </a:xfrm>
          <a:prstGeom prst="rect">
            <a:avLst/>
          </a:prstGeom>
        </p:spPr>
        <p:txBody>
          <a:bodyPr vert="horz" wrap="square" lIns="0" tIns="12065" rIns="0" bIns="0" rtlCol="0">
            <a:spAutoFit/>
          </a:bodyPr>
          <a:lstStyle/>
          <a:p>
            <a:pPr marL="38100">
              <a:lnSpc>
                <a:spcPct val="100000"/>
              </a:lnSpc>
              <a:spcBef>
                <a:spcPts val="95"/>
              </a:spcBef>
            </a:pPr>
            <a:r>
              <a:rPr sz="1500" spc="-7" baseline="11111" dirty="0">
                <a:latin typeface="LM Sans 10"/>
                <a:cs typeface="LM Sans 10"/>
              </a:rPr>
              <a:t>(</a:t>
            </a:r>
            <a:r>
              <a:rPr sz="1500" i="1" spc="-7" baseline="11111" dirty="0">
                <a:latin typeface="LM Sans 10"/>
                <a:cs typeface="LM Sans 10"/>
              </a:rPr>
              <a:t>A</a:t>
            </a:r>
            <a:r>
              <a:rPr sz="1050" spc="-7" baseline="3968" dirty="0">
                <a:latin typeface="LM Sans 8"/>
                <a:cs typeface="LM Sans 8"/>
              </a:rPr>
              <a:t>1</a:t>
            </a:r>
            <a:r>
              <a:rPr sz="1050" spc="-52" baseline="3968"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47"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endParaRPr sz="1500" baseline="11111">
              <a:latin typeface="LM Sans 10"/>
              <a:cs typeface="LM Sans 10"/>
            </a:endParaRPr>
          </a:p>
        </p:txBody>
      </p:sp>
      <p:sp>
        <p:nvSpPr>
          <p:cNvPr id="19" name="object 19"/>
          <p:cNvSpPr txBox="1"/>
          <p:nvPr/>
        </p:nvSpPr>
        <p:spPr>
          <a:xfrm>
            <a:off x="1338005" y="2230874"/>
            <a:ext cx="2597150" cy="177800"/>
          </a:xfrm>
          <a:prstGeom prst="rect">
            <a:avLst/>
          </a:prstGeom>
        </p:spPr>
        <p:txBody>
          <a:bodyPr vert="horz" wrap="square" lIns="0" tIns="12065" rIns="0" bIns="0" rtlCol="0">
            <a:spAutoFit/>
          </a:bodyPr>
          <a:lstStyle/>
          <a:p>
            <a:pPr marL="38100">
              <a:lnSpc>
                <a:spcPct val="100000"/>
              </a:lnSpc>
              <a:spcBef>
                <a:spcPts val="95"/>
              </a:spcBef>
            </a:pP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7" baseline="11111" dirty="0">
                <a:latin typeface="LM Sans 10"/>
                <a:cs typeface="LM Sans 10"/>
              </a:rPr>
              <a:t>A</a:t>
            </a:r>
            <a:r>
              <a:rPr sz="700" i="1" spc="5" dirty="0">
                <a:latin typeface="LM Sans 8"/>
                <a:cs typeface="LM Sans 8"/>
              </a:rPr>
              <a:t>s</a:t>
            </a:r>
            <a:r>
              <a:rPr sz="700" spc="5" dirty="0">
                <a:latin typeface="LM Sans 8"/>
                <a:cs typeface="LM Sans 8"/>
              </a:rPr>
              <a:t>[</a:t>
            </a:r>
            <a:r>
              <a:rPr sz="700" i="1" spc="5" dirty="0">
                <a:latin typeface="LM Sans 8"/>
                <a:cs typeface="LM Sans 8"/>
              </a:rPr>
              <a:t>s</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]+1</a:t>
            </a:r>
            <a:r>
              <a:rPr sz="700" i="1" spc="5" dirty="0">
                <a:latin typeface="Verdana"/>
                <a:cs typeface="Verdana"/>
              </a:rPr>
              <a:t>,</a:t>
            </a:r>
            <a:r>
              <a:rPr sz="700" i="1" spc="5" dirty="0">
                <a:latin typeface="LM Sans 8"/>
                <a:cs typeface="LM Sans 8"/>
              </a:rPr>
              <a:t>n</a:t>
            </a:r>
            <a:r>
              <a:rPr sz="700" spc="5" dirty="0">
                <a:latin typeface="LM Sans 8"/>
                <a:cs typeface="LM Sans 8"/>
              </a:rPr>
              <a:t>]</a:t>
            </a:r>
            <a:r>
              <a:rPr sz="1500" spc="7" baseline="11111" dirty="0">
                <a:latin typeface="LM Sans 10"/>
                <a:cs typeface="LM Sans 10"/>
              </a:rPr>
              <a:t>)</a:t>
            </a:r>
            <a:r>
              <a:rPr sz="1500" spc="-247" baseline="11111" dirty="0">
                <a:latin typeface="LM Sans 10"/>
                <a:cs typeface="LM Sans 10"/>
              </a:rPr>
              <a:t> </a:t>
            </a:r>
            <a:r>
              <a:rPr sz="1500" baseline="11111" dirty="0">
                <a:latin typeface="LM Sans 10"/>
                <a:cs typeface="LM Sans 10"/>
              </a:rPr>
              <a:t>(</a:t>
            </a:r>
            <a:r>
              <a:rPr sz="1500" i="1" baseline="11111" dirty="0">
                <a:latin typeface="LM Sans 10"/>
                <a:cs typeface="LM Sans 10"/>
              </a:rPr>
              <a:t>A</a:t>
            </a:r>
            <a:r>
              <a:rPr sz="700" i="1" dirty="0">
                <a:latin typeface="LM Sans 8"/>
                <a:cs typeface="LM Sans 8"/>
              </a:rPr>
              <a:t>s</a:t>
            </a:r>
            <a:r>
              <a:rPr sz="700" dirty="0">
                <a:latin typeface="LM Sans 8"/>
                <a:cs typeface="LM Sans 8"/>
              </a:rPr>
              <a:t>[</a:t>
            </a:r>
            <a:r>
              <a:rPr sz="700" i="1" dirty="0">
                <a:latin typeface="LM Sans 8"/>
                <a:cs typeface="LM Sans 8"/>
              </a:rPr>
              <a:t>s</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i="1" dirty="0">
                <a:latin typeface="Verdana"/>
                <a:cs typeface="Verdana"/>
              </a:rPr>
              <a:t>,</a:t>
            </a:r>
            <a:r>
              <a:rPr sz="700" i="1" dirty="0">
                <a:latin typeface="LM Sans 8"/>
                <a:cs typeface="LM Sans 8"/>
              </a:rPr>
              <a:t>n</a:t>
            </a:r>
            <a:r>
              <a:rPr sz="700" dirty="0">
                <a:latin typeface="LM Sans 8"/>
                <a:cs typeface="LM Sans 8"/>
              </a:rPr>
              <a:t>]+1</a:t>
            </a:r>
            <a:r>
              <a:rPr sz="700" spc="-35" dirty="0">
                <a:latin typeface="LM Sans 8"/>
                <a:cs typeface="LM Sans 8"/>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15" baseline="11111" dirty="0">
                <a:latin typeface="DejaVu Sans Condensed"/>
                <a:cs typeface="DejaVu Sans Condensed"/>
              </a:rPr>
              <a:t>·</a:t>
            </a:r>
            <a:r>
              <a:rPr sz="1500" i="1" spc="-179" baseline="11111" dirty="0">
                <a:latin typeface="DejaVu Sans Condensed"/>
                <a:cs typeface="DejaVu Sans Condensed"/>
              </a:rPr>
              <a:t> </a:t>
            </a:r>
            <a:r>
              <a:rPr sz="1500" i="1" spc="-15" baseline="11111" dirty="0">
                <a:latin typeface="DejaVu Sans Condensed"/>
                <a:cs typeface="DejaVu Sans Condensed"/>
              </a:rPr>
              <a:t>·</a:t>
            </a:r>
            <a:r>
              <a:rPr sz="1500" i="1" spc="-172" baseline="11111" dirty="0">
                <a:latin typeface="DejaVu Sans Condensed"/>
                <a:cs typeface="DejaVu Sans Condensed"/>
              </a:rPr>
              <a:t> </a:t>
            </a:r>
            <a:r>
              <a:rPr sz="1500" i="1" spc="-7" baseline="11111" dirty="0">
                <a:latin typeface="LM Sans 10"/>
                <a:cs typeface="LM Sans 10"/>
              </a:rPr>
              <a:t>A</a:t>
            </a:r>
            <a:r>
              <a:rPr sz="1050" i="1" spc="-7" baseline="3968" dirty="0">
                <a:latin typeface="LM Sans 8"/>
                <a:cs typeface="LM Sans 8"/>
              </a:rPr>
              <a:t>n</a:t>
            </a:r>
            <a:r>
              <a:rPr sz="1050" i="1" spc="-284" baseline="3968" dirty="0">
                <a:latin typeface="LM Sans 8"/>
                <a:cs typeface="LM Sans 8"/>
              </a:rPr>
              <a:t> </a:t>
            </a:r>
            <a:r>
              <a:rPr sz="1500" spc="-7" baseline="11111" dirty="0">
                <a:latin typeface="LM Sans 10"/>
                <a:cs typeface="LM Sans 10"/>
              </a:rPr>
              <a:t>)</a:t>
            </a:r>
            <a:endParaRPr sz="1500" baseline="11111">
              <a:latin typeface="LM Sans 10"/>
              <a:cs typeface="LM Sans 10"/>
            </a:endParaRPr>
          </a:p>
        </p:txBody>
      </p:sp>
      <p:sp>
        <p:nvSpPr>
          <p:cNvPr id="20" name="object 20"/>
          <p:cNvSpPr txBox="1"/>
          <p:nvPr/>
        </p:nvSpPr>
        <p:spPr>
          <a:xfrm>
            <a:off x="445109" y="2390653"/>
            <a:ext cx="979169" cy="177800"/>
          </a:xfrm>
          <a:prstGeom prst="rect">
            <a:avLst/>
          </a:prstGeom>
        </p:spPr>
        <p:txBody>
          <a:bodyPr vert="horz" wrap="square" lIns="0" tIns="12065" rIns="0" bIns="0" rtlCol="0">
            <a:spAutoFit/>
          </a:bodyPr>
          <a:lstStyle/>
          <a:p>
            <a:pPr marL="12700">
              <a:lnSpc>
                <a:spcPct val="100000"/>
              </a:lnSpc>
              <a:spcBef>
                <a:spcPts val="95"/>
              </a:spcBef>
              <a:tabLst>
                <a:tab pos="930910" algn="l"/>
              </a:tabLst>
            </a:pPr>
            <a:r>
              <a:rPr sz="1000" spc="-5" dirty="0">
                <a:latin typeface="LM Sans 10"/>
                <a:cs typeface="LM Sans 10"/>
              </a:rPr>
              <a:t>.	.</a:t>
            </a:r>
            <a:endParaRPr sz="1000">
              <a:latin typeface="LM Sans 10"/>
              <a:cs typeface="LM Sans 10"/>
            </a:endParaRPr>
          </a:p>
        </p:txBody>
      </p:sp>
      <p:sp>
        <p:nvSpPr>
          <p:cNvPr id="21" name="object 21"/>
          <p:cNvSpPr txBox="1"/>
          <p:nvPr/>
        </p:nvSpPr>
        <p:spPr>
          <a:xfrm>
            <a:off x="445109" y="2441262"/>
            <a:ext cx="979169" cy="177800"/>
          </a:xfrm>
          <a:prstGeom prst="rect">
            <a:avLst/>
          </a:prstGeom>
        </p:spPr>
        <p:txBody>
          <a:bodyPr vert="horz" wrap="square" lIns="0" tIns="12065" rIns="0" bIns="0" rtlCol="0">
            <a:spAutoFit/>
          </a:bodyPr>
          <a:lstStyle/>
          <a:p>
            <a:pPr marL="12700">
              <a:lnSpc>
                <a:spcPct val="100000"/>
              </a:lnSpc>
              <a:spcBef>
                <a:spcPts val="95"/>
              </a:spcBef>
              <a:tabLst>
                <a:tab pos="930910" algn="l"/>
              </a:tabLst>
            </a:pPr>
            <a:r>
              <a:rPr sz="1000" spc="-5" dirty="0">
                <a:latin typeface="LM Sans 10"/>
                <a:cs typeface="LM Sans 10"/>
              </a:rPr>
              <a:t>.	.</a:t>
            </a:r>
            <a:endParaRPr sz="1000">
              <a:latin typeface="LM Sans 10"/>
              <a:cs typeface="LM Sans 10"/>
            </a:endParaRPr>
          </a:p>
        </p:txBody>
      </p:sp>
      <p:sp>
        <p:nvSpPr>
          <p:cNvPr id="22" name="object 22"/>
          <p:cNvSpPr txBox="1"/>
          <p:nvPr/>
        </p:nvSpPr>
        <p:spPr>
          <a:xfrm>
            <a:off x="347294" y="2710178"/>
            <a:ext cx="3449954" cy="344325"/>
          </a:xfrm>
          <a:prstGeom prst="rect">
            <a:avLst/>
          </a:prstGeom>
        </p:spPr>
        <p:txBody>
          <a:bodyPr vert="horz" wrap="square" lIns="0" tIns="6985" rIns="0" bIns="0" rtlCol="0">
            <a:spAutoFit/>
          </a:bodyPr>
          <a:lstStyle/>
          <a:p>
            <a:pPr marL="12700" marR="5080" indent="45720">
              <a:lnSpc>
                <a:spcPct val="102600"/>
              </a:lnSpc>
              <a:spcBef>
                <a:spcPts val="55"/>
              </a:spcBef>
            </a:pPr>
            <a:r>
              <a:rPr sz="1100" spc="-5" dirty="0">
                <a:latin typeface="LM Sans 10"/>
                <a:cs typeface="LM Sans 10"/>
              </a:rPr>
              <a:t>Apply</a:t>
            </a:r>
            <a:r>
              <a:rPr lang="en-US" sz="1100" spc="-5" dirty="0">
                <a:latin typeface="LM Sans 10"/>
                <a:cs typeface="LM Sans 10"/>
              </a:rPr>
              <a:t> </a:t>
            </a:r>
            <a:r>
              <a:rPr sz="1100" spc="-5" dirty="0">
                <a:solidFill>
                  <a:srgbClr val="0000FF"/>
                </a:solidFill>
                <a:latin typeface="LM Sans 10"/>
                <a:cs typeface="LM Sans 10"/>
              </a:rPr>
              <a:t>recursively</a:t>
            </a:r>
            <a:r>
              <a:rPr lang="en-US" sz="1100" spc="-5" dirty="0">
                <a:solidFill>
                  <a:srgbClr val="0000FF"/>
                </a:solidFill>
                <a:latin typeface="LM Sans 10"/>
                <a:cs typeface="LM Sans 10"/>
              </a:rPr>
              <a:t> </a:t>
            </a:r>
            <a:r>
              <a:rPr sz="1100" spc="-5" dirty="0">
                <a:latin typeface="LM Sans 10"/>
                <a:cs typeface="LM Sans 10"/>
              </a:rPr>
              <a:t>until multiplication sequence is</a:t>
            </a:r>
            <a:r>
              <a:rPr sz="1100" spc="-70" dirty="0">
                <a:latin typeface="LM Sans 10"/>
                <a:cs typeface="LM Sans 10"/>
              </a:rPr>
              <a:t> </a:t>
            </a:r>
            <a:r>
              <a:rPr sz="1100" spc="-5" dirty="0">
                <a:latin typeface="LM Sans 10"/>
                <a:cs typeface="LM Sans 10"/>
              </a:rPr>
              <a:t>completely  determined.</a:t>
            </a:r>
            <a:endParaRPr sz="1100" dirty="0">
              <a:latin typeface="LM Sans 10"/>
              <a:cs typeface="LM Sans 10"/>
            </a:endParaRPr>
          </a:p>
        </p:txBody>
      </p:sp>
      <p:grpSp>
        <p:nvGrpSpPr>
          <p:cNvPr id="23" name="object 23"/>
          <p:cNvGrpSpPr/>
          <p:nvPr/>
        </p:nvGrpSpPr>
        <p:grpSpPr>
          <a:xfrm>
            <a:off x="0" y="3342919"/>
            <a:ext cx="4608195" cy="113664"/>
            <a:chOff x="0" y="3342919"/>
            <a:chExt cx="4608195" cy="113664"/>
          </a:xfrm>
        </p:grpSpPr>
        <p:sp>
          <p:nvSpPr>
            <p:cNvPr id="24" name="object 24"/>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5" name="object 25"/>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6" name="object 26"/>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8" name="object 28"/>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9" name="object 29"/>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25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54762" y="-5107"/>
            <a:ext cx="4300575" cy="215444"/>
          </a:xfrm>
        </p:spPr>
        <p:txBody>
          <a:bodyPr/>
          <a:lstStyle/>
          <a:p>
            <a:pPr eaLnBrk="1" hangingPunct="1"/>
            <a:r>
              <a:rPr lang="en-US" altLang="zh-TW" dirty="0">
                <a:ea typeface="新細明體" charset="-120"/>
              </a:rPr>
              <a:t>Example 2:</a:t>
            </a:r>
          </a:p>
        </p:txBody>
      </p:sp>
      <p:sp>
        <p:nvSpPr>
          <p:cNvPr id="27651" name="Rectangle 5"/>
          <p:cNvSpPr>
            <a:spLocks noChangeArrowheads="1"/>
          </p:cNvSpPr>
          <p:nvPr/>
        </p:nvSpPr>
        <p:spPr bwMode="auto">
          <a:xfrm>
            <a:off x="0" y="895670"/>
            <a:ext cx="93191" cy="32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6113" tIns="23057" rIns="46113" bIns="23057" anchor="ctr">
            <a:spAutoFit/>
          </a:bodyPr>
          <a:lstStyle/>
          <a:p>
            <a:endParaRPr lang="zh-TW" altLang="en-US">
              <a:ea typeface="新細明體" charset="-120"/>
            </a:endParaRPr>
          </a:p>
        </p:txBody>
      </p:sp>
      <p:graphicFrame>
        <p:nvGraphicFramePr>
          <p:cNvPr id="27652" name="Object 4"/>
          <p:cNvGraphicFramePr>
            <a:graphicFrameLocks noChangeAspect="1"/>
          </p:cNvGraphicFramePr>
          <p:nvPr/>
        </p:nvGraphicFramePr>
        <p:xfrm>
          <a:off x="998055" y="730603"/>
          <a:ext cx="2141776" cy="1949075"/>
        </p:xfrm>
        <a:graphic>
          <a:graphicData uri="http://schemas.openxmlformats.org/presentationml/2006/ole">
            <mc:AlternateContent xmlns:mc="http://schemas.openxmlformats.org/markup-compatibility/2006">
              <mc:Choice xmlns:v="urn:schemas-microsoft-com:vml" Requires="v">
                <p:oleObj name="方程式" r:id="rId2" imgW="2933700" imgH="2667000" progId="Equation.3">
                  <p:embed/>
                </p:oleObj>
              </mc:Choice>
              <mc:Fallback>
                <p:oleObj name="方程式" r:id="rId2" imgW="2933700" imgH="2667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055" y="730603"/>
                        <a:ext cx="2141776" cy="194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604317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ChangeArrowheads="1"/>
          </p:cNvSpPr>
          <p:nvPr/>
        </p:nvSpPr>
        <p:spPr bwMode="auto">
          <a:xfrm>
            <a:off x="0" y="44903"/>
            <a:ext cx="93191" cy="32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6113" tIns="23057" rIns="46113" bIns="23057" anchor="ctr">
            <a:spAutoFit/>
          </a:bodyPr>
          <a:lstStyle/>
          <a:p>
            <a:endParaRPr lang="zh-TW" altLang="en-US">
              <a:ea typeface="新細明體" charset="-120"/>
            </a:endParaRPr>
          </a:p>
        </p:txBody>
      </p:sp>
      <p:pic>
        <p:nvPicPr>
          <p:cNvPr id="28675"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253" y="1365875"/>
            <a:ext cx="4379595" cy="1615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7"/>
          <p:cNvSpPr txBox="1">
            <a:spLocks noChangeArrowheads="1"/>
          </p:cNvSpPr>
          <p:nvPr/>
        </p:nvSpPr>
        <p:spPr bwMode="auto">
          <a:xfrm>
            <a:off x="2305050" y="422981"/>
            <a:ext cx="2266633" cy="115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6113" tIns="23057" rIns="46113" bIns="23057">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TW" sz="1800" dirty="0">
                <a:solidFill>
                  <a:schemeClr val="tx2"/>
                </a:solidFill>
                <a:ea typeface="新細明體" charset="-120"/>
              </a:rPr>
              <a:t>the m and s table computed by </a:t>
            </a:r>
          </a:p>
          <a:p>
            <a:r>
              <a:rPr lang="en-US" altLang="zh-TW" sz="1800" dirty="0">
                <a:solidFill>
                  <a:schemeClr val="tx2"/>
                </a:solidFill>
                <a:ea typeface="新細明體" charset="-120"/>
              </a:rPr>
              <a:t>MATRIX-CHAIN-ORDER for n=6</a:t>
            </a:r>
          </a:p>
        </p:txBody>
      </p:sp>
      <p:sp>
        <p:nvSpPr>
          <p:cNvPr id="28677" name="Text Box 4"/>
          <p:cNvSpPr txBox="1">
            <a:spLocks noChangeArrowheads="1"/>
          </p:cNvSpPr>
          <p:nvPr/>
        </p:nvSpPr>
        <p:spPr bwMode="auto">
          <a:xfrm>
            <a:off x="0" y="0"/>
            <a:ext cx="2458720" cy="539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6113" tIns="23057" rIns="46113" bIns="23057">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800" b="1" dirty="0">
                <a:solidFill>
                  <a:schemeClr val="bg1"/>
                </a:solidFill>
              </a:rPr>
              <a:t>Order		Matrix Size      Products</a:t>
            </a:r>
          </a:p>
          <a:p>
            <a:r>
              <a:rPr lang="en-US" sz="800" dirty="0"/>
              <a:t>A2 x A3 = 	35 x 5               2,625	</a:t>
            </a:r>
          </a:p>
          <a:p>
            <a:r>
              <a:rPr lang="en-US" sz="800" dirty="0"/>
              <a:t>A1 (A2 x A3) = 	30 X 5             5,250 + 2,625 </a:t>
            </a:r>
          </a:p>
        </p:txBody>
      </p:sp>
      <p:sp>
        <p:nvSpPr>
          <p:cNvPr id="28678" name="Freeform 5"/>
          <p:cNvSpPr>
            <a:spLocks/>
          </p:cNvSpPr>
          <p:nvPr/>
        </p:nvSpPr>
        <p:spPr bwMode="auto">
          <a:xfrm>
            <a:off x="499427" y="538339"/>
            <a:ext cx="345758" cy="1653469"/>
          </a:xfrm>
          <a:custGeom>
            <a:avLst/>
            <a:gdLst>
              <a:gd name="T0" fmla="*/ 2147483647 w 1384"/>
              <a:gd name="T1" fmla="*/ 0 h 1584"/>
              <a:gd name="T2" fmla="*/ 2147483647 w 1384"/>
              <a:gd name="T3" fmla="*/ 2147483647 h 1584"/>
              <a:gd name="T4" fmla="*/ 2147483647 w 1384"/>
              <a:gd name="T5" fmla="*/ 2147483647 h 1584"/>
              <a:gd name="T6" fmla="*/ 2147483647 w 1384"/>
              <a:gd name="T7" fmla="*/ 2147483647 h 1584"/>
              <a:gd name="T8" fmla="*/ 2147483647 w 1384"/>
              <a:gd name="T9" fmla="*/ 2147483647 h 1584"/>
              <a:gd name="T10" fmla="*/ 0 60000 65536"/>
              <a:gd name="T11" fmla="*/ 0 60000 65536"/>
              <a:gd name="T12" fmla="*/ 0 60000 65536"/>
              <a:gd name="T13" fmla="*/ 0 60000 65536"/>
              <a:gd name="T14" fmla="*/ 0 60000 65536"/>
              <a:gd name="T15" fmla="*/ 0 w 1384"/>
              <a:gd name="T16" fmla="*/ 0 h 1584"/>
              <a:gd name="T17" fmla="*/ 1384 w 1384"/>
              <a:gd name="T18" fmla="*/ 1584 h 1584"/>
            </a:gdLst>
            <a:ahLst/>
            <a:cxnLst>
              <a:cxn ang="T10">
                <a:pos x="T0" y="T1"/>
              </a:cxn>
              <a:cxn ang="T11">
                <a:pos x="T2" y="T3"/>
              </a:cxn>
              <a:cxn ang="T12">
                <a:pos x="T4" y="T5"/>
              </a:cxn>
              <a:cxn ang="T13">
                <a:pos x="T6" y="T7"/>
              </a:cxn>
              <a:cxn ang="T14">
                <a:pos x="T8" y="T9"/>
              </a:cxn>
            </a:cxnLst>
            <a:rect l="T15" t="T16" r="T17" b="T18"/>
            <a:pathLst>
              <a:path w="1384" h="1584">
                <a:moveTo>
                  <a:pt x="1384" y="0"/>
                </a:moveTo>
                <a:cubicBezTo>
                  <a:pt x="1264" y="176"/>
                  <a:pt x="1144" y="352"/>
                  <a:pt x="1000" y="432"/>
                </a:cubicBezTo>
                <a:cubicBezTo>
                  <a:pt x="856" y="512"/>
                  <a:pt x="672" y="472"/>
                  <a:pt x="520" y="480"/>
                </a:cubicBezTo>
                <a:cubicBezTo>
                  <a:pt x="368" y="488"/>
                  <a:pt x="0" y="296"/>
                  <a:pt x="88" y="480"/>
                </a:cubicBezTo>
                <a:cubicBezTo>
                  <a:pt x="176" y="664"/>
                  <a:pt x="612" y="1124"/>
                  <a:pt x="1048" y="1584"/>
                </a:cubicBezTo>
              </a:path>
            </a:pathLst>
          </a:cu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lIns="46113" tIns="23057" rIns="46113" bIns="23057"/>
          <a:lstStyle/>
          <a:p>
            <a:endParaRPr lang="en-US"/>
          </a:p>
        </p:txBody>
      </p:sp>
    </p:spTree>
    <p:extLst>
      <p:ext uri="{BB962C8B-B14F-4D97-AF65-F5344CB8AC3E}">
        <p14:creationId xmlns:p14="http://schemas.microsoft.com/office/powerpoint/2010/main" val="5295681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54762" y="-5107"/>
            <a:ext cx="4300575" cy="215444"/>
          </a:xfrm>
        </p:spPr>
        <p:txBody>
          <a:bodyPr/>
          <a:lstStyle/>
          <a:p>
            <a:pPr eaLnBrk="1" hangingPunct="1"/>
            <a:endParaRPr lang="zh-TW" altLang="zh-TW">
              <a:ea typeface="新細明體" charset="-120"/>
            </a:endParaRPr>
          </a:p>
        </p:txBody>
      </p:sp>
      <p:sp>
        <p:nvSpPr>
          <p:cNvPr id="29699" name="Rectangle 3"/>
          <p:cNvSpPr>
            <a:spLocks noGrp="1" noChangeArrowheads="1"/>
          </p:cNvSpPr>
          <p:nvPr>
            <p:ph type="body" idx="1"/>
          </p:nvPr>
        </p:nvSpPr>
        <p:spPr>
          <a:xfrm>
            <a:off x="230505" y="1076678"/>
            <a:ext cx="4149090" cy="1292662"/>
          </a:xfrm>
        </p:spPr>
        <p:txBody>
          <a:bodyPr/>
          <a:lstStyle/>
          <a:p>
            <a:pPr eaLnBrk="1" hangingPunct="1">
              <a:buFont typeface="Wingdings" pitchFamily="2" charset="2"/>
              <a:buNone/>
            </a:pPr>
            <a:r>
              <a:rPr lang="en-US" altLang="zh-TW" sz="1200">
                <a:ea typeface="新細明體" charset="-120"/>
              </a:rPr>
              <a:t>m[2,5]=</a:t>
            </a:r>
          </a:p>
          <a:p>
            <a:pPr eaLnBrk="1" hangingPunct="1">
              <a:buFont typeface="Wingdings" pitchFamily="2" charset="2"/>
              <a:buNone/>
            </a:pPr>
            <a:r>
              <a:rPr lang="en-US" altLang="zh-TW" sz="1200">
                <a:ea typeface="新細明體" charset="-120"/>
              </a:rPr>
              <a:t>min{</a:t>
            </a:r>
          </a:p>
          <a:p>
            <a:pPr eaLnBrk="1" hangingPunct="1">
              <a:buFont typeface="Wingdings" pitchFamily="2" charset="2"/>
              <a:buNone/>
            </a:pPr>
            <a:r>
              <a:rPr lang="en-US" altLang="zh-TW" sz="1200">
                <a:ea typeface="新細明體" charset="-120"/>
              </a:rPr>
              <a:t>m[2,2]+m[3,5]+p</a:t>
            </a:r>
            <a:r>
              <a:rPr lang="en-US" altLang="zh-TW" sz="1200" baseline="-25000">
                <a:ea typeface="新細明體" charset="-120"/>
              </a:rPr>
              <a:t>1</a:t>
            </a:r>
            <a:r>
              <a:rPr lang="en-US" altLang="zh-TW" sz="1200">
                <a:ea typeface="新細明體" charset="-120"/>
              </a:rPr>
              <a:t>p</a:t>
            </a:r>
            <a:r>
              <a:rPr lang="en-US" altLang="zh-TW" sz="1200" baseline="-25000">
                <a:ea typeface="新細明體" charset="-120"/>
              </a:rPr>
              <a:t>2</a:t>
            </a:r>
            <a:r>
              <a:rPr lang="en-US" altLang="zh-TW" sz="1200">
                <a:ea typeface="新細明體" charset="-120"/>
              </a:rPr>
              <a:t>p</a:t>
            </a:r>
            <a:r>
              <a:rPr lang="en-US" altLang="zh-TW" sz="1200" baseline="-25000">
                <a:ea typeface="新細明體" charset="-120"/>
              </a:rPr>
              <a:t>5</a:t>
            </a:r>
            <a:r>
              <a:rPr lang="en-US" altLang="zh-TW" sz="1200">
                <a:ea typeface="新細明體" charset="-120"/>
              </a:rPr>
              <a:t>=0+2500+35</a:t>
            </a:r>
            <a:r>
              <a:rPr lang="en-US" altLang="zh-TW" sz="1200">
                <a:ea typeface="新細明體" charset="-120"/>
                <a:sym typeface="Symbol" pitchFamily="18" charset="2"/>
              </a:rPr>
              <a:t></a:t>
            </a:r>
            <a:r>
              <a:rPr lang="en-US" altLang="zh-TW" sz="1200">
                <a:ea typeface="新細明體" charset="-120"/>
              </a:rPr>
              <a:t>15</a:t>
            </a:r>
            <a:r>
              <a:rPr lang="en-US" altLang="zh-TW" sz="1200">
                <a:ea typeface="新細明體" charset="-120"/>
                <a:sym typeface="Symbol" pitchFamily="18" charset="2"/>
              </a:rPr>
              <a:t></a:t>
            </a:r>
            <a:r>
              <a:rPr lang="en-US" altLang="zh-TW" sz="1200">
                <a:ea typeface="新細明體" charset="-120"/>
              </a:rPr>
              <a:t>20=13000,</a:t>
            </a:r>
          </a:p>
          <a:p>
            <a:pPr eaLnBrk="1" hangingPunct="1">
              <a:buFont typeface="Wingdings" pitchFamily="2" charset="2"/>
              <a:buNone/>
            </a:pPr>
            <a:r>
              <a:rPr lang="en-US" altLang="zh-TW" sz="1200">
                <a:ea typeface="新細明體" charset="-120"/>
              </a:rPr>
              <a:t>m[2,3]+m[4,5]+p</a:t>
            </a:r>
            <a:r>
              <a:rPr lang="en-US" altLang="zh-TW" sz="1200" baseline="-25000">
                <a:ea typeface="新細明體" charset="-120"/>
              </a:rPr>
              <a:t>1</a:t>
            </a:r>
            <a:r>
              <a:rPr lang="en-US" altLang="zh-TW" sz="1200">
                <a:ea typeface="新細明體" charset="-120"/>
              </a:rPr>
              <a:t>p</a:t>
            </a:r>
            <a:r>
              <a:rPr lang="en-US" altLang="zh-TW" sz="1200" baseline="-25000">
                <a:ea typeface="新細明體" charset="-120"/>
              </a:rPr>
              <a:t>3</a:t>
            </a:r>
            <a:r>
              <a:rPr lang="en-US" altLang="zh-TW" sz="1200">
                <a:ea typeface="新細明體" charset="-120"/>
              </a:rPr>
              <a:t>p</a:t>
            </a:r>
            <a:r>
              <a:rPr lang="en-US" altLang="zh-TW" sz="1200" baseline="-25000">
                <a:ea typeface="新細明體" charset="-120"/>
              </a:rPr>
              <a:t>5</a:t>
            </a:r>
            <a:r>
              <a:rPr lang="en-US" altLang="zh-TW" sz="1200">
                <a:ea typeface="新細明體" charset="-120"/>
              </a:rPr>
              <a:t>=2625+1000+35</a:t>
            </a:r>
            <a:r>
              <a:rPr lang="en-US" altLang="zh-TW" sz="1200">
                <a:ea typeface="新細明體" charset="-120"/>
                <a:sym typeface="Symbol" pitchFamily="18" charset="2"/>
              </a:rPr>
              <a:t></a:t>
            </a:r>
            <a:r>
              <a:rPr lang="en-US" altLang="zh-TW" sz="1200">
                <a:ea typeface="新細明體" charset="-120"/>
              </a:rPr>
              <a:t>5</a:t>
            </a:r>
            <a:r>
              <a:rPr lang="en-US" altLang="zh-TW" sz="1200">
                <a:ea typeface="新細明體" charset="-120"/>
                <a:sym typeface="Symbol" pitchFamily="18" charset="2"/>
              </a:rPr>
              <a:t></a:t>
            </a:r>
            <a:r>
              <a:rPr lang="en-US" altLang="zh-TW" sz="1200">
                <a:ea typeface="新細明體" charset="-120"/>
              </a:rPr>
              <a:t>20=7125,</a:t>
            </a:r>
          </a:p>
          <a:p>
            <a:pPr eaLnBrk="1" hangingPunct="1">
              <a:buFont typeface="Wingdings" pitchFamily="2" charset="2"/>
              <a:buNone/>
            </a:pPr>
            <a:r>
              <a:rPr lang="en-US" altLang="zh-TW" sz="1200">
                <a:ea typeface="新細明體" charset="-120"/>
              </a:rPr>
              <a:t>m[2,4]+m[5,5]+p</a:t>
            </a:r>
            <a:r>
              <a:rPr lang="en-US" altLang="zh-TW" sz="1200" baseline="-25000">
                <a:ea typeface="新細明體" charset="-120"/>
              </a:rPr>
              <a:t>1</a:t>
            </a:r>
            <a:r>
              <a:rPr lang="en-US" altLang="zh-TW" sz="1200">
                <a:ea typeface="新細明體" charset="-120"/>
              </a:rPr>
              <a:t>p</a:t>
            </a:r>
            <a:r>
              <a:rPr lang="en-US" altLang="zh-TW" sz="1200" baseline="-25000">
                <a:ea typeface="新細明體" charset="-120"/>
              </a:rPr>
              <a:t>4</a:t>
            </a:r>
            <a:r>
              <a:rPr lang="en-US" altLang="zh-TW" sz="1200">
                <a:ea typeface="新細明體" charset="-120"/>
              </a:rPr>
              <a:t>p</a:t>
            </a:r>
            <a:r>
              <a:rPr lang="en-US" altLang="zh-TW" sz="1200" baseline="-25000">
                <a:ea typeface="新細明體" charset="-120"/>
              </a:rPr>
              <a:t>5</a:t>
            </a:r>
            <a:r>
              <a:rPr lang="en-US" altLang="zh-TW" sz="1200">
                <a:ea typeface="新細明體" charset="-120"/>
              </a:rPr>
              <a:t>=4375+0+35</a:t>
            </a:r>
            <a:r>
              <a:rPr lang="en-US" altLang="zh-TW" sz="1200">
                <a:ea typeface="新細明體" charset="-120"/>
                <a:sym typeface="Symbol" pitchFamily="18" charset="2"/>
              </a:rPr>
              <a:t></a:t>
            </a:r>
            <a:r>
              <a:rPr lang="en-US" altLang="zh-TW" sz="1200">
                <a:ea typeface="新細明體" charset="-120"/>
              </a:rPr>
              <a:t>10</a:t>
            </a:r>
            <a:r>
              <a:rPr lang="en-US" altLang="zh-TW" sz="1200">
                <a:ea typeface="新細明體" charset="-120"/>
                <a:sym typeface="Symbol" pitchFamily="18" charset="2"/>
              </a:rPr>
              <a:t></a:t>
            </a:r>
            <a:r>
              <a:rPr lang="en-US" altLang="zh-TW" sz="1200">
                <a:ea typeface="新細明體" charset="-120"/>
              </a:rPr>
              <a:t>20=11374</a:t>
            </a:r>
          </a:p>
          <a:p>
            <a:pPr eaLnBrk="1" hangingPunct="1">
              <a:buFont typeface="Wingdings" pitchFamily="2" charset="2"/>
              <a:buNone/>
            </a:pPr>
            <a:r>
              <a:rPr lang="en-US" altLang="zh-TW" sz="1200">
                <a:ea typeface="新細明體" charset="-120"/>
              </a:rPr>
              <a:t>}</a:t>
            </a:r>
          </a:p>
          <a:p>
            <a:pPr eaLnBrk="1" hangingPunct="1">
              <a:buFont typeface="Wingdings" pitchFamily="2" charset="2"/>
              <a:buNone/>
            </a:pPr>
            <a:r>
              <a:rPr lang="en-US" altLang="zh-TW" sz="1200">
                <a:ea typeface="新細明體" charset="-120"/>
              </a:rPr>
              <a:t>=7125 </a:t>
            </a:r>
          </a:p>
        </p:txBody>
      </p:sp>
    </p:spTree>
    <p:extLst>
      <p:ext uri="{BB962C8B-B14F-4D97-AF65-F5344CB8AC3E}">
        <p14:creationId xmlns:p14="http://schemas.microsoft.com/office/powerpoint/2010/main" val="9993276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54762" y="-5107"/>
            <a:ext cx="4300575" cy="215444"/>
          </a:xfrm>
        </p:spPr>
        <p:txBody>
          <a:bodyPr/>
          <a:lstStyle/>
          <a:p>
            <a:r>
              <a:rPr lang="en-US"/>
              <a:t>Constructing the optimal solution</a:t>
            </a:r>
          </a:p>
        </p:txBody>
      </p:sp>
      <p:pic>
        <p:nvPicPr>
          <p:cNvPr id="30723"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844" y="1039828"/>
            <a:ext cx="2914928" cy="123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0724" name="Object 4"/>
          <p:cNvGraphicFramePr>
            <a:graphicFrameLocks noGrp="1" noChangeAspect="1"/>
          </p:cNvGraphicFramePr>
          <p:nvPr>
            <p:ph idx="1"/>
          </p:nvPr>
        </p:nvGraphicFramePr>
        <p:xfrm>
          <a:off x="1651952" y="2537883"/>
          <a:ext cx="1408642" cy="160220"/>
        </p:xfrm>
        <a:graphic>
          <a:graphicData uri="http://schemas.openxmlformats.org/presentationml/2006/ole">
            <mc:AlternateContent xmlns:mc="http://schemas.openxmlformats.org/markup-compatibility/2006">
              <mc:Choice xmlns:v="urn:schemas-microsoft-com:vml" Requires="v">
                <p:oleObj name="方程式" r:id="rId4" imgW="2794000" imgH="317500" progId="Equation.3">
                  <p:embed/>
                </p:oleObj>
              </mc:Choice>
              <mc:Fallback>
                <p:oleObj name="方程式" r:id="rId4" imgW="2794000" imgH="3175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1952" y="2537883"/>
                        <a:ext cx="1408642" cy="16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sp>
        <p:nvSpPr>
          <p:cNvPr id="7" name="Rectangle 3"/>
          <p:cNvSpPr txBox="1">
            <a:spLocks noChangeArrowheads="1"/>
          </p:cNvSpPr>
          <p:nvPr/>
        </p:nvSpPr>
        <p:spPr bwMode="auto">
          <a:xfrm>
            <a:off x="596272" y="653697"/>
            <a:ext cx="3918585" cy="2076450"/>
          </a:xfrm>
          <a:prstGeom prst="rect">
            <a:avLst/>
          </a:prstGeom>
          <a:noFill/>
          <a:ln w="12700">
            <a:noFill/>
            <a:miter lim="800000"/>
            <a:headEnd/>
            <a:tailEnd/>
          </a:ln>
        </p:spPr>
        <p:txBody>
          <a:bodyPr lIns="45633" tIns="22416" rIns="45633" bIns="22416"/>
          <a:lstStyle/>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r>
              <a:rPr lang="en-US" altLang="zh-TW" sz="1400" b="1" kern="0" dirty="0"/>
              <a:t>example: </a:t>
            </a:r>
          </a:p>
        </p:txBody>
      </p:sp>
    </p:spTree>
    <p:extLst>
      <p:ext uri="{BB962C8B-B14F-4D97-AF65-F5344CB8AC3E}">
        <p14:creationId xmlns:p14="http://schemas.microsoft.com/office/powerpoint/2010/main" val="10322035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54762" y="-5107"/>
            <a:ext cx="4300575" cy="215444"/>
          </a:xfrm>
        </p:spPr>
        <p:txBody>
          <a:bodyPr/>
          <a:lstStyle/>
          <a:p>
            <a:r>
              <a:rPr lang="en-US"/>
              <a:t>Constructing the optimal solution</a:t>
            </a:r>
          </a:p>
        </p:txBody>
      </p:sp>
      <p:pic>
        <p:nvPicPr>
          <p:cNvPr id="30723"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844" y="1039828"/>
            <a:ext cx="2914928" cy="123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0724" name="Object 4"/>
          <p:cNvGraphicFramePr>
            <a:graphicFrameLocks noGrp="1" noChangeAspect="1"/>
          </p:cNvGraphicFramePr>
          <p:nvPr>
            <p:ph idx="1"/>
          </p:nvPr>
        </p:nvGraphicFramePr>
        <p:xfrm>
          <a:off x="1651952" y="2537883"/>
          <a:ext cx="1408642" cy="160220"/>
        </p:xfrm>
        <a:graphic>
          <a:graphicData uri="http://schemas.openxmlformats.org/presentationml/2006/ole">
            <mc:AlternateContent xmlns:mc="http://schemas.openxmlformats.org/markup-compatibility/2006">
              <mc:Choice xmlns:v="urn:schemas-microsoft-com:vml" Requires="v">
                <p:oleObj name="方程式" r:id="rId4" imgW="2794000" imgH="317500" progId="Equation.3">
                  <p:embed/>
                </p:oleObj>
              </mc:Choice>
              <mc:Fallback>
                <p:oleObj name="方程式" r:id="rId4" imgW="2794000" imgH="3175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1952" y="2537883"/>
                        <a:ext cx="1408642" cy="16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sp>
        <p:nvSpPr>
          <p:cNvPr id="7" name="Rectangle 3"/>
          <p:cNvSpPr txBox="1">
            <a:spLocks noChangeArrowheads="1"/>
          </p:cNvSpPr>
          <p:nvPr/>
        </p:nvSpPr>
        <p:spPr bwMode="auto">
          <a:xfrm>
            <a:off x="596272" y="653697"/>
            <a:ext cx="3918585" cy="2076450"/>
          </a:xfrm>
          <a:prstGeom prst="rect">
            <a:avLst/>
          </a:prstGeom>
          <a:noFill/>
          <a:ln w="12700">
            <a:noFill/>
            <a:miter lim="800000"/>
            <a:headEnd/>
            <a:tailEnd/>
          </a:ln>
        </p:spPr>
        <p:txBody>
          <a:bodyPr lIns="45633" tIns="22416" rIns="45633" bIns="22416"/>
          <a:lstStyle/>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endParaRPr lang="en-US" altLang="zh-TW" sz="1400" b="1" kern="0" dirty="0"/>
          </a:p>
          <a:p>
            <a:pPr marL="172924" indent="-172924">
              <a:spcBef>
                <a:spcPct val="20000"/>
              </a:spcBef>
              <a:buSzPct val="100000"/>
              <a:buFontTx/>
              <a:buChar char="•"/>
              <a:defRPr/>
            </a:pPr>
            <a:r>
              <a:rPr lang="en-US" altLang="zh-TW" sz="1400" b="1" kern="0" dirty="0"/>
              <a:t>example: </a:t>
            </a:r>
          </a:p>
        </p:txBody>
      </p:sp>
    </p:spTree>
    <p:extLst>
      <p:ext uri="{BB962C8B-B14F-4D97-AF65-F5344CB8AC3E}">
        <p14:creationId xmlns:p14="http://schemas.microsoft.com/office/powerpoint/2010/main" val="173968760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1159688" cy="232756"/>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Step</a:t>
            </a:r>
            <a:r>
              <a:rPr sz="1400" spc="-55" dirty="0">
                <a:solidFill>
                  <a:srgbClr val="FFFFFF"/>
                </a:solidFill>
                <a:latin typeface="LM Sans 12"/>
                <a:cs typeface="LM Sans 12"/>
              </a:rPr>
              <a:t> </a:t>
            </a:r>
            <a:r>
              <a:rPr sz="1400" spc="5" dirty="0">
                <a:solidFill>
                  <a:srgbClr val="FFFFFF"/>
                </a:solidFill>
                <a:latin typeface="LM Sans 12"/>
                <a:cs typeface="LM Sans 12"/>
              </a:rPr>
              <a:t>4...</a:t>
            </a:r>
            <a:endParaRPr sz="1400" dirty="0">
              <a:latin typeface="LM Sans 12"/>
              <a:cs typeface="LM Sans 12"/>
            </a:endParaRP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47294" y="735670"/>
            <a:ext cx="3516629" cy="639445"/>
          </a:xfrm>
          <a:prstGeom prst="rect">
            <a:avLst/>
          </a:prstGeom>
        </p:spPr>
        <p:txBody>
          <a:bodyPr vert="horz" wrap="square" lIns="0" tIns="66040" rIns="0" bIns="0" rtlCol="0">
            <a:spAutoFit/>
          </a:bodyPr>
          <a:lstStyle/>
          <a:p>
            <a:pPr marL="127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5"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12700" marR="50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a:t>
            </a:r>
            <a:r>
              <a:rPr sz="1100" spc="-135" dirty="0">
                <a:latin typeface="LM Sans 10"/>
                <a:cs typeface="LM Sans 10"/>
              </a:rPr>
              <a:t> </a:t>
            </a:r>
            <a:r>
              <a:rPr sz="1100" spc="-5" dirty="0">
                <a:latin typeface="LM Sans 10"/>
                <a:cs typeface="LM Sans 10"/>
              </a:rPr>
              <a:t>properly  constructed.</a:t>
            </a:r>
            <a:endParaRPr sz="1100">
              <a:latin typeface="LM Sans 10"/>
              <a:cs typeface="LM Sans 10"/>
            </a:endParaRPr>
          </a:p>
        </p:txBody>
      </p:sp>
      <p:grpSp>
        <p:nvGrpSpPr>
          <p:cNvPr id="15" name="object 15"/>
          <p:cNvGrpSpPr/>
          <p:nvPr/>
        </p:nvGrpSpPr>
        <p:grpSpPr>
          <a:xfrm>
            <a:off x="0" y="3342919"/>
            <a:ext cx="4608195" cy="113664"/>
            <a:chOff x="0" y="3342919"/>
            <a:chExt cx="4608195" cy="113664"/>
          </a:xfrm>
        </p:grpSpPr>
        <p:sp>
          <p:nvSpPr>
            <p:cNvPr id="16" name="object 1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7" name="object 1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8" name="object 1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0" name="object 2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1" name="object 2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931088" cy="232756"/>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Step</a:t>
            </a:r>
            <a:r>
              <a:rPr sz="1400" spc="-55" dirty="0">
                <a:solidFill>
                  <a:srgbClr val="FFFFFF"/>
                </a:solidFill>
                <a:latin typeface="LM Sans 12"/>
                <a:cs typeface="LM Sans 12"/>
              </a:rPr>
              <a:t> </a:t>
            </a:r>
            <a:r>
              <a:rPr sz="1400" spc="5" dirty="0">
                <a:solidFill>
                  <a:srgbClr val="FFFFFF"/>
                </a:solidFill>
                <a:latin typeface="LM Sans 12"/>
                <a:cs typeface="LM Sans 12"/>
              </a:rPr>
              <a:t>4...</a:t>
            </a:r>
            <a:endParaRPr sz="1400" dirty="0">
              <a:latin typeface="LM Sans 12"/>
              <a:cs typeface="LM Sans 12"/>
            </a:endParaRP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47294" y="735670"/>
            <a:ext cx="3782695" cy="639445"/>
          </a:xfrm>
          <a:prstGeom prst="rect">
            <a:avLst/>
          </a:prstGeom>
        </p:spPr>
        <p:txBody>
          <a:bodyPr vert="horz" wrap="square" lIns="0" tIns="66040" rIns="0" bIns="0" rtlCol="0">
            <a:spAutoFit/>
          </a:bodyPr>
          <a:lstStyle/>
          <a:p>
            <a:pPr marL="127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12700" marR="50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p:txBody>
      </p:sp>
      <p:grpSp>
        <p:nvGrpSpPr>
          <p:cNvPr id="15" name="object 15"/>
          <p:cNvGrpSpPr/>
          <p:nvPr/>
        </p:nvGrpSpPr>
        <p:grpSpPr>
          <a:xfrm>
            <a:off x="0" y="3342919"/>
            <a:ext cx="4608195" cy="113664"/>
            <a:chOff x="0" y="3342919"/>
            <a:chExt cx="4608195" cy="113664"/>
          </a:xfrm>
        </p:grpSpPr>
        <p:sp>
          <p:nvSpPr>
            <p:cNvPr id="16" name="object 1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7" name="object 1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8" name="object 1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0" name="object 2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1" name="object 2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083488" cy="232756"/>
          </a:xfrm>
          <a:prstGeom prst="rect">
            <a:avLst/>
          </a:prstGeom>
        </p:spPr>
        <p:txBody>
          <a:bodyPr vert="horz" wrap="square" lIns="0" tIns="17145" rIns="0" bIns="0" rtlCol="0">
            <a:spAutoFit/>
          </a:bodyPr>
          <a:lstStyle/>
          <a:p>
            <a:pPr marL="12700">
              <a:lnSpc>
                <a:spcPct val="100000"/>
              </a:lnSpc>
              <a:spcBef>
                <a:spcPts val="135"/>
              </a:spcBef>
            </a:pPr>
            <a:r>
              <a:rPr spc="15" dirty="0"/>
              <a:t>Step</a:t>
            </a:r>
            <a:r>
              <a:rPr spc="-55" dirty="0"/>
              <a:t> </a:t>
            </a:r>
            <a:r>
              <a:rPr spc="5" dirty="0"/>
              <a:t>4...</a:t>
            </a: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47294" y="735670"/>
            <a:ext cx="3782695" cy="938530"/>
          </a:xfrm>
          <a:prstGeom prst="rect">
            <a:avLst/>
          </a:prstGeom>
        </p:spPr>
        <p:txBody>
          <a:bodyPr vert="horz" wrap="square" lIns="0" tIns="66040" rIns="0" bIns="0" rtlCol="0">
            <a:spAutoFit/>
          </a:bodyPr>
          <a:lstStyle/>
          <a:p>
            <a:pPr marL="127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12700" marR="50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a:p>
            <a:pPr>
              <a:lnSpc>
                <a:spcPct val="100000"/>
              </a:lnSpc>
              <a:spcBef>
                <a:spcPts val="10"/>
              </a:spcBef>
            </a:pPr>
            <a:endParaRPr sz="700">
              <a:latin typeface="LM Sans 10"/>
              <a:cs typeface="LM Sans 10"/>
            </a:endParaRPr>
          </a:p>
          <a:p>
            <a:pPr marL="879475">
              <a:lnSpc>
                <a:spcPct val="100000"/>
              </a:lnSpc>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305" dirty="0">
                <a:latin typeface="LM Roman Dunhill 10"/>
                <a:cs typeface="LM Roman Dunhill 10"/>
              </a:rPr>
              <a:t> </a:t>
            </a:r>
            <a:r>
              <a:rPr sz="1100" spc="-5" dirty="0">
                <a:latin typeface="LM Sans 10"/>
                <a:cs typeface="LM Sans 10"/>
              </a:rPr>
              <a:t>6] </a:t>
            </a:r>
            <a:r>
              <a:rPr sz="1100" spc="-10" dirty="0">
                <a:latin typeface="LM Sans 10"/>
                <a:cs typeface="LM Sans 10"/>
              </a:rPr>
              <a:t>= </a:t>
            </a:r>
            <a:r>
              <a:rPr sz="1100" spc="-5" dirty="0">
                <a:latin typeface="LM Sans 10"/>
                <a:cs typeface="LM Sans 10"/>
              </a:rPr>
              <a:t>3</a:t>
            </a:r>
            <a:endParaRPr sz="1100">
              <a:latin typeface="LM Sans 10"/>
              <a:cs typeface="LM Sans 10"/>
            </a:endParaRPr>
          </a:p>
        </p:txBody>
      </p:sp>
      <p:grpSp>
        <p:nvGrpSpPr>
          <p:cNvPr id="15" name="object 15"/>
          <p:cNvGrpSpPr/>
          <p:nvPr/>
        </p:nvGrpSpPr>
        <p:grpSpPr>
          <a:xfrm>
            <a:off x="0" y="3342919"/>
            <a:ext cx="4608195" cy="113664"/>
            <a:chOff x="0" y="3342919"/>
            <a:chExt cx="4608195" cy="113664"/>
          </a:xfrm>
        </p:grpSpPr>
        <p:sp>
          <p:nvSpPr>
            <p:cNvPr id="16" name="object 1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7" name="object 1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8" name="object 1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0" name="object 2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1" name="object 2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007288" cy="232756"/>
          </a:xfrm>
          <a:prstGeom prst="rect">
            <a:avLst/>
          </a:prstGeom>
        </p:spPr>
        <p:txBody>
          <a:bodyPr vert="horz" wrap="square" lIns="0" tIns="17145" rIns="0" bIns="0" rtlCol="0">
            <a:spAutoFit/>
          </a:bodyPr>
          <a:lstStyle/>
          <a:p>
            <a:pPr marL="12700">
              <a:lnSpc>
                <a:spcPct val="100000"/>
              </a:lnSpc>
              <a:spcBef>
                <a:spcPts val="135"/>
              </a:spcBef>
            </a:pPr>
            <a:r>
              <a:rPr spc="15" dirty="0"/>
              <a:t>Step</a:t>
            </a:r>
            <a:r>
              <a:rPr spc="-55" dirty="0"/>
              <a:t> </a:t>
            </a:r>
            <a:r>
              <a:rPr spc="5" dirty="0"/>
              <a:t>4...</a:t>
            </a: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09194" y="735670"/>
            <a:ext cx="3858895" cy="938530"/>
          </a:xfrm>
          <a:prstGeom prst="rect">
            <a:avLst/>
          </a:prstGeom>
        </p:spPr>
        <p:txBody>
          <a:bodyPr vert="horz" wrap="square" lIns="0" tIns="66040" rIns="0" bIns="0" rtlCol="0">
            <a:spAutoFit/>
          </a:bodyPr>
          <a:lstStyle/>
          <a:p>
            <a:pPr marL="508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50800" marR="431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a:p>
            <a:pPr>
              <a:lnSpc>
                <a:spcPct val="100000"/>
              </a:lnSpc>
              <a:spcBef>
                <a:spcPts val="10"/>
              </a:spcBef>
            </a:pPr>
            <a:endParaRPr sz="700">
              <a:latin typeface="LM Sans 10"/>
              <a:cs typeface="LM Sans 10"/>
            </a:endParaRPr>
          </a:p>
          <a:p>
            <a:pPr marL="917575">
              <a:lnSpc>
                <a:spcPct val="100000"/>
              </a:lnSpc>
              <a:tabLst>
                <a:tab pos="1687830" algn="l"/>
              </a:tabLst>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 </a:t>
            </a:r>
            <a:r>
              <a:rPr sz="1100" spc="-5" dirty="0">
                <a:latin typeface="LM Sans 10"/>
                <a:cs typeface="LM Sans 10"/>
              </a:rPr>
              <a:t>6]</a:t>
            </a:r>
            <a:r>
              <a:rPr sz="1100" spc="-265" dirty="0">
                <a:latin typeface="LM Sans 10"/>
                <a:cs typeface="LM Sans 10"/>
              </a:rPr>
              <a:t> </a:t>
            </a:r>
            <a:r>
              <a:rPr sz="1100" spc="-10" dirty="0">
                <a:latin typeface="LM Sans 10"/>
                <a:cs typeface="LM Sans 10"/>
              </a:rPr>
              <a:t>=</a:t>
            </a:r>
            <a:r>
              <a:rPr sz="1100" spc="-60" dirty="0">
                <a:latin typeface="LM Sans 10"/>
                <a:cs typeface="LM Sans 10"/>
              </a:rPr>
              <a:t> </a:t>
            </a:r>
            <a:r>
              <a:rPr sz="1100" spc="-5" dirty="0">
                <a:latin typeface="LM Sans 10"/>
                <a:cs typeface="LM Sans 10"/>
              </a:rPr>
              <a:t>3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4</a:t>
            </a:r>
            <a:r>
              <a:rPr sz="1100" i="1" spc="10" dirty="0">
                <a:latin typeface="LM Sans 10"/>
                <a:cs typeface="LM Sans 10"/>
              </a:rPr>
              <a:t>A</a:t>
            </a:r>
            <a:r>
              <a:rPr sz="1200" spc="15" baseline="-10416" dirty="0">
                <a:latin typeface="LM Sans 8"/>
                <a:cs typeface="LM Sans 8"/>
              </a:rPr>
              <a:t>5</a:t>
            </a:r>
            <a:r>
              <a:rPr sz="1100" i="1" spc="10" dirty="0">
                <a:latin typeface="LM Sans 10"/>
                <a:cs typeface="LM Sans 10"/>
              </a:rPr>
              <a:t>A</a:t>
            </a:r>
            <a:r>
              <a:rPr sz="1200" spc="15" baseline="-10416" dirty="0">
                <a:latin typeface="LM Sans 8"/>
                <a:cs typeface="LM Sans 8"/>
              </a:rPr>
              <a:t>6</a:t>
            </a:r>
            <a:r>
              <a:rPr sz="1100" spc="10" dirty="0">
                <a:latin typeface="LM Sans 10"/>
                <a:cs typeface="LM Sans 10"/>
              </a:rPr>
              <a:t>)</a:t>
            </a:r>
            <a:endParaRPr sz="1100">
              <a:latin typeface="LM Sans 10"/>
              <a:cs typeface="LM Sans 10"/>
            </a:endParaRPr>
          </a:p>
        </p:txBody>
      </p:sp>
      <p:grpSp>
        <p:nvGrpSpPr>
          <p:cNvPr id="15" name="object 15"/>
          <p:cNvGrpSpPr/>
          <p:nvPr/>
        </p:nvGrpSpPr>
        <p:grpSpPr>
          <a:xfrm>
            <a:off x="0" y="3342919"/>
            <a:ext cx="4608195" cy="113664"/>
            <a:chOff x="0" y="3342919"/>
            <a:chExt cx="4608195" cy="113664"/>
          </a:xfrm>
        </p:grpSpPr>
        <p:sp>
          <p:nvSpPr>
            <p:cNvPr id="16" name="object 1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7" name="object 1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8" name="object 1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0" name="object 2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1" name="object 2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083488" cy="232756"/>
          </a:xfrm>
          <a:prstGeom prst="rect">
            <a:avLst/>
          </a:prstGeom>
        </p:spPr>
        <p:txBody>
          <a:bodyPr vert="horz" wrap="square" lIns="0" tIns="17145" rIns="0" bIns="0" rtlCol="0">
            <a:spAutoFit/>
          </a:bodyPr>
          <a:lstStyle/>
          <a:p>
            <a:pPr marL="12700">
              <a:lnSpc>
                <a:spcPct val="100000"/>
              </a:lnSpc>
              <a:spcBef>
                <a:spcPts val="135"/>
              </a:spcBef>
            </a:pPr>
            <a:r>
              <a:rPr spc="15" dirty="0"/>
              <a:t>Step</a:t>
            </a:r>
            <a:r>
              <a:rPr spc="-55" dirty="0"/>
              <a:t> </a:t>
            </a:r>
            <a:r>
              <a:rPr spc="5" dirty="0"/>
              <a:t>4...</a:t>
            </a: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09194" y="735670"/>
            <a:ext cx="3858895" cy="1110615"/>
          </a:xfrm>
          <a:prstGeom prst="rect">
            <a:avLst/>
          </a:prstGeom>
        </p:spPr>
        <p:txBody>
          <a:bodyPr vert="horz" wrap="square" lIns="0" tIns="66040" rIns="0" bIns="0" rtlCol="0">
            <a:spAutoFit/>
          </a:bodyPr>
          <a:lstStyle/>
          <a:p>
            <a:pPr marL="508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50800" marR="431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a:p>
            <a:pPr>
              <a:lnSpc>
                <a:spcPct val="100000"/>
              </a:lnSpc>
              <a:spcBef>
                <a:spcPts val="10"/>
              </a:spcBef>
            </a:pPr>
            <a:endParaRPr sz="700">
              <a:latin typeface="LM Sans 10"/>
              <a:cs typeface="LM Sans 10"/>
            </a:endParaRPr>
          </a:p>
          <a:p>
            <a:pPr marL="917575">
              <a:lnSpc>
                <a:spcPct val="100000"/>
              </a:lnSpc>
              <a:tabLst>
                <a:tab pos="1687830" algn="l"/>
              </a:tabLst>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 </a:t>
            </a:r>
            <a:r>
              <a:rPr sz="1100" spc="-5" dirty="0">
                <a:latin typeface="LM Sans 10"/>
                <a:cs typeface="LM Sans 10"/>
              </a:rPr>
              <a:t>6]</a:t>
            </a:r>
            <a:r>
              <a:rPr sz="1100" spc="-265" dirty="0">
                <a:latin typeface="LM Sans 10"/>
                <a:cs typeface="LM Sans 10"/>
              </a:rPr>
              <a:t> </a:t>
            </a:r>
            <a:r>
              <a:rPr sz="1100" spc="-10" dirty="0">
                <a:latin typeface="LM Sans 10"/>
                <a:cs typeface="LM Sans 10"/>
              </a:rPr>
              <a:t>=</a:t>
            </a:r>
            <a:r>
              <a:rPr sz="1100" spc="-60" dirty="0">
                <a:latin typeface="LM Sans 10"/>
                <a:cs typeface="LM Sans 10"/>
              </a:rPr>
              <a:t> </a:t>
            </a:r>
            <a:r>
              <a:rPr sz="1100" spc="-5" dirty="0">
                <a:latin typeface="LM Sans 10"/>
                <a:cs typeface="LM Sans 10"/>
              </a:rPr>
              <a:t>3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4</a:t>
            </a:r>
            <a:r>
              <a:rPr sz="1100" i="1" spc="10" dirty="0">
                <a:latin typeface="LM Sans 10"/>
                <a:cs typeface="LM Sans 10"/>
              </a:rPr>
              <a:t>A</a:t>
            </a:r>
            <a:r>
              <a:rPr sz="1200" spc="15" baseline="-10416" dirty="0">
                <a:latin typeface="LM Sans 8"/>
                <a:cs typeface="LM Sans 8"/>
              </a:rPr>
              <a:t>5</a:t>
            </a:r>
            <a:r>
              <a:rPr sz="1100" i="1" spc="10" dirty="0">
                <a:latin typeface="LM Sans 10"/>
                <a:cs typeface="LM Sans 10"/>
              </a:rPr>
              <a:t>A</a:t>
            </a:r>
            <a:r>
              <a:rPr sz="1200" spc="15" baseline="-10416" dirty="0">
                <a:latin typeface="LM Sans 8"/>
                <a:cs typeface="LM Sans 8"/>
              </a:rPr>
              <a:t>6</a:t>
            </a:r>
            <a:r>
              <a:rPr sz="1100" spc="10" dirty="0">
                <a:latin typeface="LM Sans 10"/>
                <a:cs typeface="LM Sans 10"/>
              </a:rPr>
              <a:t>)</a:t>
            </a:r>
            <a:endParaRPr sz="1100">
              <a:latin typeface="LM Sans 10"/>
              <a:cs typeface="LM Sans 10"/>
            </a:endParaRPr>
          </a:p>
          <a:p>
            <a:pPr marL="917575">
              <a:lnSpc>
                <a:spcPct val="100000"/>
              </a:lnSpc>
              <a:spcBef>
                <a:spcPts val="35"/>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305" dirty="0">
                <a:latin typeface="LM Roman Dunhill 10"/>
                <a:cs typeface="LM Roman Dunhill 10"/>
              </a:rPr>
              <a:t> </a:t>
            </a:r>
            <a:r>
              <a:rPr sz="1100" spc="-5" dirty="0">
                <a:latin typeface="LM Sans 10"/>
                <a:cs typeface="LM Sans 10"/>
              </a:rPr>
              <a:t>3] </a:t>
            </a:r>
            <a:r>
              <a:rPr sz="1100" spc="-10" dirty="0">
                <a:latin typeface="LM Sans 10"/>
                <a:cs typeface="LM Sans 10"/>
              </a:rPr>
              <a:t>= </a:t>
            </a:r>
            <a:r>
              <a:rPr sz="1100" spc="-5" dirty="0">
                <a:latin typeface="LM Sans 10"/>
                <a:cs typeface="LM Sans 10"/>
              </a:rPr>
              <a:t>1</a:t>
            </a:r>
            <a:endParaRPr sz="1100">
              <a:latin typeface="LM Sans 10"/>
              <a:cs typeface="LM Sans 10"/>
            </a:endParaRPr>
          </a:p>
        </p:txBody>
      </p:sp>
      <p:grpSp>
        <p:nvGrpSpPr>
          <p:cNvPr id="15" name="object 15"/>
          <p:cNvGrpSpPr/>
          <p:nvPr/>
        </p:nvGrpSpPr>
        <p:grpSpPr>
          <a:xfrm>
            <a:off x="0" y="3342919"/>
            <a:ext cx="4608195" cy="113664"/>
            <a:chOff x="0" y="3342919"/>
            <a:chExt cx="4608195" cy="113664"/>
          </a:xfrm>
        </p:grpSpPr>
        <p:sp>
          <p:nvSpPr>
            <p:cNvPr id="16" name="object 1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7" name="object 1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8" name="object 1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0" name="object 2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1" name="object 2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159688" cy="232756"/>
          </a:xfrm>
          <a:prstGeom prst="rect">
            <a:avLst/>
          </a:prstGeom>
        </p:spPr>
        <p:txBody>
          <a:bodyPr vert="horz" wrap="square" lIns="0" tIns="17145" rIns="0" bIns="0" rtlCol="0">
            <a:spAutoFit/>
          </a:bodyPr>
          <a:lstStyle/>
          <a:p>
            <a:pPr marL="12700">
              <a:lnSpc>
                <a:spcPct val="100000"/>
              </a:lnSpc>
              <a:spcBef>
                <a:spcPts val="135"/>
              </a:spcBef>
            </a:pPr>
            <a:r>
              <a:rPr spc="15" dirty="0"/>
              <a:t>Step</a:t>
            </a:r>
            <a:r>
              <a:rPr spc="-55" dirty="0"/>
              <a:t> </a:t>
            </a:r>
            <a:r>
              <a:rPr spc="5" dirty="0"/>
              <a:t>4...</a:t>
            </a: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47294" y="735670"/>
            <a:ext cx="3782695" cy="639445"/>
          </a:xfrm>
          <a:prstGeom prst="rect">
            <a:avLst/>
          </a:prstGeom>
        </p:spPr>
        <p:txBody>
          <a:bodyPr vert="horz" wrap="square" lIns="0" tIns="66040" rIns="0" bIns="0" rtlCol="0">
            <a:spAutoFit/>
          </a:bodyPr>
          <a:lstStyle/>
          <a:p>
            <a:pPr marL="127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12700" marR="50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p:txBody>
      </p:sp>
      <p:sp>
        <p:nvSpPr>
          <p:cNvPr id="15" name="object 15"/>
          <p:cNvSpPr txBox="1"/>
          <p:nvPr/>
        </p:nvSpPr>
        <p:spPr>
          <a:xfrm>
            <a:off x="1214247" y="1482291"/>
            <a:ext cx="623570" cy="363855"/>
          </a:xfrm>
          <a:prstGeom prst="rect">
            <a:avLst/>
          </a:prstGeom>
        </p:spPr>
        <p:txBody>
          <a:bodyPr vert="horz" wrap="square" lIns="0" tIns="11430" rIns="0" bIns="0" rtlCol="0">
            <a:spAutoFit/>
          </a:bodyPr>
          <a:lstStyle/>
          <a:p>
            <a:pPr marL="12700">
              <a:lnSpc>
                <a:spcPct val="100000"/>
              </a:lnSpc>
              <a:spcBef>
                <a:spcPts val="90"/>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3</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3]</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1</a:t>
            </a:r>
            <a:endParaRPr sz="1100">
              <a:latin typeface="LM Sans 10"/>
              <a:cs typeface="LM Sans 10"/>
            </a:endParaRPr>
          </a:p>
        </p:txBody>
      </p:sp>
      <p:sp>
        <p:nvSpPr>
          <p:cNvPr id="16" name="object 16"/>
          <p:cNvSpPr txBox="1"/>
          <p:nvPr/>
        </p:nvSpPr>
        <p:spPr>
          <a:xfrm>
            <a:off x="1959610" y="1482291"/>
            <a:ext cx="1206500" cy="363855"/>
          </a:xfrm>
          <a:prstGeom prst="rect">
            <a:avLst/>
          </a:prstGeom>
        </p:spPr>
        <p:txBody>
          <a:bodyPr vert="horz" wrap="square" lIns="0" tIns="6985" rIns="0" bIns="0" rtlCol="0">
            <a:spAutoFit/>
          </a:bodyPr>
          <a:lstStyle/>
          <a:p>
            <a:pPr marL="38100" marR="30480">
              <a:lnSpc>
                <a:spcPct val="102600"/>
              </a:lnSpc>
              <a:spcBef>
                <a:spcPts val="55"/>
              </a:spcBef>
            </a:pP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1</a:t>
            </a:r>
            <a:r>
              <a:rPr sz="1100" i="1" spc="-10" dirty="0">
                <a:latin typeface="LM Sans 10"/>
                <a:cs typeface="LM Sans 10"/>
              </a:rPr>
              <a:t>A</a:t>
            </a:r>
            <a:r>
              <a:rPr sz="1200" spc="67" baseline="-10416" dirty="0">
                <a:latin typeface="LM Sans 8"/>
                <a:cs typeface="LM Sans 8"/>
              </a:rPr>
              <a:t>2</a:t>
            </a:r>
            <a:r>
              <a:rPr sz="1100" i="1" spc="-10" dirty="0">
                <a:latin typeface="LM Sans 10"/>
                <a:cs typeface="LM Sans 10"/>
              </a:rPr>
              <a:t>A</a:t>
            </a:r>
            <a:r>
              <a:rPr sz="1200" spc="67" baseline="-10416" dirty="0">
                <a:latin typeface="LM Sans 8"/>
                <a:cs typeface="LM Sans 8"/>
              </a:rPr>
              <a:t>3</a:t>
            </a: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4</a:t>
            </a:r>
            <a:r>
              <a:rPr sz="1100" i="1" spc="-10" dirty="0">
                <a:latin typeface="LM Sans 10"/>
                <a:cs typeface="LM Sans 10"/>
              </a:rPr>
              <a:t>A</a:t>
            </a:r>
            <a:r>
              <a:rPr sz="1200" spc="67" baseline="-10416" dirty="0">
                <a:latin typeface="LM Sans 8"/>
                <a:cs typeface="LM Sans 8"/>
              </a:rPr>
              <a:t>5</a:t>
            </a:r>
            <a:r>
              <a:rPr sz="1100" i="1" spc="-10" dirty="0">
                <a:latin typeface="LM Sans 10"/>
                <a:cs typeface="LM Sans 10"/>
              </a:rPr>
              <a:t>A</a:t>
            </a:r>
            <a:r>
              <a:rPr sz="1200" spc="67" baseline="-10416" dirty="0">
                <a:latin typeface="LM Sans 8"/>
                <a:cs typeface="LM Sans 8"/>
              </a:rPr>
              <a:t>6</a:t>
            </a:r>
            <a:r>
              <a:rPr sz="1100" spc="-5" dirty="0">
                <a:latin typeface="LM Sans 10"/>
                <a:cs typeface="LM Sans 10"/>
              </a:rPr>
              <a:t>)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endParaRPr sz="1100">
              <a:latin typeface="LM Sans 10"/>
              <a:cs typeface="LM Sans 10"/>
            </a:endParaRPr>
          </a:p>
        </p:txBody>
      </p:sp>
      <p:grpSp>
        <p:nvGrpSpPr>
          <p:cNvPr id="17" name="object 17"/>
          <p:cNvGrpSpPr/>
          <p:nvPr/>
        </p:nvGrpSpPr>
        <p:grpSpPr>
          <a:xfrm>
            <a:off x="0" y="3342919"/>
            <a:ext cx="4608195" cy="113664"/>
            <a:chOff x="0" y="3342919"/>
            <a:chExt cx="4608195" cy="113664"/>
          </a:xfrm>
        </p:grpSpPr>
        <p:sp>
          <p:nvSpPr>
            <p:cNvPr id="18" name="object 1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9" name="object 1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0" name="object 2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2" name="object 2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3" name="object 2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159688" cy="232756"/>
          </a:xfrm>
          <a:prstGeom prst="rect">
            <a:avLst/>
          </a:prstGeom>
        </p:spPr>
        <p:txBody>
          <a:bodyPr vert="horz" wrap="square" lIns="0" tIns="17145" rIns="0" bIns="0" rtlCol="0">
            <a:spAutoFit/>
          </a:bodyPr>
          <a:lstStyle/>
          <a:p>
            <a:pPr marL="12700">
              <a:lnSpc>
                <a:spcPct val="100000"/>
              </a:lnSpc>
              <a:spcBef>
                <a:spcPts val="135"/>
              </a:spcBef>
            </a:pPr>
            <a:r>
              <a:rPr spc="15" dirty="0"/>
              <a:t>Step</a:t>
            </a:r>
            <a:r>
              <a:rPr spc="-55" dirty="0"/>
              <a:t> </a:t>
            </a:r>
            <a:r>
              <a:rPr spc="5" dirty="0"/>
              <a:t>4...</a:t>
            </a: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47294" y="735670"/>
            <a:ext cx="3782695" cy="639445"/>
          </a:xfrm>
          <a:prstGeom prst="rect">
            <a:avLst/>
          </a:prstGeom>
        </p:spPr>
        <p:txBody>
          <a:bodyPr vert="horz" wrap="square" lIns="0" tIns="66040" rIns="0" bIns="0" rtlCol="0">
            <a:spAutoFit/>
          </a:bodyPr>
          <a:lstStyle/>
          <a:p>
            <a:pPr marL="127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12700" marR="50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p:txBody>
      </p:sp>
      <p:sp>
        <p:nvSpPr>
          <p:cNvPr id="15" name="object 15"/>
          <p:cNvSpPr txBox="1"/>
          <p:nvPr/>
        </p:nvSpPr>
        <p:spPr>
          <a:xfrm>
            <a:off x="1959610" y="1482291"/>
            <a:ext cx="1206500" cy="363855"/>
          </a:xfrm>
          <a:prstGeom prst="rect">
            <a:avLst/>
          </a:prstGeom>
        </p:spPr>
        <p:txBody>
          <a:bodyPr vert="horz" wrap="square" lIns="0" tIns="6985" rIns="0" bIns="0" rtlCol="0">
            <a:spAutoFit/>
          </a:bodyPr>
          <a:lstStyle/>
          <a:p>
            <a:pPr marL="38100" marR="30480">
              <a:lnSpc>
                <a:spcPct val="102600"/>
              </a:lnSpc>
              <a:spcBef>
                <a:spcPts val="55"/>
              </a:spcBef>
            </a:pP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1</a:t>
            </a:r>
            <a:r>
              <a:rPr sz="1100" i="1" spc="-10" dirty="0">
                <a:latin typeface="LM Sans 10"/>
                <a:cs typeface="LM Sans 10"/>
              </a:rPr>
              <a:t>A</a:t>
            </a:r>
            <a:r>
              <a:rPr sz="1200" spc="67" baseline="-10416" dirty="0">
                <a:latin typeface="LM Sans 8"/>
                <a:cs typeface="LM Sans 8"/>
              </a:rPr>
              <a:t>2</a:t>
            </a:r>
            <a:r>
              <a:rPr sz="1100" i="1" spc="-10" dirty="0">
                <a:latin typeface="LM Sans 10"/>
                <a:cs typeface="LM Sans 10"/>
              </a:rPr>
              <a:t>A</a:t>
            </a:r>
            <a:r>
              <a:rPr sz="1200" spc="67" baseline="-10416" dirty="0">
                <a:latin typeface="LM Sans 8"/>
                <a:cs typeface="LM Sans 8"/>
              </a:rPr>
              <a:t>3</a:t>
            </a: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4</a:t>
            </a:r>
            <a:r>
              <a:rPr sz="1100" i="1" spc="-10" dirty="0">
                <a:latin typeface="LM Sans 10"/>
                <a:cs typeface="LM Sans 10"/>
              </a:rPr>
              <a:t>A</a:t>
            </a:r>
            <a:r>
              <a:rPr sz="1200" spc="67" baseline="-10416" dirty="0">
                <a:latin typeface="LM Sans 8"/>
                <a:cs typeface="LM Sans 8"/>
              </a:rPr>
              <a:t>5</a:t>
            </a:r>
            <a:r>
              <a:rPr sz="1100" i="1" spc="-10" dirty="0">
                <a:latin typeface="LM Sans 10"/>
                <a:cs typeface="LM Sans 10"/>
              </a:rPr>
              <a:t>A</a:t>
            </a:r>
            <a:r>
              <a:rPr sz="1200" spc="67" baseline="-10416" dirty="0">
                <a:latin typeface="LM Sans 8"/>
                <a:cs typeface="LM Sans 8"/>
              </a:rPr>
              <a:t>6</a:t>
            </a:r>
            <a:r>
              <a:rPr sz="1100" spc="-5" dirty="0">
                <a:latin typeface="LM Sans 10"/>
                <a:cs typeface="LM Sans 10"/>
              </a:rPr>
              <a:t>)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endParaRPr sz="1100">
              <a:latin typeface="LM Sans 10"/>
              <a:cs typeface="LM Sans 10"/>
            </a:endParaRPr>
          </a:p>
        </p:txBody>
      </p:sp>
      <p:sp>
        <p:nvSpPr>
          <p:cNvPr id="16" name="object 16"/>
          <p:cNvSpPr txBox="1"/>
          <p:nvPr/>
        </p:nvSpPr>
        <p:spPr>
          <a:xfrm>
            <a:off x="1214247" y="1482291"/>
            <a:ext cx="623570" cy="535940"/>
          </a:xfrm>
          <a:prstGeom prst="rect">
            <a:avLst/>
          </a:prstGeom>
        </p:spPr>
        <p:txBody>
          <a:bodyPr vert="horz" wrap="square" lIns="0" tIns="11430" rIns="0" bIns="0" rtlCol="0">
            <a:spAutoFit/>
          </a:bodyPr>
          <a:lstStyle/>
          <a:p>
            <a:pPr marL="12700">
              <a:lnSpc>
                <a:spcPct val="100000"/>
              </a:lnSpc>
              <a:spcBef>
                <a:spcPts val="90"/>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3</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3]</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1</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[4</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5</a:t>
            </a:r>
            <a:endParaRPr sz="1100">
              <a:latin typeface="LM Sans 10"/>
              <a:cs typeface="LM Sans 10"/>
            </a:endParaRPr>
          </a:p>
        </p:txBody>
      </p:sp>
      <p:grpSp>
        <p:nvGrpSpPr>
          <p:cNvPr id="17" name="object 17"/>
          <p:cNvGrpSpPr/>
          <p:nvPr/>
        </p:nvGrpSpPr>
        <p:grpSpPr>
          <a:xfrm>
            <a:off x="0" y="3342919"/>
            <a:ext cx="4608195" cy="113664"/>
            <a:chOff x="0" y="3342919"/>
            <a:chExt cx="4608195" cy="113664"/>
          </a:xfrm>
        </p:grpSpPr>
        <p:sp>
          <p:nvSpPr>
            <p:cNvPr id="18" name="object 1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9" name="object 1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0" name="object 2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2" name="object 2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3" name="object 2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159688" cy="232756"/>
          </a:xfrm>
          <a:prstGeom prst="rect">
            <a:avLst/>
          </a:prstGeom>
        </p:spPr>
        <p:txBody>
          <a:bodyPr vert="horz" wrap="square" lIns="0" tIns="17145" rIns="0" bIns="0" rtlCol="0">
            <a:spAutoFit/>
          </a:bodyPr>
          <a:lstStyle/>
          <a:p>
            <a:pPr marL="12700">
              <a:lnSpc>
                <a:spcPct val="100000"/>
              </a:lnSpc>
              <a:spcBef>
                <a:spcPts val="135"/>
              </a:spcBef>
            </a:pPr>
            <a:r>
              <a:rPr spc="15" dirty="0"/>
              <a:t>Step</a:t>
            </a:r>
            <a:r>
              <a:rPr spc="-55" dirty="0"/>
              <a:t> </a:t>
            </a:r>
            <a:r>
              <a:rPr spc="5" dirty="0"/>
              <a:t>4...</a:t>
            </a: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47294" y="735670"/>
            <a:ext cx="3782695" cy="639445"/>
          </a:xfrm>
          <a:prstGeom prst="rect">
            <a:avLst/>
          </a:prstGeom>
        </p:spPr>
        <p:txBody>
          <a:bodyPr vert="horz" wrap="square" lIns="0" tIns="66040" rIns="0" bIns="0" rtlCol="0">
            <a:spAutoFit/>
          </a:bodyPr>
          <a:lstStyle/>
          <a:p>
            <a:pPr marL="127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12700" marR="50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p:txBody>
      </p:sp>
      <p:sp>
        <p:nvSpPr>
          <p:cNvPr id="15" name="object 15"/>
          <p:cNvSpPr txBox="1"/>
          <p:nvPr/>
        </p:nvSpPr>
        <p:spPr>
          <a:xfrm>
            <a:off x="1214247" y="1482291"/>
            <a:ext cx="623570" cy="535940"/>
          </a:xfrm>
          <a:prstGeom prst="rect">
            <a:avLst/>
          </a:prstGeom>
        </p:spPr>
        <p:txBody>
          <a:bodyPr vert="horz" wrap="square" lIns="0" tIns="11430" rIns="0" bIns="0" rtlCol="0">
            <a:spAutoFit/>
          </a:bodyPr>
          <a:lstStyle/>
          <a:p>
            <a:pPr marL="12700">
              <a:lnSpc>
                <a:spcPct val="100000"/>
              </a:lnSpc>
              <a:spcBef>
                <a:spcPts val="90"/>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3</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3]</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1</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[4</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5</a:t>
            </a:r>
            <a:endParaRPr sz="1100">
              <a:latin typeface="LM Sans 10"/>
              <a:cs typeface="LM Sans 10"/>
            </a:endParaRPr>
          </a:p>
        </p:txBody>
      </p:sp>
      <p:sp>
        <p:nvSpPr>
          <p:cNvPr id="16" name="object 16"/>
          <p:cNvSpPr txBox="1"/>
          <p:nvPr/>
        </p:nvSpPr>
        <p:spPr>
          <a:xfrm>
            <a:off x="1959610" y="1482291"/>
            <a:ext cx="1206500" cy="535940"/>
          </a:xfrm>
          <a:prstGeom prst="rect">
            <a:avLst/>
          </a:prstGeom>
        </p:spPr>
        <p:txBody>
          <a:bodyPr vert="horz" wrap="square" lIns="0" tIns="6985" rIns="0" bIns="0" rtlCol="0">
            <a:spAutoFit/>
          </a:bodyPr>
          <a:lstStyle/>
          <a:p>
            <a:pPr marL="38100" marR="30480">
              <a:lnSpc>
                <a:spcPct val="102600"/>
              </a:lnSpc>
              <a:spcBef>
                <a:spcPts val="55"/>
              </a:spcBef>
            </a:pP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1</a:t>
            </a:r>
            <a:r>
              <a:rPr sz="1100" i="1" spc="-10" dirty="0">
                <a:latin typeface="LM Sans 10"/>
                <a:cs typeface="LM Sans 10"/>
              </a:rPr>
              <a:t>A</a:t>
            </a:r>
            <a:r>
              <a:rPr sz="1200" spc="67" baseline="-10416" dirty="0">
                <a:latin typeface="LM Sans 8"/>
                <a:cs typeface="LM Sans 8"/>
              </a:rPr>
              <a:t>2</a:t>
            </a:r>
            <a:r>
              <a:rPr sz="1100" i="1" spc="-10" dirty="0">
                <a:latin typeface="LM Sans 10"/>
                <a:cs typeface="LM Sans 10"/>
              </a:rPr>
              <a:t>A</a:t>
            </a:r>
            <a:r>
              <a:rPr sz="1200" spc="67" baseline="-10416" dirty="0">
                <a:latin typeface="LM Sans 8"/>
                <a:cs typeface="LM Sans 8"/>
              </a:rPr>
              <a:t>3</a:t>
            </a: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4</a:t>
            </a:r>
            <a:r>
              <a:rPr sz="1100" i="1" spc="-10" dirty="0">
                <a:latin typeface="LM Sans 10"/>
                <a:cs typeface="LM Sans 10"/>
              </a:rPr>
              <a:t>A</a:t>
            </a:r>
            <a:r>
              <a:rPr sz="1200" spc="67" baseline="-10416" dirty="0">
                <a:latin typeface="LM Sans 8"/>
                <a:cs typeface="LM Sans 8"/>
              </a:rPr>
              <a:t>5</a:t>
            </a:r>
            <a:r>
              <a:rPr sz="1100" i="1" spc="-10" dirty="0">
                <a:latin typeface="LM Sans 10"/>
                <a:cs typeface="LM Sans 10"/>
              </a:rPr>
              <a:t>A</a:t>
            </a:r>
            <a:r>
              <a:rPr sz="1200" spc="67" baseline="-10416" dirty="0">
                <a:latin typeface="LM Sans 8"/>
                <a:cs typeface="LM Sans 8"/>
              </a:rPr>
              <a:t>6</a:t>
            </a:r>
            <a:r>
              <a:rPr sz="1100" spc="-5" dirty="0">
                <a:latin typeface="LM Sans 10"/>
                <a:cs typeface="LM Sans 10"/>
              </a:rPr>
              <a:t>)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endParaRPr sz="1100">
              <a:latin typeface="LM Sans 10"/>
              <a:cs typeface="LM Sans 10"/>
            </a:endParaRPr>
          </a:p>
          <a:p>
            <a:pPr marL="38100">
              <a:lnSpc>
                <a:spcPct val="100000"/>
              </a:lnSpc>
              <a:spcBef>
                <a:spcPts val="35"/>
              </a:spcBef>
            </a:pP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4</a:t>
            </a:r>
            <a:r>
              <a:rPr sz="1100" i="1" spc="10" dirty="0">
                <a:latin typeface="LM Sans 10"/>
                <a:cs typeface="LM Sans 10"/>
              </a:rPr>
              <a:t>A</a:t>
            </a:r>
            <a:r>
              <a:rPr sz="1200" spc="15" baseline="-10416" dirty="0">
                <a:latin typeface="LM Sans 8"/>
                <a:cs typeface="LM Sans 8"/>
              </a:rPr>
              <a:t>5</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6</a:t>
            </a:r>
            <a:r>
              <a:rPr sz="1100" spc="10" dirty="0">
                <a:latin typeface="LM Sans 10"/>
                <a:cs typeface="LM Sans 10"/>
              </a:rPr>
              <a:t>)</a:t>
            </a:r>
            <a:endParaRPr sz="1100">
              <a:latin typeface="LM Sans 10"/>
              <a:cs typeface="LM Sans 10"/>
            </a:endParaRPr>
          </a:p>
        </p:txBody>
      </p:sp>
      <p:grpSp>
        <p:nvGrpSpPr>
          <p:cNvPr id="17" name="object 17"/>
          <p:cNvGrpSpPr/>
          <p:nvPr/>
        </p:nvGrpSpPr>
        <p:grpSpPr>
          <a:xfrm>
            <a:off x="0" y="3342919"/>
            <a:ext cx="4608195" cy="113664"/>
            <a:chOff x="0" y="3342919"/>
            <a:chExt cx="4608195" cy="113664"/>
          </a:xfrm>
        </p:grpSpPr>
        <p:sp>
          <p:nvSpPr>
            <p:cNvPr id="18" name="object 1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9" name="object 1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0" name="object 2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2" name="object 2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3" name="object 2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312088" cy="232756"/>
          </a:xfrm>
          <a:prstGeom prst="rect">
            <a:avLst/>
          </a:prstGeom>
        </p:spPr>
        <p:txBody>
          <a:bodyPr vert="horz" wrap="square" lIns="0" tIns="17145" rIns="0" bIns="0" rtlCol="0">
            <a:spAutoFit/>
          </a:bodyPr>
          <a:lstStyle/>
          <a:p>
            <a:pPr marL="12700">
              <a:lnSpc>
                <a:spcPct val="100000"/>
              </a:lnSpc>
              <a:spcBef>
                <a:spcPts val="135"/>
              </a:spcBef>
            </a:pPr>
            <a:r>
              <a:rPr spc="15" dirty="0"/>
              <a:t>Step</a:t>
            </a:r>
            <a:r>
              <a:rPr spc="-55" dirty="0"/>
              <a:t> </a:t>
            </a:r>
            <a:r>
              <a:rPr spc="5" dirty="0"/>
              <a:t>4...</a:t>
            </a: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47294" y="735670"/>
            <a:ext cx="3782695" cy="639445"/>
          </a:xfrm>
          <a:prstGeom prst="rect">
            <a:avLst/>
          </a:prstGeom>
        </p:spPr>
        <p:txBody>
          <a:bodyPr vert="horz" wrap="square" lIns="0" tIns="66040" rIns="0" bIns="0" rtlCol="0">
            <a:spAutoFit/>
          </a:bodyPr>
          <a:lstStyle/>
          <a:p>
            <a:pPr marL="127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12700" marR="50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p:txBody>
      </p:sp>
      <p:sp>
        <p:nvSpPr>
          <p:cNvPr id="15" name="object 15"/>
          <p:cNvSpPr txBox="1"/>
          <p:nvPr/>
        </p:nvSpPr>
        <p:spPr>
          <a:xfrm>
            <a:off x="1214247" y="1482291"/>
            <a:ext cx="623570" cy="535940"/>
          </a:xfrm>
          <a:prstGeom prst="rect">
            <a:avLst/>
          </a:prstGeom>
        </p:spPr>
        <p:txBody>
          <a:bodyPr vert="horz" wrap="square" lIns="0" tIns="11430" rIns="0" bIns="0" rtlCol="0">
            <a:spAutoFit/>
          </a:bodyPr>
          <a:lstStyle/>
          <a:p>
            <a:pPr marL="12700">
              <a:lnSpc>
                <a:spcPct val="100000"/>
              </a:lnSpc>
              <a:spcBef>
                <a:spcPts val="90"/>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3</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3]</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1</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[4</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5</a:t>
            </a:r>
            <a:endParaRPr sz="1100">
              <a:latin typeface="LM Sans 10"/>
              <a:cs typeface="LM Sans 10"/>
            </a:endParaRPr>
          </a:p>
        </p:txBody>
      </p:sp>
      <p:sp>
        <p:nvSpPr>
          <p:cNvPr id="16" name="object 16"/>
          <p:cNvSpPr txBox="1"/>
          <p:nvPr/>
        </p:nvSpPr>
        <p:spPr>
          <a:xfrm>
            <a:off x="1959610" y="1482291"/>
            <a:ext cx="1206500" cy="535940"/>
          </a:xfrm>
          <a:prstGeom prst="rect">
            <a:avLst/>
          </a:prstGeom>
        </p:spPr>
        <p:txBody>
          <a:bodyPr vert="horz" wrap="square" lIns="0" tIns="6985" rIns="0" bIns="0" rtlCol="0">
            <a:spAutoFit/>
          </a:bodyPr>
          <a:lstStyle/>
          <a:p>
            <a:pPr marL="38100" marR="30480">
              <a:lnSpc>
                <a:spcPct val="102600"/>
              </a:lnSpc>
              <a:spcBef>
                <a:spcPts val="55"/>
              </a:spcBef>
            </a:pP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1</a:t>
            </a:r>
            <a:r>
              <a:rPr sz="1100" i="1" spc="-10" dirty="0">
                <a:latin typeface="LM Sans 10"/>
                <a:cs typeface="LM Sans 10"/>
              </a:rPr>
              <a:t>A</a:t>
            </a:r>
            <a:r>
              <a:rPr sz="1200" spc="67" baseline="-10416" dirty="0">
                <a:latin typeface="LM Sans 8"/>
                <a:cs typeface="LM Sans 8"/>
              </a:rPr>
              <a:t>2</a:t>
            </a:r>
            <a:r>
              <a:rPr sz="1100" i="1" spc="-10" dirty="0">
                <a:latin typeface="LM Sans 10"/>
                <a:cs typeface="LM Sans 10"/>
              </a:rPr>
              <a:t>A</a:t>
            </a:r>
            <a:r>
              <a:rPr sz="1200" spc="67" baseline="-10416" dirty="0">
                <a:latin typeface="LM Sans 8"/>
                <a:cs typeface="LM Sans 8"/>
              </a:rPr>
              <a:t>3</a:t>
            </a: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4</a:t>
            </a:r>
            <a:r>
              <a:rPr sz="1100" i="1" spc="-10" dirty="0">
                <a:latin typeface="LM Sans 10"/>
                <a:cs typeface="LM Sans 10"/>
              </a:rPr>
              <a:t>A</a:t>
            </a:r>
            <a:r>
              <a:rPr sz="1200" spc="67" baseline="-10416" dirty="0">
                <a:latin typeface="LM Sans 8"/>
                <a:cs typeface="LM Sans 8"/>
              </a:rPr>
              <a:t>5</a:t>
            </a:r>
            <a:r>
              <a:rPr sz="1100" i="1" spc="-10" dirty="0">
                <a:latin typeface="LM Sans 10"/>
                <a:cs typeface="LM Sans 10"/>
              </a:rPr>
              <a:t>A</a:t>
            </a:r>
            <a:r>
              <a:rPr sz="1200" spc="67" baseline="-10416" dirty="0">
                <a:latin typeface="LM Sans 8"/>
                <a:cs typeface="LM Sans 8"/>
              </a:rPr>
              <a:t>6</a:t>
            </a:r>
            <a:r>
              <a:rPr sz="1100" spc="-5" dirty="0">
                <a:latin typeface="LM Sans 10"/>
                <a:cs typeface="LM Sans 10"/>
              </a:rPr>
              <a:t>)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endParaRPr sz="1100">
              <a:latin typeface="LM Sans 10"/>
              <a:cs typeface="LM Sans 10"/>
            </a:endParaRPr>
          </a:p>
          <a:p>
            <a:pPr marL="38100">
              <a:lnSpc>
                <a:spcPct val="100000"/>
              </a:lnSpc>
              <a:spcBef>
                <a:spcPts val="35"/>
              </a:spcBef>
            </a:pP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4</a:t>
            </a:r>
            <a:r>
              <a:rPr sz="1100" i="1" spc="10" dirty="0">
                <a:latin typeface="LM Sans 10"/>
                <a:cs typeface="LM Sans 10"/>
              </a:rPr>
              <a:t>A</a:t>
            </a:r>
            <a:r>
              <a:rPr sz="1200" spc="15" baseline="-10416" dirty="0">
                <a:latin typeface="LM Sans 8"/>
                <a:cs typeface="LM Sans 8"/>
              </a:rPr>
              <a:t>5</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6</a:t>
            </a:r>
            <a:r>
              <a:rPr sz="1100" spc="10" dirty="0">
                <a:latin typeface="LM Sans 10"/>
                <a:cs typeface="LM Sans 10"/>
              </a:rPr>
              <a:t>)</a:t>
            </a:r>
            <a:endParaRPr sz="1100">
              <a:latin typeface="LM Sans 10"/>
              <a:cs typeface="LM Sans 10"/>
            </a:endParaRPr>
          </a:p>
        </p:txBody>
      </p:sp>
      <p:sp>
        <p:nvSpPr>
          <p:cNvPr id="17" name="object 17"/>
          <p:cNvSpPr txBox="1"/>
          <p:nvPr/>
        </p:nvSpPr>
        <p:spPr>
          <a:xfrm>
            <a:off x="347294" y="2126105"/>
            <a:ext cx="242697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LM Sans 10"/>
                <a:cs typeface="LM Sans 10"/>
              </a:rPr>
              <a:t>Hence </a:t>
            </a:r>
            <a:r>
              <a:rPr sz="1100" spc="-10" dirty="0">
                <a:latin typeface="LM Sans 10"/>
                <a:cs typeface="LM Sans 10"/>
              </a:rPr>
              <a:t>the final </a:t>
            </a:r>
            <a:r>
              <a:rPr sz="1100" spc="-5" dirty="0">
                <a:latin typeface="LM Sans 10"/>
                <a:cs typeface="LM Sans 10"/>
              </a:rPr>
              <a:t>multiplication sequence</a:t>
            </a:r>
            <a:r>
              <a:rPr sz="1100" spc="-45" dirty="0">
                <a:latin typeface="LM Sans 10"/>
                <a:cs typeface="LM Sans 10"/>
              </a:rPr>
              <a:t> </a:t>
            </a:r>
            <a:r>
              <a:rPr sz="1100" spc="-5" dirty="0">
                <a:latin typeface="LM Sans 10"/>
                <a:cs typeface="LM Sans 10"/>
              </a:rPr>
              <a:t>is</a:t>
            </a:r>
            <a:endParaRPr sz="1100">
              <a:latin typeface="LM Sans 10"/>
              <a:cs typeface="LM Sans 10"/>
            </a:endParaRPr>
          </a:p>
        </p:txBody>
      </p:sp>
      <p:grpSp>
        <p:nvGrpSpPr>
          <p:cNvPr id="18" name="object 18"/>
          <p:cNvGrpSpPr/>
          <p:nvPr/>
        </p:nvGrpSpPr>
        <p:grpSpPr>
          <a:xfrm>
            <a:off x="0" y="3342919"/>
            <a:ext cx="4608195" cy="113664"/>
            <a:chOff x="0" y="3342919"/>
            <a:chExt cx="4608195" cy="113664"/>
          </a:xfrm>
        </p:grpSpPr>
        <p:sp>
          <p:nvSpPr>
            <p:cNvPr id="19" name="object 1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0" name="object 2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1" name="object 2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3" name="object 2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4" name="object 2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1312088" cy="232756"/>
          </a:xfrm>
          <a:prstGeom prst="rect">
            <a:avLst/>
          </a:prstGeom>
        </p:spPr>
        <p:txBody>
          <a:bodyPr vert="horz" wrap="square" lIns="0" tIns="17145" rIns="0" bIns="0" rtlCol="0">
            <a:spAutoFit/>
          </a:bodyPr>
          <a:lstStyle/>
          <a:p>
            <a:pPr marL="12700">
              <a:lnSpc>
                <a:spcPct val="100000"/>
              </a:lnSpc>
              <a:spcBef>
                <a:spcPts val="135"/>
              </a:spcBef>
            </a:pPr>
            <a:r>
              <a:rPr spc="15" dirty="0"/>
              <a:t>Step</a:t>
            </a:r>
            <a:r>
              <a:rPr spc="-55" dirty="0"/>
              <a:t> </a:t>
            </a:r>
            <a:r>
              <a:rPr spc="5" dirty="0"/>
              <a:t>4...</a:t>
            </a:r>
          </a:p>
        </p:txBody>
      </p:sp>
      <p:grpSp>
        <p:nvGrpSpPr>
          <p:cNvPr id="3" name="object 3"/>
          <p:cNvGrpSpPr/>
          <p:nvPr/>
        </p:nvGrpSpPr>
        <p:grpSpPr>
          <a:xfrm>
            <a:off x="309193" y="799439"/>
            <a:ext cx="4040504" cy="1919605"/>
            <a:chOff x="309193" y="799439"/>
            <a:chExt cx="4040504" cy="1919605"/>
          </a:xfrm>
        </p:grpSpPr>
        <p:sp>
          <p:nvSpPr>
            <p:cNvPr id="4" name="object 4"/>
            <p:cNvSpPr/>
            <p:nvPr/>
          </p:nvSpPr>
          <p:spPr>
            <a:xfrm>
              <a:off x="309193" y="799439"/>
              <a:ext cx="3989704" cy="202565"/>
            </a:xfrm>
            <a:custGeom>
              <a:avLst/>
              <a:gdLst/>
              <a:ahLst/>
              <a:cxnLst/>
              <a:rect l="l" t="t" r="r" b="b"/>
              <a:pathLst>
                <a:path w="3989704" h="202565">
                  <a:moveTo>
                    <a:pt x="3938854" y="0"/>
                  </a:moveTo>
                  <a:lnTo>
                    <a:pt x="50800" y="0"/>
                  </a:lnTo>
                  <a:lnTo>
                    <a:pt x="31075" y="4008"/>
                  </a:lnTo>
                  <a:lnTo>
                    <a:pt x="14922" y="14922"/>
                  </a:lnTo>
                  <a:lnTo>
                    <a:pt x="4008" y="31075"/>
                  </a:lnTo>
                  <a:lnTo>
                    <a:pt x="0" y="50800"/>
                  </a:lnTo>
                  <a:lnTo>
                    <a:pt x="0" y="201953"/>
                  </a:lnTo>
                  <a:lnTo>
                    <a:pt x="3989654" y="201953"/>
                  </a:lnTo>
                  <a:lnTo>
                    <a:pt x="3989654" y="50800"/>
                  </a:lnTo>
                  <a:lnTo>
                    <a:pt x="3985646" y="31075"/>
                  </a:lnTo>
                  <a:lnTo>
                    <a:pt x="3974732" y="14922"/>
                  </a:lnTo>
                  <a:lnTo>
                    <a:pt x="3958579" y="4008"/>
                  </a:lnTo>
                  <a:lnTo>
                    <a:pt x="3938854" y="0"/>
                  </a:lnTo>
                  <a:close/>
                </a:path>
              </a:pathLst>
            </a:custGeom>
            <a:solidFill>
              <a:srgbClr val="005F00"/>
            </a:solidFill>
          </p:spPr>
          <p:txBody>
            <a:bodyPr wrap="square" lIns="0" tIns="0" rIns="0" bIns="0" rtlCol="0"/>
            <a:lstStyle/>
            <a:p>
              <a:endParaRPr/>
            </a:p>
          </p:txBody>
        </p:sp>
        <p:sp>
          <p:nvSpPr>
            <p:cNvPr id="5" name="object 5"/>
            <p:cNvSpPr/>
            <p:nvPr/>
          </p:nvSpPr>
          <p:spPr>
            <a:xfrm>
              <a:off x="309194" y="988745"/>
              <a:ext cx="3989653" cy="5060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59994" y="2616873"/>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10794" y="2604173"/>
              <a:ext cx="3938802"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298848" y="843686"/>
              <a:ext cx="50749" cy="1773186"/>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09193" y="1033018"/>
              <a:ext cx="3989704" cy="1635125"/>
            </a:xfrm>
            <a:custGeom>
              <a:avLst/>
              <a:gdLst/>
              <a:ahLst/>
              <a:cxnLst/>
              <a:rect l="l" t="t" r="r" b="b"/>
              <a:pathLst>
                <a:path w="3989704" h="1635125">
                  <a:moveTo>
                    <a:pt x="3989654" y="0"/>
                  </a:moveTo>
                  <a:lnTo>
                    <a:pt x="0" y="0"/>
                  </a:lnTo>
                  <a:lnTo>
                    <a:pt x="0" y="1583855"/>
                  </a:lnTo>
                  <a:lnTo>
                    <a:pt x="4008" y="1603579"/>
                  </a:lnTo>
                  <a:lnTo>
                    <a:pt x="14922" y="1619732"/>
                  </a:lnTo>
                  <a:lnTo>
                    <a:pt x="31075" y="1630646"/>
                  </a:lnTo>
                  <a:lnTo>
                    <a:pt x="50800" y="1634655"/>
                  </a:lnTo>
                  <a:lnTo>
                    <a:pt x="3938854" y="1634655"/>
                  </a:lnTo>
                  <a:lnTo>
                    <a:pt x="3958579" y="1630646"/>
                  </a:lnTo>
                  <a:lnTo>
                    <a:pt x="3974732" y="1619732"/>
                  </a:lnTo>
                  <a:lnTo>
                    <a:pt x="3985646" y="1603579"/>
                  </a:lnTo>
                  <a:lnTo>
                    <a:pt x="3989654" y="1583855"/>
                  </a:lnTo>
                  <a:lnTo>
                    <a:pt x="3989654" y="0"/>
                  </a:lnTo>
                  <a:close/>
                </a:path>
              </a:pathLst>
            </a:custGeom>
            <a:solidFill>
              <a:srgbClr val="E5EFE5"/>
            </a:solidFill>
          </p:spPr>
          <p:txBody>
            <a:bodyPr wrap="square" lIns="0" tIns="0" rIns="0" bIns="0" rtlCol="0"/>
            <a:lstStyle/>
            <a:p>
              <a:endParaRPr/>
            </a:p>
          </p:txBody>
        </p:sp>
        <p:sp>
          <p:nvSpPr>
            <p:cNvPr id="10" name="object 10"/>
            <p:cNvSpPr/>
            <p:nvPr/>
          </p:nvSpPr>
          <p:spPr>
            <a:xfrm>
              <a:off x="4298848" y="881761"/>
              <a:ext cx="0" cy="1754505"/>
            </a:xfrm>
            <a:custGeom>
              <a:avLst/>
              <a:gdLst/>
              <a:ahLst/>
              <a:cxnLst/>
              <a:rect l="l" t="t" r="r" b="b"/>
              <a:pathLst>
                <a:path h="1754505">
                  <a:moveTo>
                    <a:pt x="0" y="1754161"/>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298848" y="869061"/>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298848" y="856361"/>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298848" y="843661"/>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347294" y="735670"/>
            <a:ext cx="3782695" cy="639445"/>
          </a:xfrm>
          <a:prstGeom prst="rect">
            <a:avLst/>
          </a:prstGeom>
        </p:spPr>
        <p:txBody>
          <a:bodyPr vert="horz" wrap="square" lIns="0" tIns="66040" rIns="0" bIns="0" rtlCol="0">
            <a:spAutoFit/>
          </a:bodyPr>
          <a:lstStyle/>
          <a:p>
            <a:pPr marL="12700">
              <a:lnSpc>
                <a:spcPct val="100000"/>
              </a:lnSpc>
              <a:spcBef>
                <a:spcPts val="520"/>
              </a:spcBef>
            </a:pPr>
            <a:r>
              <a:rPr sz="1100" spc="-10" dirty="0">
                <a:solidFill>
                  <a:srgbClr val="FFFFFF"/>
                </a:solidFill>
                <a:latin typeface="LM Sans 10"/>
                <a:cs typeface="LM Sans 10"/>
              </a:rPr>
              <a:t>Example </a:t>
            </a:r>
            <a:r>
              <a:rPr sz="1100" spc="-5" dirty="0">
                <a:solidFill>
                  <a:srgbClr val="FFFFFF"/>
                </a:solidFill>
                <a:latin typeface="LM Sans 10"/>
                <a:cs typeface="LM Sans 10"/>
              </a:rPr>
              <a:t>(Finding the Multiplication</a:t>
            </a:r>
            <a:r>
              <a:rPr sz="1100" spc="-10" dirty="0">
                <a:solidFill>
                  <a:srgbClr val="FFFFFF"/>
                </a:solidFill>
                <a:latin typeface="LM Sans 10"/>
                <a:cs typeface="LM Sans 10"/>
              </a:rPr>
              <a:t> </a:t>
            </a:r>
            <a:r>
              <a:rPr sz="1100" spc="-5" dirty="0">
                <a:solidFill>
                  <a:srgbClr val="FFFFFF"/>
                </a:solidFill>
                <a:latin typeface="LM Sans 10"/>
                <a:cs typeface="LM Sans 10"/>
              </a:rPr>
              <a:t>Sequence)</a:t>
            </a:r>
            <a:endParaRPr sz="1100">
              <a:latin typeface="LM Sans 10"/>
              <a:cs typeface="LM Sans 10"/>
            </a:endParaRPr>
          </a:p>
          <a:p>
            <a:pPr marL="12700" marR="5080">
              <a:lnSpc>
                <a:spcPct val="102600"/>
              </a:lnSpc>
              <a:spcBef>
                <a:spcPts val="384"/>
              </a:spcBef>
            </a:pPr>
            <a:r>
              <a:rPr sz="1100" spc="-10" dirty="0">
                <a:latin typeface="LM Sans 10"/>
                <a:cs typeface="LM Sans 10"/>
              </a:rPr>
              <a:t>Consider </a:t>
            </a:r>
            <a:r>
              <a:rPr sz="1100" i="1" spc="-10" dirty="0">
                <a:latin typeface="LM Sans 10"/>
                <a:cs typeface="LM Sans 10"/>
              </a:rPr>
              <a:t>n </a:t>
            </a:r>
            <a:r>
              <a:rPr sz="1100" spc="-10" dirty="0">
                <a:latin typeface="LM Sans 10"/>
                <a:cs typeface="LM Sans 10"/>
              </a:rPr>
              <a:t>= </a:t>
            </a:r>
            <a:r>
              <a:rPr sz="1100" spc="-5" dirty="0">
                <a:latin typeface="LM Sans 10"/>
                <a:cs typeface="LM Sans 10"/>
              </a:rPr>
              <a:t>6. </a:t>
            </a:r>
            <a:r>
              <a:rPr sz="1100" spc="-10" dirty="0">
                <a:latin typeface="LM Sans 10"/>
                <a:cs typeface="LM Sans 10"/>
              </a:rPr>
              <a:t>Assume </a:t>
            </a:r>
            <a:r>
              <a:rPr sz="1100" spc="-20" dirty="0">
                <a:latin typeface="LM Sans 10"/>
                <a:cs typeface="LM Sans 10"/>
              </a:rPr>
              <a:t>array </a:t>
            </a:r>
            <a:r>
              <a:rPr sz="1100" i="1" spc="5" dirty="0">
                <a:latin typeface="LM Sans 10"/>
                <a:cs typeface="LM Sans 10"/>
              </a:rPr>
              <a:t>s</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a:t>
            </a:r>
            <a:r>
              <a:rPr sz="1100" i="1" spc="5" dirty="0">
                <a:latin typeface="LM Roman Dunhill 10"/>
                <a:cs typeface="LM Roman Dunhill 10"/>
              </a:rPr>
              <a:t>, </a:t>
            </a:r>
            <a:r>
              <a:rPr sz="1100" spc="-5" dirty="0">
                <a:latin typeface="LM Sans 10"/>
                <a:cs typeface="LM Sans 10"/>
              </a:rPr>
              <a:t>1</a:t>
            </a:r>
            <a:r>
              <a:rPr sz="1100" i="1" spc="-5" dirty="0">
                <a:latin typeface="LM Roman Dunhill 10"/>
                <a:cs typeface="LM Roman Dunhill 10"/>
              </a:rPr>
              <a:t>..</a:t>
            </a:r>
            <a:r>
              <a:rPr sz="1100" spc="-5" dirty="0">
                <a:latin typeface="LM Sans 10"/>
                <a:cs typeface="LM Sans 10"/>
              </a:rPr>
              <a:t>6] has </a:t>
            </a:r>
            <a:r>
              <a:rPr sz="1100" dirty="0">
                <a:latin typeface="LM Sans 10"/>
                <a:cs typeface="LM Sans 10"/>
              </a:rPr>
              <a:t>been </a:t>
            </a:r>
            <a:r>
              <a:rPr sz="1100" spc="-5" dirty="0">
                <a:latin typeface="LM Sans 10"/>
                <a:cs typeface="LM Sans 10"/>
              </a:rPr>
              <a:t>properly  constructed. </a:t>
            </a:r>
            <a:r>
              <a:rPr sz="1100" spc="-10" dirty="0">
                <a:latin typeface="LM Sans 10"/>
                <a:cs typeface="LM Sans 10"/>
              </a:rPr>
              <a:t>The </a:t>
            </a:r>
            <a:r>
              <a:rPr sz="1100" spc="-5" dirty="0">
                <a:latin typeface="LM Sans 10"/>
                <a:cs typeface="LM Sans 10"/>
              </a:rPr>
              <a:t>multiplication sequence is recovered as</a:t>
            </a:r>
            <a:r>
              <a:rPr sz="1100" spc="80" dirty="0">
                <a:latin typeface="LM Sans 10"/>
                <a:cs typeface="LM Sans 10"/>
              </a:rPr>
              <a:t> </a:t>
            </a:r>
            <a:r>
              <a:rPr sz="1100" spc="-10" dirty="0">
                <a:latin typeface="LM Sans 10"/>
                <a:cs typeface="LM Sans 10"/>
              </a:rPr>
              <a:t>follows.</a:t>
            </a:r>
            <a:endParaRPr sz="1100">
              <a:latin typeface="LM Sans 10"/>
              <a:cs typeface="LM Sans 10"/>
            </a:endParaRPr>
          </a:p>
        </p:txBody>
      </p:sp>
      <p:sp>
        <p:nvSpPr>
          <p:cNvPr id="15" name="object 15"/>
          <p:cNvSpPr txBox="1"/>
          <p:nvPr/>
        </p:nvSpPr>
        <p:spPr>
          <a:xfrm>
            <a:off x="1214247" y="1482291"/>
            <a:ext cx="623570" cy="535940"/>
          </a:xfrm>
          <a:prstGeom prst="rect">
            <a:avLst/>
          </a:prstGeom>
        </p:spPr>
        <p:txBody>
          <a:bodyPr vert="horz" wrap="square" lIns="0" tIns="11430" rIns="0" bIns="0" rtlCol="0">
            <a:spAutoFit/>
          </a:bodyPr>
          <a:lstStyle/>
          <a:p>
            <a:pPr marL="12700">
              <a:lnSpc>
                <a:spcPct val="100000"/>
              </a:lnSpc>
              <a:spcBef>
                <a:spcPts val="90"/>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3</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[1</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3]</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1</a:t>
            </a:r>
            <a:endParaRPr sz="1100">
              <a:latin typeface="LM Sans 10"/>
              <a:cs typeface="LM Sans 10"/>
            </a:endParaRPr>
          </a:p>
          <a:p>
            <a:pPr marL="12700">
              <a:lnSpc>
                <a:spcPct val="100000"/>
              </a:lnSpc>
              <a:spcBef>
                <a:spcPts val="35"/>
              </a:spcBef>
            </a:pPr>
            <a:r>
              <a:rPr sz="1100" i="1" spc="15" dirty="0">
                <a:latin typeface="LM Sans 10"/>
                <a:cs typeface="LM Sans 10"/>
              </a:rPr>
              <a:t>s</a:t>
            </a:r>
            <a:r>
              <a:rPr sz="1100" spc="15" dirty="0">
                <a:latin typeface="LM Sans 10"/>
                <a:cs typeface="LM Sans 10"/>
              </a:rPr>
              <a:t>[4</a:t>
            </a:r>
            <a:r>
              <a:rPr sz="1100" i="1" spc="15" dirty="0">
                <a:latin typeface="LM Roman Dunhill 10"/>
                <a:cs typeface="LM Roman Dunhill 10"/>
              </a:rPr>
              <a:t>,</a:t>
            </a:r>
            <a:r>
              <a:rPr sz="1100" i="1" spc="-204" dirty="0">
                <a:latin typeface="LM Roman Dunhill 10"/>
                <a:cs typeface="LM Roman Dunhill 10"/>
              </a:rPr>
              <a:t> </a:t>
            </a:r>
            <a:r>
              <a:rPr sz="1100" spc="-5" dirty="0">
                <a:latin typeface="LM Sans 10"/>
                <a:cs typeface="LM Sans 10"/>
              </a:rPr>
              <a:t>6]</a:t>
            </a:r>
            <a:r>
              <a:rPr sz="1100" spc="-100" dirty="0">
                <a:latin typeface="LM Sans 10"/>
                <a:cs typeface="LM Sans 10"/>
              </a:rPr>
              <a:t> </a:t>
            </a:r>
            <a:r>
              <a:rPr sz="1100" spc="-10" dirty="0">
                <a:latin typeface="LM Sans 10"/>
                <a:cs typeface="LM Sans 10"/>
              </a:rPr>
              <a:t>=</a:t>
            </a:r>
            <a:r>
              <a:rPr sz="1100" spc="-100" dirty="0">
                <a:latin typeface="LM Sans 10"/>
                <a:cs typeface="LM Sans 10"/>
              </a:rPr>
              <a:t> </a:t>
            </a:r>
            <a:r>
              <a:rPr sz="1100" spc="-5" dirty="0">
                <a:latin typeface="LM Sans 10"/>
                <a:cs typeface="LM Sans 10"/>
              </a:rPr>
              <a:t>5</a:t>
            </a:r>
            <a:endParaRPr sz="1100">
              <a:latin typeface="LM Sans 10"/>
              <a:cs typeface="LM Sans 10"/>
            </a:endParaRPr>
          </a:p>
        </p:txBody>
      </p:sp>
      <p:sp>
        <p:nvSpPr>
          <p:cNvPr id="16" name="object 16"/>
          <p:cNvSpPr txBox="1"/>
          <p:nvPr/>
        </p:nvSpPr>
        <p:spPr>
          <a:xfrm>
            <a:off x="1959610" y="1482291"/>
            <a:ext cx="1206500" cy="535940"/>
          </a:xfrm>
          <a:prstGeom prst="rect">
            <a:avLst/>
          </a:prstGeom>
        </p:spPr>
        <p:txBody>
          <a:bodyPr vert="horz" wrap="square" lIns="0" tIns="6985" rIns="0" bIns="0" rtlCol="0">
            <a:spAutoFit/>
          </a:bodyPr>
          <a:lstStyle/>
          <a:p>
            <a:pPr marL="38100" marR="30480">
              <a:lnSpc>
                <a:spcPct val="102600"/>
              </a:lnSpc>
              <a:spcBef>
                <a:spcPts val="55"/>
              </a:spcBef>
            </a:pP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1</a:t>
            </a:r>
            <a:r>
              <a:rPr sz="1100" i="1" spc="-10" dirty="0">
                <a:latin typeface="LM Sans 10"/>
                <a:cs typeface="LM Sans 10"/>
              </a:rPr>
              <a:t>A</a:t>
            </a:r>
            <a:r>
              <a:rPr sz="1200" spc="67" baseline="-10416" dirty="0">
                <a:latin typeface="LM Sans 8"/>
                <a:cs typeface="LM Sans 8"/>
              </a:rPr>
              <a:t>2</a:t>
            </a:r>
            <a:r>
              <a:rPr sz="1100" i="1" spc="-10" dirty="0">
                <a:latin typeface="LM Sans 10"/>
                <a:cs typeface="LM Sans 10"/>
              </a:rPr>
              <a:t>A</a:t>
            </a:r>
            <a:r>
              <a:rPr sz="1200" spc="67" baseline="-10416" dirty="0">
                <a:latin typeface="LM Sans 8"/>
                <a:cs typeface="LM Sans 8"/>
              </a:rPr>
              <a:t>3</a:t>
            </a:r>
            <a:r>
              <a:rPr sz="1100" spc="-5" dirty="0">
                <a:latin typeface="LM Sans 10"/>
                <a:cs typeface="LM Sans 10"/>
              </a:rPr>
              <a:t>)(</a:t>
            </a:r>
            <a:r>
              <a:rPr sz="1100" i="1" spc="-10" dirty="0">
                <a:latin typeface="LM Sans 10"/>
                <a:cs typeface="LM Sans 10"/>
              </a:rPr>
              <a:t>A</a:t>
            </a:r>
            <a:r>
              <a:rPr sz="1200" spc="67" baseline="-10416" dirty="0">
                <a:latin typeface="LM Sans 8"/>
                <a:cs typeface="LM Sans 8"/>
              </a:rPr>
              <a:t>4</a:t>
            </a:r>
            <a:r>
              <a:rPr sz="1100" i="1" spc="-10" dirty="0">
                <a:latin typeface="LM Sans 10"/>
                <a:cs typeface="LM Sans 10"/>
              </a:rPr>
              <a:t>A</a:t>
            </a:r>
            <a:r>
              <a:rPr sz="1200" spc="67" baseline="-10416" dirty="0">
                <a:latin typeface="LM Sans 8"/>
                <a:cs typeface="LM Sans 8"/>
              </a:rPr>
              <a:t>5</a:t>
            </a:r>
            <a:r>
              <a:rPr sz="1100" i="1" spc="-10" dirty="0">
                <a:latin typeface="LM Sans 10"/>
                <a:cs typeface="LM Sans 10"/>
              </a:rPr>
              <a:t>A</a:t>
            </a:r>
            <a:r>
              <a:rPr sz="1200" spc="67" baseline="-10416" dirty="0">
                <a:latin typeface="LM Sans 8"/>
                <a:cs typeface="LM Sans 8"/>
              </a:rPr>
              <a:t>6</a:t>
            </a:r>
            <a:r>
              <a:rPr sz="1100" spc="-5" dirty="0">
                <a:latin typeface="LM Sans 10"/>
                <a:cs typeface="LM Sans 10"/>
              </a:rPr>
              <a:t>)  </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1</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2</a:t>
            </a:r>
            <a:r>
              <a:rPr sz="1100" i="1" spc="10" dirty="0">
                <a:latin typeface="LM Sans 10"/>
                <a:cs typeface="LM Sans 10"/>
              </a:rPr>
              <a:t>A</a:t>
            </a:r>
            <a:r>
              <a:rPr sz="1200" spc="15" baseline="-10416" dirty="0">
                <a:latin typeface="LM Sans 8"/>
                <a:cs typeface="LM Sans 8"/>
              </a:rPr>
              <a:t>3</a:t>
            </a:r>
            <a:r>
              <a:rPr sz="1100" spc="10" dirty="0">
                <a:latin typeface="LM Sans 10"/>
                <a:cs typeface="LM Sans 10"/>
              </a:rPr>
              <a:t>))</a:t>
            </a:r>
            <a:endParaRPr sz="1100">
              <a:latin typeface="LM Sans 10"/>
              <a:cs typeface="LM Sans 10"/>
            </a:endParaRPr>
          </a:p>
          <a:p>
            <a:pPr marL="38100">
              <a:lnSpc>
                <a:spcPct val="100000"/>
              </a:lnSpc>
              <a:spcBef>
                <a:spcPts val="35"/>
              </a:spcBef>
            </a:pP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4</a:t>
            </a:r>
            <a:r>
              <a:rPr sz="1100" i="1" spc="10" dirty="0">
                <a:latin typeface="LM Sans 10"/>
                <a:cs typeface="LM Sans 10"/>
              </a:rPr>
              <a:t>A</a:t>
            </a:r>
            <a:r>
              <a:rPr sz="1200" spc="15" baseline="-10416" dirty="0">
                <a:latin typeface="LM Sans 8"/>
                <a:cs typeface="LM Sans 8"/>
              </a:rPr>
              <a:t>5</a:t>
            </a:r>
            <a:r>
              <a:rPr sz="1100" spc="10" dirty="0">
                <a:latin typeface="LM Sans 10"/>
                <a:cs typeface="LM Sans 10"/>
              </a:rPr>
              <a:t>)</a:t>
            </a:r>
            <a:r>
              <a:rPr sz="1100" i="1" spc="10" dirty="0">
                <a:latin typeface="LM Sans 10"/>
                <a:cs typeface="LM Sans 10"/>
              </a:rPr>
              <a:t>A</a:t>
            </a:r>
            <a:r>
              <a:rPr sz="1200" spc="15" baseline="-10416" dirty="0">
                <a:latin typeface="LM Sans 8"/>
                <a:cs typeface="LM Sans 8"/>
              </a:rPr>
              <a:t>6</a:t>
            </a:r>
            <a:r>
              <a:rPr sz="1100" spc="10" dirty="0">
                <a:latin typeface="LM Sans 10"/>
                <a:cs typeface="LM Sans 10"/>
              </a:rPr>
              <a:t>)</a:t>
            </a:r>
            <a:endParaRPr sz="1100">
              <a:latin typeface="LM Sans 10"/>
              <a:cs typeface="LM Sans 10"/>
            </a:endParaRPr>
          </a:p>
        </p:txBody>
      </p:sp>
      <p:sp>
        <p:nvSpPr>
          <p:cNvPr id="17" name="object 17"/>
          <p:cNvSpPr txBox="1"/>
          <p:nvPr/>
        </p:nvSpPr>
        <p:spPr>
          <a:xfrm>
            <a:off x="334594" y="2126105"/>
            <a:ext cx="2585720" cy="502920"/>
          </a:xfrm>
          <a:prstGeom prst="rect">
            <a:avLst/>
          </a:prstGeom>
        </p:spPr>
        <p:txBody>
          <a:bodyPr vert="horz" wrap="square" lIns="0" tIns="11430" rIns="0" bIns="0" rtlCol="0">
            <a:spAutoFit/>
          </a:bodyPr>
          <a:lstStyle/>
          <a:p>
            <a:pPr marL="25400">
              <a:lnSpc>
                <a:spcPct val="100000"/>
              </a:lnSpc>
              <a:spcBef>
                <a:spcPts val="90"/>
              </a:spcBef>
            </a:pPr>
            <a:r>
              <a:rPr sz="1100" spc="-5" dirty="0">
                <a:latin typeface="LM Sans 10"/>
                <a:cs typeface="LM Sans 10"/>
              </a:rPr>
              <a:t>Hence </a:t>
            </a:r>
            <a:r>
              <a:rPr sz="1100" spc="-10" dirty="0">
                <a:latin typeface="LM Sans 10"/>
                <a:cs typeface="LM Sans 10"/>
              </a:rPr>
              <a:t>the final </a:t>
            </a:r>
            <a:r>
              <a:rPr sz="1100" spc="-5" dirty="0">
                <a:latin typeface="LM Sans 10"/>
                <a:cs typeface="LM Sans 10"/>
              </a:rPr>
              <a:t>multiplication sequence</a:t>
            </a:r>
            <a:r>
              <a:rPr sz="1100" spc="-30" dirty="0">
                <a:latin typeface="LM Sans 10"/>
                <a:cs typeface="LM Sans 10"/>
              </a:rPr>
              <a:t> </a:t>
            </a:r>
            <a:r>
              <a:rPr sz="1100" spc="-5" dirty="0">
                <a:latin typeface="LM Sans 10"/>
                <a:cs typeface="LM Sans 10"/>
              </a:rPr>
              <a:t>is</a:t>
            </a:r>
            <a:endParaRPr sz="1100">
              <a:latin typeface="LM Sans 10"/>
              <a:cs typeface="LM Sans 10"/>
            </a:endParaRPr>
          </a:p>
          <a:p>
            <a:pPr>
              <a:lnSpc>
                <a:spcPct val="100000"/>
              </a:lnSpc>
              <a:spcBef>
                <a:spcPts val="30"/>
              </a:spcBef>
            </a:pPr>
            <a:endParaRPr sz="750">
              <a:latin typeface="LM Sans 10"/>
              <a:cs typeface="LM Sans 10"/>
            </a:endParaRPr>
          </a:p>
          <a:p>
            <a:pPr marL="1150620">
              <a:lnSpc>
                <a:spcPct val="100000"/>
              </a:lnSpc>
              <a:spcBef>
                <a:spcPts val="5"/>
              </a:spcBef>
            </a:pPr>
            <a:r>
              <a:rPr sz="1100" spc="5" dirty="0">
                <a:latin typeface="LM Sans 10"/>
                <a:cs typeface="LM Sans 10"/>
              </a:rPr>
              <a:t>(</a:t>
            </a:r>
            <a:r>
              <a:rPr sz="1100" i="1" spc="5" dirty="0">
                <a:latin typeface="LM Sans 10"/>
                <a:cs typeface="LM Sans 10"/>
              </a:rPr>
              <a:t>A</a:t>
            </a:r>
            <a:r>
              <a:rPr sz="1200" spc="7" baseline="-10416" dirty="0">
                <a:latin typeface="LM Sans 8"/>
                <a:cs typeface="LM Sans 8"/>
              </a:rPr>
              <a:t>1</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2</a:t>
            </a:r>
            <a:r>
              <a:rPr sz="1100" i="1" spc="5" dirty="0">
                <a:latin typeface="LM Sans 10"/>
                <a:cs typeface="LM Sans 10"/>
              </a:rPr>
              <a:t>A</a:t>
            </a:r>
            <a:r>
              <a:rPr sz="1200" spc="7" baseline="-10416" dirty="0">
                <a:latin typeface="LM Sans 8"/>
                <a:cs typeface="LM Sans 8"/>
              </a:rPr>
              <a:t>3</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4</a:t>
            </a:r>
            <a:r>
              <a:rPr sz="1100" i="1" spc="5" dirty="0">
                <a:latin typeface="LM Sans 10"/>
                <a:cs typeface="LM Sans 10"/>
              </a:rPr>
              <a:t>A</a:t>
            </a:r>
            <a:r>
              <a:rPr sz="1200" spc="7" baseline="-10416" dirty="0">
                <a:latin typeface="LM Sans 8"/>
                <a:cs typeface="LM Sans 8"/>
              </a:rPr>
              <a:t>5</a:t>
            </a:r>
            <a:r>
              <a:rPr sz="1100" spc="5" dirty="0">
                <a:latin typeface="LM Sans 10"/>
                <a:cs typeface="LM Sans 10"/>
              </a:rPr>
              <a:t>)</a:t>
            </a:r>
            <a:r>
              <a:rPr sz="1100" i="1" spc="5" dirty="0">
                <a:latin typeface="LM Sans 10"/>
                <a:cs typeface="LM Sans 10"/>
              </a:rPr>
              <a:t>A</a:t>
            </a:r>
            <a:r>
              <a:rPr sz="1200" spc="7" baseline="-10416" dirty="0">
                <a:latin typeface="LM Sans 8"/>
                <a:cs typeface="LM Sans 8"/>
              </a:rPr>
              <a:t>6</a:t>
            </a:r>
            <a:r>
              <a:rPr sz="1100" spc="5" dirty="0">
                <a:latin typeface="LM Sans 10"/>
                <a:cs typeface="LM Sans 10"/>
              </a:rPr>
              <a:t>)</a:t>
            </a:r>
            <a:r>
              <a:rPr sz="1100" i="1" spc="5" dirty="0">
                <a:latin typeface="LM Roman Dunhill 10"/>
                <a:cs typeface="LM Roman Dunhill 10"/>
              </a:rPr>
              <a:t>.</a:t>
            </a:r>
            <a:endParaRPr sz="1100">
              <a:latin typeface="LM Roman Dunhill 10"/>
              <a:cs typeface="LM Roman Dunhill 10"/>
            </a:endParaRPr>
          </a:p>
        </p:txBody>
      </p:sp>
      <p:grpSp>
        <p:nvGrpSpPr>
          <p:cNvPr id="18" name="object 18"/>
          <p:cNvGrpSpPr/>
          <p:nvPr/>
        </p:nvGrpSpPr>
        <p:grpSpPr>
          <a:xfrm>
            <a:off x="0" y="3342919"/>
            <a:ext cx="4608195" cy="113664"/>
            <a:chOff x="0" y="3342919"/>
            <a:chExt cx="4608195" cy="113664"/>
          </a:xfrm>
        </p:grpSpPr>
        <p:sp>
          <p:nvSpPr>
            <p:cNvPr id="19" name="object 1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20" name="object 2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21" name="object 2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23" name="object 2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6" action="ppaction://hlinksldjump"/>
              </a:rPr>
              <a:t>Chain </a:t>
            </a:r>
            <a:r>
              <a:rPr sz="600" b="1" spc="-5" dirty="0">
                <a:solidFill>
                  <a:srgbClr val="FFFFFF"/>
                </a:solidFill>
                <a:latin typeface="LM Sans 10"/>
                <a:cs typeface="LM Sans 10"/>
                <a:hlinkClick r:id="rId6" action="ppaction://hlinksldjump"/>
              </a:rPr>
              <a:t>Matrix Multiplication</a:t>
            </a:r>
            <a:endParaRPr sz="600">
              <a:latin typeface="LM Sans 10"/>
              <a:cs typeface="LM Sans 10"/>
            </a:endParaRPr>
          </a:p>
        </p:txBody>
      </p:sp>
      <p:sp>
        <p:nvSpPr>
          <p:cNvPr id="24" name="object 2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26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762" y="0"/>
            <a:ext cx="3369488" cy="232756"/>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FFFFFF"/>
                </a:solidFill>
                <a:latin typeface="LM Sans 12"/>
                <a:cs typeface="LM Sans 12"/>
              </a:rPr>
              <a:t>The Dynamic Programming</a:t>
            </a:r>
            <a:r>
              <a:rPr sz="1400" spc="-55" dirty="0">
                <a:solidFill>
                  <a:srgbClr val="FFFFFF"/>
                </a:solidFill>
                <a:latin typeface="LM Sans 12"/>
                <a:cs typeface="LM Sans 12"/>
              </a:rPr>
              <a:t> </a:t>
            </a:r>
            <a:r>
              <a:rPr sz="1400" spc="10" dirty="0">
                <a:solidFill>
                  <a:srgbClr val="FFFFFF"/>
                </a:solidFill>
                <a:latin typeface="LM Sans 12"/>
                <a:cs typeface="LM Sans 12"/>
              </a:rPr>
              <a:t>Algorithm</a:t>
            </a:r>
            <a:endParaRPr sz="1400" dirty="0">
              <a:latin typeface="LM Sans 12"/>
              <a:cs typeface="LM Sans 12"/>
            </a:endParaRPr>
          </a:p>
        </p:txBody>
      </p:sp>
      <p:sp>
        <p:nvSpPr>
          <p:cNvPr id="3" name="object 3"/>
          <p:cNvSpPr txBox="1"/>
          <p:nvPr/>
        </p:nvSpPr>
        <p:spPr>
          <a:xfrm>
            <a:off x="347294" y="328124"/>
            <a:ext cx="2240915" cy="381635"/>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endParaRPr sz="900">
              <a:latin typeface="LM Sans 9"/>
              <a:cs typeface="LM Sans 9"/>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1408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txBox="1"/>
          <p:nvPr/>
        </p:nvSpPr>
        <p:spPr>
          <a:xfrm>
            <a:off x="347294" y="328124"/>
            <a:ext cx="2240915" cy="66040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a:t>
            </a:r>
            <a:r>
              <a:rPr sz="900" i="1" spc="30" dirty="0">
                <a:latin typeface="LM Sans 9"/>
                <a:cs typeface="LM Sans 9"/>
              </a:rPr>
              <a:t> </a:t>
            </a:r>
            <a:r>
              <a:rPr sz="900" spc="-5" dirty="0">
                <a:latin typeface="LM Sans 9"/>
                <a:cs typeface="LM Sans 9"/>
              </a:rPr>
              <a:t>=</a:t>
            </a:r>
            <a:endParaRPr sz="900">
              <a:latin typeface="LM Sans 9"/>
              <a:cs typeface="LM Sans 9"/>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170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txBox="1"/>
          <p:nvPr/>
        </p:nvSpPr>
        <p:spPr>
          <a:xfrm>
            <a:off x="347294" y="328124"/>
            <a:ext cx="2240915" cy="66040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a:t>
            </a:r>
            <a:r>
              <a:rPr sz="900" spc="-25" dirty="0">
                <a:latin typeface="LM Sans 9"/>
                <a:cs typeface="LM Sans 9"/>
              </a:rPr>
              <a:t> </a:t>
            </a:r>
            <a:r>
              <a:rPr sz="900" b="1" spc="-5" dirty="0">
                <a:latin typeface="LM Sans 10"/>
                <a:cs typeface="LM Sans 10"/>
              </a:rPr>
              <a:t>to</a:t>
            </a:r>
            <a:endParaRPr sz="900">
              <a:latin typeface="LM Sans 10"/>
              <a:cs typeface="LM Sans 10"/>
            </a:endParaRPr>
          </a:p>
        </p:txBody>
      </p:sp>
      <p:grpSp>
        <p:nvGrpSpPr>
          <p:cNvPr id="4" name="object 4"/>
          <p:cNvGrpSpPr/>
          <p:nvPr/>
        </p:nvGrpSpPr>
        <p:grpSpPr>
          <a:xfrm>
            <a:off x="0" y="3342919"/>
            <a:ext cx="4608195" cy="113664"/>
            <a:chOff x="0" y="3342919"/>
            <a:chExt cx="4608195" cy="113664"/>
          </a:xfrm>
        </p:grpSpPr>
        <p:sp>
          <p:nvSpPr>
            <p:cNvPr id="5" name="object 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6" name="object 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7" name="object 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9" name="object 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0" name="object 1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932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txBox="1"/>
          <p:nvPr/>
        </p:nvSpPr>
        <p:spPr>
          <a:xfrm>
            <a:off x="347294" y="328124"/>
            <a:ext cx="2240915" cy="799465"/>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307340" marR="1289050" indent="-213360">
              <a:lnSpc>
                <a:spcPct val="101499"/>
              </a:lnSpc>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80" dirty="0">
                <a:latin typeface="LM Sans 9"/>
                <a:cs typeface="LM Sans 9"/>
              </a:rPr>
              <a:t> </a:t>
            </a:r>
            <a:r>
              <a:rPr sz="900" b="1" spc="-5" dirty="0">
                <a:latin typeface="LM Sans 10"/>
                <a:cs typeface="LM Sans 10"/>
              </a:rPr>
              <a:t>do  </a:t>
            </a:r>
            <a:r>
              <a:rPr sz="900" b="1" spc="-15" dirty="0">
                <a:latin typeface="LM Sans 10"/>
                <a:cs typeface="LM Sans 10"/>
              </a:rPr>
              <a:t>for </a:t>
            </a:r>
            <a:r>
              <a:rPr sz="900" i="1" spc="-5" dirty="0">
                <a:latin typeface="LM Sans 9"/>
                <a:cs typeface="LM Sans 9"/>
              </a:rPr>
              <a:t>i </a:t>
            </a:r>
            <a:r>
              <a:rPr sz="900" spc="-5" dirty="0">
                <a:latin typeface="LM Sans 9"/>
                <a:cs typeface="LM Sans 9"/>
              </a:rPr>
              <a:t>= 1</a:t>
            </a:r>
            <a:r>
              <a:rPr sz="900" spc="-65" dirty="0">
                <a:latin typeface="LM Sans 9"/>
                <a:cs typeface="LM Sans 9"/>
              </a:rPr>
              <a:t> </a:t>
            </a:r>
            <a:r>
              <a:rPr sz="900" b="1" spc="-5" dirty="0">
                <a:latin typeface="LM Sans 10"/>
                <a:cs typeface="LM Sans 10"/>
              </a:rPr>
              <a:t>to</a:t>
            </a:r>
            <a:endParaRPr sz="900">
              <a:latin typeface="LM Sans 10"/>
              <a:cs typeface="LM Sans 10"/>
            </a:endParaRPr>
          </a:p>
        </p:txBody>
      </p:sp>
      <p:grpSp>
        <p:nvGrpSpPr>
          <p:cNvPr id="5" name="object 5"/>
          <p:cNvGrpSpPr/>
          <p:nvPr/>
        </p:nvGrpSpPr>
        <p:grpSpPr>
          <a:xfrm>
            <a:off x="0" y="3342919"/>
            <a:ext cx="4608195" cy="113664"/>
            <a:chOff x="0" y="3342919"/>
            <a:chExt cx="4608195" cy="113664"/>
          </a:xfrm>
        </p:grpSpPr>
        <p:sp>
          <p:nvSpPr>
            <p:cNvPr id="6" name="object 6"/>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7" name="object 7"/>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8" name="object 8"/>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0" name="object 1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1" name="object 1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5980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txBox="1"/>
          <p:nvPr/>
        </p:nvSpPr>
        <p:spPr>
          <a:xfrm>
            <a:off x="347294" y="328124"/>
            <a:ext cx="2240915" cy="93853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L="307340">
              <a:lnSpc>
                <a:spcPct val="100000"/>
              </a:lnSpc>
              <a:spcBef>
                <a:spcPts val="15"/>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85" dirty="0">
                <a:latin typeface="DejaVu Sans"/>
                <a:cs typeface="DejaVu Sans"/>
              </a:rPr>
              <a:t> </a:t>
            </a:r>
            <a:r>
              <a:rPr sz="900" i="1" spc="-5" dirty="0">
                <a:latin typeface="LM Sans 9"/>
                <a:cs typeface="LM Sans 9"/>
              </a:rPr>
              <a:t>l</a:t>
            </a:r>
            <a:r>
              <a:rPr sz="900" i="1" spc="-20"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a:t>
            </a:r>
            <a:r>
              <a:rPr sz="900" i="1" spc="25" dirty="0">
                <a:latin typeface="LM Sans 9"/>
                <a:cs typeface="LM Sans 9"/>
              </a:rPr>
              <a:t> </a:t>
            </a:r>
            <a:r>
              <a:rPr sz="900" spc="-5" dirty="0">
                <a:latin typeface="LM Sans 9"/>
                <a:cs typeface="LM Sans 9"/>
              </a:rPr>
              <a:t>=</a:t>
            </a:r>
            <a:endParaRPr sz="900">
              <a:latin typeface="LM Sans 9"/>
              <a:cs typeface="LM Sans 9"/>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2" name="object 1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4456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txBox="1"/>
          <p:nvPr/>
        </p:nvSpPr>
        <p:spPr>
          <a:xfrm>
            <a:off x="347294" y="328124"/>
            <a:ext cx="2240915" cy="1077595"/>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L="307340">
              <a:lnSpc>
                <a:spcPct val="100000"/>
              </a:lnSpc>
              <a:spcBef>
                <a:spcPts val="15"/>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85" dirty="0">
                <a:latin typeface="DejaVu Sans"/>
                <a:cs typeface="DejaVu Sans"/>
              </a:rPr>
              <a:t> </a:t>
            </a:r>
            <a:r>
              <a:rPr sz="900" i="1" spc="-5" dirty="0">
                <a:latin typeface="LM Sans 9"/>
                <a:cs typeface="LM Sans 9"/>
              </a:rPr>
              <a:t>l</a:t>
            </a:r>
            <a:r>
              <a:rPr sz="900" i="1" spc="-20"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4"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endParaRPr sz="900">
              <a:latin typeface="LM Sans 9"/>
              <a:cs typeface="LM Sans 9"/>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2" name="object 1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932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txBox="1"/>
          <p:nvPr/>
        </p:nvSpPr>
        <p:spPr>
          <a:xfrm>
            <a:off x="347294" y="328124"/>
            <a:ext cx="2240915" cy="12166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L="307340">
              <a:lnSpc>
                <a:spcPct val="100000"/>
              </a:lnSpc>
              <a:spcBef>
                <a:spcPts val="15"/>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85" dirty="0">
                <a:latin typeface="DejaVu Sans"/>
                <a:cs typeface="DejaVu Sans"/>
              </a:rPr>
              <a:t> </a:t>
            </a:r>
            <a:r>
              <a:rPr sz="900" i="1" spc="-5" dirty="0">
                <a:latin typeface="LM Sans 9"/>
                <a:cs typeface="LM Sans 9"/>
              </a:rPr>
              <a:t>l</a:t>
            </a:r>
            <a:r>
              <a:rPr sz="900" i="1" spc="-20"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 </a:t>
            </a:r>
            <a:r>
              <a:rPr sz="900" b="1" spc="-5" dirty="0">
                <a:latin typeface="LM Sans 10"/>
                <a:cs typeface="LM Sans 10"/>
              </a:rPr>
              <a:t>do</a:t>
            </a:r>
            <a:endParaRPr sz="900">
              <a:latin typeface="LM Sans 10"/>
              <a:cs typeface="LM Sans 10"/>
            </a:endParaRPr>
          </a:p>
          <a:p>
            <a:pPr marL="520065" marR="1059180">
              <a:lnSpc>
                <a:spcPct val="101499"/>
              </a:lnSpc>
            </a:pPr>
            <a:r>
              <a:rPr sz="900" i="1" spc="-5" dirty="0">
                <a:latin typeface="LM Sans 9"/>
                <a:cs typeface="LM Sans 9"/>
              </a:rPr>
              <a:t>j</a:t>
            </a:r>
            <a:r>
              <a:rPr sz="900" i="1" spc="10" dirty="0">
                <a:latin typeface="LM Sans 9"/>
                <a:cs typeface="LM Sans 9"/>
              </a:rPr>
              <a:t> </a:t>
            </a:r>
            <a:r>
              <a:rPr sz="900" spc="-5" dirty="0">
                <a:latin typeface="LM Sans 9"/>
                <a:cs typeface="LM Sans 9"/>
              </a:rPr>
              <a:t>=</a:t>
            </a:r>
            <a:r>
              <a:rPr sz="900" spc="-65" dirty="0">
                <a:latin typeface="LM Sans 9"/>
                <a:cs typeface="LM Sans 9"/>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114" dirty="0">
                <a:latin typeface="LM Sans 9"/>
                <a:cs typeface="LM Sans 9"/>
              </a:rPr>
              <a:t> </a:t>
            </a:r>
            <a:r>
              <a:rPr sz="900" i="1" spc="-5" dirty="0">
                <a:latin typeface="LM Sans 9"/>
                <a:cs typeface="LM Sans 9"/>
              </a:rPr>
              <a:t>l</a:t>
            </a:r>
            <a:r>
              <a:rPr sz="900" i="1" spc="-30" dirty="0">
                <a:latin typeface="LM Sans 9"/>
                <a:cs typeface="LM Sans 9"/>
              </a:rPr>
              <a:t> </a:t>
            </a:r>
            <a:r>
              <a:rPr sz="900" i="1" spc="-40" dirty="0">
                <a:latin typeface="DejaVu Sans"/>
                <a:cs typeface="DejaVu Sans"/>
              </a:rPr>
              <a:t>−</a:t>
            </a:r>
            <a:r>
              <a:rPr sz="900" i="1" spc="-95" dirty="0">
                <a:latin typeface="DejaVu Sans"/>
                <a:cs typeface="DejaVu Sans"/>
              </a:rPr>
              <a:t> </a:t>
            </a:r>
            <a:r>
              <a:rPr sz="900" spc="-5" dirty="0">
                <a:latin typeface="LM Sans 9"/>
                <a:cs typeface="LM Sans 9"/>
              </a:rPr>
              <a:t>1;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5" dirty="0">
                <a:latin typeface="LM Sans 9"/>
                <a:cs typeface="LM Sans 9"/>
              </a:rPr>
              <a:t> </a:t>
            </a:r>
            <a:r>
              <a:rPr sz="900" i="1" spc="-5" dirty="0">
                <a:latin typeface="LM Sans 9"/>
                <a:cs typeface="LM Sans 9"/>
              </a:rPr>
              <a:t>j</a:t>
            </a:r>
            <a:r>
              <a:rPr sz="900" i="1" spc="-229" dirty="0">
                <a:latin typeface="LM Sans 9"/>
                <a:cs typeface="LM Sans 9"/>
              </a:rPr>
              <a:t> </a:t>
            </a:r>
            <a:r>
              <a:rPr sz="900" spc="-5" dirty="0">
                <a:latin typeface="LM Sans 9"/>
                <a:cs typeface="LM Sans 9"/>
              </a:rPr>
              <a:t>]</a:t>
            </a:r>
            <a:r>
              <a:rPr sz="900" spc="-70" dirty="0">
                <a:latin typeface="LM Sans 9"/>
                <a:cs typeface="LM Sans 9"/>
              </a:rPr>
              <a:t> </a:t>
            </a:r>
            <a:r>
              <a:rPr sz="900" spc="-5" dirty="0">
                <a:latin typeface="LM Sans 9"/>
                <a:cs typeface="LM Sans 9"/>
              </a:rPr>
              <a:t>=</a:t>
            </a:r>
            <a:r>
              <a:rPr sz="900" spc="-70" dirty="0">
                <a:latin typeface="LM Sans 9"/>
                <a:cs typeface="LM Sans 9"/>
              </a:rPr>
              <a:t> </a:t>
            </a:r>
            <a:r>
              <a:rPr sz="900" i="1" spc="80" dirty="0">
                <a:latin typeface="DejaVu Sans"/>
                <a:cs typeface="DejaVu Sans"/>
              </a:rPr>
              <a:t>∞</a:t>
            </a:r>
            <a:r>
              <a:rPr sz="900" spc="80" dirty="0">
                <a:latin typeface="LM Sans 9"/>
                <a:cs typeface="LM Sans 9"/>
              </a:rPr>
              <a:t>;  </a:t>
            </a:r>
            <a:r>
              <a:rPr sz="900" b="1" spc="-15" dirty="0">
                <a:latin typeface="LM Sans 10"/>
                <a:cs typeface="LM Sans 10"/>
              </a:rPr>
              <a:t>for </a:t>
            </a:r>
            <a:r>
              <a:rPr sz="900" i="1" spc="-5" dirty="0">
                <a:latin typeface="LM Sans 9"/>
                <a:cs typeface="LM Sans 9"/>
              </a:rPr>
              <a:t>k</a:t>
            </a:r>
            <a:r>
              <a:rPr sz="900" i="1" spc="5" dirty="0">
                <a:latin typeface="LM Sans 9"/>
                <a:cs typeface="LM Sans 9"/>
              </a:rPr>
              <a:t> </a:t>
            </a:r>
            <a:r>
              <a:rPr sz="900" spc="-5" dirty="0">
                <a:latin typeface="LM Sans 9"/>
                <a:cs typeface="LM Sans 9"/>
              </a:rPr>
              <a:t>=</a:t>
            </a:r>
            <a:endParaRPr sz="900">
              <a:latin typeface="LM Sans 9"/>
              <a:cs typeface="LM Sans 9"/>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2" name="object 1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170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txBox="1"/>
          <p:nvPr/>
        </p:nvSpPr>
        <p:spPr>
          <a:xfrm>
            <a:off x="347294" y="328124"/>
            <a:ext cx="2240915" cy="12166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L="307340">
              <a:lnSpc>
                <a:spcPct val="100000"/>
              </a:lnSpc>
              <a:spcBef>
                <a:spcPts val="15"/>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85" dirty="0">
                <a:latin typeface="DejaVu Sans"/>
                <a:cs typeface="DejaVu Sans"/>
              </a:rPr>
              <a:t> </a:t>
            </a:r>
            <a:r>
              <a:rPr sz="900" i="1" spc="-5" dirty="0">
                <a:latin typeface="LM Sans 9"/>
                <a:cs typeface="LM Sans 9"/>
              </a:rPr>
              <a:t>l</a:t>
            </a:r>
            <a:r>
              <a:rPr sz="900" i="1" spc="-20"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 </a:t>
            </a:r>
            <a:r>
              <a:rPr sz="900" b="1" spc="-5" dirty="0">
                <a:latin typeface="LM Sans 10"/>
                <a:cs typeface="LM Sans 10"/>
              </a:rPr>
              <a:t>do</a:t>
            </a:r>
            <a:endParaRPr sz="900">
              <a:latin typeface="LM Sans 10"/>
              <a:cs typeface="LM Sans 10"/>
            </a:endParaRPr>
          </a:p>
          <a:p>
            <a:pPr marL="520065" marR="1059180">
              <a:lnSpc>
                <a:spcPct val="101499"/>
              </a:lnSpc>
            </a:pPr>
            <a:r>
              <a:rPr sz="900" i="1" spc="-5" dirty="0">
                <a:latin typeface="LM Sans 9"/>
                <a:cs typeface="LM Sans 9"/>
              </a:rPr>
              <a:t>j</a:t>
            </a:r>
            <a:r>
              <a:rPr sz="900" i="1" spc="10" dirty="0">
                <a:latin typeface="LM Sans 9"/>
                <a:cs typeface="LM Sans 9"/>
              </a:rPr>
              <a:t> </a:t>
            </a:r>
            <a:r>
              <a:rPr sz="900" spc="-5" dirty="0">
                <a:latin typeface="LM Sans 9"/>
                <a:cs typeface="LM Sans 9"/>
              </a:rPr>
              <a:t>=</a:t>
            </a:r>
            <a:r>
              <a:rPr sz="900" spc="-65" dirty="0">
                <a:latin typeface="LM Sans 9"/>
                <a:cs typeface="LM Sans 9"/>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114" dirty="0">
                <a:latin typeface="LM Sans 9"/>
                <a:cs typeface="LM Sans 9"/>
              </a:rPr>
              <a:t> </a:t>
            </a:r>
            <a:r>
              <a:rPr sz="900" i="1" spc="-5" dirty="0">
                <a:latin typeface="LM Sans 9"/>
                <a:cs typeface="LM Sans 9"/>
              </a:rPr>
              <a:t>l</a:t>
            </a:r>
            <a:r>
              <a:rPr sz="900" i="1" spc="-30" dirty="0">
                <a:latin typeface="LM Sans 9"/>
                <a:cs typeface="LM Sans 9"/>
              </a:rPr>
              <a:t> </a:t>
            </a:r>
            <a:r>
              <a:rPr sz="900" i="1" spc="-40" dirty="0">
                <a:latin typeface="DejaVu Sans"/>
                <a:cs typeface="DejaVu Sans"/>
              </a:rPr>
              <a:t>−</a:t>
            </a:r>
            <a:r>
              <a:rPr sz="900" i="1" spc="-95" dirty="0">
                <a:latin typeface="DejaVu Sans"/>
                <a:cs typeface="DejaVu Sans"/>
              </a:rPr>
              <a:t> </a:t>
            </a:r>
            <a:r>
              <a:rPr sz="900" spc="-5" dirty="0">
                <a:latin typeface="LM Sans 9"/>
                <a:cs typeface="LM Sans 9"/>
              </a:rPr>
              <a:t>1;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5" dirty="0">
                <a:latin typeface="LM Sans 9"/>
                <a:cs typeface="LM Sans 9"/>
              </a:rPr>
              <a:t> </a:t>
            </a:r>
            <a:r>
              <a:rPr sz="900" i="1" spc="-5" dirty="0">
                <a:latin typeface="LM Sans 9"/>
                <a:cs typeface="LM Sans 9"/>
              </a:rPr>
              <a:t>j</a:t>
            </a:r>
            <a:r>
              <a:rPr sz="900" i="1" spc="-229" dirty="0">
                <a:latin typeface="LM Sans 9"/>
                <a:cs typeface="LM Sans 9"/>
              </a:rPr>
              <a:t> </a:t>
            </a:r>
            <a:r>
              <a:rPr sz="900" spc="-5" dirty="0">
                <a:latin typeface="LM Sans 9"/>
                <a:cs typeface="LM Sans 9"/>
              </a:rPr>
              <a:t>]</a:t>
            </a:r>
            <a:r>
              <a:rPr sz="900" spc="-70" dirty="0">
                <a:latin typeface="LM Sans 9"/>
                <a:cs typeface="LM Sans 9"/>
              </a:rPr>
              <a:t> </a:t>
            </a:r>
            <a:r>
              <a:rPr sz="900" spc="-5" dirty="0">
                <a:latin typeface="LM Sans 9"/>
                <a:cs typeface="LM Sans 9"/>
              </a:rPr>
              <a:t>=</a:t>
            </a:r>
            <a:r>
              <a:rPr sz="900" spc="-70" dirty="0">
                <a:latin typeface="LM Sans 9"/>
                <a:cs typeface="LM Sans 9"/>
              </a:rPr>
              <a:t> </a:t>
            </a:r>
            <a:r>
              <a:rPr sz="900" i="1" spc="80" dirty="0">
                <a:latin typeface="DejaVu Sans"/>
                <a:cs typeface="DejaVu Sans"/>
              </a:rPr>
              <a:t>∞</a:t>
            </a:r>
            <a:r>
              <a:rPr sz="900" spc="80" dirty="0">
                <a:latin typeface="LM Sans 9"/>
                <a:cs typeface="LM Sans 9"/>
              </a:rPr>
              <a:t>;  </a:t>
            </a: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a:t>
            </a:r>
            <a:r>
              <a:rPr sz="900" i="1" spc="10" dirty="0">
                <a:latin typeface="LM Sans 9"/>
                <a:cs typeface="LM Sans 9"/>
              </a:rPr>
              <a:t> </a:t>
            </a:r>
            <a:r>
              <a:rPr sz="900" b="1" spc="-5" dirty="0">
                <a:latin typeface="LM Sans 10"/>
                <a:cs typeface="LM Sans 10"/>
              </a:rPr>
              <a:t>to</a:t>
            </a:r>
            <a:endParaRPr sz="900">
              <a:latin typeface="LM Sans 10"/>
              <a:cs typeface="LM Sans 10"/>
            </a:endParaRPr>
          </a:p>
        </p:txBody>
      </p:sp>
      <p:grpSp>
        <p:nvGrpSpPr>
          <p:cNvPr id="6" name="object 6"/>
          <p:cNvGrpSpPr/>
          <p:nvPr/>
        </p:nvGrpSpPr>
        <p:grpSpPr>
          <a:xfrm>
            <a:off x="0" y="3342919"/>
            <a:ext cx="4608195" cy="113664"/>
            <a:chOff x="0" y="3342919"/>
            <a:chExt cx="4608195" cy="113664"/>
          </a:xfrm>
        </p:grpSpPr>
        <p:sp>
          <p:nvSpPr>
            <p:cNvPr id="7" name="object 7"/>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8" name="object 8"/>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9" name="object 9"/>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1" name="object 11"/>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2" name="object 12"/>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5218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txBox="1"/>
          <p:nvPr/>
        </p:nvSpPr>
        <p:spPr>
          <a:xfrm>
            <a:off x="347294" y="328124"/>
            <a:ext cx="2240915" cy="13563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692785"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R="539115" algn="ctr">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15"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R="589915" algn="ctr">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a:t>
            </a:r>
            <a:r>
              <a:rPr sz="900" spc="-60"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674370"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R="577215" algn="ctr">
              <a:lnSpc>
                <a:spcPct val="100000"/>
              </a:lnSpc>
              <a:spcBef>
                <a:spcPts val="15"/>
              </a:spcBef>
            </a:pPr>
            <a:r>
              <a:rPr sz="900" i="1" spc="-5" dirty="0">
                <a:latin typeface="LM Sans 9"/>
                <a:cs typeface="LM Sans 9"/>
              </a:rPr>
              <a:t>q</a:t>
            </a:r>
            <a:r>
              <a:rPr sz="900" i="1" spc="-20" dirty="0">
                <a:latin typeface="LM Sans 9"/>
                <a:cs typeface="LM Sans 9"/>
              </a:rPr>
              <a:t> </a:t>
            </a:r>
            <a:r>
              <a:rPr sz="900" spc="-5" dirty="0">
                <a:latin typeface="LM Sans 9"/>
                <a:cs typeface="LM Sans 9"/>
              </a:rPr>
              <a:t>=</a:t>
            </a:r>
            <a:endParaRPr sz="900">
              <a:latin typeface="LM Sans 9"/>
              <a:cs typeface="LM Sans 9"/>
            </a:endParaRPr>
          </a:p>
        </p:txBody>
      </p:sp>
      <p:grpSp>
        <p:nvGrpSpPr>
          <p:cNvPr id="7" name="object 7"/>
          <p:cNvGrpSpPr/>
          <p:nvPr/>
        </p:nvGrpSpPr>
        <p:grpSpPr>
          <a:xfrm>
            <a:off x="0" y="3342919"/>
            <a:ext cx="4608195" cy="113664"/>
            <a:chOff x="0" y="3342919"/>
            <a:chExt cx="4608195" cy="113664"/>
          </a:xfrm>
        </p:grpSpPr>
        <p:sp>
          <p:nvSpPr>
            <p:cNvPr id="8" name="object 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9" name="object 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0" name="object 1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2" name="object 1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3" name="object 1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3694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txBox="1"/>
          <p:nvPr/>
        </p:nvSpPr>
        <p:spPr>
          <a:xfrm>
            <a:off x="347294" y="328124"/>
            <a:ext cx="2240915" cy="13563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692785"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4"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60"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674370"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20" dirty="0">
                <a:latin typeface="LM Sans 9"/>
                <a:cs typeface="LM Sans 9"/>
              </a:rPr>
              <a:t> </a:t>
            </a:r>
            <a:r>
              <a:rPr sz="900" spc="-5" dirty="0">
                <a:latin typeface="LM Sans 9"/>
                <a:cs typeface="LM Sans 9"/>
              </a:rPr>
              <a:t>=</a:t>
            </a:r>
            <a:r>
              <a:rPr sz="900" spc="-60"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endParaRPr sz="900">
              <a:latin typeface="LM Sans 9"/>
              <a:cs typeface="LM Sans 9"/>
            </a:endParaRPr>
          </a:p>
        </p:txBody>
      </p:sp>
      <p:grpSp>
        <p:nvGrpSpPr>
          <p:cNvPr id="7" name="object 7"/>
          <p:cNvGrpSpPr/>
          <p:nvPr/>
        </p:nvGrpSpPr>
        <p:grpSpPr>
          <a:xfrm>
            <a:off x="0" y="3342919"/>
            <a:ext cx="4608195" cy="113664"/>
            <a:chOff x="0" y="3342919"/>
            <a:chExt cx="4608195" cy="113664"/>
          </a:xfrm>
        </p:grpSpPr>
        <p:sp>
          <p:nvSpPr>
            <p:cNvPr id="8" name="object 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9" name="object 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0" name="object 1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2" name="object 1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3" name="object 1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3694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txBox="1"/>
          <p:nvPr/>
        </p:nvSpPr>
        <p:spPr>
          <a:xfrm>
            <a:off x="347294" y="328124"/>
            <a:ext cx="2240915" cy="13563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20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692785"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4"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60"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674370"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20" dirty="0">
                <a:latin typeface="LM Sans 9"/>
                <a:cs typeface="LM Sans 9"/>
              </a:rPr>
              <a:t> </a:t>
            </a:r>
            <a:r>
              <a:rPr sz="900" spc="-5" dirty="0">
                <a:latin typeface="LM Sans 9"/>
                <a:cs typeface="LM Sans 9"/>
              </a:rPr>
              <a:t>=</a:t>
            </a:r>
            <a:r>
              <a:rPr sz="900" spc="-60"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10" dirty="0">
                <a:latin typeface="LM Sans 9"/>
                <a:cs typeface="LM Sans 9"/>
              </a:rPr>
              <a:t> </a:t>
            </a:r>
            <a:r>
              <a:rPr sz="900" spc="-5" dirty="0">
                <a:latin typeface="LM Sans 9"/>
                <a:cs typeface="LM Sans 9"/>
              </a:rPr>
              <a:t>+</a:t>
            </a:r>
            <a:r>
              <a:rPr sz="900" spc="-110"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9"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endParaRPr sz="900">
              <a:latin typeface="LM Sans 9"/>
              <a:cs typeface="LM Sans 9"/>
            </a:endParaRPr>
          </a:p>
        </p:txBody>
      </p:sp>
      <p:grpSp>
        <p:nvGrpSpPr>
          <p:cNvPr id="7" name="object 7"/>
          <p:cNvGrpSpPr/>
          <p:nvPr/>
        </p:nvGrpSpPr>
        <p:grpSpPr>
          <a:xfrm>
            <a:off x="0" y="3342919"/>
            <a:ext cx="4608195" cy="113664"/>
            <a:chOff x="0" y="3342919"/>
            <a:chExt cx="4608195" cy="113664"/>
          </a:xfrm>
        </p:grpSpPr>
        <p:sp>
          <p:nvSpPr>
            <p:cNvPr id="8" name="object 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9" name="object 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0" name="object 1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2" name="object 1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3" name="object 1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4456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txBox="1"/>
          <p:nvPr/>
        </p:nvSpPr>
        <p:spPr>
          <a:xfrm>
            <a:off x="347294" y="328124"/>
            <a:ext cx="2557780" cy="13563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8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1009650"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991235"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20"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9"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20"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endParaRPr sz="900">
              <a:latin typeface="DejaVu Sans"/>
              <a:cs typeface="DejaVu Sans"/>
            </a:endParaRPr>
          </a:p>
        </p:txBody>
      </p:sp>
      <p:grpSp>
        <p:nvGrpSpPr>
          <p:cNvPr id="7" name="object 7"/>
          <p:cNvGrpSpPr/>
          <p:nvPr/>
        </p:nvGrpSpPr>
        <p:grpSpPr>
          <a:xfrm>
            <a:off x="0" y="3342919"/>
            <a:ext cx="4608195" cy="113664"/>
            <a:chOff x="0" y="3342919"/>
            <a:chExt cx="4608195" cy="113664"/>
          </a:xfrm>
        </p:grpSpPr>
        <p:sp>
          <p:nvSpPr>
            <p:cNvPr id="8" name="object 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9" name="object 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0" name="object 1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2" name="object 1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3" name="object 1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932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txBox="1"/>
          <p:nvPr/>
        </p:nvSpPr>
        <p:spPr>
          <a:xfrm>
            <a:off x="347294" y="328124"/>
            <a:ext cx="2868295" cy="13563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5"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0"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1319530"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1301115"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20"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20"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5" dirty="0">
                <a:latin typeface="LM Sans 9"/>
                <a:cs typeface="LM Sans 9"/>
              </a:rPr>
              <a:t> </a:t>
            </a:r>
            <a:r>
              <a:rPr sz="900" i="1" spc="-295" dirty="0">
                <a:latin typeface="DejaVu Sans"/>
                <a:cs typeface="DejaVu Sans"/>
              </a:rPr>
              <a:t>∗</a:t>
            </a:r>
            <a:endParaRPr sz="900">
              <a:latin typeface="DejaVu Sans"/>
              <a:cs typeface="DejaVu Sans"/>
            </a:endParaRPr>
          </a:p>
        </p:txBody>
      </p:sp>
      <p:grpSp>
        <p:nvGrpSpPr>
          <p:cNvPr id="7" name="object 7"/>
          <p:cNvGrpSpPr/>
          <p:nvPr/>
        </p:nvGrpSpPr>
        <p:grpSpPr>
          <a:xfrm>
            <a:off x="0" y="3342919"/>
            <a:ext cx="4608195" cy="113664"/>
            <a:chOff x="0" y="3342919"/>
            <a:chExt cx="4608195" cy="113664"/>
          </a:xfrm>
        </p:grpSpPr>
        <p:sp>
          <p:nvSpPr>
            <p:cNvPr id="8" name="object 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9" name="object 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0" name="object 1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2" name="object 1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3" name="object 1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4456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txBox="1"/>
          <p:nvPr/>
        </p:nvSpPr>
        <p:spPr>
          <a:xfrm>
            <a:off x="347294" y="328124"/>
            <a:ext cx="3101340" cy="13563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5"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30"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1553210"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1534795"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0"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0"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a:latin typeface="LM Sans 9"/>
              <a:cs typeface="LM Sans 9"/>
            </a:endParaRPr>
          </a:p>
        </p:txBody>
      </p:sp>
      <p:grpSp>
        <p:nvGrpSpPr>
          <p:cNvPr id="7" name="object 7"/>
          <p:cNvGrpSpPr/>
          <p:nvPr/>
        </p:nvGrpSpPr>
        <p:grpSpPr>
          <a:xfrm>
            <a:off x="0" y="3342919"/>
            <a:ext cx="4608195" cy="113664"/>
            <a:chOff x="0" y="3342919"/>
            <a:chExt cx="4608195" cy="113664"/>
          </a:xfrm>
        </p:grpSpPr>
        <p:sp>
          <p:nvSpPr>
            <p:cNvPr id="8" name="object 8"/>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9" name="object 9"/>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0" name="object 10"/>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2" name="object 12"/>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3" name="object 13"/>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93872"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p:nvPr/>
        </p:nvSpPr>
        <p:spPr>
          <a:xfrm>
            <a:off x="1152474" y="1829397"/>
            <a:ext cx="0" cy="278765"/>
          </a:xfrm>
          <a:custGeom>
            <a:avLst/>
            <a:gdLst/>
            <a:ahLst/>
            <a:cxnLst/>
            <a:rect l="l" t="t" r="r" b="b"/>
            <a:pathLst>
              <a:path h="278764">
                <a:moveTo>
                  <a:pt x="0" y="278358"/>
                </a:moveTo>
                <a:lnTo>
                  <a:pt x="0" y="0"/>
                </a:lnTo>
              </a:path>
            </a:pathLst>
          </a:custGeom>
          <a:ln w="5054">
            <a:solidFill>
              <a:srgbClr val="000000"/>
            </a:solidFill>
          </a:ln>
        </p:spPr>
        <p:txBody>
          <a:bodyPr wrap="square" lIns="0" tIns="0" rIns="0" bIns="0" rtlCol="0"/>
          <a:lstStyle/>
          <a:p>
            <a:endParaRPr/>
          </a:p>
        </p:txBody>
      </p:sp>
      <p:sp>
        <p:nvSpPr>
          <p:cNvPr id="7" name="object 7"/>
          <p:cNvSpPr txBox="1"/>
          <p:nvPr/>
        </p:nvSpPr>
        <p:spPr>
          <a:xfrm>
            <a:off x="347294" y="328124"/>
            <a:ext cx="3101340" cy="1634489"/>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5"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30"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1553210"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1534795"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0"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0"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a:latin typeface="LM Sans 9"/>
              <a:cs typeface="LM Sans 9"/>
            </a:endParaRPr>
          </a:p>
          <a:p>
            <a:pPr marR="723265" algn="ctr">
              <a:lnSpc>
                <a:spcPct val="100000"/>
              </a:lnSpc>
              <a:spcBef>
                <a:spcPts val="15"/>
              </a:spcBef>
            </a:pPr>
            <a:r>
              <a:rPr sz="900" b="1" spc="-5" dirty="0">
                <a:latin typeface="LM Sans 10"/>
                <a:cs typeface="LM Sans 10"/>
              </a:rPr>
              <a:t>if</a:t>
            </a:r>
            <a:r>
              <a:rPr sz="900" b="1" spc="40" dirty="0">
                <a:latin typeface="LM Sans 10"/>
                <a:cs typeface="LM Sans 10"/>
              </a:rPr>
              <a:t> </a:t>
            </a:r>
            <a:r>
              <a:rPr sz="900" i="1" spc="-5" dirty="0">
                <a:latin typeface="LM Sans 9"/>
                <a:cs typeface="LM Sans 9"/>
              </a:rPr>
              <a:t>q</a:t>
            </a:r>
            <a:r>
              <a:rPr sz="900" i="1" spc="-20" dirty="0">
                <a:latin typeface="LM Sans 9"/>
                <a:cs typeface="LM Sans 9"/>
              </a:rPr>
              <a:t> </a:t>
            </a:r>
            <a:r>
              <a:rPr sz="900" i="1" spc="-5" dirty="0">
                <a:latin typeface="LM Sans 9"/>
                <a:cs typeface="LM Sans 9"/>
              </a:rPr>
              <a:t>&lt;</a:t>
            </a:r>
            <a:r>
              <a:rPr sz="900" i="1"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 dirty="0">
                <a:latin typeface="LM Sans 9"/>
                <a:cs typeface="LM Sans 9"/>
              </a:rPr>
              <a:t> </a:t>
            </a:r>
            <a:r>
              <a:rPr sz="900" b="1" spc="-5" dirty="0">
                <a:latin typeface="LM Sans 10"/>
                <a:cs typeface="LM Sans 10"/>
              </a:rPr>
              <a:t>then</a:t>
            </a:r>
            <a:endParaRPr sz="900">
              <a:latin typeface="LM Sans 10"/>
              <a:cs typeface="LM Sans 10"/>
            </a:endParaRPr>
          </a:p>
          <a:p>
            <a:pPr marR="781050" algn="ctr">
              <a:lnSpc>
                <a:spcPct val="100000"/>
              </a:lnSpc>
              <a:spcBef>
                <a:spcPts val="15"/>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endParaRPr sz="900">
              <a:latin typeface="LM Sans 9"/>
              <a:cs typeface="LM Sans 9"/>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4" name="object 1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5218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p:nvPr/>
        </p:nvSpPr>
        <p:spPr>
          <a:xfrm>
            <a:off x="1152474" y="1829397"/>
            <a:ext cx="0" cy="278765"/>
          </a:xfrm>
          <a:custGeom>
            <a:avLst/>
            <a:gdLst/>
            <a:ahLst/>
            <a:cxnLst/>
            <a:rect l="l" t="t" r="r" b="b"/>
            <a:pathLst>
              <a:path h="278764">
                <a:moveTo>
                  <a:pt x="0" y="278358"/>
                </a:moveTo>
                <a:lnTo>
                  <a:pt x="0" y="0"/>
                </a:lnTo>
              </a:path>
            </a:pathLst>
          </a:custGeom>
          <a:ln w="5054">
            <a:solidFill>
              <a:srgbClr val="000000"/>
            </a:solidFill>
          </a:ln>
        </p:spPr>
        <p:txBody>
          <a:bodyPr wrap="square" lIns="0" tIns="0" rIns="0" bIns="0" rtlCol="0"/>
          <a:lstStyle/>
          <a:p>
            <a:endParaRPr/>
          </a:p>
        </p:txBody>
      </p:sp>
      <p:sp>
        <p:nvSpPr>
          <p:cNvPr id="7" name="object 7"/>
          <p:cNvSpPr txBox="1"/>
          <p:nvPr/>
        </p:nvSpPr>
        <p:spPr>
          <a:xfrm>
            <a:off x="347294" y="328124"/>
            <a:ext cx="3101340" cy="1773555"/>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5"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30"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1553210"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1534795"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0"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0"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a:latin typeface="LM Sans 9"/>
              <a:cs typeface="LM Sans 9"/>
            </a:endParaRPr>
          </a:p>
          <a:p>
            <a:pPr marL="732790">
              <a:lnSpc>
                <a:spcPct val="100000"/>
              </a:lnSpc>
              <a:spcBef>
                <a:spcPts val="15"/>
              </a:spcBef>
            </a:pPr>
            <a:r>
              <a:rPr sz="900" b="1" spc="-5" dirty="0">
                <a:latin typeface="LM Sans 10"/>
                <a:cs typeface="LM Sans 10"/>
              </a:rPr>
              <a:t>if</a:t>
            </a:r>
            <a:r>
              <a:rPr sz="900" b="1" spc="40" dirty="0">
                <a:latin typeface="LM Sans 10"/>
                <a:cs typeface="LM Sans 10"/>
              </a:rPr>
              <a:t> </a:t>
            </a:r>
            <a:r>
              <a:rPr sz="900" i="1" spc="-5" dirty="0">
                <a:latin typeface="LM Sans 9"/>
                <a:cs typeface="LM Sans 9"/>
              </a:rPr>
              <a:t>q</a:t>
            </a:r>
            <a:r>
              <a:rPr sz="900" i="1" spc="-15" dirty="0">
                <a:latin typeface="LM Sans 9"/>
                <a:cs typeface="LM Sans 9"/>
              </a:rPr>
              <a:t> </a:t>
            </a:r>
            <a:r>
              <a:rPr sz="900" i="1" spc="-5" dirty="0">
                <a:latin typeface="LM Sans 9"/>
                <a:cs typeface="LM Sans 9"/>
              </a:rPr>
              <a:t>&lt;</a:t>
            </a:r>
            <a:r>
              <a:rPr sz="900" i="1"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 dirty="0">
                <a:latin typeface="LM Sans 9"/>
                <a:cs typeface="LM Sans 9"/>
              </a:rPr>
              <a:t> </a:t>
            </a:r>
            <a:r>
              <a:rPr sz="900" b="1" spc="-5" dirty="0">
                <a:latin typeface="LM Sans 10"/>
                <a:cs typeface="LM Sans 10"/>
              </a:rPr>
              <a:t>then</a:t>
            </a:r>
            <a:endParaRPr sz="900">
              <a:latin typeface="LM Sans 10"/>
              <a:cs typeface="LM Sans 10"/>
            </a:endParaRPr>
          </a:p>
          <a:p>
            <a:pPr marL="946150">
              <a:lnSpc>
                <a:spcPct val="100000"/>
              </a:lnSpc>
              <a:spcBef>
                <a:spcPts val="15"/>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15" dirty="0">
                <a:latin typeface="LM Sans 9"/>
                <a:cs typeface="LM Sans 9"/>
              </a:rPr>
              <a:t>q</a:t>
            </a:r>
            <a:r>
              <a:rPr sz="900" spc="15" dirty="0">
                <a:latin typeface="LM Sans 9"/>
                <a:cs typeface="LM Sans 9"/>
              </a:rPr>
              <a:t>;</a:t>
            </a:r>
            <a:endParaRPr sz="900">
              <a:latin typeface="LM Sans 9"/>
              <a:cs typeface="LM Sans 9"/>
            </a:endParaRPr>
          </a:p>
          <a:p>
            <a:pPr marL="946150">
              <a:lnSpc>
                <a:spcPct val="100000"/>
              </a:lnSpc>
              <a:spcBef>
                <a:spcPts val="20"/>
              </a:spcBef>
            </a:pPr>
            <a:r>
              <a:rPr sz="900" i="1" spc="35" dirty="0">
                <a:latin typeface="LM Sans 9"/>
                <a:cs typeface="LM Sans 9"/>
              </a:rPr>
              <a:t>s</a:t>
            </a:r>
            <a:r>
              <a:rPr sz="900" spc="35" dirty="0">
                <a:latin typeface="LM Sans 9"/>
                <a:cs typeface="LM Sans 9"/>
              </a:rPr>
              <a:t>[</a:t>
            </a:r>
            <a:r>
              <a:rPr sz="900" i="1" spc="35"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endParaRPr sz="900">
              <a:latin typeface="LM Sans 9"/>
              <a:cs typeface="LM Sans 9"/>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4" name="object 1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681209"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p:nvPr/>
        </p:nvSpPr>
        <p:spPr>
          <a:xfrm>
            <a:off x="1152474" y="1829397"/>
            <a:ext cx="0" cy="278765"/>
          </a:xfrm>
          <a:custGeom>
            <a:avLst/>
            <a:gdLst/>
            <a:ahLst/>
            <a:cxnLst/>
            <a:rect l="l" t="t" r="r" b="b"/>
            <a:pathLst>
              <a:path h="278764">
                <a:moveTo>
                  <a:pt x="0" y="278358"/>
                </a:moveTo>
                <a:lnTo>
                  <a:pt x="0" y="0"/>
                </a:lnTo>
              </a:path>
            </a:pathLst>
          </a:custGeom>
          <a:ln w="5054">
            <a:solidFill>
              <a:srgbClr val="000000"/>
            </a:solidFill>
          </a:ln>
        </p:spPr>
        <p:txBody>
          <a:bodyPr wrap="square" lIns="0" tIns="0" rIns="0" bIns="0" rtlCol="0"/>
          <a:lstStyle/>
          <a:p>
            <a:endParaRPr/>
          </a:p>
        </p:txBody>
      </p:sp>
      <p:sp>
        <p:nvSpPr>
          <p:cNvPr id="7" name="object 7"/>
          <p:cNvSpPr txBox="1"/>
          <p:nvPr/>
        </p:nvSpPr>
        <p:spPr>
          <a:xfrm>
            <a:off x="347295" y="328124"/>
            <a:ext cx="3253155" cy="2519921"/>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5" dirty="0">
                <a:latin typeface="LM Sans 9"/>
                <a:cs typeface="LM Sans 9"/>
              </a:rPr>
              <a:t> </a:t>
            </a:r>
            <a:r>
              <a:rPr sz="900" spc="-5" dirty="0">
                <a:latin typeface="LM Sans 9"/>
                <a:cs typeface="LM Sans 9"/>
              </a:rPr>
              <a:t>sub-chain</a:t>
            </a:r>
            <a:endParaRPr sz="900" dirty="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30"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dirty="0">
              <a:latin typeface="LM Sans 9"/>
              <a:cs typeface="LM Sans 9"/>
            </a:endParaRPr>
          </a:p>
          <a:p>
            <a:pPr marL="94615">
              <a:lnSpc>
                <a:spcPct val="100000"/>
              </a:lnSpc>
              <a:spcBef>
                <a:spcPts val="15"/>
              </a:spcBef>
            </a:pPr>
            <a:r>
              <a:rPr sz="900" spc="-5" dirty="0">
                <a:latin typeface="LM Sans 9"/>
                <a:cs typeface="LM Sans 9"/>
              </a:rPr>
              <a:t>;</a:t>
            </a:r>
            <a:endParaRPr sz="900" dirty="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dirty="0">
              <a:latin typeface="LM Sans 10"/>
              <a:cs typeface="LM Sans 10"/>
            </a:endParaRPr>
          </a:p>
          <a:p>
            <a:pPr marR="1553210"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dirty="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dirty="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dirty="0">
              <a:latin typeface="LM Sans 9"/>
              <a:cs typeface="LM Sans 9"/>
            </a:endParaRPr>
          </a:p>
          <a:p>
            <a:pPr marR="1534795"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dirty="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0"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0"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dirty="0">
              <a:latin typeface="LM Sans 9"/>
              <a:cs typeface="LM Sans 9"/>
            </a:endParaRPr>
          </a:p>
          <a:p>
            <a:pPr marL="732790">
              <a:lnSpc>
                <a:spcPct val="100000"/>
              </a:lnSpc>
              <a:spcBef>
                <a:spcPts val="15"/>
              </a:spcBef>
            </a:pPr>
            <a:r>
              <a:rPr sz="900" b="1" spc="-5" dirty="0">
                <a:latin typeface="LM Sans 10"/>
                <a:cs typeface="LM Sans 10"/>
              </a:rPr>
              <a:t>if</a:t>
            </a:r>
            <a:r>
              <a:rPr sz="900" b="1" spc="40" dirty="0">
                <a:latin typeface="LM Sans 10"/>
                <a:cs typeface="LM Sans 10"/>
              </a:rPr>
              <a:t> </a:t>
            </a:r>
            <a:r>
              <a:rPr sz="900" i="1" spc="-5" dirty="0">
                <a:latin typeface="LM Sans 9"/>
                <a:cs typeface="LM Sans 9"/>
              </a:rPr>
              <a:t>q</a:t>
            </a:r>
            <a:r>
              <a:rPr sz="900" i="1" spc="-15" dirty="0">
                <a:latin typeface="LM Sans 9"/>
                <a:cs typeface="LM Sans 9"/>
              </a:rPr>
              <a:t> </a:t>
            </a:r>
            <a:r>
              <a:rPr sz="900" i="1" spc="-5" dirty="0">
                <a:latin typeface="LM Sans 9"/>
                <a:cs typeface="LM Sans 9"/>
              </a:rPr>
              <a:t>&lt;</a:t>
            </a:r>
            <a:r>
              <a:rPr sz="900" i="1"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 dirty="0">
                <a:latin typeface="LM Sans 9"/>
                <a:cs typeface="LM Sans 9"/>
              </a:rPr>
              <a:t> </a:t>
            </a:r>
            <a:r>
              <a:rPr sz="900" b="1" spc="-5" dirty="0">
                <a:latin typeface="LM Sans 10"/>
                <a:cs typeface="LM Sans 10"/>
              </a:rPr>
              <a:t>then</a:t>
            </a:r>
            <a:endParaRPr sz="900" dirty="0">
              <a:latin typeface="LM Sans 10"/>
              <a:cs typeface="LM Sans 10"/>
            </a:endParaRPr>
          </a:p>
          <a:p>
            <a:pPr marL="946150">
              <a:lnSpc>
                <a:spcPct val="100000"/>
              </a:lnSpc>
              <a:spcBef>
                <a:spcPts val="15"/>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15" dirty="0">
                <a:latin typeface="LM Sans 9"/>
                <a:cs typeface="LM Sans 9"/>
              </a:rPr>
              <a:t>q</a:t>
            </a:r>
            <a:r>
              <a:rPr sz="900" spc="15" dirty="0">
                <a:latin typeface="LM Sans 9"/>
                <a:cs typeface="LM Sans 9"/>
              </a:rPr>
              <a:t>;</a:t>
            </a:r>
            <a:endParaRPr sz="900" dirty="0">
              <a:latin typeface="LM Sans 9"/>
              <a:cs typeface="LM Sans 9"/>
            </a:endParaRPr>
          </a:p>
          <a:p>
            <a:pPr marL="946150">
              <a:lnSpc>
                <a:spcPct val="100000"/>
              </a:lnSpc>
              <a:spcBef>
                <a:spcPts val="20"/>
              </a:spcBef>
            </a:pPr>
            <a:r>
              <a:rPr sz="900" i="1" spc="35" dirty="0">
                <a:latin typeface="LM Sans 9"/>
                <a:cs typeface="LM Sans 9"/>
              </a:rPr>
              <a:t>s</a:t>
            </a:r>
            <a:r>
              <a:rPr sz="900" spc="35" dirty="0">
                <a:latin typeface="LM Sans 9"/>
                <a:cs typeface="LM Sans 9"/>
              </a:rPr>
              <a:t>[</a:t>
            </a:r>
            <a:r>
              <a:rPr sz="900" i="1" spc="35"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30" dirty="0">
                <a:latin typeface="LM Sans 9"/>
                <a:cs typeface="LM Sans 9"/>
              </a:rPr>
              <a:t>k</a:t>
            </a:r>
            <a:r>
              <a:rPr sz="900" spc="30" dirty="0">
                <a:latin typeface="LM Sans 9"/>
                <a:cs typeface="LM Sans 9"/>
              </a:rPr>
              <a:t>;</a:t>
            </a:r>
            <a:endParaRPr sz="900" dirty="0">
              <a:latin typeface="LM Sans 9"/>
              <a:cs typeface="LM Sans 9"/>
            </a:endParaRPr>
          </a:p>
          <a:p>
            <a:pPr marL="732790">
              <a:lnSpc>
                <a:spcPct val="100000"/>
              </a:lnSpc>
              <a:spcBef>
                <a:spcPts val="115"/>
              </a:spcBef>
            </a:pPr>
            <a:r>
              <a:rPr sz="900" b="1" spc="-5" dirty="0">
                <a:latin typeface="LM Sans 10"/>
                <a:cs typeface="LM Sans 10"/>
              </a:rPr>
              <a:t>end</a:t>
            </a:r>
            <a:endParaRPr sz="900" dirty="0">
              <a:latin typeface="LM Sans 10"/>
              <a:cs typeface="LM Sans 10"/>
            </a:endParaRPr>
          </a:p>
          <a:p>
            <a:pPr marL="520065">
              <a:lnSpc>
                <a:spcPct val="100000"/>
              </a:lnSpc>
              <a:spcBef>
                <a:spcPts val="114"/>
              </a:spcBef>
            </a:pPr>
            <a:r>
              <a:rPr sz="900" b="1" spc="-5" dirty="0">
                <a:latin typeface="LM Sans 10"/>
                <a:cs typeface="LM Sans 10"/>
              </a:rPr>
              <a:t>end</a:t>
            </a:r>
            <a:endParaRPr sz="900" dirty="0">
              <a:latin typeface="LM Sans 10"/>
              <a:cs typeface="LM Sans 10"/>
            </a:endParaRPr>
          </a:p>
          <a:p>
            <a:pPr marL="94615" marR="2599690" indent="212725">
              <a:lnSpc>
                <a:spcPct val="106100"/>
              </a:lnSpc>
              <a:spcBef>
                <a:spcPts val="50"/>
              </a:spcBef>
            </a:pPr>
            <a:r>
              <a:rPr sz="900" b="1" spc="-5" dirty="0">
                <a:latin typeface="LM Sans 10"/>
                <a:cs typeface="LM Sans 10"/>
              </a:rPr>
              <a:t>en</a:t>
            </a:r>
            <a:r>
              <a:rPr lang="en-US" sz="900" b="1" spc="-5" dirty="0">
                <a:latin typeface="LM Sans 10"/>
                <a:cs typeface="LM Sans 10"/>
              </a:rPr>
              <a:t>d</a:t>
            </a:r>
            <a:r>
              <a:rPr sz="900" b="1" spc="-5" dirty="0">
                <a:latin typeface="LM Sans 10"/>
                <a:cs typeface="LM Sans 10"/>
              </a:rPr>
              <a:t>  </a:t>
            </a:r>
            <a:r>
              <a:rPr sz="900" b="1" spc="-5" dirty="0" err="1">
                <a:latin typeface="LM Sans 10"/>
                <a:cs typeface="LM Sans 10"/>
              </a:rPr>
              <a:t>end</a:t>
            </a:r>
            <a:r>
              <a:rPr sz="900" b="1" spc="-5" dirty="0">
                <a:latin typeface="LM Sans 10"/>
                <a:cs typeface="LM Sans 10"/>
              </a:rPr>
              <a:t>  return</a:t>
            </a:r>
            <a:endParaRPr sz="900" dirty="0">
              <a:latin typeface="LM Sans 10"/>
              <a:cs typeface="LM Sans 10"/>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4" name="object 1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93872"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p:nvPr/>
        </p:nvSpPr>
        <p:spPr>
          <a:xfrm>
            <a:off x="1152474" y="1829397"/>
            <a:ext cx="0" cy="278765"/>
          </a:xfrm>
          <a:custGeom>
            <a:avLst/>
            <a:gdLst/>
            <a:ahLst/>
            <a:cxnLst/>
            <a:rect l="l" t="t" r="r" b="b"/>
            <a:pathLst>
              <a:path h="278764">
                <a:moveTo>
                  <a:pt x="0" y="278358"/>
                </a:moveTo>
                <a:lnTo>
                  <a:pt x="0" y="0"/>
                </a:lnTo>
              </a:path>
            </a:pathLst>
          </a:custGeom>
          <a:ln w="5054">
            <a:solidFill>
              <a:srgbClr val="000000"/>
            </a:solidFill>
          </a:ln>
        </p:spPr>
        <p:txBody>
          <a:bodyPr wrap="square" lIns="0" tIns="0" rIns="0" bIns="0" rtlCol="0"/>
          <a:lstStyle/>
          <a:p>
            <a:endParaRPr/>
          </a:p>
        </p:txBody>
      </p:sp>
      <p:sp>
        <p:nvSpPr>
          <p:cNvPr id="7" name="object 7"/>
          <p:cNvSpPr txBox="1"/>
          <p:nvPr/>
        </p:nvSpPr>
        <p:spPr>
          <a:xfrm>
            <a:off x="347294" y="328124"/>
            <a:ext cx="3101340" cy="2520315"/>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5"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30"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a:latin typeface="LM Sans 10"/>
              <a:cs typeface="LM Sans 10"/>
            </a:endParaRPr>
          </a:p>
          <a:p>
            <a:pPr marR="1553210"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1534795"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0"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0"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a:latin typeface="LM Sans 9"/>
              <a:cs typeface="LM Sans 9"/>
            </a:endParaRPr>
          </a:p>
          <a:p>
            <a:pPr marL="732790">
              <a:lnSpc>
                <a:spcPct val="100000"/>
              </a:lnSpc>
              <a:spcBef>
                <a:spcPts val="15"/>
              </a:spcBef>
            </a:pPr>
            <a:r>
              <a:rPr sz="900" b="1" spc="-5" dirty="0">
                <a:latin typeface="LM Sans 10"/>
                <a:cs typeface="LM Sans 10"/>
              </a:rPr>
              <a:t>if</a:t>
            </a:r>
            <a:r>
              <a:rPr sz="900" b="1" spc="40" dirty="0">
                <a:latin typeface="LM Sans 10"/>
                <a:cs typeface="LM Sans 10"/>
              </a:rPr>
              <a:t> </a:t>
            </a:r>
            <a:r>
              <a:rPr sz="900" i="1" spc="-5" dirty="0">
                <a:latin typeface="LM Sans 9"/>
                <a:cs typeface="LM Sans 9"/>
              </a:rPr>
              <a:t>q</a:t>
            </a:r>
            <a:r>
              <a:rPr sz="900" i="1" spc="-15" dirty="0">
                <a:latin typeface="LM Sans 9"/>
                <a:cs typeface="LM Sans 9"/>
              </a:rPr>
              <a:t> </a:t>
            </a:r>
            <a:r>
              <a:rPr sz="900" i="1" spc="-5" dirty="0">
                <a:latin typeface="LM Sans 9"/>
                <a:cs typeface="LM Sans 9"/>
              </a:rPr>
              <a:t>&lt;</a:t>
            </a:r>
            <a:r>
              <a:rPr sz="900" i="1"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 dirty="0">
                <a:latin typeface="LM Sans 9"/>
                <a:cs typeface="LM Sans 9"/>
              </a:rPr>
              <a:t> </a:t>
            </a:r>
            <a:r>
              <a:rPr sz="900" b="1" spc="-5" dirty="0">
                <a:latin typeface="LM Sans 10"/>
                <a:cs typeface="LM Sans 10"/>
              </a:rPr>
              <a:t>then</a:t>
            </a:r>
            <a:endParaRPr sz="900">
              <a:latin typeface="LM Sans 10"/>
              <a:cs typeface="LM Sans 10"/>
            </a:endParaRPr>
          </a:p>
          <a:p>
            <a:pPr marL="946150">
              <a:lnSpc>
                <a:spcPct val="100000"/>
              </a:lnSpc>
              <a:spcBef>
                <a:spcPts val="15"/>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15" dirty="0">
                <a:latin typeface="LM Sans 9"/>
                <a:cs typeface="LM Sans 9"/>
              </a:rPr>
              <a:t>q</a:t>
            </a:r>
            <a:r>
              <a:rPr sz="900" spc="15" dirty="0">
                <a:latin typeface="LM Sans 9"/>
                <a:cs typeface="LM Sans 9"/>
              </a:rPr>
              <a:t>;</a:t>
            </a:r>
            <a:endParaRPr sz="900">
              <a:latin typeface="LM Sans 9"/>
              <a:cs typeface="LM Sans 9"/>
            </a:endParaRPr>
          </a:p>
          <a:p>
            <a:pPr marL="946150">
              <a:lnSpc>
                <a:spcPct val="100000"/>
              </a:lnSpc>
              <a:spcBef>
                <a:spcPts val="20"/>
              </a:spcBef>
            </a:pPr>
            <a:r>
              <a:rPr sz="900" i="1" spc="35" dirty="0">
                <a:latin typeface="LM Sans 9"/>
                <a:cs typeface="LM Sans 9"/>
              </a:rPr>
              <a:t>s</a:t>
            </a:r>
            <a:r>
              <a:rPr sz="900" spc="35" dirty="0">
                <a:latin typeface="LM Sans 9"/>
                <a:cs typeface="LM Sans 9"/>
              </a:rPr>
              <a:t>[</a:t>
            </a:r>
            <a:r>
              <a:rPr sz="900" i="1" spc="35"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30" dirty="0">
                <a:latin typeface="LM Sans 9"/>
                <a:cs typeface="LM Sans 9"/>
              </a:rPr>
              <a:t>k</a:t>
            </a:r>
            <a:r>
              <a:rPr sz="900" spc="30" dirty="0">
                <a:latin typeface="LM Sans 9"/>
                <a:cs typeface="LM Sans 9"/>
              </a:rPr>
              <a:t>;</a:t>
            </a:r>
            <a:endParaRPr sz="900">
              <a:latin typeface="LM Sans 9"/>
              <a:cs typeface="LM Sans 9"/>
            </a:endParaRPr>
          </a:p>
          <a:p>
            <a:pPr marL="732790">
              <a:lnSpc>
                <a:spcPct val="100000"/>
              </a:lnSpc>
              <a:spcBef>
                <a:spcPts val="115"/>
              </a:spcBef>
            </a:pPr>
            <a:r>
              <a:rPr sz="900" b="1" spc="-5" dirty="0">
                <a:latin typeface="LM Sans 10"/>
                <a:cs typeface="LM Sans 10"/>
              </a:rPr>
              <a:t>end</a:t>
            </a:r>
            <a:endParaRPr sz="900">
              <a:latin typeface="LM Sans 10"/>
              <a:cs typeface="LM Sans 10"/>
            </a:endParaRPr>
          </a:p>
          <a:p>
            <a:pPr marL="520065">
              <a:lnSpc>
                <a:spcPct val="100000"/>
              </a:lnSpc>
              <a:spcBef>
                <a:spcPts val="114"/>
              </a:spcBef>
            </a:pPr>
            <a:r>
              <a:rPr sz="900" b="1" spc="-5" dirty="0">
                <a:latin typeface="LM Sans 10"/>
                <a:cs typeface="LM Sans 10"/>
              </a:rPr>
              <a:t>end</a:t>
            </a:r>
            <a:endParaRPr sz="900">
              <a:latin typeface="LM Sans 10"/>
              <a:cs typeface="LM Sans 10"/>
            </a:endParaRPr>
          </a:p>
          <a:p>
            <a:pPr marL="307340">
              <a:lnSpc>
                <a:spcPct val="100000"/>
              </a:lnSpc>
              <a:spcBef>
                <a:spcPts val="114"/>
              </a:spcBef>
            </a:pPr>
            <a:r>
              <a:rPr sz="900" b="1" spc="-5" dirty="0">
                <a:latin typeface="LM Sans 10"/>
                <a:cs typeface="LM Sans 10"/>
              </a:rPr>
              <a:t>end</a:t>
            </a:r>
            <a:endParaRPr sz="900">
              <a:latin typeface="LM Sans 10"/>
              <a:cs typeface="LM Sans 10"/>
            </a:endParaRPr>
          </a:p>
          <a:p>
            <a:pPr marL="94615">
              <a:lnSpc>
                <a:spcPct val="100000"/>
              </a:lnSpc>
              <a:spcBef>
                <a:spcPts val="114"/>
              </a:spcBef>
            </a:pPr>
            <a:r>
              <a:rPr sz="900" b="1" spc="-5" dirty="0">
                <a:latin typeface="LM Sans 10"/>
                <a:cs typeface="LM Sans 10"/>
              </a:rPr>
              <a:t>end</a:t>
            </a:r>
            <a:endParaRPr sz="900">
              <a:latin typeface="LM Sans 10"/>
              <a:cs typeface="LM Sans 10"/>
            </a:endParaRPr>
          </a:p>
          <a:p>
            <a:pPr marL="94615">
              <a:lnSpc>
                <a:spcPct val="100000"/>
              </a:lnSpc>
              <a:spcBef>
                <a:spcPts val="15"/>
              </a:spcBef>
            </a:pPr>
            <a:r>
              <a:rPr sz="900" b="1" spc="-5" dirty="0">
                <a:latin typeface="LM Sans 10"/>
                <a:cs typeface="LM Sans 10"/>
              </a:rPr>
              <a:t>return </a:t>
            </a:r>
            <a:r>
              <a:rPr sz="900" i="1" spc="-5" dirty="0">
                <a:latin typeface="LM Sans 9"/>
                <a:cs typeface="LM Sans 9"/>
              </a:rPr>
              <a:t>m </a:t>
            </a:r>
            <a:r>
              <a:rPr sz="900" spc="-5" dirty="0">
                <a:latin typeface="LM Sans 9"/>
                <a:cs typeface="LM Sans 9"/>
              </a:rPr>
              <a:t>and </a:t>
            </a:r>
            <a:r>
              <a:rPr sz="900" i="1" dirty="0">
                <a:latin typeface="LM Sans 9"/>
                <a:cs typeface="LM Sans 9"/>
              </a:rPr>
              <a:t>s</a:t>
            </a:r>
            <a:r>
              <a:rPr sz="900" dirty="0">
                <a:latin typeface="LM Sans 9"/>
                <a:cs typeface="LM Sans 9"/>
              </a:rPr>
              <a:t>;</a:t>
            </a:r>
            <a:r>
              <a:rPr sz="900" dirty="0">
                <a:solidFill>
                  <a:srgbClr val="FF0000"/>
                </a:solidFill>
                <a:latin typeface="LM Sans 9"/>
                <a:cs typeface="LM Sans 9"/>
              </a:rPr>
              <a:t>(Optimum</a:t>
            </a:r>
            <a:r>
              <a:rPr sz="900" spc="-10" dirty="0">
                <a:solidFill>
                  <a:srgbClr val="FF0000"/>
                </a:solidFill>
                <a:latin typeface="LM Sans 9"/>
                <a:cs typeface="LM Sans 9"/>
              </a:rPr>
              <a:t> </a:t>
            </a:r>
            <a:r>
              <a:rPr sz="900" spc="-5" dirty="0">
                <a:solidFill>
                  <a:srgbClr val="FF0000"/>
                </a:solidFill>
                <a:latin typeface="LM Sans 9"/>
                <a:cs typeface="LM Sans 9"/>
              </a:rPr>
              <a:t>in</a:t>
            </a:r>
            <a:endParaRPr sz="900">
              <a:latin typeface="LM Sans 9"/>
              <a:cs typeface="LM Sans 9"/>
            </a:endParaRPr>
          </a:p>
        </p:txBody>
      </p:sp>
      <p:grpSp>
        <p:nvGrpSpPr>
          <p:cNvPr id="8" name="object 8"/>
          <p:cNvGrpSpPr/>
          <p:nvPr/>
        </p:nvGrpSpPr>
        <p:grpSpPr>
          <a:xfrm>
            <a:off x="0" y="3342919"/>
            <a:ext cx="4608195" cy="113664"/>
            <a:chOff x="0" y="3342919"/>
            <a:chExt cx="4608195" cy="113664"/>
          </a:xfrm>
        </p:grpSpPr>
        <p:sp>
          <p:nvSpPr>
            <p:cNvPr id="9" name="object 9"/>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0" name="object 10"/>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1" name="object 11"/>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3" name="object 13"/>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14" name="object 14"/>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2170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p:nvPr/>
        </p:nvSpPr>
        <p:spPr>
          <a:xfrm>
            <a:off x="1152474" y="1829397"/>
            <a:ext cx="0" cy="278765"/>
          </a:xfrm>
          <a:custGeom>
            <a:avLst/>
            <a:gdLst/>
            <a:ahLst/>
            <a:cxnLst/>
            <a:rect l="l" t="t" r="r" b="b"/>
            <a:pathLst>
              <a:path h="278764">
                <a:moveTo>
                  <a:pt x="0" y="278358"/>
                </a:moveTo>
                <a:lnTo>
                  <a:pt x="0" y="0"/>
                </a:lnTo>
              </a:path>
            </a:pathLst>
          </a:custGeom>
          <a:ln w="5054">
            <a:solidFill>
              <a:srgbClr val="000000"/>
            </a:solidFill>
          </a:ln>
        </p:spPr>
        <p:txBody>
          <a:bodyPr wrap="square" lIns="0" tIns="0" rIns="0" bIns="0" rtlCol="0"/>
          <a:lstStyle/>
          <a:p>
            <a:endParaRPr/>
          </a:p>
        </p:txBody>
      </p:sp>
      <p:grpSp>
        <p:nvGrpSpPr>
          <p:cNvPr id="7" name="object 7"/>
          <p:cNvGrpSpPr/>
          <p:nvPr/>
        </p:nvGrpSpPr>
        <p:grpSpPr>
          <a:xfrm>
            <a:off x="359994" y="495820"/>
            <a:ext cx="4064000" cy="2477135"/>
            <a:chOff x="359994" y="495820"/>
            <a:chExt cx="4064000" cy="2477135"/>
          </a:xfrm>
        </p:grpSpPr>
        <p:sp>
          <p:nvSpPr>
            <p:cNvPr id="8" name="object 8"/>
            <p:cNvSpPr/>
            <p:nvPr/>
          </p:nvSpPr>
          <p:spPr>
            <a:xfrm>
              <a:off x="359994" y="498348"/>
              <a:ext cx="4013200" cy="0"/>
            </a:xfrm>
            <a:custGeom>
              <a:avLst/>
              <a:gdLst/>
              <a:ahLst/>
              <a:cxnLst/>
              <a:rect l="l" t="t" r="r" b="b"/>
              <a:pathLst>
                <a:path w="4013200">
                  <a:moveTo>
                    <a:pt x="0" y="0"/>
                  </a:moveTo>
                  <a:lnTo>
                    <a:pt x="4013047" y="0"/>
                  </a:lnTo>
                </a:path>
              </a:pathLst>
            </a:custGeom>
            <a:ln w="5054">
              <a:solidFill>
                <a:srgbClr val="000000"/>
              </a:solidFill>
            </a:ln>
          </p:spPr>
          <p:txBody>
            <a:bodyPr wrap="square" lIns="0" tIns="0" rIns="0" bIns="0" rtlCol="0"/>
            <a:lstStyle/>
            <a:p>
              <a:endParaRPr/>
            </a:p>
          </p:txBody>
        </p:sp>
        <p:sp>
          <p:nvSpPr>
            <p:cNvPr id="9" name="object 9"/>
            <p:cNvSpPr/>
            <p:nvPr/>
          </p:nvSpPr>
          <p:spPr>
            <a:xfrm>
              <a:off x="362534" y="498348"/>
              <a:ext cx="0" cy="2421255"/>
            </a:xfrm>
            <a:custGeom>
              <a:avLst/>
              <a:gdLst/>
              <a:ahLst/>
              <a:cxnLst/>
              <a:rect l="l" t="t" r="r" b="b"/>
              <a:pathLst>
                <a:path h="2421255">
                  <a:moveTo>
                    <a:pt x="0" y="2421064"/>
                  </a:moveTo>
                  <a:lnTo>
                    <a:pt x="0" y="0"/>
                  </a:lnTo>
                </a:path>
              </a:pathLst>
            </a:custGeom>
            <a:ln w="5054">
              <a:solidFill>
                <a:srgbClr val="000000"/>
              </a:solidFill>
            </a:ln>
          </p:spPr>
          <p:txBody>
            <a:bodyPr wrap="square" lIns="0" tIns="0" rIns="0" bIns="0" rtlCol="0"/>
            <a:lstStyle/>
            <a:p>
              <a:endParaRPr/>
            </a:p>
          </p:txBody>
        </p:sp>
        <p:sp>
          <p:nvSpPr>
            <p:cNvPr id="10" name="object 10"/>
            <p:cNvSpPr/>
            <p:nvPr/>
          </p:nvSpPr>
          <p:spPr>
            <a:xfrm>
              <a:off x="4370514" y="498348"/>
              <a:ext cx="0" cy="2421255"/>
            </a:xfrm>
            <a:custGeom>
              <a:avLst/>
              <a:gdLst/>
              <a:ahLst/>
              <a:cxnLst/>
              <a:rect l="l" t="t" r="r" b="b"/>
              <a:pathLst>
                <a:path h="2421255">
                  <a:moveTo>
                    <a:pt x="0" y="2421064"/>
                  </a:moveTo>
                  <a:lnTo>
                    <a:pt x="0" y="0"/>
                  </a:lnTo>
                </a:path>
              </a:pathLst>
            </a:custGeom>
            <a:ln w="5054">
              <a:solidFill>
                <a:srgbClr val="000000"/>
              </a:solidFill>
            </a:ln>
          </p:spPr>
          <p:txBody>
            <a:bodyPr wrap="square" lIns="0" tIns="0" rIns="0" bIns="0" rtlCol="0"/>
            <a:lstStyle/>
            <a:p>
              <a:endParaRPr/>
            </a:p>
          </p:txBody>
        </p:sp>
        <p:sp>
          <p:nvSpPr>
            <p:cNvPr id="11" name="object 11"/>
            <p:cNvSpPr/>
            <p:nvPr/>
          </p:nvSpPr>
          <p:spPr>
            <a:xfrm>
              <a:off x="359994" y="2919412"/>
              <a:ext cx="4013200" cy="0"/>
            </a:xfrm>
            <a:custGeom>
              <a:avLst/>
              <a:gdLst/>
              <a:ahLst/>
              <a:cxnLst/>
              <a:rect l="l" t="t" r="r" b="b"/>
              <a:pathLst>
                <a:path w="4013200">
                  <a:moveTo>
                    <a:pt x="0" y="0"/>
                  </a:moveTo>
                  <a:lnTo>
                    <a:pt x="4013047" y="0"/>
                  </a:lnTo>
                </a:path>
              </a:pathLst>
            </a:custGeom>
            <a:ln w="5054">
              <a:solidFill>
                <a:srgbClr val="000000"/>
              </a:solidFill>
            </a:ln>
          </p:spPr>
          <p:txBody>
            <a:bodyPr wrap="square" lIns="0" tIns="0" rIns="0" bIns="0" rtlCol="0"/>
            <a:lstStyle/>
            <a:p>
              <a:endParaRPr/>
            </a:p>
          </p:txBody>
        </p:sp>
        <p:sp>
          <p:nvSpPr>
            <p:cNvPr id="12" name="object 12"/>
            <p:cNvSpPr/>
            <p:nvPr/>
          </p:nvSpPr>
          <p:spPr>
            <a:xfrm>
              <a:off x="410603" y="546430"/>
              <a:ext cx="4013200" cy="2426335"/>
            </a:xfrm>
            <a:custGeom>
              <a:avLst/>
              <a:gdLst/>
              <a:ahLst/>
              <a:cxnLst/>
              <a:rect l="l" t="t" r="r" b="b"/>
              <a:pathLst>
                <a:path w="4013200" h="2426335">
                  <a:moveTo>
                    <a:pt x="4013047" y="0"/>
                  </a:moveTo>
                  <a:lnTo>
                    <a:pt x="3959910" y="0"/>
                  </a:lnTo>
                  <a:lnTo>
                    <a:pt x="3959910" y="2372995"/>
                  </a:lnTo>
                  <a:lnTo>
                    <a:pt x="0" y="2372995"/>
                  </a:lnTo>
                  <a:lnTo>
                    <a:pt x="0" y="2426131"/>
                  </a:lnTo>
                  <a:lnTo>
                    <a:pt x="3959910" y="2426131"/>
                  </a:lnTo>
                  <a:lnTo>
                    <a:pt x="4013047" y="2426131"/>
                  </a:lnTo>
                  <a:lnTo>
                    <a:pt x="4013047" y="2372995"/>
                  </a:lnTo>
                  <a:lnTo>
                    <a:pt x="4013047" y="0"/>
                  </a:lnTo>
                  <a:close/>
                </a:path>
              </a:pathLst>
            </a:custGeom>
            <a:solidFill>
              <a:srgbClr val="000000"/>
            </a:solidFill>
          </p:spPr>
          <p:txBody>
            <a:bodyPr wrap="square" lIns="0" tIns="0" rIns="0" bIns="0" rtlCol="0"/>
            <a:lstStyle/>
            <a:p>
              <a:endParaRPr/>
            </a:p>
          </p:txBody>
        </p:sp>
      </p:grpSp>
      <p:sp>
        <p:nvSpPr>
          <p:cNvPr id="13" name="object 13"/>
          <p:cNvSpPr txBox="1"/>
          <p:nvPr/>
        </p:nvSpPr>
        <p:spPr>
          <a:xfrm>
            <a:off x="347294" y="328124"/>
            <a:ext cx="3101340" cy="285242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5" dirty="0">
                <a:latin typeface="LM Sans 9"/>
                <a:cs typeface="LM Sans 9"/>
              </a:rPr>
              <a:t> </a:t>
            </a:r>
            <a:r>
              <a:rPr sz="900" spc="-5" dirty="0">
                <a:latin typeface="LM Sans 9"/>
                <a:cs typeface="LM Sans 9"/>
              </a:rPr>
              <a:t>sub-chain</a:t>
            </a:r>
            <a:endParaRPr sz="900" dirty="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30"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0;</a:t>
            </a:r>
            <a:endParaRPr sz="900" dirty="0">
              <a:latin typeface="LM Sans 9"/>
              <a:cs typeface="LM Sans 9"/>
            </a:endParaRPr>
          </a:p>
          <a:p>
            <a:pPr marL="94615">
              <a:lnSpc>
                <a:spcPct val="100000"/>
              </a:lnSpc>
              <a:spcBef>
                <a:spcPts val="15"/>
              </a:spcBef>
            </a:pPr>
            <a:r>
              <a:rPr sz="900" spc="-5" dirty="0">
                <a:latin typeface="LM Sans 9"/>
                <a:cs typeface="LM Sans 9"/>
              </a:rPr>
              <a:t>;</a:t>
            </a:r>
            <a:endParaRPr sz="900" dirty="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5" dirty="0">
                <a:latin typeface="LM Sans 9"/>
                <a:cs typeface="LM Sans 9"/>
              </a:rPr>
              <a:t> </a:t>
            </a:r>
            <a:r>
              <a:rPr sz="900" b="1" spc="-5" dirty="0">
                <a:latin typeface="LM Sans 10"/>
                <a:cs typeface="LM Sans 10"/>
              </a:rPr>
              <a:t>do</a:t>
            </a:r>
            <a:endParaRPr sz="900" dirty="0">
              <a:latin typeface="LM Sans 10"/>
              <a:cs typeface="LM Sans 10"/>
            </a:endParaRPr>
          </a:p>
          <a:p>
            <a:pPr marR="1553210"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dirty="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dirty="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dirty="0">
              <a:latin typeface="LM Sans 9"/>
              <a:cs typeface="LM Sans 9"/>
            </a:endParaRPr>
          </a:p>
          <a:p>
            <a:pPr marR="1534795"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dirty="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0"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0"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dirty="0">
              <a:latin typeface="LM Sans 9"/>
              <a:cs typeface="LM Sans 9"/>
            </a:endParaRPr>
          </a:p>
          <a:p>
            <a:pPr marL="732790">
              <a:lnSpc>
                <a:spcPct val="100000"/>
              </a:lnSpc>
              <a:spcBef>
                <a:spcPts val="15"/>
              </a:spcBef>
            </a:pPr>
            <a:r>
              <a:rPr sz="900" b="1" spc="-5" dirty="0">
                <a:latin typeface="LM Sans 10"/>
                <a:cs typeface="LM Sans 10"/>
              </a:rPr>
              <a:t>if</a:t>
            </a:r>
            <a:r>
              <a:rPr sz="900" b="1" spc="40" dirty="0">
                <a:latin typeface="LM Sans 10"/>
                <a:cs typeface="LM Sans 10"/>
              </a:rPr>
              <a:t> </a:t>
            </a:r>
            <a:r>
              <a:rPr sz="900" i="1" spc="-5" dirty="0">
                <a:latin typeface="LM Sans 9"/>
                <a:cs typeface="LM Sans 9"/>
              </a:rPr>
              <a:t>q</a:t>
            </a:r>
            <a:r>
              <a:rPr sz="900" i="1" spc="-15" dirty="0">
                <a:latin typeface="LM Sans 9"/>
                <a:cs typeface="LM Sans 9"/>
              </a:rPr>
              <a:t> </a:t>
            </a:r>
            <a:r>
              <a:rPr sz="900" i="1" spc="-5" dirty="0">
                <a:latin typeface="LM Sans 9"/>
                <a:cs typeface="LM Sans 9"/>
              </a:rPr>
              <a:t>&lt;</a:t>
            </a:r>
            <a:r>
              <a:rPr sz="900" i="1"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 dirty="0">
                <a:latin typeface="LM Sans 9"/>
                <a:cs typeface="LM Sans 9"/>
              </a:rPr>
              <a:t> </a:t>
            </a:r>
            <a:r>
              <a:rPr sz="900" b="1" spc="-5" dirty="0">
                <a:latin typeface="LM Sans 10"/>
                <a:cs typeface="LM Sans 10"/>
              </a:rPr>
              <a:t>then</a:t>
            </a:r>
            <a:endParaRPr sz="900" dirty="0">
              <a:latin typeface="LM Sans 10"/>
              <a:cs typeface="LM Sans 10"/>
            </a:endParaRPr>
          </a:p>
          <a:p>
            <a:pPr marL="946150">
              <a:lnSpc>
                <a:spcPct val="100000"/>
              </a:lnSpc>
              <a:spcBef>
                <a:spcPts val="15"/>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15" dirty="0">
                <a:latin typeface="LM Sans 9"/>
                <a:cs typeface="LM Sans 9"/>
              </a:rPr>
              <a:t>q</a:t>
            </a:r>
            <a:r>
              <a:rPr sz="900" spc="15" dirty="0">
                <a:latin typeface="LM Sans 9"/>
                <a:cs typeface="LM Sans 9"/>
              </a:rPr>
              <a:t>;</a:t>
            </a:r>
            <a:endParaRPr sz="900" dirty="0">
              <a:latin typeface="LM Sans 9"/>
              <a:cs typeface="LM Sans 9"/>
            </a:endParaRPr>
          </a:p>
          <a:p>
            <a:pPr marL="946150">
              <a:lnSpc>
                <a:spcPct val="100000"/>
              </a:lnSpc>
              <a:spcBef>
                <a:spcPts val="20"/>
              </a:spcBef>
            </a:pPr>
            <a:r>
              <a:rPr sz="900" i="1" spc="35" dirty="0">
                <a:latin typeface="LM Sans 9"/>
                <a:cs typeface="LM Sans 9"/>
              </a:rPr>
              <a:t>s</a:t>
            </a:r>
            <a:r>
              <a:rPr sz="900" spc="35" dirty="0">
                <a:latin typeface="LM Sans 9"/>
                <a:cs typeface="LM Sans 9"/>
              </a:rPr>
              <a:t>[</a:t>
            </a:r>
            <a:r>
              <a:rPr sz="900" i="1" spc="35"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30" dirty="0">
                <a:latin typeface="LM Sans 9"/>
                <a:cs typeface="LM Sans 9"/>
              </a:rPr>
              <a:t>k</a:t>
            </a:r>
            <a:r>
              <a:rPr sz="900" spc="30" dirty="0">
                <a:latin typeface="LM Sans 9"/>
                <a:cs typeface="LM Sans 9"/>
              </a:rPr>
              <a:t>;</a:t>
            </a:r>
            <a:endParaRPr sz="900" dirty="0">
              <a:latin typeface="LM Sans 9"/>
              <a:cs typeface="LM Sans 9"/>
            </a:endParaRPr>
          </a:p>
          <a:p>
            <a:pPr marL="732790">
              <a:lnSpc>
                <a:spcPct val="100000"/>
              </a:lnSpc>
              <a:spcBef>
                <a:spcPts val="115"/>
              </a:spcBef>
            </a:pPr>
            <a:r>
              <a:rPr sz="900" b="1" spc="-5" dirty="0">
                <a:latin typeface="LM Sans 10"/>
                <a:cs typeface="LM Sans 10"/>
              </a:rPr>
              <a:t>end</a:t>
            </a:r>
            <a:endParaRPr sz="900" dirty="0">
              <a:latin typeface="LM Sans 10"/>
              <a:cs typeface="LM Sans 10"/>
            </a:endParaRPr>
          </a:p>
          <a:p>
            <a:pPr marL="520065">
              <a:lnSpc>
                <a:spcPct val="100000"/>
              </a:lnSpc>
              <a:spcBef>
                <a:spcPts val="114"/>
              </a:spcBef>
            </a:pPr>
            <a:r>
              <a:rPr sz="900" b="1" spc="-5" dirty="0">
                <a:latin typeface="LM Sans 10"/>
                <a:cs typeface="LM Sans 10"/>
              </a:rPr>
              <a:t>end</a:t>
            </a:r>
            <a:endParaRPr sz="900" dirty="0">
              <a:latin typeface="LM Sans 10"/>
              <a:cs typeface="LM Sans 10"/>
            </a:endParaRPr>
          </a:p>
          <a:p>
            <a:pPr marL="307340">
              <a:lnSpc>
                <a:spcPct val="100000"/>
              </a:lnSpc>
              <a:spcBef>
                <a:spcPts val="114"/>
              </a:spcBef>
            </a:pPr>
            <a:r>
              <a:rPr sz="900" b="1" spc="-5" dirty="0">
                <a:latin typeface="LM Sans 10"/>
                <a:cs typeface="LM Sans 10"/>
              </a:rPr>
              <a:t>end</a:t>
            </a:r>
            <a:endParaRPr sz="900" dirty="0">
              <a:latin typeface="LM Sans 10"/>
              <a:cs typeface="LM Sans 10"/>
            </a:endParaRPr>
          </a:p>
          <a:p>
            <a:pPr marL="94615">
              <a:lnSpc>
                <a:spcPct val="100000"/>
              </a:lnSpc>
              <a:spcBef>
                <a:spcPts val="114"/>
              </a:spcBef>
            </a:pPr>
            <a:r>
              <a:rPr sz="900" b="1" spc="-5" dirty="0">
                <a:latin typeface="LM Sans 10"/>
                <a:cs typeface="LM Sans 10"/>
              </a:rPr>
              <a:t>end</a:t>
            </a:r>
            <a:endParaRPr sz="900" dirty="0">
              <a:latin typeface="LM Sans 10"/>
              <a:cs typeface="LM Sans 10"/>
            </a:endParaRPr>
          </a:p>
          <a:p>
            <a:pPr marL="94615">
              <a:lnSpc>
                <a:spcPct val="100000"/>
              </a:lnSpc>
              <a:spcBef>
                <a:spcPts val="15"/>
              </a:spcBef>
            </a:pPr>
            <a:r>
              <a:rPr sz="900" b="1" spc="-5" dirty="0">
                <a:latin typeface="LM Sans 10"/>
                <a:cs typeface="LM Sans 10"/>
              </a:rPr>
              <a:t>return </a:t>
            </a:r>
            <a:r>
              <a:rPr sz="900" i="1" spc="-5" dirty="0">
                <a:latin typeface="LM Sans 9"/>
                <a:cs typeface="LM Sans 9"/>
              </a:rPr>
              <a:t>m </a:t>
            </a:r>
            <a:r>
              <a:rPr sz="900" spc="-5" dirty="0">
                <a:latin typeface="LM Sans 9"/>
                <a:cs typeface="LM Sans 9"/>
              </a:rPr>
              <a:t>and </a:t>
            </a:r>
            <a:r>
              <a:rPr sz="900" i="1" dirty="0">
                <a:latin typeface="LM Sans 9"/>
                <a:cs typeface="LM Sans 9"/>
              </a:rPr>
              <a:t>s</a:t>
            </a:r>
            <a:r>
              <a:rPr sz="900" dirty="0">
                <a:latin typeface="LM Sans 9"/>
                <a:cs typeface="LM Sans 9"/>
              </a:rPr>
              <a:t>;</a:t>
            </a:r>
            <a:r>
              <a:rPr sz="900" dirty="0">
                <a:solidFill>
                  <a:srgbClr val="FF0000"/>
                </a:solidFill>
                <a:latin typeface="LM Sans 9"/>
                <a:cs typeface="LM Sans 9"/>
              </a:rPr>
              <a:t>(Optimum </a:t>
            </a:r>
            <a:r>
              <a:rPr sz="900" spc="-5" dirty="0">
                <a:solidFill>
                  <a:srgbClr val="FF0000"/>
                </a:solidFill>
                <a:latin typeface="LM Sans 9"/>
                <a:cs typeface="LM Sans 9"/>
              </a:rPr>
              <a:t>in </a:t>
            </a:r>
            <a:r>
              <a:rPr sz="900" i="1" dirty="0">
                <a:solidFill>
                  <a:srgbClr val="FF0000"/>
                </a:solidFill>
                <a:latin typeface="LM Sans 9"/>
                <a:cs typeface="LM Sans 9"/>
              </a:rPr>
              <a:t>m</a:t>
            </a:r>
            <a:r>
              <a:rPr sz="900" dirty="0">
                <a:solidFill>
                  <a:srgbClr val="FF0000"/>
                </a:solidFill>
                <a:latin typeface="LM Sans 9"/>
                <a:cs typeface="LM Sans 9"/>
              </a:rPr>
              <a:t>[1</a:t>
            </a:r>
            <a:r>
              <a:rPr sz="900" i="1" dirty="0">
                <a:solidFill>
                  <a:srgbClr val="FF0000"/>
                </a:solidFill>
                <a:latin typeface="LM Sans 9"/>
                <a:cs typeface="LM Sans 9"/>
              </a:rPr>
              <a:t>,</a:t>
            </a:r>
            <a:r>
              <a:rPr sz="900" i="1" spc="-160" dirty="0">
                <a:solidFill>
                  <a:srgbClr val="FF0000"/>
                </a:solidFill>
                <a:latin typeface="LM Sans 9"/>
                <a:cs typeface="LM Sans 9"/>
              </a:rPr>
              <a:t> </a:t>
            </a:r>
            <a:r>
              <a:rPr sz="900" i="1" dirty="0">
                <a:solidFill>
                  <a:srgbClr val="FF0000"/>
                </a:solidFill>
                <a:latin typeface="LM Sans 9"/>
                <a:cs typeface="LM Sans 9"/>
              </a:rPr>
              <a:t>n</a:t>
            </a:r>
            <a:r>
              <a:rPr sz="900" dirty="0">
                <a:solidFill>
                  <a:srgbClr val="FF0000"/>
                </a:solidFill>
                <a:latin typeface="LM Sans 9"/>
                <a:cs typeface="LM Sans 9"/>
              </a:rPr>
              <a:t>])</a:t>
            </a:r>
            <a:endParaRPr sz="900" dirty="0">
              <a:latin typeface="LM Sans 9"/>
              <a:cs typeface="LM Sans 9"/>
            </a:endParaRPr>
          </a:p>
          <a:p>
            <a:pPr>
              <a:lnSpc>
                <a:spcPct val="100000"/>
              </a:lnSpc>
              <a:spcBef>
                <a:spcPts val="65"/>
              </a:spcBef>
            </a:pPr>
            <a:endParaRPr sz="1000" dirty="0">
              <a:latin typeface="LM Sans 9"/>
              <a:cs typeface="LM Sans 9"/>
            </a:endParaRPr>
          </a:p>
          <a:p>
            <a:pPr marL="12700">
              <a:lnSpc>
                <a:spcPct val="100000"/>
              </a:lnSpc>
              <a:spcBef>
                <a:spcPts val="5"/>
              </a:spcBef>
            </a:pPr>
            <a:r>
              <a:rPr sz="900" spc="-10" dirty="0">
                <a:solidFill>
                  <a:srgbClr val="0000FF"/>
                </a:solidFill>
                <a:latin typeface="LM Sans 9"/>
                <a:cs typeface="LM Sans 9"/>
              </a:rPr>
              <a:t>Complexity</a:t>
            </a:r>
            <a:r>
              <a:rPr sz="900" spc="-10" dirty="0">
                <a:latin typeface="LM Sans 9"/>
                <a:cs typeface="LM Sans 9"/>
              </a:rPr>
              <a:t>: </a:t>
            </a:r>
            <a:r>
              <a:rPr sz="900" spc="-5" dirty="0">
                <a:latin typeface="LM Sans 9"/>
                <a:cs typeface="LM Sans 9"/>
              </a:rPr>
              <a:t>The </a:t>
            </a:r>
            <a:r>
              <a:rPr sz="900" dirty="0">
                <a:latin typeface="LM Sans 9"/>
                <a:cs typeface="LM Sans 9"/>
              </a:rPr>
              <a:t>loops </a:t>
            </a:r>
            <a:r>
              <a:rPr sz="900" spc="-15" dirty="0">
                <a:latin typeface="LM Sans 9"/>
                <a:cs typeface="LM Sans 9"/>
              </a:rPr>
              <a:t>are </a:t>
            </a:r>
            <a:r>
              <a:rPr sz="900" spc="-5" dirty="0">
                <a:latin typeface="LM Sans 9"/>
                <a:cs typeface="LM Sans 9"/>
              </a:rPr>
              <a:t>nested three levels</a:t>
            </a:r>
            <a:r>
              <a:rPr lang="en-US" sz="900" spc="-5" dirty="0">
                <a:latin typeface="LM Sans 9"/>
                <a:cs typeface="LM Sans 9"/>
              </a:rPr>
              <a:t> </a:t>
            </a:r>
            <a:r>
              <a:rPr sz="900" spc="-190" dirty="0">
                <a:latin typeface="LM Sans 9"/>
                <a:cs typeface="LM Sans 9"/>
              </a:rPr>
              <a:t> </a:t>
            </a:r>
            <a:r>
              <a:rPr sz="900" spc="-5" dirty="0">
                <a:latin typeface="LM Sans 9"/>
                <a:cs typeface="LM Sans 9"/>
              </a:rPr>
              <a:t>deep.</a:t>
            </a:r>
            <a:endParaRPr sz="900" dirty="0">
              <a:latin typeface="LM Sans 9"/>
              <a:cs typeface="LM Sans 9"/>
            </a:endParaRPr>
          </a:p>
        </p:txBody>
      </p:sp>
      <p:grpSp>
        <p:nvGrpSpPr>
          <p:cNvPr id="14" name="object 14"/>
          <p:cNvGrpSpPr/>
          <p:nvPr/>
        </p:nvGrpSpPr>
        <p:grpSpPr>
          <a:xfrm>
            <a:off x="0" y="3342919"/>
            <a:ext cx="4608195" cy="113664"/>
            <a:chOff x="0" y="3342919"/>
            <a:chExt cx="4608195" cy="113664"/>
          </a:xfrm>
        </p:grpSpPr>
        <p:sp>
          <p:nvSpPr>
            <p:cNvPr id="15" name="object 15"/>
            <p:cNvSpPr/>
            <p:nvPr/>
          </p:nvSpPr>
          <p:spPr>
            <a:xfrm>
              <a:off x="0" y="3342919"/>
              <a:ext cx="2534920" cy="113664"/>
            </a:xfrm>
            <a:custGeom>
              <a:avLst/>
              <a:gdLst/>
              <a:ahLst/>
              <a:cxnLst/>
              <a:rect l="l" t="t" r="r" b="b"/>
              <a:pathLst>
                <a:path w="2534920" h="113664">
                  <a:moveTo>
                    <a:pt x="2534412" y="0"/>
                  </a:moveTo>
                  <a:lnTo>
                    <a:pt x="0" y="0"/>
                  </a:lnTo>
                  <a:lnTo>
                    <a:pt x="0" y="113080"/>
                  </a:lnTo>
                  <a:lnTo>
                    <a:pt x="2534412" y="113080"/>
                  </a:lnTo>
                  <a:lnTo>
                    <a:pt x="2534412" y="0"/>
                  </a:lnTo>
                  <a:close/>
                </a:path>
              </a:pathLst>
            </a:custGeom>
            <a:solidFill>
              <a:srgbClr val="262685"/>
            </a:solidFill>
          </p:spPr>
          <p:txBody>
            <a:bodyPr wrap="square" lIns="0" tIns="0" rIns="0" bIns="0" rtlCol="0"/>
            <a:lstStyle/>
            <a:p>
              <a:endParaRPr/>
            </a:p>
          </p:txBody>
        </p:sp>
        <p:sp>
          <p:nvSpPr>
            <p:cNvPr id="16" name="object 16"/>
            <p:cNvSpPr/>
            <p:nvPr/>
          </p:nvSpPr>
          <p:spPr>
            <a:xfrm>
              <a:off x="2534411" y="3342919"/>
              <a:ext cx="1612900" cy="113664"/>
            </a:xfrm>
            <a:custGeom>
              <a:avLst/>
              <a:gdLst/>
              <a:ahLst/>
              <a:cxnLst/>
              <a:rect l="l" t="t" r="r" b="b"/>
              <a:pathLst>
                <a:path w="1612900" h="113664">
                  <a:moveTo>
                    <a:pt x="1612823" y="0"/>
                  </a:moveTo>
                  <a:lnTo>
                    <a:pt x="0" y="0"/>
                  </a:lnTo>
                  <a:lnTo>
                    <a:pt x="0" y="113080"/>
                  </a:lnTo>
                  <a:lnTo>
                    <a:pt x="1612823" y="113080"/>
                  </a:lnTo>
                  <a:lnTo>
                    <a:pt x="1612823" y="0"/>
                  </a:lnTo>
                  <a:close/>
                </a:path>
              </a:pathLst>
            </a:custGeom>
            <a:solidFill>
              <a:srgbClr val="3333B2"/>
            </a:solidFill>
          </p:spPr>
          <p:txBody>
            <a:bodyPr wrap="square" lIns="0" tIns="0" rIns="0" bIns="0" rtlCol="0"/>
            <a:lstStyle/>
            <a:p>
              <a:endParaRPr/>
            </a:p>
          </p:txBody>
        </p:sp>
        <p:sp>
          <p:nvSpPr>
            <p:cNvPr id="17" name="object 17"/>
            <p:cNvSpPr/>
            <p:nvPr/>
          </p:nvSpPr>
          <p:spPr>
            <a:xfrm>
              <a:off x="4147248" y="3342919"/>
              <a:ext cx="461009" cy="113664"/>
            </a:xfrm>
            <a:custGeom>
              <a:avLst/>
              <a:gdLst/>
              <a:ahLst/>
              <a:cxnLst/>
              <a:rect l="l" t="t" r="r" b="b"/>
              <a:pathLst>
                <a:path w="461010" h="113664">
                  <a:moveTo>
                    <a:pt x="460832" y="0"/>
                  </a:moveTo>
                  <a:lnTo>
                    <a:pt x="0" y="0"/>
                  </a:lnTo>
                  <a:lnTo>
                    <a:pt x="0" y="113080"/>
                  </a:lnTo>
                  <a:lnTo>
                    <a:pt x="460832" y="113080"/>
                  </a:lnTo>
                  <a:lnTo>
                    <a:pt x="460832" y="0"/>
                  </a:lnTo>
                  <a:close/>
                </a:path>
              </a:pathLst>
            </a:custGeom>
            <a:solidFill>
              <a:srgbClr val="262685"/>
            </a:solidFill>
          </p:spPr>
          <p:txBody>
            <a:bodyPr wrap="square" lIns="0" tIns="0" rIns="0" bIns="0" rtlCol="0"/>
            <a:lstStyle/>
            <a:p>
              <a:endParaRPr/>
            </a:p>
          </p:txBody>
        </p:sp>
      </p:grpSp>
      <p:sp>
        <p:nvSpPr>
          <p:cNvPr id="19" name="object 1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20" name="object 2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9028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p:nvPr/>
        </p:nvSpPr>
        <p:spPr>
          <a:xfrm>
            <a:off x="1152474" y="1829397"/>
            <a:ext cx="0" cy="278765"/>
          </a:xfrm>
          <a:custGeom>
            <a:avLst/>
            <a:gdLst/>
            <a:ahLst/>
            <a:cxnLst/>
            <a:rect l="l" t="t" r="r" b="b"/>
            <a:pathLst>
              <a:path h="278764">
                <a:moveTo>
                  <a:pt x="0" y="278358"/>
                </a:moveTo>
                <a:lnTo>
                  <a:pt x="0" y="0"/>
                </a:lnTo>
              </a:path>
            </a:pathLst>
          </a:custGeom>
          <a:ln w="5054">
            <a:solidFill>
              <a:srgbClr val="000000"/>
            </a:solidFill>
          </a:ln>
        </p:spPr>
        <p:txBody>
          <a:bodyPr wrap="square" lIns="0" tIns="0" rIns="0" bIns="0" rtlCol="0"/>
          <a:lstStyle/>
          <a:p>
            <a:endParaRPr/>
          </a:p>
        </p:txBody>
      </p:sp>
      <p:grpSp>
        <p:nvGrpSpPr>
          <p:cNvPr id="7" name="object 7"/>
          <p:cNvGrpSpPr/>
          <p:nvPr/>
        </p:nvGrpSpPr>
        <p:grpSpPr>
          <a:xfrm>
            <a:off x="359994" y="495820"/>
            <a:ext cx="4064000" cy="2477135"/>
            <a:chOff x="359994" y="495820"/>
            <a:chExt cx="4064000" cy="2477135"/>
          </a:xfrm>
        </p:grpSpPr>
        <p:sp>
          <p:nvSpPr>
            <p:cNvPr id="8" name="object 8"/>
            <p:cNvSpPr/>
            <p:nvPr/>
          </p:nvSpPr>
          <p:spPr>
            <a:xfrm>
              <a:off x="359994" y="498348"/>
              <a:ext cx="4013200" cy="0"/>
            </a:xfrm>
            <a:custGeom>
              <a:avLst/>
              <a:gdLst/>
              <a:ahLst/>
              <a:cxnLst/>
              <a:rect l="l" t="t" r="r" b="b"/>
              <a:pathLst>
                <a:path w="4013200">
                  <a:moveTo>
                    <a:pt x="0" y="0"/>
                  </a:moveTo>
                  <a:lnTo>
                    <a:pt x="4013047" y="0"/>
                  </a:lnTo>
                </a:path>
              </a:pathLst>
            </a:custGeom>
            <a:ln w="5054">
              <a:solidFill>
                <a:srgbClr val="000000"/>
              </a:solidFill>
            </a:ln>
          </p:spPr>
          <p:txBody>
            <a:bodyPr wrap="square" lIns="0" tIns="0" rIns="0" bIns="0" rtlCol="0"/>
            <a:lstStyle/>
            <a:p>
              <a:endParaRPr/>
            </a:p>
          </p:txBody>
        </p:sp>
        <p:sp>
          <p:nvSpPr>
            <p:cNvPr id="9" name="object 9"/>
            <p:cNvSpPr/>
            <p:nvPr/>
          </p:nvSpPr>
          <p:spPr>
            <a:xfrm>
              <a:off x="362534" y="498348"/>
              <a:ext cx="0" cy="2421255"/>
            </a:xfrm>
            <a:custGeom>
              <a:avLst/>
              <a:gdLst/>
              <a:ahLst/>
              <a:cxnLst/>
              <a:rect l="l" t="t" r="r" b="b"/>
              <a:pathLst>
                <a:path h="2421255">
                  <a:moveTo>
                    <a:pt x="0" y="2421064"/>
                  </a:moveTo>
                  <a:lnTo>
                    <a:pt x="0" y="0"/>
                  </a:lnTo>
                </a:path>
              </a:pathLst>
            </a:custGeom>
            <a:ln w="5054">
              <a:solidFill>
                <a:srgbClr val="000000"/>
              </a:solidFill>
            </a:ln>
          </p:spPr>
          <p:txBody>
            <a:bodyPr wrap="square" lIns="0" tIns="0" rIns="0" bIns="0" rtlCol="0"/>
            <a:lstStyle/>
            <a:p>
              <a:endParaRPr/>
            </a:p>
          </p:txBody>
        </p:sp>
        <p:sp>
          <p:nvSpPr>
            <p:cNvPr id="10" name="object 10"/>
            <p:cNvSpPr/>
            <p:nvPr/>
          </p:nvSpPr>
          <p:spPr>
            <a:xfrm>
              <a:off x="4370514" y="498348"/>
              <a:ext cx="0" cy="2421255"/>
            </a:xfrm>
            <a:custGeom>
              <a:avLst/>
              <a:gdLst/>
              <a:ahLst/>
              <a:cxnLst/>
              <a:rect l="l" t="t" r="r" b="b"/>
              <a:pathLst>
                <a:path h="2421255">
                  <a:moveTo>
                    <a:pt x="0" y="2421064"/>
                  </a:moveTo>
                  <a:lnTo>
                    <a:pt x="0" y="0"/>
                  </a:lnTo>
                </a:path>
              </a:pathLst>
            </a:custGeom>
            <a:ln w="5054">
              <a:solidFill>
                <a:srgbClr val="000000"/>
              </a:solidFill>
            </a:ln>
          </p:spPr>
          <p:txBody>
            <a:bodyPr wrap="square" lIns="0" tIns="0" rIns="0" bIns="0" rtlCol="0"/>
            <a:lstStyle/>
            <a:p>
              <a:endParaRPr/>
            </a:p>
          </p:txBody>
        </p:sp>
        <p:sp>
          <p:nvSpPr>
            <p:cNvPr id="11" name="object 11"/>
            <p:cNvSpPr/>
            <p:nvPr/>
          </p:nvSpPr>
          <p:spPr>
            <a:xfrm>
              <a:off x="359994" y="2919412"/>
              <a:ext cx="4013200" cy="0"/>
            </a:xfrm>
            <a:custGeom>
              <a:avLst/>
              <a:gdLst/>
              <a:ahLst/>
              <a:cxnLst/>
              <a:rect l="l" t="t" r="r" b="b"/>
              <a:pathLst>
                <a:path w="4013200">
                  <a:moveTo>
                    <a:pt x="0" y="0"/>
                  </a:moveTo>
                  <a:lnTo>
                    <a:pt x="4013047" y="0"/>
                  </a:lnTo>
                </a:path>
              </a:pathLst>
            </a:custGeom>
            <a:ln w="5054">
              <a:solidFill>
                <a:srgbClr val="000000"/>
              </a:solidFill>
            </a:ln>
          </p:spPr>
          <p:txBody>
            <a:bodyPr wrap="square" lIns="0" tIns="0" rIns="0" bIns="0" rtlCol="0"/>
            <a:lstStyle/>
            <a:p>
              <a:endParaRPr/>
            </a:p>
          </p:txBody>
        </p:sp>
        <p:sp>
          <p:nvSpPr>
            <p:cNvPr id="12" name="object 12"/>
            <p:cNvSpPr/>
            <p:nvPr/>
          </p:nvSpPr>
          <p:spPr>
            <a:xfrm>
              <a:off x="410603" y="546430"/>
              <a:ext cx="4013200" cy="2426335"/>
            </a:xfrm>
            <a:custGeom>
              <a:avLst/>
              <a:gdLst/>
              <a:ahLst/>
              <a:cxnLst/>
              <a:rect l="l" t="t" r="r" b="b"/>
              <a:pathLst>
                <a:path w="4013200" h="2426335">
                  <a:moveTo>
                    <a:pt x="4013047" y="0"/>
                  </a:moveTo>
                  <a:lnTo>
                    <a:pt x="3959910" y="0"/>
                  </a:lnTo>
                  <a:lnTo>
                    <a:pt x="3959910" y="2372995"/>
                  </a:lnTo>
                  <a:lnTo>
                    <a:pt x="0" y="2372995"/>
                  </a:lnTo>
                  <a:lnTo>
                    <a:pt x="0" y="2426131"/>
                  </a:lnTo>
                  <a:lnTo>
                    <a:pt x="3959910" y="2426131"/>
                  </a:lnTo>
                  <a:lnTo>
                    <a:pt x="4013047" y="2426131"/>
                  </a:lnTo>
                  <a:lnTo>
                    <a:pt x="4013047" y="2372995"/>
                  </a:lnTo>
                  <a:lnTo>
                    <a:pt x="4013047" y="0"/>
                  </a:lnTo>
                  <a:close/>
                </a:path>
              </a:pathLst>
            </a:custGeom>
            <a:solidFill>
              <a:srgbClr val="000000"/>
            </a:solidFill>
          </p:spPr>
          <p:txBody>
            <a:bodyPr wrap="square" lIns="0" tIns="0" rIns="0" bIns="0" rtlCol="0"/>
            <a:lstStyle/>
            <a:p>
              <a:endParaRPr/>
            </a:p>
          </p:txBody>
        </p:sp>
      </p:grpSp>
      <p:sp>
        <p:nvSpPr>
          <p:cNvPr id="13" name="object 13"/>
          <p:cNvSpPr txBox="1"/>
          <p:nvPr/>
        </p:nvSpPr>
        <p:spPr>
          <a:xfrm>
            <a:off x="347294" y="328124"/>
            <a:ext cx="3830320" cy="2951449"/>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0" dirty="0">
                <a:latin typeface="LM Sans 9"/>
                <a:cs typeface="LM Sans 9"/>
              </a:rPr>
              <a:t> </a:t>
            </a:r>
            <a:r>
              <a:rPr sz="900" spc="-5" dirty="0">
                <a:latin typeface="LM Sans 9"/>
                <a:cs typeface="LM Sans 9"/>
              </a:rPr>
              <a:t>sub-chain</a:t>
            </a:r>
            <a:endParaRPr sz="900" dirty="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0;</a:t>
            </a:r>
            <a:endParaRPr sz="900" dirty="0">
              <a:latin typeface="LM Sans 9"/>
              <a:cs typeface="LM Sans 9"/>
            </a:endParaRPr>
          </a:p>
          <a:p>
            <a:pPr marL="94615">
              <a:lnSpc>
                <a:spcPct val="100000"/>
              </a:lnSpc>
              <a:spcBef>
                <a:spcPts val="15"/>
              </a:spcBef>
            </a:pPr>
            <a:r>
              <a:rPr sz="900" spc="-5" dirty="0">
                <a:latin typeface="LM Sans 9"/>
                <a:cs typeface="LM Sans 9"/>
              </a:rPr>
              <a:t>;</a:t>
            </a:r>
            <a:endParaRPr sz="900" dirty="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0" dirty="0">
                <a:latin typeface="LM Sans 9"/>
                <a:cs typeface="LM Sans 9"/>
              </a:rPr>
              <a:t> </a:t>
            </a:r>
            <a:r>
              <a:rPr sz="900" b="1" spc="-5" dirty="0">
                <a:latin typeface="LM Sans 10"/>
                <a:cs typeface="LM Sans 10"/>
              </a:rPr>
              <a:t>do</a:t>
            </a:r>
            <a:r>
              <a:rPr lang="en-US" sz="900" b="1" spc="-5" dirty="0">
                <a:latin typeface="LM Sans 10"/>
                <a:cs typeface="LM Sans 10"/>
              </a:rPr>
              <a:t>     / l is the chain length</a:t>
            </a:r>
            <a:endParaRPr sz="900" dirty="0">
              <a:latin typeface="LM Sans 10"/>
              <a:cs typeface="LM Sans 10"/>
            </a:endParaRPr>
          </a:p>
          <a:p>
            <a:pPr marR="2281555"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dirty="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dirty="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dirty="0">
              <a:latin typeface="LM Sans 9"/>
              <a:cs typeface="LM Sans 9"/>
            </a:endParaRPr>
          </a:p>
          <a:p>
            <a:pPr marR="2263140"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dirty="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dirty="0">
              <a:latin typeface="LM Sans 9"/>
              <a:cs typeface="LM Sans 9"/>
            </a:endParaRPr>
          </a:p>
          <a:p>
            <a:pPr marL="732790">
              <a:lnSpc>
                <a:spcPct val="100000"/>
              </a:lnSpc>
              <a:spcBef>
                <a:spcPts val="15"/>
              </a:spcBef>
            </a:pPr>
            <a:r>
              <a:rPr sz="900" b="1" spc="-5" dirty="0">
                <a:latin typeface="LM Sans 10"/>
                <a:cs typeface="LM Sans 10"/>
              </a:rPr>
              <a:t>if</a:t>
            </a:r>
            <a:r>
              <a:rPr sz="900" b="1" spc="40" dirty="0">
                <a:latin typeface="LM Sans 10"/>
                <a:cs typeface="LM Sans 10"/>
              </a:rPr>
              <a:t> </a:t>
            </a:r>
            <a:r>
              <a:rPr sz="900" i="1" spc="-5" dirty="0">
                <a:latin typeface="LM Sans 9"/>
                <a:cs typeface="LM Sans 9"/>
              </a:rPr>
              <a:t>q</a:t>
            </a:r>
            <a:r>
              <a:rPr sz="900" i="1" spc="-15" dirty="0">
                <a:latin typeface="LM Sans 9"/>
                <a:cs typeface="LM Sans 9"/>
              </a:rPr>
              <a:t> </a:t>
            </a:r>
            <a:r>
              <a:rPr sz="900" i="1" spc="-5" dirty="0">
                <a:latin typeface="LM Sans 9"/>
                <a:cs typeface="LM Sans 9"/>
              </a:rPr>
              <a:t>&lt;</a:t>
            </a:r>
            <a:r>
              <a:rPr sz="900" i="1"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 </a:t>
            </a:r>
            <a:r>
              <a:rPr sz="900" b="1" spc="-5" dirty="0">
                <a:latin typeface="LM Sans 10"/>
                <a:cs typeface="LM Sans 10"/>
              </a:rPr>
              <a:t>then</a:t>
            </a:r>
            <a:endParaRPr sz="900" dirty="0">
              <a:latin typeface="LM Sans 10"/>
              <a:cs typeface="LM Sans 10"/>
            </a:endParaRPr>
          </a:p>
          <a:p>
            <a:pPr marL="946150">
              <a:lnSpc>
                <a:spcPct val="100000"/>
              </a:lnSpc>
              <a:spcBef>
                <a:spcPts val="15"/>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15" dirty="0">
                <a:latin typeface="LM Sans 9"/>
                <a:cs typeface="LM Sans 9"/>
              </a:rPr>
              <a:t>q</a:t>
            </a:r>
            <a:r>
              <a:rPr sz="900" spc="15" dirty="0">
                <a:latin typeface="LM Sans 9"/>
                <a:cs typeface="LM Sans 9"/>
              </a:rPr>
              <a:t>;</a:t>
            </a:r>
            <a:endParaRPr sz="900" dirty="0">
              <a:latin typeface="LM Sans 9"/>
              <a:cs typeface="LM Sans 9"/>
            </a:endParaRPr>
          </a:p>
          <a:p>
            <a:pPr marL="946150">
              <a:lnSpc>
                <a:spcPct val="100000"/>
              </a:lnSpc>
              <a:spcBef>
                <a:spcPts val="20"/>
              </a:spcBef>
            </a:pPr>
            <a:r>
              <a:rPr sz="900" i="1" spc="35" dirty="0">
                <a:latin typeface="LM Sans 9"/>
                <a:cs typeface="LM Sans 9"/>
              </a:rPr>
              <a:t>s</a:t>
            </a:r>
            <a:r>
              <a:rPr sz="900" spc="35" dirty="0">
                <a:latin typeface="LM Sans 9"/>
                <a:cs typeface="LM Sans 9"/>
              </a:rPr>
              <a:t>[</a:t>
            </a:r>
            <a:r>
              <a:rPr sz="900" i="1" spc="35"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30" dirty="0">
                <a:latin typeface="LM Sans 9"/>
                <a:cs typeface="LM Sans 9"/>
              </a:rPr>
              <a:t>k</a:t>
            </a:r>
            <a:r>
              <a:rPr sz="900" spc="30" dirty="0">
                <a:latin typeface="LM Sans 9"/>
                <a:cs typeface="LM Sans 9"/>
              </a:rPr>
              <a:t>;</a:t>
            </a:r>
            <a:endParaRPr sz="900" dirty="0">
              <a:latin typeface="LM Sans 9"/>
              <a:cs typeface="LM Sans 9"/>
            </a:endParaRPr>
          </a:p>
          <a:p>
            <a:pPr marL="732790">
              <a:lnSpc>
                <a:spcPct val="100000"/>
              </a:lnSpc>
              <a:spcBef>
                <a:spcPts val="115"/>
              </a:spcBef>
            </a:pPr>
            <a:r>
              <a:rPr sz="900" b="1" spc="-5" dirty="0">
                <a:latin typeface="LM Sans 10"/>
                <a:cs typeface="LM Sans 10"/>
              </a:rPr>
              <a:t>end</a:t>
            </a:r>
            <a:endParaRPr sz="900" dirty="0">
              <a:latin typeface="LM Sans 10"/>
              <a:cs typeface="LM Sans 10"/>
            </a:endParaRPr>
          </a:p>
          <a:p>
            <a:pPr marL="520065">
              <a:lnSpc>
                <a:spcPct val="100000"/>
              </a:lnSpc>
              <a:spcBef>
                <a:spcPts val="114"/>
              </a:spcBef>
            </a:pPr>
            <a:r>
              <a:rPr sz="900" b="1" spc="-5" dirty="0">
                <a:latin typeface="LM Sans 10"/>
                <a:cs typeface="LM Sans 10"/>
              </a:rPr>
              <a:t>end</a:t>
            </a:r>
            <a:endParaRPr sz="900" dirty="0">
              <a:latin typeface="LM Sans 10"/>
              <a:cs typeface="LM Sans 10"/>
            </a:endParaRPr>
          </a:p>
          <a:p>
            <a:pPr marL="307340">
              <a:lnSpc>
                <a:spcPct val="100000"/>
              </a:lnSpc>
              <a:spcBef>
                <a:spcPts val="114"/>
              </a:spcBef>
            </a:pPr>
            <a:r>
              <a:rPr sz="900" b="1" spc="-5" dirty="0">
                <a:latin typeface="LM Sans 10"/>
                <a:cs typeface="LM Sans 10"/>
              </a:rPr>
              <a:t>end</a:t>
            </a:r>
            <a:endParaRPr sz="900" dirty="0">
              <a:latin typeface="LM Sans 10"/>
              <a:cs typeface="LM Sans 10"/>
            </a:endParaRPr>
          </a:p>
          <a:p>
            <a:pPr marL="94615">
              <a:lnSpc>
                <a:spcPct val="100000"/>
              </a:lnSpc>
              <a:spcBef>
                <a:spcPts val="114"/>
              </a:spcBef>
            </a:pPr>
            <a:r>
              <a:rPr sz="900" b="1" spc="-5" dirty="0">
                <a:latin typeface="LM Sans 10"/>
                <a:cs typeface="LM Sans 10"/>
              </a:rPr>
              <a:t>end</a:t>
            </a:r>
            <a:endParaRPr sz="900" dirty="0">
              <a:latin typeface="LM Sans 10"/>
              <a:cs typeface="LM Sans 10"/>
            </a:endParaRPr>
          </a:p>
          <a:p>
            <a:pPr marL="94615">
              <a:lnSpc>
                <a:spcPct val="100000"/>
              </a:lnSpc>
              <a:spcBef>
                <a:spcPts val="15"/>
              </a:spcBef>
            </a:pPr>
            <a:r>
              <a:rPr sz="900" b="1" spc="-5" dirty="0">
                <a:latin typeface="LM Sans 10"/>
                <a:cs typeface="LM Sans 10"/>
              </a:rPr>
              <a:t>return </a:t>
            </a:r>
            <a:r>
              <a:rPr sz="900" i="1" spc="-5" dirty="0">
                <a:latin typeface="LM Sans 9"/>
                <a:cs typeface="LM Sans 9"/>
              </a:rPr>
              <a:t>m </a:t>
            </a:r>
            <a:r>
              <a:rPr sz="900" spc="-5" dirty="0">
                <a:latin typeface="LM Sans 9"/>
                <a:cs typeface="LM Sans 9"/>
              </a:rPr>
              <a:t>and </a:t>
            </a:r>
            <a:r>
              <a:rPr sz="900" i="1" dirty="0">
                <a:latin typeface="LM Sans 9"/>
                <a:cs typeface="LM Sans 9"/>
              </a:rPr>
              <a:t>s</a:t>
            </a:r>
            <a:r>
              <a:rPr sz="900" dirty="0">
                <a:latin typeface="LM Sans 9"/>
                <a:cs typeface="LM Sans 9"/>
              </a:rPr>
              <a:t>;</a:t>
            </a:r>
            <a:r>
              <a:rPr sz="900" dirty="0">
                <a:solidFill>
                  <a:srgbClr val="FF0000"/>
                </a:solidFill>
                <a:latin typeface="LM Sans 9"/>
                <a:cs typeface="LM Sans 9"/>
              </a:rPr>
              <a:t>(Optimum </a:t>
            </a:r>
            <a:r>
              <a:rPr sz="900" spc="-5" dirty="0">
                <a:solidFill>
                  <a:srgbClr val="FF0000"/>
                </a:solidFill>
                <a:latin typeface="LM Sans 9"/>
                <a:cs typeface="LM Sans 9"/>
              </a:rPr>
              <a:t>in </a:t>
            </a:r>
            <a:r>
              <a:rPr sz="900" i="1" dirty="0">
                <a:solidFill>
                  <a:srgbClr val="FF0000"/>
                </a:solidFill>
                <a:latin typeface="LM Sans 9"/>
                <a:cs typeface="LM Sans 9"/>
              </a:rPr>
              <a:t>m</a:t>
            </a:r>
            <a:r>
              <a:rPr sz="900" dirty="0">
                <a:solidFill>
                  <a:srgbClr val="FF0000"/>
                </a:solidFill>
                <a:latin typeface="LM Sans 9"/>
                <a:cs typeface="LM Sans 9"/>
              </a:rPr>
              <a:t>[1</a:t>
            </a:r>
            <a:r>
              <a:rPr sz="900" i="1" dirty="0">
                <a:solidFill>
                  <a:srgbClr val="FF0000"/>
                </a:solidFill>
                <a:latin typeface="LM Sans 9"/>
                <a:cs typeface="LM Sans 9"/>
              </a:rPr>
              <a:t>,</a:t>
            </a:r>
            <a:r>
              <a:rPr sz="900" i="1" spc="-160" dirty="0">
                <a:solidFill>
                  <a:srgbClr val="FF0000"/>
                </a:solidFill>
                <a:latin typeface="LM Sans 9"/>
                <a:cs typeface="LM Sans 9"/>
              </a:rPr>
              <a:t> </a:t>
            </a:r>
            <a:r>
              <a:rPr sz="900" i="1" dirty="0">
                <a:solidFill>
                  <a:srgbClr val="FF0000"/>
                </a:solidFill>
                <a:latin typeface="LM Sans 9"/>
                <a:cs typeface="LM Sans 9"/>
              </a:rPr>
              <a:t>n</a:t>
            </a:r>
            <a:r>
              <a:rPr sz="900" dirty="0">
                <a:solidFill>
                  <a:srgbClr val="FF0000"/>
                </a:solidFill>
                <a:latin typeface="LM Sans 9"/>
                <a:cs typeface="LM Sans 9"/>
              </a:rPr>
              <a:t>])</a:t>
            </a:r>
            <a:endParaRPr sz="900" dirty="0">
              <a:latin typeface="LM Sans 9"/>
              <a:cs typeface="LM Sans 9"/>
            </a:endParaRPr>
          </a:p>
          <a:p>
            <a:pPr>
              <a:lnSpc>
                <a:spcPct val="100000"/>
              </a:lnSpc>
              <a:spcBef>
                <a:spcPts val="65"/>
              </a:spcBef>
            </a:pPr>
            <a:endParaRPr sz="1000" dirty="0">
              <a:latin typeface="LM Sans 9"/>
              <a:cs typeface="LM Sans 9"/>
            </a:endParaRPr>
          </a:p>
          <a:p>
            <a:pPr marL="12700">
              <a:lnSpc>
                <a:spcPct val="100000"/>
              </a:lnSpc>
              <a:spcBef>
                <a:spcPts val="5"/>
              </a:spcBef>
            </a:pPr>
            <a:r>
              <a:rPr sz="900" spc="-10" dirty="0">
                <a:solidFill>
                  <a:srgbClr val="0000FF"/>
                </a:solidFill>
                <a:latin typeface="LM Sans 9"/>
                <a:cs typeface="LM Sans 9"/>
              </a:rPr>
              <a:t>Complexity</a:t>
            </a:r>
            <a:r>
              <a:rPr sz="900" spc="-10" dirty="0">
                <a:latin typeface="LM Sans 9"/>
                <a:cs typeface="LM Sans 9"/>
              </a:rPr>
              <a:t>: </a:t>
            </a:r>
            <a:r>
              <a:rPr sz="900" spc="-5" dirty="0">
                <a:latin typeface="LM Sans 9"/>
                <a:cs typeface="LM Sans 9"/>
              </a:rPr>
              <a:t>The </a:t>
            </a:r>
            <a:r>
              <a:rPr sz="900" dirty="0">
                <a:latin typeface="LM Sans 9"/>
                <a:cs typeface="LM Sans 9"/>
              </a:rPr>
              <a:t>loops </a:t>
            </a:r>
            <a:r>
              <a:rPr sz="900" spc="-15" dirty="0">
                <a:latin typeface="LM Sans 9"/>
                <a:cs typeface="LM Sans 9"/>
              </a:rPr>
              <a:t>are </a:t>
            </a:r>
            <a:r>
              <a:rPr sz="900" spc="-5" dirty="0">
                <a:latin typeface="LM Sans 9"/>
                <a:cs typeface="LM Sans 9"/>
              </a:rPr>
              <a:t>nested three levels deep. Each </a:t>
            </a:r>
            <a:r>
              <a:rPr sz="900" dirty="0">
                <a:latin typeface="LM Sans 9"/>
                <a:cs typeface="LM Sans 9"/>
              </a:rPr>
              <a:t>loop </a:t>
            </a:r>
            <a:r>
              <a:rPr sz="900" spc="-5" dirty="0">
                <a:latin typeface="LM Sans 9"/>
                <a:cs typeface="LM Sans 9"/>
              </a:rPr>
              <a:t>index </a:t>
            </a:r>
            <a:r>
              <a:rPr sz="900" spc="-10" dirty="0">
                <a:latin typeface="LM Sans 9"/>
                <a:cs typeface="LM Sans 9"/>
              </a:rPr>
              <a:t>takes</a:t>
            </a:r>
            <a:r>
              <a:rPr sz="900" spc="280" dirty="0">
                <a:latin typeface="LM Sans 9"/>
                <a:cs typeface="LM Sans 9"/>
              </a:rPr>
              <a:t> </a:t>
            </a:r>
            <a:r>
              <a:rPr sz="900" spc="-5" dirty="0">
                <a:latin typeface="LM Sans 9"/>
                <a:cs typeface="LM Sans 9"/>
              </a:rPr>
              <a:t>on</a:t>
            </a:r>
            <a:r>
              <a:rPr lang="en-US" sz="900" spc="-5" dirty="0">
                <a:latin typeface="LM Sans 9"/>
                <a:cs typeface="LM Sans 9"/>
              </a:rPr>
              <a:t> </a:t>
            </a:r>
            <a:r>
              <a:rPr sz="900" i="1" spc="-40" dirty="0">
                <a:latin typeface="DejaVu Sans"/>
                <a:cs typeface="DejaVu Sans"/>
              </a:rPr>
              <a:t>≤ </a:t>
            </a:r>
            <a:r>
              <a:rPr sz="900" i="1" spc="-5" dirty="0">
                <a:latin typeface="LM Sans 9"/>
                <a:cs typeface="LM Sans 9"/>
              </a:rPr>
              <a:t>n</a:t>
            </a:r>
            <a:r>
              <a:rPr sz="900" i="1" spc="20" dirty="0">
                <a:latin typeface="LM Sans 9"/>
                <a:cs typeface="LM Sans 9"/>
              </a:rPr>
              <a:t> </a:t>
            </a:r>
            <a:r>
              <a:rPr sz="900" spc="-5" dirty="0">
                <a:latin typeface="LM Sans 9"/>
                <a:cs typeface="LM Sans 9"/>
              </a:rPr>
              <a:t>values.</a:t>
            </a:r>
            <a:endParaRPr sz="900" dirty="0">
              <a:latin typeface="LM Sans 9"/>
              <a:cs typeface="LM Sans 9"/>
            </a:endParaRPr>
          </a:p>
        </p:txBody>
      </p:sp>
      <p:sp>
        <p:nvSpPr>
          <p:cNvPr id="19" name="object 19"/>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20" name="object 20"/>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5980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p:nvPr/>
        </p:nvSpPr>
        <p:spPr>
          <a:xfrm>
            <a:off x="1152474" y="1829397"/>
            <a:ext cx="0" cy="278765"/>
          </a:xfrm>
          <a:custGeom>
            <a:avLst/>
            <a:gdLst/>
            <a:ahLst/>
            <a:cxnLst/>
            <a:rect l="l" t="t" r="r" b="b"/>
            <a:pathLst>
              <a:path h="278764">
                <a:moveTo>
                  <a:pt x="0" y="278358"/>
                </a:moveTo>
                <a:lnTo>
                  <a:pt x="0" y="0"/>
                </a:lnTo>
              </a:path>
            </a:pathLst>
          </a:custGeom>
          <a:ln w="5054">
            <a:solidFill>
              <a:srgbClr val="000000"/>
            </a:solidFill>
          </a:ln>
        </p:spPr>
        <p:txBody>
          <a:bodyPr wrap="square" lIns="0" tIns="0" rIns="0" bIns="0" rtlCol="0"/>
          <a:lstStyle/>
          <a:p>
            <a:endParaRPr/>
          </a:p>
        </p:txBody>
      </p:sp>
      <p:grpSp>
        <p:nvGrpSpPr>
          <p:cNvPr id="7" name="object 7"/>
          <p:cNvGrpSpPr/>
          <p:nvPr/>
        </p:nvGrpSpPr>
        <p:grpSpPr>
          <a:xfrm>
            <a:off x="359994" y="495820"/>
            <a:ext cx="4064000" cy="2477135"/>
            <a:chOff x="359994" y="495820"/>
            <a:chExt cx="4064000" cy="2477135"/>
          </a:xfrm>
        </p:grpSpPr>
        <p:sp>
          <p:nvSpPr>
            <p:cNvPr id="8" name="object 8"/>
            <p:cNvSpPr/>
            <p:nvPr/>
          </p:nvSpPr>
          <p:spPr>
            <a:xfrm>
              <a:off x="359994" y="498348"/>
              <a:ext cx="4013200" cy="0"/>
            </a:xfrm>
            <a:custGeom>
              <a:avLst/>
              <a:gdLst/>
              <a:ahLst/>
              <a:cxnLst/>
              <a:rect l="l" t="t" r="r" b="b"/>
              <a:pathLst>
                <a:path w="4013200">
                  <a:moveTo>
                    <a:pt x="0" y="0"/>
                  </a:moveTo>
                  <a:lnTo>
                    <a:pt x="4013047" y="0"/>
                  </a:lnTo>
                </a:path>
              </a:pathLst>
            </a:custGeom>
            <a:ln w="5054">
              <a:solidFill>
                <a:srgbClr val="000000"/>
              </a:solidFill>
            </a:ln>
          </p:spPr>
          <p:txBody>
            <a:bodyPr wrap="square" lIns="0" tIns="0" rIns="0" bIns="0" rtlCol="0"/>
            <a:lstStyle/>
            <a:p>
              <a:endParaRPr/>
            </a:p>
          </p:txBody>
        </p:sp>
        <p:sp>
          <p:nvSpPr>
            <p:cNvPr id="9" name="object 9"/>
            <p:cNvSpPr/>
            <p:nvPr/>
          </p:nvSpPr>
          <p:spPr>
            <a:xfrm>
              <a:off x="362534" y="498348"/>
              <a:ext cx="0" cy="2421255"/>
            </a:xfrm>
            <a:custGeom>
              <a:avLst/>
              <a:gdLst/>
              <a:ahLst/>
              <a:cxnLst/>
              <a:rect l="l" t="t" r="r" b="b"/>
              <a:pathLst>
                <a:path h="2421255">
                  <a:moveTo>
                    <a:pt x="0" y="2421064"/>
                  </a:moveTo>
                  <a:lnTo>
                    <a:pt x="0" y="0"/>
                  </a:lnTo>
                </a:path>
              </a:pathLst>
            </a:custGeom>
            <a:ln w="5054">
              <a:solidFill>
                <a:srgbClr val="000000"/>
              </a:solidFill>
            </a:ln>
          </p:spPr>
          <p:txBody>
            <a:bodyPr wrap="square" lIns="0" tIns="0" rIns="0" bIns="0" rtlCol="0"/>
            <a:lstStyle/>
            <a:p>
              <a:endParaRPr/>
            </a:p>
          </p:txBody>
        </p:sp>
        <p:sp>
          <p:nvSpPr>
            <p:cNvPr id="10" name="object 10"/>
            <p:cNvSpPr/>
            <p:nvPr/>
          </p:nvSpPr>
          <p:spPr>
            <a:xfrm>
              <a:off x="4370514" y="498348"/>
              <a:ext cx="0" cy="2421255"/>
            </a:xfrm>
            <a:custGeom>
              <a:avLst/>
              <a:gdLst/>
              <a:ahLst/>
              <a:cxnLst/>
              <a:rect l="l" t="t" r="r" b="b"/>
              <a:pathLst>
                <a:path h="2421255">
                  <a:moveTo>
                    <a:pt x="0" y="2421064"/>
                  </a:moveTo>
                  <a:lnTo>
                    <a:pt x="0" y="0"/>
                  </a:lnTo>
                </a:path>
              </a:pathLst>
            </a:custGeom>
            <a:ln w="5054">
              <a:solidFill>
                <a:srgbClr val="000000"/>
              </a:solidFill>
            </a:ln>
          </p:spPr>
          <p:txBody>
            <a:bodyPr wrap="square" lIns="0" tIns="0" rIns="0" bIns="0" rtlCol="0"/>
            <a:lstStyle/>
            <a:p>
              <a:endParaRPr/>
            </a:p>
          </p:txBody>
        </p:sp>
        <p:sp>
          <p:nvSpPr>
            <p:cNvPr id="11" name="object 11"/>
            <p:cNvSpPr/>
            <p:nvPr/>
          </p:nvSpPr>
          <p:spPr>
            <a:xfrm>
              <a:off x="359994" y="2919412"/>
              <a:ext cx="4013200" cy="0"/>
            </a:xfrm>
            <a:custGeom>
              <a:avLst/>
              <a:gdLst/>
              <a:ahLst/>
              <a:cxnLst/>
              <a:rect l="l" t="t" r="r" b="b"/>
              <a:pathLst>
                <a:path w="4013200">
                  <a:moveTo>
                    <a:pt x="0" y="0"/>
                  </a:moveTo>
                  <a:lnTo>
                    <a:pt x="4013047" y="0"/>
                  </a:lnTo>
                </a:path>
              </a:pathLst>
            </a:custGeom>
            <a:ln w="5054">
              <a:solidFill>
                <a:srgbClr val="000000"/>
              </a:solidFill>
            </a:ln>
          </p:spPr>
          <p:txBody>
            <a:bodyPr wrap="square" lIns="0" tIns="0" rIns="0" bIns="0" rtlCol="0"/>
            <a:lstStyle/>
            <a:p>
              <a:endParaRPr/>
            </a:p>
          </p:txBody>
        </p:sp>
        <p:sp>
          <p:nvSpPr>
            <p:cNvPr id="12" name="object 12"/>
            <p:cNvSpPr/>
            <p:nvPr/>
          </p:nvSpPr>
          <p:spPr>
            <a:xfrm>
              <a:off x="410603" y="546430"/>
              <a:ext cx="4013200" cy="2426335"/>
            </a:xfrm>
            <a:custGeom>
              <a:avLst/>
              <a:gdLst/>
              <a:ahLst/>
              <a:cxnLst/>
              <a:rect l="l" t="t" r="r" b="b"/>
              <a:pathLst>
                <a:path w="4013200" h="2426335">
                  <a:moveTo>
                    <a:pt x="4013047" y="0"/>
                  </a:moveTo>
                  <a:lnTo>
                    <a:pt x="3959910" y="0"/>
                  </a:lnTo>
                  <a:lnTo>
                    <a:pt x="3959910" y="2372995"/>
                  </a:lnTo>
                  <a:lnTo>
                    <a:pt x="0" y="2372995"/>
                  </a:lnTo>
                  <a:lnTo>
                    <a:pt x="0" y="2426131"/>
                  </a:lnTo>
                  <a:lnTo>
                    <a:pt x="3959910" y="2426131"/>
                  </a:lnTo>
                  <a:lnTo>
                    <a:pt x="4013047" y="2426131"/>
                  </a:lnTo>
                  <a:lnTo>
                    <a:pt x="4013047" y="2372995"/>
                  </a:lnTo>
                  <a:lnTo>
                    <a:pt x="4013047" y="0"/>
                  </a:lnTo>
                  <a:close/>
                </a:path>
              </a:pathLst>
            </a:custGeom>
            <a:solidFill>
              <a:srgbClr val="000000"/>
            </a:solidFill>
          </p:spPr>
          <p:txBody>
            <a:bodyPr wrap="square" lIns="0" tIns="0" rIns="0" bIns="0" rtlCol="0"/>
            <a:lstStyle/>
            <a:p>
              <a:endParaRPr/>
            </a:p>
          </p:txBody>
        </p:sp>
      </p:grpSp>
      <p:sp>
        <p:nvSpPr>
          <p:cNvPr id="13" name="object 13"/>
          <p:cNvSpPr txBox="1"/>
          <p:nvPr/>
        </p:nvSpPr>
        <p:spPr>
          <a:xfrm>
            <a:off x="347294" y="328124"/>
            <a:ext cx="4025900" cy="2930931"/>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0" dirty="0">
                <a:latin typeface="LM Sans 9"/>
                <a:cs typeface="LM Sans 9"/>
              </a:rPr>
              <a:t> </a:t>
            </a:r>
            <a:r>
              <a:rPr sz="900" spc="-5" dirty="0">
                <a:latin typeface="LM Sans 9"/>
                <a:cs typeface="LM Sans 9"/>
              </a:rPr>
              <a:t>sub-chain</a:t>
            </a:r>
            <a:endParaRPr sz="900" dirty="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0;</a:t>
            </a:r>
            <a:endParaRPr sz="900" dirty="0">
              <a:latin typeface="LM Sans 9"/>
              <a:cs typeface="LM Sans 9"/>
            </a:endParaRPr>
          </a:p>
          <a:p>
            <a:pPr marL="94615">
              <a:lnSpc>
                <a:spcPct val="100000"/>
              </a:lnSpc>
              <a:spcBef>
                <a:spcPts val="15"/>
              </a:spcBef>
            </a:pPr>
            <a:r>
              <a:rPr sz="900" spc="-5" dirty="0">
                <a:latin typeface="LM Sans 9"/>
                <a:cs typeface="LM Sans 9"/>
              </a:rPr>
              <a:t>;</a:t>
            </a:r>
            <a:endParaRPr sz="900" dirty="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0" dirty="0">
                <a:latin typeface="LM Sans 9"/>
                <a:cs typeface="LM Sans 9"/>
              </a:rPr>
              <a:t> </a:t>
            </a:r>
            <a:r>
              <a:rPr sz="900" b="1" spc="-5" dirty="0">
                <a:latin typeface="LM Sans 10"/>
                <a:cs typeface="LM Sans 10"/>
              </a:rPr>
              <a:t>do</a:t>
            </a:r>
            <a:endParaRPr sz="900" dirty="0">
              <a:latin typeface="LM Sans 10"/>
              <a:cs typeface="LM Sans 10"/>
            </a:endParaRPr>
          </a:p>
          <a:p>
            <a:pPr marR="2281555"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dirty="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dirty="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dirty="0">
              <a:latin typeface="LM Sans 9"/>
              <a:cs typeface="LM Sans 9"/>
            </a:endParaRPr>
          </a:p>
          <a:p>
            <a:pPr marR="2263140"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dirty="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dirty="0">
              <a:latin typeface="LM Sans 9"/>
              <a:cs typeface="LM Sans 9"/>
            </a:endParaRPr>
          </a:p>
          <a:p>
            <a:pPr marL="732790">
              <a:lnSpc>
                <a:spcPct val="100000"/>
              </a:lnSpc>
              <a:spcBef>
                <a:spcPts val="15"/>
              </a:spcBef>
            </a:pPr>
            <a:r>
              <a:rPr sz="900" b="1" spc="-5" dirty="0">
                <a:latin typeface="LM Sans 10"/>
                <a:cs typeface="LM Sans 10"/>
              </a:rPr>
              <a:t>if</a:t>
            </a:r>
            <a:r>
              <a:rPr sz="900" b="1" spc="40" dirty="0">
                <a:latin typeface="LM Sans 10"/>
                <a:cs typeface="LM Sans 10"/>
              </a:rPr>
              <a:t> </a:t>
            </a:r>
            <a:r>
              <a:rPr sz="900" i="1" spc="-5" dirty="0">
                <a:latin typeface="LM Sans 9"/>
                <a:cs typeface="LM Sans 9"/>
              </a:rPr>
              <a:t>q</a:t>
            </a:r>
            <a:r>
              <a:rPr sz="900" i="1" spc="-15" dirty="0">
                <a:latin typeface="LM Sans 9"/>
                <a:cs typeface="LM Sans 9"/>
              </a:rPr>
              <a:t> </a:t>
            </a:r>
            <a:r>
              <a:rPr sz="900" i="1" spc="-5" dirty="0">
                <a:latin typeface="LM Sans 9"/>
                <a:cs typeface="LM Sans 9"/>
              </a:rPr>
              <a:t>&lt;</a:t>
            </a:r>
            <a:r>
              <a:rPr sz="900" i="1"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 </a:t>
            </a:r>
            <a:r>
              <a:rPr sz="900" b="1" spc="-5" dirty="0">
                <a:latin typeface="LM Sans 10"/>
                <a:cs typeface="LM Sans 10"/>
              </a:rPr>
              <a:t>then</a:t>
            </a:r>
            <a:endParaRPr sz="900" dirty="0">
              <a:latin typeface="LM Sans 10"/>
              <a:cs typeface="LM Sans 10"/>
            </a:endParaRPr>
          </a:p>
          <a:p>
            <a:pPr marL="946150">
              <a:lnSpc>
                <a:spcPct val="100000"/>
              </a:lnSpc>
              <a:spcBef>
                <a:spcPts val="15"/>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15" dirty="0">
                <a:latin typeface="LM Sans 9"/>
                <a:cs typeface="LM Sans 9"/>
              </a:rPr>
              <a:t>q</a:t>
            </a:r>
            <a:r>
              <a:rPr sz="900" spc="15" dirty="0">
                <a:latin typeface="LM Sans 9"/>
                <a:cs typeface="LM Sans 9"/>
              </a:rPr>
              <a:t>;</a:t>
            </a:r>
            <a:endParaRPr sz="900" dirty="0">
              <a:latin typeface="LM Sans 9"/>
              <a:cs typeface="LM Sans 9"/>
            </a:endParaRPr>
          </a:p>
          <a:p>
            <a:pPr marL="946150">
              <a:lnSpc>
                <a:spcPct val="100000"/>
              </a:lnSpc>
              <a:spcBef>
                <a:spcPts val="20"/>
              </a:spcBef>
            </a:pPr>
            <a:r>
              <a:rPr sz="900" i="1" spc="35" dirty="0">
                <a:latin typeface="LM Sans 9"/>
                <a:cs typeface="LM Sans 9"/>
              </a:rPr>
              <a:t>s</a:t>
            </a:r>
            <a:r>
              <a:rPr sz="900" spc="35" dirty="0">
                <a:latin typeface="LM Sans 9"/>
                <a:cs typeface="LM Sans 9"/>
              </a:rPr>
              <a:t>[</a:t>
            </a:r>
            <a:r>
              <a:rPr sz="900" i="1" spc="35"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30" dirty="0">
                <a:latin typeface="LM Sans 9"/>
                <a:cs typeface="LM Sans 9"/>
              </a:rPr>
              <a:t>k</a:t>
            </a:r>
            <a:r>
              <a:rPr sz="900" spc="30" dirty="0">
                <a:latin typeface="LM Sans 9"/>
                <a:cs typeface="LM Sans 9"/>
              </a:rPr>
              <a:t>;</a:t>
            </a:r>
            <a:endParaRPr sz="900" dirty="0">
              <a:latin typeface="LM Sans 9"/>
              <a:cs typeface="LM Sans 9"/>
            </a:endParaRPr>
          </a:p>
          <a:p>
            <a:pPr marL="732790">
              <a:lnSpc>
                <a:spcPct val="100000"/>
              </a:lnSpc>
              <a:spcBef>
                <a:spcPts val="115"/>
              </a:spcBef>
            </a:pPr>
            <a:r>
              <a:rPr sz="900" b="1" spc="-5" dirty="0">
                <a:latin typeface="LM Sans 10"/>
                <a:cs typeface="LM Sans 10"/>
              </a:rPr>
              <a:t>end</a:t>
            </a:r>
            <a:endParaRPr sz="900" dirty="0">
              <a:latin typeface="LM Sans 10"/>
              <a:cs typeface="LM Sans 10"/>
            </a:endParaRPr>
          </a:p>
          <a:p>
            <a:pPr marL="520065">
              <a:lnSpc>
                <a:spcPct val="100000"/>
              </a:lnSpc>
              <a:spcBef>
                <a:spcPts val="114"/>
              </a:spcBef>
            </a:pPr>
            <a:r>
              <a:rPr sz="900" b="1" spc="-5" dirty="0">
                <a:latin typeface="LM Sans 10"/>
                <a:cs typeface="LM Sans 10"/>
              </a:rPr>
              <a:t>end</a:t>
            </a:r>
            <a:endParaRPr sz="900" dirty="0">
              <a:latin typeface="LM Sans 10"/>
              <a:cs typeface="LM Sans 10"/>
            </a:endParaRPr>
          </a:p>
          <a:p>
            <a:pPr marL="307340">
              <a:lnSpc>
                <a:spcPct val="100000"/>
              </a:lnSpc>
              <a:spcBef>
                <a:spcPts val="114"/>
              </a:spcBef>
            </a:pPr>
            <a:r>
              <a:rPr sz="900" b="1" spc="-5" dirty="0">
                <a:latin typeface="LM Sans 10"/>
                <a:cs typeface="LM Sans 10"/>
              </a:rPr>
              <a:t>end</a:t>
            </a:r>
            <a:endParaRPr sz="900" dirty="0">
              <a:latin typeface="LM Sans 10"/>
              <a:cs typeface="LM Sans 10"/>
            </a:endParaRPr>
          </a:p>
          <a:p>
            <a:pPr marL="94615">
              <a:lnSpc>
                <a:spcPct val="100000"/>
              </a:lnSpc>
              <a:spcBef>
                <a:spcPts val="114"/>
              </a:spcBef>
            </a:pPr>
            <a:r>
              <a:rPr sz="900" b="1" spc="-5" dirty="0">
                <a:latin typeface="LM Sans 10"/>
                <a:cs typeface="LM Sans 10"/>
              </a:rPr>
              <a:t>end</a:t>
            </a:r>
            <a:endParaRPr sz="900" dirty="0">
              <a:latin typeface="LM Sans 10"/>
              <a:cs typeface="LM Sans 10"/>
            </a:endParaRPr>
          </a:p>
          <a:p>
            <a:pPr marL="94615">
              <a:lnSpc>
                <a:spcPct val="100000"/>
              </a:lnSpc>
              <a:spcBef>
                <a:spcPts val="15"/>
              </a:spcBef>
            </a:pPr>
            <a:r>
              <a:rPr sz="900" b="1" spc="-5" dirty="0">
                <a:latin typeface="LM Sans 10"/>
                <a:cs typeface="LM Sans 10"/>
              </a:rPr>
              <a:t>return </a:t>
            </a:r>
            <a:r>
              <a:rPr sz="900" i="1" spc="-5" dirty="0">
                <a:latin typeface="LM Sans 9"/>
                <a:cs typeface="LM Sans 9"/>
              </a:rPr>
              <a:t>m </a:t>
            </a:r>
            <a:r>
              <a:rPr sz="900" spc="-5" dirty="0">
                <a:latin typeface="LM Sans 9"/>
                <a:cs typeface="LM Sans 9"/>
              </a:rPr>
              <a:t>and </a:t>
            </a:r>
            <a:r>
              <a:rPr sz="900" i="1" dirty="0">
                <a:latin typeface="LM Sans 9"/>
                <a:cs typeface="LM Sans 9"/>
              </a:rPr>
              <a:t>s</a:t>
            </a:r>
            <a:r>
              <a:rPr sz="900" dirty="0">
                <a:latin typeface="LM Sans 9"/>
                <a:cs typeface="LM Sans 9"/>
              </a:rPr>
              <a:t>;</a:t>
            </a:r>
            <a:r>
              <a:rPr sz="900" dirty="0">
                <a:solidFill>
                  <a:srgbClr val="FF0000"/>
                </a:solidFill>
                <a:latin typeface="LM Sans 9"/>
                <a:cs typeface="LM Sans 9"/>
              </a:rPr>
              <a:t>(Optimum </a:t>
            </a:r>
            <a:r>
              <a:rPr sz="900" spc="-5" dirty="0">
                <a:solidFill>
                  <a:srgbClr val="FF0000"/>
                </a:solidFill>
                <a:latin typeface="LM Sans 9"/>
                <a:cs typeface="LM Sans 9"/>
              </a:rPr>
              <a:t>in </a:t>
            </a:r>
            <a:r>
              <a:rPr sz="900" i="1" dirty="0">
                <a:solidFill>
                  <a:srgbClr val="FF0000"/>
                </a:solidFill>
                <a:latin typeface="LM Sans 9"/>
                <a:cs typeface="LM Sans 9"/>
              </a:rPr>
              <a:t>m</a:t>
            </a:r>
            <a:r>
              <a:rPr sz="900" dirty="0">
                <a:solidFill>
                  <a:srgbClr val="FF0000"/>
                </a:solidFill>
                <a:latin typeface="LM Sans 9"/>
                <a:cs typeface="LM Sans 9"/>
              </a:rPr>
              <a:t>[1</a:t>
            </a:r>
            <a:r>
              <a:rPr sz="900" i="1" dirty="0">
                <a:solidFill>
                  <a:srgbClr val="FF0000"/>
                </a:solidFill>
                <a:latin typeface="LM Sans 9"/>
                <a:cs typeface="LM Sans 9"/>
              </a:rPr>
              <a:t>,</a:t>
            </a:r>
            <a:r>
              <a:rPr sz="900" i="1" spc="-160" dirty="0">
                <a:solidFill>
                  <a:srgbClr val="FF0000"/>
                </a:solidFill>
                <a:latin typeface="LM Sans 9"/>
                <a:cs typeface="LM Sans 9"/>
              </a:rPr>
              <a:t> </a:t>
            </a:r>
            <a:r>
              <a:rPr sz="900" i="1" dirty="0">
                <a:solidFill>
                  <a:srgbClr val="FF0000"/>
                </a:solidFill>
                <a:latin typeface="LM Sans 9"/>
                <a:cs typeface="LM Sans 9"/>
              </a:rPr>
              <a:t>n</a:t>
            </a:r>
            <a:r>
              <a:rPr sz="900" dirty="0">
                <a:solidFill>
                  <a:srgbClr val="FF0000"/>
                </a:solidFill>
                <a:latin typeface="LM Sans 9"/>
                <a:cs typeface="LM Sans 9"/>
              </a:rPr>
              <a:t>])</a:t>
            </a:r>
            <a:endParaRPr sz="900" dirty="0">
              <a:latin typeface="LM Sans 9"/>
              <a:cs typeface="LM Sans 9"/>
            </a:endParaRPr>
          </a:p>
          <a:p>
            <a:pPr>
              <a:lnSpc>
                <a:spcPct val="100000"/>
              </a:lnSpc>
              <a:spcBef>
                <a:spcPts val="65"/>
              </a:spcBef>
            </a:pPr>
            <a:endParaRPr sz="1000" dirty="0">
              <a:latin typeface="LM Sans 9"/>
              <a:cs typeface="LM Sans 9"/>
            </a:endParaRPr>
          </a:p>
          <a:p>
            <a:pPr marL="12700">
              <a:lnSpc>
                <a:spcPct val="100000"/>
              </a:lnSpc>
              <a:spcBef>
                <a:spcPts val="5"/>
              </a:spcBef>
            </a:pPr>
            <a:r>
              <a:rPr sz="900" spc="-10" dirty="0">
                <a:solidFill>
                  <a:srgbClr val="0000FF"/>
                </a:solidFill>
                <a:latin typeface="LM Sans 9"/>
                <a:cs typeface="LM Sans 9"/>
              </a:rPr>
              <a:t>Complexity</a:t>
            </a:r>
            <a:r>
              <a:rPr sz="900" spc="-10" dirty="0">
                <a:latin typeface="LM Sans 9"/>
                <a:cs typeface="LM Sans 9"/>
              </a:rPr>
              <a:t>: </a:t>
            </a:r>
            <a:r>
              <a:rPr sz="900" spc="-5" dirty="0">
                <a:latin typeface="LM Sans 9"/>
                <a:cs typeface="LM Sans 9"/>
              </a:rPr>
              <a:t>The </a:t>
            </a:r>
            <a:r>
              <a:rPr sz="900" dirty="0">
                <a:latin typeface="LM Sans 9"/>
                <a:cs typeface="LM Sans 9"/>
              </a:rPr>
              <a:t>loops </a:t>
            </a:r>
            <a:r>
              <a:rPr sz="900" spc="-15" dirty="0">
                <a:latin typeface="LM Sans 9"/>
                <a:cs typeface="LM Sans 9"/>
              </a:rPr>
              <a:t>are </a:t>
            </a:r>
            <a:r>
              <a:rPr sz="900" spc="-5" dirty="0">
                <a:latin typeface="LM Sans 9"/>
                <a:cs typeface="LM Sans 9"/>
              </a:rPr>
              <a:t>nested three levels deep. Each </a:t>
            </a:r>
            <a:r>
              <a:rPr sz="900" dirty="0">
                <a:latin typeface="LM Sans 9"/>
                <a:cs typeface="LM Sans 9"/>
              </a:rPr>
              <a:t>loop </a:t>
            </a:r>
            <a:r>
              <a:rPr sz="900" spc="-5" dirty="0">
                <a:latin typeface="LM Sans 9"/>
                <a:cs typeface="LM Sans 9"/>
              </a:rPr>
              <a:t>index </a:t>
            </a:r>
            <a:r>
              <a:rPr sz="900" spc="-10" dirty="0">
                <a:latin typeface="LM Sans 9"/>
                <a:cs typeface="LM Sans 9"/>
              </a:rPr>
              <a:t>takes</a:t>
            </a:r>
            <a:r>
              <a:rPr sz="900" spc="280" dirty="0">
                <a:latin typeface="LM Sans 9"/>
                <a:cs typeface="LM Sans 9"/>
              </a:rPr>
              <a:t> </a:t>
            </a:r>
            <a:r>
              <a:rPr sz="900" spc="-5" dirty="0">
                <a:latin typeface="LM Sans 9"/>
                <a:cs typeface="LM Sans 9"/>
              </a:rPr>
              <a:t>on</a:t>
            </a:r>
            <a:r>
              <a:rPr lang="en-US" sz="900" spc="-5" dirty="0">
                <a:latin typeface="LM Sans 9"/>
                <a:cs typeface="LM Sans 9"/>
              </a:rPr>
              <a:t> </a:t>
            </a:r>
            <a:endParaRPr sz="900" dirty="0">
              <a:latin typeface="LM Sans 9"/>
              <a:cs typeface="LM Sans 9"/>
            </a:endParaRPr>
          </a:p>
          <a:p>
            <a:pPr marL="763270" algn="ctr">
              <a:lnSpc>
                <a:spcPct val="100000"/>
              </a:lnSpc>
              <a:spcBef>
                <a:spcPts val="190"/>
              </a:spcBef>
            </a:pPr>
            <a:endParaRPr sz="600" dirty="0">
              <a:latin typeface="LM Sans 8"/>
              <a:cs typeface="LM Sans 8"/>
            </a:endParaRPr>
          </a:p>
        </p:txBody>
      </p:sp>
      <p:sp>
        <p:nvSpPr>
          <p:cNvPr id="18" name="object 18"/>
          <p:cNvSpPr txBox="1"/>
          <p:nvPr/>
        </p:nvSpPr>
        <p:spPr>
          <a:xfrm>
            <a:off x="347294" y="3215527"/>
            <a:ext cx="2414270" cy="128240"/>
          </a:xfrm>
          <a:prstGeom prst="rect">
            <a:avLst/>
          </a:prstGeom>
        </p:spPr>
        <p:txBody>
          <a:bodyPr vert="horz" wrap="square" lIns="0" tIns="0" rIns="0" bIns="0" rtlCol="0">
            <a:spAutoFit/>
          </a:bodyPr>
          <a:lstStyle/>
          <a:p>
            <a:pPr marL="12700">
              <a:lnSpc>
                <a:spcPts val="975"/>
              </a:lnSpc>
            </a:pPr>
            <a:r>
              <a:rPr sz="900" i="1" spc="-40" dirty="0">
                <a:latin typeface="DejaVu Sans"/>
                <a:cs typeface="DejaVu Sans"/>
              </a:rPr>
              <a:t>≤ </a:t>
            </a:r>
            <a:r>
              <a:rPr sz="900" i="1" spc="-5" dirty="0">
                <a:latin typeface="LM Sans 9"/>
                <a:cs typeface="LM Sans 9"/>
              </a:rPr>
              <a:t>n </a:t>
            </a:r>
            <a:r>
              <a:rPr sz="900" spc="-5" dirty="0">
                <a:latin typeface="LM Sans 9"/>
                <a:cs typeface="LM Sans 9"/>
              </a:rPr>
              <a:t>values. Hence the</a:t>
            </a:r>
            <a:r>
              <a:rPr lang="en-US" sz="900" spc="-5" dirty="0">
                <a:latin typeface="LM Sans 9"/>
                <a:cs typeface="LM Sans 9"/>
              </a:rPr>
              <a:t> </a:t>
            </a:r>
            <a:r>
              <a:rPr sz="900" spc="-5" dirty="0">
                <a:solidFill>
                  <a:srgbClr val="FF0000"/>
                </a:solidFill>
                <a:latin typeface="LM Sans 9"/>
                <a:cs typeface="LM Sans 9"/>
              </a:rPr>
              <a:t>time complexity</a:t>
            </a:r>
            <a:r>
              <a:rPr lang="en-US" sz="900" spc="-5" dirty="0">
                <a:solidFill>
                  <a:srgbClr val="FF0000"/>
                </a:solidFill>
                <a:latin typeface="LM Sans 9"/>
                <a:cs typeface="LM Sans 9"/>
              </a:rPr>
              <a:t> </a:t>
            </a:r>
            <a:r>
              <a:rPr sz="900" spc="-5" dirty="0">
                <a:latin typeface="LM Sans 9"/>
                <a:cs typeface="LM Sans 9"/>
              </a:rPr>
              <a:t>is </a:t>
            </a:r>
            <a:r>
              <a:rPr sz="900" i="1" spc="15" dirty="0">
                <a:latin typeface="LM Sans 9"/>
                <a:cs typeface="LM Sans 9"/>
              </a:rPr>
              <a:t>O</a:t>
            </a:r>
            <a:r>
              <a:rPr sz="900" spc="15" dirty="0">
                <a:latin typeface="LM Sans 9"/>
                <a:cs typeface="LM Sans 9"/>
              </a:rPr>
              <a:t>(</a:t>
            </a:r>
            <a:r>
              <a:rPr sz="900" i="1" spc="15" dirty="0">
                <a:latin typeface="LM Sans 9"/>
                <a:cs typeface="LM Sans 9"/>
              </a:rPr>
              <a:t>n</a:t>
            </a:r>
            <a:r>
              <a:rPr lang="en-US" sz="900" i="1" spc="15" baseline="30000" dirty="0">
                <a:latin typeface="LM Sans 9"/>
                <a:cs typeface="LM Sans 9"/>
              </a:rPr>
              <a:t>3</a:t>
            </a:r>
            <a:r>
              <a:rPr sz="900" i="1" spc="200" dirty="0">
                <a:latin typeface="LM Sans 9"/>
                <a:cs typeface="LM Sans 9"/>
              </a:rPr>
              <a:t> </a:t>
            </a:r>
            <a:r>
              <a:rPr sz="900" spc="-5" dirty="0">
                <a:latin typeface="LM Sans 9"/>
                <a:cs typeface="LM Sans 9"/>
              </a:rPr>
              <a:t>.</a:t>
            </a:r>
            <a:endParaRPr sz="900" dirty="0">
              <a:latin typeface="LM Sans 9"/>
              <a:cs typeface="LM Sans 9"/>
            </a:endParaRPr>
          </a:p>
        </p:txBody>
      </p:sp>
      <p:sp>
        <p:nvSpPr>
          <p:cNvPr id="20" name="object 20"/>
          <p:cNvSpPr txBox="1"/>
          <p:nvPr/>
        </p:nvSpPr>
        <p:spPr>
          <a:xfrm>
            <a:off x="2846641" y="3349288"/>
            <a:ext cx="989330" cy="104139"/>
          </a:xfrm>
          <a:prstGeom prst="rect">
            <a:avLst/>
          </a:prstGeom>
        </p:spPr>
        <p:txBody>
          <a:bodyPr vert="horz" wrap="square" lIns="0" tIns="0" rIns="0" bIns="0" rtlCol="0">
            <a:spAutoFit/>
          </a:bodyPr>
          <a:lstStyle/>
          <a:p>
            <a:pPr marL="12700">
              <a:lnSpc>
                <a:spcPts val="685"/>
              </a:lnSpc>
            </a:pP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 Multiplication</a:t>
            </a:r>
            <a:endParaRPr sz="600">
              <a:latin typeface="LM Sans 10"/>
              <a:cs typeface="LM Sans 10"/>
            </a:endParaRPr>
          </a:p>
        </p:txBody>
      </p:sp>
      <p:sp>
        <p:nvSpPr>
          <p:cNvPr id="21" name="object 21"/>
          <p:cNvSpPr txBox="1"/>
          <p:nvPr/>
        </p:nvSpPr>
        <p:spPr>
          <a:xfrm>
            <a:off x="4261345" y="3349288"/>
            <a:ext cx="290195" cy="104139"/>
          </a:xfrm>
          <a:prstGeom prst="rect">
            <a:avLst/>
          </a:prstGeom>
        </p:spPr>
        <p:txBody>
          <a:bodyPr vert="horz" wrap="square" lIns="0" tIns="0" rIns="0" bIns="0" rtlCol="0">
            <a:spAutoFit/>
          </a:bodyPr>
          <a:lstStyle/>
          <a:p>
            <a:pPr marL="12700">
              <a:lnSpc>
                <a:spcPts val="685"/>
              </a:lnSpc>
            </a:pPr>
            <a:r>
              <a:rPr sz="600" b="1" spc="-5" dirty="0">
                <a:solidFill>
                  <a:srgbClr val="FFFFFF"/>
                </a:solidFill>
                <a:latin typeface="LM Sans 10"/>
                <a:cs typeface="LM Sans 10"/>
              </a:rPr>
              <a:t>27 /</a:t>
            </a:r>
            <a:r>
              <a:rPr sz="600" b="1" spc="-70" dirty="0">
                <a:solidFill>
                  <a:srgbClr val="FFFFFF"/>
                </a:solidFill>
                <a:latin typeface="LM Sans 10"/>
                <a:cs typeface="LM Sans 10"/>
              </a:rPr>
              <a:t> </a:t>
            </a:r>
            <a:r>
              <a:rPr sz="600" b="1" spc="-5" dirty="0">
                <a:solidFill>
                  <a:srgbClr val="FFFFFF"/>
                </a:solidFill>
                <a:latin typeface="LM Sans 10"/>
                <a:cs typeface="LM Sans 10"/>
              </a:rPr>
              <a:t>27</a:t>
            </a:r>
            <a:endParaRPr sz="600">
              <a:latin typeface="LM Sans 10"/>
              <a:cs typeface="LM Sans 10"/>
            </a:endParaRPr>
          </a:p>
        </p:txBody>
      </p:sp>
    </p:spTree>
  </p:cSld>
  <p:clrMapOvr>
    <a:masterClrMapping/>
  </p:clrMapOvr>
  <p:transition>
    <p:cut/>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62" y="0"/>
            <a:ext cx="3598088" cy="232756"/>
          </a:xfrm>
          <a:prstGeom prst="rect">
            <a:avLst/>
          </a:prstGeom>
        </p:spPr>
        <p:txBody>
          <a:bodyPr vert="horz" wrap="square" lIns="0" tIns="17145" rIns="0" bIns="0" rtlCol="0">
            <a:spAutoFit/>
          </a:bodyPr>
          <a:lstStyle/>
          <a:p>
            <a:pPr marL="12700">
              <a:lnSpc>
                <a:spcPct val="100000"/>
              </a:lnSpc>
              <a:spcBef>
                <a:spcPts val="135"/>
              </a:spcBef>
            </a:pPr>
            <a:r>
              <a:rPr spc="15" dirty="0"/>
              <a:t>The Dynamic Programming</a:t>
            </a:r>
            <a:r>
              <a:rPr spc="-55" dirty="0"/>
              <a:t> </a:t>
            </a:r>
            <a:r>
              <a:rPr spc="10" dirty="0"/>
              <a:t>Algorithm</a:t>
            </a:r>
          </a:p>
        </p:txBody>
      </p:sp>
      <p:sp>
        <p:nvSpPr>
          <p:cNvPr id="3" name="object 3"/>
          <p:cNvSpPr/>
          <p:nvPr/>
        </p:nvSpPr>
        <p:spPr>
          <a:xfrm>
            <a:off x="513829" y="994333"/>
            <a:ext cx="0" cy="1569085"/>
          </a:xfrm>
          <a:custGeom>
            <a:avLst/>
            <a:gdLst/>
            <a:ahLst/>
            <a:cxnLst/>
            <a:rect l="l" t="t" r="r" b="b"/>
            <a:pathLst>
              <a:path h="1569085">
                <a:moveTo>
                  <a:pt x="0" y="1568919"/>
                </a:moveTo>
                <a:lnTo>
                  <a:pt x="0" y="0"/>
                </a:lnTo>
              </a:path>
            </a:pathLst>
          </a:custGeom>
          <a:ln w="5054">
            <a:solidFill>
              <a:srgbClr val="000000"/>
            </a:solidFill>
          </a:ln>
        </p:spPr>
        <p:txBody>
          <a:bodyPr wrap="square" lIns="0" tIns="0" rIns="0" bIns="0" rtlCol="0"/>
          <a:lstStyle/>
          <a:p>
            <a:endParaRPr/>
          </a:p>
        </p:txBody>
      </p:sp>
      <p:sp>
        <p:nvSpPr>
          <p:cNvPr id="4" name="object 4"/>
          <p:cNvSpPr/>
          <p:nvPr/>
        </p:nvSpPr>
        <p:spPr>
          <a:xfrm>
            <a:off x="726719" y="1133500"/>
            <a:ext cx="0" cy="1278255"/>
          </a:xfrm>
          <a:custGeom>
            <a:avLst/>
            <a:gdLst/>
            <a:ahLst/>
            <a:cxnLst/>
            <a:rect l="l" t="t" r="r" b="b"/>
            <a:pathLst>
              <a:path h="1278255">
                <a:moveTo>
                  <a:pt x="0" y="1277912"/>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939596" y="1551038"/>
            <a:ext cx="0" cy="708660"/>
          </a:xfrm>
          <a:custGeom>
            <a:avLst/>
            <a:gdLst/>
            <a:ahLst/>
            <a:cxnLst/>
            <a:rect l="l" t="t" r="r" b="b"/>
            <a:pathLst>
              <a:path h="708660">
                <a:moveTo>
                  <a:pt x="0" y="708545"/>
                </a:moveTo>
                <a:lnTo>
                  <a:pt x="0" y="0"/>
                </a:lnTo>
              </a:path>
            </a:pathLst>
          </a:custGeom>
          <a:ln w="5054">
            <a:solidFill>
              <a:srgbClr val="000000"/>
            </a:solidFill>
          </a:ln>
        </p:spPr>
        <p:txBody>
          <a:bodyPr wrap="square" lIns="0" tIns="0" rIns="0" bIns="0" rtlCol="0"/>
          <a:lstStyle/>
          <a:p>
            <a:endParaRPr/>
          </a:p>
        </p:txBody>
      </p:sp>
      <p:sp>
        <p:nvSpPr>
          <p:cNvPr id="6" name="object 6"/>
          <p:cNvSpPr/>
          <p:nvPr/>
        </p:nvSpPr>
        <p:spPr>
          <a:xfrm>
            <a:off x="1152474" y="1829397"/>
            <a:ext cx="0" cy="278765"/>
          </a:xfrm>
          <a:custGeom>
            <a:avLst/>
            <a:gdLst/>
            <a:ahLst/>
            <a:cxnLst/>
            <a:rect l="l" t="t" r="r" b="b"/>
            <a:pathLst>
              <a:path h="278764">
                <a:moveTo>
                  <a:pt x="0" y="278358"/>
                </a:moveTo>
                <a:lnTo>
                  <a:pt x="0" y="0"/>
                </a:lnTo>
              </a:path>
            </a:pathLst>
          </a:custGeom>
          <a:ln w="5054">
            <a:solidFill>
              <a:srgbClr val="000000"/>
            </a:solidFill>
          </a:ln>
        </p:spPr>
        <p:txBody>
          <a:bodyPr wrap="square" lIns="0" tIns="0" rIns="0" bIns="0" rtlCol="0"/>
          <a:lstStyle/>
          <a:p>
            <a:endParaRPr/>
          </a:p>
        </p:txBody>
      </p:sp>
      <p:grpSp>
        <p:nvGrpSpPr>
          <p:cNvPr id="7" name="object 7"/>
          <p:cNvGrpSpPr/>
          <p:nvPr/>
        </p:nvGrpSpPr>
        <p:grpSpPr>
          <a:xfrm>
            <a:off x="359994" y="495820"/>
            <a:ext cx="4064000" cy="2477135"/>
            <a:chOff x="359994" y="495820"/>
            <a:chExt cx="4064000" cy="2477135"/>
          </a:xfrm>
        </p:grpSpPr>
        <p:sp>
          <p:nvSpPr>
            <p:cNvPr id="8" name="object 8"/>
            <p:cNvSpPr/>
            <p:nvPr/>
          </p:nvSpPr>
          <p:spPr>
            <a:xfrm>
              <a:off x="359994" y="498348"/>
              <a:ext cx="4013200" cy="0"/>
            </a:xfrm>
            <a:custGeom>
              <a:avLst/>
              <a:gdLst/>
              <a:ahLst/>
              <a:cxnLst/>
              <a:rect l="l" t="t" r="r" b="b"/>
              <a:pathLst>
                <a:path w="4013200">
                  <a:moveTo>
                    <a:pt x="0" y="0"/>
                  </a:moveTo>
                  <a:lnTo>
                    <a:pt x="4013047" y="0"/>
                  </a:lnTo>
                </a:path>
              </a:pathLst>
            </a:custGeom>
            <a:ln w="5054">
              <a:solidFill>
                <a:srgbClr val="000000"/>
              </a:solidFill>
            </a:ln>
          </p:spPr>
          <p:txBody>
            <a:bodyPr wrap="square" lIns="0" tIns="0" rIns="0" bIns="0" rtlCol="0"/>
            <a:lstStyle/>
            <a:p>
              <a:endParaRPr/>
            </a:p>
          </p:txBody>
        </p:sp>
        <p:sp>
          <p:nvSpPr>
            <p:cNvPr id="9" name="object 9"/>
            <p:cNvSpPr/>
            <p:nvPr/>
          </p:nvSpPr>
          <p:spPr>
            <a:xfrm>
              <a:off x="362534" y="498348"/>
              <a:ext cx="0" cy="2421255"/>
            </a:xfrm>
            <a:custGeom>
              <a:avLst/>
              <a:gdLst/>
              <a:ahLst/>
              <a:cxnLst/>
              <a:rect l="l" t="t" r="r" b="b"/>
              <a:pathLst>
                <a:path h="2421255">
                  <a:moveTo>
                    <a:pt x="0" y="2421064"/>
                  </a:moveTo>
                  <a:lnTo>
                    <a:pt x="0" y="0"/>
                  </a:lnTo>
                </a:path>
              </a:pathLst>
            </a:custGeom>
            <a:ln w="5054">
              <a:solidFill>
                <a:srgbClr val="000000"/>
              </a:solidFill>
            </a:ln>
          </p:spPr>
          <p:txBody>
            <a:bodyPr wrap="square" lIns="0" tIns="0" rIns="0" bIns="0" rtlCol="0"/>
            <a:lstStyle/>
            <a:p>
              <a:endParaRPr/>
            </a:p>
          </p:txBody>
        </p:sp>
        <p:sp>
          <p:nvSpPr>
            <p:cNvPr id="10" name="object 10"/>
            <p:cNvSpPr/>
            <p:nvPr/>
          </p:nvSpPr>
          <p:spPr>
            <a:xfrm>
              <a:off x="4370514" y="498348"/>
              <a:ext cx="0" cy="2421255"/>
            </a:xfrm>
            <a:custGeom>
              <a:avLst/>
              <a:gdLst/>
              <a:ahLst/>
              <a:cxnLst/>
              <a:rect l="l" t="t" r="r" b="b"/>
              <a:pathLst>
                <a:path h="2421255">
                  <a:moveTo>
                    <a:pt x="0" y="2421064"/>
                  </a:moveTo>
                  <a:lnTo>
                    <a:pt x="0" y="0"/>
                  </a:lnTo>
                </a:path>
              </a:pathLst>
            </a:custGeom>
            <a:ln w="5054">
              <a:solidFill>
                <a:srgbClr val="000000"/>
              </a:solidFill>
            </a:ln>
          </p:spPr>
          <p:txBody>
            <a:bodyPr wrap="square" lIns="0" tIns="0" rIns="0" bIns="0" rtlCol="0"/>
            <a:lstStyle/>
            <a:p>
              <a:endParaRPr/>
            </a:p>
          </p:txBody>
        </p:sp>
        <p:sp>
          <p:nvSpPr>
            <p:cNvPr id="11" name="object 11"/>
            <p:cNvSpPr/>
            <p:nvPr/>
          </p:nvSpPr>
          <p:spPr>
            <a:xfrm>
              <a:off x="359994" y="2919412"/>
              <a:ext cx="4013200" cy="0"/>
            </a:xfrm>
            <a:custGeom>
              <a:avLst/>
              <a:gdLst/>
              <a:ahLst/>
              <a:cxnLst/>
              <a:rect l="l" t="t" r="r" b="b"/>
              <a:pathLst>
                <a:path w="4013200">
                  <a:moveTo>
                    <a:pt x="0" y="0"/>
                  </a:moveTo>
                  <a:lnTo>
                    <a:pt x="4013047" y="0"/>
                  </a:lnTo>
                </a:path>
              </a:pathLst>
            </a:custGeom>
            <a:ln w="5054">
              <a:solidFill>
                <a:srgbClr val="000000"/>
              </a:solidFill>
            </a:ln>
          </p:spPr>
          <p:txBody>
            <a:bodyPr wrap="square" lIns="0" tIns="0" rIns="0" bIns="0" rtlCol="0"/>
            <a:lstStyle/>
            <a:p>
              <a:endParaRPr/>
            </a:p>
          </p:txBody>
        </p:sp>
        <p:sp>
          <p:nvSpPr>
            <p:cNvPr id="12" name="object 12"/>
            <p:cNvSpPr/>
            <p:nvPr/>
          </p:nvSpPr>
          <p:spPr>
            <a:xfrm>
              <a:off x="410603" y="546430"/>
              <a:ext cx="4013200" cy="2426335"/>
            </a:xfrm>
            <a:custGeom>
              <a:avLst/>
              <a:gdLst/>
              <a:ahLst/>
              <a:cxnLst/>
              <a:rect l="l" t="t" r="r" b="b"/>
              <a:pathLst>
                <a:path w="4013200" h="2426335">
                  <a:moveTo>
                    <a:pt x="4013047" y="0"/>
                  </a:moveTo>
                  <a:lnTo>
                    <a:pt x="3959910" y="0"/>
                  </a:lnTo>
                  <a:lnTo>
                    <a:pt x="3959910" y="2372995"/>
                  </a:lnTo>
                  <a:lnTo>
                    <a:pt x="0" y="2372995"/>
                  </a:lnTo>
                  <a:lnTo>
                    <a:pt x="0" y="2426131"/>
                  </a:lnTo>
                  <a:lnTo>
                    <a:pt x="3959910" y="2426131"/>
                  </a:lnTo>
                  <a:lnTo>
                    <a:pt x="4013047" y="2426131"/>
                  </a:lnTo>
                  <a:lnTo>
                    <a:pt x="4013047" y="2372995"/>
                  </a:lnTo>
                  <a:lnTo>
                    <a:pt x="4013047" y="0"/>
                  </a:lnTo>
                  <a:close/>
                </a:path>
              </a:pathLst>
            </a:custGeom>
            <a:solidFill>
              <a:srgbClr val="000000"/>
            </a:solidFill>
          </p:spPr>
          <p:txBody>
            <a:bodyPr wrap="square" lIns="0" tIns="0" rIns="0" bIns="0" rtlCol="0"/>
            <a:lstStyle/>
            <a:p>
              <a:endParaRPr/>
            </a:p>
          </p:txBody>
        </p:sp>
      </p:grpSp>
      <p:sp>
        <p:nvSpPr>
          <p:cNvPr id="13" name="object 13"/>
          <p:cNvSpPr txBox="1"/>
          <p:nvPr/>
        </p:nvSpPr>
        <p:spPr>
          <a:xfrm>
            <a:off x="347294" y="328124"/>
            <a:ext cx="3830320" cy="285242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FF0000"/>
                </a:solidFill>
                <a:latin typeface="LM Sans 9"/>
                <a:cs typeface="LM Sans 9"/>
              </a:rPr>
              <a:t>Matrix-Chain(</a:t>
            </a:r>
            <a:r>
              <a:rPr sz="900" i="1" dirty="0">
                <a:solidFill>
                  <a:srgbClr val="FF0000"/>
                </a:solidFill>
                <a:latin typeface="LM Sans 9"/>
                <a:cs typeface="LM Sans 9"/>
              </a:rPr>
              <a:t>p, n</a:t>
            </a:r>
            <a:r>
              <a:rPr sz="900" dirty="0">
                <a:solidFill>
                  <a:srgbClr val="FF0000"/>
                </a:solidFill>
                <a:latin typeface="LM Sans 9"/>
                <a:cs typeface="LM Sans 9"/>
              </a:rPr>
              <a:t>):</a:t>
            </a:r>
            <a:r>
              <a:rPr sz="900" dirty="0">
                <a:latin typeface="LM Sans 9"/>
                <a:cs typeface="LM Sans 9"/>
              </a:rPr>
              <a:t>// </a:t>
            </a:r>
            <a:r>
              <a:rPr sz="900" spc="-5" dirty="0">
                <a:latin typeface="LM Sans 9"/>
                <a:cs typeface="LM Sans 9"/>
              </a:rPr>
              <a:t>l is length of</a:t>
            </a:r>
            <a:r>
              <a:rPr sz="900" spc="-170" dirty="0">
                <a:latin typeface="LM Sans 9"/>
                <a:cs typeface="LM Sans 9"/>
              </a:rPr>
              <a:t> </a:t>
            </a:r>
            <a:r>
              <a:rPr sz="900" spc="-5" dirty="0">
                <a:latin typeface="LM Sans 9"/>
                <a:cs typeface="LM Sans 9"/>
              </a:rPr>
              <a:t>sub-chain</a:t>
            </a:r>
            <a:endParaRPr sz="900">
              <a:latin typeface="LM Sans 9"/>
              <a:cs typeface="LM Sans 9"/>
            </a:endParaRPr>
          </a:p>
          <a:p>
            <a:pPr marL="94615">
              <a:lnSpc>
                <a:spcPct val="100000"/>
              </a:lnSpc>
              <a:spcBef>
                <a:spcPts val="650"/>
              </a:spcBef>
            </a:pPr>
            <a:r>
              <a:rPr sz="900" b="1" spc="-15" dirty="0">
                <a:latin typeface="LM Sans 10"/>
                <a:cs typeface="LM Sans 10"/>
              </a:rPr>
              <a:t>for </a:t>
            </a:r>
            <a:r>
              <a:rPr sz="900" i="1" spc="-5" dirty="0">
                <a:latin typeface="LM Sans 9"/>
                <a:cs typeface="LM Sans 9"/>
              </a:rPr>
              <a:t>i</a:t>
            </a:r>
            <a:r>
              <a:rPr sz="900" i="1" spc="3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1 </a:t>
            </a:r>
            <a:r>
              <a:rPr sz="900" b="1" spc="-5" dirty="0">
                <a:latin typeface="LM Sans 10"/>
                <a:cs typeface="LM Sans 10"/>
              </a:rPr>
              <a:t>to</a:t>
            </a:r>
            <a:r>
              <a:rPr sz="900" b="1" spc="-25" dirty="0">
                <a:latin typeface="LM Sans 10"/>
                <a:cs typeface="LM Sans 10"/>
              </a:rPr>
              <a:t> </a:t>
            </a:r>
            <a:r>
              <a:rPr sz="900" i="1" spc="-5" dirty="0">
                <a:latin typeface="LM Sans 9"/>
                <a:cs typeface="LM Sans 9"/>
              </a:rPr>
              <a:t>n</a:t>
            </a:r>
            <a:r>
              <a:rPr sz="900" i="1" spc="15" dirty="0">
                <a:latin typeface="LM Sans 9"/>
                <a:cs typeface="LM Sans 9"/>
              </a:rPr>
              <a:t> </a:t>
            </a:r>
            <a:r>
              <a:rPr sz="900" b="1" spc="-5" dirty="0">
                <a:latin typeface="LM Sans 10"/>
                <a:cs typeface="LM Sans 10"/>
              </a:rPr>
              <a:t>do</a:t>
            </a:r>
            <a:r>
              <a:rPr sz="900" b="1" spc="-25" dirty="0">
                <a:latin typeface="LM Sans 10"/>
                <a:cs typeface="LM Sans 10"/>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i</a:t>
            </a:r>
            <a:r>
              <a:rPr sz="900" i="1" spc="-220"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0;</a:t>
            </a:r>
            <a:endParaRPr sz="900">
              <a:latin typeface="LM Sans 9"/>
              <a:cs typeface="LM Sans 9"/>
            </a:endParaRPr>
          </a:p>
          <a:p>
            <a:pPr marL="94615">
              <a:lnSpc>
                <a:spcPct val="100000"/>
              </a:lnSpc>
              <a:spcBef>
                <a:spcPts val="15"/>
              </a:spcBef>
            </a:pPr>
            <a:r>
              <a:rPr sz="900" spc="-5" dirty="0">
                <a:latin typeface="LM Sans 9"/>
                <a:cs typeface="LM Sans 9"/>
              </a:rPr>
              <a:t>;</a:t>
            </a:r>
            <a:endParaRPr sz="900">
              <a:latin typeface="LM Sans 9"/>
              <a:cs typeface="LM Sans 9"/>
            </a:endParaRPr>
          </a:p>
          <a:p>
            <a:pPr marL="94615">
              <a:lnSpc>
                <a:spcPct val="100000"/>
              </a:lnSpc>
              <a:spcBef>
                <a:spcPts val="15"/>
              </a:spcBef>
            </a:pPr>
            <a:r>
              <a:rPr sz="900" b="1" spc="-15" dirty="0">
                <a:latin typeface="LM Sans 10"/>
                <a:cs typeface="LM Sans 10"/>
              </a:rPr>
              <a:t>for </a:t>
            </a:r>
            <a:r>
              <a:rPr sz="900" i="1" spc="-5" dirty="0">
                <a:latin typeface="LM Sans 9"/>
                <a:cs typeface="LM Sans 9"/>
              </a:rPr>
              <a:t>l </a:t>
            </a:r>
            <a:r>
              <a:rPr sz="900" spc="-5" dirty="0">
                <a:latin typeface="LM Sans 9"/>
                <a:cs typeface="LM Sans 9"/>
              </a:rPr>
              <a:t>= 2 </a:t>
            </a:r>
            <a:r>
              <a:rPr sz="900" b="1" spc="-5" dirty="0">
                <a:latin typeface="LM Sans 10"/>
                <a:cs typeface="LM Sans 10"/>
              </a:rPr>
              <a:t>to </a:t>
            </a:r>
            <a:r>
              <a:rPr sz="900" i="1" spc="-5" dirty="0">
                <a:latin typeface="LM Sans 9"/>
                <a:cs typeface="LM Sans 9"/>
              </a:rPr>
              <a:t>n</a:t>
            </a:r>
            <a:r>
              <a:rPr sz="900" i="1" spc="-20" dirty="0">
                <a:latin typeface="LM Sans 9"/>
                <a:cs typeface="LM Sans 9"/>
              </a:rPr>
              <a:t> </a:t>
            </a:r>
            <a:r>
              <a:rPr sz="900" b="1" spc="-5" dirty="0">
                <a:latin typeface="LM Sans 10"/>
                <a:cs typeface="LM Sans 10"/>
              </a:rPr>
              <a:t>do</a:t>
            </a:r>
            <a:endParaRPr sz="900">
              <a:latin typeface="LM Sans 10"/>
              <a:cs typeface="LM Sans 10"/>
            </a:endParaRPr>
          </a:p>
          <a:p>
            <a:pPr marR="2281555" algn="r">
              <a:lnSpc>
                <a:spcPct val="100000"/>
              </a:lnSpc>
              <a:spcBef>
                <a:spcPts val="15"/>
              </a:spcBef>
            </a:pPr>
            <a:r>
              <a:rPr sz="900" b="1" spc="-15" dirty="0">
                <a:latin typeface="LM Sans 10"/>
                <a:cs typeface="LM Sans 10"/>
              </a:rPr>
              <a:t>for</a:t>
            </a:r>
            <a:r>
              <a:rPr sz="900" b="1" spc="-20" dirty="0">
                <a:latin typeface="LM Sans 10"/>
                <a:cs typeface="LM Sans 10"/>
              </a:rPr>
              <a:t> </a:t>
            </a:r>
            <a:r>
              <a:rPr sz="900" i="1" spc="-5" dirty="0">
                <a:latin typeface="LM Sans 9"/>
                <a:cs typeface="LM Sans 9"/>
              </a:rPr>
              <a:t>i</a:t>
            </a:r>
            <a:r>
              <a:rPr sz="900" i="1" spc="30" dirty="0">
                <a:latin typeface="LM Sans 9"/>
                <a:cs typeface="LM Sans 9"/>
              </a:rPr>
              <a:t> </a:t>
            </a:r>
            <a:r>
              <a:rPr sz="900" spc="-5" dirty="0">
                <a:latin typeface="LM Sans 9"/>
                <a:cs typeface="LM Sans 9"/>
              </a:rPr>
              <a:t>=</a:t>
            </a:r>
            <a:r>
              <a:rPr sz="900" spc="-6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to</a:t>
            </a:r>
            <a:r>
              <a:rPr sz="900" b="1" spc="-30" dirty="0">
                <a:latin typeface="LM Sans 10"/>
                <a:cs typeface="LM Sans 10"/>
              </a:rPr>
              <a:t> </a:t>
            </a:r>
            <a:r>
              <a:rPr sz="900" i="1" spc="-5" dirty="0">
                <a:latin typeface="LM Sans 9"/>
                <a:cs typeface="LM Sans 9"/>
              </a:rPr>
              <a:t>n</a:t>
            </a:r>
            <a:r>
              <a:rPr sz="900" i="1" spc="-95" dirty="0">
                <a:latin typeface="LM Sans 9"/>
                <a:cs typeface="LM Sans 9"/>
              </a:rPr>
              <a:t> </a:t>
            </a:r>
            <a:r>
              <a:rPr sz="900" i="1" spc="-40" dirty="0">
                <a:latin typeface="DejaVu Sans"/>
                <a:cs typeface="DejaVu Sans"/>
              </a:rPr>
              <a:t>−</a:t>
            </a:r>
            <a:r>
              <a:rPr sz="900" i="1" spc="-90" dirty="0">
                <a:latin typeface="DejaVu Sans"/>
                <a:cs typeface="DejaVu Sans"/>
              </a:rPr>
              <a:t> </a:t>
            </a:r>
            <a:r>
              <a:rPr sz="900" i="1" spc="-5" dirty="0">
                <a:latin typeface="LM Sans 9"/>
                <a:cs typeface="LM Sans 9"/>
              </a:rPr>
              <a:t>l</a:t>
            </a:r>
            <a:r>
              <a:rPr sz="900" i="1" spc="-25" dirty="0">
                <a:latin typeface="LM Sans 9"/>
                <a:cs typeface="LM Sans 9"/>
              </a:rPr>
              <a:t> </a:t>
            </a:r>
            <a:r>
              <a:rPr sz="900" spc="-5" dirty="0">
                <a:latin typeface="LM Sans 9"/>
                <a:cs typeface="LM Sans 9"/>
              </a:rPr>
              <a:t>+</a:t>
            </a:r>
            <a:r>
              <a:rPr sz="900" spc="-110" dirty="0">
                <a:latin typeface="LM Sans 9"/>
                <a:cs typeface="LM Sans 9"/>
              </a:rPr>
              <a:t> </a:t>
            </a:r>
            <a:r>
              <a:rPr sz="900" spc="-5" dirty="0">
                <a:latin typeface="LM Sans 9"/>
                <a:cs typeface="LM Sans 9"/>
              </a:rPr>
              <a:t>1</a:t>
            </a:r>
            <a:r>
              <a:rPr sz="900" spc="-10" dirty="0">
                <a:latin typeface="LM Sans 9"/>
                <a:cs typeface="LM Sans 9"/>
              </a:rPr>
              <a:t> </a:t>
            </a:r>
            <a:r>
              <a:rPr sz="900" b="1" spc="-5" dirty="0">
                <a:latin typeface="LM Sans 10"/>
                <a:cs typeface="LM Sans 10"/>
              </a:rPr>
              <a:t>do</a:t>
            </a:r>
            <a:endParaRPr sz="900">
              <a:latin typeface="LM Sans 10"/>
              <a:cs typeface="LM Sans 10"/>
            </a:endParaRPr>
          </a:p>
          <a:p>
            <a:pPr marL="520065">
              <a:lnSpc>
                <a:spcPct val="100000"/>
              </a:lnSpc>
              <a:spcBef>
                <a:spcPts val="15"/>
              </a:spcBef>
            </a:pPr>
            <a:r>
              <a:rPr sz="900" i="1" spc="-5" dirty="0">
                <a:latin typeface="LM Sans 9"/>
                <a:cs typeface="LM Sans 9"/>
              </a:rPr>
              <a:t>j </a:t>
            </a:r>
            <a:r>
              <a:rPr sz="900" spc="-5" dirty="0">
                <a:latin typeface="LM Sans 9"/>
                <a:cs typeface="LM Sans 9"/>
              </a:rPr>
              <a:t>= </a:t>
            </a:r>
            <a:r>
              <a:rPr sz="900" i="1" spc="-5" dirty="0">
                <a:latin typeface="LM Sans 9"/>
                <a:cs typeface="LM Sans 9"/>
              </a:rPr>
              <a:t>i </a:t>
            </a:r>
            <a:r>
              <a:rPr sz="900" spc="-5" dirty="0">
                <a:latin typeface="LM Sans 9"/>
                <a:cs typeface="LM Sans 9"/>
              </a:rPr>
              <a:t>+ </a:t>
            </a:r>
            <a:r>
              <a:rPr sz="900" i="1" spc="-5" dirty="0">
                <a:latin typeface="LM Sans 9"/>
                <a:cs typeface="LM Sans 9"/>
              </a:rPr>
              <a:t>l</a:t>
            </a:r>
            <a:r>
              <a:rPr sz="900" i="1" spc="-200" dirty="0">
                <a:latin typeface="LM Sans 9"/>
                <a:cs typeface="LM Sans 9"/>
              </a:rPr>
              <a:t> </a:t>
            </a:r>
            <a:r>
              <a:rPr sz="900" i="1" spc="-40" dirty="0">
                <a:latin typeface="DejaVu Sans"/>
                <a:cs typeface="DejaVu Sans"/>
              </a:rPr>
              <a:t>− </a:t>
            </a:r>
            <a:r>
              <a:rPr sz="900" spc="-5" dirty="0">
                <a:latin typeface="LM Sans 9"/>
                <a:cs typeface="LM Sans 9"/>
              </a:rPr>
              <a:t>1;</a:t>
            </a:r>
            <a:endParaRPr sz="900">
              <a:latin typeface="LM Sans 9"/>
              <a:cs typeface="LM Sans 9"/>
            </a:endParaRPr>
          </a:p>
          <a:p>
            <a:pPr marL="520065">
              <a:lnSpc>
                <a:spcPct val="100000"/>
              </a:lnSpc>
              <a:spcBef>
                <a:spcPts val="20"/>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80" dirty="0">
                <a:latin typeface="DejaVu Sans"/>
                <a:cs typeface="DejaVu Sans"/>
              </a:rPr>
              <a:t>∞</a:t>
            </a:r>
            <a:r>
              <a:rPr sz="900" spc="80" dirty="0">
                <a:latin typeface="LM Sans 9"/>
                <a:cs typeface="LM Sans 9"/>
              </a:rPr>
              <a:t>;</a:t>
            </a:r>
            <a:endParaRPr sz="900">
              <a:latin typeface="LM Sans 9"/>
              <a:cs typeface="LM Sans 9"/>
            </a:endParaRPr>
          </a:p>
          <a:p>
            <a:pPr marR="2263140" algn="r">
              <a:lnSpc>
                <a:spcPct val="100000"/>
              </a:lnSpc>
              <a:spcBef>
                <a:spcPts val="15"/>
              </a:spcBef>
            </a:pPr>
            <a:r>
              <a:rPr sz="900" b="1" spc="-15" dirty="0">
                <a:latin typeface="LM Sans 10"/>
                <a:cs typeface="LM Sans 10"/>
              </a:rPr>
              <a:t>for </a:t>
            </a:r>
            <a:r>
              <a:rPr sz="900" i="1" spc="-5" dirty="0">
                <a:latin typeface="LM Sans 9"/>
                <a:cs typeface="LM Sans 9"/>
              </a:rPr>
              <a:t>k </a:t>
            </a:r>
            <a:r>
              <a:rPr sz="900" spc="-5" dirty="0">
                <a:latin typeface="LM Sans 9"/>
                <a:cs typeface="LM Sans 9"/>
              </a:rPr>
              <a:t>= </a:t>
            </a:r>
            <a:r>
              <a:rPr sz="900" i="1" spc="-5" dirty="0">
                <a:latin typeface="LM Sans 9"/>
                <a:cs typeface="LM Sans 9"/>
              </a:rPr>
              <a:t>i </a:t>
            </a:r>
            <a:r>
              <a:rPr sz="900" b="1" spc="-5" dirty="0">
                <a:latin typeface="LM Sans 10"/>
                <a:cs typeface="LM Sans 10"/>
              </a:rPr>
              <a:t>to </a:t>
            </a:r>
            <a:r>
              <a:rPr sz="900" i="1" spc="-5" dirty="0">
                <a:latin typeface="LM Sans 9"/>
                <a:cs typeface="LM Sans 9"/>
              </a:rPr>
              <a:t>j </a:t>
            </a:r>
            <a:r>
              <a:rPr sz="900" i="1" spc="-40" dirty="0">
                <a:latin typeface="DejaVu Sans"/>
                <a:cs typeface="DejaVu Sans"/>
              </a:rPr>
              <a:t>− </a:t>
            </a:r>
            <a:r>
              <a:rPr sz="900" spc="-5" dirty="0">
                <a:latin typeface="LM Sans 9"/>
                <a:cs typeface="LM Sans 9"/>
              </a:rPr>
              <a:t>1</a:t>
            </a:r>
            <a:r>
              <a:rPr sz="900" spc="-75" dirty="0">
                <a:latin typeface="LM Sans 9"/>
                <a:cs typeface="LM Sans 9"/>
              </a:rPr>
              <a:t> </a:t>
            </a:r>
            <a:r>
              <a:rPr sz="900" b="1" spc="-5" dirty="0">
                <a:latin typeface="LM Sans 10"/>
                <a:cs typeface="LM Sans 10"/>
              </a:rPr>
              <a:t>do</a:t>
            </a:r>
            <a:endParaRPr sz="900">
              <a:latin typeface="LM Sans 10"/>
              <a:cs typeface="LM Sans 10"/>
            </a:endParaRPr>
          </a:p>
          <a:p>
            <a:pPr marL="732790">
              <a:lnSpc>
                <a:spcPct val="100000"/>
              </a:lnSpc>
              <a:spcBef>
                <a:spcPts val="15"/>
              </a:spcBef>
            </a:pPr>
            <a:r>
              <a:rPr sz="900" i="1" spc="-5" dirty="0">
                <a:latin typeface="LM Sans 9"/>
                <a:cs typeface="LM Sans 9"/>
              </a:rPr>
              <a:t>q</a:t>
            </a:r>
            <a:r>
              <a:rPr sz="900" i="1" spc="-15" dirty="0">
                <a:latin typeface="LM Sans 9"/>
                <a:cs typeface="LM Sans 9"/>
              </a:rPr>
              <a:t> </a:t>
            </a:r>
            <a:r>
              <a:rPr sz="900" spc="-5" dirty="0">
                <a:latin typeface="LM Sans 9"/>
                <a:cs typeface="LM Sans 9"/>
              </a:rPr>
              <a:t>=</a:t>
            </a:r>
            <a:r>
              <a:rPr sz="900"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30" dirty="0">
                <a:latin typeface="LM Sans 9"/>
                <a:cs typeface="LM Sans 9"/>
              </a:rPr>
              <a:t>k</a:t>
            </a:r>
            <a:r>
              <a:rPr sz="900" spc="30"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dirty="0">
                <a:latin typeface="LM Sans 9"/>
                <a:cs typeface="LM Sans 9"/>
              </a:rPr>
              <a:t>m</a:t>
            </a:r>
            <a:r>
              <a:rPr sz="900" dirty="0">
                <a:latin typeface="LM Sans 9"/>
                <a:cs typeface="LM Sans 9"/>
              </a:rPr>
              <a:t>[</a:t>
            </a:r>
            <a:r>
              <a:rPr sz="900" i="1" dirty="0">
                <a:latin typeface="LM Sans 9"/>
                <a:cs typeface="LM Sans 9"/>
              </a:rPr>
              <a:t>k</a:t>
            </a:r>
            <a:r>
              <a:rPr sz="900" i="1" spc="-30"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1</a:t>
            </a:r>
            <a:r>
              <a:rPr sz="900" i="1" spc="-5" dirty="0">
                <a:latin typeface="LM Sans 9"/>
                <a:cs typeface="LM Sans 9"/>
              </a:rPr>
              <a:t>,</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105" dirty="0">
                <a:latin typeface="LM Sans 9"/>
                <a:cs typeface="LM Sans 9"/>
              </a:rPr>
              <a:t> </a:t>
            </a:r>
            <a:r>
              <a:rPr sz="900" spc="-5" dirty="0">
                <a:latin typeface="LM Sans 9"/>
                <a:cs typeface="LM Sans 9"/>
              </a:rPr>
              <a:t>+</a:t>
            </a:r>
            <a:r>
              <a:rPr sz="900" spc="-105" dirty="0">
                <a:latin typeface="LM Sans 9"/>
                <a:cs typeface="LM Sans 9"/>
              </a:rPr>
              <a:t> </a:t>
            </a:r>
            <a:r>
              <a:rPr sz="900" i="1" spc="5" dirty="0">
                <a:latin typeface="LM Sans 9"/>
                <a:cs typeface="LM Sans 9"/>
              </a:rPr>
              <a:t>p</a:t>
            </a:r>
            <a:r>
              <a:rPr sz="900" spc="5" dirty="0">
                <a:latin typeface="LM Sans 9"/>
                <a:cs typeface="LM Sans 9"/>
              </a:rPr>
              <a:t>[</a:t>
            </a:r>
            <a:r>
              <a:rPr sz="900" i="1" spc="5" dirty="0">
                <a:latin typeface="LM Sans 9"/>
                <a:cs typeface="LM Sans 9"/>
              </a:rPr>
              <a:t>i</a:t>
            </a:r>
            <a:r>
              <a:rPr sz="900" i="1" spc="-15" dirty="0">
                <a:latin typeface="LM Sans 9"/>
                <a:cs typeface="LM Sans 9"/>
              </a:rPr>
              <a:t> </a:t>
            </a:r>
            <a:r>
              <a:rPr sz="900" i="1" spc="-40" dirty="0">
                <a:latin typeface="DejaVu Sans"/>
                <a:cs typeface="DejaVu Sans"/>
              </a:rPr>
              <a:t>−</a:t>
            </a:r>
            <a:r>
              <a:rPr sz="900" i="1" spc="-85" dirty="0">
                <a:latin typeface="DejaVu Sans"/>
                <a:cs typeface="DejaVu Sans"/>
              </a:rPr>
              <a:t> </a:t>
            </a:r>
            <a:r>
              <a:rPr sz="900" spc="-5" dirty="0">
                <a:latin typeface="LM Sans 9"/>
                <a:cs typeface="LM Sans 9"/>
              </a:rPr>
              <a:t>1]</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20" dirty="0">
                <a:latin typeface="LM Sans 9"/>
                <a:cs typeface="LM Sans 9"/>
              </a:rPr>
              <a:t>p</a:t>
            </a:r>
            <a:r>
              <a:rPr sz="900" spc="20" dirty="0">
                <a:latin typeface="LM Sans 9"/>
                <a:cs typeface="LM Sans 9"/>
              </a:rPr>
              <a:t>[</a:t>
            </a:r>
            <a:r>
              <a:rPr sz="900" i="1" spc="20" dirty="0">
                <a:latin typeface="LM Sans 9"/>
                <a:cs typeface="LM Sans 9"/>
              </a:rPr>
              <a:t>k</a:t>
            </a:r>
            <a:r>
              <a:rPr sz="900" spc="20" dirty="0">
                <a:latin typeface="LM Sans 9"/>
                <a:cs typeface="LM Sans 9"/>
              </a:rPr>
              <a:t>]</a:t>
            </a:r>
            <a:r>
              <a:rPr sz="900" spc="-105" dirty="0">
                <a:latin typeface="LM Sans 9"/>
                <a:cs typeface="LM Sans 9"/>
              </a:rPr>
              <a:t> </a:t>
            </a:r>
            <a:r>
              <a:rPr sz="900" i="1" spc="-295" dirty="0">
                <a:latin typeface="DejaVu Sans"/>
                <a:cs typeface="DejaVu Sans"/>
              </a:rPr>
              <a:t>∗</a:t>
            </a:r>
            <a:r>
              <a:rPr sz="900" i="1" spc="-85" dirty="0">
                <a:latin typeface="DejaVu Sans"/>
                <a:cs typeface="DejaVu Sans"/>
              </a:rPr>
              <a:t> </a:t>
            </a:r>
            <a:r>
              <a:rPr sz="900" i="1" spc="5" dirty="0">
                <a:latin typeface="LM Sans 9"/>
                <a:cs typeface="LM Sans 9"/>
              </a:rPr>
              <a:t>p</a:t>
            </a:r>
            <a:r>
              <a:rPr sz="900" spc="5" dirty="0">
                <a:latin typeface="LM Sans 9"/>
                <a:cs typeface="LM Sans 9"/>
              </a:rPr>
              <a:t>[</a:t>
            </a:r>
            <a:r>
              <a:rPr sz="900" i="1" spc="5" dirty="0">
                <a:latin typeface="LM Sans 9"/>
                <a:cs typeface="LM Sans 9"/>
              </a:rPr>
              <a:t>j</a:t>
            </a:r>
            <a:r>
              <a:rPr sz="900" i="1" spc="-225" dirty="0">
                <a:latin typeface="LM Sans 9"/>
                <a:cs typeface="LM Sans 9"/>
              </a:rPr>
              <a:t> </a:t>
            </a:r>
            <a:r>
              <a:rPr sz="900" spc="-5" dirty="0">
                <a:latin typeface="LM Sans 9"/>
                <a:cs typeface="LM Sans 9"/>
              </a:rPr>
              <a:t>];</a:t>
            </a:r>
            <a:endParaRPr sz="900">
              <a:latin typeface="LM Sans 9"/>
              <a:cs typeface="LM Sans 9"/>
            </a:endParaRPr>
          </a:p>
          <a:p>
            <a:pPr marL="732790">
              <a:lnSpc>
                <a:spcPct val="100000"/>
              </a:lnSpc>
              <a:spcBef>
                <a:spcPts val="15"/>
              </a:spcBef>
            </a:pPr>
            <a:r>
              <a:rPr sz="900" b="1" spc="-5" dirty="0">
                <a:latin typeface="LM Sans 10"/>
                <a:cs typeface="LM Sans 10"/>
              </a:rPr>
              <a:t>if</a:t>
            </a:r>
            <a:r>
              <a:rPr sz="900" b="1" spc="40" dirty="0">
                <a:latin typeface="LM Sans 10"/>
                <a:cs typeface="LM Sans 10"/>
              </a:rPr>
              <a:t> </a:t>
            </a:r>
            <a:r>
              <a:rPr sz="900" i="1" spc="-5" dirty="0">
                <a:latin typeface="LM Sans 9"/>
                <a:cs typeface="LM Sans 9"/>
              </a:rPr>
              <a:t>q</a:t>
            </a:r>
            <a:r>
              <a:rPr sz="900" i="1" spc="-15" dirty="0">
                <a:latin typeface="LM Sans 9"/>
                <a:cs typeface="LM Sans 9"/>
              </a:rPr>
              <a:t> </a:t>
            </a:r>
            <a:r>
              <a:rPr sz="900" i="1" spc="-5" dirty="0">
                <a:latin typeface="LM Sans 9"/>
                <a:cs typeface="LM Sans 9"/>
              </a:rPr>
              <a:t>&lt;</a:t>
            </a:r>
            <a:r>
              <a:rPr sz="900" i="1" spc="-55" dirty="0">
                <a:latin typeface="LM Sans 9"/>
                <a:cs typeface="LM Sans 9"/>
              </a:rPr>
              <a:t> </a:t>
            </a: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55"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 </a:t>
            </a:r>
            <a:r>
              <a:rPr sz="900" b="1" spc="-5" dirty="0">
                <a:latin typeface="LM Sans 10"/>
                <a:cs typeface="LM Sans 10"/>
              </a:rPr>
              <a:t>then</a:t>
            </a:r>
            <a:endParaRPr sz="900">
              <a:latin typeface="LM Sans 10"/>
              <a:cs typeface="LM Sans 10"/>
            </a:endParaRPr>
          </a:p>
          <a:p>
            <a:pPr marL="946150">
              <a:lnSpc>
                <a:spcPct val="100000"/>
              </a:lnSpc>
              <a:spcBef>
                <a:spcPts val="15"/>
              </a:spcBef>
            </a:pPr>
            <a:r>
              <a:rPr sz="900" i="1" spc="20" dirty="0">
                <a:latin typeface="LM Sans 9"/>
                <a:cs typeface="LM Sans 9"/>
              </a:rPr>
              <a:t>m</a:t>
            </a:r>
            <a:r>
              <a:rPr sz="900" spc="20" dirty="0">
                <a:latin typeface="LM Sans 9"/>
                <a:cs typeface="LM Sans 9"/>
              </a:rPr>
              <a:t>[</a:t>
            </a:r>
            <a:r>
              <a:rPr sz="900" i="1" spc="20"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15" dirty="0">
                <a:latin typeface="LM Sans 9"/>
                <a:cs typeface="LM Sans 9"/>
              </a:rPr>
              <a:t>q</a:t>
            </a:r>
            <a:r>
              <a:rPr sz="900" spc="15" dirty="0">
                <a:latin typeface="LM Sans 9"/>
                <a:cs typeface="LM Sans 9"/>
              </a:rPr>
              <a:t>;</a:t>
            </a:r>
            <a:endParaRPr sz="900">
              <a:latin typeface="LM Sans 9"/>
              <a:cs typeface="LM Sans 9"/>
            </a:endParaRPr>
          </a:p>
          <a:p>
            <a:pPr marL="946150">
              <a:lnSpc>
                <a:spcPct val="100000"/>
              </a:lnSpc>
              <a:spcBef>
                <a:spcPts val="20"/>
              </a:spcBef>
            </a:pPr>
            <a:r>
              <a:rPr sz="900" i="1" spc="35" dirty="0">
                <a:latin typeface="LM Sans 9"/>
                <a:cs typeface="LM Sans 9"/>
              </a:rPr>
              <a:t>s</a:t>
            </a:r>
            <a:r>
              <a:rPr sz="900" spc="35" dirty="0">
                <a:latin typeface="LM Sans 9"/>
                <a:cs typeface="LM Sans 9"/>
              </a:rPr>
              <a:t>[</a:t>
            </a:r>
            <a:r>
              <a:rPr sz="900" i="1" spc="35" dirty="0">
                <a:latin typeface="LM Sans 9"/>
                <a:cs typeface="LM Sans 9"/>
              </a:rPr>
              <a:t>i,</a:t>
            </a:r>
            <a:r>
              <a:rPr sz="900" i="1" spc="-160" dirty="0">
                <a:latin typeface="LM Sans 9"/>
                <a:cs typeface="LM Sans 9"/>
              </a:rPr>
              <a:t> </a:t>
            </a:r>
            <a:r>
              <a:rPr sz="900" i="1" spc="-5" dirty="0">
                <a:latin typeface="LM Sans 9"/>
                <a:cs typeface="LM Sans 9"/>
              </a:rPr>
              <a:t>j</a:t>
            </a:r>
            <a:r>
              <a:rPr sz="900" i="1" spc="-225" dirty="0">
                <a:latin typeface="LM Sans 9"/>
                <a:cs typeface="LM Sans 9"/>
              </a:rPr>
              <a:t> </a:t>
            </a:r>
            <a:r>
              <a:rPr sz="900" spc="-5" dirty="0">
                <a:latin typeface="LM Sans 9"/>
                <a:cs typeface="LM Sans 9"/>
              </a:rPr>
              <a:t>]</a:t>
            </a:r>
            <a:r>
              <a:rPr sz="900" spc="-55" dirty="0">
                <a:latin typeface="LM Sans 9"/>
                <a:cs typeface="LM Sans 9"/>
              </a:rPr>
              <a:t> </a:t>
            </a:r>
            <a:r>
              <a:rPr sz="900" spc="-5" dirty="0">
                <a:latin typeface="LM Sans 9"/>
                <a:cs typeface="LM Sans 9"/>
              </a:rPr>
              <a:t>=</a:t>
            </a:r>
            <a:r>
              <a:rPr sz="900" spc="-55" dirty="0">
                <a:latin typeface="LM Sans 9"/>
                <a:cs typeface="LM Sans 9"/>
              </a:rPr>
              <a:t> </a:t>
            </a:r>
            <a:r>
              <a:rPr sz="900" i="1" spc="30" dirty="0">
                <a:latin typeface="LM Sans 9"/>
                <a:cs typeface="LM Sans 9"/>
              </a:rPr>
              <a:t>k</a:t>
            </a:r>
            <a:r>
              <a:rPr sz="900" spc="30" dirty="0">
                <a:latin typeface="LM Sans 9"/>
                <a:cs typeface="LM Sans 9"/>
              </a:rPr>
              <a:t>;</a:t>
            </a:r>
            <a:endParaRPr sz="900">
              <a:latin typeface="LM Sans 9"/>
              <a:cs typeface="LM Sans 9"/>
            </a:endParaRPr>
          </a:p>
          <a:p>
            <a:pPr marL="732790">
              <a:lnSpc>
                <a:spcPct val="100000"/>
              </a:lnSpc>
              <a:spcBef>
                <a:spcPts val="115"/>
              </a:spcBef>
            </a:pPr>
            <a:r>
              <a:rPr sz="900" b="1" spc="-5" dirty="0">
                <a:latin typeface="LM Sans 10"/>
                <a:cs typeface="LM Sans 10"/>
              </a:rPr>
              <a:t>end</a:t>
            </a:r>
            <a:endParaRPr sz="900">
              <a:latin typeface="LM Sans 10"/>
              <a:cs typeface="LM Sans 10"/>
            </a:endParaRPr>
          </a:p>
          <a:p>
            <a:pPr marL="520065">
              <a:lnSpc>
                <a:spcPct val="100000"/>
              </a:lnSpc>
              <a:spcBef>
                <a:spcPts val="114"/>
              </a:spcBef>
            </a:pPr>
            <a:r>
              <a:rPr sz="900" b="1" spc="-5" dirty="0">
                <a:latin typeface="LM Sans 10"/>
                <a:cs typeface="LM Sans 10"/>
              </a:rPr>
              <a:t>end</a:t>
            </a:r>
            <a:endParaRPr sz="900">
              <a:latin typeface="LM Sans 10"/>
              <a:cs typeface="LM Sans 10"/>
            </a:endParaRPr>
          </a:p>
          <a:p>
            <a:pPr marL="307340">
              <a:lnSpc>
                <a:spcPct val="100000"/>
              </a:lnSpc>
              <a:spcBef>
                <a:spcPts val="114"/>
              </a:spcBef>
            </a:pPr>
            <a:r>
              <a:rPr sz="900" b="1" spc="-5" dirty="0">
                <a:latin typeface="LM Sans 10"/>
                <a:cs typeface="LM Sans 10"/>
              </a:rPr>
              <a:t>end</a:t>
            </a:r>
            <a:endParaRPr sz="900">
              <a:latin typeface="LM Sans 10"/>
              <a:cs typeface="LM Sans 10"/>
            </a:endParaRPr>
          </a:p>
          <a:p>
            <a:pPr marL="94615">
              <a:lnSpc>
                <a:spcPct val="100000"/>
              </a:lnSpc>
              <a:spcBef>
                <a:spcPts val="114"/>
              </a:spcBef>
            </a:pPr>
            <a:r>
              <a:rPr sz="900" b="1" spc="-5" dirty="0">
                <a:latin typeface="LM Sans 10"/>
                <a:cs typeface="LM Sans 10"/>
              </a:rPr>
              <a:t>end</a:t>
            </a:r>
            <a:endParaRPr sz="900">
              <a:latin typeface="LM Sans 10"/>
              <a:cs typeface="LM Sans 10"/>
            </a:endParaRPr>
          </a:p>
          <a:p>
            <a:pPr marL="94615">
              <a:lnSpc>
                <a:spcPct val="100000"/>
              </a:lnSpc>
              <a:spcBef>
                <a:spcPts val="15"/>
              </a:spcBef>
            </a:pPr>
            <a:r>
              <a:rPr sz="900" b="1" spc="-5" dirty="0">
                <a:latin typeface="LM Sans 10"/>
                <a:cs typeface="LM Sans 10"/>
              </a:rPr>
              <a:t>return </a:t>
            </a:r>
            <a:r>
              <a:rPr sz="900" i="1" spc="-5" dirty="0">
                <a:latin typeface="LM Sans 9"/>
                <a:cs typeface="LM Sans 9"/>
              </a:rPr>
              <a:t>m </a:t>
            </a:r>
            <a:r>
              <a:rPr sz="900" spc="-5" dirty="0">
                <a:latin typeface="LM Sans 9"/>
                <a:cs typeface="LM Sans 9"/>
              </a:rPr>
              <a:t>and </a:t>
            </a:r>
            <a:r>
              <a:rPr sz="900" i="1" dirty="0">
                <a:latin typeface="LM Sans 9"/>
                <a:cs typeface="LM Sans 9"/>
              </a:rPr>
              <a:t>s</a:t>
            </a:r>
            <a:r>
              <a:rPr sz="900" dirty="0">
                <a:latin typeface="LM Sans 9"/>
                <a:cs typeface="LM Sans 9"/>
              </a:rPr>
              <a:t>;</a:t>
            </a:r>
            <a:r>
              <a:rPr sz="900" dirty="0">
                <a:solidFill>
                  <a:srgbClr val="FF0000"/>
                </a:solidFill>
                <a:latin typeface="LM Sans 9"/>
                <a:cs typeface="LM Sans 9"/>
              </a:rPr>
              <a:t>(Optimum </a:t>
            </a:r>
            <a:r>
              <a:rPr sz="900" spc="-5" dirty="0">
                <a:solidFill>
                  <a:srgbClr val="FF0000"/>
                </a:solidFill>
                <a:latin typeface="LM Sans 9"/>
                <a:cs typeface="LM Sans 9"/>
              </a:rPr>
              <a:t>in </a:t>
            </a:r>
            <a:r>
              <a:rPr sz="900" i="1" dirty="0">
                <a:solidFill>
                  <a:srgbClr val="FF0000"/>
                </a:solidFill>
                <a:latin typeface="LM Sans 9"/>
                <a:cs typeface="LM Sans 9"/>
              </a:rPr>
              <a:t>m</a:t>
            </a:r>
            <a:r>
              <a:rPr sz="900" dirty="0">
                <a:solidFill>
                  <a:srgbClr val="FF0000"/>
                </a:solidFill>
                <a:latin typeface="LM Sans 9"/>
                <a:cs typeface="LM Sans 9"/>
              </a:rPr>
              <a:t>[1</a:t>
            </a:r>
            <a:r>
              <a:rPr sz="900" i="1" dirty="0">
                <a:solidFill>
                  <a:srgbClr val="FF0000"/>
                </a:solidFill>
                <a:latin typeface="LM Sans 9"/>
                <a:cs typeface="LM Sans 9"/>
              </a:rPr>
              <a:t>,</a:t>
            </a:r>
            <a:r>
              <a:rPr sz="900" i="1" spc="-160" dirty="0">
                <a:solidFill>
                  <a:srgbClr val="FF0000"/>
                </a:solidFill>
                <a:latin typeface="LM Sans 9"/>
                <a:cs typeface="LM Sans 9"/>
              </a:rPr>
              <a:t> </a:t>
            </a:r>
            <a:r>
              <a:rPr sz="900" i="1" dirty="0">
                <a:solidFill>
                  <a:srgbClr val="FF0000"/>
                </a:solidFill>
                <a:latin typeface="LM Sans 9"/>
                <a:cs typeface="LM Sans 9"/>
              </a:rPr>
              <a:t>n</a:t>
            </a:r>
            <a:r>
              <a:rPr sz="900" dirty="0">
                <a:solidFill>
                  <a:srgbClr val="FF0000"/>
                </a:solidFill>
                <a:latin typeface="LM Sans 9"/>
                <a:cs typeface="LM Sans 9"/>
              </a:rPr>
              <a:t>])</a:t>
            </a:r>
            <a:endParaRPr sz="900">
              <a:latin typeface="LM Sans 9"/>
              <a:cs typeface="LM Sans 9"/>
            </a:endParaRPr>
          </a:p>
          <a:p>
            <a:pPr>
              <a:lnSpc>
                <a:spcPct val="100000"/>
              </a:lnSpc>
              <a:spcBef>
                <a:spcPts val="65"/>
              </a:spcBef>
            </a:pPr>
            <a:endParaRPr sz="1000">
              <a:latin typeface="LM Sans 9"/>
              <a:cs typeface="LM Sans 9"/>
            </a:endParaRPr>
          </a:p>
          <a:p>
            <a:pPr marL="12700">
              <a:lnSpc>
                <a:spcPct val="100000"/>
              </a:lnSpc>
              <a:spcBef>
                <a:spcPts val="5"/>
              </a:spcBef>
            </a:pPr>
            <a:r>
              <a:rPr sz="900" spc="-10" dirty="0">
                <a:solidFill>
                  <a:srgbClr val="0000FF"/>
                </a:solidFill>
                <a:latin typeface="LM Sans 9"/>
                <a:cs typeface="LM Sans 9"/>
              </a:rPr>
              <a:t>Complexity</a:t>
            </a:r>
            <a:r>
              <a:rPr sz="900" spc="-10" dirty="0">
                <a:latin typeface="LM Sans 9"/>
                <a:cs typeface="LM Sans 9"/>
              </a:rPr>
              <a:t>: </a:t>
            </a:r>
            <a:r>
              <a:rPr sz="900" spc="-5" dirty="0">
                <a:latin typeface="LM Sans 9"/>
                <a:cs typeface="LM Sans 9"/>
              </a:rPr>
              <a:t>The </a:t>
            </a:r>
            <a:r>
              <a:rPr sz="900" dirty="0">
                <a:latin typeface="LM Sans 9"/>
                <a:cs typeface="LM Sans 9"/>
              </a:rPr>
              <a:t>loops </a:t>
            </a:r>
            <a:r>
              <a:rPr sz="900" spc="-15" dirty="0">
                <a:latin typeface="LM Sans 9"/>
                <a:cs typeface="LM Sans 9"/>
              </a:rPr>
              <a:t>are </a:t>
            </a:r>
            <a:r>
              <a:rPr sz="900" spc="-5" dirty="0">
                <a:latin typeface="LM Sans 9"/>
                <a:cs typeface="LM Sans 9"/>
              </a:rPr>
              <a:t>nested three levels deep. Each </a:t>
            </a:r>
            <a:r>
              <a:rPr sz="900" dirty="0">
                <a:latin typeface="LM Sans 9"/>
                <a:cs typeface="LM Sans 9"/>
              </a:rPr>
              <a:t>loop </a:t>
            </a:r>
            <a:r>
              <a:rPr sz="900" spc="-5" dirty="0">
                <a:latin typeface="LM Sans 9"/>
                <a:cs typeface="LM Sans 9"/>
              </a:rPr>
              <a:t>index </a:t>
            </a:r>
            <a:r>
              <a:rPr sz="900" spc="-10" dirty="0">
                <a:latin typeface="LM Sans 9"/>
                <a:cs typeface="LM Sans 9"/>
              </a:rPr>
              <a:t>takes</a:t>
            </a:r>
            <a:r>
              <a:rPr sz="900" spc="280" dirty="0">
                <a:latin typeface="LM Sans 9"/>
                <a:cs typeface="LM Sans 9"/>
              </a:rPr>
              <a:t> </a:t>
            </a:r>
            <a:r>
              <a:rPr sz="900" spc="-5" dirty="0">
                <a:latin typeface="LM Sans 9"/>
                <a:cs typeface="LM Sans 9"/>
              </a:rPr>
              <a:t>on</a:t>
            </a:r>
            <a:endParaRPr sz="900">
              <a:latin typeface="LM Sans 9"/>
              <a:cs typeface="LM Sans 9"/>
            </a:endParaRPr>
          </a:p>
        </p:txBody>
      </p:sp>
      <p:sp>
        <p:nvSpPr>
          <p:cNvPr id="17" name="object 17"/>
          <p:cNvSpPr txBox="1"/>
          <p:nvPr/>
        </p:nvSpPr>
        <p:spPr>
          <a:xfrm>
            <a:off x="347294" y="3179716"/>
            <a:ext cx="3784600" cy="269875"/>
          </a:xfrm>
          <a:prstGeom prst="rect">
            <a:avLst/>
          </a:prstGeom>
        </p:spPr>
        <p:txBody>
          <a:bodyPr vert="horz" wrap="square" lIns="0" tIns="12065" rIns="0" bIns="0" rtlCol="0">
            <a:spAutoFit/>
          </a:bodyPr>
          <a:lstStyle/>
          <a:p>
            <a:pPr marL="2276475">
              <a:lnSpc>
                <a:spcPts val="400"/>
              </a:lnSpc>
              <a:spcBef>
                <a:spcPts val="95"/>
              </a:spcBef>
              <a:tabLst>
                <a:tab pos="3646170" algn="l"/>
              </a:tabLst>
            </a:pPr>
            <a:r>
              <a:rPr sz="600" spc="-5" dirty="0">
                <a:latin typeface="LM Sans 8"/>
                <a:cs typeface="LM Sans 8"/>
              </a:rPr>
              <a:t>3	2</a:t>
            </a:r>
            <a:endParaRPr sz="600" dirty="0">
              <a:latin typeface="LM Sans 8"/>
              <a:cs typeface="LM Sans 8"/>
            </a:endParaRPr>
          </a:p>
          <a:p>
            <a:pPr marL="12700">
              <a:lnSpc>
                <a:spcPts val="760"/>
              </a:lnSpc>
            </a:pPr>
            <a:r>
              <a:rPr sz="900" i="1" spc="-40" dirty="0">
                <a:latin typeface="DejaVu Sans"/>
                <a:cs typeface="DejaVu Sans"/>
              </a:rPr>
              <a:t>≤ </a:t>
            </a:r>
            <a:r>
              <a:rPr sz="900" i="1" spc="-5" dirty="0">
                <a:latin typeface="LM Sans 9"/>
                <a:cs typeface="LM Sans 9"/>
              </a:rPr>
              <a:t>n </a:t>
            </a:r>
            <a:r>
              <a:rPr sz="900" spc="-5" dirty="0">
                <a:latin typeface="LM Sans 9"/>
                <a:cs typeface="LM Sans 9"/>
              </a:rPr>
              <a:t>values. Hence the</a:t>
            </a:r>
            <a:r>
              <a:rPr sz="900" spc="-5" dirty="0">
                <a:solidFill>
                  <a:srgbClr val="FF0000"/>
                </a:solidFill>
                <a:latin typeface="LM Sans 9"/>
                <a:cs typeface="LM Sans 9"/>
              </a:rPr>
              <a:t>time complexity</a:t>
            </a:r>
            <a:r>
              <a:rPr sz="900" spc="-5" dirty="0">
                <a:latin typeface="LM Sans 9"/>
                <a:cs typeface="LM Sans 9"/>
              </a:rPr>
              <a:t>is </a:t>
            </a:r>
            <a:r>
              <a:rPr sz="900" i="1" spc="15" dirty="0">
                <a:latin typeface="LM Sans 9"/>
                <a:cs typeface="LM Sans 9"/>
              </a:rPr>
              <a:t>O</a:t>
            </a:r>
            <a:r>
              <a:rPr sz="900" spc="15" dirty="0">
                <a:latin typeface="LM Sans 9"/>
                <a:cs typeface="LM Sans 9"/>
              </a:rPr>
              <a:t>(</a:t>
            </a:r>
            <a:r>
              <a:rPr sz="900" i="1" spc="15" dirty="0">
                <a:latin typeface="LM Sans 9"/>
                <a:cs typeface="LM Sans 9"/>
              </a:rPr>
              <a:t>n </a:t>
            </a:r>
            <a:r>
              <a:rPr sz="900" spc="-5" dirty="0">
                <a:latin typeface="LM Sans 9"/>
                <a:cs typeface="LM Sans 9"/>
              </a:rPr>
              <a:t>). </a:t>
            </a:r>
            <a:r>
              <a:rPr sz="900" spc="-5" dirty="0">
                <a:solidFill>
                  <a:srgbClr val="FF0000"/>
                </a:solidFill>
                <a:latin typeface="LM Sans 9"/>
                <a:cs typeface="LM Sans 9"/>
              </a:rPr>
              <a:t>Space complexity</a:t>
            </a:r>
            <a:r>
              <a:rPr sz="900" spc="-5" dirty="0">
                <a:latin typeface="LM Sans 9"/>
                <a:cs typeface="LM Sans 9"/>
              </a:rPr>
              <a:t>is Θ( </a:t>
            </a:r>
            <a:r>
              <a:rPr sz="900" i="1" spc="-5" dirty="0">
                <a:latin typeface="LM Sans 9"/>
                <a:cs typeface="LM Sans 9"/>
              </a:rPr>
              <a:t>n</a:t>
            </a:r>
            <a:r>
              <a:rPr sz="900" i="1" spc="90" dirty="0">
                <a:latin typeface="LM Sans 9"/>
                <a:cs typeface="LM Sans 9"/>
              </a:rPr>
              <a:t> </a:t>
            </a:r>
            <a:r>
              <a:rPr sz="900" spc="-5" dirty="0">
                <a:latin typeface="LM Sans 9"/>
                <a:cs typeface="LM Sans 9"/>
              </a:rPr>
              <a:t>).</a:t>
            </a:r>
            <a:endParaRPr sz="900" dirty="0">
              <a:latin typeface="LM Sans 9"/>
              <a:cs typeface="LM Sans 9"/>
            </a:endParaRPr>
          </a:p>
          <a:p>
            <a:pPr marL="410209">
              <a:lnSpc>
                <a:spcPct val="100000"/>
              </a:lnSpc>
              <a:spcBef>
                <a:spcPts val="45"/>
              </a:spcBef>
              <a:tabLst>
                <a:tab pos="2511425" algn="l"/>
              </a:tabLst>
            </a:pPr>
            <a:r>
              <a:rPr sz="600" b="1" spc="-5" dirty="0">
                <a:solidFill>
                  <a:srgbClr val="FFFFFF"/>
                </a:solidFill>
                <a:latin typeface="LM Sans 10"/>
                <a:cs typeface="LM Sans 10"/>
              </a:rPr>
              <a:t>Version of </a:t>
            </a:r>
            <a:r>
              <a:rPr sz="600" b="1" dirty="0">
                <a:solidFill>
                  <a:srgbClr val="FFFFFF"/>
                </a:solidFill>
                <a:latin typeface="LM Sans 10"/>
                <a:cs typeface="LM Sans 10"/>
              </a:rPr>
              <a:t>October</a:t>
            </a:r>
            <a:r>
              <a:rPr sz="600" b="1" spc="15" dirty="0">
                <a:solidFill>
                  <a:srgbClr val="FFFFFF"/>
                </a:solidFill>
                <a:latin typeface="LM Sans 10"/>
                <a:cs typeface="LM Sans 10"/>
              </a:rPr>
              <a:t> </a:t>
            </a:r>
            <a:r>
              <a:rPr sz="600" b="1" spc="-5" dirty="0">
                <a:solidFill>
                  <a:srgbClr val="FFFFFF"/>
                </a:solidFill>
                <a:latin typeface="LM Sans 10"/>
                <a:cs typeface="LM Sans 10"/>
              </a:rPr>
              <a:t>26,</a:t>
            </a:r>
            <a:r>
              <a:rPr sz="600" b="1" dirty="0">
                <a:solidFill>
                  <a:srgbClr val="FFFFFF"/>
                </a:solidFill>
                <a:latin typeface="LM Sans 10"/>
                <a:cs typeface="LM Sans 10"/>
              </a:rPr>
              <a:t> </a:t>
            </a:r>
            <a:r>
              <a:rPr sz="600" b="1" spc="-5" dirty="0">
                <a:solidFill>
                  <a:srgbClr val="FFFFFF"/>
                </a:solidFill>
                <a:latin typeface="LM Sans 10"/>
                <a:cs typeface="LM Sans 10"/>
              </a:rPr>
              <a:t>2016	</a:t>
            </a:r>
            <a:r>
              <a:rPr sz="600" b="1" spc="-10" dirty="0">
                <a:solidFill>
                  <a:srgbClr val="FFFFFF"/>
                </a:solidFill>
                <a:latin typeface="LM Sans 10"/>
                <a:cs typeface="LM Sans 10"/>
                <a:hlinkClick r:id="rId2" action="ppaction://hlinksldjump"/>
              </a:rPr>
              <a:t>Chain </a:t>
            </a:r>
            <a:r>
              <a:rPr sz="600" b="1" spc="-5" dirty="0">
                <a:solidFill>
                  <a:srgbClr val="FFFFFF"/>
                </a:solidFill>
                <a:latin typeface="LM Sans 10"/>
                <a:cs typeface="LM Sans 10"/>
                <a:hlinkClick r:id="rId2" action="ppaction://hlinksldjump"/>
              </a:rPr>
              <a:t>Matrix</a:t>
            </a:r>
            <a:r>
              <a:rPr sz="600" b="1" dirty="0">
                <a:solidFill>
                  <a:srgbClr val="FFFFFF"/>
                </a:solidFill>
                <a:latin typeface="LM Sans 10"/>
                <a:cs typeface="LM Sans 10"/>
                <a:hlinkClick r:id="rId2" action="ppaction://hlinksldjump"/>
              </a:rPr>
              <a:t> </a:t>
            </a:r>
            <a:r>
              <a:rPr sz="600" b="1" spc="-5" dirty="0">
                <a:solidFill>
                  <a:srgbClr val="FFFFFF"/>
                </a:solidFill>
                <a:latin typeface="LM Sans 10"/>
                <a:cs typeface="LM Sans 10"/>
                <a:hlinkClick r:id="rId2" action="ppaction://hlinksldjump"/>
              </a:rPr>
              <a:t>Multiplication</a:t>
            </a:r>
            <a:endParaRPr sz="600" dirty="0">
              <a:latin typeface="LM Sans 10"/>
              <a:cs typeface="LM Sans 10"/>
            </a:endParaRPr>
          </a:p>
        </p:txBody>
      </p:sp>
    </p:spTree>
  </p:cSld>
  <p:clrMapOvr>
    <a:masterClrMapping/>
  </p:clrMapOvr>
  <p:transition>
    <p:cut/>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2" y="-5107"/>
            <a:ext cx="4300575" cy="215444"/>
          </a:xfrm>
        </p:spPr>
        <p:txBody>
          <a:bodyPr/>
          <a:lstStyle/>
          <a:p>
            <a:r>
              <a:rPr lang="en-US" dirty="0"/>
              <a:t>Reference</a:t>
            </a:r>
          </a:p>
        </p:txBody>
      </p:sp>
      <p:sp>
        <p:nvSpPr>
          <p:cNvPr id="3" name="Text Placeholder 2"/>
          <p:cNvSpPr>
            <a:spLocks noGrp="1"/>
          </p:cNvSpPr>
          <p:nvPr>
            <p:ph type="body" idx="1"/>
          </p:nvPr>
        </p:nvSpPr>
        <p:spPr>
          <a:xfrm>
            <a:off x="321894" y="1194689"/>
            <a:ext cx="3912235" cy="830997"/>
          </a:xfrm>
        </p:spPr>
        <p:txBody>
          <a:bodyPr/>
          <a:lstStyle/>
          <a:p>
            <a:r>
              <a:rPr lang="en-US" sz="1800" b="1" dirty="0">
                <a:latin typeface="+mn-lt"/>
              </a:rPr>
              <a:t>Introduction to Algorithms</a:t>
            </a:r>
          </a:p>
          <a:p>
            <a:pPr lvl="1"/>
            <a:r>
              <a:rPr lang="en-US" dirty="0"/>
              <a:t>Thomas H. </a:t>
            </a:r>
            <a:r>
              <a:rPr lang="en-US" dirty="0" err="1"/>
              <a:t>Cormen</a:t>
            </a:r>
            <a:endParaRPr lang="en-US" dirty="0"/>
          </a:p>
          <a:p>
            <a:pPr lvl="1"/>
            <a:r>
              <a:rPr lang="en-US" dirty="0"/>
              <a:t>Chapter # 15 (</a:t>
            </a:r>
            <a:r>
              <a:rPr lang="en-US"/>
              <a:t>3</a:t>
            </a:r>
            <a:r>
              <a:rPr lang="en-US" baseline="30000"/>
              <a:t>rd</a:t>
            </a:r>
            <a:r>
              <a:rPr lang="en-US"/>
              <a:t> Edition)</a:t>
            </a:r>
            <a:endParaRPr lang="en-US" dirty="0"/>
          </a:p>
        </p:txBody>
      </p:sp>
    </p:spTree>
    <p:extLst>
      <p:ext uri="{BB962C8B-B14F-4D97-AF65-F5344CB8AC3E}">
        <p14:creationId xmlns:p14="http://schemas.microsoft.com/office/powerpoint/2010/main" val="1542058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2921</TotalTime>
  <Words>10866</Words>
  <Application>Microsoft Office PowerPoint</Application>
  <PresentationFormat>Custom</PresentationFormat>
  <Paragraphs>1423</Paragraphs>
  <Slides>128</Slides>
  <Notes>3</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2</vt:i4>
      </vt:variant>
      <vt:variant>
        <vt:lpstr>Slide Titles</vt:lpstr>
      </vt:variant>
      <vt:variant>
        <vt:i4>128</vt:i4>
      </vt:variant>
    </vt:vector>
  </HeadingPairs>
  <TitlesOfParts>
    <vt:vector size="146" baseType="lpstr">
      <vt:lpstr>新細明體</vt:lpstr>
      <vt:lpstr>Arial</vt:lpstr>
      <vt:lpstr>Calibri</vt:lpstr>
      <vt:lpstr>DejaVu Sans</vt:lpstr>
      <vt:lpstr>DejaVu Sans Condensed</vt:lpstr>
      <vt:lpstr>LM Roman Dunhill 10</vt:lpstr>
      <vt:lpstr>LM Sans 10</vt:lpstr>
      <vt:lpstr>LM Sans 12</vt:lpstr>
      <vt:lpstr>LM Sans 8</vt:lpstr>
      <vt:lpstr>LM Sans 9</vt:lpstr>
      <vt:lpstr>Matura MT Script Capitals</vt:lpstr>
      <vt:lpstr>Symbol</vt:lpstr>
      <vt:lpstr>Times New Roman</vt:lpstr>
      <vt:lpstr>Verdana</vt:lpstr>
      <vt:lpstr>Wingdings</vt:lpstr>
      <vt:lpstr>Office Theme</vt:lpstr>
      <vt:lpstr>方程式</vt:lpstr>
      <vt:lpstr>Photo Editor Photo</vt:lpstr>
      <vt:lpstr>Matrix Multiplication</vt:lpstr>
      <vt:lpstr>Outline</vt:lpstr>
      <vt:lpstr>Rules to multiply Two Matrices</vt:lpstr>
      <vt:lpstr>PowerPoint Presentation</vt:lpstr>
      <vt:lpstr>PowerPoint Presentation</vt:lpstr>
      <vt:lpstr>PowerPoint Presentation</vt:lpstr>
      <vt:lpstr>Review of Matrix Multiplication</vt:lpstr>
      <vt:lpstr>Review of Matrix Multiplication</vt:lpstr>
      <vt:lpstr>Review of Matrix Multiplication</vt:lpstr>
      <vt:lpstr>Review of Matrix</vt:lpstr>
      <vt:lpstr>PowerPoint Presentation</vt:lpstr>
      <vt:lpstr>PowerPoint Presentation</vt:lpstr>
      <vt:lpstr>Remarks on Matrix Multiplication</vt:lpstr>
      <vt:lpstr>Remarks on Matrix Multiplication</vt:lpstr>
      <vt:lpstr>PowerPoint Presentation</vt:lpstr>
      <vt:lpstr>PowerPoint Presentation</vt:lpstr>
      <vt:lpstr>Matrix Multiplication of ABC</vt:lpstr>
      <vt:lpstr>Matrix Multiplication of ABC</vt:lpstr>
      <vt:lpstr>Matrix Multiplication of ABC</vt:lpstr>
      <vt:lpstr>Conclusion</vt:lpstr>
      <vt:lpstr>Outline</vt:lpstr>
      <vt:lpstr>The Chain Matrix Multiplication Problem</vt:lpstr>
      <vt:lpstr>The Chain Matrix Multiplication Problem</vt:lpstr>
      <vt:lpstr>The Chain Matrix Multiplication Problem</vt:lpstr>
      <vt:lpstr>The Chain Matrix Multiplication Problem</vt:lpstr>
      <vt:lpstr>PowerPoint Presentation</vt:lpstr>
      <vt:lpstr>PowerPoint Presentation</vt:lpstr>
      <vt:lpstr>Developing a Dynamic Programming Algorithm</vt:lpstr>
      <vt:lpstr>Example:</vt:lpstr>
      <vt:lpstr>Note</vt:lpstr>
      <vt:lpstr>Developing a Dynamic Programming Algorithm</vt:lpstr>
      <vt:lpstr>Relationships among subproblems</vt:lpstr>
      <vt:lpstr>PowerPoint Presentation</vt:lpstr>
      <vt:lpstr>PowerPoint Presentation</vt:lpstr>
      <vt:lpstr>Relationships among subproblems</vt:lpstr>
      <vt:lpstr>Relationships among subproblems</vt:lpstr>
      <vt:lpstr>Relationships among subproblems</vt:lpstr>
      <vt:lpstr>Relationships among subproblems</vt:lpstr>
      <vt:lpstr>Optimal Structure Property</vt:lpstr>
      <vt:lpstr>Optimal Structure Property</vt:lpstr>
      <vt:lpstr>Optimal Structure Property</vt:lpstr>
      <vt:lpstr>PowerPoint Presentation</vt:lpstr>
      <vt:lpstr>Relationships among subproblems</vt:lpstr>
      <vt:lpstr>Relationships among subproblems</vt:lpstr>
      <vt:lpstr>Relationships among subproblems</vt:lpstr>
      <vt:lpstr>Relationships among subproblems</vt:lpstr>
      <vt:lpstr>PowerPoint Presentation</vt:lpstr>
      <vt:lpstr>Overlapping Sub-Problems</vt:lpstr>
      <vt:lpstr>PowerPoint Presentation</vt:lpstr>
      <vt:lpstr>Developing a Dynamic Programming Algorithm</vt:lpstr>
      <vt:lpstr>Developing a Dynamic Programming Algorithm</vt:lpstr>
      <vt:lpstr>Developing a Dynamic Programming Algorithm</vt:lpstr>
      <vt:lpstr>Developing a Dynamic Programming Algorithm</vt:lpstr>
      <vt:lpstr>Developing a Dynamic Programming Algorithm</vt:lpstr>
      <vt:lpstr>Developing a Dynamic Programming Algorithm</vt:lpstr>
      <vt:lpstr>Developing a Dynamic Programming Algorithm</vt:lpstr>
      <vt:lpstr>PowerPoint Presentation</vt:lpstr>
      <vt:lpstr>Example for the Bottom-Up Computation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 Continued</vt:lpstr>
      <vt:lpstr>Example – Continued</vt:lpstr>
      <vt:lpstr>Example – Continued</vt:lpstr>
      <vt:lpstr>Example – Continued</vt:lpstr>
      <vt:lpstr>Example – Continued</vt:lpstr>
      <vt:lpstr>Example – Continued</vt:lpstr>
      <vt:lpstr>Example – Continued</vt:lpstr>
      <vt:lpstr>Example – Continued</vt:lpstr>
      <vt:lpstr>Example – Continued</vt:lpstr>
      <vt:lpstr>Example – Continued</vt:lpstr>
      <vt:lpstr>Constructing a Solution</vt:lpstr>
      <vt:lpstr>PowerPoint Presentation</vt:lpstr>
      <vt:lpstr>Developing a Dynamic Programming Algorithm</vt:lpstr>
      <vt:lpstr>Developing a Dynamic Programming Algorithm</vt:lpstr>
      <vt:lpstr>Developing a Dynamic Programming Algorithm</vt:lpstr>
      <vt:lpstr>Developing a Dynamic Programming Algorithm</vt:lpstr>
      <vt:lpstr>Developing a Dynamic Programming Algorithm</vt:lpstr>
      <vt:lpstr>Developing a Dynamic Programming Algorithm</vt:lpstr>
      <vt:lpstr>Example 2:</vt:lpstr>
      <vt:lpstr>PowerPoint Presentation</vt:lpstr>
      <vt:lpstr>PowerPoint Presentation</vt:lpstr>
      <vt:lpstr>Constructing the optimal solution</vt:lpstr>
      <vt:lpstr>Constructing the optimal solution</vt:lpstr>
      <vt:lpstr>PowerPoint Presentation</vt:lpstr>
      <vt:lpstr>PowerPoint Presentation</vt:lpstr>
      <vt:lpstr>Step 4...</vt:lpstr>
      <vt:lpstr>Step 4...</vt:lpstr>
      <vt:lpstr>Step 4...</vt:lpstr>
      <vt:lpstr>Step 4...</vt:lpstr>
      <vt:lpstr>Step 4...</vt:lpstr>
      <vt:lpstr>Step 4...</vt:lpstr>
      <vt:lpstr>Step 4...</vt:lpstr>
      <vt:lpstr>Step 4...</vt:lpstr>
      <vt:lpstr>PowerPoint Presentation</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The Dynamic Programming Algorithm</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Chain Matrix Multiplication</dc:title>
  <dc:creator>Version of October 26, 2016</dc:creator>
  <cp:lastModifiedBy>Noor ul Ain</cp:lastModifiedBy>
  <cp:revision>105</cp:revision>
  <dcterms:created xsi:type="dcterms:W3CDTF">2020-04-01T16:02:40Z</dcterms:created>
  <dcterms:modified xsi:type="dcterms:W3CDTF">2025-11-19T06:23:01Z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2016-10-26T00:00:00Z</vt:filetime>
  </property>
  <property fmtid="{D5CDD505-2E9C-101B-9397-08002B2CF9AE}" pid="3" name="Creator">
    <vt:lpwstr>LaTeX with Beamer class version 3.36</vt:lpwstr>
  </property>
  <property fmtid="{D5CDD505-2E9C-101B-9397-08002B2CF9AE}" pid="4" name="LastSaved">
    <vt:filetime>2020-04-01T00:00:00Z</vt:filetime>
  </property>
</Properties>
</file>