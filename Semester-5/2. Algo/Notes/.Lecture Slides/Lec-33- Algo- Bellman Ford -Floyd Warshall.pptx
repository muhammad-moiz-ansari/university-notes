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5"/>
  </p:notesMasterIdLst>
  <p:handoutMasterIdLst>
    <p:handoutMasterId r:id="rId56"/>
  </p:handoutMasterIdLst>
  <p:sldIdLst>
    <p:sldId id="418" r:id="rId2"/>
    <p:sldId id="369" r:id="rId3"/>
    <p:sldId id="370" r:id="rId4"/>
    <p:sldId id="371" r:id="rId5"/>
    <p:sldId id="372" r:id="rId6"/>
    <p:sldId id="421" r:id="rId7"/>
    <p:sldId id="373" r:id="rId8"/>
    <p:sldId id="374" r:id="rId9"/>
    <p:sldId id="422" r:id="rId10"/>
    <p:sldId id="426" r:id="rId11"/>
    <p:sldId id="425" r:id="rId12"/>
    <p:sldId id="427" r:id="rId13"/>
    <p:sldId id="431" r:id="rId14"/>
    <p:sldId id="430" r:id="rId15"/>
    <p:sldId id="429" r:id="rId16"/>
    <p:sldId id="428" r:id="rId17"/>
    <p:sldId id="433" r:id="rId18"/>
    <p:sldId id="432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5" r:id="rId28"/>
    <p:sldId id="446" r:id="rId29"/>
    <p:sldId id="414" r:id="rId30"/>
    <p:sldId id="415" r:id="rId31"/>
    <p:sldId id="416" r:id="rId32"/>
    <p:sldId id="417" r:id="rId33"/>
    <p:sldId id="460" r:id="rId34"/>
    <p:sldId id="450" r:id="rId35"/>
    <p:sldId id="452" r:id="rId36"/>
    <p:sldId id="461" r:id="rId37"/>
    <p:sldId id="453" r:id="rId38"/>
    <p:sldId id="454" r:id="rId39"/>
    <p:sldId id="449" r:id="rId40"/>
    <p:sldId id="464" r:id="rId41"/>
    <p:sldId id="465" r:id="rId42"/>
    <p:sldId id="466" r:id="rId43"/>
    <p:sldId id="467" r:id="rId44"/>
    <p:sldId id="468" r:id="rId45"/>
    <p:sldId id="469" r:id="rId46"/>
    <p:sldId id="470" r:id="rId47"/>
    <p:sldId id="455" r:id="rId48"/>
    <p:sldId id="462" r:id="rId49"/>
    <p:sldId id="463" r:id="rId50"/>
    <p:sldId id="456" r:id="rId51"/>
    <p:sldId id="457" r:id="rId52"/>
    <p:sldId id="458" r:id="rId53"/>
    <p:sldId id="459" r:id="rId5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600" autoAdjust="0"/>
  </p:normalViewPr>
  <p:slideViewPr>
    <p:cSldViewPr>
      <p:cViewPr varScale="1">
        <p:scale>
          <a:sx n="61" d="100"/>
          <a:sy n="61" d="100"/>
        </p:scale>
        <p:origin x="207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5834826-3169-47AE-844C-0A2375A1C9A1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930159E-F8F9-44EC-9481-1C11BCF7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68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82E95-47AE-49B1-8CB6-F1B58DC56F9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DADB0-CA90-46FA-A187-735DD73B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49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31714-DE9E-4352-A7E7-33E74F8D4C7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39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D31C6B16-7F67-482A-BD39-22FD1363F206}" type="datetime1">
              <a:rPr lang="en-US" smtClean="0"/>
              <a:t>11/26/2025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18A22C3-17C3-429C-B04D-9A99EC5E254F}" type="datetime1">
              <a:rPr lang="en-US" smtClean="0"/>
              <a:t>11/26/2025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22FBA-3E15-40F3-AF7F-16EB2757FB0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2071-300E-4273-BB6E-62101C796414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1073-5438-4C3B-A3F1-259ECA989B2D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562"/>
            <a:ext cx="7467600" cy="65563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372DC73-9E06-4EAE-A70B-D412C3D992E6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73CD-5BED-409E-B8E2-C9345FCB3C55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1AFCB02-FA47-41E8-9AAA-94A23F164915}" type="datetime1">
              <a:rPr lang="en-US" smtClean="0"/>
              <a:t>11/26/2025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276ED8E-9F02-46B3-848D-95E0565887A3}" type="datetime1">
              <a:rPr lang="en-US" smtClean="0"/>
              <a:t>11/26/2025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2855-4566-4CFE-B504-6F618464831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213B-E278-4AF5-83FB-1C7AF5B2C9E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81000" y="76200"/>
            <a:ext cx="7467600" cy="655638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7467600" cy="54071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87D65C8-C6EA-4AC9-9BEC-6F74BE9200FA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1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1116330">
              <a:lnSpc>
                <a:spcPct val="100000"/>
              </a:lnSpc>
              <a:spcBef>
                <a:spcPts val="15"/>
              </a:spcBef>
            </a:pPr>
            <a:r>
              <a:rPr lang="en-US" sz="4400" b="1" dirty="0">
                <a:solidFill>
                  <a:schemeClr val="tx1"/>
                </a:solidFill>
              </a:rPr>
              <a:t>Graph Theory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spc="-5" dirty="0">
                <a:solidFill>
                  <a:schemeClr val="tx1"/>
                </a:solidFill>
                <a:latin typeface="Times New Roman"/>
                <a:cs typeface="Times New Roman"/>
              </a:rPr>
              <a:t>Shortest Paths</a:t>
            </a:r>
            <a:r>
              <a:rPr lang="en-US" sz="4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II</a:t>
            </a:r>
            <a:br>
              <a:rPr lang="en-US" sz="440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4400" spc="-5" dirty="0">
                <a:solidFill>
                  <a:schemeClr val="tx1"/>
                </a:solidFill>
                <a:latin typeface="Times New Roman"/>
                <a:cs typeface="Times New Roman"/>
              </a:rPr>
              <a:t>Bellman-Ford</a:t>
            </a:r>
            <a:r>
              <a:rPr lang="en-US" sz="4400" spc="-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4400" spc="-5" dirty="0">
                <a:solidFill>
                  <a:schemeClr val="tx1"/>
                </a:solidFill>
                <a:latin typeface="Times New Roman"/>
                <a:cs typeface="Times New Roman"/>
              </a:rPr>
              <a:t>algorithm</a:t>
            </a:r>
            <a:br>
              <a:rPr lang="en-US" sz="4400" dirty="0">
                <a:latin typeface="Times New Roman"/>
                <a:cs typeface="Times New Roman"/>
              </a:rPr>
            </a:br>
            <a:endParaRPr lang="en-US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Design and Analysis of Algorithms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13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4063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Negative-weight</a:t>
            </a:r>
            <a:r>
              <a:rPr spc="-65" dirty="0"/>
              <a:t> </a:t>
            </a:r>
            <a:r>
              <a:rPr spc="-5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89736"/>
            <a:ext cx="8677910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3335" marR="5080" indent="-1270">
              <a:lnSpc>
                <a:spcPts val="3460"/>
              </a:lnSpc>
              <a:spcBef>
                <a:spcPts val="530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Recall: </a:t>
            </a:r>
            <a:r>
              <a:rPr sz="3200" spc="-5" dirty="0">
                <a:latin typeface="Times New Roman"/>
                <a:cs typeface="Times New Roman"/>
              </a:rPr>
              <a:t>If a graph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G =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contains a negative-  weight cycle, then some shortest paths may not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exist.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358" y="2184793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0337" y="3995737"/>
            <a:ext cx="868044" cy="766445"/>
            <a:chOff x="1430337" y="3995737"/>
            <a:chExt cx="868044" cy="766445"/>
          </a:xfrm>
        </p:grpSpPr>
        <p:sp>
          <p:nvSpPr>
            <p:cNvPr id="6" name="object 6"/>
            <p:cNvSpPr/>
            <p:nvPr/>
          </p:nvSpPr>
          <p:spPr>
            <a:xfrm>
              <a:off x="1505711" y="4071365"/>
              <a:ext cx="690371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87258" y="4050030"/>
              <a:ext cx="41093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4188" y="4050030"/>
              <a:ext cx="94043" cy="847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04188" y="4545660"/>
              <a:ext cx="158521" cy="11549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35100" y="4000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5100" y="4000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60017" y="406996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35337" y="3995737"/>
            <a:ext cx="4666615" cy="766445"/>
            <a:chOff x="3335337" y="3995737"/>
            <a:chExt cx="4666615" cy="766445"/>
          </a:xfrm>
        </p:grpSpPr>
        <p:sp>
          <p:nvSpPr>
            <p:cNvPr id="14" name="object 14"/>
            <p:cNvSpPr/>
            <p:nvPr/>
          </p:nvSpPr>
          <p:spPr>
            <a:xfrm>
              <a:off x="3410711" y="4071365"/>
              <a:ext cx="690372" cy="69037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40100" y="4000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40100" y="4000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15711" y="4071365"/>
              <a:ext cx="690372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5100" y="4000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5100" y="4000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20711" y="4071365"/>
              <a:ext cx="690372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02130" y="4050030"/>
              <a:ext cx="399630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30617" y="4050030"/>
              <a:ext cx="82638" cy="707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30617" y="4559655"/>
              <a:ext cx="147027" cy="10149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50100" y="4000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50100" y="4000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86446" y="4069969"/>
            <a:ext cx="205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14550" y="2436939"/>
            <a:ext cx="5035550" cy="1946275"/>
            <a:chOff x="2114550" y="2436939"/>
            <a:chExt cx="5035550" cy="1946275"/>
          </a:xfrm>
        </p:grpSpPr>
        <p:sp>
          <p:nvSpPr>
            <p:cNvPr id="28" name="object 28"/>
            <p:cNvSpPr/>
            <p:nvPr/>
          </p:nvSpPr>
          <p:spPr>
            <a:xfrm>
              <a:off x="2114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54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19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59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24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64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53911" y="3038093"/>
              <a:ext cx="690371" cy="6903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8330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8330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82004" y="2477604"/>
              <a:ext cx="441325" cy="489584"/>
            </a:xfrm>
            <a:custGeom>
              <a:avLst/>
              <a:gdLst/>
              <a:ahLst/>
              <a:cxnLst/>
              <a:rect l="l" t="t" r="r" b="b"/>
              <a:pathLst>
                <a:path w="441325" h="489585">
                  <a:moveTo>
                    <a:pt x="441020" y="489432"/>
                  </a:moveTo>
                  <a:lnTo>
                    <a:pt x="438247" y="443919"/>
                  </a:lnTo>
                  <a:lnTo>
                    <a:pt x="430160" y="398752"/>
                  </a:lnTo>
                  <a:lnTo>
                    <a:pt x="417108" y="354275"/>
                  </a:lnTo>
                  <a:lnTo>
                    <a:pt x="399439" y="310833"/>
                  </a:lnTo>
                  <a:lnTo>
                    <a:pt x="377501" y="268771"/>
                  </a:lnTo>
                  <a:lnTo>
                    <a:pt x="351643" y="228435"/>
                  </a:lnTo>
                  <a:lnTo>
                    <a:pt x="322213" y="190169"/>
                  </a:lnTo>
                  <a:lnTo>
                    <a:pt x="289560" y="154320"/>
                  </a:lnTo>
                  <a:lnTo>
                    <a:pt x="254032" y="121231"/>
                  </a:lnTo>
                  <a:lnTo>
                    <a:pt x="215978" y="91248"/>
                  </a:lnTo>
                  <a:lnTo>
                    <a:pt x="175745" y="64716"/>
                  </a:lnTo>
                  <a:lnTo>
                    <a:pt x="133682" y="41980"/>
                  </a:lnTo>
                  <a:lnTo>
                    <a:pt x="90138" y="23385"/>
                  </a:lnTo>
                  <a:lnTo>
                    <a:pt x="45461" y="9276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24550" y="2436939"/>
              <a:ext cx="88900" cy="85725"/>
            </a:xfrm>
            <a:custGeom>
              <a:avLst/>
              <a:gdLst/>
              <a:ahLst/>
              <a:cxnLst/>
              <a:rect l="l" t="t" r="r" b="b"/>
              <a:pathLst>
                <a:path w="88900" h="85725">
                  <a:moveTo>
                    <a:pt x="88671" y="0"/>
                  </a:moveTo>
                  <a:lnTo>
                    <a:pt x="0" y="36385"/>
                  </a:lnTo>
                  <a:lnTo>
                    <a:pt x="82308" y="85496"/>
                  </a:lnTo>
                  <a:lnTo>
                    <a:pt x="56997" y="40627"/>
                  </a:lnTo>
                  <a:lnTo>
                    <a:pt x="886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84862" y="3704069"/>
              <a:ext cx="534035" cy="455295"/>
            </a:xfrm>
            <a:custGeom>
              <a:avLst/>
              <a:gdLst/>
              <a:ahLst/>
              <a:cxnLst/>
              <a:rect l="l" t="t" r="r" b="b"/>
              <a:pathLst>
                <a:path w="534035" h="455295">
                  <a:moveTo>
                    <a:pt x="0" y="455180"/>
                  </a:moveTo>
                  <a:lnTo>
                    <a:pt x="46615" y="452659"/>
                  </a:lnTo>
                  <a:lnTo>
                    <a:pt x="92920" y="445294"/>
                  </a:lnTo>
                  <a:lnTo>
                    <a:pt x="138600" y="433381"/>
                  </a:lnTo>
                  <a:lnTo>
                    <a:pt x="183345" y="417220"/>
                  </a:lnTo>
                  <a:lnTo>
                    <a:pt x="226842" y="397105"/>
                  </a:lnTo>
                  <a:lnTo>
                    <a:pt x="268779" y="373336"/>
                  </a:lnTo>
                  <a:lnTo>
                    <a:pt x="308845" y="346208"/>
                  </a:lnTo>
                  <a:lnTo>
                    <a:pt x="346727" y="316020"/>
                  </a:lnTo>
                  <a:lnTo>
                    <a:pt x="382113" y="283068"/>
                  </a:lnTo>
                  <a:lnTo>
                    <a:pt x="414692" y="247651"/>
                  </a:lnTo>
                  <a:lnTo>
                    <a:pt x="444151" y="210064"/>
                  </a:lnTo>
                  <a:lnTo>
                    <a:pt x="470178" y="170605"/>
                  </a:lnTo>
                  <a:lnTo>
                    <a:pt x="492461" y="129572"/>
                  </a:lnTo>
                  <a:lnTo>
                    <a:pt x="510689" y="87262"/>
                  </a:lnTo>
                  <a:lnTo>
                    <a:pt x="524549" y="43972"/>
                  </a:lnTo>
                  <a:lnTo>
                    <a:pt x="53373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73710" y="3646487"/>
              <a:ext cx="85725" cy="88900"/>
            </a:xfrm>
            <a:custGeom>
              <a:avLst/>
              <a:gdLst/>
              <a:ahLst/>
              <a:cxnLst/>
              <a:rect l="l" t="t" r="r" b="b"/>
              <a:pathLst>
                <a:path w="85725" h="88900">
                  <a:moveTo>
                    <a:pt x="49314" y="0"/>
                  </a:moveTo>
                  <a:lnTo>
                    <a:pt x="0" y="82181"/>
                  </a:lnTo>
                  <a:lnTo>
                    <a:pt x="44932" y="56984"/>
                  </a:lnTo>
                  <a:lnTo>
                    <a:pt x="85471" y="88760"/>
                  </a:lnTo>
                  <a:lnTo>
                    <a:pt x="493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83607" y="3038093"/>
              <a:ext cx="691133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1325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1325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57343" y="2473324"/>
              <a:ext cx="488315" cy="436245"/>
            </a:xfrm>
            <a:custGeom>
              <a:avLst/>
              <a:gdLst/>
              <a:ahLst/>
              <a:cxnLst/>
              <a:rect l="l" t="t" r="r" b="b"/>
              <a:pathLst>
                <a:path w="488314" h="436244">
                  <a:moveTo>
                    <a:pt x="487756" y="0"/>
                  </a:moveTo>
                  <a:lnTo>
                    <a:pt x="442438" y="2740"/>
                  </a:lnTo>
                  <a:lnTo>
                    <a:pt x="397464" y="10733"/>
                  </a:lnTo>
                  <a:lnTo>
                    <a:pt x="353175" y="23634"/>
                  </a:lnTo>
                  <a:lnTo>
                    <a:pt x="309915" y="41099"/>
                  </a:lnTo>
                  <a:lnTo>
                    <a:pt x="268026" y="62785"/>
                  </a:lnTo>
                  <a:lnTo>
                    <a:pt x="227852" y="88346"/>
                  </a:lnTo>
                  <a:lnTo>
                    <a:pt x="189734" y="117440"/>
                  </a:lnTo>
                  <a:lnTo>
                    <a:pt x="154017" y="149721"/>
                  </a:lnTo>
                  <a:lnTo>
                    <a:pt x="121043" y="184847"/>
                  </a:lnTo>
                  <a:lnTo>
                    <a:pt x="91154" y="222473"/>
                  </a:lnTo>
                  <a:lnTo>
                    <a:pt x="64695" y="262256"/>
                  </a:lnTo>
                  <a:lnTo>
                    <a:pt x="42006" y="303850"/>
                  </a:lnTo>
                  <a:lnTo>
                    <a:pt x="23433" y="346913"/>
                  </a:lnTo>
                  <a:lnTo>
                    <a:pt x="9316" y="391100"/>
                  </a:lnTo>
                  <a:lnTo>
                    <a:pt x="0" y="43606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716716" y="2878315"/>
              <a:ext cx="85725" cy="88900"/>
            </a:xfrm>
            <a:custGeom>
              <a:avLst/>
              <a:gdLst/>
              <a:ahLst/>
              <a:cxnLst/>
              <a:rect l="l" t="t" r="r" b="b"/>
              <a:pathLst>
                <a:path w="85725" h="88900">
                  <a:moveTo>
                    <a:pt x="0" y="0"/>
                  </a:moveTo>
                  <a:lnTo>
                    <a:pt x="36258" y="88722"/>
                  </a:lnTo>
                  <a:lnTo>
                    <a:pt x="85470" y="6489"/>
                  </a:lnTo>
                  <a:lnTo>
                    <a:pt x="40576" y="31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52975" y="3646487"/>
              <a:ext cx="481330" cy="509270"/>
            </a:xfrm>
            <a:custGeom>
              <a:avLst/>
              <a:gdLst/>
              <a:ahLst/>
              <a:cxnLst/>
              <a:rect l="l" t="t" r="r" b="b"/>
              <a:pathLst>
                <a:path w="481329" h="509270">
                  <a:moveTo>
                    <a:pt x="0" y="0"/>
                  </a:moveTo>
                  <a:lnTo>
                    <a:pt x="2668" y="44607"/>
                  </a:lnTo>
                  <a:lnTo>
                    <a:pt x="10464" y="88914"/>
                  </a:lnTo>
                  <a:lnTo>
                    <a:pt x="23071" y="132618"/>
                  </a:lnTo>
                  <a:lnTo>
                    <a:pt x="40172" y="175420"/>
                  </a:lnTo>
                  <a:lnTo>
                    <a:pt x="61452" y="217016"/>
                  </a:lnTo>
                  <a:lnTo>
                    <a:pt x="86595" y="257108"/>
                  </a:lnTo>
                  <a:lnTo>
                    <a:pt x="115285" y="295392"/>
                  </a:lnTo>
                  <a:lnTo>
                    <a:pt x="147205" y="331570"/>
                  </a:lnTo>
                  <a:lnTo>
                    <a:pt x="182040" y="365338"/>
                  </a:lnTo>
                  <a:lnTo>
                    <a:pt x="219474" y="396396"/>
                  </a:lnTo>
                  <a:lnTo>
                    <a:pt x="259190" y="424444"/>
                  </a:lnTo>
                  <a:lnTo>
                    <a:pt x="300873" y="449179"/>
                  </a:lnTo>
                  <a:lnTo>
                    <a:pt x="344206" y="470301"/>
                  </a:lnTo>
                  <a:lnTo>
                    <a:pt x="388874" y="487509"/>
                  </a:lnTo>
                  <a:lnTo>
                    <a:pt x="434560" y="500501"/>
                  </a:lnTo>
                  <a:lnTo>
                    <a:pt x="480948" y="50897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202770" y="4110824"/>
              <a:ext cx="88900" cy="85725"/>
            </a:xfrm>
            <a:custGeom>
              <a:avLst/>
              <a:gdLst/>
              <a:ahLst/>
              <a:cxnLst/>
              <a:rect l="l" t="t" r="r" b="b"/>
              <a:pathLst>
                <a:path w="88900" h="85725">
                  <a:moveTo>
                    <a:pt x="5664" y="0"/>
                  </a:moveTo>
                  <a:lnTo>
                    <a:pt x="31343" y="44653"/>
                  </a:lnTo>
                  <a:lnTo>
                    <a:pt x="0" y="85534"/>
                  </a:lnTo>
                  <a:lnTo>
                    <a:pt x="88366" y="48425"/>
                  </a:lnTo>
                  <a:lnTo>
                    <a:pt x="56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368925" y="2068957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23840" y="3097466"/>
            <a:ext cx="5581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&lt;</a:t>
            </a:r>
            <a:r>
              <a:rPr sz="3200" spc="-9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1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4063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Negative-weight</a:t>
            </a:r>
            <a:r>
              <a:rPr spc="-65" dirty="0"/>
              <a:t> </a:t>
            </a:r>
            <a:r>
              <a:rPr spc="-5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89736"/>
            <a:ext cx="8677910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3335" marR="5080" indent="-1270">
              <a:lnSpc>
                <a:spcPts val="3460"/>
              </a:lnSpc>
              <a:spcBef>
                <a:spcPts val="530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Recall: </a:t>
            </a:r>
            <a:r>
              <a:rPr sz="3200" spc="-5" dirty="0">
                <a:latin typeface="Times New Roman"/>
                <a:cs typeface="Times New Roman"/>
              </a:rPr>
              <a:t>If a graph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G =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contains a negative-  weight cycle, then some shortest paths may not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exist.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358" y="2184793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0337" y="2436939"/>
            <a:ext cx="6571615" cy="2325370"/>
            <a:chOff x="1430337" y="2436939"/>
            <a:chExt cx="6571615" cy="2325370"/>
          </a:xfrm>
        </p:grpSpPr>
        <p:sp>
          <p:nvSpPr>
            <p:cNvPr id="6" name="object 6"/>
            <p:cNvSpPr/>
            <p:nvPr/>
          </p:nvSpPr>
          <p:spPr>
            <a:xfrm>
              <a:off x="1505711" y="4071366"/>
              <a:ext cx="690371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87258" y="4050029"/>
              <a:ext cx="41093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4188" y="4050029"/>
              <a:ext cx="94043" cy="847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04188" y="4545660"/>
              <a:ext cx="158521" cy="11549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35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5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14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0711" y="4071366"/>
              <a:ext cx="690372" cy="69037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40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40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54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19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15711" y="4071366"/>
              <a:ext cx="690372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5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45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59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24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20711" y="4071366"/>
              <a:ext cx="690372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02130" y="4050029"/>
              <a:ext cx="399630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0617" y="4050029"/>
              <a:ext cx="82638" cy="707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30617" y="4559655"/>
              <a:ext cx="147027" cy="10149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50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50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64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53911" y="3038093"/>
              <a:ext cx="690371" cy="6903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8330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8330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82004" y="2477604"/>
              <a:ext cx="441325" cy="489584"/>
            </a:xfrm>
            <a:custGeom>
              <a:avLst/>
              <a:gdLst/>
              <a:ahLst/>
              <a:cxnLst/>
              <a:rect l="l" t="t" r="r" b="b"/>
              <a:pathLst>
                <a:path w="441325" h="489585">
                  <a:moveTo>
                    <a:pt x="441020" y="489432"/>
                  </a:moveTo>
                  <a:lnTo>
                    <a:pt x="438247" y="443919"/>
                  </a:lnTo>
                  <a:lnTo>
                    <a:pt x="430160" y="398752"/>
                  </a:lnTo>
                  <a:lnTo>
                    <a:pt x="417108" y="354275"/>
                  </a:lnTo>
                  <a:lnTo>
                    <a:pt x="399439" y="310833"/>
                  </a:lnTo>
                  <a:lnTo>
                    <a:pt x="377501" y="268771"/>
                  </a:lnTo>
                  <a:lnTo>
                    <a:pt x="351643" y="228435"/>
                  </a:lnTo>
                  <a:lnTo>
                    <a:pt x="322213" y="190169"/>
                  </a:lnTo>
                  <a:lnTo>
                    <a:pt x="289560" y="154320"/>
                  </a:lnTo>
                  <a:lnTo>
                    <a:pt x="254032" y="121231"/>
                  </a:lnTo>
                  <a:lnTo>
                    <a:pt x="215978" y="91248"/>
                  </a:lnTo>
                  <a:lnTo>
                    <a:pt x="175745" y="64716"/>
                  </a:lnTo>
                  <a:lnTo>
                    <a:pt x="133682" y="41980"/>
                  </a:lnTo>
                  <a:lnTo>
                    <a:pt x="90138" y="23385"/>
                  </a:lnTo>
                  <a:lnTo>
                    <a:pt x="45461" y="9276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24550" y="2436939"/>
              <a:ext cx="88900" cy="85725"/>
            </a:xfrm>
            <a:custGeom>
              <a:avLst/>
              <a:gdLst/>
              <a:ahLst/>
              <a:cxnLst/>
              <a:rect l="l" t="t" r="r" b="b"/>
              <a:pathLst>
                <a:path w="88900" h="85725">
                  <a:moveTo>
                    <a:pt x="88671" y="0"/>
                  </a:moveTo>
                  <a:lnTo>
                    <a:pt x="0" y="36385"/>
                  </a:lnTo>
                  <a:lnTo>
                    <a:pt x="82308" y="85496"/>
                  </a:lnTo>
                  <a:lnTo>
                    <a:pt x="56997" y="40627"/>
                  </a:lnTo>
                  <a:lnTo>
                    <a:pt x="886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84862" y="3704069"/>
              <a:ext cx="534035" cy="455295"/>
            </a:xfrm>
            <a:custGeom>
              <a:avLst/>
              <a:gdLst/>
              <a:ahLst/>
              <a:cxnLst/>
              <a:rect l="l" t="t" r="r" b="b"/>
              <a:pathLst>
                <a:path w="534035" h="455295">
                  <a:moveTo>
                    <a:pt x="0" y="455180"/>
                  </a:moveTo>
                  <a:lnTo>
                    <a:pt x="46615" y="452659"/>
                  </a:lnTo>
                  <a:lnTo>
                    <a:pt x="92920" y="445294"/>
                  </a:lnTo>
                  <a:lnTo>
                    <a:pt x="138600" y="433381"/>
                  </a:lnTo>
                  <a:lnTo>
                    <a:pt x="183345" y="417220"/>
                  </a:lnTo>
                  <a:lnTo>
                    <a:pt x="226842" y="397105"/>
                  </a:lnTo>
                  <a:lnTo>
                    <a:pt x="268779" y="373336"/>
                  </a:lnTo>
                  <a:lnTo>
                    <a:pt x="308845" y="346208"/>
                  </a:lnTo>
                  <a:lnTo>
                    <a:pt x="346727" y="316020"/>
                  </a:lnTo>
                  <a:lnTo>
                    <a:pt x="382113" y="283068"/>
                  </a:lnTo>
                  <a:lnTo>
                    <a:pt x="414692" y="247651"/>
                  </a:lnTo>
                  <a:lnTo>
                    <a:pt x="444151" y="210064"/>
                  </a:lnTo>
                  <a:lnTo>
                    <a:pt x="470178" y="170605"/>
                  </a:lnTo>
                  <a:lnTo>
                    <a:pt x="492461" y="129572"/>
                  </a:lnTo>
                  <a:lnTo>
                    <a:pt x="510689" y="87262"/>
                  </a:lnTo>
                  <a:lnTo>
                    <a:pt x="524549" y="43972"/>
                  </a:lnTo>
                  <a:lnTo>
                    <a:pt x="53373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73710" y="3646487"/>
              <a:ext cx="85725" cy="88900"/>
            </a:xfrm>
            <a:custGeom>
              <a:avLst/>
              <a:gdLst/>
              <a:ahLst/>
              <a:cxnLst/>
              <a:rect l="l" t="t" r="r" b="b"/>
              <a:pathLst>
                <a:path w="85725" h="88900">
                  <a:moveTo>
                    <a:pt x="49314" y="0"/>
                  </a:moveTo>
                  <a:lnTo>
                    <a:pt x="0" y="82181"/>
                  </a:lnTo>
                  <a:lnTo>
                    <a:pt x="44932" y="56984"/>
                  </a:lnTo>
                  <a:lnTo>
                    <a:pt x="85471" y="88760"/>
                  </a:lnTo>
                  <a:lnTo>
                    <a:pt x="493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83607" y="3038093"/>
              <a:ext cx="691133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1325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1325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57343" y="2473324"/>
              <a:ext cx="488315" cy="436245"/>
            </a:xfrm>
            <a:custGeom>
              <a:avLst/>
              <a:gdLst/>
              <a:ahLst/>
              <a:cxnLst/>
              <a:rect l="l" t="t" r="r" b="b"/>
              <a:pathLst>
                <a:path w="488314" h="436244">
                  <a:moveTo>
                    <a:pt x="487756" y="0"/>
                  </a:moveTo>
                  <a:lnTo>
                    <a:pt x="442438" y="2740"/>
                  </a:lnTo>
                  <a:lnTo>
                    <a:pt x="397464" y="10733"/>
                  </a:lnTo>
                  <a:lnTo>
                    <a:pt x="353175" y="23634"/>
                  </a:lnTo>
                  <a:lnTo>
                    <a:pt x="309915" y="41099"/>
                  </a:lnTo>
                  <a:lnTo>
                    <a:pt x="268026" y="62785"/>
                  </a:lnTo>
                  <a:lnTo>
                    <a:pt x="227852" y="88346"/>
                  </a:lnTo>
                  <a:lnTo>
                    <a:pt x="189734" y="117440"/>
                  </a:lnTo>
                  <a:lnTo>
                    <a:pt x="154017" y="149721"/>
                  </a:lnTo>
                  <a:lnTo>
                    <a:pt x="121043" y="184847"/>
                  </a:lnTo>
                  <a:lnTo>
                    <a:pt x="91154" y="222473"/>
                  </a:lnTo>
                  <a:lnTo>
                    <a:pt x="64695" y="262256"/>
                  </a:lnTo>
                  <a:lnTo>
                    <a:pt x="42006" y="303850"/>
                  </a:lnTo>
                  <a:lnTo>
                    <a:pt x="23433" y="346913"/>
                  </a:lnTo>
                  <a:lnTo>
                    <a:pt x="9316" y="391100"/>
                  </a:lnTo>
                  <a:lnTo>
                    <a:pt x="0" y="43606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16716" y="2878315"/>
              <a:ext cx="85725" cy="88900"/>
            </a:xfrm>
            <a:custGeom>
              <a:avLst/>
              <a:gdLst/>
              <a:ahLst/>
              <a:cxnLst/>
              <a:rect l="l" t="t" r="r" b="b"/>
              <a:pathLst>
                <a:path w="85725" h="88900">
                  <a:moveTo>
                    <a:pt x="0" y="0"/>
                  </a:moveTo>
                  <a:lnTo>
                    <a:pt x="36258" y="88722"/>
                  </a:lnTo>
                  <a:lnTo>
                    <a:pt x="85470" y="6489"/>
                  </a:lnTo>
                  <a:lnTo>
                    <a:pt x="40576" y="31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52975" y="3646487"/>
              <a:ext cx="481330" cy="509270"/>
            </a:xfrm>
            <a:custGeom>
              <a:avLst/>
              <a:gdLst/>
              <a:ahLst/>
              <a:cxnLst/>
              <a:rect l="l" t="t" r="r" b="b"/>
              <a:pathLst>
                <a:path w="481329" h="509270">
                  <a:moveTo>
                    <a:pt x="0" y="0"/>
                  </a:moveTo>
                  <a:lnTo>
                    <a:pt x="2668" y="44607"/>
                  </a:lnTo>
                  <a:lnTo>
                    <a:pt x="10464" y="88914"/>
                  </a:lnTo>
                  <a:lnTo>
                    <a:pt x="23071" y="132618"/>
                  </a:lnTo>
                  <a:lnTo>
                    <a:pt x="40172" y="175420"/>
                  </a:lnTo>
                  <a:lnTo>
                    <a:pt x="61452" y="217016"/>
                  </a:lnTo>
                  <a:lnTo>
                    <a:pt x="86595" y="257108"/>
                  </a:lnTo>
                  <a:lnTo>
                    <a:pt x="115285" y="295392"/>
                  </a:lnTo>
                  <a:lnTo>
                    <a:pt x="147205" y="331570"/>
                  </a:lnTo>
                  <a:lnTo>
                    <a:pt x="182040" y="365338"/>
                  </a:lnTo>
                  <a:lnTo>
                    <a:pt x="219474" y="396396"/>
                  </a:lnTo>
                  <a:lnTo>
                    <a:pt x="259190" y="424444"/>
                  </a:lnTo>
                  <a:lnTo>
                    <a:pt x="300873" y="449179"/>
                  </a:lnTo>
                  <a:lnTo>
                    <a:pt x="344206" y="470301"/>
                  </a:lnTo>
                  <a:lnTo>
                    <a:pt x="388874" y="487509"/>
                  </a:lnTo>
                  <a:lnTo>
                    <a:pt x="434560" y="500501"/>
                  </a:lnTo>
                  <a:lnTo>
                    <a:pt x="480948" y="50897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02770" y="4110824"/>
              <a:ext cx="88900" cy="85725"/>
            </a:xfrm>
            <a:custGeom>
              <a:avLst/>
              <a:gdLst/>
              <a:ahLst/>
              <a:cxnLst/>
              <a:rect l="l" t="t" r="r" b="b"/>
              <a:pathLst>
                <a:path w="88900" h="85725">
                  <a:moveTo>
                    <a:pt x="5664" y="0"/>
                  </a:moveTo>
                  <a:lnTo>
                    <a:pt x="31343" y="44653"/>
                  </a:lnTo>
                  <a:lnTo>
                    <a:pt x="0" y="85534"/>
                  </a:lnTo>
                  <a:lnTo>
                    <a:pt x="88366" y="48425"/>
                  </a:lnTo>
                  <a:lnTo>
                    <a:pt x="56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368925" y="2068957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1175" y="3097466"/>
            <a:ext cx="8016240" cy="3216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04765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&lt;</a:t>
            </a:r>
            <a:r>
              <a:rPr sz="3200" spc="-1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>
              <a:latin typeface="Times New Roman"/>
              <a:cs typeface="Times New Roman"/>
            </a:endParaRPr>
          </a:p>
          <a:p>
            <a:pPr marL="774065" algn="ctr">
              <a:lnSpc>
                <a:spcPct val="100000"/>
              </a:lnSpc>
              <a:tabLst>
                <a:tab pos="6500495" algn="l"/>
              </a:tabLst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u	v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90000"/>
              </a:lnSpc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Bellman-Ford algorithm: </a:t>
            </a:r>
            <a:r>
              <a:rPr sz="3200" spc="-5" dirty="0">
                <a:latin typeface="Times New Roman"/>
                <a:cs typeface="Times New Roman"/>
              </a:rPr>
              <a:t>Finds all shortest-path  lengths from a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source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s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latin typeface="Times New Roman"/>
                <a:cs typeface="Times New Roman"/>
              </a:rPr>
              <a:t>to all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latin typeface="Times New Roman"/>
                <a:cs typeface="Times New Roman"/>
              </a:rPr>
              <a:t>or  determines that a negative-weight cycle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exists.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3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8781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Bellman-Ford</a:t>
            </a:r>
            <a:r>
              <a:rPr spc="-4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274317"/>
            <a:ext cx="12858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spc="-10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658284"/>
            <a:ext cx="2947670" cy="836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each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</a:t>
            </a:r>
            <a:r>
              <a:rPr sz="2800" spc="-12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468630">
              <a:lnSpc>
                <a:spcPts val="3190"/>
              </a:lnSpc>
            </a:pPr>
            <a:r>
              <a:rPr sz="2800" b="1" dirty="0">
                <a:latin typeface="Times New Roman"/>
                <a:cs typeface="Times New Roman"/>
              </a:rPr>
              <a:t>do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spc="-4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328" y="2540163"/>
            <a:ext cx="5676265" cy="2245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837815" algn="ctr">
              <a:lnSpc>
                <a:spcPts val="417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for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1 </a:t>
            </a:r>
            <a:r>
              <a:rPr sz="2800" b="1" dirty="0">
                <a:latin typeface="Times New Roman"/>
                <a:cs typeface="Times New Roman"/>
              </a:rPr>
              <a:t>to </a:t>
            </a:r>
            <a:r>
              <a:rPr sz="3600" b="1" spc="75" dirty="0">
                <a:solidFill>
                  <a:srgbClr val="008A87"/>
                </a:solidFill>
                <a:latin typeface="Times New Roman"/>
                <a:cs typeface="Times New Roman"/>
              </a:rPr>
              <a:t>|</a:t>
            </a:r>
            <a:r>
              <a:rPr sz="2800" i="1" spc="7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600" b="1" spc="75" dirty="0">
                <a:solidFill>
                  <a:srgbClr val="008A87"/>
                </a:solidFill>
                <a:latin typeface="Times New Roman"/>
                <a:cs typeface="Times New Roman"/>
              </a:rPr>
              <a:t>|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</a:t>
            </a:r>
            <a:r>
              <a:rPr sz="2800" spc="-39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R="822960" algn="ctr">
              <a:lnSpc>
                <a:spcPts val="3040"/>
              </a:lnSpc>
            </a:pPr>
            <a:r>
              <a:rPr sz="2800" b="1" dirty="0">
                <a:latin typeface="Times New Roman"/>
                <a:cs typeface="Times New Roman"/>
              </a:rPr>
              <a:t>do for </a:t>
            </a:r>
            <a:r>
              <a:rPr sz="2800" spc="-5" dirty="0">
                <a:latin typeface="Times New Roman"/>
                <a:cs typeface="Times New Roman"/>
              </a:rPr>
              <a:t>each edge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2800" spc="-7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R="132080" algn="ctr">
              <a:lnSpc>
                <a:spcPts val="3025"/>
              </a:lnSpc>
            </a:pPr>
            <a:r>
              <a:rPr sz="2800" b="1" dirty="0">
                <a:latin typeface="Times New Roman"/>
                <a:cs typeface="Times New Roman"/>
              </a:rPr>
              <a:t>do if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&gt;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+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w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5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828800" algn="ctr">
              <a:lnSpc>
                <a:spcPts val="3195"/>
              </a:lnSpc>
            </a:pPr>
            <a:r>
              <a:rPr sz="2800" b="1" spc="-5" dirty="0">
                <a:latin typeface="Times New Roman"/>
                <a:cs typeface="Times New Roman"/>
              </a:rPr>
              <a:t>then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+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w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6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R="2204085" algn="ctr">
              <a:lnSpc>
                <a:spcPct val="100000"/>
              </a:lnSpc>
              <a:spcBef>
                <a:spcPts val="690"/>
              </a:spcBef>
            </a:pPr>
            <a:r>
              <a:rPr sz="2800" b="1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each edge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2800" spc="-10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040" y="4716584"/>
            <a:ext cx="7985759" cy="173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>
              <a:lnSpc>
                <a:spcPts val="319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do if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&gt;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+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w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6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383030">
              <a:lnSpc>
                <a:spcPts val="3190"/>
              </a:lnSpc>
            </a:pPr>
            <a:r>
              <a:rPr sz="2800" b="1" spc="-5" dirty="0">
                <a:latin typeface="Times New Roman"/>
                <a:cs typeface="Times New Roman"/>
              </a:rPr>
              <a:t>then </a:t>
            </a:r>
            <a:r>
              <a:rPr sz="2800" spc="-5" dirty="0">
                <a:latin typeface="Times New Roman"/>
                <a:cs typeface="Times New Roman"/>
              </a:rPr>
              <a:t>report that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negative-weight cycle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exists</a:t>
            </a:r>
            <a:endParaRPr sz="2800">
              <a:latin typeface="Times New Roman"/>
              <a:cs typeface="Times New Roman"/>
            </a:endParaRPr>
          </a:p>
          <a:p>
            <a:pPr marL="12700" marR="187325">
              <a:lnSpc>
                <a:spcPts val="3020"/>
              </a:lnSpc>
              <a:spcBef>
                <a:spcPts val="1095"/>
              </a:spcBef>
            </a:pPr>
            <a:r>
              <a:rPr sz="2800" spc="-5" dirty="0">
                <a:latin typeface="Times New Roman"/>
                <a:cs typeface="Times New Roman"/>
              </a:rPr>
              <a:t>At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end,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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dirty="0">
                <a:latin typeface="Times New Roman"/>
                <a:cs typeface="Times New Roman"/>
              </a:rPr>
              <a:t>if no </a:t>
            </a:r>
            <a:r>
              <a:rPr sz="2800" spc="-5" dirty="0">
                <a:latin typeface="Times New Roman"/>
                <a:cs typeface="Times New Roman"/>
              </a:rPr>
              <a:t>negative-weight cycles.  </a:t>
            </a:r>
            <a:r>
              <a:rPr sz="2800" spc="-30" dirty="0">
                <a:latin typeface="Times New Roman"/>
                <a:cs typeface="Times New Roman"/>
              </a:rPr>
              <a:t>Time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2800" i="1" spc="40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spc="4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40" dirty="0">
                <a:solidFill>
                  <a:srgbClr val="008A87"/>
                </a:solidFill>
                <a:latin typeface="Times New Roman"/>
                <a:cs typeface="Times New Roman"/>
              </a:rPr>
              <a:t>VE</a:t>
            </a:r>
            <a:r>
              <a:rPr sz="2800" spc="40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2800" spc="4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57600" y="1346200"/>
            <a:ext cx="228600" cy="1143000"/>
          </a:xfrm>
          <a:custGeom>
            <a:avLst/>
            <a:gdLst/>
            <a:ahLst/>
            <a:cxnLst/>
            <a:rect l="l" t="t" r="r" b="b"/>
            <a:pathLst>
              <a:path w="228600" h="1143000">
                <a:moveTo>
                  <a:pt x="0" y="0"/>
                </a:moveTo>
                <a:lnTo>
                  <a:pt x="44493" y="7485"/>
                </a:lnTo>
                <a:lnTo>
                  <a:pt x="80824" y="27898"/>
                </a:lnTo>
                <a:lnTo>
                  <a:pt x="105318" y="58175"/>
                </a:lnTo>
                <a:lnTo>
                  <a:pt x="114300" y="95250"/>
                </a:lnTo>
                <a:lnTo>
                  <a:pt x="114300" y="476250"/>
                </a:lnTo>
                <a:lnTo>
                  <a:pt x="123281" y="513324"/>
                </a:lnTo>
                <a:lnTo>
                  <a:pt x="147775" y="543601"/>
                </a:lnTo>
                <a:lnTo>
                  <a:pt x="184106" y="564014"/>
                </a:lnTo>
                <a:lnTo>
                  <a:pt x="228600" y="571500"/>
                </a:lnTo>
                <a:lnTo>
                  <a:pt x="184106" y="578985"/>
                </a:lnTo>
                <a:lnTo>
                  <a:pt x="147775" y="599398"/>
                </a:lnTo>
                <a:lnTo>
                  <a:pt x="123281" y="629675"/>
                </a:lnTo>
                <a:lnTo>
                  <a:pt x="114300" y="666750"/>
                </a:lnTo>
                <a:lnTo>
                  <a:pt x="114300" y="1047750"/>
                </a:lnTo>
                <a:lnTo>
                  <a:pt x="105318" y="1084824"/>
                </a:lnTo>
                <a:lnTo>
                  <a:pt x="80824" y="1115101"/>
                </a:lnTo>
                <a:lnTo>
                  <a:pt x="44493" y="1135514"/>
                </a:lnTo>
                <a:lnTo>
                  <a:pt x="0" y="1143000"/>
                </a:lnTo>
              </a:path>
            </a:pathLst>
          </a:custGeom>
          <a:ln w="127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77665" y="1623123"/>
            <a:ext cx="20802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initialization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24600" y="3581400"/>
            <a:ext cx="228600" cy="762000"/>
          </a:xfrm>
          <a:custGeom>
            <a:avLst/>
            <a:gdLst/>
            <a:ahLst/>
            <a:cxnLst/>
            <a:rect l="l" t="t" r="r" b="b"/>
            <a:pathLst>
              <a:path w="228600" h="762000">
                <a:moveTo>
                  <a:pt x="0" y="0"/>
                </a:moveTo>
                <a:lnTo>
                  <a:pt x="44493" y="4990"/>
                </a:lnTo>
                <a:lnTo>
                  <a:pt x="80824" y="18600"/>
                </a:lnTo>
                <a:lnTo>
                  <a:pt x="105318" y="38785"/>
                </a:lnTo>
                <a:lnTo>
                  <a:pt x="114300" y="63500"/>
                </a:lnTo>
                <a:lnTo>
                  <a:pt x="114300" y="317500"/>
                </a:lnTo>
                <a:lnTo>
                  <a:pt x="123281" y="342214"/>
                </a:lnTo>
                <a:lnTo>
                  <a:pt x="147775" y="362399"/>
                </a:lnTo>
                <a:lnTo>
                  <a:pt x="184106" y="376009"/>
                </a:lnTo>
                <a:lnTo>
                  <a:pt x="228600" y="381000"/>
                </a:lnTo>
                <a:lnTo>
                  <a:pt x="184106" y="385990"/>
                </a:lnTo>
                <a:lnTo>
                  <a:pt x="147775" y="399600"/>
                </a:lnTo>
                <a:lnTo>
                  <a:pt x="123281" y="419785"/>
                </a:lnTo>
                <a:lnTo>
                  <a:pt x="114300" y="444500"/>
                </a:lnTo>
                <a:lnTo>
                  <a:pt x="114300" y="698500"/>
                </a:lnTo>
                <a:lnTo>
                  <a:pt x="105318" y="723214"/>
                </a:lnTo>
                <a:lnTo>
                  <a:pt x="80824" y="743399"/>
                </a:lnTo>
                <a:lnTo>
                  <a:pt x="44493" y="757009"/>
                </a:lnTo>
                <a:lnTo>
                  <a:pt x="0" y="762000"/>
                </a:lnTo>
              </a:path>
            </a:pathLst>
          </a:custGeom>
          <a:ln w="127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44665" y="3399535"/>
            <a:ext cx="1742439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b="1" i="1" spc="-10" dirty="0">
                <a:solidFill>
                  <a:srgbClr val="CC0000"/>
                </a:solidFill>
                <a:latin typeface="Times New Roman"/>
                <a:cs typeface="Times New Roman"/>
              </a:rPr>
              <a:t>r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3200" b="1" i="1" spc="-10" dirty="0">
                <a:solidFill>
                  <a:srgbClr val="CC0000"/>
                </a:solidFill>
                <a:latin typeface="Times New Roman"/>
                <a:cs typeface="Times New Roman"/>
              </a:rPr>
              <a:t>l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axa</a:t>
            </a:r>
            <a:r>
              <a:rPr sz="3200" b="1" i="1" spc="-10" dirty="0">
                <a:solidFill>
                  <a:srgbClr val="CC0000"/>
                </a:solidFill>
                <a:latin typeface="Times New Roman"/>
                <a:cs typeface="Times New Roman"/>
              </a:rPr>
              <a:t>ti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on  step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78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891540" cy="766445"/>
            <a:chOff x="4222750" y="2090737"/>
            <a:chExt cx="891540" cy="76644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30331" y="216496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99187" y="3100387"/>
            <a:ext cx="890905" cy="766445"/>
            <a:chOff x="6199187" y="3100387"/>
            <a:chExt cx="890905" cy="766445"/>
          </a:xfrm>
        </p:grpSpPr>
        <p:sp>
          <p:nvSpPr>
            <p:cNvPr id="20" name="object 20"/>
            <p:cNvSpPr/>
            <p:nvPr/>
          </p:nvSpPr>
          <p:spPr>
            <a:xfrm>
              <a:off x="6274307" y="3176015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59162" y="4110037"/>
            <a:ext cx="902969" cy="766445"/>
            <a:chOff x="3459162" y="4110037"/>
            <a:chExt cx="902969" cy="766445"/>
          </a:xfrm>
        </p:grpSpPr>
        <p:sp>
          <p:nvSpPr>
            <p:cNvPr id="28" name="object 28"/>
            <p:cNvSpPr/>
            <p:nvPr/>
          </p:nvSpPr>
          <p:spPr>
            <a:xfrm>
              <a:off x="3534918" y="4185665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09" y="4164330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5" y="4164330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5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5339" y="4184269"/>
            <a:ext cx="2965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86337" y="4110037"/>
            <a:ext cx="913130" cy="766445"/>
            <a:chOff x="4986337" y="4110037"/>
            <a:chExt cx="913130" cy="766445"/>
          </a:xfrm>
        </p:grpSpPr>
        <p:sp>
          <p:nvSpPr>
            <p:cNvPr id="36" name="object 36"/>
            <p:cNvSpPr/>
            <p:nvPr/>
          </p:nvSpPr>
          <p:spPr>
            <a:xfrm>
              <a:off x="5061965" y="4185665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42788" y="4164330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15484" y="4164330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15484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71097" y="4184269"/>
            <a:ext cx="318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813050" y="2420937"/>
            <a:ext cx="3491229" cy="2105025"/>
            <a:chOff x="2813050" y="2420937"/>
            <a:chExt cx="3491229" cy="2105025"/>
          </a:xfrm>
        </p:grpSpPr>
        <p:sp>
          <p:nvSpPr>
            <p:cNvPr id="44" name="object 44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30572" y="390244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72056" y="3825933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60" name="object 6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66" name="object 6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Slide Number Placeholder 7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0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>
                <a:solidFill>
                  <a:srgbClr val="7030A0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A</a:t>
            </a:r>
            <a:endParaRPr sz="3200" b="1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891540" cy="766445"/>
            <a:chOff x="4222750" y="2090737"/>
            <a:chExt cx="891540" cy="76644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30331" y="216496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99187" y="3100387"/>
            <a:ext cx="890905" cy="766445"/>
            <a:chOff x="6199187" y="3100387"/>
            <a:chExt cx="890905" cy="766445"/>
          </a:xfrm>
        </p:grpSpPr>
        <p:sp>
          <p:nvSpPr>
            <p:cNvPr id="20" name="object 20"/>
            <p:cNvSpPr/>
            <p:nvPr/>
          </p:nvSpPr>
          <p:spPr>
            <a:xfrm>
              <a:off x="6274307" y="3176015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59162" y="4110037"/>
            <a:ext cx="902969" cy="766445"/>
            <a:chOff x="3459162" y="4110037"/>
            <a:chExt cx="902969" cy="766445"/>
          </a:xfrm>
        </p:grpSpPr>
        <p:sp>
          <p:nvSpPr>
            <p:cNvPr id="28" name="object 28"/>
            <p:cNvSpPr/>
            <p:nvPr/>
          </p:nvSpPr>
          <p:spPr>
            <a:xfrm>
              <a:off x="3534918" y="4185665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09" y="4164330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5" y="4164330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5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5339" y="4184269"/>
            <a:ext cx="2965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86337" y="4110037"/>
            <a:ext cx="913130" cy="766445"/>
            <a:chOff x="4986337" y="4110037"/>
            <a:chExt cx="913130" cy="766445"/>
          </a:xfrm>
        </p:grpSpPr>
        <p:sp>
          <p:nvSpPr>
            <p:cNvPr id="36" name="object 36"/>
            <p:cNvSpPr/>
            <p:nvPr/>
          </p:nvSpPr>
          <p:spPr>
            <a:xfrm>
              <a:off x="5061965" y="4185665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42788" y="4164330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15484" y="4164330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15484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71097" y="4184269"/>
            <a:ext cx="318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813050" y="2420937"/>
            <a:ext cx="3491229" cy="2105025"/>
            <a:chOff x="2813050" y="2420937"/>
            <a:chExt cx="3491229" cy="2105025"/>
          </a:xfrm>
        </p:grpSpPr>
        <p:sp>
          <p:nvSpPr>
            <p:cNvPr id="44" name="object 44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30572" y="390244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72056" y="3825933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60" name="object 6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66" name="object 6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Slide Number Placeholder 7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0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>
                <a:solidFill>
                  <a:srgbClr val="7030A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A</a:t>
            </a:r>
            <a:endParaRPr sz="3200" b="1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30572" y="390244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72056" y="3825933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2" name="object 52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8" name="object 58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0</a:t>
            </a:r>
            <a:endParaRPr sz="3200" b="1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319462" y="5427217"/>
            <a:ext cx="2475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imes New Roman"/>
                <a:cs typeface="Times New Roman"/>
              </a:rPr>
              <a:t>Initialization.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69" name="object 69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Slide Number Placeholder 7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8</a:t>
            </a:fld>
            <a:endParaRPr lang="en-US"/>
          </a:p>
        </p:txBody>
      </p:sp>
      <p:sp>
        <p:nvSpPr>
          <p:cNvPr id="81" name="object 72"/>
          <p:cNvSpPr txBox="1"/>
          <p:nvPr/>
        </p:nvSpPr>
        <p:spPr>
          <a:xfrm>
            <a:off x="914399" y="5427217"/>
            <a:ext cx="6512303" cy="8745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Note: Red number with edges is showing order of edge relation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103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72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8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755265"/>
            <a:ext cx="800506" cy="1459776"/>
            <a:chOff x="4548962" y="2755265"/>
            <a:chExt cx="800506" cy="1459776"/>
          </a:xfrm>
        </p:grpSpPr>
        <p:sp>
          <p:nvSpPr>
            <p:cNvPr id="56" name="object 56"/>
            <p:cNvSpPr/>
            <p:nvPr/>
          </p:nvSpPr>
          <p:spPr>
            <a:xfrm>
              <a:off x="4806950" y="2755265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89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7630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92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776732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4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0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7630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4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  <a:solidFill>
            <a:srgbClr val="FF0000"/>
          </a:solidFill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grpFill/>
            <a:ln w="57150"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grpFill/>
            <a:ln w="57150"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0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9003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0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0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247074" y="5427217"/>
            <a:ext cx="4620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>
                <a:latin typeface="Times New Roman"/>
                <a:cs typeface="Times New Roman"/>
              </a:rPr>
              <a:t>End of Pass 1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19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3" y="1479118"/>
            <a:ext cx="716121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247074" y="5427217"/>
            <a:ext cx="4620260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600" spc="-5" dirty="0">
                <a:latin typeface="Times New Roman"/>
                <a:cs typeface="Times New Roman"/>
              </a:rPr>
              <a:t>End of Pass 1</a:t>
            </a:r>
            <a:endParaRPr lang="en-US"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imes New Roman"/>
                <a:cs typeface="Times New Roman"/>
              </a:rPr>
              <a:t>.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5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511925"/>
            <a:ext cx="6877184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  <a:r>
              <a:rPr lang="en-US" spc="-5" dirty="0"/>
              <a:t>-Pass2</a:t>
            </a:r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6" y="4075502"/>
            <a:ext cx="493201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19</a:t>
            </a:fld>
            <a:endParaRPr lang="en-US"/>
          </a:p>
        </p:txBody>
      </p:sp>
      <p:sp>
        <p:nvSpPr>
          <p:cNvPr id="81" name="object 72"/>
          <p:cNvSpPr txBox="1"/>
          <p:nvPr/>
        </p:nvSpPr>
        <p:spPr>
          <a:xfrm>
            <a:off x="914399" y="5427217"/>
            <a:ext cx="6512303" cy="8745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Note: Red number with edges is showing order of edge relation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0961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948284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73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755265"/>
            <a:ext cx="800506" cy="1459776"/>
            <a:chOff x="4548962" y="2755265"/>
            <a:chExt cx="800506" cy="1459776"/>
          </a:xfrm>
        </p:grpSpPr>
        <p:sp>
          <p:nvSpPr>
            <p:cNvPr id="56" name="object 56"/>
            <p:cNvSpPr/>
            <p:nvPr/>
          </p:nvSpPr>
          <p:spPr>
            <a:xfrm>
              <a:off x="4806950" y="2755265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9916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43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7630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34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776732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53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7630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6" y="4075502"/>
            <a:ext cx="557555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  <a:solidFill>
            <a:srgbClr val="FF0000"/>
          </a:solidFill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grpFill/>
            <a:ln w="57150"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grpFill/>
            <a:ln w="57150"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17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9003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58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801014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24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6" y="4075502"/>
            <a:ext cx="737171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8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6" y="4075502"/>
            <a:ext cx="737171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-2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28</a:t>
            </a:fld>
            <a:endParaRPr lang="en-US"/>
          </a:p>
        </p:txBody>
      </p:sp>
      <p:sp>
        <p:nvSpPr>
          <p:cNvPr id="82" name="object 79"/>
          <p:cNvSpPr txBox="1"/>
          <p:nvPr/>
        </p:nvSpPr>
        <p:spPr>
          <a:xfrm>
            <a:off x="1717386" y="5427217"/>
            <a:ext cx="5154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End of </a:t>
            </a:r>
            <a:r>
              <a:rPr sz="3600" spc="-5" dirty="0">
                <a:latin typeface="Times New Roman"/>
                <a:cs typeface="Times New Roman"/>
              </a:rPr>
              <a:t>pass </a:t>
            </a:r>
            <a:r>
              <a:rPr sz="3600" dirty="0">
                <a:latin typeface="Times New Roman"/>
                <a:cs typeface="Times New Roman"/>
              </a:rPr>
              <a:t>2 </a:t>
            </a:r>
            <a:r>
              <a:rPr sz="3600" spc="-5" dirty="0">
                <a:latin typeface="Times New Roman"/>
                <a:cs typeface="Times New Roman"/>
              </a:rPr>
              <a:t>(and </a:t>
            </a:r>
            <a:r>
              <a:rPr sz="3600" dirty="0">
                <a:latin typeface="Times New Roman"/>
                <a:cs typeface="Times New Roman"/>
              </a:rPr>
              <a:t>3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4).</a:t>
            </a:r>
          </a:p>
        </p:txBody>
      </p:sp>
    </p:spTree>
    <p:extLst>
      <p:ext uri="{BB962C8B-B14F-4D97-AF65-F5344CB8AC3E}">
        <p14:creationId xmlns:p14="http://schemas.microsoft.com/office/powerpoint/2010/main" val="4129848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34556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Shortest</a:t>
            </a:r>
            <a:r>
              <a:rPr spc="-60" dirty="0"/>
              <a:t> </a:t>
            </a:r>
            <a:r>
              <a:rPr spc="-5" dirty="0"/>
              <a:t>paths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252" y="1189736"/>
            <a:ext cx="5968365" cy="298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95"/>
              </a:spcBef>
            </a:pP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Single-source 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shortest</a:t>
            </a:r>
            <a:r>
              <a:rPr sz="3200" b="1" spc="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paths</a:t>
            </a:r>
            <a:endParaRPr sz="3200" dirty="0">
              <a:latin typeface="Times New Roman"/>
              <a:cs typeface="Times New Roman"/>
            </a:endParaRPr>
          </a:p>
          <a:p>
            <a:pPr marL="238125" indent="-226060">
              <a:lnSpc>
                <a:spcPts val="3490"/>
              </a:lnSpc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Nonnegative edge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weights</a:t>
            </a:r>
            <a:endParaRPr sz="3200" dirty="0">
              <a:latin typeface="Times New Roman"/>
              <a:cs typeface="Times New Roman"/>
            </a:endParaRPr>
          </a:p>
          <a:p>
            <a:pPr marL="700405" lvl="1" indent="-231140">
              <a:lnSpc>
                <a:spcPts val="3000"/>
              </a:lnSpc>
              <a:buClr>
                <a:srgbClr val="008A87"/>
              </a:buClr>
              <a:buFont typeface="Arial"/>
              <a:buChar char=""/>
              <a:tabLst>
                <a:tab pos="701040" algn="l"/>
              </a:tabLst>
            </a:pPr>
            <a:r>
              <a:rPr sz="2800" spc="-20" dirty="0">
                <a:latin typeface="Times New Roman"/>
                <a:cs typeface="Times New Roman"/>
              </a:rPr>
              <a:t>Dijkstra’s </a:t>
            </a:r>
            <a:r>
              <a:rPr sz="2800" spc="-5" dirty="0">
                <a:latin typeface="Times New Roman"/>
                <a:cs typeface="Times New Roman"/>
              </a:rPr>
              <a:t>algorithm: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+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lg</a:t>
            </a:r>
            <a:r>
              <a:rPr sz="2800" spc="-5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38125" indent="-226060">
              <a:lnSpc>
                <a:spcPts val="3479"/>
              </a:lnSpc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General</a:t>
            </a:r>
            <a:endParaRPr sz="3200" dirty="0">
              <a:latin typeface="Times New Roman"/>
              <a:cs typeface="Times New Roman"/>
            </a:endParaRPr>
          </a:p>
          <a:p>
            <a:pPr marL="700405" lvl="1" indent="-231140">
              <a:lnSpc>
                <a:spcPts val="3000"/>
              </a:lnSpc>
              <a:buClr>
                <a:srgbClr val="008A87"/>
              </a:buClr>
              <a:buFont typeface="Arial"/>
              <a:buChar char=""/>
              <a:tabLst>
                <a:tab pos="701040" algn="l"/>
              </a:tabLst>
            </a:pPr>
            <a:r>
              <a:rPr sz="2800" spc="-5" dirty="0">
                <a:latin typeface="Times New Roman"/>
                <a:cs typeface="Times New Roman"/>
              </a:rPr>
              <a:t>Bellman-Ford algorithm: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VE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38125" indent="-226060">
              <a:lnSpc>
                <a:spcPts val="3479"/>
              </a:lnSpc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DAG</a:t>
            </a:r>
            <a:endParaRPr sz="3200" dirty="0">
              <a:latin typeface="Times New Roman"/>
              <a:cs typeface="Times New Roman"/>
            </a:endParaRPr>
          </a:p>
          <a:p>
            <a:pPr marL="700405" lvl="1" indent="-231140">
              <a:lnSpc>
                <a:spcPts val="3200"/>
              </a:lnSpc>
              <a:buClr>
                <a:srgbClr val="008A87"/>
              </a:buClr>
              <a:buFont typeface="Arial"/>
              <a:buChar char=""/>
              <a:tabLst>
                <a:tab pos="701040" algn="l"/>
              </a:tabLst>
            </a:pPr>
            <a:r>
              <a:rPr sz="2800" spc="-5" dirty="0">
                <a:latin typeface="Times New Roman"/>
                <a:cs typeface="Times New Roman"/>
              </a:rPr>
              <a:t>One pass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Bellman-Ford: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+</a:t>
            </a:r>
            <a:r>
              <a:rPr sz="2800" spc="-5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15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2800" spc="-15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15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34556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Shortest</a:t>
            </a:r>
            <a:r>
              <a:rPr spc="-60" dirty="0"/>
              <a:t> </a:t>
            </a:r>
            <a:r>
              <a:rPr spc="-5" dirty="0"/>
              <a:t>paths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552" y="1189736"/>
            <a:ext cx="7463155" cy="4333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3650"/>
              </a:lnSpc>
              <a:spcBef>
                <a:spcPts val="95"/>
              </a:spcBef>
            </a:pP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Single-source 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shortest</a:t>
            </a:r>
            <a:r>
              <a:rPr sz="3200" b="1" spc="2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paths</a:t>
            </a:r>
            <a:endParaRPr sz="3200" dirty="0">
              <a:latin typeface="Times New Roman"/>
              <a:cs typeface="Times New Roman"/>
            </a:endParaRPr>
          </a:p>
          <a:p>
            <a:pPr marL="250825" indent="-226060">
              <a:lnSpc>
                <a:spcPts val="3490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Nonnegative edge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weights</a:t>
            </a:r>
            <a:endParaRPr sz="3200" dirty="0">
              <a:latin typeface="Times New Roman"/>
              <a:cs typeface="Times New Roman"/>
            </a:endParaRPr>
          </a:p>
          <a:p>
            <a:pPr marL="713105" lvl="1" indent="-231140">
              <a:lnSpc>
                <a:spcPts val="3000"/>
              </a:lnSpc>
              <a:buClr>
                <a:srgbClr val="008A87"/>
              </a:buClr>
              <a:buFont typeface="Arial"/>
              <a:buChar char=""/>
              <a:tabLst>
                <a:tab pos="713740" algn="l"/>
              </a:tabLst>
            </a:pPr>
            <a:r>
              <a:rPr sz="2800" spc="-20" dirty="0">
                <a:latin typeface="Times New Roman"/>
                <a:cs typeface="Times New Roman"/>
              </a:rPr>
              <a:t>Dijkstra’s </a:t>
            </a:r>
            <a:r>
              <a:rPr sz="2800" spc="-5" dirty="0">
                <a:latin typeface="Times New Roman"/>
                <a:cs typeface="Times New Roman"/>
              </a:rPr>
              <a:t>algorithm: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+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lg</a:t>
            </a:r>
            <a:r>
              <a:rPr sz="2800" spc="-4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50825" indent="-226060">
              <a:lnSpc>
                <a:spcPts val="3479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General</a:t>
            </a:r>
            <a:endParaRPr sz="3200" dirty="0">
              <a:latin typeface="Times New Roman"/>
              <a:cs typeface="Times New Roman"/>
            </a:endParaRPr>
          </a:p>
          <a:p>
            <a:pPr marL="713105" lvl="1" indent="-231140">
              <a:lnSpc>
                <a:spcPts val="3000"/>
              </a:lnSpc>
              <a:buClr>
                <a:srgbClr val="008A87"/>
              </a:buClr>
              <a:buFont typeface="Arial"/>
              <a:buChar char=""/>
              <a:tabLst>
                <a:tab pos="713740" algn="l"/>
              </a:tabLst>
            </a:pPr>
            <a:r>
              <a:rPr sz="2800" spc="-5" dirty="0">
                <a:latin typeface="Times New Roman"/>
                <a:cs typeface="Times New Roman"/>
              </a:rPr>
              <a:t>Bellman-Ford algorithm: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VE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50825" indent="-226060">
              <a:lnSpc>
                <a:spcPts val="3479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DAG</a:t>
            </a:r>
            <a:endParaRPr sz="3200" dirty="0">
              <a:latin typeface="Times New Roman"/>
              <a:cs typeface="Times New Roman"/>
            </a:endParaRPr>
          </a:p>
          <a:p>
            <a:pPr marL="713105" lvl="1" indent="-231140">
              <a:lnSpc>
                <a:spcPts val="3200"/>
              </a:lnSpc>
              <a:buClr>
                <a:srgbClr val="008A87"/>
              </a:buClr>
              <a:buFont typeface="Arial"/>
              <a:buChar char=""/>
              <a:tabLst>
                <a:tab pos="713740" algn="l"/>
              </a:tabLst>
            </a:pPr>
            <a:r>
              <a:rPr sz="2800" spc="-5" dirty="0">
                <a:latin typeface="Times New Roman"/>
                <a:cs typeface="Times New Roman"/>
              </a:rPr>
              <a:t>One pass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Bellman-Ford: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+</a:t>
            </a:r>
            <a:r>
              <a:rPr sz="2800" spc="-5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5400">
              <a:lnSpc>
                <a:spcPts val="3650"/>
              </a:lnSpc>
              <a:spcBef>
                <a:spcPts val="10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All-pairs shortest</a:t>
            </a:r>
            <a:r>
              <a:rPr sz="3200" b="1" spc="1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paths</a:t>
            </a:r>
            <a:endParaRPr sz="3200" dirty="0">
              <a:latin typeface="Times New Roman"/>
              <a:cs typeface="Times New Roman"/>
            </a:endParaRPr>
          </a:p>
          <a:p>
            <a:pPr marL="250825" indent="-226060">
              <a:lnSpc>
                <a:spcPts val="3490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Nonnegative edge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weights</a:t>
            </a:r>
            <a:endParaRPr sz="3200" dirty="0">
              <a:latin typeface="Times New Roman"/>
              <a:cs typeface="Times New Roman"/>
            </a:endParaRPr>
          </a:p>
          <a:p>
            <a:pPr marL="713105" lvl="1" indent="-231140">
              <a:lnSpc>
                <a:spcPts val="3000"/>
              </a:lnSpc>
              <a:buClr>
                <a:srgbClr val="008A87"/>
              </a:buClr>
              <a:buFont typeface="Arial"/>
              <a:buChar char=""/>
              <a:tabLst>
                <a:tab pos="713740" algn="l"/>
              </a:tabLst>
            </a:pPr>
            <a:r>
              <a:rPr sz="2800" spc="-20" dirty="0">
                <a:latin typeface="Times New Roman"/>
                <a:cs typeface="Times New Roman"/>
              </a:rPr>
              <a:t>Dijkstra’s </a:t>
            </a:r>
            <a:r>
              <a:rPr sz="2800" spc="-5" dirty="0">
                <a:latin typeface="Times New Roman"/>
                <a:cs typeface="Times New Roman"/>
              </a:rPr>
              <a:t>algorithm 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|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| </a:t>
            </a:r>
            <a:r>
              <a:rPr sz="2800" spc="-5" dirty="0">
                <a:latin typeface="Times New Roman"/>
                <a:cs typeface="Times New Roman"/>
              </a:rPr>
              <a:t>times: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+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775" spc="7" baseline="25525" dirty="0">
                <a:solidFill>
                  <a:srgbClr val="008A87"/>
                </a:solidFill>
                <a:latin typeface="Times New Roman"/>
                <a:cs typeface="Times New Roman"/>
              </a:rPr>
              <a:t>2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lg</a:t>
            </a:r>
            <a:r>
              <a:rPr sz="2800" spc="-434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9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9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01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6127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All-pairs shortest</a:t>
            </a:r>
            <a:r>
              <a:rPr spc="-30" dirty="0"/>
              <a:t> </a:t>
            </a:r>
            <a:r>
              <a:rPr spc="-5" dirty="0"/>
              <a:t>paths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011" y="1393507"/>
            <a:ext cx="7462520" cy="1856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610"/>
              </a:lnSpc>
              <a:spcBef>
                <a:spcPts val="95"/>
              </a:spcBef>
            </a:pP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Input: </a:t>
            </a:r>
            <a:r>
              <a:rPr sz="3200" spc="-5" dirty="0">
                <a:latin typeface="Times New Roman"/>
                <a:cs typeface="Times New Roman"/>
              </a:rPr>
              <a:t>Digraph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G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{1,</a:t>
            </a:r>
            <a:r>
              <a:rPr sz="3200" spc="-3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2,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56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…,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r>
              <a:rPr sz="3200" spc="-5" dirty="0">
                <a:latin typeface="Times New Roman"/>
                <a:cs typeface="Times New Roman"/>
              </a:rPr>
              <a:t>, with edge-weight function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w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</a:t>
            </a:r>
            <a:r>
              <a:rPr sz="3200" spc="4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Arial"/>
                <a:cs typeface="Arial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595"/>
              </a:lnSpc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Output: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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latin typeface="Times New Roman"/>
                <a:cs typeface="Times New Roman"/>
              </a:rPr>
              <a:t>matrix of shortest-path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lengths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650"/>
              </a:lnSpc>
            </a:pP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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all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682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6127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All-pairs shortest</a:t>
            </a:r>
            <a:r>
              <a:rPr spc="-30" dirty="0"/>
              <a:t> </a:t>
            </a:r>
            <a:r>
              <a:rPr spc="-5" dirty="0"/>
              <a:t>paths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0267" y="1393507"/>
            <a:ext cx="7487920" cy="479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3610"/>
              </a:lnSpc>
              <a:spcBef>
                <a:spcPts val="95"/>
              </a:spcBef>
            </a:pP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Input: </a:t>
            </a:r>
            <a:r>
              <a:rPr sz="3200" spc="-5" dirty="0">
                <a:latin typeface="Times New Roman"/>
                <a:cs typeface="Times New Roman"/>
              </a:rPr>
              <a:t>Digraph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G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{1,</a:t>
            </a:r>
            <a:r>
              <a:rPr sz="3200" spc="-3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2,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ts val="356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…,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r>
              <a:rPr sz="3200" spc="-5" dirty="0">
                <a:latin typeface="Times New Roman"/>
                <a:cs typeface="Times New Roman"/>
              </a:rPr>
              <a:t>, with edge-weight function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w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</a:t>
            </a:r>
            <a:r>
              <a:rPr sz="3200" spc="4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Arial"/>
                <a:cs typeface="Arial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ts val="3595"/>
              </a:lnSpc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Output: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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latin typeface="Times New Roman"/>
                <a:cs typeface="Times New Roman"/>
              </a:rPr>
              <a:t>matrix of shortest-path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lengths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ts val="3650"/>
              </a:lnSpc>
            </a:pP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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all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ts val="3650"/>
              </a:lnSpc>
              <a:spcBef>
                <a:spcPts val="124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250825" indent="-226060">
              <a:lnSpc>
                <a:spcPts val="3454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Run Bellman-Ford once from each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vertex.</a:t>
            </a:r>
            <a:endParaRPr sz="3200">
              <a:latin typeface="Times New Roman"/>
              <a:cs typeface="Times New Roman"/>
            </a:endParaRPr>
          </a:p>
          <a:p>
            <a:pPr marL="250825" indent="-226060">
              <a:lnSpc>
                <a:spcPts val="3460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35" dirty="0">
                <a:latin typeface="Times New Roman"/>
                <a:cs typeface="Times New Roman"/>
              </a:rPr>
              <a:t>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O(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i="1" spc="-2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150" baseline="25132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r>
              <a:rPr sz="3200" i="1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250825" marR="54610" indent="-226060">
              <a:lnSpc>
                <a:spcPts val="3440"/>
              </a:lnSpc>
              <a:spcBef>
                <a:spcPts val="265"/>
              </a:spcBef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Dense graph (</a:t>
            </a:r>
            <a:r>
              <a:rPr sz="3200" spc="-5" dirty="0">
                <a:solidFill>
                  <a:srgbClr val="008380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8380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3150" spc="-7" baseline="25132" dirty="0">
                <a:solidFill>
                  <a:srgbClr val="008380"/>
                </a:solidFill>
                <a:latin typeface="Times New Roman"/>
                <a:cs typeface="Times New Roman"/>
              </a:rPr>
              <a:t>2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edges) </a:t>
            </a:r>
            <a:r>
              <a:rPr sz="3200" spc="-5" dirty="0">
                <a:latin typeface="Symbol"/>
                <a:cs typeface="Symbol"/>
              </a:rPr>
              <a:t>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380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8380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150" spc="7" baseline="25132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time</a:t>
            </a:r>
            <a:r>
              <a:rPr sz="3200" spc="-2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 the worst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case.</a:t>
            </a:r>
            <a:endParaRPr sz="3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40"/>
              </a:spcBef>
            </a:pPr>
            <a:r>
              <a:rPr sz="3200" i="1" spc="-5" dirty="0">
                <a:latin typeface="Times New Roman"/>
                <a:cs typeface="Times New Roman"/>
              </a:rPr>
              <a:t>Good first</a:t>
            </a:r>
            <a:r>
              <a:rPr sz="3200" i="1" spc="1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try!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229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10120"/>
            <a:ext cx="8530066" cy="100072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1289" tIns="90644" rIns="181289" bIns="90644">
            <a:normAutofit/>
          </a:bodyPr>
          <a:lstStyle/>
          <a:p>
            <a:pPr algn="ctr"/>
            <a:r>
              <a:rPr lang="en-US" sz="4800" dirty="0"/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468" y="2367458"/>
            <a:ext cx="7759805" cy="2509342"/>
          </a:xfrm>
        </p:spPr>
        <p:txBody>
          <a:bodyPr lIns="181289" tIns="90644" rIns="181289" bIns="90644">
            <a:normAutofit/>
          </a:bodyPr>
          <a:lstStyle/>
          <a:p>
            <a:r>
              <a:rPr lang="en-US" sz="3600" b="1" dirty="0"/>
              <a:t>Introduction to Algorithms</a:t>
            </a:r>
          </a:p>
          <a:p>
            <a:pPr lvl="1"/>
            <a:r>
              <a:rPr lang="en-US" dirty="0"/>
              <a:t>Single Source Shortest Path</a:t>
            </a:r>
          </a:p>
          <a:p>
            <a:pPr lvl="1"/>
            <a:r>
              <a:rPr lang="en-US"/>
              <a:t>Chapter # 24</a:t>
            </a:r>
          </a:p>
          <a:p>
            <a:pPr lvl="1"/>
            <a:r>
              <a:rPr lang="en-US"/>
              <a:t>Thomas </a:t>
            </a:r>
            <a:r>
              <a:rPr lang="en-US" dirty="0"/>
              <a:t>H. </a:t>
            </a:r>
            <a:r>
              <a:rPr lang="en-US" dirty="0" err="1"/>
              <a:t>Cormen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46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All Pairs Shortest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>
            <a:normAutofit/>
          </a:bodyPr>
          <a:lstStyle/>
          <a:p>
            <a:r>
              <a:rPr lang="en-US" sz="3200" dirty="0"/>
              <a:t>given edge-weighted graph, G =(V, </a:t>
            </a:r>
            <a:r>
              <a:rPr lang="en-US" sz="3200" dirty="0" err="1"/>
              <a:t>E,w</a:t>
            </a:r>
            <a:r>
              <a:rPr lang="en-US" sz="3200" dirty="0"/>
              <a:t>)</a:t>
            </a:r>
          </a:p>
          <a:p>
            <a:r>
              <a:rPr lang="en-US" sz="3200" dirty="0"/>
              <a:t>find δ(u, v) for all u, v ∈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93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612765" cy="6959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All-pairs shortest</a:t>
            </a:r>
            <a:r>
              <a:rPr spc="-30" dirty="0"/>
              <a:t> </a:t>
            </a:r>
            <a:r>
              <a:rPr spc="-5" dirty="0"/>
              <a:t>paths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0267" y="1274661"/>
            <a:ext cx="7487920" cy="5313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3610"/>
              </a:lnSpc>
              <a:spcBef>
                <a:spcPts val="95"/>
              </a:spcBef>
            </a:pPr>
            <a:r>
              <a:rPr lang="en-US"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Negative Edge Weight:</a:t>
            </a:r>
          </a:p>
          <a:p>
            <a:pPr marL="25400">
              <a:lnSpc>
                <a:spcPts val="3610"/>
              </a:lnSpc>
              <a:spcBef>
                <a:spcPts val="95"/>
              </a:spcBef>
            </a:pP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Input: </a:t>
            </a:r>
            <a:r>
              <a:rPr sz="3200" spc="-5" dirty="0">
                <a:latin typeface="Times New Roman"/>
                <a:cs typeface="Times New Roman"/>
              </a:rPr>
              <a:t>Digraph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G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{1,</a:t>
            </a:r>
            <a:r>
              <a:rPr sz="3200" spc="-3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2,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ts val="356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…,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r>
              <a:rPr sz="3200" spc="-5" dirty="0">
                <a:latin typeface="Times New Roman"/>
                <a:cs typeface="Times New Roman"/>
              </a:rPr>
              <a:t>, with edge-weight function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w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</a:t>
            </a:r>
            <a:r>
              <a:rPr sz="3200" spc="4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Arial"/>
                <a:cs typeface="Arial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ts val="3595"/>
              </a:lnSpc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Output: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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latin typeface="Times New Roman"/>
                <a:cs typeface="Times New Roman"/>
              </a:rPr>
              <a:t>matrix of shortest-path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lengths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ts val="3650"/>
              </a:lnSpc>
            </a:pP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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all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ts val="3650"/>
              </a:lnSpc>
              <a:spcBef>
                <a:spcPts val="124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250825" indent="-226060">
              <a:lnSpc>
                <a:spcPts val="3454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Run Bellman-Ford once from each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vertex.</a:t>
            </a:r>
            <a:endParaRPr sz="3200" dirty="0">
              <a:latin typeface="Times New Roman"/>
              <a:cs typeface="Times New Roman"/>
            </a:endParaRPr>
          </a:p>
          <a:p>
            <a:pPr marL="250825" indent="-226060">
              <a:lnSpc>
                <a:spcPts val="3460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35" dirty="0">
                <a:latin typeface="Times New Roman"/>
                <a:cs typeface="Times New Roman"/>
              </a:rPr>
              <a:t>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O(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i="1" spc="-2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150" baseline="25132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r>
              <a:rPr sz="3200" i="1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dirty="0">
                <a:latin typeface="Times New Roman"/>
                <a:cs typeface="Times New Roman"/>
              </a:rPr>
              <a:t>.</a:t>
            </a:r>
          </a:p>
          <a:p>
            <a:pPr marL="250825" marR="54610" indent="-226060">
              <a:lnSpc>
                <a:spcPts val="3440"/>
              </a:lnSpc>
              <a:spcBef>
                <a:spcPts val="265"/>
              </a:spcBef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Dense graph (</a:t>
            </a:r>
            <a:r>
              <a:rPr sz="3200" spc="-5" dirty="0">
                <a:solidFill>
                  <a:srgbClr val="008380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8380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3150" spc="-7" baseline="25132" dirty="0">
                <a:solidFill>
                  <a:srgbClr val="008380"/>
                </a:solidFill>
                <a:latin typeface="Times New Roman"/>
                <a:cs typeface="Times New Roman"/>
              </a:rPr>
              <a:t>2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edges) </a:t>
            </a:r>
            <a:r>
              <a:rPr sz="3200" spc="-5" dirty="0">
                <a:latin typeface="Symbol"/>
                <a:cs typeface="Symbol"/>
              </a:rPr>
              <a:t>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380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8380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150" spc="7" baseline="25132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time</a:t>
            </a:r>
            <a:r>
              <a:rPr sz="3200" spc="-2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 the </a:t>
            </a:r>
            <a:r>
              <a:rPr sz="3200" b="1" spc="-5" dirty="0">
                <a:latin typeface="Times New Roman"/>
                <a:cs typeface="Times New Roman"/>
              </a:rPr>
              <a:t>worst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case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40"/>
              </a:spcBef>
            </a:pPr>
            <a:r>
              <a:rPr sz="3200" i="1" spc="-5" dirty="0">
                <a:latin typeface="Times New Roman"/>
                <a:cs typeface="Times New Roman"/>
              </a:rPr>
              <a:t>Good first</a:t>
            </a:r>
            <a:r>
              <a:rPr sz="3200" i="1" spc="1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try!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10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(Dynamic Programming)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1. Characterize the structure of an optimal solution.</a:t>
            </a:r>
          </a:p>
          <a:p>
            <a:r>
              <a:rPr lang="en-US" dirty="0"/>
              <a:t>2. Recursively define the value of an optimal solution.</a:t>
            </a:r>
          </a:p>
          <a:p>
            <a:r>
              <a:rPr lang="en-US" dirty="0"/>
              <a:t>3. Compute the value of an optimal solution in a bottom-up fashion.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97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89916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1526539" y="289813"/>
            <a:ext cx="5612765" cy="6959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065" rIns="0" bIns="0" rtlCol="0" anchor="b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pc="-5"/>
              <a:t>All-pairs shortest</a:t>
            </a:r>
            <a:r>
              <a:rPr lang="en-US" spc="-30"/>
              <a:t> </a:t>
            </a:r>
            <a:r>
              <a:rPr lang="en-US" spc="-5"/>
              <a:t>paths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224158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Approach!!!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219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800" dirty="0"/>
              <a:t>Dynamic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6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400" dirty="0" err="1"/>
              <a:t>FlOYD</a:t>
            </a:r>
            <a:r>
              <a:rPr lang="en-US" sz="4400" dirty="0"/>
              <a:t>-WARSHALL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217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CF5A-E620-4E88-AC40-4ED14EC5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5286"/>
            <a:ext cx="7467600" cy="491729"/>
          </a:xfrm>
        </p:spPr>
        <p:txBody>
          <a:bodyPr>
            <a:normAutofit fontScale="90000"/>
          </a:bodyPr>
          <a:lstStyle/>
          <a:p>
            <a:r>
              <a:rPr lang="en-US" dirty="0"/>
              <a:t>Shortest path from “1” to “2”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E1DD-8C44-46EB-B018-E10D7FCEDE2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It can be direct.</a:t>
            </a:r>
          </a:p>
          <a:p>
            <a:r>
              <a:rPr lang="en-US" dirty="0"/>
              <a:t>It can be via 3.</a:t>
            </a:r>
          </a:p>
          <a:p>
            <a:r>
              <a:rPr lang="en-US" dirty="0"/>
              <a:t>It can be via 4.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9FC79-3FB2-4739-A6E2-94CC2E03BC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703ED3-2835-4E00-97C9-2C20AADB5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429000"/>
            <a:ext cx="3101926" cy="237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787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C2AB8-6555-45E5-A0E2-48A26EA4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Floyd-</a:t>
            </a:r>
            <a:r>
              <a:rPr lang="en-US" b="1" i="0" dirty="0" err="1">
                <a:solidFill>
                  <a:srgbClr val="25265E"/>
                </a:solidFill>
                <a:effectLst/>
                <a:latin typeface="euclid_circular_a"/>
              </a:rPr>
              <a:t>Warshall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2CD8F-BF7E-4C20-A585-4250F880416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A010F-565D-49A8-9978-45039F261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29708"/>
            <a:ext cx="7748016" cy="410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392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44651-511F-4019-AB3E-6D1504D318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9E9F9-40F2-4065-8021-92C2933FD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40" y="762001"/>
            <a:ext cx="8764493" cy="1825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30726B-6146-43A4-8428-24576531E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389" y="3241724"/>
            <a:ext cx="3517411" cy="24923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5E730F-64BB-4FA4-930D-50E30E36F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241724"/>
            <a:ext cx="4149350" cy="277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28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1D9BA-3F53-4C83-9E11-A4975E82F0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1AE57-5052-487C-95B3-0BFD8614C4B5}"/>
              </a:ext>
            </a:extLst>
          </p:cNvPr>
          <p:cNvSpPr txBox="1"/>
          <p:nvPr/>
        </p:nvSpPr>
        <p:spPr>
          <a:xfrm>
            <a:off x="171450" y="857250"/>
            <a:ext cx="5162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  <a:r>
              <a:rPr lang="en-US" b="1" baseline="-25000" dirty="0"/>
              <a:t>1</a:t>
            </a:r>
            <a:r>
              <a:rPr lang="en-US" b="1" dirty="0"/>
              <a:t>[2,3] = min( D</a:t>
            </a:r>
            <a:r>
              <a:rPr lang="en-US" b="1" baseline="-25000" dirty="0"/>
              <a:t>0</a:t>
            </a:r>
            <a:r>
              <a:rPr lang="en-US" b="1" dirty="0"/>
              <a:t>[2,3] , D</a:t>
            </a:r>
            <a:r>
              <a:rPr lang="en-US" b="1" baseline="-25000" dirty="0"/>
              <a:t>0</a:t>
            </a:r>
            <a:r>
              <a:rPr lang="en-US" b="1" dirty="0"/>
              <a:t>[2,1]+D</a:t>
            </a:r>
            <a:r>
              <a:rPr lang="en-US" b="1" baseline="-25000" dirty="0"/>
              <a:t>0</a:t>
            </a:r>
            <a:r>
              <a:rPr lang="en-US" b="1" dirty="0"/>
              <a:t>[1,3] )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Here k=1</a:t>
            </a:r>
            <a:endParaRPr lang="en-PK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1B9221-7FA8-453C-AA18-397606336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3" y="2936014"/>
            <a:ext cx="4452822" cy="27980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DB8D0D-816E-4FC0-B77F-82D46F2ED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221" y="857250"/>
            <a:ext cx="3850396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32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1D9BA-3F53-4C83-9E11-A4975E82F0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4A8D6B-245D-49C7-B569-9E016628A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46" y="2981855"/>
            <a:ext cx="4284253" cy="27331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932496-06BE-4094-92DB-EE60F408D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941918"/>
            <a:ext cx="4319016" cy="271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431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FB260-F5F9-4E75-9D8C-5966CE6E442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DA98C5-5A0B-429C-AC68-93AF941FF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2" y="3221384"/>
            <a:ext cx="4519150" cy="3103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4658F9-D23A-4E74-9C22-89FBD32FC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103" y="967538"/>
            <a:ext cx="4360513" cy="299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00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8B34C-292D-4F9E-8C5F-682A5254E5C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78EC88-9711-473D-A051-EB5F6AA8D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43" y="3167869"/>
            <a:ext cx="4389157" cy="3125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45EF2E-00E6-4CED-9A77-7FDFCE6F7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724" y="533401"/>
            <a:ext cx="4504893" cy="309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35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3550"/>
            <a:ext cx="9277350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449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53571" y="914400"/>
            <a:ext cx="8479183" cy="3632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098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908" y="477593"/>
            <a:ext cx="7467600" cy="655638"/>
          </a:xfrm>
        </p:spPr>
        <p:txBody>
          <a:bodyPr>
            <a:normAutofit fontScale="90000"/>
          </a:bodyPr>
          <a:lstStyle/>
          <a:p>
            <a:r>
              <a:rPr lang="en-US" dirty="0"/>
              <a:t>A recursive solution to the all-pairs shortest-paths problem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28600" y="1600200"/>
            <a:ext cx="8686800" cy="304641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203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8116019" y="5900468"/>
            <a:ext cx="609600" cy="521208"/>
          </a:xfrm>
        </p:spPr>
        <p:txBody>
          <a:bodyPr/>
          <a:lstStyle/>
          <a:p>
            <a:fld id="{D46B8EC2-79DC-4D91-A125-9987AE897EFA}" type="slidenum">
              <a:rPr lang="en-US" smtClean="0"/>
              <a:t>50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https://www.programming-algorithms.net/image/id/508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-228600"/>
            <a:ext cx="303915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15" y="457200"/>
            <a:ext cx="25622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 descr="https://www.programming-algorithms.net/latexImage/id/5107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20" y="2945921"/>
            <a:ext cx="8381999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7128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each iteration of Floyd-</a:t>
            </a:r>
            <a:r>
              <a:rPr lang="en-US" dirty="0" err="1"/>
              <a:t>Warshall</a:t>
            </a:r>
            <a:r>
              <a:rPr lang="en-US" dirty="0"/>
              <a:t> algorithm is this matrix recalculated, so it contains lengths of paths among all pairs of nodes using gradually enlarging set of intermediate nodes. </a:t>
            </a:r>
          </a:p>
          <a:p>
            <a:r>
              <a:rPr lang="en-US" dirty="0"/>
              <a:t>The matrix 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D</a:t>
            </a:r>
            <a:r>
              <a:rPr lang="en-US" sz="2800" b="1" baseline="-25000" dirty="0">
                <a:solidFill>
                  <a:srgbClr val="0070C0"/>
                </a:solidFill>
              </a:rPr>
              <a:t>1</a:t>
            </a:r>
            <a:r>
              <a:rPr lang="en-US" dirty="0"/>
              <a:t>, which is created by the first iteration of the procedure, contains paths among all nodes using </a:t>
            </a:r>
            <a:r>
              <a:rPr lang="en-US" b="1" dirty="0"/>
              <a:t>exactly one (predefined) intermediate node. </a:t>
            </a:r>
          </a:p>
          <a:p>
            <a:r>
              <a:rPr lang="en-US" sz="2800" b="1" dirty="0"/>
              <a:t> </a:t>
            </a:r>
            <a:r>
              <a:rPr lang="en-US" sz="2800" b="1" dirty="0">
                <a:solidFill>
                  <a:srgbClr val="0070C0"/>
                </a:solidFill>
              </a:rPr>
              <a:t>D</a:t>
            </a:r>
            <a:r>
              <a:rPr lang="en-US" sz="2800" b="1" baseline="-25000" dirty="0">
                <a:solidFill>
                  <a:srgbClr val="0070C0"/>
                </a:solidFill>
              </a:rPr>
              <a:t>2</a:t>
            </a:r>
            <a:r>
              <a:rPr lang="en-US" sz="2800" b="1" baseline="-25000" dirty="0"/>
              <a:t> </a:t>
            </a:r>
            <a:r>
              <a:rPr lang="en-US" dirty="0"/>
              <a:t>contains lengths using </a:t>
            </a:r>
            <a:r>
              <a:rPr lang="en-US" b="1" dirty="0"/>
              <a:t>two predefined intermediate nodes</a:t>
            </a:r>
            <a:r>
              <a:rPr lang="en-US" dirty="0"/>
              <a:t>. </a:t>
            </a:r>
          </a:p>
          <a:p>
            <a:r>
              <a:rPr lang="en-US" dirty="0"/>
              <a:t>Finally the matrix  </a:t>
            </a:r>
            <a:r>
              <a:rPr lang="en-US" sz="2800" b="1" dirty="0" err="1">
                <a:solidFill>
                  <a:srgbClr val="0070C0"/>
                </a:solidFill>
              </a:rPr>
              <a:t>D</a:t>
            </a:r>
            <a:r>
              <a:rPr lang="en-US" sz="2800" b="1" baseline="-25000" dirty="0" err="1">
                <a:solidFill>
                  <a:srgbClr val="0070C0"/>
                </a:solidFill>
              </a:rPr>
              <a:t>n</a:t>
            </a:r>
            <a:r>
              <a:rPr lang="en-US" sz="2800" b="1" baseline="-250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 uses  n intermediate nodes.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232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" y="1524000"/>
            <a:ext cx="5638800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181600" y="609600"/>
            <a:ext cx="2971800" cy="30480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This Dynamic Program contains O(V</a:t>
            </a:r>
            <a:r>
              <a:rPr lang="en-US" baseline="30000" dirty="0"/>
              <a:t>3</a:t>
            </a:r>
            <a:r>
              <a:rPr lang="en-US" dirty="0"/>
              <a:t>) problems</a:t>
            </a:r>
          </a:p>
          <a:p>
            <a:r>
              <a:rPr lang="en-US" dirty="0"/>
              <a:t>O(1) time to solve each sub-problem </a:t>
            </a:r>
          </a:p>
          <a:p>
            <a:r>
              <a:rPr lang="en-US" dirty="0"/>
              <a:t>total runtime is O(V</a:t>
            </a:r>
            <a:r>
              <a:rPr lang="en-US" baseline="30000" dirty="0"/>
              <a:t>3</a:t>
            </a:r>
            <a:r>
              <a:rPr lang="en-US" dirty="0"/>
              <a:t>).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862" y="5486400"/>
            <a:ext cx="5023338" cy="1913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765">
              <a:lnSpc>
                <a:spcPts val="3490"/>
              </a:lnSpc>
              <a:buClr>
                <a:srgbClr val="CC0000"/>
              </a:buClr>
              <a:tabLst>
                <a:tab pos="251460" algn="l"/>
              </a:tabLst>
            </a:pPr>
            <a:r>
              <a:rPr lang="en-US" sz="36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O(V</a:t>
            </a:r>
            <a:r>
              <a:rPr lang="en-US" sz="3600" i="1" baseline="30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263525" indent="-226060">
              <a:lnSpc>
                <a:spcPts val="3450"/>
              </a:lnSpc>
              <a:buClr>
                <a:srgbClr val="CC0000"/>
              </a:buClr>
              <a:buChar char="•"/>
              <a:tabLst>
                <a:tab pos="264160" algn="l"/>
              </a:tabLst>
            </a:pPr>
            <a:r>
              <a:rPr lang="en-US" sz="3600" spc="-5" dirty="0">
                <a:latin typeface="Times New Roman"/>
                <a:cs typeface="Times New Roman"/>
              </a:rPr>
              <a:t>Simple to code.</a:t>
            </a:r>
            <a:endParaRPr lang="en-US" sz="3600" dirty="0">
              <a:latin typeface="Times New Roman"/>
              <a:cs typeface="Times New Roman"/>
            </a:endParaRPr>
          </a:p>
          <a:p>
            <a:pPr marL="263525" indent="-226060">
              <a:lnSpc>
                <a:spcPts val="3650"/>
              </a:lnSpc>
              <a:buClr>
                <a:srgbClr val="CC0000"/>
              </a:buClr>
              <a:buChar char="•"/>
              <a:tabLst>
                <a:tab pos="264160" algn="l"/>
              </a:tabLst>
            </a:pPr>
            <a:r>
              <a:rPr lang="en-US" sz="3600" spc="-10" dirty="0">
                <a:latin typeface="Times New Roman"/>
                <a:cs typeface="Times New Roman"/>
              </a:rPr>
              <a:t>Efficient </a:t>
            </a:r>
            <a:r>
              <a:rPr lang="en-US" sz="3600" spc="-5" dirty="0">
                <a:latin typeface="Times New Roman"/>
                <a:cs typeface="Times New Roman"/>
              </a:rPr>
              <a:t>in practice.</a:t>
            </a:r>
            <a:endParaRPr lang="en-US" sz="3600" dirty="0">
              <a:latin typeface="Times New Roman"/>
              <a:cs typeface="Times New Roman"/>
            </a:endParaRPr>
          </a:p>
          <a:p>
            <a:pPr marL="24765">
              <a:lnSpc>
                <a:spcPts val="3490"/>
              </a:lnSpc>
              <a:buClr>
                <a:srgbClr val="CC0000"/>
              </a:buClr>
              <a:tabLst>
                <a:tab pos="251460" algn="l"/>
              </a:tabLst>
            </a:pPr>
            <a:endParaRPr lang="en-US" sz="3600" i="1" spc="-2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31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10120"/>
            <a:ext cx="8530066" cy="100072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1289" tIns="90644" rIns="181289" bIns="90644">
            <a:normAutofit/>
          </a:bodyPr>
          <a:lstStyle/>
          <a:p>
            <a:pPr algn="ctr"/>
            <a:r>
              <a:rPr lang="en-US" sz="4800" dirty="0"/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468" y="2367458"/>
            <a:ext cx="7759805" cy="2509342"/>
          </a:xfrm>
        </p:spPr>
        <p:txBody>
          <a:bodyPr lIns="181289" tIns="90644" rIns="181289" bIns="90644">
            <a:normAutofit/>
          </a:bodyPr>
          <a:lstStyle/>
          <a:p>
            <a:r>
              <a:rPr lang="en-US" sz="3600" b="1" dirty="0"/>
              <a:t>Introduction to Algorithms</a:t>
            </a:r>
          </a:p>
          <a:p>
            <a:pPr lvl="1"/>
            <a:r>
              <a:rPr lang="en-US" dirty="0"/>
              <a:t>All Pairs Shortest Path</a:t>
            </a:r>
          </a:p>
          <a:p>
            <a:pPr lvl="1"/>
            <a:r>
              <a:rPr lang="en-US" dirty="0"/>
              <a:t>Chapter # 25</a:t>
            </a:r>
          </a:p>
          <a:p>
            <a:pPr lvl="1"/>
            <a:r>
              <a:rPr lang="en-US" dirty="0"/>
              <a:t>Thomas H. </a:t>
            </a:r>
            <a:r>
              <a:rPr lang="en-US" dirty="0" err="1"/>
              <a:t>Cormen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78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10261</TotalTime>
  <Words>2158</Words>
  <Application>Microsoft Office PowerPoint</Application>
  <PresentationFormat>On-screen Show (4:3)</PresentationFormat>
  <Paragraphs>856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Arial</vt:lpstr>
      <vt:lpstr>Calibri</vt:lpstr>
      <vt:lpstr>Century Schoolbook</vt:lpstr>
      <vt:lpstr>euclid_circular_a</vt:lpstr>
      <vt:lpstr>Symbol</vt:lpstr>
      <vt:lpstr>Times New Roman</vt:lpstr>
      <vt:lpstr>Wingdings</vt:lpstr>
      <vt:lpstr>Wingdings 2</vt:lpstr>
      <vt:lpstr>Oriel</vt:lpstr>
      <vt:lpstr>Graph Theory Shortest Paths II Bellman-Ford algorithm </vt:lpstr>
      <vt:lpstr>Negative-weight cycles</vt:lpstr>
      <vt:lpstr>Negative-weight cycles</vt:lpstr>
      <vt:lpstr>Bellman-Ford algorithm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Bellman-Ford-Pass2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Shortest paths</vt:lpstr>
      <vt:lpstr>Shortest paths</vt:lpstr>
      <vt:lpstr>All-pairs shortest paths</vt:lpstr>
      <vt:lpstr>All-pairs shortest paths</vt:lpstr>
      <vt:lpstr>Reference</vt:lpstr>
      <vt:lpstr>All Pairs Shortest Path</vt:lpstr>
      <vt:lpstr>All-pairs shortest paths</vt:lpstr>
      <vt:lpstr>Recap (Dynamic Programming)</vt:lpstr>
      <vt:lpstr>PowerPoint Presentation</vt:lpstr>
      <vt:lpstr>Better Approach!!!</vt:lpstr>
      <vt:lpstr>FlOYD-WARSHALL</vt:lpstr>
      <vt:lpstr>Shortest path from “1” to “2”</vt:lpstr>
      <vt:lpstr>Floyd-Warshall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Floyd-Warshall: </vt:lpstr>
      <vt:lpstr>PowerPoint Presentation</vt:lpstr>
      <vt:lpstr>A recursive solution to the all-pairs shortest-paths problem</vt:lpstr>
      <vt:lpstr>`</vt:lpstr>
      <vt:lpstr>Floyd-Warshall: </vt:lpstr>
      <vt:lpstr>Floyd-Warshall: 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Noor ul Ain</cp:lastModifiedBy>
  <cp:revision>122</cp:revision>
  <cp:lastPrinted>2020-03-05T04:46:42Z</cp:lastPrinted>
  <dcterms:created xsi:type="dcterms:W3CDTF">2020-02-27T06:19:36Z</dcterms:created>
  <dcterms:modified xsi:type="dcterms:W3CDTF">2025-11-26T03:30:59Z</dcterms:modified>
</cp:coreProperties>
</file>