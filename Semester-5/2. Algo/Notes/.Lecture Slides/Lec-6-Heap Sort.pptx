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52"/>
  </p:notesMasterIdLst>
  <p:handoutMasterIdLst>
    <p:handoutMasterId r:id="rId53"/>
  </p:handoutMasterIdLst>
  <p:sldIdLst>
    <p:sldId id="616" r:id="rId2"/>
    <p:sldId id="619" r:id="rId3"/>
    <p:sldId id="598" r:id="rId4"/>
    <p:sldId id="599" r:id="rId5"/>
    <p:sldId id="600" r:id="rId6"/>
    <p:sldId id="601" r:id="rId7"/>
    <p:sldId id="602" r:id="rId8"/>
    <p:sldId id="603" r:id="rId9"/>
    <p:sldId id="604" r:id="rId10"/>
    <p:sldId id="605" r:id="rId11"/>
    <p:sldId id="606" r:id="rId12"/>
    <p:sldId id="607" r:id="rId13"/>
    <p:sldId id="608" r:id="rId14"/>
    <p:sldId id="609" r:id="rId15"/>
    <p:sldId id="652" r:id="rId16"/>
    <p:sldId id="653" r:id="rId17"/>
    <p:sldId id="654" r:id="rId18"/>
    <p:sldId id="617" r:id="rId19"/>
    <p:sldId id="650" r:id="rId20"/>
    <p:sldId id="612" r:id="rId21"/>
    <p:sldId id="620" r:id="rId22"/>
    <p:sldId id="621" r:id="rId23"/>
    <p:sldId id="622" r:id="rId24"/>
    <p:sldId id="623" r:id="rId25"/>
    <p:sldId id="624" r:id="rId26"/>
    <p:sldId id="625" r:id="rId27"/>
    <p:sldId id="626" r:id="rId28"/>
    <p:sldId id="627" r:id="rId29"/>
    <p:sldId id="628" r:id="rId30"/>
    <p:sldId id="629" r:id="rId31"/>
    <p:sldId id="630" r:id="rId32"/>
    <p:sldId id="631" r:id="rId33"/>
    <p:sldId id="632" r:id="rId34"/>
    <p:sldId id="633" r:id="rId35"/>
    <p:sldId id="634" r:id="rId36"/>
    <p:sldId id="635" r:id="rId37"/>
    <p:sldId id="636" r:id="rId38"/>
    <p:sldId id="637" r:id="rId39"/>
    <p:sldId id="638" r:id="rId40"/>
    <p:sldId id="639" r:id="rId41"/>
    <p:sldId id="640" r:id="rId42"/>
    <p:sldId id="641" r:id="rId43"/>
    <p:sldId id="642" r:id="rId44"/>
    <p:sldId id="643" r:id="rId45"/>
    <p:sldId id="644" r:id="rId46"/>
    <p:sldId id="645" r:id="rId47"/>
    <p:sldId id="646" r:id="rId48"/>
    <p:sldId id="647" r:id="rId49"/>
    <p:sldId id="614" r:id="rId50"/>
    <p:sldId id="649" r:id="rId51"/>
  </p:sldIdLst>
  <p:sldSz cx="9144000" cy="6858000" type="screen4x3"/>
  <p:notesSz cx="7010400" cy="92964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55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CCFF"/>
    <a:srgbClr val="FC0128"/>
    <a:srgbClr val="FFFFCC"/>
    <a:srgbClr val="FFFF99"/>
    <a:srgbClr val="99FF99"/>
    <a:srgbClr val="99CCFF"/>
    <a:srgbClr val="FFFF00"/>
    <a:srgbClr val="063D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67" autoAdjust="0"/>
    <p:restoredTop sz="83126" autoAdjust="0"/>
  </p:normalViewPr>
  <p:slideViewPr>
    <p:cSldViewPr>
      <p:cViewPr varScale="1">
        <p:scale>
          <a:sx n="61" d="100"/>
          <a:sy n="61" d="100"/>
        </p:scale>
        <p:origin x="1746" y="66"/>
      </p:cViewPr>
      <p:guideLst>
        <p:guide orient="horz" pos="2160"/>
        <p:guide pos="55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7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12.wmf"/><Relationship Id="rId6" Type="http://schemas.openxmlformats.org/officeDocument/2006/relationships/image" Target="../media/image16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3450" y="4416425"/>
            <a:ext cx="5143500" cy="41830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89846" tIns="44134" rIns="89846" bIns="4413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3075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90625" y="703263"/>
            <a:ext cx="4630738" cy="34734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18880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72A51D2-1A91-4DD5-A32B-45742F6CC8B2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501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941982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7522F14-2FB9-4FAF-B876-EE6CD0E98163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502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2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60168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1F30077-A8D0-41C0-A4FB-C6A4F30660EC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503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3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13013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710333-D636-426D-8E5F-C43A3B93B91D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504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4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39735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1B3D92A-613E-4DAA-8B4B-2D177750F879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505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5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61650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6EDCC7-3E42-495D-8C36-957F9A759366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506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6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31052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05FDCA2-43FE-4425-B386-814A4FD420D3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507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7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00707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C116984-ADD3-4267-9BAC-10548C57648B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508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8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42014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7D17C74-F758-4997-8791-79D3C651DB8F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509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9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97865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8C1348E-055F-42C2-81E8-ADB687D7D477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510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0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58638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5165B55-C800-4B7E-AA1D-68F0B5E448C6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512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19906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F79818D-BF63-49EA-90C2-3268F251EC00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513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3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94776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302A0F8-C004-4A07-A8AA-4F90D686B32D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514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4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12268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302A0F8-C004-4A07-A8AA-4F90D686B32D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514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4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20727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3FF2D3A-76D9-4F99-AFF4-5BEFA043A780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515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5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35322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ED8A43F-9240-46F7-BC15-742410CF5EBB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516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6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85793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71859A1-C775-43B7-9649-66539FB8B37D}" type="slidenum">
              <a:rPr lang="en-US" altLang="en-US"/>
              <a:pPr/>
              <a:t>49</a:t>
            </a:fld>
            <a:endParaRPr lang="en-US" altLang="en-US"/>
          </a:p>
        </p:txBody>
      </p:sp>
      <p:sp>
        <p:nvSpPr>
          <p:cNvPr id="518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8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0195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023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968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6286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143000"/>
            <a:ext cx="38481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143000"/>
            <a:ext cx="38481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264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8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335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8697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21955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69140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96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2250" y="304800"/>
            <a:ext cx="1962150" cy="6324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04800"/>
            <a:ext cx="5734050" cy="63246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1916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09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74825"/>
            <a:ext cx="4038600" cy="46259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4825"/>
            <a:ext cx="4038600" cy="46259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477000"/>
            <a:ext cx="2133600" cy="27463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013" y="6477000"/>
            <a:ext cx="5508625" cy="27463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04200" y="6477000"/>
            <a:ext cx="733425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FAD6ED5A-4F73-406F-B0B2-5EA31363319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66994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>
  <p:cSld name="Title, 2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50838" y="1214438"/>
            <a:ext cx="4038600" cy="24622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350838" y="3829050"/>
            <a:ext cx="4038600" cy="24622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4541838" y="1214438"/>
            <a:ext cx="4038600" cy="507682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6553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fld id="{F0FA8680-4A58-4DFC-B036-56BAD3037AE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3561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0838" y="1214438"/>
            <a:ext cx="4038600" cy="507682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41838" y="1214438"/>
            <a:ext cx="4038600" cy="24622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41838" y="3829050"/>
            <a:ext cx="4038600" cy="24622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6553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fld id="{EBAE3537-C7FB-4AAE-9AE0-08877A777D9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50239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350838" y="1214438"/>
            <a:ext cx="8229600" cy="50768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6553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fld id="{295DA67E-D7E2-43BF-8F10-723453042D2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09540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341313" y="100013"/>
            <a:ext cx="8229600" cy="9064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50838" y="1214438"/>
            <a:ext cx="4038600" cy="24622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41838" y="1214438"/>
            <a:ext cx="4038600" cy="24622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350838" y="3829050"/>
            <a:ext cx="4038600" cy="24622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41838" y="3829050"/>
            <a:ext cx="4038600" cy="24622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6553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fld id="{466EB2BB-BAA8-45A6-8857-45F26D63C1B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7297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43000"/>
            <a:ext cx="78486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5" r:id="rId1"/>
    <p:sldLayoutId id="2147483936" r:id="rId2"/>
    <p:sldLayoutId id="2147483937" r:id="rId3"/>
    <p:sldLayoutId id="2147483938" r:id="rId4"/>
    <p:sldLayoutId id="2147483939" r:id="rId5"/>
    <p:sldLayoutId id="2147483940" r:id="rId6"/>
    <p:sldLayoutId id="2147483941" r:id="rId7"/>
    <p:sldLayoutId id="2147483942" r:id="rId8"/>
    <p:sldLayoutId id="2147483943" r:id="rId9"/>
    <p:sldLayoutId id="2147483944" r:id="rId10"/>
    <p:sldLayoutId id="2147483945" r:id="rId11"/>
    <p:sldLayoutId id="2147483946" r:id="rId12"/>
    <p:sldLayoutId id="2147483947" r:id="rId13"/>
    <p:sldLayoutId id="2147483948" r:id="rId14"/>
    <p:sldLayoutId id="2147483949" r:id="rId15"/>
    <p:sldLayoutId id="2147483950" r:id="rId16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400" b="1">
          <a:solidFill>
            <a:srgbClr val="063DE8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400" b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b="1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.png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png"/><Relationship Id="rId4" Type="http://schemas.openxmlformats.org/officeDocument/2006/relationships/oleObject" Target="../embeddings/oleObject3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5.png"/><Relationship Id="rId4" Type="http://schemas.openxmlformats.org/officeDocument/2006/relationships/oleObject" Target="../embeddings/oleObject4.bin"/><Relationship Id="rId9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4.png"/><Relationship Id="rId4" Type="http://schemas.openxmlformats.org/officeDocument/2006/relationships/oleObject" Target="../embeddings/oleObject7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10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8.bin"/><Relationship Id="rId9" Type="http://schemas.openxmlformats.org/officeDocument/2006/relationships/image" Target="../media/image11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13" Type="http://schemas.openxmlformats.org/officeDocument/2006/relationships/image" Target="../media/image15.wmf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10.wmf"/><Relationship Id="rId12" Type="http://schemas.openxmlformats.org/officeDocument/2006/relationships/oleObject" Target="../embeddings/oleObject15.bin"/><Relationship Id="rId17" Type="http://schemas.openxmlformats.org/officeDocument/2006/relationships/image" Target="../media/image11.wmf"/><Relationship Id="rId2" Type="http://schemas.openxmlformats.org/officeDocument/2006/relationships/slideLayout" Target="../slideLayouts/slideLayout16.xml"/><Relationship Id="rId16" Type="http://schemas.openxmlformats.org/officeDocument/2006/relationships/oleObject" Target="../embeddings/oleObject17.bin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14.wmf"/><Relationship Id="rId5" Type="http://schemas.openxmlformats.org/officeDocument/2006/relationships/image" Target="../media/image12.wmf"/><Relationship Id="rId15" Type="http://schemas.openxmlformats.org/officeDocument/2006/relationships/image" Target="../media/image16.wmf"/><Relationship Id="rId10" Type="http://schemas.openxmlformats.org/officeDocument/2006/relationships/oleObject" Target="../embeddings/oleObject14.bin"/><Relationship Id="rId4" Type="http://schemas.openxmlformats.org/officeDocument/2006/relationships/oleObject" Target="../embeddings/oleObject11.bin"/><Relationship Id="rId9" Type="http://schemas.openxmlformats.org/officeDocument/2006/relationships/image" Target="../media/image13.wmf"/><Relationship Id="rId14" Type="http://schemas.openxmlformats.org/officeDocument/2006/relationships/oleObject" Target="../embeddings/oleObject16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20.png"/><Relationship Id="rId4" Type="http://schemas.openxmlformats.org/officeDocument/2006/relationships/oleObject" Target="../embeddings/oleObject18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219200"/>
            <a:ext cx="8763000" cy="1905000"/>
          </a:xfrm>
        </p:spPr>
        <p:txBody>
          <a:bodyPr/>
          <a:lstStyle/>
          <a:p>
            <a:pPr algn="ctr"/>
            <a:r>
              <a:rPr lang="en-US" altLang="en-US" smtClean="0"/>
              <a:t>   Design and Analysis of Algorithms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3429000"/>
            <a:ext cx="6629400" cy="1600200"/>
          </a:xfrm>
          <a:solidFill>
            <a:srgbClr val="FFCCFF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ct val="80000"/>
              </a:lnSpc>
              <a:defRPr/>
            </a:pPr>
            <a:endParaRPr lang="en-US" altLang="en-US" sz="2000" dirty="0" smtClean="0"/>
          </a:p>
          <a:p>
            <a:pPr>
              <a:lnSpc>
                <a:spcPct val="80000"/>
              </a:lnSpc>
              <a:defRPr/>
            </a:pPr>
            <a:r>
              <a:rPr lang="en-US" altLang="en-US" dirty="0" smtClean="0"/>
              <a:t>Heap Sort</a:t>
            </a:r>
          </a:p>
          <a:p>
            <a:pPr>
              <a:lnSpc>
                <a:spcPct val="80000"/>
              </a:lnSpc>
              <a:defRPr/>
            </a:pPr>
            <a:endParaRPr lang="en-US" altLang="en-US" sz="2000" dirty="0" smtClean="0"/>
          </a:p>
          <a:p>
            <a:pPr>
              <a:lnSpc>
                <a:spcPct val="80000"/>
              </a:lnSpc>
              <a:defRPr/>
            </a:pPr>
            <a:endParaRPr lang="en-US" altLang="en-US" sz="2000" dirty="0" smtClean="0"/>
          </a:p>
          <a:p>
            <a:pPr>
              <a:lnSpc>
                <a:spcPct val="80000"/>
              </a:lnSpc>
              <a:defRPr/>
            </a:pPr>
            <a:endParaRPr lang="en-US" altLang="en-US" sz="2000" dirty="0" smtClean="0"/>
          </a:p>
          <a:p>
            <a:pPr>
              <a:lnSpc>
                <a:spcPct val="80000"/>
              </a:lnSpc>
              <a:defRPr/>
            </a:pPr>
            <a:endParaRPr lang="en-US" altLang="en-US" sz="1000" dirty="0" smtClean="0"/>
          </a:p>
        </p:txBody>
      </p:sp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838200" y="5105400"/>
            <a:ext cx="731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400" b="0">
                <a:latin typeface="Times New Roman" panose="02020603050405020304" pitchFamily="18" charset="0"/>
              </a:rPr>
              <a:t>National University of Computer and Emerging Sciences, Islamabad</a:t>
            </a:r>
          </a:p>
        </p:txBody>
      </p:sp>
    </p:spTree>
    <p:extLst>
      <p:ext uri="{BB962C8B-B14F-4D97-AF65-F5344CB8AC3E}">
        <p14:creationId xmlns:p14="http://schemas.microsoft.com/office/powerpoint/2010/main" val="1084178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47997" y="279907"/>
            <a:ext cx="204597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Hea</a:t>
            </a:r>
            <a:r>
              <a:rPr spc="5" dirty="0"/>
              <a:t>p</a:t>
            </a:r>
            <a:r>
              <a:rPr dirty="0"/>
              <a:t>s</a:t>
            </a:r>
            <a:r>
              <a:rPr spc="5" dirty="0"/>
              <a:t>o</a:t>
            </a:r>
            <a:r>
              <a:rPr spc="-5" dirty="0"/>
              <a:t>r</a:t>
            </a:r>
            <a:r>
              <a:rPr dirty="0"/>
              <a:t>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4340" y="1432051"/>
            <a:ext cx="8328660" cy="3239348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960"/>
              </a:spcBef>
              <a:buChar char="•"/>
              <a:tabLst>
                <a:tab pos="380365" algn="l"/>
                <a:tab pos="381000" algn="l"/>
              </a:tabLst>
            </a:pPr>
            <a:r>
              <a:rPr sz="3600" spc="-5" dirty="0">
                <a:latin typeface="Times New Roman"/>
                <a:cs typeface="Times New Roman"/>
              </a:rPr>
              <a:t>Running time</a:t>
            </a:r>
            <a:r>
              <a:rPr sz="3600" spc="1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of </a:t>
            </a:r>
            <a:r>
              <a:rPr sz="3600" spc="-5" dirty="0">
                <a:latin typeface="Times New Roman"/>
                <a:cs typeface="Times New Roman"/>
              </a:rPr>
              <a:t>heapsort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is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O(n </a:t>
            </a:r>
            <a:r>
              <a:rPr sz="3600" b="1" dirty="0">
                <a:solidFill>
                  <a:srgbClr val="FF0000"/>
                </a:solidFill>
                <a:latin typeface="Times New Roman"/>
                <a:cs typeface="Times New Roman"/>
              </a:rPr>
              <a:t>log</a:t>
            </a:r>
            <a:r>
              <a:rPr sz="3600" b="1" baseline="-20833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r>
              <a:rPr sz="3600" b="1" dirty="0">
                <a:solidFill>
                  <a:srgbClr val="FF0000"/>
                </a:solidFill>
                <a:latin typeface="Times New Roman"/>
                <a:cs typeface="Times New Roman"/>
              </a:rPr>
              <a:t>n)</a:t>
            </a:r>
          </a:p>
          <a:p>
            <a:pPr marL="381000" indent="-342900">
              <a:lnSpc>
                <a:spcPct val="100000"/>
              </a:lnSpc>
              <a:spcBef>
                <a:spcPts val="865"/>
              </a:spcBef>
              <a:buChar char="•"/>
              <a:tabLst>
                <a:tab pos="380365" algn="l"/>
                <a:tab pos="381000" algn="l"/>
              </a:tabLst>
            </a:pPr>
            <a:r>
              <a:rPr sz="3600" dirty="0">
                <a:latin typeface="Times New Roman"/>
                <a:cs typeface="Times New Roman"/>
              </a:rPr>
              <a:t>It</a:t>
            </a:r>
            <a:r>
              <a:rPr sz="3600" spc="-2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sorts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in</a:t>
            </a:r>
            <a:r>
              <a:rPr sz="36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6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place</a:t>
            </a:r>
            <a:endParaRPr sz="3600" b="1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381000" indent="-342900">
              <a:lnSpc>
                <a:spcPct val="100000"/>
              </a:lnSpc>
              <a:spcBef>
                <a:spcPts val="865"/>
              </a:spcBef>
              <a:buChar char="•"/>
              <a:tabLst>
                <a:tab pos="380365" algn="l"/>
                <a:tab pos="381000" algn="l"/>
              </a:tabLst>
            </a:pPr>
            <a:r>
              <a:rPr sz="3600" dirty="0">
                <a:latin typeface="Times New Roman"/>
                <a:cs typeface="Times New Roman"/>
              </a:rPr>
              <a:t>It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uses </a:t>
            </a:r>
            <a:r>
              <a:rPr sz="3600" dirty="0">
                <a:latin typeface="Times New Roman"/>
                <a:cs typeface="Times New Roman"/>
              </a:rPr>
              <a:t>a</a:t>
            </a:r>
            <a:r>
              <a:rPr sz="3600" spc="-5" dirty="0">
                <a:latin typeface="Times New Roman"/>
                <a:cs typeface="Times New Roman"/>
              </a:rPr>
              <a:t> data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structure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called</a:t>
            </a:r>
            <a:r>
              <a:rPr sz="3600" spc="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i="1" spc="-5" dirty="0">
                <a:latin typeface="Times New Roman"/>
                <a:cs typeface="Times New Roman"/>
              </a:rPr>
              <a:t>heap</a:t>
            </a:r>
            <a:endParaRPr sz="3600" dirty="0">
              <a:latin typeface="Times New Roman"/>
              <a:cs typeface="Times New Roman"/>
            </a:endParaRPr>
          </a:p>
          <a:p>
            <a:pPr marL="381000" marR="196215" indent="-342900">
              <a:lnSpc>
                <a:spcPct val="100000"/>
              </a:lnSpc>
              <a:spcBef>
                <a:spcPts val="865"/>
              </a:spcBef>
              <a:buChar char="•"/>
              <a:tabLst>
                <a:tab pos="380365" algn="l"/>
                <a:tab pos="381000" algn="l"/>
              </a:tabLst>
            </a:pPr>
            <a:r>
              <a:rPr sz="3600" spc="-5" dirty="0">
                <a:latin typeface="Times New Roman"/>
                <a:cs typeface="Times New Roman"/>
              </a:rPr>
              <a:t>The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heap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data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structure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is also</a:t>
            </a:r>
            <a:r>
              <a:rPr sz="3600" spc="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used</a:t>
            </a:r>
            <a:r>
              <a:rPr sz="360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to </a:t>
            </a:r>
            <a:r>
              <a:rPr sz="3600" spc="-88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implement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 </a:t>
            </a:r>
            <a:r>
              <a:rPr sz="3600" spc="-5" dirty="0">
                <a:latin typeface="Times New Roman"/>
                <a:cs typeface="Times New Roman"/>
              </a:rPr>
              <a:t>priority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queue</a:t>
            </a:r>
            <a:r>
              <a:rPr sz="3600" spc="-10" dirty="0">
                <a:latin typeface="Times New Roman"/>
                <a:cs typeface="Times New Roman"/>
              </a:rPr>
              <a:t> efficiently</a:t>
            </a:r>
            <a:endParaRPr sz="36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8596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Line 2"/>
          <p:cNvSpPr>
            <a:spLocks noChangeShapeType="1"/>
          </p:cNvSpPr>
          <p:nvPr/>
        </p:nvSpPr>
        <p:spPr bwMode="auto">
          <a:xfrm>
            <a:off x="2444750" y="5348288"/>
            <a:ext cx="234950" cy="2016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641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Heap Data Structure</a:t>
            </a:r>
          </a:p>
        </p:txBody>
      </p:sp>
      <p:sp>
        <p:nvSpPr>
          <p:cNvPr id="316420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>
                <a:solidFill>
                  <a:srgbClr val="DD0111"/>
                </a:solidFill>
                <a:latin typeface="Monotype Corsiva" panose="03010101010201010101" pitchFamily="66" charset="0"/>
              </a:rPr>
              <a:t>Def:</a:t>
            </a:r>
            <a:r>
              <a:rPr lang="en-US" altLang="en-US">
                <a:latin typeface="Monotype Corsiva" panose="03010101010201010101" pitchFamily="66" charset="0"/>
              </a:rPr>
              <a:t> </a:t>
            </a:r>
            <a:r>
              <a:rPr lang="en-US" altLang="en-US"/>
              <a:t>A </a:t>
            </a:r>
            <a:r>
              <a:rPr lang="en-US" altLang="en-US" b="1"/>
              <a:t>heap</a:t>
            </a:r>
            <a:r>
              <a:rPr lang="en-US" altLang="en-US"/>
              <a:t> is a </a:t>
            </a:r>
            <a:r>
              <a:rPr lang="en-US" altLang="en-US" u="sng"/>
              <a:t>nearly complete</a:t>
            </a:r>
            <a:r>
              <a:rPr lang="en-US" altLang="en-US"/>
              <a:t> binary tree with the following two properties:</a:t>
            </a:r>
          </a:p>
          <a:p>
            <a:pPr lvl="1"/>
            <a:r>
              <a:rPr lang="en-US" altLang="en-US" b="1"/>
              <a:t>Structural property:</a:t>
            </a:r>
            <a:r>
              <a:rPr lang="en-US" altLang="en-US"/>
              <a:t> all levels are full, except possibly the last one, which is filled from left to right</a:t>
            </a:r>
          </a:p>
          <a:p>
            <a:pPr lvl="1"/>
            <a:r>
              <a:rPr lang="en-US" altLang="en-US" b="1"/>
              <a:t>Order (heap) property:</a:t>
            </a:r>
            <a:r>
              <a:rPr lang="en-US" altLang="en-US"/>
              <a:t> for any node </a:t>
            </a:r>
            <a:r>
              <a:rPr lang="en-US" altLang="en-US">
                <a:latin typeface="Comic Sans MS" panose="030F0702030302020204" pitchFamily="66" charset="0"/>
              </a:rPr>
              <a:t>x</a:t>
            </a:r>
          </a:p>
          <a:p>
            <a:pPr lvl="1">
              <a:buFontTx/>
              <a:buNone/>
            </a:pPr>
            <a:r>
              <a:rPr lang="en-US" altLang="en-US"/>
              <a:t>				</a:t>
            </a:r>
            <a:r>
              <a:rPr lang="en-US" altLang="en-US">
                <a:latin typeface="Comic Sans MS" panose="030F0702030302020204" pitchFamily="66" charset="0"/>
              </a:rPr>
              <a:t>Parent(x) ≥ x</a:t>
            </a:r>
          </a:p>
        </p:txBody>
      </p:sp>
      <p:sp>
        <p:nvSpPr>
          <p:cNvPr id="316421" name="Line 5"/>
          <p:cNvSpPr>
            <a:spLocks noChangeShapeType="1"/>
          </p:cNvSpPr>
          <p:nvPr/>
        </p:nvSpPr>
        <p:spPr bwMode="auto">
          <a:xfrm flipV="1">
            <a:off x="1849438" y="4535488"/>
            <a:ext cx="12954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6422" name="Text Box 6"/>
          <p:cNvSpPr txBox="1">
            <a:spLocks noChangeArrowheads="1"/>
          </p:cNvSpPr>
          <p:nvPr/>
        </p:nvSpPr>
        <p:spPr bwMode="auto">
          <a:xfrm>
            <a:off x="2668588" y="5983288"/>
            <a:ext cx="730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/>
              <a:t>Heap</a:t>
            </a:r>
          </a:p>
        </p:txBody>
      </p:sp>
      <p:sp>
        <p:nvSpPr>
          <p:cNvPr id="316423" name="Line 7"/>
          <p:cNvSpPr>
            <a:spLocks noChangeAspect="1" noChangeShapeType="1"/>
          </p:cNvSpPr>
          <p:nvPr/>
        </p:nvSpPr>
        <p:spPr bwMode="auto">
          <a:xfrm rot="16200000" flipV="1">
            <a:off x="2971006" y="4479132"/>
            <a:ext cx="760413" cy="723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6424" name="Oval 8"/>
          <p:cNvSpPr>
            <a:spLocks noChangeArrowheads="1"/>
          </p:cNvSpPr>
          <p:nvPr/>
        </p:nvSpPr>
        <p:spPr bwMode="auto">
          <a:xfrm>
            <a:off x="1741488" y="5510213"/>
            <a:ext cx="320675" cy="3206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5</a:t>
            </a:r>
          </a:p>
        </p:txBody>
      </p:sp>
      <p:sp>
        <p:nvSpPr>
          <p:cNvPr id="316425" name="Oval 9"/>
          <p:cNvSpPr>
            <a:spLocks noChangeArrowheads="1"/>
          </p:cNvSpPr>
          <p:nvPr/>
        </p:nvSpPr>
        <p:spPr bwMode="auto">
          <a:xfrm>
            <a:off x="2198688" y="5068888"/>
            <a:ext cx="320675" cy="3206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7</a:t>
            </a:r>
          </a:p>
        </p:txBody>
      </p:sp>
      <p:sp>
        <p:nvSpPr>
          <p:cNvPr id="316426" name="Oval 10"/>
          <p:cNvSpPr>
            <a:spLocks noChangeArrowheads="1"/>
          </p:cNvSpPr>
          <p:nvPr/>
        </p:nvSpPr>
        <p:spPr bwMode="auto">
          <a:xfrm>
            <a:off x="2922588" y="4383088"/>
            <a:ext cx="320675" cy="3206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8</a:t>
            </a:r>
          </a:p>
        </p:txBody>
      </p:sp>
      <p:sp>
        <p:nvSpPr>
          <p:cNvPr id="316427" name="Oval 11"/>
          <p:cNvSpPr>
            <a:spLocks noChangeArrowheads="1"/>
          </p:cNvSpPr>
          <p:nvPr/>
        </p:nvSpPr>
        <p:spPr bwMode="auto">
          <a:xfrm>
            <a:off x="3567113" y="5068888"/>
            <a:ext cx="320675" cy="3206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4</a:t>
            </a:r>
          </a:p>
        </p:txBody>
      </p:sp>
      <p:sp>
        <p:nvSpPr>
          <p:cNvPr id="316429" name="Oval 13"/>
          <p:cNvSpPr>
            <a:spLocks noChangeArrowheads="1"/>
          </p:cNvSpPr>
          <p:nvPr/>
        </p:nvSpPr>
        <p:spPr bwMode="auto">
          <a:xfrm>
            <a:off x="2595563" y="5510213"/>
            <a:ext cx="320675" cy="3206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2</a:t>
            </a:r>
          </a:p>
        </p:txBody>
      </p:sp>
      <p:sp>
        <p:nvSpPr>
          <p:cNvPr id="316430" name="Text Box 14"/>
          <p:cNvSpPr txBox="1">
            <a:spLocks noChangeArrowheads="1"/>
          </p:cNvSpPr>
          <p:nvPr/>
        </p:nvSpPr>
        <p:spPr bwMode="auto">
          <a:xfrm>
            <a:off x="4564063" y="4203700"/>
            <a:ext cx="37592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400"/>
              <a:t>From the heap property, it follows that:</a:t>
            </a:r>
          </a:p>
          <a:p>
            <a:r>
              <a:rPr lang="en-US" altLang="en-US" sz="2400">
                <a:solidFill>
                  <a:srgbClr val="DD0111"/>
                </a:solidFill>
              </a:rPr>
              <a:t>“The root is the maximum </a:t>
            </a:r>
          </a:p>
          <a:p>
            <a:r>
              <a:rPr lang="en-US" altLang="en-US" sz="2400">
                <a:solidFill>
                  <a:srgbClr val="DD0111"/>
                </a:solidFill>
              </a:rPr>
              <a:t>element of the heap!”</a:t>
            </a:r>
          </a:p>
        </p:txBody>
      </p:sp>
      <p:sp>
        <p:nvSpPr>
          <p:cNvPr id="316431" name="Text Box 15"/>
          <p:cNvSpPr txBox="1">
            <a:spLocks noChangeArrowheads="1"/>
          </p:cNvSpPr>
          <p:nvPr/>
        </p:nvSpPr>
        <p:spPr bwMode="auto">
          <a:xfrm>
            <a:off x="1152525" y="6400800"/>
            <a:ext cx="6203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400">
                <a:solidFill>
                  <a:srgbClr val="DD0111"/>
                </a:solidFill>
              </a:rPr>
              <a:t>A heap is a binary tree that is filled in order</a:t>
            </a:r>
          </a:p>
        </p:txBody>
      </p:sp>
    </p:spTree>
    <p:extLst>
      <p:ext uri="{BB962C8B-B14F-4D97-AF65-F5344CB8AC3E}">
        <p14:creationId xmlns:p14="http://schemas.microsoft.com/office/powerpoint/2010/main" val="2956331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Array Representation of Heaps</a:t>
            </a:r>
          </a:p>
        </p:txBody>
      </p:sp>
      <p:graphicFrame>
        <p:nvGraphicFramePr>
          <p:cNvPr id="318467" name="Object 3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5026025" y="2743200"/>
          <a:ext cx="3738563" cy="2462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08" name="Paint Shop Pro Image" r:id="rId4" imgW="6829268" imgH="4497561" progId="PaintShopPro">
                  <p:embed/>
                </p:oleObj>
              </mc:Choice>
              <mc:Fallback>
                <p:oleObj name="Paint Shop Pro Image" r:id="rId4" imgW="6829268" imgH="4497561" progId="PaintShopPro">
                  <p:embed/>
                  <p:pic>
                    <p:nvPicPr>
                      <p:cNvPr id="31846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6025" y="2743200"/>
                        <a:ext cx="3738563" cy="2462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8468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4876800" y="1371600"/>
          <a:ext cx="4038600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09" name="Paint Shop Pro Image" r:id="rId6" imgW="5590244" imgH="1590675" progId="PaintShopPro">
                  <p:embed/>
                </p:oleObj>
              </mc:Choice>
              <mc:Fallback>
                <p:oleObj name="Paint Shop Pro Image" r:id="rId6" imgW="5590244" imgH="1590675" progId="PaintShopPro">
                  <p:embed/>
                  <p:pic>
                    <p:nvPicPr>
                      <p:cNvPr id="31846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1371600"/>
                        <a:ext cx="4038600" cy="114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8469" name="Rectangle 5"/>
          <p:cNvSpPr>
            <a:spLocks noGrp="1" noChangeArrowheads="1"/>
          </p:cNvSpPr>
          <p:nvPr>
            <p:ph type="body" sz="half" idx="3"/>
          </p:nvPr>
        </p:nvSpPr>
        <p:spPr>
          <a:xfrm>
            <a:off x="228600" y="1117600"/>
            <a:ext cx="4572000" cy="525938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en-US" sz="2400"/>
              <a:t>A heap can be stored as an array </a:t>
            </a:r>
            <a:r>
              <a:rPr lang="en-US" altLang="en-US" sz="2400" i="1"/>
              <a:t>A</a:t>
            </a:r>
            <a:r>
              <a:rPr lang="en-US" altLang="en-US" sz="2400"/>
              <a:t>.</a:t>
            </a:r>
          </a:p>
          <a:p>
            <a:pPr lvl="1">
              <a:lnSpc>
                <a:spcPct val="120000"/>
              </a:lnSpc>
            </a:pPr>
            <a:r>
              <a:rPr lang="en-US" altLang="en-US" sz="2000"/>
              <a:t>Root of tree is </a:t>
            </a:r>
            <a:r>
              <a:rPr lang="en-US" altLang="en-US" sz="2000">
                <a:latin typeface="Comic Sans MS" panose="030F0702030302020204" pitchFamily="66" charset="0"/>
              </a:rPr>
              <a:t>A[1]</a:t>
            </a:r>
          </a:p>
          <a:p>
            <a:pPr lvl="1">
              <a:lnSpc>
                <a:spcPct val="120000"/>
              </a:lnSpc>
            </a:pPr>
            <a:r>
              <a:rPr lang="en-US" altLang="en-US" sz="2000"/>
              <a:t>Left child of </a:t>
            </a:r>
            <a:r>
              <a:rPr lang="en-US" altLang="en-US" sz="2000">
                <a:latin typeface="Comic Sans MS" panose="030F0702030302020204" pitchFamily="66" charset="0"/>
              </a:rPr>
              <a:t>A[i] = A[2i]</a:t>
            </a:r>
          </a:p>
          <a:p>
            <a:pPr lvl="1">
              <a:lnSpc>
                <a:spcPct val="120000"/>
              </a:lnSpc>
            </a:pPr>
            <a:r>
              <a:rPr lang="en-US" altLang="en-US" sz="2000"/>
              <a:t>Right child of </a:t>
            </a:r>
            <a:r>
              <a:rPr lang="en-US" altLang="en-US" sz="2000">
                <a:latin typeface="Comic Sans MS" panose="030F0702030302020204" pitchFamily="66" charset="0"/>
              </a:rPr>
              <a:t>A[i] = A[2i + 1]</a:t>
            </a:r>
          </a:p>
          <a:p>
            <a:pPr lvl="1">
              <a:lnSpc>
                <a:spcPct val="120000"/>
              </a:lnSpc>
            </a:pPr>
            <a:r>
              <a:rPr lang="en-US" altLang="en-US" sz="2000"/>
              <a:t>Parent of </a:t>
            </a:r>
            <a:r>
              <a:rPr lang="en-US" altLang="en-US" sz="2000">
                <a:latin typeface="Comic Sans MS" panose="030F0702030302020204" pitchFamily="66" charset="0"/>
              </a:rPr>
              <a:t>A[i] = A[ </a:t>
            </a:r>
            <a:r>
              <a:rPr lang="en-US" altLang="en-US" sz="2000">
                <a:latin typeface="Comic Sans MS" panose="030F0702030302020204" pitchFamily="66" charset="0"/>
                <a:sym typeface="Symbol" panose="05050102010706020507" pitchFamily="18" charset="2"/>
              </a:rPr>
              <a:t></a:t>
            </a:r>
            <a:r>
              <a:rPr lang="en-US" altLang="en-US" sz="2000">
                <a:latin typeface="Comic Sans MS" panose="030F0702030302020204" pitchFamily="66" charset="0"/>
              </a:rPr>
              <a:t>i/2</a:t>
            </a:r>
            <a:r>
              <a:rPr lang="en-US" altLang="en-US" sz="2000">
                <a:latin typeface="Comic Sans MS" panose="030F0702030302020204" pitchFamily="66" charset="0"/>
                <a:sym typeface="Symbol" panose="05050102010706020507" pitchFamily="18" charset="2"/>
              </a:rPr>
              <a:t></a:t>
            </a:r>
            <a:r>
              <a:rPr lang="en-US" altLang="en-US" sz="2000">
                <a:latin typeface="Comic Sans MS" panose="030F0702030302020204" pitchFamily="66" charset="0"/>
              </a:rPr>
              <a:t> ]</a:t>
            </a:r>
          </a:p>
          <a:p>
            <a:pPr lvl="1">
              <a:lnSpc>
                <a:spcPct val="120000"/>
              </a:lnSpc>
            </a:pPr>
            <a:r>
              <a:rPr lang="en-US" altLang="en-US" sz="2000"/>
              <a:t>Heapsize[A] </a:t>
            </a:r>
            <a:r>
              <a:rPr lang="en-US" altLang="en-US" sz="2000">
                <a:cs typeface="Arial" panose="020B0604020202020204" pitchFamily="34" charset="0"/>
              </a:rPr>
              <a:t>≤</a:t>
            </a:r>
            <a:r>
              <a:rPr lang="en-US" altLang="en-US" sz="2000"/>
              <a:t> length[A]</a:t>
            </a:r>
          </a:p>
          <a:p>
            <a:pPr>
              <a:lnSpc>
                <a:spcPct val="120000"/>
              </a:lnSpc>
            </a:pPr>
            <a:r>
              <a:rPr lang="en-US" altLang="en-US" sz="2400"/>
              <a:t>The elements in the subarray </a:t>
            </a:r>
            <a:r>
              <a:rPr lang="en-US" altLang="en-US" sz="2400">
                <a:latin typeface="Comic Sans MS" panose="030F0702030302020204" pitchFamily="66" charset="0"/>
              </a:rPr>
              <a:t>A[(</a:t>
            </a:r>
            <a:r>
              <a:rPr lang="en-US" altLang="en-US" sz="2400">
                <a:latin typeface="Comic Sans MS" panose="030F0702030302020204" pitchFamily="66" charset="0"/>
                <a:sym typeface="Symbol" panose="05050102010706020507" pitchFamily="18" charset="2"/>
              </a:rPr>
              <a:t>n/2+1</a:t>
            </a:r>
            <a:r>
              <a:rPr lang="en-US" altLang="en-US" sz="2400">
                <a:latin typeface="Comic Sans MS" panose="030F0702030302020204" pitchFamily="66" charset="0"/>
              </a:rPr>
              <a:t>) .. n]</a:t>
            </a:r>
            <a:r>
              <a:rPr lang="en-US" altLang="en-US" sz="2400"/>
              <a:t> are leaves</a:t>
            </a:r>
          </a:p>
          <a:p>
            <a:pPr>
              <a:lnSpc>
                <a:spcPct val="120000"/>
              </a:lnSpc>
            </a:pPr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4097986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Heap Types</a:t>
            </a:r>
          </a:p>
        </p:txBody>
      </p:sp>
      <p:sp>
        <p:nvSpPr>
          <p:cNvPr id="319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en-US" b="1"/>
              <a:t>Max-heaps</a:t>
            </a:r>
            <a:r>
              <a:rPr lang="en-US" altLang="en-US"/>
              <a:t> (largest element at root), have the </a:t>
            </a:r>
            <a:r>
              <a:rPr lang="en-US" altLang="en-US" i="1"/>
              <a:t>max-heap property:</a:t>
            </a:r>
            <a:r>
              <a:rPr lang="en-US" altLang="en-US" b="1"/>
              <a:t> </a:t>
            </a:r>
          </a:p>
          <a:p>
            <a:pPr lvl="1">
              <a:lnSpc>
                <a:spcPct val="120000"/>
              </a:lnSpc>
            </a:pPr>
            <a:r>
              <a:rPr lang="en-US" altLang="en-US"/>
              <a:t>for all nodes </a:t>
            </a:r>
            <a:r>
              <a:rPr lang="en-US" altLang="en-US">
                <a:latin typeface="Comic Sans MS" panose="030F0702030302020204" pitchFamily="66" charset="0"/>
              </a:rPr>
              <a:t>i</a:t>
            </a:r>
            <a:r>
              <a:rPr lang="en-US" altLang="en-US"/>
              <a:t>, excluding the root: </a:t>
            </a:r>
          </a:p>
          <a:p>
            <a:pPr lvl="1">
              <a:lnSpc>
                <a:spcPct val="120000"/>
              </a:lnSpc>
              <a:buFontTx/>
              <a:buNone/>
            </a:pPr>
            <a:r>
              <a:rPr lang="en-US" altLang="en-US">
                <a:latin typeface="Comic Sans MS" panose="030F0702030302020204" pitchFamily="66" charset="0"/>
              </a:rPr>
              <a:t>			A[PARENT(i)] ≥ A[i]</a:t>
            </a:r>
          </a:p>
          <a:p>
            <a:pPr lvl="1">
              <a:lnSpc>
                <a:spcPct val="120000"/>
              </a:lnSpc>
            </a:pPr>
            <a:endParaRPr lang="en-US" altLang="en-US">
              <a:latin typeface="Comic Sans MS" panose="030F0702030302020204" pitchFamily="66" charset="0"/>
            </a:endParaRPr>
          </a:p>
          <a:p>
            <a:pPr>
              <a:lnSpc>
                <a:spcPct val="120000"/>
              </a:lnSpc>
            </a:pPr>
            <a:r>
              <a:rPr lang="en-US" altLang="en-US" b="1"/>
              <a:t>Min-heaps</a:t>
            </a:r>
            <a:r>
              <a:rPr lang="en-US" altLang="en-US"/>
              <a:t> (smallest element at root), have the </a:t>
            </a:r>
            <a:r>
              <a:rPr lang="en-US" altLang="en-US" i="1"/>
              <a:t>min-heap property:</a:t>
            </a:r>
          </a:p>
          <a:p>
            <a:pPr lvl="1">
              <a:lnSpc>
                <a:spcPct val="120000"/>
              </a:lnSpc>
            </a:pPr>
            <a:r>
              <a:rPr lang="en-US" altLang="en-US"/>
              <a:t>for all nodes </a:t>
            </a:r>
            <a:r>
              <a:rPr lang="en-US" altLang="en-US">
                <a:latin typeface="Comic Sans MS" panose="030F0702030302020204" pitchFamily="66" charset="0"/>
              </a:rPr>
              <a:t>i</a:t>
            </a:r>
            <a:r>
              <a:rPr lang="en-US" altLang="en-US"/>
              <a:t>, excluding the root: </a:t>
            </a:r>
          </a:p>
          <a:p>
            <a:pPr lvl="1">
              <a:lnSpc>
                <a:spcPct val="120000"/>
              </a:lnSpc>
              <a:buFontTx/>
              <a:buNone/>
            </a:pPr>
            <a:r>
              <a:rPr lang="en-US" altLang="en-US">
                <a:latin typeface="Comic Sans MS" panose="030F0702030302020204" pitchFamily="66" charset="0"/>
              </a:rPr>
              <a:t>			A[PARENT(i)] ≤ A[i]</a:t>
            </a:r>
          </a:p>
        </p:txBody>
      </p:sp>
    </p:spTree>
    <p:extLst>
      <p:ext uri="{BB962C8B-B14F-4D97-AF65-F5344CB8AC3E}">
        <p14:creationId xmlns:p14="http://schemas.microsoft.com/office/powerpoint/2010/main" val="293177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Adding/Deleting Nodes</a:t>
            </a:r>
          </a:p>
        </p:txBody>
      </p:sp>
      <p:sp>
        <p:nvSpPr>
          <p:cNvPr id="496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0838" y="1252538"/>
            <a:ext cx="8229600" cy="5300662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en-US">
                <a:solidFill>
                  <a:schemeClr val="tx1"/>
                </a:solidFill>
              </a:rPr>
              <a:t>New nodes are always inserted at the bottom level (left to right)</a:t>
            </a:r>
          </a:p>
          <a:p>
            <a:pPr>
              <a:lnSpc>
                <a:spcPct val="120000"/>
              </a:lnSpc>
            </a:pPr>
            <a:r>
              <a:rPr lang="en-US" altLang="en-US">
                <a:solidFill>
                  <a:schemeClr val="tx1"/>
                </a:solidFill>
              </a:rPr>
              <a:t>Nodes are removed from the bottom level (right to left)</a:t>
            </a:r>
          </a:p>
        </p:txBody>
      </p:sp>
      <p:pic>
        <p:nvPicPr>
          <p:cNvPr id="4966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1813" y="3308350"/>
            <a:ext cx="5319712" cy="2871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95785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Operations on Heaps</a:t>
            </a:r>
          </a:p>
        </p:txBody>
      </p:sp>
      <p:sp>
        <p:nvSpPr>
          <p:cNvPr id="320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0838" y="1252538"/>
            <a:ext cx="8229600" cy="5300662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en-US" dirty="0">
                <a:solidFill>
                  <a:schemeClr val="tx1"/>
                </a:solidFill>
              </a:rPr>
              <a:t>Maintain/Restore the max-heap property</a:t>
            </a:r>
          </a:p>
          <a:p>
            <a:pPr lvl="1">
              <a:lnSpc>
                <a:spcPct val="120000"/>
              </a:lnSpc>
            </a:pPr>
            <a:r>
              <a:rPr lang="en-US" altLang="en-US" dirty="0">
                <a:solidFill>
                  <a:srgbClr val="336699"/>
                </a:solidFill>
              </a:rPr>
              <a:t>MAX-HEAPIFY</a:t>
            </a:r>
          </a:p>
          <a:p>
            <a:pPr>
              <a:lnSpc>
                <a:spcPct val="120000"/>
              </a:lnSpc>
            </a:pPr>
            <a:r>
              <a:rPr lang="en-US" altLang="en-US" dirty="0">
                <a:solidFill>
                  <a:schemeClr val="tx1"/>
                </a:solidFill>
              </a:rPr>
              <a:t>Create a max-heap from an unordered array</a:t>
            </a:r>
          </a:p>
          <a:p>
            <a:pPr lvl="1">
              <a:lnSpc>
                <a:spcPct val="120000"/>
              </a:lnSpc>
            </a:pPr>
            <a:r>
              <a:rPr lang="en-US" altLang="en-US" dirty="0">
                <a:solidFill>
                  <a:srgbClr val="336699"/>
                </a:solidFill>
              </a:rPr>
              <a:t>BUILD-MAX-HEAP</a:t>
            </a:r>
          </a:p>
          <a:p>
            <a:pPr>
              <a:lnSpc>
                <a:spcPct val="120000"/>
              </a:lnSpc>
            </a:pPr>
            <a:r>
              <a:rPr lang="en-US" altLang="en-US" dirty="0">
                <a:solidFill>
                  <a:schemeClr val="tx1"/>
                </a:solidFill>
              </a:rPr>
              <a:t>Sort an array in place</a:t>
            </a:r>
          </a:p>
          <a:p>
            <a:pPr lvl="1">
              <a:lnSpc>
                <a:spcPct val="120000"/>
              </a:lnSpc>
            </a:pPr>
            <a:r>
              <a:rPr lang="en-US" altLang="en-US" dirty="0">
                <a:solidFill>
                  <a:srgbClr val="336699"/>
                </a:solidFill>
              </a:rPr>
              <a:t>HEAPSORT</a:t>
            </a:r>
          </a:p>
          <a:p>
            <a:pPr>
              <a:lnSpc>
                <a:spcPct val="120000"/>
              </a:lnSpc>
            </a:pPr>
            <a:r>
              <a:rPr lang="en-US" altLang="en-US" dirty="0">
                <a:solidFill>
                  <a:schemeClr val="tx1"/>
                </a:solidFill>
              </a:rPr>
              <a:t>Priority queues</a:t>
            </a:r>
          </a:p>
        </p:txBody>
      </p:sp>
    </p:spTree>
    <p:extLst>
      <p:ext uri="{BB962C8B-B14F-4D97-AF65-F5344CB8AC3E}">
        <p14:creationId xmlns:p14="http://schemas.microsoft.com/office/powerpoint/2010/main" val="2049774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Maintaining the Heap Property</a:t>
            </a:r>
          </a:p>
        </p:txBody>
      </p:sp>
      <p:sp>
        <p:nvSpPr>
          <p:cNvPr id="40857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57175" y="1282700"/>
            <a:ext cx="5865813" cy="5334000"/>
          </a:xfrm>
        </p:spPr>
        <p:txBody>
          <a:bodyPr/>
          <a:lstStyle/>
          <a:p>
            <a:pPr marL="457200" indent="-457200"/>
            <a:r>
              <a:rPr lang="en-US" altLang="en-US" sz="2400"/>
              <a:t>Suppose a node is smaller than a child</a:t>
            </a:r>
          </a:p>
          <a:p>
            <a:pPr marL="838200" lvl="1" indent="-381000"/>
            <a:r>
              <a:rPr lang="en-US" altLang="en-US" sz="2000"/>
              <a:t>Left and Right subtrees of </a:t>
            </a:r>
            <a:r>
              <a:rPr lang="en-US" altLang="en-US" sz="2000">
                <a:latin typeface="Comic Sans MS" panose="030F0702030302020204" pitchFamily="66" charset="0"/>
              </a:rPr>
              <a:t>i</a:t>
            </a:r>
            <a:r>
              <a:rPr lang="en-US" altLang="en-US" sz="2000"/>
              <a:t> are max-heaps</a:t>
            </a:r>
          </a:p>
          <a:p>
            <a:pPr marL="457200" indent="-457200"/>
            <a:r>
              <a:rPr lang="en-US" altLang="en-US" sz="2400"/>
              <a:t>To eliminate the violation:</a:t>
            </a:r>
          </a:p>
          <a:p>
            <a:pPr marL="838200" lvl="1" indent="-381000"/>
            <a:r>
              <a:rPr lang="en-US" altLang="en-US" sz="2000"/>
              <a:t>Exchange with larger child</a:t>
            </a:r>
          </a:p>
          <a:p>
            <a:pPr marL="838200" lvl="1" indent="-381000"/>
            <a:r>
              <a:rPr lang="en-US" altLang="en-US" sz="2000"/>
              <a:t>Move down the tree</a:t>
            </a:r>
          </a:p>
          <a:p>
            <a:pPr marL="838200" lvl="1" indent="-381000"/>
            <a:r>
              <a:rPr lang="en-US" altLang="en-US" sz="2000"/>
              <a:t>Continue until node is not smaller than children</a:t>
            </a:r>
          </a:p>
        </p:txBody>
      </p:sp>
      <p:graphicFrame>
        <p:nvGraphicFramePr>
          <p:cNvPr id="408580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6351588" y="2141538"/>
          <a:ext cx="2514600" cy="215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11" name="Paint Shop Pro Image" r:id="rId4" imgW="2790244" imgH="2390244" progId="PaintShopPro">
                  <p:embed/>
                </p:oleObj>
              </mc:Choice>
              <mc:Fallback>
                <p:oleObj name="Paint Shop Pro Image" r:id="rId4" imgW="2790244" imgH="2390244" progId="PaintShopPro">
                  <p:embed/>
                  <p:pic>
                    <p:nvPicPr>
                      <p:cNvPr id="40858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1588" y="2141538"/>
                        <a:ext cx="2514600" cy="2154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1535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</a:t>
            </a:r>
          </a:p>
        </p:txBody>
      </p:sp>
      <p:sp>
        <p:nvSpPr>
          <p:cNvPr id="472067" name="Text Box 3"/>
          <p:cNvSpPr txBox="1">
            <a:spLocks noChangeArrowheads="1"/>
          </p:cNvSpPr>
          <p:nvPr/>
        </p:nvSpPr>
        <p:spPr bwMode="auto">
          <a:xfrm>
            <a:off x="381000" y="914400"/>
            <a:ext cx="2673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u="sng" dirty="0"/>
              <a:t>MAX-HEAPIFY(A, 2, 10)</a:t>
            </a:r>
          </a:p>
        </p:txBody>
      </p:sp>
      <p:grpSp>
        <p:nvGrpSpPr>
          <p:cNvPr id="472068" name="Group 4"/>
          <p:cNvGrpSpPr>
            <a:grpSpLocks/>
          </p:cNvGrpSpPr>
          <p:nvPr/>
        </p:nvGrpSpPr>
        <p:grpSpPr bwMode="auto">
          <a:xfrm>
            <a:off x="457200" y="1495425"/>
            <a:ext cx="3282950" cy="2390775"/>
            <a:chOff x="288" y="942"/>
            <a:chExt cx="2068" cy="1506"/>
          </a:xfrm>
        </p:grpSpPr>
        <p:graphicFrame>
          <p:nvGraphicFramePr>
            <p:cNvPr id="472069" name="Object 5"/>
            <p:cNvGraphicFramePr>
              <a:graphicFrameLocks noChangeAspect="1"/>
            </p:cNvGraphicFramePr>
            <p:nvPr/>
          </p:nvGraphicFramePr>
          <p:xfrm>
            <a:off x="288" y="942"/>
            <a:ext cx="1950" cy="1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577" name="Paint Shop Pro Image" r:id="rId4" imgW="5160976" imgH="3248780" progId="PaintShopPro">
                    <p:embed/>
                  </p:oleObj>
                </mc:Choice>
                <mc:Fallback>
                  <p:oleObj name="Paint Shop Pro Image" r:id="rId4" imgW="5160976" imgH="3248780" progId="PaintShopPro">
                    <p:embed/>
                    <p:pic>
                      <p:nvPicPr>
                        <p:cNvPr id="472069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" y="942"/>
                          <a:ext cx="1950" cy="1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2070" name="Text Box 6"/>
            <p:cNvSpPr txBox="1">
              <a:spLocks noChangeArrowheads="1"/>
            </p:cNvSpPr>
            <p:nvPr/>
          </p:nvSpPr>
          <p:spPr bwMode="auto">
            <a:xfrm>
              <a:off x="288" y="2217"/>
              <a:ext cx="20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A[2] violates the heap property</a:t>
              </a:r>
            </a:p>
          </p:txBody>
        </p:sp>
      </p:grpSp>
      <p:sp>
        <p:nvSpPr>
          <p:cNvPr id="472071" name="Text Box 7"/>
          <p:cNvSpPr txBox="1">
            <a:spLocks noChangeArrowheads="1"/>
          </p:cNvSpPr>
          <p:nvPr/>
        </p:nvSpPr>
        <p:spPr bwMode="auto">
          <a:xfrm>
            <a:off x="3581400" y="2286000"/>
            <a:ext cx="13620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rgbClr val="DD0111"/>
                </a:solidFill>
              </a:rPr>
              <a:t>A[2] </a:t>
            </a:r>
            <a:r>
              <a:rPr lang="en-US" altLang="en-US" dirty="0">
                <a:solidFill>
                  <a:srgbClr val="DD0111"/>
                </a:solidFill>
                <a:sym typeface="Symbol" panose="05050102010706020507" pitchFamily="18" charset="2"/>
              </a:rPr>
              <a:t> A[4]</a:t>
            </a:r>
          </a:p>
        </p:txBody>
      </p:sp>
      <p:grpSp>
        <p:nvGrpSpPr>
          <p:cNvPr id="472072" name="Group 8"/>
          <p:cNvGrpSpPr>
            <a:grpSpLocks/>
          </p:cNvGrpSpPr>
          <p:nvPr/>
        </p:nvGrpSpPr>
        <p:grpSpPr bwMode="auto">
          <a:xfrm>
            <a:off x="5334000" y="1495425"/>
            <a:ext cx="3282950" cy="2390775"/>
            <a:chOff x="3433" y="942"/>
            <a:chExt cx="2068" cy="1506"/>
          </a:xfrm>
        </p:grpSpPr>
        <p:graphicFrame>
          <p:nvGraphicFramePr>
            <p:cNvPr id="472073" name="Object 9"/>
            <p:cNvGraphicFramePr>
              <a:graphicFrameLocks noChangeAspect="1"/>
            </p:cNvGraphicFramePr>
            <p:nvPr/>
          </p:nvGraphicFramePr>
          <p:xfrm>
            <a:off x="3433" y="942"/>
            <a:ext cx="1943" cy="1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578" name="Paint Shop Pro Image" r:id="rId6" imgW="5141463" imgH="3248780" progId="PaintShopPro">
                    <p:embed/>
                  </p:oleObj>
                </mc:Choice>
                <mc:Fallback>
                  <p:oleObj name="Paint Shop Pro Image" r:id="rId6" imgW="5141463" imgH="3248780" progId="PaintShopPro">
                    <p:embed/>
                    <p:pic>
                      <p:nvPicPr>
                        <p:cNvPr id="472073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3" y="942"/>
                          <a:ext cx="1943" cy="1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2074" name="Text Box 10"/>
            <p:cNvSpPr txBox="1">
              <a:spLocks noChangeArrowheads="1"/>
            </p:cNvSpPr>
            <p:nvPr/>
          </p:nvSpPr>
          <p:spPr bwMode="auto">
            <a:xfrm>
              <a:off x="3433" y="2217"/>
              <a:ext cx="20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A[4] violates the heap property</a:t>
              </a:r>
            </a:p>
          </p:txBody>
        </p:sp>
      </p:grpSp>
      <p:sp>
        <p:nvSpPr>
          <p:cNvPr id="472075" name="Text Box 11"/>
          <p:cNvSpPr txBox="1">
            <a:spLocks noChangeArrowheads="1"/>
          </p:cNvSpPr>
          <p:nvPr/>
        </p:nvSpPr>
        <p:spPr bwMode="auto">
          <a:xfrm>
            <a:off x="1219200" y="4824413"/>
            <a:ext cx="13620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DD0111"/>
                </a:solidFill>
              </a:rPr>
              <a:t>A[4] </a:t>
            </a:r>
            <a:r>
              <a:rPr lang="en-US" altLang="en-US">
                <a:solidFill>
                  <a:srgbClr val="DD0111"/>
                </a:solidFill>
                <a:sym typeface="Symbol" panose="05050102010706020507" pitchFamily="18" charset="2"/>
              </a:rPr>
              <a:t> A[9]</a:t>
            </a:r>
          </a:p>
        </p:txBody>
      </p:sp>
      <p:grpSp>
        <p:nvGrpSpPr>
          <p:cNvPr id="472076" name="Group 12"/>
          <p:cNvGrpSpPr>
            <a:grpSpLocks/>
          </p:cNvGrpSpPr>
          <p:nvPr/>
        </p:nvGrpSpPr>
        <p:grpSpPr bwMode="auto">
          <a:xfrm>
            <a:off x="3984625" y="4038600"/>
            <a:ext cx="3025775" cy="2271713"/>
            <a:chOff x="1735" y="2544"/>
            <a:chExt cx="1906" cy="1431"/>
          </a:xfrm>
        </p:grpSpPr>
        <p:graphicFrame>
          <p:nvGraphicFramePr>
            <p:cNvPr id="472077" name="Object 13"/>
            <p:cNvGraphicFramePr>
              <a:graphicFrameLocks noChangeAspect="1"/>
            </p:cNvGraphicFramePr>
            <p:nvPr/>
          </p:nvGraphicFramePr>
          <p:xfrm>
            <a:off x="1735" y="2544"/>
            <a:ext cx="1906" cy="1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579" name="Paint Shop Pro Image" r:id="rId8" imgW="5043902" imgH="3229268" progId="PaintShopPro">
                    <p:embed/>
                  </p:oleObj>
                </mc:Choice>
                <mc:Fallback>
                  <p:oleObj name="Paint Shop Pro Image" r:id="rId8" imgW="5043902" imgH="3229268" progId="PaintShopPro">
                    <p:embed/>
                    <p:pic>
                      <p:nvPicPr>
                        <p:cNvPr id="472077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35" y="2544"/>
                          <a:ext cx="1906" cy="1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2078" name="Text Box 14"/>
            <p:cNvSpPr txBox="1">
              <a:spLocks noChangeArrowheads="1"/>
            </p:cNvSpPr>
            <p:nvPr/>
          </p:nvSpPr>
          <p:spPr bwMode="auto">
            <a:xfrm>
              <a:off x="1890" y="3744"/>
              <a:ext cx="15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Heap property restored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87885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2071" grpId="0"/>
      <p:bldP spid="47207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Maintaining the Heap Property</a:t>
            </a:r>
          </a:p>
        </p:txBody>
      </p:sp>
      <p:sp>
        <p:nvSpPr>
          <p:cNvPr id="4096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3025" y="1219200"/>
            <a:ext cx="3230563" cy="3133725"/>
          </a:xfrm>
        </p:spPr>
        <p:txBody>
          <a:bodyPr/>
          <a:lstStyle/>
          <a:p>
            <a:pPr marL="457200" indent="-457200"/>
            <a:r>
              <a:rPr lang="en-US" altLang="en-US">
                <a:solidFill>
                  <a:srgbClr val="336699"/>
                </a:solidFill>
              </a:rPr>
              <a:t>Assumptions:</a:t>
            </a:r>
          </a:p>
          <a:p>
            <a:pPr marL="838200" lvl="1" indent="-381000"/>
            <a:r>
              <a:rPr lang="en-US" altLang="en-US">
                <a:solidFill>
                  <a:srgbClr val="336699"/>
                </a:solidFill>
              </a:rPr>
              <a:t>Left and Right subtrees of </a:t>
            </a:r>
            <a:r>
              <a:rPr lang="en-US" altLang="en-US">
                <a:solidFill>
                  <a:srgbClr val="336699"/>
                </a:solidFill>
                <a:latin typeface="Comic Sans MS" panose="030F0702030302020204" pitchFamily="66" charset="0"/>
              </a:rPr>
              <a:t>i</a:t>
            </a:r>
            <a:r>
              <a:rPr lang="en-US" altLang="en-US">
                <a:solidFill>
                  <a:srgbClr val="336699"/>
                </a:solidFill>
              </a:rPr>
              <a:t> are max-heaps</a:t>
            </a:r>
          </a:p>
          <a:p>
            <a:pPr marL="838200" lvl="1" indent="-381000"/>
            <a:r>
              <a:rPr lang="en-US" altLang="en-US">
                <a:solidFill>
                  <a:srgbClr val="336699"/>
                </a:solidFill>
                <a:latin typeface="Comic Sans MS" panose="030F0702030302020204" pitchFamily="66" charset="0"/>
              </a:rPr>
              <a:t>A[i]</a:t>
            </a:r>
            <a:r>
              <a:rPr lang="en-US" altLang="en-US">
                <a:solidFill>
                  <a:srgbClr val="336699"/>
                </a:solidFill>
              </a:rPr>
              <a:t> may be smaller than its children</a:t>
            </a:r>
          </a:p>
        </p:txBody>
      </p:sp>
      <p:sp>
        <p:nvSpPr>
          <p:cNvPr id="409604" name="Rectangle 4"/>
          <p:cNvSpPr>
            <a:spLocks noChangeArrowheads="1"/>
          </p:cNvSpPr>
          <p:nvPr/>
        </p:nvSpPr>
        <p:spPr bwMode="auto">
          <a:xfrm>
            <a:off x="3392488" y="871538"/>
            <a:ext cx="5741987" cy="551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838200" indent="-3810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76400" indent="-3048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5500" indent="-2667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52700" indent="-2667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09900" indent="-2667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67100" indent="-2667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24300" indent="-2667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buFontTx/>
              <a:buNone/>
            </a:pPr>
            <a:endParaRPr lang="en-US" altLang="en-US" sz="2400"/>
          </a:p>
          <a:p>
            <a:pPr>
              <a:buFontTx/>
              <a:buNone/>
            </a:pPr>
            <a:r>
              <a:rPr lang="en-US" altLang="en-US" sz="2400">
                <a:solidFill>
                  <a:srgbClr val="DD0111"/>
                </a:solidFill>
                <a:latin typeface="Monotype Corsiva" panose="03010101010201010101" pitchFamily="66" charset="0"/>
              </a:rPr>
              <a:t>Alg:</a:t>
            </a:r>
            <a:r>
              <a:rPr lang="en-US" altLang="en-US" sz="2400"/>
              <a:t> </a:t>
            </a:r>
            <a:r>
              <a:rPr lang="en-US" altLang="en-US" sz="2400" u="sng"/>
              <a:t>MAX-HEAPIFY(</a:t>
            </a:r>
            <a:r>
              <a:rPr lang="en-US" altLang="en-US" sz="2400" u="sng">
                <a:latin typeface="Comic Sans MS" panose="030F0702030302020204" pitchFamily="66" charset="0"/>
              </a:rPr>
              <a:t>A, i, n</a:t>
            </a:r>
            <a:r>
              <a:rPr lang="en-US" altLang="en-US" sz="2400" u="sng"/>
              <a:t>)</a:t>
            </a:r>
          </a:p>
          <a:p>
            <a:pPr>
              <a:buFontTx/>
              <a:buAutoNum type="arabicPeriod"/>
            </a:pPr>
            <a:r>
              <a:rPr lang="en-US" altLang="en-US" sz="2400">
                <a:latin typeface="Comic Sans MS" panose="030F0702030302020204" pitchFamily="66" charset="0"/>
              </a:rPr>
              <a:t>l</a:t>
            </a:r>
            <a:r>
              <a:rPr lang="en-US" altLang="en-US" sz="2400"/>
              <a:t> ← LEFT(</a:t>
            </a:r>
            <a:r>
              <a:rPr lang="en-US" altLang="en-US" sz="2400">
                <a:latin typeface="Comic Sans MS" panose="030F0702030302020204" pitchFamily="66" charset="0"/>
              </a:rPr>
              <a:t>i</a:t>
            </a:r>
            <a:r>
              <a:rPr lang="en-US" altLang="en-US" sz="2400"/>
              <a:t>)</a:t>
            </a:r>
          </a:p>
          <a:p>
            <a:pPr>
              <a:buFontTx/>
              <a:buAutoNum type="arabicPeriod"/>
            </a:pPr>
            <a:r>
              <a:rPr lang="en-US" altLang="en-US" sz="2400">
                <a:latin typeface="Comic Sans MS" panose="030F0702030302020204" pitchFamily="66" charset="0"/>
              </a:rPr>
              <a:t>r</a:t>
            </a:r>
            <a:r>
              <a:rPr lang="en-US" altLang="en-US" sz="2400"/>
              <a:t> ← RIGHT(</a:t>
            </a:r>
            <a:r>
              <a:rPr lang="en-US" altLang="en-US" sz="2400">
                <a:latin typeface="Comic Sans MS" panose="030F0702030302020204" pitchFamily="66" charset="0"/>
              </a:rPr>
              <a:t>i</a:t>
            </a:r>
            <a:r>
              <a:rPr lang="en-US" altLang="en-US" sz="2400"/>
              <a:t>)</a:t>
            </a:r>
          </a:p>
          <a:p>
            <a:pPr>
              <a:buFontTx/>
              <a:buAutoNum type="arabicPeriod"/>
            </a:pPr>
            <a:r>
              <a:rPr lang="en-US" altLang="en-US" sz="2400" b="1"/>
              <a:t>if</a:t>
            </a:r>
            <a:r>
              <a:rPr lang="en-US" altLang="en-US" sz="2400"/>
              <a:t> </a:t>
            </a:r>
            <a:r>
              <a:rPr lang="en-US" altLang="en-US" sz="2400">
                <a:latin typeface="Comic Sans MS" panose="030F0702030302020204" pitchFamily="66" charset="0"/>
              </a:rPr>
              <a:t>l ≤ n</a:t>
            </a:r>
            <a:r>
              <a:rPr lang="en-US" altLang="en-US" sz="2400"/>
              <a:t> and </a:t>
            </a:r>
            <a:r>
              <a:rPr lang="en-US" altLang="en-US" sz="2400">
                <a:latin typeface="Comic Sans MS" panose="030F0702030302020204" pitchFamily="66" charset="0"/>
              </a:rPr>
              <a:t>A[l] &gt; A[i]</a:t>
            </a:r>
          </a:p>
          <a:p>
            <a:pPr>
              <a:buFontTx/>
              <a:buAutoNum type="arabicPeriod"/>
            </a:pPr>
            <a:r>
              <a:rPr lang="en-US" altLang="en-US" sz="2400"/>
              <a:t>   </a:t>
            </a:r>
            <a:r>
              <a:rPr lang="en-US" altLang="en-US" sz="2400" b="1"/>
              <a:t>then</a:t>
            </a:r>
            <a:r>
              <a:rPr lang="en-US" altLang="en-US" sz="2400"/>
              <a:t> </a:t>
            </a:r>
            <a:r>
              <a:rPr lang="en-US" altLang="en-US" sz="2400">
                <a:latin typeface="Comic Sans MS" panose="030F0702030302020204" pitchFamily="66" charset="0"/>
              </a:rPr>
              <a:t>largest ←l</a:t>
            </a:r>
          </a:p>
          <a:p>
            <a:pPr>
              <a:buFontTx/>
              <a:buAutoNum type="arabicPeriod"/>
            </a:pPr>
            <a:r>
              <a:rPr lang="en-US" altLang="en-US" sz="2400"/>
              <a:t>   </a:t>
            </a:r>
            <a:r>
              <a:rPr lang="en-US" altLang="en-US" sz="2400" b="1"/>
              <a:t>else</a:t>
            </a:r>
            <a:r>
              <a:rPr lang="en-US" altLang="en-US" sz="2400"/>
              <a:t> </a:t>
            </a:r>
            <a:r>
              <a:rPr lang="en-US" altLang="en-US" sz="2400">
                <a:latin typeface="Comic Sans MS" panose="030F0702030302020204" pitchFamily="66" charset="0"/>
              </a:rPr>
              <a:t>largest ←i</a:t>
            </a:r>
          </a:p>
          <a:p>
            <a:pPr>
              <a:buFontTx/>
              <a:buAutoNum type="arabicPeriod"/>
            </a:pPr>
            <a:r>
              <a:rPr lang="en-US" altLang="en-US" sz="2400" b="1"/>
              <a:t>if</a:t>
            </a:r>
            <a:r>
              <a:rPr lang="en-US" altLang="en-US" sz="2400"/>
              <a:t> </a:t>
            </a:r>
            <a:r>
              <a:rPr lang="en-US" altLang="en-US" sz="2400">
                <a:latin typeface="Comic Sans MS" panose="030F0702030302020204" pitchFamily="66" charset="0"/>
              </a:rPr>
              <a:t>r ≤ n</a:t>
            </a:r>
            <a:r>
              <a:rPr lang="en-US" altLang="en-US" sz="2400"/>
              <a:t> and </a:t>
            </a:r>
            <a:r>
              <a:rPr lang="en-US" altLang="en-US" sz="2400">
                <a:latin typeface="Comic Sans MS" panose="030F0702030302020204" pitchFamily="66" charset="0"/>
              </a:rPr>
              <a:t>A[r] &gt; A[largest]</a:t>
            </a:r>
          </a:p>
          <a:p>
            <a:pPr>
              <a:buFontTx/>
              <a:buAutoNum type="arabicPeriod"/>
            </a:pPr>
            <a:r>
              <a:rPr lang="en-US" altLang="en-US" sz="2400"/>
              <a:t>   </a:t>
            </a:r>
            <a:r>
              <a:rPr lang="en-US" altLang="en-US" sz="2400" b="1"/>
              <a:t>then</a:t>
            </a:r>
            <a:r>
              <a:rPr lang="en-US" altLang="en-US" sz="2400"/>
              <a:t> </a:t>
            </a:r>
            <a:r>
              <a:rPr lang="en-US" altLang="en-US" sz="2400">
                <a:latin typeface="Comic Sans MS" panose="030F0702030302020204" pitchFamily="66" charset="0"/>
              </a:rPr>
              <a:t>largest ←r</a:t>
            </a:r>
          </a:p>
          <a:p>
            <a:pPr>
              <a:buFontTx/>
              <a:buAutoNum type="arabicPeriod"/>
            </a:pPr>
            <a:r>
              <a:rPr lang="en-US" altLang="en-US" sz="2400" b="1"/>
              <a:t>if</a:t>
            </a:r>
            <a:r>
              <a:rPr lang="en-US" altLang="en-US" sz="2400"/>
              <a:t> </a:t>
            </a:r>
            <a:r>
              <a:rPr lang="en-US" altLang="en-US" sz="2400">
                <a:latin typeface="Comic Sans MS" panose="030F0702030302020204" pitchFamily="66" charset="0"/>
              </a:rPr>
              <a:t>largest </a:t>
            </a:r>
            <a:r>
              <a:rPr lang="en-US" altLang="en-US" sz="2400">
                <a:latin typeface="Comic Sans MS" panose="030F0702030302020204" pitchFamily="66" charset="0"/>
                <a:sym typeface="Symbol" panose="05050102010706020507" pitchFamily="18" charset="2"/>
              </a:rPr>
              <a:t></a:t>
            </a:r>
            <a:r>
              <a:rPr lang="en-US" altLang="en-US" sz="2400">
                <a:latin typeface="Comic Sans MS" panose="030F0702030302020204" pitchFamily="66" charset="0"/>
              </a:rPr>
              <a:t> i</a:t>
            </a:r>
          </a:p>
          <a:p>
            <a:pPr>
              <a:buFontTx/>
              <a:buAutoNum type="arabicPeriod"/>
            </a:pPr>
            <a:r>
              <a:rPr lang="en-US" altLang="en-US" sz="2400"/>
              <a:t>   </a:t>
            </a:r>
            <a:r>
              <a:rPr lang="en-US" altLang="en-US" sz="2400" b="1"/>
              <a:t>then</a:t>
            </a:r>
            <a:r>
              <a:rPr lang="en-US" altLang="en-US" sz="2400"/>
              <a:t> exchange </a:t>
            </a:r>
            <a:r>
              <a:rPr lang="en-US" altLang="en-US" sz="2400">
                <a:latin typeface="Comic Sans MS" panose="030F0702030302020204" pitchFamily="66" charset="0"/>
              </a:rPr>
              <a:t>A[i] ↔ A[largest]</a:t>
            </a:r>
          </a:p>
          <a:p>
            <a:pPr>
              <a:buFontTx/>
              <a:buAutoNum type="arabicPeriod"/>
            </a:pPr>
            <a:r>
              <a:rPr lang="en-US" altLang="en-US" sz="2400"/>
              <a:t>            MAX-HEAPIFY(</a:t>
            </a:r>
            <a:r>
              <a:rPr lang="en-US" altLang="en-US" sz="2400">
                <a:latin typeface="Comic Sans MS" panose="030F0702030302020204" pitchFamily="66" charset="0"/>
              </a:rPr>
              <a:t>A, largest, n</a:t>
            </a:r>
            <a:r>
              <a:rPr lang="en-US" altLang="en-US" sz="2400"/>
              <a:t>)</a:t>
            </a:r>
          </a:p>
        </p:txBody>
      </p:sp>
      <p:graphicFrame>
        <p:nvGraphicFramePr>
          <p:cNvPr id="409605" name="Object 5"/>
          <p:cNvGraphicFramePr>
            <a:graphicFrameLocks noGrp="1" noChangeAspect="1"/>
          </p:cNvGraphicFramePr>
          <p:nvPr>
            <p:ph sz="half" idx="2"/>
          </p:nvPr>
        </p:nvGraphicFramePr>
        <p:xfrm>
          <a:off x="541338" y="3962400"/>
          <a:ext cx="2514600" cy="215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59" name="Paint Shop Pro Image" r:id="rId4" imgW="2790244" imgH="2390244" progId="PaintShopPro">
                  <p:embed/>
                </p:oleObj>
              </mc:Choice>
              <mc:Fallback>
                <p:oleObj name="Paint Shop Pro Image" r:id="rId4" imgW="2790244" imgH="2390244" progId="PaintShopPro">
                  <p:embed/>
                  <p:pic>
                    <p:nvPicPr>
                      <p:cNvPr id="40960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338" y="3962400"/>
                        <a:ext cx="2514600" cy="2154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41681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MAX-HEAPIFY Running Time</a:t>
            </a:r>
          </a:p>
        </p:txBody>
      </p:sp>
      <p:sp>
        <p:nvSpPr>
          <p:cNvPr id="411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0838" y="1066800"/>
            <a:ext cx="8229600" cy="52244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/>
              <a:t>Intuitively:</a:t>
            </a:r>
          </a:p>
          <a:p>
            <a:pPr>
              <a:lnSpc>
                <a:spcPct val="150000"/>
              </a:lnSpc>
            </a:pPr>
            <a:endParaRPr lang="en-US" altLang="en-US"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endParaRPr lang="en-US" altLang="en-US"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lang="en-US" altLang="en-US">
                <a:sym typeface="Symbol" panose="05050102010706020507" pitchFamily="18" charset="2"/>
              </a:rPr>
              <a:t>Running time of MAX-HEAPIFY is </a:t>
            </a:r>
            <a:r>
              <a:rPr lang="en-US" altLang="en-US">
                <a:latin typeface="Comic Sans MS" panose="030F0702030302020204" pitchFamily="66" charset="0"/>
                <a:sym typeface="Symbol" panose="05050102010706020507" pitchFamily="18" charset="2"/>
              </a:rPr>
              <a:t>O(lgn)</a:t>
            </a:r>
            <a:r>
              <a:rPr lang="en-US" altLang="en-US">
                <a:sym typeface="Symbol" panose="05050102010706020507" pitchFamily="18" charset="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en-US">
                <a:sym typeface="Symbol" panose="05050102010706020507" pitchFamily="18" charset="2"/>
              </a:rPr>
              <a:t>Can be written in terms of the height of the heap, as being </a:t>
            </a:r>
            <a:r>
              <a:rPr lang="en-US" altLang="en-US">
                <a:latin typeface="Comic Sans MS" panose="030F0702030302020204" pitchFamily="66" charset="0"/>
                <a:sym typeface="Symbol" panose="05050102010706020507" pitchFamily="18" charset="2"/>
              </a:rPr>
              <a:t>O(h)</a:t>
            </a:r>
          </a:p>
          <a:p>
            <a:pPr lvl="1">
              <a:lnSpc>
                <a:spcPct val="150000"/>
              </a:lnSpc>
            </a:pPr>
            <a:r>
              <a:rPr lang="en-US" altLang="en-US">
                <a:sym typeface="Symbol" panose="05050102010706020507" pitchFamily="18" charset="2"/>
              </a:rPr>
              <a:t>Since the height of the heap is </a:t>
            </a:r>
            <a:r>
              <a:rPr lang="en-US" altLang="en-US">
                <a:latin typeface="Comic Sans MS" panose="030F0702030302020204" pitchFamily="66" charset="0"/>
                <a:sym typeface="Symbol" panose="05050102010706020507" pitchFamily="18" charset="2"/>
              </a:rPr>
              <a:t>lgn</a:t>
            </a:r>
          </a:p>
        </p:txBody>
      </p:sp>
      <p:pic>
        <p:nvPicPr>
          <p:cNvPr id="4116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288" y="1981200"/>
            <a:ext cx="7605712" cy="1227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11653" name="Text Box 5"/>
          <p:cNvSpPr txBox="1">
            <a:spLocks noChangeArrowheads="1"/>
          </p:cNvSpPr>
          <p:nvPr/>
        </p:nvSpPr>
        <p:spPr bwMode="auto">
          <a:xfrm>
            <a:off x="7975600" y="2003425"/>
            <a:ext cx="311150" cy="3667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h</a:t>
            </a:r>
          </a:p>
        </p:txBody>
      </p:sp>
      <p:sp>
        <p:nvSpPr>
          <p:cNvPr id="411654" name="Text Box 6"/>
          <p:cNvSpPr txBox="1">
            <a:spLocks noChangeArrowheads="1"/>
          </p:cNvSpPr>
          <p:nvPr/>
        </p:nvSpPr>
        <p:spPr bwMode="auto">
          <a:xfrm>
            <a:off x="4967288" y="2509838"/>
            <a:ext cx="438150" cy="3667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2h</a:t>
            </a:r>
          </a:p>
        </p:txBody>
      </p:sp>
      <p:sp>
        <p:nvSpPr>
          <p:cNvPr id="411655" name="Text Box 7"/>
          <p:cNvSpPr txBox="1">
            <a:spLocks noChangeArrowheads="1"/>
          </p:cNvSpPr>
          <p:nvPr/>
        </p:nvSpPr>
        <p:spPr bwMode="auto">
          <a:xfrm>
            <a:off x="3138488" y="2751138"/>
            <a:ext cx="633412" cy="3667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O(h</a:t>
            </a:r>
            <a:r>
              <a:rPr lang="en-US" altLang="en-US" sz="1600"/>
              <a:t>)</a:t>
            </a:r>
          </a:p>
        </p:txBody>
      </p:sp>
      <p:sp>
        <p:nvSpPr>
          <p:cNvPr id="411656" name="Text Box 8"/>
          <p:cNvSpPr txBox="1">
            <a:spLocks noChangeArrowheads="1"/>
          </p:cNvSpPr>
          <p:nvPr/>
        </p:nvSpPr>
        <p:spPr bwMode="auto">
          <a:xfrm>
            <a:off x="904875" y="1911350"/>
            <a:ext cx="285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/>
              <a:t>-</a:t>
            </a:r>
          </a:p>
        </p:txBody>
      </p:sp>
      <p:sp>
        <p:nvSpPr>
          <p:cNvPr id="411657" name="Text Box 9"/>
          <p:cNvSpPr txBox="1">
            <a:spLocks noChangeArrowheads="1"/>
          </p:cNvSpPr>
          <p:nvPr/>
        </p:nvSpPr>
        <p:spPr bwMode="auto">
          <a:xfrm>
            <a:off x="884238" y="2139950"/>
            <a:ext cx="285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/>
              <a:t>-</a:t>
            </a:r>
          </a:p>
        </p:txBody>
      </p:sp>
      <p:sp>
        <p:nvSpPr>
          <p:cNvPr id="411658" name="Text Box 10"/>
          <p:cNvSpPr txBox="1">
            <a:spLocks noChangeArrowheads="1"/>
          </p:cNvSpPr>
          <p:nvPr/>
        </p:nvSpPr>
        <p:spPr bwMode="auto">
          <a:xfrm>
            <a:off x="896938" y="2365375"/>
            <a:ext cx="285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/>
              <a:t>-</a:t>
            </a:r>
          </a:p>
        </p:txBody>
      </p:sp>
      <p:sp>
        <p:nvSpPr>
          <p:cNvPr id="411659" name="Text Box 11"/>
          <p:cNvSpPr txBox="1">
            <a:spLocks noChangeArrowheads="1"/>
          </p:cNvSpPr>
          <p:nvPr/>
        </p:nvSpPr>
        <p:spPr bwMode="auto">
          <a:xfrm>
            <a:off x="887413" y="2644775"/>
            <a:ext cx="285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839226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Building a Heap</a:t>
            </a:r>
          </a:p>
        </p:txBody>
      </p:sp>
      <p:sp>
        <p:nvSpPr>
          <p:cNvPr id="4126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14338" y="3730625"/>
            <a:ext cx="5334000" cy="2212975"/>
          </a:xfrm>
        </p:spPr>
        <p:txBody>
          <a:bodyPr/>
          <a:lstStyle/>
          <a:p>
            <a:pPr marL="533400" indent="-533400">
              <a:lnSpc>
                <a:spcPct val="120000"/>
              </a:lnSpc>
              <a:buFontTx/>
              <a:buNone/>
            </a:pPr>
            <a:r>
              <a:rPr lang="en-US" altLang="en-US" sz="2400" dirty="0" err="1">
                <a:solidFill>
                  <a:srgbClr val="DD0111"/>
                </a:solidFill>
                <a:latin typeface="Monotype Corsiva" panose="03010101010201010101" pitchFamily="66" charset="0"/>
              </a:rPr>
              <a:t>Alg</a:t>
            </a:r>
            <a:r>
              <a:rPr lang="en-US" altLang="en-US" sz="2400" dirty="0">
                <a:solidFill>
                  <a:srgbClr val="DD0111"/>
                </a:solidFill>
                <a:latin typeface="Monotype Corsiva" panose="03010101010201010101" pitchFamily="66" charset="0"/>
              </a:rPr>
              <a:t>:</a:t>
            </a:r>
            <a:r>
              <a:rPr lang="en-US" altLang="en-US" sz="2400" dirty="0">
                <a:latin typeface="Monotype Corsiva" panose="03010101010201010101" pitchFamily="66" charset="0"/>
              </a:rPr>
              <a:t> </a:t>
            </a:r>
            <a:r>
              <a:rPr lang="en-US" altLang="en-US" sz="2400" u="sng" dirty="0"/>
              <a:t>BUILD-MAX-HEAP</a:t>
            </a:r>
            <a:r>
              <a:rPr lang="en-US" altLang="en-US" sz="2400" u="sng" dirty="0">
                <a:latin typeface="Comic Sans MS" panose="030F0702030302020204" pitchFamily="66" charset="0"/>
              </a:rPr>
              <a:t>(A)</a:t>
            </a:r>
          </a:p>
          <a:p>
            <a:pPr marL="533400" indent="-533400">
              <a:lnSpc>
                <a:spcPct val="120000"/>
              </a:lnSpc>
              <a:buFontTx/>
              <a:buAutoNum type="arabicPeriod"/>
            </a:pPr>
            <a:r>
              <a:rPr lang="en-US" altLang="en-US" sz="2400" dirty="0">
                <a:latin typeface="Comic Sans MS" panose="030F0702030302020204" pitchFamily="66" charset="0"/>
              </a:rPr>
              <a:t>n</a:t>
            </a:r>
            <a:r>
              <a:rPr lang="en-US" altLang="en-US" sz="2400" dirty="0"/>
              <a:t> = length[A]</a:t>
            </a:r>
          </a:p>
          <a:p>
            <a:pPr marL="533400" indent="-533400">
              <a:lnSpc>
                <a:spcPct val="120000"/>
              </a:lnSpc>
              <a:buFontTx/>
              <a:buAutoNum type="arabicPeriod"/>
            </a:pPr>
            <a:r>
              <a:rPr lang="en-US" altLang="en-US" sz="2400" dirty="0"/>
              <a:t> </a:t>
            </a:r>
            <a:r>
              <a:rPr lang="en-US" altLang="en-US" sz="2400" b="1" dirty="0"/>
              <a:t>for</a:t>
            </a:r>
            <a:r>
              <a:rPr lang="en-US" altLang="en-US" sz="2400" dirty="0"/>
              <a:t> </a:t>
            </a:r>
            <a:r>
              <a:rPr lang="en-US" altLang="en-US" sz="2400" dirty="0" err="1">
                <a:latin typeface="Comic Sans MS" panose="030F0702030302020204" pitchFamily="66" charset="0"/>
              </a:rPr>
              <a:t>i</a:t>
            </a:r>
            <a:r>
              <a:rPr lang="en-US" altLang="en-US" sz="2400" dirty="0">
                <a:latin typeface="Comic Sans MS" panose="030F0702030302020204" pitchFamily="66" charset="0"/>
              </a:rPr>
              <a:t> ← 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</a:t>
            </a:r>
            <a:r>
              <a:rPr lang="en-US" altLang="en-US" sz="2400" dirty="0">
                <a:latin typeface="Comic Sans MS" panose="030F0702030302020204" pitchFamily="66" charset="0"/>
              </a:rPr>
              <a:t>n/2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</a:t>
            </a:r>
            <a:r>
              <a:rPr lang="en-US" altLang="en-US" sz="2400" dirty="0">
                <a:latin typeface="Monotype Corsiva" panose="03010101010201010101" pitchFamily="66" charset="0"/>
              </a:rPr>
              <a:t> </a:t>
            </a:r>
            <a:r>
              <a:rPr lang="en-US" altLang="en-US" sz="2400" b="1" dirty="0" err="1"/>
              <a:t>downto</a:t>
            </a:r>
            <a:r>
              <a:rPr lang="en-US" altLang="en-US" sz="2400" dirty="0"/>
              <a:t> </a:t>
            </a:r>
            <a:r>
              <a:rPr lang="en-US" altLang="en-US" sz="2400" dirty="0">
                <a:latin typeface="Comic Sans MS" panose="030F0702030302020204" pitchFamily="66" charset="0"/>
              </a:rPr>
              <a:t>1</a:t>
            </a:r>
          </a:p>
          <a:p>
            <a:pPr marL="533400" indent="-533400">
              <a:lnSpc>
                <a:spcPct val="120000"/>
              </a:lnSpc>
              <a:buFontTx/>
              <a:buAutoNum type="arabicPeriod"/>
            </a:pPr>
            <a:r>
              <a:rPr lang="en-US" altLang="en-US" sz="2400" dirty="0"/>
              <a:t>       </a:t>
            </a:r>
            <a:r>
              <a:rPr lang="en-US" altLang="en-US" sz="2400" b="1" dirty="0"/>
              <a:t>do</a:t>
            </a:r>
            <a:r>
              <a:rPr lang="en-US" altLang="en-US" sz="2400" dirty="0"/>
              <a:t> MAX-HEAPIFY</a:t>
            </a:r>
            <a:r>
              <a:rPr lang="en-US" altLang="en-US" sz="2400" dirty="0">
                <a:latin typeface="Comic Sans MS" panose="030F0702030302020204" pitchFamily="66" charset="0"/>
              </a:rPr>
              <a:t>(A, </a:t>
            </a:r>
            <a:r>
              <a:rPr lang="en-US" altLang="en-US" sz="2400" dirty="0" err="1">
                <a:latin typeface="Comic Sans MS" panose="030F0702030302020204" pitchFamily="66" charset="0"/>
              </a:rPr>
              <a:t>i</a:t>
            </a:r>
            <a:r>
              <a:rPr lang="en-US" altLang="en-US" sz="2400" dirty="0">
                <a:latin typeface="Comic Sans MS" panose="030F0702030302020204" pitchFamily="66" charset="0"/>
              </a:rPr>
              <a:t>, n)</a:t>
            </a:r>
          </a:p>
        </p:txBody>
      </p:sp>
      <p:sp>
        <p:nvSpPr>
          <p:cNvPr id="412676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304800" y="1219200"/>
            <a:ext cx="8458200" cy="27432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en-US" sz="2400"/>
              <a:t>Convert an array </a:t>
            </a:r>
            <a:r>
              <a:rPr lang="en-US" altLang="en-US" sz="2400">
                <a:latin typeface="Comic Sans MS" panose="030F0702030302020204" pitchFamily="66" charset="0"/>
              </a:rPr>
              <a:t>A[1 … n]</a:t>
            </a:r>
            <a:r>
              <a:rPr lang="en-US" altLang="en-US" sz="2400"/>
              <a:t> into a max-heap (</a:t>
            </a:r>
            <a:r>
              <a:rPr lang="en-US" altLang="en-US" sz="2400">
                <a:latin typeface="Comic Sans MS" panose="030F0702030302020204" pitchFamily="66" charset="0"/>
              </a:rPr>
              <a:t>n = length[A]</a:t>
            </a:r>
            <a:r>
              <a:rPr lang="en-US" altLang="en-US" sz="2400"/>
              <a:t>)</a:t>
            </a:r>
          </a:p>
          <a:p>
            <a:pPr>
              <a:lnSpc>
                <a:spcPct val="120000"/>
              </a:lnSpc>
            </a:pPr>
            <a:r>
              <a:rPr lang="en-US" altLang="en-US" sz="2400"/>
              <a:t>The elements in the subarray </a:t>
            </a:r>
            <a:r>
              <a:rPr lang="en-US" altLang="en-US" sz="2400">
                <a:latin typeface="Comic Sans MS" panose="030F0702030302020204" pitchFamily="66" charset="0"/>
              </a:rPr>
              <a:t>A[(</a:t>
            </a:r>
            <a:r>
              <a:rPr lang="en-US" altLang="en-US" sz="2400">
                <a:latin typeface="Comic Sans MS" panose="030F0702030302020204" pitchFamily="66" charset="0"/>
                <a:sym typeface="Symbol" panose="05050102010706020507" pitchFamily="18" charset="2"/>
              </a:rPr>
              <a:t>n/2+1</a:t>
            </a:r>
            <a:r>
              <a:rPr lang="en-US" altLang="en-US" sz="2400">
                <a:latin typeface="Comic Sans MS" panose="030F0702030302020204" pitchFamily="66" charset="0"/>
              </a:rPr>
              <a:t>) .. n]</a:t>
            </a:r>
            <a:r>
              <a:rPr lang="en-US" altLang="en-US" sz="2400"/>
              <a:t> are leaves</a:t>
            </a:r>
          </a:p>
          <a:p>
            <a:pPr>
              <a:lnSpc>
                <a:spcPct val="120000"/>
              </a:lnSpc>
            </a:pPr>
            <a:r>
              <a:rPr lang="en-US" altLang="en-US" sz="2400"/>
              <a:t>Apply MAX-HEAPIFY on elements between </a:t>
            </a:r>
            <a:r>
              <a:rPr lang="en-US" altLang="en-US" sz="2400">
                <a:latin typeface="Comic Sans MS" panose="030F0702030302020204" pitchFamily="66" charset="0"/>
              </a:rPr>
              <a:t>1</a:t>
            </a:r>
            <a:r>
              <a:rPr lang="en-US" altLang="en-US" sz="2400"/>
              <a:t> and </a:t>
            </a:r>
            <a:r>
              <a:rPr lang="en-US" altLang="en-US" sz="2400">
                <a:latin typeface="Comic Sans MS" panose="030F0702030302020204" pitchFamily="66" charset="0"/>
                <a:sym typeface="Symbol" panose="05050102010706020507" pitchFamily="18" charset="2"/>
              </a:rPr>
              <a:t>n/2</a:t>
            </a:r>
            <a:endParaRPr lang="en-US" altLang="en-US" sz="2400">
              <a:latin typeface="Comic Sans MS" panose="030F0702030302020204" pitchFamily="66" charset="0"/>
            </a:endParaRPr>
          </a:p>
        </p:txBody>
      </p:sp>
      <p:grpSp>
        <p:nvGrpSpPr>
          <p:cNvPr id="412677" name="Group 5"/>
          <p:cNvGrpSpPr>
            <a:grpSpLocks/>
          </p:cNvGrpSpPr>
          <p:nvPr/>
        </p:nvGrpSpPr>
        <p:grpSpPr bwMode="auto">
          <a:xfrm>
            <a:off x="5802313" y="3822700"/>
            <a:ext cx="2943225" cy="2044700"/>
            <a:chOff x="137" y="715"/>
            <a:chExt cx="1854" cy="1288"/>
          </a:xfrm>
        </p:grpSpPr>
        <p:sp>
          <p:nvSpPr>
            <p:cNvPr id="412678" name="Line 6"/>
            <p:cNvSpPr>
              <a:spLocks noChangeAspect="1" noChangeShapeType="1"/>
            </p:cNvSpPr>
            <p:nvPr/>
          </p:nvSpPr>
          <p:spPr bwMode="auto">
            <a:xfrm flipV="1">
              <a:off x="851" y="1653"/>
              <a:ext cx="259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2679" name="Line 7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2680" name="Line 8"/>
            <p:cNvSpPr>
              <a:spLocks noChangeAspect="1" noChangeShapeType="1"/>
            </p:cNvSpPr>
            <p:nvPr/>
          </p:nvSpPr>
          <p:spPr bwMode="auto">
            <a:xfrm rot="16200000" flipV="1">
              <a:off x="417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2681" name="Line 9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2682" name="Line 10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2683" name="Line 11"/>
            <p:cNvSpPr>
              <a:spLocks noChangeShapeType="1"/>
            </p:cNvSpPr>
            <p:nvPr/>
          </p:nvSpPr>
          <p:spPr bwMode="auto">
            <a:xfrm flipV="1">
              <a:off x="243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2684" name="Oval 12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2</a:t>
              </a:r>
            </a:p>
          </p:txBody>
        </p:sp>
        <p:sp>
          <p:nvSpPr>
            <p:cNvPr id="412685" name="Oval 13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14</a:t>
              </a:r>
            </a:p>
          </p:txBody>
        </p:sp>
        <p:sp>
          <p:nvSpPr>
            <p:cNvPr id="412686" name="Oval 14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8</a:t>
              </a:r>
            </a:p>
          </p:txBody>
        </p:sp>
        <p:sp>
          <p:nvSpPr>
            <p:cNvPr id="412687" name="Oval 15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dirty="0"/>
                <a:t>1</a:t>
              </a:r>
            </a:p>
          </p:txBody>
        </p:sp>
        <p:sp>
          <p:nvSpPr>
            <p:cNvPr id="412688" name="Oval 16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16</a:t>
              </a:r>
            </a:p>
          </p:txBody>
        </p:sp>
        <p:sp>
          <p:nvSpPr>
            <p:cNvPr id="412689" name="Oval 17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7</a:t>
              </a:r>
            </a:p>
          </p:txBody>
        </p:sp>
        <p:sp>
          <p:nvSpPr>
            <p:cNvPr id="412690" name="Oval 18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4</a:t>
              </a:r>
            </a:p>
          </p:txBody>
        </p:sp>
        <p:sp>
          <p:nvSpPr>
            <p:cNvPr id="412691" name="Oval 19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3</a:t>
              </a:r>
            </a:p>
          </p:txBody>
        </p:sp>
        <p:sp>
          <p:nvSpPr>
            <p:cNvPr id="412692" name="Oval 20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9</a:t>
              </a:r>
            </a:p>
          </p:txBody>
        </p:sp>
        <p:sp>
          <p:nvSpPr>
            <p:cNvPr id="412693" name="Oval 21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10</a:t>
              </a:r>
            </a:p>
          </p:txBody>
        </p:sp>
        <p:sp>
          <p:nvSpPr>
            <p:cNvPr id="412694" name="Text Box 22"/>
            <p:cNvSpPr txBox="1">
              <a:spLocks noChangeArrowheads="1"/>
            </p:cNvSpPr>
            <p:nvPr/>
          </p:nvSpPr>
          <p:spPr bwMode="auto">
            <a:xfrm>
              <a:off x="1152" y="715"/>
              <a:ext cx="1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1</a:t>
              </a:r>
            </a:p>
          </p:txBody>
        </p:sp>
        <p:sp>
          <p:nvSpPr>
            <p:cNvPr id="412695" name="Text Box 23"/>
            <p:cNvSpPr txBox="1">
              <a:spLocks noChangeArrowheads="1"/>
            </p:cNvSpPr>
            <p:nvPr/>
          </p:nvSpPr>
          <p:spPr bwMode="auto">
            <a:xfrm>
              <a:off x="699" y="1148"/>
              <a:ext cx="1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2</a:t>
              </a:r>
            </a:p>
          </p:txBody>
        </p:sp>
        <p:sp>
          <p:nvSpPr>
            <p:cNvPr id="412696" name="Text Box 24"/>
            <p:cNvSpPr txBox="1">
              <a:spLocks noChangeArrowheads="1"/>
            </p:cNvSpPr>
            <p:nvPr/>
          </p:nvSpPr>
          <p:spPr bwMode="auto">
            <a:xfrm>
              <a:off x="1552" y="1148"/>
              <a:ext cx="1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3</a:t>
              </a:r>
            </a:p>
          </p:txBody>
        </p:sp>
        <p:sp>
          <p:nvSpPr>
            <p:cNvPr id="412697" name="Text Box 25"/>
            <p:cNvSpPr txBox="1">
              <a:spLocks noChangeArrowheads="1"/>
            </p:cNvSpPr>
            <p:nvPr/>
          </p:nvSpPr>
          <p:spPr bwMode="auto">
            <a:xfrm>
              <a:off x="406" y="1423"/>
              <a:ext cx="1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4</a:t>
              </a:r>
            </a:p>
          </p:txBody>
        </p:sp>
        <p:sp>
          <p:nvSpPr>
            <p:cNvPr id="412698" name="Text Box 26"/>
            <p:cNvSpPr txBox="1">
              <a:spLocks noChangeArrowheads="1"/>
            </p:cNvSpPr>
            <p:nvPr/>
          </p:nvSpPr>
          <p:spPr bwMode="auto">
            <a:xfrm>
              <a:off x="992" y="1423"/>
              <a:ext cx="1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5</a:t>
              </a:r>
            </a:p>
          </p:txBody>
        </p:sp>
        <p:sp>
          <p:nvSpPr>
            <p:cNvPr id="412699" name="Text Box 27"/>
            <p:cNvSpPr txBox="1">
              <a:spLocks noChangeArrowheads="1"/>
            </p:cNvSpPr>
            <p:nvPr/>
          </p:nvSpPr>
          <p:spPr bwMode="auto">
            <a:xfrm>
              <a:off x="1237" y="1423"/>
              <a:ext cx="1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6</a:t>
              </a:r>
            </a:p>
          </p:txBody>
        </p:sp>
        <p:sp>
          <p:nvSpPr>
            <p:cNvPr id="412700" name="Text Box 28"/>
            <p:cNvSpPr txBox="1">
              <a:spLocks noChangeArrowheads="1"/>
            </p:cNvSpPr>
            <p:nvPr/>
          </p:nvSpPr>
          <p:spPr bwMode="auto">
            <a:xfrm>
              <a:off x="1824" y="1423"/>
              <a:ext cx="1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7</a:t>
              </a:r>
            </a:p>
          </p:txBody>
        </p:sp>
        <p:sp>
          <p:nvSpPr>
            <p:cNvPr id="412701" name="Text Box 29"/>
            <p:cNvSpPr txBox="1">
              <a:spLocks noChangeArrowheads="1"/>
            </p:cNvSpPr>
            <p:nvPr/>
          </p:nvSpPr>
          <p:spPr bwMode="auto">
            <a:xfrm>
              <a:off x="150" y="1664"/>
              <a:ext cx="1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8</a:t>
              </a:r>
            </a:p>
          </p:txBody>
        </p:sp>
        <p:sp>
          <p:nvSpPr>
            <p:cNvPr id="412702" name="Text Box 30"/>
            <p:cNvSpPr txBox="1">
              <a:spLocks noChangeArrowheads="1"/>
            </p:cNvSpPr>
            <p:nvPr/>
          </p:nvSpPr>
          <p:spPr bwMode="auto">
            <a:xfrm>
              <a:off x="603" y="1664"/>
              <a:ext cx="1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9</a:t>
              </a:r>
            </a:p>
          </p:txBody>
        </p:sp>
        <p:sp>
          <p:nvSpPr>
            <p:cNvPr id="412703" name="Text Box 31"/>
            <p:cNvSpPr txBox="1">
              <a:spLocks noChangeArrowheads="1"/>
            </p:cNvSpPr>
            <p:nvPr/>
          </p:nvSpPr>
          <p:spPr bwMode="auto">
            <a:xfrm>
              <a:off x="808" y="1664"/>
              <a:ext cx="204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10</a:t>
              </a:r>
            </a:p>
          </p:txBody>
        </p:sp>
      </p:grpSp>
      <p:graphicFrame>
        <p:nvGraphicFramePr>
          <p:cNvPr id="412704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4671031"/>
              </p:ext>
            </p:extLst>
          </p:nvPr>
        </p:nvGraphicFramePr>
        <p:xfrm>
          <a:off x="4849812" y="6065520"/>
          <a:ext cx="4141788" cy="335280"/>
        </p:xfrm>
        <a:graphic>
          <a:graphicData uri="http://schemas.openxmlformats.org/drawingml/2006/table">
            <a:tbl>
              <a:tblPr/>
              <a:tblGrid>
                <a:gridCol w="414338">
                  <a:extLst>
                    <a:ext uri="{9D8B030D-6E8A-4147-A177-3AD203B41FA5}">
                      <a16:colId xmlns:a16="http://schemas.microsoft.com/office/drawing/2014/main" val="1246366933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1262281455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250656618"/>
                    </a:ext>
                  </a:extLst>
                </a:gridCol>
                <a:gridCol w="414337">
                  <a:extLst>
                    <a:ext uri="{9D8B030D-6E8A-4147-A177-3AD203B41FA5}">
                      <a16:colId xmlns:a16="http://schemas.microsoft.com/office/drawing/2014/main" val="3567748716"/>
                    </a:ext>
                  </a:extLst>
                </a:gridCol>
                <a:gridCol w="414338">
                  <a:extLst>
                    <a:ext uri="{9D8B030D-6E8A-4147-A177-3AD203B41FA5}">
                      <a16:colId xmlns:a16="http://schemas.microsoft.com/office/drawing/2014/main" val="4184641516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929098172"/>
                    </a:ext>
                  </a:extLst>
                </a:gridCol>
                <a:gridCol w="414337">
                  <a:extLst>
                    <a:ext uri="{9D8B030D-6E8A-4147-A177-3AD203B41FA5}">
                      <a16:colId xmlns:a16="http://schemas.microsoft.com/office/drawing/2014/main" val="3793869591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187686219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4148423409"/>
                    </a:ext>
                  </a:extLst>
                </a:gridCol>
                <a:gridCol w="414338">
                  <a:extLst>
                    <a:ext uri="{9D8B030D-6E8A-4147-A177-3AD203B41FA5}">
                      <a16:colId xmlns:a16="http://schemas.microsoft.com/office/drawing/2014/main" val="3370575132"/>
                    </a:ext>
                  </a:extLst>
                </a:gridCol>
              </a:tblGrid>
              <a:tr h="1571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6161166"/>
                  </a:ext>
                </a:extLst>
              </a:tr>
            </a:tbl>
          </a:graphicData>
        </a:graphic>
      </p:graphicFrame>
      <p:sp>
        <p:nvSpPr>
          <p:cNvPr id="412728" name="Text Box 56"/>
          <p:cNvSpPr txBox="1">
            <a:spLocks noChangeArrowheads="1"/>
          </p:cNvSpPr>
          <p:nvPr/>
        </p:nvSpPr>
        <p:spPr bwMode="auto">
          <a:xfrm>
            <a:off x="4264025" y="6110288"/>
            <a:ext cx="400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A:</a:t>
            </a:r>
          </a:p>
        </p:txBody>
      </p:sp>
      <p:sp>
        <p:nvSpPr>
          <p:cNvPr id="412729" name="Freeform 57"/>
          <p:cNvSpPr>
            <a:spLocks/>
          </p:cNvSpPr>
          <p:nvPr/>
        </p:nvSpPr>
        <p:spPr bwMode="auto">
          <a:xfrm>
            <a:off x="5924550" y="3752850"/>
            <a:ext cx="2636838" cy="1811338"/>
          </a:xfrm>
          <a:custGeom>
            <a:avLst/>
            <a:gdLst>
              <a:gd name="T0" fmla="*/ 300 w 1661"/>
              <a:gd name="T1" fmla="*/ 593 h 1141"/>
              <a:gd name="T2" fmla="*/ 260 w 1661"/>
              <a:gd name="T3" fmla="*/ 638 h 1141"/>
              <a:gd name="T4" fmla="*/ 158 w 1661"/>
              <a:gd name="T5" fmla="*/ 666 h 1141"/>
              <a:gd name="T6" fmla="*/ 85 w 1661"/>
              <a:gd name="T7" fmla="*/ 694 h 1141"/>
              <a:gd name="T8" fmla="*/ 57 w 1661"/>
              <a:gd name="T9" fmla="*/ 711 h 1141"/>
              <a:gd name="T10" fmla="*/ 12 w 1661"/>
              <a:gd name="T11" fmla="*/ 768 h 1141"/>
              <a:gd name="T12" fmla="*/ 0 w 1661"/>
              <a:gd name="T13" fmla="*/ 802 h 1141"/>
              <a:gd name="T14" fmla="*/ 40 w 1661"/>
              <a:gd name="T15" fmla="*/ 966 h 1141"/>
              <a:gd name="T16" fmla="*/ 62 w 1661"/>
              <a:gd name="T17" fmla="*/ 1011 h 1141"/>
              <a:gd name="T18" fmla="*/ 91 w 1661"/>
              <a:gd name="T19" fmla="*/ 1056 h 1141"/>
              <a:gd name="T20" fmla="*/ 125 w 1661"/>
              <a:gd name="T21" fmla="*/ 1078 h 1141"/>
              <a:gd name="T22" fmla="*/ 108 w 1661"/>
              <a:gd name="T23" fmla="*/ 1084 h 1141"/>
              <a:gd name="T24" fmla="*/ 147 w 1661"/>
              <a:gd name="T25" fmla="*/ 1095 h 1141"/>
              <a:gd name="T26" fmla="*/ 277 w 1661"/>
              <a:gd name="T27" fmla="*/ 1129 h 1141"/>
              <a:gd name="T28" fmla="*/ 322 w 1661"/>
              <a:gd name="T29" fmla="*/ 1124 h 1141"/>
              <a:gd name="T30" fmla="*/ 334 w 1661"/>
              <a:gd name="T31" fmla="*/ 1135 h 1141"/>
              <a:gd name="T32" fmla="*/ 350 w 1661"/>
              <a:gd name="T33" fmla="*/ 1124 h 1141"/>
              <a:gd name="T34" fmla="*/ 418 w 1661"/>
              <a:gd name="T35" fmla="*/ 1101 h 1141"/>
              <a:gd name="T36" fmla="*/ 475 w 1661"/>
              <a:gd name="T37" fmla="*/ 1078 h 1141"/>
              <a:gd name="T38" fmla="*/ 514 w 1661"/>
              <a:gd name="T39" fmla="*/ 1067 h 1141"/>
              <a:gd name="T40" fmla="*/ 791 w 1661"/>
              <a:gd name="T41" fmla="*/ 1095 h 1141"/>
              <a:gd name="T42" fmla="*/ 910 w 1661"/>
              <a:gd name="T43" fmla="*/ 1141 h 1141"/>
              <a:gd name="T44" fmla="*/ 972 w 1661"/>
              <a:gd name="T45" fmla="*/ 1101 h 1141"/>
              <a:gd name="T46" fmla="*/ 977 w 1661"/>
              <a:gd name="T47" fmla="*/ 920 h 1141"/>
              <a:gd name="T48" fmla="*/ 989 w 1661"/>
              <a:gd name="T49" fmla="*/ 909 h 1141"/>
              <a:gd name="T50" fmla="*/ 1147 w 1661"/>
              <a:gd name="T51" fmla="*/ 824 h 1141"/>
              <a:gd name="T52" fmla="*/ 1373 w 1661"/>
              <a:gd name="T53" fmla="*/ 847 h 1141"/>
              <a:gd name="T54" fmla="*/ 1587 w 1661"/>
              <a:gd name="T55" fmla="*/ 819 h 1141"/>
              <a:gd name="T56" fmla="*/ 1610 w 1661"/>
              <a:gd name="T57" fmla="*/ 796 h 1141"/>
              <a:gd name="T58" fmla="*/ 1638 w 1661"/>
              <a:gd name="T59" fmla="*/ 751 h 1141"/>
              <a:gd name="T60" fmla="*/ 1644 w 1661"/>
              <a:gd name="T61" fmla="*/ 734 h 1141"/>
              <a:gd name="T62" fmla="*/ 1649 w 1661"/>
              <a:gd name="T63" fmla="*/ 717 h 1141"/>
              <a:gd name="T64" fmla="*/ 1661 w 1661"/>
              <a:gd name="T65" fmla="*/ 683 h 1141"/>
              <a:gd name="T66" fmla="*/ 1632 w 1661"/>
              <a:gd name="T67" fmla="*/ 570 h 1141"/>
              <a:gd name="T68" fmla="*/ 1615 w 1661"/>
              <a:gd name="T69" fmla="*/ 519 h 1141"/>
              <a:gd name="T70" fmla="*/ 1610 w 1661"/>
              <a:gd name="T71" fmla="*/ 469 h 1141"/>
              <a:gd name="T72" fmla="*/ 1598 w 1661"/>
              <a:gd name="T73" fmla="*/ 423 h 1141"/>
              <a:gd name="T74" fmla="*/ 1587 w 1661"/>
              <a:gd name="T75" fmla="*/ 367 h 1141"/>
              <a:gd name="T76" fmla="*/ 1553 w 1661"/>
              <a:gd name="T77" fmla="*/ 299 h 1141"/>
              <a:gd name="T78" fmla="*/ 1519 w 1661"/>
              <a:gd name="T79" fmla="*/ 226 h 1141"/>
              <a:gd name="T80" fmla="*/ 1491 w 1661"/>
              <a:gd name="T81" fmla="*/ 186 h 1141"/>
              <a:gd name="T82" fmla="*/ 1378 w 1661"/>
              <a:gd name="T83" fmla="*/ 102 h 1141"/>
              <a:gd name="T84" fmla="*/ 1265 w 1661"/>
              <a:gd name="T85" fmla="*/ 51 h 1141"/>
              <a:gd name="T86" fmla="*/ 1130 w 1661"/>
              <a:gd name="T87" fmla="*/ 0 h 1141"/>
              <a:gd name="T88" fmla="*/ 983 w 1661"/>
              <a:gd name="T89" fmla="*/ 11 h 1141"/>
              <a:gd name="T90" fmla="*/ 926 w 1661"/>
              <a:gd name="T91" fmla="*/ 22 h 1141"/>
              <a:gd name="T92" fmla="*/ 893 w 1661"/>
              <a:gd name="T93" fmla="*/ 34 h 1141"/>
              <a:gd name="T94" fmla="*/ 814 w 1661"/>
              <a:gd name="T95" fmla="*/ 73 h 1141"/>
              <a:gd name="T96" fmla="*/ 734 w 1661"/>
              <a:gd name="T97" fmla="*/ 113 h 1141"/>
              <a:gd name="T98" fmla="*/ 661 w 1661"/>
              <a:gd name="T99" fmla="*/ 164 h 1141"/>
              <a:gd name="T100" fmla="*/ 616 w 1661"/>
              <a:gd name="T101" fmla="*/ 198 h 1141"/>
              <a:gd name="T102" fmla="*/ 582 w 1661"/>
              <a:gd name="T103" fmla="*/ 220 h 1141"/>
              <a:gd name="T104" fmla="*/ 571 w 1661"/>
              <a:gd name="T105" fmla="*/ 237 h 1141"/>
              <a:gd name="T106" fmla="*/ 554 w 1661"/>
              <a:gd name="T107" fmla="*/ 243 h 1141"/>
              <a:gd name="T108" fmla="*/ 531 w 1661"/>
              <a:gd name="T109" fmla="*/ 265 h 1141"/>
              <a:gd name="T110" fmla="*/ 486 w 1661"/>
              <a:gd name="T111" fmla="*/ 294 h 1141"/>
              <a:gd name="T112" fmla="*/ 418 w 1661"/>
              <a:gd name="T113" fmla="*/ 350 h 1141"/>
              <a:gd name="T114" fmla="*/ 384 w 1661"/>
              <a:gd name="T115" fmla="*/ 384 h 1141"/>
              <a:gd name="T116" fmla="*/ 350 w 1661"/>
              <a:gd name="T117" fmla="*/ 440 h 1141"/>
              <a:gd name="T118" fmla="*/ 328 w 1661"/>
              <a:gd name="T119" fmla="*/ 486 h 1141"/>
              <a:gd name="T120" fmla="*/ 300 w 1661"/>
              <a:gd name="T121" fmla="*/ 576 h 1141"/>
              <a:gd name="T122" fmla="*/ 300 w 1661"/>
              <a:gd name="T123" fmla="*/ 593 h 11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661" h="1141">
                <a:moveTo>
                  <a:pt x="300" y="593"/>
                </a:moveTo>
                <a:cubicBezTo>
                  <a:pt x="286" y="607"/>
                  <a:pt x="276" y="625"/>
                  <a:pt x="260" y="638"/>
                </a:cubicBezTo>
                <a:cubicBezTo>
                  <a:pt x="241" y="654"/>
                  <a:pt x="183" y="662"/>
                  <a:pt x="158" y="666"/>
                </a:cubicBezTo>
                <a:cubicBezTo>
                  <a:pt x="130" y="676"/>
                  <a:pt x="113" y="689"/>
                  <a:pt x="85" y="694"/>
                </a:cubicBezTo>
                <a:cubicBezTo>
                  <a:pt x="57" y="725"/>
                  <a:pt x="94" y="689"/>
                  <a:pt x="57" y="711"/>
                </a:cubicBezTo>
                <a:cubicBezTo>
                  <a:pt x="39" y="722"/>
                  <a:pt x="22" y="753"/>
                  <a:pt x="12" y="768"/>
                </a:cubicBezTo>
                <a:cubicBezTo>
                  <a:pt x="5" y="778"/>
                  <a:pt x="0" y="802"/>
                  <a:pt x="0" y="802"/>
                </a:cubicBezTo>
                <a:cubicBezTo>
                  <a:pt x="5" y="868"/>
                  <a:pt x="11" y="910"/>
                  <a:pt x="40" y="966"/>
                </a:cubicBezTo>
                <a:cubicBezTo>
                  <a:pt x="49" y="983"/>
                  <a:pt x="48" y="996"/>
                  <a:pt x="62" y="1011"/>
                </a:cubicBezTo>
                <a:cubicBezTo>
                  <a:pt x="68" y="1029"/>
                  <a:pt x="75" y="1045"/>
                  <a:pt x="91" y="1056"/>
                </a:cubicBezTo>
                <a:cubicBezTo>
                  <a:pt x="102" y="1064"/>
                  <a:pt x="125" y="1078"/>
                  <a:pt x="125" y="1078"/>
                </a:cubicBezTo>
                <a:cubicBezTo>
                  <a:pt x="119" y="1080"/>
                  <a:pt x="103" y="1080"/>
                  <a:pt x="108" y="1084"/>
                </a:cubicBezTo>
                <a:cubicBezTo>
                  <a:pt x="119" y="1092"/>
                  <a:pt x="134" y="1091"/>
                  <a:pt x="147" y="1095"/>
                </a:cubicBezTo>
                <a:cubicBezTo>
                  <a:pt x="191" y="1108"/>
                  <a:pt x="231" y="1122"/>
                  <a:pt x="277" y="1129"/>
                </a:cubicBezTo>
                <a:cubicBezTo>
                  <a:pt x="292" y="1127"/>
                  <a:pt x="307" y="1122"/>
                  <a:pt x="322" y="1124"/>
                </a:cubicBezTo>
                <a:cubicBezTo>
                  <a:pt x="327" y="1125"/>
                  <a:pt x="329" y="1135"/>
                  <a:pt x="334" y="1135"/>
                </a:cubicBezTo>
                <a:cubicBezTo>
                  <a:pt x="340" y="1135"/>
                  <a:pt x="344" y="1127"/>
                  <a:pt x="350" y="1124"/>
                </a:cubicBezTo>
                <a:cubicBezTo>
                  <a:pt x="371" y="1114"/>
                  <a:pt x="396" y="1109"/>
                  <a:pt x="418" y="1101"/>
                </a:cubicBezTo>
                <a:cubicBezTo>
                  <a:pt x="434" y="1086"/>
                  <a:pt x="454" y="1084"/>
                  <a:pt x="475" y="1078"/>
                </a:cubicBezTo>
                <a:cubicBezTo>
                  <a:pt x="488" y="1074"/>
                  <a:pt x="514" y="1067"/>
                  <a:pt x="514" y="1067"/>
                </a:cubicBezTo>
                <a:cubicBezTo>
                  <a:pt x="676" y="1072"/>
                  <a:pt x="684" y="1063"/>
                  <a:pt x="791" y="1095"/>
                </a:cubicBezTo>
                <a:cubicBezTo>
                  <a:pt x="816" y="1122"/>
                  <a:pt x="874" y="1132"/>
                  <a:pt x="910" y="1141"/>
                </a:cubicBezTo>
                <a:cubicBezTo>
                  <a:pt x="953" y="1129"/>
                  <a:pt x="942" y="1129"/>
                  <a:pt x="972" y="1101"/>
                </a:cubicBezTo>
                <a:cubicBezTo>
                  <a:pt x="974" y="1041"/>
                  <a:pt x="972" y="980"/>
                  <a:pt x="977" y="920"/>
                </a:cubicBezTo>
                <a:cubicBezTo>
                  <a:pt x="977" y="915"/>
                  <a:pt x="986" y="914"/>
                  <a:pt x="989" y="909"/>
                </a:cubicBezTo>
                <a:cubicBezTo>
                  <a:pt x="1031" y="839"/>
                  <a:pt x="1068" y="836"/>
                  <a:pt x="1147" y="824"/>
                </a:cubicBezTo>
                <a:cubicBezTo>
                  <a:pt x="1224" y="829"/>
                  <a:pt x="1297" y="836"/>
                  <a:pt x="1373" y="847"/>
                </a:cubicBezTo>
                <a:cubicBezTo>
                  <a:pt x="1473" y="843"/>
                  <a:pt x="1507" y="843"/>
                  <a:pt x="1587" y="819"/>
                </a:cubicBezTo>
                <a:cubicBezTo>
                  <a:pt x="1594" y="811"/>
                  <a:pt x="1604" y="805"/>
                  <a:pt x="1610" y="796"/>
                </a:cubicBezTo>
                <a:cubicBezTo>
                  <a:pt x="1625" y="772"/>
                  <a:pt x="1609" y="770"/>
                  <a:pt x="1638" y="751"/>
                </a:cubicBezTo>
                <a:cubicBezTo>
                  <a:pt x="1640" y="745"/>
                  <a:pt x="1642" y="740"/>
                  <a:pt x="1644" y="734"/>
                </a:cubicBezTo>
                <a:cubicBezTo>
                  <a:pt x="1646" y="728"/>
                  <a:pt x="1647" y="723"/>
                  <a:pt x="1649" y="717"/>
                </a:cubicBezTo>
                <a:cubicBezTo>
                  <a:pt x="1653" y="706"/>
                  <a:pt x="1661" y="683"/>
                  <a:pt x="1661" y="683"/>
                </a:cubicBezTo>
                <a:cubicBezTo>
                  <a:pt x="1655" y="640"/>
                  <a:pt x="1644" y="611"/>
                  <a:pt x="1632" y="570"/>
                </a:cubicBezTo>
                <a:cubicBezTo>
                  <a:pt x="1627" y="553"/>
                  <a:pt x="1615" y="519"/>
                  <a:pt x="1615" y="519"/>
                </a:cubicBezTo>
                <a:cubicBezTo>
                  <a:pt x="1613" y="502"/>
                  <a:pt x="1613" y="485"/>
                  <a:pt x="1610" y="469"/>
                </a:cubicBezTo>
                <a:cubicBezTo>
                  <a:pt x="1607" y="453"/>
                  <a:pt x="1598" y="423"/>
                  <a:pt x="1598" y="423"/>
                </a:cubicBezTo>
                <a:cubicBezTo>
                  <a:pt x="1595" y="403"/>
                  <a:pt x="1596" y="385"/>
                  <a:pt x="1587" y="367"/>
                </a:cubicBezTo>
                <a:cubicBezTo>
                  <a:pt x="1576" y="345"/>
                  <a:pt x="1559" y="323"/>
                  <a:pt x="1553" y="299"/>
                </a:cubicBezTo>
                <a:cubicBezTo>
                  <a:pt x="1545" y="267"/>
                  <a:pt x="1547" y="244"/>
                  <a:pt x="1519" y="226"/>
                </a:cubicBezTo>
                <a:cubicBezTo>
                  <a:pt x="1513" y="206"/>
                  <a:pt x="1505" y="201"/>
                  <a:pt x="1491" y="186"/>
                </a:cubicBezTo>
                <a:cubicBezTo>
                  <a:pt x="1479" y="146"/>
                  <a:pt x="1417" y="114"/>
                  <a:pt x="1378" y="102"/>
                </a:cubicBezTo>
                <a:cubicBezTo>
                  <a:pt x="1359" y="81"/>
                  <a:pt x="1294" y="60"/>
                  <a:pt x="1265" y="51"/>
                </a:cubicBezTo>
                <a:cubicBezTo>
                  <a:pt x="1236" y="19"/>
                  <a:pt x="1170" y="14"/>
                  <a:pt x="1130" y="0"/>
                </a:cubicBezTo>
                <a:cubicBezTo>
                  <a:pt x="1058" y="4"/>
                  <a:pt x="1040" y="2"/>
                  <a:pt x="983" y="11"/>
                </a:cubicBezTo>
                <a:cubicBezTo>
                  <a:pt x="977" y="12"/>
                  <a:pt x="936" y="19"/>
                  <a:pt x="926" y="22"/>
                </a:cubicBezTo>
                <a:cubicBezTo>
                  <a:pt x="915" y="25"/>
                  <a:pt x="893" y="34"/>
                  <a:pt x="893" y="34"/>
                </a:cubicBezTo>
                <a:cubicBezTo>
                  <a:pt x="872" y="53"/>
                  <a:pt x="842" y="64"/>
                  <a:pt x="814" y="73"/>
                </a:cubicBezTo>
                <a:cubicBezTo>
                  <a:pt x="794" y="93"/>
                  <a:pt x="760" y="100"/>
                  <a:pt x="734" y="113"/>
                </a:cubicBezTo>
                <a:cubicBezTo>
                  <a:pt x="708" y="126"/>
                  <a:pt x="684" y="147"/>
                  <a:pt x="661" y="164"/>
                </a:cubicBezTo>
                <a:cubicBezTo>
                  <a:pt x="657" y="167"/>
                  <a:pt x="626" y="190"/>
                  <a:pt x="616" y="198"/>
                </a:cubicBezTo>
                <a:cubicBezTo>
                  <a:pt x="605" y="206"/>
                  <a:pt x="582" y="220"/>
                  <a:pt x="582" y="220"/>
                </a:cubicBezTo>
                <a:cubicBezTo>
                  <a:pt x="578" y="226"/>
                  <a:pt x="576" y="233"/>
                  <a:pt x="571" y="237"/>
                </a:cubicBezTo>
                <a:cubicBezTo>
                  <a:pt x="566" y="241"/>
                  <a:pt x="558" y="239"/>
                  <a:pt x="554" y="243"/>
                </a:cubicBezTo>
                <a:cubicBezTo>
                  <a:pt x="525" y="272"/>
                  <a:pt x="574" y="252"/>
                  <a:pt x="531" y="265"/>
                </a:cubicBezTo>
                <a:cubicBezTo>
                  <a:pt x="517" y="280"/>
                  <a:pt x="505" y="287"/>
                  <a:pt x="486" y="294"/>
                </a:cubicBezTo>
                <a:cubicBezTo>
                  <a:pt x="476" y="309"/>
                  <a:pt x="435" y="339"/>
                  <a:pt x="418" y="350"/>
                </a:cubicBezTo>
                <a:cubicBezTo>
                  <a:pt x="411" y="373"/>
                  <a:pt x="401" y="369"/>
                  <a:pt x="384" y="384"/>
                </a:cubicBezTo>
                <a:cubicBezTo>
                  <a:pt x="379" y="401"/>
                  <a:pt x="363" y="428"/>
                  <a:pt x="350" y="440"/>
                </a:cubicBezTo>
                <a:cubicBezTo>
                  <a:pt x="344" y="459"/>
                  <a:pt x="341" y="471"/>
                  <a:pt x="328" y="486"/>
                </a:cubicBezTo>
                <a:cubicBezTo>
                  <a:pt x="319" y="516"/>
                  <a:pt x="310" y="546"/>
                  <a:pt x="300" y="576"/>
                </a:cubicBezTo>
                <a:cubicBezTo>
                  <a:pt x="294" y="595"/>
                  <a:pt x="288" y="593"/>
                  <a:pt x="300" y="593"/>
                </a:cubicBezTo>
                <a:close/>
              </a:path>
            </a:pathLst>
          </a:custGeom>
          <a:noFill/>
          <a:ln w="25400" cap="flat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201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/>
              <a:t>Example:         A</a:t>
            </a:r>
          </a:p>
        </p:txBody>
      </p:sp>
      <p:graphicFrame>
        <p:nvGraphicFramePr>
          <p:cNvPr id="429059" name="Group 3"/>
          <p:cNvGraphicFramePr>
            <a:graphicFrameLocks noGrp="1"/>
          </p:cNvGraphicFramePr>
          <p:nvPr>
            <p:ph idx="1"/>
          </p:nvPr>
        </p:nvGraphicFramePr>
        <p:xfrm>
          <a:off x="4348163" y="381000"/>
          <a:ext cx="4141787" cy="335280"/>
        </p:xfrm>
        <a:graphic>
          <a:graphicData uri="http://schemas.openxmlformats.org/drawingml/2006/table">
            <a:tbl>
              <a:tblPr/>
              <a:tblGrid>
                <a:gridCol w="414337">
                  <a:extLst>
                    <a:ext uri="{9D8B030D-6E8A-4147-A177-3AD203B41FA5}">
                      <a16:colId xmlns:a16="http://schemas.microsoft.com/office/drawing/2014/main" val="2665929489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2612432316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842857991"/>
                    </a:ext>
                  </a:extLst>
                </a:gridCol>
                <a:gridCol w="414338">
                  <a:extLst>
                    <a:ext uri="{9D8B030D-6E8A-4147-A177-3AD203B41FA5}">
                      <a16:colId xmlns:a16="http://schemas.microsoft.com/office/drawing/2014/main" val="1462073788"/>
                    </a:ext>
                  </a:extLst>
                </a:gridCol>
                <a:gridCol w="414337">
                  <a:extLst>
                    <a:ext uri="{9D8B030D-6E8A-4147-A177-3AD203B41FA5}">
                      <a16:colId xmlns:a16="http://schemas.microsoft.com/office/drawing/2014/main" val="2186273713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610920769"/>
                    </a:ext>
                  </a:extLst>
                </a:gridCol>
                <a:gridCol w="414338">
                  <a:extLst>
                    <a:ext uri="{9D8B030D-6E8A-4147-A177-3AD203B41FA5}">
                      <a16:colId xmlns:a16="http://schemas.microsoft.com/office/drawing/2014/main" val="3106391580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8150834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2061976496"/>
                    </a:ext>
                  </a:extLst>
                </a:gridCol>
                <a:gridCol w="414337">
                  <a:extLst>
                    <a:ext uri="{9D8B030D-6E8A-4147-A177-3AD203B41FA5}">
                      <a16:colId xmlns:a16="http://schemas.microsoft.com/office/drawing/2014/main" val="2794453998"/>
                    </a:ext>
                  </a:extLst>
                </a:gridCol>
              </a:tblGrid>
              <a:tr h="144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0939614"/>
                  </a:ext>
                </a:extLst>
              </a:tr>
            </a:tbl>
          </a:graphicData>
        </a:graphic>
      </p:graphicFrame>
      <p:grpSp>
        <p:nvGrpSpPr>
          <p:cNvPr id="429083" name="Group 27"/>
          <p:cNvGrpSpPr>
            <a:grpSpLocks/>
          </p:cNvGrpSpPr>
          <p:nvPr/>
        </p:nvGrpSpPr>
        <p:grpSpPr bwMode="auto">
          <a:xfrm>
            <a:off x="225425" y="1524000"/>
            <a:ext cx="2943225" cy="2044700"/>
            <a:chOff x="137" y="715"/>
            <a:chExt cx="1854" cy="1288"/>
          </a:xfrm>
        </p:grpSpPr>
        <p:sp>
          <p:nvSpPr>
            <p:cNvPr id="429084" name="Line 28"/>
            <p:cNvSpPr>
              <a:spLocks noChangeAspect="1" noChangeShapeType="1"/>
            </p:cNvSpPr>
            <p:nvPr/>
          </p:nvSpPr>
          <p:spPr bwMode="auto">
            <a:xfrm flipV="1">
              <a:off x="851" y="1653"/>
              <a:ext cx="259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9085" name="Line 29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9086" name="Line 30"/>
            <p:cNvSpPr>
              <a:spLocks noChangeAspect="1" noChangeShapeType="1"/>
            </p:cNvSpPr>
            <p:nvPr/>
          </p:nvSpPr>
          <p:spPr bwMode="auto">
            <a:xfrm rot="16200000" flipV="1">
              <a:off x="417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9087" name="Line 31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9088" name="Line 32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9089" name="Line 33"/>
            <p:cNvSpPr>
              <a:spLocks noChangeShapeType="1"/>
            </p:cNvSpPr>
            <p:nvPr/>
          </p:nvSpPr>
          <p:spPr bwMode="auto">
            <a:xfrm flipV="1">
              <a:off x="243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9090" name="Oval 34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2</a:t>
              </a:r>
            </a:p>
          </p:txBody>
        </p:sp>
        <p:sp>
          <p:nvSpPr>
            <p:cNvPr id="429091" name="Oval 35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14</a:t>
              </a:r>
            </a:p>
          </p:txBody>
        </p:sp>
        <p:sp>
          <p:nvSpPr>
            <p:cNvPr id="429092" name="Oval 36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8</a:t>
              </a:r>
            </a:p>
          </p:txBody>
        </p:sp>
        <p:sp>
          <p:nvSpPr>
            <p:cNvPr id="429093" name="Oval 37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1</a:t>
              </a:r>
            </a:p>
          </p:txBody>
        </p:sp>
        <p:sp>
          <p:nvSpPr>
            <p:cNvPr id="429094" name="Oval 38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DD011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16</a:t>
              </a:r>
            </a:p>
          </p:txBody>
        </p:sp>
        <p:sp>
          <p:nvSpPr>
            <p:cNvPr id="429095" name="Oval 39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7</a:t>
              </a:r>
            </a:p>
          </p:txBody>
        </p:sp>
        <p:sp>
          <p:nvSpPr>
            <p:cNvPr id="429096" name="Oval 40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4</a:t>
              </a:r>
            </a:p>
          </p:txBody>
        </p:sp>
        <p:sp>
          <p:nvSpPr>
            <p:cNvPr id="429097" name="Oval 41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3</a:t>
              </a:r>
            </a:p>
          </p:txBody>
        </p:sp>
        <p:sp>
          <p:nvSpPr>
            <p:cNvPr id="429098" name="Oval 42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9</a:t>
              </a:r>
            </a:p>
          </p:txBody>
        </p:sp>
        <p:sp>
          <p:nvSpPr>
            <p:cNvPr id="429099" name="Oval 43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10</a:t>
              </a:r>
            </a:p>
          </p:txBody>
        </p:sp>
        <p:sp>
          <p:nvSpPr>
            <p:cNvPr id="429100" name="Text Box 44"/>
            <p:cNvSpPr txBox="1">
              <a:spLocks noChangeArrowheads="1"/>
            </p:cNvSpPr>
            <p:nvPr/>
          </p:nvSpPr>
          <p:spPr bwMode="auto">
            <a:xfrm>
              <a:off x="1152" y="715"/>
              <a:ext cx="1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1</a:t>
              </a:r>
            </a:p>
          </p:txBody>
        </p:sp>
        <p:sp>
          <p:nvSpPr>
            <p:cNvPr id="429101" name="Text Box 45"/>
            <p:cNvSpPr txBox="1">
              <a:spLocks noChangeArrowheads="1"/>
            </p:cNvSpPr>
            <p:nvPr/>
          </p:nvSpPr>
          <p:spPr bwMode="auto">
            <a:xfrm>
              <a:off x="699" y="1148"/>
              <a:ext cx="1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2</a:t>
              </a:r>
            </a:p>
          </p:txBody>
        </p:sp>
        <p:sp>
          <p:nvSpPr>
            <p:cNvPr id="429102" name="Text Box 46"/>
            <p:cNvSpPr txBox="1">
              <a:spLocks noChangeArrowheads="1"/>
            </p:cNvSpPr>
            <p:nvPr/>
          </p:nvSpPr>
          <p:spPr bwMode="auto">
            <a:xfrm>
              <a:off x="1552" y="1148"/>
              <a:ext cx="1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3</a:t>
              </a:r>
            </a:p>
          </p:txBody>
        </p:sp>
        <p:sp>
          <p:nvSpPr>
            <p:cNvPr id="429103" name="Text Box 47"/>
            <p:cNvSpPr txBox="1">
              <a:spLocks noChangeArrowheads="1"/>
            </p:cNvSpPr>
            <p:nvPr/>
          </p:nvSpPr>
          <p:spPr bwMode="auto">
            <a:xfrm>
              <a:off x="406" y="1423"/>
              <a:ext cx="1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4</a:t>
              </a:r>
            </a:p>
          </p:txBody>
        </p:sp>
        <p:sp>
          <p:nvSpPr>
            <p:cNvPr id="429104" name="Text Box 48"/>
            <p:cNvSpPr txBox="1">
              <a:spLocks noChangeArrowheads="1"/>
            </p:cNvSpPr>
            <p:nvPr/>
          </p:nvSpPr>
          <p:spPr bwMode="auto">
            <a:xfrm>
              <a:off x="992" y="1423"/>
              <a:ext cx="1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5</a:t>
              </a:r>
            </a:p>
          </p:txBody>
        </p:sp>
        <p:sp>
          <p:nvSpPr>
            <p:cNvPr id="429105" name="Text Box 49"/>
            <p:cNvSpPr txBox="1">
              <a:spLocks noChangeArrowheads="1"/>
            </p:cNvSpPr>
            <p:nvPr/>
          </p:nvSpPr>
          <p:spPr bwMode="auto">
            <a:xfrm>
              <a:off x="1237" y="1423"/>
              <a:ext cx="1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6</a:t>
              </a:r>
            </a:p>
          </p:txBody>
        </p:sp>
        <p:sp>
          <p:nvSpPr>
            <p:cNvPr id="429106" name="Text Box 50"/>
            <p:cNvSpPr txBox="1">
              <a:spLocks noChangeArrowheads="1"/>
            </p:cNvSpPr>
            <p:nvPr/>
          </p:nvSpPr>
          <p:spPr bwMode="auto">
            <a:xfrm>
              <a:off x="1824" y="1423"/>
              <a:ext cx="1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7</a:t>
              </a:r>
            </a:p>
          </p:txBody>
        </p:sp>
        <p:sp>
          <p:nvSpPr>
            <p:cNvPr id="429107" name="Text Box 51"/>
            <p:cNvSpPr txBox="1">
              <a:spLocks noChangeArrowheads="1"/>
            </p:cNvSpPr>
            <p:nvPr/>
          </p:nvSpPr>
          <p:spPr bwMode="auto">
            <a:xfrm>
              <a:off x="150" y="1664"/>
              <a:ext cx="1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8</a:t>
              </a:r>
            </a:p>
          </p:txBody>
        </p:sp>
        <p:sp>
          <p:nvSpPr>
            <p:cNvPr id="429108" name="Text Box 52"/>
            <p:cNvSpPr txBox="1">
              <a:spLocks noChangeArrowheads="1"/>
            </p:cNvSpPr>
            <p:nvPr/>
          </p:nvSpPr>
          <p:spPr bwMode="auto">
            <a:xfrm>
              <a:off x="603" y="1664"/>
              <a:ext cx="1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9</a:t>
              </a:r>
            </a:p>
          </p:txBody>
        </p:sp>
        <p:sp>
          <p:nvSpPr>
            <p:cNvPr id="429109" name="Text Box 53"/>
            <p:cNvSpPr txBox="1">
              <a:spLocks noChangeArrowheads="1"/>
            </p:cNvSpPr>
            <p:nvPr/>
          </p:nvSpPr>
          <p:spPr bwMode="auto">
            <a:xfrm>
              <a:off x="808" y="1664"/>
              <a:ext cx="204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10</a:t>
              </a:r>
            </a:p>
          </p:txBody>
        </p:sp>
      </p:grpSp>
      <p:grpSp>
        <p:nvGrpSpPr>
          <p:cNvPr id="429110" name="Group 54"/>
          <p:cNvGrpSpPr>
            <a:grpSpLocks/>
          </p:cNvGrpSpPr>
          <p:nvPr/>
        </p:nvGrpSpPr>
        <p:grpSpPr bwMode="auto">
          <a:xfrm>
            <a:off x="217488" y="4279900"/>
            <a:ext cx="2943225" cy="2044700"/>
            <a:chOff x="137" y="2528"/>
            <a:chExt cx="1854" cy="1288"/>
          </a:xfrm>
        </p:grpSpPr>
        <p:sp>
          <p:nvSpPr>
            <p:cNvPr id="429111" name="Line 55"/>
            <p:cNvSpPr>
              <a:spLocks noChangeAspect="1" noChangeShapeType="1"/>
            </p:cNvSpPr>
            <p:nvPr/>
          </p:nvSpPr>
          <p:spPr bwMode="auto">
            <a:xfrm flipV="1">
              <a:off x="851" y="3466"/>
              <a:ext cx="259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9112" name="Line 56"/>
            <p:cNvSpPr>
              <a:spLocks noChangeAspect="1" noChangeShapeType="1"/>
            </p:cNvSpPr>
            <p:nvPr/>
          </p:nvSpPr>
          <p:spPr bwMode="auto">
            <a:xfrm flipV="1">
              <a:off x="1318" y="3179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9113" name="Line 57"/>
            <p:cNvSpPr>
              <a:spLocks noChangeAspect="1" noChangeShapeType="1"/>
            </p:cNvSpPr>
            <p:nvPr/>
          </p:nvSpPr>
          <p:spPr bwMode="auto">
            <a:xfrm rot="16200000" flipV="1">
              <a:off x="417" y="3424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9114" name="Line 58"/>
            <p:cNvSpPr>
              <a:spLocks noChangeAspect="1" noChangeShapeType="1"/>
            </p:cNvSpPr>
            <p:nvPr/>
          </p:nvSpPr>
          <p:spPr bwMode="auto">
            <a:xfrm rot="16200000" flipV="1">
              <a:off x="758" y="3174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9115" name="Line 59"/>
            <p:cNvSpPr>
              <a:spLocks noChangeAspect="1" noChangeShapeType="1"/>
            </p:cNvSpPr>
            <p:nvPr/>
          </p:nvSpPr>
          <p:spPr bwMode="auto">
            <a:xfrm rot="16200000" flipV="1">
              <a:off x="1154" y="2722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9116" name="Line 60"/>
            <p:cNvSpPr>
              <a:spLocks noChangeShapeType="1"/>
            </p:cNvSpPr>
            <p:nvPr/>
          </p:nvSpPr>
          <p:spPr bwMode="auto">
            <a:xfrm flipV="1">
              <a:off x="243" y="2750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9117" name="Oval 61"/>
            <p:cNvSpPr>
              <a:spLocks noChangeArrowheads="1"/>
            </p:cNvSpPr>
            <p:nvPr/>
          </p:nvSpPr>
          <p:spPr bwMode="auto">
            <a:xfrm>
              <a:off x="387" y="3364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14</a:t>
              </a:r>
            </a:p>
          </p:txBody>
        </p:sp>
        <p:sp>
          <p:nvSpPr>
            <p:cNvPr id="429118" name="Oval 62"/>
            <p:cNvSpPr>
              <a:spLocks noChangeArrowheads="1"/>
            </p:cNvSpPr>
            <p:nvPr/>
          </p:nvSpPr>
          <p:spPr bwMode="auto">
            <a:xfrm>
              <a:off x="137" y="3614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2</a:t>
              </a:r>
            </a:p>
          </p:txBody>
        </p:sp>
        <p:sp>
          <p:nvSpPr>
            <p:cNvPr id="429119" name="Oval 63"/>
            <p:cNvSpPr>
              <a:spLocks noChangeArrowheads="1"/>
            </p:cNvSpPr>
            <p:nvPr/>
          </p:nvSpPr>
          <p:spPr bwMode="auto">
            <a:xfrm>
              <a:off x="579" y="3614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8</a:t>
              </a:r>
            </a:p>
          </p:txBody>
        </p:sp>
        <p:sp>
          <p:nvSpPr>
            <p:cNvPr id="429120" name="Oval 64"/>
            <p:cNvSpPr>
              <a:spLocks noChangeArrowheads="1"/>
            </p:cNvSpPr>
            <p:nvPr/>
          </p:nvSpPr>
          <p:spPr bwMode="auto">
            <a:xfrm>
              <a:off x="675" y="3086"/>
              <a:ext cx="202" cy="20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DD011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1</a:t>
              </a:r>
            </a:p>
          </p:txBody>
        </p:sp>
        <p:sp>
          <p:nvSpPr>
            <p:cNvPr id="429121" name="Oval 65"/>
            <p:cNvSpPr>
              <a:spLocks noChangeArrowheads="1"/>
            </p:cNvSpPr>
            <p:nvPr/>
          </p:nvSpPr>
          <p:spPr bwMode="auto">
            <a:xfrm>
              <a:off x="963" y="3364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16</a:t>
              </a:r>
            </a:p>
          </p:txBody>
        </p:sp>
        <p:sp>
          <p:nvSpPr>
            <p:cNvPr id="429122" name="Oval 66"/>
            <p:cNvSpPr>
              <a:spLocks noChangeArrowheads="1"/>
            </p:cNvSpPr>
            <p:nvPr/>
          </p:nvSpPr>
          <p:spPr bwMode="auto">
            <a:xfrm>
              <a:off x="819" y="3614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7</a:t>
              </a:r>
            </a:p>
          </p:txBody>
        </p:sp>
        <p:sp>
          <p:nvSpPr>
            <p:cNvPr id="429123" name="Oval 67"/>
            <p:cNvSpPr>
              <a:spLocks noChangeArrowheads="1"/>
            </p:cNvSpPr>
            <p:nvPr/>
          </p:nvSpPr>
          <p:spPr bwMode="auto">
            <a:xfrm>
              <a:off x="1131" y="2654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4</a:t>
              </a:r>
            </a:p>
          </p:txBody>
        </p:sp>
        <p:sp>
          <p:nvSpPr>
            <p:cNvPr id="429124" name="Oval 68"/>
            <p:cNvSpPr>
              <a:spLocks noChangeArrowheads="1"/>
            </p:cNvSpPr>
            <p:nvPr/>
          </p:nvSpPr>
          <p:spPr bwMode="auto">
            <a:xfrm>
              <a:off x="1537" y="3086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10</a:t>
              </a:r>
            </a:p>
          </p:txBody>
        </p:sp>
        <p:sp>
          <p:nvSpPr>
            <p:cNvPr id="429125" name="Oval 69"/>
            <p:cNvSpPr>
              <a:spLocks noChangeArrowheads="1"/>
            </p:cNvSpPr>
            <p:nvPr/>
          </p:nvSpPr>
          <p:spPr bwMode="auto">
            <a:xfrm>
              <a:off x="1213" y="3364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9</a:t>
              </a:r>
            </a:p>
          </p:txBody>
        </p:sp>
        <p:sp>
          <p:nvSpPr>
            <p:cNvPr id="429126" name="Oval 70"/>
            <p:cNvSpPr>
              <a:spLocks noChangeArrowheads="1"/>
            </p:cNvSpPr>
            <p:nvPr/>
          </p:nvSpPr>
          <p:spPr bwMode="auto">
            <a:xfrm>
              <a:off x="1789" y="3364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3</a:t>
              </a:r>
            </a:p>
          </p:txBody>
        </p:sp>
        <p:sp>
          <p:nvSpPr>
            <p:cNvPr id="429127" name="Text Box 71"/>
            <p:cNvSpPr txBox="1">
              <a:spLocks noChangeArrowheads="1"/>
            </p:cNvSpPr>
            <p:nvPr/>
          </p:nvSpPr>
          <p:spPr bwMode="auto">
            <a:xfrm>
              <a:off x="1152" y="2528"/>
              <a:ext cx="1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1</a:t>
              </a:r>
            </a:p>
          </p:txBody>
        </p:sp>
        <p:sp>
          <p:nvSpPr>
            <p:cNvPr id="429128" name="Text Box 72"/>
            <p:cNvSpPr txBox="1">
              <a:spLocks noChangeArrowheads="1"/>
            </p:cNvSpPr>
            <p:nvPr/>
          </p:nvSpPr>
          <p:spPr bwMode="auto">
            <a:xfrm>
              <a:off x="699" y="2961"/>
              <a:ext cx="1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2</a:t>
              </a:r>
            </a:p>
          </p:txBody>
        </p:sp>
        <p:sp>
          <p:nvSpPr>
            <p:cNvPr id="429129" name="Text Box 73"/>
            <p:cNvSpPr txBox="1">
              <a:spLocks noChangeArrowheads="1"/>
            </p:cNvSpPr>
            <p:nvPr/>
          </p:nvSpPr>
          <p:spPr bwMode="auto">
            <a:xfrm>
              <a:off x="1552" y="2961"/>
              <a:ext cx="1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3</a:t>
              </a:r>
            </a:p>
          </p:txBody>
        </p:sp>
        <p:sp>
          <p:nvSpPr>
            <p:cNvPr id="429130" name="Text Box 74"/>
            <p:cNvSpPr txBox="1">
              <a:spLocks noChangeArrowheads="1"/>
            </p:cNvSpPr>
            <p:nvPr/>
          </p:nvSpPr>
          <p:spPr bwMode="auto">
            <a:xfrm>
              <a:off x="406" y="3236"/>
              <a:ext cx="1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4</a:t>
              </a:r>
            </a:p>
          </p:txBody>
        </p:sp>
        <p:sp>
          <p:nvSpPr>
            <p:cNvPr id="429131" name="Text Box 75"/>
            <p:cNvSpPr txBox="1">
              <a:spLocks noChangeArrowheads="1"/>
            </p:cNvSpPr>
            <p:nvPr/>
          </p:nvSpPr>
          <p:spPr bwMode="auto">
            <a:xfrm>
              <a:off x="992" y="3236"/>
              <a:ext cx="1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5</a:t>
              </a:r>
            </a:p>
          </p:txBody>
        </p:sp>
        <p:sp>
          <p:nvSpPr>
            <p:cNvPr id="429132" name="Text Box 76"/>
            <p:cNvSpPr txBox="1">
              <a:spLocks noChangeArrowheads="1"/>
            </p:cNvSpPr>
            <p:nvPr/>
          </p:nvSpPr>
          <p:spPr bwMode="auto">
            <a:xfrm>
              <a:off x="1237" y="3236"/>
              <a:ext cx="1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6</a:t>
              </a:r>
            </a:p>
          </p:txBody>
        </p:sp>
        <p:sp>
          <p:nvSpPr>
            <p:cNvPr id="429133" name="Text Box 77"/>
            <p:cNvSpPr txBox="1">
              <a:spLocks noChangeArrowheads="1"/>
            </p:cNvSpPr>
            <p:nvPr/>
          </p:nvSpPr>
          <p:spPr bwMode="auto">
            <a:xfrm>
              <a:off x="1824" y="3236"/>
              <a:ext cx="1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7</a:t>
              </a:r>
            </a:p>
          </p:txBody>
        </p:sp>
        <p:sp>
          <p:nvSpPr>
            <p:cNvPr id="429134" name="Text Box 78"/>
            <p:cNvSpPr txBox="1">
              <a:spLocks noChangeArrowheads="1"/>
            </p:cNvSpPr>
            <p:nvPr/>
          </p:nvSpPr>
          <p:spPr bwMode="auto">
            <a:xfrm>
              <a:off x="150" y="3477"/>
              <a:ext cx="1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8</a:t>
              </a:r>
            </a:p>
          </p:txBody>
        </p:sp>
        <p:sp>
          <p:nvSpPr>
            <p:cNvPr id="429135" name="Text Box 79"/>
            <p:cNvSpPr txBox="1">
              <a:spLocks noChangeArrowheads="1"/>
            </p:cNvSpPr>
            <p:nvPr/>
          </p:nvSpPr>
          <p:spPr bwMode="auto">
            <a:xfrm>
              <a:off x="603" y="3477"/>
              <a:ext cx="1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9</a:t>
              </a:r>
            </a:p>
          </p:txBody>
        </p:sp>
        <p:sp>
          <p:nvSpPr>
            <p:cNvPr id="429136" name="Text Box 80"/>
            <p:cNvSpPr txBox="1">
              <a:spLocks noChangeArrowheads="1"/>
            </p:cNvSpPr>
            <p:nvPr/>
          </p:nvSpPr>
          <p:spPr bwMode="auto">
            <a:xfrm>
              <a:off x="808" y="3477"/>
              <a:ext cx="204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10</a:t>
              </a:r>
            </a:p>
          </p:txBody>
        </p:sp>
      </p:grpSp>
      <p:grpSp>
        <p:nvGrpSpPr>
          <p:cNvPr id="429137" name="Group 81"/>
          <p:cNvGrpSpPr>
            <a:grpSpLocks/>
          </p:cNvGrpSpPr>
          <p:nvPr/>
        </p:nvGrpSpPr>
        <p:grpSpPr bwMode="auto">
          <a:xfrm>
            <a:off x="3087688" y="1524000"/>
            <a:ext cx="2943225" cy="2044700"/>
            <a:chOff x="1940" y="715"/>
            <a:chExt cx="1854" cy="1288"/>
          </a:xfrm>
        </p:grpSpPr>
        <p:sp>
          <p:nvSpPr>
            <p:cNvPr id="429138" name="Line 82"/>
            <p:cNvSpPr>
              <a:spLocks noChangeAspect="1" noChangeShapeType="1"/>
            </p:cNvSpPr>
            <p:nvPr/>
          </p:nvSpPr>
          <p:spPr bwMode="auto">
            <a:xfrm flipV="1">
              <a:off x="2654" y="1653"/>
              <a:ext cx="259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9139" name="Line 83"/>
            <p:cNvSpPr>
              <a:spLocks noChangeAspect="1" noChangeShapeType="1"/>
            </p:cNvSpPr>
            <p:nvPr/>
          </p:nvSpPr>
          <p:spPr bwMode="auto">
            <a:xfrm flipV="1">
              <a:off x="3121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9140" name="Line 84"/>
            <p:cNvSpPr>
              <a:spLocks noChangeAspect="1" noChangeShapeType="1"/>
            </p:cNvSpPr>
            <p:nvPr/>
          </p:nvSpPr>
          <p:spPr bwMode="auto">
            <a:xfrm rot="16200000" flipV="1">
              <a:off x="2220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9141" name="Line 85"/>
            <p:cNvSpPr>
              <a:spLocks noChangeAspect="1" noChangeShapeType="1"/>
            </p:cNvSpPr>
            <p:nvPr/>
          </p:nvSpPr>
          <p:spPr bwMode="auto">
            <a:xfrm rot="16200000" flipV="1">
              <a:off x="2561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9142" name="Line 86"/>
            <p:cNvSpPr>
              <a:spLocks noChangeAspect="1" noChangeShapeType="1"/>
            </p:cNvSpPr>
            <p:nvPr/>
          </p:nvSpPr>
          <p:spPr bwMode="auto">
            <a:xfrm rot="16200000" flipV="1">
              <a:off x="2957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9143" name="Line 87"/>
            <p:cNvSpPr>
              <a:spLocks noChangeShapeType="1"/>
            </p:cNvSpPr>
            <p:nvPr/>
          </p:nvSpPr>
          <p:spPr bwMode="auto">
            <a:xfrm flipV="1">
              <a:off x="2046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9144" name="Oval 88"/>
            <p:cNvSpPr>
              <a:spLocks noChangeArrowheads="1"/>
            </p:cNvSpPr>
            <p:nvPr/>
          </p:nvSpPr>
          <p:spPr bwMode="auto">
            <a:xfrm>
              <a:off x="2190" y="1551"/>
              <a:ext cx="202" cy="20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DD011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2</a:t>
              </a:r>
            </a:p>
          </p:txBody>
        </p:sp>
        <p:sp>
          <p:nvSpPr>
            <p:cNvPr id="429145" name="Oval 89"/>
            <p:cNvSpPr>
              <a:spLocks noChangeArrowheads="1"/>
            </p:cNvSpPr>
            <p:nvPr/>
          </p:nvSpPr>
          <p:spPr bwMode="auto">
            <a:xfrm>
              <a:off x="1940" y="180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14</a:t>
              </a:r>
            </a:p>
          </p:txBody>
        </p:sp>
        <p:sp>
          <p:nvSpPr>
            <p:cNvPr id="429146" name="Oval 90"/>
            <p:cNvSpPr>
              <a:spLocks noChangeArrowheads="1"/>
            </p:cNvSpPr>
            <p:nvPr/>
          </p:nvSpPr>
          <p:spPr bwMode="auto">
            <a:xfrm>
              <a:off x="2382" y="180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8</a:t>
              </a:r>
            </a:p>
          </p:txBody>
        </p:sp>
        <p:sp>
          <p:nvSpPr>
            <p:cNvPr id="429147" name="Oval 91"/>
            <p:cNvSpPr>
              <a:spLocks noChangeArrowheads="1"/>
            </p:cNvSpPr>
            <p:nvPr/>
          </p:nvSpPr>
          <p:spPr bwMode="auto">
            <a:xfrm>
              <a:off x="2478" y="1273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1</a:t>
              </a:r>
            </a:p>
          </p:txBody>
        </p:sp>
        <p:sp>
          <p:nvSpPr>
            <p:cNvPr id="429148" name="Oval 92"/>
            <p:cNvSpPr>
              <a:spLocks noChangeArrowheads="1"/>
            </p:cNvSpPr>
            <p:nvPr/>
          </p:nvSpPr>
          <p:spPr bwMode="auto">
            <a:xfrm>
              <a:off x="2766" y="155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16</a:t>
              </a:r>
            </a:p>
          </p:txBody>
        </p:sp>
        <p:sp>
          <p:nvSpPr>
            <p:cNvPr id="429149" name="Oval 93"/>
            <p:cNvSpPr>
              <a:spLocks noChangeArrowheads="1"/>
            </p:cNvSpPr>
            <p:nvPr/>
          </p:nvSpPr>
          <p:spPr bwMode="auto">
            <a:xfrm>
              <a:off x="2622" y="180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7</a:t>
              </a:r>
            </a:p>
          </p:txBody>
        </p:sp>
        <p:sp>
          <p:nvSpPr>
            <p:cNvPr id="429150" name="Oval 94"/>
            <p:cNvSpPr>
              <a:spLocks noChangeArrowheads="1"/>
            </p:cNvSpPr>
            <p:nvPr/>
          </p:nvSpPr>
          <p:spPr bwMode="auto">
            <a:xfrm>
              <a:off x="2934" y="84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4</a:t>
              </a:r>
            </a:p>
          </p:txBody>
        </p:sp>
        <p:sp>
          <p:nvSpPr>
            <p:cNvPr id="429151" name="Oval 95"/>
            <p:cNvSpPr>
              <a:spLocks noChangeArrowheads="1"/>
            </p:cNvSpPr>
            <p:nvPr/>
          </p:nvSpPr>
          <p:spPr bwMode="auto">
            <a:xfrm>
              <a:off x="3340" y="1273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3</a:t>
              </a:r>
            </a:p>
          </p:txBody>
        </p:sp>
        <p:sp>
          <p:nvSpPr>
            <p:cNvPr id="429152" name="Oval 96"/>
            <p:cNvSpPr>
              <a:spLocks noChangeArrowheads="1"/>
            </p:cNvSpPr>
            <p:nvPr/>
          </p:nvSpPr>
          <p:spPr bwMode="auto">
            <a:xfrm>
              <a:off x="3016" y="155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9</a:t>
              </a:r>
            </a:p>
          </p:txBody>
        </p:sp>
        <p:sp>
          <p:nvSpPr>
            <p:cNvPr id="429153" name="Oval 97"/>
            <p:cNvSpPr>
              <a:spLocks noChangeArrowheads="1"/>
            </p:cNvSpPr>
            <p:nvPr/>
          </p:nvSpPr>
          <p:spPr bwMode="auto">
            <a:xfrm>
              <a:off x="3592" y="155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10</a:t>
              </a:r>
            </a:p>
          </p:txBody>
        </p:sp>
        <p:sp>
          <p:nvSpPr>
            <p:cNvPr id="429154" name="Text Box 98"/>
            <p:cNvSpPr txBox="1">
              <a:spLocks noChangeArrowheads="1"/>
            </p:cNvSpPr>
            <p:nvPr/>
          </p:nvSpPr>
          <p:spPr bwMode="auto">
            <a:xfrm>
              <a:off x="2955" y="715"/>
              <a:ext cx="1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1</a:t>
              </a:r>
            </a:p>
          </p:txBody>
        </p:sp>
        <p:sp>
          <p:nvSpPr>
            <p:cNvPr id="429155" name="Text Box 99"/>
            <p:cNvSpPr txBox="1">
              <a:spLocks noChangeArrowheads="1"/>
            </p:cNvSpPr>
            <p:nvPr/>
          </p:nvSpPr>
          <p:spPr bwMode="auto">
            <a:xfrm>
              <a:off x="2502" y="1148"/>
              <a:ext cx="1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2</a:t>
              </a:r>
            </a:p>
          </p:txBody>
        </p:sp>
        <p:sp>
          <p:nvSpPr>
            <p:cNvPr id="429156" name="Text Box 100"/>
            <p:cNvSpPr txBox="1">
              <a:spLocks noChangeArrowheads="1"/>
            </p:cNvSpPr>
            <p:nvPr/>
          </p:nvSpPr>
          <p:spPr bwMode="auto">
            <a:xfrm>
              <a:off x="3355" y="1148"/>
              <a:ext cx="1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3</a:t>
              </a:r>
            </a:p>
          </p:txBody>
        </p:sp>
        <p:sp>
          <p:nvSpPr>
            <p:cNvPr id="429157" name="Text Box 101"/>
            <p:cNvSpPr txBox="1">
              <a:spLocks noChangeArrowheads="1"/>
            </p:cNvSpPr>
            <p:nvPr/>
          </p:nvSpPr>
          <p:spPr bwMode="auto">
            <a:xfrm>
              <a:off x="2209" y="1423"/>
              <a:ext cx="1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4</a:t>
              </a:r>
            </a:p>
          </p:txBody>
        </p:sp>
        <p:sp>
          <p:nvSpPr>
            <p:cNvPr id="429158" name="Text Box 102"/>
            <p:cNvSpPr txBox="1">
              <a:spLocks noChangeArrowheads="1"/>
            </p:cNvSpPr>
            <p:nvPr/>
          </p:nvSpPr>
          <p:spPr bwMode="auto">
            <a:xfrm>
              <a:off x="2795" y="1423"/>
              <a:ext cx="1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5</a:t>
              </a:r>
            </a:p>
          </p:txBody>
        </p:sp>
        <p:sp>
          <p:nvSpPr>
            <p:cNvPr id="429159" name="Text Box 103"/>
            <p:cNvSpPr txBox="1">
              <a:spLocks noChangeArrowheads="1"/>
            </p:cNvSpPr>
            <p:nvPr/>
          </p:nvSpPr>
          <p:spPr bwMode="auto">
            <a:xfrm>
              <a:off x="3040" y="1423"/>
              <a:ext cx="1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6</a:t>
              </a:r>
            </a:p>
          </p:txBody>
        </p:sp>
        <p:sp>
          <p:nvSpPr>
            <p:cNvPr id="429160" name="Text Box 104"/>
            <p:cNvSpPr txBox="1">
              <a:spLocks noChangeArrowheads="1"/>
            </p:cNvSpPr>
            <p:nvPr/>
          </p:nvSpPr>
          <p:spPr bwMode="auto">
            <a:xfrm>
              <a:off x="3627" y="1423"/>
              <a:ext cx="1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7</a:t>
              </a:r>
            </a:p>
          </p:txBody>
        </p:sp>
        <p:sp>
          <p:nvSpPr>
            <p:cNvPr id="429161" name="Text Box 105"/>
            <p:cNvSpPr txBox="1">
              <a:spLocks noChangeArrowheads="1"/>
            </p:cNvSpPr>
            <p:nvPr/>
          </p:nvSpPr>
          <p:spPr bwMode="auto">
            <a:xfrm>
              <a:off x="1953" y="1664"/>
              <a:ext cx="1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8</a:t>
              </a:r>
            </a:p>
          </p:txBody>
        </p:sp>
        <p:sp>
          <p:nvSpPr>
            <p:cNvPr id="429162" name="Text Box 106"/>
            <p:cNvSpPr txBox="1">
              <a:spLocks noChangeArrowheads="1"/>
            </p:cNvSpPr>
            <p:nvPr/>
          </p:nvSpPr>
          <p:spPr bwMode="auto">
            <a:xfrm>
              <a:off x="2406" y="1664"/>
              <a:ext cx="1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9</a:t>
              </a:r>
            </a:p>
          </p:txBody>
        </p:sp>
        <p:sp>
          <p:nvSpPr>
            <p:cNvPr id="429163" name="Text Box 107"/>
            <p:cNvSpPr txBox="1">
              <a:spLocks noChangeArrowheads="1"/>
            </p:cNvSpPr>
            <p:nvPr/>
          </p:nvSpPr>
          <p:spPr bwMode="auto">
            <a:xfrm>
              <a:off x="2611" y="1664"/>
              <a:ext cx="204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10</a:t>
              </a:r>
            </a:p>
          </p:txBody>
        </p:sp>
      </p:grpSp>
      <p:grpSp>
        <p:nvGrpSpPr>
          <p:cNvPr id="429164" name="Group 108"/>
          <p:cNvGrpSpPr>
            <a:grpSpLocks/>
          </p:cNvGrpSpPr>
          <p:nvPr/>
        </p:nvGrpSpPr>
        <p:grpSpPr bwMode="auto">
          <a:xfrm>
            <a:off x="5949950" y="1524000"/>
            <a:ext cx="2943225" cy="2044700"/>
            <a:chOff x="3743" y="715"/>
            <a:chExt cx="1854" cy="1288"/>
          </a:xfrm>
        </p:grpSpPr>
        <p:sp>
          <p:nvSpPr>
            <p:cNvPr id="429165" name="Line 109"/>
            <p:cNvSpPr>
              <a:spLocks noChangeAspect="1" noChangeShapeType="1"/>
            </p:cNvSpPr>
            <p:nvPr/>
          </p:nvSpPr>
          <p:spPr bwMode="auto">
            <a:xfrm flipV="1">
              <a:off x="4457" y="1653"/>
              <a:ext cx="259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9166" name="Line 110"/>
            <p:cNvSpPr>
              <a:spLocks noChangeAspect="1" noChangeShapeType="1"/>
            </p:cNvSpPr>
            <p:nvPr/>
          </p:nvSpPr>
          <p:spPr bwMode="auto">
            <a:xfrm flipV="1">
              <a:off x="4924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9167" name="Line 111"/>
            <p:cNvSpPr>
              <a:spLocks noChangeAspect="1" noChangeShapeType="1"/>
            </p:cNvSpPr>
            <p:nvPr/>
          </p:nvSpPr>
          <p:spPr bwMode="auto">
            <a:xfrm rot="16200000" flipV="1">
              <a:off x="4023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9168" name="Line 112"/>
            <p:cNvSpPr>
              <a:spLocks noChangeAspect="1" noChangeShapeType="1"/>
            </p:cNvSpPr>
            <p:nvPr/>
          </p:nvSpPr>
          <p:spPr bwMode="auto">
            <a:xfrm rot="16200000" flipV="1">
              <a:off x="4364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9169" name="Line 113"/>
            <p:cNvSpPr>
              <a:spLocks noChangeAspect="1" noChangeShapeType="1"/>
            </p:cNvSpPr>
            <p:nvPr/>
          </p:nvSpPr>
          <p:spPr bwMode="auto">
            <a:xfrm rot="16200000" flipV="1">
              <a:off x="4760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9170" name="Line 114"/>
            <p:cNvSpPr>
              <a:spLocks noChangeShapeType="1"/>
            </p:cNvSpPr>
            <p:nvPr/>
          </p:nvSpPr>
          <p:spPr bwMode="auto">
            <a:xfrm flipV="1">
              <a:off x="3849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9171" name="Oval 115"/>
            <p:cNvSpPr>
              <a:spLocks noChangeArrowheads="1"/>
            </p:cNvSpPr>
            <p:nvPr/>
          </p:nvSpPr>
          <p:spPr bwMode="auto">
            <a:xfrm>
              <a:off x="3993" y="155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14</a:t>
              </a:r>
            </a:p>
          </p:txBody>
        </p:sp>
        <p:sp>
          <p:nvSpPr>
            <p:cNvPr id="429172" name="Oval 116"/>
            <p:cNvSpPr>
              <a:spLocks noChangeArrowheads="1"/>
            </p:cNvSpPr>
            <p:nvPr/>
          </p:nvSpPr>
          <p:spPr bwMode="auto">
            <a:xfrm>
              <a:off x="3743" y="180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2</a:t>
              </a:r>
            </a:p>
          </p:txBody>
        </p:sp>
        <p:sp>
          <p:nvSpPr>
            <p:cNvPr id="429173" name="Oval 117"/>
            <p:cNvSpPr>
              <a:spLocks noChangeArrowheads="1"/>
            </p:cNvSpPr>
            <p:nvPr/>
          </p:nvSpPr>
          <p:spPr bwMode="auto">
            <a:xfrm>
              <a:off x="4185" y="180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8</a:t>
              </a:r>
            </a:p>
          </p:txBody>
        </p:sp>
        <p:sp>
          <p:nvSpPr>
            <p:cNvPr id="429174" name="Oval 118"/>
            <p:cNvSpPr>
              <a:spLocks noChangeArrowheads="1"/>
            </p:cNvSpPr>
            <p:nvPr/>
          </p:nvSpPr>
          <p:spPr bwMode="auto">
            <a:xfrm>
              <a:off x="4281" y="1273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1</a:t>
              </a:r>
            </a:p>
          </p:txBody>
        </p:sp>
        <p:sp>
          <p:nvSpPr>
            <p:cNvPr id="429175" name="Oval 119"/>
            <p:cNvSpPr>
              <a:spLocks noChangeArrowheads="1"/>
            </p:cNvSpPr>
            <p:nvPr/>
          </p:nvSpPr>
          <p:spPr bwMode="auto">
            <a:xfrm>
              <a:off x="4569" y="155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16</a:t>
              </a:r>
            </a:p>
          </p:txBody>
        </p:sp>
        <p:sp>
          <p:nvSpPr>
            <p:cNvPr id="429176" name="Oval 120"/>
            <p:cNvSpPr>
              <a:spLocks noChangeArrowheads="1"/>
            </p:cNvSpPr>
            <p:nvPr/>
          </p:nvSpPr>
          <p:spPr bwMode="auto">
            <a:xfrm>
              <a:off x="4425" y="180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7</a:t>
              </a:r>
            </a:p>
          </p:txBody>
        </p:sp>
        <p:sp>
          <p:nvSpPr>
            <p:cNvPr id="429177" name="Oval 121"/>
            <p:cNvSpPr>
              <a:spLocks noChangeArrowheads="1"/>
            </p:cNvSpPr>
            <p:nvPr/>
          </p:nvSpPr>
          <p:spPr bwMode="auto">
            <a:xfrm>
              <a:off x="4737" y="84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4</a:t>
              </a:r>
            </a:p>
          </p:txBody>
        </p:sp>
        <p:sp>
          <p:nvSpPr>
            <p:cNvPr id="429178" name="Oval 122"/>
            <p:cNvSpPr>
              <a:spLocks noChangeArrowheads="1"/>
            </p:cNvSpPr>
            <p:nvPr/>
          </p:nvSpPr>
          <p:spPr bwMode="auto">
            <a:xfrm>
              <a:off x="5143" y="1273"/>
              <a:ext cx="202" cy="20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DD011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3</a:t>
              </a:r>
            </a:p>
          </p:txBody>
        </p:sp>
        <p:sp>
          <p:nvSpPr>
            <p:cNvPr id="429179" name="Oval 123"/>
            <p:cNvSpPr>
              <a:spLocks noChangeArrowheads="1"/>
            </p:cNvSpPr>
            <p:nvPr/>
          </p:nvSpPr>
          <p:spPr bwMode="auto">
            <a:xfrm>
              <a:off x="4819" y="155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9</a:t>
              </a:r>
            </a:p>
          </p:txBody>
        </p:sp>
        <p:sp>
          <p:nvSpPr>
            <p:cNvPr id="429180" name="Oval 124"/>
            <p:cNvSpPr>
              <a:spLocks noChangeArrowheads="1"/>
            </p:cNvSpPr>
            <p:nvPr/>
          </p:nvSpPr>
          <p:spPr bwMode="auto">
            <a:xfrm>
              <a:off x="5395" y="155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10</a:t>
              </a:r>
            </a:p>
          </p:txBody>
        </p:sp>
        <p:sp>
          <p:nvSpPr>
            <p:cNvPr id="429181" name="Text Box 125"/>
            <p:cNvSpPr txBox="1">
              <a:spLocks noChangeArrowheads="1"/>
            </p:cNvSpPr>
            <p:nvPr/>
          </p:nvSpPr>
          <p:spPr bwMode="auto">
            <a:xfrm>
              <a:off x="4758" y="715"/>
              <a:ext cx="1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1</a:t>
              </a:r>
            </a:p>
          </p:txBody>
        </p:sp>
        <p:sp>
          <p:nvSpPr>
            <p:cNvPr id="429182" name="Text Box 126"/>
            <p:cNvSpPr txBox="1">
              <a:spLocks noChangeArrowheads="1"/>
            </p:cNvSpPr>
            <p:nvPr/>
          </p:nvSpPr>
          <p:spPr bwMode="auto">
            <a:xfrm>
              <a:off x="4305" y="1148"/>
              <a:ext cx="1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2</a:t>
              </a:r>
            </a:p>
          </p:txBody>
        </p:sp>
        <p:sp>
          <p:nvSpPr>
            <p:cNvPr id="429183" name="Text Box 127"/>
            <p:cNvSpPr txBox="1">
              <a:spLocks noChangeArrowheads="1"/>
            </p:cNvSpPr>
            <p:nvPr/>
          </p:nvSpPr>
          <p:spPr bwMode="auto">
            <a:xfrm>
              <a:off x="5158" y="1148"/>
              <a:ext cx="1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3</a:t>
              </a:r>
            </a:p>
          </p:txBody>
        </p:sp>
        <p:sp>
          <p:nvSpPr>
            <p:cNvPr id="429184" name="Text Box 128"/>
            <p:cNvSpPr txBox="1">
              <a:spLocks noChangeArrowheads="1"/>
            </p:cNvSpPr>
            <p:nvPr/>
          </p:nvSpPr>
          <p:spPr bwMode="auto">
            <a:xfrm>
              <a:off x="4012" y="1423"/>
              <a:ext cx="1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4</a:t>
              </a:r>
            </a:p>
          </p:txBody>
        </p:sp>
        <p:sp>
          <p:nvSpPr>
            <p:cNvPr id="429185" name="Text Box 129"/>
            <p:cNvSpPr txBox="1">
              <a:spLocks noChangeArrowheads="1"/>
            </p:cNvSpPr>
            <p:nvPr/>
          </p:nvSpPr>
          <p:spPr bwMode="auto">
            <a:xfrm>
              <a:off x="4598" y="1423"/>
              <a:ext cx="1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5</a:t>
              </a:r>
            </a:p>
          </p:txBody>
        </p:sp>
        <p:sp>
          <p:nvSpPr>
            <p:cNvPr id="429186" name="Text Box 130"/>
            <p:cNvSpPr txBox="1">
              <a:spLocks noChangeArrowheads="1"/>
            </p:cNvSpPr>
            <p:nvPr/>
          </p:nvSpPr>
          <p:spPr bwMode="auto">
            <a:xfrm>
              <a:off x="4843" y="1423"/>
              <a:ext cx="1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6</a:t>
              </a:r>
            </a:p>
          </p:txBody>
        </p:sp>
        <p:sp>
          <p:nvSpPr>
            <p:cNvPr id="429187" name="Text Box 131"/>
            <p:cNvSpPr txBox="1">
              <a:spLocks noChangeArrowheads="1"/>
            </p:cNvSpPr>
            <p:nvPr/>
          </p:nvSpPr>
          <p:spPr bwMode="auto">
            <a:xfrm>
              <a:off x="5430" y="1423"/>
              <a:ext cx="1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7</a:t>
              </a:r>
            </a:p>
          </p:txBody>
        </p:sp>
        <p:sp>
          <p:nvSpPr>
            <p:cNvPr id="429188" name="Text Box 132"/>
            <p:cNvSpPr txBox="1">
              <a:spLocks noChangeArrowheads="1"/>
            </p:cNvSpPr>
            <p:nvPr/>
          </p:nvSpPr>
          <p:spPr bwMode="auto">
            <a:xfrm>
              <a:off x="3756" y="1664"/>
              <a:ext cx="1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8</a:t>
              </a:r>
            </a:p>
          </p:txBody>
        </p:sp>
        <p:sp>
          <p:nvSpPr>
            <p:cNvPr id="429189" name="Text Box 133"/>
            <p:cNvSpPr txBox="1">
              <a:spLocks noChangeArrowheads="1"/>
            </p:cNvSpPr>
            <p:nvPr/>
          </p:nvSpPr>
          <p:spPr bwMode="auto">
            <a:xfrm>
              <a:off x="4209" y="1664"/>
              <a:ext cx="1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9</a:t>
              </a:r>
            </a:p>
          </p:txBody>
        </p:sp>
        <p:sp>
          <p:nvSpPr>
            <p:cNvPr id="429190" name="Text Box 134"/>
            <p:cNvSpPr txBox="1">
              <a:spLocks noChangeArrowheads="1"/>
            </p:cNvSpPr>
            <p:nvPr/>
          </p:nvSpPr>
          <p:spPr bwMode="auto">
            <a:xfrm>
              <a:off x="4414" y="1664"/>
              <a:ext cx="204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10</a:t>
              </a:r>
            </a:p>
          </p:txBody>
        </p:sp>
      </p:grpSp>
      <p:grpSp>
        <p:nvGrpSpPr>
          <p:cNvPr id="429191" name="Group 135"/>
          <p:cNvGrpSpPr>
            <a:grpSpLocks/>
          </p:cNvGrpSpPr>
          <p:nvPr/>
        </p:nvGrpSpPr>
        <p:grpSpPr bwMode="auto">
          <a:xfrm>
            <a:off x="3079750" y="4279900"/>
            <a:ext cx="2943225" cy="2044700"/>
            <a:chOff x="1940" y="2528"/>
            <a:chExt cx="1854" cy="1288"/>
          </a:xfrm>
        </p:grpSpPr>
        <p:sp>
          <p:nvSpPr>
            <p:cNvPr id="429192" name="Line 136"/>
            <p:cNvSpPr>
              <a:spLocks noChangeAspect="1" noChangeShapeType="1"/>
            </p:cNvSpPr>
            <p:nvPr/>
          </p:nvSpPr>
          <p:spPr bwMode="auto">
            <a:xfrm flipV="1">
              <a:off x="2654" y="3466"/>
              <a:ext cx="259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9193" name="Line 137"/>
            <p:cNvSpPr>
              <a:spLocks noChangeAspect="1" noChangeShapeType="1"/>
            </p:cNvSpPr>
            <p:nvPr/>
          </p:nvSpPr>
          <p:spPr bwMode="auto">
            <a:xfrm flipV="1">
              <a:off x="3121" y="3179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9194" name="Line 138"/>
            <p:cNvSpPr>
              <a:spLocks noChangeAspect="1" noChangeShapeType="1"/>
            </p:cNvSpPr>
            <p:nvPr/>
          </p:nvSpPr>
          <p:spPr bwMode="auto">
            <a:xfrm rot="16200000" flipV="1">
              <a:off x="2220" y="3424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9195" name="Line 139"/>
            <p:cNvSpPr>
              <a:spLocks noChangeAspect="1" noChangeShapeType="1"/>
            </p:cNvSpPr>
            <p:nvPr/>
          </p:nvSpPr>
          <p:spPr bwMode="auto">
            <a:xfrm rot="16200000" flipV="1">
              <a:off x="2561" y="3174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9196" name="Line 140"/>
            <p:cNvSpPr>
              <a:spLocks noChangeAspect="1" noChangeShapeType="1"/>
            </p:cNvSpPr>
            <p:nvPr/>
          </p:nvSpPr>
          <p:spPr bwMode="auto">
            <a:xfrm rot="16200000" flipV="1">
              <a:off x="2957" y="2722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9197" name="Line 141"/>
            <p:cNvSpPr>
              <a:spLocks noChangeShapeType="1"/>
            </p:cNvSpPr>
            <p:nvPr/>
          </p:nvSpPr>
          <p:spPr bwMode="auto">
            <a:xfrm flipV="1">
              <a:off x="2046" y="2750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9198" name="Oval 142"/>
            <p:cNvSpPr>
              <a:spLocks noChangeArrowheads="1"/>
            </p:cNvSpPr>
            <p:nvPr/>
          </p:nvSpPr>
          <p:spPr bwMode="auto">
            <a:xfrm>
              <a:off x="2190" y="3364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14</a:t>
              </a:r>
            </a:p>
          </p:txBody>
        </p:sp>
        <p:sp>
          <p:nvSpPr>
            <p:cNvPr id="429199" name="Oval 143"/>
            <p:cNvSpPr>
              <a:spLocks noChangeArrowheads="1"/>
            </p:cNvSpPr>
            <p:nvPr/>
          </p:nvSpPr>
          <p:spPr bwMode="auto">
            <a:xfrm>
              <a:off x="1940" y="3614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2</a:t>
              </a:r>
            </a:p>
          </p:txBody>
        </p:sp>
        <p:sp>
          <p:nvSpPr>
            <p:cNvPr id="429200" name="Oval 144"/>
            <p:cNvSpPr>
              <a:spLocks noChangeArrowheads="1"/>
            </p:cNvSpPr>
            <p:nvPr/>
          </p:nvSpPr>
          <p:spPr bwMode="auto">
            <a:xfrm>
              <a:off x="2382" y="3614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8</a:t>
              </a:r>
            </a:p>
          </p:txBody>
        </p:sp>
        <p:sp>
          <p:nvSpPr>
            <p:cNvPr id="429201" name="Oval 145"/>
            <p:cNvSpPr>
              <a:spLocks noChangeArrowheads="1"/>
            </p:cNvSpPr>
            <p:nvPr/>
          </p:nvSpPr>
          <p:spPr bwMode="auto">
            <a:xfrm>
              <a:off x="2478" y="3086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16</a:t>
              </a:r>
            </a:p>
          </p:txBody>
        </p:sp>
        <p:sp>
          <p:nvSpPr>
            <p:cNvPr id="429202" name="Oval 146"/>
            <p:cNvSpPr>
              <a:spLocks noChangeArrowheads="1"/>
            </p:cNvSpPr>
            <p:nvPr/>
          </p:nvSpPr>
          <p:spPr bwMode="auto">
            <a:xfrm>
              <a:off x="2766" y="3364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7</a:t>
              </a:r>
            </a:p>
          </p:txBody>
        </p:sp>
        <p:sp>
          <p:nvSpPr>
            <p:cNvPr id="429203" name="Oval 147"/>
            <p:cNvSpPr>
              <a:spLocks noChangeArrowheads="1"/>
            </p:cNvSpPr>
            <p:nvPr/>
          </p:nvSpPr>
          <p:spPr bwMode="auto">
            <a:xfrm>
              <a:off x="2622" y="3614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1</a:t>
              </a:r>
            </a:p>
          </p:txBody>
        </p:sp>
        <p:sp>
          <p:nvSpPr>
            <p:cNvPr id="429204" name="Oval 148"/>
            <p:cNvSpPr>
              <a:spLocks noChangeArrowheads="1"/>
            </p:cNvSpPr>
            <p:nvPr/>
          </p:nvSpPr>
          <p:spPr bwMode="auto">
            <a:xfrm>
              <a:off x="2934" y="2654"/>
              <a:ext cx="202" cy="20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DD011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4</a:t>
              </a:r>
            </a:p>
          </p:txBody>
        </p:sp>
        <p:sp>
          <p:nvSpPr>
            <p:cNvPr id="429205" name="Oval 149"/>
            <p:cNvSpPr>
              <a:spLocks noChangeArrowheads="1"/>
            </p:cNvSpPr>
            <p:nvPr/>
          </p:nvSpPr>
          <p:spPr bwMode="auto">
            <a:xfrm>
              <a:off x="3340" y="3086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10</a:t>
              </a:r>
            </a:p>
          </p:txBody>
        </p:sp>
        <p:sp>
          <p:nvSpPr>
            <p:cNvPr id="429206" name="Oval 150"/>
            <p:cNvSpPr>
              <a:spLocks noChangeArrowheads="1"/>
            </p:cNvSpPr>
            <p:nvPr/>
          </p:nvSpPr>
          <p:spPr bwMode="auto">
            <a:xfrm>
              <a:off x="3016" y="3364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9</a:t>
              </a:r>
            </a:p>
          </p:txBody>
        </p:sp>
        <p:sp>
          <p:nvSpPr>
            <p:cNvPr id="429207" name="Oval 151"/>
            <p:cNvSpPr>
              <a:spLocks noChangeArrowheads="1"/>
            </p:cNvSpPr>
            <p:nvPr/>
          </p:nvSpPr>
          <p:spPr bwMode="auto">
            <a:xfrm>
              <a:off x="3592" y="3364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3</a:t>
              </a:r>
            </a:p>
          </p:txBody>
        </p:sp>
        <p:sp>
          <p:nvSpPr>
            <p:cNvPr id="429208" name="Text Box 152"/>
            <p:cNvSpPr txBox="1">
              <a:spLocks noChangeArrowheads="1"/>
            </p:cNvSpPr>
            <p:nvPr/>
          </p:nvSpPr>
          <p:spPr bwMode="auto">
            <a:xfrm>
              <a:off x="2955" y="2528"/>
              <a:ext cx="1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1</a:t>
              </a:r>
            </a:p>
          </p:txBody>
        </p:sp>
        <p:sp>
          <p:nvSpPr>
            <p:cNvPr id="429209" name="Text Box 153"/>
            <p:cNvSpPr txBox="1">
              <a:spLocks noChangeArrowheads="1"/>
            </p:cNvSpPr>
            <p:nvPr/>
          </p:nvSpPr>
          <p:spPr bwMode="auto">
            <a:xfrm>
              <a:off x="2502" y="2961"/>
              <a:ext cx="1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2</a:t>
              </a:r>
            </a:p>
          </p:txBody>
        </p:sp>
        <p:sp>
          <p:nvSpPr>
            <p:cNvPr id="429210" name="Text Box 154"/>
            <p:cNvSpPr txBox="1">
              <a:spLocks noChangeArrowheads="1"/>
            </p:cNvSpPr>
            <p:nvPr/>
          </p:nvSpPr>
          <p:spPr bwMode="auto">
            <a:xfrm>
              <a:off x="3355" y="2961"/>
              <a:ext cx="1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3</a:t>
              </a:r>
            </a:p>
          </p:txBody>
        </p:sp>
        <p:sp>
          <p:nvSpPr>
            <p:cNvPr id="429211" name="Text Box 155"/>
            <p:cNvSpPr txBox="1">
              <a:spLocks noChangeArrowheads="1"/>
            </p:cNvSpPr>
            <p:nvPr/>
          </p:nvSpPr>
          <p:spPr bwMode="auto">
            <a:xfrm>
              <a:off x="2209" y="3236"/>
              <a:ext cx="1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4</a:t>
              </a:r>
            </a:p>
          </p:txBody>
        </p:sp>
        <p:sp>
          <p:nvSpPr>
            <p:cNvPr id="429212" name="Text Box 156"/>
            <p:cNvSpPr txBox="1">
              <a:spLocks noChangeArrowheads="1"/>
            </p:cNvSpPr>
            <p:nvPr/>
          </p:nvSpPr>
          <p:spPr bwMode="auto">
            <a:xfrm>
              <a:off x="2795" y="3236"/>
              <a:ext cx="1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5</a:t>
              </a:r>
            </a:p>
          </p:txBody>
        </p:sp>
        <p:sp>
          <p:nvSpPr>
            <p:cNvPr id="429213" name="Text Box 157"/>
            <p:cNvSpPr txBox="1">
              <a:spLocks noChangeArrowheads="1"/>
            </p:cNvSpPr>
            <p:nvPr/>
          </p:nvSpPr>
          <p:spPr bwMode="auto">
            <a:xfrm>
              <a:off x="3040" y="3236"/>
              <a:ext cx="1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6</a:t>
              </a:r>
            </a:p>
          </p:txBody>
        </p:sp>
        <p:sp>
          <p:nvSpPr>
            <p:cNvPr id="429214" name="Text Box 158"/>
            <p:cNvSpPr txBox="1">
              <a:spLocks noChangeArrowheads="1"/>
            </p:cNvSpPr>
            <p:nvPr/>
          </p:nvSpPr>
          <p:spPr bwMode="auto">
            <a:xfrm>
              <a:off x="3627" y="3236"/>
              <a:ext cx="1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7</a:t>
              </a:r>
            </a:p>
          </p:txBody>
        </p:sp>
        <p:sp>
          <p:nvSpPr>
            <p:cNvPr id="429215" name="Text Box 159"/>
            <p:cNvSpPr txBox="1">
              <a:spLocks noChangeArrowheads="1"/>
            </p:cNvSpPr>
            <p:nvPr/>
          </p:nvSpPr>
          <p:spPr bwMode="auto">
            <a:xfrm>
              <a:off x="1953" y="3477"/>
              <a:ext cx="1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8</a:t>
              </a:r>
            </a:p>
          </p:txBody>
        </p:sp>
        <p:sp>
          <p:nvSpPr>
            <p:cNvPr id="429216" name="Text Box 160"/>
            <p:cNvSpPr txBox="1">
              <a:spLocks noChangeArrowheads="1"/>
            </p:cNvSpPr>
            <p:nvPr/>
          </p:nvSpPr>
          <p:spPr bwMode="auto">
            <a:xfrm>
              <a:off x="2406" y="3477"/>
              <a:ext cx="1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9</a:t>
              </a:r>
            </a:p>
          </p:txBody>
        </p:sp>
        <p:sp>
          <p:nvSpPr>
            <p:cNvPr id="429217" name="Text Box 161"/>
            <p:cNvSpPr txBox="1">
              <a:spLocks noChangeArrowheads="1"/>
            </p:cNvSpPr>
            <p:nvPr/>
          </p:nvSpPr>
          <p:spPr bwMode="auto">
            <a:xfrm>
              <a:off x="2611" y="3477"/>
              <a:ext cx="204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10</a:t>
              </a:r>
            </a:p>
          </p:txBody>
        </p:sp>
      </p:grpSp>
      <p:grpSp>
        <p:nvGrpSpPr>
          <p:cNvPr id="429218" name="Group 162"/>
          <p:cNvGrpSpPr>
            <a:grpSpLocks/>
          </p:cNvGrpSpPr>
          <p:nvPr/>
        </p:nvGrpSpPr>
        <p:grpSpPr bwMode="auto">
          <a:xfrm>
            <a:off x="5942013" y="4279900"/>
            <a:ext cx="2943225" cy="2044700"/>
            <a:chOff x="137" y="715"/>
            <a:chExt cx="1854" cy="1288"/>
          </a:xfrm>
        </p:grpSpPr>
        <p:sp>
          <p:nvSpPr>
            <p:cNvPr id="429219" name="Line 163"/>
            <p:cNvSpPr>
              <a:spLocks noChangeAspect="1" noChangeShapeType="1"/>
            </p:cNvSpPr>
            <p:nvPr/>
          </p:nvSpPr>
          <p:spPr bwMode="auto">
            <a:xfrm flipV="1">
              <a:off x="851" y="1653"/>
              <a:ext cx="259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9220" name="Line 164"/>
            <p:cNvSpPr>
              <a:spLocks noChangeAspect="1" noChangeShapeType="1"/>
            </p:cNvSpPr>
            <p:nvPr/>
          </p:nvSpPr>
          <p:spPr bwMode="auto">
            <a:xfrm flipV="1">
              <a:off x="1318" y="1366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9221" name="Line 165"/>
            <p:cNvSpPr>
              <a:spLocks noChangeAspect="1" noChangeShapeType="1"/>
            </p:cNvSpPr>
            <p:nvPr/>
          </p:nvSpPr>
          <p:spPr bwMode="auto">
            <a:xfrm rot="16200000" flipV="1">
              <a:off x="417" y="161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9222" name="Line 166"/>
            <p:cNvSpPr>
              <a:spLocks noChangeAspect="1" noChangeShapeType="1"/>
            </p:cNvSpPr>
            <p:nvPr/>
          </p:nvSpPr>
          <p:spPr bwMode="auto">
            <a:xfrm rot="16200000" flipV="1">
              <a:off x="758" y="1361"/>
              <a:ext cx="322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9223" name="Line 167"/>
            <p:cNvSpPr>
              <a:spLocks noChangeAspect="1" noChangeShapeType="1"/>
            </p:cNvSpPr>
            <p:nvPr/>
          </p:nvSpPr>
          <p:spPr bwMode="auto">
            <a:xfrm rot="16200000" flipV="1">
              <a:off x="1154" y="909"/>
              <a:ext cx="80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9224" name="Line 168"/>
            <p:cNvSpPr>
              <a:spLocks noChangeShapeType="1"/>
            </p:cNvSpPr>
            <p:nvPr/>
          </p:nvSpPr>
          <p:spPr bwMode="auto">
            <a:xfrm flipV="1">
              <a:off x="243" y="937"/>
              <a:ext cx="100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9225" name="Oval 169"/>
            <p:cNvSpPr>
              <a:spLocks noChangeArrowheads="1"/>
            </p:cNvSpPr>
            <p:nvPr/>
          </p:nvSpPr>
          <p:spPr bwMode="auto">
            <a:xfrm>
              <a:off x="387" y="155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8</a:t>
              </a:r>
            </a:p>
          </p:txBody>
        </p:sp>
        <p:sp>
          <p:nvSpPr>
            <p:cNvPr id="429226" name="Oval 170"/>
            <p:cNvSpPr>
              <a:spLocks noChangeArrowheads="1"/>
            </p:cNvSpPr>
            <p:nvPr/>
          </p:nvSpPr>
          <p:spPr bwMode="auto">
            <a:xfrm>
              <a:off x="137" y="180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2</a:t>
              </a:r>
            </a:p>
          </p:txBody>
        </p:sp>
        <p:sp>
          <p:nvSpPr>
            <p:cNvPr id="429227" name="Oval 171"/>
            <p:cNvSpPr>
              <a:spLocks noChangeArrowheads="1"/>
            </p:cNvSpPr>
            <p:nvPr/>
          </p:nvSpPr>
          <p:spPr bwMode="auto">
            <a:xfrm>
              <a:off x="579" y="180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4</a:t>
              </a:r>
            </a:p>
          </p:txBody>
        </p:sp>
        <p:sp>
          <p:nvSpPr>
            <p:cNvPr id="429228" name="Oval 172"/>
            <p:cNvSpPr>
              <a:spLocks noChangeArrowheads="1"/>
            </p:cNvSpPr>
            <p:nvPr/>
          </p:nvSpPr>
          <p:spPr bwMode="auto">
            <a:xfrm>
              <a:off x="675" y="1273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14</a:t>
              </a:r>
            </a:p>
          </p:txBody>
        </p:sp>
        <p:sp>
          <p:nvSpPr>
            <p:cNvPr id="429229" name="Oval 173"/>
            <p:cNvSpPr>
              <a:spLocks noChangeArrowheads="1"/>
            </p:cNvSpPr>
            <p:nvPr/>
          </p:nvSpPr>
          <p:spPr bwMode="auto">
            <a:xfrm>
              <a:off x="963" y="155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7</a:t>
              </a:r>
            </a:p>
          </p:txBody>
        </p:sp>
        <p:sp>
          <p:nvSpPr>
            <p:cNvPr id="429230" name="Oval 174"/>
            <p:cNvSpPr>
              <a:spLocks noChangeArrowheads="1"/>
            </p:cNvSpPr>
            <p:nvPr/>
          </p:nvSpPr>
          <p:spPr bwMode="auto">
            <a:xfrm>
              <a:off x="819" y="180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1</a:t>
              </a:r>
            </a:p>
          </p:txBody>
        </p:sp>
        <p:sp>
          <p:nvSpPr>
            <p:cNvPr id="429231" name="Oval 175"/>
            <p:cNvSpPr>
              <a:spLocks noChangeArrowheads="1"/>
            </p:cNvSpPr>
            <p:nvPr/>
          </p:nvSpPr>
          <p:spPr bwMode="auto">
            <a:xfrm>
              <a:off x="1131" y="84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16</a:t>
              </a:r>
            </a:p>
          </p:txBody>
        </p:sp>
        <p:sp>
          <p:nvSpPr>
            <p:cNvPr id="429232" name="Oval 176"/>
            <p:cNvSpPr>
              <a:spLocks noChangeArrowheads="1"/>
            </p:cNvSpPr>
            <p:nvPr/>
          </p:nvSpPr>
          <p:spPr bwMode="auto">
            <a:xfrm>
              <a:off x="1537" y="1273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10</a:t>
              </a:r>
            </a:p>
          </p:txBody>
        </p:sp>
        <p:sp>
          <p:nvSpPr>
            <p:cNvPr id="429233" name="Oval 177"/>
            <p:cNvSpPr>
              <a:spLocks noChangeArrowheads="1"/>
            </p:cNvSpPr>
            <p:nvPr/>
          </p:nvSpPr>
          <p:spPr bwMode="auto">
            <a:xfrm>
              <a:off x="1213" y="155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9</a:t>
              </a:r>
            </a:p>
          </p:txBody>
        </p:sp>
        <p:sp>
          <p:nvSpPr>
            <p:cNvPr id="429234" name="Oval 178"/>
            <p:cNvSpPr>
              <a:spLocks noChangeArrowheads="1"/>
            </p:cNvSpPr>
            <p:nvPr/>
          </p:nvSpPr>
          <p:spPr bwMode="auto">
            <a:xfrm>
              <a:off x="1789" y="1551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3</a:t>
              </a:r>
            </a:p>
          </p:txBody>
        </p:sp>
        <p:sp>
          <p:nvSpPr>
            <p:cNvPr id="429235" name="Text Box 179"/>
            <p:cNvSpPr txBox="1">
              <a:spLocks noChangeArrowheads="1"/>
            </p:cNvSpPr>
            <p:nvPr/>
          </p:nvSpPr>
          <p:spPr bwMode="auto">
            <a:xfrm>
              <a:off x="1152" y="715"/>
              <a:ext cx="1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1</a:t>
              </a:r>
            </a:p>
          </p:txBody>
        </p:sp>
        <p:sp>
          <p:nvSpPr>
            <p:cNvPr id="429236" name="Text Box 180"/>
            <p:cNvSpPr txBox="1">
              <a:spLocks noChangeArrowheads="1"/>
            </p:cNvSpPr>
            <p:nvPr/>
          </p:nvSpPr>
          <p:spPr bwMode="auto">
            <a:xfrm>
              <a:off x="699" y="1148"/>
              <a:ext cx="1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2</a:t>
              </a:r>
            </a:p>
          </p:txBody>
        </p:sp>
        <p:sp>
          <p:nvSpPr>
            <p:cNvPr id="429237" name="Text Box 181"/>
            <p:cNvSpPr txBox="1">
              <a:spLocks noChangeArrowheads="1"/>
            </p:cNvSpPr>
            <p:nvPr/>
          </p:nvSpPr>
          <p:spPr bwMode="auto">
            <a:xfrm>
              <a:off x="1552" y="1148"/>
              <a:ext cx="1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3</a:t>
              </a:r>
            </a:p>
          </p:txBody>
        </p:sp>
        <p:sp>
          <p:nvSpPr>
            <p:cNvPr id="429238" name="Text Box 182"/>
            <p:cNvSpPr txBox="1">
              <a:spLocks noChangeArrowheads="1"/>
            </p:cNvSpPr>
            <p:nvPr/>
          </p:nvSpPr>
          <p:spPr bwMode="auto">
            <a:xfrm>
              <a:off x="406" y="1423"/>
              <a:ext cx="1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4</a:t>
              </a:r>
            </a:p>
          </p:txBody>
        </p:sp>
        <p:sp>
          <p:nvSpPr>
            <p:cNvPr id="429239" name="Text Box 183"/>
            <p:cNvSpPr txBox="1">
              <a:spLocks noChangeArrowheads="1"/>
            </p:cNvSpPr>
            <p:nvPr/>
          </p:nvSpPr>
          <p:spPr bwMode="auto">
            <a:xfrm>
              <a:off x="992" y="1423"/>
              <a:ext cx="1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5</a:t>
              </a:r>
            </a:p>
          </p:txBody>
        </p:sp>
        <p:sp>
          <p:nvSpPr>
            <p:cNvPr id="429240" name="Text Box 184"/>
            <p:cNvSpPr txBox="1">
              <a:spLocks noChangeArrowheads="1"/>
            </p:cNvSpPr>
            <p:nvPr/>
          </p:nvSpPr>
          <p:spPr bwMode="auto">
            <a:xfrm>
              <a:off x="1237" y="1423"/>
              <a:ext cx="1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6</a:t>
              </a:r>
            </a:p>
          </p:txBody>
        </p:sp>
        <p:sp>
          <p:nvSpPr>
            <p:cNvPr id="429241" name="Text Box 185"/>
            <p:cNvSpPr txBox="1">
              <a:spLocks noChangeArrowheads="1"/>
            </p:cNvSpPr>
            <p:nvPr/>
          </p:nvSpPr>
          <p:spPr bwMode="auto">
            <a:xfrm>
              <a:off x="1824" y="1423"/>
              <a:ext cx="1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7</a:t>
              </a:r>
            </a:p>
          </p:txBody>
        </p:sp>
        <p:sp>
          <p:nvSpPr>
            <p:cNvPr id="429242" name="Text Box 186"/>
            <p:cNvSpPr txBox="1">
              <a:spLocks noChangeArrowheads="1"/>
            </p:cNvSpPr>
            <p:nvPr/>
          </p:nvSpPr>
          <p:spPr bwMode="auto">
            <a:xfrm>
              <a:off x="150" y="1664"/>
              <a:ext cx="1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8</a:t>
              </a:r>
            </a:p>
          </p:txBody>
        </p:sp>
        <p:sp>
          <p:nvSpPr>
            <p:cNvPr id="429243" name="Text Box 187"/>
            <p:cNvSpPr txBox="1">
              <a:spLocks noChangeArrowheads="1"/>
            </p:cNvSpPr>
            <p:nvPr/>
          </p:nvSpPr>
          <p:spPr bwMode="auto">
            <a:xfrm>
              <a:off x="603" y="1664"/>
              <a:ext cx="16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9</a:t>
              </a:r>
            </a:p>
          </p:txBody>
        </p:sp>
        <p:sp>
          <p:nvSpPr>
            <p:cNvPr id="429244" name="Text Box 188"/>
            <p:cNvSpPr txBox="1">
              <a:spLocks noChangeArrowheads="1"/>
            </p:cNvSpPr>
            <p:nvPr/>
          </p:nvSpPr>
          <p:spPr bwMode="auto">
            <a:xfrm>
              <a:off x="808" y="1664"/>
              <a:ext cx="204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000"/>
                <a:t>10</a:t>
              </a:r>
            </a:p>
          </p:txBody>
        </p:sp>
      </p:grpSp>
      <p:sp>
        <p:nvSpPr>
          <p:cNvPr id="429245" name="Text Box 189"/>
          <p:cNvSpPr txBox="1">
            <a:spLocks noChangeArrowheads="1"/>
          </p:cNvSpPr>
          <p:nvPr/>
        </p:nvSpPr>
        <p:spPr bwMode="auto">
          <a:xfrm>
            <a:off x="1600200" y="1295400"/>
            <a:ext cx="6270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DD0111"/>
                </a:solidFill>
                <a:latin typeface="Monotype Corsiva" panose="03010101010201010101" pitchFamily="66" charset="0"/>
              </a:rPr>
              <a:t>i</a:t>
            </a:r>
            <a:r>
              <a:rPr lang="en-US" altLang="en-US">
                <a:solidFill>
                  <a:srgbClr val="DD0111"/>
                </a:solidFill>
              </a:rPr>
              <a:t> = 5</a:t>
            </a:r>
          </a:p>
        </p:txBody>
      </p:sp>
      <p:sp>
        <p:nvSpPr>
          <p:cNvPr id="429246" name="Text Box 190"/>
          <p:cNvSpPr txBox="1">
            <a:spLocks noChangeArrowheads="1"/>
          </p:cNvSpPr>
          <p:nvPr/>
        </p:nvSpPr>
        <p:spPr bwMode="auto">
          <a:xfrm>
            <a:off x="4572000" y="1295400"/>
            <a:ext cx="6270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DD0111"/>
                </a:solidFill>
                <a:latin typeface="Monotype Corsiva" panose="03010101010201010101" pitchFamily="66" charset="0"/>
              </a:rPr>
              <a:t>i</a:t>
            </a:r>
            <a:r>
              <a:rPr lang="en-US" altLang="en-US">
                <a:solidFill>
                  <a:srgbClr val="DD0111"/>
                </a:solidFill>
              </a:rPr>
              <a:t> = 4</a:t>
            </a:r>
          </a:p>
        </p:txBody>
      </p:sp>
      <p:sp>
        <p:nvSpPr>
          <p:cNvPr id="429247" name="Text Box 191"/>
          <p:cNvSpPr txBox="1">
            <a:spLocks noChangeArrowheads="1"/>
          </p:cNvSpPr>
          <p:nvPr/>
        </p:nvSpPr>
        <p:spPr bwMode="auto">
          <a:xfrm>
            <a:off x="7315200" y="1295400"/>
            <a:ext cx="6270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DD0111"/>
                </a:solidFill>
                <a:latin typeface="Monotype Corsiva" panose="03010101010201010101" pitchFamily="66" charset="0"/>
              </a:rPr>
              <a:t>i</a:t>
            </a:r>
            <a:r>
              <a:rPr lang="en-US" altLang="en-US">
                <a:solidFill>
                  <a:srgbClr val="DD0111"/>
                </a:solidFill>
              </a:rPr>
              <a:t> = 3</a:t>
            </a:r>
          </a:p>
        </p:txBody>
      </p:sp>
      <p:sp>
        <p:nvSpPr>
          <p:cNvPr id="429248" name="Text Box 192"/>
          <p:cNvSpPr txBox="1">
            <a:spLocks noChangeArrowheads="1"/>
          </p:cNvSpPr>
          <p:nvPr/>
        </p:nvSpPr>
        <p:spPr bwMode="auto">
          <a:xfrm>
            <a:off x="1600200" y="4038600"/>
            <a:ext cx="6270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DD0111"/>
                </a:solidFill>
                <a:latin typeface="Monotype Corsiva" panose="03010101010201010101" pitchFamily="66" charset="0"/>
              </a:rPr>
              <a:t>i</a:t>
            </a:r>
            <a:r>
              <a:rPr lang="en-US" altLang="en-US">
                <a:solidFill>
                  <a:srgbClr val="DD0111"/>
                </a:solidFill>
              </a:rPr>
              <a:t> = 2</a:t>
            </a:r>
          </a:p>
        </p:txBody>
      </p:sp>
      <p:sp>
        <p:nvSpPr>
          <p:cNvPr id="429249" name="Text Box 193"/>
          <p:cNvSpPr txBox="1">
            <a:spLocks noChangeArrowheads="1"/>
          </p:cNvSpPr>
          <p:nvPr/>
        </p:nvSpPr>
        <p:spPr bwMode="auto">
          <a:xfrm>
            <a:off x="4495800" y="4038600"/>
            <a:ext cx="6270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DD0111"/>
                </a:solidFill>
                <a:latin typeface="Monotype Corsiva" panose="03010101010201010101" pitchFamily="66" charset="0"/>
              </a:rPr>
              <a:t>i</a:t>
            </a:r>
            <a:r>
              <a:rPr lang="en-US" altLang="en-US">
                <a:solidFill>
                  <a:srgbClr val="DD0111"/>
                </a:solidFill>
              </a:rPr>
              <a:t> = 1</a:t>
            </a:r>
          </a:p>
        </p:txBody>
      </p:sp>
    </p:spTree>
    <p:extLst>
      <p:ext uri="{BB962C8B-B14F-4D97-AF65-F5344CB8AC3E}">
        <p14:creationId xmlns:p14="http://schemas.microsoft.com/office/powerpoint/2010/main" val="816400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9245" grpId="0"/>
      <p:bldP spid="429246" grpId="0"/>
      <p:bldP spid="429247" grpId="0"/>
      <p:bldP spid="429248" grpId="0"/>
      <p:bldP spid="42924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Running Time of BUILD MAX HEAP</a:t>
            </a:r>
          </a:p>
        </p:txBody>
      </p:sp>
      <p:sp>
        <p:nvSpPr>
          <p:cNvPr id="432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3681413"/>
            <a:ext cx="8229600" cy="2051050"/>
          </a:xfrm>
        </p:spPr>
        <p:txBody>
          <a:bodyPr/>
          <a:lstStyle/>
          <a:p>
            <a:pPr>
              <a:lnSpc>
                <a:spcPct val="130000"/>
              </a:lnSpc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 </a:t>
            </a:r>
            <a:r>
              <a:rPr lang="en-US" altLang="en-US"/>
              <a:t>Running time: </a:t>
            </a:r>
            <a:r>
              <a:rPr lang="en-US" altLang="en-US">
                <a:latin typeface="Comic Sans MS" panose="030F0702030302020204" pitchFamily="66" charset="0"/>
              </a:rPr>
              <a:t>O(nlgn)</a:t>
            </a:r>
          </a:p>
          <a:p>
            <a:pPr>
              <a:lnSpc>
                <a:spcPct val="130000"/>
              </a:lnSpc>
            </a:pPr>
            <a:r>
              <a:rPr lang="en-US" altLang="en-US"/>
              <a:t>This is not an asymptotically tight upper bound</a:t>
            </a:r>
          </a:p>
        </p:txBody>
      </p:sp>
      <p:sp>
        <p:nvSpPr>
          <p:cNvPr id="432132" name="Rectangle 4"/>
          <p:cNvSpPr>
            <a:spLocks noChangeArrowheads="1"/>
          </p:cNvSpPr>
          <p:nvPr/>
        </p:nvSpPr>
        <p:spPr bwMode="auto">
          <a:xfrm>
            <a:off x="527050" y="1281113"/>
            <a:ext cx="5334000" cy="221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533400" indent="-5334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914400" indent="-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95400" indent="-381000">
              <a:spcBef>
                <a:spcPct val="20000"/>
              </a:spcBef>
              <a:buChar char="•"/>
              <a:defRPr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714500" indent="-3429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33600" indent="-3048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90800" indent="-3048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48000" indent="-3048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05200" indent="-3048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62400" indent="-3048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  <a:buFontTx/>
              <a:buNone/>
            </a:pPr>
            <a:r>
              <a:rPr lang="en-US" altLang="en-US">
                <a:solidFill>
                  <a:srgbClr val="DD0111"/>
                </a:solidFill>
                <a:latin typeface="Monotype Corsiva" panose="03010101010201010101" pitchFamily="66" charset="0"/>
              </a:rPr>
              <a:t>Alg:</a:t>
            </a:r>
            <a:r>
              <a:rPr lang="en-US" altLang="en-US">
                <a:latin typeface="Monotype Corsiva" panose="03010101010201010101" pitchFamily="66" charset="0"/>
              </a:rPr>
              <a:t> </a:t>
            </a:r>
            <a:r>
              <a:rPr lang="en-US" altLang="en-US" u="sng"/>
              <a:t>BUILD-MAX-HEAP</a:t>
            </a:r>
            <a:r>
              <a:rPr lang="en-US" altLang="en-US" u="sng">
                <a:latin typeface="Comic Sans MS" panose="030F0702030302020204" pitchFamily="66" charset="0"/>
              </a:rPr>
              <a:t>(A)</a:t>
            </a:r>
          </a:p>
          <a:p>
            <a:pPr>
              <a:lnSpc>
                <a:spcPct val="120000"/>
              </a:lnSpc>
              <a:buFontTx/>
              <a:buAutoNum type="arabicPeriod"/>
            </a:pPr>
            <a:r>
              <a:rPr lang="en-US" altLang="en-US">
                <a:latin typeface="Comic Sans MS" panose="030F0702030302020204" pitchFamily="66" charset="0"/>
              </a:rPr>
              <a:t>n</a:t>
            </a:r>
            <a:r>
              <a:rPr lang="en-US" altLang="en-US"/>
              <a:t> = length[A]</a:t>
            </a:r>
          </a:p>
          <a:p>
            <a:pPr>
              <a:lnSpc>
                <a:spcPct val="120000"/>
              </a:lnSpc>
              <a:buFontTx/>
              <a:buAutoNum type="arabicPeriod"/>
            </a:pPr>
            <a:r>
              <a:rPr lang="en-US" altLang="en-US"/>
              <a:t> </a:t>
            </a:r>
            <a:r>
              <a:rPr lang="en-US" altLang="en-US" b="1"/>
              <a:t>for</a:t>
            </a:r>
            <a:r>
              <a:rPr lang="en-US" altLang="en-US"/>
              <a:t> </a:t>
            </a:r>
            <a:r>
              <a:rPr lang="en-US" altLang="en-US">
                <a:latin typeface="Comic Sans MS" panose="030F0702030302020204" pitchFamily="66" charset="0"/>
              </a:rPr>
              <a:t>i ← </a:t>
            </a:r>
            <a:r>
              <a:rPr lang="en-US" altLang="en-US">
                <a:latin typeface="Comic Sans MS" panose="030F0702030302020204" pitchFamily="66" charset="0"/>
                <a:sym typeface="Symbol" panose="05050102010706020507" pitchFamily="18" charset="2"/>
              </a:rPr>
              <a:t></a:t>
            </a:r>
            <a:r>
              <a:rPr lang="en-US" altLang="en-US">
                <a:latin typeface="Comic Sans MS" panose="030F0702030302020204" pitchFamily="66" charset="0"/>
              </a:rPr>
              <a:t>n/2</a:t>
            </a:r>
            <a:r>
              <a:rPr lang="en-US" altLang="en-US">
                <a:latin typeface="Comic Sans MS" panose="030F0702030302020204" pitchFamily="66" charset="0"/>
                <a:sym typeface="Symbol" panose="05050102010706020507" pitchFamily="18" charset="2"/>
              </a:rPr>
              <a:t></a:t>
            </a:r>
            <a:r>
              <a:rPr lang="en-US" altLang="en-US">
                <a:latin typeface="Monotype Corsiva" panose="03010101010201010101" pitchFamily="66" charset="0"/>
              </a:rPr>
              <a:t> </a:t>
            </a:r>
            <a:r>
              <a:rPr lang="en-US" altLang="en-US" b="1"/>
              <a:t>downto</a:t>
            </a:r>
            <a:r>
              <a:rPr lang="en-US" altLang="en-US"/>
              <a:t> </a:t>
            </a:r>
            <a:r>
              <a:rPr lang="en-US" altLang="en-US">
                <a:latin typeface="Comic Sans MS" panose="030F0702030302020204" pitchFamily="66" charset="0"/>
              </a:rPr>
              <a:t>1</a:t>
            </a:r>
          </a:p>
          <a:p>
            <a:pPr>
              <a:lnSpc>
                <a:spcPct val="120000"/>
              </a:lnSpc>
              <a:buFontTx/>
              <a:buAutoNum type="arabicPeriod"/>
            </a:pPr>
            <a:r>
              <a:rPr lang="en-US" altLang="en-US"/>
              <a:t>       </a:t>
            </a:r>
            <a:r>
              <a:rPr lang="en-US" altLang="en-US" b="1"/>
              <a:t>do</a:t>
            </a:r>
            <a:r>
              <a:rPr lang="en-US" altLang="en-US"/>
              <a:t> MAX-HEAPIFY</a:t>
            </a:r>
            <a:r>
              <a:rPr lang="en-US" altLang="en-US">
                <a:latin typeface="Comic Sans MS" panose="030F0702030302020204" pitchFamily="66" charset="0"/>
              </a:rPr>
              <a:t>(A, i, n)</a:t>
            </a:r>
          </a:p>
        </p:txBody>
      </p:sp>
      <p:sp>
        <p:nvSpPr>
          <p:cNvPr id="432133" name="Text Box 5"/>
          <p:cNvSpPr txBox="1">
            <a:spLocks noChangeArrowheads="1"/>
          </p:cNvSpPr>
          <p:nvPr/>
        </p:nvSpPr>
        <p:spPr bwMode="auto">
          <a:xfrm>
            <a:off x="5895975" y="2862263"/>
            <a:ext cx="1055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>
                <a:latin typeface="Comic Sans MS" panose="030F0702030302020204" pitchFamily="66" charset="0"/>
              </a:rPr>
              <a:t>O(lgn)</a:t>
            </a:r>
          </a:p>
        </p:txBody>
      </p:sp>
      <p:sp>
        <p:nvSpPr>
          <p:cNvPr id="432134" name="Text Box 6"/>
          <p:cNvSpPr txBox="1">
            <a:spLocks noChangeArrowheads="1"/>
          </p:cNvSpPr>
          <p:nvPr/>
        </p:nvSpPr>
        <p:spPr bwMode="auto">
          <a:xfrm>
            <a:off x="7285038" y="2578100"/>
            <a:ext cx="809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>
                <a:latin typeface="Comic Sans MS" panose="030F0702030302020204" pitchFamily="66" charset="0"/>
              </a:rPr>
              <a:t>O(n)</a:t>
            </a:r>
          </a:p>
        </p:txBody>
      </p:sp>
      <p:sp>
        <p:nvSpPr>
          <p:cNvPr id="432135" name="AutoShape 7"/>
          <p:cNvSpPr>
            <a:spLocks/>
          </p:cNvSpPr>
          <p:nvPr/>
        </p:nvSpPr>
        <p:spPr bwMode="auto">
          <a:xfrm>
            <a:off x="6956425" y="2359025"/>
            <a:ext cx="152400" cy="973138"/>
          </a:xfrm>
          <a:prstGeom prst="rightBrace">
            <a:avLst>
              <a:gd name="adj1" fmla="val 5321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583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Running Time of BUILD MAX HEAP</a:t>
            </a:r>
          </a:p>
        </p:txBody>
      </p:sp>
      <p:sp>
        <p:nvSpPr>
          <p:cNvPr id="4331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39713" y="1125538"/>
            <a:ext cx="8578850" cy="935037"/>
          </a:xfrm>
        </p:spPr>
        <p:txBody>
          <a:bodyPr/>
          <a:lstStyle/>
          <a:p>
            <a:r>
              <a:rPr lang="en-US" altLang="en-US" sz="2400"/>
              <a:t>HEAPIFY takes </a:t>
            </a:r>
            <a:r>
              <a:rPr lang="en-US" altLang="en-US" sz="2400">
                <a:latin typeface="Comic Sans MS" panose="030F0702030302020204" pitchFamily="66" charset="0"/>
              </a:rPr>
              <a:t>O(h)</a:t>
            </a:r>
            <a:r>
              <a:rPr lang="en-US" altLang="en-US" sz="2400"/>
              <a:t> </a:t>
            </a:r>
            <a:r>
              <a:rPr lang="en-US" altLang="en-US" sz="2400">
                <a:sym typeface="Symbol" panose="05050102010706020507" pitchFamily="18" charset="2"/>
              </a:rPr>
              <a:t> the cost of HEAPIFY on a node </a:t>
            </a:r>
            <a:r>
              <a:rPr lang="en-US" altLang="en-US" sz="240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n-US" altLang="en-US" sz="2400">
                <a:sym typeface="Symbol" panose="05050102010706020507" pitchFamily="18" charset="2"/>
              </a:rPr>
              <a:t> is proportional to the height of the node </a:t>
            </a:r>
            <a:r>
              <a:rPr lang="en-US" altLang="en-US" sz="240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n-US" altLang="en-US" sz="2400">
                <a:sym typeface="Symbol" panose="05050102010706020507" pitchFamily="18" charset="2"/>
              </a:rPr>
              <a:t> in the tree</a:t>
            </a:r>
          </a:p>
        </p:txBody>
      </p:sp>
      <p:grpSp>
        <p:nvGrpSpPr>
          <p:cNvPr id="433156" name="Group 4"/>
          <p:cNvGrpSpPr>
            <a:grpSpLocks/>
          </p:cNvGrpSpPr>
          <p:nvPr/>
        </p:nvGrpSpPr>
        <p:grpSpPr bwMode="auto">
          <a:xfrm>
            <a:off x="2049463" y="2867025"/>
            <a:ext cx="3565525" cy="2543175"/>
            <a:chOff x="682" y="1758"/>
            <a:chExt cx="2246" cy="1602"/>
          </a:xfrm>
        </p:grpSpPr>
        <p:sp>
          <p:nvSpPr>
            <p:cNvPr id="433157" name="Line 5"/>
            <p:cNvSpPr>
              <a:spLocks noChangeAspect="1" noChangeShapeType="1"/>
            </p:cNvSpPr>
            <p:nvPr/>
          </p:nvSpPr>
          <p:spPr bwMode="auto">
            <a:xfrm rot="16200000" flipV="1">
              <a:off x="1745" y="1818"/>
              <a:ext cx="449" cy="4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158" name="Line 6"/>
            <p:cNvSpPr>
              <a:spLocks noChangeShapeType="1"/>
            </p:cNvSpPr>
            <p:nvPr/>
          </p:nvSpPr>
          <p:spPr bwMode="auto">
            <a:xfrm flipV="1">
              <a:off x="1440" y="1854"/>
              <a:ext cx="394" cy="3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159" name="Oval 7"/>
            <p:cNvSpPr>
              <a:spLocks noChangeArrowheads="1"/>
            </p:cNvSpPr>
            <p:nvPr/>
          </p:nvSpPr>
          <p:spPr bwMode="auto">
            <a:xfrm>
              <a:off x="1703" y="1758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/>
            </a:p>
          </p:txBody>
        </p:sp>
        <p:grpSp>
          <p:nvGrpSpPr>
            <p:cNvPr id="433160" name="Group 8"/>
            <p:cNvGrpSpPr>
              <a:grpSpLocks/>
            </p:cNvGrpSpPr>
            <p:nvPr/>
          </p:nvGrpSpPr>
          <p:grpSpPr bwMode="auto">
            <a:xfrm>
              <a:off x="1353" y="2112"/>
              <a:ext cx="903" cy="202"/>
              <a:chOff x="1065" y="2112"/>
              <a:chExt cx="903" cy="202"/>
            </a:xfrm>
          </p:grpSpPr>
          <p:sp>
            <p:nvSpPr>
              <p:cNvPr id="433161" name="Oval 9"/>
              <p:cNvSpPr>
                <a:spLocks noChangeArrowheads="1"/>
              </p:cNvSpPr>
              <p:nvPr/>
            </p:nvSpPr>
            <p:spPr bwMode="auto">
              <a:xfrm>
                <a:off x="1065" y="2112"/>
                <a:ext cx="202" cy="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/>
              </a:p>
            </p:txBody>
          </p:sp>
          <p:sp>
            <p:nvSpPr>
              <p:cNvPr id="433162" name="Oval 10"/>
              <p:cNvSpPr>
                <a:spLocks noChangeArrowheads="1"/>
              </p:cNvSpPr>
              <p:nvPr/>
            </p:nvSpPr>
            <p:spPr bwMode="auto">
              <a:xfrm>
                <a:off x="1766" y="2112"/>
                <a:ext cx="202" cy="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/>
              </a:p>
            </p:txBody>
          </p:sp>
        </p:grpSp>
        <p:sp>
          <p:nvSpPr>
            <p:cNvPr id="433163" name="Oval 11"/>
            <p:cNvSpPr>
              <a:spLocks noChangeArrowheads="1"/>
            </p:cNvSpPr>
            <p:nvPr/>
          </p:nvSpPr>
          <p:spPr bwMode="auto">
            <a:xfrm>
              <a:off x="828" y="2635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/>
            </a:p>
          </p:txBody>
        </p:sp>
        <p:sp>
          <p:nvSpPr>
            <p:cNvPr id="433164" name="Oval 12"/>
            <p:cNvSpPr>
              <a:spLocks noChangeArrowheads="1"/>
            </p:cNvSpPr>
            <p:nvPr/>
          </p:nvSpPr>
          <p:spPr bwMode="auto">
            <a:xfrm>
              <a:off x="1412" y="2635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/>
            </a:p>
          </p:txBody>
        </p:sp>
        <p:sp>
          <p:nvSpPr>
            <p:cNvPr id="433165" name="Oval 13"/>
            <p:cNvSpPr>
              <a:spLocks noChangeArrowheads="1"/>
            </p:cNvSpPr>
            <p:nvPr/>
          </p:nvSpPr>
          <p:spPr bwMode="auto">
            <a:xfrm>
              <a:off x="1996" y="2635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/>
            </a:p>
          </p:txBody>
        </p:sp>
        <p:sp>
          <p:nvSpPr>
            <p:cNvPr id="433166" name="Oval 14"/>
            <p:cNvSpPr>
              <a:spLocks noChangeArrowheads="1"/>
            </p:cNvSpPr>
            <p:nvPr/>
          </p:nvSpPr>
          <p:spPr bwMode="auto">
            <a:xfrm>
              <a:off x="2580" y="2635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/>
            </a:p>
          </p:txBody>
        </p:sp>
        <p:grpSp>
          <p:nvGrpSpPr>
            <p:cNvPr id="433167" name="Group 15"/>
            <p:cNvGrpSpPr>
              <a:grpSpLocks/>
            </p:cNvGrpSpPr>
            <p:nvPr/>
          </p:nvGrpSpPr>
          <p:grpSpPr bwMode="auto">
            <a:xfrm>
              <a:off x="682" y="3158"/>
              <a:ext cx="494" cy="202"/>
              <a:chOff x="394" y="3158"/>
              <a:chExt cx="494" cy="202"/>
            </a:xfrm>
          </p:grpSpPr>
          <p:sp>
            <p:nvSpPr>
              <p:cNvPr id="433168" name="Oval 16"/>
              <p:cNvSpPr>
                <a:spLocks noChangeArrowheads="1"/>
              </p:cNvSpPr>
              <p:nvPr/>
            </p:nvSpPr>
            <p:spPr bwMode="auto">
              <a:xfrm>
                <a:off x="394" y="3158"/>
                <a:ext cx="202" cy="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/>
              </a:p>
            </p:txBody>
          </p:sp>
          <p:sp>
            <p:nvSpPr>
              <p:cNvPr id="433169" name="Oval 17"/>
              <p:cNvSpPr>
                <a:spLocks noChangeArrowheads="1"/>
              </p:cNvSpPr>
              <p:nvPr/>
            </p:nvSpPr>
            <p:spPr bwMode="auto">
              <a:xfrm>
                <a:off x="686" y="3158"/>
                <a:ext cx="202" cy="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/>
              </a:p>
            </p:txBody>
          </p:sp>
        </p:grpSp>
        <p:grpSp>
          <p:nvGrpSpPr>
            <p:cNvPr id="433170" name="Group 18"/>
            <p:cNvGrpSpPr>
              <a:grpSpLocks/>
            </p:cNvGrpSpPr>
            <p:nvPr/>
          </p:nvGrpSpPr>
          <p:grpSpPr bwMode="auto">
            <a:xfrm>
              <a:off x="1266" y="3158"/>
              <a:ext cx="494" cy="202"/>
              <a:chOff x="978" y="3158"/>
              <a:chExt cx="494" cy="202"/>
            </a:xfrm>
          </p:grpSpPr>
          <p:sp>
            <p:nvSpPr>
              <p:cNvPr id="433171" name="Oval 19"/>
              <p:cNvSpPr>
                <a:spLocks noChangeArrowheads="1"/>
              </p:cNvSpPr>
              <p:nvPr/>
            </p:nvSpPr>
            <p:spPr bwMode="auto">
              <a:xfrm>
                <a:off x="978" y="3158"/>
                <a:ext cx="202" cy="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/>
              </a:p>
            </p:txBody>
          </p:sp>
          <p:sp>
            <p:nvSpPr>
              <p:cNvPr id="433172" name="Oval 20"/>
              <p:cNvSpPr>
                <a:spLocks noChangeArrowheads="1"/>
              </p:cNvSpPr>
              <p:nvPr/>
            </p:nvSpPr>
            <p:spPr bwMode="auto">
              <a:xfrm>
                <a:off x="1270" y="3158"/>
                <a:ext cx="202" cy="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/>
              </a:p>
            </p:txBody>
          </p:sp>
        </p:grpSp>
        <p:grpSp>
          <p:nvGrpSpPr>
            <p:cNvPr id="433173" name="Group 21"/>
            <p:cNvGrpSpPr>
              <a:grpSpLocks/>
            </p:cNvGrpSpPr>
            <p:nvPr/>
          </p:nvGrpSpPr>
          <p:grpSpPr bwMode="auto">
            <a:xfrm>
              <a:off x="1850" y="3158"/>
              <a:ext cx="494" cy="202"/>
              <a:chOff x="1562" y="3158"/>
              <a:chExt cx="494" cy="202"/>
            </a:xfrm>
          </p:grpSpPr>
          <p:sp>
            <p:nvSpPr>
              <p:cNvPr id="433174" name="Oval 22"/>
              <p:cNvSpPr>
                <a:spLocks noChangeArrowheads="1"/>
              </p:cNvSpPr>
              <p:nvPr/>
            </p:nvSpPr>
            <p:spPr bwMode="auto">
              <a:xfrm>
                <a:off x="1854" y="3158"/>
                <a:ext cx="202" cy="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/>
              </a:p>
            </p:txBody>
          </p:sp>
          <p:sp>
            <p:nvSpPr>
              <p:cNvPr id="433175" name="Oval 23"/>
              <p:cNvSpPr>
                <a:spLocks noChangeArrowheads="1"/>
              </p:cNvSpPr>
              <p:nvPr/>
            </p:nvSpPr>
            <p:spPr bwMode="auto">
              <a:xfrm>
                <a:off x="1562" y="3158"/>
                <a:ext cx="202" cy="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/>
              </a:p>
            </p:txBody>
          </p:sp>
        </p:grpSp>
        <p:grpSp>
          <p:nvGrpSpPr>
            <p:cNvPr id="433176" name="Group 24"/>
            <p:cNvGrpSpPr>
              <a:grpSpLocks/>
            </p:cNvGrpSpPr>
            <p:nvPr/>
          </p:nvGrpSpPr>
          <p:grpSpPr bwMode="auto">
            <a:xfrm>
              <a:off x="2434" y="3158"/>
              <a:ext cx="494" cy="202"/>
              <a:chOff x="2146" y="3158"/>
              <a:chExt cx="494" cy="202"/>
            </a:xfrm>
          </p:grpSpPr>
          <p:sp>
            <p:nvSpPr>
              <p:cNvPr id="433177" name="Oval 25"/>
              <p:cNvSpPr>
                <a:spLocks noChangeArrowheads="1"/>
              </p:cNvSpPr>
              <p:nvPr/>
            </p:nvSpPr>
            <p:spPr bwMode="auto">
              <a:xfrm>
                <a:off x="2146" y="3158"/>
                <a:ext cx="202" cy="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/>
              </a:p>
            </p:txBody>
          </p:sp>
          <p:sp>
            <p:nvSpPr>
              <p:cNvPr id="433178" name="Oval 26"/>
              <p:cNvSpPr>
                <a:spLocks noChangeArrowheads="1"/>
              </p:cNvSpPr>
              <p:nvPr/>
            </p:nvSpPr>
            <p:spPr bwMode="auto">
              <a:xfrm>
                <a:off x="2438" y="3158"/>
                <a:ext cx="202" cy="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/>
              </a:p>
            </p:txBody>
          </p:sp>
        </p:grpSp>
        <p:grpSp>
          <p:nvGrpSpPr>
            <p:cNvPr id="433179" name="Group 27"/>
            <p:cNvGrpSpPr>
              <a:grpSpLocks/>
            </p:cNvGrpSpPr>
            <p:nvPr/>
          </p:nvGrpSpPr>
          <p:grpSpPr bwMode="auto">
            <a:xfrm>
              <a:off x="1008" y="2304"/>
              <a:ext cx="480" cy="384"/>
              <a:chOff x="1008" y="2304"/>
              <a:chExt cx="480" cy="384"/>
            </a:xfrm>
          </p:grpSpPr>
          <p:sp>
            <p:nvSpPr>
              <p:cNvPr id="433180" name="Line 28"/>
              <p:cNvSpPr>
                <a:spLocks noChangeShapeType="1"/>
              </p:cNvSpPr>
              <p:nvPr/>
            </p:nvSpPr>
            <p:spPr bwMode="auto">
              <a:xfrm flipH="1">
                <a:off x="1008" y="2304"/>
                <a:ext cx="384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181" name="Line 29"/>
              <p:cNvSpPr>
                <a:spLocks noChangeShapeType="1"/>
              </p:cNvSpPr>
              <p:nvPr/>
            </p:nvSpPr>
            <p:spPr bwMode="auto">
              <a:xfrm>
                <a:off x="1392" y="2304"/>
                <a:ext cx="9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33182" name="Group 30"/>
            <p:cNvGrpSpPr>
              <a:grpSpLocks/>
            </p:cNvGrpSpPr>
            <p:nvPr/>
          </p:nvGrpSpPr>
          <p:grpSpPr bwMode="auto">
            <a:xfrm flipH="1">
              <a:off x="2112" y="2304"/>
              <a:ext cx="480" cy="384"/>
              <a:chOff x="1008" y="2304"/>
              <a:chExt cx="480" cy="384"/>
            </a:xfrm>
          </p:grpSpPr>
          <p:sp>
            <p:nvSpPr>
              <p:cNvPr id="433183" name="Line 31"/>
              <p:cNvSpPr>
                <a:spLocks noChangeShapeType="1"/>
              </p:cNvSpPr>
              <p:nvPr/>
            </p:nvSpPr>
            <p:spPr bwMode="auto">
              <a:xfrm flipH="1">
                <a:off x="1008" y="2304"/>
                <a:ext cx="384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184" name="Line 32"/>
              <p:cNvSpPr>
                <a:spLocks noChangeShapeType="1"/>
              </p:cNvSpPr>
              <p:nvPr/>
            </p:nvSpPr>
            <p:spPr bwMode="auto">
              <a:xfrm>
                <a:off x="1392" y="2304"/>
                <a:ext cx="9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33185" name="Line 33"/>
            <p:cNvSpPr>
              <a:spLocks noChangeShapeType="1"/>
            </p:cNvSpPr>
            <p:nvPr/>
          </p:nvSpPr>
          <p:spPr bwMode="auto">
            <a:xfrm flipH="1">
              <a:off x="816" y="2832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186" name="Line 34"/>
            <p:cNvSpPr>
              <a:spLocks noChangeShapeType="1"/>
            </p:cNvSpPr>
            <p:nvPr/>
          </p:nvSpPr>
          <p:spPr bwMode="auto">
            <a:xfrm>
              <a:off x="912" y="2839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187" name="Line 35"/>
            <p:cNvSpPr>
              <a:spLocks noChangeShapeType="1"/>
            </p:cNvSpPr>
            <p:nvPr/>
          </p:nvSpPr>
          <p:spPr bwMode="auto">
            <a:xfrm flipH="1">
              <a:off x="1413" y="2839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188" name="Line 36"/>
            <p:cNvSpPr>
              <a:spLocks noChangeShapeType="1"/>
            </p:cNvSpPr>
            <p:nvPr/>
          </p:nvSpPr>
          <p:spPr bwMode="auto">
            <a:xfrm>
              <a:off x="1509" y="2839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189" name="Line 37"/>
            <p:cNvSpPr>
              <a:spLocks noChangeShapeType="1"/>
            </p:cNvSpPr>
            <p:nvPr/>
          </p:nvSpPr>
          <p:spPr bwMode="auto">
            <a:xfrm flipH="1">
              <a:off x="1999" y="2837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190" name="Line 38"/>
            <p:cNvSpPr>
              <a:spLocks noChangeShapeType="1"/>
            </p:cNvSpPr>
            <p:nvPr/>
          </p:nvSpPr>
          <p:spPr bwMode="auto">
            <a:xfrm>
              <a:off x="2095" y="2837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191" name="Line 39"/>
            <p:cNvSpPr>
              <a:spLocks noChangeShapeType="1"/>
            </p:cNvSpPr>
            <p:nvPr/>
          </p:nvSpPr>
          <p:spPr bwMode="auto">
            <a:xfrm flipH="1">
              <a:off x="2578" y="2835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192" name="Line 40"/>
            <p:cNvSpPr>
              <a:spLocks noChangeShapeType="1"/>
            </p:cNvSpPr>
            <p:nvPr/>
          </p:nvSpPr>
          <p:spPr bwMode="auto">
            <a:xfrm>
              <a:off x="2674" y="2835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33193" name="Text Box 41"/>
          <p:cNvSpPr txBox="1">
            <a:spLocks noChangeArrowheads="1"/>
          </p:cNvSpPr>
          <p:nvPr/>
        </p:nvSpPr>
        <p:spPr bwMode="auto">
          <a:xfrm>
            <a:off x="774700" y="2378075"/>
            <a:ext cx="844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Height</a:t>
            </a:r>
          </a:p>
        </p:txBody>
      </p:sp>
      <p:sp>
        <p:nvSpPr>
          <p:cNvPr id="433194" name="Text Box 42"/>
          <p:cNvSpPr txBox="1">
            <a:spLocks noChangeArrowheads="1"/>
          </p:cNvSpPr>
          <p:nvPr/>
        </p:nvSpPr>
        <p:spPr bwMode="auto">
          <a:xfrm>
            <a:off x="6013450" y="2378075"/>
            <a:ext cx="730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Level</a:t>
            </a:r>
          </a:p>
        </p:txBody>
      </p:sp>
      <p:sp>
        <p:nvSpPr>
          <p:cNvPr id="433195" name="Text Box 43"/>
          <p:cNvSpPr txBox="1">
            <a:spLocks noChangeArrowheads="1"/>
          </p:cNvSpPr>
          <p:nvPr/>
        </p:nvSpPr>
        <p:spPr bwMode="auto">
          <a:xfrm>
            <a:off x="850900" y="2792413"/>
            <a:ext cx="14779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h</a:t>
            </a:r>
            <a:r>
              <a:rPr lang="en-US" altLang="en-US" baseline="-25000"/>
              <a:t>0</a:t>
            </a:r>
            <a:r>
              <a:rPr lang="en-US" altLang="en-US"/>
              <a:t> = 3 (</a:t>
            </a:r>
            <a:r>
              <a:rPr lang="en-US" altLang="en-US">
                <a:sym typeface="Symbol" panose="05050102010706020507" pitchFamily="18" charset="2"/>
              </a:rPr>
              <a:t>lgn</a:t>
            </a:r>
            <a:r>
              <a:rPr lang="en-US" altLang="en-US"/>
              <a:t>)</a:t>
            </a:r>
          </a:p>
        </p:txBody>
      </p:sp>
      <p:sp>
        <p:nvSpPr>
          <p:cNvPr id="433196" name="Text Box 44"/>
          <p:cNvSpPr txBox="1">
            <a:spLocks noChangeArrowheads="1"/>
          </p:cNvSpPr>
          <p:nvPr/>
        </p:nvSpPr>
        <p:spPr bwMode="auto">
          <a:xfrm>
            <a:off x="850900" y="3394075"/>
            <a:ext cx="7826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h</a:t>
            </a:r>
            <a:r>
              <a:rPr lang="en-US" altLang="en-US" baseline="-25000"/>
              <a:t>1</a:t>
            </a:r>
            <a:r>
              <a:rPr lang="en-US" altLang="en-US"/>
              <a:t> = 2</a:t>
            </a:r>
          </a:p>
        </p:txBody>
      </p:sp>
      <p:sp>
        <p:nvSpPr>
          <p:cNvPr id="433197" name="Text Box 45"/>
          <p:cNvSpPr txBox="1">
            <a:spLocks noChangeArrowheads="1"/>
          </p:cNvSpPr>
          <p:nvPr/>
        </p:nvSpPr>
        <p:spPr bwMode="auto">
          <a:xfrm>
            <a:off x="850900" y="4252913"/>
            <a:ext cx="7826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h</a:t>
            </a:r>
            <a:r>
              <a:rPr lang="en-US" altLang="en-US" baseline="-25000"/>
              <a:t>2</a:t>
            </a:r>
            <a:r>
              <a:rPr lang="en-US" altLang="en-US"/>
              <a:t> = 1</a:t>
            </a:r>
          </a:p>
        </p:txBody>
      </p:sp>
      <p:sp>
        <p:nvSpPr>
          <p:cNvPr id="433198" name="Text Box 46"/>
          <p:cNvSpPr txBox="1">
            <a:spLocks noChangeArrowheads="1"/>
          </p:cNvSpPr>
          <p:nvPr/>
        </p:nvSpPr>
        <p:spPr bwMode="auto">
          <a:xfrm>
            <a:off x="850900" y="5062538"/>
            <a:ext cx="7826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h</a:t>
            </a:r>
            <a:r>
              <a:rPr lang="en-US" altLang="en-US" baseline="-25000"/>
              <a:t>3</a:t>
            </a:r>
            <a:r>
              <a:rPr lang="en-US" altLang="en-US"/>
              <a:t> = 0</a:t>
            </a:r>
          </a:p>
        </p:txBody>
      </p:sp>
      <p:sp>
        <p:nvSpPr>
          <p:cNvPr id="433199" name="Text Box 47"/>
          <p:cNvSpPr txBox="1">
            <a:spLocks noChangeArrowheads="1"/>
          </p:cNvSpPr>
          <p:nvPr/>
        </p:nvSpPr>
        <p:spPr bwMode="auto">
          <a:xfrm>
            <a:off x="6070600" y="2792413"/>
            <a:ext cx="6223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i = 0</a:t>
            </a:r>
          </a:p>
        </p:txBody>
      </p:sp>
      <p:sp>
        <p:nvSpPr>
          <p:cNvPr id="433200" name="Text Box 48"/>
          <p:cNvSpPr txBox="1">
            <a:spLocks noChangeArrowheads="1"/>
          </p:cNvSpPr>
          <p:nvPr/>
        </p:nvSpPr>
        <p:spPr bwMode="auto">
          <a:xfrm>
            <a:off x="6070600" y="3390900"/>
            <a:ext cx="6223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i = 1</a:t>
            </a:r>
          </a:p>
        </p:txBody>
      </p:sp>
      <p:sp>
        <p:nvSpPr>
          <p:cNvPr id="433201" name="Text Box 49"/>
          <p:cNvSpPr txBox="1">
            <a:spLocks noChangeArrowheads="1"/>
          </p:cNvSpPr>
          <p:nvPr/>
        </p:nvSpPr>
        <p:spPr bwMode="auto">
          <a:xfrm>
            <a:off x="6070600" y="4249738"/>
            <a:ext cx="6223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i = 2</a:t>
            </a:r>
          </a:p>
        </p:txBody>
      </p:sp>
      <p:sp>
        <p:nvSpPr>
          <p:cNvPr id="433202" name="Text Box 50"/>
          <p:cNvSpPr txBox="1">
            <a:spLocks noChangeArrowheads="1"/>
          </p:cNvSpPr>
          <p:nvPr/>
        </p:nvSpPr>
        <p:spPr bwMode="auto">
          <a:xfrm>
            <a:off x="6070600" y="5064125"/>
            <a:ext cx="13938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i = 3  </a:t>
            </a:r>
            <a:r>
              <a:rPr lang="en-US" altLang="en-US">
                <a:latin typeface="Comic Sans MS" panose="030F0702030302020204" pitchFamily="66" charset="0"/>
              </a:rPr>
              <a:t>(</a:t>
            </a:r>
            <a:r>
              <a:rPr lang="en-US" altLang="en-US">
                <a:latin typeface="Comic Sans MS" panose="030F0702030302020204" pitchFamily="66" charset="0"/>
                <a:sym typeface="Symbol" panose="05050102010706020507" pitchFamily="18" charset="2"/>
              </a:rPr>
              <a:t>lgn</a:t>
            </a:r>
            <a:r>
              <a:rPr lang="en-US" altLang="en-US">
                <a:latin typeface="Comic Sans MS" panose="030F0702030302020204" pitchFamily="66" charset="0"/>
              </a:rPr>
              <a:t>)</a:t>
            </a:r>
          </a:p>
        </p:txBody>
      </p:sp>
      <p:sp>
        <p:nvSpPr>
          <p:cNvPr id="433203" name="Line 51"/>
          <p:cNvSpPr>
            <a:spLocks noChangeShapeType="1"/>
          </p:cNvSpPr>
          <p:nvPr/>
        </p:nvSpPr>
        <p:spPr bwMode="auto">
          <a:xfrm>
            <a:off x="655638" y="2735263"/>
            <a:ext cx="1104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3204" name="Line 52"/>
          <p:cNvSpPr>
            <a:spLocks noChangeShapeType="1"/>
          </p:cNvSpPr>
          <p:nvPr/>
        </p:nvSpPr>
        <p:spPr bwMode="auto">
          <a:xfrm>
            <a:off x="5853113" y="2732088"/>
            <a:ext cx="1104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3205" name="Text Box 53"/>
          <p:cNvSpPr txBox="1">
            <a:spLocks noChangeArrowheads="1"/>
          </p:cNvSpPr>
          <p:nvPr/>
        </p:nvSpPr>
        <p:spPr bwMode="auto">
          <a:xfrm>
            <a:off x="7288213" y="2386013"/>
            <a:ext cx="1479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No. of nodes</a:t>
            </a:r>
          </a:p>
        </p:txBody>
      </p:sp>
      <p:sp>
        <p:nvSpPr>
          <p:cNvPr id="433206" name="Text Box 54"/>
          <p:cNvSpPr txBox="1">
            <a:spLocks noChangeArrowheads="1"/>
          </p:cNvSpPr>
          <p:nvPr/>
        </p:nvSpPr>
        <p:spPr bwMode="auto">
          <a:xfrm>
            <a:off x="7767638" y="2800350"/>
            <a:ext cx="3952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2</a:t>
            </a:r>
            <a:r>
              <a:rPr lang="en-US" altLang="en-US" baseline="30000"/>
              <a:t>0</a:t>
            </a:r>
            <a:endParaRPr lang="en-US" altLang="en-US"/>
          </a:p>
        </p:txBody>
      </p:sp>
      <p:sp>
        <p:nvSpPr>
          <p:cNvPr id="433207" name="Text Box 55"/>
          <p:cNvSpPr txBox="1">
            <a:spLocks noChangeArrowheads="1"/>
          </p:cNvSpPr>
          <p:nvPr/>
        </p:nvSpPr>
        <p:spPr bwMode="auto">
          <a:xfrm>
            <a:off x="7767638" y="3398838"/>
            <a:ext cx="3952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2</a:t>
            </a:r>
            <a:r>
              <a:rPr lang="en-US" altLang="en-US" baseline="30000"/>
              <a:t>1</a:t>
            </a:r>
            <a:endParaRPr lang="en-US" altLang="en-US"/>
          </a:p>
        </p:txBody>
      </p:sp>
      <p:sp>
        <p:nvSpPr>
          <p:cNvPr id="433208" name="Text Box 56"/>
          <p:cNvSpPr txBox="1">
            <a:spLocks noChangeArrowheads="1"/>
          </p:cNvSpPr>
          <p:nvPr/>
        </p:nvSpPr>
        <p:spPr bwMode="auto">
          <a:xfrm>
            <a:off x="7767638" y="4257675"/>
            <a:ext cx="3952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2</a:t>
            </a:r>
            <a:r>
              <a:rPr lang="en-US" altLang="en-US" baseline="30000"/>
              <a:t>2</a:t>
            </a:r>
            <a:endParaRPr lang="en-US" altLang="en-US"/>
          </a:p>
        </p:txBody>
      </p:sp>
      <p:sp>
        <p:nvSpPr>
          <p:cNvPr id="433209" name="Text Box 57"/>
          <p:cNvSpPr txBox="1">
            <a:spLocks noChangeArrowheads="1"/>
          </p:cNvSpPr>
          <p:nvPr/>
        </p:nvSpPr>
        <p:spPr bwMode="auto">
          <a:xfrm>
            <a:off x="7767638" y="5067300"/>
            <a:ext cx="3952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2</a:t>
            </a:r>
            <a:r>
              <a:rPr lang="en-US" altLang="en-US" baseline="30000"/>
              <a:t>3</a:t>
            </a:r>
            <a:endParaRPr lang="en-US" altLang="en-US"/>
          </a:p>
        </p:txBody>
      </p:sp>
      <p:sp>
        <p:nvSpPr>
          <p:cNvPr id="433210" name="Line 58"/>
          <p:cNvSpPr>
            <a:spLocks noChangeShapeType="1"/>
          </p:cNvSpPr>
          <p:nvPr/>
        </p:nvSpPr>
        <p:spPr bwMode="auto">
          <a:xfrm>
            <a:off x="7127875" y="2740025"/>
            <a:ext cx="17748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433219" name="AutoShape 67"/>
          <p:cNvCxnSpPr>
            <a:cxnSpLocks noChangeShapeType="1"/>
            <a:stCxn id="433206" idx="2"/>
            <a:endCxn id="433195" idx="2"/>
          </p:cNvCxnSpPr>
          <p:nvPr/>
        </p:nvCxnSpPr>
        <p:spPr bwMode="auto">
          <a:xfrm rot="16200000" flipV="1">
            <a:off x="4774406" y="-24606"/>
            <a:ext cx="7938" cy="6375400"/>
          </a:xfrm>
          <a:prstGeom prst="curvedConnector3">
            <a:avLst>
              <a:gd name="adj1" fmla="val -2880000"/>
            </a:avLst>
          </a:prstGeom>
          <a:noFill/>
          <a:ln w="38100">
            <a:solidFill>
              <a:srgbClr val="DD011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3220" name="AutoShape 68"/>
          <p:cNvCxnSpPr>
            <a:cxnSpLocks noChangeShapeType="1"/>
          </p:cNvCxnSpPr>
          <p:nvPr/>
        </p:nvCxnSpPr>
        <p:spPr bwMode="auto">
          <a:xfrm rot="16200000" flipV="1">
            <a:off x="4777581" y="592932"/>
            <a:ext cx="7937" cy="6375400"/>
          </a:xfrm>
          <a:prstGeom prst="curvedConnector3">
            <a:avLst>
              <a:gd name="adj1" fmla="val -2880000"/>
            </a:avLst>
          </a:prstGeom>
          <a:noFill/>
          <a:ln w="38100">
            <a:solidFill>
              <a:srgbClr val="DD011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3221" name="AutoShape 69"/>
          <p:cNvCxnSpPr>
            <a:cxnSpLocks noChangeShapeType="1"/>
          </p:cNvCxnSpPr>
          <p:nvPr/>
        </p:nvCxnSpPr>
        <p:spPr bwMode="auto">
          <a:xfrm rot="16200000" flipV="1">
            <a:off x="4631531" y="1435894"/>
            <a:ext cx="7938" cy="6375400"/>
          </a:xfrm>
          <a:prstGeom prst="curvedConnector3">
            <a:avLst>
              <a:gd name="adj1" fmla="val -2880000"/>
            </a:avLst>
          </a:prstGeom>
          <a:noFill/>
          <a:ln w="38100">
            <a:solidFill>
              <a:srgbClr val="DD011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3222" name="AutoShape 70"/>
          <p:cNvCxnSpPr>
            <a:cxnSpLocks noChangeShapeType="1"/>
          </p:cNvCxnSpPr>
          <p:nvPr/>
        </p:nvCxnSpPr>
        <p:spPr bwMode="auto">
          <a:xfrm rot="16200000" flipV="1">
            <a:off x="4634706" y="2242344"/>
            <a:ext cx="7938" cy="6375400"/>
          </a:xfrm>
          <a:prstGeom prst="curvedConnector3">
            <a:avLst>
              <a:gd name="adj1" fmla="val -2880000"/>
            </a:avLst>
          </a:prstGeom>
          <a:noFill/>
          <a:ln w="38100">
            <a:solidFill>
              <a:srgbClr val="DD011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>
          <a:xfrm>
            <a:off x="5294313" y="1936750"/>
            <a:ext cx="4038600" cy="46259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052693" y="1909416"/>
            <a:ext cx="2020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T(n)=O(n)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457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Running Time of BUILD MAX HEAP</a:t>
            </a:r>
          </a:p>
        </p:txBody>
      </p:sp>
      <p:sp>
        <p:nvSpPr>
          <p:cNvPr id="4331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39713" y="1125538"/>
            <a:ext cx="8578850" cy="935037"/>
          </a:xfrm>
        </p:spPr>
        <p:txBody>
          <a:bodyPr/>
          <a:lstStyle/>
          <a:p>
            <a:r>
              <a:rPr lang="en-US" altLang="en-US" sz="2400"/>
              <a:t>HEAPIFY takes </a:t>
            </a:r>
            <a:r>
              <a:rPr lang="en-US" altLang="en-US" sz="2400">
                <a:latin typeface="Comic Sans MS" panose="030F0702030302020204" pitchFamily="66" charset="0"/>
              </a:rPr>
              <a:t>O(h)</a:t>
            </a:r>
            <a:r>
              <a:rPr lang="en-US" altLang="en-US" sz="2400"/>
              <a:t> </a:t>
            </a:r>
            <a:r>
              <a:rPr lang="en-US" altLang="en-US" sz="2400">
                <a:sym typeface="Symbol" panose="05050102010706020507" pitchFamily="18" charset="2"/>
              </a:rPr>
              <a:t> the cost of HEAPIFY on a node </a:t>
            </a:r>
            <a:r>
              <a:rPr lang="en-US" altLang="en-US" sz="240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n-US" altLang="en-US" sz="2400">
                <a:sym typeface="Symbol" panose="05050102010706020507" pitchFamily="18" charset="2"/>
              </a:rPr>
              <a:t> is proportional to the height of the node </a:t>
            </a:r>
            <a:r>
              <a:rPr lang="en-US" altLang="en-US" sz="240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n-US" altLang="en-US" sz="2400">
                <a:sym typeface="Symbol" panose="05050102010706020507" pitchFamily="18" charset="2"/>
              </a:rPr>
              <a:t> in the tree</a:t>
            </a:r>
          </a:p>
        </p:txBody>
      </p:sp>
      <p:grpSp>
        <p:nvGrpSpPr>
          <p:cNvPr id="433156" name="Group 4"/>
          <p:cNvGrpSpPr>
            <a:grpSpLocks/>
          </p:cNvGrpSpPr>
          <p:nvPr/>
        </p:nvGrpSpPr>
        <p:grpSpPr bwMode="auto">
          <a:xfrm>
            <a:off x="2049463" y="2867025"/>
            <a:ext cx="3565525" cy="2543175"/>
            <a:chOff x="682" y="1758"/>
            <a:chExt cx="2246" cy="1602"/>
          </a:xfrm>
        </p:grpSpPr>
        <p:sp>
          <p:nvSpPr>
            <p:cNvPr id="433157" name="Line 5"/>
            <p:cNvSpPr>
              <a:spLocks noChangeAspect="1" noChangeShapeType="1"/>
            </p:cNvSpPr>
            <p:nvPr/>
          </p:nvSpPr>
          <p:spPr bwMode="auto">
            <a:xfrm rot="16200000" flipV="1">
              <a:off x="1745" y="1818"/>
              <a:ext cx="449" cy="4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158" name="Line 6"/>
            <p:cNvSpPr>
              <a:spLocks noChangeShapeType="1"/>
            </p:cNvSpPr>
            <p:nvPr/>
          </p:nvSpPr>
          <p:spPr bwMode="auto">
            <a:xfrm flipV="1">
              <a:off x="1440" y="1854"/>
              <a:ext cx="394" cy="3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159" name="Oval 7"/>
            <p:cNvSpPr>
              <a:spLocks noChangeArrowheads="1"/>
            </p:cNvSpPr>
            <p:nvPr/>
          </p:nvSpPr>
          <p:spPr bwMode="auto">
            <a:xfrm>
              <a:off x="1703" y="1758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/>
            </a:p>
          </p:txBody>
        </p:sp>
        <p:grpSp>
          <p:nvGrpSpPr>
            <p:cNvPr id="433160" name="Group 8"/>
            <p:cNvGrpSpPr>
              <a:grpSpLocks/>
            </p:cNvGrpSpPr>
            <p:nvPr/>
          </p:nvGrpSpPr>
          <p:grpSpPr bwMode="auto">
            <a:xfrm>
              <a:off x="1353" y="2112"/>
              <a:ext cx="903" cy="202"/>
              <a:chOff x="1065" y="2112"/>
              <a:chExt cx="903" cy="202"/>
            </a:xfrm>
          </p:grpSpPr>
          <p:sp>
            <p:nvSpPr>
              <p:cNvPr id="433161" name="Oval 9"/>
              <p:cNvSpPr>
                <a:spLocks noChangeArrowheads="1"/>
              </p:cNvSpPr>
              <p:nvPr/>
            </p:nvSpPr>
            <p:spPr bwMode="auto">
              <a:xfrm>
                <a:off x="1065" y="2112"/>
                <a:ext cx="202" cy="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/>
              </a:p>
            </p:txBody>
          </p:sp>
          <p:sp>
            <p:nvSpPr>
              <p:cNvPr id="433162" name="Oval 10"/>
              <p:cNvSpPr>
                <a:spLocks noChangeArrowheads="1"/>
              </p:cNvSpPr>
              <p:nvPr/>
            </p:nvSpPr>
            <p:spPr bwMode="auto">
              <a:xfrm>
                <a:off x="1766" y="2112"/>
                <a:ext cx="202" cy="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/>
              </a:p>
            </p:txBody>
          </p:sp>
        </p:grpSp>
        <p:sp>
          <p:nvSpPr>
            <p:cNvPr id="433163" name="Oval 11"/>
            <p:cNvSpPr>
              <a:spLocks noChangeArrowheads="1"/>
            </p:cNvSpPr>
            <p:nvPr/>
          </p:nvSpPr>
          <p:spPr bwMode="auto">
            <a:xfrm>
              <a:off x="828" y="2635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/>
            </a:p>
          </p:txBody>
        </p:sp>
        <p:sp>
          <p:nvSpPr>
            <p:cNvPr id="433164" name="Oval 12"/>
            <p:cNvSpPr>
              <a:spLocks noChangeArrowheads="1"/>
            </p:cNvSpPr>
            <p:nvPr/>
          </p:nvSpPr>
          <p:spPr bwMode="auto">
            <a:xfrm>
              <a:off x="1412" y="2635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/>
            </a:p>
          </p:txBody>
        </p:sp>
        <p:sp>
          <p:nvSpPr>
            <p:cNvPr id="433165" name="Oval 13"/>
            <p:cNvSpPr>
              <a:spLocks noChangeArrowheads="1"/>
            </p:cNvSpPr>
            <p:nvPr/>
          </p:nvSpPr>
          <p:spPr bwMode="auto">
            <a:xfrm>
              <a:off x="1996" y="2635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/>
            </a:p>
          </p:txBody>
        </p:sp>
        <p:sp>
          <p:nvSpPr>
            <p:cNvPr id="433166" name="Oval 14"/>
            <p:cNvSpPr>
              <a:spLocks noChangeArrowheads="1"/>
            </p:cNvSpPr>
            <p:nvPr/>
          </p:nvSpPr>
          <p:spPr bwMode="auto">
            <a:xfrm>
              <a:off x="2580" y="2635"/>
              <a:ext cx="202" cy="20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/>
            </a:p>
          </p:txBody>
        </p:sp>
        <p:grpSp>
          <p:nvGrpSpPr>
            <p:cNvPr id="433167" name="Group 15"/>
            <p:cNvGrpSpPr>
              <a:grpSpLocks/>
            </p:cNvGrpSpPr>
            <p:nvPr/>
          </p:nvGrpSpPr>
          <p:grpSpPr bwMode="auto">
            <a:xfrm>
              <a:off x="682" y="3158"/>
              <a:ext cx="494" cy="202"/>
              <a:chOff x="394" y="3158"/>
              <a:chExt cx="494" cy="202"/>
            </a:xfrm>
          </p:grpSpPr>
          <p:sp>
            <p:nvSpPr>
              <p:cNvPr id="433168" name="Oval 16"/>
              <p:cNvSpPr>
                <a:spLocks noChangeArrowheads="1"/>
              </p:cNvSpPr>
              <p:nvPr/>
            </p:nvSpPr>
            <p:spPr bwMode="auto">
              <a:xfrm>
                <a:off x="394" y="3158"/>
                <a:ext cx="202" cy="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/>
              </a:p>
            </p:txBody>
          </p:sp>
          <p:sp>
            <p:nvSpPr>
              <p:cNvPr id="433169" name="Oval 17"/>
              <p:cNvSpPr>
                <a:spLocks noChangeArrowheads="1"/>
              </p:cNvSpPr>
              <p:nvPr/>
            </p:nvSpPr>
            <p:spPr bwMode="auto">
              <a:xfrm>
                <a:off x="686" y="3158"/>
                <a:ext cx="202" cy="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/>
              </a:p>
            </p:txBody>
          </p:sp>
        </p:grpSp>
        <p:grpSp>
          <p:nvGrpSpPr>
            <p:cNvPr id="433170" name="Group 18"/>
            <p:cNvGrpSpPr>
              <a:grpSpLocks/>
            </p:cNvGrpSpPr>
            <p:nvPr/>
          </p:nvGrpSpPr>
          <p:grpSpPr bwMode="auto">
            <a:xfrm>
              <a:off x="1266" y="3158"/>
              <a:ext cx="494" cy="202"/>
              <a:chOff x="978" y="3158"/>
              <a:chExt cx="494" cy="202"/>
            </a:xfrm>
          </p:grpSpPr>
          <p:sp>
            <p:nvSpPr>
              <p:cNvPr id="433171" name="Oval 19"/>
              <p:cNvSpPr>
                <a:spLocks noChangeArrowheads="1"/>
              </p:cNvSpPr>
              <p:nvPr/>
            </p:nvSpPr>
            <p:spPr bwMode="auto">
              <a:xfrm>
                <a:off x="978" y="3158"/>
                <a:ext cx="202" cy="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/>
              </a:p>
            </p:txBody>
          </p:sp>
          <p:sp>
            <p:nvSpPr>
              <p:cNvPr id="433172" name="Oval 20"/>
              <p:cNvSpPr>
                <a:spLocks noChangeArrowheads="1"/>
              </p:cNvSpPr>
              <p:nvPr/>
            </p:nvSpPr>
            <p:spPr bwMode="auto">
              <a:xfrm>
                <a:off x="1270" y="3158"/>
                <a:ext cx="202" cy="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/>
              </a:p>
            </p:txBody>
          </p:sp>
        </p:grpSp>
        <p:grpSp>
          <p:nvGrpSpPr>
            <p:cNvPr id="433173" name="Group 21"/>
            <p:cNvGrpSpPr>
              <a:grpSpLocks/>
            </p:cNvGrpSpPr>
            <p:nvPr/>
          </p:nvGrpSpPr>
          <p:grpSpPr bwMode="auto">
            <a:xfrm>
              <a:off x="1850" y="3158"/>
              <a:ext cx="494" cy="202"/>
              <a:chOff x="1562" y="3158"/>
              <a:chExt cx="494" cy="202"/>
            </a:xfrm>
          </p:grpSpPr>
          <p:sp>
            <p:nvSpPr>
              <p:cNvPr id="433174" name="Oval 22"/>
              <p:cNvSpPr>
                <a:spLocks noChangeArrowheads="1"/>
              </p:cNvSpPr>
              <p:nvPr/>
            </p:nvSpPr>
            <p:spPr bwMode="auto">
              <a:xfrm>
                <a:off x="1854" y="3158"/>
                <a:ext cx="202" cy="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/>
              </a:p>
            </p:txBody>
          </p:sp>
          <p:sp>
            <p:nvSpPr>
              <p:cNvPr id="433175" name="Oval 23"/>
              <p:cNvSpPr>
                <a:spLocks noChangeArrowheads="1"/>
              </p:cNvSpPr>
              <p:nvPr/>
            </p:nvSpPr>
            <p:spPr bwMode="auto">
              <a:xfrm>
                <a:off x="1562" y="3158"/>
                <a:ext cx="202" cy="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/>
              </a:p>
            </p:txBody>
          </p:sp>
        </p:grpSp>
        <p:grpSp>
          <p:nvGrpSpPr>
            <p:cNvPr id="433176" name="Group 24"/>
            <p:cNvGrpSpPr>
              <a:grpSpLocks/>
            </p:cNvGrpSpPr>
            <p:nvPr/>
          </p:nvGrpSpPr>
          <p:grpSpPr bwMode="auto">
            <a:xfrm>
              <a:off x="2434" y="3158"/>
              <a:ext cx="494" cy="202"/>
              <a:chOff x="2146" y="3158"/>
              <a:chExt cx="494" cy="202"/>
            </a:xfrm>
          </p:grpSpPr>
          <p:sp>
            <p:nvSpPr>
              <p:cNvPr id="433177" name="Oval 25"/>
              <p:cNvSpPr>
                <a:spLocks noChangeArrowheads="1"/>
              </p:cNvSpPr>
              <p:nvPr/>
            </p:nvSpPr>
            <p:spPr bwMode="auto">
              <a:xfrm>
                <a:off x="2146" y="3158"/>
                <a:ext cx="202" cy="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/>
              </a:p>
            </p:txBody>
          </p:sp>
          <p:sp>
            <p:nvSpPr>
              <p:cNvPr id="433178" name="Oval 26"/>
              <p:cNvSpPr>
                <a:spLocks noChangeArrowheads="1"/>
              </p:cNvSpPr>
              <p:nvPr/>
            </p:nvSpPr>
            <p:spPr bwMode="auto">
              <a:xfrm>
                <a:off x="2438" y="3158"/>
                <a:ext cx="202" cy="20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/>
              </a:p>
            </p:txBody>
          </p:sp>
        </p:grpSp>
        <p:grpSp>
          <p:nvGrpSpPr>
            <p:cNvPr id="433179" name="Group 27"/>
            <p:cNvGrpSpPr>
              <a:grpSpLocks/>
            </p:cNvGrpSpPr>
            <p:nvPr/>
          </p:nvGrpSpPr>
          <p:grpSpPr bwMode="auto">
            <a:xfrm>
              <a:off x="1008" y="2304"/>
              <a:ext cx="480" cy="384"/>
              <a:chOff x="1008" y="2304"/>
              <a:chExt cx="480" cy="384"/>
            </a:xfrm>
          </p:grpSpPr>
          <p:sp>
            <p:nvSpPr>
              <p:cNvPr id="433180" name="Line 28"/>
              <p:cNvSpPr>
                <a:spLocks noChangeShapeType="1"/>
              </p:cNvSpPr>
              <p:nvPr/>
            </p:nvSpPr>
            <p:spPr bwMode="auto">
              <a:xfrm flipH="1">
                <a:off x="1008" y="2304"/>
                <a:ext cx="384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181" name="Line 29"/>
              <p:cNvSpPr>
                <a:spLocks noChangeShapeType="1"/>
              </p:cNvSpPr>
              <p:nvPr/>
            </p:nvSpPr>
            <p:spPr bwMode="auto">
              <a:xfrm>
                <a:off x="1392" y="2304"/>
                <a:ext cx="9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33182" name="Group 30"/>
            <p:cNvGrpSpPr>
              <a:grpSpLocks/>
            </p:cNvGrpSpPr>
            <p:nvPr/>
          </p:nvGrpSpPr>
          <p:grpSpPr bwMode="auto">
            <a:xfrm flipH="1">
              <a:off x="2112" y="2304"/>
              <a:ext cx="480" cy="384"/>
              <a:chOff x="1008" y="2304"/>
              <a:chExt cx="480" cy="384"/>
            </a:xfrm>
          </p:grpSpPr>
          <p:sp>
            <p:nvSpPr>
              <p:cNvPr id="433183" name="Line 31"/>
              <p:cNvSpPr>
                <a:spLocks noChangeShapeType="1"/>
              </p:cNvSpPr>
              <p:nvPr/>
            </p:nvSpPr>
            <p:spPr bwMode="auto">
              <a:xfrm flipH="1">
                <a:off x="1008" y="2304"/>
                <a:ext cx="384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184" name="Line 32"/>
              <p:cNvSpPr>
                <a:spLocks noChangeShapeType="1"/>
              </p:cNvSpPr>
              <p:nvPr/>
            </p:nvSpPr>
            <p:spPr bwMode="auto">
              <a:xfrm>
                <a:off x="1392" y="2304"/>
                <a:ext cx="9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33185" name="Line 33"/>
            <p:cNvSpPr>
              <a:spLocks noChangeShapeType="1"/>
            </p:cNvSpPr>
            <p:nvPr/>
          </p:nvSpPr>
          <p:spPr bwMode="auto">
            <a:xfrm flipH="1">
              <a:off x="816" y="2832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186" name="Line 34"/>
            <p:cNvSpPr>
              <a:spLocks noChangeShapeType="1"/>
            </p:cNvSpPr>
            <p:nvPr/>
          </p:nvSpPr>
          <p:spPr bwMode="auto">
            <a:xfrm>
              <a:off x="912" y="2839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187" name="Line 35"/>
            <p:cNvSpPr>
              <a:spLocks noChangeShapeType="1"/>
            </p:cNvSpPr>
            <p:nvPr/>
          </p:nvSpPr>
          <p:spPr bwMode="auto">
            <a:xfrm flipH="1">
              <a:off x="1413" y="2839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188" name="Line 36"/>
            <p:cNvSpPr>
              <a:spLocks noChangeShapeType="1"/>
            </p:cNvSpPr>
            <p:nvPr/>
          </p:nvSpPr>
          <p:spPr bwMode="auto">
            <a:xfrm>
              <a:off x="1509" y="2839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189" name="Line 37"/>
            <p:cNvSpPr>
              <a:spLocks noChangeShapeType="1"/>
            </p:cNvSpPr>
            <p:nvPr/>
          </p:nvSpPr>
          <p:spPr bwMode="auto">
            <a:xfrm flipH="1">
              <a:off x="1999" y="2837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190" name="Line 38"/>
            <p:cNvSpPr>
              <a:spLocks noChangeShapeType="1"/>
            </p:cNvSpPr>
            <p:nvPr/>
          </p:nvSpPr>
          <p:spPr bwMode="auto">
            <a:xfrm>
              <a:off x="2095" y="2837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191" name="Line 39"/>
            <p:cNvSpPr>
              <a:spLocks noChangeShapeType="1"/>
            </p:cNvSpPr>
            <p:nvPr/>
          </p:nvSpPr>
          <p:spPr bwMode="auto">
            <a:xfrm flipH="1">
              <a:off x="2578" y="2835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3192" name="Line 40"/>
            <p:cNvSpPr>
              <a:spLocks noChangeShapeType="1"/>
            </p:cNvSpPr>
            <p:nvPr/>
          </p:nvSpPr>
          <p:spPr bwMode="auto">
            <a:xfrm>
              <a:off x="2674" y="2835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33193" name="Text Box 41"/>
          <p:cNvSpPr txBox="1">
            <a:spLocks noChangeArrowheads="1"/>
          </p:cNvSpPr>
          <p:nvPr/>
        </p:nvSpPr>
        <p:spPr bwMode="auto">
          <a:xfrm>
            <a:off x="774700" y="2378075"/>
            <a:ext cx="844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Height</a:t>
            </a:r>
          </a:p>
        </p:txBody>
      </p:sp>
      <p:sp>
        <p:nvSpPr>
          <p:cNvPr id="433194" name="Text Box 42"/>
          <p:cNvSpPr txBox="1">
            <a:spLocks noChangeArrowheads="1"/>
          </p:cNvSpPr>
          <p:nvPr/>
        </p:nvSpPr>
        <p:spPr bwMode="auto">
          <a:xfrm>
            <a:off x="6013450" y="2378075"/>
            <a:ext cx="730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Level</a:t>
            </a:r>
          </a:p>
        </p:txBody>
      </p:sp>
      <p:sp>
        <p:nvSpPr>
          <p:cNvPr id="433195" name="Text Box 43"/>
          <p:cNvSpPr txBox="1">
            <a:spLocks noChangeArrowheads="1"/>
          </p:cNvSpPr>
          <p:nvPr/>
        </p:nvSpPr>
        <p:spPr bwMode="auto">
          <a:xfrm>
            <a:off x="850900" y="2792413"/>
            <a:ext cx="14779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h</a:t>
            </a:r>
            <a:r>
              <a:rPr lang="en-US" altLang="en-US" baseline="-25000"/>
              <a:t>0</a:t>
            </a:r>
            <a:r>
              <a:rPr lang="en-US" altLang="en-US"/>
              <a:t> = 3 (</a:t>
            </a:r>
            <a:r>
              <a:rPr lang="en-US" altLang="en-US">
                <a:sym typeface="Symbol" panose="05050102010706020507" pitchFamily="18" charset="2"/>
              </a:rPr>
              <a:t>lgn</a:t>
            </a:r>
            <a:r>
              <a:rPr lang="en-US" altLang="en-US"/>
              <a:t>)</a:t>
            </a:r>
          </a:p>
        </p:txBody>
      </p:sp>
      <p:sp>
        <p:nvSpPr>
          <p:cNvPr id="433196" name="Text Box 44"/>
          <p:cNvSpPr txBox="1">
            <a:spLocks noChangeArrowheads="1"/>
          </p:cNvSpPr>
          <p:nvPr/>
        </p:nvSpPr>
        <p:spPr bwMode="auto">
          <a:xfrm>
            <a:off x="850900" y="3394075"/>
            <a:ext cx="7826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h</a:t>
            </a:r>
            <a:r>
              <a:rPr lang="en-US" altLang="en-US" baseline="-25000"/>
              <a:t>1</a:t>
            </a:r>
            <a:r>
              <a:rPr lang="en-US" altLang="en-US"/>
              <a:t> = 2</a:t>
            </a:r>
          </a:p>
        </p:txBody>
      </p:sp>
      <p:sp>
        <p:nvSpPr>
          <p:cNvPr id="433197" name="Text Box 45"/>
          <p:cNvSpPr txBox="1">
            <a:spLocks noChangeArrowheads="1"/>
          </p:cNvSpPr>
          <p:nvPr/>
        </p:nvSpPr>
        <p:spPr bwMode="auto">
          <a:xfrm>
            <a:off x="850900" y="4252913"/>
            <a:ext cx="7826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h</a:t>
            </a:r>
            <a:r>
              <a:rPr lang="en-US" altLang="en-US" baseline="-25000"/>
              <a:t>2</a:t>
            </a:r>
            <a:r>
              <a:rPr lang="en-US" altLang="en-US"/>
              <a:t> = 1</a:t>
            </a:r>
          </a:p>
        </p:txBody>
      </p:sp>
      <p:sp>
        <p:nvSpPr>
          <p:cNvPr id="433198" name="Text Box 46"/>
          <p:cNvSpPr txBox="1">
            <a:spLocks noChangeArrowheads="1"/>
          </p:cNvSpPr>
          <p:nvPr/>
        </p:nvSpPr>
        <p:spPr bwMode="auto">
          <a:xfrm>
            <a:off x="850900" y="5062538"/>
            <a:ext cx="7826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h</a:t>
            </a:r>
            <a:r>
              <a:rPr lang="en-US" altLang="en-US" baseline="-25000"/>
              <a:t>3</a:t>
            </a:r>
            <a:r>
              <a:rPr lang="en-US" altLang="en-US"/>
              <a:t> = 0</a:t>
            </a:r>
          </a:p>
        </p:txBody>
      </p:sp>
      <p:sp>
        <p:nvSpPr>
          <p:cNvPr id="433199" name="Text Box 47"/>
          <p:cNvSpPr txBox="1">
            <a:spLocks noChangeArrowheads="1"/>
          </p:cNvSpPr>
          <p:nvPr/>
        </p:nvSpPr>
        <p:spPr bwMode="auto">
          <a:xfrm>
            <a:off x="6070600" y="2792413"/>
            <a:ext cx="6223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i = 0</a:t>
            </a:r>
          </a:p>
        </p:txBody>
      </p:sp>
      <p:sp>
        <p:nvSpPr>
          <p:cNvPr id="433200" name="Text Box 48"/>
          <p:cNvSpPr txBox="1">
            <a:spLocks noChangeArrowheads="1"/>
          </p:cNvSpPr>
          <p:nvPr/>
        </p:nvSpPr>
        <p:spPr bwMode="auto">
          <a:xfrm>
            <a:off x="6070600" y="3390900"/>
            <a:ext cx="6223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i = 1</a:t>
            </a:r>
          </a:p>
        </p:txBody>
      </p:sp>
      <p:sp>
        <p:nvSpPr>
          <p:cNvPr id="433201" name="Text Box 49"/>
          <p:cNvSpPr txBox="1">
            <a:spLocks noChangeArrowheads="1"/>
          </p:cNvSpPr>
          <p:nvPr/>
        </p:nvSpPr>
        <p:spPr bwMode="auto">
          <a:xfrm>
            <a:off x="6070600" y="4249738"/>
            <a:ext cx="6223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i = 2</a:t>
            </a:r>
          </a:p>
        </p:txBody>
      </p:sp>
      <p:sp>
        <p:nvSpPr>
          <p:cNvPr id="433202" name="Text Box 50"/>
          <p:cNvSpPr txBox="1">
            <a:spLocks noChangeArrowheads="1"/>
          </p:cNvSpPr>
          <p:nvPr/>
        </p:nvSpPr>
        <p:spPr bwMode="auto">
          <a:xfrm>
            <a:off x="6070600" y="5064125"/>
            <a:ext cx="13938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i = 3  </a:t>
            </a:r>
            <a:r>
              <a:rPr lang="en-US" altLang="en-US">
                <a:latin typeface="Comic Sans MS" panose="030F0702030302020204" pitchFamily="66" charset="0"/>
              </a:rPr>
              <a:t>(</a:t>
            </a:r>
            <a:r>
              <a:rPr lang="en-US" altLang="en-US">
                <a:latin typeface="Comic Sans MS" panose="030F0702030302020204" pitchFamily="66" charset="0"/>
                <a:sym typeface="Symbol" panose="05050102010706020507" pitchFamily="18" charset="2"/>
              </a:rPr>
              <a:t>lgn</a:t>
            </a:r>
            <a:r>
              <a:rPr lang="en-US" altLang="en-US">
                <a:latin typeface="Comic Sans MS" panose="030F0702030302020204" pitchFamily="66" charset="0"/>
              </a:rPr>
              <a:t>)</a:t>
            </a:r>
          </a:p>
        </p:txBody>
      </p:sp>
      <p:sp>
        <p:nvSpPr>
          <p:cNvPr id="433203" name="Line 51"/>
          <p:cNvSpPr>
            <a:spLocks noChangeShapeType="1"/>
          </p:cNvSpPr>
          <p:nvPr/>
        </p:nvSpPr>
        <p:spPr bwMode="auto">
          <a:xfrm>
            <a:off x="655638" y="2735263"/>
            <a:ext cx="1104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3204" name="Line 52"/>
          <p:cNvSpPr>
            <a:spLocks noChangeShapeType="1"/>
          </p:cNvSpPr>
          <p:nvPr/>
        </p:nvSpPr>
        <p:spPr bwMode="auto">
          <a:xfrm>
            <a:off x="5853113" y="2732088"/>
            <a:ext cx="1104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3205" name="Text Box 53"/>
          <p:cNvSpPr txBox="1">
            <a:spLocks noChangeArrowheads="1"/>
          </p:cNvSpPr>
          <p:nvPr/>
        </p:nvSpPr>
        <p:spPr bwMode="auto">
          <a:xfrm>
            <a:off x="7288213" y="2386013"/>
            <a:ext cx="1479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No. of nodes</a:t>
            </a:r>
          </a:p>
        </p:txBody>
      </p:sp>
      <p:sp>
        <p:nvSpPr>
          <p:cNvPr id="433206" name="Text Box 54"/>
          <p:cNvSpPr txBox="1">
            <a:spLocks noChangeArrowheads="1"/>
          </p:cNvSpPr>
          <p:nvPr/>
        </p:nvSpPr>
        <p:spPr bwMode="auto">
          <a:xfrm>
            <a:off x="7767638" y="2800350"/>
            <a:ext cx="3952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2</a:t>
            </a:r>
            <a:r>
              <a:rPr lang="en-US" altLang="en-US" baseline="30000"/>
              <a:t>0</a:t>
            </a:r>
            <a:endParaRPr lang="en-US" altLang="en-US"/>
          </a:p>
        </p:txBody>
      </p:sp>
      <p:sp>
        <p:nvSpPr>
          <p:cNvPr id="433207" name="Text Box 55"/>
          <p:cNvSpPr txBox="1">
            <a:spLocks noChangeArrowheads="1"/>
          </p:cNvSpPr>
          <p:nvPr/>
        </p:nvSpPr>
        <p:spPr bwMode="auto">
          <a:xfrm>
            <a:off x="7767638" y="3398838"/>
            <a:ext cx="3952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2</a:t>
            </a:r>
            <a:r>
              <a:rPr lang="en-US" altLang="en-US" baseline="30000"/>
              <a:t>1</a:t>
            </a:r>
            <a:endParaRPr lang="en-US" altLang="en-US"/>
          </a:p>
        </p:txBody>
      </p:sp>
      <p:sp>
        <p:nvSpPr>
          <p:cNvPr id="433208" name="Text Box 56"/>
          <p:cNvSpPr txBox="1">
            <a:spLocks noChangeArrowheads="1"/>
          </p:cNvSpPr>
          <p:nvPr/>
        </p:nvSpPr>
        <p:spPr bwMode="auto">
          <a:xfrm>
            <a:off x="7767638" y="4257675"/>
            <a:ext cx="3952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2</a:t>
            </a:r>
            <a:r>
              <a:rPr lang="en-US" altLang="en-US" baseline="30000"/>
              <a:t>2</a:t>
            </a:r>
            <a:endParaRPr lang="en-US" altLang="en-US"/>
          </a:p>
        </p:txBody>
      </p:sp>
      <p:sp>
        <p:nvSpPr>
          <p:cNvPr id="433209" name="Text Box 57"/>
          <p:cNvSpPr txBox="1">
            <a:spLocks noChangeArrowheads="1"/>
          </p:cNvSpPr>
          <p:nvPr/>
        </p:nvSpPr>
        <p:spPr bwMode="auto">
          <a:xfrm>
            <a:off x="7767638" y="5067300"/>
            <a:ext cx="3952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2</a:t>
            </a:r>
            <a:r>
              <a:rPr lang="en-US" altLang="en-US" baseline="30000"/>
              <a:t>3</a:t>
            </a:r>
            <a:endParaRPr lang="en-US" altLang="en-US"/>
          </a:p>
        </p:txBody>
      </p:sp>
      <p:sp>
        <p:nvSpPr>
          <p:cNvPr id="433210" name="Line 58"/>
          <p:cNvSpPr>
            <a:spLocks noChangeShapeType="1"/>
          </p:cNvSpPr>
          <p:nvPr/>
        </p:nvSpPr>
        <p:spPr bwMode="auto">
          <a:xfrm>
            <a:off x="7127875" y="2740025"/>
            <a:ext cx="17748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3211" name="Text Box 59"/>
          <p:cNvSpPr txBox="1">
            <a:spLocks noChangeArrowheads="1"/>
          </p:cNvSpPr>
          <p:nvPr/>
        </p:nvSpPr>
        <p:spPr bwMode="auto">
          <a:xfrm>
            <a:off x="984250" y="5656263"/>
            <a:ext cx="63785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400"/>
              <a:t>h</a:t>
            </a:r>
            <a:r>
              <a:rPr lang="en-US" altLang="en-US" sz="2400" baseline="-25000"/>
              <a:t>i</a:t>
            </a:r>
            <a:r>
              <a:rPr lang="en-US" altLang="en-US" sz="2400"/>
              <a:t> = h – i   height of the heap rooted at level i</a:t>
            </a:r>
          </a:p>
          <a:p>
            <a:r>
              <a:rPr lang="en-US" altLang="en-US" sz="2400"/>
              <a:t>n</a:t>
            </a:r>
            <a:r>
              <a:rPr lang="en-US" altLang="en-US" sz="2400" baseline="-25000"/>
              <a:t>i</a:t>
            </a:r>
            <a:r>
              <a:rPr lang="en-US" altLang="en-US" sz="2400"/>
              <a:t> = 2</a:t>
            </a:r>
            <a:r>
              <a:rPr lang="en-US" altLang="en-US" sz="2400" baseline="30000"/>
              <a:t>i</a:t>
            </a:r>
            <a:r>
              <a:rPr lang="en-US" altLang="en-US" sz="2400"/>
              <a:t>	      number of nodes at level i</a:t>
            </a:r>
          </a:p>
        </p:txBody>
      </p:sp>
      <p:graphicFrame>
        <p:nvGraphicFramePr>
          <p:cNvPr id="433212" name="Object 60"/>
          <p:cNvGraphicFramePr>
            <a:graphicFrameLocks noGrp="1" noChangeAspect="1"/>
          </p:cNvGraphicFramePr>
          <p:nvPr>
            <p:ph sz="half" idx="2"/>
          </p:nvPr>
        </p:nvGraphicFramePr>
        <p:xfrm>
          <a:off x="2897188" y="1787525"/>
          <a:ext cx="2166937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37" name="Equation" r:id="rId4" imgW="1054080" imgH="431640" progId="Equation.3">
                  <p:embed/>
                </p:oleObj>
              </mc:Choice>
              <mc:Fallback>
                <p:oleObj name="Equation" r:id="rId4" imgW="1054080" imgH="431640" progId="Equation.3">
                  <p:embed/>
                  <p:pic>
                    <p:nvPicPr>
                      <p:cNvPr id="433212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7188" y="1787525"/>
                        <a:ext cx="2166937" cy="887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3213" name="Object 61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5108575" y="1849438"/>
          <a:ext cx="1497013" cy="78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38" name="Equation" r:id="rId6" imgW="825480" imgH="431640" progId="Equation.3">
                  <p:embed/>
                </p:oleObj>
              </mc:Choice>
              <mc:Fallback>
                <p:oleObj name="Equation" r:id="rId6" imgW="825480" imgH="431640" progId="Equation.3">
                  <p:embed/>
                  <p:pic>
                    <p:nvPicPr>
                      <p:cNvPr id="433213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8575" y="1849438"/>
                        <a:ext cx="1497013" cy="782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3214" name="Object 62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6634163" y="2016125"/>
          <a:ext cx="9715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39" name="Equation" r:id="rId8" imgW="457200" imgH="203040" progId="Equation.3">
                  <p:embed/>
                </p:oleObj>
              </mc:Choice>
              <mc:Fallback>
                <p:oleObj name="Equation" r:id="rId8" imgW="457200" imgH="203040" progId="Equation.3">
                  <p:embed/>
                  <p:pic>
                    <p:nvPicPr>
                      <p:cNvPr id="433214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4163" y="2016125"/>
                        <a:ext cx="97155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33219" name="AutoShape 67"/>
          <p:cNvCxnSpPr>
            <a:cxnSpLocks noChangeShapeType="1"/>
            <a:stCxn id="433206" idx="2"/>
            <a:endCxn id="433195" idx="2"/>
          </p:cNvCxnSpPr>
          <p:nvPr/>
        </p:nvCxnSpPr>
        <p:spPr bwMode="auto">
          <a:xfrm rot="16200000" flipV="1">
            <a:off x="4774406" y="-24606"/>
            <a:ext cx="7938" cy="6375400"/>
          </a:xfrm>
          <a:prstGeom prst="curvedConnector3">
            <a:avLst>
              <a:gd name="adj1" fmla="val -2880000"/>
            </a:avLst>
          </a:prstGeom>
          <a:noFill/>
          <a:ln w="38100">
            <a:solidFill>
              <a:srgbClr val="DD011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3220" name="AutoShape 68"/>
          <p:cNvCxnSpPr>
            <a:cxnSpLocks noChangeShapeType="1"/>
          </p:cNvCxnSpPr>
          <p:nvPr/>
        </p:nvCxnSpPr>
        <p:spPr bwMode="auto">
          <a:xfrm rot="16200000" flipV="1">
            <a:off x="4777581" y="592932"/>
            <a:ext cx="7937" cy="6375400"/>
          </a:xfrm>
          <a:prstGeom prst="curvedConnector3">
            <a:avLst>
              <a:gd name="adj1" fmla="val -2880000"/>
            </a:avLst>
          </a:prstGeom>
          <a:noFill/>
          <a:ln w="38100">
            <a:solidFill>
              <a:srgbClr val="DD011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3221" name="AutoShape 69"/>
          <p:cNvCxnSpPr>
            <a:cxnSpLocks noChangeShapeType="1"/>
          </p:cNvCxnSpPr>
          <p:nvPr/>
        </p:nvCxnSpPr>
        <p:spPr bwMode="auto">
          <a:xfrm rot="16200000" flipV="1">
            <a:off x="4631531" y="1435894"/>
            <a:ext cx="7938" cy="6375400"/>
          </a:xfrm>
          <a:prstGeom prst="curvedConnector3">
            <a:avLst>
              <a:gd name="adj1" fmla="val -2880000"/>
            </a:avLst>
          </a:prstGeom>
          <a:noFill/>
          <a:ln w="38100">
            <a:solidFill>
              <a:srgbClr val="DD011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3222" name="AutoShape 70"/>
          <p:cNvCxnSpPr>
            <a:cxnSpLocks noChangeShapeType="1"/>
          </p:cNvCxnSpPr>
          <p:nvPr/>
        </p:nvCxnSpPr>
        <p:spPr bwMode="auto">
          <a:xfrm rot="16200000" flipV="1">
            <a:off x="4634706" y="2242344"/>
            <a:ext cx="7938" cy="6375400"/>
          </a:xfrm>
          <a:prstGeom prst="curvedConnector3">
            <a:avLst>
              <a:gd name="adj1" fmla="val -2880000"/>
            </a:avLst>
          </a:prstGeom>
          <a:noFill/>
          <a:ln w="38100">
            <a:solidFill>
              <a:srgbClr val="DD011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829301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178" name="Rectangle 2"/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altLang="en-US" sz="3600"/>
              <a:t>Running Time of BUILD MAX HEAP</a:t>
            </a:r>
          </a:p>
        </p:txBody>
      </p:sp>
      <p:grpSp>
        <p:nvGrpSpPr>
          <p:cNvPr id="434179" name="Group 3"/>
          <p:cNvGrpSpPr>
            <a:grpSpLocks/>
          </p:cNvGrpSpPr>
          <p:nvPr/>
        </p:nvGrpSpPr>
        <p:grpSpPr bwMode="auto">
          <a:xfrm>
            <a:off x="55563" y="1074738"/>
            <a:ext cx="7716837" cy="806450"/>
            <a:chOff x="313" y="768"/>
            <a:chExt cx="4861" cy="508"/>
          </a:xfrm>
        </p:grpSpPr>
        <p:graphicFrame>
          <p:nvGraphicFramePr>
            <p:cNvPr id="434180" name="Object 4"/>
            <p:cNvGraphicFramePr>
              <a:graphicFrameLocks noChangeAspect="1"/>
            </p:cNvGraphicFramePr>
            <p:nvPr/>
          </p:nvGraphicFramePr>
          <p:xfrm>
            <a:off x="313" y="768"/>
            <a:ext cx="1031" cy="5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665" name="Equation" r:id="rId4" imgW="876240" imgH="431640" progId="Equation.3">
                    <p:embed/>
                  </p:oleObj>
                </mc:Choice>
                <mc:Fallback>
                  <p:oleObj name="Equation" r:id="rId4" imgW="876240" imgH="431640" progId="Equation.3">
                    <p:embed/>
                    <p:pic>
                      <p:nvPicPr>
                        <p:cNvPr id="43418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3" y="768"/>
                          <a:ext cx="1031" cy="5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4181" name="Text Box 5"/>
            <p:cNvSpPr txBox="1">
              <a:spLocks noChangeArrowheads="1"/>
            </p:cNvSpPr>
            <p:nvPr/>
          </p:nvSpPr>
          <p:spPr bwMode="auto">
            <a:xfrm>
              <a:off x="1370" y="894"/>
              <a:ext cx="38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Cost of HEAPIFY at level </a:t>
              </a:r>
              <a:r>
                <a:rPr lang="en-US" altLang="en-US" dirty="0" err="1"/>
                <a:t>i</a:t>
              </a:r>
              <a:r>
                <a:rPr lang="en-US" altLang="en-US" dirty="0"/>
                <a:t> </a:t>
              </a:r>
              <a:r>
                <a:rPr lang="en-US" altLang="en-US" dirty="0">
                  <a:sym typeface="Symbol" panose="05050102010706020507" pitchFamily="18" charset="2"/>
                </a:rPr>
                <a:t> number of nodes at that level</a:t>
              </a:r>
            </a:p>
          </p:txBody>
        </p:sp>
      </p:grpSp>
      <p:grpSp>
        <p:nvGrpSpPr>
          <p:cNvPr id="434182" name="Group 6"/>
          <p:cNvGrpSpPr>
            <a:grpSpLocks/>
          </p:cNvGrpSpPr>
          <p:nvPr/>
        </p:nvGrpSpPr>
        <p:grpSpPr bwMode="auto">
          <a:xfrm>
            <a:off x="0" y="1920875"/>
            <a:ext cx="6726238" cy="782638"/>
            <a:chOff x="704" y="1350"/>
            <a:chExt cx="4237" cy="493"/>
          </a:xfrm>
        </p:grpSpPr>
        <p:graphicFrame>
          <p:nvGraphicFramePr>
            <p:cNvPr id="434183" name="Object 7"/>
            <p:cNvGraphicFramePr>
              <a:graphicFrameLocks noChangeAspect="1"/>
            </p:cNvGraphicFramePr>
            <p:nvPr/>
          </p:nvGraphicFramePr>
          <p:xfrm>
            <a:off x="704" y="1350"/>
            <a:ext cx="943" cy="4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666" name="Equation" r:id="rId6" imgW="825480" imgH="431640" progId="Equation.3">
                    <p:embed/>
                  </p:oleObj>
                </mc:Choice>
                <mc:Fallback>
                  <p:oleObj name="Equation" r:id="rId6" imgW="825480" imgH="431640" progId="Equation.3">
                    <p:embed/>
                    <p:pic>
                      <p:nvPicPr>
                        <p:cNvPr id="434183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4" y="1350"/>
                          <a:ext cx="943" cy="4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4184" name="Text Box 8"/>
            <p:cNvSpPr txBox="1">
              <a:spLocks noChangeArrowheads="1"/>
            </p:cNvSpPr>
            <p:nvPr/>
          </p:nvSpPr>
          <p:spPr bwMode="auto">
            <a:xfrm>
              <a:off x="1759" y="1468"/>
              <a:ext cx="318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Replace the values of n</a:t>
              </a:r>
              <a:r>
                <a:rPr lang="en-US" altLang="en-US" baseline="-25000"/>
                <a:t>i</a:t>
              </a:r>
              <a:r>
                <a:rPr lang="en-US" altLang="en-US"/>
                <a:t> and h</a:t>
              </a:r>
              <a:r>
                <a:rPr lang="en-US" altLang="en-US" baseline="-25000"/>
                <a:t>i</a:t>
              </a:r>
              <a:r>
                <a:rPr lang="en-US" altLang="en-US"/>
                <a:t> computed before</a:t>
              </a:r>
              <a:endParaRPr lang="en-US" altLang="en-US">
                <a:sym typeface="Symbol" panose="05050102010706020507" pitchFamily="18" charset="2"/>
              </a:endParaRPr>
            </a:p>
          </p:txBody>
        </p:sp>
      </p:grpSp>
      <p:grpSp>
        <p:nvGrpSpPr>
          <p:cNvPr id="434185" name="Group 9"/>
          <p:cNvGrpSpPr>
            <a:grpSpLocks/>
          </p:cNvGrpSpPr>
          <p:nvPr/>
        </p:nvGrpSpPr>
        <p:grpSpPr bwMode="auto">
          <a:xfrm>
            <a:off x="0" y="2736850"/>
            <a:ext cx="7666038" cy="968375"/>
            <a:chOff x="704" y="1892"/>
            <a:chExt cx="4829" cy="610"/>
          </a:xfrm>
        </p:grpSpPr>
        <p:graphicFrame>
          <p:nvGraphicFramePr>
            <p:cNvPr id="434186" name="Object 10"/>
            <p:cNvGraphicFramePr>
              <a:graphicFrameLocks noChangeAspect="1"/>
            </p:cNvGraphicFramePr>
            <p:nvPr/>
          </p:nvGraphicFramePr>
          <p:xfrm>
            <a:off x="704" y="1892"/>
            <a:ext cx="962" cy="5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667" name="Equation" r:id="rId8" imgW="761760" imgH="431640" progId="Equation.3">
                    <p:embed/>
                  </p:oleObj>
                </mc:Choice>
                <mc:Fallback>
                  <p:oleObj name="Equation" r:id="rId8" imgW="761760" imgH="431640" progId="Equation.3">
                    <p:embed/>
                    <p:pic>
                      <p:nvPicPr>
                        <p:cNvPr id="434186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4" y="1892"/>
                          <a:ext cx="962" cy="5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4187" name="Text Box 11"/>
            <p:cNvSpPr txBox="1">
              <a:spLocks noChangeArrowheads="1"/>
            </p:cNvSpPr>
            <p:nvPr/>
          </p:nvSpPr>
          <p:spPr bwMode="auto">
            <a:xfrm>
              <a:off x="1764" y="1956"/>
              <a:ext cx="3769" cy="4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en-US" dirty="0"/>
                <a:t>Multiply by 2</a:t>
              </a:r>
              <a:r>
                <a:rPr lang="en-US" altLang="en-US" baseline="30000" dirty="0"/>
                <a:t>h</a:t>
              </a:r>
              <a:r>
                <a:rPr lang="en-US" altLang="en-US" dirty="0"/>
                <a:t> both at the nominator and denominator and</a:t>
              </a:r>
            </a:p>
            <a:p>
              <a:pPr>
                <a:lnSpc>
                  <a:spcPct val="120000"/>
                </a:lnSpc>
              </a:pPr>
              <a:r>
                <a:rPr lang="en-US" altLang="en-US" dirty="0"/>
                <a:t>write 2</a:t>
              </a:r>
              <a:r>
                <a:rPr lang="en-US" altLang="en-US" baseline="30000" dirty="0"/>
                <a:t>i</a:t>
              </a:r>
              <a:r>
                <a:rPr lang="en-US" altLang="en-US" dirty="0"/>
                <a:t> as</a:t>
              </a:r>
              <a:endParaRPr lang="en-US" altLang="en-US" dirty="0">
                <a:sym typeface="Symbol" panose="05050102010706020507" pitchFamily="18" charset="2"/>
              </a:endParaRPr>
            </a:p>
          </p:txBody>
        </p:sp>
        <p:graphicFrame>
          <p:nvGraphicFramePr>
            <p:cNvPr id="434188" name="Object 12"/>
            <p:cNvGraphicFramePr>
              <a:graphicFrameLocks noChangeAspect="1"/>
            </p:cNvGraphicFramePr>
            <p:nvPr/>
          </p:nvGraphicFramePr>
          <p:xfrm>
            <a:off x="2504" y="2150"/>
            <a:ext cx="227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668" name="Equation" r:id="rId10" imgW="253800" imgH="393480" progId="Equation.3">
                    <p:embed/>
                  </p:oleObj>
                </mc:Choice>
                <mc:Fallback>
                  <p:oleObj name="Equation" r:id="rId10" imgW="253800" imgH="393480" progId="Equation.3">
                    <p:embed/>
                    <p:pic>
                      <p:nvPicPr>
                        <p:cNvPr id="434188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04" y="2150"/>
                          <a:ext cx="227" cy="3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34189" name="Group 13"/>
          <p:cNvGrpSpPr>
            <a:grpSpLocks/>
          </p:cNvGrpSpPr>
          <p:nvPr/>
        </p:nvGrpSpPr>
        <p:grpSpPr bwMode="auto">
          <a:xfrm>
            <a:off x="-76200" y="3619500"/>
            <a:ext cx="4527550" cy="841375"/>
            <a:chOff x="704" y="2434"/>
            <a:chExt cx="2852" cy="530"/>
          </a:xfrm>
        </p:grpSpPr>
        <p:graphicFrame>
          <p:nvGraphicFramePr>
            <p:cNvPr id="434190" name="Object 14"/>
            <p:cNvGraphicFramePr>
              <a:graphicFrameLocks noChangeAspect="1"/>
            </p:cNvGraphicFramePr>
            <p:nvPr/>
          </p:nvGraphicFramePr>
          <p:xfrm>
            <a:off x="704" y="2434"/>
            <a:ext cx="826" cy="5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669" name="Equation" r:id="rId12" imgW="672840" imgH="431640" progId="Equation.3">
                    <p:embed/>
                  </p:oleObj>
                </mc:Choice>
                <mc:Fallback>
                  <p:oleObj name="Equation" r:id="rId12" imgW="672840" imgH="431640" progId="Equation.3">
                    <p:embed/>
                    <p:pic>
                      <p:nvPicPr>
                        <p:cNvPr id="43419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4" y="2434"/>
                          <a:ext cx="826" cy="5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4191" name="Text Box 15"/>
            <p:cNvSpPr txBox="1">
              <a:spLocks noChangeArrowheads="1"/>
            </p:cNvSpPr>
            <p:nvPr/>
          </p:nvSpPr>
          <p:spPr bwMode="auto">
            <a:xfrm>
              <a:off x="1764" y="2619"/>
              <a:ext cx="17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Change variables: k = h - </a:t>
              </a:r>
              <a:r>
                <a:rPr lang="en-US" altLang="en-US" dirty="0" err="1"/>
                <a:t>i</a:t>
              </a:r>
              <a:endParaRPr lang="en-US" altLang="en-US" dirty="0">
                <a:sym typeface="Symbol" panose="05050102010706020507" pitchFamily="18" charset="2"/>
              </a:endParaRPr>
            </a:p>
          </p:txBody>
        </p:sp>
      </p:grpSp>
      <p:grpSp>
        <p:nvGrpSpPr>
          <p:cNvPr id="434192" name="Group 16"/>
          <p:cNvGrpSpPr>
            <a:grpSpLocks/>
          </p:cNvGrpSpPr>
          <p:nvPr/>
        </p:nvGrpSpPr>
        <p:grpSpPr bwMode="auto">
          <a:xfrm>
            <a:off x="-23813" y="4524375"/>
            <a:ext cx="7872413" cy="854075"/>
            <a:chOff x="704" y="2976"/>
            <a:chExt cx="4959" cy="538"/>
          </a:xfrm>
        </p:grpSpPr>
        <p:graphicFrame>
          <p:nvGraphicFramePr>
            <p:cNvPr id="434193" name="Object 17"/>
            <p:cNvGraphicFramePr>
              <a:graphicFrameLocks noChangeAspect="1"/>
            </p:cNvGraphicFramePr>
            <p:nvPr/>
          </p:nvGraphicFramePr>
          <p:xfrm>
            <a:off x="704" y="2976"/>
            <a:ext cx="744" cy="5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670" name="Equation" r:id="rId14" imgW="596880" imgH="431640" progId="Equation.3">
                    <p:embed/>
                  </p:oleObj>
                </mc:Choice>
                <mc:Fallback>
                  <p:oleObj name="Equation" r:id="rId14" imgW="596880" imgH="431640" progId="Equation.3">
                    <p:embed/>
                    <p:pic>
                      <p:nvPicPr>
                        <p:cNvPr id="434193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4" y="2976"/>
                          <a:ext cx="744" cy="5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4194" name="Text Box 18"/>
            <p:cNvSpPr txBox="1">
              <a:spLocks noChangeArrowheads="1"/>
            </p:cNvSpPr>
            <p:nvPr/>
          </p:nvSpPr>
          <p:spPr bwMode="auto">
            <a:xfrm>
              <a:off x="1764" y="3081"/>
              <a:ext cx="3899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The sum above is smaller than the sum of all elements to </a:t>
              </a:r>
              <a:r>
                <a:rPr lang="en-US" altLang="en-US" dirty="0">
                  <a:sym typeface="Symbol" panose="05050102010706020507" pitchFamily="18" charset="2"/>
                </a:rPr>
                <a:t></a:t>
              </a:r>
            </a:p>
            <a:p>
              <a:r>
                <a:rPr lang="en-US" altLang="en-US" dirty="0">
                  <a:sym typeface="Symbol" panose="05050102010706020507" pitchFamily="18" charset="2"/>
                </a:rPr>
                <a:t>and h = </a:t>
              </a:r>
              <a:r>
                <a:rPr lang="en-US" altLang="en-US" dirty="0" err="1">
                  <a:sym typeface="Symbol" panose="05050102010706020507" pitchFamily="18" charset="2"/>
                </a:rPr>
                <a:t>lgn</a:t>
              </a:r>
              <a:endParaRPr lang="en-US" altLang="en-US" dirty="0">
                <a:sym typeface="Symbol" panose="05050102010706020507" pitchFamily="18" charset="2"/>
              </a:endParaRPr>
            </a:p>
          </p:txBody>
        </p:sp>
      </p:grpSp>
      <p:grpSp>
        <p:nvGrpSpPr>
          <p:cNvPr id="434195" name="Group 19"/>
          <p:cNvGrpSpPr>
            <a:grpSpLocks/>
          </p:cNvGrpSpPr>
          <p:nvPr/>
        </p:nvGrpSpPr>
        <p:grpSpPr bwMode="auto">
          <a:xfrm>
            <a:off x="76200" y="5572125"/>
            <a:ext cx="5154613" cy="447675"/>
            <a:chOff x="704" y="3550"/>
            <a:chExt cx="3247" cy="282"/>
          </a:xfrm>
        </p:grpSpPr>
        <p:graphicFrame>
          <p:nvGraphicFramePr>
            <p:cNvPr id="434196" name="Object 20"/>
            <p:cNvGraphicFramePr>
              <a:graphicFrameLocks noChangeAspect="1"/>
            </p:cNvGraphicFramePr>
            <p:nvPr/>
          </p:nvGraphicFramePr>
          <p:xfrm>
            <a:off x="704" y="3560"/>
            <a:ext cx="61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671" name="Equation" r:id="rId16" imgW="457200" imgH="203040" progId="Equation.3">
                    <p:embed/>
                  </p:oleObj>
                </mc:Choice>
                <mc:Fallback>
                  <p:oleObj name="Equation" r:id="rId16" imgW="457200" imgH="203040" progId="Equation.3">
                    <p:embed/>
                    <p:pic>
                      <p:nvPicPr>
                        <p:cNvPr id="434196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4" y="3560"/>
                          <a:ext cx="612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4197" name="Text Box 21"/>
            <p:cNvSpPr txBox="1">
              <a:spLocks noChangeArrowheads="1"/>
            </p:cNvSpPr>
            <p:nvPr/>
          </p:nvSpPr>
          <p:spPr bwMode="auto">
            <a:xfrm>
              <a:off x="1755" y="3550"/>
              <a:ext cx="2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The sum above is smaller than 2</a:t>
              </a:r>
              <a:endParaRPr lang="en-US" altLang="en-US" dirty="0">
                <a:sym typeface="Symbol" panose="05050102010706020507" pitchFamily="18" charset="2"/>
              </a:endParaRPr>
            </a:p>
          </p:txBody>
        </p:sp>
      </p:grpSp>
      <p:sp>
        <p:nvSpPr>
          <p:cNvPr id="434198" name="Text Box 22"/>
          <p:cNvSpPr txBox="1">
            <a:spLocks noChangeArrowheads="1"/>
          </p:cNvSpPr>
          <p:nvPr/>
        </p:nvSpPr>
        <p:spPr bwMode="auto">
          <a:xfrm>
            <a:off x="1168400" y="6022975"/>
            <a:ext cx="69140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Running time of </a:t>
            </a:r>
            <a:r>
              <a:rPr lang="en-US" altLang="en-US" sz="2400" b="1" dirty="0">
                <a:solidFill>
                  <a:srgbClr val="7030A0"/>
                </a:solidFill>
              </a:rPr>
              <a:t>BUILD-MAX-HEAP: </a:t>
            </a:r>
            <a:r>
              <a:rPr lang="en-US" altLang="en-US" sz="2400" b="1" dirty="0">
                <a:solidFill>
                  <a:srgbClr val="7030A0"/>
                </a:solidFill>
                <a:latin typeface="Comic Sans MS" panose="030F0702030302020204" pitchFamily="66" charset="0"/>
              </a:rPr>
              <a:t>T(n) = O(n)</a:t>
            </a:r>
          </a:p>
        </p:txBody>
      </p:sp>
    </p:spTree>
    <p:extLst>
      <p:ext uri="{BB962C8B-B14F-4D97-AF65-F5344CB8AC3E}">
        <p14:creationId xmlns:p14="http://schemas.microsoft.com/office/powerpoint/2010/main" val="376115982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Running Time of BUILD MAX HEAP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We can derive a tighter bound by observing that the time for MAX-HEAPIFY </a:t>
            </a:r>
            <a:r>
              <a:rPr lang="en-US" b="0" dirty="0" smtClean="0"/>
              <a:t>to run </a:t>
            </a:r>
            <a:r>
              <a:rPr lang="en-US" b="0" dirty="0"/>
              <a:t>at a node varies with the height of the node in the tree, and the </a:t>
            </a:r>
            <a:r>
              <a:rPr lang="en-US" b="0" dirty="0">
                <a:solidFill>
                  <a:srgbClr val="FF0000"/>
                </a:solidFill>
              </a:rPr>
              <a:t>heights of </a:t>
            </a:r>
            <a:r>
              <a:rPr lang="en-US" b="0" dirty="0" smtClean="0">
                <a:solidFill>
                  <a:srgbClr val="FF0000"/>
                </a:solidFill>
              </a:rPr>
              <a:t>most nodes </a:t>
            </a:r>
            <a:r>
              <a:rPr lang="en-US" b="0" dirty="0">
                <a:solidFill>
                  <a:srgbClr val="FF0000"/>
                </a:solidFill>
              </a:rPr>
              <a:t>are small</a:t>
            </a:r>
            <a:r>
              <a:rPr lang="en-US" b="0" dirty="0" smtClean="0"/>
              <a:t>.</a:t>
            </a:r>
          </a:p>
          <a:p>
            <a:r>
              <a:rPr lang="en-US" b="0" dirty="0"/>
              <a:t>n-element </a:t>
            </a:r>
            <a:r>
              <a:rPr lang="en-US" b="0" dirty="0" smtClean="0"/>
              <a:t>heap has height</a:t>
            </a:r>
          </a:p>
          <a:p>
            <a:endParaRPr lang="en-US" b="0" dirty="0"/>
          </a:p>
          <a:p>
            <a:r>
              <a:rPr lang="en-US" b="0" dirty="0"/>
              <a:t>at </a:t>
            </a:r>
            <a:r>
              <a:rPr lang="en-US" b="0" dirty="0" smtClean="0"/>
              <a:t>most                     nodes </a:t>
            </a:r>
            <a:r>
              <a:rPr lang="en-US" b="0" dirty="0"/>
              <a:t>of any height h</a:t>
            </a:r>
            <a:endParaRPr lang="en-US" b="0" dirty="0" smtClean="0"/>
          </a:p>
          <a:p>
            <a:endParaRPr lang="en-US" b="0" dirty="0"/>
          </a:p>
          <a:p>
            <a:r>
              <a:rPr lang="en-US" b="0" dirty="0"/>
              <a:t>The time required by </a:t>
            </a:r>
            <a:r>
              <a:rPr lang="en-US" b="0" dirty="0">
                <a:solidFill>
                  <a:srgbClr val="FF0000"/>
                </a:solidFill>
              </a:rPr>
              <a:t>MAX-HEAPIFY</a:t>
            </a:r>
            <a:r>
              <a:rPr lang="en-US" b="0" dirty="0"/>
              <a:t> when called on a </a:t>
            </a:r>
            <a:r>
              <a:rPr lang="en-US" b="0" dirty="0">
                <a:solidFill>
                  <a:srgbClr val="FF0000"/>
                </a:solidFill>
              </a:rPr>
              <a:t>node of height h is </a:t>
            </a:r>
            <a:r>
              <a:rPr lang="en-US" b="0" dirty="0" smtClean="0">
                <a:solidFill>
                  <a:srgbClr val="FF0000"/>
                </a:solidFill>
              </a:rPr>
              <a:t>O(h)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895600"/>
            <a:ext cx="1143000" cy="571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3920359"/>
            <a:ext cx="1424895" cy="5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125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Running Time of BUILD MAX HEAP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933" y="1219200"/>
            <a:ext cx="8572134" cy="481636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276667" y="5029200"/>
            <a:ext cx="386733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rgbClr val="FF0000"/>
                </a:solidFill>
                <a:latin typeface="Times-Roman"/>
              </a:rPr>
              <a:t>Hence, we can build a max-heap from an unordered array in linear time.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1961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5202" name="Object 2"/>
          <p:cNvGraphicFramePr>
            <a:graphicFrameLocks noChangeAspect="1"/>
          </p:cNvGraphicFramePr>
          <p:nvPr/>
        </p:nvGraphicFramePr>
        <p:xfrm>
          <a:off x="6518275" y="1693863"/>
          <a:ext cx="2457450" cy="1468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31" name="Paint Shop Pro Image" r:id="rId4" imgW="3512195" imgH="2097561" progId="PaintShopPro">
                  <p:embed/>
                </p:oleObj>
              </mc:Choice>
              <mc:Fallback>
                <p:oleObj name="Paint Shop Pro Image" r:id="rId4" imgW="3512195" imgH="2097561" progId="PaintShopPro">
                  <p:embed/>
                  <p:pic>
                    <p:nvPicPr>
                      <p:cNvPr id="43520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8275" y="1693863"/>
                        <a:ext cx="2457450" cy="1468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520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Heapsort</a:t>
            </a:r>
          </a:p>
        </p:txBody>
      </p:sp>
      <p:sp>
        <p:nvSpPr>
          <p:cNvPr id="43520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41313" y="1023938"/>
            <a:ext cx="8229600" cy="563245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altLang="en-US" dirty="0"/>
              <a:t>Goal:</a:t>
            </a:r>
          </a:p>
          <a:p>
            <a:pPr lvl="1">
              <a:lnSpc>
                <a:spcPct val="130000"/>
              </a:lnSpc>
            </a:pPr>
            <a:r>
              <a:rPr lang="en-US" altLang="en-US" dirty="0"/>
              <a:t>Sort an array using heap representations</a:t>
            </a:r>
          </a:p>
          <a:p>
            <a:pPr>
              <a:lnSpc>
                <a:spcPct val="130000"/>
              </a:lnSpc>
            </a:pPr>
            <a:r>
              <a:rPr lang="en-US" altLang="en-US" dirty="0"/>
              <a:t>Idea:</a:t>
            </a:r>
          </a:p>
          <a:p>
            <a:pPr lvl="1">
              <a:lnSpc>
                <a:spcPct val="130000"/>
              </a:lnSpc>
            </a:pPr>
            <a:r>
              <a:rPr lang="en-US" altLang="en-US" b="0" dirty="0">
                <a:solidFill>
                  <a:schemeClr val="accent5">
                    <a:lumMod val="25000"/>
                  </a:schemeClr>
                </a:solidFill>
              </a:rPr>
              <a:t>Build a max-heap from the array</a:t>
            </a:r>
          </a:p>
          <a:p>
            <a:pPr lvl="1">
              <a:lnSpc>
                <a:spcPct val="130000"/>
              </a:lnSpc>
            </a:pPr>
            <a:r>
              <a:rPr lang="en-US" altLang="en-US" b="0" dirty="0">
                <a:solidFill>
                  <a:schemeClr val="accent5">
                    <a:lumMod val="25000"/>
                  </a:schemeClr>
                </a:solidFill>
              </a:rPr>
              <a:t>Swap the root (the maximum element) with the last element in the array</a:t>
            </a:r>
          </a:p>
          <a:p>
            <a:pPr lvl="1">
              <a:lnSpc>
                <a:spcPct val="130000"/>
              </a:lnSpc>
            </a:pPr>
            <a:r>
              <a:rPr lang="en-US" altLang="en-US" b="0" dirty="0">
                <a:solidFill>
                  <a:schemeClr val="accent5">
                    <a:lumMod val="25000"/>
                  </a:schemeClr>
                </a:solidFill>
              </a:rPr>
              <a:t>“Discard” this last node by decreasing the heap size</a:t>
            </a:r>
          </a:p>
          <a:p>
            <a:pPr lvl="1">
              <a:lnSpc>
                <a:spcPct val="130000"/>
              </a:lnSpc>
            </a:pPr>
            <a:r>
              <a:rPr lang="en-US" altLang="en-US" b="0" dirty="0">
                <a:solidFill>
                  <a:schemeClr val="accent5">
                    <a:lumMod val="25000"/>
                  </a:schemeClr>
                </a:solidFill>
              </a:rPr>
              <a:t>Call MAX-HEAPIFY on the new root</a:t>
            </a:r>
          </a:p>
          <a:p>
            <a:pPr lvl="1">
              <a:lnSpc>
                <a:spcPct val="130000"/>
              </a:lnSpc>
            </a:pPr>
            <a:r>
              <a:rPr lang="en-US" altLang="en-US" b="0" dirty="0">
                <a:solidFill>
                  <a:schemeClr val="accent5">
                    <a:lumMod val="25000"/>
                  </a:schemeClr>
                </a:solidFill>
              </a:rPr>
              <a:t>Repeat this process until only one node remains </a:t>
            </a:r>
          </a:p>
        </p:txBody>
      </p:sp>
    </p:spTree>
    <p:extLst>
      <p:ext uri="{BB962C8B-B14F-4D97-AF65-F5344CB8AC3E}">
        <p14:creationId xmlns:p14="http://schemas.microsoft.com/office/powerpoint/2010/main" val="1166831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8658" y="914146"/>
            <a:ext cx="590550" cy="552450"/>
            <a:chOff x="4248658" y="914146"/>
            <a:chExt cx="590550" cy="552450"/>
          </a:xfrm>
        </p:grpSpPr>
        <p:sp>
          <p:nvSpPr>
            <p:cNvPr id="3" name="object 3"/>
            <p:cNvSpPr/>
            <p:nvPr/>
          </p:nvSpPr>
          <p:spPr>
            <a:xfrm>
              <a:off x="4255008" y="92049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CF0E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255008" y="92049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412932" y="1074992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Arial MT"/>
                <a:cs typeface="Arial MT"/>
              </a:rPr>
              <a:t>16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28934" y="48451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971545" y="1455166"/>
            <a:ext cx="1428750" cy="793115"/>
            <a:chOff x="2971545" y="1455166"/>
            <a:chExt cx="1428750" cy="793115"/>
          </a:xfrm>
        </p:grpSpPr>
        <p:sp>
          <p:nvSpPr>
            <p:cNvPr id="8" name="object 8"/>
            <p:cNvSpPr/>
            <p:nvPr/>
          </p:nvSpPr>
          <p:spPr>
            <a:xfrm>
              <a:off x="3512819" y="1461516"/>
              <a:ext cx="881380" cy="317500"/>
            </a:xfrm>
            <a:custGeom>
              <a:avLst/>
              <a:gdLst/>
              <a:ahLst/>
              <a:cxnLst/>
              <a:rect l="l" t="t" r="r" b="b"/>
              <a:pathLst>
                <a:path w="881379" h="317500">
                  <a:moveTo>
                    <a:pt x="880872" y="0"/>
                  </a:moveTo>
                  <a:lnTo>
                    <a:pt x="0" y="316992"/>
                  </a:lnTo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77895" y="1702308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977895" y="170230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136582" y="1856041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Arial MT"/>
                <a:cs typeface="Arial MT"/>
              </a:rPr>
              <a:t>14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52584" y="1303515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369820" y="2299716"/>
            <a:ext cx="805180" cy="601980"/>
          </a:xfrm>
          <a:custGeom>
            <a:avLst/>
            <a:gdLst/>
            <a:ahLst/>
            <a:cxnLst/>
            <a:rect l="l" t="t" r="r" b="b"/>
            <a:pathLst>
              <a:path w="805180" h="601980">
                <a:moveTo>
                  <a:pt x="804671" y="0"/>
                </a:moveTo>
                <a:lnTo>
                  <a:pt x="0" y="60198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5524246" y="1734056"/>
            <a:ext cx="590550" cy="552450"/>
            <a:chOff x="5524246" y="1734056"/>
            <a:chExt cx="590550" cy="552450"/>
          </a:xfrm>
        </p:grpSpPr>
        <p:sp>
          <p:nvSpPr>
            <p:cNvPr id="15" name="object 15"/>
            <p:cNvSpPr/>
            <p:nvPr/>
          </p:nvSpPr>
          <p:spPr>
            <a:xfrm>
              <a:off x="5530596" y="1740408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530596" y="174040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689282" y="1894141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Arial MT"/>
                <a:cs typeface="Arial MT"/>
              </a:rPr>
              <a:t>10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705284" y="130366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700015" y="1481327"/>
            <a:ext cx="889000" cy="335280"/>
          </a:xfrm>
          <a:custGeom>
            <a:avLst/>
            <a:gdLst/>
            <a:ahLst/>
            <a:cxnLst/>
            <a:rect l="l" t="t" r="r" b="b"/>
            <a:pathLst>
              <a:path w="889000" h="335280">
                <a:moveTo>
                  <a:pt x="0" y="0"/>
                </a:moveTo>
                <a:lnTo>
                  <a:pt x="888491" y="33528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1962657" y="2971545"/>
            <a:ext cx="590550" cy="552450"/>
            <a:chOff x="1962657" y="2971545"/>
            <a:chExt cx="590550" cy="552450"/>
          </a:xfrm>
        </p:grpSpPr>
        <p:sp>
          <p:nvSpPr>
            <p:cNvPr id="21" name="object 21"/>
            <p:cNvSpPr/>
            <p:nvPr/>
          </p:nvSpPr>
          <p:spPr>
            <a:xfrm>
              <a:off x="1969007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969007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190940" y="31133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123960" y="25418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809746" y="2971545"/>
            <a:ext cx="590550" cy="552450"/>
            <a:chOff x="3809746" y="2971545"/>
            <a:chExt cx="590550" cy="552450"/>
          </a:xfrm>
        </p:grpSpPr>
        <p:sp>
          <p:nvSpPr>
            <p:cNvPr id="26" name="object 26"/>
            <p:cNvSpPr/>
            <p:nvPr/>
          </p:nvSpPr>
          <p:spPr>
            <a:xfrm>
              <a:off x="3816096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816096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038790" y="31323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990784" y="257986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647946" y="2971545"/>
            <a:ext cx="590550" cy="552450"/>
            <a:chOff x="4647946" y="2971545"/>
            <a:chExt cx="590550" cy="552450"/>
          </a:xfrm>
        </p:grpSpPr>
        <p:sp>
          <p:nvSpPr>
            <p:cNvPr id="31" name="object 31"/>
            <p:cNvSpPr/>
            <p:nvPr/>
          </p:nvSpPr>
          <p:spPr>
            <a:xfrm>
              <a:off x="4654296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654296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4857940" y="31133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752784" y="256081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6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324346" y="2991357"/>
            <a:ext cx="590550" cy="552450"/>
            <a:chOff x="6324346" y="2991357"/>
            <a:chExt cx="590550" cy="552450"/>
          </a:xfrm>
        </p:grpSpPr>
        <p:sp>
          <p:nvSpPr>
            <p:cNvPr id="36" name="object 36"/>
            <p:cNvSpPr/>
            <p:nvPr/>
          </p:nvSpPr>
          <p:spPr>
            <a:xfrm>
              <a:off x="6330696" y="2997707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330696" y="2997707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6515290" y="30942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657708" y="265606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1353058" y="3512565"/>
            <a:ext cx="1478915" cy="1192530"/>
            <a:chOff x="1353058" y="3512565"/>
            <a:chExt cx="1478915" cy="1192530"/>
          </a:xfrm>
        </p:grpSpPr>
        <p:sp>
          <p:nvSpPr>
            <p:cNvPr id="41" name="object 41"/>
            <p:cNvSpPr/>
            <p:nvPr/>
          </p:nvSpPr>
          <p:spPr>
            <a:xfrm>
              <a:off x="1722120" y="3518915"/>
              <a:ext cx="443865" cy="622300"/>
            </a:xfrm>
            <a:custGeom>
              <a:avLst/>
              <a:gdLst/>
              <a:ahLst/>
              <a:cxnLst/>
              <a:rect l="l" t="t" r="r" b="b"/>
              <a:pathLst>
                <a:path w="443864" h="622300">
                  <a:moveTo>
                    <a:pt x="443483" y="0"/>
                  </a:moveTo>
                  <a:lnTo>
                    <a:pt x="0" y="621792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433827" y="3518915"/>
              <a:ext cx="391795" cy="622300"/>
            </a:xfrm>
            <a:custGeom>
              <a:avLst/>
              <a:gdLst/>
              <a:ahLst/>
              <a:cxnLst/>
              <a:rect l="l" t="t" r="r" b="b"/>
              <a:pathLst>
                <a:path w="391794" h="622300">
                  <a:moveTo>
                    <a:pt x="0" y="0"/>
                  </a:moveTo>
                  <a:lnTo>
                    <a:pt x="391668" y="621792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359408" y="41589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359408" y="41589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1581340" y="43134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457210" y="381811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2496311" y="4114800"/>
            <a:ext cx="589915" cy="551815"/>
            <a:chOff x="2496311" y="4114800"/>
            <a:chExt cx="589915" cy="551815"/>
          </a:xfrm>
        </p:grpSpPr>
        <p:sp>
          <p:nvSpPr>
            <p:cNvPr id="48" name="object 48"/>
            <p:cNvSpPr/>
            <p:nvPr/>
          </p:nvSpPr>
          <p:spPr>
            <a:xfrm>
              <a:off x="2502407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502407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2686240" y="43134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790710" y="37419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 dirty="0">
              <a:latin typeface="Arial MT"/>
              <a:cs typeface="Arial MT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3314700" y="3456432"/>
            <a:ext cx="723900" cy="1210310"/>
            <a:chOff x="3314700" y="3456432"/>
            <a:chExt cx="723900" cy="1210310"/>
          </a:xfrm>
        </p:grpSpPr>
        <p:sp>
          <p:nvSpPr>
            <p:cNvPr id="53" name="object 53"/>
            <p:cNvSpPr/>
            <p:nvPr/>
          </p:nvSpPr>
          <p:spPr>
            <a:xfrm>
              <a:off x="3589020" y="3462528"/>
              <a:ext cx="443865" cy="620395"/>
            </a:xfrm>
            <a:custGeom>
              <a:avLst/>
              <a:gdLst/>
              <a:ahLst/>
              <a:cxnLst/>
              <a:rect l="l" t="t" r="r" b="b"/>
              <a:pathLst>
                <a:path w="443864" h="620395">
                  <a:moveTo>
                    <a:pt x="443484" y="0"/>
                  </a:moveTo>
                  <a:lnTo>
                    <a:pt x="0" y="620268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320795" y="412089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CF0E3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dirty="0" smtClean="0"/>
                <a:t>01</a:t>
              </a:r>
              <a:endParaRPr dirty="0"/>
            </a:p>
          </p:txBody>
        </p:sp>
        <p:sp>
          <p:nvSpPr>
            <p:cNvPr id="55" name="object 55"/>
            <p:cNvSpPr/>
            <p:nvPr/>
          </p:nvSpPr>
          <p:spPr>
            <a:xfrm>
              <a:off x="3320795" y="412089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3300628" y="3742068"/>
            <a:ext cx="474166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 smtClean="0">
                <a:latin typeface="Arial MT"/>
                <a:cs typeface="Arial MT"/>
              </a:rPr>
              <a:t>1</a:t>
            </a:r>
            <a:r>
              <a:rPr lang="en-US" sz="1800" dirty="0" smtClean="0">
                <a:latin typeface="Arial MT"/>
                <a:cs typeface="Arial MT"/>
              </a:rPr>
              <a:t>0</a:t>
            </a:r>
            <a:endParaRPr sz="1800" dirty="0">
              <a:latin typeface="Arial MT"/>
              <a:cs typeface="Arial MT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3342132" y="2255520"/>
            <a:ext cx="3319779" cy="748665"/>
            <a:chOff x="3342132" y="2255520"/>
            <a:chExt cx="3319779" cy="748665"/>
          </a:xfrm>
        </p:grpSpPr>
        <p:sp>
          <p:nvSpPr>
            <p:cNvPr id="58" name="object 58"/>
            <p:cNvSpPr/>
            <p:nvPr/>
          </p:nvSpPr>
          <p:spPr>
            <a:xfrm>
              <a:off x="3348228" y="2299716"/>
              <a:ext cx="754380" cy="601980"/>
            </a:xfrm>
            <a:custGeom>
              <a:avLst/>
              <a:gdLst/>
              <a:ahLst/>
              <a:cxnLst/>
              <a:rect l="l" t="t" r="r" b="b"/>
              <a:pathLst>
                <a:path w="754379" h="601980">
                  <a:moveTo>
                    <a:pt x="0" y="0"/>
                  </a:moveTo>
                  <a:lnTo>
                    <a:pt x="754380" y="60198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995416" y="2261616"/>
              <a:ext cx="660400" cy="698500"/>
            </a:xfrm>
            <a:custGeom>
              <a:avLst/>
              <a:gdLst/>
              <a:ahLst/>
              <a:cxnLst/>
              <a:rect l="l" t="t" r="r" b="b"/>
              <a:pathLst>
                <a:path w="660400" h="698500">
                  <a:moveTo>
                    <a:pt x="0" y="0"/>
                  </a:moveTo>
                  <a:lnTo>
                    <a:pt x="659892" y="697992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980432" y="2299716"/>
              <a:ext cx="614680" cy="698500"/>
            </a:xfrm>
            <a:custGeom>
              <a:avLst/>
              <a:gdLst/>
              <a:ahLst/>
              <a:cxnLst/>
              <a:rect l="l" t="t" r="r" b="b"/>
              <a:pathLst>
                <a:path w="614679" h="698500">
                  <a:moveTo>
                    <a:pt x="614172" y="0"/>
                  </a:moveTo>
                  <a:lnTo>
                    <a:pt x="0" y="697992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61" name="object 61"/>
          <p:cNvGraphicFramePr>
            <a:graphicFrameLocks noGrp="1"/>
          </p:cNvGraphicFramePr>
          <p:nvPr/>
        </p:nvGraphicFramePr>
        <p:xfrm>
          <a:off x="1822704" y="5099303"/>
          <a:ext cx="4616448" cy="539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75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9495">
                <a:tc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  <a:spcBef>
                          <a:spcPts val="136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16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73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60655">
                        <a:lnSpc>
                          <a:spcPct val="100000"/>
                        </a:lnSpc>
                        <a:spcBef>
                          <a:spcPts val="136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73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93040">
                        <a:lnSpc>
                          <a:spcPct val="100000"/>
                        </a:lnSpc>
                        <a:spcBef>
                          <a:spcPts val="136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73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205104">
                        <a:lnSpc>
                          <a:spcPct val="100000"/>
                        </a:lnSpc>
                        <a:spcBef>
                          <a:spcPts val="136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8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73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136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7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73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136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9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73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136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73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136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73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98120">
                        <a:lnSpc>
                          <a:spcPct val="100000"/>
                        </a:lnSpc>
                        <a:spcBef>
                          <a:spcPts val="136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73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288290">
                        <a:lnSpc>
                          <a:spcPct val="100000"/>
                        </a:lnSpc>
                        <a:spcBef>
                          <a:spcPts val="136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73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3" name="object 63"/>
          <p:cNvSpPr txBox="1"/>
          <p:nvPr/>
        </p:nvSpPr>
        <p:spPr>
          <a:xfrm>
            <a:off x="1870076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2377499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282242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3329847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3774794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415573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6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4600657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504407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5553005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6060406" y="5820971"/>
            <a:ext cx="27876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5" dirty="0">
                <a:latin typeface="Arial MT"/>
                <a:cs typeface="Arial MT"/>
              </a:rPr>
              <a:t>10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174740" y="333247"/>
            <a:ext cx="258572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BUILD-MAX-HEAP(A)</a:t>
            </a:r>
            <a:endParaRPr sz="1200">
              <a:latin typeface="Arial"/>
              <a:cs typeface="Arial"/>
            </a:endParaRPr>
          </a:p>
          <a:p>
            <a:pPr marL="227329" marR="424815" indent="-215265">
              <a:lnSpc>
                <a:spcPct val="100000"/>
              </a:lnSpc>
            </a:pPr>
            <a:r>
              <a:rPr sz="1200" b="1" spc="-5" dirty="0">
                <a:latin typeface="Arial"/>
                <a:cs typeface="Arial"/>
              </a:rPr>
              <a:t>for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i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←</a:t>
            </a:r>
            <a:r>
              <a:rPr sz="1200" b="1" spc="-10" dirty="0">
                <a:latin typeface="Arial"/>
                <a:cs typeface="Arial"/>
              </a:rPr>
              <a:t> length[A]</a:t>
            </a:r>
            <a:r>
              <a:rPr sz="1200" b="1" spc="4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downto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2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do </a:t>
            </a:r>
            <a:r>
              <a:rPr sz="1200" b="1" spc="-3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exc</a:t>
            </a:r>
            <a:r>
              <a:rPr sz="1200" b="1" spc="-5" dirty="0">
                <a:latin typeface="Arial"/>
                <a:cs typeface="Arial"/>
              </a:rPr>
              <a:t>h</a:t>
            </a:r>
            <a:r>
              <a:rPr sz="1200" b="1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ng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-80" dirty="0">
                <a:latin typeface="Arial"/>
                <a:cs typeface="Arial"/>
              </a:rPr>
              <a:t> </a:t>
            </a:r>
            <a:r>
              <a:rPr sz="1200" b="1" spc="-40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[</a:t>
            </a:r>
            <a:r>
              <a:rPr sz="1200" b="1" dirty="0">
                <a:latin typeface="Arial"/>
                <a:cs typeface="Arial"/>
              </a:rPr>
              <a:t>1]</a:t>
            </a:r>
            <a:r>
              <a:rPr sz="1200" b="1" spc="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↔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spc="-40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[</a:t>
            </a:r>
            <a:r>
              <a:rPr sz="1200" b="1" dirty="0">
                <a:latin typeface="Arial"/>
                <a:cs typeface="Arial"/>
              </a:rPr>
              <a:t>i]</a:t>
            </a:r>
            <a:endParaRPr sz="1200">
              <a:latin typeface="Arial"/>
              <a:cs typeface="Arial"/>
            </a:endParaRPr>
          </a:p>
          <a:p>
            <a:pPr marL="269875" marR="5080">
              <a:lnSpc>
                <a:spcPct val="100000"/>
              </a:lnSpc>
            </a:pPr>
            <a:r>
              <a:rPr sz="1200" b="1" spc="-5" dirty="0">
                <a:latin typeface="Arial"/>
                <a:cs typeface="Arial"/>
              </a:rPr>
              <a:t>heap-size[A]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← </a:t>
            </a:r>
            <a:r>
              <a:rPr sz="1200" b="1" spc="-10" dirty="0">
                <a:latin typeface="Arial"/>
                <a:cs typeface="Arial"/>
              </a:rPr>
              <a:t>heap-size[A]</a:t>
            </a:r>
            <a:r>
              <a:rPr sz="1200" b="1" spc="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–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 </a:t>
            </a:r>
            <a:r>
              <a:rPr sz="1200" b="1" spc="-32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MAX-HEAPIFY(A,</a:t>
            </a:r>
            <a:r>
              <a:rPr sz="1200" b="1" spc="5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1)</a:t>
            </a:r>
            <a:endParaRPr sz="12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49960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76940" y="10749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28934" y="48451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971545" y="1455166"/>
            <a:ext cx="1428750" cy="793115"/>
            <a:chOff x="2971545" y="1455166"/>
            <a:chExt cx="1428750" cy="793115"/>
          </a:xfrm>
        </p:grpSpPr>
        <p:sp>
          <p:nvSpPr>
            <p:cNvPr id="5" name="object 5"/>
            <p:cNvSpPr/>
            <p:nvPr/>
          </p:nvSpPr>
          <p:spPr>
            <a:xfrm>
              <a:off x="3512819" y="1461516"/>
              <a:ext cx="881380" cy="317500"/>
            </a:xfrm>
            <a:custGeom>
              <a:avLst/>
              <a:gdLst/>
              <a:ahLst/>
              <a:cxnLst/>
              <a:rect l="l" t="t" r="r" b="b"/>
              <a:pathLst>
                <a:path w="881379" h="317500">
                  <a:moveTo>
                    <a:pt x="880872" y="0"/>
                  </a:moveTo>
                  <a:lnTo>
                    <a:pt x="0" y="316992"/>
                  </a:lnTo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77895" y="1702308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977895" y="170230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136582" y="1856041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Arial MT"/>
                <a:cs typeface="Arial MT"/>
              </a:rPr>
              <a:t>14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52584" y="1303515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369820" y="2299716"/>
            <a:ext cx="805180" cy="601980"/>
          </a:xfrm>
          <a:custGeom>
            <a:avLst/>
            <a:gdLst/>
            <a:ahLst/>
            <a:cxnLst/>
            <a:rect l="l" t="t" r="r" b="b"/>
            <a:pathLst>
              <a:path w="805180" h="601980">
                <a:moveTo>
                  <a:pt x="804671" y="0"/>
                </a:moveTo>
                <a:lnTo>
                  <a:pt x="0" y="60198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5524246" y="1734056"/>
            <a:ext cx="590550" cy="552450"/>
            <a:chOff x="5524246" y="1734056"/>
            <a:chExt cx="590550" cy="552450"/>
          </a:xfrm>
        </p:grpSpPr>
        <p:sp>
          <p:nvSpPr>
            <p:cNvPr id="12" name="object 12"/>
            <p:cNvSpPr/>
            <p:nvPr/>
          </p:nvSpPr>
          <p:spPr>
            <a:xfrm>
              <a:off x="5530596" y="1740408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530596" y="174040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689282" y="1894141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Arial MT"/>
                <a:cs typeface="Arial MT"/>
              </a:rPr>
              <a:t>10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05284" y="130366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700015" y="1481327"/>
            <a:ext cx="889000" cy="335280"/>
          </a:xfrm>
          <a:custGeom>
            <a:avLst/>
            <a:gdLst/>
            <a:ahLst/>
            <a:cxnLst/>
            <a:rect l="l" t="t" r="r" b="b"/>
            <a:pathLst>
              <a:path w="889000" h="335280">
                <a:moveTo>
                  <a:pt x="0" y="0"/>
                </a:moveTo>
                <a:lnTo>
                  <a:pt x="888491" y="33528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1962657" y="2971545"/>
            <a:ext cx="590550" cy="552450"/>
            <a:chOff x="1962657" y="2971545"/>
            <a:chExt cx="590550" cy="552450"/>
          </a:xfrm>
        </p:grpSpPr>
        <p:sp>
          <p:nvSpPr>
            <p:cNvPr id="18" name="object 18"/>
            <p:cNvSpPr/>
            <p:nvPr/>
          </p:nvSpPr>
          <p:spPr>
            <a:xfrm>
              <a:off x="1969007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969007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190940" y="31133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123960" y="25418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810000" y="2971800"/>
            <a:ext cx="589915" cy="551815"/>
            <a:chOff x="3810000" y="2971800"/>
            <a:chExt cx="589915" cy="551815"/>
          </a:xfrm>
        </p:grpSpPr>
        <p:sp>
          <p:nvSpPr>
            <p:cNvPr id="23" name="object 23"/>
            <p:cNvSpPr/>
            <p:nvPr/>
          </p:nvSpPr>
          <p:spPr>
            <a:xfrm>
              <a:off x="38160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8160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038790" y="31323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990784" y="257986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647946" y="2971545"/>
            <a:ext cx="590550" cy="552450"/>
            <a:chOff x="4647946" y="2971545"/>
            <a:chExt cx="590550" cy="552450"/>
          </a:xfrm>
        </p:grpSpPr>
        <p:sp>
          <p:nvSpPr>
            <p:cNvPr id="28" name="object 28"/>
            <p:cNvSpPr/>
            <p:nvPr/>
          </p:nvSpPr>
          <p:spPr>
            <a:xfrm>
              <a:off x="4654296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654296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857940" y="31133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752784" y="256081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6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324346" y="2991357"/>
            <a:ext cx="590550" cy="552450"/>
            <a:chOff x="6324346" y="2991357"/>
            <a:chExt cx="590550" cy="552450"/>
          </a:xfrm>
        </p:grpSpPr>
        <p:sp>
          <p:nvSpPr>
            <p:cNvPr id="33" name="object 33"/>
            <p:cNvSpPr/>
            <p:nvPr/>
          </p:nvSpPr>
          <p:spPr>
            <a:xfrm>
              <a:off x="6330696" y="2997707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330696" y="2997707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515290" y="30942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657708" y="265606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353058" y="3512565"/>
            <a:ext cx="1478915" cy="1192530"/>
            <a:chOff x="1353058" y="3512565"/>
            <a:chExt cx="1478915" cy="1192530"/>
          </a:xfrm>
        </p:grpSpPr>
        <p:sp>
          <p:nvSpPr>
            <p:cNvPr id="38" name="object 38"/>
            <p:cNvSpPr/>
            <p:nvPr/>
          </p:nvSpPr>
          <p:spPr>
            <a:xfrm>
              <a:off x="1722120" y="3518915"/>
              <a:ext cx="443865" cy="622300"/>
            </a:xfrm>
            <a:custGeom>
              <a:avLst/>
              <a:gdLst/>
              <a:ahLst/>
              <a:cxnLst/>
              <a:rect l="l" t="t" r="r" b="b"/>
              <a:pathLst>
                <a:path w="443864" h="622300">
                  <a:moveTo>
                    <a:pt x="443483" y="0"/>
                  </a:moveTo>
                  <a:lnTo>
                    <a:pt x="0" y="621792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433827" y="3518915"/>
              <a:ext cx="391795" cy="622300"/>
            </a:xfrm>
            <a:custGeom>
              <a:avLst/>
              <a:gdLst/>
              <a:ahLst/>
              <a:cxnLst/>
              <a:rect l="l" t="t" r="r" b="b"/>
              <a:pathLst>
                <a:path w="391794" h="622300">
                  <a:moveTo>
                    <a:pt x="0" y="0"/>
                  </a:moveTo>
                  <a:lnTo>
                    <a:pt x="391668" y="621792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359408" y="41589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359408" y="41589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1581340" y="43134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457210" y="381811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2496311" y="4114800"/>
            <a:ext cx="589915" cy="551815"/>
            <a:chOff x="2496311" y="4114800"/>
            <a:chExt cx="589915" cy="551815"/>
          </a:xfrm>
        </p:grpSpPr>
        <p:sp>
          <p:nvSpPr>
            <p:cNvPr id="45" name="object 45"/>
            <p:cNvSpPr/>
            <p:nvPr/>
          </p:nvSpPr>
          <p:spPr>
            <a:xfrm>
              <a:off x="2502407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502407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2686240" y="43134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790710" y="37419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3314700" y="4114800"/>
            <a:ext cx="589915" cy="551815"/>
            <a:chOff x="3314700" y="4114800"/>
            <a:chExt cx="589915" cy="551815"/>
          </a:xfrm>
        </p:grpSpPr>
        <p:sp>
          <p:nvSpPr>
            <p:cNvPr id="50" name="object 50"/>
            <p:cNvSpPr/>
            <p:nvPr/>
          </p:nvSpPr>
          <p:spPr>
            <a:xfrm>
              <a:off x="3320795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320795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3441382" y="3742068"/>
            <a:ext cx="374713" cy="8284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00"/>
              </a:spcBef>
            </a:pPr>
            <a:r>
              <a:rPr sz="1800" spc="-5" dirty="0" smtClean="0">
                <a:latin typeface="Arial MT"/>
                <a:cs typeface="Arial MT"/>
              </a:rPr>
              <a:t>10</a:t>
            </a:r>
            <a:endParaRPr sz="1800" dirty="0">
              <a:latin typeface="Arial MT"/>
              <a:cs typeface="Arial MT"/>
            </a:endParaRPr>
          </a:p>
          <a:p>
            <a:pPr marL="12700">
              <a:lnSpc>
                <a:spcPts val="2100"/>
              </a:lnSpc>
            </a:pPr>
            <a:endParaRPr lang="en-US" sz="1800" spc="-15" dirty="0" smtClean="0">
              <a:latin typeface="Arial MT"/>
              <a:cs typeface="Arial MT"/>
            </a:endParaRPr>
          </a:p>
          <a:p>
            <a:pPr marL="12700">
              <a:lnSpc>
                <a:spcPts val="2100"/>
              </a:lnSpc>
            </a:pPr>
            <a:r>
              <a:rPr sz="1800" spc="-15" dirty="0" smtClean="0">
                <a:latin typeface="Arial MT"/>
                <a:cs typeface="Arial MT"/>
              </a:rPr>
              <a:t>16</a:t>
            </a:r>
            <a:endParaRPr sz="1800" dirty="0">
              <a:latin typeface="Arial MT"/>
              <a:cs typeface="Arial MT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3342132" y="2255520"/>
            <a:ext cx="3319779" cy="748665"/>
            <a:chOff x="3342132" y="2255520"/>
            <a:chExt cx="3319779" cy="748665"/>
          </a:xfrm>
        </p:grpSpPr>
        <p:sp>
          <p:nvSpPr>
            <p:cNvPr id="54" name="object 54"/>
            <p:cNvSpPr/>
            <p:nvPr/>
          </p:nvSpPr>
          <p:spPr>
            <a:xfrm>
              <a:off x="3348228" y="2299716"/>
              <a:ext cx="754380" cy="601980"/>
            </a:xfrm>
            <a:custGeom>
              <a:avLst/>
              <a:gdLst/>
              <a:ahLst/>
              <a:cxnLst/>
              <a:rect l="l" t="t" r="r" b="b"/>
              <a:pathLst>
                <a:path w="754379" h="601980">
                  <a:moveTo>
                    <a:pt x="0" y="0"/>
                  </a:moveTo>
                  <a:lnTo>
                    <a:pt x="754380" y="60198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995416" y="2261616"/>
              <a:ext cx="660400" cy="698500"/>
            </a:xfrm>
            <a:custGeom>
              <a:avLst/>
              <a:gdLst/>
              <a:ahLst/>
              <a:cxnLst/>
              <a:rect l="l" t="t" r="r" b="b"/>
              <a:pathLst>
                <a:path w="660400" h="698500">
                  <a:moveTo>
                    <a:pt x="0" y="0"/>
                  </a:moveTo>
                  <a:lnTo>
                    <a:pt x="659892" y="697992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980432" y="2299716"/>
              <a:ext cx="614680" cy="698500"/>
            </a:xfrm>
            <a:custGeom>
              <a:avLst/>
              <a:gdLst/>
              <a:ahLst/>
              <a:cxnLst/>
              <a:rect l="l" t="t" r="r" b="b"/>
              <a:pathLst>
                <a:path w="614679" h="698500">
                  <a:moveTo>
                    <a:pt x="614172" y="0"/>
                  </a:moveTo>
                  <a:lnTo>
                    <a:pt x="0" y="697992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7" name="object 57"/>
          <p:cNvGraphicFramePr>
            <a:graphicFrameLocks noGrp="1"/>
          </p:cNvGraphicFramePr>
          <p:nvPr/>
        </p:nvGraphicFramePr>
        <p:xfrm>
          <a:off x="1810511" y="5105400"/>
          <a:ext cx="4615813" cy="539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75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9495"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8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7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9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16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9" name="object 59"/>
          <p:cNvSpPr txBox="1"/>
          <p:nvPr/>
        </p:nvSpPr>
        <p:spPr>
          <a:xfrm>
            <a:off x="1870076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377499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82242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3329847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774794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415573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6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4600657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504407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553005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6060406" y="5820971"/>
            <a:ext cx="27876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5" dirty="0">
                <a:latin typeface="Arial MT"/>
                <a:cs typeface="Arial MT"/>
              </a:rPr>
              <a:t>10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174740" y="257047"/>
            <a:ext cx="258572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BUILD-MAX-HEAP(A)</a:t>
            </a:r>
            <a:endParaRPr sz="1200">
              <a:latin typeface="Arial"/>
              <a:cs typeface="Arial"/>
            </a:endParaRPr>
          </a:p>
          <a:p>
            <a:pPr marL="227329" marR="424815" indent="-215265">
              <a:lnSpc>
                <a:spcPct val="100000"/>
              </a:lnSpc>
            </a:pPr>
            <a:r>
              <a:rPr sz="1200" b="1" spc="-5" dirty="0">
                <a:latin typeface="Arial"/>
                <a:cs typeface="Arial"/>
              </a:rPr>
              <a:t>for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i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←</a:t>
            </a:r>
            <a:r>
              <a:rPr sz="1200" b="1" spc="-10" dirty="0">
                <a:latin typeface="Arial"/>
                <a:cs typeface="Arial"/>
              </a:rPr>
              <a:t> length[A]</a:t>
            </a:r>
            <a:r>
              <a:rPr sz="1200" b="1" spc="4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downto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2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do </a:t>
            </a:r>
            <a:r>
              <a:rPr sz="1200" b="1" spc="-3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exc</a:t>
            </a:r>
            <a:r>
              <a:rPr sz="1200" b="1" spc="-5" dirty="0">
                <a:latin typeface="Arial"/>
                <a:cs typeface="Arial"/>
              </a:rPr>
              <a:t>h</a:t>
            </a:r>
            <a:r>
              <a:rPr sz="1200" b="1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ng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-80" dirty="0">
                <a:latin typeface="Arial"/>
                <a:cs typeface="Arial"/>
              </a:rPr>
              <a:t> </a:t>
            </a:r>
            <a:r>
              <a:rPr sz="1200" b="1" spc="-40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[</a:t>
            </a:r>
            <a:r>
              <a:rPr sz="1200" b="1" dirty="0">
                <a:latin typeface="Arial"/>
                <a:cs typeface="Arial"/>
              </a:rPr>
              <a:t>1]</a:t>
            </a:r>
            <a:r>
              <a:rPr sz="1200" b="1" spc="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↔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spc="-40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[</a:t>
            </a:r>
            <a:r>
              <a:rPr sz="1200" b="1" dirty="0">
                <a:latin typeface="Arial"/>
                <a:cs typeface="Arial"/>
              </a:rPr>
              <a:t>i]</a:t>
            </a:r>
            <a:endParaRPr sz="1200">
              <a:latin typeface="Arial"/>
              <a:cs typeface="Arial"/>
            </a:endParaRPr>
          </a:p>
          <a:p>
            <a:pPr marL="269875" marR="5080">
              <a:lnSpc>
                <a:spcPct val="100000"/>
              </a:lnSpc>
            </a:pPr>
            <a:r>
              <a:rPr sz="1200" b="1" spc="-5" dirty="0">
                <a:latin typeface="Arial"/>
                <a:cs typeface="Arial"/>
              </a:rPr>
              <a:t>heap-size[A]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← </a:t>
            </a:r>
            <a:r>
              <a:rPr sz="1200" b="1" spc="-10" dirty="0">
                <a:latin typeface="Arial"/>
                <a:cs typeface="Arial"/>
              </a:rPr>
              <a:t>heap-size[A]</a:t>
            </a:r>
            <a:r>
              <a:rPr sz="1200" b="1" spc="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–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 </a:t>
            </a:r>
            <a:r>
              <a:rPr sz="1200" b="1" spc="-32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MAX-HEAPIFY(A,</a:t>
            </a:r>
            <a:r>
              <a:rPr sz="1200" b="1" spc="5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1)</a:t>
            </a:r>
            <a:endParaRPr sz="12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94684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12932" y="1074992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Arial MT"/>
                <a:cs typeface="Arial MT"/>
              </a:rPr>
              <a:t>14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28934" y="48451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971545" y="1455166"/>
            <a:ext cx="1428750" cy="793115"/>
            <a:chOff x="2971545" y="1455166"/>
            <a:chExt cx="1428750" cy="793115"/>
          </a:xfrm>
        </p:grpSpPr>
        <p:sp>
          <p:nvSpPr>
            <p:cNvPr id="5" name="object 5"/>
            <p:cNvSpPr/>
            <p:nvPr/>
          </p:nvSpPr>
          <p:spPr>
            <a:xfrm>
              <a:off x="3512819" y="1461516"/>
              <a:ext cx="881380" cy="317500"/>
            </a:xfrm>
            <a:custGeom>
              <a:avLst/>
              <a:gdLst/>
              <a:ahLst/>
              <a:cxnLst/>
              <a:rect l="l" t="t" r="r" b="b"/>
              <a:pathLst>
                <a:path w="881379" h="317500">
                  <a:moveTo>
                    <a:pt x="880872" y="0"/>
                  </a:moveTo>
                  <a:lnTo>
                    <a:pt x="0" y="316992"/>
                  </a:lnTo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77895" y="1702308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977895" y="170230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200590" y="1856041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52584" y="1303515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369820" y="2299716"/>
            <a:ext cx="805180" cy="601980"/>
          </a:xfrm>
          <a:custGeom>
            <a:avLst/>
            <a:gdLst/>
            <a:ahLst/>
            <a:cxnLst/>
            <a:rect l="l" t="t" r="r" b="b"/>
            <a:pathLst>
              <a:path w="805180" h="601980">
                <a:moveTo>
                  <a:pt x="804671" y="0"/>
                </a:moveTo>
                <a:lnTo>
                  <a:pt x="0" y="60198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5524246" y="1734056"/>
            <a:ext cx="590550" cy="552450"/>
            <a:chOff x="5524246" y="1734056"/>
            <a:chExt cx="590550" cy="552450"/>
          </a:xfrm>
        </p:grpSpPr>
        <p:sp>
          <p:nvSpPr>
            <p:cNvPr id="12" name="object 12"/>
            <p:cNvSpPr/>
            <p:nvPr/>
          </p:nvSpPr>
          <p:spPr>
            <a:xfrm>
              <a:off x="5530596" y="1740408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530596" y="174040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689282" y="1894141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Arial MT"/>
                <a:cs typeface="Arial MT"/>
              </a:rPr>
              <a:t>10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05284" y="130366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700015" y="1481327"/>
            <a:ext cx="889000" cy="335280"/>
          </a:xfrm>
          <a:custGeom>
            <a:avLst/>
            <a:gdLst/>
            <a:ahLst/>
            <a:cxnLst/>
            <a:rect l="l" t="t" r="r" b="b"/>
            <a:pathLst>
              <a:path w="889000" h="335280">
                <a:moveTo>
                  <a:pt x="0" y="0"/>
                </a:moveTo>
                <a:lnTo>
                  <a:pt x="888491" y="33528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1974850" y="2965450"/>
            <a:ext cx="590550" cy="552450"/>
            <a:chOff x="1974850" y="2965450"/>
            <a:chExt cx="590550" cy="552450"/>
          </a:xfrm>
        </p:grpSpPr>
        <p:sp>
          <p:nvSpPr>
            <p:cNvPr id="18" name="object 18"/>
            <p:cNvSpPr/>
            <p:nvPr/>
          </p:nvSpPr>
          <p:spPr>
            <a:xfrm>
              <a:off x="1981200" y="2971800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981200" y="2971800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190940" y="31133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123960" y="25418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810000" y="2971800"/>
            <a:ext cx="589915" cy="551815"/>
            <a:chOff x="3810000" y="2971800"/>
            <a:chExt cx="589915" cy="551815"/>
          </a:xfrm>
        </p:grpSpPr>
        <p:sp>
          <p:nvSpPr>
            <p:cNvPr id="23" name="object 23"/>
            <p:cNvSpPr/>
            <p:nvPr/>
          </p:nvSpPr>
          <p:spPr>
            <a:xfrm>
              <a:off x="38160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8160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038790" y="31323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990784" y="257986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647946" y="2971545"/>
            <a:ext cx="590550" cy="552450"/>
            <a:chOff x="4647946" y="2971545"/>
            <a:chExt cx="590550" cy="552450"/>
          </a:xfrm>
        </p:grpSpPr>
        <p:sp>
          <p:nvSpPr>
            <p:cNvPr id="28" name="object 28"/>
            <p:cNvSpPr/>
            <p:nvPr/>
          </p:nvSpPr>
          <p:spPr>
            <a:xfrm>
              <a:off x="4654296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654296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857940" y="31133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752784" y="256081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6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324346" y="2991357"/>
            <a:ext cx="590550" cy="552450"/>
            <a:chOff x="6324346" y="2991357"/>
            <a:chExt cx="590550" cy="552450"/>
          </a:xfrm>
        </p:grpSpPr>
        <p:sp>
          <p:nvSpPr>
            <p:cNvPr id="33" name="object 33"/>
            <p:cNvSpPr/>
            <p:nvPr/>
          </p:nvSpPr>
          <p:spPr>
            <a:xfrm>
              <a:off x="6330696" y="2997707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330696" y="2997707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515290" y="30942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657708" y="265606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353058" y="3512565"/>
            <a:ext cx="1478915" cy="1192530"/>
            <a:chOff x="1353058" y="3512565"/>
            <a:chExt cx="1478915" cy="1192530"/>
          </a:xfrm>
        </p:grpSpPr>
        <p:sp>
          <p:nvSpPr>
            <p:cNvPr id="38" name="object 38"/>
            <p:cNvSpPr/>
            <p:nvPr/>
          </p:nvSpPr>
          <p:spPr>
            <a:xfrm>
              <a:off x="1722120" y="3518915"/>
              <a:ext cx="443865" cy="622300"/>
            </a:xfrm>
            <a:custGeom>
              <a:avLst/>
              <a:gdLst/>
              <a:ahLst/>
              <a:cxnLst/>
              <a:rect l="l" t="t" r="r" b="b"/>
              <a:pathLst>
                <a:path w="443864" h="622300">
                  <a:moveTo>
                    <a:pt x="443483" y="0"/>
                  </a:moveTo>
                  <a:lnTo>
                    <a:pt x="0" y="621792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433827" y="3518915"/>
              <a:ext cx="391795" cy="622300"/>
            </a:xfrm>
            <a:custGeom>
              <a:avLst/>
              <a:gdLst/>
              <a:ahLst/>
              <a:cxnLst/>
              <a:rect l="l" t="t" r="r" b="b"/>
              <a:pathLst>
                <a:path w="391794" h="622300">
                  <a:moveTo>
                    <a:pt x="0" y="0"/>
                  </a:moveTo>
                  <a:lnTo>
                    <a:pt x="391668" y="621792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359408" y="41589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359408" y="41589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1581340" y="43134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457210" y="381811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2496311" y="4114800"/>
            <a:ext cx="589915" cy="551815"/>
            <a:chOff x="2496311" y="4114800"/>
            <a:chExt cx="589915" cy="551815"/>
          </a:xfrm>
        </p:grpSpPr>
        <p:sp>
          <p:nvSpPr>
            <p:cNvPr id="45" name="object 45"/>
            <p:cNvSpPr/>
            <p:nvPr/>
          </p:nvSpPr>
          <p:spPr>
            <a:xfrm>
              <a:off x="2502407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502407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2686240" y="43134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790710" y="37419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3314700" y="4114800"/>
            <a:ext cx="589915" cy="551815"/>
            <a:chOff x="3314700" y="4114800"/>
            <a:chExt cx="589915" cy="551815"/>
          </a:xfrm>
        </p:grpSpPr>
        <p:sp>
          <p:nvSpPr>
            <p:cNvPr id="50" name="object 50"/>
            <p:cNvSpPr/>
            <p:nvPr/>
          </p:nvSpPr>
          <p:spPr>
            <a:xfrm>
              <a:off x="3320795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320795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3441382" y="3742068"/>
            <a:ext cx="333412" cy="8284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00"/>
              </a:spcBef>
            </a:pPr>
            <a:r>
              <a:rPr lang="en-US" sz="1800" spc="-5" dirty="0">
                <a:latin typeface="Arial MT"/>
                <a:cs typeface="Arial MT"/>
              </a:rPr>
              <a:t>1</a:t>
            </a:r>
            <a:r>
              <a:rPr sz="1800" spc="-5" dirty="0" smtClean="0">
                <a:latin typeface="Arial MT"/>
                <a:cs typeface="Arial MT"/>
              </a:rPr>
              <a:t>0</a:t>
            </a:r>
            <a:endParaRPr sz="1800" dirty="0">
              <a:latin typeface="Arial MT"/>
              <a:cs typeface="Arial MT"/>
            </a:endParaRPr>
          </a:p>
          <a:p>
            <a:pPr marL="12700">
              <a:lnSpc>
                <a:spcPts val="2100"/>
              </a:lnSpc>
            </a:pPr>
            <a:endParaRPr lang="en-US" sz="1800" spc="-15" dirty="0" smtClean="0">
              <a:latin typeface="Arial MT"/>
              <a:cs typeface="Arial MT"/>
            </a:endParaRPr>
          </a:p>
          <a:p>
            <a:pPr marL="12700">
              <a:lnSpc>
                <a:spcPts val="2100"/>
              </a:lnSpc>
            </a:pPr>
            <a:r>
              <a:rPr sz="1800" spc="-15" dirty="0" smtClean="0">
                <a:latin typeface="Arial MT"/>
                <a:cs typeface="Arial MT"/>
              </a:rPr>
              <a:t>16</a:t>
            </a:r>
            <a:endParaRPr sz="1800" dirty="0">
              <a:latin typeface="Arial MT"/>
              <a:cs typeface="Arial MT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3342132" y="2255520"/>
            <a:ext cx="3319779" cy="748665"/>
            <a:chOff x="3342132" y="2255520"/>
            <a:chExt cx="3319779" cy="748665"/>
          </a:xfrm>
        </p:grpSpPr>
        <p:sp>
          <p:nvSpPr>
            <p:cNvPr id="54" name="object 54"/>
            <p:cNvSpPr/>
            <p:nvPr/>
          </p:nvSpPr>
          <p:spPr>
            <a:xfrm>
              <a:off x="3348228" y="2299716"/>
              <a:ext cx="754380" cy="601980"/>
            </a:xfrm>
            <a:custGeom>
              <a:avLst/>
              <a:gdLst/>
              <a:ahLst/>
              <a:cxnLst/>
              <a:rect l="l" t="t" r="r" b="b"/>
              <a:pathLst>
                <a:path w="754379" h="601980">
                  <a:moveTo>
                    <a:pt x="0" y="0"/>
                  </a:moveTo>
                  <a:lnTo>
                    <a:pt x="754380" y="60198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995416" y="2261616"/>
              <a:ext cx="660400" cy="698500"/>
            </a:xfrm>
            <a:custGeom>
              <a:avLst/>
              <a:gdLst/>
              <a:ahLst/>
              <a:cxnLst/>
              <a:rect l="l" t="t" r="r" b="b"/>
              <a:pathLst>
                <a:path w="660400" h="698500">
                  <a:moveTo>
                    <a:pt x="0" y="0"/>
                  </a:moveTo>
                  <a:lnTo>
                    <a:pt x="659892" y="697992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980432" y="2299716"/>
              <a:ext cx="614680" cy="698500"/>
            </a:xfrm>
            <a:custGeom>
              <a:avLst/>
              <a:gdLst/>
              <a:ahLst/>
              <a:cxnLst/>
              <a:rect l="l" t="t" r="r" b="b"/>
              <a:pathLst>
                <a:path w="614679" h="698500">
                  <a:moveTo>
                    <a:pt x="614172" y="0"/>
                  </a:moveTo>
                  <a:lnTo>
                    <a:pt x="0" y="697992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7" name="object 57"/>
          <p:cNvGraphicFramePr>
            <a:graphicFrameLocks noGrp="1"/>
          </p:cNvGraphicFramePr>
          <p:nvPr/>
        </p:nvGraphicFramePr>
        <p:xfrm>
          <a:off x="1810511" y="5105400"/>
          <a:ext cx="4615813" cy="539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75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9495"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22479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8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7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9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9875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16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9" name="object 59"/>
          <p:cNvSpPr txBox="1"/>
          <p:nvPr/>
        </p:nvSpPr>
        <p:spPr>
          <a:xfrm>
            <a:off x="1870076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377499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82242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3329847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774794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415573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6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4600657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504407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553005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6060406" y="5820971"/>
            <a:ext cx="27876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5" dirty="0">
                <a:latin typeface="Arial MT"/>
                <a:cs typeface="Arial MT"/>
              </a:rPr>
              <a:t>10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250940" y="333247"/>
            <a:ext cx="258572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BUILD-MAX-HEAP(A)</a:t>
            </a:r>
            <a:endParaRPr sz="1200">
              <a:latin typeface="Arial"/>
              <a:cs typeface="Arial"/>
            </a:endParaRPr>
          </a:p>
          <a:p>
            <a:pPr marL="227329" marR="424815" indent="-215265">
              <a:lnSpc>
                <a:spcPct val="100000"/>
              </a:lnSpc>
            </a:pPr>
            <a:r>
              <a:rPr sz="1200" b="1" spc="-5" dirty="0">
                <a:latin typeface="Arial"/>
                <a:cs typeface="Arial"/>
              </a:rPr>
              <a:t>for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i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←</a:t>
            </a:r>
            <a:r>
              <a:rPr sz="1200" b="1" spc="-10" dirty="0">
                <a:latin typeface="Arial"/>
                <a:cs typeface="Arial"/>
              </a:rPr>
              <a:t> length[A]</a:t>
            </a:r>
            <a:r>
              <a:rPr sz="1200" b="1" spc="4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downto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2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do </a:t>
            </a:r>
            <a:r>
              <a:rPr sz="1200" b="1" spc="-3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exc</a:t>
            </a:r>
            <a:r>
              <a:rPr sz="1200" b="1" spc="-5" dirty="0">
                <a:latin typeface="Arial"/>
                <a:cs typeface="Arial"/>
              </a:rPr>
              <a:t>h</a:t>
            </a:r>
            <a:r>
              <a:rPr sz="1200" b="1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ng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-80" dirty="0">
                <a:latin typeface="Arial"/>
                <a:cs typeface="Arial"/>
              </a:rPr>
              <a:t> </a:t>
            </a:r>
            <a:r>
              <a:rPr sz="1200" b="1" spc="-40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[</a:t>
            </a:r>
            <a:r>
              <a:rPr sz="1200" b="1" dirty="0">
                <a:latin typeface="Arial"/>
                <a:cs typeface="Arial"/>
              </a:rPr>
              <a:t>1]</a:t>
            </a:r>
            <a:r>
              <a:rPr sz="1200" b="1" spc="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↔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spc="-40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[</a:t>
            </a:r>
            <a:r>
              <a:rPr sz="1200" b="1" dirty="0">
                <a:latin typeface="Arial"/>
                <a:cs typeface="Arial"/>
              </a:rPr>
              <a:t>i]</a:t>
            </a:r>
            <a:endParaRPr sz="1200">
              <a:latin typeface="Arial"/>
              <a:cs typeface="Arial"/>
            </a:endParaRPr>
          </a:p>
          <a:p>
            <a:pPr marL="269875" marR="5080">
              <a:lnSpc>
                <a:spcPct val="100000"/>
              </a:lnSpc>
            </a:pPr>
            <a:r>
              <a:rPr sz="1200" b="1" spc="-5" dirty="0">
                <a:latin typeface="Arial"/>
                <a:cs typeface="Arial"/>
              </a:rPr>
              <a:t>heap-size[A]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← </a:t>
            </a:r>
            <a:r>
              <a:rPr sz="1200" b="1" spc="-10" dirty="0">
                <a:latin typeface="Arial"/>
                <a:cs typeface="Arial"/>
              </a:rPr>
              <a:t>heap-size[A]</a:t>
            </a:r>
            <a:r>
              <a:rPr sz="1200" b="1" spc="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–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 </a:t>
            </a:r>
            <a:r>
              <a:rPr sz="1200" b="1" spc="-32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MAX-HEAPIFY(A,</a:t>
            </a:r>
            <a:r>
              <a:rPr sz="1200" b="1" spc="5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1)</a:t>
            </a:r>
            <a:endParaRPr sz="12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62025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8658" y="914146"/>
            <a:ext cx="590550" cy="552450"/>
            <a:chOff x="4248658" y="914146"/>
            <a:chExt cx="590550" cy="552450"/>
          </a:xfrm>
        </p:grpSpPr>
        <p:sp>
          <p:nvSpPr>
            <p:cNvPr id="3" name="object 3"/>
            <p:cNvSpPr/>
            <p:nvPr/>
          </p:nvSpPr>
          <p:spPr>
            <a:xfrm>
              <a:off x="4255008" y="92049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CF0E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255008" y="92049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412932" y="1074992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Arial MT"/>
                <a:cs typeface="Arial MT"/>
              </a:rPr>
              <a:t>14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28934" y="48451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971545" y="1455166"/>
            <a:ext cx="1428750" cy="793115"/>
            <a:chOff x="2971545" y="1455166"/>
            <a:chExt cx="1428750" cy="793115"/>
          </a:xfrm>
        </p:grpSpPr>
        <p:sp>
          <p:nvSpPr>
            <p:cNvPr id="8" name="object 8"/>
            <p:cNvSpPr/>
            <p:nvPr/>
          </p:nvSpPr>
          <p:spPr>
            <a:xfrm>
              <a:off x="3512819" y="1461516"/>
              <a:ext cx="881380" cy="317500"/>
            </a:xfrm>
            <a:custGeom>
              <a:avLst/>
              <a:gdLst/>
              <a:ahLst/>
              <a:cxnLst/>
              <a:rect l="l" t="t" r="r" b="b"/>
              <a:pathLst>
                <a:path w="881379" h="317500">
                  <a:moveTo>
                    <a:pt x="880872" y="0"/>
                  </a:moveTo>
                  <a:lnTo>
                    <a:pt x="0" y="316992"/>
                  </a:lnTo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77895" y="1702308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977895" y="170230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200590" y="1856041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52584" y="1303515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369820" y="2299716"/>
            <a:ext cx="805180" cy="601980"/>
          </a:xfrm>
          <a:custGeom>
            <a:avLst/>
            <a:gdLst/>
            <a:ahLst/>
            <a:cxnLst/>
            <a:rect l="l" t="t" r="r" b="b"/>
            <a:pathLst>
              <a:path w="805180" h="601980">
                <a:moveTo>
                  <a:pt x="804671" y="0"/>
                </a:moveTo>
                <a:lnTo>
                  <a:pt x="0" y="60198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5524246" y="1734056"/>
            <a:ext cx="590550" cy="552450"/>
            <a:chOff x="5524246" y="1734056"/>
            <a:chExt cx="590550" cy="552450"/>
          </a:xfrm>
        </p:grpSpPr>
        <p:sp>
          <p:nvSpPr>
            <p:cNvPr id="15" name="object 15"/>
            <p:cNvSpPr/>
            <p:nvPr/>
          </p:nvSpPr>
          <p:spPr>
            <a:xfrm>
              <a:off x="5530596" y="1740408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530596" y="174040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689282" y="1894141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Arial MT"/>
                <a:cs typeface="Arial MT"/>
              </a:rPr>
              <a:t>10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705284" y="130366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700015" y="1481327"/>
            <a:ext cx="889000" cy="335280"/>
          </a:xfrm>
          <a:custGeom>
            <a:avLst/>
            <a:gdLst/>
            <a:ahLst/>
            <a:cxnLst/>
            <a:rect l="l" t="t" r="r" b="b"/>
            <a:pathLst>
              <a:path w="889000" h="335280">
                <a:moveTo>
                  <a:pt x="0" y="0"/>
                </a:moveTo>
                <a:lnTo>
                  <a:pt x="888491" y="33528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1974850" y="2965450"/>
            <a:ext cx="590550" cy="552450"/>
            <a:chOff x="1974850" y="2965450"/>
            <a:chExt cx="590550" cy="552450"/>
          </a:xfrm>
        </p:grpSpPr>
        <p:sp>
          <p:nvSpPr>
            <p:cNvPr id="21" name="object 21"/>
            <p:cNvSpPr/>
            <p:nvPr/>
          </p:nvSpPr>
          <p:spPr>
            <a:xfrm>
              <a:off x="1981200" y="2971800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981200" y="2971800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190940" y="31133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123960" y="25418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810000" y="2971800"/>
            <a:ext cx="589915" cy="551815"/>
            <a:chOff x="3810000" y="2971800"/>
            <a:chExt cx="589915" cy="551815"/>
          </a:xfrm>
        </p:grpSpPr>
        <p:sp>
          <p:nvSpPr>
            <p:cNvPr id="26" name="object 26"/>
            <p:cNvSpPr/>
            <p:nvPr/>
          </p:nvSpPr>
          <p:spPr>
            <a:xfrm>
              <a:off x="38160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8160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038790" y="31323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990784" y="257986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647946" y="2971545"/>
            <a:ext cx="590550" cy="552450"/>
            <a:chOff x="4647946" y="2971545"/>
            <a:chExt cx="590550" cy="552450"/>
          </a:xfrm>
        </p:grpSpPr>
        <p:sp>
          <p:nvSpPr>
            <p:cNvPr id="31" name="object 31"/>
            <p:cNvSpPr/>
            <p:nvPr/>
          </p:nvSpPr>
          <p:spPr>
            <a:xfrm>
              <a:off x="4654296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654296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4857940" y="31133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752784" y="256081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6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324346" y="2991357"/>
            <a:ext cx="590550" cy="552450"/>
            <a:chOff x="6324346" y="2991357"/>
            <a:chExt cx="590550" cy="552450"/>
          </a:xfrm>
        </p:grpSpPr>
        <p:sp>
          <p:nvSpPr>
            <p:cNvPr id="36" name="object 36"/>
            <p:cNvSpPr/>
            <p:nvPr/>
          </p:nvSpPr>
          <p:spPr>
            <a:xfrm>
              <a:off x="6330696" y="2997707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330696" y="2997707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6515290" y="30942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657708" y="265606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1353058" y="3512565"/>
            <a:ext cx="1478915" cy="1192530"/>
            <a:chOff x="1353058" y="3512565"/>
            <a:chExt cx="1478915" cy="1192530"/>
          </a:xfrm>
        </p:grpSpPr>
        <p:sp>
          <p:nvSpPr>
            <p:cNvPr id="41" name="object 41"/>
            <p:cNvSpPr/>
            <p:nvPr/>
          </p:nvSpPr>
          <p:spPr>
            <a:xfrm>
              <a:off x="1722120" y="3518915"/>
              <a:ext cx="443865" cy="622300"/>
            </a:xfrm>
            <a:custGeom>
              <a:avLst/>
              <a:gdLst/>
              <a:ahLst/>
              <a:cxnLst/>
              <a:rect l="l" t="t" r="r" b="b"/>
              <a:pathLst>
                <a:path w="443864" h="622300">
                  <a:moveTo>
                    <a:pt x="443483" y="0"/>
                  </a:moveTo>
                  <a:lnTo>
                    <a:pt x="0" y="621792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433827" y="3518915"/>
              <a:ext cx="391795" cy="622300"/>
            </a:xfrm>
            <a:custGeom>
              <a:avLst/>
              <a:gdLst/>
              <a:ahLst/>
              <a:cxnLst/>
              <a:rect l="l" t="t" r="r" b="b"/>
              <a:pathLst>
                <a:path w="391794" h="622300">
                  <a:moveTo>
                    <a:pt x="0" y="0"/>
                  </a:moveTo>
                  <a:lnTo>
                    <a:pt x="391668" y="621792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359408" y="41589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359408" y="41589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1581340" y="43134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457210" y="381811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2496311" y="4114800"/>
            <a:ext cx="589915" cy="551815"/>
            <a:chOff x="2496311" y="4114800"/>
            <a:chExt cx="589915" cy="551815"/>
          </a:xfrm>
        </p:grpSpPr>
        <p:sp>
          <p:nvSpPr>
            <p:cNvPr id="48" name="object 48"/>
            <p:cNvSpPr/>
            <p:nvPr/>
          </p:nvSpPr>
          <p:spPr>
            <a:xfrm>
              <a:off x="2502407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CF0E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502407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2686240" y="43134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790710" y="37419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3314700" y="4114800"/>
            <a:ext cx="589915" cy="551815"/>
            <a:chOff x="3314700" y="4114800"/>
            <a:chExt cx="589915" cy="551815"/>
          </a:xfrm>
        </p:grpSpPr>
        <p:sp>
          <p:nvSpPr>
            <p:cNvPr id="53" name="object 53"/>
            <p:cNvSpPr/>
            <p:nvPr/>
          </p:nvSpPr>
          <p:spPr>
            <a:xfrm>
              <a:off x="3320795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320795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3441382" y="3742068"/>
            <a:ext cx="374713" cy="8284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00"/>
              </a:spcBef>
            </a:pPr>
            <a:r>
              <a:rPr sz="1800" spc="-5" dirty="0" smtClean="0">
                <a:latin typeface="Arial MT"/>
                <a:cs typeface="Arial MT"/>
              </a:rPr>
              <a:t>1</a:t>
            </a:r>
            <a:r>
              <a:rPr lang="en-US" sz="1800" spc="-5" dirty="0" smtClean="0">
                <a:latin typeface="Arial MT"/>
                <a:cs typeface="Arial MT"/>
              </a:rPr>
              <a:t>0</a:t>
            </a:r>
            <a:endParaRPr sz="1800" dirty="0">
              <a:latin typeface="Arial MT"/>
              <a:cs typeface="Arial MT"/>
            </a:endParaRPr>
          </a:p>
          <a:p>
            <a:pPr marL="28575">
              <a:lnSpc>
                <a:spcPts val="2100"/>
              </a:lnSpc>
            </a:pPr>
            <a:endParaRPr sz="1800" dirty="0">
              <a:latin typeface="Arial MT"/>
              <a:cs typeface="Arial MT"/>
            </a:endParaRPr>
          </a:p>
          <a:p>
            <a:pPr marL="12700">
              <a:lnSpc>
                <a:spcPts val="2100"/>
              </a:lnSpc>
            </a:pPr>
            <a:r>
              <a:rPr sz="1800" spc="-15" dirty="0">
                <a:latin typeface="Arial MT"/>
                <a:cs typeface="Arial MT"/>
              </a:rPr>
              <a:t>16</a:t>
            </a:r>
            <a:endParaRPr sz="1800" dirty="0">
              <a:latin typeface="Arial MT"/>
              <a:cs typeface="Arial MT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3342132" y="2255520"/>
            <a:ext cx="3319779" cy="748665"/>
            <a:chOff x="3342132" y="2255520"/>
            <a:chExt cx="3319779" cy="748665"/>
          </a:xfrm>
        </p:grpSpPr>
        <p:sp>
          <p:nvSpPr>
            <p:cNvPr id="57" name="object 57"/>
            <p:cNvSpPr/>
            <p:nvPr/>
          </p:nvSpPr>
          <p:spPr>
            <a:xfrm>
              <a:off x="3348228" y="2299716"/>
              <a:ext cx="754380" cy="601980"/>
            </a:xfrm>
            <a:custGeom>
              <a:avLst/>
              <a:gdLst/>
              <a:ahLst/>
              <a:cxnLst/>
              <a:rect l="l" t="t" r="r" b="b"/>
              <a:pathLst>
                <a:path w="754379" h="601980">
                  <a:moveTo>
                    <a:pt x="0" y="0"/>
                  </a:moveTo>
                  <a:lnTo>
                    <a:pt x="754380" y="60198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995416" y="2261616"/>
              <a:ext cx="660400" cy="698500"/>
            </a:xfrm>
            <a:custGeom>
              <a:avLst/>
              <a:gdLst/>
              <a:ahLst/>
              <a:cxnLst/>
              <a:rect l="l" t="t" r="r" b="b"/>
              <a:pathLst>
                <a:path w="660400" h="698500">
                  <a:moveTo>
                    <a:pt x="0" y="0"/>
                  </a:moveTo>
                  <a:lnTo>
                    <a:pt x="659892" y="697992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980432" y="2299716"/>
              <a:ext cx="614680" cy="698500"/>
            </a:xfrm>
            <a:custGeom>
              <a:avLst/>
              <a:gdLst/>
              <a:ahLst/>
              <a:cxnLst/>
              <a:rect l="l" t="t" r="r" b="b"/>
              <a:pathLst>
                <a:path w="614679" h="698500">
                  <a:moveTo>
                    <a:pt x="614172" y="0"/>
                  </a:moveTo>
                  <a:lnTo>
                    <a:pt x="0" y="697992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6250940" y="333247"/>
            <a:ext cx="258572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BUILD-MAX-HEAP(A)</a:t>
            </a:r>
            <a:endParaRPr sz="1200">
              <a:latin typeface="Arial"/>
              <a:cs typeface="Arial"/>
            </a:endParaRPr>
          </a:p>
          <a:p>
            <a:pPr marL="227329" marR="424815" indent="-215265">
              <a:lnSpc>
                <a:spcPct val="100000"/>
              </a:lnSpc>
            </a:pPr>
            <a:r>
              <a:rPr sz="1200" b="1" spc="-5" dirty="0">
                <a:latin typeface="Arial"/>
                <a:cs typeface="Arial"/>
              </a:rPr>
              <a:t>for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i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←</a:t>
            </a:r>
            <a:r>
              <a:rPr sz="1200" b="1" spc="-10" dirty="0">
                <a:latin typeface="Arial"/>
                <a:cs typeface="Arial"/>
              </a:rPr>
              <a:t> length[A]</a:t>
            </a:r>
            <a:r>
              <a:rPr sz="1200" b="1" spc="4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downto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2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do </a:t>
            </a:r>
            <a:r>
              <a:rPr sz="1200" b="1" spc="-3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exc</a:t>
            </a:r>
            <a:r>
              <a:rPr sz="1200" b="1" spc="-5" dirty="0">
                <a:latin typeface="Arial"/>
                <a:cs typeface="Arial"/>
              </a:rPr>
              <a:t>h</a:t>
            </a:r>
            <a:r>
              <a:rPr sz="1200" b="1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ng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-80" dirty="0">
                <a:latin typeface="Arial"/>
                <a:cs typeface="Arial"/>
              </a:rPr>
              <a:t> </a:t>
            </a:r>
            <a:r>
              <a:rPr sz="1200" b="1" spc="-40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[</a:t>
            </a:r>
            <a:r>
              <a:rPr sz="1200" b="1" dirty="0">
                <a:latin typeface="Arial"/>
                <a:cs typeface="Arial"/>
              </a:rPr>
              <a:t>1]</a:t>
            </a:r>
            <a:r>
              <a:rPr sz="1200" b="1" spc="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↔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spc="-40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[</a:t>
            </a:r>
            <a:r>
              <a:rPr sz="1200" b="1" dirty="0">
                <a:latin typeface="Arial"/>
                <a:cs typeface="Arial"/>
              </a:rPr>
              <a:t>i]</a:t>
            </a:r>
            <a:endParaRPr sz="1200">
              <a:latin typeface="Arial"/>
              <a:cs typeface="Arial"/>
            </a:endParaRPr>
          </a:p>
          <a:p>
            <a:pPr marL="269875" marR="5080">
              <a:lnSpc>
                <a:spcPct val="100000"/>
              </a:lnSpc>
            </a:pPr>
            <a:r>
              <a:rPr sz="1200" b="1" spc="-5" dirty="0">
                <a:latin typeface="Arial"/>
                <a:cs typeface="Arial"/>
              </a:rPr>
              <a:t>heap-size[A]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← </a:t>
            </a:r>
            <a:r>
              <a:rPr sz="1200" b="1" spc="-10" dirty="0">
                <a:latin typeface="Arial"/>
                <a:cs typeface="Arial"/>
              </a:rPr>
              <a:t>heap-size[A]</a:t>
            </a:r>
            <a:r>
              <a:rPr sz="1200" b="1" spc="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–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 </a:t>
            </a:r>
            <a:r>
              <a:rPr sz="1200" b="1" spc="-32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MAX-HEAPIFY(A,</a:t>
            </a:r>
            <a:r>
              <a:rPr sz="1200" b="1" spc="5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1)</a:t>
            </a:r>
            <a:endParaRPr sz="12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870076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2377499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282242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3329847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3774794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415573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6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4600657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504407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5553005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6060406" y="5820971"/>
            <a:ext cx="27876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5" dirty="0">
                <a:latin typeface="Arial MT"/>
                <a:cs typeface="Arial MT"/>
              </a:rPr>
              <a:t>10</a:t>
            </a:r>
            <a:endParaRPr sz="1800">
              <a:latin typeface="Arial MT"/>
              <a:cs typeface="Arial MT"/>
            </a:endParaRPr>
          </a:p>
        </p:txBody>
      </p:sp>
      <p:graphicFrame>
        <p:nvGraphicFramePr>
          <p:cNvPr id="61" name="object 61"/>
          <p:cNvGraphicFramePr>
            <a:graphicFrameLocks noGrp="1"/>
          </p:cNvGraphicFramePr>
          <p:nvPr/>
        </p:nvGraphicFramePr>
        <p:xfrm>
          <a:off x="1810511" y="5105400"/>
          <a:ext cx="4615813" cy="539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75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9495"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22479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8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7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9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9875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16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0130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76940" y="10749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28934" y="48451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971545" y="1455166"/>
            <a:ext cx="1428750" cy="793115"/>
            <a:chOff x="2971545" y="1455166"/>
            <a:chExt cx="1428750" cy="793115"/>
          </a:xfrm>
        </p:grpSpPr>
        <p:sp>
          <p:nvSpPr>
            <p:cNvPr id="5" name="object 5"/>
            <p:cNvSpPr/>
            <p:nvPr/>
          </p:nvSpPr>
          <p:spPr>
            <a:xfrm>
              <a:off x="3512819" y="1461516"/>
              <a:ext cx="881380" cy="317500"/>
            </a:xfrm>
            <a:custGeom>
              <a:avLst/>
              <a:gdLst/>
              <a:ahLst/>
              <a:cxnLst/>
              <a:rect l="l" t="t" r="r" b="b"/>
              <a:pathLst>
                <a:path w="881379" h="317500">
                  <a:moveTo>
                    <a:pt x="880872" y="0"/>
                  </a:moveTo>
                  <a:lnTo>
                    <a:pt x="0" y="316992"/>
                  </a:lnTo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77895" y="1702308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977895" y="170230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200590" y="1856041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52584" y="1303515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369820" y="2299716"/>
            <a:ext cx="805180" cy="601980"/>
          </a:xfrm>
          <a:custGeom>
            <a:avLst/>
            <a:gdLst/>
            <a:ahLst/>
            <a:cxnLst/>
            <a:rect l="l" t="t" r="r" b="b"/>
            <a:pathLst>
              <a:path w="805180" h="601980">
                <a:moveTo>
                  <a:pt x="804671" y="0"/>
                </a:moveTo>
                <a:lnTo>
                  <a:pt x="0" y="60198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5524246" y="1734056"/>
            <a:ext cx="590550" cy="552450"/>
            <a:chOff x="5524246" y="1734056"/>
            <a:chExt cx="590550" cy="552450"/>
          </a:xfrm>
        </p:grpSpPr>
        <p:sp>
          <p:nvSpPr>
            <p:cNvPr id="12" name="object 12"/>
            <p:cNvSpPr/>
            <p:nvPr/>
          </p:nvSpPr>
          <p:spPr>
            <a:xfrm>
              <a:off x="5530596" y="1740408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530596" y="174040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689282" y="1894141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Arial MT"/>
                <a:cs typeface="Arial MT"/>
              </a:rPr>
              <a:t>10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05284" y="130366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700015" y="1481327"/>
            <a:ext cx="889000" cy="335280"/>
          </a:xfrm>
          <a:custGeom>
            <a:avLst/>
            <a:gdLst/>
            <a:ahLst/>
            <a:cxnLst/>
            <a:rect l="l" t="t" r="r" b="b"/>
            <a:pathLst>
              <a:path w="889000" h="335280">
                <a:moveTo>
                  <a:pt x="0" y="0"/>
                </a:moveTo>
                <a:lnTo>
                  <a:pt x="888491" y="33528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1974850" y="2965450"/>
            <a:ext cx="590550" cy="552450"/>
            <a:chOff x="1974850" y="2965450"/>
            <a:chExt cx="590550" cy="552450"/>
          </a:xfrm>
        </p:grpSpPr>
        <p:sp>
          <p:nvSpPr>
            <p:cNvPr id="18" name="object 18"/>
            <p:cNvSpPr/>
            <p:nvPr/>
          </p:nvSpPr>
          <p:spPr>
            <a:xfrm>
              <a:off x="1981200" y="2971800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981200" y="2971800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190940" y="31133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123960" y="25418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810000" y="2971800"/>
            <a:ext cx="589915" cy="551815"/>
            <a:chOff x="3810000" y="2971800"/>
            <a:chExt cx="589915" cy="551815"/>
          </a:xfrm>
        </p:grpSpPr>
        <p:sp>
          <p:nvSpPr>
            <p:cNvPr id="23" name="object 23"/>
            <p:cNvSpPr/>
            <p:nvPr/>
          </p:nvSpPr>
          <p:spPr>
            <a:xfrm>
              <a:off x="38160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8160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038790" y="31323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990784" y="257986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647946" y="2971545"/>
            <a:ext cx="590550" cy="552450"/>
            <a:chOff x="4647946" y="2971545"/>
            <a:chExt cx="590550" cy="552450"/>
          </a:xfrm>
        </p:grpSpPr>
        <p:sp>
          <p:nvSpPr>
            <p:cNvPr id="28" name="object 28"/>
            <p:cNvSpPr/>
            <p:nvPr/>
          </p:nvSpPr>
          <p:spPr>
            <a:xfrm>
              <a:off x="4654296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654296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857940" y="31133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752784" y="256081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6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324346" y="2991357"/>
            <a:ext cx="590550" cy="552450"/>
            <a:chOff x="6324346" y="2991357"/>
            <a:chExt cx="590550" cy="552450"/>
          </a:xfrm>
        </p:grpSpPr>
        <p:sp>
          <p:nvSpPr>
            <p:cNvPr id="33" name="object 33"/>
            <p:cNvSpPr/>
            <p:nvPr/>
          </p:nvSpPr>
          <p:spPr>
            <a:xfrm>
              <a:off x="6330696" y="2997707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330696" y="2997707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515290" y="30942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657708" y="265606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353058" y="3512565"/>
            <a:ext cx="819150" cy="1192530"/>
            <a:chOff x="1353058" y="3512565"/>
            <a:chExt cx="819150" cy="1192530"/>
          </a:xfrm>
        </p:grpSpPr>
        <p:sp>
          <p:nvSpPr>
            <p:cNvPr id="38" name="object 38"/>
            <p:cNvSpPr/>
            <p:nvPr/>
          </p:nvSpPr>
          <p:spPr>
            <a:xfrm>
              <a:off x="1722120" y="3518915"/>
              <a:ext cx="443865" cy="622300"/>
            </a:xfrm>
            <a:custGeom>
              <a:avLst/>
              <a:gdLst/>
              <a:ahLst/>
              <a:cxnLst/>
              <a:rect l="l" t="t" r="r" b="b"/>
              <a:pathLst>
                <a:path w="443864" h="622300">
                  <a:moveTo>
                    <a:pt x="443483" y="0"/>
                  </a:moveTo>
                  <a:lnTo>
                    <a:pt x="0" y="621792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359408" y="41589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359408" y="41589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1581340" y="43134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457210" y="381811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2496311" y="4114800"/>
            <a:ext cx="589915" cy="551815"/>
            <a:chOff x="2496311" y="4114800"/>
            <a:chExt cx="589915" cy="551815"/>
          </a:xfrm>
        </p:grpSpPr>
        <p:sp>
          <p:nvSpPr>
            <p:cNvPr id="44" name="object 44"/>
            <p:cNvSpPr/>
            <p:nvPr/>
          </p:nvSpPr>
          <p:spPr>
            <a:xfrm>
              <a:off x="2502407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502407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2622232" y="4313492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Arial MT"/>
                <a:cs typeface="Arial MT"/>
              </a:rPr>
              <a:t>14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790710" y="37419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3314700" y="4114800"/>
            <a:ext cx="589915" cy="551815"/>
            <a:chOff x="3314700" y="4114800"/>
            <a:chExt cx="589915" cy="551815"/>
          </a:xfrm>
        </p:grpSpPr>
        <p:sp>
          <p:nvSpPr>
            <p:cNvPr id="49" name="object 49"/>
            <p:cNvSpPr/>
            <p:nvPr/>
          </p:nvSpPr>
          <p:spPr>
            <a:xfrm>
              <a:off x="3320795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320795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3441382" y="3742068"/>
            <a:ext cx="549402" cy="8284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00"/>
              </a:spcBef>
            </a:pPr>
            <a:r>
              <a:rPr sz="1800" spc="-5" dirty="0" smtClean="0">
                <a:latin typeface="Arial MT"/>
                <a:cs typeface="Arial MT"/>
              </a:rPr>
              <a:t>10</a:t>
            </a:r>
            <a:endParaRPr lang="en-US" sz="1800" spc="-5" dirty="0" smtClean="0">
              <a:latin typeface="Arial MT"/>
              <a:cs typeface="Arial MT"/>
            </a:endParaRPr>
          </a:p>
          <a:p>
            <a:pPr marL="28575">
              <a:lnSpc>
                <a:spcPts val="2100"/>
              </a:lnSpc>
            </a:pPr>
            <a:endParaRPr sz="1800" dirty="0">
              <a:latin typeface="Arial MT"/>
              <a:cs typeface="Arial MT"/>
            </a:endParaRPr>
          </a:p>
          <a:p>
            <a:pPr marL="12700">
              <a:lnSpc>
                <a:spcPts val="2100"/>
              </a:lnSpc>
            </a:pPr>
            <a:r>
              <a:rPr sz="1800" spc="-15" dirty="0">
                <a:latin typeface="Arial MT"/>
                <a:cs typeface="Arial MT"/>
              </a:rPr>
              <a:t>16</a:t>
            </a:r>
            <a:endParaRPr sz="1800" dirty="0">
              <a:latin typeface="Arial MT"/>
              <a:cs typeface="Arial MT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3342132" y="2255520"/>
            <a:ext cx="3319779" cy="748665"/>
            <a:chOff x="3342132" y="2255520"/>
            <a:chExt cx="3319779" cy="748665"/>
          </a:xfrm>
        </p:grpSpPr>
        <p:sp>
          <p:nvSpPr>
            <p:cNvPr id="53" name="object 53"/>
            <p:cNvSpPr/>
            <p:nvPr/>
          </p:nvSpPr>
          <p:spPr>
            <a:xfrm>
              <a:off x="3348228" y="2299716"/>
              <a:ext cx="754380" cy="601980"/>
            </a:xfrm>
            <a:custGeom>
              <a:avLst/>
              <a:gdLst/>
              <a:ahLst/>
              <a:cxnLst/>
              <a:rect l="l" t="t" r="r" b="b"/>
              <a:pathLst>
                <a:path w="754379" h="601980">
                  <a:moveTo>
                    <a:pt x="0" y="0"/>
                  </a:moveTo>
                  <a:lnTo>
                    <a:pt x="754380" y="60198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995416" y="2261616"/>
              <a:ext cx="660400" cy="698500"/>
            </a:xfrm>
            <a:custGeom>
              <a:avLst/>
              <a:gdLst/>
              <a:ahLst/>
              <a:cxnLst/>
              <a:rect l="l" t="t" r="r" b="b"/>
              <a:pathLst>
                <a:path w="660400" h="698500">
                  <a:moveTo>
                    <a:pt x="0" y="0"/>
                  </a:moveTo>
                  <a:lnTo>
                    <a:pt x="659892" y="697992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980432" y="2299716"/>
              <a:ext cx="614680" cy="698500"/>
            </a:xfrm>
            <a:custGeom>
              <a:avLst/>
              <a:gdLst/>
              <a:ahLst/>
              <a:cxnLst/>
              <a:rect l="l" t="t" r="r" b="b"/>
              <a:pathLst>
                <a:path w="614679" h="698500">
                  <a:moveTo>
                    <a:pt x="614172" y="0"/>
                  </a:moveTo>
                  <a:lnTo>
                    <a:pt x="0" y="697992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6250940" y="333247"/>
            <a:ext cx="258572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BUILD-MAX-HEAP(A)</a:t>
            </a:r>
            <a:endParaRPr sz="1200">
              <a:latin typeface="Arial"/>
              <a:cs typeface="Arial"/>
            </a:endParaRPr>
          </a:p>
          <a:p>
            <a:pPr marL="227329" marR="424815" indent="-215265">
              <a:lnSpc>
                <a:spcPct val="100000"/>
              </a:lnSpc>
            </a:pPr>
            <a:r>
              <a:rPr sz="1200" b="1" spc="-5" dirty="0">
                <a:latin typeface="Arial"/>
                <a:cs typeface="Arial"/>
              </a:rPr>
              <a:t>for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i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←</a:t>
            </a:r>
            <a:r>
              <a:rPr sz="1200" b="1" spc="-10" dirty="0">
                <a:latin typeface="Arial"/>
                <a:cs typeface="Arial"/>
              </a:rPr>
              <a:t> length[A]</a:t>
            </a:r>
            <a:r>
              <a:rPr sz="1200" b="1" spc="4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downto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2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do </a:t>
            </a:r>
            <a:r>
              <a:rPr sz="1200" b="1" spc="-3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exc</a:t>
            </a:r>
            <a:r>
              <a:rPr sz="1200" b="1" spc="-5" dirty="0">
                <a:latin typeface="Arial"/>
                <a:cs typeface="Arial"/>
              </a:rPr>
              <a:t>h</a:t>
            </a:r>
            <a:r>
              <a:rPr sz="1200" b="1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ng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-80" dirty="0">
                <a:latin typeface="Arial"/>
                <a:cs typeface="Arial"/>
              </a:rPr>
              <a:t> </a:t>
            </a:r>
            <a:r>
              <a:rPr sz="1200" b="1" spc="-40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[</a:t>
            </a:r>
            <a:r>
              <a:rPr sz="1200" b="1" dirty="0">
                <a:latin typeface="Arial"/>
                <a:cs typeface="Arial"/>
              </a:rPr>
              <a:t>1]</a:t>
            </a:r>
            <a:r>
              <a:rPr sz="1200" b="1" spc="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↔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spc="-40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[</a:t>
            </a:r>
            <a:r>
              <a:rPr sz="1200" b="1" dirty="0">
                <a:latin typeface="Arial"/>
                <a:cs typeface="Arial"/>
              </a:rPr>
              <a:t>i]</a:t>
            </a:r>
            <a:endParaRPr sz="1200">
              <a:latin typeface="Arial"/>
              <a:cs typeface="Arial"/>
            </a:endParaRPr>
          </a:p>
          <a:p>
            <a:pPr marL="269875" marR="5080">
              <a:lnSpc>
                <a:spcPct val="100000"/>
              </a:lnSpc>
            </a:pPr>
            <a:r>
              <a:rPr sz="1200" b="1" spc="-5" dirty="0">
                <a:latin typeface="Arial"/>
                <a:cs typeface="Arial"/>
              </a:rPr>
              <a:t>heap-size[A]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← </a:t>
            </a:r>
            <a:r>
              <a:rPr sz="1200" b="1" spc="-10" dirty="0">
                <a:latin typeface="Arial"/>
                <a:cs typeface="Arial"/>
              </a:rPr>
              <a:t>heap-size[A]</a:t>
            </a:r>
            <a:r>
              <a:rPr sz="1200" b="1" spc="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–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 </a:t>
            </a:r>
            <a:r>
              <a:rPr sz="1200" b="1" spc="-32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MAX-HEAPIFY(A,</a:t>
            </a:r>
            <a:r>
              <a:rPr sz="1200" b="1" spc="5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1)</a:t>
            </a:r>
            <a:endParaRPr sz="12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870076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377499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82242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3329847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3774794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415573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6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4600657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04407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5553005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6060406" y="5820971"/>
            <a:ext cx="27876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5" dirty="0">
                <a:latin typeface="Arial MT"/>
                <a:cs typeface="Arial MT"/>
              </a:rPr>
              <a:t>10</a:t>
            </a:r>
            <a:endParaRPr sz="1800">
              <a:latin typeface="Arial MT"/>
              <a:cs typeface="Arial MT"/>
            </a:endParaRPr>
          </a:p>
        </p:txBody>
      </p:sp>
      <p:graphicFrame>
        <p:nvGraphicFramePr>
          <p:cNvPr id="57" name="object 57"/>
          <p:cNvGraphicFramePr>
            <a:graphicFrameLocks noGrp="1"/>
          </p:cNvGraphicFramePr>
          <p:nvPr/>
        </p:nvGraphicFramePr>
        <p:xfrm>
          <a:off x="1810511" y="5105400"/>
          <a:ext cx="4615813" cy="539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75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9495"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8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7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9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16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6875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12932" y="1074992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Arial MT"/>
                <a:cs typeface="Arial MT"/>
              </a:rPr>
              <a:t>10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28934" y="48451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971545" y="1455166"/>
            <a:ext cx="1428750" cy="793115"/>
            <a:chOff x="2971545" y="1455166"/>
            <a:chExt cx="1428750" cy="793115"/>
          </a:xfrm>
        </p:grpSpPr>
        <p:sp>
          <p:nvSpPr>
            <p:cNvPr id="5" name="object 5"/>
            <p:cNvSpPr/>
            <p:nvPr/>
          </p:nvSpPr>
          <p:spPr>
            <a:xfrm>
              <a:off x="3512819" y="1461516"/>
              <a:ext cx="881380" cy="317500"/>
            </a:xfrm>
            <a:custGeom>
              <a:avLst/>
              <a:gdLst/>
              <a:ahLst/>
              <a:cxnLst/>
              <a:rect l="l" t="t" r="r" b="b"/>
              <a:pathLst>
                <a:path w="881379" h="317500">
                  <a:moveTo>
                    <a:pt x="880872" y="0"/>
                  </a:moveTo>
                  <a:lnTo>
                    <a:pt x="0" y="316992"/>
                  </a:lnTo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77895" y="1702308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977895" y="170230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200590" y="1856041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52584" y="1303515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369820" y="2299716"/>
            <a:ext cx="805180" cy="601980"/>
          </a:xfrm>
          <a:custGeom>
            <a:avLst/>
            <a:gdLst/>
            <a:ahLst/>
            <a:cxnLst/>
            <a:rect l="l" t="t" r="r" b="b"/>
            <a:pathLst>
              <a:path w="805180" h="601980">
                <a:moveTo>
                  <a:pt x="804671" y="0"/>
                </a:moveTo>
                <a:lnTo>
                  <a:pt x="0" y="60198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5524246" y="1734056"/>
            <a:ext cx="590550" cy="552450"/>
            <a:chOff x="5524246" y="1734056"/>
            <a:chExt cx="590550" cy="552450"/>
          </a:xfrm>
        </p:grpSpPr>
        <p:sp>
          <p:nvSpPr>
            <p:cNvPr id="12" name="object 12"/>
            <p:cNvSpPr/>
            <p:nvPr/>
          </p:nvSpPr>
          <p:spPr>
            <a:xfrm>
              <a:off x="5530596" y="1740408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530596" y="174040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753290" y="1894141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05284" y="130366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700015" y="1481327"/>
            <a:ext cx="889000" cy="335280"/>
          </a:xfrm>
          <a:custGeom>
            <a:avLst/>
            <a:gdLst/>
            <a:ahLst/>
            <a:cxnLst/>
            <a:rect l="l" t="t" r="r" b="b"/>
            <a:pathLst>
              <a:path w="889000" h="335280">
                <a:moveTo>
                  <a:pt x="0" y="0"/>
                </a:moveTo>
                <a:lnTo>
                  <a:pt x="888491" y="33528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1974850" y="2965450"/>
            <a:ext cx="590550" cy="552450"/>
            <a:chOff x="1974850" y="2965450"/>
            <a:chExt cx="590550" cy="552450"/>
          </a:xfrm>
        </p:grpSpPr>
        <p:sp>
          <p:nvSpPr>
            <p:cNvPr id="18" name="object 18"/>
            <p:cNvSpPr/>
            <p:nvPr/>
          </p:nvSpPr>
          <p:spPr>
            <a:xfrm>
              <a:off x="1981200" y="2971800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981200" y="2971800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190940" y="31133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123960" y="25418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810000" y="2971800"/>
            <a:ext cx="589915" cy="551815"/>
            <a:chOff x="3810000" y="2971800"/>
            <a:chExt cx="589915" cy="551815"/>
          </a:xfrm>
        </p:grpSpPr>
        <p:sp>
          <p:nvSpPr>
            <p:cNvPr id="23" name="object 23"/>
            <p:cNvSpPr/>
            <p:nvPr/>
          </p:nvSpPr>
          <p:spPr>
            <a:xfrm>
              <a:off x="38160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8160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038790" y="31323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990784" y="257986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647946" y="2971545"/>
            <a:ext cx="590550" cy="552450"/>
            <a:chOff x="4647946" y="2971545"/>
            <a:chExt cx="590550" cy="552450"/>
          </a:xfrm>
        </p:grpSpPr>
        <p:sp>
          <p:nvSpPr>
            <p:cNvPr id="28" name="object 28"/>
            <p:cNvSpPr/>
            <p:nvPr/>
          </p:nvSpPr>
          <p:spPr>
            <a:xfrm>
              <a:off x="4654296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654296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857940" y="31133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752784" y="256081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6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324346" y="2991357"/>
            <a:ext cx="590550" cy="552450"/>
            <a:chOff x="6324346" y="2991357"/>
            <a:chExt cx="590550" cy="552450"/>
          </a:xfrm>
        </p:grpSpPr>
        <p:sp>
          <p:nvSpPr>
            <p:cNvPr id="33" name="object 33"/>
            <p:cNvSpPr/>
            <p:nvPr/>
          </p:nvSpPr>
          <p:spPr>
            <a:xfrm>
              <a:off x="6330696" y="2997707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330696" y="2997707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515290" y="30942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657708" y="265606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353058" y="3512565"/>
            <a:ext cx="819150" cy="1192530"/>
            <a:chOff x="1353058" y="3512565"/>
            <a:chExt cx="819150" cy="1192530"/>
          </a:xfrm>
        </p:grpSpPr>
        <p:sp>
          <p:nvSpPr>
            <p:cNvPr id="38" name="object 38"/>
            <p:cNvSpPr/>
            <p:nvPr/>
          </p:nvSpPr>
          <p:spPr>
            <a:xfrm>
              <a:off x="1722120" y="3518915"/>
              <a:ext cx="443865" cy="622300"/>
            </a:xfrm>
            <a:custGeom>
              <a:avLst/>
              <a:gdLst/>
              <a:ahLst/>
              <a:cxnLst/>
              <a:rect l="l" t="t" r="r" b="b"/>
              <a:pathLst>
                <a:path w="443864" h="622300">
                  <a:moveTo>
                    <a:pt x="443483" y="0"/>
                  </a:moveTo>
                  <a:lnTo>
                    <a:pt x="0" y="621792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359408" y="41589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359408" y="41589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1581340" y="43134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457210" y="381811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2496311" y="4114800"/>
            <a:ext cx="589915" cy="551815"/>
            <a:chOff x="2496311" y="4114800"/>
            <a:chExt cx="589915" cy="551815"/>
          </a:xfrm>
        </p:grpSpPr>
        <p:sp>
          <p:nvSpPr>
            <p:cNvPr id="44" name="object 44"/>
            <p:cNvSpPr/>
            <p:nvPr/>
          </p:nvSpPr>
          <p:spPr>
            <a:xfrm>
              <a:off x="2502407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502407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2622232" y="4313492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Arial MT"/>
                <a:cs typeface="Arial MT"/>
              </a:rPr>
              <a:t>14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790710" y="37419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3314700" y="4114800"/>
            <a:ext cx="589915" cy="551815"/>
            <a:chOff x="3314700" y="4114800"/>
            <a:chExt cx="589915" cy="551815"/>
          </a:xfrm>
        </p:grpSpPr>
        <p:sp>
          <p:nvSpPr>
            <p:cNvPr id="49" name="object 49"/>
            <p:cNvSpPr/>
            <p:nvPr/>
          </p:nvSpPr>
          <p:spPr>
            <a:xfrm>
              <a:off x="3320795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320795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2" name="object 52"/>
          <p:cNvGrpSpPr/>
          <p:nvPr/>
        </p:nvGrpSpPr>
        <p:grpSpPr>
          <a:xfrm>
            <a:off x="3342132" y="2255520"/>
            <a:ext cx="3319779" cy="748665"/>
            <a:chOff x="3342132" y="2255520"/>
            <a:chExt cx="3319779" cy="748665"/>
          </a:xfrm>
        </p:grpSpPr>
        <p:sp>
          <p:nvSpPr>
            <p:cNvPr id="53" name="object 53"/>
            <p:cNvSpPr/>
            <p:nvPr/>
          </p:nvSpPr>
          <p:spPr>
            <a:xfrm>
              <a:off x="3348228" y="2299716"/>
              <a:ext cx="754380" cy="601980"/>
            </a:xfrm>
            <a:custGeom>
              <a:avLst/>
              <a:gdLst/>
              <a:ahLst/>
              <a:cxnLst/>
              <a:rect l="l" t="t" r="r" b="b"/>
              <a:pathLst>
                <a:path w="754379" h="601980">
                  <a:moveTo>
                    <a:pt x="0" y="0"/>
                  </a:moveTo>
                  <a:lnTo>
                    <a:pt x="754380" y="60198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995416" y="2261616"/>
              <a:ext cx="660400" cy="698500"/>
            </a:xfrm>
            <a:custGeom>
              <a:avLst/>
              <a:gdLst/>
              <a:ahLst/>
              <a:cxnLst/>
              <a:rect l="l" t="t" r="r" b="b"/>
              <a:pathLst>
                <a:path w="660400" h="698500">
                  <a:moveTo>
                    <a:pt x="0" y="0"/>
                  </a:moveTo>
                  <a:lnTo>
                    <a:pt x="659892" y="697992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980432" y="2299716"/>
              <a:ext cx="614680" cy="698500"/>
            </a:xfrm>
            <a:custGeom>
              <a:avLst/>
              <a:gdLst/>
              <a:ahLst/>
              <a:cxnLst/>
              <a:rect l="l" t="t" r="r" b="b"/>
              <a:pathLst>
                <a:path w="614679" h="698500">
                  <a:moveTo>
                    <a:pt x="614172" y="0"/>
                  </a:moveTo>
                  <a:lnTo>
                    <a:pt x="0" y="697992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6250940" y="333247"/>
            <a:ext cx="258572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BUILD-MAX-HEAP(A)</a:t>
            </a:r>
            <a:endParaRPr sz="1200">
              <a:latin typeface="Arial"/>
              <a:cs typeface="Arial"/>
            </a:endParaRPr>
          </a:p>
          <a:p>
            <a:pPr marL="227329" marR="424815" indent="-215265">
              <a:lnSpc>
                <a:spcPct val="100000"/>
              </a:lnSpc>
            </a:pPr>
            <a:r>
              <a:rPr sz="1200" b="1" spc="-5" dirty="0">
                <a:latin typeface="Arial"/>
                <a:cs typeface="Arial"/>
              </a:rPr>
              <a:t>for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i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←</a:t>
            </a:r>
            <a:r>
              <a:rPr sz="1200" b="1" spc="-10" dirty="0">
                <a:latin typeface="Arial"/>
                <a:cs typeface="Arial"/>
              </a:rPr>
              <a:t> length[A]</a:t>
            </a:r>
            <a:r>
              <a:rPr sz="1200" b="1" spc="4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downto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2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do </a:t>
            </a:r>
            <a:r>
              <a:rPr sz="1200" b="1" spc="-3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exc</a:t>
            </a:r>
            <a:r>
              <a:rPr sz="1200" b="1" spc="-5" dirty="0">
                <a:latin typeface="Arial"/>
                <a:cs typeface="Arial"/>
              </a:rPr>
              <a:t>h</a:t>
            </a:r>
            <a:r>
              <a:rPr sz="1200" b="1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ng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-80" dirty="0">
                <a:latin typeface="Arial"/>
                <a:cs typeface="Arial"/>
              </a:rPr>
              <a:t> </a:t>
            </a:r>
            <a:r>
              <a:rPr sz="1200" b="1" spc="-40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[</a:t>
            </a:r>
            <a:r>
              <a:rPr sz="1200" b="1" dirty="0">
                <a:latin typeface="Arial"/>
                <a:cs typeface="Arial"/>
              </a:rPr>
              <a:t>1]</a:t>
            </a:r>
            <a:r>
              <a:rPr sz="1200" b="1" spc="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↔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spc="-40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[</a:t>
            </a:r>
            <a:r>
              <a:rPr sz="1200" b="1" dirty="0">
                <a:latin typeface="Arial"/>
                <a:cs typeface="Arial"/>
              </a:rPr>
              <a:t>i]</a:t>
            </a:r>
            <a:endParaRPr sz="1200">
              <a:latin typeface="Arial"/>
              <a:cs typeface="Arial"/>
            </a:endParaRPr>
          </a:p>
          <a:p>
            <a:pPr marL="269875" marR="5080">
              <a:lnSpc>
                <a:spcPct val="100000"/>
              </a:lnSpc>
            </a:pPr>
            <a:r>
              <a:rPr sz="1200" b="1" spc="-5" dirty="0">
                <a:latin typeface="Arial"/>
                <a:cs typeface="Arial"/>
              </a:rPr>
              <a:t>heap-size[A]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← </a:t>
            </a:r>
            <a:r>
              <a:rPr sz="1200" b="1" spc="-10" dirty="0">
                <a:latin typeface="Arial"/>
                <a:cs typeface="Arial"/>
              </a:rPr>
              <a:t>heap-size[A]</a:t>
            </a:r>
            <a:r>
              <a:rPr sz="1200" b="1" spc="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–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 </a:t>
            </a:r>
            <a:r>
              <a:rPr sz="1200" b="1" spc="-32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MAX-HEAPIFY(A,</a:t>
            </a:r>
            <a:r>
              <a:rPr sz="1200" b="1" spc="5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1)</a:t>
            </a:r>
            <a:endParaRPr sz="12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870076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377499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82242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3329847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3774794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415573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6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4600657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04407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5553005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6060406" y="5820971"/>
            <a:ext cx="27876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5" dirty="0">
                <a:latin typeface="Arial MT"/>
                <a:cs typeface="Arial MT"/>
              </a:rPr>
              <a:t>10</a:t>
            </a:r>
            <a:endParaRPr sz="1800">
              <a:latin typeface="Arial MT"/>
              <a:cs typeface="Arial MT"/>
            </a:endParaRPr>
          </a:p>
        </p:txBody>
      </p:sp>
      <p:graphicFrame>
        <p:nvGraphicFramePr>
          <p:cNvPr id="57" name="object 57"/>
          <p:cNvGraphicFramePr>
            <a:graphicFrameLocks noGrp="1"/>
          </p:cNvGraphicFramePr>
          <p:nvPr/>
        </p:nvGraphicFramePr>
        <p:xfrm>
          <a:off x="1810511" y="5105400"/>
          <a:ext cx="4615813" cy="539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75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9495"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22479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8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9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7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16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8" name="object 51"/>
          <p:cNvSpPr txBox="1"/>
          <p:nvPr/>
        </p:nvSpPr>
        <p:spPr>
          <a:xfrm>
            <a:off x="3441382" y="3742068"/>
            <a:ext cx="549402" cy="8284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00"/>
              </a:spcBef>
            </a:pPr>
            <a:r>
              <a:rPr sz="1800" spc="-5" dirty="0" smtClean="0">
                <a:latin typeface="Arial MT"/>
                <a:cs typeface="Arial MT"/>
              </a:rPr>
              <a:t>10</a:t>
            </a:r>
            <a:endParaRPr lang="en-US" sz="1800" spc="-5" dirty="0" smtClean="0">
              <a:latin typeface="Arial MT"/>
              <a:cs typeface="Arial MT"/>
            </a:endParaRPr>
          </a:p>
          <a:p>
            <a:pPr marL="28575">
              <a:lnSpc>
                <a:spcPts val="2100"/>
              </a:lnSpc>
            </a:pPr>
            <a:endParaRPr sz="1800" dirty="0">
              <a:latin typeface="Arial MT"/>
              <a:cs typeface="Arial MT"/>
            </a:endParaRPr>
          </a:p>
          <a:p>
            <a:pPr marL="12700">
              <a:lnSpc>
                <a:spcPts val="2100"/>
              </a:lnSpc>
            </a:pPr>
            <a:r>
              <a:rPr sz="1800" spc="-15" dirty="0">
                <a:latin typeface="Arial MT"/>
                <a:cs typeface="Arial MT"/>
              </a:rPr>
              <a:t>16</a:t>
            </a:r>
            <a:endParaRPr sz="18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711560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8658" y="914146"/>
            <a:ext cx="590550" cy="552450"/>
            <a:chOff x="4248658" y="914146"/>
            <a:chExt cx="590550" cy="552450"/>
          </a:xfrm>
        </p:grpSpPr>
        <p:sp>
          <p:nvSpPr>
            <p:cNvPr id="3" name="object 3"/>
            <p:cNvSpPr/>
            <p:nvPr/>
          </p:nvSpPr>
          <p:spPr>
            <a:xfrm>
              <a:off x="4255008" y="92049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CF0E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255008" y="92049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412932" y="1074992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Arial MT"/>
                <a:cs typeface="Arial MT"/>
              </a:rPr>
              <a:t>10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28934" y="48451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971545" y="1455166"/>
            <a:ext cx="1428750" cy="793115"/>
            <a:chOff x="2971545" y="1455166"/>
            <a:chExt cx="1428750" cy="793115"/>
          </a:xfrm>
        </p:grpSpPr>
        <p:sp>
          <p:nvSpPr>
            <p:cNvPr id="8" name="object 8"/>
            <p:cNvSpPr/>
            <p:nvPr/>
          </p:nvSpPr>
          <p:spPr>
            <a:xfrm>
              <a:off x="3512819" y="1461516"/>
              <a:ext cx="881380" cy="317500"/>
            </a:xfrm>
            <a:custGeom>
              <a:avLst/>
              <a:gdLst/>
              <a:ahLst/>
              <a:cxnLst/>
              <a:rect l="l" t="t" r="r" b="b"/>
              <a:pathLst>
                <a:path w="881379" h="317500">
                  <a:moveTo>
                    <a:pt x="880872" y="0"/>
                  </a:moveTo>
                  <a:lnTo>
                    <a:pt x="0" y="316992"/>
                  </a:lnTo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77895" y="1702308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977895" y="170230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200590" y="1856041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52584" y="1303515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369820" y="2299716"/>
            <a:ext cx="805180" cy="601980"/>
          </a:xfrm>
          <a:custGeom>
            <a:avLst/>
            <a:gdLst/>
            <a:ahLst/>
            <a:cxnLst/>
            <a:rect l="l" t="t" r="r" b="b"/>
            <a:pathLst>
              <a:path w="805180" h="601980">
                <a:moveTo>
                  <a:pt x="804671" y="0"/>
                </a:moveTo>
                <a:lnTo>
                  <a:pt x="0" y="60198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5524246" y="1734056"/>
            <a:ext cx="590550" cy="552450"/>
            <a:chOff x="5524246" y="1734056"/>
            <a:chExt cx="590550" cy="552450"/>
          </a:xfrm>
        </p:grpSpPr>
        <p:sp>
          <p:nvSpPr>
            <p:cNvPr id="15" name="object 15"/>
            <p:cNvSpPr/>
            <p:nvPr/>
          </p:nvSpPr>
          <p:spPr>
            <a:xfrm>
              <a:off x="5530596" y="1740408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530596" y="174040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753290" y="1894141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705284" y="130366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700015" y="1481327"/>
            <a:ext cx="889000" cy="335280"/>
          </a:xfrm>
          <a:custGeom>
            <a:avLst/>
            <a:gdLst/>
            <a:ahLst/>
            <a:cxnLst/>
            <a:rect l="l" t="t" r="r" b="b"/>
            <a:pathLst>
              <a:path w="889000" h="335280">
                <a:moveTo>
                  <a:pt x="0" y="0"/>
                </a:moveTo>
                <a:lnTo>
                  <a:pt x="888491" y="33528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1974850" y="2965450"/>
            <a:ext cx="590550" cy="552450"/>
            <a:chOff x="1974850" y="2965450"/>
            <a:chExt cx="590550" cy="552450"/>
          </a:xfrm>
        </p:grpSpPr>
        <p:sp>
          <p:nvSpPr>
            <p:cNvPr id="21" name="object 21"/>
            <p:cNvSpPr/>
            <p:nvPr/>
          </p:nvSpPr>
          <p:spPr>
            <a:xfrm>
              <a:off x="1981200" y="2971800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981200" y="2971800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190940" y="31133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123960" y="25418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810000" y="2971800"/>
            <a:ext cx="589915" cy="551815"/>
            <a:chOff x="3810000" y="2971800"/>
            <a:chExt cx="589915" cy="551815"/>
          </a:xfrm>
        </p:grpSpPr>
        <p:sp>
          <p:nvSpPr>
            <p:cNvPr id="26" name="object 26"/>
            <p:cNvSpPr/>
            <p:nvPr/>
          </p:nvSpPr>
          <p:spPr>
            <a:xfrm>
              <a:off x="38160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8160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038790" y="31323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990784" y="257986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647946" y="2971545"/>
            <a:ext cx="590550" cy="552450"/>
            <a:chOff x="4647946" y="2971545"/>
            <a:chExt cx="590550" cy="552450"/>
          </a:xfrm>
        </p:grpSpPr>
        <p:sp>
          <p:nvSpPr>
            <p:cNvPr id="31" name="object 31"/>
            <p:cNvSpPr/>
            <p:nvPr/>
          </p:nvSpPr>
          <p:spPr>
            <a:xfrm>
              <a:off x="4654296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654296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4857940" y="31133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752784" y="256081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6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324346" y="2991357"/>
            <a:ext cx="590550" cy="552450"/>
            <a:chOff x="6324346" y="2991357"/>
            <a:chExt cx="590550" cy="552450"/>
          </a:xfrm>
        </p:grpSpPr>
        <p:sp>
          <p:nvSpPr>
            <p:cNvPr id="36" name="object 36"/>
            <p:cNvSpPr/>
            <p:nvPr/>
          </p:nvSpPr>
          <p:spPr>
            <a:xfrm>
              <a:off x="6330696" y="2997707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330696" y="2997707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6515290" y="30942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657708" y="265606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1353058" y="3512565"/>
            <a:ext cx="819150" cy="1192530"/>
            <a:chOff x="1353058" y="3512565"/>
            <a:chExt cx="819150" cy="1192530"/>
          </a:xfrm>
        </p:grpSpPr>
        <p:sp>
          <p:nvSpPr>
            <p:cNvPr id="41" name="object 41"/>
            <p:cNvSpPr/>
            <p:nvPr/>
          </p:nvSpPr>
          <p:spPr>
            <a:xfrm>
              <a:off x="1722120" y="3518915"/>
              <a:ext cx="443865" cy="622300"/>
            </a:xfrm>
            <a:custGeom>
              <a:avLst/>
              <a:gdLst/>
              <a:ahLst/>
              <a:cxnLst/>
              <a:rect l="l" t="t" r="r" b="b"/>
              <a:pathLst>
                <a:path w="443864" h="622300">
                  <a:moveTo>
                    <a:pt x="443483" y="0"/>
                  </a:moveTo>
                  <a:lnTo>
                    <a:pt x="0" y="621792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359408" y="41589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CF0E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359408" y="41589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1581340" y="43134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457210" y="381811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2496311" y="4114800"/>
            <a:ext cx="589915" cy="551815"/>
            <a:chOff x="2496311" y="4114800"/>
            <a:chExt cx="589915" cy="551815"/>
          </a:xfrm>
        </p:grpSpPr>
        <p:sp>
          <p:nvSpPr>
            <p:cNvPr id="47" name="object 47"/>
            <p:cNvSpPr/>
            <p:nvPr/>
          </p:nvSpPr>
          <p:spPr>
            <a:xfrm>
              <a:off x="2502407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502407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2622232" y="4313492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Arial MT"/>
                <a:cs typeface="Arial MT"/>
              </a:rPr>
              <a:t>14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790710" y="37419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3314700" y="4114800"/>
            <a:ext cx="589915" cy="551815"/>
            <a:chOff x="3314700" y="4114800"/>
            <a:chExt cx="589915" cy="551815"/>
          </a:xfrm>
        </p:grpSpPr>
        <p:sp>
          <p:nvSpPr>
            <p:cNvPr id="52" name="object 52"/>
            <p:cNvSpPr/>
            <p:nvPr/>
          </p:nvSpPr>
          <p:spPr>
            <a:xfrm>
              <a:off x="3320795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320795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5" name="object 55"/>
          <p:cNvGrpSpPr/>
          <p:nvPr/>
        </p:nvGrpSpPr>
        <p:grpSpPr>
          <a:xfrm>
            <a:off x="3342132" y="2255520"/>
            <a:ext cx="3319779" cy="748665"/>
            <a:chOff x="3342132" y="2255520"/>
            <a:chExt cx="3319779" cy="748665"/>
          </a:xfrm>
        </p:grpSpPr>
        <p:sp>
          <p:nvSpPr>
            <p:cNvPr id="56" name="object 56"/>
            <p:cNvSpPr/>
            <p:nvPr/>
          </p:nvSpPr>
          <p:spPr>
            <a:xfrm>
              <a:off x="3348228" y="2299716"/>
              <a:ext cx="754380" cy="601980"/>
            </a:xfrm>
            <a:custGeom>
              <a:avLst/>
              <a:gdLst/>
              <a:ahLst/>
              <a:cxnLst/>
              <a:rect l="l" t="t" r="r" b="b"/>
              <a:pathLst>
                <a:path w="754379" h="601980">
                  <a:moveTo>
                    <a:pt x="0" y="0"/>
                  </a:moveTo>
                  <a:lnTo>
                    <a:pt x="754380" y="60198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995416" y="2261616"/>
              <a:ext cx="660400" cy="698500"/>
            </a:xfrm>
            <a:custGeom>
              <a:avLst/>
              <a:gdLst/>
              <a:ahLst/>
              <a:cxnLst/>
              <a:rect l="l" t="t" r="r" b="b"/>
              <a:pathLst>
                <a:path w="660400" h="698500">
                  <a:moveTo>
                    <a:pt x="0" y="0"/>
                  </a:moveTo>
                  <a:lnTo>
                    <a:pt x="659892" y="697992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980432" y="2299716"/>
              <a:ext cx="614680" cy="698500"/>
            </a:xfrm>
            <a:custGeom>
              <a:avLst/>
              <a:gdLst/>
              <a:ahLst/>
              <a:cxnLst/>
              <a:rect l="l" t="t" r="r" b="b"/>
              <a:pathLst>
                <a:path w="614679" h="698500">
                  <a:moveTo>
                    <a:pt x="614172" y="0"/>
                  </a:moveTo>
                  <a:lnTo>
                    <a:pt x="0" y="697992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9" name="object 59"/>
          <p:cNvGraphicFramePr>
            <a:graphicFrameLocks noGrp="1"/>
          </p:cNvGraphicFramePr>
          <p:nvPr/>
        </p:nvGraphicFramePr>
        <p:xfrm>
          <a:off x="1810511" y="5105400"/>
          <a:ext cx="4615813" cy="539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75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9495"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22479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8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9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7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16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1" name="object 61"/>
          <p:cNvSpPr txBox="1"/>
          <p:nvPr/>
        </p:nvSpPr>
        <p:spPr>
          <a:xfrm>
            <a:off x="1870076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2377499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282242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3329847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3774794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415573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6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4600657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504407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5553005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6060406" y="5820971"/>
            <a:ext cx="27876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5" dirty="0">
                <a:latin typeface="Arial MT"/>
                <a:cs typeface="Arial MT"/>
              </a:rPr>
              <a:t>10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6022340" y="257047"/>
            <a:ext cx="258572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BUILD-MAX-HEAP(A)</a:t>
            </a:r>
            <a:endParaRPr sz="1200">
              <a:latin typeface="Arial"/>
              <a:cs typeface="Arial"/>
            </a:endParaRPr>
          </a:p>
          <a:p>
            <a:pPr marL="227329" marR="424815" indent="-215265">
              <a:lnSpc>
                <a:spcPct val="100000"/>
              </a:lnSpc>
            </a:pPr>
            <a:r>
              <a:rPr sz="1200" b="1" spc="-5" dirty="0">
                <a:latin typeface="Arial"/>
                <a:cs typeface="Arial"/>
              </a:rPr>
              <a:t>for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i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←</a:t>
            </a:r>
            <a:r>
              <a:rPr sz="1200" b="1" spc="-10" dirty="0">
                <a:latin typeface="Arial"/>
                <a:cs typeface="Arial"/>
              </a:rPr>
              <a:t> length[A]</a:t>
            </a:r>
            <a:r>
              <a:rPr sz="1200" b="1" spc="4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downto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2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do </a:t>
            </a:r>
            <a:r>
              <a:rPr sz="1200" b="1" spc="-3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exc</a:t>
            </a:r>
            <a:r>
              <a:rPr sz="1200" b="1" spc="-5" dirty="0">
                <a:latin typeface="Arial"/>
                <a:cs typeface="Arial"/>
              </a:rPr>
              <a:t>h</a:t>
            </a:r>
            <a:r>
              <a:rPr sz="1200" b="1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ng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-80" dirty="0">
                <a:latin typeface="Arial"/>
                <a:cs typeface="Arial"/>
              </a:rPr>
              <a:t> </a:t>
            </a:r>
            <a:r>
              <a:rPr sz="1200" b="1" spc="-40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[</a:t>
            </a:r>
            <a:r>
              <a:rPr sz="1200" b="1" dirty="0">
                <a:latin typeface="Arial"/>
                <a:cs typeface="Arial"/>
              </a:rPr>
              <a:t>1]</a:t>
            </a:r>
            <a:r>
              <a:rPr sz="1200" b="1" spc="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↔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spc="-40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[</a:t>
            </a:r>
            <a:r>
              <a:rPr sz="1200" b="1" dirty="0">
                <a:latin typeface="Arial"/>
                <a:cs typeface="Arial"/>
              </a:rPr>
              <a:t>i]</a:t>
            </a:r>
            <a:endParaRPr sz="1200">
              <a:latin typeface="Arial"/>
              <a:cs typeface="Arial"/>
            </a:endParaRPr>
          </a:p>
          <a:p>
            <a:pPr marL="269875" marR="5080">
              <a:lnSpc>
                <a:spcPct val="100000"/>
              </a:lnSpc>
            </a:pPr>
            <a:r>
              <a:rPr sz="1200" b="1" spc="-5" dirty="0">
                <a:latin typeface="Arial"/>
                <a:cs typeface="Arial"/>
              </a:rPr>
              <a:t>heap-size[A]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← </a:t>
            </a:r>
            <a:r>
              <a:rPr sz="1200" b="1" spc="-10" dirty="0">
                <a:latin typeface="Arial"/>
                <a:cs typeface="Arial"/>
              </a:rPr>
              <a:t>heap-size[A]</a:t>
            </a:r>
            <a:r>
              <a:rPr sz="1200" b="1" spc="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–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 </a:t>
            </a:r>
            <a:r>
              <a:rPr sz="1200" b="1" spc="-32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MAX-HEAPIFY(A,</a:t>
            </a:r>
            <a:r>
              <a:rPr sz="1200" b="1" spc="5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1)</a:t>
            </a:r>
            <a:endParaRPr sz="1200">
              <a:latin typeface="Arial"/>
              <a:cs typeface="Arial"/>
            </a:endParaRPr>
          </a:p>
        </p:txBody>
      </p:sp>
      <p:sp>
        <p:nvSpPr>
          <p:cNvPr id="71" name="object 51"/>
          <p:cNvSpPr txBox="1"/>
          <p:nvPr/>
        </p:nvSpPr>
        <p:spPr>
          <a:xfrm>
            <a:off x="3441382" y="3742068"/>
            <a:ext cx="549402" cy="8284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00"/>
              </a:spcBef>
            </a:pPr>
            <a:r>
              <a:rPr sz="1800" spc="-5" dirty="0" smtClean="0">
                <a:latin typeface="Arial MT"/>
                <a:cs typeface="Arial MT"/>
              </a:rPr>
              <a:t>10</a:t>
            </a:r>
            <a:endParaRPr lang="en-US" sz="1800" spc="-5" dirty="0" smtClean="0">
              <a:latin typeface="Arial MT"/>
              <a:cs typeface="Arial MT"/>
            </a:endParaRPr>
          </a:p>
          <a:p>
            <a:pPr marL="28575">
              <a:lnSpc>
                <a:spcPts val="2100"/>
              </a:lnSpc>
            </a:pPr>
            <a:endParaRPr sz="1800" dirty="0">
              <a:latin typeface="Arial MT"/>
              <a:cs typeface="Arial MT"/>
            </a:endParaRPr>
          </a:p>
          <a:p>
            <a:pPr marL="12700">
              <a:lnSpc>
                <a:spcPts val="2100"/>
              </a:lnSpc>
            </a:pPr>
            <a:r>
              <a:rPr sz="1800" spc="-15" dirty="0">
                <a:latin typeface="Arial MT"/>
                <a:cs typeface="Arial MT"/>
              </a:rPr>
              <a:t>16</a:t>
            </a:r>
            <a:endParaRPr sz="18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146966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76940" y="10749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28934" y="48451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971545" y="1455166"/>
            <a:ext cx="1428750" cy="793115"/>
            <a:chOff x="2971545" y="1455166"/>
            <a:chExt cx="1428750" cy="793115"/>
          </a:xfrm>
        </p:grpSpPr>
        <p:sp>
          <p:nvSpPr>
            <p:cNvPr id="5" name="object 5"/>
            <p:cNvSpPr/>
            <p:nvPr/>
          </p:nvSpPr>
          <p:spPr>
            <a:xfrm>
              <a:off x="3512819" y="1461516"/>
              <a:ext cx="881380" cy="317500"/>
            </a:xfrm>
            <a:custGeom>
              <a:avLst/>
              <a:gdLst/>
              <a:ahLst/>
              <a:cxnLst/>
              <a:rect l="l" t="t" r="r" b="b"/>
              <a:pathLst>
                <a:path w="881379" h="317500">
                  <a:moveTo>
                    <a:pt x="880872" y="0"/>
                  </a:moveTo>
                  <a:lnTo>
                    <a:pt x="0" y="316992"/>
                  </a:lnTo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77895" y="1702308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977895" y="170230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200590" y="1856041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52584" y="1303515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369820" y="2299716"/>
            <a:ext cx="805180" cy="601980"/>
          </a:xfrm>
          <a:custGeom>
            <a:avLst/>
            <a:gdLst/>
            <a:ahLst/>
            <a:cxnLst/>
            <a:rect l="l" t="t" r="r" b="b"/>
            <a:pathLst>
              <a:path w="805180" h="601980">
                <a:moveTo>
                  <a:pt x="804671" y="0"/>
                </a:moveTo>
                <a:lnTo>
                  <a:pt x="0" y="60198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5524246" y="1734056"/>
            <a:ext cx="590550" cy="552450"/>
            <a:chOff x="5524246" y="1734056"/>
            <a:chExt cx="590550" cy="552450"/>
          </a:xfrm>
        </p:grpSpPr>
        <p:sp>
          <p:nvSpPr>
            <p:cNvPr id="12" name="object 12"/>
            <p:cNvSpPr/>
            <p:nvPr/>
          </p:nvSpPr>
          <p:spPr>
            <a:xfrm>
              <a:off x="5530596" y="1740408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530596" y="174040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753290" y="1894141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05284" y="130366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700015" y="1481327"/>
            <a:ext cx="889000" cy="335280"/>
          </a:xfrm>
          <a:custGeom>
            <a:avLst/>
            <a:gdLst/>
            <a:ahLst/>
            <a:cxnLst/>
            <a:rect l="l" t="t" r="r" b="b"/>
            <a:pathLst>
              <a:path w="889000" h="335280">
                <a:moveTo>
                  <a:pt x="0" y="0"/>
                </a:moveTo>
                <a:lnTo>
                  <a:pt x="888491" y="33528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1975104" y="2965704"/>
            <a:ext cx="589915" cy="551815"/>
            <a:chOff x="1975104" y="2965704"/>
            <a:chExt cx="589915" cy="551815"/>
          </a:xfrm>
        </p:grpSpPr>
        <p:sp>
          <p:nvSpPr>
            <p:cNvPr id="18" name="object 18"/>
            <p:cNvSpPr/>
            <p:nvPr/>
          </p:nvSpPr>
          <p:spPr>
            <a:xfrm>
              <a:off x="1981200" y="2971800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981200" y="2971800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190940" y="31133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123960" y="25418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810000" y="2971800"/>
            <a:ext cx="589915" cy="551815"/>
            <a:chOff x="3810000" y="2971800"/>
            <a:chExt cx="589915" cy="551815"/>
          </a:xfrm>
        </p:grpSpPr>
        <p:sp>
          <p:nvSpPr>
            <p:cNvPr id="23" name="object 23"/>
            <p:cNvSpPr/>
            <p:nvPr/>
          </p:nvSpPr>
          <p:spPr>
            <a:xfrm>
              <a:off x="38160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8160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038790" y="31323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990784" y="257986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647946" y="2971545"/>
            <a:ext cx="590550" cy="552450"/>
            <a:chOff x="4647946" y="2971545"/>
            <a:chExt cx="590550" cy="552450"/>
          </a:xfrm>
        </p:grpSpPr>
        <p:sp>
          <p:nvSpPr>
            <p:cNvPr id="28" name="object 28"/>
            <p:cNvSpPr/>
            <p:nvPr/>
          </p:nvSpPr>
          <p:spPr>
            <a:xfrm>
              <a:off x="4654296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654296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857940" y="31133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752784" y="256081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6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324346" y="2991357"/>
            <a:ext cx="590550" cy="552450"/>
            <a:chOff x="6324346" y="2991357"/>
            <a:chExt cx="590550" cy="552450"/>
          </a:xfrm>
        </p:grpSpPr>
        <p:sp>
          <p:nvSpPr>
            <p:cNvPr id="33" name="object 33"/>
            <p:cNvSpPr/>
            <p:nvPr/>
          </p:nvSpPr>
          <p:spPr>
            <a:xfrm>
              <a:off x="6330696" y="2997707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330696" y="2997707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515290" y="30942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657708" y="265606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353311" y="4152900"/>
            <a:ext cx="589915" cy="551815"/>
            <a:chOff x="1353311" y="4152900"/>
            <a:chExt cx="589915" cy="551815"/>
          </a:xfrm>
        </p:grpSpPr>
        <p:sp>
          <p:nvSpPr>
            <p:cNvPr id="38" name="object 38"/>
            <p:cNvSpPr/>
            <p:nvPr/>
          </p:nvSpPr>
          <p:spPr>
            <a:xfrm>
              <a:off x="1359407" y="41589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359407" y="41589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1517332" y="4313492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Arial MT"/>
                <a:cs typeface="Arial MT"/>
              </a:rPr>
              <a:t>10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457210" y="381811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2496311" y="4114800"/>
            <a:ext cx="589915" cy="551815"/>
            <a:chOff x="2496311" y="4114800"/>
            <a:chExt cx="589915" cy="551815"/>
          </a:xfrm>
        </p:grpSpPr>
        <p:sp>
          <p:nvSpPr>
            <p:cNvPr id="43" name="object 43"/>
            <p:cNvSpPr/>
            <p:nvPr/>
          </p:nvSpPr>
          <p:spPr>
            <a:xfrm>
              <a:off x="2502407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502407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2622232" y="4313492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Arial MT"/>
                <a:cs typeface="Arial MT"/>
              </a:rPr>
              <a:t>14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790710" y="37419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3314700" y="4114800"/>
            <a:ext cx="589915" cy="551815"/>
            <a:chOff x="3314700" y="4114800"/>
            <a:chExt cx="589915" cy="551815"/>
          </a:xfrm>
        </p:grpSpPr>
        <p:sp>
          <p:nvSpPr>
            <p:cNvPr id="48" name="object 48"/>
            <p:cNvSpPr/>
            <p:nvPr/>
          </p:nvSpPr>
          <p:spPr>
            <a:xfrm>
              <a:off x="3320795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320795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1" name="object 51"/>
          <p:cNvGrpSpPr/>
          <p:nvPr/>
        </p:nvGrpSpPr>
        <p:grpSpPr>
          <a:xfrm>
            <a:off x="3342132" y="2255520"/>
            <a:ext cx="3319779" cy="748665"/>
            <a:chOff x="3342132" y="2255520"/>
            <a:chExt cx="3319779" cy="748665"/>
          </a:xfrm>
        </p:grpSpPr>
        <p:sp>
          <p:nvSpPr>
            <p:cNvPr id="52" name="object 52"/>
            <p:cNvSpPr/>
            <p:nvPr/>
          </p:nvSpPr>
          <p:spPr>
            <a:xfrm>
              <a:off x="3348228" y="2299716"/>
              <a:ext cx="754380" cy="601980"/>
            </a:xfrm>
            <a:custGeom>
              <a:avLst/>
              <a:gdLst/>
              <a:ahLst/>
              <a:cxnLst/>
              <a:rect l="l" t="t" r="r" b="b"/>
              <a:pathLst>
                <a:path w="754379" h="601980">
                  <a:moveTo>
                    <a:pt x="0" y="0"/>
                  </a:moveTo>
                  <a:lnTo>
                    <a:pt x="754380" y="60198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995416" y="2261616"/>
              <a:ext cx="660400" cy="698500"/>
            </a:xfrm>
            <a:custGeom>
              <a:avLst/>
              <a:gdLst/>
              <a:ahLst/>
              <a:cxnLst/>
              <a:rect l="l" t="t" r="r" b="b"/>
              <a:pathLst>
                <a:path w="660400" h="698500">
                  <a:moveTo>
                    <a:pt x="0" y="0"/>
                  </a:moveTo>
                  <a:lnTo>
                    <a:pt x="659892" y="697992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980432" y="2299716"/>
              <a:ext cx="614680" cy="698500"/>
            </a:xfrm>
            <a:custGeom>
              <a:avLst/>
              <a:gdLst/>
              <a:ahLst/>
              <a:cxnLst/>
              <a:rect l="l" t="t" r="r" b="b"/>
              <a:pathLst>
                <a:path w="614679" h="698500">
                  <a:moveTo>
                    <a:pt x="614172" y="0"/>
                  </a:moveTo>
                  <a:lnTo>
                    <a:pt x="0" y="697992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5" name="object 55"/>
          <p:cNvGraphicFramePr>
            <a:graphicFrameLocks noGrp="1"/>
          </p:cNvGraphicFramePr>
          <p:nvPr/>
        </p:nvGraphicFramePr>
        <p:xfrm>
          <a:off x="1810511" y="5105400"/>
          <a:ext cx="4615813" cy="539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75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9495"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8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9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7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16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7" name="object 57"/>
          <p:cNvSpPr txBox="1"/>
          <p:nvPr/>
        </p:nvSpPr>
        <p:spPr>
          <a:xfrm>
            <a:off x="1870076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377499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82242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3329847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3774794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15573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6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4600657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04407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553005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060406" y="5820971"/>
            <a:ext cx="27876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5" dirty="0">
                <a:latin typeface="Arial MT"/>
                <a:cs typeface="Arial MT"/>
              </a:rPr>
              <a:t>10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022340" y="257047"/>
            <a:ext cx="258572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BUILD-MAX-HEAP(A)</a:t>
            </a:r>
            <a:endParaRPr sz="1200">
              <a:latin typeface="Arial"/>
              <a:cs typeface="Arial"/>
            </a:endParaRPr>
          </a:p>
          <a:p>
            <a:pPr marL="227329" marR="424815" indent="-215265">
              <a:lnSpc>
                <a:spcPct val="100000"/>
              </a:lnSpc>
            </a:pPr>
            <a:r>
              <a:rPr sz="1200" b="1" spc="-5" dirty="0">
                <a:latin typeface="Arial"/>
                <a:cs typeface="Arial"/>
              </a:rPr>
              <a:t>for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i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←</a:t>
            </a:r>
            <a:r>
              <a:rPr sz="1200" b="1" spc="-10" dirty="0">
                <a:latin typeface="Arial"/>
                <a:cs typeface="Arial"/>
              </a:rPr>
              <a:t> length[A]</a:t>
            </a:r>
            <a:r>
              <a:rPr sz="1200" b="1" spc="4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downto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2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do </a:t>
            </a:r>
            <a:r>
              <a:rPr sz="1200" b="1" spc="-3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exc</a:t>
            </a:r>
            <a:r>
              <a:rPr sz="1200" b="1" spc="-5" dirty="0">
                <a:latin typeface="Arial"/>
                <a:cs typeface="Arial"/>
              </a:rPr>
              <a:t>h</a:t>
            </a:r>
            <a:r>
              <a:rPr sz="1200" b="1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ng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-80" dirty="0">
                <a:latin typeface="Arial"/>
                <a:cs typeface="Arial"/>
              </a:rPr>
              <a:t> </a:t>
            </a:r>
            <a:r>
              <a:rPr sz="1200" b="1" spc="-40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[</a:t>
            </a:r>
            <a:r>
              <a:rPr sz="1200" b="1" dirty="0">
                <a:latin typeface="Arial"/>
                <a:cs typeface="Arial"/>
              </a:rPr>
              <a:t>1]</a:t>
            </a:r>
            <a:r>
              <a:rPr sz="1200" b="1" spc="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↔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spc="-40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[</a:t>
            </a:r>
            <a:r>
              <a:rPr sz="1200" b="1" dirty="0">
                <a:latin typeface="Arial"/>
                <a:cs typeface="Arial"/>
              </a:rPr>
              <a:t>i]</a:t>
            </a:r>
            <a:endParaRPr sz="1200">
              <a:latin typeface="Arial"/>
              <a:cs typeface="Arial"/>
            </a:endParaRPr>
          </a:p>
          <a:p>
            <a:pPr marL="269875" marR="5080">
              <a:lnSpc>
                <a:spcPct val="100000"/>
              </a:lnSpc>
            </a:pPr>
            <a:r>
              <a:rPr sz="1200" b="1" spc="-5" dirty="0">
                <a:latin typeface="Arial"/>
                <a:cs typeface="Arial"/>
              </a:rPr>
              <a:t>heap-size[A]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← </a:t>
            </a:r>
            <a:r>
              <a:rPr sz="1200" b="1" spc="-10" dirty="0">
                <a:latin typeface="Arial"/>
                <a:cs typeface="Arial"/>
              </a:rPr>
              <a:t>heap-size[A]</a:t>
            </a:r>
            <a:r>
              <a:rPr sz="1200" b="1" spc="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–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 </a:t>
            </a:r>
            <a:r>
              <a:rPr sz="1200" b="1" spc="-32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MAX-HEAPIFY(A,</a:t>
            </a:r>
            <a:r>
              <a:rPr sz="1200" b="1" spc="5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1)</a:t>
            </a:r>
            <a:endParaRPr sz="1200">
              <a:latin typeface="Arial"/>
              <a:cs typeface="Arial"/>
            </a:endParaRPr>
          </a:p>
        </p:txBody>
      </p:sp>
      <p:sp>
        <p:nvSpPr>
          <p:cNvPr id="67" name="object 51"/>
          <p:cNvSpPr txBox="1"/>
          <p:nvPr/>
        </p:nvSpPr>
        <p:spPr>
          <a:xfrm>
            <a:off x="3441382" y="3742068"/>
            <a:ext cx="549402" cy="8284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00"/>
              </a:spcBef>
            </a:pPr>
            <a:r>
              <a:rPr sz="1800" spc="-5" dirty="0" smtClean="0">
                <a:latin typeface="Arial MT"/>
                <a:cs typeface="Arial MT"/>
              </a:rPr>
              <a:t>10</a:t>
            </a:r>
            <a:endParaRPr lang="en-US" sz="1800" spc="-5" dirty="0" smtClean="0">
              <a:latin typeface="Arial MT"/>
              <a:cs typeface="Arial MT"/>
            </a:endParaRPr>
          </a:p>
          <a:p>
            <a:pPr marL="28575">
              <a:lnSpc>
                <a:spcPts val="2100"/>
              </a:lnSpc>
            </a:pPr>
            <a:endParaRPr sz="1800" dirty="0">
              <a:latin typeface="Arial MT"/>
              <a:cs typeface="Arial MT"/>
            </a:endParaRPr>
          </a:p>
          <a:p>
            <a:pPr marL="12700">
              <a:lnSpc>
                <a:spcPts val="2100"/>
              </a:lnSpc>
            </a:pPr>
            <a:r>
              <a:rPr sz="1800" spc="-15" dirty="0">
                <a:latin typeface="Arial MT"/>
                <a:cs typeface="Arial MT"/>
              </a:rPr>
              <a:t>16</a:t>
            </a:r>
            <a:endParaRPr sz="18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62600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76940" y="10749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28934" y="48451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971545" y="1455166"/>
            <a:ext cx="1428750" cy="793115"/>
            <a:chOff x="2971545" y="1455166"/>
            <a:chExt cx="1428750" cy="793115"/>
          </a:xfrm>
        </p:grpSpPr>
        <p:sp>
          <p:nvSpPr>
            <p:cNvPr id="5" name="object 5"/>
            <p:cNvSpPr/>
            <p:nvPr/>
          </p:nvSpPr>
          <p:spPr>
            <a:xfrm>
              <a:off x="3512819" y="1461516"/>
              <a:ext cx="881380" cy="317500"/>
            </a:xfrm>
            <a:custGeom>
              <a:avLst/>
              <a:gdLst/>
              <a:ahLst/>
              <a:cxnLst/>
              <a:rect l="l" t="t" r="r" b="b"/>
              <a:pathLst>
                <a:path w="881379" h="317500">
                  <a:moveTo>
                    <a:pt x="880872" y="0"/>
                  </a:moveTo>
                  <a:lnTo>
                    <a:pt x="0" y="316992"/>
                  </a:lnTo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77895" y="1702308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977895" y="170230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200590" y="1856041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52584" y="1303515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369820" y="2299716"/>
            <a:ext cx="805180" cy="601980"/>
          </a:xfrm>
          <a:custGeom>
            <a:avLst/>
            <a:gdLst/>
            <a:ahLst/>
            <a:cxnLst/>
            <a:rect l="l" t="t" r="r" b="b"/>
            <a:pathLst>
              <a:path w="805180" h="601980">
                <a:moveTo>
                  <a:pt x="804671" y="0"/>
                </a:moveTo>
                <a:lnTo>
                  <a:pt x="0" y="60198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5524246" y="1734056"/>
            <a:ext cx="590550" cy="552450"/>
            <a:chOff x="5524246" y="1734056"/>
            <a:chExt cx="590550" cy="552450"/>
          </a:xfrm>
        </p:grpSpPr>
        <p:sp>
          <p:nvSpPr>
            <p:cNvPr id="12" name="object 12"/>
            <p:cNvSpPr/>
            <p:nvPr/>
          </p:nvSpPr>
          <p:spPr>
            <a:xfrm>
              <a:off x="5530596" y="1740408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530596" y="174040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753290" y="1894141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05284" y="130366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700015" y="1481327"/>
            <a:ext cx="889000" cy="335280"/>
          </a:xfrm>
          <a:custGeom>
            <a:avLst/>
            <a:gdLst/>
            <a:ahLst/>
            <a:cxnLst/>
            <a:rect l="l" t="t" r="r" b="b"/>
            <a:pathLst>
              <a:path w="889000" h="335280">
                <a:moveTo>
                  <a:pt x="0" y="0"/>
                </a:moveTo>
                <a:lnTo>
                  <a:pt x="888491" y="33528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1975104" y="2965704"/>
            <a:ext cx="589915" cy="551815"/>
            <a:chOff x="1975104" y="2965704"/>
            <a:chExt cx="589915" cy="551815"/>
          </a:xfrm>
        </p:grpSpPr>
        <p:sp>
          <p:nvSpPr>
            <p:cNvPr id="18" name="object 18"/>
            <p:cNvSpPr/>
            <p:nvPr/>
          </p:nvSpPr>
          <p:spPr>
            <a:xfrm>
              <a:off x="1981200" y="2971800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981200" y="2971800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190940" y="31133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123960" y="25418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810000" y="2971800"/>
            <a:ext cx="589915" cy="551815"/>
            <a:chOff x="3810000" y="2971800"/>
            <a:chExt cx="589915" cy="551815"/>
          </a:xfrm>
        </p:grpSpPr>
        <p:sp>
          <p:nvSpPr>
            <p:cNvPr id="23" name="object 23"/>
            <p:cNvSpPr/>
            <p:nvPr/>
          </p:nvSpPr>
          <p:spPr>
            <a:xfrm>
              <a:off x="38160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8160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038790" y="31323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990784" y="257986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647946" y="2971545"/>
            <a:ext cx="590550" cy="552450"/>
            <a:chOff x="4647946" y="2971545"/>
            <a:chExt cx="590550" cy="552450"/>
          </a:xfrm>
        </p:grpSpPr>
        <p:sp>
          <p:nvSpPr>
            <p:cNvPr id="28" name="object 28"/>
            <p:cNvSpPr/>
            <p:nvPr/>
          </p:nvSpPr>
          <p:spPr>
            <a:xfrm>
              <a:off x="4654296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654296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857940" y="31133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752784" y="256081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6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324346" y="2991357"/>
            <a:ext cx="590550" cy="552450"/>
            <a:chOff x="6324346" y="2991357"/>
            <a:chExt cx="590550" cy="552450"/>
          </a:xfrm>
        </p:grpSpPr>
        <p:sp>
          <p:nvSpPr>
            <p:cNvPr id="33" name="object 33"/>
            <p:cNvSpPr/>
            <p:nvPr/>
          </p:nvSpPr>
          <p:spPr>
            <a:xfrm>
              <a:off x="6330696" y="2997707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330696" y="2997707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515290" y="30942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657708" y="265606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353311" y="4152900"/>
            <a:ext cx="589915" cy="551815"/>
            <a:chOff x="1353311" y="4152900"/>
            <a:chExt cx="589915" cy="551815"/>
          </a:xfrm>
        </p:grpSpPr>
        <p:sp>
          <p:nvSpPr>
            <p:cNvPr id="38" name="object 38"/>
            <p:cNvSpPr/>
            <p:nvPr/>
          </p:nvSpPr>
          <p:spPr>
            <a:xfrm>
              <a:off x="1359407" y="41589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359407" y="41589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1517332" y="4313492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Arial MT"/>
                <a:cs typeface="Arial MT"/>
              </a:rPr>
              <a:t>10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457210" y="381811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2496311" y="4114800"/>
            <a:ext cx="589915" cy="551815"/>
            <a:chOff x="2496311" y="4114800"/>
            <a:chExt cx="589915" cy="551815"/>
          </a:xfrm>
        </p:grpSpPr>
        <p:sp>
          <p:nvSpPr>
            <p:cNvPr id="43" name="object 43"/>
            <p:cNvSpPr/>
            <p:nvPr/>
          </p:nvSpPr>
          <p:spPr>
            <a:xfrm>
              <a:off x="2502407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502407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2622232" y="4313492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Arial MT"/>
                <a:cs typeface="Arial MT"/>
              </a:rPr>
              <a:t>14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790710" y="37419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3314700" y="4114800"/>
            <a:ext cx="589915" cy="551815"/>
            <a:chOff x="3314700" y="4114800"/>
            <a:chExt cx="589915" cy="551815"/>
          </a:xfrm>
        </p:grpSpPr>
        <p:sp>
          <p:nvSpPr>
            <p:cNvPr id="48" name="object 48"/>
            <p:cNvSpPr/>
            <p:nvPr/>
          </p:nvSpPr>
          <p:spPr>
            <a:xfrm>
              <a:off x="3320795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320795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1" name="object 51"/>
          <p:cNvGrpSpPr/>
          <p:nvPr/>
        </p:nvGrpSpPr>
        <p:grpSpPr>
          <a:xfrm>
            <a:off x="3342132" y="2255520"/>
            <a:ext cx="3319779" cy="748665"/>
            <a:chOff x="3342132" y="2255520"/>
            <a:chExt cx="3319779" cy="748665"/>
          </a:xfrm>
        </p:grpSpPr>
        <p:sp>
          <p:nvSpPr>
            <p:cNvPr id="52" name="object 52"/>
            <p:cNvSpPr/>
            <p:nvPr/>
          </p:nvSpPr>
          <p:spPr>
            <a:xfrm>
              <a:off x="3348228" y="2299716"/>
              <a:ext cx="754380" cy="601980"/>
            </a:xfrm>
            <a:custGeom>
              <a:avLst/>
              <a:gdLst/>
              <a:ahLst/>
              <a:cxnLst/>
              <a:rect l="l" t="t" r="r" b="b"/>
              <a:pathLst>
                <a:path w="754379" h="601980">
                  <a:moveTo>
                    <a:pt x="0" y="0"/>
                  </a:moveTo>
                  <a:lnTo>
                    <a:pt x="754380" y="60198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995416" y="2261616"/>
              <a:ext cx="660400" cy="698500"/>
            </a:xfrm>
            <a:custGeom>
              <a:avLst/>
              <a:gdLst/>
              <a:ahLst/>
              <a:cxnLst/>
              <a:rect l="l" t="t" r="r" b="b"/>
              <a:pathLst>
                <a:path w="660400" h="698500">
                  <a:moveTo>
                    <a:pt x="0" y="0"/>
                  </a:moveTo>
                  <a:lnTo>
                    <a:pt x="659892" y="697992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980432" y="2299716"/>
              <a:ext cx="614680" cy="698500"/>
            </a:xfrm>
            <a:custGeom>
              <a:avLst/>
              <a:gdLst/>
              <a:ahLst/>
              <a:cxnLst/>
              <a:rect l="l" t="t" r="r" b="b"/>
              <a:pathLst>
                <a:path w="614679" h="698500">
                  <a:moveTo>
                    <a:pt x="614172" y="0"/>
                  </a:moveTo>
                  <a:lnTo>
                    <a:pt x="0" y="697992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5" name="object 55"/>
          <p:cNvGraphicFramePr>
            <a:graphicFrameLocks noGrp="1"/>
          </p:cNvGraphicFramePr>
          <p:nvPr/>
        </p:nvGraphicFramePr>
        <p:xfrm>
          <a:off x="1810511" y="5105400"/>
          <a:ext cx="4615813" cy="539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75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9495"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9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8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7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29845" algn="ctr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16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7" name="object 57"/>
          <p:cNvSpPr txBox="1"/>
          <p:nvPr/>
        </p:nvSpPr>
        <p:spPr>
          <a:xfrm>
            <a:off x="1870076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377499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82242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3329847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3774794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15573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6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4600657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04407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553005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060406" y="5820971"/>
            <a:ext cx="27876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5" dirty="0">
                <a:latin typeface="Arial MT"/>
                <a:cs typeface="Arial MT"/>
              </a:rPr>
              <a:t>10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022340" y="257047"/>
            <a:ext cx="258572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BUILD-MAX-HEAP(A)</a:t>
            </a:r>
            <a:endParaRPr sz="1200">
              <a:latin typeface="Arial"/>
              <a:cs typeface="Arial"/>
            </a:endParaRPr>
          </a:p>
          <a:p>
            <a:pPr marL="227329" marR="424815" indent="-215265">
              <a:lnSpc>
                <a:spcPct val="100000"/>
              </a:lnSpc>
            </a:pPr>
            <a:r>
              <a:rPr sz="1200" b="1" spc="-5" dirty="0">
                <a:latin typeface="Arial"/>
                <a:cs typeface="Arial"/>
              </a:rPr>
              <a:t>for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i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←</a:t>
            </a:r>
            <a:r>
              <a:rPr sz="1200" b="1" spc="-10" dirty="0">
                <a:latin typeface="Arial"/>
                <a:cs typeface="Arial"/>
              </a:rPr>
              <a:t> length[A]</a:t>
            </a:r>
            <a:r>
              <a:rPr sz="1200" b="1" spc="4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downto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2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do </a:t>
            </a:r>
            <a:r>
              <a:rPr sz="1200" b="1" spc="-3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exc</a:t>
            </a:r>
            <a:r>
              <a:rPr sz="1200" b="1" spc="-5" dirty="0">
                <a:latin typeface="Arial"/>
                <a:cs typeface="Arial"/>
              </a:rPr>
              <a:t>h</a:t>
            </a:r>
            <a:r>
              <a:rPr sz="1200" b="1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ng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-80" dirty="0">
                <a:latin typeface="Arial"/>
                <a:cs typeface="Arial"/>
              </a:rPr>
              <a:t> </a:t>
            </a:r>
            <a:r>
              <a:rPr sz="1200" b="1" spc="-40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[</a:t>
            </a:r>
            <a:r>
              <a:rPr sz="1200" b="1" dirty="0">
                <a:latin typeface="Arial"/>
                <a:cs typeface="Arial"/>
              </a:rPr>
              <a:t>1]</a:t>
            </a:r>
            <a:r>
              <a:rPr sz="1200" b="1" spc="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↔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spc="-40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[</a:t>
            </a:r>
            <a:r>
              <a:rPr sz="1200" b="1" dirty="0">
                <a:latin typeface="Arial"/>
                <a:cs typeface="Arial"/>
              </a:rPr>
              <a:t>i]</a:t>
            </a:r>
            <a:endParaRPr sz="1200">
              <a:latin typeface="Arial"/>
              <a:cs typeface="Arial"/>
            </a:endParaRPr>
          </a:p>
          <a:p>
            <a:pPr marL="269875" marR="5080">
              <a:lnSpc>
                <a:spcPct val="100000"/>
              </a:lnSpc>
            </a:pPr>
            <a:r>
              <a:rPr sz="1200" b="1" spc="-5" dirty="0">
                <a:latin typeface="Arial"/>
                <a:cs typeface="Arial"/>
              </a:rPr>
              <a:t>heap-size[A]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← </a:t>
            </a:r>
            <a:r>
              <a:rPr sz="1200" b="1" spc="-10" dirty="0">
                <a:latin typeface="Arial"/>
                <a:cs typeface="Arial"/>
              </a:rPr>
              <a:t>heap-size[A]</a:t>
            </a:r>
            <a:r>
              <a:rPr sz="1200" b="1" spc="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–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 </a:t>
            </a:r>
            <a:r>
              <a:rPr sz="1200" b="1" spc="-32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MAX-HEAPIFY(A,</a:t>
            </a:r>
            <a:r>
              <a:rPr sz="1200" b="1" spc="5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1)</a:t>
            </a:r>
            <a:endParaRPr sz="1200">
              <a:latin typeface="Arial"/>
              <a:cs typeface="Arial"/>
            </a:endParaRPr>
          </a:p>
        </p:txBody>
      </p:sp>
      <p:sp>
        <p:nvSpPr>
          <p:cNvPr id="67" name="object 51"/>
          <p:cNvSpPr txBox="1"/>
          <p:nvPr/>
        </p:nvSpPr>
        <p:spPr>
          <a:xfrm>
            <a:off x="3441382" y="3743568"/>
            <a:ext cx="549402" cy="8284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00"/>
              </a:spcBef>
            </a:pPr>
            <a:r>
              <a:rPr sz="1800" spc="-5" dirty="0" smtClean="0">
                <a:latin typeface="Arial MT"/>
                <a:cs typeface="Arial MT"/>
              </a:rPr>
              <a:t>10</a:t>
            </a:r>
            <a:endParaRPr lang="en-US" sz="1800" spc="-5" dirty="0" smtClean="0">
              <a:latin typeface="Arial MT"/>
              <a:cs typeface="Arial MT"/>
            </a:endParaRPr>
          </a:p>
          <a:p>
            <a:pPr marL="28575">
              <a:lnSpc>
                <a:spcPts val="2100"/>
              </a:lnSpc>
            </a:pPr>
            <a:endParaRPr sz="1800" dirty="0">
              <a:latin typeface="Arial MT"/>
              <a:cs typeface="Arial MT"/>
            </a:endParaRPr>
          </a:p>
          <a:p>
            <a:pPr marL="12700">
              <a:lnSpc>
                <a:spcPts val="2100"/>
              </a:lnSpc>
            </a:pPr>
            <a:r>
              <a:rPr sz="1800" spc="-15" dirty="0">
                <a:latin typeface="Arial MT"/>
                <a:cs typeface="Arial MT"/>
              </a:rPr>
              <a:t>16</a:t>
            </a:r>
            <a:endParaRPr sz="18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274318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8658" y="914146"/>
            <a:ext cx="590550" cy="552450"/>
            <a:chOff x="4248658" y="914146"/>
            <a:chExt cx="590550" cy="552450"/>
          </a:xfrm>
        </p:grpSpPr>
        <p:sp>
          <p:nvSpPr>
            <p:cNvPr id="3" name="object 3"/>
            <p:cNvSpPr/>
            <p:nvPr/>
          </p:nvSpPr>
          <p:spPr>
            <a:xfrm>
              <a:off x="4255008" y="92049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CF0E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255008" y="92049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476940" y="10749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28934" y="48451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971545" y="1455166"/>
            <a:ext cx="1428750" cy="793115"/>
            <a:chOff x="2971545" y="1455166"/>
            <a:chExt cx="1428750" cy="793115"/>
          </a:xfrm>
        </p:grpSpPr>
        <p:sp>
          <p:nvSpPr>
            <p:cNvPr id="8" name="object 8"/>
            <p:cNvSpPr/>
            <p:nvPr/>
          </p:nvSpPr>
          <p:spPr>
            <a:xfrm>
              <a:off x="3512819" y="1461516"/>
              <a:ext cx="881380" cy="317500"/>
            </a:xfrm>
            <a:custGeom>
              <a:avLst/>
              <a:gdLst/>
              <a:ahLst/>
              <a:cxnLst/>
              <a:rect l="l" t="t" r="r" b="b"/>
              <a:pathLst>
                <a:path w="881379" h="317500">
                  <a:moveTo>
                    <a:pt x="880872" y="0"/>
                  </a:moveTo>
                  <a:lnTo>
                    <a:pt x="0" y="316992"/>
                  </a:lnTo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77895" y="1702308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977895" y="170230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200590" y="1856041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52584" y="1303515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369820" y="2299716"/>
            <a:ext cx="805180" cy="601980"/>
          </a:xfrm>
          <a:custGeom>
            <a:avLst/>
            <a:gdLst/>
            <a:ahLst/>
            <a:cxnLst/>
            <a:rect l="l" t="t" r="r" b="b"/>
            <a:pathLst>
              <a:path w="805180" h="601980">
                <a:moveTo>
                  <a:pt x="804671" y="0"/>
                </a:moveTo>
                <a:lnTo>
                  <a:pt x="0" y="60198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5524246" y="1734056"/>
            <a:ext cx="590550" cy="552450"/>
            <a:chOff x="5524246" y="1734056"/>
            <a:chExt cx="590550" cy="552450"/>
          </a:xfrm>
        </p:grpSpPr>
        <p:sp>
          <p:nvSpPr>
            <p:cNvPr id="15" name="object 15"/>
            <p:cNvSpPr/>
            <p:nvPr/>
          </p:nvSpPr>
          <p:spPr>
            <a:xfrm>
              <a:off x="5530596" y="1740408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530596" y="174040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753290" y="1894141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705284" y="130366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700015" y="1481327"/>
            <a:ext cx="889000" cy="335280"/>
          </a:xfrm>
          <a:custGeom>
            <a:avLst/>
            <a:gdLst/>
            <a:ahLst/>
            <a:cxnLst/>
            <a:rect l="l" t="t" r="r" b="b"/>
            <a:pathLst>
              <a:path w="889000" h="335280">
                <a:moveTo>
                  <a:pt x="0" y="0"/>
                </a:moveTo>
                <a:lnTo>
                  <a:pt x="888491" y="33528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1975104" y="2965704"/>
            <a:ext cx="589915" cy="551815"/>
            <a:chOff x="1975104" y="2965704"/>
            <a:chExt cx="589915" cy="551815"/>
          </a:xfrm>
        </p:grpSpPr>
        <p:sp>
          <p:nvSpPr>
            <p:cNvPr id="21" name="object 21"/>
            <p:cNvSpPr/>
            <p:nvPr/>
          </p:nvSpPr>
          <p:spPr>
            <a:xfrm>
              <a:off x="1981200" y="2971800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981200" y="2971800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190940" y="31133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123960" y="25418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810000" y="2971800"/>
            <a:ext cx="589915" cy="551815"/>
            <a:chOff x="3810000" y="2971800"/>
            <a:chExt cx="589915" cy="551815"/>
          </a:xfrm>
        </p:grpSpPr>
        <p:sp>
          <p:nvSpPr>
            <p:cNvPr id="26" name="object 26"/>
            <p:cNvSpPr/>
            <p:nvPr/>
          </p:nvSpPr>
          <p:spPr>
            <a:xfrm>
              <a:off x="38160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8160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038790" y="31323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990784" y="257986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647946" y="2971545"/>
            <a:ext cx="590550" cy="552450"/>
            <a:chOff x="4647946" y="2971545"/>
            <a:chExt cx="590550" cy="552450"/>
          </a:xfrm>
        </p:grpSpPr>
        <p:sp>
          <p:nvSpPr>
            <p:cNvPr id="31" name="object 31"/>
            <p:cNvSpPr/>
            <p:nvPr/>
          </p:nvSpPr>
          <p:spPr>
            <a:xfrm>
              <a:off x="4654296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654296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4857940" y="31133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752784" y="256081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6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324346" y="2991357"/>
            <a:ext cx="590550" cy="552450"/>
            <a:chOff x="6324346" y="2991357"/>
            <a:chExt cx="590550" cy="552450"/>
          </a:xfrm>
        </p:grpSpPr>
        <p:sp>
          <p:nvSpPr>
            <p:cNvPr id="36" name="object 36"/>
            <p:cNvSpPr/>
            <p:nvPr/>
          </p:nvSpPr>
          <p:spPr>
            <a:xfrm>
              <a:off x="6330696" y="2997707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CF0E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330696" y="2997707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6515290" y="30942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657708" y="265606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1353311" y="4152900"/>
            <a:ext cx="589915" cy="551815"/>
            <a:chOff x="1353311" y="4152900"/>
            <a:chExt cx="589915" cy="551815"/>
          </a:xfrm>
        </p:grpSpPr>
        <p:sp>
          <p:nvSpPr>
            <p:cNvPr id="41" name="object 41"/>
            <p:cNvSpPr/>
            <p:nvPr/>
          </p:nvSpPr>
          <p:spPr>
            <a:xfrm>
              <a:off x="1359407" y="41589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359407" y="41589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1517332" y="4313492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Arial MT"/>
                <a:cs typeface="Arial MT"/>
              </a:rPr>
              <a:t>10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457210" y="381811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2496311" y="4114800"/>
            <a:ext cx="589915" cy="551815"/>
            <a:chOff x="2496311" y="4114800"/>
            <a:chExt cx="589915" cy="551815"/>
          </a:xfrm>
        </p:grpSpPr>
        <p:sp>
          <p:nvSpPr>
            <p:cNvPr id="46" name="object 46"/>
            <p:cNvSpPr/>
            <p:nvPr/>
          </p:nvSpPr>
          <p:spPr>
            <a:xfrm>
              <a:off x="2502407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502407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2622232" y="4313492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Arial MT"/>
                <a:cs typeface="Arial MT"/>
              </a:rPr>
              <a:t>14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790710" y="37419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3314700" y="4114800"/>
            <a:ext cx="589915" cy="551815"/>
            <a:chOff x="3314700" y="4114800"/>
            <a:chExt cx="589915" cy="551815"/>
          </a:xfrm>
        </p:grpSpPr>
        <p:sp>
          <p:nvSpPr>
            <p:cNvPr id="51" name="object 51"/>
            <p:cNvSpPr/>
            <p:nvPr/>
          </p:nvSpPr>
          <p:spPr>
            <a:xfrm>
              <a:off x="3320795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320795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4" name="object 54"/>
          <p:cNvGrpSpPr/>
          <p:nvPr/>
        </p:nvGrpSpPr>
        <p:grpSpPr>
          <a:xfrm>
            <a:off x="3342132" y="2255520"/>
            <a:ext cx="3319779" cy="748665"/>
            <a:chOff x="3342132" y="2255520"/>
            <a:chExt cx="3319779" cy="748665"/>
          </a:xfrm>
        </p:grpSpPr>
        <p:sp>
          <p:nvSpPr>
            <p:cNvPr id="55" name="object 55"/>
            <p:cNvSpPr/>
            <p:nvPr/>
          </p:nvSpPr>
          <p:spPr>
            <a:xfrm>
              <a:off x="3348228" y="2299716"/>
              <a:ext cx="754380" cy="601980"/>
            </a:xfrm>
            <a:custGeom>
              <a:avLst/>
              <a:gdLst/>
              <a:ahLst/>
              <a:cxnLst/>
              <a:rect l="l" t="t" r="r" b="b"/>
              <a:pathLst>
                <a:path w="754379" h="601980">
                  <a:moveTo>
                    <a:pt x="0" y="0"/>
                  </a:moveTo>
                  <a:lnTo>
                    <a:pt x="754380" y="60198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995416" y="2261616"/>
              <a:ext cx="660400" cy="698500"/>
            </a:xfrm>
            <a:custGeom>
              <a:avLst/>
              <a:gdLst/>
              <a:ahLst/>
              <a:cxnLst/>
              <a:rect l="l" t="t" r="r" b="b"/>
              <a:pathLst>
                <a:path w="660400" h="698500">
                  <a:moveTo>
                    <a:pt x="0" y="0"/>
                  </a:moveTo>
                  <a:lnTo>
                    <a:pt x="659892" y="697992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980432" y="2299716"/>
              <a:ext cx="614680" cy="698500"/>
            </a:xfrm>
            <a:custGeom>
              <a:avLst/>
              <a:gdLst/>
              <a:ahLst/>
              <a:cxnLst/>
              <a:rect l="l" t="t" r="r" b="b"/>
              <a:pathLst>
                <a:path w="614679" h="698500">
                  <a:moveTo>
                    <a:pt x="614172" y="0"/>
                  </a:moveTo>
                  <a:lnTo>
                    <a:pt x="0" y="697992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8" name="object 58"/>
          <p:cNvGraphicFramePr>
            <a:graphicFrameLocks noGrp="1"/>
          </p:cNvGraphicFramePr>
          <p:nvPr/>
        </p:nvGraphicFramePr>
        <p:xfrm>
          <a:off x="1810511" y="5105400"/>
          <a:ext cx="4615813" cy="539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75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9495"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9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8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7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29845" algn="ctr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16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0" name="object 60"/>
          <p:cNvSpPr txBox="1"/>
          <p:nvPr/>
        </p:nvSpPr>
        <p:spPr>
          <a:xfrm>
            <a:off x="1870076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377499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282242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329847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3774794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415573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6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4600657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04407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5553005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6060406" y="5820971"/>
            <a:ext cx="27876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5" dirty="0">
                <a:latin typeface="Arial MT"/>
                <a:cs typeface="Arial MT"/>
              </a:rPr>
              <a:t>10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022340" y="257047"/>
            <a:ext cx="258572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BUILD-MAX-HEAP(A)</a:t>
            </a:r>
            <a:endParaRPr sz="1200">
              <a:latin typeface="Arial"/>
              <a:cs typeface="Arial"/>
            </a:endParaRPr>
          </a:p>
          <a:p>
            <a:pPr marL="227329" marR="424815" indent="-215265">
              <a:lnSpc>
                <a:spcPct val="100000"/>
              </a:lnSpc>
            </a:pPr>
            <a:r>
              <a:rPr sz="1200" b="1" spc="-5" dirty="0">
                <a:latin typeface="Arial"/>
                <a:cs typeface="Arial"/>
              </a:rPr>
              <a:t>for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i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←</a:t>
            </a:r>
            <a:r>
              <a:rPr sz="1200" b="1" spc="-10" dirty="0">
                <a:latin typeface="Arial"/>
                <a:cs typeface="Arial"/>
              </a:rPr>
              <a:t> length[A]</a:t>
            </a:r>
            <a:r>
              <a:rPr sz="1200" b="1" spc="4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downto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2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do </a:t>
            </a:r>
            <a:r>
              <a:rPr sz="1200" b="1" spc="-3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exc</a:t>
            </a:r>
            <a:r>
              <a:rPr sz="1200" b="1" spc="-5" dirty="0">
                <a:latin typeface="Arial"/>
                <a:cs typeface="Arial"/>
              </a:rPr>
              <a:t>h</a:t>
            </a:r>
            <a:r>
              <a:rPr sz="1200" b="1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ng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-80" dirty="0">
                <a:latin typeface="Arial"/>
                <a:cs typeface="Arial"/>
              </a:rPr>
              <a:t> </a:t>
            </a:r>
            <a:r>
              <a:rPr sz="1200" b="1" spc="-40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[</a:t>
            </a:r>
            <a:r>
              <a:rPr sz="1200" b="1" dirty="0">
                <a:latin typeface="Arial"/>
                <a:cs typeface="Arial"/>
              </a:rPr>
              <a:t>1]</a:t>
            </a:r>
            <a:r>
              <a:rPr sz="1200" b="1" spc="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↔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spc="-40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[</a:t>
            </a:r>
            <a:r>
              <a:rPr sz="1200" b="1" dirty="0">
                <a:latin typeface="Arial"/>
                <a:cs typeface="Arial"/>
              </a:rPr>
              <a:t>i]</a:t>
            </a:r>
            <a:endParaRPr sz="1200">
              <a:latin typeface="Arial"/>
              <a:cs typeface="Arial"/>
            </a:endParaRPr>
          </a:p>
          <a:p>
            <a:pPr marL="269875" marR="5080">
              <a:lnSpc>
                <a:spcPct val="100000"/>
              </a:lnSpc>
            </a:pPr>
            <a:r>
              <a:rPr sz="1200" b="1" spc="-5" dirty="0">
                <a:latin typeface="Arial"/>
                <a:cs typeface="Arial"/>
              </a:rPr>
              <a:t>heap-size[A]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← </a:t>
            </a:r>
            <a:r>
              <a:rPr sz="1200" b="1" spc="-10" dirty="0">
                <a:latin typeface="Arial"/>
                <a:cs typeface="Arial"/>
              </a:rPr>
              <a:t>heap-size[A]</a:t>
            </a:r>
            <a:r>
              <a:rPr sz="1200" b="1" spc="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–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 </a:t>
            </a:r>
            <a:r>
              <a:rPr sz="1200" b="1" spc="-32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MAX-HEAPIFY(A,</a:t>
            </a:r>
            <a:r>
              <a:rPr sz="1200" b="1" spc="5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1)</a:t>
            </a:r>
            <a:endParaRPr sz="1200">
              <a:latin typeface="Arial"/>
              <a:cs typeface="Arial"/>
            </a:endParaRPr>
          </a:p>
        </p:txBody>
      </p:sp>
      <p:sp>
        <p:nvSpPr>
          <p:cNvPr id="70" name="object 51"/>
          <p:cNvSpPr txBox="1"/>
          <p:nvPr/>
        </p:nvSpPr>
        <p:spPr>
          <a:xfrm>
            <a:off x="3441382" y="3742068"/>
            <a:ext cx="549402" cy="8284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00"/>
              </a:spcBef>
            </a:pPr>
            <a:r>
              <a:rPr sz="1800" spc="-5" dirty="0" smtClean="0">
                <a:latin typeface="Arial MT"/>
                <a:cs typeface="Arial MT"/>
              </a:rPr>
              <a:t>10</a:t>
            </a:r>
            <a:endParaRPr lang="en-US" sz="1800" spc="-5" dirty="0" smtClean="0">
              <a:latin typeface="Arial MT"/>
              <a:cs typeface="Arial MT"/>
            </a:endParaRPr>
          </a:p>
          <a:p>
            <a:pPr marL="28575">
              <a:lnSpc>
                <a:spcPts val="2100"/>
              </a:lnSpc>
            </a:pPr>
            <a:endParaRPr sz="1800" dirty="0">
              <a:latin typeface="Arial MT"/>
              <a:cs typeface="Arial MT"/>
            </a:endParaRPr>
          </a:p>
          <a:p>
            <a:pPr marL="12700">
              <a:lnSpc>
                <a:spcPts val="2100"/>
              </a:lnSpc>
            </a:pPr>
            <a:r>
              <a:rPr sz="1800" spc="-15" dirty="0">
                <a:latin typeface="Arial MT"/>
                <a:cs typeface="Arial MT"/>
              </a:rPr>
              <a:t>16</a:t>
            </a:r>
            <a:endParaRPr sz="18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358807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76940" y="10749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28934" y="48451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971545" y="1455166"/>
            <a:ext cx="1428750" cy="793115"/>
            <a:chOff x="2971545" y="1455166"/>
            <a:chExt cx="1428750" cy="793115"/>
          </a:xfrm>
        </p:grpSpPr>
        <p:sp>
          <p:nvSpPr>
            <p:cNvPr id="5" name="object 5"/>
            <p:cNvSpPr/>
            <p:nvPr/>
          </p:nvSpPr>
          <p:spPr>
            <a:xfrm>
              <a:off x="3512819" y="1461516"/>
              <a:ext cx="881380" cy="317500"/>
            </a:xfrm>
            <a:custGeom>
              <a:avLst/>
              <a:gdLst/>
              <a:ahLst/>
              <a:cxnLst/>
              <a:rect l="l" t="t" r="r" b="b"/>
              <a:pathLst>
                <a:path w="881379" h="317500">
                  <a:moveTo>
                    <a:pt x="880872" y="0"/>
                  </a:moveTo>
                  <a:lnTo>
                    <a:pt x="0" y="316992"/>
                  </a:lnTo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77895" y="1702308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977895" y="170230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200590" y="1856041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52584" y="1303515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369820" y="2299716"/>
            <a:ext cx="805180" cy="601980"/>
          </a:xfrm>
          <a:custGeom>
            <a:avLst/>
            <a:gdLst/>
            <a:ahLst/>
            <a:cxnLst/>
            <a:rect l="l" t="t" r="r" b="b"/>
            <a:pathLst>
              <a:path w="805180" h="601980">
                <a:moveTo>
                  <a:pt x="804671" y="0"/>
                </a:moveTo>
                <a:lnTo>
                  <a:pt x="0" y="60198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5524246" y="1734056"/>
            <a:ext cx="590550" cy="552450"/>
            <a:chOff x="5524246" y="1734056"/>
            <a:chExt cx="590550" cy="552450"/>
          </a:xfrm>
        </p:grpSpPr>
        <p:sp>
          <p:nvSpPr>
            <p:cNvPr id="12" name="object 12"/>
            <p:cNvSpPr/>
            <p:nvPr/>
          </p:nvSpPr>
          <p:spPr>
            <a:xfrm>
              <a:off x="5530596" y="1740408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530596" y="174040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753290" y="1894141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05284" y="130366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700015" y="1481327"/>
            <a:ext cx="889000" cy="335280"/>
          </a:xfrm>
          <a:custGeom>
            <a:avLst/>
            <a:gdLst/>
            <a:ahLst/>
            <a:cxnLst/>
            <a:rect l="l" t="t" r="r" b="b"/>
            <a:pathLst>
              <a:path w="889000" h="335280">
                <a:moveTo>
                  <a:pt x="0" y="0"/>
                </a:moveTo>
                <a:lnTo>
                  <a:pt x="888491" y="33528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1975104" y="2965704"/>
            <a:ext cx="589915" cy="551815"/>
            <a:chOff x="1975104" y="2965704"/>
            <a:chExt cx="589915" cy="551815"/>
          </a:xfrm>
        </p:grpSpPr>
        <p:sp>
          <p:nvSpPr>
            <p:cNvPr id="18" name="object 18"/>
            <p:cNvSpPr/>
            <p:nvPr/>
          </p:nvSpPr>
          <p:spPr>
            <a:xfrm>
              <a:off x="1981200" y="2971800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981200" y="2971800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190940" y="31133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123960" y="25418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810000" y="2971800"/>
            <a:ext cx="589915" cy="551815"/>
            <a:chOff x="3810000" y="2971800"/>
            <a:chExt cx="589915" cy="551815"/>
          </a:xfrm>
        </p:grpSpPr>
        <p:sp>
          <p:nvSpPr>
            <p:cNvPr id="23" name="object 23"/>
            <p:cNvSpPr/>
            <p:nvPr/>
          </p:nvSpPr>
          <p:spPr>
            <a:xfrm>
              <a:off x="38160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8160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038790" y="31323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990784" y="257986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647946" y="2971545"/>
            <a:ext cx="590550" cy="552450"/>
            <a:chOff x="4647946" y="2971545"/>
            <a:chExt cx="590550" cy="552450"/>
          </a:xfrm>
        </p:grpSpPr>
        <p:sp>
          <p:nvSpPr>
            <p:cNvPr id="28" name="object 28"/>
            <p:cNvSpPr/>
            <p:nvPr/>
          </p:nvSpPr>
          <p:spPr>
            <a:xfrm>
              <a:off x="4654296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654296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857940" y="31133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752784" y="256081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6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324600" y="2991611"/>
            <a:ext cx="589915" cy="551815"/>
            <a:chOff x="6324600" y="2991611"/>
            <a:chExt cx="589915" cy="551815"/>
          </a:xfrm>
        </p:grpSpPr>
        <p:sp>
          <p:nvSpPr>
            <p:cNvPr id="33" name="object 33"/>
            <p:cNvSpPr/>
            <p:nvPr/>
          </p:nvSpPr>
          <p:spPr>
            <a:xfrm>
              <a:off x="6330695" y="2997707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330695" y="2997707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515290" y="30942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657708" y="265606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353311" y="4152900"/>
            <a:ext cx="589915" cy="551815"/>
            <a:chOff x="1353311" y="4152900"/>
            <a:chExt cx="589915" cy="551815"/>
          </a:xfrm>
        </p:grpSpPr>
        <p:sp>
          <p:nvSpPr>
            <p:cNvPr id="38" name="object 38"/>
            <p:cNvSpPr/>
            <p:nvPr/>
          </p:nvSpPr>
          <p:spPr>
            <a:xfrm>
              <a:off x="1359407" y="41589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359407" y="41589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1517332" y="4313492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Arial MT"/>
                <a:cs typeface="Arial MT"/>
              </a:rPr>
              <a:t>10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457210" y="381811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2496311" y="4114800"/>
            <a:ext cx="589915" cy="551815"/>
            <a:chOff x="2496311" y="4114800"/>
            <a:chExt cx="589915" cy="551815"/>
          </a:xfrm>
        </p:grpSpPr>
        <p:sp>
          <p:nvSpPr>
            <p:cNvPr id="43" name="object 43"/>
            <p:cNvSpPr/>
            <p:nvPr/>
          </p:nvSpPr>
          <p:spPr>
            <a:xfrm>
              <a:off x="2502407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502407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2622232" y="4313492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Arial MT"/>
                <a:cs typeface="Arial MT"/>
              </a:rPr>
              <a:t>14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790710" y="37419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3314700" y="4114800"/>
            <a:ext cx="589915" cy="551815"/>
            <a:chOff x="3314700" y="4114800"/>
            <a:chExt cx="589915" cy="551815"/>
          </a:xfrm>
        </p:grpSpPr>
        <p:sp>
          <p:nvSpPr>
            <p:cNvPr id="48" name="object 48"/>
            <p:cNvSpPr/>
            <p:nvPr/>
          </p:nvSpPr>
          <p:spPr>
            <a:xfrm>
              <a:off x="3320795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320795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1" name="object 51"/>
          <p:cNvGrpSpPr/>
          <p:nvPr/>
        </p:nvGrpSpPr>
        <p:grpSpPr>
          <a:xfrm>
            <a:off x="3342132" y="2293620"/>
            <a:ext cx="2258695" cy="710565"/>
            <a:chOff x="3342132" y="2293620"/>
            <a:chExt cx="2258695" cy="710565"/>
          </a:xfrm>
        </p:grpSpPr>
        <p:sp>
          <p:nvSpPr>
            <p:cNvPr id="52" name="object 52"/>
            <p:cNvSpPr/>
            <p:nvPr/>
          </p:nvSpPr>
          <p:spPr>
            <a:xfrm>
              <a:off x="3348228" y="2299716"/>
              <a:ext cx="754380" cy="601980"/>
            </a:xfrm>
            <a:custGeom>
              <a:avLst/>
              <a:gdLst/>
              <a:ahLst/>
              <a:cxnLst/>
              <a:rect l="l" t="t" r="r" b="b"/>
              <a:pathLst>
                <a:path w="754379" h="601980">
                  <a:moveTo>
                    <a:pt x="0" y="0"/>
                  </a:moveTo>
                  <a:lnTo>
                    <a:pt x="754380" y="60198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980432" y="2299716"/>
              <a:ext cx="614680" cy="698500"/>
            </a:xfrm>
            <a:custGeom>
              <a:avLst/>
              <a:gdLst/>
              <a:ahLst/>
              <a:cxnLst/>
              <a:rect l="l" t="t" r="r" b="b"/>
              <a:pathLst>
                <a:path w="614679" h="698500">
                  <a:moveTo>
                    <a:pt x="614172" y="0"/>
                  </a:moveTo>
                  <a:lnTo>
                    <a:pt x="0" y="697992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4" name="object 54"/>
          <p:cNvGraphicFramePr>
            <a:graphicFrameLocks noGrp="1"/>
          </p:cNvGraphicFramePr>
          <p:nvPr/>
        </p:nvGraphicFramePr>
        <p:xfrm>
          <a:off x="1810511" y="5105400"/>
          <a:ext cx="4615813" cy="539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75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9495"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8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7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29845" algn="ctr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9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16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6" name="object 56"/>
          <p:cNvSpPr txBox="1"/>
          <p:nvPr/>
        </p:nvSpPr>
        <p:spPr>
          <a:xfrm>
            <a:off x="1870076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377499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82242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3329847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3774794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415573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6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600657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504407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553005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6060406" y="5820971"/>
            <a:ext cx="27876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5" dirty="0">
                <a:latin typeface="Arial MT"/>
                <a:cs typeface="Arial MT"/>
              </a:rPr>
              <a:t>10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022340" y="257047"/>
            <a:ext cx="258572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BUILD-MAX-HEAP(A)</a:t>
            </a:r>
            <a:endParaRPr sz="1200">
              <a:latin typeface="Arial"/>
              <a:cs typeface="Arial"/>
            </a:endParaRPr>
          </a:p>
          <a:p>
            <a:pPr marL="227329" marR="424815" indent="-215265">
              <a:lnSpc>
                <a:spcPct val="100000"/>
              </a:lnSpc>
            </a:pPr>
            <a:r>
              <a:rPr sz="1200" b="1" spc="-5" dirty="0">
                <a:latin typeface="Arial"/>
                <a:cs typeface="Arial"/>
              </a:rPr>
              <a:t>for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i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←</a:t>
            </a:r>
            <a:r>
              <a:rPr sz="1200" b="1" spc="-10" dirty="0">
                <a:latin typeface="Arial"/>
                <a:cs typeface="Arial"/>
              </a:rPr>
              <a:t> length[A]</a:t>
            </a:r>
            <a:r>
              <a:rPr sz="1200" b="1" spc="4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downto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2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do </a:t>
            </a:r>
            <a:r>
              <a:rPr sz="1200" b="1" spc="-3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exc</a:t>
            </a:r>
            <a:r>
              <a:rPr sz="1200" b="1" spc="-5" dirty="0">
                <a:latin typeface="Arial"/>
                <a:cs typeface="Arial"/>
              </a:rPr>
              <a:t>h</a:t>
            </a:r>
            <a:r>
              <a:rPr sz="1200" b="1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ng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-80" dirty="0">
                <a:latin typeface="Arial"/>
                <a:cs typeface="Arial"/>
              </a:rPr>
              <a:t> </a:t>
            </a:r>
            <a:r>
              <a:rPr sz="1200" b="1" spc="-40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[</a:t>
            </a:r>
            <a:r>
              <a:rPr sz="1200" b="1" dirty="0">
                <a:latin typeface="Arial"/>
                <a:cs typeface="Arial"/>
              </a:rPr>
              <a:t>1]</a:t>
            </a:r>
            <a:r>
              <a:rPr sz="1200" b="1" spc="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↔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spc="-40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[</a:t>
            </a:r>
            <a:r>
              <a:rPr sz="1200" b="1" dirty="0">
                <a:latin typeface="Arial"/>
                <a:cs typeface="Arial"/>
              </a:rPr>
              <a:t>i]</a:t>
            </a:r>
            <a:endParaRPr sz="1200">
              <a:latin typeface="Arial"/>
              <a:cs typeface="Arial"/>
            </a:endParaRPr>
          </a:p>
          <a:p>
            <a:pPr marL="269875" marR="5080">
              <a:lnSpc>
                <a:spcPct val="100000"/>
              </a:lnSpc>
            </a:pPr>
            <a:r>
              <a:rPr sz="1200" b="1" spc="-5" dirty="0">
                <a:latin typeface="Arial"/>
                <a:cs typeface="Arial"/>
              </a:rPr>
              <a:t>heap-size[A]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← </a:t>
            </a:r>
            <a:r>
              <a:rPr sz="1200" b="1" spc="-10" dirty="0">
                <a:latin typeface="Arial"/>
                <a:cs typeface="Arial"/>
              </a:rPr>
              <a:t>heap-size[A]</a:t>
            </a:r>
            <a:r>
              <a:rPr sz="1200" b="1" spc="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–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 </a:t>
            </a:r>
            <a:r>
              <a:rPr sz="1200" b="1" spc="-32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MAX-HEAPIFY(A,</a:t>
            </a:r>
            <a:r>
              <a:rPr sz="1200" b="1" spc="5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1)</a:t>
            </a:r>
            <a:endParaRPr sz="1200">
              <a:latin typeface="Arial"/>
              <a:cs typeface="Arial"/>
            </a:endParaRPr>
          </a:p>
        </p:txBody>
      </p:sp>
      <p:sp>
        <p:nvSpPr>
          <p:cNvPr id="66" name="object 51"/>
          <p:cNvSpPr txBox="1"/>
          <p:nvPr/>
        </p:nvSpPr>
        <p:spPr>
          <a:xfrm>
            <a:off x="3441382" y="3742068"/>
            <a:ext cx="549402" cy="8284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00"/>
              </a:spcBef>
            </a:pPr>
            <a:r>
              <a:rPr sz="1800" spc="-5" dirty="0" smtClean="0">
                <a:latin typeface="Arial MT"/>
                <a:cs typeface="Arial MT"/>
              </a:rPr>
              <a:t>10</a:t>
            </a:r>
            <a:endParaRPr lang="en-US" sz="1800" spc="-5" dirty="0" smtClean="0">
              <a:latin typeface="Arial MT"/>
              <a:cs typeface="Arial MT"/>
            </a:endParaRPr>
          </a:p>
          <a:p>
            <a:pPr marL="28575">
              <a:lnSpc>
                <a:spcPts val="2100"/>
              </a:lnSpc>
            </a:pPr>
            <a:endParaRPr sz="1800" dirty="0">
              <a:latin typeface="Arial MT"/>
              <a:cs typeface="Arial MT"/>
            </a:endParaRPr>
          </a:p>
          <a:p>
            <a:pPr marL="12700">
              <a:lnSpc>
                <a:spcPts val="2100"/>
              </a:lnSpc>
            </a:pPr>
            <a:r>
              <a:rPr sz="1800" spc="-15" dirty="0">
                <a:latin typeface="Arial MT"/>
                <a:cs typeface="Arial MT"/>
              </a:rPr>
              <a:t>16</a:t>
            </a:r>
            <a:endParaRPr sz="18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794795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76940" y="10749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28934" y="48451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971545" y="1455166"/>
            <a:ext cx="1428750" cy="793115"/>
            <a:chOff x="2971545" y="1455166"/>
            <a:chExt cx="1428750" cy="793115"/>
          </a:xfrm>
        </p:grpSpPr>
        <p:sp>
          <p:nvSpPr>
            <p:cNvPr id="5" name="object 5"/>
            <p:cNvSpPr/>
            <p:nvPr/>
          </p:nvSpPr>
          <p:spPr>
            <a:xfrm>
              <a:off x="3512819" y="1461516"/>
              <a:ext cx="881380" cy="317500"/>
            </a:xfrm>
            <a:custGeom>
              <a:avLst/>
              <a:gdLst/>
              <a:ahLst/>
              <a:cxnLst/>
              <a:rect l="l" t="t" r="r" b="b"/>
              <a:pathLst>
                <a:path w="881379" h="317500">
                  <a:moveTo>
                    <a:pt x="880872" y="0"/>
                  </a:moveTo>
                  <a:lnTo>
                    <a:pt x="0" y="316992"/>
                  </a:lnTo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77895" y="1702308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977895" y="170230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200590" y="1856041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52584" y="1303515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369820" y="2299716"/>
            <a:ext cx="805180" cy="601980"/>
          </a:xfrm>
          <a:custGeom>
            <a:avLst/>
            <a:gdLst/>
            <a:ahLst/>
            <a:cxnLst/>
            <a:rect l="l" t="t" r="r" b="b"/>
            <a:pathLst>
              <a:path w="805180" h="601980">
                <a:moveTo>
                  <a:pt x="804671" y="0"/>
                </a:moveTo>
                <a:lnTo>
                  <a:pt x="0" y="60198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5524246" y="1734056"/>
            <a:ext cx="590550" cy="552450"/>
            <a:chOff x="5524246" y="1734056"/>
            <a:chExt cx="590550" cy="552450"/>
          </a:xfrm>
        </p:grpSpPr>
        <p:sp>
          <p:nvSpPr>
            <p:cNvPr id="12" name="object 12"/>
            <p:cNvSpPr/>
            <p:nvPr/>
          </p:nvSpPr>
          <p:spPr>
            <a:xfrm>
              <a:off x="5530596" y="1740408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530596" y="174040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753290" y="1894141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05284" y="130366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700015" y="1481327"/>
            <a:ext cx="889000" cy="335280"/>
          </a:xfrm>
          <a:custGeom>
            <a:avLst/>
            <a:gdLst/>
            <a:ahLst/>
            <a:cxnLst/>
            <a:rect l="l" t="t" r="r" b="b"/>
            <a:pathLst>
              <a:path w="889000" h="335280">
                <a:moveTo>
                  <a:pt x="0" y="0"/>
                </a:moveTo>
                <a:lnTo>
                  <a:pt x="888491" y="33528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1975104" y="2965704"/>
            <a:ext cx="589915" cy="551815"/>
            <a:chOff x="1975104" y="2965704"/>
            <a:chExt cx="589915" cy="551815"/>
          </a:xfrm>
        </p:grpSpPr>
        <p:sp>
          <p:nvSpPr>
            <p:cNvPr id="18" name="object 18"/>
            <p:cNvSpPr/>
            <p:nvPr/>
          </p:nvSpPr>
          <p:spPr>
            <a:xfrm>
              <a:off x="1981200" y="2971800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981200" y="2971800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190940" y="31133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123960" y="25418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810000" y="2971800"/>
            <a:ext cx="589915" cy="551815"/>
            <a:chOff x="3810000" y="2971800"/>
            <a:chExt cx="589915" cy="551815"/>
          </a:xfrm>
        </p:grpSpPr>
        <p:sp>
          <p:nvSpPr>
            <p:cNvPr id="23" name="object 23"/>
            <p:cNvSpPr/>
            <p:nvPr/>
          </p:nvSpPr>
          <p:spPr>
            <a:xfrm>
              <a:off x="38160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8160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038790" y="31323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990784" y="257986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647946" y="2971545"/>
            <a:ext cx="590550" cy="552450"/>
            <a:chOff x="4647946" y="2971545"/>
            <a:chExt cx="590550" cy="552450"/>
          </a:xfrm>
        </p:grpSpPr>
        <p:sp>
          <p:nvSpPr>
            <p:cNvPr id="28" name="object 28"/>
            <p:cNvSpPr/>
            <p:nvPr/>
          </p:nvSpPr>
          <p:spPr>
            <a:xfrm>
              <a:off x="4654296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654296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857940" y="31133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752784" y="256081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6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324600" y="2991611"/>
            <a:ext cx="589915" cy="551815"/>
            <a:chOff x="6324600" y="2991611"/>
            <a:chExt cx="589915" cy="551815"/>
          </a:xfrm>
        </p:grpSpPr>
        <p:sp>
          <p:nvSpPr>
            <p:cNvPr id="33" name="object 33"/>
            <p:cNvSpPr/>
            <p:nvPr/>
          </p:nvSpPr>
          <p:spPr>
            <a:xfrm>
              <a:off x="6330695" y="2997707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330695" y="2997707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515290" y="30942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657708" y="265606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353311" y="4152900"/>
            <a:ext cx="589915" cy="551815"/>
            <a:chOff x="1353311" y="4152900"/>
            <a:chExt cx="589915" cy="551815"/>
          </a:xfrm>
        </p:grpSpPr>
        <p:sp>
          <p:nvSpPr>
            <p:cNvPr id="38" name="object 38"/>
            <p:cNvSpPr/>
            <p:nvPr/>
          </p:nvSpPr>
          <p:spPr>
            <a:xfrm>
              <a:off x="1359407" y="41589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359407" y="41589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1517332" y="4313492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Arial MT"/>
                <a:cs typeface="Arial MT"/>
              </a:rPr>
              <a:t>10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457210" y="381811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2496311" y="4114800"/>
            <a:ext cx="589915" cy="551815"/>
            <a:chOff x="2496311" y="4114800"/>
            <a:chExt cx="589915" cy="551815"/>
          </a:xfrm>
        </p:grpSpPr>
        <p:sp>
          <p:nvSpPr>
            <p:cNvPr id="43" name="object 43"/>
            <p:cNvSpPr/>
            <p:nvPr/>
          </p:nvSpPr>
          <p:spPr>
            <a:xfrm>
              <a:off x="2502407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502407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2622232" y="4313492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Arial MT"/>
                <a:cs typeface="Arial MT"/>
              </a:rPr>
              <a:t>14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790710" y="37419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3314700" y="4114800"/>
            <a:ext cx="589915" cy="551815"/>
            <a:chOff x="3314700" y="4114800"/>
            <a:chExt cx="589915" cy="551815"/>
          </a:xfrm>
        </p:grpSpPr>
        <p:sp>
          <p:nvSpPr>
            <p:cNvPr id="48" name="object 48"/>
            <p:cNvSpPr/>
            <p:nvPr/>
          </p:nvSpPr>
          <p:spPr>
            <a:xfrm>
              <a:off x="3320795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320795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1" name="object 51"/>
          <p:cNvGrpSpPr/>
          <p:nvPr/>
        </p:nvGrpSpPr>
        <p:grpSpPr>
          <a:xfrm>
            <a:off x="3342132" y="2293620"/>
            <a:ext cx="2258695" cy="710565"/>
            <a:chOff x="3342132" y="2293620"/>
            <a:chExt cx="2258695" cy="710565"/>
          </a:xfrm>
        </p:grpSpPr>
        <p:sp>
          <p:nvSpPr>
            <p:cNvPr id="52" name="object 52"/>
            <p:cNvSpPr/>
            <p:nvPr/>
          </p:nvSpPr>
          <p:spPr>
            <a:xfrm>
              <a:off x="3348228" y="2299716"/>
              <a:ext cx="754380" cy="601980"/>
            </a:xfrm>
            <a:custGeom>
              <a:avLst/>
              <a:gdLst/>
              <a:ahLst/>
              <a:cxnLst/>
              <a:rect l="l" t="t" r="r" b="b"/>
              <a:pathLst>
                <a:path w="754379" h="601980">
                  <a:moveTo>
                    <a:pt x="0" y="0"/>
                  </a:moveTo>
                  <a:lnTo>
                    <a:pt x="754380" y="60198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980432" y="2299716"/>
              <a:ext cx="614680" cy="698500"/>
            </a:xfrm>
            <a:custGeom>
              <a:avLst/>
              <a:gdLst/>
              <a:ahLst/>
              <a:cxnLst/>
              <a:rect l="l" t="t" r="r" b="b"/>
              <a:pathLst>
                <a:path w="614679" h="698500">
                  <a:moveTo>
                    <a:pt x="614172" y="0"/>
                  </a:moveTo>
                  <a:lnTo>
                    <a:pt x="0" y="697992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4" name="object 54"/>
          <p:cNvGraphicFramePr>
            <a:graphicFrameLocks noGrp="1"/>
          </p:cNvGraphicFramePr>
          <p:nvPr/>
        </p:nvGraphicFramePr>
        <p:xfrm>
          <a:off x="1810511" y="5105400"/>
          <a:ext cx="4615813" cy="539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75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9495"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8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7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29845" algn="ctr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9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16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6" name="object 56"/>
          <p:cNvSpPr txBox="1"/>
          <p:nvPr/>
        </p:nvSpPr>
        <p:spPr>
          <a:xfrm>
            <a:off x="1870076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377499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82242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3329847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3774794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415573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6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600657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504407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553005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6060406" y="5820971"/>
            <a:ext cx="27876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5" dirty="0">
                <a:latin typeface="Arial MT"/>
                <a:cs typeface="Arial MT"/>
              </a:rPr>
              <a:t>10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022340" y="257047"/>
            <a:ext cx="258572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BUILD-MAX-HEAP(A)</a:t>
            </a:r>
            <a:endParaRPr sz="1200">
              <a:latin typeface="Arial"/>
              <a:cs typeface="Arial"/>
            </a:endParaRPr>
          </a:p>
          <a:p>
            <a:pPr marL="227329" marR="424815" indent="-215265">
              <a:lnSpc>
                <a:spcPct val="100000"/>
              </a:lnSpc>
            </a:pPr>
            <a:r>
              <a:rPr sz="1200" b="1" spc="-5" dirty="0">
                <a:latin typeface="Arial"/>
                <a:cs typeface="Arial"/>
              </a:rPr>
              <a:t>for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i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←</a:t>
            </a:r>
            <a:r>
              <a:rPr sz="1200" b="1" spc="-10" dirty="0">
                <a:latin typeface="Arial"/>
                <a:cs typeface="Arial"/>
              </a:rPr>
              <a:t> length[A]</a:t>
            </a:r>
            <a:r>
              <a:rPr sz="1200" b="1" spc="4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downto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2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do </a:t>
            </a:r>
            <a:r>
              <a:rPr sz="1200" b="1" spc="-3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exc</a:t>
            </a:r>
            <a:r>
              <a:rPr sz="1200" b="1" spc="-5" dirty="0">
                <a:latin typeface="Arial"/>
                <a:cs typeface="Arial"/>
              </a:rPr>
              <a:t>h</a:t>
            </a:r>
            <a:r>
              <a:rPr sz="1200" b="1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ng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-80" dirty="0">
                <a:latin typeface="Arial"/>
                <a:cs typeface="Arial"/>
              </a:rPr>
              <a:t> </a:t>
            </a:r>
            <a:r>
              <a:rPr sz="1200" b="1" spc="-40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[</a:t>
            </a:r>
            <a:r>
              <a:rPr sz="1200" b="1" dirty="0">
                <a:latin typeface="Arial"/>
                <a:cs typeface="Arial"/>
              </a:rPr>
              <a:t>1]</a:t>
            </a:r>
            <a:r>
              <a:rPr sz="1200" b="1" spc="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↔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spc="-40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[</a:t>
            </a:r>
            <a:r>
              <a:rPr sz="1200" b="1" dirty="0">
                <a:latin typeface="Arial"/>
                <a:cs typeface="Arial"/>
              </a:rPr>
              <a:t>i]</a:t>
            </a:r>
            <a:endParaRPr sz="1200">
              <a:latin typeface="Arial"/>
              <a:cs typeface="Arial"/>
            </a:endParaRPr>
          </a:p>
          <a:p>
            <a:pPr marL="269875" marR="5080">
              <a:lnSpc>
                <a:spcPct val="100000"/>
              </a:lnSpc>
            </a:pPr>
            <a:r>
              <a:rPr sz="1200" b="1" spc="-5" dirty="0">
                <a:latin typeface="Arial"/>
                <a:cs typeface="Arial"/>
              </a:rPr>
              <a:t>heap-size[A]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← </a:t>
            </a:r>
            <a:r>
              <a:rPr sz="1200" b="1" spc="-10" dirty="0">
                <a:latin typeface="Arial"/>
                <a:cs typeface="Arial"/>
              </a:rPr>
              <a:t>heap-size[A]</a:t>
            </a:r>
            <a:r>
              <a:rPr sz="1200" b="1" spc="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–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 </a:t>
            </a:r>
            <a:r>
              <a:rPr sz="1200" b="1" spc="-32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MAX-HEAPIFY(A,</a:t>
            </a:r>
            <a:r>
              <a:rPr sz="1200" b="1" spc="5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1)</a:t>
            </a:r>
            <a:endParaRPr sz="1200">
              <a:latin typeface="Arial"/>
              <a:cs typeface="Arial"/>
            </a:endParaRPr>
          </a:p>
        </p:txBody>
      </p:sp>
      <p:sp>
        <p:nvSpPr>
          <p:cNvPr id="66" name="object 51"/>
          <p:cNvSpPr txBox="1"/>
          <p:nvPr/>
        </p:nvSpPr>
        <p:spPr>
          <a:xfrm>
            <a:off x="3441382" y="3742068"/>
            <a:ext cx="549402" cy="8284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00"/>
              </a:spcBef>
            </a:pPr>
            <a:r>
              <a:rPr sz="1800" spc="-5" dirty="0" smtClean="0">
                <a:latin typeface="Arial MT"/>
                <a:cs typeface="Arial MT"/>
              </a:rPr>
              <a:t>10</a:t>
            </a:r>
            <a:endParaRPr lang="en-US" sz="1800" spc="-5" dirty="0" smtClean="0">
              <a:latin typeface="Arial MT"/>
              <a:cs typeface="Arial MT"/>
            </a:endParaRPr>
          </a:p>
          <a:p>
            <a:pPr marL="28575">
              <a:lnSpc>
                <a:spcPts val="2100"/>
              </a:lnSpc>
            </a:pPr>
            <a:endParaRPr sz="1800" dirty="0">
              <a:latin typeface="Arial MT"/>
              <a:cs typeface="Arial MT"/>
            </a:endParaRPr>
          </a:p>
          <a:p>
            <a:pPr marL="12700">
              <a:lnSpc>
                <a:spcPts val="2100"/>
              </a:lnSpc>
            </a:pPr>
            <a:r>
              <a:rPr sz="1800" spc="-15" dirty="0">
                <a:latin typeface="Arial MT"/>
                <a:cs typeface="Arial MT"/>
              </a:rPr>
              <a:t>16</a:t>
            </a:r>
            <a:endParaRPr sz="18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507081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8658" y="914146"/>
            <a:ext cx="590550" cy="552450"/>
            <a:chOff x="4248658" y="914146"/>
            <a:chExt cx="590550" cy="552450"/>
          </a:xfrm>
        </p:grpSpPr>
        <p:sp>
          <p:nvSpPr>
            <p:cNvPr id="3" name="object 3"/>
            <p:cNvSpPr/>
            <p:nvPr/>
          </p:nvSpPr>
          <p:spPr>
            <a:xfrm>
              <a:off x="4255008" y="92049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CF0E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255008" y="92049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476940" y="10749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28934" y="48451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971545" y="1455166"/>
            <a:ext cx="1428750" cy="793115"/>
            <a:chOff x="2971545" y="1455166"/>
            <a:chExt cx="1428750" cy="793115"/>
          </a:xfrm>
        </p:grpSpPr>
        <p:sp>
          <p:nvSpPr>
            <p:cNvPr id="8" name="object 8"/>
            <p:cNvSpPr/>
            <p:nvPr/>
          </p:nvSpPr>
          <p:spPr>
            <a:xfrm>
              <a:off x="3512819" y="1461516"/>
              <a:ext cx="881380" cy="317500"/>
            </a:xfrm>
            <a:custGeom>
              <a:avLst/>
              <a:gdLst/>
              <a:ahLst/>
              <a:cxnLst/>
              <a:rect l="l" t="t" r="r" b="b"/>
              <a:pathLst>
                <a:path w="881379" h="317500">
                  <a:moveTo>
                    <a:pt x="880872" y="0"/>
                  </a:moveTo>
                  <a:lnTo>
                    <a:pt x="0" y="316992"/>
                  </a:lnTo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77895" y="1702308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977895" y="170230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200590" y="1856041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52584" y="1303515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369820" y="2299716"/>
            <a:ext cx="805180" cy="601980"/>
          </a:xfrm>
          <a:custGeom>
            <a:avLst/>
            <a:gdLst/>
            <a:ahLst/>
            <a:cxnLst/>
            <a:rect l="l" t="t" r="r" b="b"/>
            <a:pathLst>
              <a:path w="805180" h="601980">
                <a:moveTo>
                  <a:pt x="804671" y="0"/>
                </a:moveTo>
                <a:lnTo>
                  <a:pt x="0" y="60198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5524246" y="1734056"/>
            <a:ext cx="590550" cy="552450"/>
            <a:chOff x="5524246" y="1734056"/>
            <a:chExt cx="590550" cy="552450"/>
          </a:xfrm>
        </p:grpSpPr>
        <p:sp>
          <p:nvSpPr>
            <p:cNvPr id="15" name="object 15"/>
            <p:cNvSpPr/>
            <p:nvPr/>
          </p:nvSpPr>
          <p:spPr>
            <a:xfrm>
              <a:off x="5530596" y="1740408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530596" y="174040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753290" y="1894141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705284" y="130366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700015" y="1481327"/>
            <a:ext cx="889000" cy="335280"/>
          </a:xfrm>
          <a:custGeom>
            <a:avLst/>
            <a:gdLst/>
            <a:ahLst/>
            <a:cxnLst/>
            <a:rect l="l" t="t" r="r" b="b"/>
            <a:pathLst>
              <a:path w="889000" h="335280">
                <a:moveTo>
                  <a:pt x="0" y="0"/>
                </a:moveTo>
                <a:lnTo>
                  <a:pt x="888491" y="33528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1975104" y="2965704"/>
            <a:ext cx="589915" cy="551815"/>
            <a:chOff x="1975104" y="2965704"/>
            <a:chExt cx="589915" cy="551815"/>
          </a:xfrm>
        </p:grpSpPr>
        <p:sp>
          <p:nvSpPr>
            <p:cNvPr id="21" name="object 21"/>
            <p:cNvSpPr/>
            <p:nvPr/>
          </p:nvSpPr>
          <p:spPr>
            <a:xfrm>
              <a:off x="1981200" y="2971800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981200" y="2971800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190940" y="31133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123960" y="25418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810000" y="2971800"/>
            <a:ext cx="589915" cy="551815"/>
            <a:chOff x="3810000" y="2971800"/>
            <a:chExt cx="589915" cy="551815"/>
          </a:xfrm>
        </p:grpSpPr>
        <p:sp>
          <p:nvSpPr>
            <p:cNvPr id="26" name="object 26"/>
            <p:cNvSpPr/>
            <p:nvPr/>
          </p:nvSpPr>
          <p:spPr>
            <a:xfrm>
              <a:off x="38160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8160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038790" y="31323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990784" y="257986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647946" y="2971545"/>
            <a:ext cx="590550" cy="552450"/>
            <a:chOff x="4647946" y="2971545"/>
            <a:chExt cx="590550" cy="552450"/>
          </a:xfrm>
        </p:grpSpPr>
        <p:sp>
          <p:nvSpPr>
            <p:cNvPr id="31" name="object 31"/>
            <p:cNvSpPr/>
            <p:nvPr/>
          </p:nvSpPr>
          <p:spPr>
            <a:xfrm>
              <a:off x="4654296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CF0E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654296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4857940" y="31133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752784" y="256081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6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324600" y="2991611"/>
            <a:ext cx="589915" cy="551815"/>
            <a:chOff x="6324600" y="2991611"/>
            <a:chExt cx="589915" cy="551815"/>
          </a:xfrm>
        </p:grpSpPr>
        <p:sp>
          <p:nvSpPr>
            <p:cNvPr id="36" name="object 36"/>
            <p:cNvSpPr/>
            <p:nvPr/>
          </p:nvSpPr>
          <p:spPr>
            <a:xfrm>
              <a:off x="6330695" y="2997707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330695" y="2997707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6515290" y="30942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657708" y="265606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1353311" y="4152900"/>
            <a:ext cx="589915" cy="551815"/>
            <a:chOff x="1353311" y="4152900"/>
            <a:chExt cx="589915" cy="551815"/>
          </a:xfrm>
        </p:grpSpPr>
        <p:sp>
          <p:nvSpPr>
            <p:cNvPr id="41" name="object 41"/>
            <p:cNvSpPr/>
            <p:nvPr/>
          </p:nvSpPr>
          <p:spPr>
            <a:xfrm>
              <a:off x="1359407" y="41589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359407" y="41589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1517332" y="4313492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Arial MT"/>
                <a:cs typeface="Arial MT"/>
              </a:rPr>
              <a:t>10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457210" y="381811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2496311" y="4114800"/>
            <a:ext cx="589915" cy="551815"/>
            <a:chOff x="2496311" y="4114800"/>
            <a:chExt cx="589915" cy="551815"/>
          </a:xfrm>
        </p:grpSpPr>
        <p:sp>
          <p:nvSpPr>
            <p:cNvPr id="46" name="object 46"/>
            <p:cNvSpPr/>
            <p:nvPr/>
          </p:nvSpPr>
          <p:spPr>
            <a:xfrm>
              <a:off x="2502407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502407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2622232" y="4313492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Arial MT"/>
                <a:cs typeface="Arial MT"/>
              </a:rPr>
              <a:t>14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790710" y="37419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3314700" y="4114800"/>
            <a:ext cx="589915" cy="551815"/>
            <a:chOff x="3314700" y="4114800"/>
            <a:chExt cx="589915" cy="551815"/>
          </a:xfrm>
        </p:grpSpPr>
        <p:sp>
          <p:nvSpPr>
            <p:cNvPr id="51" name="object 51"/>
            <p:cNvSpPr/>
            <p:nvPr/>
          </p:nvSpPr>
          <p:spPr>
            <a:xfrm>
              <a:off x="3320795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320795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4" name="object 54"/>
          <p:cNvGrpSpPr/>
          <p:nvPr/>
        </p:nvGrpSpPr>
        <p:grpSpPr>
          <a:xfrm>
            <a:off x="3342132" y="2293620"/>
            <a:ext cx="2258695" cy="710565"/>
            <a:chOff x="3342132" y="2293620"/>
            <a:chExt cx="2258695" cy="710565"/>
          </a:xfrm>
        </p:grpSpPr>
        <p:sp>
          <p:nvSpPr>
            <p:cNvPr id="55" name="object 55"/>
            <p:cNvSpPr/>
            <p:nvPr/>
          </p:nvSpPr>
          <p:spPr>
            <a:xfrm>
              <a:off x="3348228" y="2299716"/>
              <a:ext cx="754380" cy="601980"/>
            </a:xfrm>
            <a:custGeom>
              <a:avLst/>
              <a:gdLst/>
              <a:ahLst/>
              <a:cxnLst/>
              <a:rect l="l" t="t" r="r" b="b"/>
              <a:pathLst>
                <a:path w="754379" h="601980">
                  <a:moveTo>
                    <a:pt x="0" y="0"/>
                  </a:moveTo>
                  <a:lnTo>
                    <a:pt x="754380" y="60198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980432" y="2299716"/>
              <a:ext cx="614680" cy="698500"/>
            </a:xfrm>
            <a:custGeom>
              <a:avLst/>
              <a:gdLst/>
              <a:ahLst/>
              <a:cxnLst/>
              <a:rect l="l" t="t" r="r" b="b"/>
              <a:pathLst>
                <a:path w="614679" h="698500">
                  <a:moveTo>
                    <a:pt x="614172" y="0"/>
                  </a:moveTo>
                  <a:lnTo>
                    <a:pt x="0" y="697992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7" name="object 57"/>
          <p:cNvGraphicFramePr>
            <a:graphicFrameLocks noGrp="1"/>
          </p:cNvGraphicFramePr>
          <p:nvPr/>
        </p:nvGraphicFramePr>
        <p:xfrm>
          <a:off x="1810511" y="5105400"/>
          <a:ext cx="4615813" cy="539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75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9495"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8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7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29845" algn="ctr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9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16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9" name="object 59"/>
          <p:cNvSpPr txBox="1"/>
          <p:nvPr/>
        </p:nvSpPr>
        <p:spPr>
          <a:xfrm>
            <a:off x="1870076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377499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82242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3329847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774794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415573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6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4600657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504407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553005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6060406" y="5820971"/>
            <a:ext cx="27876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5" dirty="0">
                <a:latin typeface="Arial MT"/>
                <a:cs typeface="Arial MT"/>
              </a:rPr>
              <a:t>10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022340" y="257047"/>
            <a:ext cx="258572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BUILD-MAX-HEAP(A)</a:t>
            </a:r>
            <a:endParaRPr sz="1200">
              <a:latin typeface="Arial"/>
              <a:cs typeface="Arial"/>
            </a:endParaRPr>
          </a:p>
          <a:p>
            <a:pPr marL="227329" marR="424815" indent="-215265">
              <a:lnSpc>
                <a:spcPct val="100000"/>
              </a:lnSpc>
            </a:pPr>
            <a:r>
              <a:rPr sz="1200" b="1" spc="-5" dirty="0">
                <a:latin typeface="Arial"/>
                <a:cs typeface="Arial"/>
              </a:rPr>
              <a:t>for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i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←</a:t>
            </a:r>
            <a:r>
              <a:rPr sz="1200" b="1" spc="-10" dirty="0">
                <a:latin typeface="Arial"/>
                <a:cs typeface="Arial"/>
              </a:rPr>
              <a:t> length[A]</a:t>
            </a:r>
            <a:r>
              <a:rPr sz="1200" b="1" spc="4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downto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2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do </a:t>
            </a:r>
            <a:r>
              <a:rPr sz="1200" b="1" spc="-3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exc</a:t>
            </a:r>
            <a:r>
              <a:rPr sz="1200" b="1" spc="-5" dirty="0">
                <a:latin typeface="Arial"/>
                <a:cs typeface="Arial"/>
              </a:rPr>
              <a:t>h</a:t>
            </a:r>
            <a:r>
              <a:rPr sz="1200" b="1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ng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-80" dirty="0">
                <a:latin typeface="Arial"/>
                <a:cs typeface="Arial"/>
              </a:rPr>
              <a:t> </a:t>
            </a:r>
            <a:r>
              <a:rPr sz="1200" b="1" spc="-40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[</a:t>
            </a:r>
            <a:r>
              <a:rPr sz="1200" b="1" dirty="0">
                <a:latin typeface="Arial"/>
                <a:cs typeface="Arial"/>
              </a:rPr>
              <a:t>1]</a:t>
            </a:r>
            <a:r>
              <a:rPr sz="1200" b="1" spc="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↔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spc="-40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[</a:t>
            </a:r>
            <a:r>
              <a:rPr sz="1200" b="1" dirty="0">
                <a:latin typeface="Arial"/>
                <a:cs typeface="Arial"/>
              </a:rPr>
              <a:t>i]</a:t>
            </a:r>
            <a:endParaRPr sz="1200">
              <a:latin typeface="Arial"/>
              <a:cs typeface="Arial"/>
            </a:endParaRPr>
          </a:p>
          <a:p>
            <a:pPr marL="269875" marR="5080">
              <a:lnSpc>
                <a:spcPct val="100000"/>
              </a:lnSpc>
            </a:pPr>
            <a:r>
              <a:rPr sz="1200" b="1" spc="-5" dirty="0">
                <a:latin typeface="Arial"/>
                <a:cs typeface="Arial"/>
              </a:rPr>
              <a:t>heap-size[A]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← </a:t>
            </a:r>
            <a:r>
              <a:rPr sz="1200" b="1" spc="-10" dirty="0">
                <a:latin typeface="Arial"/>
                <a:cs typeface="Arial"/>
              </a:rPr>
              <a:t>heap-size[A]</a:t>
            </a:r>
            <a:r>
              <a:rPr sz="1200" b="1" spc="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–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 </a:t>
            </a:r>
            <a:r>
              <a:rPr sz="1200" b="1" spc="-32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MAX-HEAPIFY(A,</a:t>
            </a:r>
            <a:r>
              <a:rPr sz="1200" b="1" spc="5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1)</a:t>
            </a:r>
            <a:endParaRPr sz="1200">
              <a:latin typeface="Arial"/>
              <a:cs typeface="Arial"/>
            </a:endParaRPr>
          </a:p>
        </p:txBody>
      </p:sp>
      <p:sp>
        <p:nvSpPr>
          <p:cNvPr id="69" name="object 51"/>
          <p:cNvSpPr txBox="1"/>
          <p:nvPr/>
        </p:nvSpPr>
        <p:spPr>
          <a:xfrm>
            <a:off x="3441382" y="3742068"/>
            <a:ext cx="549402" cy="8284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00"/>
              </a:spcBef>
            </a:pPr>
            <a:r>
              <a:rPr sz="1800" spc="-5" dirty="0" smtClean="0">
                <a:latin typeface="Arial MT"/>
                <a:cs typeface="Arial MT"/>
              </a:rPr>
              <a:t>10</a:t>
            </a:r>
            <a:endParaRPr lang="en-US" sz="1800" spc="-5" dirty="0" smtClean="0">
              <a:latin typeface="Arial MT"/>
              <a:cs typeface="Arial MT"/>
            </a:endParaRPr>
          </a:p>
          <a:p>
            <a:pPr marL="28575">
              <a:lnSpc>
                <a:spcPts val="2100"/>
              </a:lnSpc>
            </a:pPr>
            <a:endParaRPr sz="1800" dirty="0">
              <a:latin typeface="Arial MT"/>
              <a:cs typeface="Arial MT"/>
            </a:endParaRPr>
          </a:p>
          <a:p>
            <a:pPr marL="12700">
              <a:lnSpc>
                <a:spcPts val="2100"/>
              </a:lnSpc>
            </a:pPr>
            <a:r>
              <a:rPr sz="1800" spc="-15" dirty="0">
                <a:latin typeface="Arial MT"/>
                <a:cs typeface="Arial MT"/>
              </a:rPr>
              <a:t>16</a:t>
            </a:r>
            <a:endParaRPr sz="18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780848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76940" y="10749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28934" y="48451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971545" y="1455166"/>
            <a:ext cx="1428750" cy="793115"/>
            <a:chOff x="2971545" y="1455166"/>
            <a:chExt cx="1428750" cy="793115"/>
          </a:xfrm>
        </p:grpSpPr>
        <p:sp>
          <p:nvSpPr>
            <p:cNvPr id="5" name="object 5"/>
            <p:cNvSpPr/>
            <p:nvPr/>
          </p:nvSpPr>
          <p:spPr>
            <a:xfrm>
              <a:off x="3512819" y="1461516"/>
              <a:ext cx="881380" cy="317500"/>
            </a:xfrm>
            <a:custGeom>
              <a:avLst/>
              <a:gdLst/>
              <a:ahLst/>
              <a:cxnLst/>
              <a:rect l="l" t="t" r="r" b="b"/>
              <a:pathLst>
                <a:path w="881379" h="317500">
                  <a:moveTo>
                    <a:pt x="880872" y="0"/>
                  </a:moveTo>
                  <a:lnTo>
                    <a:pt x="0" y="316992"/>
                  </a:lnTo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77895" y="1702308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977895" y="170230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200590" y="1856041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52584" y="1303515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369820" y="2299716"/>
            <a:ext cx="805180" cy="601980"/>
          </a:xfrm>
          <a:custGeom>
            <a:avLst/>
            <a:gdLst/>
            <a:ahLst/>
            <a:cxnLst/>
            <a:rect l="l" t="t" r="r" b="b"/>
            <a:pathLst>
              <a:path w="805180" h="601980">
                <a:moveTo>
                  <a:pt x="804671" y="0"/>
                </a:moveTo>
                <a:lnTo>
                  <a:pt x="0" y="60198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5524246" y="1734056"/>
            <a:ext cx="590550" cy="552450"/>
            <a:chOff x="5524246" y="1734056"/>
            <a:chExt cx="590550" cy="552450"/>
          </a:xfrm>
        </p:grpSpPr>
        <p:sp>
          <p:nvSpPr>
            <p:cNvPr id="12" name="object 12"/>
            <p:cNvSpPr/>
            <p:nvPr/>
          </p:nvSpPr>
          <p:spPr>
            <a:xfrm>
              <a:off x="5530596" y="1740408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530596" y="174040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753290" y="1894141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05284" y="130366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700015" y="1481327"/>
            <a:ext cx="889000" cy="335280"/>
          </a:xfrm>
          <a:custGeom>
            <a:avLst/>
            <a:gdLst/>
            <a:ahLst/>
            <a:cxnLst/>
            <a:rect l="l" t="t" r="r" b="b"/>
            <a:pathLst>
              <a:path w="889000" h="335280">
                <a:moveTo>
                  <a:pt x="0" y="0"/>
                </a:moveTo>
                <a:lnTo>
                  <a:pt x="888491" y="33528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1975104" y="2965704"/>
            <a:ext cx="589915" cy="551815"/>
            <a:chOff x="1975104" y="2965704"/>
            <a:chExt cx="589915" cy="551815"/>
          </a:xfrm>
        </p:grpSpPr>
        <p:sp>
          <p:nvSpPr>
            <p:cNvPr id="18" name="object 18"/>
            <p:cNvSpPr/>
            <p:nvPr/>
          </p:nvSpPr>
          <p:spPr>
            <a:xfrm>
              <a:off x="1981200" y="2971800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981200" y="2971800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190940" y="31133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123960" y="25418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810000" y="2971800"/>
            <a:ext cx="589915" cy="551815"/>
            <a:chOff x="3810000" y="2971800"/>
            <a:chExt cx="589915" cy="551815"/>
          </a:xfrm>
        </p:grpSpPr>
        <p:sp>
          <p:nvSpPr>
            <p:cNvPr id="23" name="object 23"/>
            <p:cNvSpPr/>
            <p:nvPr/>
          </p:nvSpPr>
          <p:spPr>
            <a:xfrm>
              <a:off x="38160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8160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038790" y="31323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990784" y="257986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648200" y="2971800"/>
            <a:ext cx="589915" cy="551815"/>
            <a:chOff x="4648200" y="2971800"/>
            <a:chExt cx="589915" cy="551815"/>
          </a:xfrm>
        </p:grpSpPr>
        <p:sp>
          <p:nvSpPr>
            <p:cNvPr id="28" name="object 28"/>
            <p:cNvSpPr/>
            <p:nvPr/>
          </p:nvSpPr>
          <p:spPr>
            <a:xfrm>
              <a:off x="46542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6542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857940" y="31133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752784" y="256081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6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324600" y="2991611"/>
            <a:ext cx="589915" cy="551815"/>
            <a:chOff x="6324600" y="2991611"/>
            <a:chExt cx="589915" cy="551815"/>
          </a:xfrm>
        </p:grpSpPr>
        <p:sp>
          <p:nvSpPr>
            <p:cNvPr id="33" name="object 33"/>
            <p:cNvSpPr/>
            <p:nvPr/>
          </p:nvSpPr>
          <p:spPr>
            <a:xfrm>
              <a:off x="6330695" y="2997707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330695" y="2997707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515290" y="30942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657708" y="265606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353311" y="4152900"/>
            <a:ext cx="589915" cy="551815"/>
            <a:chOff x="1353311" y="4152900"/>
            <a:chExt cx="589915" cy="551815"/>
          </a:xfrm>
        </p:grpSpPr>
        <p:sp>
          <p:nvSpPr>
            <p:cNvPr id="38" name="object 38"/>
            <p:cNvSpPr/>
            <p:nvPr/>
          </p:nvSpPr>
          <p:spPr>
            <a:xfrm>
              <a:off x="1359407" y="41589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359407" y="41589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1517332" y="4313492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Arial MT"/>
                <a:cs typeface="Arial MT"/>
              </a:rPr>
              <a:t>10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457210" y="381811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2496311" y="4114800"/>
            <a:ext cx="589915" cy="551815"/>
            <a:chOff x="2496311" y="4114800"/>
            <a:chExt cx="589915" cy="551815"/>
          </a:xfrm>
        </p:grpSpPr>
        <p:sp>
          <p:nvSpPr>
            <p:cNvPr id="43" name="object 43"/>
            <p:cNvSpPr/>
            <p:nvPr/>
          </p:nvSpPr>
          <p:spPr>
            <a:xfrm>
              <a:off x="2502407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502407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2622232" y="4313492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Arial MT"/>
                <a:cs typeface="Arial MT"/>
              </a:rPr>
              <a:t>14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790710" y="37419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3314700" y="4114800"/>
            <a:ext cx="589915" cy="551815"/>
            <a:chOff x="3314700" y="4114800"/>
            <a:chExt cx="589915" cy="551815"/>
          </a:xfrm>
        </p:grpSpPr>
        <p:sp>
          <p:nvSpPr>
            <p:cNvPr id="48" name="object 48"/>
            <p:cNvSpPr/>
            <p:nvPr/>
          </p:nvSpPr>
          <p:spPr>
            <a:xfrm>
              <a:off x="3320795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320795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/>
          <p:nvPr/>
        </p:nvSpPr>
        <p:spPr>
          <a:xfrm>
            <a:off x="3348228" y="2299716"/>
            <a:ext cx="754380" cy="601980"/>
          </a:xfrm>
          <a:custGeom>
            <a:avLst/>
            <a:gdLst/>
            <a:ahLst/>
            <a:cxnLst/>
            <a:rect l="l" t="t" r="r" b="b"/>
            <a:pathLst>
              <a:path w="754379" h="601980">
                <a:moveTo>
                  <a:pt x="0" y="0"/>
                </a:moveTo>
                <a:lnTo>
                  <a:pt x="754380" y="60198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2" name="object 52"/>
          <p:cNvGraphicFramePr>
            <a:graphicFrameLocks noGrp="1"/>
          </p:cNvGraphicFramePr>
          <p:nvPr/>
        </p:nvGraphicFramePr>
        <p:xfrm>
          <a:off x="1810511" y="5105400"/>
          <a:ext cx="4615813" cy="539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75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9495"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7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8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9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16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4" name="object 54"/>
          <p:cNvSpPr txBox="1"/>
          <p:nvPr/>
        </p:nvSpPr>
        <p:spPr>
          <a:xfrm>
            <a:off x="1870076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377499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282242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329847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774794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15573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6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4600657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04407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5553005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060406" y="5820971"/>
            <a:ext cx="27876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5" dirty="0">
                <a:latin typeface="Arial MT"/>
                <a:cs typeface="Arial MT"/>
              </a:rPr>
              <a:t>10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022340" y="257047"/>
            <a:ext cx="258572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BUILD-MAX-HEAP(A)</a:t>
            </a:r>
            <a:endParaRPr sz="1200">
              <a:latin typeface="Arial"/>
              <a:cs typeface="Arial"/>
            </a:endParaRPr>
          </a:p>
          <a:p>
            <a:pPr marL="227329" marR="424815" indent="-215265">
              <a:lnSpc>
                <a:spcPct val="100000"/>
              </a:lnSpc>
            </a:pPr>
            <a:r>
              <a:rPr sz="1200" b="1" spc="-5" dirty="0">
                <a:latin typeface="Arial"/>
                <a:cs typeface="Arial"/>
              </a:rPr>
              <a:t>for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i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←</a:t>
            </a:r>
            <a:r>
              <a:rPr sz="1200" b="1" spc="-10" dirty="0">
                <a:latin typeface="Arial"/>
                <a:cs typeface="Arial"/>
              </a:rPr>
              <a:t> length[A]</a:t>
            </a:r>
            <a:r>
              <a:rPr sz="1200" b="1" spc="4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downto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2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do </a:t>
            </a:r>
            <a:r>
              <a:rPr sz="1200" b="1" spc="-3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exc</a:t>
            </a:r>
            <a:r>
              <a:rPr sz="1200" b="1" spc="-5" dirty="0">
                <a:latin typeface="Arial"/>
                <a:cs typeface="Arial"/>
              </a:rPr>
              <a:t>h</a:t>
            </a:r>
            <a:r>
              <a:rPr sz="1200" b="1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ng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-80" dirty="0">
                <a:latin typeface="Arial"/>
                <a:cs typeface="Arial"/>
              </a:rPr>
              <a:t> </a:t>
            </a:r>
            <a:r>
              <a:rPr sz="1200" b="1" spc="-40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[</a:t>
            </a:r>
            <a:r>
              <a:rPr sz="1200" b="1" dirty="0">
                <a:latin typeface="Arial"/>
                <a:cs typeface="Arial"/>
              </a:rPr>
              <a:t>1]</a:t>
            </a:r>
            <a:r>
              <a:rPr sz="1200" b="1" spc="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↔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spc="-40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[</a:t>
            </a:r>
            <a:r>
              <a:rPr sz="1200" b="1" dirty="0">
                <a:latin typeface="Arial"/>
                <a:cs typeface="Arial"/>
              </a:rPr>
              <a:t>i]</a:t>
            </a:r>
            <a:endParaRPr sz="1200">
              <a:latin typeface="Arial"/>
              <a:cs typeface="Arial"/>
            </a:endParaRPr>
          </a:p>
          <a:p>
            <a:pPr marL="269875" marR="5080">
              <a:lnSpc>
                <a:spcPct val="100000"/>
              </a:lnSpc>
            </a:pPr>
            <a:r>
              <a:rPr sz="1200" b="1" spc="-5" dirty="0">
                <a:latin typeface="Arial"/>
                <a:cs typeface="Arial"/>
              </a:rPr>
              <a:t>heap-size[A]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← </a:t>
            </a:r>
            <a:r>
              <a:rPr sz="1200" b="1" spc="-10" dirty="0">
                <a:latin typeface="Arial"/>
                <a:cs typeface="Arial"/>
              </a:rPr>
              <a:t>heap-size[A]</a:t>
            </a:r>
            <a:r>
              <a:rPr sz="1200" b="1" spc="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–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 </a:t>
            </a:r>
            <a:r>
              <a:rPr sz="1200" b="1" spc="-32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MAX-HEAPIFY(A,</a:t>
            </a:r>
            <a:r>
              <a:rPr sz="1200" b="1" spc="5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1)</a:t>
            </a:r>
            <a:endParaRPr sz="1200">
              <a:latin typeface="Arial"/>
              <a:cs typeface="Arial"/>
            </a:endParaRPr>
          </a:p>
        </p:txBody>
      </p:sp>
      <p:sp>
        <p:nvSpPr>
          <p:cNvPr id="64" name="object 51"/>
          <p:cNvSpPr txBox="1"/>
          <p:nvPr/>
        </p:nvSpPr>
        <p:spPr>
          <a:xfrm>
            <a:off x="3441382" y="3742068"/>
            <a:ext cx="549402" cy="8284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00"/>
              </a:spcBef>
            </a:pPr>
            <a:r>
              <a:rPr sz="1800" spc="-5" dirty="0" smtClean="0">
                <a:latin typeface="Arial MT"/>
                <a:cs typeface="Arial MT"/>
              </a:rPr>
              <a:t>10</a:t>
            </a:r>
            <a:endParaRPr lang="en-US" sz="1800" spc="-5" dirty="0" smtClean="0">
              <a:latin typeface="Arial MT"/>
              <a:cs typeface="Arial MT"/>
            </a:endParaRPr>
          </a:p>
          <a:p>
            <a:pPr marL="28575">
              <a:lnSpc>
                <a:spcPts val="2100"/>
              </a:lnSpc>
            </a:pPr>
            <a:endParaRPr sz="1800" dirty="0">
              <a:latin typeface="Arial MT"/>
              <a:cs typeface="Arial MT"/>
            </a:endParaRPr>
          </a:p>
          <a:p>
            <a:pPr marL="12700">
              <a:lnSpc>
                <a:spcPts val="2100"/>
              </a:lnSpc>
            </a:pPr>
            <a:r>
              <a:rPr sz="1800" spc="-15" dirty="0">
                <a:latin typeface="Arial MT"/>
                <a:cs typeface="Arial MT"/>
              </a:rPr>
              <a:t>16</a:t>
            </a:r>
            <a:endParaRPr sz="18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418917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76940" y="10749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28934" y="48451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971545" y="1455166"/>
            <a:ext cx="1428750" cy="793115"/>
            <a:chOff x="2971545" y="1455166"/>
            <a:chExt cx="1428750" cy="793115"/>
          </a:xfrm>
        </p:grpSpPr>
        <p:sp>
          <p:nvSpPr>
            <p:cNvPr id="5" name="object 5"/>
            <p:cNvSpPr/>
            <p:nvPr/>
          </p:nvSpPr>
          <p:spPr>
            <a:xfrm>
              <a:off x="3512819" y="1461516"/>
              <a:ext cx="881380" cy="317500"/>
            </a:xfrm>
            <a:custGeom>
              <a:avLst/>
              <a:gdLst/>
              <a:ahLst/>
              <a:cxnLst/>
              <a:rect l="l" t="t" r="r" b="b"/>
              <a:pathLst>
                <a:path w="881379" h="317500">
                  <a:moveTo>
                    <a:pt x="880872" y="0"/>
                  </a:moveTo>
                  <a:lnTo>
                    <a:pt x="0" y="316992"/>
                  </a:lnTo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77895" y="1702308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977895" y="170230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200590" y="1856041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52584" y="1303515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369820" y="2299716"/>
            <a:ext cx="805180" cy="601980"/>
          </a:xfrm>
          <a:custGeom>
            <a:avLst/>
            <a:gdLst/>
            <a:ahLst/>
            <a:cxnLst/>
            <a:rect l="l" t="t" r="r" b="b"/>
            <a:pathLst>
              <a:path w="805180" h="601980">
                <a:moveTo>
                  <a:pt x="804671" y="0"/>
                </a:moveTo>
                <a:lnTo>
                  <a:pt x="0" y="60198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5524246" y="1734056"/>
            <a:ext cx="590550" cy="552450"/>
            <a:chOff x="5524246" y="1734056"/>
            <a:chExt cx="590550" cy="552450"/>
          </a:xfrm>
        </p:grpSpPr>
        <p:sp>
          <p:nvSpPr>
            <p:cNvPr id="12" name="object 12"/>
            <p:cNvSpPr/>
            <p:nvPr/>
          </p:nvSpPr>
          <p:spPr>
            <a:xfrm>
              <a:off x="5530596" y="1740408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530596" y="174040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753290" y="1894141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05284" y="130366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700015" y="1481327"/>
            <a:ext cx="889000" cy="335280"/>
          </a:xfrm>
          <a:custGeom>
            <a:avLst/>
            <a:gdLst/>
            <a:ahLst/>
            <a:cxnLst/>
            <a:rect l="l" t="t" r="r" b="b"/>
            <a:pathLst>
              <a:path w="889000" h="335280">
                <a:moveTo>
                  <a:pt x="0" y="0"/>
                </a:moveTo>
                <a:lnTo>
                  <a:pt x="888491" y="33528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1975104" y="2965704"/>
            <a:ext cx="589915" cy="551815"/>
            <a:chOff x="1975104" y="2965704"/>
            <a:chExt cx="589915" cy="551815"/>
          </a:xfrm>
        </p:grpSpPr>
        <p:sp>
          <p:nvSpPr>
            <p:cNvPr id="18" name="object 18"/>
            <p:cNvSpPr/>
            <p:nvPr/>
          </p:nvSpPr>
          <p:spPr>
            <a:xfrm>
              <a:off x="1981200" y="2971800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981200" y="2971800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190940" y="31133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123960" y="25418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810000" y="2971800"/>
            <a:ext cx="589915" cy="551815"/>
            <a:chOff x="3810000" y="2971800"/>
            <a:chExt cx="589915" cy="551815"/>
          </a:xfrm>
        </p:grpSpPr>
        <p:sp>
          <p:nvSpPr>
            <p:cNvPr id="23" name="object 23"/>
            <p:cNvSpPr/>
            <p:nvPr/>
          </p:nvSpPr>
          <p:spPr>
            <a:xfrm>
              <a:off x="38160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8160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038790" y="31323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990784" y="257986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648200" y="2971800"/>
            <a:ext cx="589915" cy="551815"/>
            <a:chOff x="4648200" y="2971800"/>
            <a:chExt cx="589915" cy="551815"/>
          </a:xfrm>
        </p:grpSpPr>
        <p:sp>
          <p:nvSpPr>
            <p:cNvPr id="28" name="object 28"/>
            <p:cNvSpPr/>
            <p:nvPr/>
          </p:nvSpPr>
          <p:spPr>
            <a:xfrm>
              <a:off x="46542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6542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857940" y="31133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752784" y="256081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6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324600" y="2991611"/>
            <a:ext cx="589915" cy="551815"/>
            <a:chOff x="6324600" y="2991611"/>
            <a:chExt cx="589915" cy="551815"/>
          </a:xfrm>
        </p:grpSpPr>
        <p:sp>
          <p:nvSpPr>
            <p:cNvPr id="33" name="object 33"/>
            <p:cNvSpPr/>
            <p:nvPr/>
          </p:nvSpPr>
          <p:spPr>
            <a:xfrm>
              <a:off x="6330695" y="2997707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330695" y="2997707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515290" y="30942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657708" y="265606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353311" y="4152900"/>
            <a:ext cx="589915" cy="551815"/>
            <a:chOff x="1353311" y="4152900"/>
            <a:chExt cx="589915" cy="551815"/>
          </a:xfrm>
        </p:grpSpPr>
        <p:sp>
          <p:nvSpPr>
            <p:cNvPr id="38" name="object 38"/>
            <p:cNvSpPr/>
            <p:nvPr/>
          </p:nvSpPr>
          <p:spPr>
            <a:xfrm>
              <a:off x="1359407" y="41589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359407" y="41589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1517332" y="4313492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Arial MT"/>
                <a:cs typeface="Arial MT"/>
              </a:rPr>
              <a:t>10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457210" y="381811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2496311" y="4114800"/>
            <a:ext cx="589915" cy="551815"/>
            <a:chOff x="2496311" y="4114800"/>
            <a:chExt cx="589915" cy="551815"/>
          </a:xfrm>
        </p:grpSpPr>
        <p:sp>
          <p:nvSpPr>
            <p:cNvPr id="43" name="object 43"/>
            <p:cNvSpPr/>
            <p:nvPr/>
          </p:nvSpPr>
          <p:spPr>
            <a:xfrm>
              <a:off x="2502407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502407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2622232" y="4313492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Arial MT"/>
                <a:cs typeface="Arial MT"/>
              </a:rPr>
              <a:t>14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790710" y="37419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3314700" y="4114800"/>
            <a:ext cx="589915" cy="551815"/>
            <a:chOff x="3314700" y="4114800"/>
            <a:chExt cx="589915" cy="551815"/>
          </a:xfrm>
        </p:grpSpPr>
        <p:sp>
          <p:nvSpPr>
            <p:cNvPr id="48" name="object 48"/>
            <p:cNvSpPr/>
            <p:nvPr/>
          </p:nvSpPr>
          <p:spPr>
            <a:xfrm>
              <a:off x="3320795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320795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/>
          <p:nvPr/>
        </p:nvSpPr>
        <p:spPr>
          <a:xfrm>
            <a:off x="3348228" y="2299716"/>
            <a:ext cx="754380" cy="601980"/>
          </a:xfrm>
          <a:custGeom>
            <a:avLst/>
            <a:gdLst/>
            <a:ahLst/>
            <a:cxnLst/>
            <a:rect l="l" t="t" r="r" b="b"/>
            <a:pathLst>
              <a:path w="754379" h="601980">
                <a:moveTo>
                  <a:pt x="0" y="0"/>
                </a:moveTo>
                <a:lnTo>
                  <a:pt x="754380" y="60198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6022340" y="257047"/>
            <a:ext cx="258572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BUILD-MAX-HEAP(A)</a:t>
            </a:r>
            <a:endParaRPr sz="1200">
              <a:latin typeface="Arial"/>
              <a:cs typeface="Arial"/>
            </a:endParaRPr>
          </a:p>
          <a:p>
            <a:pPr marL="227329" marR="424815" indent="-215265">
              <a:lnSpc>
                <a:spcPct val="100000"/>
              </a:lnSpc>
            </a:pPr>
            <a:r>
              <a:rPr sz="1200" b="1" spc="-5" dirty="0">
                <a:latin typeface="Arial"/>
                <a:cs typeface="Arial"/>
              </a:rPr>
              <a:t>for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i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←</a:t>
            </a:r>
            <a:r>
              <a:rPr sz="1200" b="1" spc="-10" dirty="0">
                <a:latin typeface="Arial"/>
                <a:cs typeface="Arial"/>
              </a:rPr>
              <a:t> length[A]</a:t>
            </a:r>
            <a:r>
              <a:rPr sz="1200" b="1" spc="4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downto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2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do </a:t>
            </a:r>
            <a:r>
              <a:rPr sz="1200" b="1" spc="-3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exc</a:t>
            </a:r>
            <a:r>
              <a:rPr sz="1200" b="1" spc="-5" dirty="0">
                <a:latin typeface="Arial"/>
                <a:cs typeface="Arial"/>
              </a:rPr>
              <a:t>h</a:t>
            </a:r>
            <a:r>
              <a:rPr sz="1200" b="1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ng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-80" dirty="0">
                <a:latin typeface="Arial"/>
                <a:cs typeface="Arial"/>
              </a:rPr>
              <a:t> </a:t>
            </a:r>
            <a:r>
              <a:rPr sz="1200" b="1" spc="-40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[</a:t>
            </a:r>
            <a:r>
              <a:rPr sz="1200" b="1" dirty="0">
                <a:latin typeface="Arial"/>
                <a:cs typeface="Arial"/>
              </a:rPr>
              <a:t>1]</a:t>
            </a:r>
            <a:r>
              <a:rPr sz="1200" b="1" spc="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↔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spc="-40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[</a:t>
            </a:r>
            <a:r>
              <a:rPr sz="1200" b="1" dirty="0">
                <a:latin typeface="Arial"/>
                <a:cs typeface="Arial"/>
              </a:rPr>
              <a:t>i]</a:t>
            </a:r>
            <a:endParaRPr sz="1200">
              <a:latin typeface="Arial"/>
              <a:cs typeface="Arial"/>
            </a:endParaRPr>
          </a:p>
          <a:p>
            <a:pPr marL="269875" marR="5080">
              <a:lnSpc>
                <a:spcPct val="100000"/>
              </a:lnSpc>
            </a:pPr>
            <a:r>
              <a:rPr sz="1200" b="1" spc="-5" dirty="0">
                <a:latin typeface="Arial"/>
                <a:cs typeface="Arial"/>
              </a:rPr>
              <a:t>heap-size[A]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← </a:t>
            </a:r>
            <a:r>
              <a:rPr sz="1200" b="1" spc="-10" dirty="0">
                <a:latin typeface="Arial"/>
                <a:cs typeface="Arial"/>
              </a:rPr>
              <a:t>heap-size[A]</a:t>
            </a:r>
            <a:r>
              <a:rPr sz="1200" b="1" spc="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–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 </a:t>
            </a:r>
            <a:r>
              <a:rPr sz="1200" b="1" spc="-32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MAX-HEAPIFY(A,</a:t>
            </a:r>
            <a:r>
              <a:rPr sz="1200" b="1" spc="5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1)</a:t>
            </a:r>
            <a:endParaRPr sz="12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870076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377499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282242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329847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774794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15573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6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4600657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04407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5553005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060406" y="5820971"/>
            <a:ext cx="27876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5" dirty="0">
                <a:latin typeface="Arial MT"/>
                <a:cs typeface="Arial MT"/>
              </a:rPr>
              <a:t>10</a:t>
            </a:r>
            <a:endParaRPr sz="1800">
              <a:latin typeface="Arial MT"/>
              <a:cs typeface="Arial MT"/>
            </a:endParaRPr>
          </a:p>
        </p:txBody>
      </p:sp>
      <p:graphicFrame>
        <p:nvGraphicFramePr>
          <p:cNvPr id="53" name="object 53"/>
          <p:cNvGraphicFramePr>
            <a:graphicFrameLocks noGrp="1"/>
          </p:cNvGraphicFramePr>
          <p:nvPr/>
        </p:nvGraphicFramePr>
        <p:xfrm>
          <a:off x="1810511" y="5105400"/>
          <a:ext cx="4615813" cy="539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75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9495"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7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8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9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16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4" name="object 51"/>
          <p:cNvSpPr txBox="1"/>
          <p:nvPr/>
        </p:nvSpPr>
        <p:spPr>
          <a:xfrm>
            <a:off x="3441382" y="3742068"/>
            <a:ext cx="549402" cy="8284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00"/>
              </a:spcBef>
            </a:pPr>
            <a:r>
              <a:rPr sz="1800" spc="-5" dirty="0" smtClean="0">
                <a:latin typeface="Arial MT"/>
                <a:cs typeface="Arial MT"/>
              </a:rPr>
              <a:t>10</a:t>
            </a:r>
            <a:endParaRPr lang="en-US" sz="1800" spc="-5" dirty="0" smtClean="0">
              <a:latin typeface="Arial MT"/>
              <a:cs typeface="Arial MT"/>
            </a:endParaRPr>
          </a:p>
          <a:p>
            <a:pPr marL="28575">
              <a:lnSpc>
                <a:spcPts val="2100"/>
              </a:lnSpc>
            </a:pPr>
            <a:endParaRPr sz="1800" dirty="0">
              <a:latin typeface="Arial MT"/>
              <a:cs typeface="Arial MT"/>
            </a:endParaRPr>
          </a:p>
          <a:p>
            <a:pPr marL="12700">
              <a:lnSpc>
                <a:spcPts val="2100"/>
              </a:lnSpc>
            </a:pPr>
            <a:r>
              <a:rPr sz="1800" spc="-15" dirty="0">
                <a:latin typeface="Arial MT"/>
                <a:cs typeface="Arial MT"/>
              </a:rPr>
              <a:t>16</a:t>
            </a:r>
            <a:endParaRPr sz="18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553770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8658" y="914146"/>
            <a:ext cx="590550" cy="552450"/>
            <a:chOff x="4248658" y="914146"/>
            <a:chExt cx="590550" cy="552450"/>
          </a:xfrm>
        </p:grpSpPr>
        <p:sp>
          <p:nvSpPr>
            <p:cNvPr id="3" name="object 3"/>
            <p:cNvSpPr/>
            <p:nvPr/>
          </p:nvSpPr>
          <p:spPr>
            <a:xfrm>
              <a:off x="4255008" y="92049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CF0E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255008" y="92049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476940" y="10749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28934" y="48451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971545" y="1455166"/>
            <a:ext cx="1428750" cy="793115"/>
            <a:chOff x="2971545" y="1455166"/>
            <a:chExt cx="1428750" cy="793115"/>
          </a:xfrm>
        </p:grpSpPr>
        <p:sp>
          <p:nvSpPr>
            <p:cNvPr id="8" name="object 8"/>
            <p:cNvSpPr/>
            <p:nvPr/>
          </p:nvSpPr>
          <p:spPr>
            <a:xfrm>
              <a:off x="3512819" y="1461516"/>
              <a:ext cx="881380" cy="317500"/>
            </a:xfrm>
            <a:custGeom>
              <a:avLst/>
              <a:gdLst/>
              <a:ahLst/>
              <a:cxnLst/>
              <a:rect l="l" t="t" r="r" b="b"/>
              <a:pathLst>
                <a:path w="881379" h="317500">
                  <a:moveTo>
                    <a:pt x="880872" y="0"/>
                  </a:moveTo>
                  <a:lnTo>
                    <a:pt x="0" y="316992"/>
                  </a:lnTo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77895" y="1702308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977895" y="170230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200590" y="1856041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52584" y="1303515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369820" y="2299716"/>
            <a:ext cx="805180" cy="601980"/>
          </a:xfrm>
          <a:custGeom>
            <a:avLst/>
            <a:gdLst/>
            <a:ahLst/>
            <a:cxnLst/>
            <a:rect l="l" t="t" r="r" b="b"/>
            <a:pathLst>
              <a:path w="805180" h="601980">
                <a:moveTo>
                  <a:pt x="804671" y="0"/>
                </a:moveTo>
                <a:lnTo>
                  <a:pt x="0" y="60198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5524246" y="1734056"/>
            <a:ext cx="590550" cy="552450"/>
            <a:chOff x="5524246" y="1734056"/>
            <a:chExt cx="590550" cy="552450"/>
          </a:xfrm>
        </p:grpSpPr>
        <p:sp>
          <p:nvSpPr>
            <p:cNvPr id="15" name="object 15"/>
            <p:cNvSpPr/>
            <p:nvPr/>
          </p:nvSpPr>
          <p:spPr>
            <a:xfrm>
              <a:off x="5530596" y="1740408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530596" y="174040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753290" y="1894141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705284" y="130366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700015" y="1481327"/>
            <a:ext cx="889000" cy="335280"/>
          </a:xfrm>
          <a:custGeom>
            <a:avLst/>
            <a:gdLst/>
            <a:ahLst/>
            <a:cxnLst/>
            <a:rect l="l" t="t" r="r" b="b"/>
            <a:pathLst>
              <a:path w="889000" h="335280">
                <a:moveTo>
                  <a:pt x="0" y="0"/>
                </a:moveTo>
                <a:lnTo>
                  <a:pt x="888491" y="33528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1975104" y="2965704"/>
            <a:ext cx="589915" cy="551815"/>
            <a:chOff x="1975104" y="2965704"/>
            <a:chExt cx="589915" cy="551815"/>
          </a:xfrm>
        </p:grpSpPr>
        <p:sp>
          <p:nvSpPr>
            <p:cNvPr id="21" name="object 21"/>
            <p:cNvSpPr/>
            <p:nvPr/>
          </p:nvSpPr>
          <p:spPr>
            <a:xfrm>
              <a:off x="1981200" y="2971800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981200" y="2971800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190940" y="31133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123960" y="25418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810000" y="2971800"/>
            <a:ext cx="589915" cy="551815"/>
            <a:chOff x="3810000" y="2971800"/>
            <a:chExt cx="589915" cy="551815"/>
          </a:xfrm>
        </p:grpSpPr>
        <p:sp>
          <p:nvSpPr>
            <p:cNvPr id="26" name="object 26"/>
            <p:cNvSpPr/>
            <p:nvPr/>
          </p:nvSpPr>
          <p:spPr>
            <a:xfrm>
              <a:off x="38160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CF0E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8160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038790" y="31323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990784" y="257986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648200" y="2971800"/>
            <a:ext cx="589915" cy="551815"/>
            <a:chOff x="4648200" y="2971800"/>
            <a:chExt cx="589915" cy="551815"/>
          </a:xfrm>
        </p:grpSpPr>
        <p:sp>
          <p:nvSpPr>
            <p:cNvPr id="31" name="object 31"/>
            <p:cNvSpPr/>
            <p:nvPr/>
          </p:nvSpPr>
          <p:spPr>
            <a:xfrm>
              <a:off x="46542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6542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4857940" y="31133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752784" y="256081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6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324600" y="2991611"/>
            <a:ext cx="589915" cy="551815"/>
            <a:chOff x="6324600" y="2991611"/>
            <a:chExt cx="589915" cy="551815"/>
          </a:xfrm>
        </p:grpSpPr>
        <p:sp>
          <p:nvSpPr>
            <p:cNvPr id="36" name="object 36"/>
            <p:cNvSpPr/>
            <p:nvPr/>
          </p:nvSpPr>
          <p:spPr>
            <a:xfrm>
              <a:off x="6330695" y="2997707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330695" y="2997707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6515290" y="30942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657708" y="265606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1353311" y="4152900"/>
            <a:ext cx="589915" cy="551815"/>
            <a:chOff x="1353311" y="4152900"/>
            <a:chExt cx="589915" cy="551815"/>
          </a:xfrm>
        </p:grpSpPr>
        <p:sp>
          <p:nvSpPr>
            <p:cNvPr id="41" name="object 41"/>
            <p:cNvSpPr/>
            <p:nvPr/>
          </p:nvSpPr>
          <p:spPr>
            <a:xfrm>
              <a:off x="1359407" y="41589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359407" y="41589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1517332" y="4313492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Arial MT"/>
                <a:cs typeface="Arial MT"/>
              </a:rPr>
              <a:t>10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457210" y="381811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2496311" y="4114800"/>
            <a:ext cx="589915" cy="551815"/>
            <a:chOff x="2496311" y="4114800"/>
            <a:chExt cx="589915" cy="551815"/>
          </a:xfrm>
        </p:grpSpPr>
        <p:sp>
          <p:nvSpPr>
            <p:cNvPr id="46" name="object 46"/>
            <p:cNvSpPr/>
            <p:nvPr/>
          </p:nvSpPr>
          <p:spPr>
            <a:xfrm>
              <a:off x="2502407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502407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2622232" y="4313492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Arial MT"/>
                <a:cs typeface="Arial MT"/>
              </a:rPr>
              <a:t>14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790710" y="37419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3314700" y="4114800"/>
            <a:ext cx="589915" cy="551815"/>
            <a:chOff x="3314700" y="4114800"/>
            <a:chExt cx="589915" cy="551815"/>
          </a:xfrm>
        </p:grpSpPr>
        <p:sp>
          <p:nvSpPr>
            <p:cNvPr id="51" name="object 51"/>
            <p:cNvSpPr/>
            <p:nvPr/>
          </p:nvSpPr>
          <p:spPr>
            <a:xfrm>
              <a:off x="3320795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320795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/>
          <p:nvPr/>
        </p:nvSpPr>
        <p:spPr>
          <a:xfrm>
            <a:off x="3348228" y="2299716"/>
            <a:ext cx="754380" cy="601980"/>
          </a:xfrm>
          <a:custGeom>
            <a:avLst/>
            <a:gdLst/>
            <a:ahLst/>
            <a:cxnLst/>
            <a:rect l="l" t="t" r="r" b="b"/>
            <a:pathLst>
              <a:path w="754379" h="601980">
                <a:moveTo>
                  <a:pt x="0" y="0"/>
                </a:moveTo>
                <a:lnTo>
                  <a:pt x="754380" y="60198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5" name="object 55"/>
          <p:cNvGraphicFramePr>
            <a:graphicFrameLocks noGrp="1"/>
          </p:cNvGraphicFramePr>
          <p:nvPr/>
        </p:nvGraphicFramePr>
        <p:xfrm>
          <a:off x="1810511" y="5105400"/>
          <a:ext cx="4615813" cy="539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75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9495"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7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8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9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16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7" name="object 57"/>
          <p:cNvSpPr txBox="1"/>
          <p:nvPr/>
        </p:nvSpPr>
        <p:spPr>
          <a:xfrm>
            <a:off x="1870076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377499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82242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3329847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3774794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15573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6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4600657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04407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553005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060406" y="5820971"/>
            <a:ext cx="27876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5" dirty="0">
                <a:latin typeface="Arial MT"/>
                <a:cs typeface="Arial MT"/>
              </a:rPr>
              <a:t>10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022340" y="257047"/>
            <a:ext cx="258572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BUILD-MAX-HEAP(A)</a:t>
            </a:r>
            <a:endParaRPr sz="1200">
              <a:latin typeface="Arial"/>
              <a:cs typeface="Arial"/>
            </a:endParaRPr>
          </a:p>
          <a:p>
            <a:pPr marL="227329" marR="424815" indent="-215265">
              <a:lnSpc>
                <a:spcPct val="100000"/>
              </a:lnSpc>
            </a:pPr>
            <a:r>
              <a:rPr sz="1200" b="1" spc="-5" dirty="0">
                <a:latin typeface="Arial"/>
                <a:cs typeface="Arial"/>
              </a:rPr>
              <a:t>for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i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←</a:t>
            </a:r>
            <a:r>
              <a:rPr sz="1200" b="1" spc="-10" dirty="0">
                <a:latin typeface="Arial"/>
                <a:cs typeface="Arial"/>
              </a:rPr>
              <a:t> length[A]</a:t>
            </a:r>
            <a:r>
              <a:rPr sz="1200" b="1" spc="4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downto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2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do </a:t>
            </a:r>
            <a:r>
              <a:rPr sz="1200" b="1" spc="-3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exc</a:t>
            </a:r>
            <a:r>
              <a:rPr sz="1200" b="1" spc="-5" dirty="0">
                <a:latin typeface="Arial"/>
                <a:cs typeface="Arial"/>
              </a:rPr>
              <a:t>h</a:t>
            </a:r>
            <a:r>
              <a:rPr sz="1200" b="1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ng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-80" dirty="0">
                <a:latin typeface="Arial"/>
                <a:cs typeface="Arial"/>
              </a:rPr>
              <a:t> </a:t>
            </a:r>
            <a:r>
              <a:rPr sz="1200" b="1" spc="-40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[</a:t>
            </a:r>
            <a:r>
              <a:rPr sz="1200" b="1" dirty="0">
                <a:latin typeface="Arial"/>
                <a:cs typeface="Arial"/>
              </a:rPr>
              <a:t>1]</a:t>
            </a:r>
            <a:r>
              <a:rPr sz="1200" b="1" spc="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↔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spc="-40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[</a:t>
            </a:r>
            <a:r>
              <a:rPr sz="1200" b="1" dirty="0">
                <a:latin typeface="Arial"/>
                <a:cs typeface="Arial"/>
              </a:rPr>
              <a:t>i]</a:t>
            </a:r>
            <a:endParaRPr sz="1200">
              <a:latin typeface="Arial"/>
              <a:cs typeface="Arial"/>
            </a:endParaRPr>
          </a:p>
          <a:p>
            <a:pPr marL="269875" marR="5080">
              <a:lnSpc>
                <a:spcPct val="100000"/>
              </a:lnSpc>
            </a:pPr>
            <a:r>
              <a:rPr sz="1200" b="1" spc="-5" dirty="0">
                <a:latin typeface="Arial"/>
                <a:cs typeface="Arial"/>
              </a:rPr>
              <a:t>heap-size[A]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← </a:t>
            </a:r>
            <a:r>
              <a:rPr sz="1200" b="1" spc="-10" dirty="0">
                <a:latin typeface="Arial"/>
                <a:cs typeface="Arial"/>
              </a:rPr>
              <a:t>heap-size[A]</a:t>
            </a:r>
            <a:r>
              <a:rPr sz="1200" b="1" spc="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–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 </a:t>
            </a:r>
            <a:r>
              <a:rPr sz="1200" b="1" spc="-32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MAX-HEAPIFY(A,</a:t>
            </a:r>
            <a:r>
              <a:rPr sz="1200" b="1" spc="5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1)</a:t>
            </a:r>
            <a:endParaRPr sz="1200">
              <a:latin typeface="Arial"/>
              <a:cs typeface="Arial"/>
            </a:endParaRPr>
          </a:p>
        </p:txBody>
      </p:sp>
      <p:sp>
        <p:nvSpPr>
          <p:cNvPr id="67" name="object 51"/>
          <p:cNvSpPr txBox="1"/>
          <p:nvPr/>
        </p:nvSpPr>
        <p:spPr>
          <a:xfrm>
            <a:off x="3441382" y="3742068"/>
            <a:ext cx="549402" cy="8284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00"/>
              </a:spcBef>
            </a:pPr>
            <a:r>
              <a:rPr sz="1800" spc="-5" dirty="0" smtClean="0">
                <a:latin typeface="Arial MT"/>
                <a:cs typeface="Arial MT"/>
              </a:rPr>
              <a:t>10</a:t>
            </a:r>
            <a:endParaRPr lang="en-US" sz="1800" spc="-5" dirty="0" smtClean="0">
              <a:latin typeface="Arial MT"/>
              <a:cs typeface="Arial MT"/>
            </a:endParaRPr>
          </a:p>
          <a:p>
            <a:pPr marL="28575">
              <a:lnSpc>
                <a:spcPts val="2100"/>
              </a:lnSpc>
            </a:pPr>
            <a:endParaRPr sz="1800" dirty="0">
              <a:latin typeface="Arial MT"/>
              <a:cs typeface="Arial MT"/>
            </a:endParaRPr>
          </a:p>
          <a:p>
            <a:pPr marL="12700">
              <a:lnSpc>
                <a:spcPts val="2100"/>
              </a:lnSpc>
            </a:pPr>
            <a:r>
              <a:rPr sz="1800" spc="-15" dirty="0">
                <a:latin typeface="Arial MT"/>
                <a:cs typeface="Arial MT"/>
              </a:rPr>
              <a:t>16</a:t>
            </a:r>
            <a:endParaRPr sz="18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396390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76940" y="10749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28934" y="48451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971545" y="1455166"/>
            <a:ext cx="1428750" cy="793115"/>
            <a:chOff x="2971545" y="1455166"/>
            <a:chExt cx="1428750" cy="793115"/>
          </a:xfrm>
        </p:grpSpPr>
        <p:sp>
          <p:nvSpPr>
            <p:cNvPr id="5" name="object 5"/>
            <p:cNvSpPr/>
            <p:nvPr/>
          </p:nvSpPr>
          <p:spPr>
            <a:xfrm>
              <a:off x="3512819" y="1461516"/>
              <a:ext cx="881380" cy="317500"/>
            </a:xfrm>
            <a:custGeom>
              <a:avLst/>
              <a:gdLst/>
              <a:ahLst/>
              <a:cxnLst/>
              <a:rect l="l" t="t" r="r" b="b"/>
              <a:pathLst>
                <a:path w="881379" h="317500">
                  <a:moveTo>
                    <a:pt x="880872" y="0"/>
                  </a:moveTo>
                  <a:lnTo>
                    <a:pt x="0" y="316992"/>
                  </a:lnTo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77895" y="1702308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977895" y="170230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200590" y="1856041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52584" y="1303515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369820" y="2299716"/>
            <a:ext cx="805180" cy="601980"/>
          </a:xfrm>
          <a:custGeom>
            <a:avLst/>
            <a:gdLst/>
            <a:ahLst/>
            <a:cxnLst/>
            <a:rect l="l" t="t" r="r" b="b"/>
            <a:pathLst>
              <a:path w="805180" h="601980">
                <a:moveTo>
                  <a:pt x="804671" y="0"/>
                </a:moveTo>
                <a:lnTo>
                  <a:pt x="0" y="60198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5524246" y="1734056"/>
            <a:ext cx="590550" cy="552450"/>
            <a:chOff x="5524246" y="1734056"/>
            <a:chExt cx="590550" cy="552450"/>
          </a:xfrm>
        </p:grpSpPr>
        <p:sp>
          <p:nvSpPr>
            <p:cNvPr id="12" name="object 12"/>
            <p:cNvSpPr/>
            <p:nvPr/>
          </p:nvSpPr>
          <p:spPr>
            <a:xfrm>
              <a:off x="5530596" y="1740408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530596" y="174040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753290" y="1894141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05284" y="130366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700015" y="1481327"/>
            <a:ext cx="889000" cy="335280"/>
          </a:xfrm>
          <a:custGeom>
            <a:avLst/>
            <a:gdLst/>
            <a:ahLst/>
            <a:cxnLst/>
            <a:rect l="l" t="t" r="r" b="b"/>
            <a:pathLst>
              <a:path w="889000" h="335280">
                <a:moveTo>
                  <a:pt x="0" y="0"/>
                </a:moveTo>
                <a:lnTo>
                  <a:pt x="888491" y="33528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1975104" y="2965704"/>
            <a:ext cx="589915" cy="551815"/>
            <a:chOff x="1975104" y="2965704"/>
            <a:chExt cx="589915" cy="551815"/>
          </a:xfrm>
        </p:grpSpPr>
        <p:sp>
          <p:nvSpPr>
            <p:cNvPr id="18" name="object 18"/>
            <p:cNvSpPr/>
            <p:nvPr/>
          </p:nvSpPr>
          <p:spPr>
            <a:xfrm>
              <a:off x="1981200" y="2971800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981200" y="2971800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190940" y="31133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123960" y="25418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810000" y="2971800"/>
            <a:ext cx="589915" cy="551815"/>
            <a:chOff x="3810000" y="2971800"/>
            <a:chExt cx="589915" cy="551815"/>
          </a:xfrm>
        </p:grpSpPr>
        <p:sp>
          <p:nvSpPr>
            <p:cNvPr id="23" name="object 23"/>
            <p:cNvSpPr/>
            <p:nvPr/>
          </p:nvSpPr>
          <p:spPr>
            <a:xfrm>
              <a:off x="38160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8160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038790" y="31323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990784" y="257986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648200" y="2971800"/>
            <a:ext cx="589915" cy="551815"/>
            <a:chOff x="4648200" y="2971800"/>
            <a:chExt cx="589915" cy="551815"/>
          </a:xfrm>
        </p:grpSpPr>
        <p:sp>
          <p:nvSpPr>
            <p:cNvPr id="28" name="object 28"/>
            <p:cNvSpPr/>
            <p:nvPr/>
          </p:nvSpPr>
          <p:spPr>
            <a:xfrm>
              <a:off x="46542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6542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857940" y="31133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752784" y="256081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6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324600" y="2991611"/>
            <a:ext cx="589915" cy="551815"/>
            <a:chOff x="6324600" y="2991611"/>
            <a:chExt cx="589915" cy="551815"/>
          </a:xfrm>
        </p:grpSpPr>
        <p:sp>
          <p:nvSpPr>
            <p:cNvPr id="33" name="object 33"/>
            <p:cNvSpPr/>
            <p:nvPr/>
          </p:nvSpPr>
          <p:spPr>
            <a:xfrm>
              <a:off x="6330695" y="2997707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330695" y="2997707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515290" y="30942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657708" y="265606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353311" y="4152900"/>
            <a:ext cx="589915" cy="551815"/>
            <a:chOff x="1353311" y="4152900"/>
            <a:chExt cx="589915" cy="551815"/>
          </a:xfrm>
        </p:grpSpPr>
        <p:sp>
          <p:nvSpPr>
            <p:cNvPr id="38" name="object 38"/>
            <p:cNvSpPr/>
            <p:nvPr/>
          </p:nvSpPr>
          <p:spPr>
            <a:xfrm>
              <a:off x="1359407" y="41589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359407" y="41589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1517332" y="4313492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Arial MT"/>
                <a:cs typeface="Arial MT"/>
              </a:rPr>
              <a:t>10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457210" y="381811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2496311" y="4114800"/>
            <a:ext cx="589915" cy="551815"/>
            <a:chOff x="2496311" y="4114800"/>
            <a:chExt cx="589915" cy="551815"/>
          </a:xfrm>
        </p:grpSpPr>
        <p:sp>
          <p:nvSpPr>
            <p:cNvPr id="43" name="object 43"/>
            <p:cNvSpPr/>
            <p:nvPr/>
          </p:nvSpPr>
          <p:spPr>
            <a:xfrm>
              <a:off x="2502407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502407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2622232" y="4313492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Arial MT"/>
                <a:cs typeface="Arial MT"/>
              </a:rPr>
              <a:t>14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790710" y="37419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3314700" y="4114800"/>
            <a:ext cx="589915" cy="551815"/>
            <a:chOff x="3314700" y="4114800"/>
            <a:chExt cx="589915" cy="551815"/>
          </a:xfrm>
        </p:grpSpPr>
        <p:sp>
          <p:nvSpPr>
            <p:cNvPr id="48" name="object 48"/>
            <p:cNvSpPr/>
            <p:nvPr/>
          </p:nvSpPr>
          <p:spPr>
            <a:xfrm>
              <a:off x="3320795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320795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1870076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377499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82242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329847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774794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15573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6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600657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04407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553005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060406" y="5820971"/>
            <a:ext cx="27876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5" dirty="0">
                <a:latin typeface="Arial MT"/>
                <a:cs typeface="Arial MT"/>
              </a:rPr>
              <a:t>10</a:t>
            </a:r>
            <a:endParaRPr sz="1800">
              <a:latin typeface="Arial MT"/>
              <a:cs typeface="Arial MT"/>
            </a:endParaRPr>
          </a:p>
        </p:txBody>
      </p:sp>
      <p:graphicFrame>
        <p:nvGraphicFramePr>
          <p:cNvPr id="51" name="object 51"/>
          <p:cNvGraphicFramePr>
            <a:graphicFrameLocks noGrp="1"/>
          </p:cNvGraphicFramePr>
          <p:nvPr/>
        </p:nvGraphicFramePr>
        <p:xfrm>
          <a:off x="1810511" y="5105400"/>
          <a:ext cx="4615813" cy="539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75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9495"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7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8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9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16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2" name="object 52"/>
          <p:cNvSpPr txBox="1"/>
          <p:nvPr/>
        </p:nvSpPr>
        <p:spPr>
          <a:xfrm>
            <a:off x="6022340" y="257047"/>
            <a:ext cx="258572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BUILD-MAX-HEAP(A)</a:t>
            </a:r>
            <a:endParaRPr sz="1200">
              <a:latin typeface="Arial"/>
              <a:cs typeface="Arial"/>
            </a:endParaRPr>
          </a:p>
          <a:p>
            <a:pPr marL="227329" marR="424815" indent="-215265">
              <a:lnSpc>
                <a:spcPct val="100000"/>
              </a:lnSpc>
            </a:pPr>
            <a:r>
              <a:rPr sz="1200" b="1" spc="-5" dirty="0">
                <a:latin typeface="Arial"/>
                <a:cs typeface="Arial"/>
              </a:rPr>
              <a:t>for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i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←</a:t>
            </a:r>
            <a:r>
              <a:rPr sz="1200" b="1" spc="-10" dirty="0">
                <a:latin typeface="Arial"/>
                <a:cs typeface="Arial"/>
              </a:rPr>
              <a:t> length[A]</a:t>
            </a:r>
            <a:r>
              <a:rPr sz="1200" b="1" spc="4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downto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2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do </a:t>
            </a:r>
            <a:r>
              <a:rPr sz="1200" b="1" spc="-3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exc</a:t>
            </a:r>
            <a:r>
              <a:rPr sz="1200" b="1" spc="-5" dirty="0">
                <a:latin typeface="Arial"/>
                <a:cs typeface="Arial"/>
              </a:rPr>
              <a:t>h</a:t>
            </a:r>
            <a:r>
              <a:rPr sz="1200" b="1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ng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-80" dirty="0">
                <a:latin typeface="Arial"/>
                <a:cs typeface="Arial"/>
              </a:rPr>
              <a:t> </a:t>
            </a:r>
            <a:r>
              <a:rPr sz="1200" b="1" spc="-40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[</a:t>
            </a:r>
            <a:r>
              <a:rPr sz="1200" b="1" dirty="0">
                <a:latin typeface="Arial"/>
                <a:cs typeface="Arial"/>
              </a:rPr>
              <a:t>1]</a:t>
            </a:r>
            <a:r>
              <a:rPr sz="1200" b="1" spc="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↔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spc="-40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[</a:t>
            </a:r>
            <a:r>
              <a:rPr sz="1200" b="1" dirty="0">
                <a:latin typeface="Arial"/>
                <a:cs typeface="Arial"/>
              </a:rPr>
              <a:t>i]</a:t>
            </a:r>
            <a:endParaRPr sz="1200">
              <a:latin typeface="Arial"/>
              <a:cs typeface="Arial"/>
            </a:endParaRPr>
          </a:p>
          <a:p>
            <a:pPr marL="269875" marR="5080">
              <a:lnSpc>
                <a:spcPct val="100000"/>
              </a:lnSpc>
            </a:pPr>
            <a:r>
              <a:rPr sz="1200" b="1" spc="-5" dirty="0">
                <a:latin typeface="Arial"/>
                <a:cs typeface="Arial"/>
              </a:rPr>
              <a:t>heap-size[A]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← </a:t>
            </a:r>
            <a:r>
              <a:rPr sz="1200" b="1" spc="-10" dirty="0">
                <a:latin typeface="Arial"/>
                <a:cs typeface="Arial"/>
              </a:rPr>
              <a:t>heap-size[A]</a:t>
            </a:r>
            <a:r>
              <a:rPr sz="1200" b="1" spc="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–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 </a:t>
            </a:r>
            <a:r>
              <a:rPr sz="1200" b="1" spc="-32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MAX-HEAPIFY(A,</a:t>
            </a:r>
            <a:r>
              <a:rPr sz="1200" b="1" spc="5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1)</a:t>
            </a:r>
            <a:endParaRPr sz="1200">
              <a:latin typeface="Arial"/>
              <a:cs typeface="Arial"/>
            </a:endParaRPr>
          </a:p>
        </p:txBody>
      </p:sp>
      <p:sp>
        <p:nvSpPr>
          <p:cNvPr id="63" name="object 51"/>
          <p:cNvSpPr txBox="1"/>
          <p:nvPr/>
        </p:nvSpPr>
        <p:spPr>
          <a:xfrm>
            <a:off x="3441382" y="3742068"/>
            <a:ext cx="549402" cy="8284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00"/>
              </a:spcBef>
            </a:pPr>
            <a:r>
              <a:rPr sz="1800" spc="-5" dirty="0" smtClean="0">
                <a:latin typeface="Arial MT"/>
                <a:cs typeface="Arial MT"/>
              </a:rPr>
              <a:t>10</a:t>
            </a:r>
            <a:endParaRPr lang="en-US" sz="1800" spc="-5" dirty="0" smtClean="0">
              <a:latin typeface="Arial MT"/>
              <a:cs typeface="Arial MT"/>
            </a:endParaRPr>
          </a:p>
          <a:p>
            <a:pPr marL="28575">
              <a:lnSpc>
                <a:spcPts val="2100"/>
              </a:lnSpc>
            </a:pPr>
            <a:endParaRPr sz="1800" dirty="0">
              <a:latin typeface="Arial MT"/>
              <a:cs typeface="Arial MT"/>
            </a:endParaRPr>
          </a:p>
          <a:p>
            <a:pPr marL="12700">
              <a:lnSpc>
                <a:spcPts val="2100"/>
              </a:lnSpc>
            </a:pPr>
            <a:r>
              <a:rPr sz="1800" spc="-15" dirty="0">
                <a:latin typeface="Arial MT"/>
                <a:cs typeface="Arial MT"/>
              </a:rPr>
              <a:t>16</a:t>
            </a:r>
            <a:endParaRPr sz="18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363614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76940" y="10749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28934" y="48451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971545" y="1455166"/>
            <a:ext cx="1428750" cy="793115"/>
            <a:chOff x="2971545" y="1455166"/>
            <a:chExt cx="1428750" cy="793115"/>
          </a:xfrm>
        </p:grpSpPr>
        <p:sp>
          <p:nvSpPr>
            <p:cNvPr id="5" name="object 5"/>
            <p:cNvSpPr/>
            <p:nvPr/>
          </p:nvSpPr>
          <p:spPr>
            <a:xfrm>
              <a:off x="3512819" y="1461516"/>
              <a:ext cx="881380" cy="317500"/>
            </a:xfrm>
            <a:custGeom>
              <a:avLst/>
              <a:gdLst/>
              <a:ahLst/>
              <a:cxnLst/>
              <a:rect l="l" t="t" r="r" b="b"/>
              <a:pathLst>
                <a:path w="881379" h="317500">
                  <a:moveTo>
                    <a:pt x="880872" y="0"/>
                  </a:moveTo>
                  <a:lnTo>
                    <a:pt x="0" y="316992"/>
                  </a:lnTo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77895" y="1702308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977895" y="170230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200590" y="1856041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52584" y="1303515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369820" y="2299716"/>
            <a:ext cx="805180" cy="601980"/>
          </a:xfrm>
          <a:custGeom>
            <a:avLst/>
            <a:gdLst/>
            <a:ahLst/>
            <a:cxnLst/>
            <a:rect l="l" t="t" r="r" b="b"/>
            <a:pathLst>
              <a:path w="805180" h="601980">
                <a:moveTo>
                  <a:pt x="804671" y="0"/>
                </a:moveTo>
                <a:lnTo>
                  <a:pt x="0" y="60198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5524246" y="1734056"/>
            <a:ext cx="590550" cy="552450"/>
            <a:chOff x="5524246" y="1734056"/>
            <a:chExt cx="590550" cy="552450"/>
          </a:xfrm>
        </p:grpSpPr>
        <p:sp>
          <p:nvSpPr>
            <p:cNvPr id="12" name="object 12"/>
            <p:cNvSpPr/>
            <p:nvPr/>
          </p:nvSpPr>
          <p:spPr>
            <a:xfrm>
              <a:off x="5530596" y="1740408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530596" y="174040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753290" y="1894141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05284" y="130366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700015" y="1481327"/>
            <a:ext cx="889000" cy="335280"/>
          </a:xfrm>
          <a:custGeom>
            <a:avLst/>
            <a:gdLst/>
            <a:ahLst/>
            <a:cxnLst/>
            <a:rect l="l" t="t" r="r" b="b"/>
            <a:pathLst>
              <a:path w="889000" h="335280">
                <a:moveTo>
                  <a:pt x="0" y="0"/>
                </a:moveTo>
                <a:lnTo>
                  <a:pt x="888491" y="33528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1975104" y="2965704"/>
            <a:ext cx="589915" cy="551815"/>
            <a:chOff x="1975104" y="2965704"/>
            <a:chExt cx="589915" cy="551815"/>
          </a:xfrm>
        </p:grpSpPr>
        <p:sp>
          <p:nvSpPr>
            <p:cNvPr id="18" name="object 18"/>
            <p:cNvSpPr/>
            <p:nvPr/>
          </p:nvSpPr>
          <p:spPr>
            <a:xfrm>
              <a:off x="1981200" y="2971800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981200" y="2971800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190940" y="31133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123960" y="25418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810000" y="2971800"/>
            <a:ext cx="589915" cy="551815"/>
            <a:chOff x="3810000" y="2971800"/>
            <a:chExt cx="589915" cy="551815"/>
          </a:xfrm>
        </p:grpSpPr>
        <p:sp>
          <p:nvSpPr>
            <p:cNvPr id="23" name="object 23"/>
            <p:cNvSpPr/>
            <p:nvPr/>
          </p:nvSpPr>
          <p:spPr>
            <a:xfrm>
              <a:off x="38160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8160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038790" y="31323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990784" y="257986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648200" y="2971800"/>
            <a:ext cx="589915" cy="551815"/>
            <a:chOff x="4648200" y="2971800"/>
            <a:chExt cx="589915" cy="551815"/>
          </a:xfrm>
        </p:grpSpPr>
        <p:sp>
          <p:nvSpPr>
            <p:cNvPr id="28" name="object 28"/>
            <p:cNvSpPr/>
            <p:nvPr/>
          </p:nvSpPr>
          <p:spPr>
            <a:xfrm>
              <a:off x="46542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6542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857940" y="31133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752784" y="256081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6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324600" y="2991611"/>
            <a:ext cx="589915" cy="551815"/>
            <a:chOff x="6324600" y="2991611"/>
            <a:chExt cx="589915" cy="551815"/>
          </a:xfrm>
        </p:grpSpPr>
        <p:sp>
          <p:nvSpPr>
            <p:cNvPr id="33" name="object 33"/>
            <p:cNvSpPr/>
            <p:nvPr/>
          </p:nvSpPr>
          <p:spPr>
            <a:xfrm>
              <a:off x="6330695" y="2997707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330695" y="2997707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515290" y="30942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657708" y="265606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353311" y="4152900"/>
            <a:ext cx="589915" cy="551815"/>
            <a:chOff x="1353311" y="4152900"/>
            <a:chExt cx="589915" cy="551815"/>
          </a:xfrm>
        </p:grpSpPr>
        <p:sp>
          <p:nvSpPr>
            <p:cNvPr id="38" name="object 38"/>
            <p:cNvSpPr/>
            <p:nvPr/>
          </p:nvSpPr>
          <p:spPr>
            <a:xfrm>
              <a:off x="1359407" y="41589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359407" y="41589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1517332" y="4313492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Arial MT"/>
                <a:cs typeface="Arial MT"/>
              </a:rPr>
              <a:t>10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457210" y="381811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2496311" y="4114800"/>
            <a:ext cx="589915" cy="551815"/>
            <a:chOff x="2496311" y="4114800"/>
            <a:chExt cx="589915" cy="551815"/>
          </a:xfrm>
        </p:grpSpPr>
        <p:sp>
          <p:nvSpPr>
            <p:cNvPr id="43" name="object 43"/>
            <p:cNvSpPr/>
            <p:nvPr/>
          </p:nvSpPr>
          <p:spPr>
            <a:xfrm>
              <a:off x="2502407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502407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2622232" y="4313492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Arial MT"/>
                <a:cs typeface="Arial MT"/>
              </a:rPr>
              <a:t>14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790710" y="37419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3314700" y="4114800"/>
            <a:ext cx="589915" cy="551815"/>
            <a:chOff x="3314700" y="4114800"/>
            <a:chExt cx="589915" cy="551815"/>
          </a:xfrm>
        </p:grpSpPr>
        <p:sp>
          <p:nvSpPr>
            <p:cNvPr id="48" name="object 48"/>
            <p:cNvSpPr/>
            <p:nvPr/>
          </p:nvSpPr>
          <p:spPr>
            <a:xfrm>
              <a:off x="3320795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320795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1870076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377499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82242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329847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774794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15573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6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600657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04407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553005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060406" y="5820971"/>
            <a:ext cx="27876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5" dirty="0">
                <a:latin typeface="Arial MT"/>
                <a:cs typeface="Arial MT"/>
              </a:rPr>
              <a:t>10</a:t>
            </a:r>
            <a:endParaRPr sz="1800">
              <a:latin typeface="Arial MT"/>
              <a:cs typeface="Arial MT"/>
            </a:endParaRPr>
          </a:p>
        </p:txBody>
      </p:sp>
      <p:graphicFrame>
        <p:nvGraphicFramePr>
          <p:cNvPr id="51" name="object 51"/>
          <p:cNvGraphicFramePr>
            <a:graphicFrameLocks noGrp="1"/>
          </p:cNvGraphicFramePr>
          <p:nvPr/>
        </p:nvGraphicFramePr>
        <p:xfrm>
          <a:off x="1810511" y="5105400"/>
          <a:ext cx="4615813" cy="539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75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9495"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7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8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9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16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2" name="object 52"/>
          <p:cNvSpPr txBox="1"/>
          <p:nvPr/>
        </p:nvSpPr>
        <p:spPr>
          <a:xfrm>
            <a:off x="6022340" y="257047"/>
            <a:ext cx="258572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BUILD-MAX-HEAP(A)</a:t>
            </a:r>
            <a:endParaRPr sz="1200">
              <a:latin typeface="Arial"/>
              <a:cs typeface="Arial"/>
            </a:endParaRPr>
          </a:p>
          <a:p>
            <a:pPr marL="227329" marR="424815" indent="-215265">
              <a:lnSpc>
                <a:spcPct val="100000"/>
              </a:lnSpc>
            </a:pPr>
            <a:r>
              <a:rPr sz="1200" b="1" spc="-5" dirty="0">
                <a:latin typeface="Arial"/>
                <a:cs typeface="Arial"/>
              </a:rPr>
              <a:t>for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i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←</a:t>
            </a:r>
            <a:r>
              <a:rPr sz="1200" b="1" spc="-10" dirty="0">
                <a:latin typeface="Arial"/>
                <a:cs typeface="Arial"/>
              </a:rPr>
              <a:t> length[A]</a:t>
            </a:r>
            <a:r>
              <a:rPr sz="1200" b="1" spc="4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downto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2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do </a:t>
            </a:r>
            <a:r>
              <a:rPr sz="1200" b="1" spc="-3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exc</a:t>
            </a:r>
            <a:r>
              <a:rPr sz="1200" b="1" spc="-5" dirty="0">
                <a:latin typeface="Arial"/>
                <a:cs typeface="Arial"/>
              </a:rPr>
              <a:t>h</a:t>
            </a:r>
            <a:r>
              <a:rPr sz="1200" b="1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ng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-80" dirty="0">
                <a:latin typeface="Arial"/>
                <a:cs typeface="Arial"/>
              </a:rPr>
              <a:t> </a:t>
            </a:r>
            <a:r>
              <a:rPr sz="1200" b="1" spc="-40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[</a:t>
            </a:r>
            <a:r>
              <a:rPr sz="1200" b="1" dirty="0">
                <a:latin typeface="Arial"/>
                <a:cs typeface="Arial"/>
              </a:rPr>
              <a:t>1]</a:t>
            </a:r>
            <a:r>
              <a:rPr sz="1200" b="1" spc="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↔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spc="-40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[</a:t>
            </a:r>
            <a:r>
              <a:rPr sz="1200" b="1" dirty="0">
                <a:latin typeface="Arial"/>
                <a:cs typeface="Arial"/>
              </a:rPr>
              <a:t>i]</a:t>
            </a:r>
            <a:endParaRPr sz="1200">
              <a:latin typeface="Arial"/>
              <a:cs typeface="Arial"/>
            </a:endParaRPr>
          </a:p>
          <a:p>
            <a:pPr marL="269875" marR="5080">
              <a:lnSpc>
                <a:spcPct val="100000"/>
              </a:lnSpc>
            </a:pPr>
            <a:r>
              <a:rPr sz="1200" b="1" spc="-5" dirty="0">
                <a:latin typeface="Arial"/>
                <a:cs typeface="Arial"/>
              </a:rPr>
              <a:t>heap-size[A]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← </a:t>
            </a:r>
            <a:r>
              <a:rPr sz="1200" b="1" spc="-10" dirty="0">
                <a:latin typeface="Arial"/>
                <a:cs typeface="Arial"/>
              </a:rPr>
              <a:t>heap-size[A]</a:t>
            </a:r>
            <a:r>
              <a:rPr sz="1200" b="1" spc="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–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 </a:t>
            </a:r>
            <a:r>
              <a:rPr sz="1200" b="1" spc="-32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MAX-HEAPIFY(A,</a:t>
            </a:r>
            <a:r>
              <a:rPr sz="1200" b="1" spc="5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1)</a:t>
            </a:r>
            <a:endParaRPr sz="1200">
              <a:latin typeface="Arial"/>
              <a:cs typeface="Arial"/>
            </a:endParaRPr>
          </a:p>
        </p:txBody>
      </p:sp>
      <p:sp>
        <p:nvSpPr>
          <p:cNvPr id="63" name="object 51"/>
          <p:cNvSpPr txBox="1"/>
          <p:nvPr/>
        </p:nvSpPr>
        <p:spPr>
          <a:xfrm>
            <a:off x="3441382" y="3742068"/>
            <a:ext cx="549402" cy="8284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00"/>
              </a:spcBef>
            </a:pPr>
            <a:r>
              <a:rPr sz="1800" spc="-5" dirty="0" smtClean="0">
                <a:latin typeface="Arial MT"/>
                <a:cs typeface="Arial MT"/>
              </a:rPr>
              <a:t>10</a:t>
            </a:r>
            <a:endParaRPr lang="en-US" sz="1800" spc="-5" dirty="0" smtClean="0">
              <a:latin typeface="Arial MT"/>
              <a:cs typeface="Arial MT"/>
            </a:endParaRPr>
          </a:p>
          <a:p>
            <a:pPr marL="28575">
              <a:lnSpc>
                <a:spcPts val="2100"/>
              </a:lnSpc>
            </a:pPr>
            <a:endParaRPr sz="1800" dirty="0">
              <a:latin typeface="Arial MT"/>
              <a:cs typeface="Arial MT"/>
            </a:endParaRPr>
          </a:p>
          <a:p>
            <a:pPr marL="12700">
              <a:lnSpc>
                <a:spcPts val="2100"/>
              </a:lnSpc>
            </a:pPr>
            <a:r>
              <a:rPr sz="1800" spc="-15" dirty="0">
                <a:latin typeface="Arial MT"/>
                <a:cs typeface="Arial MT"/>
              </a:rPr>
              <a:t>16</a:t>
            </a:r>
            <a:endParaRPr sz="18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972311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8658" y="914146"/>
            <a:ext cx="590550" cy="552450"/>
            <a:chOff x="4248658" y="914146"/>
            <a:chExt cx="590550" cy="552450"/>
          </a:xfrm>
        </p:grpSpPr>
        <p:sp>
          <p:nvSpPr>
            <p:cNvPr id="3" name="object 3"/>
            <p:cNvSpPr/>
            <p:nvPr/>
          </p:nvSpPr>
          <p:spPr>
            <a:xfrm>
              <a:off x="4255008" y="92049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CF0E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255008" y="92049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476940" y="10749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28934" y="48451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971545" y="1455166"/>
            <a:ext cx="1428750" cy="793115"/>
            <a:chOff x="2971545" y="1455166"/>
            <a:chExt cx="1428750" cy="793115"/>
          </a:xfrm>
        </p:grpSpPr>
        <p:sp>
          <p:nvSpPr>
            <p:cNvPr id="8" name="object 8"/>
            <p:cNvSpPr/>
            <p:nvPr/>
          </p:nvSpPr>
          <p:spPr>
            <a:xfrm>
              <a:off x="3512819" y="1461516"/>
              <a:ext cx="881380" cy="317500"/>
            </a:xfrm>
            <a:custGeom>
              <a:avLst/>
              <a:gdLst/>
              <a:ahLst/>
              <a:cxnLst/>
              <a:rect l="l" t="t" r="r" b="b"/>
              <a:pathLst>
                <a:path w="881379" h="317500">
                  <a:moveTo>
                    <a:pt x="880872" y="0"/>
                  </a:moveTo>
                  <a:lnTo>
                    <a:pt x="0" y="316992"/>
                  </a:lnTo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77895" y="1702308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977895" y="170230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200590" y="1856041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52584" y="1303515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369820" y="2299716"/>
            <a:ext cx="805180" cy="601980"/>
          </a:xfrm>
          <a:custGeom>
            <a:avLst/>
            <a:gdLst/>
            <a:ahLst/>
            <a:cxnLst/>
            <a:rect l="l" t="t" r="r" b="b"/>
            <a:pathLst>
              <a:path w="805180" h="601980">
                <a:moveTo>
                  <a:pt x="804671" y="0"/>
                </a:moveTo>
                <a:lnTo>
                  <a:pt x="0" y="60198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5524246" y="1734056"/>
            <a:ext cx="590550" cy="552450"/>
            <a:chOff x="5524246" y="1734056"/>
            <a:chExt cx="590550" cy="552450"/>
          </a:xfrm>
        </p:grpSpPr>
        <p:sp>
          <p:nvSpPr>
            <p:cNvPr id="15" name="object 15"/>
            <p:cNvSpPr/>
            <p:nvPr/>
          </p:nvSpPr>
          <p:spPr>
            <a:xfrm>
              <a:off x="5530596" y="1740408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530596" y="174040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753290" y="1894141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705284" y="130366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700015" y="1481327"/>
            <a:ext cx="889000" cy="335280"/>
          </a:xfrm>
          <a:custGeom>
            <a:avLst/>
            <a:gdLst/>
            <a:ahLst/>
            <a:cxnLst/>
            <a:rect l="l" t="t" r="r" b="b"/>
            <a:pathLst>
              <a:path w="889000" h="335280">
                <a:moveTo>
                  <a:pt x="0" y="0"/>
                </a:moveTo>
                <a:lnTo>
                  <a:pt x="888491" y="33528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1975104" y="2965704"/>
            <a:ext cx="589915" cy="551815"/>
            <a:chOff x="1975104" y="2965704"/>
            <a:chExt cx="589915" cy="551815"/>
          </a:xfrm>
        </p:grpSpPr>
        <p:sp>
          <p:nvSpPr>
            <p:cNvPr id="21" name="object 21"/>
            <p:cNvSpPr/>
            <p:nvPr/>
          </p:nvSpPr>
          <p:spPr>
            <a:xfrm>
              <a:off x="1981200" y="2971800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CF0E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981200" y="2971800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190940" y="31133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123960" y="25418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810000" y="2971800"/>
            <a:ext cx="589915" cy="551815"/>
            <a:chOff x="3810000" y="2971800"/>
            <a:chExt cx="589915" cy="551815"/>
          </a:xfrm>
        </p:grpSpPr>
        <p:sp>
          <p:nvSpPr>
            <p:cNvPr id="26" name="object 26"/>
            <p:cNvSpPr/>
            <p:nvPr/>
          </p:nvSpPr>
          <p:spPr>
            <a:xfrm>
              <a:off x="38160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8160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038790" y="31323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990784" y="257986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648200" y="2971800"/>
            <a:ext cx="589915" cy="551815"/>
            <a:chOff x="4648200" y="2971800"/>
            <a:chExt cx="589915" cy="551815"/>
          </a:xfrm>
        </p:grpSpPr>
        <p:sp>
          <p:nvSpPr>
            <p:cNvPr id="31" name="object 31"/>
            <p:cNvSpPr/>
            <p:nvPr/>
          </p:nvSpPr>
          <p:spPr>
            <a:xfrm>
              <a:off x="46542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6542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4857940" y="31133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752784" y="256081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6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324600" y="2991611"/>
            <a:ext cx="589915" cy="551815"/>
            <a:chOff x="6324600" y="2991611"/>
            <a:chExt cx="589915" cy="551815"/>
          </a:xfrm>
        </p:grpSpPr>
        <p:sp>
          <p:nvSpPr>
            <p:cNvPr id="36" name="object 36"/>
            <p:cNvSpPr/>
            <p:nvPr/>
          </p:nvSpPr>
          <p:spPr>
            <a:xfrm>
              <a:off x="6330695" y="2997707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330695" y="2997707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6515290" y="30942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657708" y="265606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1353311" y="4152900"/>
            <a:ext cx="589915" cy="551815"/>
            <a:chOff x="1353311" y="4152900"/>
            <a:chExt cx="589915" cy="551815"/>
          </a:xfrm>
        </p:grpSpPr>
        <p:sp>
          <p:nvSpPr>
            <p:cNvPr id="41" name="object 41"/>
            <p:cNvSpPr/>
            <p:nvPr/>
          </p:nvSpPr>
          <p:spPr>
            <a:xfrm>
              <a:off x="1359407" y="41589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359407" y="41589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1517332" y="4313492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Arial MT"/>
                <a:cs typeface="Arial MT"/>
              </a:rPr>
              <a:t>10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457210" y="381811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2496311" y="4114800"/>
            <a:ext cx="589915" cy="551815"/>
            <a:chOff x="2496311" y="4114800"/>
            <a:chExt cx="589915" cy="551815"/>
          </a:xfrm>
        </p:grpSpPr>
        <p:sp>
          <p:nvSpPr>
            <p:cNvPr id="46" name="object 46"/>
            <p:cNvSpPr/>
            <p:nvPr/>
          </p:nvSpPr>
          <p:spPr>
            <a:xfrm>
              <a:off x="2502407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502407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2622232" y="4313492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Arial MT"/>
                <a:cs typeface="Arial MT"/>
              </a:rPr>
              <a:t>14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790710" y="37419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3314700" y="4114800"/>
            <a:ext cx="589915" cy="551815"/>
            <a:chOff x="3314700" y="4114800"/>
            <a:chExt cx="589915" cy="551815"/>
          </a:xfrm>
        </p:grpSpPr>
        <p:sp>
          <p:nvSpPr>
            <p:cNvPr id="51" name="object 51"/>
            <p:cNvSpPr/>
            <p:nvPr/>
          </p:nvSpPr>
          <p:spPr>
            <a:xfrm>
              <a:off x="3320795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320795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1870076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377499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82242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3329847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3774794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415573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6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600657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504407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553005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6060406" y="5820971"/>
            <a:ext cx="27876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5" dirty="0">
                <a:latin typeface="Arial MT"/>
                <a:cs typeface="Arial MT"/>
              </a:rPr>
              <a:t>10</a:t>
            </a:r>
            <a:endParaRPr sz="1800">
              <a:latin typeface="Arial MT"/>
              <a:cs typeface="Arial MT"/>
            </a:endParaRPr>
          </a:p>
        </p:txBody>
      </p:sp>
      <p:graphicFrame>
        <p:nvGraphicFramePr>
          <p:cNvPr id="54" name="object 54"/>
          <p:cNvGraphicFramePr>
            <a:graphicFrameLocks noGrp="1"/>
          </p:cNvGraphicFramePr>
          <p:nvPr/>
        </p:nvGraphicFramePr>
        <p:xfrm>
          <a:off x="1810511" y="5105400"/>
          <a:ext cx="4615813" cy="539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75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9495"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7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8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9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16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5" name="object 55"/>
          <p:cNvSpPr txBox="1"/>
          <p:nvPr/>
        </p:nvSpPr>
        <p:spPr>
          <a:xfrm>
            <a:off x="6022340" y="257047"/>
            <a:ext cx="258572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BUILD-MAX-HEAP(A)</a:t>
            </a:r>
            <a:endParaRPr sz="1200">
              <a:latin typeface="Arial"/>
              <a:cs typeface="Arial"/>
            </a:endParaRPr>
          </a:p>
          <a:p>
            <a:pPr marL="227329" marR="424815" indent="-215265">
              <a:lnSpc>
                <a:spcPct val="100000"/>
              </a:lnSpc>
            </a:pPr>
            <a:r>
              <a:rPr sz="1200" b="1" spc="-5" dirty="0">
                <a:latin typeface="Arial"/>
                <a:cs typeface="Arial"/>
              </a:rPr>
              <a:t>for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i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←</a:t>
            </a:r>
            <a:r>
              <a:rPr sz="1200" b="1" spc="-10" dirty="0">
                <a:latin typeface="Arial"/>
                <a:cs typeface="Arial"/>
              </a:rPr>
              <a:t> length[A]</a:t>
            </a:r>
            <a:r>
              <a:rPr sz="1200" b="1" spc="4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downto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2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do </a:t>
            </a:r>
            <a:r>
              <a:rPr sz="1200" b="1" spc="-3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exc</a:t>
            </a:r>
            <a:r>
              <a:rPr sz="1200" b="1" spc="-5" dirty="0">
                <a:latin typeface="Arial"/>
                <a:cs typeface="Arial"/>
              </a:rPr>
              <a:t>h</a:t>
            </a:r>
            <a:r>
              <a:rPr sz="1200" b="1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ng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-80" dirty="0">
                <a:latin typeface="Arial"/>
                <a:cs typeface="Arial"/>
              </a:rPr>
              <a:t> </a:t>
            </a:r>
            <a:r>
              <a:rPr sz="1200" b="1" spc="-40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[</a:t>
            </a:r>
            <a:r>
              <a:rPr sz="1200" b="1" dirty="0">
                <a:latin typeface="Arial"/>
                <a:cs typeface="Arial"/>
              </a:rPr>
              <a:t>1]</a:t>
            </a:r>
            <a:r>
              <a:rPr sz="1200" b="1" spc="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↔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spc="-40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[</a:t>
            </a:r>
            <a:r>
              <a:rPr sz="1200" b="1" dirty="0">
                <a:latin typeface="Arial"/>
                <a:cs typeface="Arial"/>
              </a:rPr>
              <a:t>i]</a:t>
            </a:r>
            <a:endParaRPr sz="1200">
              <a:latin typeface="Arial"/>
              <a:cs typeface="Arial"/>
            </a:endParaRPr>
          </a:p>
          <a:p>
            <a:pPr marL="269875" marR="5080">
              <a:lnSpc>
                <a:spcPct val="100000"/>
              </a:lnSpc>
            </a:pPr>
            <a:r>
              <a:rPr sz="1200" b="1" spc="-5" dirty="0">
                <a:latin typeface="Arial"/>
                <a:cs typeface="Arial"/>
              </a:rPr>
              <a:t>heap-size[A]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← </a:t>
            </a:r>
            <a:r>
              <a:rPr sz="1200" b="1" spc="-10" dirty="0">
                <a:latin typeface="Arial"/>
                <a:cs typeface="Arial"/>
              </a:rPr>
              <a:t>heap-size[A]</a:t>
            </a:r>
            <a:r>
              <a:rPr sz="1200" b="1" spc="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–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 </a:t>
            </a:r>
            <a:r>
              <a:rPr sz="1200" b="1" spc="-32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MAX-HEAPIFY(A,</a:t>
            </a:r>
            <a:r>
              <a:rPr sz="1200" b="1" spc="5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1)</a:t>
            </a:r>
            <a:endParaRPr sz="1200">
              <a:latin typeface="Arial"/>
              <a:cs typeface="Arial"/>
            </a:endParaRPr>
          </a:p>
        </p:txBody>
      </p:sp>
      <p:sp>
        <p:nvSpPr>
          <p:cNvPr id="66" name="object 51"/>
          <p:cNvSpPr txBox="1"/>
          <p:nvPr/>
        </p:nvSpPr>
        <p:spPr>
          <a:xfrm>
            <a:off x="3441382" y="3742068"/>
            <a:ext cx="549402" cy="8284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00"/>
              </a:spcBef>
            </a:pPr>
            <a:r>
              <a:rPr sz="1800" spc="-5" dirty="0" smtClean="0">
                <a:latin typeface="Arial MT"/>
                <a:cs typeface="Arial MT"/>
              </a:rPr>
              <a:t>10</a:t>
            </a:r>
            <a:endParaRPr lang="en-US" sz="1800" spc="-5" dirty="0" smtClean="0">
              <a:latin typeface="Arial MT"/>
              <a:cs typeface="Arial MT"/>
            </a:endParaRPr>
          </a:p>
          <a:p>
            <a:pPr marL="28575">
              <a:lnSpc>
                <a:spcPts val="2100"/>
              </a:lnSpc>
            </a:pPr>
            <a:endParaRPr sz="1800" dirty="0">
              <a:latin typeface="Arial MT"/>
              <a:cs typeface="Arial MT"/>
            </a:endParaRPr>
          </a:p>
          <a:p>
            <a:pPr marL="12700">
              <a:lnSpc>
                <a:spcPts val="2100"/>
              </a:lnSpc>
            </a:pPr>
            <a:r>
              <a:rPr sz="1800" spc="-15" dirty="0">
                <a:latin typeface="Arial MT"/>
                <a:cs typeface="Arial MT"/>
              </a:rPr>
              <a:t>16</a:t>
            </a:r>
            <a:endParaRPr sz="18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039572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76940" y="10749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28934" y="48451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971545" y="1455166"/>
            <a:ext cx="1428750" cy="793115"/>
            <a:chOff x="2971545" y="1455166"/>
            <a:chExt cx="1428750" cy="793115"/>
          </a:xfrm>
        </p:grpSpPr>
        <p:sp>
          <p:nvSpPr>
            <p:cNvPr id="5" name="object 5"/>
            <p:cNvSpPr/>
            <p:nvPr/>
          </p:nvSpPr>
          <p:spPr>
            <a:xfrm>
              <a:off x="3512819" y="1461516"/>
              <a:ext cx="881380" cy="317500"/>
            </a:xfrm>
            <a:custGeom>
              <a:avLst/>
              <a:gdLst/>
              <a:ahLst/>
              <a:cxnLst/>
              <a:rect l="l" t="t" r="r" b="b"/>
              <a:pathLst>
                <a:path w="881379" h="317500">
                  <a:moveTo>
                    <a:pt x="880872" y="0"/>
                  </a:moveTo>
                  <a:lnTo>
                    <a:pt x="0" y="316992"/>
                  </a:lnTo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77895" y="1702308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977895" y="170230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200590" y="1856041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52584" y="1303515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524246" y="1734056"/>
            <a:ext cx="590550" cy="552450"/>
            <a:chOff x="5524246" y="1734056"/>
            <a:chExt cx="590550" cy="552450"/>
          </a:xfrm>
        </p:grpSpPr>
        <p:sp>
          <p:nvSpPr>
            <p:cNvPr id="11" name="object 11"/>
            <p:cNvSpPr/>
            <p:nvPr/>
          </p:nvSpPr>
          <p:spPr>
            <a:xfrm>
              <a:off x="5530596" y="1740408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530596" y="174040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753290" y="1894141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705284" y="130366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700015" y="1481327"/>
            <a:ext cx="889000" cy="335280"/>
          </a:xfrm>
          <a:custGeom>
            <a:avLst/>
            <a:gdLst/>
            <a:ahLst/>
            <a:cxnLst/>
            <a:rect l="l" t="t" r="r" b="b"/>
            <a:pathLst>
              <a:path w="889000" h="335280">
                <a:moveTo>
                  <a:pt x="0" y="0"/>
                </a:moveTo>
                <a:lnTo>
                  <a:pt x="888491" y="33528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1975104" y="2965704"/>
            <a:ext cx="589915" cy="551815"/>
            <a:chOff x="1975104" y="2965704"/>
            <a:chExt cx="589915" cy="551815"/>
          </a:xfrm>
        </p:grpSpPr>
        <p:sp>
          <p:nvSpPr>
            <p:cNvPr id="17" name="object 17"/>
            <p:cNvSpPr/>
            <p:nvPr/>
          </p:nvSpPr>
          <p:spPr>
            <a:xfrm>
              <a:off x="1981200" y="2971800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81200" y="2971800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190940" y="31133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123960" y="25418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810000" y="2971800"/>
            <a:ext cx="589915" cy="551815"/>
            <a:chOff x="3810000" y="2971800"/>
            <a:chExt cx="589915" cy="551815"/>
          </a:xfrm>
        </p:grpSpPr>
        <p:sp>
          <p:nvSpPr>
            <p:cNvPr id="22" name="object 22"/>
            <p:cNvSpPr/>
            <p:nvPr/>
          </p:nvSpPr>
          <p:spPr>
            <a:xfrm>
              <a:off x="38160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8160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038790" y="31323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990784" y="257986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648200" y="2971800"/>
            <a:ext cx="589915" cy="551815"/>
            <a:chOff x="4648200" y="2971800"/>
            <a:chExt cx="589915" cy="551815"/>
          </a:xfrm>
        </p:grpSpPr>
        <p:sp>
          <p:nvSpPr>
            <p:cNvPr id="27" name="object 27"/>
            <p:cNvSpPr/>
            <p:nvPr/>
          </p:nvSpPr>
          <p:spPr>
            <a:xfrm>
              <a:off x="46542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6542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857940" y="31133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752784" y="256081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6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324600" y="2991611"/>
            <a:ext cx="589915" cy="551815"/>
            <a:chOff x="6324600" y="2991611"/>
            <a:chExt cx="589915" cy="551815"/>
          </a:xfrm>
        </p:grpSpPr>
        <p:sp>
          <p:nvSpPr>
            <p:cNvPr id="32" name="object 32"/>
            <p:cNvSpPr/>
            <p:nvPr/>
          </p:nvSpPr>
          <p:spPr>
            <a:xfrm>
              <a:off x="6330695" y="2997707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330695" y="2997707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515290" y="30942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657708" y="265606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1353311" y="4152900"/>
            <a:ext cx="589915" cy="551815"/>
            <a:chOff x="1353311" y="4152900"/>
            <a:chExt cx="589915" cy="551815"/>
          </a:xfrm>
        </p:grpSpPr>
        <p:sp>
          <p:nvSpPr>
            <p:cNvPr id="37" name="object 37"/>
            <p:cNvSpPr/>
            <p:nvPr/>
          </p:nvSpPr>
          <p:spPr>
            <a:xfrm>
              <a:off x="1359407" y="41589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359407" y="41589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1517332" y="4313492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Arial MT"/>
                <a:cs typeface="Arial MT"/>
              </a:rPr>
              <a:t>10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457210" y="381811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2496311" y="4114800"/>
            <a:ext cx="589915" cy="551815"/>
            <a:chOff x="2496311" y="4114800"/>
            <a:chExt cx="589915" cy="551815"/>
          </a:xfrm>
        </p:grpSpPr>
        <p:sp>
          <p:nvSpPr>
            <p:cNvPr id="42" name="object 42"/>
            <p:cNvSpPr/>
            <p:nvPr/>
          </p:nvSpPr>
          <p:spPr>
            <a:xfrm>
              <a:off x="2502407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502407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2622232" y="4313492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Arial MT"/>
                <a:cs typeface="Arial MT"/>
              </a:rPr>
              <a:t>14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790710" y="37419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3314700" y="4114800"/>
            <a:ext cx="589915" cy="551815"/>
            <a:chOff x="3314700" y="4114800"/>
            <a:chExt cx="589915" cy="551815"/>
          </a:xfrm>
        </p:grpSpPr>
        <p:sp>
          <p:nvSpPr>
            <p:cNvPr id="47" name="object 47"/>
            <p:cNvSpPr/>
            <p:nvPr/>
          </p:nvSpPr>
          <p:spPr>
            <a:xfrm>
              <a:off x="3320795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320795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1870076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377499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82242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329847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774794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15573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6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600657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04407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553005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060406" y="5820971"/>
            <a:ext cx="27876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5" dirty="0">
                <a:latin typeface="Arial MT"/>
                <a:cs typeface="Arial MT"/>
              </a:rPr>
              <a:t>10</a:t>
            </a:r>
            <a:endParaRPr sz="1800">
              <a:latin typeface="Arial MT"/>
              <a:cs typeface="Arial MT"/>
            </a:endParaRPr>
          </a:p>
        </p:txBody>
      </p:sp>
      <p:graphicFrame>
        <p:nvGraphicFramePr>
          <p:cNvPr id="50" name="object 50"/>
          <p:cNvGraphicFramePr>
            <a:graphicFrameLocks noGrp="1"/>
          </p:cNvGraphicFramePr>
          <p:nvPr/>
        </p:nvGraphicFramePr>
        <p:xfrm>
          <a:off x="1810511" y="5105400"/>
          <a:ext cx="4615813" cy="539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75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9495"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7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8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9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16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1" name="object 51"/>
          <p:cNvSpPr txBox="1"/>
          <p:nvPr/>
        </p:nvSpPr>
        <p:spPr>
          <a:xfrm>
            <a:off x="6022340" y="257047"/>
            <a:ext cx="258572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BUILD-MAX-HEAP(A)</a:t>
            </a:r>
            <a:endParaRPr sz="1200">
              <a:latin typeface="Arial"/>
              <a:cs typeface="Arial"/>
            </a:endParaRPr>
          </a:p>
          <a:p>
            <a:pPr marL="227329" marR="424815" indent="-215265">
              <a:lnSpc>
                <a:spcPct val="100000"/>
              </a:lnSpc>
            </a:pPr>
            <a:r>
              <a:rPr sz="1200" b="1" spc="-5" dirty="0">
                <a:latin typeface="Arial"/>
                <a:cs typeface="Arial"/>
              </a:rPr>
              <a:t>for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i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←</a:t>
            </a:r>
            <a:r>
              <a:rPr sz="1200" b="1" spc="-10" dirty="0">
                <a:latin typeface="Arial"/>
                <a:cs typeface="Arial"/>
              </a:rPr>
              <a:t> length[A]</a:t>
            </a:r>
            <a:r>
              <a:rPr sz="1200" b="1" spc="4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downto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2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do </a:t>
            </a:r>
            <a:r>
              <a:rPr sz="1200" b="1" spc="-3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exc</a:t>
            </a:r>
            <a:r>
              <a:rPr sz="1200" b="1" spc="-5" dirty="0">
                <a:latin typeface="Arial"/>
                <a:cs typeface="Arial"/>
              </a:rPr>
              <a:t>h</a:t>
            </a:r>
            <a:r>
              <a:rPr sz="1200" b="1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ng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-80" dirty="0">
                <a:latin typeface="Arial"/>
                <a:cs typeface="Arial"/>
              </a:rPr>
              <a:t> </a:t>
            </a:r>
            <a:r>
              <a:rPr sz="1200" b="1" spc="-40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[</a:t>
            </a:r>
            <a:r>
              <a:rPr sz="1200" b="1" dirty="0">
                <a:latin typeface="Arial"/>
                <a:cs typeface="Arial"/>
              </a:rPr>
              <a:t>1]</a:t>
            </a:r>
            <a:r>
              <a:rPr sz="1200" b="1" spc="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↔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spc="-40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[</a:t>
            </a:r>
            <a:r>
              <a:rPr sz="1200" b="1" dirty="0">
                <a:latin typeface="Arial"/>
                <a:cs typeface="Arial"/>
              </a:rPr>
              <a:t>i]</a:t>
            </a:r>
            <a:endParaRPr sz="1200">
              <a:latin typeface="Arial"/>
              <a:cs typeface="Arial"/>
            </a:endParaRPr>
          </a:p>
          <a:p>
            <a:pPr marL="269875" marR="5080">
              <a:lnSpc>
                <a:spcPct val="100000"/>
              </a:lnSpc>
            </a:pPr>
            <a:r>
              <a:rPr sz="1200" b="1" spc="-5" dirty="0">
                <a:latin typeface="Arial"/>
                <a:cs typeface="Arial"/>
              </a:rPr>
              <a:t>heap-size[A]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← </a:t>
            </a:r>
            <a:r>
              <a:rPr sz="1200" b="1" spc="-10" dirty="0">
                <a:latin typeface="Arial"/>
                <a:cs typeface="Arial"/>
              </a:rPr>
              <a:t>heap-size[A]</a:t>
            </a:r>
            <a:r>
              <a:rPr sz="1200" b="1" spc="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–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 </a:t>
            </a:r>
            <a:r>
              <a:rPr sz="1200" b="1" spc="-32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MAX-HEAPIFY(A,</a:t>
            </a:r>
            <a:r>
              <a:rPr sz="1200" b="1" spc="5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1)</a:t>
            </a:r>
            <a:endParaRPr sz="1200">
              <a:latin typeface="Arial"/>
              <a:cs typeface="Arial"/>
            </a:endParaRPr>
          </a:p>
        </p:txBody>
      </p:sp>
      <p:sp>
        <p:nvSpPr>
          <p:cNvPr id="62" name="object 51"/>
          <p:cNvSpPr txBox="1"/>
          <p:nvPr/>
        </p:nvSpPr>
        <p:spPr>
          <a:xfrm>
            <a:off x="3441382" y="3742068"/>
            <a:ext cx="549402" cy="8284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00"/>
              </a:spcBef>
            </a:pPr>
            <a:r>
              <a:rPr sz="1800" spc="-5" dirty="0" smtClean="0">
                <a:latin typeface="Arial MT"/>
                <a:cs typeface="Arial MT"/>
              </a:rPr>
              <a:t>10</a:t>
            </a:r>
            <a:endParaRPr lang="en-US" sz="1800" spc="-5" dirty="0" smtClean="0">
              <a:latin typeface="Arial MT"/>
              <a:cs typeface="Arial MT"/>
            </a:endParaRPr>
          </a:p>
          <a:p>
            <a:pPr marL="28575">
              <a:lnSpc>
                <a:spcPts val="2100"/>
              </a:lnSpc>
            </a:pPr>
            <a:endParaRPr sz="1800" dirty="0">
              <a:latin typeface="Arial MT"/>
              <a:cs typeface="Arial MT"/>
            </a:endParaRPr>
          </a:p>
          <a:p>
            <a:pPr marL="12700">
              <a:lnSpc>
                <a:spcPts val="2100"/>
              </a:lnSpc>
            </a:pPr>
            <a:r>
              <a:rPr sz="1800" spc="-15" dirty="0">
                <a:latin typeface="Arial MT"/>
                <a:cs typeface="Arial MT"/>
              </a:rPr>
              <a:t>16</a:t>
            </a:r>
            <a:endParaRPr sz="18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381753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76940" y="10749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28934" y="48451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971545" y="1455166"/>
            <a:ext cx="1428750" cy="793115"/>
            <a:chOff x="2971545" y="1455166"/>
            <a:chExt cx="1428750" cy="793115"/>
          </a:xfrm>
        </p:grpSpPr>
        <p:sp>
          <p:nvSpPr>
            <p:cNvPr id="5" name="object 5"/>
            <p:cNvSpPr/>
            <p:nvPr/>
          </p:nvSpPr>
          <p:spPr>
            <a:xfrm>
              <a:off x="3512819" y="1461516"/>
              <a:ext cx="881380" cy="317500"/>
            </a:xfrm>
            <a:custGeom>
              <a:avLst/>
              <a:gdLst/>
              <a:ahLst/>
              <a:cxnLst/>
              <a:rect l="l" t="t" r="r" b="b"/>
              <a:pathLst>
                <a:path w="881379" h="317500">
                  <a:moveTo>
                    <a:pt x="880872" y="0"/>
                  </a:moveTo>
                  <a:lnTo>
                    <a:pt x="0" y="316992"/>
                  </a:lnTo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77895" y="1702308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977895" y="170230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200590" y="1856041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52584" y="1303515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524246" y="1734056"/>
            <a:ext cx="590550" cy="552450"/>
            <a:chOff x="5524246" y="1734056"/>
            <a:chExt cx="590550" cy="552450"/>
          </a:xfrm>
        </p:grpSpPr>
        <p:sp>
          <p:nvSpPr>
            <p:cNvPr id="11" name="object 11"/>
            <p:cNvSpPr/>
            <p:nvPr/>
          </p:nvSpPr>
          <p:spPr>
            <a:xfrm>
              <a:off x="5530596" y="1740408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530596" y="174040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753290" y="1894141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705284" y="130366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700015" y="1481327"/>
            <a:ext cx="889000" cy="335280"/>
          </a:xfrm>
          <a:custGeom>
            <a:avLst/>
            <a:gdLst/>
            <a:ahLst/>
            <a:cxnLst/>
            <a:rect l="l" t="t" r="r" b="b"/>
            <a:pathLst>
              <a:path w="889000" h="335280">
                <a:moveTo>
                  <a:pt x="0" y="0"/>
                </a:moveTo>
                <a:lnTo>
                  <a:pt x="888491" y="33528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1975104" y="2965704"/>
            <a:ext cx="589915" cy="551815"/>
            <a:chOff x="1975104" y="2965704"/>
            <a:chExt cx="589915" cy="551815"/>
          </a:xfrm>
        </p:grpSpPr>
        <p:sp>
          <p:nvSpPr>
            <p:cNvPr id="17" name="object 17"/>
            <p:cNvSpPr/>
            <p:nvPr/>
          </p:nvSpPr>
          <p:spPr>
            <a:xfrm>
              <a:off x="1981200" y="2971800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81200" y="2971800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190940" y="31133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123960" y="25418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810000" y="2971800"/>
            <a:ext cx="589915" cy="551815"/>
            <a:chOff x="3810000" y="2971800"/>
            <a:chExt cx="589915" cy="551815"/>
          </a:xfrm>
        </p:grpSpPr>
        <p:sp>
          <p:nvSpPr>
            <p:cNvPr id="22" name="object 22"/>
            <p:cNvSpPr/>
            <p:nvPr/>
          </p:nvSpPr>
          <p:spPr>
            <a:xfrm>
              <a:off x="38160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8160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038790" y="31323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990784" y="257986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648200" y="2971800"/>
            <a:ext cx="589915" cy="551815"/>
            <a:chOff x="4648200" y="2971800"/>
            <a:chExt cx="589915" cy="551815"/>
          </a:xfrm>
        </p:grpSpPr>
        <p:sp>
          <p:nvSpPr>
            <p:cNvPr id="27" name="object 27"/>
            <p:cNvSpPr/>
            <p:nvPr/>
          </p:nvSpPr>
          <p:spPr>
            <a:xfrm>
              <a:off x="46542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6542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857940" y="31133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752784" y="256081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6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324600" y="2991611"/>
            <a:ext cx="589915" cy="551815"/>
            <a:chOff x="6324600" y="2991611"/>
            <a:chExt cx="589915" cy="551815"/>
          </a:xfrm>
        </p:grpSpPr>
        <p:sp>
          <p:nvSpPr>
            <p:cNvPr id="32" name="object 32"/>
            <p:cNvSpPr/>
            <p:nvPr/>
          </p:nvSpPr>
          <p:spPr>
            <a:xfrm>
              <a:off x="6330695" y="2997707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330695" y="2997707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515290" y="30942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657708" y="265606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1353311" y="4152900"/>
            <a:ext cx="589915" cy="551815"/>
            <a:chOff x="1353311" y="4152900"/>
            <a:chExt cx="589915" cy="551815"/>
          </a:xfrm>
        </p:grpSpPr>
        <p:sp>
          <p:nvSpPr>
            <p:cNvPr id="37" name="object 37"/>
            <p:cNvSpPr/>
            <p:nvPr/>
          </p:nvSpPr>
          <p:spPr>
            <a:xfrm>
              <a:off x="1359407" y="41589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359407" y="41589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1517332" y="4313492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Arial MT"/>
                <a:cs typeface="Arial MT"/>
              </a:rPr>
              <a:t>10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457210" y="381811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2496311" y="4114800"/>
            <a:ext cx="589915" cy="551815"/>
            <a:chOff x="2496311" y="4114800"/>
            <a:chExt cx="589915" cy="551815"/>
          </a:xfrm>
        </p:grpSpPr>
        <p:sp>
          <p:nvSpPr>
            <p:cNvPr id="42" name="object 42"/>
            <p:cNvSpPr/>
            <p:nvPr/>
          </p:nvSpPr>
          <p:spPr>
            <a:xfrm>
              <a:off x="2502407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502407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2622232" y="4313492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Arial MT"/>
                <a:cs typeface="Arial MT"/>
              </a:rPr>
              <a:t>14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790710" y="37419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3314700" y="4114800"/>
            <a:ext cx="589915" cy="551815"/>
            <a:chOff x="3314700" y="4114800"/>
            <a:chExt cx="589915" cy="551815"/>
          </a:xfrm>
        </p:grpSpPr>
        <p:sp>
          <p:nvSpPr>
            <p:cNvPr id="47" name="object 47"/>
            <p:cNvSpPr/>
            <p:nvPr/>
          </p:nvSpPr>
          <p:spPr>
            <a:xfrm>
              <a:off x="3320795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320795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1870076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377499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82242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329847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774794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15573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6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600657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04407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553005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060406" y="5820971"/>
            <a:ext cx="27876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5" dirty="0">
                <a:latin typeface="Arial MT"/>
                <a:cs typeface="Arial MT"/>
              </a:rPr>
              <a:t>10</a:t>
            </a:r>
            <a:endParaRPr sz="1800">
              <a:latin typeface="Arial MT"/>
              <a:cs typeface="Arial MT"/>
            </a:endParaRPr>
          </a:p>
        </p:txBody>
      </p:sp>
      <p:graphicFrame>
        <p:nvGraphicFramePr>
          <p:cNvPr id="50" name="object 50"/>
          <p:cNvGraphicFramePr>
            <a:graphicFrameLocks noGrp="1"/>
          </p:cNvGraphicFramePr>
          <p:nvPr/>
        </p:nvGraphicFramePr>
        <p:xfrm>
          <a:off x="1810511" y="5105400"/>
          <a:ext cx="4615813" cy="539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75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9495"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7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8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9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16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1" name="object 51"/>
          <p:cNvSpPr txBox="1"/>
          <p:nvPr/>
        </p:nvSpPr>
        <p:spPr>
          <a:xfrm>
            <a:off x="6022340" y="257047"/>
            <a:ext cx="258572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BUILD-MAX-HEAP(A)</a:t>
            </a:r>
            <a:endParaRPr sz="1200">
              <a:latin typeface="Arial"/>
              <a:cs typeface="Arial"/>
            </a:endParaRPr>
          </a:p>
          <a:p>
            <a:pPr marL="227329" marR="424815" indent="-215265">
              <a:lnSpc>
                <a:spcPct val="100000"/>
              </a:lnSpc>
            </a:pPr>
            <a:r>
              <a:rPr sz="1200" b="1" spc="-5" dirty="0">
                <a:latin typeface="Arial"/>
                <a:cs typeface="Arial"/>
              </a:rPr>
              <a:t>for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i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←</a:t>
            </a:r>
            <a:r>
              <a:rPr sz="1200" b="1" spc="-10" dirty="0">
                <a:latin typeface="Arial"/>
                <a:cs typeface="Arial"/>
              </a:rPr>
              <a:t> length[A]</a:t>
            </a:r>
            <a:r>
              <a:rPr sz="1200" b="1" spc="4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downto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2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do </a:t>
            </a:r>
            <a:r>
              <a:rPr sz="1200" b="1" spc="-3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exc</a:t>
            </a:r>
            <a:r>
              <a:rPr sz="1200" b="1" spc="-5" dirty="0">
                <a:latin typeface="Arial"/>
                <a:cs typeface="Arial"/>
              </a:rPr>
              <a:t>h</a:t>
            </a:r>
            <a:r>
              <a:rPr sz="1200" b="1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ng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-80" dirty="0">
                <a:latin typeface="Arial"/>
                <a:cs typeface="Arial"/>
              </a:rPr>
              <a:t> </a:t>
            </a:r>
            <a:r>
              <a:rPr sz="1200" b="1" spc="-40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[</a:t>
            </a:r>
            <a:r>
              <a:rPr sz="1200" b="1" dirty="0">
                <a:latin typeface="Arial"/>
                <a:cs typeface="Arial"/>
              </a:rPr>
              <a:t>1]</a:t>
            </a:r>
            <a:r>
              <a:rPr sz="1200" b="1" spc="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↔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spc="-40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[</a:t>
            </a:r>
            <a:r>
              <a:rPr sz="1200" b="1" dirty="0">
                <a:latin typeface="Arial"/>
                <a:cs typeface="Arial"/>
              </a:rPr>
              <a:t>i]</a:t>
            </a:r>
            <a:endParaRPr sz="1200">
              <a:latin typeface="Arial"/>
              <a:cs typeface="Arial"/>
            </a:endParaRPr>
          </a:p>
          <a:p>
            <a:pPr marL="269875" marR="5080">
              <a:lnSpc>
                <a:spcPct val="100000"/>
              </a:lnSpc>
            </a:pPr>
            <a:r>
              <a:rPr sz="1200" b="1" spc="-5" dirty="0">
                <a:latin typeface="Arial"/>
                <a:cs typeface="Arial"/>
              </a:rPr>
              <a:t>heap-size[A]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← </a:t>
            </a:r>
            <a:r>
              <a:rPr sz="1200" b="1" spc="-10" dirty="0">
                <a:latin typeface="Arial"/>
                <a:cs typeface="Arial"/>
              </a:rPr>
              <a:t>heap-size[A]</a:t>
            </a:r>
            <a:r>
              <a:rPr sz="1200" b="1" spc="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–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 </a:t>
            </a:r>
            <a:r>
              <a:rPr sz="1200" b="1" spc="-32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MAX-HEAPIFY(A,</a:t>
            </a:r>
            <a:r>
              <a:rPr sz="1200" b="1" spc="5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1)</a:t>
            </a:r>
            <a:endParaRPr sz="1200">
              <a:latin typeface="Arial"/>
              <a:cs typeface="Arial"/>
            </a:endParaRPr>
          </a:p>
        </p:txBody>
      </p:sp>
      <p:sp>
        <p:nvSpPr>
          <p:cNvPr id="62" name="object 51"/>
          <p:cNvSpPr txBox="1"/>
          <p:nvPr/>
        </p:nvSpPr>
        <p:spPr>
          <a:xfrm>
            <a:off x="3441382" y="3742068"/>
            <a:ext cx="549402" cy="8284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00"/>
              </a:spcBef>
            </a:pPr>
            <a:r>
              <a:rPr sz="1800" spc="-5" dirty="0" smtClean="0">
                <a:latin typeface="Arial MT"/>
                <a:cs typeface="Arial MT"/>
              </a:rPr>
              <a:t>10</a:t>
            </a:r>
            <a:endParaRPr lang="en-US" sz="1800" spc="-5" dirty="0" smtClean="0">
              <a:latin typeface="Arial MT"/>
              <a:cs typeface="Arial MT"/>
            </a:endParaRPr>
          </a:p>
          <a:p>
            <a:pPr marL="28575">
              <a:lnSpc>
                <a:spcPts val="2100"/>
              </a:lnSpc>
            </a:pPr>
            <a:endParaRPr sz="1800" dirty="0">
              <a:latin typeface="Arial MT"/>
              <a:cs typeface="Arial MT"/>
            </a:endParaRPr>
          </a:p>
          <a:p>
            <a:pPr marL="12700">
              <a:lnSpc>
                <a:spcPts val="2100"/>
              </a:lnSpc>
            </a:pPr>
            <a:r>
              <a:rPr sz="1800" spc="-15" dirty="0">
                <a:latin typeface="Arial MT"/>
                <a:cs typeface="Arial MT"/>
              </a:rPr>
              <a:t>16</a:t>
            </a:r>
            <a:endParaRPr sz="18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932477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8658" y="914146"/>
            <a:ext cx="590550" cy="552450"/>
            <a:chOff x="4248658" y="914146"/>
            <a:chExt cx="590550" cy="552450"/>
          </a:xfrm>
        </p:grpSpPr>
        <p:sp>
          <p:nvSpPr>
            <p:cNvPr id="3" name="object 3"/>
            <p:cNvSpPr/>
            <p:nvPr/>
          </p:nvSpPr>
          <p:spPr>
            <a:xfrm>
              <a:off x="4255008" y="92049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CF0E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255008" y="92049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476940" y="10749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28934" y="48451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971545" y="1455166"/>
            <a:ext cx="1428750" cy="793115"/>
            <a:chOff x="2971545" y="1455166"/>
            <a:chExt cx="1428750" cy="793115"/>
          </a:xfrm>
        </p:grpSpPr>
        <p:sp>
          <p:nvSpPr>
            <p:cNvPr id="8" name="object 8"/>
            <p:cNvSpPr/>
            <p:nvPr/>
          </p:nvSpPr>
          <p:spPr>
            <a:xfrm>
              <a:off x="3512819" y="1461516"/>
              <a:ext cx="881380" cy="317500"/>
            </a:xfrm>
            <a:custGeom>
              <a:avLst/>
              <a:gdLst/>
              <a:ahLst/>
              <a:cxnLst/>
              <a:rect l="l" t="t" r="r" b="b"/>
              <a:pathLst>
                <a:path w="881379" h="317500">
                  <a:moveTo>
                    <a:pt x="880872" y="0"/>
                  </a:moveTo>
                  <a:lnTo>
                    <a:pt x="0" y="316992"/>
                  </a:lnTo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77895" y="1702308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977895" y="170230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200590" y="1856041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52584" y="1303515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524246" y="1734056"/>
            <a:ext cx="590550" cy="552450"/>
            <a:chOff x="5524246" y="1734056"/>
            <a:chExt cx="590550" cy="552450"/>
          </a:xfrm>
        </p:grpSpPr>
        <p:sp>
          <p:nvSpPr>
            <p:cNvPr id="14" name="object 14"/>
            <p:cNvSpPr/>
            <p:nvPr/>
          </p:nvSpPr>
          <p:spPr>
            <a:xfrm>
              <a:off x="5530596" y="1740408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CF0E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530596" y="174040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753290" y="1894141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705284" y="130366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700015" y="1481327"/>
            <a:ext cx="889000" cy="335280"/>
          </a:xfrm>
          <a:custGeom>
            <a:avLst/>
            <a:gdLst/>
            <a:ahLst/>
            <a:cxnLst/>
            <a:rect l="l" t="t" r="r" b="b"/>
            <a:pathLst>
              <a:path w="889000" h="335280">
                <a:moveTo>
                  <a:pt x="0" y="0"/>
                </a:moveTo>
                <a:lnTo>
                  <a:pt x="888491" y="33528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1975104" y="2965704"/>
            <a:ext cx="589915" cy="551815"/>
            <a:chOff x="1975104" y="2965704"/>
            <a:chExt cx="589915" cy="551815"/>
          </a:xfrm>
        </p:grpSpPr>
        <p:sp>
          <p:nvSpPr>
            <p:cNvPr id="20" name="object 20"/>
            <p:cNvSpPr/>
            <p:nvPr/>
          </p:nvSpPr>
          <p:spPr>
            <a:xfrm>
              <a:off x="1981200" y="2971800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981200" y="2971800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190940" y="31133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123960" y="25418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810000" y="2971800"/>
            <a:ext cx="589915" cy="551815"/>
            <a:chOff x="3810000" y="2971800"/>
            <a:chExt cx="589915" cy="551815"/>
          </a:xfrm>
        </p:grpSpPr>
        <p:sp>
          <p:nvSpPr>
            <p:cNvPr id="25" name="object 25"/>
            <p:cNvSpPr/>
            <p:nvPr/>
          </p:nvSpPr>
          <p:spPr>
            <a:xfrm>
              <a:off x="38160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8160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4038790" y="31323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990784" y="257986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648200" y="2971800"/>
            <a:ext cx="589915" cy="551815"/>
            <a:chOff x="4648200" y="2971800"/>
            <a:chExt cx="589915" cy="551815"/>
          </a:xfrm>
        </p:grpSpPr>
        <p:sp>
          <p:nvSpPr>
            <p:cNvPr id="30" name="object 30"/>
            <p:cNvSpPr/>
            <p:nvPr/>
          </p:nvSpPr>
          <p:spPr>
            <a:xfrm>
              <a:off x="46542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6542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857940" y="31133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752784" y="256081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6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324600" y="2991611"/>
            <a:ext cx="589915" cy="551815"/>
            <a:chOff x="6324600" y="2991611"/>
            <a:chExt cx="589915" cy="551815"/>
          </a:xfrm>
        </p:grpSpPr>
        <p:sp>
          <p:nvSpPr>
            <p:cNvPr id="35" name="object 35"/>
            <p:cNvSpPr/>
            <p:nvPr/>
          </p:nvSpPr>
          <p:spPr>
            <a:xfrm>
              <a:off x="6330695" y="2997707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330695" y="2997707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6515290" y="30942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657708" y="265606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353311" y="4152900"/>
            <a:ext cx="589915" cy="551815"/>
            <a:chOff x="1353311" y="4152900"/>
            <a:chExt cx="589915" cy="551815"/>
          </a:xfrm>
        </p:grpSpPr>
        <p:sp>
          <p:nvSpPr>
            <p:cNvPr id="40" name="object 40"/>
            <p:cNvSpPr/>
            <p:nvPr/>
          </p:nvSpPr>
          <p:spPr>
            <a:xfrm>
              <a:off x="1359407" y="41589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359407" y="41589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1517332" y="4313492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Arial MT"/>
                <a:cs typeface="Arial MT"/>
              </a:rPr>
              <a:t>10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457210" y="381811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2496311" y="4114800"/>
            <a:ext cx="589915" cy="551815"/>
            <a:chOff x="2496311" y="4114800"/>
            <a:chExt cx="589915" cy="551815"/>
          </a:xfrm>
        </p:grpSpPr>
        <p:sp>
          <p:nvSpPr>
            <p:cNvPr id="45" name="object 45"/>
            <p:cNvSpPr/>
            <p:nvPr/>
          </p:nvSpPr>
          <p:spPr>
            <a:xfrm>
              <a:off x="2502407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502407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2622232" y="4313492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Arial MT"/>
                <a:cs typeface="Arial MT"/>
              </a:rPr>
              <a:t>14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790710" y="37419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3314700" y="4114800"/>
            <a:ext cx="589915" cy="551815"/>
            <a:chOff x="3314700" y="4114800"/>
            <a:chExt cx="589915" cy="551815"/>
          </a:xfrm>
        </p:grpSpPr>
        <p:sp>
          <p:nvSpPr>
            <p:cNvPr id="50" name="object 50"/>
            <p:cNvSpPr/>
            <p:nvPr/>
          </p:nvSpPr>
          <p:spPr>
            <a:xfrm>
              <a:off x="3320795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320795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1870076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2377499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82242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329847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3774794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415573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6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4600657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504407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5553005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6060406" y="5820971"/>
            <a:ext cx="27876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5" dirty="0">
                <a:latin typeface="Arial MT"/>
                <a:cs typeface="Arial MT"/>
              </a:rPr>
              <a:t>10</a:t>
            </a:r>
            <a:endParaRPr sz="1800">
              <a:latin typeface="Arial MT"/>
              <a:cs typeface="Arial MT"/>
            </a:endParaRPr>
          </a:p>
        </p:txBody>
      </p:sp>
      <p:graphicFrame>
        <p:nvGraphicFramePr>
          <p:cNvPr id="53" name="object 53"/>
          <p:cNvGraphicFramePr>
            <a:graphicFrameLocks noGrp="1"/>
          </p:cNvGraphicFramePr>
          <p:nvPr/>
        </p:nvGraphicFramePr>
        <p:xfrm>
          <a:off x="1810511" y="5105400"/>
          <a:ext cx="4615813" cy="539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75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9495"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7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8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9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16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4" name="object 54"/>
          <p:cNvSpPr txBox="1"/>
          <p:nvPr/>
        </p:nvSpPr>
        <p:spPr>
          <a:xfrm>
            <a:off x="6022340" y="257047"/>
            <a:ext cx="258572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BUILD-MAX-HEAP(A)</a:t>
            </a:r>
            <a:endParaRPr sz="1200">
              <a:latin typeface="Arial"/>
              <a:cs typeface="Arial"/>
            </a:endParaRPr>
          </a:p>
          <a:p>
            <a:pPr marL="227329" marR="424815" indent="-215265">
              <a:lnSpc>
                <a:spcPct val="100000"/>
              </a:lnSpc>
            </a:pPr>
            <a:r>
              <a:rPr sz="1200" b="1" spc="-5" dirty="0">
                <a:latin typeface="Arial"/>
                <a:cs typeface="Arial"/>
              </a:rPr>
              <a:t>for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i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←</a:t>
            </a:r>
            <a:r>
              <a:rPr sz="1200" b="1" spc="-10" dirty="0">
                <a:latin typeface="Arial"/>
                <a:cs typeface="Arial"/>
              </a:rPr>
              <a:t> length[A]</a:t>
            </a:r>
            <a:r>
              <a:rPr sz="1200" b="1" spc="4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downto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2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do </a:t>
            </a:r>
            <a:r>
              <a:rPr sz="1200" b="1" spc="-3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exc</a:t>
            </a:r>
            <a:r>
              <a:rPr sz="1200" b="1" spc="-5" dirty="0">
                <a:latin typeface="Arial"/>
                <a:cs typeface="Arial"/>
              </a:rPr>
              <a:t>h</a:t>
            </a:r>
            <a:r>
              <a:rPr sz="1200" b="1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ng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-80" dirty="0">
                <a:latin typeface="Arial"/>
                <a:cs typeface="Arial"/>
              </a:rPr>
              <a:t> </a:t>
            </a:r>
            <a:r>
              <a:rPr sz="1200" b="1" spc="-40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[</a:t>
            </a:r>
            <a:r>
              <a:rPr sz="1200" b="1" dirty="0">
                <a:latin typeface="Arial"/>
                <a:cs typeface="Arial"/>
              </a:rPr>
              <a:t>1]</a:t>
            </a:r>
            <a:r>
              <a:rPr sz="1200" b="1" spc="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↔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spc="-40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[</a:t>
            </a:r>
            <a:r>
              <a:rPr sz="1200" b="1" dirty="0">
                <a:latin typeface="Arial"/>
                <a:cs typeface="Arial"/>
              </a:rPr>
              <a:t>i]</a:t>
            </a:r>
            <a:endParaRPr sz="1200">
              <a:latin typeface="Arial"/>
              <a:cs typeface="Arial"/>
            </a:endParaRPr>
          </a:p>
          <a:p>
            <a:pPr marL="269875" marR="5080">
              <a:lnSpc>
                <a:spcPct val="100000"/>
              </a:lnSpc>
            </a:pPr>
            <a:r>
              <a:rPr sz="1200" b="1" spc="-5" dirty="0">
                <a:latin typeface="Arial"/>
                <a:cs typeface="Arial"/>
              </a:rPr>
              <a:t>heap-size[A]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← </a:t>
            </a:r>
            <a:r>
              <a:rPr sz="1200" b="1" spc="-10" dirty="0">
                <a:latin typeface="Arial"/>
                <a:cs typeface="Arial"/>
              </a:rPr>
              <a:t>heap-size[A]</a:t>
            </a:r>
            <a:r>
              <a:rPr sz="1200" b="1" spc="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–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 </a:t>
            </a:r>
            <a:r>
              <a:rPr sz="1200" b="1" spc="-32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MAX-HEAPIFY(A,</a:t>
            </a:r>
            <a:r>
              <a:rPr sz="1200" b="1" spc="5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1)</a:t>
            </a:r>
            <a:endParaRPr sz="1200">
              <a:latin typeface="Arial"/>
              <a:cs typeface="Arial"/>
            </a:endParaRPr>
          </a:p>
        </p:txBody>
      </p:sp>
      <p:sp>
        <p:nvSpPr>
          <p:cNvPr id="65" name="object 51"/>
          <p:cNvSpPr txBox="1"/>
          <p:nvPr/>
        </p:nvSpPr>
        <p:spPr>
          <a:xfrm>
            <a:off x="3441382" y="3742068"/>
            <a:ext cx="549402" cy="8284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00"/>
              </a:spcBef>
            </a:pPr>
            <a:r>
              <a:rPr sz="1800" spc="-5" dirty="0" smtClean="0">
                <a:latin typeface="Arial MT"/>
                <a:cs typeface="Arial MT"/>
              </a:rPr>
              <a:t>10</a:t>
            </a:r>
            <a:endParaRPr lang="en-US" sz="1800" spc="-5" dirty="0" smtClean="0">
              <a:latin typeface="Arial MT"/>
              <a:cs typeface="Arial MT"/>
            </a:endParaRPr>
          </a:p>
          <a:p>
            <a:pPr marL="28575">
              <a:lnSpc>
                <a:spcPts val="2100"/>
              </a:lnSpc>
            </a:pPr>
            <a:endParaRPr sz="1800" dirty="0">
              <a:latin typeface="Arial MT"/>
              <a:cs typeface="Arial MT"/>
            </a:endParaRPr>
          </a:p>
          <a:p>
            <a:pPr marL="12700">
              <a:lnSpc>
                <a:spcPts val="2100"/>
              </a:lnSpc>
            </a:pPr>
            <a:r>
              <a:rPr sz="1800" spc="-15" dirty="0">
                <a:latin typeface="Arial MT"/>
                <a:cs typeface="Arial MT"/>
              </a:rPr>
              <a:t>16</a:t>
            </a:r>
            <a:endParaRPr sz="18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887941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76940" y="10749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28934" y="48451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971800" y="1455419"/>
            <a:ext cx="1428115" cy="792480"/>
            <a:chOff x="2971800" y="1455419"/>
            <a:chExt cx="1428115" cy="792480"/>
          </a:xfrm>
        </p:grpSpPr>
        <p:sp>
          <p:nvSpPr>
            <p:cNvPr id="5" name="object 5"/>
            <p:cNvSpPr/>
            <p:nvPr/>
          </p:nvSpPr>
          <p:spPr>
            <a:xfrm>
              <a:off x="3512819" y="1461515"/>
              <a:ext cx="881380" cy="317500"/>
            </a:xfrm>
            <a:custGeom>
              <a:avLst/>
              <a:gdLst/>
              <a:ahLst/>
              <a:cxnLst/>
              <a:rect l="l" t="t" r="r" b="b"/>
              <a:pathLst>
                <a:path w="881379" h="317500">
                  <a:moveTo>
                    <a:pt x="880872" y="0"/>
                  </a:moveTo>
                  <a:lnTo>
                    <a:pt x="0" y="316992"/>
                  </a:lnTo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77895" y="1702307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977895" y="170230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200590" y="1856041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52584" y="1303515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524500" y="1734310"/>
            <a:ext cx="589915" cy="551815"/>
            <a:chOff x="5524500" y="1734310"/>
            <a:chExt cx="589915" cy="551815"/>
          </a:xfrm>
        </p:grpSpPr>
        <p:sp>
          <p:nvSpPr>
            <p:cNvPr id="11" name="object 11"/>
            <p:cNvSpPr/>
            <p:nvPr/>
          </p:nvSpPr>
          <p:spPr>
            <a:xfrm>
              <a:off x="5530595" y="1740408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530595" y="174040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753290" y="1894141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705284" y="130366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975104" y="2965704"/>
            <a:ext cx="589915" cy="551815"/>
            <a:chOff x="1975104" y="2965704"/>
            <a:chExt cx="589915" cy="551815"/>
          </a:xfrm>
        </p:grpSpPr>
        <p:sp>
          <p:nvSpPr>
            <p:cNvPr id="16" name="object 16"/>
            <p:cNvSpPr/>
            <p:nvPr/>
          </p:nvSpPr>
          <p:spPr>
            <a:xfrm>
              <a:off x="1981200" y="2971800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981200" y="2971800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190940" y="31133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23960" y="25418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810000" y="2971800"/>
            <a:ext cx="589915" cy="551815"/>
            <a:chOff x="3810000" y="2971800"/>
            <a:chExt cx="589915" cy="551815"/>
          </a:xfrm>
        </p:grpSpPr>
        <p:sp>
          <p:nvSpPr>
            <p:cNvPr id="21" name="object 21"/>
            <p:cNvSpPr/>
            <p:nvPr/>
          </p:nvSpPr>
          <p:spPr>
            <a:xfrm>
              <a:off x="38160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8160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038790" y="31323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990784" y="257986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648200" y="2971800"/>
            <a:ext cx="589915" cy="551815"/>
            <a:chOff x="4648200" y="2971800"/>
            <a:chExt cx="589915" cy="551815"/>
          </a:xfrm>
        </p:grpSpPr>
        <p:sp>
          <p:nvSpPr>
            <p:cNvPr id="26" name="object 26"/>
            <p:cNvSpPr/>
            <p:nvPr/>
          </p:nvSpPr>
          <p:spPr>
            <a:xfrm>
              <a:off x="46542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6542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857940" y="31133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752784" y="256081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6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324600" y="2991611"/>
            <a:ext cx="589915" cy="551815"/>
            <a:chOff x="6324600" y="2991611"/>
            <a:chExt cx="589915" cy="551815"/>
          </a:xfrm>
        </p:grpSpPr>
        <p:sp>
          <p:nvSpPr>
            <p:cNvPr id="31" name="object 31"/>
            <p:cNvSpPr/>
            <p:nvPr/>
          </p:nvSpPr>
          <p:spPr>
            <a:xfrm>
              <a:off x="6330695" y="2997707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330695" y="2997707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515290" y="30942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657708" y="265606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1353311" y="4152900"/>
            <a:ext cx="589915" cy="551815"/>
            <a:chOff x="1353311" y="4152900"/>
            <a:chExt cx="589915" cy="551815"/>
          </a:xfrm>
        </p:grpSpPr>
        <p:sp>
          <p:nvSpPr>
            <p:cNvPr id="36" name="object 36"/>
            <p:cNvSpPr/>
            <p:nvPr/>
          </p:nvSpPr>
          <p:spPr>
            <a:xfrm>
              <a:off x="1359407" y="41589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359407" y="41589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517332" y="4313492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Arial MT"/>
                <a:cs typeface="Arial MT"/>
              </a:rPr>
              <a:t>10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457210" y="381811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2496311" y="4114800"/>
            <a:ext cx="589915" cy="551815"/>
            <a:chOff x="2496311" y="4114800"/>
            <a:chExt cx="589915" cy="551815"/>
          </a:xfrm>
        </p:grpSpPr>
        <p:sp>
          <p:nvSpPr>
            <p:cNvPr id="41" name="object 41"/>
            <p:cNvSpPr/>
            <p:nvPr/>
          </p:nvSpPr>
          <p:spPr>
            <a:xfrm>
              <a:off x="2502407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502407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2622232" y="4313492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Arial MT"/>
                <a:cs typeface="Arial MT"/>
              </a:rPr>
              <a:t>14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790710" y="37419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3314700" y="4114800"/>
            <a:ext cx="589915" cy="551815"/>
            <a:chOff x="3314700" y="4114800"/>
            <a:chExt cx="589915" cy="551815"/>
          </a:xfrm>
        </p:grpSpPr>
        <p:sp>
          <p:nvSpPr>
            <p:cNvPr id="46" name="object 46"/>
            <p:cNvSpPr/>
            <p:nvPr/>
          </p:nvSpPr>
          <p:spPr>
            <a:xfrm>
              <a:off x="3320795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320795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1870076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377499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82242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329847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774794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15573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6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600657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04407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553005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6060406" y="5820971"/>
            <a:ext cx="27876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5" dirty="0">
                <a:latin typeface="Arial MT"/>
                <a:cs typeface="Arial MT"/>
              </a:rPr>
              <a:t>10</a:t>
            </a:r>
            <a:endParaRPr sz="1800">
              <a:latin typeface="Arial MT"/>
              <a:cs typeface="Arial MT"/>
            </a:endParaRPr>
          </a:p>
        </p:txBody>
      </p:sp>
      <p:graphicFrame>
        <p:nvGraphicFramePr>
          <p:cNvPr id="49" name="object 49"/>
          <p:cNvGraphicFramePr>
            <a:graphicFrameLocks noGrp="1"/>
          </p:cNvGraphicFramePr>
          <p:nvPr/>
        </p:nvGraphicFramePr>
        <p:xfrm>
          <a:off x="1810511" y="5105400"/>
          <a:ext cx="4615813" cy="539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75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9495"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7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8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9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16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0" name="object 50"/>
          <p:cNvSpPr txBox="1"/>
          <p:nvPr/>
        </p:nvSpPr>
        <p:spPr>
          <a:xfrm>
            <a:off x="6022340" y="257047"/>
            <a:ext cx="258572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BUILD-MAX-HEAP(A)</a:t>
            </a:r>
            <a:endParaRPr sz="1200">
              <a:latin typeface="Arial"/>
              <a:cs typeface="Arial"/>
            </a:endParaRPr>
          </a:p>
          <a:p>
            <a:pPr marL="227329" marR="424815" indent="-215265">
              <a:lnSpc>
                <a:spcPct val="100000"/>
              </a:lnSpc>
            </a:pPr>
            <a:r>
              <a:rPr sz="1200" b="1" spc="-5" dirty="0">
                <a:latin typeface="Arial"/>
                <a:cs typeface="Arial"/>
              </a:rPr>
              <a:t>for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i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←</a:t>
            </a:r>
            <a:r>
              <a:rPr sz="1200" b="1" spc="-10" dirty="0">
                <a:latin typeface="Arial"/>
                <a:cs typeface="Arial"/>
              </a:rPr>
              <a:t> length[A]</a:t>
            </a:r>
            <a:r>
              <a:rPr sz="1200" b="1" spc="4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downto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2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do </a:t>
            </a:r>
            <a:r>
              <a:rPr sz="1200" b="1" spc="-3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exc</a:t>
            </a:r>
            <a:r>
              <a:rPr sz="1200" b="1" spc="-5" dirty="0">
                <a:latin typeface="Arial"/>
                <a:cs typeface="Arial"/>
              </a:rPr>
              <a:t>h</a:t>
            </a:r>
            <a:r>
              <a:rPr sz="1200" b="1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ng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-80" dirty="0">
                <a:latin typeface="Arial"/>
                <a:cs typeface="Arial"/>
              </a:rPr>
              <a:t> </a:t>
            </a:r>
            <a:r>
              <a:rPr sz="1200" b="1" spc="-40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[</a:t>
            </a:r>
            <a:r>
              <a:rPr sz="1200" b="1" dirty="0">
                <a:latin typeface="Arial"/>
                <a:cs typeface="Arial"/>
              </a:rPr>
              <a:t>1]</a:t>
            </a:r>
            <a:r>
              <a:rPr sz="1200" b="1" spc="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↔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spc="-40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[</a:t>
            </a:r>
            <a:r>
              <a:rPr sz="1200" b="1" dirty="0">
                <a:latin typeface="Arial"/>
                <a:cs typeface="Arial"/>
              </a:rPr>
              <a:t>i]</a:t>
            </a:r>
            <a:endParaRPr sz="1200">
              <a:latin typeface="Arial"/>
              <a:cs typeface="Arial"/>
            </a:endParaRPr>
          </a:p>
          <a:p>
            <a:pPr marL="269875" marR="5080">
              <a:lnSpc>
                <a:spcPct val="100000"/>
              </a:lnSpc>
            </a:pPr>
            <a:r>
              <a:rPr sz="1200" b="1" spc="-5" dirty="0">
                <a:latin typeface="Arial"/>
                <a:cs typeface="Arial"/>
              </a:rPr>
              <a:t>heap-size[A]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← </a:t>
            </a:r>
            <a:r>
              <a:rPr sz="1200" b="1" spc="-10" dirty="0">
                <a:latin typeface="Arial"/>
                <a:cs typeface="Arial"/>
              </a:rPr>
              <a:t>heap-size[A]</a:t>
            </a:r>
            <a:r>
              <a:rPr sz="1200" b="1" spc="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–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 </a:t>
            </a:r>
            <a:r>
              <a:rPr sz="1200" b="1" spc="-32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MAX-HEAPIFY(A,</a:t>
            </a:r>
            <a:r>
              <a:rPr sz="1200" b="1" spc="5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1)</a:t>
            </a:r>
            <a:endParaRPr sz="1200">
              <a:latin typeface="Arial"/>
              <a:cs typeface="Arial"/>
            </a:endParaRPr>
          </a:p>
        </p:txBody>
      </p:sp>
      <p:sp>
        <p:nvSpPr>
          <p:cNvPr id="61" name="object 51"/>
          <p:cNvSpPr txBox="1"/>
          <p:nvPr/>
        </p:nvSpPr>
        <p:spPr>
          <a:xfrm>
            <a:off x="3441382" y="3742068"/>
            <a:ext cx="549402" cy="8284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00"/>
              </a:spcBef>
            </a:pPr>
            <a:r>
              <a:rPr sz="1800" spc="-5" dirty="0" smtClean="0">
                <a:latin typeface="Arial MT"/>
                <a:cs typeface="Arial MT"/>
              </a:rPr>
              <a:t>10</a:t>
            </a:r>
            <a:endParaRPr lang="en-US" sz="1800" spc="-5" dirty="0" smtClean="0">
              <a:latin typeface="Arial MT"/>
              <a:cs typeface="Arial MT"/>
            </a:endParaRPr>
          </a:p>
          <a:p>
            <a:pPr marL="28575">
              <a:lnSpc>
                <a:spcPts val="2100"/>
              </a:lnSpc>
            </a:pPr>
            <a:endParaRPr sz="1800" dirty="0">
              <a:latin typeface="Arial MT"/>
              <a:cs typeface="Arial MT"/>
            </a:endParaRPr>
          </a:p>
          <a:p>
            <a:pPr marL="12700">
              <a:lnSpc>
                <a:spcPts val="2100"/>
              </a:lnSpc>
            </a:pPr>
            <a:r>
              <a:rPr sz="1800" spc="-15" dirty="0">
                <a:latin typeface="Arial MT"/>
                <a:cs typeface="Arial MT"/>
              </a:rPr>
              <a:t>16</a:t>
            </a:r>
            <a:endParaRPr sz="18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536111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76940" y="10749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28934" y="48451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971800" y="1455419"/>
            <a:ext cx="1428115" cy="792480"/>
            <a:chOff x="2971800" y="1455419"/>
            <a:chExt cx="1428115" cy="792480"/>
          </a:xfrm>
        </p:grpSpPr>
        <p:sp>
          <p:nvSpPr>
            <p:cNvPr id="5" name="object 5"/>
            <p:cNvSpPr/>
            <p:nvPr/>
          </p:nvSpPr>
          <p:spPr>
            <a:xfrm>
              <a:off x="3512819" y="1461515"/>
              <a:ext cx="881380" cy="317500"/>
            </a:xfrm>
            <a:custGeom>
              <a:avLst/>
              <a:gdLst/>
              <a:ahLst/>
              <a:cxnLst/>
              <a:rect l="l" t="t" r="r" b="b"/>
              <a:pathLst>
                <a:path w="881379" h="317500">
                  <a:moveTo>
                    <a:pt x="880872" y="0"/>
                  </a:moveTo>
                  <a:lnTo>
                    <a:pt x="0" y="316992"/>
                  </a:lnTo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77895" y="1702307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977895" y="170230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200590" y="1856041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52584" y="1303515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524500" y="1734310"/>
            <a:ext cx="589915" cy="551815"/>
            <a:chOff x="5524500" y="1734310"/>
            <a:chExt cx="589915" cy="551815"/>
          </a:xfrm>
        </p:grpSpPr>
        <p:sp>
          <p:nvSpPr>
            <p:cNvPr id="11" name="object 11"/>
            <p:cNvSpPr/>
            <p:nvPr/>
          </p:nvSpPr>
          <p:spPr>
            <a:xfrm>
              <a:off x="5530595" y="1740408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530595" y="174040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753290" y="1894141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705284" y="130366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975104" y="2965704"/>
            <a:ext cx="589915" cy="551815"/>
            <a:chOff x="1975104" y="2965704"/>
            <a:chExt cx="589915" cy="551815"/>
          </a:xfrm>
        </p:grpSpPr>
        <p:sp>
          <p:nvSpPr>
            <p:cNvPr id="16" name="object 16"/>
            <p:cNvSpPr/>
            <p:nvPr/>
          </p:nvSpPr>
          <p:spPr>
            <a:xfrm>
              <a:off x="1981200" y="2971800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981200" y="2971800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190940" y="31133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23960" y="25418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810000" y="2971800"/>
            <a:ext cx="589915" cy="551815"/>
            <a:chOff x="3810000" y="2971800"/>
            <a:chExt cx="589915" cy="551815"/>
          </a:xfrm>
        </p:grpSpPr>
        <p:sp>
          <p:nvSpPr>
            <p:cNvPr id="21" name="object 21"/>
            <p:cNvSpPr/>
            <p:nvPr/>
          </p:nvSpPr>
          <p:spPr>
            <a:xfrm>
              <a:off x="38160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8160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038790" y="31323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990784" y="257986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648200" y="2971800"/>
            <a:ext cx="589915" cy="551815"/>
            <a:chOff x="4648200" y="2971800"/>
            <a:chExt cx="589915" cy="551815"/>
          </a:xfrm>
        </p:grpSpPr>
        <p:sp>
          <p:nvSpPr>
            <p:cNvPr id="26" name="object 26"/>
            <p:cNvSpPr/>
            <p:nvPr/>
          </p:nvSpPr>
          <p:spPr>
            <a:xfrm>
              <a:off x="46542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6542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857940" y="31133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752784" y="256081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6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324600" y="2991611"/>
            <a:ext cx="589915" cy="551815"/>
            <a:chOff x="6324600" y="2991611"/>
            <a:chExt cx="589915" cy="551815"/>
          </a:xfrm>
        </p:grpSpPr>
        <p:sp>
          <p:nvSpPr>
            <p:cNvPr id="31" name="object 31"/>
            <p:cNvSpPr/>
            <p:nvPr/>
          </p:nvSpPr>
          <p:spPr>
            <a:xfrm>
              <a:off x="6330695" y="2997707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330695" y="2997707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515290" y="30942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657708" y="265606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1353311" y="4152900"/>
            <a:ext cx="589915" cy="551815"/>
            <a:chOff x="1353311" y="4152900"/>
            <a:chExt cx="589915" cy="551815"/>
          </a:xfrm>
        </p:grpSpPr>
        <p:sp>
          <p:nvSpPr>
            <p:cNvPr id="36" name="object 36"/>
            <p:cNvSpPr/>
            <p:nvPr/>
          </p:nvSpPr>
          <p:spPr>
            <a:xfrm>
              <a:off x="1359407" y="41589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359407" y="41589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517332" y="4313492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Arial MT"/>
                <a:cs typeface="Arial MT"/>
              </a:rPr>
              <a:t>10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457210" y="381811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2496311" y="4114800"/>
            <a:ext cx="589915" cy="551815"/>
            <a:chOff x="2496311" y="4114800"/>
            <a:chExt cx="589915" cy="551815"/>
          </a:xfrm>
        </p:grpSpPr>
        <p:sp>
          <p:nvSpPr>
            <p:cNvPr id="41" name="object 41"/>
            <p:cNvSpPr/>
            <p:nvPr/>
          </p:nvSpPr>
          <p:spPr>
            <a:xfrm>
              <a:off x="2502407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502407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2622232" y="4313492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Arial MT"/>
                <a:cs typeface="Arial MT"/>
              </a:rPr>
              <a:t>14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790710" y="37419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3314700" y="4114800"/>
            <a:ext cx="589915" cy="551815"/>
            <a:chOff x="3314700" y="4114800"/>
            <a:chExt cx="589915" cy="551815"/>
          </a:xfrm>
        </p:grpSpPr>
        <p:sp>
          <p:nvSpPr>
            <p:cNvPr id="46" name="object 46"/>
            <p:cNvSpPr/>
            <p:nvPr/>
          </p:nvSpPr>
          <p:spPr>
            <a:xfrm>
              <a:off x="3320795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320795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1870076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377499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82242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329847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774794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15573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6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600657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04407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553005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6060406" y="5820971"/>
            <a:ext cx="27876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5" dirty="0">
                <a:latin typeface="Arial MT"/>
                <a:cs typeface="Arial MT"/>
              </a:rPr>
              <a:t>10</a:t>
            </a:r>
            <a:endParaRPr sz="1800">
              <a:latin typeface="Arial MT"/>
              <a:cs typeface="Arial MT"/>
            </a:endParaRPr>
          </a:p>
        </p:txBody>
      </p:sp>
      <p:graphicFrame>
        <p:nvGraphicFramePr>
          <p:cNvPr id="49" name="object 49"/>
          <p:cNvGraphicFramePr>
            <a:graphicFrameLocks noGrp="1"/>
          </p:cNvGraphicFramePr>
          <p:nvPr/>
        </p:nvGraphicFramePr>
        <p:xfrm>
          <a:off x="1810511" y="5105400"/>
          <a:ext cx="4615813" cy="539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75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9495"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7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8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9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16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0" name="object 50"/>
          <p:cNvSpPr txBox="1"/>
          <p:nvPr/>
        </p:nvSpPr>
        <p:spPr>
          <a:xfrm>
            <a:off x="6022340" y="257047"/>
            <a:ext cx="258572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BUILD-MAX-HEAP(A)</a:t>
            </a:r>
            <a:endParaRPr sz="1200">
              <a:latin typeface="Arial"/>
              <a:cs typeface="Arial"/>
            </a:endParaRPr>
          </a:p>
          <a:p>
            <a:pPr marL="227329" marR="424815" indent="-215265">
              <a:lnSpc>
                <a:spcPct val="100000"/>
              </a:lnSpc>
            </a:pPr>
            <a:r>
              <a:rPr sz="1200" b="1" spc="-5" dirty="0">
                <a:latin typeface="Arial"/>
                <a:cs typeface="Arial"/>
              </a:rPr>
              <a:t>for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i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←</a:t>
            </a:r>
            <a:r>
              <a:rPr sz="1200" b="1" spc="-10" dirty="0">
                <a:latin typeface="Arial"/>
                <a:cs typeface="Arial"/>
              </a:rPr>
              <a:t> length[A]</a:t>
            </a:r>
            <a:r>
              <a:rPr sz="1200" b="1" spc="4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downto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2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do </a:t>
            </a:r>
            <a:r>
              <a:rPr sz="1200" b="1" spc="-3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exc</a:t>
            </a:r>
            <a:r>
              <a:rPr sz="1200" b="1" spc="-5" dirty="0">
                <a:latin typeface="Arial"/>
                <a:cs typeface="Arial"/>
              </a:rPr>
              <a:t>h</a:t>
            </a:r>
            <a:r>
              <a:rPr sz="1200" b="1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ng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-80" dirty="0">
                <a:latin typeface="Arial"/>
                <a:cs typeface="Arial"/>
              </a:rPr>
              <a:t> </a:t>
            </a:r>
            <a:r>
              <a:rPr sz="1200" b="1" spc="-40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[</a:t>
            </a:r>
            <a:r>
              <a:rPr sz="1200" b="1" dirty="0">
                <a:latin typeface="Arial"/>
                <a:cs typeface="Arial"/>
              </a:rPr>
              <a:t>1]</a:t>
            </a:r>
            <a:r>
              <a:rPr sz="1200" b="1" spc="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↔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spc="-40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[</a:t>
            </a:r>
            <a:r>
              <a:rPr sz="1200" b="1" dirty="0">
                <a:latin typeface="Arial"/>
                <a:cs typeface="Arial"/>
              </a:rPr>
              <a:t>i]</a:t>
            </a:r>
            <a:endParaRPr sz="1200">
              <a:latin typeface="Arial"/>
              <a:cs typeface="Arial"/>
            </a:endParaRPr>
          </a:p>
          <a:p>
            <a:pPr marL="269875" marR="5080">
              <a:lnSpc>
                <a:spcPct val="100000"/>
              </a:lnSpc>
            </a:pPr>
            <a:r>
              <a:rPr sz="1200" b="1" spc="-5" dirty="0">
                <a:latin typeface="Arial"/>
                <a:cs typeface="Arial"/>
              </a:rPr>
              <a:t>heap-size[A]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← </a:t>
            </a:r>
            <a:r>
              <a:rPr sz="1200" b="1" spc="-10" dirty="0">
                <a:latin typeface="Arial"/>
                <a:cs typeface="Arial"/>
              </a:rPr>
              <a:t>heap-size[A]</a:t>
            </a:r>
            <a:r>
              <a:rPr sz="1200" b="1" spc="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–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 </a:t>
            </a:r>
            <a:r>
              <a:rPr sz="1200" b="1" spc="-32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MAX-HEAPIFY(A,</a:t>
            </a:r>
            <a:r>
              <a:rPr sz="1200" b="1" spc="5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1)</a:t>
            </a:r>
            <a:endParaRPr sz="1200">
              <a:latin typeface="Arial"/>
              <a:cs typeface="Arial"/>
            </a:endParaRPr>
          </a:p>
        </p:txBody>
      </p:sp>
      <p:sp>
        <p:nvSpPr>
          <p:cNvPr id="61" name="object 51"/>
          <p:cNvSpPr txBox="1"/>
          <p:nvPr/>
        </p:nvSpPr>
        <p:spPr>
          <a:xfrm>
            <a:off x="3441382" y="3742068"/>
            <a:ext cx="549402" cy="8284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00"/>
              </a:spcBef>
            </a:pPr>
            <a:r>
              <a:rPr sz="1800" spc="-5" dirty="0" smtClean="0">
                <a:latin typeface="Arial MT"/>
                <a:cs typeface="Arial MT"/>
              </a:rPr>
              <a:t>10</a:t>
            </a:r>
            <a:endParaRPr lang="en-US" sz="1800" spc="-5" dirty="0" smtClean="0">
              <a:latin typeface="Arial MT"/>
              <a:cs typeface="Arial MT"/>
            </a:endParaRPr>
          </a:p>
          <a:p>
            <a:pPr marL="28575">
              <a:lnSpc>
                <a:spcPts val="2100"/>
              </a:lnSpc>
            </a:pPr>
            <a:endParaRPr sz="1800" dirty="0">
              <a:latin typeface="Arial MT"/>
              <a:cs typeface="Arial MT"/>
            </a:endParaRPr>
          </a:p>
          <a:p>
            <a:pPr marL="12700">
              <a:lnSpc>
                <a:spcPts val="2100"/>
              </a:lnSpc>
            </a:pPr>
            <a:r>
              <a:rPr sz="1800" spc="-15" dirty="0">
                <a:latin typeface="Arial MT"/>
                <a:cs typeface="Arial MT"/>
              </a:rPr>
              <a:t>16</a:t>
            </a:r>
            <a:endParaRPr sz="18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447833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8658" y="914146"/>
            <a:ext cx="590550" cy="552450"/>
            <a:chOff x="4248658" y="914146"/>
            <a:chExt cx="590550" cy="552450"/>
          </a:xfrm>
        </p:grpSpPr>
        <p:sp>
          <p:nvSpPr>
            <p:cNvPr id="3" name="object 3"/>
            <p:cNvSpPr/>
            <p:nvPr/>
          </p:nvSpPr>
          <p:spPr>
            <a:xfrm>
              <a:off x="4255008" y="92049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CF0E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255008" y="92049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476940" y="10749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28934" y="48451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971800" y="1455419"/>
            <a:ext cx="1428115" cy="792480"/>
            <a:chOff x="2971800" y="1455419"/>
            <a:chExt cx="1428115" cy="792480"/>
          </a:xfrm>
        </p:grpSpPr>
        <p:sp>
          <p:nvSpPr>
            <p:cNvPr id="8" name="object 8"/>
            <p:cNvSpPr/>
            <p:nvPr/>
          </p:nvSpPr>
          <p:spPr>
            <a:xfrm>
              <a:off x="3512819" y="1461515"/>
              <a:ext cx="881380" cy="317500"/>
            </a:xfrm>
            <a:custGeom>
              <a:avLst/>
              <a:gdLst/>
              <a:ahLst/>
              <a:cxnLst/>
              <a:rect l="l" t="t" r="r" b="b"/>
              <a:pathLst>
                <a:path w="881379" h="317500">
                  <a:moveTo>
                    <a:pt x="880872" y="0"/>
                  </a:moveTo>
                  <a:lnTo>
                    <a:pt x="0" y="316992"/>
                  </a:lnTo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77895" y="1702307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CF0E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977895" y="170230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200590" y="1856041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52584" y="1303515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524500" y="1734310"/>
            <a:ext cx="589915" cy="551815"/>
            <a:chOff x="5524500" y="1734310"/>
            <a:chExt cx="589915" cy="551815"/>
          </a:xfrm>
        </p:grpSpPr>
        <p:sp>
          <p:nvSpPr>
            <p:cNvPr id="14" name="object 14"/>
            <p:cNvSpPr/>
            <p:nvPr/>
          </p:nvSpPr>
          <p:spPr>
            <a:xfrm>
              <a:off x="5530595" y="1740408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530595" y="174040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753290" y="1894141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705284" y="130366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975104" y="2965704"/>
            <a:ext cx="589915" cy="551815"/>
            <a:chOff x="1975104" y="2965704"/>
            <a:chExt cx="589915" cy="551815"/>
          </a:xfrm>
        </p:grpSpPr>
        <p:sp>
          <p:nvSpPr>
            <p:cNvPr id="19" name="object 19"/>
            <p:cNvSpPr/>
            <p:nvPr/>
          </p:nvSpPr>
          <p:spPr>
            <a:xfrm>
              <a:off x="1981200" y="2971800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981200" y="2971800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190940" y="31133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123960" y="25418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810000" y="2971800"/>
            <a:ext cx="589915" cy="551815"/>
            <a:chOff x="3810000" y="2971800"/>
            <a:chExt cx="589915" cy="551815"/>
          </a:xfrm>
        </p:grpSpPr>
        <p:sp>
          <p:nvSpPr>
            <p:cNvPr id="24" name="object 24"/>
            <p:cNvSpPr/>
            <p:nvPr/>
          </p:nvSpPr>
          <p:spPr>
            <a:xfrm>
              <a:off x="38160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8160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038790" y="31323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990784" y="257986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648200" y="2971800"/>
            <a:ext cx="589915" cy="551815"/>
            <a:chOff x="4648200" y="2971800"/>
            <a:chExt cx="589915" cy="551815"/>
          </a:xfrm>
        </p:grpSpPr>
        <p:sp>
          <p:nvSpPr>
            <p:cNvPr id="29" name="object 29"/>
            <p:cNvSpPr/>
            <p:nvPr/>
          </p:nvSpPr>
          <p:spPr>
            <a:xfrm>
              <a:off x="46542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6542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857940" y="31133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752784" y="256081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6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324600" y="2991611"/>
            <a:ext cx="589915" cy="551815"/>
            <a:chOff x="6324600" y="2991611"/>
            <a:chExt cx="589915" cy="551815"/>
          </a:xfrm>
        </p:grpSpPr>
        <p:sp>
          <p:nvSpPr>
            <p:cNvPr id="34" name="object 34"/>
            <p:cNvSpPr/>
            <p:nvPr/>
          </p:nvSpPr>
          <p:spPr>
            <a:xfrm>
              <a:off x="6330695" y="2997707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330695" y="2997707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6515290" y="30942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657708" y="265606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353311" y="4152900"/>
            <a:ext cx="589915" cy="551815"/>
            <a:chOff x="1353311" y="4152900"/>
            <a:chExt cx="589915" cy="551815"/>
          </a:xfrm>
        </p:grpSpPr>
        <p:sp>
          <p:nvSpPr>
            <p:cNvPr id="39" name="object 39"/>
            <p:cNvSpPr/>
            <p:nvPr/>
          </p:nvSpPr>
          <p:spPr>
            <a:xfrm>
              <a:off x="1359407" y="41589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359407" y="41589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1517332" y="4313492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Arial MT"/>
                <a:cs typeface="Arial MT"/>
              </a:rPr>
              <a:t>10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457210" y="381811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2496311" y="4114800"/>
            <a:ext cx="589915" cy="551815"/>
            <a:chOff x="2496311" y="4114800"/>
            <a:chExt cx="589915" cy="551815"/>
          </a:xfrm>
        </p:grpSpPr>
        <p:sp>
          <p:nvSpPr>
            <p:cNvPr id="44" name="object 44"/>
            <p:cNvSpPr/>
            <p:nvPr/>
          </p:nvSpPr>
          <p:spPr>
            <a:xfrm>
              <a:off x="2502407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502407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2622232" y="4313492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Arial MT"/>
                <a:cs typeface="Arial MT"/>
              </a:rPr>
              <a:t>14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790710" y="37419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3314700" y="4114800"/>
            <a:ext cx="589915" cy="551815"/>
            <a:chOff x="3314700" y="4114800"/>
            <a:chExt cx="589915" cy="551815"/>
          </a:xfrm>
        </p:grpSpPr>
        <p:sp>
          <p:nvSpPr>
            <p:cNvPr id="49" name="object 49"/>
            <p:cNvSpPr/>
            <p:nvPr/>
          </p:nvSpPr>
          <p:spPr>
            <a:xfrm>
              <a:off x="3320795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320795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1870076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377499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282242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329847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774794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15573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6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4600657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04407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5553005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060406" y="5820971"/>
            <a:ext cx="27876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5" dirty="0">
                <a:latin typeface="Arial MT"/>
                <a:cs typeface="Arial MT"/>
              </a:rPr>
              <a:t>10</a:t>
            </a:r>
            <a:endParaRPr sz="1800">
              <a:latin typeface="Arial MT"/>
              <a:cs typeface="Arial MT"/>
            </a:endParaRPr>
          </a:p>
        </p:txBody>
      </p:sp>
      <p:graphicFrame>
        <p:nvGraphicFramePr>
          <p:cNvPr id="52" name="object 52"/>
          <p:cNvGraphicFramePr>
            <a:graphicFrameLocks noGrp="1"/>
          </p:cNvGraphicFramePr>
          <p:nvPr/>
        </p:nvGraphicFramePr>
        <p:xfrm>
          <a:off x="1810511" y="5105400"/>
          <a:ext cx="4615813" cy="539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75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9495"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7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8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9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16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3" name="object 53"/>
          <p:cNvSpPr txBox="1"/>
          <p:nvPr/>
        </p:nvSpPr>
        <p:spPr>
          <a:xfrm>
            <a:off x="6022340" y="257047"/>
            <a:ext cx="258572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BUILD-MAX-HEAP(A)</a:t>
            </a:r>
            <a:endParaRPr sz="1200">
              <a:latin typeface="Arial"/>
              <a:cs typeface="Arial"/>
            </a:endParaRPr>
          </a:p>
          <a:p>
            <a:pPr marL="227329" marR="424815" indent="-215265">
              <a:lnSpc>
                <a:spcPct val="100000"/>
              </a:lnSpc>
            </a:pPr>
            <a:r>
              <a:rPr sz="1200" b="1" spc="-5" dirty="0">
                <a:latin typeface="Arial"/>
                <a:cs typeface="Arial"/>
              </a:rPr>
              <a:t>for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i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←</a:t>
            </a:r>
            <a:r>
              <a:rPr sz="1200" b="1" spc="-10" dirty="0">
                <a:latin typeface="Arial"/>
                <a:cs typeface="Arial"/>
              </a:rPr>
              <a:t> length[A]</a:t>
            </a:r>
            <a:r>
              <a:rPr sz="1200" b="1" spc="4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downto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2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do </a:t>
            </a:r>
            <a:r>
              <a:rPr sz="1200" b="1" spc="-3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exc</a:t>
            </a:r>
            <a:r>
              <a:rPr sz="1200" b="1" spc="-5" dirty="0">
                <a:latin typeface="Arial"/>
                <a:cs typeface="Arial"/>
              </a:rPr>
              <a:t>h</a:t>
            </a:r>
            <a:r>
              <a:rPr sz="1200" b="1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ng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-80" dirty="0">
                <a:latin typeface="Arial"/>
                <a:cs typeface="Arial"/>
              </a:rPr>
              <a:t> </a:t>
            </a:r>
            <a:r>
              <a:rPr sz="1200" b="1" spc="-40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[</a:t>
            </a:r>
            <a:r>
              <a:rPr sz="1200" b="1" dirty="0">
                <a:latin typeface="Arial"/>
                <a:cs typeface="Arial"/>
              </a:rPr>
              <a:t>1]</a:t>
            </a:r>
            <a:r>
              <a:rPr sz="1200" b="1" spc="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↔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spc="-40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[</a:t>
            </a:r>
            <a:r>
              <a:rPr sz="1200" b="1" dirty="0">
                <a:latin typeface="Arial"/>
                <a:cs typeface="Arial"/>
              </a:rPr>
              <a:t>i]</a:t>
            </a:r>
            <a:endParaRPr sz="1200">
              <a:latin typeface="Arial"/>
              <a:cs typeface="Arial"/>
            </a:endParaRPr>
          </a:p>
          <a:p>
            <a:pPr marL="269875" marR="5080">
              <a:lnSpc>
                <a:spcPct val="100000"/>
              </a:lnSpc>
            </a:pPr>
            <a:r>
              <a:rPr sz="1200" b="1" spc="-5" dirty="0">
                <a:latin typeface="Arial"/>
                <a:cs typeface="Arial"/>
              </a:rPr>
              <a:t>heap-size[A]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← </a:t>
            </a:r>
            <a:r>
              <a:rPr sz="1200" b="1" spc="-10" dirty="0">
                <a:latin typeface="Arial"/>
                <a:cs typeface="Arial"/>
              </a:rPr>
              <a:t>heap-size[A]</a:t>
            </a:r>
            <a:r>
              <a:rPr sz="1200" b="1" spc="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–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 </a:t>
            </a:r>
            <a:r>
              <a:rPr sz="1200" b="1" spc="-32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MAX-HEAPIFY(A,</a:t>
            </a:r>
            <a:r>
              <a:rPr sz="1200" b="1" spc="5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1)</a:t>
            </a:r>
            <a:endParaRPr sz="1200">
              <a:latin typeface="Arial"/>
              <a:cs typeface="Arial"/>
            </a:endParaRPr>
          </a:p>
        </p:txBody>
      </p:sp>
      <p:sp>
        <p:nvSpPr>
          <p:cNvPr id="64" name="object 51"/>
          <p:cNvSpPr txBox="1"/>
          <p:nvPr/>
        </p:nvSpPr>
        <p:spPr>
          <a:xfrm>
            <a:off x="3441382" y="3742068"/>
            <a:ext cx="549402" cy="8284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00"/>
              </a:spcBef>
            </a:pPr>
            <a:r>
              <a:rPr sz="1800" spc="-5" dirty="0" smtClean="0">
                <a:latin typeface="Arial MT"/>
                <a:cs typeface="Arial MT"/>
              </a:rPr>
              <a:t>10</a:t>
            </a:r>
            <a:endParaRPr lang="en-US" sz="1800" spc="-5" dirty="0" smtClean="0">
              <a:latin typeface="Arial MT"/>
              <a:cs typeface="Arial MT"/>
            </a:endParaRPr>
          </a:p>
          <a:p>
            <a:pPr marL="28575">
              <a:lnSpc>
                <a:spcPts val="2100"/>
              </a:lnSpc>
            </a:pPr>
            <a:endParaRPr sz="1800" dirty="0">
              <a:latin typeface="Arial MT"/>
              <a:cs typeface="Arial MT"/>
            </a:endParaRPr>
          </a:p>
          <a:p>
            <a:pPr marL="12700">
              <a:lnSpc>
                <a:spcPts val="2100"/>
              </a:lnSpc>
            </a:pPr>
            <a:r>
              <a:rPr sz="1800" spc="-15" dirty="0">
                <a:latin typeface="Arial MT"/>
                <a:cs typeface="Arial MT"/>
              </a:rPr>
              <a:t>16</a:t>
            </a:r>
            <a:endParaRPr sz="18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514858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76940" y="10749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28934" y="48451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971800" y="1696210"/>
            <a:ext cx="589915" cy="551815"/>
            <a:chOff x="2971800" y="1696210"/>
            <a:chExt cx="589915" cy="551815"/>
          </a:xfrm>
        </p:grpSpPr>
        <p:sp>
          <p:nvSpPr>
            <p:cNvPr id="5" name="object 5"/>
            <p:cNvSpPr/>
            <p:nvPr/>
          </p:nvSpPr>
          <p:spPr>
            <a:xfrm>
              <a:off x="2977895" y="1702308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77895" y="170230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200590" y="1856041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52584" y="1303515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524500" y="1734310"/>
            <a:ext cx="589915" cy="551815"/>
            <a:chOff x="5524500" y="1734310"/>
            <a:chExt cx="589915" cy="551815"/>
          </a:xfrm>
        </p:grpSpPr>
        <p:sp>
          <p:nvSpPr>
            <p:cNvPr id="10" name="object 10"/>
            <p:cNvSpPr/>
            <p:nvPr/>
          </p:nvSpPr>
          <p:spPr>
            <a:xfrm>
              <a:off x="5530595" y="1740408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530595" y="174040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753290" y="1894141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05284" y="130366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975104" y="2965704"/>
            <a:ext cx="589915" cy="551815"/>
            <a:chOff x="1975104" y="2965704"/>
            <a:chExt cx="589915" cy="551815"/>
          </a:xfrm>
        </p:grpSpPr>
        <p:sp>
          <p:nvSpPr>
            <p:cNvPr id="15" name="object 15"/>
            <p:cNvSpPr/>
            <p:nvPr/>
          </p:nvSpPr>
          <p:spPr>
            <a:xfrm>
              <a:off x="1981200" y="2971800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981200" y="2971800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190940" y="31133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123960" y="25418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810000" y="2971800"/>
            <a:ext cx="589915" cy="551815"/>
            <a:chOff x="3810000" y="2971800"/>
            <a:chExt cx="589915" cy="551815"/>
          </a:xfrm>
        </p:grpSpPr>
        <p:sp>
          <p:nvSpPr>
            <p:cNvPr id="20" name="object 20"/>
            <p:cNvSpPr/>
            <p:nvPr/>
          </p:nvSpPr>
          <p:spPr>
            <a:xfrm>
              <a:off x="38160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8160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038790" y="31323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990784" y="257986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648200" y="2971800"/>
            <a:ext cx="589915" cy="551815"/>
            <a:chOff x="4648200" y="2971800"/>
            <a:chExt cx="589915" cy="551815"/>
          </a:xfrm>
        </p:grpSpPr>
        <p:sp>
          <p:nvSpPr>
            <p:cNvPr id="25" name="object 25"/>
            <p:cNvSpPr/>
            <p:nvPr/>
          </p:nvSpPr>
          <p:spPr>
            <a:xfrm>
              <a:off x="46542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6542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4857940" y="31133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752784" y="256081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6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324600" y="2991611"/>
            <a:ext cx="589915" cy="551815"/>
            <a:chOff x="6324600" y="2991611"/>
            <a:chExt cx="589915" cy="551815"/>
          </a:xfrm>
        </p:grpSpPr>
        <p:sp>
          <p:nvSpPr>
            <p:cNvPr id="30" name="object 30"/>
            <p:cNvSpPr/>
            <p:nvPr/>
          </p:nvSpPr>
          <p:spPr>
            <a:xfrm>
              <a:off x="6330695" y="2997707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330695" y="2997707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6515290" y="30942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657708" y="265606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1353311" y="4152900"/>
            <a:ext cx="589915" cy="551815"/>
            <a:chOff x="1353311" y="4152900"/>
            <a:chExt cx="589915" cy="551815"/>
          </a:xfrm>
        </p:grpSpPr>
        <p:sp>
          <p:nvSpPr>
            <p:cNvPr id="35" name="object 35"/>
            <p:cNvSpPr/>
            <p:nvPr/>
          </p:nvSpPr>
          <p:spPr>
            <a:xfrm>
              <a:off x="1359407" y="41589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359407" y="41589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1517332" y="4313492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Arial MT"/>
                <a:cs typeface="Arial MT"/>
              </a:rPr>
              <a:t>10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457210" y="381811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2496311" y="4114800"/>
            <a:ext cx="589915" cy="551815"/>
            <a:chOff x="2496311" y="4114800"/>
            <a:chExt cx="589915" cy="551815"/>
          </a:xfrm>
        </p:grpSpPr>
        <p:sp>
          <p:nvSpPr>
            <p:cNvPr id="40" name="object 40"/>
            <p:cNvSpPr/>
            <p:nvPr/>
          </p:nvSpPr>
          <p:spPr>
            <a:xfrm>
              <a:off x="2502407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502407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2622232" y="4313492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Arial MT"/>
                <a:cs typeface="Arial MT"/>
              </a:rPr>
              <a:t>14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790710" y="37419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3314700" y="4114800"/>
            <a:ext cx="589915" cy="551815"/>
            <a:chOff x="3314700" y="4114800"/>
            <a:chExt cx="589915" cy="551815"/>
          </a:xfrm>
        </p:grpSpPr>
        <p:sp>
          <p:nvSpPr>
            <p:cNvPr id="45" name="object 45"/>
            <p:cNvSpPr/>
            <p:nvPr/>
          </p:nvSpPr>
          <p:spPr>
            <a:xfrm>
              <a:off x="3320795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320795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1870076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377499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82242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329847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774794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15573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6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600657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04407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553005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060406" y="5820971"/>
            <a:ext cx="27876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5" dirty="0">
                <a:latin typeface="Arial MT"/>
                <a:cs typeface="Arial MT"/>
              </a:rPr>
              <a:t>10</a:t>
            </a:r>
            <a:endParaRPr sz="1800">
              <a:latin typeface="Arial MT"/>
              <a:cs typeface="Arial MT"/>
            </a:endParaRPr>
          </a:p>
        </p:txBody>
      </p:sp>
      <p:graphicFrame>
        <p:nvGraphicFramePr>
          <p:cNvPr id="48" name="object 48"/>
          <p:cNvGraphicFramePr>
            <a:graphicFrameLocks noGrp="1"/>
          </p:cNvGraphicFramePr>
          <p:nvPr/>
        </p:nvGraphicFramePr>
        <p:xfrm>
          <a:off x="1810511" y="5105400"/>
          <a:ext cx="4615813" cy="539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75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9495"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7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8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9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16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9" name="object 49"/>
          <p:cNvSpPr txBox="1"/>
          <p:nvPr/>
        </p:nvSpPr>
        <p:spPr>
          <a:xfrm>
            <a:off x="6022340" y="257047"/>
            <a:ext cx="258572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BUILD-MAX-HEAP(A)</a:t>
            </a:r>
            <a:endParaRPr sz="1200">
              <a:latin typeface="Arial"/>
              <a:cs typeface="Arial"/>
            </a:endParaRPr>
          </a:p>
          <a:p>
            <a:pPr marL="227329" marR="424815" indent="-215265">
              <a:lnSpc>
                <a:spcPct val="100000"/>
              </a:lnSpc>
            </a:pPr>
            <a:r>
              <a:rPr sz="1200" b="1" spc="-5" dirty="0">
                <a:latin typeface="Arial"/>
                <a:cs typeface="Arial"/>
              </a:rPr>
              <a:t>for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i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←</a:t>
            </a:r>
            <a:r>
              <a:rPr sz="1200" b="1" spc="-10" dirty="0">
                <a:latin typeface="Arial"/>
                <a:cs typeface="Arial"/>
              </a:rPr>
              <a:t> length[A]</a:t>
            </a:r>
            <a:r>
              <a:rPr sz="1200" b="1" spc="4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downto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2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do </a:t>
            </a:r>
            <a:r>
              <a:rPr sz="1200" b="1" spc="-3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exc</a:t>
            </a:r>
            <a:r>
              <a:rPr sz="1200" b="1" spc="-5" dirty="0">
                <a:latin typeface="Arial"/>
                <a:cs typeface="Arial"/>
              </a:rPr>
              <a:t>h</a:t>
            </a:r>
            <a:r>
              <a:rPr sz="1200" b="1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ng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-80" dirty="0">
                <a:latin typeface="Arial"/>
                <a:cs typeface="Arial"/>
              </a:rPr>
              <a:t> </a:t>
            </a:r>
            <a:r>
              <a:rPr sz="1200" b="1" spc="-40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[</a:t>
            </a:r>
            <a:r>
              <a:rPr sz="1200" b="1" dirty="0">
                <a:latin typeface="Arial"/>
                <a:cs typeface="Arial"/>
              </a:rPr>
              <a:t>1]</a:t>
            </a:r>
            <a:r>
              <a:rPr sz="1200" b="1" spc="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↔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spc="-40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[</a:t>
            </a:r>
            <a:r>
              <a:rPr sz="1200" b="1" dirty="0">
                <a:latin typeface="Arial"/>
                <a:cs typeface="Arial"/>
              </a:rPr>
              <a:t>i]</a:t>
            </a:r>
            <a:endParaRPr sz="1200">
              <a:latin typeface="Arial"/>
              <a:cs typeface="Arial"/>
            </a:endParaRPr>
          </a:p>
          <a:p>
            <a:pPr marL="269875" marR="5080">
              <a:lnSpc>
                <a:spcPct val="100000"/>
              </a:lnSpc>
            </a:pPr>
            <a:r>
              <a:rPr sz="1200" b="1" spc="-5" dirty="0">
                <a:latin typeface="Arial"/>
                <a:cs typeface="Arial"/>
              </a:rPr>
              <a:t>heap-size[A]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← </a:t>
            </a:r>
            <a:r>
              <a:rPr sz="1200" b="1" spc="-10" dirty="0">
                <a:latin typeface="Arial"/>
                <a:cs typeface="Arial"/>
              </a:rPr>
              <a:t>heap-size[A]</a:t>
            </a:r>
            <a:r>
              <a:rPr sz="1200" b="1" spc="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–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 </a:t>
            </a:r>
            <a:r>
              <a:rPr sz="1200" b="1" spc="-32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MAX-HEAPIFY(A,</a:t>
            </a:r>
            <a:r>
              <a:rPr sz="1200" b="1" spc="5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1)</a:t>
            </a:r>
            <a:endParaRPr sz="1200">
              <a:latin typeface="Arial"/>
              <a:cs typeface="Arial"/>
            </a:endParaRPr>
          </a:p>
        </p:txBody>
      </p:sp>
      <p:sp>
        <p:nvSpPr>
          <p:cNvPr id="60" name="object 51"/>
          <p:cNvSpPr txBox="1"/>
          <p:nvPr/>
        </p:nvSpPr>
        <p:spPr>
          <a:xfrm>
            <a:off x="3441382" y="3742068"/>
            <a:ext cx="549402" cy="8284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00"/>
              </a:spcBef>
            </a:pPr>
            <a:r>
              <a:rPr sz="1800" spc="-5" dirty="0" smtClean="0">
                <a:latin typeface="Arial MT"/>
                <a:cs typeface="Arial MT"/>
              </a:rPr>
              <a:t>10</a:t>
            </a:r>
            <a:endParaRPr lang="en-US" sz="1800" spc="-5" dirty="0" smtClean="0">
              <a:latin typeface="Arial MT"/>
              <a:cs typeface="Arial MT"/>
            </a:endParaRPr>
          </a:p>
          <a:p>
            <a:pPr marL="28575">
              <a:lnSpc>
                <a:spcPts val="2100"/>
              </a:lnSpc>
            </a:pPr>
            <a:endParaRPr sz="1800" dirty="0">
              <a:latin typeface="Arial MT"/>
              <a:cs typeface="Arial MT"/>
            </a:endParaRPr>
          </a:p>
          <a:p>
            <a:pPr marL="12700">
              <a:lnSpc>
                <a:spcPts val="2100"/>
              </a:lnSpc>
            </a:pPr>
            <a:r>
              <a:rPr sz="1800" spc="-15" dirty="0">
                <a:latin typeface="Arial MT"/>
                <a:cs typeface="Arial MT"/>
              </a:rPr>
              <a:t>16</a:t>
            </a:r>
            <a:endParaRPr sz="18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060457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8911" y="914400"/>
            <a:ext cx="589915" cy="551815"/>
            <a:chOff x="4248911" y="914400"/>
            <a:chExt cx="589915" cy="551815"/>
          </a:xfrm>
        </p:grpSpPr>
        <p:sp>
          <p:nvSpPr>
            <p:cNvPr id="3" name="object 3"/>
            <p:cNvSpPr/>
            <p:nvPr/>
          </p:nvSpPr>
          <p:spPr>
            <a:xfrm>
              <a:off x="4255007" y="9204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255007" y="9204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476940" y="10749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28934" y="48451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971800" y="1696210"/>
            <a:ext cx="589915" cy="551815"/>
            <a:chOff x="2971800" y="1696210"/>
            <a:chExt cx="589915" cy="551815"/>
          </a:xfrm>
        </p:grpSpPr>
        <p:sp>
          <p:nvSpPr>
            <p:cNvPr id="8" name="object 8"/>
            <p:cNvSpPr/>
            <p:nvPr/>
          </p:nvSpPr>
          <p:spPr>
            <a:xfrm>
              <a:off x="2977895" y="1702308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77895" y="170230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200590" y="1856041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52584" y="1303515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524500" y="1734310"/>
            <a:ext cx="589915" cy="551815"/>
            <a:chOff x="5524500" y="1734310"/>
            <a:chExt cx="589915" cy="551815"/>
          </a:xfrm>
        </p:grpSpPr>
        <p:sp>
          <p:nvSpPr>
            <p:cNvPr id="13" name="object 13"/>
            <p:cNvSpPr/>
            <p:nvPr/>
          </p:nvSpPr>
          <p:spPr>
            <a:xfrm>
              <a:off x="5530595" y="1740408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530595" y="1740406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753290" y="1894141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705284" y="130366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975104" y="2965704"/>
            <a:ext cx="589915" cy="551815"/>
            <a:chOff x="1975104" y="2965704"/>
            <a:chExt cx="589915" cy="551815"/>
          </a:xfrm>
        </p:grpSpPr>
        <p:sp>
          <p:nvSpPr>
            <p:cNvPr id="18" name="object 18"/>
            <p:cNvSpPr/>
            <p:nvPr/>
          </p:nvSpPr>
          <p:spPr>
            <a:xfrm>
              <a:off x="1981200" y="2971800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981200" y="2971800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190940" y="31133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123960" y="25418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810000" y="2971800"/>
            <a:ext cx="589915" cy="551815"/>
            <a:chOff x="3810000" y="2971800"/>
            <a:chExt cx="589915" cy="551815"/>
          </a:xfrm>
        </p:grpSpPr>
        <p:sp>
          <p:nvSpPr>
            <p:cNvPr id="23" name="object 23"/>
            <p:cNvSpPr/>
            <p:nvPr/>
          </p:nvSpPr>
          <p:spPr>
            <a:xfrm>
              <a:off x="38160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8160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038790" y="31323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990784" y="257986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648200" y="2971800"/>
            <a:ext cx="589915" cy="551815"/>
            <a:chOff x="4648200" y="2971800"/>
            <a:chExt cx="589915" cy="551815"/>
          </a:xfrm>
        </p:grpSpPr>
        <p:sp>
          <p:nvSpPr>
            <p:cNvPr id="28" name="object 28"/>
            <p:cNvSpPr/>
            <p:nvPr/>
          </p:nvSpPr>
          <p:spPr>
            <a:xfrm>
              <a:off x="46542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654295" y="2977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857940" y="311334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752784" y="256081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6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324600" y="2991611"/>
            <a:ext cx="589915" cy="551815"/>
            <a:chOff x="6324600" y="2991611"/>
            <a:chExt cx="589915" cy="551815"/>
          </a:xfrm>
        </p:grpSpPr>
        <p:sp>
          <p:nvSpPr>
            <p:cNvPr id="33" name="object 33"/>
            <p:cNvSpPr/>
            <p:nvPr/>
          </p:nvSpPr>
          <p:spPr>
            <a:xfrm>
              <a:off x="6330695" y="2997707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8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6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8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330695" y="2997707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8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8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6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515290" y="30942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657708" y="265606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353311" y="4152900"/>
            <a:ext cx="589915" cy="551815"/>
            <a:chOff x="1353311" y="4152900"/>
            <a:chExt cx="589915" cy="551815"/>
          </a:xfrm>
        </p:grpSpPr>
        <p:sp>
          <p:nvSpPr>
            <p:cNvPr id="38" name="object 38"/>
            <p:cNvSpPr/>
            <p:nvPr/>
          </p:nvSpPr>
          <p:spPr>
            <a:xfrm>
              <a:off x="1359407" y="41589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359407" y="41589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1517332" y="4313492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Arial MT"/>
                <a:cs typeface="Arial MT"/>
              </a:rPr>
              <a:t>10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457210" y="381811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2496311" y="4114800"/>
            <a:ext cx="589915" cy="551815"/>
            <a:chOff x="2496311" y="4114800"/>
            <a:chExt cx="589915" cy="551815"/>
          </a:xfrm>
        </p:grpSpPr>
        <p:sp>
          <p:nvSpPr>
            <p:cNvPr id="43" name="object 43"/>
            <p:cNvSpPr/>
            <p:nvPr/>
          </p:nvSpPr>
          <p:spPr>
            <a:xfrm>
              <a:off x="2502407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502407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2622232" y="4313492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Arial MT"/>
                <a:cs typeface="Arial MT"/>
              </a:rPr>
              <a:t>14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790710" y="374199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3314700" y="4114800"/>
            <a:ext cx="589915" cy="551815"/>
            <a:chOff x="3314700" y="4114800"/>
            <a:chExt cx="589915" cy="551815"/>
          </a:xfrm>
        </p:grpSpPr>
        <p:sp>
          <p:nvSpPr>
            <p:cNvPr id="48" name="object 48"/>
            <p:cNvSpPr/>
            <p:nvPr/>
          </p:nvSpPr>
          <p:spPr>
            <a:xfrm>
              <a:off x="3320795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288798" y="0"/>
                  </a:moveTo>
                  <a:lnTo>
                    <a:pt x="241953" y="3530"/>
                  </a:lnTo>
                  <a:lnTo>
                    <a:pt x="197515" y="13751"/>
                  </a:lnTo>
                  <a:lnTo>
                    <a:pt x="156078" y="30107"/>
                  </a:lnTo>
                  <a:lnTo>
                    <a:pt x="118237" y="52043"/>
                  </a:lnTo>
                  <a:lnTo>
                    <a:pt x="84586" y="79005"/>
                  </a:lnTo>
                  <a:lnTo>
                    <a:pt x="55721" y="110435"/>
                  </a:lnTo>
                  <a:lnTo>
                    <a:pt x="32235" y="145780"/>
                  </a:lnTo>
                  <a:lnTo>
                    <a:pt x="14723" y="184484"/>
                  </a:lnTo>
                  <a:lnTo>
                    <a:pt x="3779" y="225992"/>
                  </a:lnTo>
                  <a:lnTo>
                    <a:pt x="0" y="269747"/>
                  </a:lnTo>
                  <a:lnTo>
                    <a:pt x="3779" y="313503"/>
                  </a:lnTo>
                  <a:lnTo>
                    <a:pt x="14723" y="355011"/>
                  </a:lnTo>
                  <a:lnTo>
                    <a:pt x="32235" y="393715"/>
                  </a:lnTo>
                  <a:lnTo>
                    <a:pt x="55721" y="429060"/>
                  </a:lnTo>
                  <a:lnTo>
                    <a:pt x="84586" y="460490"/>
                  </a:lnTo>
                  <a:lnTo>
                    <a:pt x="118237" y="487452"/>
                  </a:lnTo>
                  <a:lnTo>
                    <a:pt x="156078" y="509388"/>
                  </a:lnTo>
                  <a:lnTo>
                    <a:pt x="197515" y="525744"/>
                  </a:lnTo>
                  <a:lnTo>
                    <a:pt x="241953" y="535965"/>
                  </a:lnTo>
                  <a:lnTo>
                    <a:pt x="288798" y="539495"/>
                  </a:lnTo>
                  <a:lnTo>
                    <a:pt x="335642" y="535965"/>
                  </a:lnTo>
                  <a:lnTo>
                    <a:pt x="380080" y="525744"/>
                  </a:lnTo>
                  <a:lnTo>
                    <a:pt x="421517" y="509388"/>
                  </a:lnTo>
                  <a:lnTo>
                    <a:pt x="459358" y="487452"/>
                  </a:lnTo>
                  <a:lnTo>
                    <a:pt x="493009" y="460490"/>
                  </a:lnTo>
                  <a:lnTo>
                    <a:pt x="521874" y="429060"/>
                  </a:lnTo>
                  <a:lnTo>
                    <a:pt x="545360" y="393715"/>
                  </a:lnTo>
                  <a:lnTo>
                    <a:pt x="562872" y="355011"/>
                  </a:lnTo>
                  <a:lnTo>
                    <a:pt x="573816" y="313503"/>
                  </a:lnTo>
                  <a:lnTo>
                    <a:pt x="577596" y="269747"/>
                  </a:lnTo>
                  <a:lnTo>
                    <a:pt x="573816" y="225992"/>
                  </a:lnTo>
                  <a:lnTo>
                    <a:pt x="562872" y="184484"/>
                  </a:lnTo>
                  <a:lnTo>
                    <a:pt x="545360" y="145780"/>
                  </a:lnTo>
                  <a:lnTo>
                    <a:pt x="521874" y="110435"/>
                  </a:lnTo>
                  <a:lnTo>
                    <a:pt x="493009" y="79005"/>
                  </a:lnTo>
                  <a:lnTo>
                    <a:pt x="459358" y="52043"/>
                  </a:lnTo>
                  <a:lnTo>
                    <a:pt x="421517" y="30107"/>
                  </a:lnTo>
                  <a:lnTo>
                    <a:pt x="380080" y="13751"/>
                  </a:lnTo>
                  <a:lnTo>
                    <a:pt x="335642" y="3530"/>
                  </a:lnTo>
                  <a:lnTo>
                    <a:pt x="288798" y="0"/>
                  </a:lnTo>
                  <a:close/>
                </a:path>
              </a:pathLst>
            </a:custGeom>
            <a:solidFill>
              <a:srgbClr val="FAF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320795" y="4120895"/>
              <a:ext cx="577850" cy="539750"/>
            </a:xfrm>
            <a:custGeom>
              <a:avLst/>
              <a:gdLst/>
              <a:ahLst/>
              <a:cxnLst/>
              <a:rect l="l" t="t" r="r" b="b"/>
              <a:pathLst>
                <a:path w="577850" h="539750">
                  <a:moveTo>
                    <a:pt x="0" y="269747"/>
                  </a:moveTo>
                  <a:lnTo>
                    <a:pt x="3779" y="225992"/>
                  </a:lnTo>
                  <a:lnTo>
                    <a:pt x="14723" y="184484"/>
                  </a:lnTo>
                  <a:lnTo>
                    <a:pt x="32235" y="145780"/>
                  </a:lnTo>
                  <a:lnTo>
                    <a:pt x="55721" y="110435"/>
                  </a:lnTo>
                  <a:lnTo>
                    <a:pt x="84586" y="79005"/>
                  </a:lnTo>
                  <a:lnTo>
                    <a:pt x="118237" y="52043"/>
                  </a:lnTo>
                  <a:lnTo>
                    <a:pt x="156078" y="30107"/>
                  </a:lnTo>
                  <a:lnTo>
                    <a:pt x="197515" y="13751"/>
                  </a:lnTo>
                  <a:lnTo>
                    <a:pt x="241953" y="3530"/>
                  </a:lnTo>
                  <a:lnTo>
                    <a:pt x="288798" y="0"/>
                  </a:lnTo>
                  <a:lnTo>
                    <a:pt x="335642" y="3530"/>
                  </a:lnTo>
                  <a:lnTo>
                    <a:pt x="380080" y="13751"/>
                  </a:lnTo>
                  <a:lnTo>
                    <a:pt x="421517" y="30107"/>
                  </a:lnTo>
                  <a:lnTo>
                    <a:pt x="459358" y="52043"/>
                  </a:lnTo>
                  <a:lnTo>
                    <a:pt x="493009" y="79005"/>
                  </a:lnTo>
                  <a:lnTo>
                    <a:pt x="521874" y="110435"/>
                  </a:lnTo>
                  <a:lnTo>
                    <a:pt x="545360" y="145780"/>
                  </a:lnTo>
                  <a:lnTo>
                    <a:pt x="562872" y="184484"/>
                  </a:lnTo>
                  <a:lnTo>
                    <a:pt x="573816" y="225992"/>
                  </a:lnTo>
                  <a:lnTo>
                    <a:pt x="577596" y="269747"/>
                  </a:lnTo>
                  <a:lnTo>
                    <a:pt x="573816" y="313503"/>
                  </a:lnTo>
                  <a:lnTo>
                    <a:pt x="562872" y="355011"/>
                  </a:lnTo>
                  <a:lnTo>
                    <a:pt x="545360" y="393715"/>
                  </a:lnTo>
                  <a:lnTo>
                    <a:pt x="521874" y="429060"/>
                  </a:lnTo>
                  <a:lnTo>
                    <a:pt x="493009" y="460490"/>
                  </a:lnTo>
                  <a:lnTo>
                    <a:pt x="459358" y="487452"/>
                  </a:lnTo>
                  <a:lnTo>
                    <a:pt x="421517" y="509388"/>
                  </a:lnTo>
                  <a:lnTo>
                    <a:pt x="380080" y="525744"/>
                  </a:lnTo>
                  <a:lnTo>
                    <a:pt x="335642" y="535965"/>
                  </a:lnTo>
                  <a:lnTo>
                    <a:pt x="288798" y="539495"/>
                  </a:lnTo>
                  <a:lnTo>
                    <a:pt x="241953" y="535965"/>
                  </a:lnTo>
                  <a:lnTo>
                    <a:pt x="197515" y="525744"/>
                  </a:lnTo>
                  <a:lnTo>
                    <a:pt x="156078" y="509388"/>
                  </a:lnTo>
                  <a:lnTo>
                    <a:pt x="118237" y="487452"/>
                  </a:lnTo>
                  <a:lnTo>
                    <a:pt x="84586" y="460490"/>
                  </a:lnTo>
                  <a:lnTo>
                    <a:pt x="55721" y="429060"/>
                  </a:lnTo>
                  <a:lnTo>
                    <a:pt x="32235" y="393715"/>
                  </a:lnTo>
                  <a:lnTo>
                    <a:pt x="14723" y="355011"/>
                  </a:lnTo>
                  <a:lnTo>
                    <a:pt x="3779" y="313503"/>
                  </a:lnTo>
                  <a:lnTo>
                    <a:pt x="0" y="26974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1870076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377499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82242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329847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774794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15573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6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600657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7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044073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553005" y="5820971"/>
            <a:ext cx="1530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5" dirty="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060406" y="5820971"/>
            <a:ext cx="27876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5" dirty="0">
                <a:latin typeface="Arial MT"/>
                <a:cs typeface="Arial MT"/>
              </a:rPr>
              <a:t>10</a:t>
            </a:r>
            <a:endParaRPr sz="1800">
              <a:latin typeface="Arial MT"/>
              <a:cs typeface="Arial MT"/>
            </a:endParaRPr>
          </a:p>
        </p:txBody>
      </p:sp>
      <p:graphicFrame>
        <p:nvGraphicFramePr>
          <p:cNvPr id="51" name="object 51"/>
          <p:cNvGraphicFramePr>
            <a:graphicFrameLocks noGrp="1"/>
          </p:cNvGraphicFramePr>
          <p:nvPr/>
        </p:nvGraphicFramePr>
        <p:xfrm>
          <a:off x="1810511" y="5105400"/>
          <a:ext cx="4615813" cy="539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75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9495"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7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8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9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800" spc="-15" dirty="0">
                          <a:latin typeface="Arial MT"/>
                          <a:cs typeface="Arial MT"/>
                        </a:rPr>
                        <a:t>16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2" name="object 52"/>
          <p:cNvSpPr txBox="1"/>
          <p:nvPr/>
        </p:nvSpPr>
        <p:spPr>
          <a:xfrm>
            <a:off x="6022340" y="257047"/>
            <a:ext cx="258572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BUILD-MAX-HEAP(A)</a:t>
            </a:r>
            <a:endParaRPr sz="1200">
              <a:latin typeface="Arial"/>
              <a:cs typeface="Arial"/>
            </a:endParaRPr>
          </a:p>
          <a:p>
            <a:pPr marL="227329" marR="424815" indent="-215265">
              <a:lnSpc>
                <a:spcPct val="100000"/>
              </a:lnSpc>
            </a:pPr>
            <a:r>
              <a:rPr sz="1200" b="1" spc="-5" dirty="0">
                <a:latin typeface="Arial"/>
                <a:cs typeface="Arial"/>
              </a:rPr>
              <a:t>for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i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←</a:t>
            </a:r>
            <a:r>
              <a:rPr sz="1200" b="1" spc="-10" dirty="0">
                <a:latin typeface="Arial"/>
                <a:cs typeface="Arial"/>
              </a:rPr>
              <a:t> length[A]</a:t>
            </a:r>
            <a:r>
              <a:rPr sz="1200" b="1" spc="4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downto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2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do </a:t>
            </a:r>
            <a:r>
              <a:rPr sz="1200" b="1" spc="-3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exc</a:t>
            </a:r>
            <a:r>
              <a:rPr sz="1200" b="1" spc="-5" dirty="0">
                <a:latin typeface="Arial"/>
                <a:cs typeface="Arial"/>
              </a:rPr>
              <a:t>h</a:t>
            </a:r>
            <a:r>
              <a:rPr sz="1200" b="1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ng</a:t>
            </a:r>
            <a:r>
              <a:rPr sz="1200" b="1" dirty="0">
                <a:latin typeface="Arial"/>
                <a:cs typeface="Arial"/>
              </a:rPr>
              <a:t>e</a:t>
            </a:r>
            <a:r>
              <a:rPr sz="1200" b="1" spc="-80" dirty="0">
                <a:latin typeface="Arial"/>
                <a:cs typeface="Arial"/>
              </a:rPr>
              <a:t> </a:t>
            </a:r>
            <a:r>
              <a:rPr sz="1200" b="1" spc="-40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[</a:t>
            </a:r>
            <a:r>
              <a:rPr sz="1200" b="1" dirty="0">
                <a:latin typeface="Arial"/>
                <a:cs typeface="Arial"/>
              </a:rPr>
              <a:t>1]</a:t>
            </a:r>
            <a:r>
              <a:rPr sz="1200" b="1" spc="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↔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spc="-40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[</a:t>
            </a:r>
            <a:r>
              <a:rPr sz="1200" b="1" dirty="0">
                <a:latin typeface="Arial"/>
                <a:cs typeface="Arial"/>
              </a:rPr>
              <a:t>i]</a:t>
            </a:r>
            <a:endParaRPr sz="1200">
              <a:latin typeface="Arial"/>
              <a:cs typeface="Arial"/>
            </a:endParaRPr>
          </a:p>
          <a:p>
            <a:pPr marL="269875" marR="5080">
              <a:lnSpc>
                <a:spcPct val="100000"/>
              </a:lnSpc>
            </a:pPr>
            <a:r>
              <a:rPr sz="1200" b="1" spc="-5" dirty="0">
                <a:latin typeface="Arial"/>
                <a:cs typeface="Arial"/>
              </a:rPr>
              <a:t>heap-size[A]</a:t>
            </a:r>
            <a:r>
              <a:rPr sz="1200" b="1" spc="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← </a:t>
            </a:r>
            <a:r>
              <a:rPr sz="1200" b="1" spc="-10" dirty="0">
                <a:latin typeface="Arial"/>
                <a:cs typeface="Arial"/>
              </a:rPr>
              <a:t>heap-size[A]</a:t>
            </a:r>
            <a:r>
              <a:rPr sz="1200" b="1" spc="1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–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 </a:t>
            </a:r>
            <a:r>
              <a:rPr sz="1200" b="1" spc="-32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MAX-HEAPIFY(A,</a:t>
            </a:r>
            <a:r>
              <a:rPr sz="1200" b="1" spc="55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1)</a:t>
            </a:r>
            <a:endParaRPr sz="1200">
              <a:latin typeface="Arial"/>
              <a:cs typeface="Arial"/>
            </a:endParaRPr>
          </a:p>
        </p:txBody>
      </p:sp>
      <p:sp>
        <p:nvSpPr>
          <p:cNvPr id="63" name="object 51"/>
          <p:cNvSpPr txBox="1"/>
          <p:nvPr/>
        </p:nvSpPr>
        <p:spPr>
          <a:xfrm>
            <a:off x="3441382" y="3742068"/>
            <a:ext cx="549402" cy="8284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00"/>
              </a:spcBef>
            </a:pPr>
            <a:r>
              <a:rPr sz="1800" spc="-5" dirty="0" smtClean="0">
                <a:latin typeface="Arial MT"/>
                <a:cs typeface="Arial MT"/>
              </a:rPr>
              <a:t>10</a:t>
            </a:r>
            <a:endParaRPr lang="en-US" sz="1800" spc="-5" dirty="0" smtClean="0">
              <a:latin typeface="Arial MT"/>
              <a:cs typeface="Arial MT"/>
            </a:endParaRPr>
          </a:p>
          <a:p>
            <a:pPr marL="28575">
              <a:lnSpc>
                <a:spcPts val="2100"/>
              </a:lnSpc>
            </a:pPr>
            <a:endParaRPr sz="1800" dirty="0">
              <a:latin typeface="Arial MT"/>
              <a:cs typeface="Arial MT"/>
            </a:endParaRPr>
          </a:p>
          <a:p>
            <a:pPr marL="12700">
              <a:lnSpc>
                <a:spcPts val="2100"/>
              </a:lnSpc>
            </a:pPr>
            <a:r>
              <a:rPr sz="1800" spc="-15" dirty="0">
                <a:latin typeface="Arial MT"/>
                <a:cs typeface="Arial MT"/>
              </a:rPr>
              <a:t>16</a:t>
            </a:r>
            <a:endParaRPr sz="18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852746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46808" y="166877"/>
            <a:ext cx="584898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Running</a:t>
            </a:r>
            <a:r>
              <a:rPr spc="-65" dirty="0"/>
              <a:t> </a:t>
            </a:r>
            <a:r>
              <a:rPr spc="-5" dirty="0"/>
              <a:t>time</a:t>
            </a:r>
            <a:r>
              <a:rPr spc="-1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Heapsort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187" y="1290573"/>
            <a:ext cx="203453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Courier New"/>
                <a:cs typeface="Courier New"/>
              </a:rPr>
              <a:t>HEAPSO</a:t>
            </a:r>
            <a:r>
              <a:rPr sz="2400" b="1" spc="-20" dirty="0">
                <a:latin typeface="Courier New"/>
                <a:cs typeface="Courier New"/>
              </a:rPr>
              <a:t>RT</a:t>
            </a:r>
            <a:r>
              <a:rPr sz="2400" b="1" spc="-5" dirty="0">
                <a:latin typeface="Courier New"/>
                <a:cs typeface="Courier New"/>
              </a:rPr>
              <a:t>(A)</a:t>
            </a:r>
            <a:endParaRPr sz="2400"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11137" y="1793233"/>
          <a:ext cx="8682987" cy="21009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7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0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1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52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61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44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60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30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541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8831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92096">
                <a:tc>
                  <a:txBody>
                    <a:bodyPr/>
                    <a:lstStyle/>
                    <a:p>
                      <a:pPr marL="31750">
                        <a:lnSpc>
                          <a:spcPts val="2480"/>
                        </a:lnSpc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1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212725" marR="3175">
                        <a:lnSpc>
                          <a:spcPts val="2480"/>
                        </a:lnSpc>
                      </a:pPr>
                      <a:r>
                        <a:rPr sz="2400" b="1" spc="-5" dirty="0">
                          <a:latin typeface="Courier New"/>
                          <a:cs typeface="Courier New"/>
                        </a:rPr>
                        <a:t>BUILD-MAX-HEAP(A)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1410970">
                        <a:lnSpc>
                          <a:spcPts val="2480"/>
                        </a:lnSpc>
                      </a:pPr>
                      <a:r>
                        <a:rPr sz="2400" b="1" spc="-5" dirty="0">
                          <a:latin typeface="Courier New"/>
                          <a:cs typeface="Courier New"/>
                        </a:rPr>
                        <a:t>O(n)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096">
                <a:tc>
                  <a:txBody>
                    <a:bodyPr/>
                    <a:lstStyle/>
                    <a:p>
                      <a:pPr marL="31750">
                        <a:lnSpc>
                          <a:spcPts val="2845"/>
                        </a:lnSpc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212725" marR="3175">
                        <a:lnSpc>
                          <a:spcPts val="2845"/>
                        </a:lnSpc>
                      </a:pPr>
                      <a:r>
                        <a:rPr sz="2400" b="1" spc="-5" dirty="0">
                          <a:latin typeface="Courier New"/>
                          <a:cs typeface="Courier New"/>
                        </a:rPr>
                        <a:t>for</a:t>
                      </a:r>
                      <a:r>
                        <a:rPr sz="2400" b="1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b="1" spc="-5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2400" b="1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b="1" dirty="0">
                          <a:latin typeface="Courier New"/>
                          <a:cs typeface="Courier New"/>
                        </a:rPr>
                        <a:t>←</a:t>
                      </a:r>
                      <a:r>
                        <a:rPr sz="2400" b="1" spc="-4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b="1" spc="-10" dirty="0">
                          <a:latin typeface="Courier New"/>
                          <a:cs typeface="Courier New"/>
                        </a:rPr>
                        <a:t>length[A]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2845"/>
                        </a:lnSpc>
                      </a:pPr>
                      <a:r>
                        <a:rPr sz="2400" b="1" spc="-10" dirty="0">
                          <a:latin typeface="Courier New"/>
                          <a:cs typeface="Courier New"/>
                        </a:rPr>
                        <a:t>downto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2845"/>
                        </a:lnSpc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845"/>
                        </a:lnSpc>
                      </a:pPr>
                      <a:r>
                        <a:rPr sz="2400" b="1" spc="-5" dirty="0">
                          <a:latin typeface="Courier New"/>
                          <a:cs typeface="Courier New"/>
                        </a:rPr>
                        <a:t>do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1410970">
                        <a:lnSpc>
                          <a:spcPts val="2845"/>
                        </a:lnSpc>
                      </a:pPr>
                      <a:r>
                        <a:rPr sz="2400" b="1" spc="-5" dirty="0">
                          <a:latin typeface="Courier New"/>
                          <a:cs typeface="Courier New"/>
                        </a:rPr>
                        <a:t>O(n-1)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727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3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L="39560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400" b="1" spc="-10" dirty="0">
                          <a:latin typeface="Courier New"/>
                          <a:cs typeface="Courier New"/>
                        </a:rPr>
                        <a:t>exchange</a:t>
                      </a:r>
                      <a:r>
                        <a:rPr sz="2400" b="1" spc="-4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b="1" spc="-5" dirty="0">
                          <a:latin typeface="Courier New"/>
                          <a:cs typeface="Courier New"/>
                        </a:rPr>
                        <a:t>A[1]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L="1809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↔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42545" marB="0"/>
                </a:tc>
                <a:tc gridSpan="4">
                  <a:txBody>
                    <a:bodyPr/>
                    <a:lstStyle/>
                    <a:p>
                      <a:pPr marL="182880" marR="31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400" b="1" spc="-5" dirty="0">
                          <a:latin typeface="Courier New"/>
                          <a:cs typeface="Courier New"/>
                        </a:rPr>
                        <a:t>A[i]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4254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3180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400" b="1" spc="-5" dirty="0">
                          <a:latin typeface="Courier New"/>
                          <a:cs typeface="Courier New"/>
                        </a:rPr>
                        <a:t>O(1)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4254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096">
                <a:tc>
                  <a:txBody>
                    <a:bodyPr/>
                    <a:lstStyle/>
                    <a:p>
                      <a:pPr marL="31750">
                        <a:lnSpc>
                          <a:spcPts val="2845"/>
                        </a:lnSpc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4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95605">
                        <a:lnSpc>
                          <a:spcPts val="2845"/>
                        </a:lnSpc>
                      </a:pPr>
                      <a:r>
                        <a:rPr sz="2400" b="1" spc="-5" dirty="0">
                          <a:latin typeface="Courier New"/>
                          <a:cs typeface="Courier New"/>
                        </a:rPr>
                        <a:t>heap-size[A]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ts val="2845"/>
                        </a:lnSpc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←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R="3175">
                        <a:lnSpc>
                          <a:spcPts val="2845"/>
                        </a:lnSpc>
                      </a:pPr>
                      <a:r>
                        <a:rPr sz="2400" b="1" spc="-5" dirty="0">
                          <a:latin typeface="Courier New"/>
                          <a:cs typeface="Courier New"/>
                        </a:rPr>
                        <a:t>heap-size[A]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2845"/>
                        </a:lnSpc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–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2845"/>
                        </a:lnSpc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1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31800">
                        <a:lnSpc>
                          <a:spcPts val="2845"/>
                        </a:lnSpc>
                      </a:pPr>
                      <a:r>
                        <a:rPr sz="2400" b="1" spc="-5" dirty="0">
                          <a:latin typeface="Courier New"/>
                          <a:cs typeface="Courier New"/>
                        </a:rPr>
                        <a:t>O(1)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1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5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42545" marB="0"/>
                </a:tc>
                <a:tc gridSpan="2">
                  <a:txBody>
                    <a:bodyPr/>
                    <a:lstStyle/>
                    <a:p>
                      <a:pPr marL="216535" marR="317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400" b="1" spc="-5" dirty="0">
                          <a:latin typeface="Courier New"/>
                          <a:cs typeface="Courier New"/>
                        </a:rPr>
                        <a:t>MAX-HEAPIFY(A,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4254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1)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42545" marB="0"/>
                </a:tc>
                <a:tc gridSpan="6"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400" b="1" spc="-5" dirty="0">
                          <a:latin typeface="Courier New"/>
                          <a:cs typeface="Courier New"/>
                        </a:rPr>
                        <a:t>O(lg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4254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400" b="1" spc="-5" dirty="0">
                          <a:latin typeface="Courier New"/>
                          <a:cs typeface="Courier New"/>
                        </a:rPr>
                        <a:t>n)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4254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29780" y="4093209"/>
            <a:ext cx="8619490" cy="2464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840"/>
              </a:lnSpc>
              <a:spcBef>
                <a:spcPts val="100"/>
              </a:spcBef>
            </a:pPr>
            <a:r>
              <a:rPr sz="3200" spc="-45" dirty="0">
                <a:latin typeface="Times New Roman"/>
                <a:cs typeface="Times New Roman"/>
              </a:rPr>
              <a:t>Total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time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is:</a:t>
            </a:r>
            <a:endParaRPr sz="3200">
              <a:latin typeface="Times New Roman"/>
              <a:cs typeface="Times New Roman"/>
            </a:endParaRPr>
          </a:p>
          <a:p>
            <a:pPr marL="1841500">
              <a:lnSpc>
                <a:spcPts val="3840"/>
              </a:lnSpc>
            </a:pPr>
            <a:r>
              <a:rPr sz="3200" dirty="0">
                <a:latin typeface="Times New Roman"/>
                <a:cs typeface="Times New Roman"/>
              </a:rPr>
              <a:t>O(</a:t>
            </a:r>
            <a:r>
              <a:rPr sz="3200" i="1" dirty="0">
                <a:latin typeface="Times New Roman"/>
                <a:cs typeface="Times New Roman"/>
              </a:rPr>
              <a:t>n</a:t>
            </a:r>
            <a:r>
              <a:rPr sz="3200" dirty="0">
                <a:latin typeface="Times New Roman"/>
                <a:cs typeface="Times New Roman"/>
              </a:rPr>
              <a:t>)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+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O(</a:t>
            </a:r>
            <a:r>
              <a:rPr sz="3200" i="1" dirty="0">
                <a:latin typeface="Times New Roman"/>
                <a:cs typeface="Times New Roman"/>
              </a:rPr>
              <a:t>n</a:t>
            </a:r>
            <a:r>
              <a:rPr sz="3200" dirty="0">
                <a:latin typeface="Times New Roman"/>
                <a:cs typeface="Times New Roman"/>
              </a:rPr>
              <a:t>-1)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*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[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O(1)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+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O(1)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+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O(lg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n</a:t>
            </a:r>
            <a:r>
              <a:rPr sz="3200" dirty="0">
                <a:latin typeface="Times New Roman"/>
                <a:cs typeface="Times New Roman"/>
              </a:rPr>
              <a:t>)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]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200" dirty="0">
                <a:latin typeface="Times New Roman"/>
                <a:cs typeface="Times New Roman"/>
              </a:rPr>
              <a:t>which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approximately</a:t>
            </a:r>
            <a:endParaRPr sz="3200">
              <a:latin typeface="Times New Roman"/>
              <a:cs typeface="Times New Roman"/>
            </a:endParaRPr>
          </a:p>
          <a:p>
            <a:pPr marL="1841500">
              <a:lnSpc>
                <a:spcPct val="100000"/>
              </a:lnSpc>
              <a:spcBef>
                <a:spcPts val="5"/>
              </a:spcBef>
            </a:pPr>
            <a:r>
              <a:rPr sz="3200" dirty="0">
                <a:latin typeface="Times New Roman"/>
                <a:cs typeface="Times New Roman"/>
              </a:rPr>
              <a:t>O(</a:t>
            </a:r>
            <a:r>
              <a:rPr sz="3200" i="1" dirty="0">
                <a:latin typeface="Times New Roman"/>
                <a:cs typeface="Times New Roman"/>
              </a:rPr>
              <a:t>n</a:t>
            </a:r>
            <a:r>
              <a:rPr sz="3200" dirty="0">
                <a:latin typeface="Times New Roman"/>
                <a:cs typeface="Times New Roman"/>
              </a:rPr>
              <a:t>)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+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O(</a:t>
            </a:r>
            <a:r>
              <a:rPr sz="3200" i="1" dirty="0">
                <a:latin typeface="Times New Roman"/>
                <a:cs typeface="Times New Roman"/>
              </a:rPr>
              <a:t>n</a:t>
            </a:r>
            <a:r>
              <a:rPr sz="3200" i="1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lg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n</a:t>
            </a:r>
            <a:r>
              <a:rPr sz="3200" dirty="0"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1840864" algn="l"/>
              </a:tabLst>
            </a:pPr>
            <a:r>
              <a:rPr sz="3200" dirty="0">
                <a:latin typeface="Times New Roman"/>
                <a:cs typeface="Times New Roman"/>
              </a:rPr>
              <a:t>or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just	O(</a:t>
            </a:r>
            <a:r>
              <a:rPr sz="3200" i="1" dirty="0">
                <a:latin typeface="Times New Roman"/>
                <a:cs typeface="Times New Roman"/>
              </a:rPr>
              <a:t>n</a:t>
            </a:r>
            <a:r>
              <a:rPr sz="3200" i="1" spc="-3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lg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n</a:t>
            </a:r>
            <a:r>
              <a:rPr sz="3200" dirty="0"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26135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Monotype Corsiva" panose="03010101010201010101" pitchFamily="66" charset="0"/>
              </a:rPr>
              <a:t>Alg:</a:t>
            </a:r>
            <a:r>
              <a:rPr lang="en-US" altLang="en-US"/>
              <a:t> HEAPSORT</a:t>
            </a:r>
            <a:r>
              <a:rPr lang="en-US" altLang="en-US" i="1"/>
              <a:t>(A)</a:t>
            </a:r>
          </a:p>
        </p:txBody>
      </p:sp>
      <p:sp>
        <p:nvSpPr>
          <p:cNvPr id="436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019175"/>
            <a:ext cx="6583362" cy="5076825"/>
          </a:xfrm>
        </p:spPr>
        <p:txBody>
          <a:bodyPr/>
          <a:lstStyle/>
          <a:p>
            <a:pPr marL="533400" indent="-533400">
              <a:buFontTx/>
              <a:buNone/>
            </a:pPr>
            <a:endParaRPr lang="en-US" altLang="en-US" i="1" dirty="0"/>
          </a:p>
          <a:p>
            <a:pPr marL="533400" indent="-533400">
              <a:lnSpc>
                <a:spcPct val="130000"/>
              </a:lnSpc>
              <a:buFontTx/>
              <a:buAutoNum type="arabicPeriod"/>
            </a:pPr>
            <a:r>
              <a:rPr lang="en-US" altLang="en-US" dirty="0"/>
              <a:t> BUILD-MAX-HEAP</a:t>
            </a:r>
            <a:r>
              <a:rPr lang="en-US" altLang="en-US" dirty="0">
                <a:latin typeface="Comic Sans MS" panose="030F0702030302020204" pitchFamily="66" charset="0"/>
              </a:rPr>
              <a:t>(A)</a:t>
            </a:r>
          </a:p>
          <a:p>
            <a:pPr marL="533400" indent="-533400">
              <a:lnSpc>
                <a:spcPct val="130000"/>
              </a:lnSpc>
              <a:buFontTx/>
              <a:buAutoNum type="arabicPeriod"/>
            </a:pPr>
            <a:r>
              <a:rPr lang="en-US" altLang="en-US" dirty="0"/>
              <a:t> </a:t>
            </a:r>
            <a:r>
              <a:rPr lang="en-US" altLang="en-US" b="1" dirty="0"/>
              <a:t>for </a:t>
            </a:r>
            <a:r>
              <a:rPr lang="en-US" altLang="en-US" dirty="0" err="1">
                <a:latin typeface="Comic Sans MS" panose="030F0702030302020204" pitchFamily="66" charset="0"/>
              </a:rPr>
              <a:t>i</a:t>
            </a:r>
            <a:r>
              <a:rPr lang="en-US" altLang="en-US" dirty="0">
                <a:latin typeface="Comic Sans MS" panose="030F0702030302020204" pitchFamily="66" charset="0"/>
              </a:rPr>
              <a:t> ← length[A]</a:t>
            </a:r>
            <a:r>
              <a:rPr lang="en-US" altLang="en-US" i="1" dirty="0"/>
              <a:t> </a:t>
            </a:r>
            <a:r>
              <a:rPr lang="en-US" altLang="en-US" b="1" dirty="0" err="1"/>
              <a:t>downto</a:t>
            </a:r>
            <a:r>
              <a:rPr lang="en-US" altLang="en-US" b="1" dirty="0"/>
              <a:t> </a:t>
            </a:r>
            <a:r>
              <a:rPr lang="en-US" altLang="en-US" dirty="0"/>
              <a:t>2</a:t>
            </a:r>
          </a:p>
          <a:p>
            <a:pPr marL="533400" indent="-533400">
              <a:lnSpc>
                <a:spcPct val="130000"/>
              </a:lnSpc>
              <a:buFontTx/>
              <a:buAutoNum type="arabicPeriod"/>
            </a:pPr>
            <a:r>
              <a:rPr lang="en-US" altLang="en-US" dirty="0"/>
              <a:t>      </a:t>
            </a:r>
            <a:r>
              <a:rPr lang="en-US" altLang="en-US" b="1" dirty="0"/>
              <a:t>do </a:t>
            </a:r>
            <a:r>
              <a:rPr lang="en-US" altLang="en-US" dirty="0"/>
              <a:t>exchange </a:t>
            </a:r>
            <a:r>
              <a:rPr lang="en-US" altLang="en-US" dirty="0">
                <a:latin typeface="Comic Sans MS" panose="030F0702030302020204" pitchFamily="66" charset="0"/>
              </a:rPr>
              <a:t>A[1] ↔ A[</a:t>
            </a:r>
            <a:r>
              <a:rPr lang="en-US" altLang="en-US" dirty="0" err="1">
                <a:latin typeface="Comic Sans MS" panose="030F0702030302020204" pitchFamily="66" charset="0"/>
              </a:rPr>
              <a:t>i</a:t>
            </a:r>
            <a:r>
              <a:rPr lang="en-US" altLang="en-US" dirty="0">
                <a:latin typeface="Comic Sans MS" panose="030F0702030302020204" pitchFamily="66" charset="0"/>
              </a:rPr>
              <a:t>]</a:t>
            </a:r>
          </a:p>
          <a:p>
            <a:pPr marL="533400" indent="-533400">
              <a:lnSpc>
                <a:spcPct val="130000"/>
              </a:lnSpc>
              <a:buFontTx/>
              <a:buAutoNum type="arabicPeriod"/>
            </a:pPr>
            <a:r>
              <a:rPr lang="en-US" altLang="en-US" dirty="0"/>
              <a:t>           MAX-HEAPIFY</a:t>
            </a:r>
            <a:r>
              <a:rPr lang="en-US" altLang="en-US" dirty="0">
                <a:latin typeface="Comic Sans MS" panose="030F0702030302020204" pitchFamily="66" charset="0"/>
              </a:rPr>
              <a:t>(A, 1, </a:t>
            </a:r>
            <a:r>
              <a:rPr lang="en-US" altLang="en-US" dirty="0" err="1">
                <a:latin typeface="Comic Sans MS" panose="030F0702030302020204" pitchFamily="66" charset="0"/>
              </a:rPr>
              <a:t>i</a:t>
            </a:r>
            <a:r>
              <a:rPr lang="en-US" altLang="en-US" dirty="0">
                <a:latin typeface="Comic Sans MS" panose="030F0702030302020204" pitchFamily="66" charset="0"/>
              </a:rPr>
              <a:t> - 1)</a:t>
            </a:r>
          </a:p>
          <a:p>
            <a:pPr marL="533400" indent="-533400">
              <a:lnSpc>
                <a:spcPct val="130000"/>
              </a:lnSpc>
              <a:buFontTx/>
              <a:buNone/>
            </a:pPr>
            <a:endParaRPr lang="en-US" altLang="en-US" dirty="0">
              <a:latin typeface="Comic Sans MS" panose="030F0702030302020204" pitchFamily="66" charset="0"/>
            </a:endParaRPr>
          </a:p>
          <a:p>
            <a:pPr marL="533400" indent="-533400">
              <a:lnSpc>
                <a:spcPct val="130000"/>
              </a:lnSpc>
            </a:pPr>
            <a:r>
              <a:rPr lang="en-US" altLang="en-US" dirty="0"/>
              <a:t>Running time: </a:t>
            </a:r>
            <a:r>
              <a:rPr lang="en-US" altLang="en-US" dirty="0">
                <a:latin typeface="Comic Sans MS" panose="030F0702030302020204" pitchFamily="66" charset="0"/>
              </a:rPr>
              <a:t>O(</a:t>
            </a:r>
            <a:r>
              <a:rPr lang="en-US" altLang="en-US" dirty="0" err="1">
                <a:latin typeface="Comic Sans MS" panose="030F0702030302020204" pitchFamily="66" charset="0"/>
              </a:rPr>
              <a:t>nlgn</a:t>
            </a:r>
            <a:r>
              <a:rPr lang="en-US" altLang="en-US" dirty="0">
                <a:latin typeface="Comic Sans MS" panose="030F0702030302020204" pitchFamily="66" charset="0"/>
              </a:rPr>
              <a:t>) --- Can be shown to be </a:t>
            </a:r>
            <a:r>
              <a:rPr lang="el-GR" altLang="en-US" dirty="0">
                <a:latin typeface="Comic Sans MS" panose="030F0702030302020204" pitchFamily="66" charset="0"/>
              </a:rPr>
              <a:t>Θ</a:t>
            </a:r>
            <a:r>
              <a:rPr lang="en-US" altLang="en-US" dirty="0">
                <a:latin typeface="Comic Sans MS" panose="030F0702030302020204" pitchFamily="66" charset="0"/>
              </a:rPr>
              <a:t>(</a:t>
            </a:r>
            <a:r>
              <a:rPr lang="en-US" altLang="en-US" dirty="0" err="1">
                <a:latin typeface="Comic Sans MS" panose="030F0702030302020204" pitchFamily="66" charset="0"/>
              </a:rPr>
              <a:t>nlgn</a:t>
            </a:r>
            <a:r>
              <a:rPr lang="en-US" altLang="en-US" dirty="0">
                <a:latin typeface="Comic Sans MS" panose="030F0702030302020204" pitchFamily="66" charset="0"/>
              </a:rPr>
              <a:t>)</a:t>
            </a:r>
            <a:endParaRPr lang="el-GR" altLang="en-US" dirty="0">
              <a:latin typeface="Comic Sans MS" panose="030F0702030302020204" pitchFamily="66" charset="0"/>
            </a:endParaRPr>
          </a:p>
          <a:p>
            <a:pPr marL="533400" indent="-533400"/>
            <a:endParaRPr lang="en-US" altLang="en-US" dirty="0"/>
          </a:p>
        </p:txBody>
      </p:sp>
      <p:grpSp>
        <p:nvGrpSpPr>
          <p:cNvPr id="436228" name="Group 4"/>
          <p:cNvGrpSpPr>
            <a:grpSpLocks/>
          </p:cNvGrpSpPr>
          <p:nvPr/>
        </p:nvGrpSpPr>
        <p:grpSpPr bwMode="auto">
          <a:xfrm>
            <a:off x="6534150" y="1663700"/>
            <a:ext cx="2503488" cy="2544763"/>
            <a:chOff x="4116" y="1048"/>
            <a:chExt cx="1577" cy="1603"/>
          </a:xfrm>
        </p:grpSpPr>
        <p:sp>
          <p:nvSpPr>
            <p:cNvPr id="436229" name="Text Box 5"/>
            <p:cNvSpPr txBox="1">
              <a:spLocks noChangeArrowheads="1"/>
            </p:cNvSpPr>
            <p:nvPr/>
          </p:nvSpPr>
          <p:spPr bwMode="auto">
            <a:xfrm>
              <a:off x="4132" y="1048"/>
              <a:ext cx="51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dirty="0">
                  <a:latin typeface="Comic Sans MS" panose="030F0702030302020204" pitchFamily="66" charset="0"/>
                </a:rPr>
                <a:t>O(n)</a:t>
              </a:r>
            </a:p>
          </p:txBody>
        </p:sp>
        <p:sp>
          <p:nvSpPr>
            <p:cNvPr id="436230" name="Text Box 6"/>
            <p:cNvSpPr txBox="1">
              <a:spLocks noChangeArrowheads="1"/>
            </p:cNvSpPr>
            <p:nvPr/>
          </p:nvSpPr>
          <p:spPr bwMode="auto">
            <a:xfrm>
              <a:off x="4116" y="2340"/>
              <a:ext cx="7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en-US" sz="2400">
                  <a:latin typeface="Comic Sans MS" panose="030F0702030302020204" pitchFamily="66" charset="0"/>
                </a:rPr>
                <a:t>O(lgn)</a:t>
              </a:r>
            </a:p>
          </p:txBody>
        </p:sp>
        <p:sp>
          <p:nvSpPr>
            <p:cNvPr id="436231" name="AutoShape 7"/>
            <p:cNvSpPr>
              <a:spLocks/>
            </p:cNvSpPr>
            <p:nvPr/>
          </p:nvSpPr>
          <p:spPr bwMode="auto">
            <a:xfrm>
              <a:off x="4692" y="1477"/>
              <a:ext cx="144" cy="1174"/>
            </a:xfrm>
            <a:prstGeom prst="rightBrace">
              <a:avLst>
                <a:gd name="adj1" fmla="val 6794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6232" name="Text Box 8"/>
            <p:cNvSpPr txBox="1">
              <a:spLocks noChangeArrowheads="1"/>
            </p:cNvSpPr>
            <p:nvPr/>
          </p:nvSpPr>
          <p:spPr bwMode="auto">
            <a:xfrm>
              <a:off x="4809" y="1912"/>
              <a:ext cx="8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dirty="0">
                  <a:latin typeface="Comic Sans MS" panose="030F0702030302020204" pitchFamily="66" charset="0"/>
                </a:rPr>
                <a:t>n-1</a:t>
              </a:r>
              <a:r>
                <a:rPr lang="en-US" altLang="en-US" sz="2400" dirty="0">
                  <a:latin typeface="Monotype Corsiva" panose="03010101010201010101" pitchFamily="66" charset="0"/>
                </a:rPr>
                <a:t> </a:t>
              </a:r>
              <a:r>
                <a:rPr lang="en-US" altLang="en-US" sz="2400" dirty="0"/>
                <a:t>times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87834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Reference</a:t>
            </a:r>
          </a:p>
        </p:txBody>
      </p:sp>
      <p:sp>
        <p:nvSpPr>
          <p:cNvPr id="593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Introduction to Algorithms</a:t>
            </a:r>
          </a:p>
          <a:p>
            <a:pPr lvl="1"/>
            <a:r>
              <a:rPr lang="en-US" altLang="en-US" smtClean="0"/>
              <a:t>Chapter # 6</a:t>
            </a:r>
          </a:p>
          <a:p>
            <a:pPr lvl="1"/>
            <a:r>
              <a:rPr lang="en-US" altLang="en-US" dirty="0" smtClean="0"/>
              <a:t>Thomas H. </a:t>
            </a:r>
            <a:r>
              <a:rPr lang="en-US" altLang="en-US" dirty="0" err="1" smtClean="0"/>
              <a:t>Cormen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3</a:t>
            </a:r>
            <a:r>
              <a:rPr lang="en-US" altLang="en-US" baseline="30000" dirty="0" smtClean="0"/>
              <a:t>rd</a:t>
            </a:r>
            <a:r>
              <a:rPr lang="en-US" altLang="en-US" dirty="0" smtClean="0"/>
              <a:t> Edition</a:t>
            </a:r>
          </a:p>
        </p:txBody>
      </p:sp>
    </p:spTree>
    <p:extLst>
      <p:ext uri="{BB962C8B-B14F-4D97-AF65-F5344CB8AC3E}">
        <p14:creationId xmlns:p14="http://schemas.microsoft.com/office/powerpoint/2010/main" val="4289910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lsd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plsd.po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plsd.po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lsd.po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Office\Templates\plsd.pot</Template>
  <TotalTime>9927</TotalTime>
  <Pages>11</Pages>
  <Words>3175</Words>
  <Application>Microsoft Office PowerPoint</Application>
  <PresentationFormat>On-screen Show (4:3)</PresentationFormat>
  <Paragraphs>1599</Paragraphs>
  <Slides>50</Slides>
  <Notes>18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50</vt:i4>
      </vt:variant>
    </vt:vector>
  </HeadingPairs>
  <TitlesOfParts>
    <vt:vector size="61" baseType="lpstr">
      <vt:lpstr>Arial</vt:lpstr>
      <vt:lpstr>Arial MT</vt:lpstr>
      <vt:lpstr>Comic Sans MS</vt:lpstr>
      <vt:lpstr>Courier New</vt:lpstr>
      <vt:lpstr>Monotype Corsiva</vt:lpstr>
      <vt:lpstr>Symbol</vt:lpstr>
      <vt:lpstr>Times New Roman</vt:lpstr>
      <vt:lpstr>Times-Roman</vt:lpstr>
      <vt:lpstr>plsd</vt:lpstr>
      <vt:lpstr>Paint Shop Pro Image</vt:lpstr>
      <vt:lpstr>Equation</vt:lpstr>
      <vt:lpstr>   Design and Analysis of Algorithms</vt:lpstr>
      <vt:lpstr>Heapsort</vt:lpstr>
      <vt:lpstr>The Heap Data Structure</vt:lpstr>
      <vt:lpstr>Array Representation of Heaps</vt:lpstr>
      <vt:lpstr>Heap Types</vt:lpstr>
      <vt:lpstr>Adding/Deleting Nodes</vt:lpstr>
      <vt:lpstr>Operations on Heaps</vt:lpstr>
      <vt:lpstr>Maintaining the Heap Property</vt:lpstr>
      <vt:lpstr>Example</vt:lpstr>
      <vt:lpstr>Maintaining the Heap Property</vt:lpstr>
      <vt:lpstr>MAX-HEAPIFY Running Time</vt:lpstr>
      <vt:lpstr>Building a Heap</vt:lpstr>
      <vt:lpstr>Example:         A</vt:lpstr>
      <vt:lpstr>Running Time of BUILD MAX HEAP</vt:lpstr>
      <vt:lpstr>Running Time of BUILD MAX HEAP</vt:lpstr>
      <vt:lpstr>Running Time of BUILD MAX HEAP</vt:lpstr>
      <vt:lpstr>Running Time of BUILD MAX HEAP</vt:lpstr>
      <vt:lpstr>Running Time of BUILD MAX HEAP</vt:lpstr>
      <vt:lpstr>Running Time of BUILD MAX HEAP</vt:lpstr>
      <vt:lpstr>Heapsort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Running time of Heapsort</vt:lpstr>
      <vt:lpstr>Alg: HEAPSORT(A)</vt:lpstr>
      <vt:lpstr>Reference</vt:lpstr>
    </vt:vector>
  </TitlesOfParts>
  <Company>CIIPS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</dc:title>
  <dc:subject>Lec Week-13</dc:subject>
  <dc:creator>Kashif Munir</dc:creator>
  <cp:lastModifiedBy>Windows User</cp:lastModifiedBy>
  <cp:revision>507</cp:revision>
  <cp:lastPrinted>2021-10-27T07:26:40Z</cp:lastPrinted>
  <dcterms:created xsi:type="dcterms:W3CDTF">1998-07-26T04:07:26Z</dcterms:created>
  <dcterms:modified xsi:type="dcterms:W3CDTF">2023-10-10T07:55:28Z</dcterms:modified>
</cp:coreProperties>
</file>