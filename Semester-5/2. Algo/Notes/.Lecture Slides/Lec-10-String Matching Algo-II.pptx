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0"/>
  </p:notesMasterIdLst>
  <p:sldIdLst>
    <p:sldId id="256" r:id="rId2"/>
    <p:sldId id="462" r:id="rId3"/>
    <p:sldId id="450" r:id="rId4"/>
    <p:sldId id="451" r:id="rId5"/>
    <p:sldId id="452" r:id="rId6"/>
    <p:sldId id="453" r:id="rId7"/>
    <p:sldId id="454" r:id="rId8"/>
    <p:sldId id="455" r:id="rId9"/>
    <p:sldId id="456" r:id="rId10"/>
    <p:sldId id="457" r:id="rId11"/>
    <p:sldId id="458" r:id="rId12"/>
    <p:sldId id="459" r:id="rId13"/>
    <p:sldId id="460" r:id="rId14"/>
    <p:sldId id="465" r:id="rId15"/>
    <p:sldId id="466" r:id="rId16"/>
    <p:sldId id="461" r:id="rId17"/>
    <p:sldId id="464" r:id="rId18"/>
    <p:sldId id="449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311" autoAdjust="0"/>
  </p:normalViewPr>
  <p:slideViewPr>
    <p:cSldViewPr>
      <p:cViewPr varScale="1">
        <p:scale>
          <a:sx n="62" d="100"/>
          <a:sy n="62" d="100"/>
        </p:scale>
        <p:origin x="2050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FEA30D-F538-4EBD-912F-1808A0DA29D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331714-DE9E-4352-A7E7-33E74F8D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02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31714-DE9E-4352-A7E7-33E74F8D4C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015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>
            <a:extLst>
              <a:ext uri="{FF2B5EF4-FFF2-40B4-BE49-F238E27FC236}">
                <a16:creationId xmlns:a16="http://schemas.microsoft.com/office/drawing/2014/main" id="{3B685E92-1354-488D-B889-041F8F3B3C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>
            <a:extLst>
              <a:ext uri="{FF2B5EF4-FFF2-40B4-BE49-F238E27FC236}">
                <a16:creationId xmlns:a16="http://schemas.microsoft.com/office/drawing/2014/main" id="{6134A4B5-780F-4728-8CA3-F4956D3B0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PK" altLang="en-PK">
              <a:latin typeface="Times New Roman" panose="02020603050405020304" pitchFamily="18" charset="0"/>
            </a:endParaRPr>
          </a:p>
        </p:txBody>
      </p:sp>
      <p:sp>
        <p:nvSpPr>
          <p:cNvPr id="80900" name="Slide Number Placeholder 3">
            <a:extLst>
              <a:ext uri="{FF2B5EF4-FFF2-40B4-BE49-F238E27FC236}">
                <a16:creationId xmlns:a16="http://schemas.microsoft.com/office/drawing/2014/main" id="{D64C0E3C-1420-47CC-B9EC-0130B8B83DC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18A38E2-2F81-435A-862B-78232FC9931C}" type="slidenum">
              <a:rPr lang="en-US" altLang="en-PK"/>
              <a:pPr/>
              <a:t>3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1551005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>
            <a:extLst>
              <a:ext uri="{FF2B5EF4-FFF2-40B4-BE49-F238E27FC236}">
                <a16:creationId xmlns:a16="http://schemas.microsoft.com/office/drawing/2014/main" id="{A46D81DA-5779-4BA0-8410-28219EA2E1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>
            <a:extLst>
              <a:ext uri="{FF2B5EF4-FFF2-40B4-BE49-F238E27FC236}">
                <a16:creationId xmlns:a16="http://schemas.microsoft.com/office/drawing/2014/main" id="{335E9B6C-4547-49AB-8919-5CE50540F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PK" altLang="en-PK">
              <a:latin typeface="Times New Roman" panose="02020603050405020304" pitchFamily="18" charset="0"/>
            </a:endParaRPr>
          </a:p>
        </p:txBody>
      </p:sp>
      <p:sp>
        <p:nvSpPr>
          <p:cNvPr id="81924" name="Slide Number Placeholder 3">
            <a:extLst>
              <a:ext uri="{FF2B5EF4-FFF2-40B4-BE49-F238E27FC236}">
                <a16:creationId xmlns:a16="http://schemas.microsoft.com/office/drawing/2014/main" id="{9FE2D76F-5FEE-4FE8-88DA-35E35F3154C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CB89D8C-3520-4B45-8EA1-005D4C31A3B8}" type="slidenum">
              <a:rPr lang="en-US" altLang="en-PK"/>
              <a:pPr/>
              <a:t>4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712957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>
            <a:extLst>
              <a:ext uri="{FF2B5EF4-FFF2-40B4-BE49-F238E27FC236}">
                <a16:creationId xmlns:a16="http://schemas.microsoft.com/office/drawing/2014/main" id="{CD00A21D-5E0C-4425-B49B-BA32B79FBDF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>
            <a:extLst>
              <a:ext uri="{FF2B5EF4-FFF2-40B4-BE49-F238E27FC236}">
                <a16:creationId xmlns:a16="http://schemas.microsoft.com/office/drawing/2014/main" id="{99020E62-8C15-4092-BB1C-71667EF55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PK" altLang="en-PK">
              <a:latin typeface="Times New Roman" panose="02020603050405020304" pitchFamily="18" charset="0"/>
            </a:endParaRPr>
          </a:p>
        </p:txBody>
      </p:sp>
      <p:sp>
        <p:nvSpPr>
          <p:cNvPr id="82948" name="Slide Number Placeholder 3">
            <a:extLst>
              <a:ext uri="{FF2B5EF4-FFF2-40B4-BE49-F238E27FC236}">
                <a16:creationId xmlns:a16="http://schemas.microsoft.com/office/drawing/2014/main" id="{FB7CB986-7566-4F46-BB95-4DF091AA8BB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4AFFF9F-45B1-456C-8F29-4078AF28D8CC}" type="slidenum">
              <a:rPr lang="en-US" altLang="en-PK"/>
              <a:pPr/>
              <a:t>5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3347473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>
            <a:extLst>
              <a:ext uri="{FF2B5EF4-FFF2-40B4-BE49-F238E27FC236}">
                <a16:creationId xmlns:a16="http://schemas.microsoft.com/office/drawing/2014/main" id="{731418DB-1BE6-4325-BFFB-546BE523CE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>
            <a:extLst>
              <a:ext uri="{FF2B5EF4-FFF2-40B4-BE49-F238E27FC236}">
                <a16:creationId xmlns:a16="http://schemas.microsoft.com/office/drawing/2014/main" id="{001BCE03-EDA9-4F25-B31D-4FEDC06A2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PK" altLang="en-PK">
              <a:latin typeface="Times New Roman" panose="02020603050405020304" pitchFamily="18" charset="0"/>
            </a:endParaRPr>
          </a:p>
        </p:txBody>
      </p:sp>
      <p:sp>
        <p:nvSpPr>
          <p:cNvPr id="83972" name="Slide Number Placeholder 3">
            <a:extLst>
              <a:ext uri="{FF2B5EF4-FFF2-40B4-BE49-F238E27FC236}">
                <a16:creationId xmlns:a16="http://schemas.microsoft.com/office/drawing/2014/main" id="{83D7C8C6-3819-43B5-8541-4B051D6CE0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1DCFA93-ABD3-4A4F-AB2D-14A3D6395B5C}" type="slidenum">
              <a:rPr lang="en-US" altLang="en-PK"/>
              <a:pPr/>
              <a:t>7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128025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>
            <a:extLst>
              <a:ext uri="{FF2B5EF4-FFF2-40B4-BE49-F238E27FC236}">
                <a16:creationId xmlns:a16="http://schemas.microsoft.com/office/drawing/2014/main" id="{DB5967D8-22CB-4E41-8BDC-F31E2E18E8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>
            <a:extLst>
              <a:ext uri="{FF2B5EF4-FFF2-40B4-BE49-F238E27FC236}">
                <a16:creationId xmlns:a16="http://schemas.microsoft.com/office/drawing/2014/main" id="{B309364F-C8E9-4699-BDDB-0F510C0C4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PK" altLang="en-PK">
              <a:latin typeface="Times New Roman" panose="02020603050405020304" pitchFamily="18" charset="0"/>
            </a:endParaRP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34E19FC4-9B1A-40B3-9C40-6141F8268A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3A40A0C-5751-48C7-B5CD-65A0E8E71C50}" type="slidenum">
              <a:rPr lang="en-US" altLang="en-PK"/>
              <a:pPr/>
              <a:t>8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3535848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>
            <a:extLst>
              <a:ext uri="{FF2B5EF4-FFF2-40B4-BE49-F238E27FC236}">
                <a16:creationId xmlns:a16="http://schemas.microsoft.com/office/drawing/2014/main" id="{B30E3BC4-B5B0-4860-A204-D331D51932A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>
            <a:extLst>
              <a:ext uri="{FF2B5EF4-FFF2-40B4-BE49-F238E27FC236}">
                <a16:creationId xmlns:a16="http://schemas.microsoft.com/office/drawing/2014/main" id="{2FA33AAC-D2F8-4968-9E36-48A3A1D16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PK" altLang="en-PK">
              <a:latin typeface="Times New Roman" panose="02020603050405020304" pitchFamily="18" charset="0"/>
            </a:endParaRPr>
          </a:p>
        </p:txBody>
      </p:sp>
      <p:sp>
        <p:nvSpPr>
          <p:cNvPr id="86020" name="Slide Number Placeholder 3">
            <a:extLst>
              <a:ext uri="{FF2B5EF4-FFF2-40B4-BE49-F238E27FC236}">
                <a16:creationId xmlns:a16="http://schemas.microsoft.com/office/drawing/2014/main" id="{C2F28DE2-A59A-4CE2-8D1F-B9597E7069A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3E81987-5066-4BE4-9EC6-5883529D1246}" type="slidenum">
              <a:rPr lang="en-US" altLang="en-PK"/>
              <a:pPr/>
              <a:t>9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4146726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>
            <a:extLst>
              <a:ext uri="{FF2B5EF4-FFF2-40B4-BE49-F238E27FC236}">
                <a16:creationId xmlns:a16="http://schemas.microsoft.com/office/drawing/2014/main" id="{DF92057A-25F2-41A5-891F-98BC6CE2F0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>
            <a:extLst>
              <a:ext uri="{FF2B5EF4-FFF2-40B4-BE49-F238E27FC236}">
                <a16:creationId xmlns:a16="http://schemas.microsoft.com/office/drawing/2014/main" id="{3AB725C1-97BA-43E1-83E9-80460F4A3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PK" altLang="en-PK">
              <a:latin typeface="Times New Roman" panose="02020603050405020304" pitchFamily="18" charset="0"/>
            </a:endParaRPr>
          </a:p>
        </p:txBody>
      </p:sp>
      <p:sp>
        <p:nvSpPr>
          <p:cNvPr id="87044" name="Slide Number Placeholder 3">
            <a:extLst>
              <a:ext uri="{FF2B5EF4-FFF2-40B4-BE49-F238E27FC236}">
                <a16:creationId xmlns:a16="http://schemas.microsoft.com/office/drawing/2014/main" id="{E54719EF-9091-400A-ACC6-3CC085AA75B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FA1BA48-9212-41E1-AF16-52C583964B49}" type="slidenum">
              <a:rPr lang="en-US" altLang="en-PK"/>
              <a:pPr/>
              <a:t>10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3266113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344DE6D3-6F92-4847-BD98-543358005EA9}" type="datetime1">
              <a:rPr lang="en-US" smtClean="0"/>
              <a:t>10/15/2025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58BF37A-6ECC-42D8-A5C3-51B7C00DF1B6}" type="datetime1">
              <a:rPr lang="en-US" smtClean="0"/>
              <a:t>10/15/2025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D3155721-DDAA-4376-9293-ECA18A447657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CA1FF-C3B1-4D39-B43C-1789DFDBC936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5932E-1011-4380-B703-45CC05B84844}" type="datetime1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762A9F5-AD55-4863-8BBB-3F0619E05718}" type="datetime1">
              <a:rPr lang="en-US" smtClean="0"/>
              <a:t>10/15/2025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EA88E-FD21-41CE-9023-4EA799681F71}" type="datetime1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68A9F232-596F-4A84-AC31-306F3A6B5850}" type="datetime1">
              <a:rPr lang="en-US" smtClean="0"/>
              <a:t>10/15/2025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7050FC3-209C-4069-956D-85DF02B1FA57}" type="datetime1">
              <a:rPr lang="en-US" smtClean="0"/>
              <a:t>10/15/2025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94A6C-C75B-46FB-ACD2-86C9CFBD4320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C839C-E941-4F8E-A062-7572F36B23DA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3FFE188A-3128-4351-8B91-F903CD70F68A}" type="datetime1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9479" y="838200"/>
            <a:ext cx="6172200" cy="1894362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5400" dirty="0"/>
              <a:t>String Matching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124200"/>
            <a:ext cx="6400800" cy="1433423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en-PK" sz="3200" dirty="0"/>
              <a:t>String Matching with finite automata</a:t>
            </a:r>
            <a:endParaRPr lang="en-US" sz="32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</a:t>
            </a:fld>
            <a:endParaRPr lang="en-US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133600" y="4724400"/>
            <a:ext cx="6629400" cy="16720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>
            <a:normAutofit/>
          </a:bodyPr>
          <a:lstStyle>
            <a:lvl1pPr marL="0" indent="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None/>
              <a:defRPr kumimoji="0"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None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None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None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None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None/>
              <a:defRPr kumimoji="0" sz="1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None/>
              <a:defRPr kumimoji="0" sz="1400" kern="1200" cap="small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None/>
              <a:defRPr kumimoji="0" sz="1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0" dirty="0"/>
              <a:t>Design and Analysis of Algorithm</a:t>
            </a:r>
          </a:p>
          <a:p>
            <a:pPr algn="ctr"/>
            <a:endParaRPr lang="en-US" sz="3200" b="0" dirty="0"/>
          </a:p>
        </p:txBody>
      </p:sp>
    </p:spTree>
    <p:extLst>
      <p:ext uri="{BB962C8B-B14F-4D97-AF65-F5344CB8AC3E}">
        <p14:creationId xmlns:p14="http://schemas.microsoft.com/office/powerpoint/2010/main" val="349777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B8448-A05B-496F-8FBD-50A8F4150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-17334"/>
            <a:ext cx="7467600" cy="1143000"/>
          </a:xfrm>
        </p:spPr>
        <p:txBody>
          <a:bodyPr/>
          <a:lstStyle/>
          <a:p>
            <a:r>
              <a:rPr lang="en-US" b="1" dirty="0"/>
              <a:t>finite-state automaton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65F82-7B5E-421F-BB13-5347E07FD44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99972" y="992124"/>
            <a:ext cx="8281416" cy="4873752"/>
          </a:xfrm>
        </p:spPr>
        <p:txBody>
          <a:bodyPr/>
          <a:lstStyle/>
          <a:p>
            <a:r>
              <a:rPr lang="en-US" dirty="0"/>
              <a:t>A </a:t>
            </a:r>
            <a:r>
              <a:rPr lang="en-US" b="1" dirty="0">
                <a:solidFill>
                  <a:srgbClr val="FF0000"/>
                </a:solidFill>
              </a:rPr>
              <a:t>finite-state machine (FSM) </a:t>
            </a:r>
            <a:r>
              <a:rPr lang="en-US" dirty="0"/>
              <a:t>or </a:t>
            </a:r>
            <a:r>
              <a:rPr lang="en-US" b="1" dirty="0"/>
              <a:t>finite-state automaton</a:t>
            </a:r>
            <a:r>
              <a:rPr lang="en-US" dirty="0"/>
              <a:t> (</a:t>
            </a:r>
            <a:r>
              <a:rPr lang="en-US" b="1" dirty="0"/>
              <a:t>FSA</a:t>
            </a:r>
            <a:r>
              <a:rPr lang="en-US" dirty="0"/>
              <a:t>, plural: </a:t>
            </a:r>
            <a:r>
              <a:rPr lang="en-US" i="1" dirty="0"/>
              <a:t>automata</a:t>
            </a:r>
            <a:r>
              <a:rPr lang="en-US" dirty="0"/>
              <a:t>), </a:t>
            </a:r>
            <a:r>
              <a:rPr lang="en-US" b="1" dirty="0">
                <a:solidFill>
                  <a:srgbClr val="FF0000"/>
                </a:solidFill>
              </a:rPr>
              <a:t>finite automaton</a:t>
            </a:r>
            <a:r>
              <a:rPr lang="en-US" dirty="0"/>
              <a:t>, or simply a </a:t>
            </a:r>
            <a:r>
              <a:rPr lang="en-US" b="1" dirty="0"/>
              <a:t>state machine</a:t>
            </a:r>
            <a:r>
              <a:rPr lang="en-US" dirty="0"/>
              <a:t>, is a mathematical model of computation. </a:t>
            </a:r>
          </a:p>
          <a:p>
            <a:r>
              <a:rPr lang="en-US" dirty="0"/>
              <a:t>It is an abstract machine that can be in exactly one of a finite number of </a:t>
            </a:r>
            <a:r>
              <a:rPr lang="en-US" i="1" dirty="0"/>
              <a:t>states</a:t>
            </a:r>
            <a:r>
              <a:rPr lang="en-US" dirty="0"/>
              <a:t> at any given time.</a:t>
            </a:r>
          </a:p>
          <a:p>
            <a:r>
              <a:rPr lang="en-US" dirty="0"/>
              <a:t> The FSM can change from one state to another in response to some inputs; the change from one state to another is called a </a:t>
            </a:r>
            <a:r>
              <a:rPr lang="en-US" i="1" dirty="0"/>
              <a:t>transition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A8D24-0EFC-4CE3-A88E-FEBD50FF95F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70F35E-471E-402F-890F-90E046B1C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4532997"/>
            <a:ext cx="5210175" cy="205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86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B74CB9C2-CB01-4AD1-BE97-66934542DD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PK" sz="4000"/>
              <a:t>String Matching with finite automata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D03FE208-A00A-45D9-A30E-D48B0A4E8E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9144000" cy="5105400"/>
          </a:xfrm>
        </p:spPr>
        <p:txBody>
          <a:bodyPr/>
          <a:lstStyle/>
          <a:p>
            <a:pPr eaLnBrk="1" hangingPunct="1"/>
            <a:endParaRPr lang="en-US" altLang="en-PK"/>
          </a:p>
          <a:p>
            <a:pPr eaLnBrk="1" hangingPunct="1"/>
            <a:r>
              <a:rPr lang="en-US" altLang="en-PK" b="0"/>
              <a:t>These algorithms build a finite automaton that scans the text string </a:t>
            </a:r>
            <a:r>
              <a:rPr lang="en-US" altLang="en-PK" b="0" i="1"/>
              <a:t>T</a:t>
            </a:r>
            <a:r>
              <a:rPr lang="en-US" altLang="en-PK" b="0"/>
              <a:t> for all occurrences of pattern </a:t>
            </a:r>
            <a:r>
              <a:rPr lang="en-US" altLang="en-PK" b="0" i="1"/>
              <a:t>P.</a:t>
            </a:r>
          </a:p>
          <a:p>
            <a:pPr eaLnBrk="1" hangingPunct="1"/>
            <a:endParaRPr lang="en-US" altLang="en-PK" b="0" i="1"/>
          </a:p>
          <a:p>
            <a:pPr eaLnBrk="1" hangingPunct="1"/>
            <a:r>
              <a:rPr lang="en-US" altLang="en-PK" b="0"/>
              <a:t>Each text character is examined only once</a:t>
            </a:r>
          </a:p>
          <a:p>
            <a:pPr eaLnBrk="1" hangingPunct="1"/>
            <a:endParaRPr lang="en-US" altLang="en-PK" b="0"/>
          </a:p>
          <a:p>
            <a:pPr eaLnBrk="1" hangingPunct="1"/>
            <a:r>
              <a:rPr lang="en-US" altLang="en-PK" b="0"/>
              <a:t>Time to build the automaton can be large if </a:t>
            </a:r>
            <a:r>
              <a:rPr lang="en-US" altLang="en-PK" b="0">
                <a:cs typeface="Arial" panose="020B0604020202020204" pitchFamily="34" charset="0"/>
              </a:rPr>
              <a:t>∑ is large.</a:t>
            </a:r>
          </a:p>
          <a:p>
            <a:pPr eaLnBrk="1" hangingPunct="1"/>
            <a:endParaRPr lang="en-US" altLang="en-PK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027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67928D1-1272-42AD-8E7B-2B03E3BD7E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Finite Automata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8EAF739A-9A08-4305-B6DA-5F5B6C8812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eaLnBrk="1" hangingPunct="1"/>
            <a:r>
              <a:rPr lang="en-US" altLang="en-PK" b="0"/>
              <a:t>A </a:t>
            </a:r>
            <a:r>
              <a:rPr lang="en-US" altLang="en-PK" b="0" i="1"/>
              <a:t>finite automaton</a:t>
            </a:r>
            <a:r>
              <a:rPr lang="en-US" altLang="en-PK" b="0"/>
              <a:t> </a:t>
            </a:r>
            <a:r>
              <a:rPr lang="en-US" altLang="en-PK" b="0" i="1"/>
              <a:t>M</a:t>
            </a:r>
            <a:r>
              <a:rPr lang="en-US" altLang="en-PK" b="0"/>
              <a:t> is a 5-tuple (</a:t>
            </a:r>
            <a:r>
              <a:rPr lang="en-US" altLang="en-PK" b="0" i="1"/>
              <a:t>Q, q</a:t>
            </a:r>
            <a:r>
              <a:rPr lang="en-US" altLang="en-PK" b="0" i="1" baseline="-25000">
                <a:cs typeface="Arial" panose="020B0604020202020204" pitchFamily="34" charset="0"/>
              </a:rPr>
              <a:t>o</a:t>
            </a:r>
            <a:r>
              <a:rPr lang="en-US" altLang="en-PK" b="0" i="1"/>
              <a:t>, A, </a:t>
            </a:r>
            <a:r>
              <a:rPr lang="en-US" altLang="en-PK" b="0" i="1">
                <a:cs typeface="Arial" panose="020B0604020202020204" pitchFamily="34" charset="0"/>
              </a:rPr>
              <a:t>∑, </a:t>
            </a:r>
            <a:r>
              <a:rPr lang="el-GR" altLang="en-PK" b="0" i="1">
                <a:cs typeface="Arial" panose="020B0604020202020204" pitchFamily="34" charset="0"/>
              </a:rPr>
              <a:t>δ</a:t>
            </a:r>
            <a:r>
              <a:rPr lang="en-US" altLang="en-PK" b="0">
                <a:cs typeface="Arial" panose="020B0604020202020204" pitchFamily="34" charset="0"/>
              </a:rPr>
              <a:t>), where</a:t>
            </a:r>
          </a:p>
          <a:p>
            <a:pPr lvl="1" eaLnBrk="1" hangingPunct="1"/>
            <a:r>
              <a:rPr lang="en-US" altLang="en-PK" sz="3600" b="0" i="1">
                <a:cs typeface="Arial" panose="020B0604020202020204" pitchFamily="34" charset="0"/>
              </a:rPr>
              <a:t>Q</a:t>
            </a:r>
            <a:r>
              <a:rPr lang="en-US" altLang="en-PK" sz="3600" b="0">
                <a:cs typeface="Arial" panose="020B0604020202020204" pitchFamily="34" charset="0"/>
              </a:rPr>
              <a:t> is finite set of </a:t>
            </a:r>
            <a:r>
              <a:rPr lang="en-US" altLang="en-PK" sz="3600" b="0" i="1">
                <a:cs typeface="Arial" panose="020B0604020202020204" pitchFamily="34" charset="0"/>
              </a:rPr>
              <a:t>states,</a:t>
            </a:r>
            <a:endParaRPr lang="en-US" altLang="en-PK" sz="3600" b="0"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en-PK" sz="3600" b="0" i="1">
                <a:cs typeface="Arial" panose="020B0604020202020204" pitchFamily="34" charset="0"/>
              </a:rPr>
              <a:t>q</a:t>
            </a:r>
            <a:r>
              <a:rPr lang="en-US" altLang="en-PK" sz="3600" b="0" i="1" baseline="-25000">
                <a:cs typeface="Arial" panose="020B0604020202020204" pitchFamily="34" charset="0"/>
              </a:rPr>
              <a:t>o</a:t>
            </a:r>
            <a:r>
              <a:rPr lang="en-US" altLang="en-PK" sz="3600" b="0" baseline="-25000">
                <a:cs typeface="Arial" panose="020B0604020202020204" pitchFamily="34" charset="0"/>
                <a:sym typeface="Symbol" panose="05050102010706020507" pitchFamily="18" charset="2"/>
              </a:rPr>
              <a:t></a:t>
            </a:r>
            <a:r>
              <a:rPr lang="en-US" altLang="en-PK" sz="3600" b="0"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en-PK" sz="3600" b="0">
                <a:cs typeface="Arial" panose="020B0604020202020204" pitchFamily="34" charset="0"/>
              </a:rPr>
              <a:t> Q is the </a:t>
            </a:r>
            <a:r>
              <a:rPr lang="en-US" altLang="en-PK" sz="3600" b="0" i="1">
                <a:cs typeface="Arial" panose="020B0604020202020204" pitchFamily="34" charset="0"/>
              </a:rPr>
              <a:t>start state,</a:t>
            </a:r>
          </a:p>
          <a:p>
            <a:pPr lvl="1" eaLnBrk="1" hangingPunct="1"/>
            <a:r>
              <a:rPr lang="en-US" altLang="en-PK" sz="3600" b="0" i="1">
                <a:cs typeface="Arial" panose="020B0604020202020204" pitchFamily="34" charset="0"/>
              </a:rPr>
              <a:t>A</a:t>
            </a:r>
            <a:r>
              <a:rPr lang="en-US" altLang="en-PK" sz="3600" b="0">
                <a:cs typeface="Arial" panose="020B0604020202020204" pitchFamily="34" charset="0"/>
              </a:rPr>
              <a:t> </a:t>
            </a:r>
            <a:r>
              <a:rPr lang="ru-RU" altLang="en-PK" sz="3600" b="0"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en-PK" sz="3600" b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PK" sz="3600" b="0">
                <a:cs typeface="Arial" panose="020B0604020202020204" pitchFamily="34" charset="0"/>
              </a:rPr>
              <a:t>Q is a distinguished set of </a:t>
            </a:r>
            <a:r>
              <a:rPr lang="en-US" altLang="en-PK" sz="3600" b="0" i="1">
                <a:cs typeface="Arial" panose="020B0604020202020204" pitchFamily="34" charset="0"/>
              </a:rPr>
              <a:t>accepting states,</a:t>
            </a:r>
            <a:endParaRPr lang="en-US" altLang="en-PK" sz="3600" b="0"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en-PK" sz="3600" b="0">
                <a:cs typeface="Arial" panose="020B0604020202020204" pitchFamily="34" charset="0"/>
              </a:rPr>
              <a:t>∑</a:t>
            </a:r>
            <a:r>
              <a:rPr lang="en-US" altLang="en-PK" sz="3600" b="0" i="1">
                <a:cs typeface="Arial" panose="020B0604020202020204" pitchFamily="34" charset="0"/>
              </a:rPr>
              <a:t> </a:t>
            </a:r>
            <a:r>
              <a:rPr lang="en-US" altLang="en-PK" sz="3600" b="0">
                <a:cs typeface="Arial" panose="020B0604020202020204" pitchFamily="34" charset="0"/>
              </a:rPr>
              <a:t>is finite </a:t>
            </a:r>
            <a:r>
              <a:rPr lang="en-US" altLang="en-PK" sz="3600" b="0" i="1">
                <a:cs typeface="Arial" panose="020B0604020202020204" pitchFamily="34" charset="0"/>
              </a:rPr>
              <a:t>input alphabet,</a:t>
            </a:r>
          </a:p>
          <a:p>
            <a:pPr lvl="1" eaLnBrk="1" hangingPunct="1"/>
            <a:r>
              <a:rPr lang="el-GR" altLang="en-PK" sz="3600" b="0" i="1">
                <a:cs typeface="Arial" panose="020B0604020202020204" pitchFamily="34" charset="0"/>
              </a:rPr>
              <a:t>δ</a:t>
            </a:r>
            <a:r>
              <a:rPr lang="en-US" altLang="en-PK" sz="3600" b="0">
                <a:cs typeface="Arial" panose="020B0604020202020204" pitchFamily="34" charset="0"/>
              </a:rPr>
              <a:t> is a function from Q x ∑ into Q, called the </a:t>
            </a:r>
            <a:r>
              <a:rPr lang="en-US" altLang="en-PK" sz="3600" b="0" i="1">
                <a:cs typeface="Arial" panose="020B0604020202020204" pitchFamily="34" charset="0"/>
              </a:rPr>
              <a:t>transition function</a:t>
            </a:r>
            <a:r>
              <a:rPr lang="en-US" altLang="en-PK" sz="3600" b="0">
                <a:cs typeface="Arial" panose="020B0604020202020204" pitchFamily="34" charset="0"/>
              </a:rPr>
              <a:t> of M</a:t>
            </a:r>
          </a:p>
          <a:p>
            <a:pPr eaLnBrk="1" hangingPunct="1"/>
            <a:endParaRPr lang="en-US" altLang="en-PK">
              <a:cs typeface="Arial" panose="020B0604020202020204" pitchFamily="34" charset="0"/>
            </a:endParaRPr>
          </a:p>
          <a:p>
            <a:pPr eaLnBrk="1" hangingPunct="1"/>
            <a:endParaRPr lang="el-GR" altLang="en-PK" i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034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0E04950A-B28C-43C7-A513-60B77E45E1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Finite Automata (Cont’d)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91853308-FD26-4AB6-AD57-5273A502F8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PK" sz="3200" b="0"/>
              <a:t>Suppose </a:t>
            </a:r>
            <a:r>
              <a:rPr lang="en-US" altLang="en-PK" sz="3200" b="0" i="1"/>
              <a:t>M</a:t>
            </a:r>
            <a:r>
              <a:rPr lang="en-US" altLang="en-PK" sz="3200" b="0"/>
              <a:t> is in state </a:t>
            </a:r>
            <a:r>
              <a:rPr lang="en-US" altLang="en-PK" sz="3200" b="0" i="1"/>
              <a:t>q</a:t>
            </a:r>
            <a:r>
              <a:rPr lang="en-US" altLang="en-PK" sz="3200" b="0" i="1" baseline="-25000"/>
              <a:t>o</a:t>
            </a:r>
            <a:r>
              <a:rPr lang="en-US" altLang="en-PK" sz="3200" b="0"/>
              <a:t>.</a:t>
            </a:r>
          </a:p>
          <a:p>
            <a:pPr eaLnBrk="1" hangingPunct="1"/>
            <a:r>
              <a:rPr lang="en-US" altLang="en-PK" sz="3200" b="0"/>
              <a:t>It reads char. </a:t>
            </a:r>
            <a:r>
              <a:rPr lang="en-US" altLang="en-PK" sz="3200" b="0" i="1"/>
              <a:t>a</a:t>
            </a:r>
            <a:r>
              <a:rPr lang="en-US" altLang="en-PK" sz="3200" b="0"/>
              <a:t>, it moves from state </a:t>
            </a:r>
            <a:r>
              <a:rPr lang="en-US" altLang="en-PK" sz="3200" b="0" i="1"/>
              <a:t>q</a:t>
            </a:r>
            <a:r>
              <a:rPr lang="en-US" altLang="en-PK" sz="3200" b="0"/>
              <a:t> to state </a:t>
            </a:r>
            <a:r>
              <a:rPr lang="el-GR" altLang="en-PK" sz="3200" b="0" i="1">
                <a:cs typeface="Arial" panose="020B0604020202020204" pitchFamily="34" charset="0"/>
              </a:rPr>
              <a:t>δ</a:t>
            </a:r>
            <a:r>
              <a:rPr lang="en-US" altLang="en-PK" sz="3200" b="0" i="1">
                <a:cs typeface="Arial" panose="020B0604020202020204" pitchFamily="34" charset="0"/>
              </a:rPr>
              <a:t>(q,a)</a:t>
            </a:r>
          </a:p>
          <a:p>
            <a:pPr eaLnBrk="1" hangingPunct="1"/>
            <a:endParaRPr lang="en-US" altLang="en-PK" sz="3200" b="0" i="1">
              <a:cs typeface="Arial" panose="020B0604020202020204" pitchFamily="34" charset="0"/>
            </a:endParaRPr>
          </a:p>
          <a:p>
            <a:pPr eaLnBrk="1" hangingPunct="1"/>
            <a:r>
              <a:rPr lang="en-US" altLang="en-PK" sz="3200" b="0">
                <a:cs typeface="Arial" panose="020B0604020202020204" pitchFamily="34" charset="0"/>
              </a:rPr>
              <a:t>When</a:t>
            </a:r>
            <a:r>
              <a:rPr lang="en-US" altLang="en-PK" sz="3200" b="0"/>
              <a:t>ever current state </a:t>
            </a:r>
            <a:r>
              <a:rPr lang="en-US" altLang="en-PK" sz="3200" b="0" i="1"/>
              <a:t>q </a:t>
            </a:r>
            <a:r>
              <a:rPr lang="en-US" altLang="en-PK" sz="3200" b="0"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en-PK" sz="3200" b="0" i="1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PK" sz="3200" b="0">
                <a:cs typeface="Arial" panose="020B0604020202020204" pitchFamily="34" charset="0"/>
                <a:sym typeface="Symbol" panose="05050102010706020507" pitchFamily="18" charset="2"/>
              </a:rPr>
              <a:t>, the machine M has </a:t>
            </a:r>
            <a:r>
              <a:rPr lang="en-US" altLang="en-PK" sz="3200" b="0" i="1">
                <a:cs typeface="Arial" panose="020B0604020202020204" pitchFamily="34" charset="0"/>
                <a:sym typeface="Symbol" panose="05050102010706020507" pitchFamily="18" charset="2"/>
              </a:rPr>
              <a:t>accepted</a:t>
            </a:r>
            <a:r>
              <a:rPr lang="en-US" altLang="en-PK" sz="3200" b="0">
                <a:cs typeface="Arial" panose="020B0604020202020204" pitchFamily="34" charset="0"/>
                <a:sym typeface="Symbol" panose="05050102010706020507" pitchFamily="18" charset="2"/>
              </a:rPr>
              <a:t> the string read so far.</a:t>
            </a:r>
          </a:p>
          <a:p>
            <a:pPr eaLnBrk="1" hangingPunct="1"/>
            <a:r>
              <a:rPr lang="en-US" altLang="en-PK" sz="3200" b="0">
                <a:cs typeface="Arial" panose="020B0604020202020204" pitchFamily="34" charset="0"/>
                <a:sym typeface="Symbol" panose="05050102010706020507" pitchFamily="18" charset="2"/>
              </a:rPr>
              <a:t>An input that is not accepted is said to be </a:t>
            </a:r>
            <a:r>
              <a:rPr lang="en-US" altLang="en-PK" sz="3200" b="0" i="1">
                <a:cs typeface="Arial" panose="020B0604020202020204" pitchFamily="34" charset="0"/>
                <a:sym typeface="Symbol" panose="05050102010706020507" pitchFamily="18" charset="2"/>
              </a:rPr>
              <a:t>rejected</a:t>
            </a:r>
          </a:p>
          <a:p>
            <a:pPr eaLnBrk="1" hangingPunct="1"/>
            <a:endParaRPr lang="en-US" altLang="en-PK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94437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A2AA6782-13A9-46E6-AD64-4AD044FF3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 altLang="en-PK"/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576D5F52-9FC9-4230-9F8B-FC99D3ABB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altLang="en-PK"/>
          </a:p>
        </p:txBody>
      </p:sp>
      <p:pic>
        <p:nvPicPr>
          <p:cNvPr id="35844" name="Picture 3">
            <a:extLst>
              <a:ext uri="{FF2B5EF4-FFF2-40B4-BE49-F238E27FC236}">
                <a16:creationId xmlns:a16="http://schemas.microsoft.com/office/drawing/2014/main" id="{A03D3BA9-1C98-4311-AF73-E3C28CC92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914400"/>
            <a:ext cx="5800725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5" name="Picture 4">
            <a:extLst>
              <a:ext uri="{FF2B5EF4-FFF2-40B4-BE49-F238E27FC236}">
                <a16:creationId xmlns:a16="http://schemas.microsoft.com/office/drawing/2014/main" id="{A1FDB6C7-C547-4263-AB8F-59665A490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95650"/>
            <a:ext cx="8686800" cy="280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2570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95E7BBB2-1C35-41ED-A56C-D81ADC2F89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Final-State Function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9E97E9C-8DE4-46E9-8BE7-EAC1A0A932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9144000" cy="5105400"/>
          </a:xfrm>
        </p:spPr>
        <p:txBody>
          <a:bodyPr/>
          <a:lstStyle/>
          <a:p>
            <a:pPr eaLnBrk="1" hangingPunct="1"/>
            <a:r>
              <a:rPr lang="en-US" altLang="en-PK" b="0"/>
              <a:t>The automaton </a:t>
            </a:r>
            <a:r>
              <a:rPr lang="en-US" altLang="en-PK" b="0" i="1"/>
              <a:t>M</a:t>
            </a:r>
            <a:r>
              <a:rPr lang="en-US" altLang="en-PK" b="0"/>
              <a:t> has a </a:t>
            </a:r>
            <a:r>
              <a:rPr lang="en-US" altLang="en-PK" b="0" i="1"/>
              <a:t>final-state function</a:t>
            </a:r>
            <a:r>
              <a:rPr lang="en-US" altLang="en-PK" b="0"/>
              <a:t> </a:t>
            </a:r>
            <a:r>
              <a:rPr lang="en-US" altLang="en-PK" b="0" i="1">
                <a:sym typeface="Symbol" panose="05050102010706020507" pitchFamily="18" charset="2"/>
              </a:rPr>
              <a:t> </a:t>
            </a:r>
            <a:r>
              <a:rPr lang="en-US" altLang="en-PK" b="0">
                <a:sym typeface="Symbol" panose="05050102010706020507" pitchFamily="18" charset="2"/>
              </a:rPr>
              <a:t>from </a:t>
            </a:r>
            <a:r>
              <a:rPr lang="en-US" altLang="en-PK" b="0">
                <a:cs typeface="Arial" panose="020B0604020202020204" pitchFamily="34" charset="0"/>
                <a:sym typeface="Symbol" panose="05050102010706020507" pitchFamily="18" charset="2"/>
              </a:rPr>
              <a:t>∑* to </a:t>
            </a:r>
            <a:r>
              <a:rPr lang="en-US" altLang="en-PK" b="0" i="1"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n-US" altLang="en-PK" b="0" i="1">
                <a:sym typeface="Symbol" panose="05050102010706020507" pitchFamily="18" charset="2"/>
              </a:rPr>
              <a:t>, </a:t>
            </a:r>
            <a:r>
              <a:rPr lang="en-US" altLang="en-PK" b="0">
                <a:sym typeface="Symbol" panose="05050102010706020507" pitchFamily="18" charset="2"/>
              </a:rPr>
              <a:t>such that:</a:t>
            </a:r>
          </a:p>
          <a:p>
            <a:pPr eaLnBrk="1" hangingPunct="1"/>
            <a:r>
              <a:rPr lang="en-US" altLang="en-PK" b="0" i="1">
                <a:sym typeface="Symbol" panose="05050102010706020507" pitchFamily="18" charset="2"/>
              </a:rPr>
              <a:t></a:t>
            </a:r>
            <a:r>
              <a:rPr lang="en-US" altLang="en-PK" b="0">
                <a:sym typeface="Symbol" panose="05050102010706020507" pitchFamily="18" charset="2"/>
              </a:rPr>
              <a:t>(</a:t>
            </a:r>
            <a:r>
              <a:rPr lang="en-US" altLang="en-PK" b="0" i="1">
                <a:sym typeface="Symbol" panose="05050102010706020507" pitchFamily="18" charset="2"/>
              </a:rPr>
              <a:t>w</a:t>
            </a:r>
            <a:r>
              <a:rPr lang="en-US" altLang="en-PK" b="0">
                <a:sym typeface="Symbol" panose="05050102010706020507" pitchFamily="18" charset="2"/>
              </a:rPr>
              <a:t>) is the state, </a:t>
            </a:r>
            <a:r>
              <a:rPr lang="en-US" altLang="en-PK" b="0" i="1">
                <a:sym typeface="Symbol" panose="05050102010706020507" pitchFamily="18" charset="2"/>
              </a:rPr>
              <a:t>M</a:t>
            </a:r>
            <a:r>
              <a:rPr lang="en-US" altLang="en-PK" b="0">
                <a:sym typeface="Symbol" panose="05050102010706020507" pitchFamily="18" charset="2"/>
              </a:rPr>
              <a:t> ends up in, after scanning the string </a:t>
            </a:r>
            <a:r>
              <a:rPr lang="en-US" altLang="en-PK" b="0" i="1">
                <a:sym typeface="Symbol" panose="05050102010706020507" pitchFamily="18" charset="2"/>
              </a:rPr>
              <a:t>w</a:t>
            </a:r>
            <a:r>
              <a:rPr lang="en-US" altLang="en-PK" b="0">
                <a:sym typeface="Symbol" panose="05050102010706020507" pitchFamily="18" charset="2"/>
              </a:rPr>
              <a:t>. </a:t>
            </a:r>
          </a:p>
          <a:p>
            <a:pPr eaLnBrk="1" hangingPunct="1"/>
            <a:r>
              <a:rPr lang="en-US" altLang="en-PK" b="0" i="1">
                <a:sym typeface="Symbol" panose="05050102010706020507" pitchFamily="18" charset="2"/>
              </a:rPr>
              <a:t>M </a:t>
            </a:r>
            <a:r>
              <a:rPr lang="en-US" altLang="en-PK" b="0">
                <a:sym typeface="Symbol" panose="05050102010706020507" pitchFamily="18" charset="2"/>
              </a:rPr>
              <a:t>accepts string </a:t>
            </a:r>
            <a:r>
              <a:rPr lang="en-US" altLang="en-PK" b="0" i="1">
                <a:sym typeface="Symbol" panose="05050102010706020507" pitchFamily="18" charset="2"/>
              </a:rPr>
              <a:t>w</a:t>
            </a:r>
            <a:r>
              <a:rPr lang="en-US" altLang="en-PK" b="0">
                <a:sym typeface="Symbol" panose="05050102010706020507" pitchFamily="18" charset="2"/>
              </a:rPr>
              <a:t> if and only if </a:t>
            </a:r>
            <a:r>
              <a:rPr lang="en-US" altLang="en-PK" b="0" i="1">
                <a:sym typeface="Symbol" panose="05050102010706020507" pitchFamily="18" charset="2"/>
              </a:rPr>
              <a:t></a:t>
            </a:r>
            <a:r>
              <a:rPr lang="en-US" altLang="en-PK" b="0">
                <a:sym typeface="Symbol" panose="05050102010706020507" pitchFamily="18" charset="2"/>
              </a:rPr>
              <a:t>(</a:t>
            </a:r>
            <a:r>
              <a:rPr lang="en-US" altLang="en-PK" b="0" i="1">
                <a:sym typeface="Symbol" panose="05050102010706020507" pitchFamily="18" charset="2"/>
              </a:rPr>
              <a:t>w</a:t>
            </a:r>
            <a:r>
              <a:rPr lang="en-US" altLang="en-PK" b="0">
                <a:sym typeface="Symbol" panose="05050102010706020507" pitchFamily="18" charset="2"/>
              </a:rPr>
              <a:t>) </a:t>
            </a:r>
            <a:r>
              <a:rPr lang="en-US" altLang="en-PK" b="0">
                <a:cs typeface="Arial" panose="020B0604020202020204" pitchFamily="34" charset="0"/>
                <a:sym typeface="Symbol" panose="05050102010706020507" pitchFamily="18" charset="2"/>
              </a:rPr>
              <a:t> </a:t>
            </a:r>
            <a:r>
              <a:rPr lang="en-US" altLang="en-PK" b="0" i="1">
                <a:cs typeface="Arial" panose="020B0604020202020204" pitchFamily="34" charset="0"/>
                <a:sym typeface="Symbol" panose="05050102010706020507" pitchFamily="18" charset="2"/>
              </a:rPr>
              <a:t>A.</a:t>
            </a:r>
          </a:p>
          <a:p>
            <a:pPr eaLnBrk="1" hangingPunct="1"/>
            <a:r>
              <a:rPr lang="en-US" altLang="en-PK" b="0">
                <a:cs typeface="Arial" panose="020B0604020202020204" pitchFamily="34" charset="0"/>
                <a:sym typeface="Symbol" panose="05050102010706020507" pitchFamily="18" charset="2"/>
              </a:rPr>
              <a:t>It is defined recursively as follows:</a:t>
            </a:r>
          </a:p>
          <a:p>
            <a:pPr lvl="1" eaLnBrk="1" hangingPunct="1"/>
            <a:r>
              <a:rPr lang="en-US" altLang="en-PK" i="1">
                <a:sym typeface="Symbol" panose="05050102010706020507" pitchFamily="18" charset="2"/>
              </a:rPr>
              <a:t></a:t>
            </a:r>
            <a:r>
              <a:rPr lang="en-US" altLang="en-PK">
                <a:sym typeface="Symbol" panose="05050102010706020507" pitchFamily="18" charset="2"/>
              </a:rPr>
              <a:t>(</a:t>
            </a:r>
            <a:r>
              <a:rPr lang="en-US" altLang="en-PK" i="1">
                <a:sym typeface="Symbol" panose="05050102010706020507" pitchFamily="18" charset="2"/>
              </a:rPr>
              <a:t>w</a:t>
            </a:r>
            <a:r>
              <a:rPr lang="en-US" altLang="en-PK">
                <a:sym typeface="Symbol" panose="05050102010706020507" pitchFamily="18" charset="2"/>
              </a:rPr>
              <a:t>) = </a:t>
            </a:r>
            <a:r>
              <a:rPr lang="en-US" altLang="en-PK" i="1">
                <a:sym typeface="Symbol" panose="05050102010706020507" pitchFamily="18" charset="2"/>
              </a:rPr>
              <a:t>q</a:t>
            </a:r>
            <a:r>
              <a:rPr lang="en-US" altLang="en-PK" i="1" baseline="-25000">
                <a:sym typeface="Symbol" panose="05050102010706020507" pitchFamily="18" charset="2"/>
              </a:rPr>
              <a:t>o</a:t>
            </a:r>
            <a:r>
              <a:rPr lang="en-US" altLang="en-PK" i="1">
                <a:sym typeface="Symbol" panose="05050102010706020507" pitchFamily="18" charset="2"/>
              </a:rPr>
              <a:t>		if w= </a:t>
            </a:r>
            <a:r>
              <a:rPr lang="el-GR" altLang="en-PK">
                <a:cs typeface="Times New Roman" panose="02020603050405020304" pitchFamily="18" charset="0"/>
              </a:rPr>
              <a:t>ε</a:t>
            </a:r>
            <a:endParaRPr lang="en-US" altLang="en-PK" i="1" baseline="-2500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PK" i="1">
                <a:sym typeface="Symbol" panose="05050102010706020507" pitchFamily="18" charset="2"/>
              </a:rPr>
              <a:t></a:t>
            </a:r>
            <a:r>
              <a:rPr lang="en-US" altLang="en-PK">
                <a:sym typeface="Symbol" panose="05050102010706020507" pitchFamily="18" charset="2"/>
              </a:rPr>
              <a:t>(</a:t>
            </a:r>
            <a:r>
              <a:rPr lang="en-US" altLang="en-PK" i="1">
                <a:sym typeface="Symbol" panose="05050102010706020507" pitchFamily="18" charset="2"/>
              </a:rPr>
              <a:t>wa</a:t>
            </a:r>
            <a:r>
              <a:rPr lang="en-US" altLang="en-PK">
                <a:sym typeface="Symbol" panose="05050102010706020507" pitchFamily="18" charset="2"/>
              </a:rPr>
              <a:t>) = </a:t>
            </a:r>
            <a:r>
              <a:rPr lang="el-GR" altLang="en-PK" i="1">
                <a:cs typeface="Arial" panose="020B0604020202020204" pitchFamily="34" charset="0"/>
              </a:rPr>
              <a:t>δ</a:t>
            </a:r>
            <a:r>
              <a:rPr lang="en-US" altLang="en-PK" i="1">
                <a:cs typeface="Arial" panose="020B0604020202020204" pitchFamily="34" charset="0"/>
              </a:rPr>
              <a:t>(</a:t>
            </a:r>
            <a:r>
              <a:rPr lang="en-US" altLang="en-PK" i="1">
                <a:sym typeface="Symbol" panose="05050102010706020507" pitchFamily="18" charset="2"/>
              </a:rPr>
              <a:t></a:t>
            </a:r>
            <a:r>
              <a:rPr lang="en-US" altLang="en-PK">
                <a:sym typeface="Symbol" panose="05050102010706020507" pitchFamily="18" charset="2"/>
              </a:rPr>
              <a:t>(</a:t>
            </a:r>
            <a:r>
              <a:rPr lang="en-US" altLang="en-PK" i="1">
                <a:sym typeface="Symbol" panose="05050102010706020507" pitchFamily="18" charset="2"/>
              </a:rPr>
              <a:t>w), a)   </a:t>
            </a:r>
            <a:r>
              <a:rPr lang="en-US" altLang="en-PK">
                <a:sym typeface="Symbol" panose="05050102010706020507" pitchFamily="18" charset="2"/>
              </a:rPr>
              <a:t>for </a:t>
            </a:r>
            <a:r>
              <a:rPr lang="en-US" altLang="en-PK" i="1">
                <a:sym typeface="Symbol" panose="05050102010706020507" pitchFamily="18" charset="2"/>
              </a:rPr>
              <a:t>w </a:t>
            </a:r>
            <a:r>
              <a:rPr lang="en-US" altLang="en-PK">
                <a:cs typeface="Arial" panose="020B0604020202020204" pitchFamily="34" charset="0"/>
                <a:sym typeface="Symbol" panose="05050102010706020507" pitchFamily="18" charset="2"/>
              </a:rPr>
              <a:t> ∑*, a ∑</a:t>
            </a:r>
          </a:p>
        </p:txBody>
      </p:sp>
    </p:spTree>
    <p:extLst>
      <p:ext uri="{BB962C8B-B14F-4D97-AF65-F5344CB8AC3E}">
        <p14:creationId xmlns:p14="http://schemas.microsoft.com/office/powerpoint/2010/main" val="1939506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6E5E772-AB01-4431-B587-8DD301E03F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String Matching Automata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81F67703-9FC5-4BEF-A817-77B4ECEB9E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5334000"/>
          </a:xfrm>
        </p:spPr>
        <p:txBody>
          <a:bodyPr/>
          <a:lstStyle/>
          <a:p>
            <a:pPr algn="just" eaLnBrk="1" hangingPunct="1"/>
            <a:r>
              <a:rPr lang="en-US" altLang="en-PK" b="0"/>
              <a:t>Every pattern </a:t>
            </a:r>
            <a:r>
              <a:rPr lang="en-US" altLang="en-PK" b="0" i="1"/>
              <a:t>P</a:t>
            </a:r>
            <a:r>
              <a:rPr lang="en-US" altLang="en-PK" b="0"/>
              <a:t> has finite automaton</a:t>
            </a:r>
          </a:p>
          <a:p>
            <a:pPr algn="just" eaLnBrk="1" hangingPunct="1"/>
            <a:r>
              <a:rPr lang="en-US" altLang="en-PK" b="0"/>
              <a:t>It must be built in the preprocessing step</a:t>
            </a:r>
          </a:p>
          <a:p>
            <a:pPr algn="just" eaLnBrk="1" hangingPunct="1"/>
            <a:r>
              <a:rPr lang="en-US" altLang="en-PK" b="0"/>
              <a:t>In order to do so, we first define a function called </a:t>
            </a:r>
            <a:r>
              <a:rPr lang="en-US" altLang="en-PK" b="0" i="1"/>
              <a:t>suffix-function</a:t>
            </a:r>
            <a:r>
              <a:rPr lang="en-US" altLang="en-PK" b="0"/>
              <a:t> </a:t>
            </a:r>
            <a:r>
              <a:rPr lang="en-US" altLang="en-PK" b="0" i="1">
                <a:sym typeface="Symbol" panose="05050102010706020507" pitchFamily="18" charset="2"/>
              </a:rPr>
              <a:t>, </a:t>
            </a:r>
            <a:r>
              <a:rPr lang="en-US" altLang="en-PK" b="0" u="sng"/>
              <a:t>corresponding to </a:t>
            </a:r>
            <a:r>
              <a:rPr lang="en-US" altLang="en-PK" b="0" i="1" u="sng"/>
              <a:t>P</a:t>
            </a:r>
          </a:p>
          <a:p>
            <a:pPr algn="just" eaLnBrk="1" hangingPunct="1"/>
            <a:r>
              <a:rPr lang="en-US" altLang="en-PK" b="0"/>
              <a:t>It is a mapping from </a:t>
            </a:r>
            <a:r>
              <a:rPr lang="en-US" altLang="en-PK" b="0">
                <a:cs typeface="Arial" panose="020B0604020202020204" pitchFamily="34" charset="0"/>
              </a:rPr>
              <a:t>∑* to {0,1,…,m} such that:</a:t>
            </a:r>
          </a:p>
          <a:p>
            <a:pPr algn="just" eaLnBrk="1" hangingPunct="1"/>
            <a:r>
              <a:rPr lang="en-US" altLang="en-PK" b="0" i="1">
                <a:sym typeface="Symbol" panose="05050102010706020507" pitchFamily="18" charset="2"/>
              </a:rPr>
              <a:t>(x) = </a:t>
            </a:r>
            <a:r>
              <a:rPr lang="en-US" altLang="en-PK" b="0">
                <a:sym typeface="Symbol" panose="05050102010706020507" pitchFamily="18" charset="2"/>
              </a:rPr>
              <a:t>length of the longest prefix of </a:t>
            </a:r>
            <a:r>
              <a:rPr lang="en-US" altLang="en-PK" b="0" i="1">
                <a:sym typeface="Symbol" panose="05050102010706020507" pitchFamily="18" charset="2"/>
              </a:rPr>
              <a:t>P </a:t>
            </a:r>
            <a:r>
              <a:rPr lang="en-US" altLang="en-PK" b="0">
                <a:sym typeface="Symbol" panose="05050102010706020507" pitchFamily="18" charset="2"/>
              </a:rPr>
              <a:t>that is a suffix of </a:t>
            </a:r>
            <a:r>
              <a:rPr lang="en-US" altLang="en-PK" b="0" i="1">
                <a:sym typeface="Symbol" panose="05050102010706020507" pitchFamily="18" charset="2"/>
              </a:rPr>
              <a:t>x</a:t>
            </a:r>
            <a:endParaRPr lang="en-US" altLang="en-PK" b="0">
              <a:cs typeface="Arial" panose="020B0604020202020204" pitchFamily="34" charset="0"/>
            </a:endParaRPr>
          </a:p>
          <a:p>
            <a:pPr algn="just" eaLnBrk="1" hangingPunct="1"/>
            <a:r>
              <a:rPr lang="en-US" altLang="en-PK" b="0" i="1">
                <a:sym typeface="Symbol" panose="05050102010706020507" pitchFamily="18" charset="2"/>
              </a:rPr>
              <a:t>(x) = max{k : P</a:t>
            </a:r>
            <a:r>
              <a:rPr lang="en-US" altLang="en-PK" b="0" i="1" baseline="-25000">
                <a:sym typeface="Symbol" panose="05050102010706020507" pitchFamily="18" charset="2"/>
              </a:rPr>
              <a:t>k</a:t>
            </a:r>
            <a:r>
              <a:rPr lang="en-US" altLang="en-PK" b="0" i="1">
                <a:sym typeface="Symbol" panose="05050102010706020507" pitchFamily="18" charset="2"/>
              </a:rPr>
              <a:t> </a:t>
            </a:r>
            <a:r>
              <a:rPr lang="en-US" altLang="en-PK" b="0">
                <a:cs typeface="Arial" panose="020B0604020202020204" pitchFamily="34" charset="0"/>
              </a:rPr>
              <a:t>╛</a:t>
            </a:r>
            <a:r>
              <a:rPr lang="en-US" altLang="en-PK" b="0" i="1">
                <a:sym typeface="Symbol" panose="05050102010706020507" pitchFamily="18" charset="2"/>
              </a:rPr>
              <a:t>x}</a:t>
            </a:r>
            <a:endParaRPr lang="en-US" altLang="en-PK" b="0" i="1"/>
          </a:p>
        </p:txBody>
      </p:sp>
    </p:spTree>
    <p:extLst>
      <p:ext uri="{BB962C8B-B14F-4D97-AF65-F5344CB8AC3E}">
        <p14:creationId xmlns:p14="http://schemas.microsoft.com/office/powerpoint/2010/main" val="3592930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30D96D73-0854-4B12-93E9-69EBAE0F2B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String Matching Automata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216FB34-7063-4B84-BA69-766150F3F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PK" b="0"/>
              <a:t>Suffix function is well defined, since P</a:t>
            </a:r>
            <a:r>
              <a:rPr lang="en-US" altLang="en-PK" b="0" baseline="-25000"/>
              <a:t>o</a:t>
            </a:r>
            <a:r>
              <a:rPr lang="en-US" altLang="en-PK" b="0"/>
              <a:t> = </a:t>
            </a:r>
            <a:r>
              <a:rPr lang="el-GR" altLang="en-PK" b="0">
                <a:cs typeface="Times New Roman" panose="02020603050405020304" pitchFamily="18" charset="0"/>
              </a:rPr>
              <a:t>ε</a:t>
            </a:r>
            <a:r>
              <a:rPr lang="en-US" altLang="en-PK" b="0"/>
              <a:t> is a suffix of every string.</a:t>
            </a:r>
          </a:p>
          <a:p>
            <a:pPr eaLnBrk="1" hangingPunct="1"/>
            <a:endParaRPr lang="en-US" altLang="en-PK" b="0"/>
          </a:p>
          <a:p>
            <a:pPr eaLnBrk="1" hangingPunct="1"/>
            <a:r>
              <a:rPr lang="en-US" altLang="en-PK" b="0"/>
              <a:t>If </a:t>
            </a:r>
            <a:r>
              <a:rPr lang="en-US" altLang="en-PK" b="0" i="1"/>
              <a:t>P=ab,</a:t>
            </a:r>
            <a:r>
              <a:rPr lang="en-US" altLang="en-PK" b="0"/>
              <a:t> then:</a:t>
            </a:r>
          </a:p>
          <a:p>
            <a:pPr eaLnBrk="1" hangingPunct="1"/>
            <a:r>
              <a:rPr lang="en-US" altLang="en-PK" b="0" i="1">
                <a:sym typeface="Symbol" panose="05050102010706020507" pitchFamily="18" charset="2"/>
              </a:rPr>
              <a:t>(</a:t>
            </a:r>
            <a:r>
              <a:rPr lang="el-GR" altLang="en-PK" b="0">
                <a:cs typeface="Times New Roman" panose="02020603050405020304" pitchFamily="18" charset="0"/>
              </a:rPr>
              <a:t>ε</a:t>
            </a:r>
            <a:r>
              <a:rPr lang="en-US" altLang="en-PK" b="0" i="1">
                <a:sym typeface="Symbol" panose="05050102010706020507" pitchFamily="18" charset="2"/>
              </a:rPr>
              <a:t>) = 0</a:t>
            </a:r>
          </a:p>
          <a:p>
            <a:pPr eaLnBrk="1" hangingPunct="1"/>
            <a:r>
              <a:rPr lang="en-US" altLang="en-PK" b="0" i="1">
                <a:sym typeface="Symbol" panose="05050102010706020507" pitchFamily="18" charset="2"/>
              </a:rPr>
              <a:t>(x) = 0</a:t>
            </a:r>
          </a:p>
          <a:p>
            <a:pPr eaLnBrk="1" hangingPunct="1"/>
            <a:r>
              <a:rPr lang="en-US" altLang="en-PK" b="0" i="1">
                <a:sym typeface="Symbol" panose="05050102010706020507" pitchFamily="18" charset="2"/>
              </a:rPr>
              <a:t>(ccaca) = 1, (ccab) = 2</a:t>
            </a:r>
          </a:p>
          <a:p>
            <a:pPr eaLnBrk="1" hangingPunct="1"/>
            <a:endParaRPr lang="en-US" altLang="en-PK" i="1"/>
          </a:p>
          <a:p>
            <a:pPr eaLnBrk="1" hangingPunct="1"/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1974953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B644F35-AC65-446F-82CB-5C76BE8906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String Matching Automata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7A96EB05-3B92-42C1-9B80-CB67C876EE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PK" b="0" i="1">
                <a:sym typeface="Symbol" panose="05050102010706020507" pitchFamily="18" charset="2"/>
              </a:rPr>
              <a:t>(x) = m if an only if P is a suffix of x</a:t>
            </a:r>
          </a:p>
          <a:p>
            <a:pPr eaLnBrk="1" hangingPunct="1"/>
            <a:endParaRPr lang="en-US" altLang="en-PK" b="0" i="1">
              <a:sym typeface="Symbol" panose="05050102010706020507" pitchFamily="18" charset="2"/>
            </a:endParaRPr>
          </a:p>
          <a:p>
            <a:pPr eaLnBrk="1" hangingPunct="1"/>
            <a:r>
              <a:rPr lang="en-US" altLang="en-PK" b="0">
                <a:sym typeface="Symbol" panose="05050102010706020507" pitchFamily="18" charset="2"/>
              </a:rPr>
              <a:t>String Matching Automaton corresponding to a given pattern is defined as:</a:t>
            </a:r>
          </a:p>
          <a:p>
            <a:pPr eaLnBrk="1" hangingPunct="1"/>
            <a:endParaRPr lang="en-US" altLang="en-PK" b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PK" b="0">
                <a:sym typeface="Symbol" panose="05050102010706020507" pitchFamily="18" charset="2"/>
              </a:rPr>
              <a:t>State Set Q = { 0, 1, 2, ….. M}</a:t>
            </a:r>
          </a:p>
          <a:p>
            <a:pPr lvl="1" eaLnBrk="1" hangingPunct="1"/>
            <a:r>
              <a:rPr lang="en-US" altLang="en-PK" b="0">
                <a:sym typeface="Symbol" panose="05050102010706020507" pitchFamily="18" charset="2"/>
              </a:rPr>
              <a:t>Transition function</a:t>
            </a:r>
          </a:p>
          <a:p>
            <a:pPr lvl="2" eaLnBrk="1" hangingPunct="1"/>
            <a:r>
              <a:rPr lang="el-GR" altLang="en-PK" sz="3200" b="0" i="1">
                <a:cs typeface="Arial" panose="020B0604020202020204" pitchFamily="34" charset="0"/>
              </a:rPr>
              <a:t>δ</a:t>
            </a:r>
            <a:r>
              <a:rPr lang="en-US" altLang="en-PK" sz="3200" b="0" i="1">
                <a:cs typeface="Arial" panose="020B0604020202020204" pitchFamily="34" charset="0"/>
              </a:rPr>
              <a:t>(</a:t>
            </a:r>
            <a:r>
              <a:rPr lang="en-US" altLang="en-PK" sz="3200" b="0" i="1">
                <a:sym typeface="Symbol" panose="05050102010706020507" pitchFamily="18" charset="2"/>
              </a:rPr>
              <a:t>q, a)</a:t>
            </a:r>
            <a:r>
              <a:rPr lang="en-US" altLang="en-PK" sz="3200" b="0">
                <a:sym typeface="Symbol" panose="05050102010706020507" pitchFamily="18" charset="2"/>
              </a:rPr>
              <a:t> = </a:t>
            </a:r>
            <a:r>
              <a:rPr lang="en-US" altLang="en-PK" sz="3200" b="0" i="1">
                <a:sym typeface="Symbol" panose="05050102010706020507" pitchFamily="18" charset="2"/>
              </a:rPr>
              <a:t>(P</a:t>
            </a:r>
            <a:r>
              <a:rPr lang="en-US" altLang="en-PK" sz="3200" b="0" i="1" baseline="-25000">
                <a:sym typeface="Symbol" panose="05050102010706020507" pitchFamily="18" charset="2"/>
              </a:rPr>
              <a:t>q</a:t>
            </a:r>
            <a:r>
              <a:rPr lang="en-US" altLang="en-PK" sz="3200" b="0" i="1">
                <a:sym typeface="Symbol" panose="05050102010706020507" pitchFamily="18" charset="2"/>
              </a:rPr>
              <a:t>a) </a:t>
            </a:r>
          </a:p>
          <a:p>
            <a:pPr lvl="1" eaLnBrk="1" hangingPunct="1"/>
            <a:endParaRPr lang="en-US" altLang="en-PK" sz="3600" i="1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16599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D0E6DFF4-0767-40C0-8263-875DDD4F8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 altLang="en-PK"/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5168314C-A5B3-4600-A459-9214D98C0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altLang="en-PK"/>
          </a:p>
        </p:txBody>
      </p:sp>
      <p:pic>
        <p:nvPicPr>
          <p:cNvPr id="40964" name="Picture 2">
            <a:extLst>
              <a:ext uri="{FF2B5EF4-FFF2-40B4-BE49-F238E27FC236}">
                <a16:creationId xmlns:a16="http://schemas.microsoft.com/office/drawing/2014/main" id="{EAC51F4E-D251-44C8-A176-C6E75C8A8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38" y="595313"/>
            <a:ext cx="7248525" cy="566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965" name="TextBox 4">
            <a:extLst>
              <a:ext uri="{FF2B5EF4-FFF2-40B4-BE49-F238E27FC236}">
                <a16:creationId xmlns:a16="http://schemas.microsoft.com/office/drawing/2014/main" id="{FEE24619-96B4-49A6-8A04-964F7C3DE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925" y="6167438"/>
            <a:ext cx="12112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PK"/>
              <a:t>Fig 32.7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2D4BB5-27F3-45C7-B553-5B8EA634E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91200" y="3214687"/>
            <a:ext cx="1952625" cy="42862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55540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0DD1D91C-3D40-4146-965B-00446B7F2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String Matching Automata</a:t>
            </a: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CCEB4E43-D8C4-423D-BD84-62C7D28B2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PK" sz="1800"/>
              <a:t>Figure 32.7 (a) </a:t>
            </a:r>
            <a:r>
              <a:rPr lang="en-US" altLang="en-PK" sz="1800" b="0"/>
              <a:t>A state-transition diagram for the string-matching automaton that accepts all strings ending in the string ababaca. State 0 is the start state, and state 7 (shown blackened) is the only accepting state. A directed edge from state </a:t>
            </a:r>
            <a:r>
              <a:rPr lang="en-US" altLang="en-PK" sz="1800" b="0" i="1"/>
              <a:t>i </a:t>
            </a:r>
            <a:r>
              <a:rPr lang="en-US" altLang="en-PK" sz="1800" b="0"/>
              <a:t>to state </a:t>
            </a:r>
            <a:r>
              <a:rPr lang="en-US" altLang="en-PK" sz="1800" b="0" i="1"/>
              <a:t>j </a:t>
            </a:r>
            <a:r>
              <a:rPr lang="en-US" altLang="en-PK" sz="1800" b="0"/>
              <a:t>labeled </a:t>
            </a:r>
            <a:r>
              <a:rPr lang="en-US" altLang="en-PK" sz="1800" b="0" i="1"/>
              <a:t>a </a:t>
            </a:r>
            <a:r>
              <a:rPr lang="en-US" altLang="en-PK" sz="1800" b="0"/>
              <a:t>represents </a:t>
            </a:r>
            <a:r>
              <a:rPr lang="en-US" altLang="en-PK" sz="1800" b="0" i="1"/>
              <a:t>δ(i, a) </a:t>
            </a:r>
            <a:r>
              <a:rPr lang="en-US" altLang="en-PK" sz="1800" b="0"/>
              <a:t>= </a:t>
            </a:r>
            <a:r>
              <a:rPr lang="en-US" altLang="en-PK" sz="1800" b="0" i="1"/>
              <a:t>j</a:t>
            </a:r>
            <a:r>
              <a:rPr lang="en-US" altLang="en-PK" sz="1800" b="0"/>
              <a:t>. The right-going edges forming the “spine” of the automaton, shown heavy in the figure, correspond to successful matches between pattern and input characters. The left-going edges correspond to failing matches. Some edges corresponding to failing matches are not shown; by convention, if a state </a:t>
            </a:r>
            <a:r>
              <a:rPr lang="en-US" altLang="en-PK" sz="1800" b="0" i="1"/>
              <a:t>I </a:t>
            </a:r>
            <a:r>
              <a:rPr lang="en-US" altLang="en-PK" sz="1800" b="0"/>
              <a:t>has no outgoing edge labeled </a:t>
            </a:r>
            <a:r>
              <a:rPr lang="en-US" altLang="en-PK" sz="1800" b="0" i="1"/>
              <a:t>a </a:t>
            </a:r>
            <a:r>
              <a:rPr lang="en-US" altLang="en-PK" sz="1800" b="0"/>
              <a:t>for some </a:t>
            </a:r>
            <a:r>
              <a:rPr lang="en-US" altLang="en-PK" sz="1800" b="0" i="1"/>
              <a:t>a </a:t>
            </a:r>
            <a:r>
              <a:rPr lang="en-US" altLang="en-PK" sz="1800" b="0"/>
              <a:t>∈ , then </a:t>
            </a:r>
            <a:r>
              <a:rPr lang="en-US" altLang="en-PK" sz="1800" b="0" i="1"/>
              <a:t>δ(i, a) </a:t>
            </a:r>
            <a:r>
              <a:rPr lang="en-US" altLang="en-PK" sz="1800" b="0"/>
              <a:t>= 0. </a:t>
            </a:r>
            <a:r>
              <a:rPr lang="en-US" altLang="en-PK" sz="1800"/>
              <a:t>(b) </a:t>
            </a:r>
            <a:r>
              <a:rPr lang="en-US" altLang="en-PK" sz="1800" b="0"/>
              <a:t>The corresponding transition function </a:t>
            </a:r>
            <a:r>
              <a:rPr lang="en-US" altLang="en-PK" sz="1800" b="0" i="1"/>
              <a:t>δ</a:t>
            </a:r>
            <a:r>
              <a:rPr lang="en-US" altLang="en-PK" sz="1800" b="0"/>
              <a:t>, and the pattern string </a:t>
            </a:r>
            <a:r>
              <a:rPr lang="en-US" altLang="en-PK" sz="1800" b="0" i="1"/>
              <a:t>P </a:t>
            </a:r>
            <a:r>
              <a:rPr lang="en-US" altLang="en-PK" sz="1800" b="0"/>
              <a:t>= ababaca. The entries corresponding to successful matches between pattern and input characters are shown shaded. </a:t>
            </a:r>
            <a:r>
              <a:rPr lang="en-US" altLang="en-PK" sz="1800"/>
              <a:t>(c) </a:t>
            </a:r>
            <a:r>
              <a:rPr lang="en-US" altLang="en-PK" sz="1800" b="0"/>
              <a:t>The operation of the automaton on the text </a:t>
            </a:r>
            <a:r>
              <a:rPr lang="en-US" altLang="en-PK" sz="1800" b="0" i="1"/>
              <a:t>T </a:t>
            </a:r>
            <a:r>
              <a:rPr lang="en-US" altLang="en-PK" sz="1800" b="0"/>
              <a:t>= abababacaba. Under each text character </a:t>
            </a:r>
            <a:r>
              <a:rPr lang="en-US" altLang="en-PK" sz="1800" b="0" i="1"/>
              <a:t>T </a:t>
            </a:r>
            <a:r>
              <a:rPr lang="en-US" altLang="en-PK" sz="1800" b="0"/>
              <a:t>[</a:t>
            </a:r>
            <a:r>
              <a:rPr lang="en-US" altLang="en-PK" sz="1800" b="0" i="1"/>
              <a:t>i </a:t>
            </a:r>
            <a:r>
              <a:rPr lang="en-US" altLang="en-PK" sz="1800" b="0"/>
              <a:t>] is given the state </a:t>
            </a:r>
            <a:r>
              <a:rPr lang="en-US" altLang="en-PK" sz="1800" b="0" i="1"/>
              <a:t>φ(Ti ) </a:t>
            </a:r>
            <a:r>
              <a:rPr lang="en-US" altLang="en-PK" sz="1800" b="0"/>
              <a:t>the automaton is in after processing the prefix </a:t>
            </a:r>
            <a:r>
              <a:rPr lang="en-US" altLang="en-PK" sz="1800" b="0" i="1"/>
              <a:t>Ti </a:t>
            </a:r>
            <a:r>
              <a:rPr lang="en-US" altLang="en-PK" sz="1800" b="0"/>
              <a:t>. One occurrence of the pattern is found, ending in position 9.</a:t>
            </a:r>
            <a:endParaRPr lang="en-US" altLang="en-PK" sz="1800"/>
          </a:p>
        </p:txBody>
      </p:sp>
    </p:spTree>
    <p:extLst>
      <p:ext uri="{BB962C8B-B14F-4D97-AF65-F5344CB8AC3E}">
        <p14:creationId xmlns:p14="http://schemas.microsoft.com/office/powerpoint/2010/main" val="2918585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>
            <a:extLst>
              <a:ext uri="{FF2B5EF4-FFF2-40B4-BE49-F238E27FC236}">
                <a16:creationId xmlns:a16="http://schemas.microsoft.com/office/drawing/2014/main" id="{7EB5B1FC-0D09-4898-B422-42F82AD1A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00200"/>
            <a:ext cx="7781925" cy="321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3853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E133-D7F3-414B-9133-3AFA0C122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9773F-CD18-E6DD-BAC8-3CC1BAE7A64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COMPUTE-TRANSITION-FUNCTION(</a:t>
            </a:r>
            <a:r>
              <a:rPr lang="en-US" i="1" dirty="0"/>
              <a:t>P</a:t>
            </a:r>
            <a:r>
              <a:rPr lang="en-US" dirty="0"/>
              <a:t>, </a:t>
            </a:r>
            <a:r>
              <a:rPr lang="el-GR" dirty="0"/>
              <a:t>Σ, </a:t>
            </a:r>
            <a:r>
              <a:rPr lang="en-US" i="1" dirty="0"/>
              <a:t>m</a:t>
            </a:r>
            <a:r>
              <a:rPr lang="en-US" dirty="0"/>
              <a:t>)</a:t>
            </a:r>
          </a:p>
          <a:p>
            <a:r>
              <a:rPr lang="en-US" dirty="0"/>
              <a:t>1 for </a:t>
            </a:r>
            <a:r>
              <a:rPr lang="en-US" i="1" dirty="0"/>
              <a:t>q </a:t>
            </a:r>
            <a:r>
              <a:rPr lang="en-US" dirty="0"/>
              <a:t>= 0 to </a:t>
            </a:r>
            <a:r>
              <a:rPr lang="en-US" i="1" dirty="0"/>
              <a:t>m</a:t>
            </a:r>
          </a:p>
          <a:p>
            <a:r>
              <a:rPr lang="en-US" dirty="0"/>
              <a:t>2         for each character </a:t>
            </a:r>
            <a:r>
              <a:rPr lang="en-US" i="1" dirty="0"/>
              <a:t>a </a:t>
            </a:r>
            <a:r>
              <a:rPr lang="en-US" dirty="0"/>
              <a:t>∈ Σ</a:t>
            </a:r>
          </a:p>
          <a:p>
            <a:r>
              <a:rPr lang="sv-SE" dirty="0"/>
              <a:t>3            </a:t>
            </a:r>
            <a:r>
              <a:rPr lang="sv-SE" i="1" dirty="0"/>
              <a:t>k </a:t>
            </a:r>
            <a:r>
              <a:rPr lang="sv-SE" dirty="0"/>
              <a:t>= min {</a:t>
            </a:r>
            <a:r>
              <a:rPr lang="sv-SE" i="1" dirty="0"/>
              <a:t>m</a:t>
            </a:r>
            <a:r>
              <a:rPr lang="sv-SE" dirty="0"/>
              <a:t>, </a:t>
            </a:r>
            <a:r>
              <a:rPr lang="sv-SE" i="1" dirty="0"/>
              <a:t>q </a:t>
            </a:r>
            <a:r>
              <a:rPr lang="sv-SE" dirty="0"/>
              <a:t>+ 1}</a:t>
            </a:r>
          </a:p>
          <a:p>
            <a:r>
              <a:rPr lang="en-US" dirty="0"/>
              <a:t>4            while </a:t>
            </a:r>
            <a:r>
              <a:rPr lang="en-US" i="1" dirty="0"/>
              <a:t>P</a:t>
            </a:r>
            <a:r>
              <a:rPr lang="en-US" dirty="0"/>
              <a:t>[:</a:t>
            </a:r>
            <a:r>
              <a:rPr lang="en-US" i="1" dirty="0"/>
              <a:t>k</a:t>
            </a:r>
            <a:r>
              <a:rPr lang="en-US" dirty="0"/>
              <a:t>] is not a suffix of </a:t>
            </a:r>
            <a:r>
              <a:rPr lang="en-US" i="1" dirty="0"/>
              <a:t>P</a:t>
            </a:r>
            <a:r>
              <a:rPr lang="en-US" dirty="0"/>
              <a:t>[:</a:t>
            </a:r>
            <a:r>
              <a:rPr lang="en-US" i="1" dirty="0"/>
              <a:t>q</a:t>
            </a:r>
            <a:r>
              <a:rPr lang="en-US" dirty="0"/>
              <a:t>]</a:t>
            </a:r>
            <a:r>
              <a:rPr lang="en-US" i="1" dirty="0"/>
              <a:t>a</a:t>
            </a:r>
          </a:p>
          <a:p>
            <a:r>
              <a:rPr lang="en-US" dirty="0"/>
              <a:t>5                </a:t>
            </a:r>
            <a:r>
              <a:rPr lang="en-US" i="1" dirty="0"/>
              <a:t>k </a:t>
            </a:r>
            <a:r>
              <a:rPr lang="en-US" dirty="0"/>
              <a:t>= </a:t>
            </a:r>
            <a:r>
              <a:rPr lang="en-US" i="1" dirty="0"/>
              <a:t>k </a:t>
            </a:r>
            <a:r>
              <a:rPr lang="en-US" dirty="0"/>
              <a:t>– 1</a:t>
            </a:r>
          </a:p>
          <a:p>
            <a:r>
              <a:rPr lang="pt-BR" dirty="0"/>
              <a:t>6         </a:t>
            </a:r>
            <a:r>
              <a:rPr lang="pt-BR" i="1" dirty="0"/>
              <a:t>δ</a:t>
            </a:r>
            <a:r>
              <a:rPr lang="pt-BR" dirty="0"/>
              <a:t>(</a:t>
            </a:r>
            <a:r>
              <a:rPr lang="pt-BR" i="1" dirty="0"/>
              <a:t>q</a:t>
            </a:r>
            <a:r>
              <a:rPr lang="pt-BR" dirty="0"/>
              <a:t>, </a:t>
            </a:r>
            <a:r>
              <a:rPr lang="pt-BR" i="1" dirty="0"/>
              <a:t>a</a:t>
            </a:r>
            <a:r>
              <a:rPr lang="pt-BR" dirty="0"/>
              <a:t>) = </a:t>
            </a:r>
            <a:r>
              <a:rPr lang="pt-BR" i="1" dirty="0"/>
              <a:t>k</a:t>
            </a:r>
          </a:p>
          <a:p>
            <a:r>
              <a:rPr lang="en-US" dirty="0"/>
              <a:t>7 return </a:t>
            </a:r>
            <a:r>
              <a:rPr lang="el-GR" i="1" dirty="0"/>
              <a:t>δ</a:t>
            </a:r>
            <a:r>
              <a:rPr lang="sv-SE" dirty="0"/>
              <a:t>	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34B27-C514-AC65-7580-B6F788D783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89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E5302-ACED-0643-3E99-AEB11A20F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45CA0-8BCE-4EA5-B040-1741DB6D055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228600"/>
            <a:ext cx="8510016" cy="4267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COMPUTE-TRANSITION-FUNCTION(</a:t>
            </a:r>
            <a:r>
              <a:rPr lang="en-US" i="1" dirty="0"/>
              <a:t>P</a:t>
            </a:r>
            <a:r>
              <a:rPr lang="en-US" dirty="0"/>
              <a:t>, </a:t>
            </a:r>
            <a:r>
              <a:rPr lang="el-GR" dirty="0"/>
              <a:t>Σ, </a:t>
            </a:r>
            <a:r>
              <a:rPr lang="en-US" i="1" dirty="0"/>
              <a:t>m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1 for </a:t>
            </a:r>
            <a:r>
              <a:rPr lang="en-US" i="1" dirty="0"/>
              <a:t>q </a:t>
            </a:r>
            <a:r>
              <a:rPr lang="en-US" dirty="0"/>
              <a:t>= 0 to </a:t>
            </a:r>
            <a:r>
              <a:rPr lang="en-US" i="1" dirty="0"/>
              <a:t>m</a:t>
            </a:r>
          </a:p>
          <a:p>
            <a:pPr marL="0" indent="0">
              <a:buNone/>
            </a:pPr>
            <a:r>
              <a:rPr lang="en-US" dirty="0"/>
              <a:t>2         for each character </a:t>
            </a:r>
            <a:r>
              <a:rPr lang="en-US" i="1" dirty="0"/>
              <a:t>a </a:t>
            </a:r>
            <a:r>
              <a:rPr lang="en-US" dirty="0"/>
              <a:t>∈ Σ</a:t>
            </a:r>
          </a:p>
          <a:p>
            <a:pPr marL="0" indent="0">
              <a:buNone/>
            </a:pPr>
            <a:r>
              <a:rPr lang="sv-SE" dirty="0"/>
              <a:t>3            </a:t>
            </a:r>
            <a:r>
              <a:rPr lang="sv-SE" i="1" dirty="0"/>
              <a:t>k </a:t>
            </a:r>
            <a:r>
              <a:rPr lang="sv-SE" dirty="0"/>
              <a:t>= min {</a:t>
            </a:r>
            <a:r>
              <a:rPr lang="sv-SE" i="1" dirty="0"/>
              <a:t>m</a:t>
            </a:r>
            <a:r>
              <a:rPr lang="sv-SE" dirty="0"/>
              <a:t>, </a:t>
            </a:r>
            <a:r>
              <a:rPr lang="sv-SE" i="1" dirty="0"/>
              <a:t>q </a:t>
            </a:r>
            <a:r>
              <a:rPr lang="sv-SE" dirty="0"/>
              <a:t>+ 1}</a:t>
            </a:r>
          </a:p>
          <a:p>
            <a:pPr marL="0" indent="0">
              <a:buNone/>
            </a:pPr>
            <a:r>
              <a:rPr lang="en-US" dirty="0"/>
              <a:t>4            while </a:t>
            </a:r>
            <a:r>
              <a:rPr lang="en-US" i="1" dirty="0"/>
              <a:t>P</a:t>
            </a:r>
            <a:r>
              <a:rPr lang="en-US" dirty="0"/>
              <a:t>[:</a:t>
            </a:r>
            <a:r>
              <a:rPr lang="en-US" i="1" dirty="0"/>
              <a:t>k</a:t>
            </a:r>
            <a:r>
              <a:rPr lang="en-US" dirty="0"/>
              <a:t>] is not a suffix of </a:t>
            </a:r>
            <a:r>
              <a:rPr lang="en-US" i="1" dirty="0"/>
              <a:t>P</a:t>
            </a:r>
            <a:r>
              <a:rPr lang="en-US" dirty="0"/>
              <a:t>[:</a:t>
            </a:r>
            <a:r>
              <a:rPr lang="en-US" i="1" dirty="0"/>
              <a:t>q</a:t>
            </a:r>
            <a:r>
              <a:rPr lang="en-US" dirty="0"/>
              <a:t>]</a:t>
            </a:r>
            <a:r>
              <a:rPr lang="en-US" i="1" dirty="0"/>
              <a:t>a</a:t>
            </a:r>
          </a:p>
          <a:p>
            <a:pPr marL="0" indent="0">
              <a:buNone/>
            </a:pPr>
            <a:r>
              <a:rPr lang="en-US" dirty="0"/>
              <a:t>5                </a:t>
            </a:r>
            <a:r>
              <a:rPr lang="en-US" i="1" dirty="0"/>
              <a:t>k </a:t>
            </a:r>
            <a:r>
              <a:rPr lang="en-US" dirty="0"/>
              <a:t>= </a:t>
            </a:r>
            <a:r>
              <a:rPr lang="en-US" i="1" dirty="0"/>
              <a:t>k </a:t>
            </a:r>
            <a:r>
              <a:rPr lang="en-US" dirty="0"/>
              <a:t>– 1</a:t>
            </a:r>
          </a:p>
          <a:p>
            <a:pPr marL="0" indent="0">
              <a:buNone/>
            </a:pPr>
            <a:r>
              <a:rPr lang="pt-BR" dirty="0"/>
              <a:t>6         </a:t>
            </a:r>
            <a:r>
              <a:rPr lang="pt-BR" i="1" dirty="0"/>
              <a:t>δ</a:t>
            </a:r>
            <a:r>
              <a:rPr lang="pt-BR" dirty="0"/>
              <a:t>(</a:t>
            </a:r>
            <a:r>
              <a:rPr lang="pt-BR" i="1" dirty="0"/>
              <a:t>q</a:t>
            </a:r>
            <a:r>
              <a:rPr lang="pt-BR" dirty="0"/>
              <a:t>, </a:t>
            </a:r>
            <a:r>
              <a:rPr lang="pt-BR" i="1" dirty="0"/>
              <a:t>a</a:t>
            </a:r>
            <a:r>
              <a:rPr lang="pt-BR" dirty="0"/>
              <a:t>) = </a:t>
            </a:r>
            <a:r>
              <a:rPr lang="pt-BR" i="1" dirty="0"/>
              <a:t>k</a:t>
            </a:r>
          </a:p>
          <a:p>
            <a:pPr marL="0" indent="0">
              <a:buNone/>
            </a:pPr>
            <a:r>
              <a:rPr lang="en-US" dirty="0"/>
              <a:t>7 return </a:t>
            </a:r>
            <a:r>
              <a:rPr lang="el-GR" i="1" dirty="0"/>
              <a:t>δ</a:t>
            </a:r>
            <a:r>
              <a:rPr lang="sv-SE" dirty="0"/>
              <a:t>	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ACD83-EC86-C997-1444-ECB065F4897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D092C0-90E8-2466-7C39-CEE0FAE195B9}"/>
              </a:ext>
            </a:extLst>
          </p:cNvPr>
          <p:cNvSpPr txBox="1"/>
          <p:nvPr/>
        </p:nvSpPr>
        <p:spPr>
          <a:xfrm>
            <a:off x="356616" y="4361845"/>
            <a:ext cx="838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3Font_26"/>
              </a:rPr>
              <a:t>The running time of</a:t>
            </a:r>
            <a:r>
              <a:rPr lang="en-US" sz="1800" b="1" i="0" u="none" strike="noStrike" baseline="0" dirty="0">
                <a:latin typeface="T3Font_26"/>
              </a:rPr>
              <a:t> COMPUTE-TRANSITION-FUNCTION </a:t>
            </a:r>
            <a:r>
              <a:rPr lang="en-US" sz="1800" b="0" i="0" u="none" strike="noStrike" baseline="0" dirty="0">
                <a:latin typeface="T3Font_26"/>
              </a:rPr>
              <a:t>is </a:t>
            </a:r>
            <a:r>
              <a:rPr lang="en-US" sz="1800" b="1" i="1" u="none" strike="noStrike" baseline="0" dirty="0">
                <a:solidFill>
                  <a:srgbClr val="FF0000"/>
                </a:solidFill>
                <a:latin typeface="T3Font_27"/>
              </a:rPr>
              <a:t>O</a:t>
            </a:r>
            <a:r>
              <a:rPr lang="en-US" sz="1800" b="1" i="0" u="none" strike="noStrike" baseline="0" dirty="0">
                <a:solidFill>
                  <a:srgbClr val="FF0000"/>
                </a:solidFill>
                <a:latin typeface="T3Font_26"/>
              </a:rPr>
              <a:t>(</a:t>
            </a:r>
            <a:r>
              <a:rPr lang="en-US" sz="1800" b="1" i="1" u="none" strike="noStrike" baseline="0" dirty="0">
                <a:solidFill>
                  <a:srgbClr val="FF0000"/>
                </a:solidFill>
                <a:latin typeface="T3Font_27"/>
              </a:rPr>
              <a:t>m</a:t>
            </a:r>
            <a:r>
              <a:rPr lang="en-US" sz="1800" b="1" i="0" u="none" strike="noStrike" baseline="0" dirty="0">
                <a:solidFill>
                  <a:srgbClr val="FF0000"/>
                </a:solidFill>
                <a:latin typeface="T3Font_26"/>
              </a:rPr>
              <a:t>3 |Σ|), </a:t>
            </a:r>
          </a:p>
          <a:p>
            <a:pPr algn="l"/>
            <a:r>
              <a:rPr lang="en-US" sz="1800" b="0" i="0" u="none" strike="noStrike" baseline="0" dirty="0">
                <a:latin typeface="T3Font_26"/>
              </a:rPr>
              <a:t>because the outer loops contribute a factor of </a:t>
            </a:r>
            <a:r>
              <a:rPr lang="en-US" sz="1800" b="1" i="1" u="none" strike="noStrike" baseline="0" dirty="0">
                <a:latin typeface="T3Font_27"/>
              </a:rPr>
              <a:t>m </a:t>
            </a:r>
            <a:r>
              <a:rPr lang="en-US" sz="1800" b="1" i="0" u="none" strike="noStrike" baseline="0" dirty="0">
                <a:latin typeface="T3Font_26"/>
              </a:rPr>
              <a:t>|Σ|, </a:t>
            </a:r>
          </a:p>
          <a:p>
            <a:pPr algn="l"/>
            <a:r>
              <a:rPr lang="en-US" sz="1800" b="0" i="0" u="none" strike="noStrike" baseline="0" dirty="0">
                <a:latin typeface="T3Font_26"/>
              </a:rPr>
              <a:t>the inner </a:t>
            </a:r>
            <a:r>
              <a:rPr lang="en-US" sz="1800" b="0" i="0" u="none" strike="noStrike" baseline="0" dirty="0">
                <a:latin typeface="T3Font_28"/>
              </a:rPr>
              <a:t>while </a:t>
            </a:r>
            <a:r>
              <a:rPr lang="en-US" sz="1800" b="0" i="0" u="none" strike="noStrike" baseline="0" dirty="0">
                <a:latin typeface="T3Font_26"/>
              </a:rPr>
              <a:t>loop can run at </a:t>
            </a:r>
            <a:r>
              <a:rPr lang="en-US" sz="1800" b="1" i="0" u="none" strike="noStrike" baseline="0" dirty="0">
                <a:latin typeface="T3Font_26"/>
              </a:rPr>
              <a:t>most </a:t>
            </a:r>
            <a:r>
              <a:rPr lang="en-US" sz="1800" b="1" i="1" u="none" strike="noStrike" baseline="0" dirty="0">
                <a:latin typeface="T3Font_27"/>
              </a:rPr>
              <a:t>m </a:t>
            </a:r>
            <a:r>
              <a:rPr lang="en-US" sz="1800" b="1" i="0" u="none" strike="noStrike" baseline="0" dirty="0">
                <a:latin typeface="T3Font_26"/>
              </a:rPr>
              <a:t>+ 1 times</a:t>
            </a:r>
            <a:r>
              <a:rPr lang="en-US" sz="1800" b="0" i="0" u="none" strike="noStrike" baseline="0" dirty="0">
                <a:latin typeface="T3Font_26"/>
              </a:rPr>
              <a:t>, </a:t>
            </a:r>
          </a:p>
          <a:p>
            <a:pPr algn="l"/>
            <a:r>
              <a:rPr lang="en-US" sz="1800" b="0" i="0" u="none" strike="noStrike" baseline="0" dirty="0">
                <a:latin typeface="T3Font_26"/>
              </a:rPr>
              <a:t>and the test for whether </a:t>
            </a:r>
            <a:r>
              <a:rPr lang="en-US" sz="1800" b="0" i="1" u="none" strike="noStrike" baseline="0" dirty="0">
                <a:latin typeface="T3Font_27"/>
              </a:rPr>
              <a:t>P</a:t>
            </a:r>
            <a:r>
              <a:rPr lang="en-US" sz="1800" b="0" i="0" u="none" strike="noStrike" baseline="0" dirty="0">
                <a:latin typeface="T3Font_26"/>
              </a:rPr>
              <a:t>[:</a:t>
            </a:r>
            <a:r>
              <a:rPr lang="en-US" sz="1800" b="0" i="1" u="none" strike="noStrike" baseline="0" dirty="0">
                <a:latin typeface="T3Font_27"/>
              </a:rPr>
              <a:t>k</a:t>
            </a:r>
            <a:r>
              <a:rPr lang="en-US" sz="1800" b="0" i="0" u="none" strike="noStrike" baseline="0" dirty="0">
                <a:latin typeface="T3Font_26"/>
              </a:rPr>
              <a:t>] is a suffix of </a:t>
            </a:r>
            <a:r>
              <a:rPr lang="en-US" sz="1800" b="0" i="1" u="none" strike="noStrike" baseline="0" dirty="0">
                <a:latin typeface="T3Font_27"/>
              </a:rPr>
              <a:t>P</a:t>
            </a:r>
            <a:r>
              <a:rPr lang="en-US" sz="1800" b="0" i="0" u="none" strike="noStrike" baseline="0" dirty="0">
                <a:latin typeface="T3Font_26"/>
              </a:rPr>
              <a:t>[:</a:t>
            </a:r>
            <a:r>
              <a:rPr lang="en-US" sz="1800" b="0" i="1" u="none" strike="noStrike" baseline="0" dirty="0">
                <a:latin typeface="T3Font_27"/>
              </a:rPr>
              <a:t>q</a:t>
            </a:r>
            <a:r>
              <a:rPr lang="en-US" sz="1800" b="0" i="0" u="none" strike="noStrike" baseline="0" dirty="0">
                <a:latin typeface="T3Font_26"/>
              </a:rPr>
              <a:t>]</a:t>
            </a:r>
            <a:r>
              <a:rPr lang="en-US" sz="1800" b="0" i="1" u="none" strike="noStrike" baseline="0" dirty="0">
                <a:latin typeface="T3Font_27"/>
              </a:rPr>
              <a:t>a </a:t>
            </a:r>
            <a:r>
              <a:rPr lang="en-US" sz="1800" b="0" i="0" u="none" strike="noStrike" baseline="0" dirty="0">
                <a:latin typeface="T3Font_26"/>
              </a:rPr>
              <a:t>on line 4 can require comparing up to </a:t>
            </a:r>
            <a:r>
              <a:rPr lang="en-US" sz="1800" b="1" i="1" u="none" strike="noStrike" baseline="0" dirty="0">
                <a:latin typeface="T3Font_27"/>
              </a:rPr>
              <a:t>m </a:t>
            </a:r>
            <a:r>
              <a:rPr lang="en-US" sz="1800" b="1" i="0" u="none" strike="noStrike" baseline="0" dirty="0">
                <a:latin typeface="T3Font_26"/>
              </a:rPr>
              <a:t>characters</a:t>
            </a:r>
            <a:r>
              <a:rPr lang="en-US" sz="1800" b="0" i="0" u="none" strike="noStrike" baseline="0" dirty="0">
                <a:latin typeface="T3Font_26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806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>
            <a:extLst>
              <a:ext uri="{FF2B5EF4-FFF2-40B4-BE49-F238E27FC236}">
                <a16:creationId xmlns:a16="http://schemas.microsoft.com/office/drawing/2014/main" id="{CE22D668-7091-4BD7-AA1F-07A4544DD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6905625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6415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>
            <a:extLst>
              <a:ext uri="{FF2B5EF4-FFF2-40B4-BE49-F238E27FC236}">
                <a16:creationId xmlns:a16="http://schemas.microsoft.com/office/drawing/2014/main" id="{CE22D668-7091-4BD7-AA1F-07A4544DD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4775"/>
            <a:ext cx="6905625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22" y="3962400"/>
            <a:ext cx="7729728" cy="304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599" y="4547821"/>
            <a:ext cx="5349485" cy="3289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981200" y="5029200"/>
            <a:ext cx="6324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-Roman"/>
              </a:rPr>
              <a:t>the inner </a:t>
            </a:r>
            <a:r>
              <a:rPr lang="en-US" b="1" dirty="0">
                <a:latin typeface="Times-Bold"/>
              </a:rPr>
              <a:t>repeat </a:t>
            </a:r>
            <a:r>
              <a:rPr lang="en-US" dirty="0">
                <a:latin typeface="Times-Roman"/>
              </a:rPr>
              <a:t>loop can run at most </a:t>
            </a:r>
            <a:r>
              <a:rPr lang="en-US" dirty="0">
                <a:latin typeface="MT2MIT"/>
              </a:rPr>
              <a:t>m+1 </a:t>
            </a:r>
            <a:r>
              <a:rPr lang="en-US" dirty="0">
                <a:latin typeface="Times-Roman"/>
              </a:rPr>
              <a:t>times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326386" y="5514201"/>
            <a:ext cx="582701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-Roman"/>
              </a:rPr>
              <a:t>and the </a:t>
            </a:r>
            <a:r>
              <a:rPr lang="en-US" sz="2000" dirty="0">
                <a:latin typeface="Times-Roman"/>
              </a:rPr>
              <a:t>test </a:t>
            </a:r>
            <a:r>
              <a:rPr lang="en-US" sz="2000" dirty="0">
                <a:latin typeface="MT2MIT"/>
              </a:rPr>
              <a:t>P</a:t>
            </a:r>
            <a:r>
              <a:rPr lang="en-US" sz="2000" dirty="0">
                <a:latin typeface="MT2MIS"/>
              </a:rPr>
              <a:t>k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╛</a:t>
            </a:r>
            <a:r>
              <a:rPr lang="en-US" sz="2000" dirty="0">
                <a:latin typeface="LASY10"/>
              </a:rPr>
              <a:t> </a:t>
            </a:r>
            <a:r>
              <a:rPr lang="en-US" sz="2000" dirty="0" err="1">
                <a:latin typeface="MT2MIT"/>
              </a:rPr>
              <a:t>P</a:t>
            </a:r>
            <a:r>
              <a:rPr lang="en-US" sz="2000" dirty="0" err="1">
                <a:latin typeface="MT2MIS"/>
              </a:rPr>
              <a:t>q</a:t>
            </a:r>
            <a:r>
              <a:rPr lang="en-US" sz="2000" dirty="0" err="1">
                <a:latin typeface="MT2MIT"/>
              </a:rPr>
              <a:t>a</a:t>
            </a:r>
            <a:r>
              <a:rPr lang="en-US" sz="2000" dirty="0">
                <a:latin typeface="MT2MIT"/>
              </a:rPr>
              <a:t> </a:t>
            </a:r>
            <a:r>
              <a:rPr lang="en-US" dirty="0">
                <a:latin typeface="Times-Roman"/>
              </a:rPr>
              <a:t>on line 6 can require comparing up </a:t>
            </a:r>
            <a:r>
              <a:rPr lang="en-US" dirty="0"/>
              <a:t>to m characters</a:t>
            </a:r>
          </a:p>
        </p:txBody>
      </p:sp>
    </p:spTree>
    <p:extLst>
      <p:ext uri="{BB962C8B-B14F-4D97-AF65-F5344CB8AC3E}">
        <p14:creationId xmlns:p14="http://schemas.microsoft.com/office/powerpoint/2010/main" val="2869395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-10120"/>
            <a:ext cx="8530066" cy="1000720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1289" tIns="90644" rIns="181289" bIns="90644">
            <a:normAutofit/>
          </a:bodyPr>
          <a:lstStyle/>
          <a:p>
            <a:pPr algn="ctr"/>
            <a:r>
              <a:rPr lang="en-US" sz="4800" dirty="0"/>
              <a:t>Reference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468" y="2367458"/>
            <a:ext cx="7759805" cy="1646746"/>
          </a:xfrm>
        </p:spPr>
        <p:txBody>
          <a:bodyPr lIns="181289" tIns="90644" rIns="181289" bIns="90644"/>
          <a:lstStyle/>
          <a:p>
            <a:r>
              <a:rPr lang="en-US" sz="3600" b="1" dirty="0"/>
              <a:t>Introduction to Algorithms</a:t>
            </a:r>
          </a:p>
          <a:p>
            <a:pPr lvl="1"/>
            <a:r>
              <a:rPr lang="en-US" dirty="0"/>
              <a:t>Thomas H. </a:t>
            </a:r>
            <a:r>
              <a:rPr lang="en-US" dirty="0" err="1"/>
              <a:t>Cormen</a:t>
            </a:r>
            <a:endParaRPr lang="en-US" dirty="0"/>
          </a:p>
          <a:p>
            <a:pPr lvl="1"/>
            <a:r>
              <a:rPr lang="en-US" dirty="0"/>
              <a:t>Chapter # 32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446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3414</TotalTime>
  <Words>1035</Words>
  <Application>Microsoft Office PowerPoint</Application>
  <PresentationFormat>On-screen Show (4:3)</PresentationFormat>
  <Paragraphs>98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4" baseType="lpstr">
      <vt:lpstr>Arial</vt:lpstr>
      <vt:lpstr>Calibri</vt:lpstr>
      <vt:lpstr>Century Schoolbook</vt:lpstr>
      <vt:lpstr>LASY10</vt:lpstr>
      <vt:lpstr>MT2MIS</vt:lpstr>
      <vt:lpstr>MT2MIT</vt:lpstr>
      <vt:lpstr>Symbol</vt:lpstr>
      <vt:lpstr>T3Font_26</vt:lpstr>
      <vt:lpstr>T3Font_27</vt:lpstr>
      <vt:lpstr>T3Font_28</vt:lpstr>
      <vt:lpstr>Times New Roman</vt:lpstr>
      <vt:lpstr>Times-Bold</vt:lpstr>
      <vt:lpstr>Times-Roman</vt:lpstr>
      <vt:lpstr>Wingdings</vt:lpstr>
      <vt:lpstr>Wingdings 2</vt:lpstr>
      <vt:lpstr>Oriel</vt:lpstr>
      <vt:lpstr>String Matching</vt:lpstr>
      <vt:lpstr>finite-state automaton</vt:lpstr>
      <vt:lpstr>String Matching with finite automata</vt:lpstr>
      <vt:lpstr>Finite Automata</vt:lpstr>
      <vt:lpstr>Finite Automata (Cont’d)</vt:lpstr>
      <vt:lpstr>PowerPoint Presentation</vt:lpstr>
      <vt:lpstr>Final-State Function</vt:lpstr>
      <vt:lpstr>String Matching Automata</vt:lpstr>
      <vt:lpstr>String Matching Automata</vt:lpstr>
      <vt:lpstr>String Matching Automata</vt:lpstr>
      <vt:lpstr>PowerPoint Presentation</vt:lpstr>
      <vt:lpstr>String Matching Automata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Programming</dc:title>
  <dc:creator>admin</dc:creator>
  <cp:lastModifiedBy>Noor ul Ain</cp:lastModifiedBy>
  <cp:revision>160</cp:revision>
  <dcterms:created xsi:type="dcterms:W3CDTF">2020-04-05T17:03:17Z</dcterms:created>
  <dcterms:modified xsi:type="dcterms:W3CDTF">2025-10-15T06:51:19Z</dcterms:modified>
</cp:coreProperties>
</file>