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86" r:id="rId2"/>
    <p:sldId id="481" r:id="rId3"/>
    <p:sldId id="423" r:id="rId4"/>
    <p:sldId id="482" r:id="rId5"/>
    <p:sldId id="494" r:id="rId6"/>
    <p:sldId id="430" r:id="rId7"/>
    <p:sldId id="431" r:id="rId8"/>
    <p:sldId id="485" r:id="rId9"/>
    <p:sldId id="486" r:id="rId10"/>
    <p:sldId id="487" r:id="rId11"/>
    <p:sldId id="488" r:id="rId12"/>
    <p:sldId id="512" r:id="rId13"/>
    <p:sldId id="495" r:id="rId14"/>
    <p:sldId id="496" r:id="rId15"/>
    <p:sldId id="530" r:id="rId16"/>
    <p:sldId id="540" r:id="rId17"/>
    <p:sldId id="541" r:id="rId18"/>
    <p:sldId id="542" r:id="rId19"/>
    <p:sldId id="543" r:id="rId20"/>
    <p:sldId id="544" r:id="rId21"/>
    <p:sldId id="545" r:id="rId22"/>
    <p:sldId id="546" r:id="rId23"/>
    <p:sldId id="547" r:id="rId24"/>
    <p:sldId id="548" r:id="rId25"/>
    <p:sldId id="553" r:id="rId26"/>
    <p:sldId id="549" r:id="rId27"/>
    <p:sldId id="550" r:id="rId28"/>
    <p:sldId id="531" r:id="rId29"/>
    <p:sldId id="532" r:id="rId30"/>
    <p:sldId id="533" r:id="rId31"/>
    <p:sldId id="534" r:id="rId32"/>
    <p:sldId id="535" r:id="rId33"/>
    <p:sldId id="551" r:id="rId34"/>
    <p:sldId id="426" r:id="rId35"/>
    <p:sldId id="428" r:id="rId36"/>
    <p:sldId id="427" r:id="rId37"/>
    <p:sldId id="429" r:id="rId38"/>
    <p:sldId id="513" r:id="rId39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C0128"/>
    <a:srgbClr val="FFFFCC"/>
    <a:srgbClr val="FFFF99"/>
    <a:srgbClr val="99FF99"/>
    <a:srgbClr val="99CCFF"/>
    <a:srgbClr val="FFFF00"/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67" autoAdjust="0"/>
    <p:restoredTop sz="83126" autoAdjust="0"/>
  </p:normalViewPr>
  <p:slideViewPr>
    <p:cSldViewPr>
      <p:cViewPr varScale="1">
        <p:scale>
          <a:sx n="61" d="100"/>
          <a:sy n="61" d="100"/>
        </p:scale>
        <p:origin x="1746" y="66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7.xml"/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734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44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46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9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2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7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75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64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9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7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663B8454-B0B4-407D-A342-FBE3F87F6E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51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sa-server.cs.vt.edu/embed/mergesortAV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200" dirty="0" smtClean="0"/>
              <a:t>Merge Sort &amp; Recurrence Relation</a:t>
            </a:r>
          </a:p>
          <a:p>
            <a:pPr>
              <a:lnSpc>
                <a:spcPct val="80000"/>
              </a:lnSpc>
            </a:pPr>
            <a:endParaRPr lang="en-US" altLang="en-US" sz="3200" dirty="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Merge sort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8229600" cy="5486400"/>
          </a:xfrm>
        </p:spPr>
        <p:txBody>
          <a:bodyPr/>
          <a:lstStyle/>
          <a:p>
            <a:r>
              <a:rPr lang="en-US" altLang="en-US" b="0" dirty="0" smtClean="0"/>
              <a:t>The </a:t>
            </a:r>
            <a:r>
              <a:rPr lang="en-US" altLang="en-US" i="1" dirty="0" smtClean="0"/>
              <a:t>merge sort </a:t>
            </a:r>
            <a:r>
              <a:rPr lang="en-US" altLang="en-US" b="0" dirty="0" smtClean="0"/>
              <a:t>algorithm closely follows the </a:t>
            </a:r>
            <a:r>
              <a:rPr lang="en-US" altLang="en-US" dirty="0" smtClean="0">
                <a:solidFill>
                  <a:srgbClr val="00B050"/>
                </a:solidFill>
              </a:rPr>
              <a:t>divide-and-conquer paradigm</a:t>
            </a:r>
            <a:r>
              <a:rPr lang="en-US" altLang="en-US" b="0" dirty="0" smtClean="0"/>
              <a:t>. Intuitively,</a:t>
            </a:r>
          </a:p>
          <a:p>
            <a:r>
              <a:rPr lang="en-US" altLang="en-US" b="0" dirty="0" smtClean="0"/>
              <a:t>it operates as follows.</a:t>
            </a:r>
          </a:p>
          <a:p>
            <a:r>
              <a:rPr lang="en-US" altLang="en-US" dirty="0" smtClean="0">
                <a:solidFill>
                  <a:srgbClr val="FF0000"/>
                </a:solidFill>
              </a:rPr>
              <a:t>Divide: </a:t>
            </a:r>
            <a:r>
              <a:rPr lang="en-US" altLang="en-US" b="0" dirty="0" smtClean="0"/>
              <a:t>Divide the n-element sequence to be sorted into two subsequences of n=2 elements each.</a:t>
            </a:r>
          </a:p>
          <a:p>
            <a:r>
              <a:rPr lang="en-US" altLang="en-US" dirty="0" smtClean="0">
                <a:solidFill>
                  <a:srgbClr val="FF0000"/>
                </a:solidFill>
              </a:rPr>
              <a:t>Conquer</a:t>
            </a:r>
            <a:r>
              <a:rPr lang="en-US" altLang="en-US" dirty="0" smtClean="0"/>
              <a:t>: </a:t>
            </a:r>
            <a:r>
              <a:rPr lang="en-US" altLang="en-US" b="0" dirty="0" smtClean="0"/>
              <a:t>Sort the two subsequences recursively using merge sort.</a:t>
            </a:r>
          </a:p>
          <a:p>
            <a:r>
              <a:rPr lang="en-US" altLang="en-US" dirty="0" smtClean="0">
                <a:solidFill>
                  <a:srgbClr val="FF0000"/>
                </a:solidFill>
              </a:rPr>
              <a:t>Combine: </a:t>
            </a:r>
            <a:r>
              <a:rPr lang="en-US" altLang="en-US" b="0" dirty="0" smtClean="0"/>
              <a:t>Merge the two sorted subsequences to produce the sorted answer.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Merge Sort (Divide and Conquer)</a:t>
            </a:r>
          </a:p>
        </p:txBody>
      </p:sp>
      <p:pic>
        <p:nvPicPr>
          <p:cNvPr id="5123" name="Content Placeholder 4" descr="Screen shot 2011-01-20 at 3.50.0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3" r="-1593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smtClean="0"/>
              <a:t>Key Operation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smtClean="0"/>
              <a:t>The key operation of the merge sort algorithm is the merging of two sorted sequences in the “combine” step.</a:t>
            </a:r>
          </a:p>
          <a:p>
            <a:r>
              <a:rPr lang="en-US" altLang="en-US" b="0" smtClean="0"/>
              <a:t>We merge by calling an auxiliary procedure</a:t>
            </a:r>
          </a:p>
          <a:p>
            <a:r>
              <a:rPr lang="en-US" altLang="en-US" b="0" smtClean="0">
                <a:solidFill>
                  <a:srgbClr val="FF0000"/>
                </a:solidFill>
              </a:rPr>
              <a:t>MERGE (A, p, q, r</a:t>
            </a:r>
            <a:r>
              <a:rPr lang="en-US" altLang="en-US" b="0" smtClean="0"/>
              <a:t>), where A is an array and p, q, and r are indices into the array such that p≤ q &lt; r. </a:t>
            </a:r>
          </a:p>
          <a:p>
            <a:r>
              <a:rPr lang="en-US" altLang="en-US" b="0" smtClean="0"/>
              <a:t>The procedure assumes that the subarrays A[p..q] and A[q+1.. r] are in sorted order.</a:t>
            </a:r>
          </a:p>
          <a:p>
            <a:r>
              <a:rPr lang="en-US" altLang="en-US" b="0" smtClean="0"/>
              <a:t> It </a:t>
            </a:r>
            <a:r>
              <a:rPr lang="en-US" altLang="en-US" i="1" smtClean="0"/>
              <a:t>merges </a:t>
            </a:r>
            <a:r>
              <a:rPr lang="en-US" altLang="en-US" b="0" smtClean="0"/>
              <a:t>them to form a single sorted subarray that replaces the current subarray A[p..r]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</a:t>
            </a:r>
            <a:r>
              <a:rPr lang="en-US" dirty="0" err="1" smtClean="0"/>
              <a:t>MergeSort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https://opendsa-server.cs.vt.edu/embed/mergesortAV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</p:spPr>
        <p:txBody>
          <a:bodyPr/>
          <a:lstStyle/>
          <a:p>
            <a:r>
              <a:rPr lang="en-US" altLang="en-US" smtClean="0"/>
              <a:t>Example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7772400" cy="914400"/>
          </a:xfrm>
        </p:spPr>
        <p:txBody>
          <a:bodyPr/>
          <a:lstStyle/>
          <a:p>
            <a:r>
              <a:rPr lang="en-US" altLang="en-US" smtClean="0"/>
              <a:t>Partition into lists of size n/2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2293938" y="3355975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[10, 4, 6, 3]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2244725" y="2303463"/>
            <a:ext cx="282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[10, 4, 6, 3, 8, 2, 5, 7]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5511800" y="3422650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[8, 2, 5, 7]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366963" y="4611688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[10, 4]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3598863" y="459263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[6, 3]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5270500" y="4570413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[8, 2]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6808788" y="4614863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[5, 7]</a:t>
            </a:r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3014663" y="2752725"/>
            <a:ext cx="0" cy="67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3460750" y="2762250"/>
            <a:ext cx="2727325" cy="66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 flipH="1">
            <a:off x="2779713" y="3854450"/>
            <a:ext cx="244475" cy="760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3241675" y="3854450"/>
            <a:ext cx="717550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 flipH="1">
            <a:off x="5732463" y="3906838"/>
            <a:ext cx="420687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6327775" y="3906838"/>
            <a:ext cx="83820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2333625" y="5435600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[4] [10]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3567113" y="5462588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[3][6]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5275263" y="5465763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[2][8]</a:t>
            </a:r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6784975" y="5457825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[5][7]</a:t>
            </a:r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H="1">
            <a:off x="2690813" y="5076825"/>
            <a:ext cx="14922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Line 22"/>
          <p:cNvSpPr>
            <a:spLocks noChangeShapeType="1"/>
          </p:cNvSpPr>
          <p:nvPr/>
        </p:nvSpPr>
        <p:spPr bwMode="auto">
          <a:xfrm>
            <a:off x="2987675" y="5086350"/>
            <a:ext cx="122238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 flipH="1">
            <a:off x="3810000" y="5111750"/>
            <a:ext cx="174625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4062413" y="5111750"/>
            <a:ext cx="141287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 flipH="1">
            <a:off x="5540375" y="5059363"/>
            <a:ext cx="1571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5775325" y="5068888"/>
            <a:ext cx="131763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 flipH="1">
            <a:off x="7069138" y="5111750"/>
            <a:ext cx="14922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7278688" y="5111750"/>
            <a:ext cx="122237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3567113" y="1828800"/>
            <a:ext cx="242887" cy="703263"/>
          </a:xfrm>
          <a:prstGeom prst="straightConnector1">
            <a:avLst/>
          </a:prstGeom>
          <a:ln>
            <a:solidFill>
              <a:srgbClr val="FC0128"/>
            </a:solidFill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 altLang="en-US" smtClean="0"/>
              <a:t>Example Cont’d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762000"/>
          </a:xfrm>
        </p:spPr>
        <p:txBody>
          <a:bodyPr/>
          <a:lstStyle/>
          <a:p>
            <a:r>
              <a:rPr lang="en-US" altLang="en-US" smtClean="0"/>
              <a:t>Merge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390775" y="3548063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[3, 4, 6, 10]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341563" y="2495550"/>
            <a:ext cx="290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[2, 3, 4, 5, 6, 7, 8, 10 ]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608638" y="3614738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[2, 5, 7, 8]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463800" y="4803775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[4, 10]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3695700" y="4784725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[3, 6]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367338" y="47625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[2, 8]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6905625" y="480695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[5, 7]</a:t>
            </a: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H="1">
            <a:off x="5829300" y="4098925"/>
            <a:ext cx="420688" cy="681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6424613" y="4098925"/>
            <a:ext cx="838200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 flipV="1">
            <a:off x="2927350" y="4133850"/>
            <a:ext cx="184150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H="1" flipV="1">
            <a:off x="3400425" y="4141788"/>
            <a:ext cx="706438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V="1">
            <a:off x="3189288" y="2954338"/>
            <a:ext cx="463550" cy="611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 flipH="1" flipV="1">
            <a:off x="4116388" y="2997200"/>
            <a:ext cx="2166937" cy="611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2430463" y="5627688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[4] [10]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3663950" y="5654675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[3][6]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5372100" y="565785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[2][8]</a:t>
            </a:r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6881813" y="5649913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[5][7]</a:t>
            </a:r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V="1">
            <a:off x="2709863" y="5286375"/>
            <a:ext cx="182562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 flipH="1" flipV="1">
            <a:off x="3067050" y="5313363"/>
            <a:ext cx="131763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5" name="Line 23"/>
          <p:cNvSpPr>
            <a:spLocks noChangeShapeType="1"/>
          </p:cNvSpPr>
          <p:nvPr/>
        </p:nvSpPr>
        <p:spPr bwMode="auto">
          <a:xfrm flipV="1">
            <a:off x="3897313" y="5286375"/>
            <a:ext cx="157162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6" name="Line 24"/>
          <p:cNvSpPr>
            <a:spLocks noChangeShapeType="1"/>
          </p:cNvSpPr>
          <p:nvPr/>
        </p:nvSpPr>
        <p:spPr bwMode="auto">
          <a:xfrm flipH="1" flipV="1">
            <a:off x="4194175" y="5303838"/>
            <a:ext cx="106363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7" name="Line 25"/>
          <p:cNvSpPr>
            <a:spLocks noChangeShapeType="1"/>
          </p:cNvSpPr>
          <p:nvPr/>
        </p:nvSpPr>
        <p:spPr bwMode="auto">
          <a:xfrm flipV="1">
            <a:off x="5567363" y="5295900"/>
            <a:ext cx="16510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8" name="Line 26"/>
          <p:cNvSpPr>
            <a:spLocks noChangeShapeType="1"/>
          </p:cNvSpPr>
          <p:nvPr/>
        </p:nvSpPr>
        <p:spPr bwMode="auto">
          <a:xfrm flipH="1" flipV="1">
            <a:off x="5864225" y="5313363"/>
            <a:ext cx="112713" cy="392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9" name="Line 27"/>
          <p:cNvSpPr>
            <a:spLocks noChangeShapeType="1"/>
          </p:cNvSpPr>
          <p:nvPr/>
        </p:nvSpPr>
        <p:spPr bwMode="auto">
          <a:xfrm flipV="1">
            <a:off x="7140575" y="5303838"/>
            <a:ext cx="139700" cy="376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0" name="Line 28"/>
          <p:cNvSpPr>
            <a:spLocks noChangeShapeType="1"/>
          </p:cNvSpPr>
          <p:nvPr/>
        </p:nvSpPr>
        <p:spPr bwMode="auto">
          <a:xfrm flipH="1" flipV="1">
            <a:off x="7419975" y="5321300"/>
            <a:ext cx="13017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"/>
            <a:ext cx="7391400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4495800"/>
            <a:ext cx="2608263" cy="646113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Reference: Pg#31</a:t>
            </a:r>
          </a:p>
          <a:p>
            <a:pPr>
              <a:defRPr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 to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Merge-Sort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614362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Analysis of Merge Sort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64770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2800"/>
            <a:ext cx="89916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i="0" smtClean="0"/>
              <a:t>Worst-case running time T(n) of Merge sort: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352800"/>
            <a:ext cx="7848600" cy="18288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b="0" dirty="0" smtClean="0"/>
              <a:t>Merge sort</a:t>
            </a:r>
            <a:r>
              <a:rPr lang="en-US" b="0" dirty="0"/>
              <a:t>, with its  </a:t>
            </a:r>
            <a:r>
              <a:rPr lang="el-GR" b="0" dirty="0" smtClean="0">
                <a:latin typeface="Times New Roman"/>
                <a:cs typeface="Times New Roman"/>
              </a:rPr>
              <a:t>θ</a:t>
            </a:r>
            <a:r>
              <a:rPr lang="en-US" b="0" dirty="0" smtClean="0">
                <a:latin typeface="Times New Roman"/>
                <a:cs typeface="Times New Roman"/>
              </a:rPr>
              <a:t> (</a:t>
            </a:r>
            <a:r>
              <a:rPr lang="en-US" b="0" dirty="0" smtClean="0"/>
              <a:t>n </a:t>
            </a:r>
            <a:r>
              <a:rPr lang="en-US" b="0" dirty="0" err="1"/>
              <a:t>lg</a:t>
            </a:r>
            <a:r>
              <a:rPr lang="en-US" b="0" dirty="0"/>
              <a:t> </a:t>
            </a:r>
            <a:r>
              <a:rPr lang="en-US" b="0" dirty="0" smtClean="0"/>
              <a:t>n) </a:t>
            </a:r>
            <a:r>
              <a:rPr lang="en-US" b="0" dirty="0"/>
              <a:t>running time, outperforms insertion sort, whose </a:t>
            </a:r>
            <a:r>
              <a:rPr lang="en-US" b="0" dirty="0" smtClean="0"/>
              <a:t>running time </a:t>
            </a:r>
            <a:r>
              <a:rPr lang="en-US" b="0" dirty="0"/>
              <a:t>is </a:t>
            </a:r>
            <a:r>
              <a:rPr lang="en-US" b="0" dirty="0" smtClean="0">
                <a:latin typeface="Times New Roman"/>
                <a:cs typeface="Times New Roman"/>
              </a:rPr>
              <a:t>θ (</a:t>
            </a:r>
            <a:r>
              <a:rPr lang="en-US" b="0" dirty="0" smtClean="0"/>
              <a:t>n</a:t>
            </a:r>
            <a:r>
              <a:rPr lang="en-US" b="0" baseline="30000" dirty="0" smtClean="0"/>
              <a:t>2</a:t>
            </a:r>
            <a:r>
              <a:rPr lang="en-US" b="0" dirty="0"/>
              <a:t>)</a:t>
            </a:r>
            <a:r>
              <a:rPr lang="en-US" b="0" dirty="0" smtClean="0"/>
              <a:t>, </a:t>
            </a:r>
            <a:r>
              <a:rPr lang="en-US" b="0" dirty="0"/>
              <a:t>in the worst </a:t>
            </a:r>
            <a:r>
              <a:rPr lang="en-US" b="0" dirty="0" smtClean="0"/>
              <a:t>case.</a:t>
            </a:r>
            <a:endParaRPr lang="en-US" dirty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71707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Analysis of Merge Sort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143000"/>
            <a:ext cx="7848600" cy="35052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0" dirty="0" smtClean="0">
                <a:solidFill>
                  <a:srgbClr val="FF0000"/>
                </a:solidFill>
              </a:rPr>
              <a:t>?</a:t>
            </a:r>
            <a:endParaRPr lang="en-US" sz="2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1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/>
              <a:t>Recurrences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The expression: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is a </a:t>
            </a:r>
            <a:r>
              <a:rPr lang="en-US" altLang="en-US" i="1" smtClean="0">
                <a:solidFill>
                  <a:schemeClr val="tx2"/>
                </a:solidFill>
              </a:rPr>
              <a:t>recurrence</a:t>
            </a:r>
            <a:r>
              <a:rPr lang="en-US" altLang="en-US" smtClean="0"/>
              <a:t>.</a:t>
            </a:r>
          </a:p>
          <a:p>
            <a:pPr lvl="1"/>
            <a:r>
              <a:rPr lang="en-US" altLang="en-US" smtClean="0"/>
              <a:t>Recurrence: an equation that describes a function in terms of its value on smaller functions</a:t>
            </a: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676400" y="1676400"/>
          <a:ext cx="41910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5" name="Equation" r:id="rId3" imgW="1675673" imgH="863225" progId="Equation.3">
                  <p:embed/>
                </p:oleObj>
              </mc:Choice>
              <mc:Fallback>
                <p:oleObj name="Equation" r:id="rId3" imgW="1675673" imgH="863225" progId="Equation.3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76400"/>
                        <a:ext cx="419100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659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Recurrence Examples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52400" y="1905000"/>
          <a:ext cx="40227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4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05000"/>
                        <a:ext cx="4022725" cy="1141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4965700" y="1905000"/>
          <a:ext cx="40671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5" name="Equation" r:id="rId5" imgW="1625600" imgH="457200" progId="Equation.3">
                  <p:embed/>
                </p:oleObj>
              </mc:Choice>
              <mc:Fallback>
                <p:oleObj name="Equation" r:id="rId5" imgW="1625600" imgH="45720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1905000"/>
                        <a:ext cx="4067175" cy="11445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76200" y="3657600"/>
          <a:ext cx="4648200" cy="258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6" name="Equation" r:id="rId7" imgW="1600200" imgH="863600" progId="Equation.3">
                  <p:embed/>
                </p:oleObj>
              </mc:Choice>
              <mc:Fallback>
                <p:oleObj name="Equation" r:id="rId7" imgW="1600200" imgH="863600" progId="Equation.3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657600"/>
                        <a:ext cx="4648200" cy="2589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4953000" y="3657600"/>
          <a:ext cx="4114800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7" name="Equation" r:id="rId9" imgW="1688367" imgH="1040948" progId="Equation.3">
                  <p:embed/>
                </p:oleObj>
              </mc:Choice>
              <mc:Fallback>
                <p:oleObj name="Equation" r:id="rId9" imgW="1688367" imgH="1040948" progId="Equation.3">
                  <p:embed/>
                  <p:pic>
                    <p:nvPicPr>
                      <p:cNvPr id="4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657600"/>
                        <a:ext cx="4114800" cy="26098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10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 sz="2400" dirty="0" smtClean="0">
                <a:solidFill>
                  <a:srgbClr val="000066"/>
                </a:solidFill>
              </a:rPr>
              <a:t>Function(</a:t>
            </a:r>
            <a:r>
              <a:rPr lang="en-US" altLang="en-US" sz="2400" dirty="0" err="1" smtClean="0">
                <a:solidFill>
                  <a:srgbClr val="000066"/>
                </a:solidFill>
              </a:rPr>
              <a:t>int</a:t>
            </a:r>
            <a:r>
              <a:rPr lang="en-US" altLang="en-US" sz="2400" dirty="0" smtClean="0">
                <a:solidFill>
                  <a:srgbClr val="000066"/>
                </a:solidFill>
              </a:rPr>
              <a:t> number)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 smtClean="0"/>
              <a:t>if number&lt;=1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 smtClean="0"/>
              <a:t>   then return;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 smtClean="0"/>
              <a:t>else</a:t>
            </a:r>
            <a:endParaRPr lang="en-US" altLang="en-US" sz="1800" dirty="0" smtClean="0">
              <a:sym typeface="Wingdings" panose="05000000000000000000" pitchFamily="2" charset="2"/>
            </a:endParaRPr>
          </a:p>
          <a:p>
            <a:pPr marL="990600" lvl="1" indent="-533400">
              <a:buFontTx/>
              <a:buNone/>
            </a:pPr>
            <a:r>
              <a:rPr lang="en-US" altLang="en-US" sz="1800" dirty="0" smtClean="0">
                <a:sym typeface="Wingdings" panose="05000000000000000000" pitchFamily="2" charset="2"/>
              </a:rPr>
              <a:t>      	Function(number/2)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 smtClean="0">
                <a:sym typeface="Wingdings" panose="05000000000000000000" pitchFamily="2" charset="2"/>
              </a:rPr>
              <a:t>     	Function(number/2)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 smtClean="0">
                <a:sym typeface="Wingdings" panose="05000000000000000000" pitchFamily="2" charset="2"/>
              </a:rPr>
              <a:t>      for(</a:t>
            </a:r>
            <a:r>
              <a:rPr lang="en-US" altLang="en-US" sz="1800" dirty="0" err="1" smtClean="0">
                <a:sym typeface="Wingdings" panose="05000000000000000000" pitchFamily="2" charset="2"/>
              </a:rPr>
              <a:t>i</a:t>
            </a:r>
            <a:r>
              <a:rPr lang="en-US" altLang="en-US" sz="1800" dirty="0" smtClean="0">
                <a:sym typeface="Wingdings" panose="05000000000000000000" pitchFamily="2" charset="2"/>
              </a:rPr>
              <a:t>=1 to number )</a:t>
            </a:r>
          </a:p>
          <a:p>
            <a:pPr marL="2209800" lvl="4" indent="-381000">
              <a:buFontTx/>
              <a:buNone/>
            </a:pPr>
            <a:r>
              <a:rPr lang="en-US" altLang="en-US" sz="1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Display </a:t>
            </a:r>
            <a:r>
              <a:rPr lang="en-US" altLang="en-US" sz="1800" dirty="0" err="1" smtClean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en-US" sz="1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;</a:t>
            </a:r>
          </a:p>
          <a:p>
            <a:pPr marL="609600" indent="-609600">
              <a:buFontTx/>
              <a:buNone/>
            </a:pPr>
            <a:r>
              <a:rPr lang="en-US" altLang="en-US" sz="2400" i="1" dirty="0" smtClean="0">
                <a:sym typeface="Wingdings" panose="05000000000000000000" pitchFamily="2" charset="2"/>
              </a:rPr>
              <a:t>It follows that</a:t>
            </a:r>
          </a:p>
          <a:p>
            <a:pPr marL="609600" indent="-609600" algn="ctr">
              <a:buFontTx/>
              <a:buNone/>
            </a:pPr>
            <a:r>
              <a:rPr lang="en-US" altLang="en-US" sz="2400" dirty="0" smtClean="0"/>
              <a:t>T(n) = </a:t>
            </a:r>
            <a:r>
              <a:rPr lang="en-US" altLang="en-US" sz="2400" dirty="0" smtClean="0">
                <a:solidFill>
                  <a:srgbClr val="3333FF"/>
                </a:solidFill>
              </a:rPr>
              <a:t>2</a:t>
            </a:r>
            <a:r>
              <a:rPr lang="en-US" altLang="en-US" sz="2400" dirty="0" smtClean="0"/>
              <a:t> T(</a:t>
            </a:r>
            <a:r>
              <a:rPr lang="en-US" altLang="en-US" sz="2400" dirty="0" smtClean="0">
                <a:solidFill>
                  <a:srgbClr val="3333FF"/>
                </a:solidFill>
              </a:rPr>
              <a:t>n/2</a:t>
            </a:r>
            <a:r>
              <a:rPr lang="en-US" altLang="en-US" sz="2400" dirty="0" smtClean="0"/>
              <a:t>)+  </a:t>
            </a:r>
            <a:r>
              <a:rPr lang="en-US" altLang="en-US" sz="2400" dirty="0" err="1" smtClean="0"/>
              <a:t>cn</a:t>
            </a:r>
            <a:endParaRPr lang="en-US" altLang="en-US" sz="2400" dirty="0" smtClean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438400" y="4876800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number of sub-problems</a:t>
            </a: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42672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4648200" y="5029200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Sub-problem size</a:t>
            </a:r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flipV="1">
            <a:off x="48768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6934200" y="4038600"/>
            <a:ext cx="1600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work done dividing and combining</a:t>
            </a: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5562600" y="426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 flipH="1">
            <a:off x="6096000" y="4572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4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object 3"/>
          <p:cNvSpPr txBox="1"/>
          <p:nvPr/>
        </p:nvSpPr>
        <p:spPr>
          <a:xfrm>
            <a:off x="1527175" y="509588"/>
            <a:ext cx="3514725" cy="6953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4400" b="1" spc="-5" dirty="0">
                <a:latin typeface="Times New Roman"/>
                <a:cs typeface="Times New Roman"/>
              </a:rPr>
              <a:t>Recursion</a:t>
            </a:r>
            <a:r>
              <a:rPr sz="4400" b="1" spc="-70" dirty="0">
                <a:latin typeface="Times New Roman"/>
                <a:cs typeface="Times New Roman"/>
              </a:rPr>
              <a:t> </a:t>
            </a:r>
            <a:r>
              <a:rPr sz="4400" b="1" spc="-5" dirty="0">
                <a:latin typeface="Times New Roman"/>
                <a:cs typeface="Times New Roman"/>
              </a:rPr>
              <a:t>tree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815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738" y="1382713"/>
            <a:ext cx="8261350" cy="1358900"/>
          </a:xfrm>
          <a:prstGeom prst="rect">
            <a:avLst/>
          </a:prstGeom>
        </p:spPr>
        <p:txBody>
          <a:bodyPr lIns="0" tIns="191770" rIns="0" bIns="0">
            <a:spAutoFit/>
          </a:bodyPr>
          <a:lstStyle/>
          <a:p>
            <a:pPr algn="ctr">
              <a:spcBef>
                <a:spcPts val="15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4445" algn="ctr">
              <a:spcBef>
                <a:spcPts val="14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65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25604" name="object 4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5" name="object 5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6" name="object 6"/>
          <p:cNvSpPr>
            <a:spLocks/>
          </p:cNvSpPr>
          <p:nvPr/>
        </p:nvSpPr>
        <p:spPr bwMode="auto">
          <a:xfrm>
            <a:off x="2362200" y="2911475"/>
            <a:ext cx="1198563" cy="579438"/>
          </a:xfrm>
          <a:custGeom>
            <a:avLst/>
            <a:gdLst>
              <a:gd name="T0" fmla="*/ 0 w 1198879"/>
              <a:gd name="T1" fmla="*/ 0 h 579754"/>
              <a:gd name="T2" fmla="*/ 1198562 w 1198879"/>
              <a:gd name="T3" fmla="*/ 0 h 579754"/>
              <a:gd name="T4" fmla="*/ 1198562 w 1198879"/>
              <a:gd name="T5" fmla="*/ 579437 h 579754"/>
              <a:gd name="T6" fmla="*/ 0 w 1198879"/>
              <a:gd name="T7" fmla="*/ 579437 h 579754"/>
              <a:gd name="T8" fmla="*/ 0 w 1198879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2441575" y="2930525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608" name="object 8"/>
          <p:cNvSpPr>
            <a:spLocks/>
          </p:cNvSpPr>
          <p:nvPr/>
        </p:nvSpPr>
        <p:spPr bwMode="auto">
          <a:xfrm>
            <a:off x="5583238" y="2895600"/>
            <a:ext cx="1198562" cy="579438"/>
          </a:xfrm>
          <a:custGeom>
            <a:avLst/>
            <a:gdLst>
              <a:gd name="T0" fmla="*/ 0 w 1198879"/>
              <a:gd name="T1" fmla="*/ 0 h 579754"/>
              <a:gd name="T2" fmla="*/ 1198562 w 1198879"/>
              <a:gd name="T3" fmla="*/ 0 h 579754"/>
              <a:gd name="T4" fmla="*/ 1198562 w 1198879"/>
              <a:gd name="T5" fmla="*/ 579437 h 579754"/>
              <a:gd name="T6" fmla="*/ 0 w 1198879"/>
              <a:gd name="T7" fmla="*/ 579437 h 579754"/>
              <a:gd name="T8" fmla="*/ 0 w 1198879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object 9"/>
          <p:cNvSpPr txBox="1"/>
          <p:nvPr/>
        </p:nvSpPr>
        <p:spPr>
          <a:xfrm>
            <a:off x="5662613" y="2914650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610" name="object 10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813882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26628" name="object 4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29" name="object 5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0" name="object 6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632" name="object 8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3" name="object 9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4" name="object 10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5" name="object 11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6" name="object 12"/>
          <p:cNvSpPr>
            <a:spLocks/>
          </p:cNvSpPr>
          <p:nvPr/>
        </p:nvSpPr>
        <p:spPr bwMode="auto">
          <a:xfrm>
            <a:off x="1524000" y="3733800"/>
            <a:ext cx="1198563" cy="579438"/>
          </a:xfrm>
          <a:custGeom>
            <a:avLst/>
            <a:gdLst>
              <a:gd name="T0" fmla="*/ 0 w 1198880"/>
              <a:gd name="T1" fmla="*/ 0 h 579754"/>
              <a:gd name="T2" fmla="*/ 1198562 w 1198880"/>
              <a:gd name="T3" fmla="*/ 0 h 579754"/>
              <a:gd name="T4" fmla="*/ 1198562 w 1198880"/>
              <a:gd name="T5" fmla="*/ 579437 h 579754"/>
              <a:gd name="T6" fmla="*/ 0 w 1198880"/>
              <a:gd name="T7" fmla="*/ 579437 h 579754"/>
              <a:gd name="T8" fmla="*/ 0 w 119888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8880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object 13"/>
          <p:cNvSpPr txBox="1"/>
          <p:nvPr/>
        </p:nvSpPr>
        <p:spPr>
          <a:xfrm>
            <a:off x="1603375" y="3752850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638" name="object 14"/>
          <p:cNvSpPr>
            <a:spLocks/>
          </p:cNvSpPr>
          <p:nvPr/>
        </p:nvSpPr>
        <p:spPr bwMode="auto">
          <a:xfrm>
            <a:off x="3175000" y="3733800"/>
            <a:ext cx="1198563" cy="579438"/>
          </a:xfrm>
          <a:custGeom>
            <a:avLst/>
            <a:gdLst>
              <a:gd name="T0" fmla="*/ 0 w 1198879"/>
              <a:gd name="T1" fmla="*/ 0 h 579754"/>
              <a:gd name="T2" fmla="*/ 1198562 w 1198879"/>
              <a:gd name="T3" fmla="*/ 0 h 579754"/>
              <a:gd name="T4" fmla="*/ 1198562 w 1198879"/>
              <a:gd name="T5" fmla="*/ 579437 h 579754"/>
              <a:gd name="T6" fmla="*/ 0 w 1198879"/>
              <a:gd name="T7" fmla="*/ 579437 h 579754"/>
              <a:gd name="T8" fmla="*/ 0 w 1198879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object 15"/>
          <p:cNvSpPr txBox="1"/>
          <p:nvPr/>
        </p:nvSpPr>
        <p:spPr>
          <a:xfrm>
            <a:off x="3254375" y="3752850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640" name="object 16"/>
          <p:cNvSpPr>
            <a:spLocks/>
          </p:cNvSpPr>
          <p:nvPr/>
        </p:nvSpPr>
        <p:spPr bwMode="auto">
          <a:xfrm>
            <a:off x="4724400" y="3732213"/>
            <a:ext cx="1198563" cy="579437"/>
          </a:xfrm>
          <a:custGeom>
            <a:avLst/>
            <a:gdLst>
              <a:gd name="T0" fmla="*/ 0 w 1198879"/>
              <a:gd name="T1" fmla="*/ 0 h 579754"/>
              <a:gd name="T2" fmla="*/ 1198562 w 1198879"/>
              <a:gd name="T3" fmla="*/ 0 h 579754"/>
              <a:gd name="T4" fmla="*/ 1198562 w 1198879"/>
              <a:gd name="T5" fmla="*/ 579437 h 579754"/>
              <a:gd name="T6" fmla="*/ 0 w 1198879"/>
              <a:gd name="T7" fmla="*/ 579437 h 579754"/>
              <a:gd name="T8" fmla="*/ 0 w 1198879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object 17"/>
          <p:cNvSpPr txBox="1"/>
          <p:nvPr/>
        </p:nvSpPr>
        <p:spPr>
          <a:xfrm>
            <a:off x="4803775" y="3751263"/>
            <a:ext cx="10414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642" name="object 18"/>
          <p:cNvSpPr>
            <a:spLocks/>
          </p:cNvSpPr>
          <p:nvPr/>
        </p:nvSpPr>
        <p:spPr bwMode="auto">
          <a:xfrm>
            <a:off x="6375400" y="3732213"/>
            <a:ext cx="1198563" cy="579437"/>
          </a:xfrm>
          <a:custGeom>
            <a:avLst/>
            <a:gdLst>
              <a:gd name="T0" fmla="*/ 0 w 1198879"/>
              <a:gd name="T1" fmla="*/ 0 h 579754"/>
              <a:gd name="T2" fmla="*/ 1198562 w 1198879"/>
              <a:gd name="T3" fmla="*/ 0 h 579754"/>
              <a:gd name="T4" fmla="*/ 1198562 w 1198879"/>
              <a:gd name="T5" fmla="*/ 579437 h 579754"/>
              <a:gd name="T6" fmla="*/ 0 w 1198879"/>
              <a:gd name="T7" fmla="*/ 579437 h 579754"/>
              <a:gd name="T8" fmla="*/ 0 w 1198879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6454775" y="3751263"/>
            <a:ext cx="10414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644" name="object 20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646" name="object 22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object 23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972848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27652" name="object 4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3" name="object 5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4" name="object 6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5" name="object 7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57" name="object 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8" name="object 1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9" name="object 1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0" name="object 1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1" name="object 1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object 1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63" name="object 1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65" name="object 1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object 18"/>
          <p:cNvSpPr txBox="1"/>
          <p:nvPr/>
        </p:nvSpPr>
        <p:spPr>
          <a:xfrm>
            <a:off x="4959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67" name="object 19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6610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69" name="object 21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71" name="object 23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73" name="object 25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675" name="object 27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76" name="object 28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621046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28676" name="object 4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7" name="object 5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8" name="object 6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9" name="object 7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81" name="object 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2" name="object 1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3" name="object 1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4" name="object 1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5" name="object 1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object 1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87" name="object 1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89" name="object 1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object 18"/>
          <p:cNvSpPr txBox="1"/>
          <p:nvPr/>
        </p:nvSpPr>
        <p:spPr>
          <a:xfrm>
            <a:off x="4959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91" name="object 19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6610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93" name="object 21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95" name="object 23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97" name="object 25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699" name="object 27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0" name="object 28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1" name="object 29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2" name="object 30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8703" name="object 31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4" name="object 32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" name="object 33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0109388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699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0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1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2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29704" name="object 8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5" name="object 9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6" name="object 10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7" name="object 11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8" name="object 12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9" name="object 13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0" name="object 14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1" name="object 15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2" name="object 16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object 17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14" name="object 18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16" name="object 20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4959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18" name="object 22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object 23"/>
          <p:cNvSpPr txBox="1"/>
          <p:nvPr/>
        </p:nvSpPr>
        <p:spPr>
          <a:xfrm>
            <a:off x="6610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20" name="object 24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" name="object 25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22" name="object 26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object 27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24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726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27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marL="12700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3938904">
              <a:spcBef>
                <a:spcPts val="810"/>
              </a:spcBef>
              <a:tabLst>
                <a:tab pos="4589780" algn="l"/>
                <a:tab pos="7561580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	</a:t>
            </a:r>
            <a:r>
              <a:rPr sz="3200" i="1" u="dash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40746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3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4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6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729" name="object 9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6362 w 1376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0" name="object 10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1" name="object 11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2" name="object 12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3" name="object 13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4" name="object 14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5" name="object 15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6" name="object 16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7" name="object 17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8" name="object 18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740" name="object 20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742" name="object 22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43" name="object 23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4959350" y="3751263"/>
            <a:ext cx="2376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745" name="object 25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747" name="object 27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48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750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51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65625" y="1878013"/>
            <a:ext cx="4124325" cy="1549400"/>
          </a:xfrm>
          <a:prstGeom prst="rect">
            <a:avLst/>
          </a:prstGeom>
        </p:spPr>
        <p:txBody>
          <a:bodyPr lIns="0" tIns="287020" rIns="0" bIns="0">
            <a:spAutoFit/>
          </a:bodyPr>
          <a:lstStyle>
            <a:lvl1pPr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	</a:t>
            </a:r>
            <a:r>
              <a:rPr lang="en-US" altLang="en-US" sz="3200" i="1" u="sng">
                <a:solidFill>
                  <a:srgbClr val="009999"/>
                </a:solidFill>
                <a:cs typeface="Times New Roman" panose="02020603050405020304" pitchFamily="18" charset="0"/>
              </a:rPr>
              <a:t> 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 cn</a:t>
            </a:r>
            <a:endParaRPr lang="en-US" altLang="en-US" sz="3200"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r>
              <a:rPr lang="en-US" altLang="en-US" sz="3200">
                <a:solidFill>
                  <a:srgbClr val="009999"/>
                </a:solidFill>
                <a:cs typeface="Times New Roman" panose="02020603050405020304" pitchFamily="18" charset="0"/>
              </a:rPr>
              <a:t>/2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endParaRPr lang="en-US" altLang="en-US" sz="320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00825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47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8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49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0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753" name="object 9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787 w 58610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4" name="object 10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6362 w 1376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5" name="object 11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6" name="object 12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7" name="object 13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8" name="object 14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9" name="object 15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0" name="object 16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1" name="object 17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2" name="object 18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3" name="object 19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765" name="object 21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767" name="object 23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8" name="object 24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9" name="object 25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771" name="object 27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72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774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75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65625" y="1878013"/>
            <a:ext cx="4124325" cy="1549400"/>
          </a:xfrm>
          <a:prstGeom prst="rect">
            <a:avLst/>
          </a:prstGeom>
        </p:spPr>
        <p:txBody>
          <a:bodyPr lIns="0" tIns="287020" rIns="0" bIns="0">
            <a:spAutoFit/>
          </a:bodyPr>
          <a:lstStyle>
            <a:lvl1pPr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	</a:t>
            </a:r>
            <a:r>
              <a:rPr lang="en-US" altLang="en-US" sz="3200" i="1" u="sng">
                <a:solidFill>
                  <a:srgbClr val="009999"/>
                </a:solidFill>
                <a:cs typeface="Times New Roman" panose="02020603050405020304" pitchFamily="18" charset="0"/>
              </a:rPr>
              <a:t> 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 cn</a:t>
            </a:r>
            <a:endParaRPr lang="en-US" altLang="en-US" sz="3200"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r>
              <a:rPr lang="en-US" altLang="en-US" sz="3200">
                <a:solidFill>
                  <a:srgbClr val="009999"/>
                </a:solidFill>
                <a:cs typeface="Times New Roman" panose="02020603050405020304" pitchFamily="18" charset="0"/>
              </a:rPr>
              <a:t>/2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endParaRPr lang="en-US" altLang="en-US" sz="3200"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05474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1" name="object 3"/>
          <p:cNvSpPr>
            <a:spLocks/>
          </p:cNvSpPr>
          <p:nvPr/>
        </p:nvSpPr>
        <p:spPr bwMode="auto">
          <a:xfrm>
            <a:off x="2286000" y="5491163"/>
            <a:ext cx="990600" cy="0"/>
          </a:xfrm>
          <a:custGeom>
            <a:avLst/>
            <a:gdLst>
              <a:gd name="T0" fmla="*/ 0 w 990600"/>
              <a:gd name="T1" fmla="*/ 990600 w 99060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905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2" name="object 4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3" name="object 5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4" name="object 6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5" name="object 7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6" name="object 8"/>
          <p:cNvSpPr>
            <a:spLocks noChangeArrowheads="1"/>
          </p:cNvSpPr>
          <p:nvPr/>
        </p:nvSpPr>
        <p:spPr bwMode="auto">
          <a:xfrm>
            <a:off x="3500438" y="5253038"/>
            <a:ext cx="2295525" cy="6191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7" name="object 9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2184400 w 2286000"/>
              <a:gd name="T1" fmla="*/ 0 h 609600"/>
              <a:gd name="T2" fmla="*/ 101600 w 2286000"/>
              <a:gd name="T3" fmla="*/ 0 h 609600"/>
              <a:gd name="T4" fmla="*/ 62054 w 2286000"/>
              <a:gd name="T5" fmla="*/ 7984 h 609600"/>
              <a:gd name="T6" fmla="*/ 29759 w 2286000"/>
              <a:gd name="T7" fmla="*/ 29759 h 609600"/>
              <a:gd name="T8" fmla="*/ 7984 w 2286000"/>
              <a:gd name="T9" fmla="*/ 62054 h 609600"/>
              <a:gd name="T10" fmla="*/ 0 w 2286000"/>
              <a:gd name="T11" fmla="*/ 101600 h 609600"/>
              <a:gd name="T12" fmla="*/ 0 w 2286000"/>
              <a:gd name="T13" fmla="*/ 508000 h 609600"/>
              <a:gd name="T14" fmla="*/ 7984 w 2286000"/>
              <a:gd name="T15" fmla="*/ 547545 h 609600"/>
              <a:gd name="T16" fmla="*/ 29759 w 2286000"/>
              <a:gd name="T17" fmla="*/ 579840 h 609600"/>
              <a:gd name="T18" fmla="*/ 62054 w 2286000"/>
              <a:gd name="T19" fmla="*/ 601615 h 609600"/>
              <a:gd name="T20" fmla="*/ 101600 w 2286000"/>
              <a:gd name="T21" fmla="*/ 609600 h 609600"/>
              <a:gd name="T22" fmla="*/ 2184400 w 2286000"/>
              <a:gd name="T23" fmla="*/ 609600 h 609600"/>
              <a:gd name="T24" fmla="*/ 2223945 w 2286000"/>
              <a:gd name="T25" fmla="*/ 601615 h 609600"/>
              <a:gd name="T26" fmla="*/ 2256240 w 2286000"/>
              <a:gd name="T27" fmla="*/ 579840 h 609600"/>
              <a:gd name="T28" fmla="*/ 2278015 w 2286000"/>
              <a:gd name="T29" fmla="*/ 547545 h 609600"/>
              <a:gd name="T30" fmla="*/ 2286000 w 2286000"/>
              <a:gd name="T31" fmla="*/ 508000 h 609600"/>
              <a:gd name="T32" fmla="*/ 2286000 w 2286000"/>
              <a:gd name="T33" fmla="*/ 101600 h 609600"/>
              <a:gd name="T34" fmla="*/ 2278015 w 2286000"/>
              <a:gd name="T35" fmla="*/ 62054 h 609600"/>
              <a:gd name="T36" fmla="*/ 2256240 w 2286000"/>
              <a:gd name="T37" fmla="*/ 29759 h 609600"/>
              <a:gd name="T38" fmla="*/ 2223945 w 2286000"/>
              <a:gd name="T39" fmla="*/ 7984 h 609600"/>
              <a:gd name="T40" fmla="*/ 2184400 w 2286000"/>
              <a:gd name="T41" fmla="*/ 0 h 60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86000" h="609600">
                <a:moveTo>
                  <a:pt x="2184400" y="0"/>
                </a:moveTo>
                <a:lnTo>
                  <a:pt x="101600" y="0"/>
                </a:lnTo>
                <a:lnTo>
                  <a:pt x="62054" y="7984"/>
                </a:lnTo>
                <a:lnTo>
                  <a:pt x="29759" y="29759"/>
                </a:lnTo>
                <a:lnTo>
                  <a:pt x="7984" y="62054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45"/>
                </a:lnTo>
                <a:lnTo>
                  <a:pt x="29759" y="579840"/>
                </a:lnTo>
                <a:lnTo>
                  <a:pt x="62054" y="601615"/>
                </a:lnTo>
                <a:lnTo>
                  <a:pt x="101600" y="609600"/>
                </a:lnTo>
                <a:lnTo>
                  <a:pt x="2184400" y="609600"/>
                </a:lnTo>
                <a:lnTo>
                  <a:pt x="2223945" y="601615"/>
                </a:lnTo>
                <a:lnTo>
                  <a:pt x="2256240" y="579840"/>
                </a:lnTo>
                <a:lnTo>
                  <a:pt x="2278015" y="547545"/>
                </a:lnTo>
                <a:lnTo>
                  <a:pt x="2286000" y="508000"/>
                </a:lnTo>
                <a:lnTo>
                  <a:pt x="2286000" y="101600"/>
                </a:lnTo>
                <a:lnTo>
                  <a:pt x="2278015" y="62054"/>
                </a:lnTo>
                <a:lnTo>
                  <a:pt x="2256240" y="29759"/>
                </a:lnTo>
                <a:lnTo>
                  <a:pt x="2223945" y="7984"/>
                </a:lnTo>
                <a:lnTo>
                  <a:pt x="2184400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8" name="object 10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0 w 2286000"/>
              <a:gd name="T1" fmla="*/ 101600 h 609600"/>
              <a:gd name="T2" fmla="*/ 7984 w 2286000"/>
              <a:gd name="T3" fmla="*/ 62054 h 609600"/>
              <a:gd name="T4" fmla="*/ 29759 w 2286000"/>
              <a:gd name="T5" fmla="*/ 29759 h 609600"/>
              <a:gd name="T6" fmla="*/ 62054 w 2286000"/>
              <a:gd name="T7" fmla="*/ 7984 h 609600"/>
              <a:gd name="T8" fmla="*/ 101600 w 2286000"/>
              <a:gd name="T9" fmla="*/ 0 h 609600"/>
              <a:gd name="T10" fmla="*/ 2184400 w 2286000"/>
              <a:gd name="T11" fmla="*/ 0 h 609600"/>
              <a:gd name="T12" fmla="*/ 2223945 w 2286000"/>
              <a:gd name="T13" fmla="*/ 7984 h 609600"/>
              <a:gd name="T14" fmla="*/ 2256240 w 2286000"/>
              <a:gd name="T15" fmla="*/ 29759 h 609600"/>
              <a:gd name="T16" fmla="*/ 2278015 w 2286000"/>
              <a:gd name="T17" fmla="*/ 62054 h 609600"/>
              <a:gd name="T18" fmla="*/ 2286000 w 2286000"/>
              <a:gd name="T19" fmla="*/ 101600 h 609600"/>
              <a:gd name="T20" fmla="*/ 2286000 w 2286000"/>
              <a:gd name="T21" fmla="*/ 508000 h 609600"/>
              <a:gd name="T22" fmla="*/ 2278015 w 2286000"/>
              <a:gd name="T23" fmla="*/ 547545 h 609600"/>
              <a:gd name="T24" fmla="*/ 2256240 w 2286000"/>
              <a:gd name="T25" fmla="*/ 579840 h 609600"/>
              <a:gd name="T26" fmla="*/ 2223945 w 2286000"/>
              <a:gd name="T27" fmla="*/ 601615 h 609600"/>
              <a:gd name="T28" fmla="*/ 2184400 w 2286000"/>
              <a:gd name="T29" fmla="*/ 609600 h 609600"/>
              <a:gd name="T30" fmla="*/ 101600 w 2286000"/>
              <a:gd name="T31" fmla="*/ 609600 h 609600"/>
              <a:gd name="T32" fmla="*/ 62054 w 2286000"/>
              <a:gd name="T33" fmla="*/ 601615 h 609600"/>
              <a:gd name="T34" fmla="*/ 29759 w 2286000"/>
              <a:gd name="T35" fmla="*/ 579840 h 609600"/>
              <a:gd name="T36" fmla="*/ 7984 w 2286000"/>
              <a:gd name="T37" fmla="*/ 547545 h 609600"/>
              <a:gd name="T38" fmla="*/ 0 w 2286000"/>
              <a:gd name="T39" fmla="*/ 508000 h 609600"/>
              <a:gd name="T40" fmla="*/ 0 w 2286000"/>
              <a:gd name="T41" fmla="*/ 101600 h 60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860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2184400" y="0"/>
                </a:lnTo>
                <a:lnTo>
                  <a:pt x="2223945" y="7984"/>
                </a:lnTo>
                <a:lnTo>
                  <a:pt x="2256240" y="29759"/>
                </a:lnTo>
                <a:lnTo>
                  <a:pt x="2278015" y="62054"/>
                </a:lnTo>
                <a:lnTo>
                  <a:pt x="2286000" y="101600"/>
                </a:lnTo>
                <a:lnTo>
                  <a:pt x="2286000" y="508000"/>
                </a:lnTo>
                <a:lnTo>
                  <a:pt x="2278015" y="547545"/>
                </a:lnTo>
                <a:lnTo>
                  <a:pt x="2256240" y="579840"/>
                </a:lnTo>
                <a:lnTo>
                  <a:pt x="2223945" y="601615"/>
                </a:lnTo>
                <a:lnTo>
                  <a:pt x="21844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2781" name="object 13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787 w 58610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2" name="object 14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6362 w 1376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3" name="object 15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4" name="object 16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5" name="object 17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6" name="object 18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7" name="object 1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8" name="object 2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9" name="object 2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0" name="object 2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1" name="object 2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2057400" y="3752850"/>
            <a:ext cx="725487" cy="5046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2</a:t>
            </a:r>
            <a:r>
              <a:rPr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2793" name="object 2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3471860" y="3751263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2c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2795" name="object 2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6" name="object 28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7" name="object 29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object 30"/>
          <p:cNvSpPr txBox="1"/>
          <p:nvPr/>
        </p:nvSpPr>
        <p:spPr>
          <a:xfrm>
            <a:off x="2598738" y="2930525"/>
            <a:ext cx="725487" cy="5046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4</a:t>
            </a:r>
            <a:r>
              <a:rPr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2799" name="object 31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800" name="object 32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object 33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802" name="object 34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803" name="object 35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object 36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65625" y="1878013"/>
            <a:ext cx="4124325" cy="1549400"/>
          </a:xfrm>
          <a:prstGeom prst="rect">
            <a:avLst/>
          </a:prstGeom>
        </p:spPr>
        <p:txBody>
          <a:bodyPr lIns="0" tIns="287020" rIns="0" bIns="0">
            <a:spAutoFit/>
          </a:bodyPr>
          <a:lstStyle>
            <a:lvl1pPr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</a:pPr>
            <a:r>
              <a:rPr lang="en-US" altLang="en-US" sz="3200" i="1" dirty="0" smtClean="0">
                <a:solidFill>
                  <a:srgbClr val="009999"/>
                </a:solidFill>
                <a:cs typeface="Times New Roman" panose="02020603050405020304" pitchFamily="18" charset="0"/>
              </a:rPr>
              <a:t>8c</a:t>
            </a:r>
            <a:r>
              <a:rPr lang="en-US" altLang="en-US" sz="3200" i="1" dirty="0">
                <a:solidFill>
                  <a:srgbClr val="009999"/>
                </a:solidFill>
                <a:cs typeface="Times New Roman" panose="02020603050405020304" pitchFamily="18" charset="0"/>
              </a:rPr>
              <a:t>	</a:t>
            </a:r>
            <a:r>
              <a:rPr lang="en-US" altLang="en-US" sz="3200" i="1" u="sng" dirty="0">
                <a:solidFill>
                  <a:srgbClr val="009999"/>
                </a:solidFill>
                <a:cs typeface="Times New Roman" panose="02020603050405020304" pitchFamily="18" charset="0"/>
              </a:rPr>
              <a:t> 	</a:t>
            </a:r>
            <a:r>
              <a:rPr lang="en-US" altLang="en-US" sz="3200" i="1" dirty="0">
                <a:solidFill>
                  <a:srgbClr val="0099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endParaRPr lang="en-US" altLang="en-US" sz="3200" dirty="0"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</a:pPr>
            <a:r>
              <a:rPr lang="en-US" altLang="en-US" sz="3200" i="1" dirty="0" smtClean="0">
                <a:solidFill>
                  <a:srgbClr val="009999"/>
                </a:solidFill>
                <a:cs typeface="Times New Roman" panose="02020603050405020304" pitchFamily="18" charset="0"/>
              </a:rPr>
              <a:t>               4c</a:t>
            </a:r>
            <a:r>
              <a:rPr lang="en-US" altLang="en-US" sz="3200" dirty="0">
                <a:solidFill>
                  <a:srgbClr val="009999"/>
                </a:solidFill>
                <a:cs typeface="Times New Roman" panose="02020603050405020304" pitchFamily="18" charset="0"/>
              </a:rPr>
              <a:t>	</a:t>
            </a:r>
            <a:r>
              <a:rPr lang="en-US" altLang="en-US" sz="3200" i="1" dirty="0" err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endParaRPr lang="en-US" altLang="en-US" sz="3200" dirty="0"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lang="en-US"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    2c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lang="en-US"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2c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0613" y="5200650"/>
            <a:ext cx="18811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#leaves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54700" y="5202238"/>
            <a:ext cx="2832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951989" algn="l"/>
              </a:tabLst>
              <a:defRPr/>
            </a:pPr>
            <a:r>
              <a:rPr sz="3200" i="1" u="heavy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7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16869" y="266572"/>
            <a:ext cx="1022131" cy="4747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n=8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35459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1" name="object 3"/>
          <p:cNvSpPr>
            <a:spLocks/>
          </p:cNvSpPr>
          <p:nvPr/>
        </p:nvSpPr>
        <p:spPr bwMode="auto">
          <a:xfrm>
            <a:off x="2286000" y="5491163"/>
            <a:ext cx="990600" cy="0"/>
          </a:xfrm>
          <a:custGeom>
            <a:avLst/>
            <a:gdLst>
              <a:gd name="T0" fmla="*/ 0 w 990600"/>
              <a:gd name="T1" fmla="*/ 990600 w 99060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905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2" name="object 4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3" name="object 5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4" name="object 6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5" name="object 7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6" name="object 8"/>
          <p:cNvSpPr>
            <a:spLocks noChangeArrowheads="1"/>
          </p:cNvSpPr>
          <p:nvPr/>
        </p:nvSpPr>
        <p:spPr bwMode="auto">
          <a:xfrm>
            <a:off x="3500438" y="5253038"/>
            <a:ext cx="2295525" cy="6191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2777" name="object 9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2184400 w 2286000"/>
              <a:gd name="T1" fmla="*/ 0 h 609600"/>
              <a:gd name="T2" fmla="*/ 101600 w 2286000"/>
              <a:gd name="T3" fmla="*/ 0 h 609600"/>
              <a:gd name="T4" fmla="*/ 62054 w 2286000"/>
              <a:gd name="T5" fmla="*/ 7984 h 609600"/>
              <a:gd name="T6" fmla="*/ 29759 w 2286000"/>
              <a:gd name="T7" fmla="*/ 29759 h 609600"/>
              <a:gd name="T8" fmla="*/ 7984 w 2286000"/>
              <a:gd name="T9" fmla="*/ 62054 h 609600"/>
              <a:gd name="T10" fmla="*/ 0 w 2286000"/>
              <a:gd name="T11" fmla="*/ 101600 h 609600"/>
              <a:gd name="T12" fmla="*/ 0 w 2286000"/>
              <a:gd name="T13" fmla="*/ 508000 h 609600"/>
              <a:gd name="T14" fmla="*/ 7984 w 2286000"/>
              <a:gd name="T15" fmla="*/ 547545 h 609600"/>
              <a:gd name="T16" fmla="*/ 29759 w 2286000"/>
              <a:gd name="T17" fmla="*/ 579840 h 609600"/>
              <a:gd name="T18" fmla="*/ 62054 w 2286000"/>
              <a:gd name="T19" fmla="*/ 601615 h 609600"/>
              <a:gd name="T20" fmla="*/ 101600 w 2286000"/>
              <a:gd name="T21" fmla="*/ 609600 h 609600"/>
              <a:gd name="T22" fmla="*/ 2184400 w 2286000"/>
              <a:gd name="T23" fmla="*/ 609600 h 609600"/>
              <a:gd name="T24" fmla="*/ 2223945 w 2286000"/>
              <a:gd name="T25" fmla="*/ 601615 h 609600"/>
              <a:gd name="T26" fmla="*/ 2256240 w 2286000"/>
              <a:gd name="T27" fmla="*/ 579840 h 609600"/>
              <a:gd name="T28" fmla="*/ 2278015 w 2286000"/>
              <a:gd name="T29" fmla="*/ 547545 h 609600"/>
              <a:gd name="T30" fmla="*/ 2286000 w 2286000"/>
              <a:gd name="T31" fmla="*/ 508000 h 609600"/>
              <a:gd name="T32" fmla="*/ 2286000 w 2286000"/>
              <a:gd name="T33" fmla="*/ 101600 h 609600"/>
              <a:gd name="T34" fmla="*/ 2278015 w 2286000"/>
              <a:gd name="T35" fmla="*/ 62054 h 609600"/>
              <a:gd name="T36" fmla="*/ 2256240 w 2286000"/>
              <a:gd name="T37" fmla="*/ 29759 h 609600"/>
              <a:gd name="T38" fmla="*/ 2223945 w 2286000"/>
              <a:gd name="T39" fmla="*/ 7984 h 609600"/>
              <a:gd name="T40" fmla="*/ 2184400 w 2286000"/>
              <a:gd name="T41" fmla="*/ 0 h 60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86000" h="609600">
                <a:moveTo>
                  <a:pt x="2184400" y="0"/>
                </a:moveTo>
                <a:lnTo>
                  <a:pt x="101600" y="0"/>
                </a:lnTo>
                <a:lnTo>
                  <a:pt x="62054" y="7984"/>
                </a:lnTo>
                <a:lnTo>
                  <a:pt x="29759" y="29759"/>
                </a:lnTo>
                <a:lnTo>
                  <a:pt x="7984" y="62054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45"/>
                </a:lnTo>
                <a:lnTo>
                  <a:pt x="29759" y="579840"/>
                </a:lnTo>
                <a:lnTo>
                  <a:pt x="62054" y="601615"/>
                </a:lnTo>
                <a:lnTo>
                  <a:pt x="101600" y="609600"/>
                </a:lnTo>
                <a:lnTo>
                  <a:pt x="2184400" y="609600"/>
                </a:lnTo>
                <a:lnTo>
                  <a:pt x="2223945" y="601615"/>
                </a:lnTo>
                <a:lnTo>
                  <a:pt x="2256240" y="579840"/>
                </a:lnTo>
                <a:lnTo>
                  <a:pt x="2278015" y="547545"/>
                </a:lnTo>
                <a:lnTo>
                  <a:pt x="2286000" y="508000"/>
                </a:lnTo>
                <a:lnTo>
                  <a:pt x="2286000" y="101600"/>
                </a:lnTo>
                <a:lnTo>
                  <a:pt x="2278015" y="62054"/>
                </a:lnTo>
                <a:lnTo>
                  <a:pt x="2256240" y="29759"/>
                </a:lnTo>
                <a:lnTo>
                  <a:pt x="2223945" y="7984"/>
                </a:lnTo>
                <a:lnTo>
                  <a:pt x="2184400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8" name="object 10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0 w 2286000"/>
              <a:gd name="T1" fmla="*/ 101600 h 609600"/>
              <a:gd name="T2" fmla="*/ 7984 w 2286000"/>
              <a:gd name="T3" fmla="*/ 62054 h 609600"/>
              <a:gd name="T4" fmla="*/ 29759 w 2286000"/>
              <a:gd name="T5" fmla="*/ 29759 h 609600"/>
              <a:gd name="T6" fmla="*/ 62054 w 2286000"/>
              <a:gd name="T7" fmla="*/ 7984 h 609600"/>
              <a:gd name="T8" fmla="*/ 101600 w 2286000"/>
              <a:gd name="T9" fmla="*/ 0 h 609600"/>
              <a:gd name="T10" fmla="*/ 2184400 w 2286000"/>
              <a:gd name="T11" fmla="*/ 0 h 609600"/>
              <a:gd name="T12" fmla="*/ 2223945 w 2286000"/>
              <a:gd name="T13" fmla="*/ 7984 h 609600"/>
              <a:gd name="T14" fmla="*/ 2256240 w 2286000"/>
              <a:gd name="T15" fmla="*/ 29759 h 609600"/>
              <a:gd name="T16" fmla="*/ 2278015 w 2286000"/>
              <a:gd name="T17" fmla="*/ 62054 h 609600"/>
              <a:gd name="T18" fmla="*/ 2286000 w 2286000"/>
              <a:gd name="T19" fmla="*/ 101600 h 609600"/>
              <a:gd name="T20" fmla="*/ 2286000 w 2286000"/>
              <a:gd name="T21" fmla="*/ 508000 h 609600"/>
              <a:gd name="T22" fmla="*/ 2278015 w 2286000"/>
              <a:gd name="T23" fmla="*/ 547545 h 609600"/>
              <a:gd name="T24" fmla="*/ 2256240 w 2286000"/>
              <a:gd name="T25" fmla="*/ 579840 h 609600"/>
              <a:gd name="T26" fmla="*/ 2223945 w 2286000"/>
              <a:gd name="T27" fmla="*/ 601615 h 609600"/>
              <a:gd name="T28" fmla="*/ 2184400 w 2286000"/>
              <a:gd name="T29" fmla="*/ 609600 h 609600"/>
              <a:gd name="T30" fmla="*/ 101600 w 2286000"/>
              <a:gd name="T31" fmla="*/ 609600 h 609600"/>
              <a:gd name="T32" fmla="*/ 62054 w 2286000"/>
              <a:gd name="T33" fmla="*/ 601615 h 609600"/>
              <a:gd name="T34" fmla="*/ 29759 w 2286000"/>
              <a:gd name="T35" fmla="*/ 579840 h 609600"/>
              <a:gd name="T36" fmla="*/ 7984 w 2286000"/>
              <a:gd name="T37" fmla="*/ 547545 h 609600"/>
              <a:gd name="T38" fmla="*/ 0 w 2286000"/>
              <a:gd name="T39" fmla="*/ 508000 h 609600"/>
              <a:gd name="T40" fmla="*/ 0 w 2286000"/>
              <a:gd name="T41" fmla="*/ 101600 h 60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860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2184400" y="0"/>
                </a:lnTo>
                <a:lnTo>
                  <a:pt x="2223945" y="7984"/>
                </a:lnTo>
                <a:lnTo>
                  <a:pt x="2256240" y="29759"/>
                </a:lnTo>
                <a:lnTo>
                  <a:pt x="2278015" y="62054"/>
                </a:lnTo>
                <a:lnTo>
                  <a:pt x="2286000" y="101600"/>
                </a:lnTo>
                <a:lnTo>
                  <a:pt x="2286000" y="508000"/>
                </a:lnTo>
                <a:lnTo>
                  <a:pt x="2278015" y="547545"/>
                </a:lnTo>
                <a:lnTo>
                  <a:pt x="2256240" y="579840"/>
                </a:lnTo>
                <a:lnTo>
                  <a:pt x="2223945" y="601615"/>
                </a:lnTo>
                <a:lnTo>
                  <a:pt x="21844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781" name="object 13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787 w 58610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2" name="object 14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6362 w 1376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3" name="object 15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4" name="object 16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5" name="object 17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6" name="object 18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7" name="object 1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8" name="object 2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9" name="object 2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0" name="object 2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1" name="object 2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793" name="object 2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795" name="object 2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6" name="object 28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97" name="object 29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object 30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799" name="object 31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800" name="object 32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object 33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802" name="object 34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803" name="object 35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object 36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65625" y="1878013"/>
            <a:ext cx="4124325" cy="1549400"/>
          </a:xfrm>
          <a:prstGeom prst="rect">
            <a:avLst/>
          </a:prstGeom>
        </p:spPr>
        <p:txBody>
          <a:bodyPr lIns="0" tIns="287020" rIns="0" bIns="0">
            <a:spAutoFit/>
          </a:bodyPr>
          <a:lstStyle>
            <a:lvl1pPr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	</a:t>
            </a:r>
            <a:r>
              <a:rPr lang="en-US" altLang="en-US" sz="3200" i="1" u="sng">
                <a:solidFill>
                  <a:srgbClr val="009999"/>
                </a:solidFill>
                <a:cs typeface="Times New Roman" panose="02020603050405020304" pitchFamily="18" charset="0"/>
              </a:rPr>
              <a:t> 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 cn</a:t>
            </a:r>
            <a:endParaRPr lang="en-US" altLang="en-US" sz="3200"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r>
              <a:rPr lang="en-US" altLang="en-US" sz="3200">
                <a:solidFill>
                  <a:srgbClr val="009999"/>
                </a:solidFill>
                <a:cs typeface="Times New Roman" panose="02020603050405020304" pitchFamily="18" charset="0"/>
              </a:rPr>
              <a:t>/2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endParaRPr lang="en-US" altLang="en-US" sz="3200"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0613" y="5200650"/>
            <a:ext cx="18811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#leaves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54700" y="5202238"/>
            <a:ext cx="2832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951989" algn="l"/>
              </a:tabLst>
              <a:defRPr/>
            </a:pPr>
            <a:r>
              <a:rPr sz="3200" i="1" u="heavy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7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878712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795" name="object 3"/>
          <p:cNvSpPr>
            <a:spLocks/>
          </p:cNvSpPr>
          <p:nvPr/>
        </p:nvSpPr>
        <p:spPr bwMode="auto">
          <a:xfrm>
            <a:off x="2286000" y="5491163"/>
            <a:ext cx="990600" cy="0"/>
          </a:xfrm>
          <a:custGeom>
            <a:avLst/>
            <a:gdLst>
              <a:gd name="T0" fmla="*/ 0 w 990600"/>
              <a:gd name="T1" fmla="*/ 990600 w 99060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905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6" name="object 4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7" name="object 5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798" name="object 6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7162 h 142747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9" name="object 7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800" name="object 8"/>
          <p:cNvSpPr>
            <a:spLocks noChangeArrowheads="1"/>
          </p:cNvSpPr>
          <p:nvPr/>
        </p:nvSpPr>
        <p:spPr bwMode="auto">
          <a:xfrm>
            <a:off x="3500438" y="5253038"/>
            <a:ext cx="2295525" cy="6191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801" name="object 9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2184400 w 2286000"/>
              <a:gd name="T1" fmla="*/ 0 h 609600"/>
              <a:gd name="T2" fmla="*/ 101600 w 2286000"/>
              <a:gd name="T3" fmla="*/ 0 h 609600"/>
              <a:gd name="T4" fmla="*/ 62054 w 2286000"/>
              <a:gd name="T5" fmla="*/ 7984 h 609600"/>
              <a:gd name="T6" fmla="*/ 29759 w 2286000"/>
              <a:gd name="T7" fmla="*/ 29759 h 609600"/>
              <a:gd name="T8" fmla="*/ 7984 w 2286000"/>
              <a:gd name="T9" fmla="*/ 62054 h 609600"/>
              <a:gd name="T10" fmla="*/ 0 w 2286000"/>
              <a:gd name="T11" fmla="*/ 101600 h 609600"/>
              <a:gd name="T12" fmla="*/ 0 w 2286000"/>
              <a:gd name="T13" fmla="*/ 508000 h 609600"/>
              <a:gd name="T14" fmla="*/ 7984 w 2286000"/>
              <a:gd name="T15" fmla="*/ 547545 h 609600"/>
              <a:gd name="T16" fmla="*/ 29759 w 2286000"/>
              <a:gd name="T17" fmla="*/ 579840 h 609600"/>
              <a:gd name="T18" fmla="*/ 62054 w 2286000"/>
              <a:gd name="T19" fmla="*/ 601615 h 609600"/>
              <a:gd name="T20" fmla="*/ 101600 w 2286000"/>
              <a:gd name="T21" fmla="*/ 609600 h 609600"/>
              <a:gd name="T22" fmla="*/ 2184400 w 2286000"/>
              <a:gd name="T23" fmla="*/ 609600 h 609600"/>
              <a:gd name="T24" fmla="*/ 2223945 w 2286000"/>
              <a:gd name="T25" fmla="*/ 601615 h 609600"/>
              <a:gd name="T26" fmla="*/ 2256240 w 2286000"/>
              <a:gd name="T27" fmla="*/ 579840 h 609600"/>
              <a:gd name="T28" fmla="*/ 2278015 w 2286000"/>
              <a:gd name="T29" fmla="*/ 547545 h 609600"/>
              <a:gd name="T30" fmla="*/ 2286000 w 2286000"/>
              <a:gd name="T31" fmla="*/ 508000 h 609600"/>
              <a:gd name="T32" fmla="*/ 2286000 w 2286000"/>
              <a:gd name="T33" fmla="*/ 101600 h 609600"/>
              <a:gd name="T34" fmla="*/ 2278015 w 2286000"/>
              <a:gd name="T35" fmla="*/ 62054 h 609600"/>
              <a:gd name="T36" fmla="*/ 2256240 w 2286000"/>
              <a:gd name="T37" fmla="*/ 29759 h 609600"/>
              <a:gd name="T38" fmla="*/ 2223945 w 2286000"/>
              <a:gd name="T39" fmla="*/ 7984 h 609600"/>
              <a:gd name="T40" fmla="*/ 2184400 w 2286000"/>
              <a:gd name="T41" fmla="*/ 0 h 60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86000" h="609600">
                <a:moveTo>
                  <a:pt x="2184400" y="0"/>
                </a:moveTo>
                <a:lnTo>
                  <a:pt x="101600" y="0"/>
                </a:lnTo>
                <a:lnTo>
                  <a:pt x="62054" y="7984"/>
                </a:lnTo>
                <a:lnTo>
                  <a:pt x="29759" y="29759"/>
                </a:lnTo>
                <a:lnTo>
                  <a:pt x="7984" y="62054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45"/>
                </a:lnTo>
                <a:lnTo>
                  <a:pt x="29759" y="579840"/>
                </a:lnTo>
                <a:lnTo>
                  <a:pt x="62054" y="601615"/>
                </a:lnTo>
                <a:lnTo>
                  <a:pt x="101600" y="609600"/>
                </a:lnTo>
                <a:lnTo>
                  <a:pt x="2184400" y="609600"/>
                </a:lnTo>
                <a:lnTo>
                  <a:pt x="2223945" y="601615"/>
                </a:lnTo>
                <a:lnTo>
                  <a:pt x="2256240" y="579840"/>
                </a:lnTo>
                <a:lnTo>
                  <a:pt x="2278015" y="547545"/>
                </a:lnTo>
                <a:lnTo>
                  <a:pt x="2286000" y="508000"/>
                </a:lnTo>
                <a:lnTo>
                  <a:pt x="2286000" y="101600"/>
                </a:lnTo>
                <a:lnTo>
                  <a:pt x="2278015" y="62054"/>
                </a:lnTo>
                <a:lnTo>
                  <a:pt x="2256240" y="29759"/>
                </a:lnTo>
                <a:lnTo>
                  <a:pt x="2223945" y="7984"/>
                </a:lnTo>
                <a:lnTo>
                  <a:pt x="2184400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2" name="object 10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0 w 2286000"/>
              <a:gd name="T1" fmla="*/ 101600 h 609600"/>
              <a:gd name="T2" fmla="*/ 7984 w 2286000"/>
              <a:gd name="T3" fmla="*/ 62054 h 609600"/>
              <a:gd name="T4" fmla="*/ 29759 w 2286000"/>
              <a:gd name="T5" fmla="*/ 29759 h 609600"/>
              <a:gd name="T6" fmla="*/ 62054 w 2286000"/>
              <a:gd name="T7" fmla="*/ 7984 h 609600"/>
              <a:gd name="T8" fmla="*/ 101600 w 2286000"/>
              <a:gd name="T9" fmla="*/ 0 h 609600"/>
              <a:gd name="T10" fmla="*/ 2184400 w 2286000"/>
              <a:gd name="T11" fmla="*/ 0 h 609600"/>
              <a:gd name="T12" fmla="*/ 2223945 w 2286000"/>
              <a:gd name="T13" fmla="*/ 7984 h 609600"/>
              <a:gd name="T14" fmla="*/ 2256240 w 2286000"/>
              <a:gd name="T15" fmla="*/ 29759 h 609600"/>
              <a:gd name="T16" fmla="*/ 2278015 w 2286000"/>
              <a:gd name="T17" fmla="*/ 62054 h 609600"/>
              <a:gd name="T18" fmla="*/ 2286000 w 2286000"/>
              <a:gd name="T19" fmla="*/ 101600 h 609600"/>
              <a:gd name="T20" fmla="*/ 2286000 w 2286000"/>
              <a:gd name="T21" fmla="*/ 508000 h 609600"/>
              <a:gd name="T22" fmla="*/ 2278015 w 2286000"/>
              <a:gd name="T23" fmla="*/ 547545 h 609600"/>
              <a:gd name="T24" fmla="*/ 2256240 w 2286000"/>
              <a:gd name="T25" fmla="*/ 579840 h 609600"/>
              <a:gd name="T26" fmla="*/ 2223945 w 2286000"/>
              <a:gd name="T27" fmla="*/ 601615 h 609600"/>
              <a:gd name="T28" fmla="*/ 2184400 w 2286000"/>
              <a:gd name="T29" fmla="*/ 609600 h 609600"/>
              <a:gd name="T30" fmla="*/ 101600 w 2286000"/>
              <a:gd name="T31" fmla="*/ 609600 h 609600"/>
              <a:gd name="T32" fmla="*/ 62054 w 2286000"/>
              <a:gd name="T33" fmla="*/ 601615 h 609600"/>
              <a:gd name="T34" fmla="*/ 29759 w 2286000"/>
              <a:gd name="T35" fmla="*/ 579840 h 609600"/>
              <a:gd name="T36" fmla="*/ 7984 w 2286000"/>
              <a:gd name="T37" fmla="*/ 547545 h 609600"/>
              <a:gd name="T38" fmla="*/ 0 w 2286000"/>
              <a:gd name="T39" fmla="*/ 508000 h 609600"/>
              <a:gd name="T40" fmla="*/ 0 w 2286000"/>
              <a:gd name="T41" fmla="*/ 101600 h 60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860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2184400" y="0"/>
                </a:lnTo>
                <a:lnTo>
                  <a:pt x="2223945" y="7984"/>
                </a:lnTo>
                <a:lnTo>
                  <a:pt x="2256240" y="29759"/>
                </a:lnTo>
                <a:lnTo>
                  <a:pt x="2278015" y="62054"/>
                </a:lnTo>
                <a:lnTo>
                  <a:pt x="2286000" y="101600"/>
                </a:lnTo>
                <a:lnTo>
                  <a:pt x="2286000" y="508000"/>
                </a:lnTo>
                <a:lnTo>
                  <a:pt x="2278015" y="547545"/>
                </a:lnTo>
                <a:lnTo>
                  <a:pt x="2256240" y="579840"/>
                </a:lnTo>
                <a:lnTo>
                  <a:pt x="2223945" y="601615"/>
                </a:lnTo>
                <a:lnTo>
                  <a:pt x="21844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805" name="object 13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787 w 58610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6" name="object 14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6362 w 1376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7" name="object 15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8" name="object 16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9" name="object 17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0" name="object 18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9437 h 579755"/>
              <a:gd name="T6" fmla="*/ 0 w 568325"/>
              <a:gd name="T7" fmla="*/ 579437 h 579755"/>
              <a:gd name="T8" fmla="*/ 0 w 568325"/>
              <a:gd name="T9" fmla="*/ 0 h 579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1" name="object 1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2" name="object 2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3" name="object 2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4" name="object 2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5" name="object 2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4237 w 884555"/>
              <a:gd name="T3" fmla="*/ 0 h 579754"/>
              <a:gd name="T4" fmla="*/ 884237 w 884555"/>
              <a:gd name="T5" fmla="*/ 579437 h 579754"/>
              <a:gd name="T6" fmla="*/ 0 w 884555"/>
              <a:gd name="T7" fmla="*/ 579437 h 579754"/>
              <a:gd name="T8" fmla="*/ 0 w 884555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817" name="object 2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819" name="object 2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20" name="object 28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21" name="object 29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object 30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823" name="object 31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4237 w 884554"/>
              <a:gd name="T3" fmla="*/ 0 h 579754"/>
              <a:gd name="T4" fmla="*/ 884237 w 884554"/>
              <a:gd name="T5" fmla="*/ 579437 h 579754"/>
              <a:gd name="T6" fmla="*/ 0 w 884554"/>
              <a:gd name="T7" fmla="*/ 579437 h 579754"/>
              <a:gd name="T8" fmla="*/ 0 w 884554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24" name="object 32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9437 h 579754"/>
              <a:gd name="T6" fmla="*/ 0 w 958850"/>
              <a:gd name="T7" fmla="*/ 579437 h 579754"/>
              <a:gd name="T8" fmla="*/ 0 w 958850"/>
              <a:gd name="T9" fmla="*/ 0 h 579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object 33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826" name="object 34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6608 w 743585"/>
              <a:gd name="T1" fmla="*/ 0 h 749935"/>
              <a:gd name="T2" fmla="*/ 0 w 743585"/>
              <a:gd name="T3" fmla="*/ 556856 h 749935"/>
              <a:gd name="T4" fmla="*/ 546379 w 743585"/>
              <a:gd name="T5" fmla="*/ 749769 h 749935"/>
              <a:gd name="T6" fmla="*/ 742988 w 743585"/>
              <a:gd name="T7" fmla="*/ 192913 h 749935"/>
              <a:gd name="T8" fmla="*/ 196608 w 743585"/>
              <a:gd name="T9" fmla="*/ 0 h 749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27" name="object 35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371 w 135889"/>
              <a:gd name="T1" fmla="*/ 255435 h 301625"/>
              <a:gd name="T2" fmla="*/ 18770 w 135889"/>
              <a:gd name="T3" fmla="*/ 255701 h 301625"/>
              <a:gd name="T4" fmla="*/ 7848 w 135889"/>
              <a:gd name="T5" fmla="*/ 260819 h 301625"/>
              <a:gd name="T6" fmla="*/ 4089 w 135889"/>
              <a:gd name="T7" fmla="*/ 265036 h 301625"/>
              <a:gd name="T8" fmla="*/ 0 w 135889"/>
              <a:gd name="T9" fmla="*/ 276631 h 301625"/>
              <a:gd name="T10" fmla="*/ 266 w 135889"/>
              <a:gd name="T11" fmla="*/ 282219 h 301625"/>
              <a:gd name="T12" fmla="*/ 5384 w 135889"/>
              <a:gd name="T13" fmla="*/ 293141 h 301625"/>
              <a:gd name="T14" fmla="*/ 9588 w 135889"/>
              <a:gd name="T15" fmla="*/ 296913 h 301625"/>
              <a:gd name="T16" fmla="*/ 21183 w 135889"/>
              <a:gd name="T17" fmla="*/ 301002 h 301625"/>
              <a:gd name="T18" fmla="*/ 26796 w 135889"/>
              <a:gd name="T19" fmla="*/ 300697 h 301625"/>
              <a:gd name="T20" fmla="*/ 37757 w 135889"/>
              <a:gd name="T21" fmla="*/ 295465 h 301625"/>
              <a:gd name="T22" fmla="*/ 41503 w 135889"/>
              <a:gd name="T23" fmla="*/ 291287 h 301625"/>
              <a:gd name="T24" fmla="*/ 45554 w 135889"/>
              <a:gd name="T25" fmla="*/ 279819 h 301625"/>
              <a:gd name="T26" fmla="*/ 45262 w 135889"/>
              <a:gd name="T27" fmla="*/ 274205 h 301625"/>
              <a:gd name="T28" fmla="*/ 40017 w 135889"/>
              <a:gd name="T29" fmla="*/ 263245 h 301625"/>
              <a:gd name="T30" fmla="*/ 35839 w 135889"/>
              <a:gd name="T31" fmla="*/ 259486 h 301625"/>
              <a:gd name="T32" fmla="*/ 24371 w 135889"/>
              <a:gd name="T33" fmla="*/ 255435 h 301625"/>
              <a:gd name="T34" fmla="*/ 69468 w 135889"/>
              <a:gd name="T35" fmla="*/ 127711 h 301625"/>
              <a:gd name="T36" fmla="*/ 63855 w 135889"/>
              <a:gd name="T37" fmla="*/ 128016 h 301625"/>
              <a:gd name="T38" fmla="*/ 52895 w 135889"/>
              <a:gd name="T39" fmla="*/ 133261 h 301625"/>
              <a:gd name="T40" fmla="*/ 49136 w 135889"/>
              <a:gd name="T41" fmla="*/ 137439 h 301625"/>
              <a:gd name="T42" fmla="*/ 45084 w 135889"/>
              <a:gd name="T43" fmla="*/ 148907 h 301625"/>
              <a:gd name="T44" fmla="*/ 45351 w 135889"/>
              <a:gd name="T45" fmla="*/ 154508 h 301625"/>
              <a:gd name="T46" fmla="*/ 50469 w 135889"/>
              <a:gd name="T47" fmla="*/ 165417 h 301625"/>
              <a:gd name="T48" fmla="*/ 54686 w 135889"/>
              <a:gd name="T49" fmla="*/ 169189 h 301625"/>
              <a:gd name="T50" fmla="*/ 66281 w 135889"/>
              <a:gd name="T51" fmla="*/ 173278 h 301625"/>
              <a:gd name="T52" fmla="*/ 71881 w 135889"/>
              <a:gd name="T53" fmla="*/ 172986 h 301625"/>
              <a:gd name="T54" fmla="*/ 82854 w 135889"/>
              <a:gd name="T55" fmla="*/ 167741 h 301625"/>
              <a:gd name="T56" fmla="*/ 86601 w 135889"/>
              <a:gd name="T57" fmla="*/ 163563 h 301625"/>
              <a:gd name="T58" fmla="*/ 90652 w 135889"/>
              <a:gd name="T59" fmla="*/ 152095 h 301625"/>
              <a:gd name="T60" fmla="*/ 90360 w 135889"/>
              <a:gd name="T61" fmla="*/ 146481 h 301625"/>
              <a:gd name="T62" fmla="*/ 85115 w 135889"/>
              <a:gd name="T63" fmla="*/ 135521 h 301625"/>
              <a:gd name="T64" fmla="*/ 80937 w 135889"/>
              <a:gd name="T65" fmla="*/ 131762 h 301625"/>
              <a:gd name="T66" fmla="*/ 69468 w 135889"/>
              <a:gd name="T67" fmla="*/ 127711 h 301625"/>
              <a:gd name="T68" fmla="*/ 114553 w 135889"/>
              <a:gd name="T69" fmla="*/ 0 h 301625"/>
              <a:gd name="T70" fmla="*/ 108953 w 135889"/>
              <a:gd name="T71" fmla="*/ 292 h 301625"/>
              <a:gd name="T72" fmla="*/ 97980 w 135889"/>
              <a:gd name="T73" fmla="*/ 5537 h 301625"/>
              <a:gd name="T74" fmla="*/ 94233 w 135889"/>
              <a:gd name="T75" fmla="*/ 9715 h 301625"/>
              <a:gd name="T76" fmla="*/ 90144 w 135889"/>
              <a:gd name="T77" fmla="*/ 21310 h 301625"/>
              <a:gd name="T78" fmla="*/ 90398 w 135889"/>
              <a:gd name="T79" fmla="*/ 26936 h 301625"/>
              <a:gd name="T80" fmla="*/ 95554 w 135889"/>
              <a:gd name="T81" fmla="*/ 37731 h 301625"/>
              <a:gd name="T82" fmla="*/ 99771 w 135889"/>
              <a:gd name="T83" fmla="*/ 41465 h 301625"/>
              <a:gd name="T84" fmla="*/ 111366 w 135889"/>
              <a:gd name="T85" fmla="*/ 45554 h 301625"/>
              <a:gd name="T86" fmla="*/ 116979 w 135889"/>
              <a:gd name="T87" fmla="*/ 45262 h 301625"/>
              <a:gd name="T88" fmla="*/ 127939 w 135889"/>
              <a:gd name="T89" fmla="*/ 40017 h 301625"/>
              <a:gd name="T90" fmla="*/ 131698 w 135889"/>
              <a:gd name="T91" fmla="*/ 35839 h 301625"/>
              <a:gd name="T92" fmla="*/ 135750 w 135889"/>
              <a:gd name="T93" fmla="*/ 24371 h 301625"/>
              <a:gd name="T94" fmla="*/ 135445 w 135889"/>
              <a:gd name="T95" fmla="*/ 18757 h 301625"/>
              <a:gd name="T96" fmla="*/ 130213 w 135889"/>
              <a:gd name="T97" fmla="*/ 7797 h 301625"/>
              <a:gd name="T98" fmla="*/ 126034 w 135889"/>
              <a:gd name="T99" fmla="*/ 4051 h 301625"/>
              <a:gd name="T100" fmla="*/ 114553 w 135889"/>
              <a:gd name="T101" fmla="*/ 0 h 30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object 36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65625" y="1878013"/>
            <a:ext cx="4124325" cy="1549400"/>
          </a:xfrm>
          <a:prstGeom prst="rect">
            <a:avLst/>
          </a:prstGeom>
        </p:spPr>
        <p:txBody>
          <a:bodyPr lIns="0" tIns="287020" rIns="0" bIns="0">
            <a:spAutoFit/>
          </a:bodyPr>
          <a:lstStyle>
            <a:lvl1pPr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49288" algn="l"/>
                <a:tab pos="36210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	</a:t>
            </a:r>
            <a:r>
              <a:rPr lang="en-US" altLang="en-US" sz="3200" i="1" u="sng">
                <a:solidFill>
                  <a:srgbClr val="009999"/>
                </a:solidFill>
                <a:cs typeface="Times New Roman" panose="02020603050405020304" pitchFamily="18" charset="0"/>
              </a:rPr>
              <a:t> 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 cn</a:t>
            </a:r>
            <a:endParaRPr lang="en-US" altLang="en-US" sz="3200"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</a:pP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r>
              <a:rPr lang="en-US" altLang="en-US" sz="3200">
                <a:solidFill>
                  <a:srgbClr val="009999"/>
                </a:solidFill>
                <a:cs typeface="Times New Roman" panose="02020603050405020304" pitchFamily="18" charset="0"/>
              </a:rPr>
              <a:t>/2	</a:t>
            </a:r>
            <a:r>
              <a:rPr lang="en-US" altLang="en-US" sz="3200" i="1">
                <a:solidFill>
                  <a:srgbClr val="009999"/>
                </a:solidFill>
                <a:cs typeface="Times New Roman" panose="02020603050405020304" pitchFamily="18" charset="0"/>
              </a:rPr>
              <a:t>cn</a:t>
            </a:r>
            <a:endParaRPr lang="en-US" altLang="en-US" sz="3200"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0613" y="5200650"/>
            <a:ext cx="18811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#leaves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54700" y="5202238"/>
            <a:ext cx="2832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951989" algn="l"/>
              </a:tabLst>
              <a:defRPr/>
            </a:pPr>
            <a:r>
              <a:rPr sz="3200" i="1" u="heavy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7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833" name="object 41"/>
          <p:cNvSpPr>
            <a:spLocks/>
          </p:cNvSpPr>
          <p:nvPr/>
        </p:nvSpPr>
        <p:spPr bwMode="auto">
          <a:xfrm>
            <a:off x="7391400" y="5791200"/>
            <a:ext cx="1524000" cy="0"/>
          </a:xfrm>
          <a:custGeom>
            <a:avLst/>
            <a:gdLst>
              <a:gd name="T0" fmla="*/ 0 w 1524000"/>
              <a:gd name="T1" fmla="*/ 1524000 w 152400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object 42"/>
          <p:cNvSpPr txBox="1"/>
          <p:nvPr/>
        </p:nvSpPr>
        <p:spPr>
          <a:xfrm>
            <a:off x="6134100" y="5842000"/>
            <a:ext cx="2778125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0" dirty="0">
                <a:latin typeface="Times New Roman"/>
                <a:cs typeface="Times New Roman"/>
              </a:rPr>
              <a:t>Total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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lg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5175" y="6523038"/>
            <a:ext cx="1363663" cy="2222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lnSpc>
                <a:spcPts val="1625"/>
              </a:lnSpc>
              <a:defRPr/>
            </a:pPr>
            <a:r>
              <a:rPr sz="1400" spc="-5" dirty="0">
                <a:latin typeface="Times New Roman"/>
                <a:cs typeface="Times New Roman"/>
              </a:rPr>
              <a:t>September 7,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041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66"/>
                </a:solidFill>
              </a:rPr>
              <a:t>Recursion Tree for Algorithm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3124200" y="1981200"/>
            <a:ext cx="3094038" cy="1130300"/>
            <a:chOff x="547" y="864"/>
            <a:chExt cx="1709" cy="624"/>
          </a:xfrm>
        </p:grpSpPr>
        <p:sp>
          <p:nvSpPr>
            <p:cNvPr id="21508" name="Oval 4"/>
            <p:cNvSpPr>
              <a:spLocks noChangeArrowheads="1"/>
            </p:cNvSpPr>
            <p:nvPr/>
          </p:nvSpPr>
          <p:spPr bwMode="auto">
            <a:xfrm>
              <a:off x="1183" y="86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cn</a:t>
              </a:r>
            </a:p>
          </p:txBody>
        </p:sp>
        <p:sp>
          <p:nvSpPr>
            <p:cNvPr id="21509" name="Oval 5"/>
            <p:cNvSpPr>
              <a:spLocks noChangeArrowheads="1"/>
            </p:cNvSpPr>
            <p:nvPr/>
          </p:nvSpPr>
          <p:spPr bwMode="auto">
            <a:xfrm>
              <a:off x="547" y="1152"/>
              <a:ext cx="350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T(n/2)</a:t>
              </a:r>
            </a:p>
          </p:txBody>
        </p:sp>
        <p:sp>
          <p:nvSpPr>
            <p:cNvPr id="21510" name="Oval 6"/>
            <p:cNvSpPr>
              <a:spLocks noChangeArrowheads="1"/>
            </p:cNvSpPr>
            <p:nvPr/>
          </p:nvSpPr>
          <p:spPr bwMode="auto">
            <a:xfrm>
              <a:off x="1908" y="1152"/>
              <a:ext cx="348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T(n/2)</a:t>
              </a:r>
            </a:p>
          </p:txBody>
        </p:sp>
        <p:cxnSp>
          <p:nvCxnSpPr>
            <p:cNvPr id="21511" name="AutoShape 7"/>
            <p:cNvCxnSpPr>
              <a:cxnSpLocks noChangeShapeType="1"/>
              <a:stCxn id="21508" idx="2"/>
              <a:endCxn id="21509" idx="7"/>
            </p:cNvCxnSpPr>
            <p:nvPr/>
          </p:nvCxnSpPr>
          <p:spPr bwMode="auto">
            <a:xfrm flipH="1">
              <a:off x="846" y="1032"/>
              <a:ext cx="337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2" name="AutoShape 8"/>
            <p:cNvCxnSpPr>
              <a:cxnSpLocks noChangeShapeType="1"/>
              <a:stCxn id="21508" idx="6"/>
              <a:endCxn id="21510" idx="1"/>
            </p:cNvCxnSpPr>
            <p:nvPr/>
          </p:nvCxnSpPr>
          <p:spPr bwMode="auto">
            <a:xfrm>
              <a:off x="1529" y="1032"/>
              <a:ext cx="430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42692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66"/>
                </a:solidFill>
              </a:rPr>
              <a:t>Recursion Tree for Algorithm</a:t>
            </a:r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1143000" y="1981200"/>
            <a:ext cx="7361238" cy="2044700"/>
            <a:chOff x="528" y="1872"/>
            <a:chExt cx="4637" cy="1288"/>
          </a:xfrm>
        </p:grpSpPr>
        <p:sp>
          <p:nvSpPr>
            <p:cNvPr id="22532" name="Oval 4"/>
            <p:cNvSpPr>
              <a:spLocks noChangeArrowheads="1"/>
            </p:cNvSpPr>
            <p:nvPr/>
          </p:nvSpPr>
          <p:spPr bwMode="auto">
            <a:xfrm>
              <a:off x="2485" y="1872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cn</a:t>
              </a:r>
            </a:p>
          </p:txBody>
        </p:sp>
        <p:cxnSp>
          <p:nvCxnSpPr>
            <p:cNvPr id="22533" name="AutoShape 5"/>
            <p:cNvCxnSpPr>
              <a:cxnSpLocks noChangeShapeType="1"/>
              <a:stCxn id="22532" idx="2"/>
              <a:endCxn id="22542" idx="7"/>
            </p:cNvCxnSpPr>
            <p:nvPr/>
          </p:nvCxnSpPr>
          <p:spPr bwMode="auto">
            <a:xfrm flipH="1">
              <a:off x="1590" y="2064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4" name="AutoShape 6"/>
            <p:cNvCxnSpPr>
              <a:cxnSpLocks noChangeShapeType="1"/>
              <a:stCxn id="22532" idx="6"/>
              <a:endCxn id="22537" idx="1"/>
            </p:cNvCxnSpPr>
            <p:nvPr/>
          </p:nvCxnSpPr>
          <p:spPr bwMode="auto">
            <a:xfrm>
              <a:off x="2880" y="2064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2535" name="Group 7"/>
            <p:cNvGrpSpPr>
              <a:grpSpLocks/>
            </p:cNvGrpSpPr>
            <p:nvPr/>
          </p:nvGrpSpPr>
          <p:grpSpPr bwMode="auto">
            <a:xfrm>
              <a:off x="528" y="2448"/>
              <a:ext cx="1949" cy="712"/>
              <a:chOff x="547" y="864"/>
              <a:chExt cx="1709" cy="624"/>
            </a:xfrm>
          </p:grpSpPr>
          <p:sp>
            <p:nvSpPr>
              <p:cNvPr id="22542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2543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2544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2545" name="AutoShape 11"/>
              <p:cNvCxnSpPr>
                <a:cxnSpLocks noChangeShapeType="1"/>
                <a:stCxn id="22542" idx="2"/>
                <a:endCxn id="22543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46" name="AutoShape 12"/>
              <p:cNvCxnSpPr>
                <a:cxnSpLocks noChangeShapeType="1"/>
                <a:stCxn id="22542" idx="6"/>
                <a:endCxn id="22544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2536" name="Group 13"/>
            <p:cNvGrpSpPr>
              <a:grpSpLocks/>
            </p:cNvGrpSpPr>
            <p:nvPr/>
          </p:nvGrpSpPr>
          <p:grpSpPr bwMode="auto">
            <a:xfrm>
              <a:off x="3216" y="2448"/>
              <a:ext cx="1949" cy="712"/>
              <a:chOff x="547" y="864"/>
              <a:chExt cx="1709" cy="624"/>
            </a:xfrm>
          </p:grpSpPr>
          <p:sp>
            <p:nvSpPr>
              <p:cNvPr id="22537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2538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2539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2540" name="AutoShape 17"/>
              <p:cNvCxnSpPr>
                <a:cxnSpLocks noChangeShapeType="1"/>
                <a:stCxn id="22537" idx="2"/>
                <a:endCxn id="22538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41" name="AutoShape 18"/>
              <p:cNvCxnSpPr>
                <a:cxnSpLocks noChangeShapeType="1"/>
                <a:stCxn id="22537" idx="6"/>
                <a:endCxn id="22539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145328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66"/>
                </a:solidFill>
              </a:rPr>
              <a:t>Recursion Tree for Algorithm</a:t>
            </a: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1143000" y="1981200"/>
            <a:ext cx="7361238" cy="2044700"/>
            <a:chOff x="528" y="1872"/>
            <a:chExt cx="4637" cy="1288"/>
          </a:xfrm>
        </p:grpSpPr>
        <p:sp>
          <p:nvSpPr>
            <p:cNvPr id="23557" name="Oval 4"/>
            <p:cNvSpPr>
              <a:spLocks noChangeArrowheads="1"/>
            </p:cNvSpPr>
            <p:nvPr/>
          </p:nvSpPr>
          <p:spPr bwMode="auto">
            <a:xfrm>
              <a:off x="2485" y="1872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cn</a:t>
              </a:r>
            </a:p>
          </p:txBody>
        </p:sp>
        <p:cxnSp>
          <p:nvCxnSpPr>
            <p:cNvPr id="23558" name="AutoShape 5"/>
            <p:cNvCxnSpPr>
              <a:cxnSpLocks noChangeShapeType="1"/>
              <a:stCxn id="23557" idx="2"/>
              <a:endCxn id="23567" idx="7"/>
            </p:cNvCxnSpPr>
            <p:nvPr/>
          </p:nvCxnSpPr>
          <p:spPr bwMode="auto">
            <a:xfrm flipH="1">
              <a:off x="1590" y="2064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59" name="AutoShape 6"/>
            <p:cNvCxnSpPr>
              <a:cxnSpLocks noChangeShapeType="1"/>
              <a:stCxn id="23557" idx="6"/>
              <a:endCxn id="23562" idx="1"/>
            </p:cNvCxnSpPr>
            <p:nvPr/>
          </p:nvCxnSpPr>
          <p:spPr bwMode="auto">
            <a:xfrm>
              <a:off x="2880" y="2064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3560" name="Group 7"/>
            <p:cNvGrpSpPr>
              <a:grpSpLocks/>
            </p:cNvGrpSpPr>
            <p:nvPr/>
          </p:nvGrpSpPr>
          <p:grpSpPr bwMode="auto">
            <a:xfrm>
              <a:off x="528" y="2448"/>
              <a:ext cx="1949" cy="712"/>
              <a:chOff x="547" y="864"/>
              <a:chExt cx="1709" cy="624"/>
            </a:xfrm>
          </p:grpSpPr>
          <p:sp>
            <p:nvSpPr>
              <p:cNvPr id="23567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3568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3569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3570" name="AutoShape 11"/>
              <p:cNvCxnSpPr>
                <a:cxnSpLocks noChangeShapeType="1"/>
                <a:stCxn id="23567" idx="2"/>
                <a:endCxn id="23568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71" name="AutoShape 12"/>
              <p:cNvCxnSpPr>
                <a:cxnSpLocks noChangeShapeType="1"/>
                <a:stCxn id="23567" idx="6"/>
                <a:endCxn id="23569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561" name="Group 13"/>
            <p:cNvGrpSpPr>
              <a:grpSpLocks/>
            </p:cNvGrpSpPr>
            <p:nvPr/>
          </p:nvGrpSpPr>
          <p:grpSpPr bwMode="auto">
            <a:xfrm>
              <a:off x="3216" y="2448"/>
              <a:ext cx="1949" cy="712"/>
              <a:chOff x="547" y="864"/>
              <a:chExt cx="1709" cy="624"/>
            </a:xfrm>
          </p:grpSpPr>
          <p:sp>
            <p:nvSpPr>
              <p:cNvPr id="23562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3563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3564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3565" name="AutoShape 17"/>
              <p:cNvCxnSpPr>
                <a:cxnSpLocks noChangeShapeType="1"/>
                <a:stCxn id="23562" idx="2"/>
                <a:endCxn id="23563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66" name="AutoShape 18"/>
              <p:cNvCxnSpPr>
                <a:cxnSpLocks noChangeShapeType="1"/>
                <a:stCxn id="23562" idx="6"/>
                <a:endCxn id="23564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3556" name="Text Box 19"/>
          <p:cNvSpPr txBox="1">
            <a:spLocks noChangeArrowheads="1"/>
          </p:cNvSpPr>
          <p:nvPr/>
        </p:nvSpPr>
        <p:spPr bwMode="auto">
          <a:xfrm>
            <a:off x="685800" y="513715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Eventually, the input size (the argument of T) goes to 1, so...</a:t>
            </a:r>
          </a:p>
        </p:txBody>
      </p:sp>
    </p:spTree>
    <p:extLst>
      <p:ext uri="{BB962C8B-B14F-4D97-AF65-F5344CB8AC3E}">
        <p14:creationId xmlns:p14="http://schemas.microsoft.com/office/powerpoint/2010/main" val="211497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66"/>
                </a:solidFill>
              </a:rPr>
              <a:t>Recursion Tree for Algorithm</a:t>
            </a:r>
          </a:p>
        </p:txBody>
      </p:sp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1143000" y="1828800"/>
            <a:ext cx="7467600" cy="4559300"/>
            <a:chOff x="720" y="1248"/>
            <a:chExt cx="4704" cy="2872"/>
          </a:xfrm>
        </p:grpSpPr>
        <p:sp>
          <p:nvSpPr>
            <p:cNvPr id="24580" name="Oval 4"/>
            <p:cNvSpPr>
              <a:spLocks noChangeArrowheads="1"/>
            </p:cNvSpPr>
            <p:nvPr/>
          </p:nvSpPr>
          <p:spPr bwMode="auto">
            <a:xfrm>
              <a:off x="2677" y="1248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cn</a:t>
              </a:r>
            </a:p>
          </p:txBody>
        </p:sp>
        <p:cxnSp>
          <p:nvCxnSpPr>
            <p:cNvPr id="24581" name="AutoShape 5"/>
            <p:cNvCxnSpPr>
              <a:cxnSpLocks noChangeShapeType="1"/>
              <a:stCxn id="24580" idx="2"/>
              <a:endCxn id="24612" idx="7"/>
            </p:cNvCxnSpPr>
            <p:nvPr/>
          </p:nvCxnSpPr>
          <p:spPr bwMode="auto">
            <a:xfrm flipH="1">
              <a:off x="1782" y="1440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2" name="AutoShape 6"/>
            <p:cNvCxnSpPr>
              <a:cxnSpLocks noChangeShapeType="1"/>
              <a:stCxn id="24580" idx="6"/>
              <a:endCxn id="24607" idx="1"/>
            </p:cNvCxnSpPr>
            <p:nvPr/>
          </p:nvCxnSpPr>
          <p:spPr bwMode="auto">
            <a:xfrm>
              <a:off x="3072" y="1440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583" name="Group 7"/>
            <p:cNvGrpSpPr>
              <a:grpSpLocks/>
            </p:cNvGrpSpPr>
            <p:nvPr/>
          </p:nvGrpSpPr>
          <p:grpSpPr bwMode="auto">
            <a:xfrm>
              <a:off x="720" y="1824"/>
              <a:ext cx="1949" cy="712"/>
              <a:chOff x="547" y="864"/>
              <a:chExt cx="1709" cy="624"/>
            </a:xfrm>
          </p:grpSpPr>
          <p:sp>
            <p:nvSpPr>
              <p:cNvPr id="24612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4613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4614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4615" name="AutoShape 11"/>
              <p:cNvCxnSpPr>
                <a:cxnSpLocks noChangeShapeType="1"/>
                <a:stCxn id="24612" idx="2"/>
                <a:endCxn id="24613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16" name="AutoShape 12"/>
              <p:cNvCxnSpPr>
                <a:cxnSpLocks noChangeShapeType="1"/>
                <a:stCxn id="24612" idx="6"/>
                <a:endCxn id="24614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584" name="Group 13"/>
            <p:cNvGrpSpPr>
              <a:grpSpLocks/>
            </p:cNvGrpSpPr>
            <p:nvPr/>
          </p:nvGrpSpPr>
          <p:grpSpPr bwMode="auto">
            <a:xfrm>
              <a:off x="3408" y="1824"/>
              <a:ext cx="1949" cy="712"/>
              <a:chOff x="547" y="864"/>
              <a:chExt cx="1709" cy="624"/>
            </a:xfrm>
          </p:grpSpPr>
          <p:sp>
            <p:nvSpPr>
              <p:cNvPr id="24607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4608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4609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4610" name="AutoShape 17"/>
              <p:cNvCxnSpPr>
                <a:cxnSpLocks noChangeShapeType="1"/>
                <a:stCxn id="24607" idx="2"/>
                <a:endCxn id="24608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11" name="AutoShape 18"/>
              <p:cNvCxnSpPr>
                <a:cxnSpLocks noChangeShapeType="1"/>
                <a:stCxn id="24607" idx="6"/>
                <a:endCxn id="24609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585" name="Group 19"/>
            <p:cNvGrpSpPr>
              <a:grpSpLocks/>
            </p:cNvGrpSpPr>
            <p:nvPr/>
          </p:nvGrpSpPr>
          <p:grpSpPr bwMode="auto">
            <a:xfrm>
              <a:off x="720" y="2708"/>
              <a:ext cx="4704" cy="1008"/>
              <a:chOff x="720" y="3072"/>
              <a:chExt cx="4704" cy="1008"/>
            </a:xfrm>
          </p:grpSpPr>
          <p:grpSp>
            <p:nvGrpSpPr>
              <p:cNvPr id="24587" name="Group 20"/>
              <p:cNvGrpSpPr>
                <a:grpSpLocks/>
              </p:cNvGrpSpPr>
              <p:nvPr/>
            </p:nvGrpSpPr>
            <p:grpSpPr bwMode="auto">
              <a:xfrm>
                <a:off x="720" y="3072"/>
                <a:ext cx="395" cy="672"/>
                <a:chOff x="720" y="3072"/>
                <a:chExt cx="395" cy="672"/>
              </a:xfrm>
            </p:grpSpPr>
            <p:sp>
              <p:nvSpPr>
                <p:cNvPr id="24605" name="Oval 21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T(1)</a:t>
                  </a:r>
                </a:p>
              </p:txBody>
            </p:sp>
            <p:sp>
              <p:nvSpPr>
                <p:cNvPr id="24606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588" name="Group 23"/>
              <p:cNvGrpSpPr>
                <a:grpSpLocks/>
              </p:cNvGrpSpPr>
              <p:nvPr/>
            </p:nvGrpSpPr>
            <p:grpSpPr bwMode="auto">
              <a:xfrm>
                <a:off x="1237" y="3072"/>
                <a:ext cx="395" cy="672"/>
                <a:chOff x="720" y="3072"/>
                <a:chExt cx="395" cy="672"/>
              </a:xfrm>
            </p:grpSpPr>
            <p:sp>
              <p:nvSpPr>
                <p:cNvPr id="24603" name="Oval 24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T(1)</a:t>
                  </a:r>
                </a:p>
              </p:txBody>
            </p:sp>
            <p:sp>
              <p:nvSpPr>
                <p:cNvPr id="24604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589" name="Group 26"/>
              <p:cNvGrpSpPr>
                <a:grpSpLocks/>
              </p:cNvGrpSpPr>
              <p:nvPr/>
            </p:nvGrpSpPr>
            <p:grpSpPr bwMode="auto">
              <a:xfrm>
                <a:off x="1765" y="3072"/>
                <a:ext cx="395" cy="672"/>
                <a:chOff x="720" y="3072"/>
                <a:chExt cx="395" cy="672"/>
              </a:xfrm>
            </p:grpSpPr>
            <p:sp>
              <p:nvSpPr>
                <p:cNvPr id="24601" name="Oval 27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T(1)</a:t>
                  </a:r>
                </a:p>
              </p:txBody>
            </p:sp>
            <p:sp>
              <p:nvSpPr>
                <p:cNvPr id="24602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590" name="Group 29"/>
              <p:cNvGrpSpPr>
                <a:grpSpLocks/>
              </p:cNvGrpSpPr>
              <p:nvPr/>
            </p:nvGrpSpPr>
            <p:grpSpPr bwMode="auto">
              <a:xfrm>
                <a:off x="2293" y="3072"/>
                <a:ext cx="395" cy="672"/>
                <a:chOff x="720" y="3072"/>
                <a:chExt cx="395" cy="672"/>
              </a:xfrm>
            </p:grpSpPr>
            <p:sp>
              <p:nvSpPr>
                <p:cNvPr id="24599" name="Oval 30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T(1)</a:t>
                  </a:r>
                </a:p>
              </p:txBody>
            </p:sp>
            <p:sp>
              <p:nvSpPr>
                <p:cNvPr id="24600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591" name="Group 32"/>
              <p:cNvGrpSpPr>
                <a:grpSpLocks/>
              </p:cNvGrpSpPr>
              <p:nvPr/>
            </p:nvGrpSpPr>
            <p:grpSpPr bwMode="auto">
              <a:xfrm>
                <a:off x="4549" y="3072"/>
                <a:ext cx="395" cy="672"/>
                <a:chOff x="720" y="3072"/>
                <a:chExt cx="395" cy="672"/>
              </a:xfrm>
            </p:grpSpPr>
            <p:sp>
              <p:nvSpPr>
                <p:cNvPr id="24597" name="Oval 33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T(1)</a:t>
                  </a:r>
                </a:p>
              </p:txBody>
            </p:sp>
            <p:sp>
              <p:nvSpPr>
                <p:cNvPr id="24598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592" name="Group 35"/>
              <p:cNvGrpSpPr>
                <a:grpSpLocks/>
              </p:cNvGrpSpPr>
              <p:nvPr/>
            </p:nvGrpSpPr>
            <p:grpSpPr bwMode="auto">
              <a:xfrm>
                <a:off x="5029" y="3072"/>
                <a:ext cx="395" cy="672"/>
                <a:chOff x="720" y="3072"/>
                <a:chExt cx="395" cy="672"/>
              </a:xfrm>
            </p:grpSpPr>
            <p:sp>
              <p:nvSpPr>
                <p:cNvPr id="24595" name="Oval 36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T(1)</a:t>
                  </a:r>
                </a:p>
              </p:txBody>
            </p:sp>
            <p:sp>
              <p:nvSpPr>
                <p:cNvPr id="24596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4593" name="Text Box 38"/>
              <p:cNvSpPr txBox="1">
                <a:spLocks noChangeArrowheads="1"/>
              </p:cNvSpPr>
              <p:nvPr/>
            </p:nvSpPr>
            <p:spPr bwMode="auto">
              <a:xfrm>
                <a:off x="2880" y="3408"/>
                <a:ext cx="15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/>
                  <a:t>.............................</a:t>
                </a:r>
              </a:p>
            </p:txBody>
          </p:sp>
          <p:sp>
            <p:nvSpPr>
              <p:cNvPr id="24594" name="AutoShape 39"/>
              <p:cNvSpPr>
                <a:spLocks/>
              </p:cNvSpPr>
              <p:nvPr/>
            </p:nvSpPr>
            <p:spPr bwMode="auto">
              <a:xfrm rot="-5400000">
                <a:off x="2952" y="1608"/>
                <a:ext cx="240" cy="4704"/>
              </a:xfrm>
              <a:prstGeom prst="leftBrace">
                <a:avLst>
                  <a:gd name="adj1" fmla="val 16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4586" name="Text Box 40"/>
            <p:cNvSpPr txBox="1">
              <a:spLocks noChangeArrowheads="1"/>
            </p:cNvSpPr>
            <p:nvPr/>
          </p:nvSpPr>
          <p:spPr bwMode="auto">
            <a:xfrm>
              <a:off x="1872" y="3716"/>
              <a:ext cx="24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/>
                <a:t>n sub problems of size 1, but T(1) = c by boundary condition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053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66"/>
                </a:solidFill>
              </a:rPr>
              <a:t>Recursion Tree for Algorithm</a:t>
            </a:r>
          </a:p>
        </p:txBody>
      </p:sp>
      <p:grpSp>
        <p:nvGrpSpPr>
          <p:cNvPr id="25603" name="Group 3"/>
          <p:cNvGrpSpPr>
            <a:grpSpLocks/>
          </p:cNvGrpSpPr>
          <p:nvPr/>
        </p:nvGrpSpPr>
        <p:grpSpPr bwMode="auto">
          <a:xfrm>
            <a:off x="1143000" y="1981200"/>
            <a:ext cx="7467600" cy="4284663"/>
            <a:chOff x="720" y="1248"/>
            <a:chExt cx="4704" cy="2699"/>
          </a:xfrm>
        </p:grpSpPr>
        <p:sp>
          <p:nvSpPr>
            <p:cNvPr id="25604" name="Oval 4"/>
            <p:cNvSpPr>
              <a:spLocks noChangeArrowheads="1"/>
            </p:cNvSpPr>
            <p:nvPr/>
          </p:nvSpPr>
          <p:spPr bwMode="auto">
            <a:xfrm>
              <a:off x="2677" y="1248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cn</a:t>
              </a:r>
            </a:p>
          </p:txBody>
        </p:sp>
        <p:cxnSp>
          <p:nvCxnSpPr>
            <p:cNvPr id="25605" name="AutoShape 5"/>
            <p:cNvCxnSpPr>
              <a:cxnSpLocks noChangeShapeType="1"/>
              <a:stCxn id="25604" idx="2"/>
              <a:endCxn id="25636" idx="7"/>
            </p:cNvCxnSpPr>
            <p:nvPr/>
          </p:nvCxnSpPr>
          <p:spPr bwMode="auto">
            <a:xfrm flipH="1">
              <a:off x="1782" y="1440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06" name="AutoShape 6"/>
            <p:cNvCxnSpPr>
              <a:cxnSpLocks noChangeShapeType="1"/>
              <a:stCxn id="25604" idx="6"/>
              <a:endCxn id="25631" idx="1"/>
            </p:cNvCxnSpPr>
            <p:nvPr/>
          </p:nvCxnSpPr>
          <p:spPr bwMode="auto">
            <a:xfrm>
              <a:off x="3072" y="1440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5607" name="Group 7"/>
            <p:cNvGrpSpPr>
              <a:grpSpLocks/>
            </p:cNvGrpSpPr>
            <p:nvPr/>
          </p:nvGrpSpPr>
          <p:grpSpPr bwMode="auto">
            <a:xfrm>
              <a:off x="720" y="1824"/>
              <a:ext cx="1949" cy="712"/>
              <a:chOff x="547" y="864"/>
              <a:chExt cx="1709" cy="624"/>
            </a:xfrm>
          </p:grpSpPr>
          <p:sp>
            <p:nvSpPr>
              <p:cNvPr id="25636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5637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5638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5639" name="AutoShape 11"/>
              <p:cNvCxnSpPr>
                <a:cxnSpLocks noChangeShapeType="1"/>
                <a:stCxn id="25636" idx="2"/>
                <a:endCxn id="25637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40" name="AutoShape 12"/>
              <p:cNvCxnSpPr>
                <a:cxnSpLocks noChangeShapeType="1"/>
                <a:stCxn id="25636" idx="6"/>
                <a:endCxn id="25638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5608" name="Group 13"/>
            <p:cNvGrpSpPr>
              <a:grpSpLocks/>
            </p:cNvGrpSpPr>
            <p:nvPr/>
          </p:nvGrpSpPr>
          <p:grpSpPr bwMode="auto">
            <a:xfrm>
              <a:off x="3408" y="1824"/>
              <a:ext cx="1949" cy="712"/>
              <a:chOff x="547" y="864"/>
              <a:chExt cx="1709" cy="624"/>
            </a:xfrm>
          </p:grpSpPr>
          <p:sp>
            <p:nvSpPr>
              <p:cNvPr id="25631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/>
                  <a:t>cn/2</a:t>
                </a:r>
              </a:p>
            </p:txBody>
          </p:sp>
          <p:sp>
            <p:nvSpPr>
              <p:cNvPr id="25632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sp>
            <p:nvSpPr>
              <p:cNvPr id="25633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T(n/4)</a:t>
                </a:r>
              </a:p>
            </p:txBody>
          </p:sp>
          <p:cxnSp>
            <p:nvCxnSpPr>
              <p:cNvPr id="25634" name="AutoShape 17"/>
              <p:cNvCxnSpPr>
                <a:cxnSpLocks noChangeShapeType="1"/>
                <a:stCxn id="25631" idx="2"/>
                <a:endCxn id="25632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35" name="AutoShape 18"/>
              <p:cNvCxnSpPr>
                <a:cxnSpLocks noChangeShapeType="1"/>
                <a:stCxn id="25631" idx="6"/>
                <a:endCxn id="25633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5609" name="Group 19"/>
            <p:cNvGrpSpPr>
              <a:grpSpLocks/>
            </p:cNvGrpSpPr>
            <p:nvPr/>
          </p:nvGrpSpPr>
          <p:grpSpPr bwMode="auto">
            <a:xfrm>
              <a:off x="720" y="2708"/>
              <a:ext cx="4704" cy="1008"/>
              <a:chOff x="720" y="3072"/>
              <a:chExt cx="4704" cy="1008"/>
            </a:xfrm>
          </p:grpSpPr>
          <p:grpSp>
            <p:nvGrpSpPr>
              <p:cNvPr id="25611" name="Group 20"/>
              <p:cNvGrpSpPr>
                <a:grpSpLocks/>
              </p:cNvGrpSpPr>
              <p:nvPr/>
            </p:nvGrpSpPr>
            <p:grpSpPr bwMode="auto">
              <a:xfrm>
                <a:off x="720" y="3072"/>
                <a:ext cx="395" cy="672"/>
                <a:chOff x="720" y="3072"/>
                <a:chExt cx="395" cy="672"/>
              </a:xfrm>
            </p:grpSpPr>
            <p:sp>
              <p:nvSpPr>
                <p:cNvPr id="25629" name="Oval 21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c</a:t>
                  </a:r>
                </a:p>
              </p:txBody>
            </p:sp>
            <p:sp>
              <p:nvSpPr>
                <p:cNvPr id="25630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612" name="Group 23"/>
              <p:cNvGrpSpPr>
                <a:grpSpLocks/>
              </p:cNvGrpSpPr>
              <p:nvPr/>
            </p:nvGrpSpPr>
            <p:grpSpPr bwMode="auto">
              <a:xfrm>
                <a:off x="1237" y="3072"/>
                <a:ext cx="395" cy="672"/>
                <a:chOff x="720" y="3072"/>
                <a:chExt cx="395" cy="672"/>
              </a:xfrm>
            </p:grpSpPr>
            <p:sp>
              <p:nvSpPr>
                <p:cNvPr id="25627" name="Oval 24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c</a:t>
                  </a:r>
                </a:p>
              </p:txBody>
            </p:sp>
            <p:sp>
              <p:nvSpPr>
                <p:cNvPr id="25628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613" name="Group 26"/>
              <p:cNvGrpSpPr>
                <a:grpSpLocks/>
              </p:cNvGrpSpPr>
              <p:nvPr/>
            </p:nvGrpSpPr>
            <p:grpSpPr bwMode="auto">
              <a:xfrm>
                <a:off x="1765" y="3072"/>
                <a:ext cx="395" cy="672"/>
                <a:chOff x="720" y="3072"/>
                <a:chExt cx="395" cy="672"/>
              </a:xfrm>
            </p:grpSpPr>
            <p:sp>
              <p:nvSpPr>
                <p:cNvPr id="25625" name="Oval 27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c</a:t>
                  </a:r>
                </a:p>
              </p:txBody>
            </p:sp>
            <p:sp>
              <p:nvSpPr>
                <p:cNvPr id="25626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614" name="Group 29"/>
              <p:cNvGrpSpPr>
                <a:grpSpLocks/>
              </p:cNvGrpSpPr>
              <p:nvPr/>
            </p:nvGrpSpPr>
            <p:grpSpPr bwMode="auto">
              <a:xfrm>
                <a:off x="2293" y="3072"/>
                <a:ext cx="395" cy="672"/>
                <a:chOff x="720" y="3072"/>
                <a:chExt cx="395" cy="672"/>
              </a:xfrm>
            </p:grpSpPr>
            <p:sp>
              <p:nvSpPr>
                <p:cNvPr id="25623" name="Oval 30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c</a:t>
                  </a:r>
                </a:p>
              </p:txBody>
            </p:sp>
            <p:sp>
              <p:nvSpPr>
                <p:cNvPr id="25624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615" name="Group 32"/>
              <p:cNvGrpSpPr>
                <a:grpSpLocks/>
              </p:cNvGrpSpPr>
              <p:nvPr/>
            </p:nvGrpSpPr>
            <p:grpSpPr bwMode="auto">
              <a:xfrm>
                <a:off x="4549" y="3072"/>
                <a:ext cx="395" cy="672"/>
                <a:chOff x="720" y="3072"/>
                <a:chExt cx="395" cy="672"/>
              </a:xfrm>
            </p:grpSpPr>
            <p:sp>
              <p:nvSpPr>
                <p:cNvPr id="25621" name="Oval 33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c</a:t>
                  </a:r>
                </a:p>
              </p:txBody>
            </p:sp>
            <p:sp>
              <p:nvSpPr>
                <p:cNvPr id="25622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616" name="Group 35"/>
              <p:cNvGrpSpPr>
                <a:grpSpLocks/>
              </p:cNvGrpSpPr>
              <p:nvPr/>
            </p:nvGrpSpPr>
            <p:grpSpPr bwMode="auto">
              <a:xfrm>
                <a:off x="5029" y="3072"/>
                <a:ext cx="395" cy="672"/>
                <a:chOff x="720" y="3072"/>
                <a:chExt cx="395" cy="672"/>
              </a:xfrm>
            </p:grpSpPr>
            <p:sp>
              <p:nvSpPr>
                <p:cNvPr id="25619" name="Oval 36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800"/>
                    <a:t>c</a:t>
                  </a:r>
                </a:p>
              </p:txBody>
            </p:sp>
            <p:sp>
              <p:nvSpPr>
                <p:cNvPr id="25620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617" name="Text Box 38"/>
              <p:cNvSpPr txBox="1">
                <a:spLocks noChangeArrowheads="1"/>
              </p:cNvSpPr>
              <p:nvPr/>
            </p:nvSpPr>
            <p:spPr bwMode="auto">
              <a:xfrm>
                <a:off x="2880" y="3408"/>
                <a:ext cx="15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/>
                  <a:t>.............................</a:t>
                </a:r>
              </a:p>
            </p:txBody>
          </p:sp>
          <p:sp>
            <p:nvSpPr>
              <p:cNvPr id="25618" name="AutoShape 39"/>
              <p:cNvSpPr>
                <a:spLocks/>
              </p:cNvSpPr>
              <p:nvPr/>
            </p:nvSpPr>
            <p:spPr bwMode="auto">
              <a:xfrm rot="-5400000">
                <a:off x="2952" y="1608"/>
                <a:ext cx="240" cy="4704"/>
              </a:xfrm>
              <a:prstGeom prst="leftBrace">
                <a:avLst>
                  <a:gd name="adj1" fmla="val 16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0" name="Text Box 40"/>
            <p:cNvSpPr txBox="1">
              <a:spLocks noChangeArrowheads="1"/>
            </p:cNvSpPr>
            <p:nvPr/>
          </p:nvSpPr>
          <p:spPr bwMode="auto">
            <a:xfrm>
              <a:off x="1872" y="3716"/>
              <a:ext cx="2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/>
                <a:t>n subproblems of size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057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5300" y="304800"/>
            <a:ext cx="5613400" cy="457200"/>
          </a:xfrm>
        </p:spPr>
        <p:txBody>
          <a:bodyPr/>
          <a:lstStyle/>
          <a:p>
            <a:r>
              <a:rPr lang="en-US" altLang="en-US" sz="2400" smtClean="0"/>
              <a:t>      Recursion Tree for Algorithm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4191000" cy="4648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smtClean="0">
                <a:solidFill>
                  <a:srgbClr val="CC0000"/>
                </a:solidFill>
              </a:rPr>
              <a:t>level	nodes/     cost/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CC0000"/>
                </a:solidFill>
              </a:rPr>
              <a:t>		level 	     level</a:t>
            </a:r>
          </a:p>
          <a:p>
            <a:pPr>
              <a:buFontTx/>
              <a:buNone/>
            </a:pPr>
            <a:r>
              <a:rPr lang="en-US" altLang="en-US" sz="1800" smtClean="0"/>
              <a:t>0		2</a:t>
            </a:r>
            <a:r>
              <a:rPr lang="en-US" altLang="en-US" sz="1800" baseline="30000" smtClean="0"/>
              <a:t>0 </a:t>
            </a:r>
            <a:r>
              <a:rPr lang="en-US" altLang="en-US" sz="1800" smtClean="0"/>
              <a:t>= 1	     cn</a:t>
            </a:r>
          </a:p>
          <a:p>
            <a:pPr>
              <a:buFontTx/>
              <a:buNone/>
            </a:pPr>
            <a:r>
              <a:rPr lang="en-US" altLang="en-US" sz="1800" smtClean="0"/>
              <a:t>1		2</a:t>
            </a:r>
            <a:r>
              <a:rPr lang="en-US" altLang="en-US" sz="1800" baseline="30000" smtClean="0"/>
              <a:t>1 </a:t>
            </a:r>
            <a:r>
              <a:rPr lang="en-US" altLang="en-US" sz="1800" smtClean="0"/>
              <a:t>= 2	     cn</a:t>
            </a:r>
          </a:p>
          <a:p>
            <a:pPr>
              <a:buFontTx/>
              <a:buNone/>
            </a:pPr>
            <a:r>
              <a:rPr lang="en-US" altLang="en-US" sz="1800" smtClean="0"/>
              <a:t>2		2</a:t>
            </a:r>
            <a:r>
              <a:rPr lang="en-US" altLang="en-US" sz="1800" baseline="30000" smtClean="0"/>
              <a:t>2 </a:t>
            </a:r>
            <a:r>
              <a:rPr lang="en-US" altLang="en-US" sz="1800" smtClean="0"/>
              <a:t>= 4	     cn</a:t>
            </a:r>
          </a:p>
          <a:p>
            <a:pPr>
              <a:buFontTx/>
              <a:buNone/>
            </a:pPr>
            <a:r>
              <a:rPr lang="en-US" altLang="en-US" sz="1800" smtClean="0"/>
              <a:t>.		.</a:t>
            </a:r>
          </a:p>
          <a:p>
            <a:pPr>
              <a:buFontTx/>
              <a:buNone/>
            </a:pPr>
            <a:r>
              <a:rPr lang="en-US" altLang="en-US" sz="1800" smtClean="0"/>
              <a:t>.		.</a:t>
            </a:r>
          </a:p>
          <a:p>
            <a:pPr>
              <a:buFontTx/>
              <a:buNone/>
            </a:pPr>
            <a:r>
              <a:rPr lang="en-US" altLang="en-US" sz="1800" smtClean="0"/>
              <a:t>.		.</a:t>
            </a:r>
          </a:p>
          <a:p>
            <a:pPr>
              <a:buFontTx/>
              <a:buNone/>
            </a:pPr>
            <a:r>
              <a:rPr lang="en-US" altLang="en-US" sz="1800" smtClean="0"/>
              <a:t>N-1		2</a:t>
            </a:r>
            <a:r>
              <a:rPr lang="en-US" altLang="en-US" sz="1800" baseline="30000" smtClean="0"/>
              <a:t>N-1</a:t>
            </a:r>
            <a:r>
              <a:rPr lang="en-US" altLang="en-US" sz="1800" smtClean="0"/>
              <a:t>=n	      cn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CC0000"/>
                </a:solidFill>
              </a:rPr>
              <a:t>Since 2</a:t>
            </a:r>
            <a:r>
              <a:rPr lang="en-US" altLang="en-US" sz="1800" baseline="30000" smtClean="0">
                <a:solidFill>
                  <a:srgbClr val="CC0000"/>
                </a:solidFill>
              </a:rPr>
              <a:t>N-1</a:t>
            </a:r>
            <a:r>
              <a:rPr lang="en-US" altLang="en-US" sz="1800" smtClean="0">
                <a:solidFill>
                  <a:srgbClr val="CC0000"/>
                </a:solidFill>
              </a:rPr>
              <a:t> = n, 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CC0000"/>
                </a:solidFill>
              </a:rPr>
              <a:t>N-1 = lg(n)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063DE8"/>
                </a:solidFill>
              </a:rPr>
              <a:t>levels = N = 1+lg(n)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063DE8"/>
                </a:solidFill>
              </a:rPr>
              <a:t>T(n) = total cost = (levels)(cost/level)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063DE8"/>
                </a:solidFill>
              </a:rPr>
              <a:t>T(n) = cn [1+lg(n)] = O( n</a:t>
            </a:r>
            <a:r>
              <a:rPr lang="en-US" altLang="en-US" sz="1800" smtClean="0">
                <a:solidFill>
                  <a:srgbClr val="063DE8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smtClean="0">
                <a:solidFill>
                  <a:srgbClr val="063DE8"/>
                </a:solidFill>
              </a:rPr>
              <a:t>lg(n))</a:t>
            </a:r>
          </a:p>
          <a:p>
            <a:pPr>
              <a:buFontTx/>
              <a:buNone/>
            </a:pPr>
            <a:endParaRPr lang="en-US" altLang="en-US" sz="1300" smtClean="0">
              <a:solidFill>
                <a:srgbClr val="063DE8"/>
              </a:solidFill>
            </a:endParaRPr>
          </a:p>
        </p:txBody>
      </p:sp>
      <p:grpSp>
        <p:nvGrpSpPr>
          <p:cNvPr id="40964" name="Group 4"/>
          <p:cNvGrpSpPr>
            <a:grpSpLocks/>
          </p:cNvGrpSpPr>
          <p:nvPr/>
        </p:nvGrpSpPr>
        <p:grpSpPr bwMode="auto">
          <a:xfrm>
            <a:off x="4267200" y="1295400"/>
            <a:ext cx="4343400" cy="4613275"/>
            <a:chOff x="2640" y="1152"/>
            <a:chExt cx="2736" cy="2621"/>
          </a:xfrm>
        </p:grpSpPr>
        <p:sp>
          <p:nvSpPr>
            <p:cNvPr id="40965" name="Oval 5"/>
            <p:cNvSpPr>
              <a:spLocks noChangeArrowheads="1"/>
            </p:cNvSpPr>
            <p:nvPr/>
          </p:nvSpPr>
          <p:spPr bwMode="auto">
            <a:xfrm>
              <a:off x="3863" y="1152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66" name="Oval 6"/>
            <p:cNvSpPr>
              <a:spLocks noChangeArrowheads="1"/>
            </p:cNvSpPr>
            <p:nvPr/>
          </p:nvSpPr>
          <p:spPr bwMode="auto">
            <a:xfrm>
              <a:off x="3299" y="144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67" name="Oval 7"/>
            <p:cNvSpPr>
              <a:spLocks noChangeArrowheads="1"/>
            </p:cNvSpPr>
            <p:nvPr/>
          </p:nvSpPr>
          <p:spPr bwMode="auto">
            <a:xfrm>
              <a:off x="4506" y="144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68" name="Oval 8"/>
            <p:cNvSpPr>
              <a:spLocks noChangeArrowheads="1"/>
            </p:cNvSpPr>
            <p:nvPr/>
          </p:nvSpPr>
          <p:spPr bwMode="auto">
            <a:xfrm>
              <a:off x="2857" y="1680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69" name="Oval 9"/>
            <p:cNvSpPr>
              <a:spLocks noChangeArrowheads="1"/>
            </p:cNvSpPr>
            <p:nvPr/>
          </p:nvSpPr>
          <p:spPr bwMode="auto">
            <a:xfrm>
              <a:off x="3661" y="168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0" name="Oval 10"/>
            <p:cNvSpPr>
              <a:spLocks noChangeArrowheads="1"/>
            </p:cNvSpPr>
            <p:nvPr/>
          </p:nvSpPr>
          <p:spPr bwMode="auto">
            <a:xfrm>
              <a:off x="4144" y="168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1" name="Oval 11"/>
            <p:cNvSpPr>
              <a:spLocks noChangeArrowheads="1"/>
            </p:cNvSpPr>
            <p:nvPr/>
          </p:nvSpPr>
          <p:spPr bwMode="auto">
            <a:xfrm>
              <a:off x="4909" y="1680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endParaRPr lang="en-GB" altLang="en-US" sz="2400" b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2" name="Oval 12"/>
            <p:cNvSpPr>
              <a:spLocks noChangeArrowheads="1"/>
            </p:cNvSpPr>
            <p:nvPr/>
          </p:nvSpPr>
          <p:spPr bwMode="auto">
            <a:xfrm>
              <a:off x="2640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3" name="Oval 13"/>
            <p:cNvSpPr>
              <a:spLocks noChangeArrowheads="1"/>
            </p:cNvSpPr>
            <p:nvPr/>
          </p:nvSpPr>
          <p:spPr bwMode="auto">
            <a:xfrm>
              <a:off x="2841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4" name="Oval 14"/>
            <p:cNvSpPr>
              <a:spLocks noChangeArrowheads="1"/>
            </p:cNvSpPr>
            <p:nvPr/>
          </p:nvSpPr>
          <p:spPr bwMode="auto">
            <a:xfrm>
              <a:off x="3042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5" name="Oval 15"/>
            <p:cNvSpPr>
              <a:spLocks noChangeArrowheads="1"/>
            </p:cNvSpPr>
            <p:nvPr/>
          </p:nvSpPr>
          <p:spPr bwMode="auto">
            <a:xfrm>
              <a:off x="3244" y="2832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6" name="Oval 16"/>
            <p:cNvSpPr>
              <a:spLocks noChangeArrowheads="1"/>
            </p:cNvSpPr>
            <p:nvPr/>
          </p:nvSpPr>
          <p:spPr bwMode="auto">
            <a:xfrm>
              <a:off x="3445" y="2832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7" name="Oval 17"/>
            <p:cNvSpPr>
              <a:spLocks noChangeArrowheads="1"/>
            </p:cNvSpPr>
            <p:nvPr/>
          </p:nvSpPr>
          <p:spPr bwMode="auto">
            <a:xfrm>
              <a:off x="3646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8" name="Oval 18"/>
            <p:cNvSpPr>
              <a:spLocks noChangeArrowheads="1"/>
            </p:cNvSpPr>
            <p:nvPr/>
          </p:nvSpPr>
          <p:spPr bwMode="auto">
            <a:xfrm>
              <a:off x="5014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79" name="Oval 19"/>
            <p:cNvSpPr>
              <a:spLocks noChangeArrowheads="1"/>
            </p:cNvSpPr>
            <p:nvPr/>
          </p:nvSpPr>
          <p:spPr bwMode="auto">
            <a:xfrm>
              <a:off x="5215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0980" name="AutoShape 20"/>
            <p:cNvSpPr>
              <a:spLocks/>
            </p:cNvSpPr>
            <p:nvPr/>
          </p:nvSpPr>
          <p:spPr bwMode="auto">
            <a:xfrm rot="-5400000">
              <a:off x="3851" y="1861"/>
              <a:ext cx="313" cy="2736"/>
            </a:xfrm>
            <a:prstGeom prst="leftBrace">
              <a:avLst>
                <a:gd name="adj1" fmla="val 7284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cxnSp>
          <p:nvCxnSpPr>
            <p:cNvPr id="40981" name="AutoShape 21"/>
            <p:cNvCxnSpPr>
              <a:cxnSpLocks noChangeShapeType="1"/>
              <a:stCxn id="40965" idx="3"/>
              <a:endCxn id="40966" idx="7"/>
            </p:cNvCxnSpPr>
            <p:nvPr/>
          </p:nvCxnSpPr>
          <p:spPr bwMode="auto">
            <a:xfrm flipH="1">
              <a:off x="3402" y="1275"/>
              <a:ext cx="478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2" name="AutoShape 22"/>
            <p:cNvCxnSpPr>
              <a:cxnSpLocks noChangeShapeType="1"/>
              <a:stCxn id="40966" idx="3"/>
              <a:endCxn id="40968" idx="7"/>
            </p:cNvCxnSpPr>
            <p:nvPr/>
          </p:nvCxnSpPr>
          <p:spPr bwMode="auto">
            <a:xfrm flipH="1">
              <a:off x="2960" y="1563"/>
              <a:ext cx="35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3" name="AutoShape 23"/>
            <p:cNvCxnSpPr>
              <a:cxnSpLocks noChangeShapeType="1"/>
              <a:stCxn id="40966" idx="5"/>
              <a:endCxn id="40969" idx="1"/>
            </p:cNvCxnSpPr>
            <p:nvPr/>
          </p:nvCxnSpPr>
          <p:spPr bwMode="auto">
            <a:xfrm>
              <a:off x="3402" y="1563"/>
              <a:ext cx="27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4" name="AutoShape 24"/>
            <p:cNvCxnSpPr>
              <a:cxnSpLocks noChangeShapeType="1"/>
            </p:cNvCxnSpPr>
            <p:nvPr/>
          </p:nvCxnSpPr>
          <p:spPr bwMode="auto">
            <a:xfrm flipH="1" flipV="1">
              <a:off x="2698" y="2377"/>
              <a:ext cx="2" cy="4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5" name="AutoShape 25"/>
            <p:cNvCxnSpPr>
              <a:cxnSpLocks noChangeShapeType="1"/>
              <a:stCxn id="40965" idx="6"/>
              <a:endCxn id="40967" idx="1"/>
            </p:cNvCxnSpPr>
            <p:nvPr/>
          </p:nvCxnSpPr>
          <p:spPr bwMode="auto">
            <a:xfrm>
              <a:off x="3983" y="1224"/>
              <a:ext cx="541" cy="2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6" name="AutoShape 26"/>
            <p:cNvCxnSpPr>
              <a:cxnSpLocks noChangeShapeType="1"/>
              <a:stCxn id="40967" idx="3"/>
              <a:endCxn id="40970" idx="7"/>
            </p:cNvCxnSpPr>
            <p:nvPr/>
          </p:nvCxnSpPr>
          <p:spPr bwMode="auto">
            <a:xfrm flipH="1">
              <a:off x="4247" y="1563"/>
              <a:ext cx="27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7" name="AutoShape 27"/>
            <p:cNvCxnSpPr>
              <a:cxnSpLocks noChangeShapeType="1"/>
              <a:stCxn id="40967" idx="5"/>
              <a:endCxn id="40971" idx="1"/>
            </p:cNvCxnSpPr>
            <p:nvPr/>
          </p:nvCxnSpPr>
          <p:spPr bwMode="auto">
            <a:xfrm>
              <a:off x="4609" y="1563"/>
              <a:ext cx="31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988" name="Text Box 28"/>
            <p:cNvSpPr txBox="1">
              <a:spLocks noChangeArrowheads="1"/>
            </p:cNvSpPr>
            <p:nvPr/>
          </p:nvSpPr>
          <p:spPr bwMode="auto">
            <a:xfrm>
              <a:off x="3191" y="3456"/>
              <a:ext cx="1661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n nodes at level N-1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742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Visual Representation of the Recurrence for Merge Sort</a:t>
            </a:r>
            <a:endParaRPr lang="en-US" dirty="0"/>
          </a:p>
        </p:txBody>
      </p:sp>
      <p:pic>
        <p:nvPicPr>
          <p:cNvPr id="14339" name="Content Placeholder 4" descr="Screen shot 2011-01-20 at 4.29.43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9" b="-1559"/>
          <a:stretch>
            <a:fillRect/>
          </a:stretch>
        </p:blipFill>
        <p:spPr>
          <a:xfrm>
            <a:off x="457200" y="1600200"/>
            <a:ext cx="8229600" cy="47561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tIns="45720" bIns="45720"/>
          <a:lstStyle/>
          <a:p>
            <a:pPr eaLnBrk="1" hangingPunct="1"/>
            <a:r>
              <a:rPr lang="en-US" altLang="en-US" smtClean="0"/>
              <a:t>Time Complexity (Using Master Theorem)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Recurrence Relation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	T(n)=2T(n/2) + n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Using Master Theorem applying case 2: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So time complexity is O(nlogn)</a:t>
            </a:r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693988" y="3643313"/>
          <a:ext cx="279241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3" imgW="863225" imgH="457002" progId="Equation.3">
                  <p:embed/>
                </p:oleObj>
              </mc:Choice>
              <mc:Fallback>
                <p:oleObj name="Equation" r:id="rId3" imgW="863225" imgH="4570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3643313"/>
                        <a:ext cx="2792412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Θ(nlgn) grows more slowly than Θ(n</a:t>
            </a:r>
            <a:r>
              <a:rPr lang="en-US" altLang="en-US" baseline="30000" smtClean="0"/>
              <a:t>2</a:t>
            </a:r>
            <a:r>
              <a:rPr lang="en-US" altLang="en-US" smtClean="0"/>
              <a:t>)</a:t>
            </a:r>
          </a:p>
          <a:p>
            <a:r>
              <a:rPr lang="en-US" altLang="en-US" smtClean="0"/>
              <a:t>Therefore, </a:t>
            </a:r>
            <a:r>
              <a:rPr lang="en-US" altLang="en-US" smtClean="0">
                <a:solidFill>
                  <a:srgbClr val="FF0000"/>
                </a:solidFill>
              </a:rPr>
              <a:t>merge sort asymptotically beats insertion sort in the worst case</a:t>
            </a:r>
            <a:r>
              <a:rPr lang="en-US" altLang="en-US" smtClean="0"/>
              <a:t>.</a:t>
            </a:r>
          </a:p>
          <a:p>
            <a:r>
              <a:rPr lang="en-US" altLang="en-US" smtClean="0"/>
              <a:t>In practice, merge sort beats insertion sort for n &gt;=3 </a:t>
            </a:r>
          </a:p>
        </p:txBody>
      </p:sp>
      <p:sp>
        <p:nvSpPr>
          <p:cNvPr id="1638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Sorting algorithms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Selection and bubble sort have quadratic best/average/worst-case performance</a:t>
            </a:r>
          </a:p>
          <a:p>
            <a:r>
              <a:rPr lang="en-US" altLang="en-US" smtClean="0"/>
              <a:t>Insertion sort has quadratic average-case and worst-case performance</a:t>
            </a:r>
          </a:p>
          <a:p>
            <a:r>
              <a:rPr lang="en-US" altLang="en-US" smtClean="0"/>
              <a:t>The faster comparison based algorithm ?</a:t>
            </a:r>
          </a:p>
          <a:p>
            <a:pPr>
              <a:buFontTx/>
              <a:buNone/>
            </a:pPr>
            <a:r>
              <a:rPr lang="en-US" altLang="en-US" smtClean="0"/>
              <a:t>                O(nlogn)</a:t>
            </a:r>
          </a:p>
          <a:p>
            <a:endParaRPr lang="en-US" altLang="en-US" smtClean="0"/>
          </a:p>
          <a:p>
            <a:r>
              <a:rPr lang="en-US" altLang="en-US" smtClean="0"/>
              <a:t>Mergesort and Quicksort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Solving Recurrences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The substitution method</a:t>
            </a:r>
          </a:p>
          <a:p>
            <a:pPr lvl="1"/>
            <a:r>
              <a:rPr lang="en-US" altLang="en-US" smtClean="0"/>
              <a:t>A.k.a. “making a good guess method”</a:t>
            </a:r>
          </a:p>
          <a:p>
            <a:pPr lvl="1"/>
            <a:r>
              <a:rPr lang="en-US" altLang="en-US" smtClean="0"/>
              <a:t>Guess the form of the answer, then use mathematical induction to find the constants and show that the solution works</a:t>
            </a:r>
          </a:p>
          <a:p>
            <a:pPr lvl="1"/>
            <a:r>
              <a:rPr lang="en-US" altLang="en-US" smtClean="0"/>
              <a:t>Example:</a:t>
            </a:r>
          </a:p>
          <a:p>
            <a:pPr lvl="2"/>
            <a:r>
              <a:rPr lang="en-US" altLang="en-US" smtClean="0"/>
              <a:t>T(n) = 2T(n/2) + </a:t>
            </a:r>
            <a:r>
              <a:rPr lang="en-US" altLang="en-US" smtClean="0">
                <a:sym typeface="Symbol" panose="05050102010706020507" pitchFamily="18" charset="2"/>
              </a:rPr>
              <a:t>n  </a:t>
            </a:r>
            <a:r>
              <a:rPr lang="en-US" altLang="en-US" smtClean="0">
                <a:sym typeface="Monotype Sorts" pitchFamily="2" charset="2"/>
              </a:rPr>
              <a:t> 	T(n) = </a:t>
            </a:r>
            <a:r>
              <a:rPr lang="en-US" altLang="en-US" smtClean="0">
                <a:sym typeface="Symbol" panose="05050102010706020507" pitchFamily="18" charset="2"/>
              </a:rPr>
              <a:t>O(n lg n)</a:t>
            </a:r>
          </a:p>
        </p:txBody>
      </p:sp>
    </p:spTree>
    <p:extLst>
      <p:ext uri="{BB962C8B-B14F-4D97-AF65-F5344CB8AC3E}">
        <p14:creationId xmlns:p14="http://schemas.microsoft.com/office/powerpoint/2010/main" val="201426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9640</TotalTime>
  <Pages>11</Pages>
  <Words>1126</Words>
  <Application>Microsoft Office PowerPoint</Application>
  <PresentationFormat>On-screen Show (4:3)</PresentationFormat>
  <Paragraphs>289</Paragraphs>
  <Slides>38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Monotype Sorts</vt:lpstr>
      <vt:lpstr>Symbol</vt:lpstr>
      <vt:lpstr>Times New Roman</vt:lpstr>
      <vt:lpstr>Wingdings</vt:lpstr>
      <vt:lpstr>Wingdings 2</vt:lpstr>
      <vt:lpstr>plsd</vt:lpstr>
      <vt:lpstr>Equation</vt:lpstr>
      <vt:lpstr>   Design and Analysis of Algorithms</vt:lpstr>
      <vt:lpstr>Merge sort</vt:lpstr>
      <vt:lpstr>Merge Sort (Divide and Conquer)</vt:lpstr>
      <vt:lpstr>Key Operation</vt:lpstr>
      <vt:lpstr>Visualization MergeSort</vt:lpstr>
      <vt:lpstr>Example</vt:lpstr>
      <vt:lpstr>Example Cont’d</vt:lpstr>
      <vt:lpstr>PowerPoint Presentation</vt:lpstr>
      <vt:lpstr>Merge-Sort</vt:lpstr>
      <vt:lpstr>Analysis of Merge Sort</vt:lpstr>
      <vt:lpstr>Worst-case running time T(n) of Merge sort:</vt:lpstr>
      <vt:lpstr>Analysis of Merge Sort</vt:lpstr>
      <vt:lpstr>Recurrences</vt:lpstr>
      <vt:lpstr>Recurrence Examples</vt:lpstr>
      <vt:lpstr>Example </vt:lpstr>
      <vt:lpstr>PowerPoint Presentation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Recursion Tree for Algorithm</vt:lpstr>
      <vt:lpstr>Visual Representation of the Recurrence for Merge Sort</vt:lpstr>
      <vt:lpstr>Time Complexity (Using Master Theorem)</vt:lpstr>
      <vt:lpstr>PowerPoint Presentation</vt:lpstr>
      <vt:lpstr>Sorting algorithms</vt:lpstr>
      <vt:lpstr>Solving Recurrences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Windows User</cp:lastModifiedBy>
  <cp:revision>499</cp:revision>
  <cp:lastPrinted>2020-02-19T09:05:23Z</cp:lastPrinted>
  <dcterms:created xsi:type="dcterms:W3CDTF">1998-07-26T04:07:26Z</dcterms:created>
  <dcterms:modified xsi:type="dcterms:W3CDTF">2025-09-08T05:02:24Z</dcterms:modified>
</cp:coreProperties>
</file>