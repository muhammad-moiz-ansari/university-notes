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86" r:id="rId2"/>
    <p:sldId id="443" r:id="rId3"/>
    <p:sldId id="387" r:id="rId4"/>
    <p:sldId id="388" r:id="rId5"/>
    <p:sldId id="426" r:id="rId6"/>
    <p:sldId id="427" r:id="rId7"/>
    <p:sldId id="389" r:id="rId8"/>
    <p:sldId id="390" r:id="rId9"/>
    <p:sldId id="428" r:id="rId10"/>
    <p:sldId id="431" r:id="rId11"/>
    <p:sldId id="429" r:id="rId12"/>
    <p:sldId id="392" r:id="rId13"/>
    <p:sldId id="432" r:id="rId14"/>
    <p:sldId id="433" r:id="rId15"/>
    <p:sldId id="393" r:id="rId16"/>
    <p:sldId id="435" r:id="rId17"/>
    <p:sldId id="434" r:id="rId18"/>
    <p:sldId id="437" r:id="rId19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CC0099"/>
    <a:srgbClr val="990033"/>
    <a:srgbClr val="FC0128"/>
    <a:srgbClr val="063DE8"/>
    <a:srgbClr val="DAFEA0"/>
    <a:srgbClr val="FFDDAB"/>
    <a:srgbClr val="CCFF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7" autoAdjust="0"/>
    <p:restoredTop sz="69272" autoAdjust="0"/>
  </p:normalViewPr>
  <p:slideViewPr>
    <p:cSldViewPr>
      <p:cViewPr varScale="1">
        <p:scale>
          <a:sx n="51" d="100"/>
          <a:sy n="51" d="100"/>
        </p:scale>
        <p:origin x="2046" y="66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338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6341793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2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2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194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6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8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59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599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40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6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1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</a:pP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dirty="0" smtClean="0"/>
              <a:t>Master Method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endParaRPr lang="en-US" altLang="en-US" sz="2000" dirty="0" smtClean="0"/>
          </a:p>
          <a:p>
            <a:pPr>
              <a:lnSpc>
                <a:spcPct val="80000"/>
              </a:lnSpc>
            </a:pPr>
            <a:endParaRPr lang="en-US" altLang="en-US" sz="2000" dirty="0" smtClean="0"/>
          </a:p>
          <a:p>
            <a:pPr>
              <a:lnSpc>
                <a:spcPct val="80000"/>
              </a:lnSpc>
            </a:pPr>
            <a:endParaRPr lang="en-US" altLang="en-US" sz="1000" dirty="0" smtClean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altLang="en-US"/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Methods to solve recurrence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00B050"/>
                </a:solidFill>
              </a:rPr>
              <a:t>Iteration method</a:t>
            </a:r>
          </a:p>
          <a:p>
            <a:r>
              <a:rPr lang="en-US" altLang="en-US" dirty="0" smtClean="0">
                <a:solidFill>
                  <a:srgbClr val="00B050"/>
                </a:solidFill>
              </a:rPr>
              <a:t>Recursion tree method</a:t>
            </a:r>
          </a:p>
          <a:p>
            <a:r>
              <a:rPr lang="en-US" altLang="en-US" smtClean="0">
                <a:solidFill>
                  <a:srgbClr val="FF0000"/>
                </a:solidFill>
              </a:rPr>
              <a:t>Master </a:t>
            </a:r>
            <a:r>
              <a:rPr lang="en-US" altLang="en-US" dirty="0" smtClean="0">
                <a:solidFill>
                  <a:srgbClr val="FF0000"/>
                </a:solidFill>
              </a:rPr>
              <a:t>Theorem</a:t>
            </a:r>
          </a:p>
        </p:txBody>
      </p:sp>
    </p:spTree>
    <p:extLst>
      <p:ext uri="{BB962C8B-B14F-4D97-AF65-F5344CB8AC3E}">
        <p14:creationId xmlns:p14="http://schemas.microsoft.com/office/powerpoint/2010/main" val="41722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6799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master</a:t>
            </a:r>
            <a:r>
              <a:rPr spc="-60" dirty="0"/>
              <a:t> </a:t>
            </a:r>
            <a:r>
              <a:rPr spc="-5" dirty="0"/>
              <a:t>method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113" y="2107515"/>
            <a:ext cx="8740819" cy="369011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3650"/>
              </a:lnSpc>
              <a:spcBef>
                <a:spcPts val="375"/>
              </a:spcBef>
            </a:pPr>
            <a:r>
              <a:rPr sz="3200" spc="-5" dirty="0">
                <a:latin typeface="Times New Roman"/>
                <a:cs typeface="Times New Roman"/>
              </a:rPr>
              <a:t>The master method applies to recurrences of  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 smtClean="0">
                <a:latin typeface="Times New Roman"/>
                <a:cs typeface="Times New Roman"/>
              </a:rPr>
              <a:t>form</a:t>
            </a:r>
            <a:endParaRPr lang="en-US" sz="3200" dirty="0">
              <a:latin typeface="Times New Roman"/>
              <a:cs typeface="Times New Roman"/>
            </a:endParaRPr>
          </a:p>
          <a:p>
            <a:pPr marL="12700" marR="5080">
              <a:lnSpc>
                <a:spcPts val="3650"/>
              </a:lnSpc>
              <a:spcBef>
                <a:spcPts val="375"/>
              </a:spcBef>
            </a:pPr>
            <a:endParaRPr lang="en-US" sz="3200" b="1" i="1" spc="-5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12700" marR="5080" algn="ctr">
              <a:lnSpc>
                <a:spcPts val="3650"/>
              </a:lnSpc>
              <a:spcBef>
                <a:spcPts val="375"/>
              </a:spcBef>
            </a:pPr>
            <a:r>
              <a:rPr sz="4800" b="1" i="1" spc="-5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4800" b="1" spc="-5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4800" b="1" i="1" spc="-5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48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4800" b="1" spc="-2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48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= </a:t>
            </a:r>
            <a:r>
              <a:rPr sz="48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sz="4800" b="1" i="1" spc="-35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48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48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48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48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/</a:t>
            </a:r>
            <a:r>
              <a:rPr sz="48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48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4800" b="1" spc="-1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4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+</a:t>
            </a:r>
            <a:r>
              <a:rPr sz="4800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48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f</a:t>
            </a:r>
            <a:r>
              <a:rPr sz="4800" b="1" i="1" spc="-355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48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48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48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</a:t>
            </a:r>
            <a:r>
              <a:rPr sz="4800" spc="-5" dirty="0" smtClean="0">
                <a:latin typeface="Times New Roman"/>
                <a:cs typeface="Times New Roman"/>
              </a:rPr>
              <a:t>,</a:t>
            </a:r>
            <a:endParaRPr lang="en-US" sz="4800" spc="-5" dirty="0" smtClean="0">
              <a:latin typeface="Times New Roman"/>
              <a:cs typeface="Times New Roman"/>
            </a:endParaRPr>
          </a:p>
          <a:p>
            <a:pPr marL="12700" marR="5080">
              <a:lnSpc>
                <a:spcPts val="3650"/>
              </a:lnSpc>
              <a:spcBef>
                <a:spcPts val="375"/>
              </a:spcBef>
            </a:pPr>
            <a:endParaRPr sz="4800" dirty="0">
              <a:latin typeface="Times New Roman"/>
              <a:cs typeface="Times New Roman"/>
            </a:endParaRPr>
          </a:p>
          <a:p>
            <a:pPr marL="12700" marR="276860" indent="-635">
              <a:lnSpc>
                <a:spcPts val="3640"/>
              </a:lnSpc>
              <a:spcBef>
                <a:spcPts val="1455"/>
              </a:spcBef>
              <a:tabLst>
                <a:tab pos="3931285" algn="l"/>
                <a:tab pos="4203065" algn="l"/>
              </a:tabLst>
            </a:pPr>
            <a:r>
              <a:rPr sz="3200" spc="-5" dirty="0">
                <a:latin typeface="Times New Roman"/>
                <a:cs typeface="Times New Roman"/>
              </a:rPr>
              <a:t>where </a:t>
            </a:r>
            <a:r>
              <a:rPr sz="3200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solidFill>
                  <a:schemeClr val="accent1">
                    <a:lumMod val="50000"/>
                  </a:schemeClr>
                </a:solidFill>
                <a:latin typeface="Symbol"/>
                <a:cs typeface="Symbol"/>
              </a:rPr>
              <a:t></a:t>
            </a:r>
            <a:r>
              <a:rPr sz="3200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1, </a:t>
            </a:r>
            <a:r>
              <a:rPr sz="3200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b </a:t>
            </a:r>
            <a:r>
              <a:rPr sz="3200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&gt;</a:t>
            </a:r>
            <a:r>
              <a:rPr sz="3200" spc="6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	</a:t>
            </a:r>
            <a:r>
              <a:rPr sz="3200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f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is asymptotically  positive.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059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987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</a:t>
            </a:r>
            <a:r>
              <a:rPr spc="-75" dirty="0"/>
              <a:t> </a:t>
            </a:r>
            <a:r>
              <a:rPr spc="-5" dirty="0"/>
              <a:t>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5" y="1495310"/>
            <a:ext cx="7672705" cy="325024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990033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Times New Roman"/>
              <a:buAutoNum type="arabicPeriod"/>
              <a:tabLst>
                <a:tab pos="598805" algn="l"/>
                <a:tab pos="59944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O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22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–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42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ts val="365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</a:t>
            </a:r>
            <a:r>
              <a:rPr sz="36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polynomially slower than</a:t>
            </a:r>
            <a:r>
              <a:rPr sz="3600" b="1" spc="-35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endParaRPr sz="3150" baseline="25132" dirty="0">
              <a:latin typeface="Times New Roman"/>
              <a:cs typeface="Times New Roman"/>
            </a:endParaRPr>
          </a:p>
          <a:p>
            <a:pPr marL="729615">
              <a:lnSpc>
                <a:spcPts val="3650"/>
              </a:lnSpc>
            </a:pPr>
            <a:r>
              <a:rPr sz="3200" spc="-5" dirty="0">
                <a:latin typeface="Times New Roman"/>
                <a:cs typeface="Times New Roman"/>
              </a:rPr>
              <a:t>(by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40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factor).</a:t>
            </a:r>
            <a:endParaRPr sz="3200" dirty="0">
              <a:latin typeface="Times New Roman"/>
              <a:cs typeface="Times New Roman"/>
            </a:endParaRPr>
          </a:p>
          <a:p>
            <a:pPr marL="497840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 = </a:t>
            </a:r>
            <a:r>
              <a:rPr sz="3200" b="1" spc="5" dirty="0">
                <a:solidFill>
                  <a:schemeClr val="accent2">
                    <a:lumMod val="50000"/>
                  </a:schemeClr>
                </a:solidFill>
                <a:latin typeface="Symbol"/>
                <a:cs typeface="Symbol"/>
              </a:rPr>
              <a:t></a:t>
            </a:r>
            <a:r>
              <a:rPr sz="3200" b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sz="3150" b="1" i="1" spc="7" baseline="13227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3150" b="1" i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sz="3200" b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3200" b="1" spc="-5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342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6663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 cases</a:t>
            </a:r>
            <a:r>
              <a:rPr spc="-45" dirty="0"/>
              <a:t> </a:t>
            </a:r>
            <a:r>
              <a:rPr spc="-5"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5" y="1388948"/>
            <a:ext cx="8237220" cy="4037003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60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705485" indent="-558800">
              <a:lnSpc>
                <a:spcPct val="100000"/>
              </a:lnSpc>
              <a:spcBef>
                <a:spcPts val="1365"/>
              </a:spcBef>
              <a:buClr>
                <a:srgbClr val="CC0000"/>
              </a:buClr>
              <a:buFont typeface="Times New Roman"/>
              <a:buAutoNum type="arabicPeriod" startAt="3"/>
              <a:tabLst>
                <a:tab pos="705485" algn="l"/>
                <a:tab pos="70612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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30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+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3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833119" marR="17780" lvl="1" indent="-229235">
              <a:lnSpc>
                <a:spcPts val="3460"/>
              </a:lnSpc>
              <a:spcBef>
                <a:spcPts val="1190"/>
              </a:spcBef>
              <a:buClr>
                <a:srgbClr val="CC0000"/>
              </a:buClr>
              <a:buFont typeface="Times New Roman"/>
              <a:buChar char="•"/>
              <a:tabLst>
                <a:tab pos="833755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</a:t>
            </a:r>
            <a:r>
              <a:rPr sz="36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polynomially faster than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(by 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39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factor),</a:t>
            </a:r>
            <a:endParaRPr sz="3200" dirty="0">
              <a:latin typeface="Times New Roman"/>
              <a:cs typeface="Times New Roman"/>
            </a:endParaRPr>
          </a:p>
          <a:p>
            <a:pPr marL="604520">
              <a:lnSpc>
                <a:spcPts val="3654"/>
              </a:lnSpc>
              <a:spcBef>
                <a:spcPts val="710"/>
              </a:spcBef>
            </a:pPr>
            <a:r>
              <a:rPr sz="3200" b="1" i="1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satisfies the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regularity condition</a:t>
            </a:r>
            <a:r>
              <a:rPr sz="3200" b="1" i="1" spc="-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endParaRPr sz="3200" dirty="0">
              <a:latin typeface="Times New Roman"/>
              <a:cs typeface="Times New Roman"/>
            </a:endParaRPr>
          </a:p>
          <a:p>
            <a:pPr marL="605155">
              <a:lnSpc>
                <a:spcPts val="3654"/>
              </a:lnSpc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i="1" spc="-36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n/b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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spc="-29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&lt;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77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</a:t>
            </a:r>
            <a:r>
              <a:rPr sz="32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3200" b="1" spc="-1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=</a:t>
            </a:r>
            <a:r>
              <a:rPr sz="3200" b="1" spc="-1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Symbol"/>
                <a:cs typeface="Symbol"/>
              </a:rPr>
              <a:t>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spc="-204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f</a:t>
            </a:r>
            <a:r>
              <a:rPr sz="3200" b="1" i="1" spc="-35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3200" b="1" spc="-50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318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987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</a:t>
            </a:r>
            <a:r>
              <a:rPr spc="-75" dirty="0"/>
              <a:t> </a:t>
            </a:r>
            <a:r>
              <a:rPr spc="-5" dirty="0"/>
              <a:t>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5" y="1495310"/>
            <a:ext cx="7804150" cy="2609048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1825"/>
              </a:spcBef>
              <a:buClr>
                <a:srgbClr val="CC0000"/>
              </a:buClr>
              <a:buFont typeface="Times New Roman"/>
              <a:buAutoNum type="arabicPeriod" startAt="2"/>
              <a:tabLst>
                <a:tab pos="598805" algn="l"/>
                <a:tab pos="599440" algn="l"/>
              </a:tabLst>
            </a:pP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lg</a:t>
            </a:r>
            <a:r>
              <a:rPr sz="3150" i="1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k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</a:t>
            </a:r>
            <a:r>
              <a:rPr sz="3200" spc="-34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ct val="10000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6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grow at similar</a:t>
            </a:r>
            <a:r>
              <a:rPr sz="3600" b="1" spc="-12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rates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6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36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600" b="1" i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600" b="1" spc="-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 = </a:t>
            </a:r>
            <a:r>
              <a:rPr sz="3600" b="1" spc="5" dirty="0">
                <a:solidFill>
                  <a:schemeClr val="accent2">
                    <a:lumMod val="50000"/>
                  </a:schemeClr>
                </a:solidFill>
                <a:latin typeface="Symbol"/>
                <a:cs typeface="Symbol"/>
              </a:rPr>
              <a:t></a:t>
            </a:r>
            <a:r>
              <a:rPr sz="3600" b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600" b="1" i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600" b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sz="3600" b="1" i="1" spc="7" baseline="13227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3600" b="1" i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 </a:t>
            </a:r>
            <a:r>
              <a:rPr sz="3600" b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lg</a:t>
            </a:r>
            <a:r>
              <a:rPr sz="3600" b="1" i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k</a:t>
            </a:r>
            <a:r>
              <a:rPr sz="3600" b="1" spc="7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+1</a:t>
            </a:r>
            <a:r>
              <a:rPr sz="3600" b="1" i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600" b="1" spc="5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3600" b="1" spc="-33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234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987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</a:t>
            </a:r>
            <a:r>
              <a:rPr spc="-75" dirty="0"/>
              <a:t> </a:t>
            </a:r>
            <a:r>
              <a:rPr spc="-5" dirty="0"/>
              <a:t>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4" y="1495310"/>
            <a:ext cx="8636635" cy="4689104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Times New Roman"/>
              <a:buAutoNum type="arabicPeriod"/>
              <a:tabLst>
                <a:tab pos="598805" algn="l"/>
                <a:tab pos="59944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O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22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–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42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ts val="365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polynomially slower than</a:t>
            </a:r>
            <a:r>
              <a:rPr sz="3200" b="1" spc="-35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endParaRPr sz="3150" baseline="25132" dirty="0">
              <a:latin typeface="Times New Roman"/>
              <a:cs typeface="Times New Roman"/>
            </a:endParaRPr>
          </a:p>
          <a:p>
            <a:pPr marL="729615">
              <a:lnSpc>
                <a:spcPts val="3650"/>
              </a:lnSpc>
            </a:pPr>
            <a:r>
              <a:rPr sz="3200" spc="-5" dirty="0">
                <a:latin typeface="Times New Roman"/>
                <a:cs typeface="Times New Roman"/>
              </a:rPr>
              <a:t>(by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40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factor).</a:t>
            </a:r>
            <a:endParaRPr sz="3200" dirty="0">
              <a:latin typeface="Times New Roman"/>
              <a:cs typeface="Times New Roman"/>
            </a:endParaRPr>
          </a:p>
          <a:p>
            <a:pPr marL="497840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1825"/>
              </a:spcBef>
              <a:buClr>
                <a:srgbClr val="CC0000"/>
              </a:buClr>
              <a:buFont typeface="Times New Roman"/>
              <a:buAutoNum type="arabicPeriod" startAt="2"/>
              <a:tabLst>
                <a:tab pos="598805" algn="l"/>
                <a:tab pos="59944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lg</a:t>
            </a:r>
            <a:r>
              <a:rPr sz="3150" i="1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k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</a:t>
            </a:r>
            <a:r>
              <a:rPr sz="3200" spc="-34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ct val="10000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grow at similar</a:t>
            </a:r>
            <a:r>
              <a:rPr sz="3200" b="1" spc="-12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rates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lg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+1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33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0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6663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 cases</a:t>
            </a:r>
            <a:r>
              <a:rPr spc="-45" dirty="0"/>
              <a:t> </a:t>
            </a:r>
            <a:r>
              <a:rPr spc="-5"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5" y="1388948"/>
            <a:ext cx="8237220" cy="398081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60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705485" indent="-558800">
              <a:lnSpc>
                <a:spcPct val="100000"/>
              </a:lnSpc>
              <a:spcBef>
                <a:spcPts val="1365"/>
              </a:spcBef>
              <a:buClr>
                <a:srgbClr val="CC0000"/>
              </a:buClr>
              <a:buFont typeface="Times New Roman"/>
              <a:buAutoNum type="arabicPeriod" startAt="3"/>
              <a:tabLst>
                <a:tab pos="705485" algn="l"/>
                <a:tab pos="70612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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30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+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3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833119" marR="17780" lvl="1" indent="-229235">
              <a:lnSpc>
                <a:spcPts val="3460"/>
              </a:lnSpc>
              <a:spcBef>
                <a:spcPts val="1190"/>
              </a:spcBef>
              <a:buClr>
                <a:srgbClr val="CC0000"/>
              </a:buClr>
              <a:buFont typeface="Times New Roman"/>
              <a:buChar char="•"/>
              <a:tabLst>
                <a:tab pos="833755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polynomially faster than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(by 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39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factor),</a:t>
            </a:r>
            <a:endParaRPr sz="3200">
              <a:latin typeface="Times New Roman"/>
              <a:cs typeface="Times New Roman"/>
            </a:endParaRPr>
          </a:p>
          <a:p>
            <a:pPr marL="604520">
              <a:lnSpc>
                <a:spcPts val="3654"/>
              </a:lnSpc>
              <a:spcBef>
                <a:spcPts val="710"/>
              </a:spcBef>
            </a:pPr>
            <a:r>
              <a:rPr sz="3200" b="1" i="1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satisfies the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regularity condition</a:t>
            </a:r>
            <a:r>
              <a:rPr sz="3200" b="1" i="1" spc="-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endParaRPr sz="3200">
              <a:latin typeface="Times New Roman"/>
              <a:cs typeface="Times New Roman"/>
            </a:endParaRPr>
          </a:p>
          <a:p>
            <a:pPr marL="605155">
              <a:lnSpc>
                <a:spcPts val="3654"/>
              </a:lnSpc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i="1" spc="-36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n/b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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spc="-29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&lt;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77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</a:t>
            </a:r>
            <a:r>
              <a:rPr sz="32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204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50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290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226" y="1799366"/>
            <a:ext cx="7957026" cy="40773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654"/>
              </a:lnSpc>
              <a:spcBef>
                <a:spcPts val="95"/>
              </a:spcBef>
              <a:tabLst>
                <a:tab pos="841375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1</a:t>
            </a:r>
            <a:r>
              <a:rPr sz="32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endParaRPr sz="3200" b="1" dirty="0">
              <a:solidFill>
                <a:srgbClr val="FC0128"/>
              </a:solidFill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 =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4, </a:t>
            </a: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b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= 2 </a:t>
            </a:r>
            <a:endParaRPr lang="en-US" sz="3200" b="1" spc="-5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		</a:t>
            </a:r>
          </a:p>
          <a:p>
            <a:pPr marL="840740">
              <a:lnSpc>
                <a:spcPts val="3460"/>
              </a:lnSpc>
            </a:pP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	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		</a:t>
            </a:r>
            <a:r>
              <a:rPr sz="3200" spc="-5" dirty="0" smtClean="0">
                <a:latin typeface="Symbol"/>
                <a:cs typeface="Symbol"/>
              </a:rPr>
              <a:t></a:t>
            </a: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</a:t>
            </a:r>
            <a:r>
              <a:rPr sz="3200" b="1" i="1" spc="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; </a:t>
            </a:r>
            <a:endParaRPr lang="en-US" sz="3200" spc="5" dirty="0" smtClean="0"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endParaRPr lang="en-US" sz="3200" b="1" i="1" spc="5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endParaRPr lang="en-US" sz="3200" b="1" i="1" spc="5" dirty="0" smtClean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sz="3200" b="1" i="1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=</a:t>
            </a:r>
            <a:r>
              <a:rPr sz="3200" b="1" spc="-405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i="1" spc="-5" dirty="0" smtClean="0">
                <a:latin typeface="Times New Roman"/>
                <a:cs typeface="Times New Roman"/>
              </a:rPr>
              <a:t>.</a:t>
            </a:r>
            <a:endParaRPr lang="en-US" sz="3200" i="1" spc="-5" dirty="0" smtClean="0"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endParaRPr lang="en-US" sz="3200" i="1" spc="-5" dirty="0"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lang="en-US" sz="3200" i="1" spc="-5" dirty="0" smtClean="0">
                <a:latin typeface="Times New Roman"/>
                <a:cs typeface="Times New Roman"/>
              </a:rPr>
              <a:t>Compare </a:t>
            </a:r>
            <a:r>
              <a:rPr lang="en-US" sz="3600" b="1" i="1" spc="10" dirty="0" err="1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15" baseline="25132" dirty="0" err="1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lang="en-US" sz="3200" b="1" i="1" spc="15" baseline="13227" dirty="0" err="1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lang="en-US" sz="3200" b="1" i="1" spc="15" baseline="25132" dirty="0" err="1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lang="en-US" sz="3200" i="1" spc="-5" dirty="0" smtClean="0">
                <a:latin typeface="Times New Roman"/>
                <a:cs typeface="Times New Roman"/>
              </a:rPr>
              <a:t>  and </a:t>
            </a:r>
            <a:r>
              <a:rPr lang="en-US"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f </a:t>
            </a:r>
            <a:r>
              <a:rPr lang="en-US"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 smtClean="0">
                <a:latin typeface="Times New Roman"/>
                <a:cs typeface="Times New Roman"/>
              </a:rPr>
              <a:t>1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50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987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</a:t>
            </a:r>
            <a:r>
              <a:rPr spc="-75" dirty="0"/>
              <a:t> </a:t>
            </a:r>
            <a:r>
              <a:rPr spc="-5" dirty="0"/>
              <a:t>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4" y="1495310"/>
            <a:ext cx="8636635" cy="27757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525"/>
              </a:spcBef>
              <a:buClr>
                <a:srgbClr val="CC0000"/>
              </a:buClr>
              <a:buFont typeface="Times New Roman"/>
              <a:buAutoNum type="arabicPeriod"/>
              <a:tabLst>
                <a:tab pos="598805" algn="l"/>
                <a:tab pos="59944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O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22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–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42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ts val="365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polynomially slower than</a:t>
            </a:r>
            <a:r>
              <a:rPr sz="3200" b="1" spc="-35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endParaRPr sz="3150" baseline="25132" dirty="0">
              <a:latin typeface="Times New Roman"/>
              <a:cs typeface="Times New Roman"/>
            </a:endParaRPr>
          </a:p>
          <a:p>
            <a:pPr marL="729615">
              <a:lnSpc>
                <a:spcPts val="3650"/>
              </a:lnSpc>
            </a:pPr>
            <a:r>
              <a:rPr sz="3200" spc="-5" dirty="0">
                <a:latin typeface="Times New Roman"/>
                <a:cs typeface="Times New Roman"/>
              </a:rPr>
              <a:t>(by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40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factor).</a:t>
            </a:r>
            <a:endParaRPr sz="3200" dirty="0">
              <a:latin typeface="Times New Roman"/>
              <a:cs typeface="Times New Roman"/>
            </a:endParaRPr>
          </a:p>
          <a:p>
            <a:pPr marL="497840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 smtClean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953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6974" y="1347114"/>
            <a:ext cx="7957026" cy="42312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654"/>
              </a:lnSpc>
              <a:spcBef>
                <a:spcPts val="95"/>
              </a:spcBef>
              <a:tabLst>
                <a:tab pos="841375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1</a:t>
            </a:r>
            <a:r>
              <a:rPr sz="32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endParaRPr sz="3200" b="1" dirty="0">
              <a:solidFill>
                <a:srgbClr val="FC0128"/>
              </a:solidFill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a =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4</a:t>
            </a:r>
            <a:r>
              <a:rPr sz="3200" spc="-5" dirty="0"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b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2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r>
              <a:rPr sz="3200" spc="5" dirty="0" smtClean="0">
                <a:latin typeface="Times New Roman"/>
                <a:cs typeface="Times New Roman"/>
              </a:rPr>
              <a:t>;</a:t>
            </a:r>
            <a:endParaRPr lang="en-US" sz="3200" spc="5" dirty="0" smtClean="0">
              <a:latin typeface="Times New Roman"/>
              <a:cs typeface="Times New Roman"/>
            </a:endParaRPr>
          </a:p>
          <a:p>
            <a:pPr marL="840740">
              <a:lnSpc>
                <a:spcPts val="3460"/>
              </a:lnSpc>
            </a:pPr>
            <a:r>
              <a:rPr sz="3200" spc="5" dirty="0" smtClean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=</a:t>
            </a:r>
            <a:r>
              <a:rPr sz="3200" b="1" spc="-405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i="1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ts val="365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Times New Roman"/>
                <a:cs typeface="Times New Roman"/>
              </a:rPr>
              <a:t>ASE </a:t>
            </a:r>
            <a:r>
              <a:rPr sz="3200" b="1" spc="-5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: </a:t>
            </a:r>
            <a:r>
              <a:rPr lang="en-US" sz="3200" spc="-5" dirty="0" smtClean="0">
                <a:latin typeface="Times New Roman"/>
                <a:cs typeface="Times New Roman"/>
              </a:rPr>
              <a:t>   </a:t>
            </a:r>
            <a:r>
              <a:rPr lang="en-US"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f </a:t>
            </a:r>
            <a:r>
              <a:rPr lang="en-US"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 </a:t>
            </a:r>
            <a:r>
              <a:rPr lang="en-US" sz="3200" spc="-5" dirty="0">
                <a:latin typeface="Times New Roman"/>
                <a:cs typeface="Times New Roman"/>
              </a:rPr>
              <a:t>grows</a:t>
            </a:r>
            <a:r>
              <a:rPr lang="en-US" sz="3200" spc="-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5" dirty="0" err="1">
                <a:solidFill>
                  <a:srgbClr val="990033"/>
                </a:solidFill>
                <a:latin typeface="Times New Roman"/>
                <a:cs typeface="Times New Roman"/>
              </a:rPr>
              <a:t>polynomially</a:t>
            </a:r>
            <a:r>
              <a:rPr lang="en-US"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 slower than</a:t>
            </a:r>
            <a:r>
              <a:rPr lang="en-US" sz="3200" b="1" spc="-35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 spc="10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150" b="1" spc="15" baseline="25132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lang="en-US" sz="3150" b="1" i="1" spc="15" baseline="13227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lang="en-US" sz="3150" b="1" i="1" spc="15" baseline="25132" dirty="0" err="1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</a:t>
            </a:r>
            <a:r>
              <a:rPr lang="en-US" sz="3150" b="1" i="1" spc="15" baseline="25132" dirty="0" smtClean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 </a:t>
            </a:r>
            <a:r>
              <a:rPr lang="en-US" sz="3200" spc="-5" dirty="0" smtClean="0">
                <a:latin typeface="Times New Roman"/>
                <a:cs typeface="Times New Roman"/>
              </a:rPr>
              <a:t>(</a:t>
            </a:r>
            <a:r>
              <a:rPr lang="en-US" sz="3200" spc="-5" dirty="0">
                <a:latin typeface="Times New Roman"/>
                <a:cs typeface="Times New Roman"/>
              </a:rPr>
              <a:t>by an </a:t>
            </a:r>
            <a:r>
              <a:rPr lang="en-US"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lang="en-US"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lang="en-US" sz="3150" spc="40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>
                <a:latin typeface="Times New Roman"/>
                <a:cs typeface="Times New Roman"/>
              </a:rPr>
              <a:t>factor).</a:t>
            </a:r>
            <a:endParaRPr lang="en-US" sz="3200" dirty="0">
              <a:latin typeface="Times New Roman"/>
              <a:cs typeface="Times New Roman"/>
            </a:endParaRPr>
          </a:p>
          <a:p>
            <a:pPr marL="840740">
              <a:lnSpc>
                <a:spcPts val="3454"/>
              </a:lnSpc>
            </a:pPr>
            <a:endParaRPr lang="en-US" sz="3200" spc="-5" dirty="0" smtClean="0">
              <a:latin typeface="Times New Roman"/>
              <a:cs typeface="Times New Roman"/>
            </a:endParaRPr>
          </a:p>
          <a:p>
            <a:pPr marL="840740">
              <a:lnSpc>
                <a:spcPts val="3454"/>
              </a:lnSpc>
            </a:pPr>
            <a:r>
              <a:rPr sz="3200" b="1" i="1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= </a:t>
            </a:r>
            <a:r>
              <a:rPr sz="3200" b="1" i="1" dirty="0">
                <a:solidFill>
                  <a:srgbClr val="7030A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2 </a:t>
            </a:r>
            <a:r>
              <a:rPr sz="3150" b="1" spc="22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– </a:t>
            </a:r>
            <a:r>
              <a:rPr sz="3150" b="1" spc="7" baseline="25132" dirty="0">
                <a:solidFill>
                  <a:srgbClr val="7030A0"/>
                </a:solidFill>
                <a:latin typeface="Symbol"/>
                <a:cs typeface="Symbol"/>
              </a:rPr>
              <a:t></a:t>
            </a:r>
            <a:r>
              <a:rPr sz="3200" b="1" spc="5" dirty="0">
                <a:solidFill>
                  <a:srgbClr val="7030A0"/>
                </a:solidFill>
                <a:latin typeface="Times New Roman"/>
                <a:cs typeface="Times New Roman"/>
              </a:rPr>
              <a:t>)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</a:t>
            </a:r>
            <a:r>
              <a:rPr sz="3200" spc="-5" dirty="0">
                <a:latin typeface="Symbol"/>
                <a:cs typeface="Symbol"/>
              </a:rPr>
              <a:t>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24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</a:t>
            </a:r>
            <a:r>
              <a:rPr sz="3200" spc="-5" dirty="0" smtClean="0">
                <a:latin typeface="Times New Roman"/>
                <a:cs typeface="Times New Roman"/>
              </a:rPr>
              <a:t>.</a:t>
            </a:r>
            <a:endParaRPr lang="en-US" sz="3200" spc="-5" dirty="0" smtClean="0">
              <a:latin typeface="Times New Roman"/>
              <a:cs typeface="Times New Roman"/>
            </a:endParaRPr>
          </a:p>
          <a:p>
            <a:pPr marL="840740">
              <a:lnSpc>
                <a:spcPts val="3454"/>
              </a:lnSpc>
            </a:pPr>
            <a:endParaRPr lang="en-US" sz="3200" spc="-5" dirty="0">
              <a:latin typeface="Times New Roman"/>
              <a:cs typeface="Times New Roman"/>
            </a:endParaRPr>
          </a:p>
          <a:p>
            <a:pPr marL="840740">
              <a:lnSpc>
                <a:spcPts val="3454"/>
              </a:lnSpc>
            </a:pP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4807677"/>
            <a:ext cx="5638800" cy="15414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40740">
              <a:lnSpc>
                <a:spcPts val="3650"/>
              </a:lnSpc>
            </a:pPr>
            <a:endParaRPr lang="en-US" sz="4800" spc="-5" dirty="0" smtClean="0">
              <a:solidFill>
                <a:srgbClr val="C00000"/>
              </a:solidFill>
              <a:latin typeface="Symbol"/>
              <a:cs typeface="Symbol"/>
            </a:endParaRPr>
          </a:p>
          <a:p>
            <a:pPr marL="1526540" indent="-685800">
              <a:lnSpc>
                <a:spcPts val="3650"/>
              </a:lnSpc>
              <a:buFont typeface="Symbol" panose="05050102010706020507" pitchFamily="18" charset="2"/>
              <a:buChar char="\"/>
            </a:pPr>
            <a:r>
              <a:rPr lang="en-US" sz="48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lang="en-US" sz="48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48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4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 =</a:t>
            </a:r>
            <a:r>
              <a:rPr lang="en-US" sz="4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4800" b="1" dirty="0">
                <a:solidFill>
                  <a:srgbClr val="C00000"/>
                </a:solidFill>
                <a:latin typeface="Symbol"/>
                <a:cs typeface="Symbol"/>
              </a:rPr>
              <a:t></a:t>
            </a:r>
            <a:r>
              <a:rPr lang="en-US" sz="48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4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4800" b="1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lang="en-US" sz="48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  <a:p>
            <a:pPr marL="840740">
              <a:lnSpc>
                <a:spcPts val="3650"/>
              </a:lnSpc>
            </a:pPr>
            <a:endParaRPr lang="en-US" sz="48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 smtClean="0">
                <a:latin typeface="Times New Roman"/>
                <a:cs typeface="Times New Roman"/>
              </a:rPr>
              <a:t>1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7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4540" y="6523256"/>
            <a:ext cx="145288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September 12,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526" y="1799366"/>
            <a:ext cx="7351395" cy="41030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3654"/>
              </a:lnSpc>
              <a:tabLst>
                <a:tab pos="854075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sz="32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endParaRPr lang="en-US" sz="3200" b="1" i="1" spc="-5" dirty="0" smtClean="0">
              <a:solidFill>
                <a:srgbClr val="CC0000"/>
              </a:solidFill>
              <a:latin typeface="Times New Roman"/>
              <a:cs typeface="Times New Roman"/>
            </a:endParaRPr>
          </a:p>
          <a:p>
            <a:pPr marL="50800">
              <a:lnSpc>
                <a:spcPts val="3654"/>
              </a:lnSpc>
              <a:tabLst>
                <a:tab pos="854075" algn="l"/>
              </a:tabLst>
            </a:pPr>
            <a:r>
              <a:rPr lang="en-US"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32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sz="3150" b="1" baseline="25132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sz="3200" i="1" spc="-5" dirty="0">
                <a:solidFill>
                  <a:srgbClr val="063DE8"/>
                </a:solidFill>
                <a:latin typeface="Times New Roman"/>
                <a:cs typeface="Times New Roman"/>
              </a:rPr>
              <a:t>a = </a:t>
            </a:r>
            <a:r>
              <a:rPr sz="3200" spc="-5" dirty="0">
                <a:solidFill>
                  <a:srgbClr val="063DE8"/>
                </a:solidFill>
                <a:latin typeface="Times New Roman"/>
                <a:cs typeface="Times New Roman"/>
              </a:rPr>
              <a:t>4, </a:t>
            </a:r>
            <a:r>
              <a:rPr sz="3200" i="1" spc="-5" dirty="0">
                <a:solidFill>
                  <a:srgbClr val="063DE8"/>
                </a:solidFill>
                <a:latin typeface="Times New Roman"/>
                <a:cs typeface="Times New Roman"/>
              </a:rPr>
              <a:t>b </a:t>
            </a:r>
            <a:r>
              <a:rPr sz="3200" spc="-5" dirty="0">
                <a:solidFill>
                  <a:srgbClr val="063DE8"/>
                </a:solidFill>
                <a:latin typeface="Times New Roman"/>
                <a:cs typeface="Times New Roman"/>
              </a:rPr>
              <a:t>= 2 </a:t>
            </a:r>
            <a:endParaRPr lang="en-US" sz="3200" spc="-5" dirty="0" smtClean="0">
              <a:solidFill>
                <a:srgbClr val="063DE8"/>
              </a:solidFill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endParaRPr lang="en-US" sz="3200" spc="-5" dirty="0">
              <a:solidFill>
                <a:srgbClr val="009999"/>
              </a:solidFill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		</a:t>
            </a:r>
            <a:r>
              <a:rPr sz="3200" spc="-5" dirty="0" smtClean="0">
                <a:latin typeface="Symbol"/>
                <a:cs typeface="Symbol"/>
              </a:rPr>
              <a:t></a:t>
            </a: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7030A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a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= </a:t>
            </a:r>
            <a:r>
              <a:rPr sz="3200" b="1" i="1" spc="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; </a:t>
            </a:r>
            <a:endParaRPr lang="en-US" sz="3200" spc="5" dirty="0" smtClean="0"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endParaRPr lang="en-US" sz="3200" i="1" spc="5" dirty="0">
              <a:solidFill>
                <a:srgbClr val="009999"/>
              </a:solidFill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sz="3200" b="1" i="1" spc="-5" dirty="0" smtClean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) =</a:t>
            </a:r>
            <a:r>
              <a:rPr sz="3200" b="1" spc="-40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 smtClean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 smtClean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2</a:t>
            </a:r>
            <a:r>
              <a:rPr sz="3200" i="1" spc="5" dirty="0" smtClean="0">
                <a:latin typeface="Times New Roman"/>
                <a:cs typeface="Times New Roman"/>
              </a:rPr>
              <a:t>.</a:t>
            </a:r>
            <a:endParaRPr lang="en-US" sz="3200" i="1" spc="5" dirty="0" smtClean="0"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endParaRPr lang="en-US" sz="3200" i="1" spc="5" dirty="0"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lang="en-US" sz="3200" i="1" spc="5" dirty="0" smtClean="0">
                <a:latin typeface="Times New Roman"/>
                <a:cs typeface="Times New Roman"/>
              </a:rPr>
              <a:t>Compare </a:t>
            </a:r>
            <a:r>
              <a:rPr lang="en-US" sz="3600" b="1" i="1" spc="10" dirty="0" err="1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15" baseline="25132" dirty="0" err="1">
                <a:solidFill>
                  <a:srgbClr val="7030A0"/>
                </a:solidFill>
                <a:latin typeface="Times New Roman"/>
                <a:cs typeface="Times New Roman"/>
              </a:rPr>
              <a:t>log</a:t>
            </a:r>
            <a:r>
              <a:rPr lang="en-US" sz="3200" b="1" i="1" spc="15" baseline="13227" dirty="0" err="1">
                <a:solidFill>
                  <a:srgbClr val="7030A0"/>
                </a:solidFill>
                <a:latin typeface="Times New Roman"/>
                <a:cs typeface="Times New Roman"/>
              </a:rPr>
              <a:t>b</a:t>
            </a:r>
            <a:r>
              <a:rPr lang="en-US" sz="3200" b="1" i="1" spc="15" baseline="25132" dirty="0" err="1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r>
              <a:rPr lang="en-US" sz="3200" i="1" spc="5" dirty="0" smtClean="0">
                <a:latin typeface="Times New Roman"/>
                <a:cs typeface="Times New Roman"/>
              </a:rPr>
              <a:t> and</a:t>
            </a:r>
            <a:r>
              <a:rPr lang="en-US" sz="3200" b="1" i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f </a:t>
            </a:r>
            <a:r>
              <a:rPr lang="en-US"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) 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2416" y="4267200"/>
            <a:ext cx="4381584" cy="70788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4000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f </a:t>
            </a:r>
            <a:r>
              <a:rPr lang="en-US" sz="4000" spc="-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lang="en-US" sz="4000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lang="en-US" sz="4000" spc="-5" dirty="0">
                <a:solidFill>
                  <a:srgbClr val="990033"/>
                </a:solidFill>
                <a:latin typeface="Times New Roman"/>
                <a:cs typeface="Times New Roman"/>
              </a:rPr>
              <a:t>) = </a:t>
            </a:r>
            <a:r>
              <a:rPr lang="en-US" sz="4000" spc="5" dirty="0">
                <a:solidFill>
                  <a:srgbClr val="990033"/>
                </a:solidFill>
                <a:latin typeface="Symbol"/>
                <a:cs typeface="Symbol"/>
              </a:rPr>
              <a:t></a:t>
            </a:r>
            <a:r>
              <a:rPr lang="en-US" sz="4000" spc="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lang="en-US" sz="4000" i="1" spc="5" dirty="0" err="1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lang="en-US" sz="4000" spc="7" baseline="25132" dirty="0" err="1">
                <a:solidFill>
                  <a:srgbClr val="990033"/>
                </a:solidFill>
                <a:latin typeface="Times New Roman"/>
                <a:cs typeface="Times New Roman"/>
              </a:rPr>
              <a:t>log</a:t>
            </a:r>
            <a:r>
              <a:rPr lang="en-US" sz="4000" i="1" spc="7" baseline="13227" dirty="0" err="1">
                <a:solidFill>
                  <a:srgbClr val="990033"/>
                </a:solidFill>
                <a:latin typeface="Times New Roman"/>
                <a:cs typeface="Times New Roman"/>
              </a:rPr>
              <a:t>b</a:t>
            </a:r>
            <a:r>
              <a:rPr lang="en-US" sz="4000" i="1" spc="7" baseline="25132" dirty="0" err="1">
                <a:solidFill>
                  <a:srgbClr val="990033"/>
                </a:solidFill>
                <a:latin typeface="Times New Roman"/>
                <a:cs typeface="Times New Roman"/>
              </a:rPr>
              <a:t>a</a:t>
            </a:r>
            <a:r>
              <a:rPr lang="en-US" sz="4000" i="1" spc="7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 err="1">
                <a:solidFill>
                  <a:srgbClr val="990033"/>
                </a:solidFill>
                <a:latin typeface="Times New Roman"/>
                <a:cs typeface="Times New Roman"/>
              </a:rPr>
              <a:t>lg</a:t>
            </a:r>
            <a:r>
              <a:rPr lang="en-US" sz="4000" i="1" baseline="25132" dirty="0" err="1">
                <a:solidFill>
                  <a:srgbClr val="990033"/>
                </a:solidFill>
                <a:latin typeface="Times New Roman"/>
                <a:cs typeface="Times New Roman"/>
              </a:rPr>
              <a:t>k</a:t>
            </a:r>
            <a:r>
              <a:rPr lang="en-US" sz="4000" i="1" dirty="0" err="1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lang="en-US" sz="4000" dirty="0">
                <a:solidFill>
                  <a:srgbClr val="990033"/>
                </a:solidFill>
                <a:latin typeface="Times New Roman"/>
                <a:cs typeface="Times New Roman"/>
              </a:rPr>
              <a:t>) </a:t>
            </a:r>
            <a:endParaRPr lang="en-US" sz="4000" dirty="0">
              <a:solidFill>
                <a:srgbClr val="99003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>
                <a:latin typeface="Times New Roman"/>
                <a:cs typeface="Times New Roman"/>
              </a:rPr>
              <a:t>2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9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4987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</a:t>
            </a:r>
            <a:r>
              <a:rPr spc="-75" dirty="0"/>
              <a:t> </a:t>
            </a:r>
            <a:r>
              <a:rPr spc="-5" dirty="0"/>
              <a:t>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4" y="1495310"/>
            <a:ext cx="8636635" cy="320921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1825"/>
              </a:spcBef>
              <a:buClr>
                <a:srgbClr val="CC0000"/>
              </a:buClr>
              <a:buFont typeface="Times New Roman"/>
              <a:buAutoNum type="arabicPeriod" startAt="2"/>
              <a:tabLst>
                <a:tab pos="598805" algn="l"/>
                <a:tab pos="599440" algn="l"/>
              </a:tabLst>
            </a:pPr>
            <a:endParaRPr lang="en-US" sz="3200" i="1" spc="-5" dirty="0" smtClean="0">
              <a:solidFill>
                <a:srgbClr val="009999"/>
              </a:solidFill>
              <a:latin typeface="Times New Roman"/>
              <a:cs typeface="Times New Roman"/>
            </a:endParaRPr>
          </a:p>
          <a:p>
            <a:pPr marL="598805" indent="-558165">
              <a:lnSpc>
                <a:spcPct val="100000"/>
              </a:lnSpc>
              <a:spcBef>
                <a:spcPts val="1825"/>
              </a:spcBef>
              <a:buClr>
                <a:srgbClr val="CC0000"/>
              </a:buClr>
              <a:buFont typeface="Times New Roman"/>
              <a:buAutoNum type="arabicPeriod" startAt="2"/>
              <a:tabLst>
                <a:tab pos="598805" algn="l"/>
                <a:tab pos="599440" algn="l"/>
              </a:tabLst>
            </a:pPr>
            <a:r>
              <a:rPr sz="3200" i="1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lg</a:t>
            </a:r>
            <a:r>
              <a:rPr sz="3150" i="1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k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</a:t>
            </a:r>
            <a:r>
              <a:rPr sz="3200" spc="-34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729615" lvl="1" indent="-231775">
              <a:lnSpc>
                <a:spcPct val="100000"/>
              </a:lnSpc>
              <a:spcBef>
                <a:spcPts val="755"/>
              </a:spcBef>
              <a:buClr>
                <a:srgbClr val="CC0000"/>
              </a:buClr>
              <a:buFont typeface="Times New Roman"/>
              <a:buChar char="•"/>
              <a:tabLst>
                <a:tab pos="73025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grow at similar</a:t>
            </a:r>
            <a:r>
              <a:rPr sz="3200" b="1" spc="-12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rates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78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 </a:t>
            </a:r>
            <a:r>
              <a:rPr sz="3200" b="1" i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) = </a:t>
            </a:r>
            <a:r>
              <a:rPr sz="3200" b="1" spc="5" dirty="0">
                <a:solidFill>
                  <a:schemeClr val="accent6">
                    <a:lumMod val="75000"/>
                  </a:schemeClr>
                </a:solidFill>
                <a:latin typeface="Symbol"/>
                <a:cs typeface="Symbol"/>
              </a:rPr>
              <a:t></a:t>
            </a:r>
            <a:r>
              <a:rPr sz="3200" b="1" spc="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log</a:t>
            </a:r>
            <a:r>
              <a:rPr sz="3150" b="1" i="1" spc="7" baseline="13227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b</a:t>
            </a:r>
            <a:r>
              <a:rPr sz="3150" b="1" i="1" spc="7" baseline="25132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a </a:t>
            </a:r>
            <a:r>
              <a:rPr sz="3200" b="1" spc="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lg</a:t>
            </a:r>
            <a:r>
              <a:rPr sz="3150" b="1" i="1" spc="7" baseline="25132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k</a:t>
            </a:r>
            <a:r>
              <a:rPr sz="3150" b="1" spc="7" baseline="25132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+1</a:t>
            </a:r>
            <a:r>
              <a:rPr sz="3200" b="1" i="1" spc="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sz="3200" b="1" spc="-33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66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0030" y="1186179"/>
            <a:ext cx="7351395" cy="365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3654"/>
              </a:lnSpc>
              <a:tabLst>
                <a:tab pos="854075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r>
              <a:rPr sz="32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endParaRPr lang="en-US" sz="3200" b="1" i="1" spc="-5" dirty="0" smtClean="0">
              <a:solidFill>
                <a:srgbClr val="CC0000"/>
              </a:solidFill>
              <a:latin typeface="Times New Roman"/>
              <a:cs typeface="Times New Roman"/>
            </a:endParaRPr>
          </a:p>
          <a:p>
            <a:pPr marL="50800">
              <a:lnSpc>
                <a:spcPts val="3654"/>
              </a:lnSpc>
              <a:tabLst>
                <a:tab pos="854075" algn="l"/>
              </a:tabLst>
            </a:pPr>
            <a:r>
              <a:rPr lang="en-US"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32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sz="3150" b="1" baseline="25132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a =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4</a:t>
            </a:r>
            <a:r>
              <a:rPr sz="3200" spc="-5" dirty="0"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b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2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; </a:t>
            </a:r>
            <a:endParaRPr lang="en-US" sz="3200" spc="5" dirty="0" smtClean="0">
              <a:latin typeface="Times New Roman"/>
              <a:cs typeface="Times New Roman"/>
            </a:endParaRPr>
          </a:p>
          <a:p>
            <a:pPr marL="853440">
              <a:lnSpc>
                <a:spcPts val="3460"/>
              </a:lnSpc>
            </a:pPr>
            <a:r>
              <a:rPr sz="3200" b="1" i="1" spc="-5" dirty="0" smtClean="0">
                <a:solidFill>
                  <a:srgbClr val="7030A0"/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) =</a:t>
            </a:r>
            <a:r>
              <a:rPr sz="3200" b="1" spc="-405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2</a:t>
            </a:r>
            <a:r>
              <a:rPr sz="3200" i="1" spc="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954405">
              <a:lnSpc>
                <a:spcPts val="3454"/>
              </a:lnSpc>
            </a:pPr>
            <a:r>
              <a:rPr sz="3200" b="1" spc="-5" dirty="0">
                <a:latin typeface="Times New Roman"/>
                <a:cs typeface="Times New Roman"/>
              </a:rPr>
              <a:t>C</a:t>
            </a:r>
            <a:r>
              <a:rPr sz="2400" b="1" spc="-5" dirty="0">
                <a:latin typeface="Times New Roman"/>
                <a:cs typeface="Times New Roman"/>
              </a:rPr>
              <a:t>ASE </a:t>
            </a:r>
            <a:r>
              <a:rPr sz="3200" b="1" spc="-5" dirty="0">
                <a:latin typeface="Times New Roman"/>
                <a:cs typeface="Times New Roman"/>
              </a:rPr>
              <a:t>2</a:t>
            </a:r>
            <a:r>
              <a:rPr sz="3200" spc="-5" dirty="0" smtClean="0">
                <a:latin typeface="Times New Roman"/>
                <a:cs typeface="Times New Roman"/>
              </a:rPr>
              <a:t>:</a:t>
            </a:r>
            <a:endParaRPr lang="en-US" sz="3200" spc="-5" dirty="0" smtClean="0">
              <a:latin typeface="Times New Roman"/>
              <a:cs typeface="Times New Roman"/>
            </a:endParaRPr>
          </a:p>
          <a:p>
            <a:pPr marL="954405">
              <a:lnSpc>
                <a:spcPts val="3454"/>
              </a:lnSpc>
            </a:pPr>
            <a:endParaRPr lang="en-US" sz="3200" spc="-5" dirty="0">
              <a:latin typeface="Times New Roman"/>
              <a:cs typeface="Times New Roman"/>
            </a:endParaRPr>
          </a:p>
          <a:p>
            <a:pPr marL="954405">
              <a:lnSpc>
                <a:spcPts val="3454"/>
              </a:lnSpc>
            </a:pP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4000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f </a:t>
            </a:r>
            <a:r>
              <a:rPr sz="4000" spc="-5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4000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4000" spc="-5" dirty="0">
                <a:solidFill>
                  <a:srgbClr val="FC0128"/>
                </a:solidFill>
                <a:latin typeface="Times New Roman"/>
                <a:cs typeface="Times New Roman"/>
              </a:rPr>
              <a:t>) = </a:t>
            </a:r>
            <a:r>
              <a:rPr sz="4000" dirty="0">
                <a:solidFill>
                  <a:srgbClr val="FC0128"/>
                </a:solidFill>
                <a:latin typeface="Symbol"/>
                <a:cs typeface="Symbol"/>
              </a:rPr>
              <a:t></a:t>
            </a:r>
            <a:r>
              <a:rPr sz="4000" dirty="0">
                <a:solidFill>
                  <a:srgbClr val="FC0128"/>
                </a:solidFill>
                <a:latin typeface="Times New Roman"/>
                <a:cs typeface="Times New Roman"/>
              </a:rPr>
              <a:t>(</a:t>
            </a:r>
            <a:r>
              <a:rPr sz="4000" i="1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4000" baseline="25132" dirty="0">
                <a:solidFill>
                  <a:srgbClr val="FC0128"/>
                </a:solidFill>
                <a:latin typeface="Times New Roman"/>
                <a:cs typeface="Times New Roman"/>
              </a:rPr>
              <a:t>2</a:t>
            </a:r>
            <a:r>
              <a:rPr sz="4000" dirty="0">
                <a:solidFill>
                  <a:srgbClr val="FC0128"/>
                </a:solidFill>
                <a:latin typeface="Times New Roman"/>
                <a:cs typeface="Times New Roman"/>
              </a:rPr>
              <a:t>lg</a:t>
            </a:r>
            <a:r>
              <a:rPr sz="4000" baseline="25132" dirty="0">
                <a:solidFill>
                  <a:srgbClr val="FC0128"/>
                </a:solidFill>
                <a:latin typeface="Times New Roman"/>
                <a:cs typeface="Times New Roman"/>
              </a:rPr>
              <a:t>0</a:t>
            </a:r>
            <a:r>
              <a:rPr sz="4000" i="1" dirty="0">
                <a:solidFill>
                  <a:srgbClr val="FC0128"/>
                </a:solidFill>
                <a:latin typeface="Times New Roman"/>
                <a:cs typeface="Times New Roman"/>
              </a:rPr>
              <a:t>n</a:t>
            </a:r>
            <a:r>
              <a:rPr sz="4000" dirty="0">
                <a:solidFill>
                  <a:srgbClr val="FC0128"/>
                </a:solidFill>
                <a:latin typeface="Times New Roman"/>
                <a:cs typeface="Times New Roman"/>
              </a:rPr>
              <a:t>), </a:t>
            </a:r>
            <a:r>
              <a:rPr sz="3200" spc="-5" dirty="0">
                <a:latin typeface="Times New Roman"/>
                <a:cs typeface="Times New Roman"/>
              </a:rPr>
              <a:t>that is, </a:t>
            </a:r>
            <a:r>
              <a:rPr sz="3200" b="1" i="1" spc="-5" dirty="0">
                <a:solidFill>
                  <a:srgbClr val="FC0128"/>
                </a:solidFill>
                <a:latin typeface="Times New Roman"/>
                <a:cs typeface="Times New Roman"/>
              </a:rPr>
              <a:t>k 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=</a:t>
            </a:r>
            <a:r>
              <a:rPr sz="3200" b="1" spc="-195" dirty="0">
                <a:solidFill>
                  <a:srgbClr val="FC0128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C0128"/>
                </a:solidFill>
                <a:latin typeface="Times New Roman"/>
                <a:cs typeface="Times New Roman"/>
              </a:rPr>
              <a:t>0</a:t>
            </a:r>
            <a:r>
              <a:rPr sz="3200" spc="-5" dirty="0" smtClean="0">
                <a:latin typeface="Times New Roman"/>
                <a:cs typeface="Times New Roman"/>
              </a:rPr>
              <a:t>.</a:t>
            </a:r>
            <a:endParaRPr lang="en-US" sz="3200" spc="-5" dirty="0" smtClean="0">
              <a:latin typeface="Times New Roman"/>
              <a:cs typeface="Times New Roman"/>
            </a:endParaRPr>
          </a:p>
          <a:p>
            <a:pPr marL="954405">
              <a:lnSpc>
                <a:spcPts val="3454"/>
              </a:lnSpc>
            </a:pP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38586" y="4572000"/>
            <a:ext cx="5052666" cy="151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854075" algn="ctr">
              <a:lnSpc>
                <a:spcPts val="3650"/>
              </a:lnSpc>
            </a:pPr>
            <a:endParaRPr lang="en-US" sz="4000" b="1" spc="-5" dirty="0">
              <a:solidFill>
                <a:schemeClr val="tx1"/>
              </a:solidFill>
              <a:latin typeface="Symbol"/>
              <a:cs typeface="Symbol"/>
            </a:endParaRPr>
          </a:p>
          <a:p>
            <a:pPr marL="1425575" indent="-571500" algn="ctr">
              <a:lnSpc>
                <a:spcPts val="3650"/>
              </a:lnSpc>
              <a:buFont typeface="Symbol" panose="05050102010706020507" pitchFamily="18" charset="2"/>
              <a:buChar char="\"/>
            </a:pPr>
            <a:r>
              <a:rPr lang="en-US" sz="4000" b="1" i="1" spc="-5" dirty="0" smtClean="0">
                <a:solidFill>
                  <a:schemeClr val="tx1"/>
                </a:solidFill>
                <a:latin typeface="Times New Roman"/>
                <a:cs typeface="Times New Roman"/>
              </a:rPr>
              <a:t>T</a:t>
            </a:r>
            <a:r>
              <a:rPr lang="en-US" sz="4000" b="1" spc="-5" dirty="0" smtClean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en-US" sz="4000" b="1" i="1" spc="-5" dirty="0" smtClean="0">
                <a:solidFill>
                  <a:schemeClr val="tx1"/>
                </a:solidFill>
                <a:latin typeface="Times New Roman"/>
                <a:cs typeface="Times New Roman"/>
              </a:rPr>
              <a:t>n</a:t>
            </a:r>
            <a:r>
              <a:rPr lang="en-US" sz="4000" b="1" spc="-5" dirty="0">
                <a:solidFill>
                  <a:schemeClr val="tx1"/>
                </a:solidFill>
                <a:latin typeface="Times New Roman"/>
                <a:cs typeface="Times New Roman"/>
              </a:rPr>
              <a:t>) = </a:t>
            </a:r>
            <a:r>
              <a:rPr lang="en-US" sz="4000" b="1" dirty="0">
                <a:solidFill>
                  <a:schemeClr val="tx1"/>
                </a:solidFill>
                <a:latin typeface="Symbol"/>
                <a:cs typeface="Symbol"/>
              </a:rPr>
              <a:t></a:t>
            </a:r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en-US" sz="4000" b="1" i="1" dirty="0">
                <a:solidFill>
                  <a:schemeClr val="tx1"/>
                </a:solidFill>
                <a:latin typeface="Times New Roman"/>
                <a:cs typeface="Times New Roman"/>
              </a:rPr>
              <a:t>n</a:t>
            </a:r>
            <a:r>
              <a:rPr lang="en-US" sz="4000" b="1" baseline="25132" dirty="0">
                <a:solidFill>
                  <a:schemeClr val="tx1"/>
                </a:solidFill>
                <a:latin typeface="Times New Roman"/>
                <a:cs typeface="Times New Roman"/>
              </a:rPr>
              <a:t>2</a:t>
            </a:r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</a:rPr>
              <a:t>lg</a:t>
            </a:r>
            <a:r>
              <a:rPr lang="en-US" sz="4000" b="1" spc="-3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000" b="1" i="1" spc="-5" dirty="0">
                <a:solidFill>
                  <a:schemeClr val="tx1"/>
                </a:solidFill>
                <a:latin typeface="Times New Roman"/>
                <a:cs typeface="Times New Roman"/>
              </a:rPr>
              <a:t>n</a:t>
            </a:r>
            <a:r>
              <a:rPr lang="en-US" sz="4000" b="1" spc="-5" dirty="0" smtClean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</a:p>
          <a:p>
            <a:pPr marL="1425575" indent="-571500" algn="ctr">
              <a:lnSpc>
                <a:spcPts val="3650"/>
              </a:lnSpc>
              <a:buFont typeface="Symbol" panose="05050102010706020507" pitchFamily="18" charset="2"/>
              <a:buChar char="\"/>
            </a:pPr>
            <a:endParaRPr lang="en-US" sz="40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>
                <a:latin typeface="Times New Roman"/>
                <a:cs typeface="Times New Roman"/>
              </a:rPr>
              <a:t>2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29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926" y="1562297"/>
            <a:ext cx="7523480" cy="3770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140"/>
              </a:lnSpc>
              <a:spcBef>
                <a:spcPts val="100"/>
              </a:spcBef>
              <a:tabLst>
                <a:tab pos="828040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sz="36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endParaRPr lang="en-US" sz="3600" b="1" i="1" spc="-5" dirty="0" smtClean="0">
              <a:solidFill>
                <a:srgbClr val="CC0000"/>
              </a:solidFill>
              <a:latin typeface="Times New Roman"/>
              <a:cs typeface="Times New Roman"/>
            </a:endParaRPr>
          </a:p>
          <a:p>
            <a:pPr marL="25400">
              <a:lnSpc>
                <a:spcPts val="4140"/>
              </a:lnSpc>
              <a:spcBef>
                <a:spcPts val="100"/>
              </a:spcBef>
              <a:tabLst>
                <a:tab pos="828040" algn="l"/>
              </a:tabLst>
            </a:pPr>
            <a:r>
              <a:rPr sz="3200" b="1" i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3</a:t>
            </a:r>
            <a:endParaRPr sz="3150" b="1" baseline="25132" dirty="0">
              <a:solidFill>
                <a:srgbClr val="990033"/>
              </a:solidFill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 =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4, </a:t>
            </a: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b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= 2 </a:t>
            </a:r>
            <a:endParaRPr lang="en-US" sz="3200" b="1" spc="-5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             </a:t>
            </a:r>
            <a:r>
              <a:rPr sz="3200" spc="-5" dirty="0" smtClean="0">
                <a:latin typeface="Symbol"/>
                <a:cs typeface="Symbol"/>
              </a:rPr>
              <a:t></a:t>
            </a: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7030A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a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= </a:t>
            </a:r>
            <a:r>
              <a:rPr sz="3200" b="1" i="1" spc="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; </a:t>
            </a:r>
            <a:endParaRPr lang="en-US" sz="3200" spc="5" dirty="0" smtClean="0"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endParaRPr lang="en-US" sz="3200" i="1" spc="5" dirty="0">
              <a:solidFill>
                <a:srgbClr val="009999"/>
              </a:solidFill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r>
              <a:rPr sz="3200" b="1" i="1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) =</a:t>
            </a:r>
            <a:r>
              <a:rPr sz="3200" b="1" spc="-4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3</a:t>
            </a:r>
            <a:r>
              <a:rPr sz="3200" i="1" spc="5" dirty="0" smtClean="0">
                <a:latin typeface="Times New Roman"/>
                <a:cs typeface="Times New Roman"/>
              </a:rPr>
              <a:t>.</a:t>
            </a:r>
            <a:endParaRPr lang="en-US" sz="3200" i="1" spc="5" dirty="0" smtClean="0"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L="929005">
              <a:lnSpc>
                <a:spcPts val="3454"/>
              </a:lnSpc>
            </a:pPr>
            <a:r>
              <a:rPr lang="en-US" sz="3200" b="1" spc="-5" dirty="0" smtClean="0">
                <a:latin typeface="Times New Roman"/>
                <a:cs typeface="Times New Roman"/>
              </a:rPr>
              <a:t>Compare </a:t>
            </a:r>
            <a:r>
              <a:rPr lang="en-US" sz="3600" b="1" i="1" spc="10" dirty="0" err="1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15" baseline="25132" dirty="0" err="1">
                <a:solidFill>
                  <a:srgbClr val="7030A0"/>
                </a:solidFill>
                <a:latin typeface="Times New Roman"/>
                <a:cs typeface="Times New Roman"/>
              </a:rPr>
              <a:t>log</a:t>
            </a:r>
            <a:r>
              <a:rPr lang="en-US" sz="3200" b="1" i="1" spc="15" baseline="13227" dirty="0" err="1">
                <a:solidFill>
                  <a:srgbClr val="7030A0"/>
                </a:solidFill>
                <a:latin typeface="Times New Roman"/>
                <a:cs typeface="Times New Roman"/>
              </a:rPr>
              <a:t>b</a:t>
            </a:r>
            <a:r>
              <a:rPr lang="en-US" sz="3200" b="1" i="1" spc="15" baseline="25132" dirty="0" err="1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r>
              <a:rPr lang="en-US" sz="3200" b="1" i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 spc="15" baseline="25132" dirty="0" smtClean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5" dirty="0" smtClean="0">
                <a:latin typeface="Times New Roman"/>
                <a:cs typeface="Times New Roman"/>
              </a:rPr>
              <a:t>and  </a:t>
            </a:r>
            <a:r>
              <a:rPr lang="en-US" sz="3200" b="1" i="1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f </a:t>
            </a:r>
            <a:r>
              <a:rPr lang="en-US"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) 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  <a:solidFill>
            <a:srgbClr val="FFCC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 smtClean="0">
                <a:latin typeface="Times New Roman"/>
                <a:cs typeface="Times New Roman"/>
              </a:rPr>
              <a:t>3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43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6663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Three common cases</a:t>
            </a:r>
            <a:r>
              <a:rPr spc="-45" dirty="0"/>
              <a:t> </a:t>
            </a:r>
            <a:r>
              <a:rPr spc="-5"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65" y="1388948"/>
            <a:ext cx="8237220" cy="398081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60"/>
              </a:spcBef>
            </a:pPr>
            <a:r>
              <a:rPr sz="3200" spc="-5" dirty="0">
                <a:latin typeface="Times New Roman"/>
                <a:cs typeface="Times New Roman"/>
              </a:rPr>
              <a:t>Compare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0" dirty="0">
                <a:latin typeface="Times New Roman"/>
                <a:cs typeface="Times New Roman"/>
              </a:rPr>
              <a:t>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705485" indent="-558800">
              <a:lnSpc>
                <a:spcPct val="100000"/>
              </a:lnSpc>
              <a:spcBef>
                <a:spcPts val="1365"/>
              </a:spcBef>
              <a:buClr>
                <a:srgbClr val="CC0000"/>
              </a:buClr>
              <a:buFont typeface="Times New Roman"/>
              <a:buAutoNum type="arabicPeriod" startAt="3"/>
              <a:tabLst>
                <a:tab pos="705485" algn="l"/>
                <a:tab pos="706120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sz="3200" spc="5" dirty="0">
                <a:solidFill>
                  <a:srgbClr val="009999"/>
                </a:solidFill>
                <a:latin typeface="Symbol"/>
                <a:cs typeface="Symbol"/>
              </a:rPr>
              <a:t>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7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150" spc="30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+ 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 constant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&gt;</a:t>
            </a:r>
            <a:r>
              <a:rPr sz="3200" spc="-38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833119" marR="17780" lvl="1" indent="-229235">
              <a:lnSpc>
                <a:spcPts val="3460"/>
              </a:lnSpc>
              <a:spcBef>
                <a:spcPts val="1190"/>
              </a:spcBef>
              <a:buClr>
                <a:srgbClr val="CC0000"/>
              </a:buClr>
              <a:buFont typeface="Times New Roman"/>
              <a:buChar char="•"/>
              <a:tabLst>
                <a:tab pos="833755" algn="l"/>
              </a:tabLst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grows polynomially faster than </a:t>
            </a:r>
            <a:r>
              <a:rPr sz="3200" i="1" spc="10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log</a:t>
            </a:r>
            <a:r>
              <a:rPr sz="3150" i="1" spc="15" baseline="13227" dirty="0">
                <a:solidFill>
                  <a:srgbClr val="009999"/>
                </a:solidFill>
                <a:latin typeface="Times New Roman"/>
                <a:cs typeface="Times New Roman"/>
              </a:rPr>
              <a:t>b</a:t>
            </a:r>
            <a:r>
              <a:rPr sz="3150" i="1" spc="15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(by  an </a:t>
            </a:r>
            <a:r>
              <a:rPr sz="3200" i="1" spc="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150" spc="7" baseline="25132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sz="3150" spc="39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factor),</a:t>
            </a:r>
            <a:endParaRPr sz="3200">
              <a:latin typeface="Times New Roman"/>
              <a:cs typeface="Times New Roman"/>
            </a:endParaRPr>
          </a:p>
          <a:p>
            <a:pPr marL="604520">
              <a:lnSpc>
                <a:spcPts val="3654"/>
              </a:lnSpc>
              <a:spcBef>
                <a:spcPts val="710"/>
              </a:spcBef>
            </a:pPr>
            <a:r>
              <a:rPr sz="3200" b="1" i="1" spc="-5" dirty="0">
                <a:latin typeface="Times New Roman"/>
                <a:cs typeface="Times New Roman"/>
              </a:rPr>
              <a:t>and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satisfies the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regularity condition</a:t>
            </a:r>
            <a:r>
              <a:rPr sz="3200" b="1" i="1" spc="-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endParaRPr sz="3200">
              <a:latin typeface="Times New Roman"/>
              <a:cs typeface="Times New Roman"/>
            </a:endParaRPr>
          </a:p>
          <a:p>
            <a:pPr marL="605155">
              <a:lnSpc>
                <a:spcPts val="3654"/>
              </a:lnSpc>
            </a:pP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a</a:t>
            </a:r>
            <a:r>
              <a:rPr sz="3200" i="1" spc="-36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n/b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</a:t>
            </a:r>
            <a:r>
              <a:rPr sz="3200" spc="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spc="-29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some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constant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3200" i="1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&lt;</a:t>
            </a:r>
            <a:r>
              <a:rPr sz="320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770"/>
              </a:spcBef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Solution:</a:t>
            </a:r>
            <a:r>
              <a:rPr sz="32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T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2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spc="-204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</a:t>
            </a:r>
            <a:r>
              <a:rPr sz="3200" i="1" spc="-3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</a:t>
            </a:r>
            <a:r>
              <a:rPr sz="3200" spc="-50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148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59" y="368820"/>
            <a:ext cx="944867" cy="1116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113" y="319088"/>
            <a:ext cx="942974" cy="1114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539" y="509269"/>
            <a:ext cx="2354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4540" y="6523256"/>
            <a:ext cx="145288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September 12,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1086" y="6523256"/>
            <a:ext cx="458343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Erik D. Demaine and Charles E.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0520" y="945265"/>
            <a:ext cx="7523480" cy="332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140"/>
              </a:lnSpc>
              <a:spcBef>
                <a:spcPts val="100"/>
              </a:spcBef>
              <a:tabLst>
                <a:tab pos="828040" algn="l"/>
              </a:tabLst>
            </a:pPr>
            <a:r>
              <a:rPr sz="32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lang="en-US" sz="2400" b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3</a:t>
            </a:r>
            <a:r>
              <a:rPr sz="3600" b="1" i="1" spc="-5" dirty="0" smtClean="0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sz="3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endParaRPr lang="en-US" sz="3600" b="1" i="1" spc="-5" dirty="0" smtClean="0">
              <a:solidFill>
                <a:srgbClr val="CC0000"/>
              </a:solidFill>
              <a:latin typeface="Times New Roman"/>
              <a:cs typeface="Times New Roman"/>
            </a:endParaRPr>
          </a:p>
          <a:p>
            <a:pPr marL="25400">
              <a:lnSpc>
                <a:spcPts val="4140"/>
              </a:lnSpc>
              <a:spcBef>
                <a:spcPts val="100"/>
              </a:spcBef>
              <a:tabLst>
                <a:tab pos="828040" algn="l"/>
              </a:tabLst>
            </a:pPr>
            <a:r>
              <a:rPr sz="3200" b="1" i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 smtClean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) = 4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T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/2) +</a:t>
            </a:r>
            <a:r>
              <a:rPr sz="3200" b="1" spc="-2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3</a:t>
            </a:r>
            <a:endParaRPr sz="3150" b="1" baseline="25132" dirty="0">
              <a:solidFill>
                <a:srgbClr val="990033"/>
              </a:solidFill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 =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4, </a:t>
            </a:r>
            <a:r>
              <a:rPr sz="3200" b="1" i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b </a:t>
            </a:r>
            <a:r>
              <a:rPr sz="3200" b="1" spc="-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= 2 </a:t>
            </a:r>
            <a:endParaRPr lang="en-US" sz="3200" b="1" spc="-5" dirty="0" smtClean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solidFill>
                  <a:srgbClr val="009999"/>
                </a:solidFill>
                <a:latin typeface="Times New Roman"/>
                <a:cs typeface="Times New Roman"/>
              </a:rPr>
              <a:t>             </a:t>
            </a:r>
            <a:r>
              <a:rPr sz="3200" spc="-5" dirty="0" smtClean="0">
                <a:latin typeface="Symbol"/>
                <a:cs typeface="Symbol"/>
              </a:rPr>
              <a:t></a:t>
            </a: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3200" b="1" i="1" spc="10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log</a:t>
            </a:r>
            <a:r>
              <a:rPr sz="3150" b="1" i="1" spc="15" baseline="13227" dirty="0">
                <a:solidFill>
                  <a:srgbClr val="7030A0"/>
                </a:solidFill>
                <a:latin typeface="Times New Roman"/>
                <a:cs typeface="Times New Roman"/>
              </a:rPr>
              <a:t>b</a:t>
            </a:r>
            <a:r>
              <a:rPr sz="3150" b="1" i="1" spc="15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a </a:t>
            </a: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= </a:t>
            </a:r>
            <a:r>
              <a:rPr sz="3200" b="1" i="1" spc="5" dirty="0">
                <a:solidFill>
                  <a:srgbClr val="7030A0"/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rgbClr val="7030A0"/>
                </a:solidFill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; </a:t>
            </a:r>
            <a:r>
              <a:rPr lang="en-US" sz="3200" spc="5" dirty="0" smtClean="0">
                <a:latin typeface="Times New Roman"/>
                <a:cs typeface="Times New Roman"/>
              </a:rPr>
              <a:t>  </a:t>
            </a:r>
            <a:r>
              <a:rPr sz="3200" b="1" i="1" spc="-5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f </a:t>
            </a:r>
            <a:r>
              <a:rPr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sz="3200" b="1" i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200" b="1" spc="-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) =</a:t>
            </a:r>
            <a:r>
              <a:rPr sz="3200" b="1" spc="-4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i="1" spc="5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sz="3150" b="1" spc="7" baseline="25132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3</a:t>
            </a:r>
            <a:r>
              <a:rPr sz="3200" i="1" spc="5" dirty="0" smtClean="0">
                <a:latin typeface="Times New Roman"/>
                <a:cs typeface="Times New Roman"/>
              </a:rPr>
              <a:t>.</a:t>
            </a:r>
            <a:endParaRPr lang="en-US" sz="3200" i="1" spc="5" dirty="0" smtClean="0">
              <a:latin typeface="Times New Roman"/>
              <a:cs typeface="Times New Roman"/>
            </a:endParaRPr>
          </a:p>
          <a:p>
            <a:pPr marL="828040">
              <a:lnSpc>
                <a:spcPts val="347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L="929005">
              <a:lnSpc>
                <a:spcPts val="3454"/>
              </a:lnSpc>
            </a:pPr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>
                <a:latin typeface="Times New Roman"/>
                <a:cs typeface="Times New Roman"/>
              </a:rPr>
              <a:t>3</a:t>
            </a:r>
            <a:r>
              <a:rPr lang="en-US" sz="3200" spc="-5" dirty="0">
                <a:latin typeface="Times New Roman"/>
                <a:cs typeface="Times New Roman"/>
              </a:rPr>
              <a:t>: </a:t>
            </a:r>
            <a:r>
              <a:rPr lang="en-US" sz="3200" b="1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f </a:t>
            </a:r>
            <a:r>
              <a:rPr lang="en-US" sz="3200" b="1" spc="-5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rgbClr val="009999"/>
                </a:solidFill>
                <a:latin typeface="Times New Roman"/>
                <a:cs typeface="Times New Roman"/>
              </a:rPr>
              <a:t>) =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Symbol"/>
                <a:cs typeface="Symbol"/>
              </a:rPr>
              <a:t>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(</a:t>
            </a:r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n</a:t>
            </a:r>
            <a:r>
              <a:rPr lang="en-US" sz="3150" b="1" baseline="25132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en-US" sz="3150" b="1" spc="30" baseline="25132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+ </a:t>
            </a:r>
            <a:r>
              <a:rPr lang="en-US" sz="3150" b="1" spc="7" baseline="25132" dirty="0">
                <a:solidFill>
                  <a:schemeClr val="accent1">
                    <a:lumMod val="50000"/>
                  </a:schemeClr>
                </a:solidFill>
                <a:latin typeface="Symbol"/>
                <a:cs typeface="Symbol"/>
              </a:rPr>
              <a:t></a:t>
            </a:r>
            <a:r>
              <a:rPr lang="en-US" sz="3200" b="1" spc="5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 </a:t>
            </a:r>
            <a:r>
              <a:rPr lang="en-US" sz="3200" spc="-5" dirty="0">
                <a:latin typeface="Times New Roman"/>
                <a:cs typeface="Times New Roman"/>
              </a:rPr>
              <a:t>for </a:t>
            </a:r>
            <a:r>
              <a:rPr lang="en-US" sz="3200" spc="-5" dirty="0">
                <a:solidFill>
                  <a:srgbClr val="009999"/>
                </a:solidFill>
                <a:latin typeface="Symbol"/>
                <a:cs typeface="Symbol"/>
              </a:rPr>
              <a:t></a:t>
            </a: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 =</a:t>
            </a:r>
            <a:r>
              <a:rPr lang="en-US" sz="3200" spc="-2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</a:t>
            </a:r>
            <a:endParaRPr lang="en-US" sz="3200" dirty="0">
              <a:latin typeface="Times New Roman"/>
              <a:cs typeface="Times New Roman"/>
            </a:endParaRPr>
          </a:p>
          <a:p>
            <a:pPr marL="828675">
              <a:lnSpc>
                <a:spcPts val="3454"/>
              </a:lnSpc>
            </a:pPr>
            <a:r>
              <a:rPr lang="en-US" sz="3200" b="1" i="1" spc="-5" dirty="0">
                <a:latin typeface="Times New Roman"/>
                <a:cs typeface="Times New Roman"/>
              </a:rPr>
              <a:t>and </a:t>
            </a:r>
            <a:r>
              <a:rPr lang="en-US"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4(</a:t>
            </a:r>
            <a:r>
              <a:rPr lang="en-US" sz="3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/2)</a:t>
            </a:r>
            <a:r>
              <a:rPr lang="en-US" sz="3150" b="1" spc="-7" baseline="25132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lang="en-US" sz="3150" spc="-7" baseline="25132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b="1" spc="-5" dirty="0">
                <a:solidFill>
                  <a:srgbClr val="CC0099"/>
                </a:solidFill>
                <a:latin typeface="Symbol"/>
                <a:cs typeface="Symbol"/>
              </a:rPr>
              <a:t></a:t>
            </a:r>
            <a:r>
              <a:rPr lang="en-US" sz="3200" b="1" spc="-5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 spc="5" dirty="0">
                <a:solidFill>
                  <a:srgbClr val="CC0099"/>
                </a:solidFill>
                <a:latin typeface="Times New Roman"/>
                <a:cs typeface="Times New Roman"/>
              </a:rPr>
              <a:t>cn</a:t>
            </a:r>
            <a:r>
              <a:rPr lang="en-US" sz="3150" b="1" spc="7" baseline="25132" dirty="0">
                <a:solidFill>
                  <a:srgbClr val="CC0099"/>
                </a:solidFill>
                <a:latin typeface="Times New Roman"/>
                <a:cs typeface="Times New Roman"/>
              </a:rPr>
              <a:t>3 </a:t>
            </a:r>
            <a:r>
              <a:rPr lang="en-US" sz="3200" spc="-5" dirty="0">
                <a:latin typeface="Times New Roman"/>
                <a:cs typeface="Times New Roman"/>
              </a:rPr>
              <a:t>(reg. cond.) for </a:t>
            </a:r>
            <a:r>
              <a:rPr lang="en-US" sz="3200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 </a:t>
            </a: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lang="en-US" sz="3200" spc="-23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lang="en-US" sz="3200" spc="-5" dirty="0">
                <a:solidFill>
                  <a:srgbClr val="009999"/>
                </a:solidFill>
                <a:latin typeface="Times New Roman"/>
                <a:cs typeface="Times New Roman"/>
              </a:rPr>
              <a:t>1/2</a:t>
            </a:r>
            <a:r>
              <a:rPr lang="en-US" sz="3200" spc="-5" dirty="0" smtClean="0">
                <a:latin typeface="Times New Roman"/>
                <a:cs typeface="Times New Roman"/>
              </a:rPr>
              <a:t>.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61086" y="5111560"/>
            <a:ext cx="4045018" cy="56682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828040">
              <a:lnSpc>
                <a:spcPts val="3650"/>
              </a:lnSpc>
            </a:pPr>
            <a:r>
              <a:rPr lang="en-US" sz="3600" b="1" spc="-5" dirty="0">
                <a:solidFill>
                  <a:srgbClr val="990033"/>
                </a:solidFill>
                <a:latin typeface="Symbol"/>
                <a:cs typeface="Symbol"/>
              </a:rPr>
              <a:t></a:t>
            </a:r>
            <a:r>
              <a:rPr lang="en-US" sz="36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lang="en-US" sz="36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T</a:t>
            </a:r>
            <a:r>
              <a:rPr lang="en-US" sz="36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lang="en-US" sz="3600" b="1" i="1" spc="-5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lang="en-US" sz="3600" b="1" spc="-5" dirty="0">
                <a:solidFill>
                  <a:srgbClr val="990033"/>
                </a:solidFill>
                <a:latin typeface="Times New Roman"/>
                <a:cs typeface="Times New Roman"/>
              </a:rPr>
              <a:t>) =</a:t>
            </a:r>
            <a:r>
              <a:rPr lang="en-US" sz="3600" b="1" spc="-15" dirty="0">
                <a:solidFill>
                  <a:srgbClr val="990033"/>
                </a:solidFill>
                <a:latin typeface="Times New Roman"/>
                <a:cs typeface="Times New Roman"/>
              </a:rPr>
              <a:t> </a:t>
            </a:r>
            <a:r>
              <a:rPr lang="en-US" sz="3600" b="1" dirty="0">
                <a:solidFill>
                  <a:srgbClr val="990033"/>
                </a:solidFill>
                <a:latin typeface="Symbol"/>
                <a:cs typeface="Symbol"/>
              </a:rPr>
              <a:t></a:t>
            </a:r>
            <a:r>
              <a:rPr lang="en-US" sz="3600" b="1" dirty="0">
                <a:solidFill>
                  <a:srgbClr val="990033"/>
                </a:solidFill>
                <a:latin typeface="Times New Roman"/>
                <a:cs typeface="Times New Roman"/>
              </a:rPr>
              <a:t>(</a:t>
            </a:r>
            <a:r>
              <a:rPr lang="en-US" sz="3600" b="1" i="1" dirty="0">
                <a:solidFill>
                  <a:srgbClr val="990033"/>
                </a:solidFill>
                <a:latin typeface="Times New Roman"/>
                <a:cs typeface="Times New Roman"/>
              </a:rPr>
              <a:t>n</a:t>
            </a:r>
            <a:r>
              <a:rPr lang="en-US" sz="3600" b="1" baseline="25132" dirty="0">
                <a:solidFill>
                  <a:srgbClr val="990033"/>
                </a:solidFill>
                <a:latin typeface="Times New Roman"/>
                <a:cs typeface="Times New Roman"/>
              </a:rPr>
              <a:t>3</a:t>
            </a:r>
            <a:r>
              <a:rPr lang="en-US" sz="3600" b="1" dirty="0">
                <a:solidFill>
                  <a:srgbClr val="990033"/>
                </a:solidFill>
                <a:latin typeface="Times New Roman"/>
                <a:cs typeface="Times New Roman"/>
              </a:rPr>
              <a:t>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7868" y="109871"/>
            <a:ext cx="2327532" cy="584775"/>
          </a:xfrm>
          <a:prstGeom prst="rect">
            <a:avLst/>
          </a:prstGeom>
          <a:solidFill>
            <a:srgbClr val="FFCC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-5" dirty="0">
                <a:latin typeface="Times New Roman"/>
                <a:cs typeface="Times New Roman"/>
              </a:rPr>
              <a:t>C</a:t>
            </a:r>
            <a:r>
              <a:rPr lang="en-US" b="1" spc="-5" dirty="0">
                <a:latin typeface="Times New Roman"/>
                <a:cs typeface="Times New Roman"/>
              </a:rPr>
              <a:t>ASE </a:t>
            </a:r>
            <a:r>
              <a:rPr lang="en-US" sz="3200" b="1" spc="-5" dirty="0" smtClean="0">
                <a:latin typeface="Times New Roman"/>
                <a:cs typeface="Times New Roman"/>
              </a:rPr>
              <a:t>3</a:t>
            </a:r>
            <a:r>
              <a:rPr lang="en-US" sz="3200" spc="-5" dirty="0" smtClean="0">
                <a:latin typeface="Times New Roman"/>
                <a:cs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04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Reference</a:t>
            </a:r>
          </a:p>
        </p:txBody>
      </p:sp>
      <p:sp>
        <p:nvSpPr>
          <p:cNvPr id="1095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Introduction to Algorithms</a:t>
            </a:r>
          </a:p>
          <a:p>
            <a:r>
              <a:rPr lang="en-US" altLang="en-US" smtClean="0"/>
              <a:t>4.1,4.2, </a:t>
            </a:r>
            <a:r>
              <a:rPr lang="en-US" altLang="en-US" dirty="0" smtClean="0"/>
              <a:t>4.3</a:t>
            </a:r>
            <a:r>
              <a:rPr lang="en-US" altLang="en-US" smtClean="0"/>
              <a:t>, 4.4, 4.5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Chapter # 4</a:t>
            </a:r>
          </a:p>
          <a:p>
            <a:pPr lvl="1"/>
            <a:r>
              <a:rPr lang="en-US" altLang="en-US" dirty="0" smtClean="0"/>
              <a:t>Thomas H. </a:t>
            </a:r>
            <a:r>
              <a:rPr lang="en-US" altLang="en-US" dirty="0" err="1" smtClean="0"/>
              <a:t>Cormen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3</a:t>
            </a:r>
            <a:r>
              <a:rPr lang="en-US" altLang="en-US" baseline="30000" dirty="0" smtClean="0"/>
              <a:t>rd</a:t>
            </a:r>
            <a:r>
              <a:rPr lang="en-US" altLang="en-US" dirty="0" smtClean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290349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16413</TotalTime>
  <Pages>11</Pages>
  <Words>904</Words>
  <Application>Microsoft Office PowerPoint</Application>
  <PresentationFormat>On-screen Show (4:3)</PresentationFormat>
  <Paragraphs>155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Symbol</vt:lpstr>
      <vt:lpstr>Times New Roman</vt:lpstr>
      <vt:lpstr>plsd</vt:lpstr>
      <vt:lpstr>   Design and Analysis of Algorithms</vt:lpstr>
      <vt:lpstr>Methods to solve recurrence</vt:lpstr>
      <vt:lpstr>The master method</vt:lpstr>
      <vt:lpstr>Three common cases</vt:lpstr>
      <vt:lpstr>Three common cases (cont.)</vt:lpstr>
      <vt:lpstr>Three common cases</vt:lpstr>
      <vt:lpstr>Three common cases</vt:lpstr>
      <vt:lpstr>Three common cases (cont.)</vt:lpstr>
      <vt:lpstr>Examples</vt:lpstr>
      <vt:lpstr>Three common cases</vt:lpstr>
      <vt:lpstr>Examples</vt:lpstr>
      <vt:lpstr>Examples</vt:lpstr>
      <vt:lpstr>Three common cases</vt:lpstr>
      <vt:lpstr>Examples</vt:lpstr>
      <vt:lpstr>Examples</vt:lpstr>
      <vt:lpstr>Three common cases (cont.)</vt:lpstr>
      <vt:lpstr>Examples</vt:lpstr>
      <vt:lpstr>Reference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Windows User</cp:lastModifiedBy>
  <cp:revision>498</cp:revision>
  <cp:lastPrinted>2021-10-07T10:45:20Z</cp:lastPrinted>
  <dcterms:created xsi:type="dcterms:W3CDTF">1998-07-26T04:07:26Z</dcterms:created>
  <dcterms:modified xsi:type="dcterms:W3CDTF">2023-09-19T09:21:16Z</dcterms:modified>
</cp:coreProperties>
</file>