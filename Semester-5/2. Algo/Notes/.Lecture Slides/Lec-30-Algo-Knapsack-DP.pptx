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6"/>
  </p:notesMasterIdLst>
  <p:sldIdLst>
    <p:sldId id="256" r:id="rId2"/>
    <p:sldId id="397" r:id="rId3"/>
    <p:sldId id="402" r:id="rId4"/>
    <p:sldId id="404" r:id="rId5"/>
    <p:sldId id="406" r:id="rId6"/>
    <p:sldId id="407" r:id="rId7"/>
    <p:sldId id="405" r:id="rId8"/>
    <p:sldId id="408" r:id="rId9"/>
    <p:sldId id="409" r:id="rId10"/>
    <p:sldId id="412" r:id="rId11"/>
    <p:sldId id="413" r:id="rId12"/>
    <p:sldId id="414" r:id="rId13"/>
    <p:sldId id="415" r:id="rId14"/>
    <p:sldId id="416" r:id="rId15"/>
    <p:sldId id="418" r:id="rId16"/>
    <p:sldId id="419" r:id="rId17"/>
    <p:sldId id="420" r:id="rId18"/>
    <p:sldId id="421" r:id="rId19"/>
    <p:sldId id="422" r:id="rId20"/>
    <p:sldId id="423" r:id="rId21"/>
    <p:sldId id="424" r:id="rId22"/>
    <p:sldId id="425" r:id="rId23"/>
    <p:sldId id="432" r:id="rId24"/>
    <p:sldId id="433" r:id="rId25"/>
    <p:sldId id="434" r:id="rId26"/>
    <p:sldId id="435" r:id="rId27"/>
    <p:sldId id="436" r:id="rId28"/>
    <p:sldId id="437" r:id="rId29"/>
    <p:sldId id="427" r:id="rId30"/>
    <p:sldId id="426" r:id="rId31"/>
    <p:sldId id="430" r:id="rId32"/>
    <p:sldId id="431" r:id="rId33"/>
    <p:sldId id="428" r:id="rId34"/>
    <p:sldId id="429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FF99FF"/>
    <a:srgbClr val="CEF6AA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311" autoAdjust="0"/>
  </p:normalViewPr>
  <p:slideViewPr>
    <p:cSldViewPr>
      <p:cViewPr varScale="1">
        <p:scale>
          <a:sx n="62" d="100"/>
          <a:sy n="62" d="100"/>
        </p:scale>
        <p:origin x="2050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FEA30D-F538-4EBD-912F-1808A0DA29D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331714-DE9E-4352-A7E7-33E74F8D4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002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31714-DE9E-4352-A7E7-33E74F8D4C7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890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BD82F70-6227-4C6A-98A2-3EB0A41814D2}" type="slidenum">
              <a:rPr lang="en-US" altLang="en-US" sz="1200" smtClean="0"/>
              <a:pPr/>
              <a:t>2</a:t>
            </a:fld>
            <a:endParaRPr lang="en-US" altLang="en-US" sz="120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4112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BD82F70-6227-4C6A-98A2-3EB0A41814D2}" type="slidenum">
              <a:rPr lang="en-US" altLang="en-US" sz="1200" smtClean="0"/>
              <a:pPr/>
              <a:t>3</a:t>
            </a:fld>
            <a:endParaRPr lang="en-US" altLang="en-US" sz="120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10539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22FAE5B-23BF-44E0-8199-39871B065C8A}" type="slidenum">
              <a:rPr lang="en-US" altLang="en-US" sz="1200" smtClean="0"/>
              <a:pPr/>
              <a:t>4</a:t>
            </a:fld>
            <a:endParaRPr lang="en-US" alt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7224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22FAE5B-23BF-44E0-8199-39871B065C8A}" type="slidenum">
              <a:rPr lang="en-US" altLang="en-US" sz="1200" smtClean="0"/>
              <a:pPr/>
              <a:t>5</a:t>
            </a:fld>
            <a:endParaRPr lang="en-US" alt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4028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22FAE5B-23BF-44E0-8199-39871B065C8A}" type="slidenum">
              <a:rPr lang="en-US" altLang="en-US" sz="1200" smtClean="0"/>
              <a:pPr/>
              <a:t>6</a:t>
            </a:fld>
            <a:endParaRPr lang="en-US" alt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9360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22FAE5B-23BF-44E0-8199-39871B065C8A}" type="slidenum">
              <a:rPr lang="en-US" altLang="en-US" sz="1200" smtClean="0"/>
              <a:pPr/>
              <a:t>7</a:t>
            </a:fld>
            <a:endParaRPr lang="en-US" alt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6248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22FAE5B-23BF-44E0-8199-39871B065C8A}" type="slidenum">
              <a:rPr lang="en-US" altLang="en-US" sz="1200" smtClean="0"/>
              <a:pPr/>
              <a:t>8</a:t>
            </a:fld>
            <a:endParaRPr lang="en-US" alt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08616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22FAE5B-23BF-44E0-8199-39871B065C8A}" type="slidenum">
              <a:rPr lang="en-US" altLang="en-US" sz="1200" smtClean="0"/>
              <a:pPr/>
              <a:t>9</a:t>
            </a:fld>
            <a:endParaRPr lang="en-US" alt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69424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22FAE5B-23BF-44E0-8199-39871B065C8A}" type="slidenum">
              <a:rPr lang="en-US" altLang="en-US" sz="1200" smtClean="0"/>
              <a:pPr/>
              <a:t>10</a:t>
            </a:fld>
            <a:endParaRPr lang="en-US" alt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31063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22FAE5B-23BF-44E0-8199-39871B065C8A}" type="slidenum">
              <a:rPr lang="en-US" altLang="en-US" sz="1200" smtClean="0"/>
              <a:pPr/>
              <a:t>11</a:t>
            </a:fld>
            <a:endParaRPr lang="en-US" alt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48202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22FAE5B-23BF-44E0-8199-39871B065C8A}" type="slidenum">
              <a:rPr lang="en-US" altLang="en-US" sz="1200" smtClean="0"/>
              <a:pPr/>
              <a:t>12</a:t>
            </a:fld>
            <a:endParaRPr lang="en-US" alt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0323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22FAE5B-23BF-44E0-8199-39871B065C8A}" type="slidenum">
              <a:rPr lang="en-US" altLang="en-US" sz="1200" smtClean="0"/>
              <a:pPr/>
              <a:t>13</a:t>
            </a:fld>
            <a:endParaRPr lang="en-US" alt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85238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22FAE5B-23BF-44E0-8199-39871B065C8A}" type="slidenum">
              <a:rPr lang="en-US" altLang="en-US" sz="1200" smtClean="0"/>
              <a:pPr/>
              <a:t>14</a:t>
            </a:fld>
            <a:endParaRPr lang="en-US" alt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10753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22FAE5B-23BF-44E0-8199-39871B065C8A}" type="slidenum">
              <a:rPr lang="en-US" altLang="en-US" sz="1200" smtClean="0"/>
              <a:pPr/>
              <a:t>15</a:t>
            </a:fld>
            <a:endParaRPr lang="en-US" alt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14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22FAE5B-23BF-44E0-8199-39871B065C8A}" type="slidenum">
              <a:rPr lang="en-US" altLang="en-US" sz="1200" smtClean="0"/>
              <a:pPr/>
              <a:t>16</a:t>
            </a:fld>
            <a:endParaRPr lang="en-US" alt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34325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22FAE5B-23BF-44E0-8199-39871B065C8A}" type="slidenum">
              <a:rPr lang="en-US" altLang="en-US" sz="1200" smtClean="0"/>
              <a:pPr/>
              <a:t>17</a:t>
            </a:fld>
            <a:endParaRPr lang="en-US" alt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7190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22FAE5B-23BF-44E0-8199-39871B065C8A}" type="slidenum">
              <a:rPr lang="en-US" altLang="en-US" sz="1200" smtClean="0"/>
              <a:pPr/>
              <a:t>18</a:t>
            </a:fld>
            <a:endParaRPr lang="en-US" alt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16515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22FAE5B-23BF-44E0-8199-39871B065C8A}" type="slidenum">
              <a:rPr lang="en-US" altLang="en-US" sz="1200" smtClean="0"/>
              <a:pPr/>
              <a:t>19</a:t>
            </a:fld>
            <a:endParaRPr lang="en-US" alt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63017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22FAE5B-23BF-44E0-8199-39871B065C8A}" type="slidenum">
              <a:rPr lang="en-US" altLang="en-US" sz="1200" smtClean="0"/>
              <a:pPr/>
              <a:t>20</a:t>
            </a:fld>
            <a:endParaRPr lang="en-US" alt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2532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22FAE5B-23BF-44E0-8199-39871B065C8A}" type="slidenum">
              <a:rPr lang="en-US" altLang="en-US" sz="1200" smtClean="0"/>
              <a:pPr/>
              <a:t>21</a:t>
            </a:fld>
            <a:endParaRPr lang="en-US" alt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42396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BD82F70-6227-4C6A-98A2-3EB0A41814D2}" type="slidenum">
              <a:rPr lang="en-US" altLang="en-US" sz="1200" smtClean="0"/>
              <a:pPr/>
              <a:t>22</a:t>
            </a:fld>
            <a:endParaRPr lang="en-US" altLang="en-US" sz="120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66938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BD82F70-6227-4C6A-98A2-3EB0A41814D2}" type="slidenum">
              <a:rPr lang="en-US" altLang="en-US" sz="1200" smtClean="0"/>
              <a:pPr/>
              <a:t>23</a:t>
            </a:fld>
            <a:endParaRPr lang="en-US" altLang="en-US" sz="120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02474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22FAE5B-23BF-44E0-8199-39871B065C8A}" type="slidenum">
              <a:rPr lang="en-US" altLang="en-US" sz="1200" smtClean="0"/>
              <a:pPr/>
              <a:t>24</a:t>
            </a:fld>
            <a:endParaRPr lang="en-US" alt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16643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22FAE5B-23BF-44E0-8199-39871B065C8A}" type="slidenum">
              <a:rPr lang="en-US" altLang="en-US" sz="1200" smtClean="0"/>
              <a:pPr/>
              <a:t>25</a:t>
            </a:fld>
            <a:endParaRPr lang="en-US" alt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53302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22FAE5B-23BF-44E0-8199-39871B065C8A}" type="slidenum">
              <a:rPr lang="en-US" altLang="en-US" sz="1200" smtClean="0"/>
              <a:pPr/>
              <a:t>26</a:t>
            </a:fld>
            <a:endParaRPr lang="en-US" alt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47880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22FAE5B-23BF-44E0-8199-39871B065C8A}" type="slidenum">
              <a:rPr lang="en-US" altLang="en-US" sz="1200" smtClean="0"/>
              <a:pPr/>
              <a:t>27</a:t>
            </a:fld>
            <a:endParaRPr lang="en-US" alt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30780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22FAE5B-23BF-44E0-8199-39871B065C8A}" type="slidenum">
              <a:rPr lang="en-US" altLang="en-US" sz="1200" smtClean="0"/>
              <a:pPr/>
              <a:t>28</a:t>
            </a:fld>
            <a:endParaRPr lang="en-US" alt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25550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BD82F70-6227-4C6A-98A2-3EB0A41814D2}" type="slidenum">
              <a:rPr lang="en-US" altLang="en-US" sz="1200" smtClean="0"/>
              <a:pPr/>
              <a:t>29</a:t>
            </a:fld>
            <a:endParaRPr lang="en-US" altLang="en-US" sz="120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62186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BD82F70-6227-4C6A-98A2-3EB0A41814D2}" type="slidenum">
              <a:rPr lang="en-US" altLang="en-US" sz="1200" smtClean="0"/>
              <a:pPr/>
              <a:t>30</a:t>
            </a:fld>
            <a:endParaRPr lang="en-US" altLang="en-US" sz="120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44568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22FAE5B-23BF-44E0-8199-39871B065C8A}" type="slidenum">
              <a:rPr lang="en-US" altLang="en-US" sz="1200" smtClean="0"/>
              <a:pPr/>
              <a:t>31</a:t>
            </a:fld>
            <a:endParaRPr lang="en-US" alt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69209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22FAE5B-23BF-44E0-8199-39871B065C8A}" type="slidenum">
              <a:rPr lang="en-US" altLang="en-US" sz="1200" smtClean="0"/>
              <a:pPr/>
              <a:t>32</a:t>
            </a:fld>
            <a:endParaRPr lang="en-US" altLang="en-US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9301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BD82F70-6227-4C6A-98A2-3EB0A41814D2}" type="slidenum">
              <a:rPr lang="en-US" altLang="en-US" sz="1200" smtClean="0"/>
              <a:pPr/>
              <a:t>33</a:t>
            </a:fld>
            <a:endParaRPr lang="en-US" altLang="en-US" sz="120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440897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BD82F70-6227-4C6A-98A2-3EB0A41814D2}" type="slidenum">
              <a:rPr lang="en-US" altLang="en-US" sz="1200" smtClean="0"/>
              <a:pPr/>
              <a:t>34</a:t>
            </a:fld>
            <a:endParaRPr lang="en-US" altLang="en-US" sz="120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1883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82D3E04-28E7-45C8-83AC-B7685C887E6B}" type="datetime1">
              <a:rPr lang="en-US" smtClean="0"/>
              <a:t>11/26/2025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9D9961DC-4ABD-430D-98CF-3D508581960F}" type="datetime1">
              <a:rPr lang="en-US" smtClean="0"/>
              <a:t>11/26/2025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46F5A562-B878-4269-86AE-1494387781A8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C4F1-6C28-484D-BB37-B4C425E2DA65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BB48B-1E99-4241-B641-89D368FD6E06}" type="datetime1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8D5D02A-3918-4A55-9DFE-136828ED72E8}" type="datetime1">
              <a:rPr lang="en-US" smtClean="0"/>
              <a:t>11/26/2025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1E471-5E70-4BAD-A511-11133A8CF9F2}" type="datetime1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63EA3ED8-E963-4963-9C8A-5C1F89953E67}" type="datetime1">
              <a:rPr lang="en-US" smtClean="0"/>
              <a:t>11/26/2025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B7529AF-31AD-46A8-8529-2A9B9BD08BDA}" type="datetime1">
              <a:rPr lang="en-US" smtClean="0"/>
              <a:t>11/26/2025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A804D-4360-439A-90B6-3C8EDEB37E73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5D762-2122-42CF-B135-CD5DF1233446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26B5A474-0E01-4DA7-A206-49158DE26724}" type="datetime1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46B8EC2-79DC-4D91-A125-9987AE897EF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76400"/>
            <a:ext cx="6172200" cy="18943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sz="5400" dirty="0"/>
              <a:t>Dynamic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0" y="3886200"/>
            <a:ext cx="6172200" cy="671423"/>
          </a:xfr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0" dirty="0"/>
              <a:t>Knapsack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1</a:t>
            </a:fld>
            <a:endParaRPr lang="en-US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590800" y="5024887"/>
            <a:ext cx="6172200" cy="13716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>
            <a:normAutofit/>
          </a:bodyPr>
          <a:lstStyle>
            <a:lvl1pPr marL="0" indent="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None/>
              <a:defRPr kumimoji="0"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None/>
              <a:defRPr kumimoji="0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None/>
              <a:defRPr kumimoji="0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None/>
              <a:defRPr kumimoji="0"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None/>
              <a:defRPr kumimoji="0"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None/>
              <a:defRPr kumimoji="0" sz="14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accent2"/>
              </a:buClr>
              <a:buNone/>
              <a:defRPr kumimoji="0" sz="1400" kern="1200" cap="small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None/>
              <a:defRPr kumimoji="0" sz="14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3200" b="0" dirty="0"/>
          </a:p>
        </p:txBody>
      </p:sp>
    </p:spTree>
    <p:extLst>
      <p:ext uri="{BB962C8B-B14F-4D97-AF65-F5344CB8AC3E}">
        <p14:creationId xmlns:p14="http://schemas.microsoft.com/office/powerpoint/2010/main" val="349777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 pitchFamily="2" charset="2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CD36D664-EE44-4DE0-B666-11F1F850D48A}" type="slidenum">
              <a:rPr kumimoji="0" lang="en-US" altLang="en-US" sz="1400" b="0" smtClean="0">
                <a:solidFill>
                  <a:schemeClr val="tx1"/>
                </a:solidFill>
                <a:latin typeface="Arial Narrow" panose="020B0606020202030204" pitchFamily="34" charset="0"/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2</a:t>
            </a:fld>
            <a:endParaRPr kumimoji="0" lang="en-US" altLang="en-US" sz="1400" b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418818" name="Rectangle 2">
            <a:extLst>
              <a:ext uri="{FF2B5EF4-FFF2-40B4-BE49-F238E27FC236}">
                <a16:creationId xmlns:a16="http://schemas.microsoft.com/office/drawing/2014/main" id="{6163DC8B-92E3-4BD3-9017-A7F839D5A05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7585"/>
            <a:ext cx="8738616" cy="744415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en-US" altLang="en-US" sz="3600" b="1" dirty="0"/>
              <a:t>Knapsack Problem</a:t>
            </a:r>
          </a:p>
        </p:txBody>
      </p:sp>
      <p:sp>
        <p:nvSpPr>
          <p:cNvPr id="418819" name="Rectangle 3">
            <a:extLst>
              <a:ext uri="{FF2B5EF4-FFF2-40B4-BE49-F238E27FC236}">
                <a16:creationId xmlns:a16="http://schemas.microsoft.com/office/drawing/2014/main" id="{818DDDD9-E946-4442-9889-6A0B535312E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51462" y="756138"/>
            <a:ext cx="8610600" cy="5791200"/>
          </a:xfrm>
        </p:spPr>
        <p:txBody>
          <a:bodyPr/>
          <a:lstStyle/>
          <a:p>
            <a:pPr marL="0" indent="0">
              <a:buFont typeface="Monotype Sorts" pitchFamily="2" charset="2"/>
              <a:buNone/>
              <a:defRPr/>
            </a:pPr>
            <a:r>
              <a:rPr lang="en-US" altLang="en-US" dirty="0"/>
              <a:t>Given </a:t>
            </a:r>
            <a:r>
              <a:rPr lang="en-US" altLang="en-US" i="1" dirty="0"/>
              <a:t>n</a:t>
            </a:r>
            <a:r>
              <a:rPr lang="en-US" altLang="en-US" dirty="0"/>
              <a:t> items  of </a:t>
            </a:r>
          </a:p>
          <a:p>
            <a:pPr lvl="1">
              <a:buFontTx/>
              <a:buNone/>
              <a:defRPr/>
            </a:pPr>
            <a:r>
              <a:rPr lang="en-US" altLang="en-US" sz="2400" dirty="0"/>
              <a:t>       integer weights:    </a:t>
            </a:r>
            <a:r>
              <a:rPr lang="en-US" altLang="en-US" sz="2400" i="1" dirty="0"/>
              <a:t>w</a:t>
            </a:r>
            <a:r>
              <a:rPr lang="en-US" altLang="en-US" sz="2400" baseline="-25000" dirty="0"/>
              <a:t>1   </a:t>
            </a:r>
            <a:r>
              <a:rPr lang="en-US" altLang="en-US" sz="2400" dirty="0"/>
              <a:t> </a:t>
            </a:r>
            <a:r>
              <a:rPr lang="en-US" altLang="en-US" sz="2400" i="1" dirty="0"/>
              <a:t>w</a:t>
            </a:r>
            <a:r>
              <a:rPr lang="en-US" altLang="en-US" sz="2400" baseline="-25000" dirty="0"/>
              <a:t>2</a:t>
            </a:r>
            <a:r>
              <a:rPr lang="en-US" altLang="en-US" sz="2400" i="1" dirty="0"/>
              <a:t>  …  </a:t>
            </a:r>
            <a:r>
              <a:rPr lang="en-US" altLang="en-US" sz="2400" i="1" dirty="0" err="1"/>
              <a:t>w</a:t>
            </a:r>
            <a:r>
              <a:rPr lang="en-US" altLang="en-US" sz="2400" i="1" baseline="-25000" dirty="0" err="1"/>
              <a:t>n</a:t>
            </a:r>
            <a:endParaRPr lang="en-US" altLang="en-US" sz="2400" i="1" baseline="-25000" dirty="0"/>
          </a:p>
          <a:p>
            <a:pPr lvl="1">
              <a:buFontTx/>
              <a:buNone/>
              <a:defRPr/>
            </a:pPr>
            <a:r>
              <a:rPr lang="en-US" altLang="en-US" sz="2400" dirty="0"/>
              <a:t>       values:                    </a:t>
            </a:r>
            <a:r>
              <a:rPr lang="en-US" altLang="en-US" sz="2400" i="1" dirty="0"/>
              <a:t>v</a:t>
            </a:r>
            <a:r>
              <a:rPr lang="en-US" altLang="en-US" sz="2400" baseline="-25000" dirty="0"/>
              <a:t>1   </a:t>
            </a:r>
            <a:r>
              <a:rPr lang="en-US" altLang="en-US" sz="2400" dirty="0"/>
              <a:t>  </a:t>
            </a:r>
            <a:r>
              <a:rPr lang="en-US" altLang="en-US" sz="2400" i="1" dirty="0"/>
              <a:t>v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 </a:t>
            </a:r>
            <a:r>
              <a:rPr lang="en-US" altLang="en-US" sz="2400" i="1" dirty="0"/>
              <a:t> …  </a:t>
            </a:r>
            <a:r>
              <a:rPr lang="en-US" altLang="en-US" sz="2400" i="1" dirty="0" err="1"/>
              <a:t>v</a:t>
            </a:r>
            <a:r>
              <a:rPr lang="en-US" altLang="en-US" sz="2400" i="1" baseline="-25000" dirty="0" err="1"/>
              <a:t>n</a:t>
            </a:r>
            <a:endParaRPr lang="en-US" altLang="en-US" sz="2400" dirty="0"/>
          </a:p>
          <a:p>
            <a:pPr marL="0" indent="0">
              <a:buFont typeface="Monotype Sorts" pitchFamily="2" charset="2"/>
              <a:buNone/>
              <a:defRPr/>
            </a:pPr>
            <a:r>
              <a:rPr lang="en-US" altLang="en-US" dirty="0"/>
              <a:t>             a knapsack of integer capacity </a:t>
            </a:r>
            <a:r>
              <a:rPr lang="en-US" altLang="en-US" i="1" dirty="0"/>
              <a:t>W</a:t>
            </a:r>
            <a:r>
              <a:rPr lang="en-US" altLang="en-US" sz="2800" i="1" dirty="0"/>
              <a:t> </a:t>
            </a:r>
          </a:p>
          <a:p>
            <a:pPr marL="0" indent="0">
              <a:buFont typeface="Monotype Sorts" pitchFamily="2" charset="2"/>
              <a:buNone/>
              <a:defRPr/>
            </a:pPr>
            <a:r>
              <a:rPr lang="en-US" altLang="en-US" dirty="0"/>
              <a:t>find most valuable subset of the items that fit into the knapsack</a:t>
            </a:r>
          </a:p>
          <a:p>
            <a:pPr marL="0" indent="0">
              <a:buFont typeface="Monotype Sorts" pitchFamily="2" charset="2"/>
              <a:buNone/>
              <a:defRPr/>
            </a:pPr>
            <a:endParaRPr lang="en-US" altLang="en-US" dirty="0"/>
          </a:p>
          <a:p>
            <a:pPr marL="0" indent="0">
              <a:buFont typeface="Monotype Sorts" pitchFamily="2" charset="2"/>
              <a:buNone/>
              <a:defRPr/>
            </a:pPr>
            <a:r>
              <a:rPr lang="en-US" altLang="en-US" dirty="0"/>
              <a:t>Recursive solution?  </a:t>
            </a:r>
          </a:p>
          <a:p>
            <a:pPr marL="0" indent="0">
              <a:buFont typeface="Monotype Sorts" pitchFamily="2" charset="2"/>
              <a:buNone/>
              <a:defRPr/>
            </a:pPr>
            <a:r>
              <a:rPr lang="en-US" altLang="en-US" dirty="0"/>
              <a:t>	What is smaller problem?</a:t>
            </a:r>
          </a:p>
          <a:p>
            <a:pPr marL="0" indent="0">
              <a:buFont typeface="Monotype Sorts" pitchFamily="2" charset="2"/>
              <a:buNone/>
              <a:defRPr/>
            </a:pPr>
            <a:r>
              <a:rPr lang="en-US" altLang="en-US" dirty="0"/>
              <a:t>	How to use solution to smaller</a:t>
            </a:r>
          </a:p>
          <a:p>
            <a:pPr marL="0" indent="0">
              <a:buFont typeface="Monotype Sorts" pitchFamily="2" charset="2"/>
              <a:buNone/>
              <a:defRPr/>
            </a:pPr>
            <a:r>
              <a:rPr lang="en-US" altLang="en-US" dirty="0"/>
              <a:t>            in solution to larger Table?</a:t>
            </a:r>
          </a:p>
          <a:p>
            <a:pPr marL="0" indent="0">
              <a:buFont typeface="Monotype Sorts" pitchFamily="2" charset="2"/>
              <a:buNone/>
              <a:defRPr/>
            </a:pPr>
            <a:r>
              <a:rPr lang="en-US" altLang="en-US" dirty="0"/>
              <a:t>Order to solve?</a:t>
            </a:r>
          </a:p>
          <a:p>
            <a:pPr marL="0" indent="0">
              <a:buFont typeface="Monotype Sorts" pitchFamily="2" charset="2"/>
              <a:buNone/>
              <a:defRPr/>
            </a:pPr>
            <a:r>
              <a:rPr lang="en-US" altLang="en-US" dirty="0"/>
              <a:t>Initial conditions?</a:t>
            </a:r>
          </a:p>
          <a:p>
            <a:pPr marL="0" indent="0">
              <a:buFont typeface="Monotype Sorts" pitchFamily="2" charset="2"/>
              <a:buNone/>
              <a:defRPr/>
            </a:pPr>
            <a:endParaRPr lang="en-US" altLang="en-US" dirty="0"/>
          </a:p>
          <a:p>
            <a:pPr marL="0" indent="0">
              <a:buFont typeface="Monotype Sorts" pitchFamily="2" charset="2"/>
              <a:buNone/>
              <a:defRPr/>
            </a:pPr>
            <a:endParaRPr lang="en-US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716" y="3386074"/>
            <a:ext cx="3009900" cy="260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495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 pitchFamily="2" charset="2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CD36D664-EE44-4DE0-B666-11F1F850D48A}" type="slidenum">
              <a:rPr kumimoji="0" lang="en-US" altLang="en-US" sz="1400" b="0" smtClean="0">
                <a:solidFill>
                  <a:schemeClr val="tx1"/>
                </a:solidFill>
                <a:latin typeface="Arial Narrow" panose="020B0606020202030204" pitchFamily="34" charset="0"/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3</a:t>
            </a:fld>
            <a:endParaRPr kumimoji="0" lang="en-US" altLang="en-US" sz="1400" b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418818" name="Rectangle 2">
            <a:extLst>
              <a:ext uri="{FF2B5EF4-FFF2-40B4-BE49-F238E27FC236}">
                <a16:creationId xmlns:a16="http://schemas.microsoft.com/office/drawing/2014/main" id="{6163DC8B-92E3-4BD3-9017-A7F839D5A05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7585"/>
            <a:ext cx="8738616" cy="744415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en-US" altLang="en-US" sz="3600" b="1" dirty="0"/>
              <a:t>Knapsack Problem (Brute Force)</a:t>
            </a:r>
          </a:p>
        </p:txBody>
      </p:sp>
      <p:sp>
        <p:nvSpPr>
          <p:cNvPr id="418819" name="Rectangle 3">
            <a:extLst>
              <a:ext uri="{FF2B5EF4-FFF2-40B4-BE49-F238E27FC236}">
                <a16:creationId xmlns:a16="http://schemas.microsoft.com/office/drawing/2014/main" id="{818DDDD9-E946-4442-9889-6A0B535312E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990600"/>
            <a:ext cx="5715000" cy="4343400"/>
          </a:xfr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Font typeface="Monotype Sorts" pitchFamily="2" charset="2"/>
              <a:buNone/>
              <a:defRPr/>
            </a:pPr>
            <a:r>
              <a:rPr lang="en-US" altLang="en-US" dirty="0"/>
              <a:t>Given </a:t>
            </a:r>
            <a:r>
              <a:rPr lang="en-US" altLang="en-US" i="1" dirty="0"/>
              <a:t>n</a:t>
            </a:r>
            <a:r>
              <a:rPr lang="en-US" altLang="en-US" dirty="0"/>
              <a:t> items  of </a:t>
            </a:r>
          </a:p>
          <a:p>
            <a:pPr lvl="1">
              <a:buFontTx/>
              <a:buNone/>
              <a:defRPr/>
            </a:pPr>
            <a:r>
              <a:rPr lang="en-US" altLang="en-US" sz="2400" dirty="0"/>
              <a:t>       Item	</a:t>
            </a:r>
            <a:r>
              <a:rPr lang="en-US" altLang="en-US" sz="2400" i="1" dirty="0"/>
              <a:t>x</a:t>
            </a:r>
            <a:r>
              <a:rPr lang="en-US" altLang="en-US" sz="2400" baseline="-25000" dirty="0"/>
              <a:t>1   </a:t>
            </a:r>
            <a:r>
              <a:rPr lang="en-US" altLang="en-US" sz="2400" dirty="0"/>
              <a:t> </a:t>
            </a:r>
            <a:r>
              <a:rPr lang="en-US" altLang="en-US" sz="2400" i="1" dirty="0"/>
              <a:t>x</a:t>
            </a:r>
            <a:r>
              <a:rPr lang="en-US" altLang="en-US" sz="2400" baseline="-25000" dirty="0"/>
              <a:t>2</a:t>
            </a:r>
            <a:r>
              <a:rPr lang="en-US" altLang="en-US" sz="2400" i="1" dirty="0"/>
              <a:t>  …  </a:t>
            </a:r>
            <a:r>
              <a:rPr lang="en-US" altLang="en-US" sz="2400" i="1" dirty="0" err="1"/>
              <a:t>x</a:t>
            </a:r>
            <a:r>
              <a:rPr lang="en-US" altLang="en-US" sz="2400" i="1" baseline="-25000" dirty="0" err="1"/>
              <a:t>n</a:t>
            </a:r>
            <a:endParaRPr lang="en-US" altLang="en-US" sz="2400" i="1" baseline="-25000" dirty="0"/>
          </a:p>
          <a:p>
            <a:pPr lvl="1">
              <a:buFontTx/>
              <a:buNone/>
              <a:defRPr/>
            </a:pPr>
            <a:endParaRPr lang="en-US" altLang="en-US" sz="2400" i="1" baseline="-25000" dirty="0"/>
          </a:p>
          <a:p>
            <a:pPr lvl="1">
              <a:buNone/>
              <a:defRPr/>
            </a:pPr>
            <a:endParaRPr lang="en-US" altLang="en-US" sz="2400" i="1" baseline="-25000" dirty="0"/>
          </a:p>
          <a:p>
            <a:pPr lvl="1">
              <a:defRPr/>
            </a:pPr>
            <a:r>
              <a:rPr lang="en-US" altLang="en-US" sz="2400" i="1" dirty="0">
                <a:latin typeface="+mj-lt"/>
              </a:rPr>
              <a:t>Since there are n items , so 2</a:t>
            </a:r>
            <a:r>
              <a:rPr lang="en-US" altLang="en-US" sz="2400" i="1" baseline="30000" dirty="0">
                <a:latin typeface="+mj-lt"/>
              </a:rPr>
              <a:t>n</a:t>
            </a:r>
            <a:r>
              <a:rPr lang="en-US" altLang="en-US" sz="2400" i="1" dirty="0">
                <a:latin typeface="+mj-lt"/>
              </a:rPr>
              <a:t> </a:t>
            </a:r>
            <a:r>
              <a:rPr lang="en-US" altLang="en-US" sz="2400" dirty="0">
                <a:latin typeface="+mj-lt"/>
              </a:rPr>
              <a:t>possible  combinations.</a:t>
            </a:r>
          </a:p>
          <a:p>
            <a:pPr lvl="1">
              <a:defRPr/>
            </a:pPr>
            <a:r>
              <a:rPr lang="en-US" altLang="en-US" sz="2400" dirty="0">
                <a:latin typeface="+mj-lt"/>
              </a:rPr>
              <a:t>We go through all possible combinations and finds the one with the most total value and with total weight less or equal </a:t>
            </a:r>
            <a:r>
              <a:rPr lang="en-US" altLang="en-US" sz="2400" b="1" i="1" dirty="0">
                <a:latin typeface="+mj-lt"/>
              </a:rPr>
              <a:t>W</a:t>
            </a:r>
            <a:r>
              <a:rPr lang="en-US" altLang="en-US" sz="2400" dirty="0">
                <a:latin typeface="+mj-lt"/>
              </a:rPr>
              <a:t>     </a:t>
            </a:r>
          </a:p>
          <a:p>
            <a:pPr lvl="1">
              <a:defRPr/>
            </a:pPr>
            <a:r>
              <a:rPr lang="en-US" altLang="en-US" sz="2400" dirty="0">
                <a:latin typeface="+mj-lt"/>
              </a:rPr>
              <a:t>Running time will be </a:t>
            </a:r>
            <a:r>
              <a:rPr lang="en-US" altLang="en-US" sz="2400" i="1" dirty="0"/>
              <a:t>2</a:t>
            </a:r>
            <a:r>
              <a:rPr lang="en-US" altLang="en-US" sz="2400" i="1" baseline="30000" dirty="0"/>
              <a:t>n</a:t>
            </a:r>
            <a:r>
              <a:rPr lang="en-US" altLang="en-US" sz="2400" dirty="0">
                <a:latin typeface="+mj-lt"/>
              </a:rPr>
              <a:t>              </a:t>
            </a:r>
          </a:p>
          <a:p>
            <a:pPr marL="0" indent="0">
              <a:buFont typeface="Monotype Sorts" pitchFamily="2" charset="2"/>
              <a:buNone/>
              <a:defRPr/>
            </a:pPr>
            <a:endParaRPr lang="en-US" altLang="en-US" dirty="0"/>
          </a:p>
        </p:txBody>
      </p:sp>
      <p:sp>
        <p:nvSpPr>
          <p:cNvPr id="2" name="Rectangle 1"/>
          <p:cNvSpPr/>
          <p:nvPr/>
        </p:nvSpPr>
        <p:spPr>
          <a:xfrm>
            <a:off x="6250434" y="2810173"/>
            <a:ext cx="2488182" cy="2923877"/>
          </a:xfrm>
          <a:prstGeom prst="rect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lvl="1">
              <a:buFontTx/>
              <a:buNone/>
              <a:defRPr/>
            </a:pPr>
            <a:r>
              <a:rPr lang="en-US" altLang="en-US" sz="2400" i="1" dirty="0"/>
              <a:t>x</a:t>
            </a:r>
            <a:r>
              <a:rPr lang="en-US" altLang="en-US" sz="2400" baseline="-25000" dirty="0"/>
              <a:t>1   </a:t>
            </a:r>
            <a:r>
              <a:rPr lang="en-US" altLang="en-US" sz="2400" dirty="0"/>
              <a:t> </a:t>
            </a:r>
            <a:r>
              <a:rPr lang="en-US" altLang="en-US" sz="2400" i="1" dirty="0"/>
              <a:t>x</a:t>
            </a:r>
            <a:r>
              <a:rPr lang="en-US" altLang="en-US" sz="2400" baseline="-25000" dirty="0"/>
              <a:t>2</a:t>
            </a:r>
            <a:r>
              <a:rPr lang="en-US" altLang="en-US" sz="2400" i="1" dirty="0"/>
              <a:t>   x</a:t>
            </a:r>
            <a:r>
              <a:rPr lang="en-US" altLang="en-US" sz="2400" baseline="-25000" dirty="0"/>
              <a:t>3   </a:t>
            </a:r>
            <a:r>
              <a:rPr lang="en-US" altLang="en-US" sz="2400" dirty="0"/>
              <a:t> </a:t>
            </a:r>
            <a:r>
              <a:rPr lang="en-US" altLang="en-US" sz="2400" i="1" dirty="0"/>
              <a:t>x</a:t>
            </a:r>
            <a:r>
              <a:rPr lang="en-US" altLang="en-US" sz="2400" baseline="-25000" dirty="0"/>
              <a:t>4</a:t>
            </a:r>
          </a:p>
          <a:p>
            <a:pPr lvl="1">
              <a:buFontTx/>
              <a:buNone/>
              <a:defRPr/>
            </a:pPr>
            <a:r>
              <a:rPr lang="en-US" altLang="en-US" sz="2400" i="1" baseline="-25000" dirty="0"/>
              <a:t>0         0      0       1</a:t>
            </a:r>
          </a:p>
          <a:p>
            <a:pPr lvl="1">
              <a:buFontTx/>
              <a:buNone/>
              <a:defRPr/>
            </a:pPr>
            <a:r>
              <a:rPr lang="en-US" altLang="en-US" sz="2400" i="1" baseline="-25000" dirty="0"/>
              <a:t>0         0      1       0</a:t>
            </a:r>
          </a:p>
          <a:p>
            <a:pPr lvl="1">
              <a:buFontTx/>
              <a:buNone/>
              <a:defRPr/>
            </a:pPr>
            <a:r>
              <a:rPr lang="en-US" altLang="en-US" sz="2400" i="1" baseline="-25000" dirty="0"/>
              <a:t>0        1       0       0</a:t>
            </a:r>
          </a:p>
          <a:p>
            <a:pPr lvl="1">
              <a:defRPr/>
            </a:pPr>
            <a:r>
              <a:rPr lang="en-US" altLang="en-US" sz="2400" i="1" baseline="-25000" dirty="0"/>
              <a:t>1        0        0      0</a:t>
            </a:r>
          </a:p>
          <a:p>
            <a:pPr lvl="1">
              <a:defRPr/>
            </a:pPr>
            <a:r>
              <a:rPr lang="en-US" altLang="en-US" sz="2400" i="1" baseline="-25000" dirty="0"/>
              <a:t>...</a:t>
            </a:r>
          </a:p>
          <a:p>
            <a:pPr lvl="1">
              <a:defRPr/>
            </a:pPr>
            <a:r>
              <a:rPr lang="en-US" altLang="en-US" sz="2400" i="1" baseline="-25000" dirty="0"/>
              <a:t>…</a:t>
            </a:r>
          </a:p>
          <a:p>
            <a:pPr lvl="1">
              <a:defRPr/>
            </a:pPr>
            <a:r>
              <a:rPr lang="en-US" altLang="en-US" sz="2400" i="1" baseline="-25000" dirty="0"/>
              <a:t>…</a:t>
            </a:r>
          </a:p>
          <a:p>
            <a:pPr lvl="1">
              <a:defRPr/>
            </a:pPr>
            <a:r>
              <a:rPr lang="en-US" altLang="en-US" sz="2400" i="1" baseline="-25000" dirty="0"/>
              <a:t>1        1        1     1</a:t>
            </a:r>
          </a:p>
          <a:p>
            <a:pPr lvl="1">
              <a:defRPr/>
            </a:pPr>
            <a:endParaRPr lang="en-US" altLang="en-US" sz="2400" i="1" baseline="-25000" dirty="0"/>
          </a:p>
          <a:p>
            <a:pPr lvl="1">
              <a:defRPr/>
            </a:pPr>
            <a:r>
              <a:rPr lang="en-US" altLang="en-US" sz="2400" i="1" baseline="-25000" dirty="0"/>
              <a:t>2</a:t>
            </a:r>
            <a:r>
              <a:rPr lang="en-US" altLang="en-US" sz="2400" i="1" baseline="30000" dirty="0"/>
              <a:t>4</a:t>
            </a:r>
            <a:r>
              <a:rPr lang="en-US" altLang="en-US" sz="2400" i="1" baseline="-25000" dirty="0"/>
              <a:t>=16</a:t>
            </a:r>
          </a:p>
        </p:txBody>
      </p:sp>
    </p:spTree>
    <p:extLst>
      <p:ext uri="{BB962C8B-B14F-4D97-AF65-F5344CB8AC3E}">
        <p14:creationId xmlns:p14="http://schemas.microsoft.com/office/powerpoint/2010/main" val="486836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>
            <a:extLst>
              <a:ext uri="{FF2B5EF4-FFF2-40B4-BE49-F238E27FC236}">
                <a16:creationId xmlns:a16="http://schemas.microsoft.com/office/drawing/2014/main" id="{C843F2B8-FD88-459C-B871-A7531F6795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2130" y="102150"/>
            <a:ext cx="7467600" cy="423738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/>
              <a:t>Knapsack Problem by DP (example)</a:t>
            </a:r>
          </a:p>
        </p:txBody>
      </p:sp>
      <p:sp>
        <p:nvSpPr>
          <p:cNvPr id="414723" name="Rectangle 3">
            <a:extLst>
              <a:ext uri="{FF2B5EF4-FFF2-40B4-BE49-F238E27FC236}">
                <a16:creationId xmlns:a16="http://schemas.microsoft.com/office/drawing/2014/main" id="{A0D89135-7A65-4658-A987-6A87747610C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132130" y="637389"/>
            <a:ext cx="6781800" cy="2057400"/>
          </a:xfrm>
        </p:spPr>
        <p:txBody>
          <a:bodyPr>
            <a:normAutofit fontScale="85000" lnSpcReduction="20000"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Example:  Knapsack of capacity </a:t>
            </a:r>
            <a:r>
              <a:rPr lang="en-US" altLang="en-US" i="1" dirty="0"/>
              <a:t>W </a:t>
            </a:r>
            <a:r>
              <a:rPr lang="en-US" altLang="en-US" dirty="0"/>
              <a:t>= 5</a:t>
            </a:r>
            <a:endParaRPr lang="en-US" altLang="en-US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u="sng" dirty="0"/>
              <a:t>item      weight      value             </a:t>
            </a:r>
            <a:endParaRPr lang="en-US" altLang="en-US" i="1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1             2             $12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2             1             $10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3             3             $20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4             2             $15</a:t>
            </a:r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0667149"/>
              </p:ext>
            </p:extLst>
          </p:nvPr>
        </p:nvGraphicFramePr>
        <p:xfrm>
          <a:off x="358201" y="2973771"/>
          <a:ext cx="838041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823">
                  <a:extLst>
                    <a:ext uri="{9D8B030D-6E8A-4147-A177-3AD203B41FA5}">
                      <a16:colId xmlns:a16="http://schemas.microsoft.com/office/drawing/2014/main" val="407756699"/>
                    </a:ext>
                  </a:extLst>
                </a:gridCol>
                <a:gridCol w="322977">
                  <a:extLst>
                    <a:ext uri="{9D8B030D-6E8A-4147-A177-3AD203B41FA5}">
                      <a16:colId xmlns:a16="http://schemas.microsoft.com/office/drawing/2014/main" val="1396698258"/>
                    </a:ext>
                  </a:extLst>
                </a:gridCol>
                <a:gridCol w="932855">
                  <a:extLst>
                    <a:ext uri="{9D8B030D-6E8A-4147-A177-3AD203B41FA5}">
                      <a16:colId xmlns:a16="http://schemas.microsoft.com/office/drawing/2014/main" val="3727349464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628466055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700655419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385635510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341358621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855855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03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710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943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0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93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7557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48408" y="2332117"/>
            <a:ext cx="12009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capacity </a:t>
            </a:r>
            <a:r>
              <a:rPr lang="en-US" altLang="en-US" i="1" dirty="0"/>
              <a:t>j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676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3" name="Rectangle 3">
            <a:extLst>
              <a:ext uri="{FF2B5EF4-FFF2-40B4-BE49-F238E27FC236}">
                <a16:creationId xmlns:a16="http://schemas.microsoft.com/office/drawing/2014/main" id="{A0D89135-7A65-4658-A987-6A87747610C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71476" y="798022"/>
            <a:ext cx="6781800" cy="2057400"/>
          </a:xfrm>
        </p:spPr>
        <p:txBody>
          <a:bodyPr>
            <a:normAutofit fontScale="85000" lnSpcReduction="20000"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Example:  Knapsack of capacity </a:t>
            </a:r>
            <a:r>
              <a:rPr lang="en-US" altLang="en-US" i="1" dirty="0"/>
              <a:t>W </a:t>
            </a:r>
            <a:r>
              <a:rPr lang="en-US" altLang="en-US" dirty="0"/>
              <a:t>= 5</a:t>
            </a:r>
            <a:endParaRPr lang="en-US" altLang="en-US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u="sng" dirty="0"/>
              <a:t>item      weight      value             </a:t>
            </a:r>
            <a:endParaRPr lang="en-US" altLang="en-US" i="1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1             2             $12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2             1             $10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3             3             $20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4             2             $15</a:t>
            </a:r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0050243"/>
              </p:ext>
            </p:extLst>
          </p:nvPr>
        </p:nvGraphicFramePr>
        <p:xfrm>
          <a:off x="375786" y="3124200"/>
          <a:ext cx="8380415" cy="225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823">
                  <a:extLst>
                    <a:ext uri="{9D8B030D-6E8A-4147-A177-3AD203B41FA5}">
                      <a16:colId xmlns:a16="http://schemas.microsoft.com/office/drawing/2014/main" val="407756699"/>
                    </a:ext>
                  </a:extLst>
                </a:gridCol>
                <a:gridCol w="322977">
                  <a:extLst>
                    <a:ext uri="{9D8B030D-6E8A-4147-A177-3AD203B41FA5}">
                      <a16:colId xmlns:a16="http://schemas.microsoft.com/office/drawing/2014/main" val="1396698258"/>
                    </a:ext>
                  </a:extLst>
                </a:gridCol>
                <a:gridCol w="932855">
                  <a:extLst>
                    <a:ext uri="{9D8B030D-6E8A-4147-A177-3AD203B41FA5}">
                      <a16:colId xmlns:a16="http://schemas.microsoft.com/office/drawing/2014/main" val="3727349464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628466055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700655419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385635510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341358621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855855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03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710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1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1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12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943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0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93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7557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338186" y="2409891"/>
            <a:ext cx="12009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capacity </a:t>
            </a:r>
            <a:r>
              <a:rPr lang="en-US" altLang="en-US" i="1" dirty="0"/>
              <a:t>j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5</a:t>
            </a:fld>
            <a:endParaRPr 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843F2B8-FD88-459C-B871-A7531F6795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860"/>
            <a:ext cx="7467600" cy="523384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/>
              <a:t>Knapsack Problem by DP (example)</a:t>
            </a:r>
          </a:p>
        </p:txBody>
      </p:sp>
    </p:spTree>
    <p:extLst>
      <p:ext uri="{BB962C8B-B14F-4D97-AF65-F5344CB8AC3E}">
        <p14:creationId xmlns:p14="http://schemas.microsoft.com/office/powerpoint/2010/main" val="1041728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>
            <a:extLst>
              <a:ext uri="{FF2B5EF4-FFF2-40B4-BE49-F238E27FC236}">
                <a16:creationId xmlns:a16="http://schemas.microsoft.com/office/drawing/2014/main" id="{C843F2B8-FD88-459C-B871-A7531F6795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299" y="23446"/>
            <a:ext cx="7467600" cy="393576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>
              <a:defRPr/>
            </a:pPr>
            <a:r>
              <a:rPr lang="en-US" altLang="en-US" sz="2400" dirty="0"/>
              <a:t>Knapsack Problem by DP (example)</a:t>
            </a:r>
          </a:p>
        </p:txBody>
      </p:sp>
      <p:sp>
        <p:nvSpPr>
          <p:cNvPr id="414723" name="Rectangle 3">
            <a:extLst>
              <a:ext uri="{FF2B5EF4-FFF2-40B4-BE49-F238E27FC236}">
                <a16:creationId xmlns:a16="http://schemas.microsoft.com/office/drawing/2014/main" id="{A0D89135-7A65-4658-A987-6A87747610C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76690" y="417022"/>
            <a:ext cx="6781800" cy="2057400"/>
          </a:xfrm>
        </p:spPr>
        <p:txBody>
          <a:bodyPr>
            <a:normAutofit fontScale="85000" lnSpcReduction="20000"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Example:  Knapsack of capacity </a:t>
            </a:r>
            <a:r>
              <a:rPr lang="en-US" altLang="en-US" i="1" dirty="0"/>
              <a:t>W </a:t>
            </a:r>
            <a:r>
              <a:rPr lang="en-US" altLang="en-US" dirty="0"/>
              <a:t>= 5</a:t>
            </a:r>
            <a:endParaRPr lang="en-US" altLang="en-US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u="sng" dirty="0"/>
              <a:t>item      weight      value             </a:t>
            </a:r>
            <a:endParaRPr lang="en-US" altLang="en-US" i="1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1             2             $12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2             1             $10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3             3             $20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4             2             $15</a:t>
            </a:r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0964379"/>
              </p:ext>
            </p:extLst>
          </p:nvPr>
        </p:nvGraphicFramePr>
        <p:xfrm>
          <a:off x="381000" y="2743200"/>
          <a:ext cx="8380415" cy="225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823">
                  <a:extLst>
                    <a:ext uri="{9D8B030D-6E8A-4147-A177-3AD203B41FA5}">
                      <a16:colId xmlns:a16="http://schemas.microsoft.com/office/drawing/2014/main" val="407756699"/>
                    </a:ext>
                  </a:extLst>
                </a:gridCol>
                <a:gridCol w="322977">
                  <a:extLst>
                    <a:ext uri="{9D8B030D-6E8A-4147-A177-3AD203B41FA5}">
                      <a16:colId xmlns:a16="http://schemas.microsoft.com/office/drawing/2014/main" val="1396698258"/>
                    </a:ext>
                  </a:extLst>
                </a:gridCol>
                <a:gridCol w="932855">
                  <a:extLst>
                    <a:ext uri="{9D8B030D-6E8A-4147-A177-3AD203B41FA5}">
                      <a16:colId xmlns:a16="http://schemas.microsoft.com/office/drawing/2014/main" val="3727349464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628466055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700655419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385635510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341358621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855855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03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710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1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1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12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943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0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93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7557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343400" y="2028891"/>
            <a:ext cx="12009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capacity </a:t>
            </a:r>
            <a:r>
              <a:rPr lang="en-US" altLang="en-US" i="1" dirty="0"/>
              <a:t>j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6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72807" y="5665177"/>
            <a:ext cx="8053808" cy="461665"/>
          </a:xfrm>
          <a:prstGeom prst="rect">
            <a:avLst/>
          </a:prstGeom>
          <a:solidFill>
            <a:srgbClr val="CEF6AA"/>
          </a:solidFill>
        </p:spPr>
        <p:txBody>
          <a:bodyPr wrap="none" rtlCol="0">
            <a:spAutoFit/>
          </a:bodyPr>
          <a:lstStyle/>
          <a:p>
            <a:r>
              <a:rPr lang="en-US" sz="2400" b="1" dirty="0"/>
              <a:t>Only Item#1 is picked, having weight=2, value=12</a:t>
            </a:r>
          </a:p>
        </p:txBody>
      </p:sp>
    </p:spTree>
    <p:extLst>
      <p:ext uri="{BB962C8B-B14F-4D97-AF65-F5344CB8AC3E}">
        <p14:creationId xmlns:p14="http://schemas.microsoft.com/office/powerpoint/2010/main" val="3510231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3" name="Rectangle 3">
            <a:extLst>
              <a:ext uri="{FF2B5EF4-FFF2-40B4-BE49-F238E27FC236}">
                <a16:creationId xmlns:a16="http://schemas.microsoft.com/office/drawing/2014/main" id="{A0D89135-7A65-4658-A987-6A87747610C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76690" y="417022"/>
            <a:ext cx="6781800" cy="2057400"/>
          </a:xfrm>
        </p:spPr>
        <p:txBody>
          <a:bodyPr>
            <a:normAutofit fontScale="85000" lnSpcReduction="20000"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Example:  Knapsack of capacity </a:t>
            </a:r>
            <a:r>
              <a:rPr lang="en-US" altLang="en-US" i="1" dirty="0"/>
              <a:t>W </a:t>
            </a:r>
            <a:r>
              <a:rPr lang="en-US" altLang="en-US" dirty="0"/>
              <a:t>= 5</a:t>
            </a:r>
            <a:endParaRPr lang="en-US" altLang="en-US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u="sng" dirty="0"/>
              <a:t>item      weight      value             </a:t>
            </a:r>
            <a:endParaRPr lang="en-US" altLang="en-US" i="1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1             2             $12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2             1             $10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3             3             $20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4             2             $15</a:t>
            </a:r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3680155"/>
              </p:ext>
            </p:extLst>
          </p:nvPr>
        </p:nvGraphicFramePr>
        <p:xfrm>
          <a:off x="381000" y="2743200"/>
          <a:ext cx="8380415" cy="22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823">
                  <a:extLst>
                    <a:ext uri="{9D8B030D-6E8A-4147-A177-3AD203B41FA5}">
                      <a16:colId xmlns:a16="http://schemas.microsoft.com/office/drawing/2014/main" val="407756699"/>
                    </a:ext>
                  </a:extLst>
                </a:gridCol>
                <a:gridCol w="322977">
                  <a:extLst>
                    <a:ext uri="{9D8B030D-6E8A-4147-A177-3AD203B41FA5}">
                      <a16:colId xmlns:a16="http://schemas.microsoft.com/office/drawing/2014/main" val="1396698258"/>
                    </a:ext>
                  </a:extLst>
                </a:gridCol>
                <a:gridCol w="932855">
                  <a:extLst>
                    <a:ext uri="{9D8B030D-6E8A-4147-A177-3AD203B41FA5}">
                      <a16:colId xmlns:a16="http://schemas.microsoft.com/office/drawing/2014/main" val="3727349464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628466055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700655419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385635510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341358621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855855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03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710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1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1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12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943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2 </a:t>
                      </a:r>
                      <a:r>
                        <a:rPr kumimoji="0" lang="en-US" altLang="en-US" dirty="0"/>
                        <a:t>= 1,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2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0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93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7557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343400" y="2028891"/>
            <a:ext cx="12009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capacity </a:t>
            </a:r>
            <a:r>
              <a:rPr lang="en-US" altLang="en-US" i="1" dirty="0"/>
              <a:t>j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7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72807" y="5665177"/>
            <a:ext cx="7289175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b="1" dirty="0"/>
              <a:t> Item#2 is picked, having weight=1, value=10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C843F2B8-FD88-459C-B871-A7531F67953E}"/>
              </a:ext>
            </a:extLst>
          </p:cNvPr>
          <p:cNvSpPr txBox="1">
            <a:spLocks noChangeArrowheads="1"/>
          </p:cNvSpPr>
          <p:nvPr/>
        </p:nvSpPr>
        <p:spPr>
          <a:xfrm>
            <a:off x="167299" y="23446"/>
            <a:ext cx="7467600" cy="3935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2400"/>
              <a:t>Knapsack Problem by DP (example)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1119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3" name="Rectangle 3">
            <a:extLst>
              <a:ext uri="{FF2B5EF4-FFF2-40B4-BE49-F238E27FC236}">
                <a16:creationId xmlns:a16="http://schemas.microsoft.com/office/drawing/2014/main" id="{A0D89135-7A65-4658-A987-6A87747610C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76690" y="417022"/>
            <a:ext cx="6781800" cy="2057400"/>
          </a:xfrm>
        </p:spPr>
        <p:txBody>
          <a:bodyPr>
            <a:normAutofit fontScale="85000" lnSpcReduction="20000"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Example:  Knapsack of capacity </a:t>
            </a:r>
            <a:r>
              <a:rPr lang="en-US" altLang="en-US" i="1" dirty="0"/>
              <a:t>W </a:t>
            </a:r>
            <a:r>
              <a:rPr lang="en-US" altLang="en-US" dirty="0"/>
              <a:t>= 5</a:t>
            </a:r>
            <a:endParaRPr lang="en-US" altLang="en-US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u="sng" dirty="0"/>
              <a:t>item      weight      value             </a:t>
            </a:r>
            <a:endParaRPr lang="en-US" altLang="en-US" i="1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1             2             $12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2             1             $10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3             3             $20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4             2             $15</a:t>
            </a:r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2225431"/>
              </p:ext>
            </p:extLst>
          </p:nvPr>
        </p:nvGraphicFramePr>
        <p:xfrm>
          <a:off x="381000" y="2743200"/>
          <a:ext cx="8380415" cy="22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823">
                  <a:extLst>
                    <a:ext uri="{9D8B030D-6E8A-4147-A177-3AD203B41FA5}">
                      <a16:colId xmlns:a16="http://schemas.microsoft.com/office/drawing/2014/main" val="407756699"/>
                    </a:ext>
                  </a:extLst>
                </a:gridCol>
                <a:gridCol w="322977">
                  <a:extLst>
                    <a:ext uri="{9D8B030D-6E8A-4147-A177-3AD203B41FA5}">
                      <a16:colId xmlns:a16="http://schemas.microsoft.com/office/drawing/2014/main" val="1396698258"/>
                    </a:ext>
                  </a:extLst>
                </a:gridCol>
                <a:gridCol w="932855">
                  <a:extLst>
                    <a:ext uri="{9D8B030D-6E8A-4147-A177-3AD203B41FA5}">
                      <a16:colId xmlns:a16="http://schemas.microsoft.com/office/drawing/2014/main" val="3727349464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628466055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700655419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385635510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341358621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855855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03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710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1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1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12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943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2 </a:t>
                      </a:r>
                      <a:r>
                        <a:rPr kumimoji="0" lang="en-US" altLang="en-US" dirty="0"/>
                        <a:t>= 1,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2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0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93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7557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343400" y="2028891"/>
            <a:ext cx="12009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capacity </a:t>
            </a:r>
            <a:r>
              <a:rPr lang="en-US" altLang="en-US" i="1" dirty="0"/>
              <a:t>j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8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72807" y="5665177"/>
            <a:ext cx="7289175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b="1" dirty="0"/>
              <a:t> Item#1 is picked, having weight=2, value=12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843F2B8-FD88-459C-B871-A7531F67953E}"/>
              </a:ext>
            </a:extLst>
          </p:cNvPr>
          <p:cNvSpPr txBox="1">
            <a:spLocks noChangeArrowheads="1"/>
          </p:cNvSpPr>
          <p:nvPr/>
        </p:nvSpPr>
        <p:spPr>
          <a:xfrm>
            <a:off x="167299" y="23446"/>
            <a:ext cx="7467600" cy="3935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2400"/>
              <a:t>Knapsack Problem by DP (example)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8568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3" name="Rectangle 3">
            <a:extLst>
              <a:ext uri="{FF2B5EF4-FFF2-40B4-BE49-F238E27FC236}">
                <a16:creationId xmlns:a16="http://schemas.microsoft.com/office/drawing/2014/main" id="{A0D89135-7A65-4658-A987-6A87747610C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76690" y="417022"/>
            <a:ext cx="6781800" cy="2057400"/>
          </a:xfrm>
        </p:spPr>
        <p:txBody>
          <a:bodyPr>
            <a:normAutofit fontScale="85000" lnSpcReduction="20000"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Example:  Knapsack of capacity </a:t>
            </a:r>
            <a:r>
              <a:rPr lang="en-US" altLang="en-US" i="1" dirty="0"/>
              <a:t>W </a:t>
            </a:r>
            <a:r>
              <a:rPr lang="en-US" altLang="en-US" dirty="0"/>
              <a:t>= 5</a:t>
            </a:r>
            <a:endParaRPr lang="en-US" altLang="en-US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u="sng" dirty="0"/>
              <a:t>item      weight      value             </a:t>
            </a:r>
            <a:endParaRPr lang="en-US" altLang="en-US" i="1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1             2             $12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2             1             $10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3             3             $20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4             2             $15</a:t>
            </a:r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9490127"/>
              </p:ext>
            </p:extLst>
          </p:nvPr>
        </p:nvGraphicFramePr>
        <p:xfrm>
          <a:off x="381000" y="2743200"/>
          <a:ext cx="8380415" cy="22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823">
                  <a:extLst>
                    <a:ext uri="{9D8B030D-6E8A-4147-A177-3AD203B41FA5}">
                      <a16:colId xmlns:a16="http://schemas.microsoft.com/office/drawing/2014/main" val="407756699"/>
                    </a:ext>
                  </a:extLst>
                </a:gridCol>
                <a:gridCol w="322977">
                  <a:extLst>
                    <a:ext uri="{9D8B030D-6E8A-4147-A177-3AD203B41FA5}">
                      <a16:colId xmlns:a16="http://schemas.microsoft.com/office/drawing/2014/main" val="1396698258"/>
                    </a:ext>
                  </a:extLst>
                </a:gridCol>
                <a:gridCol w="932855">
                  <a:extLst>
                    <a:ext uri="{9D8B030D-6E8A-4147-A177-3AD203B41FA5}">
                      <a16:colId xmlns:a16="http://schemas.microsoft.com/office/drawing/2014/main" val="3727349464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628466055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700655419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385635510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341358621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855855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03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710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1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1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12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943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2 </a:t>
                      </a:r>
                      <a:r>
                        <a:rPr kumimoji="0" lang="en-US" altLang="en-US" dirty="0"/>
                        <a:t>= 1,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2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0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93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7557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343400" y="2028891"/>
            <a:ext cx="12009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capacity </a:t>
            </a:r>
            <a:r>
              <a:rPr lang="en-US" altLang="en-US" i="1" dirty="0"/>
              <a:t>j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9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72807" y="5665177"/>
            <a:ext cx="5314275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b="1" dirty="0"/>
              <a:t> Item#1 &amp; 2 both are picked, </a:t>
            </a:r>
          </a:p>
          <a:p>
            <a:r>
              <a:rPr lang="en-US" sz="2400" b="1" dirty="0"/>
              <a:t>having weight=2+1, value=12+10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C843F2B8-FD88-459C-B871-A7531F67953E}"/>
              </a:ext>
            </a:extLst>
          </p:cNvPr>
          <p:cNvSpPr txBox="1">
            <a:spLocks noChangeArrowheads="1"/>
          </p:cNvSpPr>
          <p:nvPr/>
        </p:nvSpPr>
        <p:spPr>
          <a:xfrm>
            <a:off x="167299" y="23446"/>
            <a:ext cx="7467600" cy="3935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2400"/>
              <a:t>Knapsack Problem by DP (example)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57598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3" name="Rectangle 3">
            <a:extLst>
              <a:ext uri="{FF2B5EF4-FFF2-40B4-BE49-F238E27FC236}">
                <a16:creationId xmlns:a16="http://schemas.microsoft.com/office/drawing/2014/main" id="{A0D89135-7A65-4658-A987-6A87747610C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76690" y="417022"/>
            <a:ext cx="6781800" cy="2057400"/>
          </a:xfrm>
        </p:spPr>
        <p:txBody>
          <a:bodyPr>
            <a:normAutofit fontScale="85000" lnSpcReduction="20000"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Example:  Knapsack of capacity </a:t>
            </a:r>
            <a:r>
              <a:rPr lang="en-US" altLang="en-US" i="1" dirty="0"/>
              <a:t>W </a:t>
            </a:r>
            <a:r>
              <a:rPr lang="en-US" altLang="en-US" dirty="0"/>
              <a:t>= 5</a:t>
            </a:r>
            <a:endParaRPr lang="en-US" altLang="en-US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u="sng" dirty="0"/>
              <a:t>item      weight      value             </a:t>
            </a:r>
            <a:endParaRPr lang="en-US" altLang="en-US" i="1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1             2             $12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2             1             $10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3             3             $20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4             2             $15</a:t>
            </a:r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6143028"/>
              </p:ext>
            </p:extLst>
          </p:nvPr>
        </p:nvGraphicFramePr>
        <p:xfrm>
          <a:off x="381000" y="2743200"/>
          <a:ext cx="8380415" cy="22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823">
                  <a:extLst>
                    <a:ext uri="{9D8B030D-6E8A-4147-A177-3AD203B41FA5}">
                      <a16:colId xmlns:a16="http://schemas.microsoft.com/office/drawing/2014/main" val="407756699"/>
                    </a:ext>
                  </a:extLst>
                </a:gridCol>
                <a:gridCol w="322977">
                  <a:extLst>
                    <a:ext uri="{9D8B030D-6E8A-4147-A177-3AD203B41FA5}">
                      <a16:colId xmlns:a16="http://schemas.microsoft.com/office/drawing/2014/main" val="1396698258"/>
                    </a:ext>
                  </a:extLst>
                </a:gridCol>
                <a:gridCol w="932855">
                  <a:extLst>
                    <a:ext uri="{9D8B030D-6E8A-4147-A177-3AD203B41FA5}">
                      <a16:colId xmlns:a16="http://schemas.microsoft.com/office/drawing/2014/main" val="3727349464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628466055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700655419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385635510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341358621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855855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03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710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1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1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12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943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2 </a:t>
                      </a:r>
                      <a:r>
                        <a:rPr kumimoji="0" lang="en-US" altLang="en-US" dirty="0"/>
                        <a:t>= 1,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2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0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93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7557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343400" y="2028891"/>
            <a:ext cx="12009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capacity </a:t>
            </a:r>
            <a:r>
              <a:rPr lang="en-US" altLang="en-US" i="1" dirty="0"/>
              <a:t>j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10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72807" y="5665177"/>
            <a:ext cx="5314275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b="1" dirty="0"/>
              <a:t> Item#1 &amp; 2 both are picked, </a:t>
            </a:r>
          </a:p>
          <a:p>
            <a:r>
              <a:rPr lang="en-US" sz="2400" b="1" dirty="0"/>
              <a:t>having weight=2+1, value=12+10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843F2B8-FD88-459C-B871-A7531F67953E}"/>
              </a:ext>
            </a:extLst>
          </p:cNvPr>
          <p:cNvSpPr txBox="1">
            <a:spLocks noChangeArrowheads="1"/>
          </p:cNvSpPr>
          <p:nvPr/>
        </p:nvSpPr>
        <p:spPr>
          <a:xfrm>
            <a:off x="167299" y="23446"/>
            <a:ext cx="7467600" cy="3935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2400"/>
              <a:t>Knapsack Problem by DP (example)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81084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3" name="Rectangle 3">
            <a:extLst>
              <a:ext uri="{FF2B5EF4-FFF2-40B4-BE49-F238E27FC236}">
                <a16:creationId xmlns:a16="http://schemas.microsoft.com/office/drawing/2014/main" id="{A0D89135-7A65-4658-A987-6A87747610C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76690" y="417022"/>
            <a:ext cx="6781800" cy="2057400"/>
          </a:xfrm>
        </p:spPr>
        <p:txBody>
          <a:bodyPr>
            <a:normAutofit fontScale="85000" lnSpcReduction="20000"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Example:  Knapsack of capacity </a:t>
            </a:r>
            <a:r>
              <a:rPr lang="en-US" altLang="en-US" i="1" dirty="0"/>
              <a:t>W </a:t>
            </a:r>
            <a:r>
              <a:rPr lang="en-US" altLang="en-US" dirty="0"/>
              <a:t>= 5</a:t>
            </a:r>
            <a:endParaRPr lang="en-US" altLang="en-US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u="sng" dirty="0"/>
              <a:t>item      weight      value             </a:t>
            </a:r>
            <a:endParaRPr lang="en-US" altLang="en-US" i="1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1             2             $12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2             1             $10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3             3             $20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4             2             $15</a:t>
            </a:r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1569648"/>
              </p:ext>
            </p:extLst>
          </p:nvPr>
        </p:nvGraphicFramePr>
        <p:xfrm>
          <a:off x="381000" y="2743200"/>
          <a:ext cx="8380415" cy="230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823">
                  <a:extLst>
                    <a:ext uri="{9D8B030D-6E8A-4147-A177-3AD203B41FA5}">
                      <a16:colId xmlns:a16="http://schemas.microsoft.com/office/drawing/2014/main" val="407756699"/>
                    </a:ext>
                  </a:extLst>
                </a:gridCol>
                <a:gridCol w="322977">
                  <a:extLst>
                    <a:ext uri="{9D8B030D-6E8A-4147-A177-3AD203B41FA5}">
                      <a16:colId xmlns:a16="http://schemas.microsoft.com/office/drawing/2014/main" val="1396698258"/>
                    </a:ext>
                  </a:extLst>
                </a:gridCol>
                <a:gridCol w="932855">
                  <a:extLst>
                    <a:ext uri="{9D8B030D-6E8A-4147-A177-3AD203B41FA5}">
                      <a16:colId xmlns:a16="http://schemas.microsoft.com/office/drawing/2014/main" val="3727349464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628466055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700655419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385635510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341358621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855855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03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710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1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1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12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943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2 </a:t>
                      </a:r>
                      <a:r>
                        <a:rPr kumimoji="0" lang="en-US" altLang="en-US" dirty="0"/>
                        <a:t>= 1,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2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0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i="1" dirty="0"/>
                        <a:t>w</a:t>
                      </a:r>
                      <a:r>
                        <a:rPr lang="en-US" altLang="en-US" baseline="-25000" dirty="0"/>
                        <a:t>3 </a:t>
                      </a:r>
                      <a:r>
                        <a:rPr kumimoji="0" lang="en-US" altLang="en-US" dirty="0"/>
                        <a:t>= 3, </a:t>
                      </a:r>
                      <a:r>
                        <a:rPr lang="en-US" altLang="en-US" sz="2000" i="1" dirty="0"/>
                        <a:t>v</a:t>
                      </a:r>
                      <a:r>
                        <a:rPr lang="en-US" altLang="en-US" sz="2000" baseline="-25000" dirty="0"/>
                        <a:t>3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20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93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7557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343400" y="2028891"/>
            <a:ext cx="12009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capacity </a:t>
            </a:r>
            <a:r>
              <a:rPr lang="en-US" altLang="en-US" i="1" dirty="0"/>
              <a:t>j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11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72807" y="5665177"/>
            <a:ext cx="7289175" cy="461665"/>
          </a:xfrm>
          <a:prstGeom prst="rect">
            <a:avLst/>
          </a:prstGeom>
          <a:solidFill>
            <a:srgbClr val="FF99FF"/>
          </a:solidFill>
        </p:spPr>
        <p:txBody>
          <a:bodyPr wrap="none" rtlCol="0">
            <a:spAutoFit/>
          </a:bodyPr>
          <a:lstStyle/>
          <a:p>
            <a:r>
              <a:rPr lang="en-US" sz="2400" b="1" dirty="0"/>
              <a:t> Item#2 is picked, having weight=1, value=10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C843F2B8-FD88-459C-B871-A7531F67953E}"/>
              </a:ext>
            </a:extLst>
          </p:cNvPr>
          <p:cNvSpPr txBox="1">
            <a:spLocks noChangeArrowheads="1"/>
          </p:cNvSpPr>
          <p:nvPr/>
        </p:nvSpPr>
        <p:spPr>
          <a:xfrm>
            <a:off x="167299" y="23446"/>
            <a:ext cx="7467600" cy="3935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2400"/>
              <a:t>Knapsack Problem by DP (example)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78661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3" name="Rectangle 3">
            <a:extLst>
              <a:ext uri="{FF2B5EF4-FFF2-40B4-BE49-F238E27FC236}">
                <a16:creationId xmlns:a16="http://schemas.microsoft.com/office/drawing/2014/main" id="{A0D89135-7A65-4658-A987-6A87747610C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76690" y="417022"/>
            <a:ext cx="6781800" cy="2057400"/>
          </a:xfrm>
        </p:spPr>
        <p:txBody>
          <a:bodyPr>
            <a:normAutofit fontScale="85000" lnSpcReduction="20000"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Example:  Knapsack of capacity </a:t>
            </a:r>
            <a:r>
              <a:rPr lang="en-US" altLang="en-US" i="1" dirty="0"/>
              <a:t>W </a:t>
            </a:r>
            <a:r>
              <a:rPr lang="en-US" altLang="en-US" dirty="0"/>
              <a:t>= 5</a:t>
            </a:r>
            <a:endParaRPr lang="en-US" altLang="en-US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u="sng" dirty="0"/>
              <a:t>item      weight      value             </a:t>
            </a:r>
            <a:endParaRPr lang="en-US" altLang="en-US" i="1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1             2             $12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2             1             $10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3             3             $20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4             2             $15</a:t>
            </a:r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0641215"/>
              </p:ext>
            </p:extLst>
          </p:nvPr>
        </p:nvGraphicFramePr>
        <p:xfrm>
          <a:off x="381000" y="2743200"/>
          <a:ext cx="8380415" cy="230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823">
                  <a:extLst>
                    <a:ext uri="{9D8B030D-6E8A-4147-A177-3AD203B41FA5}">
                      <a16:colId xmlns:a16="http://schemas.microsoft.com/office/drawing/2014/main" val="407756699"/>
                    </a:ext>
                  </a:extLst>
                </a:gridCol>
                <a:gridCol w="322977">
                  <a:extLst>
                    <a:ext uri="{9D8B030D-6E8A-4147-A177-3AD203B41FA5}">
                      <a16:colId xmlns:a16="http://schemas.microsoft.com/office/drawing/2014/main" val="1396698258"/>
                    </a:ext>
                  </a:extLst>
                </a:gridCol>
                <a:gridCol w="932855">
                  <a:extLst>
                    <a:ext uri="{9D8B030D-6E8A-4147-A177-3AD203B41FA5}">
                      <a16:colId xmlns:a16="http://schemas.microsoft.com/office/drawing/2014/main" val="3727349464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628466055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700655419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385635510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341358621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855855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03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710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1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1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12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943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2 </a:t>
                      </a:r>
                      <a:r>
                        <a:rPr kumimoji="0" lang="en-US" altLang="en-US" dirty="0"/>
                        <a:t>= 1,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2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0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i="1" dirty="0"/>
                        <a:t>w</a:t>
                      </a:r>
                      <a:r>
                        <a:rPr lang="en-US" altLang="en-US" baseline="-25000" dirty="0"/>
                        <a:t>3 </a:t>
                      </a:r>
                      <a:r>
                        <a:rPr kumimoji="0" lang="en-US" altLang="en-US" dirty="0"/>
                        <a:t>= 3, </a:t>
                      </a:r>
                      <a:r>
                        <a:rPr lang="en-US" altLang="en-US" sz="2000" i="1" dirty="0"/>
                        <a:t>v</a:t>
                      </a:r>
                      <a:r>
                        <a:rPr lang="en-US" altLang="en-US" sz="2000" baseline="-25000" dirty="0"/>
                        <a:t>3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20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93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7557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343400" y="2028891"/>
            <a:ext cx="12009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capacity </a:t>
            </a:r>
            <a:r>
              <a:rPr lang="en-US" altLang="en-US" i="1" dirty="0"/>
              <a:t>j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12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72807" y="5665177"/>
            <a:ext cx="7289175" cy="461665"/>
          </a:xfrm>
          <a:prstGeom prst="rect">
            <a:avLst/>
          </a:prstGeom>
          <a:solidFill>
            <a:srgbClr val="FF99FF"/>
          </a:solidFill>
        </p:spPr>
        <p:txBody>
          <a:bodyPr wrap="none" rtlCol="0">
            <a:spAutoFit/>
          </a:bodyPr>
          <a:lstStyle/>
          <a:p>
            <a:r>
              <a:rPr lang="en-US" sz="2400" b="1" dirty="0"/>
              <a:t> Item#1 is picked, having weight=2, value=12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C843F2B8-FD88-459C-B871-A7531F67953E}"/>
              </a:ext>
            </a:extLst>
          </p:cNvPr>
          <p:cNvSpPr txBox="1">
            <a:spLocks noChangeArrowheads="1"/>
          </p:cNvSpPr>
          <p:nvPr/>
        </p:nvSpPr>
        <p:spPr>
          <a:xfrm>
            <a:off x="167299" y="23446"/>
            <a:ext cx="7467600" cy="3935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2400"/>
              <a:t>Knapsack Problem by DP (example)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05239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3" name="Rectangle 3">
            <a:extLst>
              <a:ext uri="{FF2B5EF4-FFF2-40B4-BE49-F238E27FC236}">
                <a16:creationId xmlns:a16="http://schemas.microsoft.com/office/drawing/2014/main" id="{A0D89135-7A65-4658-A987-6A87747610C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76690" y="417022"/>
            <a:ext cx="6781800" cy="2057400"/>
          </a:xfrm>
        </p:spPr>
        <p:txBody>
          <a:bodyPr>
            <a:normAutofit fontScale="85000" lnSpcReduction="20000"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Example:  Knapsack of capacity </a:t>
            </a:r>
            <a:r>
              <a:rPr lang="en-US" altLang="en-US" i="1" dirty="0"/>
              <a:t>W </a:t>
            </a:r>
            <a:r>
              <a:rPr lang="en-US" altLang="en-US" dirty="0"/>
              <a:t>= 5</a:t>
            </a:r>
            <a:endParaRPr lang="en-US" altLang="en-US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u="sng" dirty="0"/>
              <a:t>item      weight      value             </a:t>
            </a:r>
            <a:endParaRPr lang="en-US" altLang="en-US" i="1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1             2             $12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2             1             $10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3             3             $20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4             2             $15</a:t>
            </a:r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6677195"/>
              </p:ext>
            </p:extLst>
          </p:nvPr>
        </p:nvGraphicFramePr>
        <p:xfrm>
          <a:off x="381000" y="2743200"/>
          <a:ext cx="8380415" cy="230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823">
                  <a:extLst>
                    <a:ext uri="{9D8B030D-6E8A-4147-A177-3AD203B41FA5}">
                      <a16:colId xmlns:a16="http://schemas.microsoft.com/office/drawing/2014/main" val="407756699"/>
                    </a:ext>
                  </a:extLst>
                </a:gridCol>
                <a:gridCol w="322977">
                  <a:extLst>
                    <a:ext uri="{9D8B030D-6E8A-4147-A177-3AD203B41FA5}">
                      <a16:colId xmlns:a16="http://schemas.microsoft.com/office/drawing/2014/main" val="1396698258"/>
                    </a:ext>
                  </a:extLst>
                </a:gridCol>
                <a:gridCol w="932855">
                  <a:extLst>
                    <a:ext uri="{9D8B030D-6E8A-4147-A177-3AD203B41FA5}">
                      <a16:colId xmlns:a16="http://schemas.microsoft.com/office/drawing/2014/main" val="3727349464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628466055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700655419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385635510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341358621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855855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03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710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1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1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12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943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2 </a:t>
                      </a:r>
                      <a:r>
                        <a:rPr kumimoji="0" lang="en-US" altLang="en-US" dirty="0"/>
                        <a:t>= 1,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2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0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i="1" dirty="0"/>
                        <a:t>w</a:t>
                      </a:r>
                      <a:r>
                        <a:rPr lang="en-US" altLang="en-US" baseline="-25000" dirty="0"/>
                        <a:t>3 </a:t>
                      </a:r>
                      <a:r>
                        <a:rPr kumimoji="0" lang="en-US" altLang="en-US" dirty="0"/>
                        <a:t>= 3, </a:t>
                      </a:r>
                      <a:r>
                        <a:rPr lang="en-US" altLang="en-US" sz="2000" i="1" dirty="0"/>
                        <a:t>v</a:t>
                      </a:r>
                      <a:r>
                        <a:rPr lang="en-US" altLang="en-US" sz="2000" baseline="-25000" dirty="0"/>
                        <a:t>3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20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93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7557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343400" y="2028891"/>
            <a:ext cx="12009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capacity </a:t>
            </a:r>
            <a:r>
              <a:rPr lang="en-US" altLang="en-US" i="1" dirty="0"/>
              <a:t>j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13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61437" y="5209824"/>
            <a:ext cx="4375393" cy="120032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 Item#1 &amp; 2 both </a:t>
            </a:r>
          </a:p>
          <a:p>
            <a:r>
              <a:rPr lang="en-US" sz="2400" b="1" dirty="0"/>
              <a:t>having weight=2+1, value=12+10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7069" y="5209824"/>
            <a:ext cx="4202478" cy="1200329"/>
          </a:xfrm>
          <a:prstGeom prst="rect">
            <a:avLst/>
          </a:prstGeom>
          <a:solidFill>
            <a:srgbClr val="FF99FF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 Item#3 only</a:t>
            </a:r>
          </a:p>
          <a:p>
            <a:r>
              <a:rPr lang="en-US" sz="2400" b="1" dirty="0"/>
              <a:t>having weight=3, value=20</a:t>
            </a:r>
          </a:p>
        </p:txBody>
      </p:sp>
      <p:sp>
        <p:nvSpPr>
          <p:cNvPr id="2" name="Oval 1"/>
          <p:cNvSpPr/>
          <p:nvPr/>
        </p:nvSpPr>
        <p:spPr>
          <a:xfrm>
            <a:off x="167299" y="5044440"/>
            <a:ext cx="4176101" cy="1584960"/>
          </a:xfrm>
          <a:prstGeom prst="ellips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C843F2B8-FD88-459C-B871-A7531F67953E}"/>
              </a:ext>
            </a:extLst>
          </p:cNvPr>
          <p:cNvSpPr txBox="1">
            <a:spLocks noChangeArrowheads="1"/>
          </p:cNvSpPr>
          <p:nvPr/>
        </p:nvSpPr>
        <p:spPr>
          <a:xfrm>
            <a:off x="167299" y="23446"/>
            <a:ext cx="7467600" cy="3935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2400"/>
              <a:t>Knapsack Problem by DP (example)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10666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3" name="Rectangle 3">
            <a:extLst>
              <a:ext uri="{FF2B5EF4-FFF2-40B4-BE49-F238E27FC236}">
                <a16:creationId xmlns:a16="http://schemas.microsoft.com/office/drawing/2014/main" id="{A0D89135-7A65-4658-A987-6A87747610C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76690" y="417022"/>
            <a:ext cx="6781800" cy="2057400"/>
          </a:xfrm>
        </p:spPr>
        <p:txBody>
          <a:bodyPr>
            <a:normAutofit fontScale="85000" lnSpcReduction="20000"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Example:  Knapsack of capacity </a:t>
            </a:r>
            <a:r>
              <a:rPr lang="en-US" altLang="en-US" i="1" dirty="0"/>
              <a:t>W </a:t>
            </a:r>
            <a:r>
              <a:rPr lang="en-US" altLang="en-US" dirty="0"/>
              <a:t>= 5</a:t>
            </a:r>
            <a:endParaRPr lang="en-US" altLang="en-US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u="sng" dirty="0"/>
              <a:t>item      weight      value             </a:t>
            </a:r>
            <a:endParaRPr lang="en-US" altLang="en-US" i="1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1             2             $12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2             1             $10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3             3             $20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4             2             $15</a:t>
            </a:r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0966410"/>
              </p:ext>
            </p:extLst>
          </p:nvPr>
        </p:nvGraphicFramePr>
        <p:xfrm>
          <a:off x="381000" y="2743200"/>
          <a:ext cx="8380415" cy="230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823">
                  <a:extLst>
                    <a:ext uri="{9D8B030D-6E8A-4147-A177-3AD203B41FA5}">
                      <a16:colId xmlns:a16="http://schemas.microsoft.com/office/drawing/2014/main" val="407756699"/>
                    </a:ext>
                  </a:extLst>
                </a:gridCol>
                <a:gridCol w="322977">
                  <a:extLst>
                    <a:ext uri="{9D8B030D-6E8A-4147-A177-3AD203B41FA5}">
                      <a16:colId xmlns:a16="http://schemas.microsoft.com/office/drawing/2014/main" val="1396698258"/>
                    </a:ext>
                  </a:extLst>
                </a:gridCol>
                <a:gridCol w="932855">
                  <a:extLst>
                    <a:ext uri="{9D8B030D-6E8A-4147-A177-3AD203B41FA5}">
                      <a16:colId xmlns:a16="http://schemas.microsoft.com/office/drawing/2014/main" val="3727349464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628466055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700655419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385635510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341358621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855855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03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710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1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1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12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943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2 </a:t>
                      </a:r>
                      <a:r>
                        <a:rPr kumimoji="0" lang="en-US" altLang="en-US" dirty="0"/>
                        <a:t>= 1,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2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0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i="1" dirty="0"/>
                        <a:t>w</a:t>
                      </a:r>
                      <a:r>
                        <a:rPr lang="en-US" altLang="en-US" baseline="-25000" dirty="0"/>
                        <a:t>3 </a:t>
                      </a:r>
                      <a:r>
                        <a:rPr kumimoji="0" lang="en-US" altLang="en-US" dirty="0"/>
                        <a:t>= 3, </a:t>
                      </a:r>
                      <a:r>
                        <a:rPr lang="en-US" altLang="en-US" sz="2000" i="1" dirty="0"/>
                        <a:t>v</a:t>
                      </a:r>
                      <a:r>
                        <a:rPr lang="en-US" altLang="en-US" sz="2000" baseline="-25000" dirty="0"/>
                        <a:t>3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20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93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7557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343400" y="2028891"/>
            <a:ext cx="12009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capacity </a:t>
            </a:r>
            <a:r>
              <a:rPr lang="en-US" altLang="en-US" i="1" dirty="0"/>
              <a:t>j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14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61437" y="5209824"/>
            <a:ext cx="4867763" cy="1200329"/>
          </a:xfrm>
          <a:prstGeom prst="rect">
            <a:avLst/>
          </a:prstGeom>
          <a:solidFill>
            <a:srgbClr val="FF99FF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 Item#2 &amp; 3 both. </a:t>
            </a:r>
          </a:p>
          <a:p>
            <a:r>
              <a:rPr lang="en-US" sz="2400" b="1" dirty="0"/>
              <a:t>having weight=3+1, value=10+20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843F2B8-FD88-459C-B871-A7531F67953E}"/>
              </a:ext>
            </a:extLst>
          </p:cNvPr>
          <p:cNvSpPr txBox="1">
            <a:spLocks noChangeArrowheads="1"/>
          </p:cNvSpPr>
          <p:nvPr/>
        </p:nvSpPr>
        <p:spPr>
          <a:xfrm>
            <a:off x="167299" y="23446"/>
            <a:ext cx="7467600" cy="3935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2400"/>
              <a:t>Knapsack Problem by DP (example)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338441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3" name="Rectangle 3">
            <a:extLst>
              <a:ext uri="{FF2B5EF4-FFF2-40B4-BE49-F238E27FC236}">
                <a16:creationId xmlns:a16="http://schemas.microsoft.com/office/drawing/2014/main" id="{A0D89135-7A65-4658-A987-6A87747610C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76690" y="417022"/>
            <a:ext cx="6781800" cy="2057400"/>
          </a:xfrm>
        </p:spPr>
        <p:txBody>
          <a:bodyPr>
            <a:normAutofit fontScale="85000" lnSpcReduction="20000"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Example:  Knapsack of capacity </a:t>
            </a:r>
            <a:r>
              <a:rPr lang="en-US" altLang="en-US" i="1" dirty="0"/>
              <a:t>W </a:t>
            </a:r>
            <a:r>
              <a:rPr lang="en-US" altLang="en-US" dirty="0"/>
              <a:t>= 5</a:t>
            </a:r>
            <a:endParaRPr lang="en-US" altLang="en-US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u="sng" dirty="0"/>
              <a:t>item      weight      value             </a:t>
            </a:r>
            <a:endParaRPr lang="en-US" altLang="en-US" i="1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1             2             $12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2             1             $10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3             3             $20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4             2             $15</a:t>
            </a:r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3592319"/>
              </p:ext>
            </p:extLst>
          </p:nvPr>
        </p:nvGraphicFramePr>
        <p:xfrm>
          <a:off x="381000" y="2743200"/>
          <a:ext cx="8380415" cy="230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823">
                  <a:extLst>
                    <a:ext uri="{9D8B030D-6E8A-4147-A177-3AD203B41FA5}">
                      <a16:colId xmlns:a16="http://schemas.microsoft.com/office/drawing/2014/main" val="407756699"/>
                    </a:ext>
                  </a:extLst>
                </a:gridCol>
                <a:gridCol w="322977">
                  <a:extLst>
                    <a:ext uri="{9D8B030D-6E8A-4147-A177-3AD203B41FA5}">
                      <a16:colId xmlns:a16="http://schemas.microsoft.com/office/drawing/2014/main" val="1396698258"/>
                    </a:ext>
                  </a:extLst>
                </a:gridCol>
                <a:gridCol w="932855">
                  <a:extLst>
                    <a:ext uri="{9D8B030D-6E8A-4147-A177-3AD203B41FA5}">
                      <a16:colId xmlns:a16="http://schemas.microsoft.com/office/drawing/2014/main" val="3727349464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628466055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700655419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385635510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341358621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855855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03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710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1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1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12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943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2 </a:t>
                      </a:r>
                      <a:r>
                        <a:rPr kumimoji="0" lang="en-US" altLang="en-US" dirty="0"/>
                        <a:t>= 1,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2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0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i="1" dirty="0"/>
                        <a:t>w</a:t>
                      </a:r>
                      <a:r>
                        <a:rPr lang="en-US" altLang="en-US" baseline="-25000" dirty="0"/>
                        <a:t>3 </a:t>
                      </a:r>
                      <a:r>
                        <a:rPr kumimoji="0" lang="en-US" altLang="en-US" dirty="0"/>
                        <a:t>= 3, </a:t>
                      </a:r>
                      <a:r>
                        <a:rPr lang="en-US" altLang="en-US" sz="2000" i="1" dirty="0"/>
                        <a:t>v</a:t>
                      </a:r>
                      <a:r>
                        <a:rPr lang="en-US" altLang="en-US" sz="2000" baseline="-25000" dirty="0"/>
                        <a:t>3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20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93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7557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343400" y="2028891"/>
            <a:ext cx="12009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capacity </a:t>
            </a:r>
            <a:r>
              <a:rPr lang="en-US" altLang="en-US" i="1" dirty="0"/>
              <a:t>j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15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61437" y="5209824"/>
            <a:ext cx="4867763" cy="1200329"/>
          </a:xfrm>
          <a:prstGeom prst="rect">
            <a:avLst/>
          </a:prstGeom>
          <a:solidFill>
            <a:srgbClr val="FF99FF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 Item#1 &amp; 3 both. </a:t>
            </a:r>
          </a:p>
          <a:p>
            <a:r>
              <a:rPr lang="en-US" sz="2400" b="1" dirty="0"/>
              <a:t>having weight=2+3, value=12+20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843F2B8-FD88-459C-B871-A7531F67953E}"/>
              </a:ext>
            </a:extLst>
          </p:cNvPr>
          <p:cNvSpPr txBox="1">
            <a:spLocks noChangeArrowheads="1"/>
          </p:cNvSpPr>
          <p:nvPr/>
        </p:nvSpPr>
        <p:spPr>
          <a:xfrm>
            <a:off x="167299" y="23446"/>
            <a:ext cx="7467600" cy="3935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2400"/>
              <a:t>Knapsack Problem by DP (example)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41016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3" name="Rectangle 3">
            <a:extLst>
              <a:ext uri="{FF2B5EF4-FFF2-40B4-BE49-F238E27FC236}">
                <a16:creationId xmlns:a16="http://schemas.microsoft.com/office/drawing/2014/main" id="{A0D89135-7A65-4658-A987-6A87747610C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76690" y="417022"/>
            <a:ext cx="6781800" cy="2057400"/>
          </a:xfrm>
        </p:spPr>
        <p:txBody>
          <a:bodyPr>
            <a:normAutofit fontScale="85000" lnSpcReduction="20000"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Example:  Knapsack of capacity </a:t>
            </a:r>
            <a:r>
              <a:rPr lang="en-US" altLang="en-US" i="1" dirty="0"/>
              <a:t>W </a:t>
            </a:r>
            <a:r>
              <a:rPr lang="en-US" altLang="en-US" dirty="0"/>
              <a:t>= 5</a:t>
            </a:r>
            <a:endParaRPr lang="en-US" altLang="en-US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u="sng" dirty="0"/>
              <a:t>item      weight      value             </a:t>
            </a:r>
            <a:endParaRPr lang="en-US" altLang="en-US" i="1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1             2             $12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2             1             $10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3             3             $20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4             2             $15</a:t>
            </a:r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6905656"/>
              </p:ext>
            </p:extLst>
          </p:nvPr>
        </p:nvGraphicFramePr>
        <p:xfrm>
          <a:off x="381000" y="2743200"/>
          <a:ext cx="8380415" cy="230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823">
                  <a:extLst>
                    <a:ext uri="{9D8B030D-6E8A-4147-A177-3AD203B41FA5}">
                      <a16:colId xmlns:a16="http://schemas.microsoft.com/office/drawing/2014/main" val="407756699"/>
                    </a:ext>
                  </a:extLst>
                </a:gridCol>
                <a:gridCol w="322977">
                  <a:extLst>
                    <a:ext uri="{9D8B030D-6E8A-4147-A177-3AD203B41FA5}">
                      <a16:colId xmlns:a16="http://schemas.microsoft.com/office/drawing/2014/main" val="1396698258"/>
                    </a:ext>
                  </a:extLst>
                </a:gridCol>
                <a:gridCol w="932855">
                  <a:extLst>
                    <a:ext uri="{9D8B030D-6E8A-4147-A177-3AD203B41FA5}">
                      <a16:colId xmlns:a16="http://schemas.microsoft.com/office/drawing/2014/main" val="3727349464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628466055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700655419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385635510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341358621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855855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03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710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1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1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12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943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2 </a:t>
                      </a:r>
                      <a:r>
                        <a:rPr kumimoji="0" lang="en-US" altLang="en-US" dirty="0"/>
                        <a:t>= 1,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2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0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i="1" dirty="0"/>
                        <a:t>w</a:t>
                      </a:r>
                      <a:r>
                        <a:rPr lang="en-US" altLang="en-US" baseline="-25000" dirty="0"/>
                        <a:t>3 </a:t>
                      </a:r>
                      <a:r>
                        <a:rPr kumimoji="0" lang="en-US" altLang="en-US" dirty="0"/>
                        <a:t>= 3, </a:t>
                      </a:r>
                      <a:r>
                        <a:rPr lang="en-US" altLang="en-US" sz="2000" i="1" dirty="0"/>
                        <a:t>v</a:t>
                      </a:r>
                      <a:r>
                        <a:rPr lang="en-US" altLang="en-US" sz="2000" baseline="-25000" dirty="0"/>
                        <a:t>3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20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93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7557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343400" y="2028891"/>
            <a:ext cx="12009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capacity </a:t>
            </a:r>
            <a:r>
              <a:rPr lang="en-US" altLang="en-US" i="1" dirty="0"/>
              <a:t>j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16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61437" y="5209824"/>
            <a:ext cx="4867763" cy="1200329"/>
          </a:xfrm>
          <a:prstGeom prst="rect">
            <a:avLst/>
          </a:prstGeom>
          <a:solidFill>
            <a:srgbClr val="FF99FF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 Item#1 &amp; 3 both. </a:t>
            </a:r>
          </a:p>
          <a:p>
            <a:r>
              <a:rPr lang="en-US" sz="2400" b="1" dirty="0"/>
              <a:t>having weight=2+3, value=12+20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843F2B8-FD88-459C-B871-A7531F67953E}"/>
              </a:ext>
            </a:extLst>
          </p:cNvPr>
          <p:cNvSpPr txBox="1">
            <a:spLocks noChangeArrowheads="1"/>
          </p:cNvSpPr>
          <p:nvPr/>
        </p:nvSpPr>
        <p:spPr>
          <a:xfrm>
            <a:off x="167299" y="23446"/>
            <a:ext cx="7467600" cy="3935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2400"/>
              <a:t>Knapsack Problem by DP (example)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890179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3" name="Rectangle 3">
            <a:extLst>
              <a:ext uri="{FF2B5EF4-FFF2-40B4-BE49-F238E27FC236}">
                <a16:creationId xmlns:a16="http://schemas.microsoft.com/office/drawing/2014/main" id="{A0D89135-7A65-4658-A987-6A87747610C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76690" y="417022"/>
            <a:ext cx="6781800" cy="2057400"/>
          </a:xfrm>
        </p:spPr>
        <p:txBody>
          <a:bodyPr>
            <a:normAutofit fontScale="85000" lnSpcReduction="20000"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Example:  Knapsack of capacity </a:t>
            </a:r>
            <a:r>
              <a:rPr lang="en-US" altLang="en-US" i="1" dirty="0"/>
              <a:t>W </a:t>
            </a:r>
            <a:r>
              <a:rPr lang="en-US" altLang="en-US" dirty="0"/>
              <a:t>= 5</a:t>
            </a:r>
            <a:endParaRPr lang="en-US" altLang="en-US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u="sng" dirty="0"/>
              <a:t>item      weight      value             </a:t>
            </a:r>
            <a:endParaRPr lang="en-US" altLang="en-US" i="1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1             2             $12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2             1             $10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3             3             $20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4             2             $15</a:t>
            </a:r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3623183"/>
              </p:ext>
            </p:extLst>
          </p:nvPr>
        </p:nvGraphicFramePr>
        <p:xfrm>
          <a:off x="381000" y="2743200"/>
          <a:ext cx="8380415" cy="232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823">
                  <a:extLst>
                    <a:ext uri="{9D8B030D-6E8A-4147-A177-3AD203B41FA5}">
                      <a16:colId xmlns:a16="http://schemas.microsoft.com/office/drawing/2014/main" val="407756699"/>
                    </a:ext>
                  </a:extLst>
                </a:gridCol>
                <a:gridCol w="322977">
                  <a:extLst>
                    <a:ext uri="{9D8B030D-6E8A-4147-A177-3AD203B41FA5}">
                      <a16:colId xmlns:a16="http://schemas.microsoft.com/office/drawing/2014/main" val="1396698258"/>
                    </a:ext>
                  </a:extLst>
                </a:gridCol>
                <a:gridCol w="932855">
                  <a:extLst>
                    <a:ext uri="{9D8B030D-6E8A-4147-A177-3AD203B41FA5}">
                      <a16:colId xmlns:a16="http://schemas.microsoft.com/office/drawing/2014/main" val="3727349464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628466055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700655419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385635510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341358621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855855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03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710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1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1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12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943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2 </a:t>
                      </a:r>
                      <a:r>
                        <a:rPr kumimoji="0" lang="en-US" altLang="en-US" dirty="0"/>
                        <a:t>= 1,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2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0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i="1" dirty="0"/>
                        <a:t>w</a:t>
                      </a:r>
                      <a:r>
                        <a:rPr lang="en-US" altLang="en-US" baseline="-25000" dirty="0"/>
                        <a:t>3 </a:t>
                      </a:r>
                      <a:r>
                        <a:rPr kumimoji="0" lang="en-US" altLang="en-US" dirty="0"/>
                        <a:t>= 3, </a:t>
                      </a:r>
                      <a:r>
                        <a:rPr lang="en-US" altLang="en-US" sz="2000" i="1" dirty="0"/>
                        <a:t>v</a:t>
                      </a:r>
                      <a:r>
                        <a:rPr lang="en-US" altLang="en-US" sz="2000" baseline="-25000" dirty="0"/>
                        <a:t>3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20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93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i="1" dirty="0"/>
                        <a:t>w</a:t>
                      </a:r>
                      <a:r>
                        <a:rPr lang="en-US" altLang="en-US" baseline="-25000" dirty="0"/>
                        <a:t>4 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i="1" dirty="0"/>
                        <a:t>v</a:t>
                      </a:r>
                      <a:r>
                        <a:rPr lang="en-US" altLang="en-US" sz="2000" baseline="-25000" dirty="0"/>
                        <a:t>4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15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7557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343400" y="2028891"/>
            <a:ext cx="12009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capacity </a:t>
            </a:r>
            <a:r>
              <a:rPr lang="en-US" altLang="en-US" i="1" dirty="0"/>
              <a:t>j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17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843F2B8-FD88-459C-B871-A7531F67953E}"/>
              </a:ext>
            </a:extLst>
          </p:cNvPr>
          <p:cNvSpPr txBox="1">
            <a:spLocks noChangeArrowheads="1"/>
          </p:cNvSpPr>
          <p:nvPr/>
        </p:nvSpPr>
        <p:spPr>
          <a:xfrm>
            <a:off x="167299" y="23446"/>
            <a:ext cx="7467600" cy="3935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2400"/>
              <a:t>Knapsack Problem by DP (example)</a:t>
            </a:r>
            <a:endParaRPr lang="en-US" alt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272807" y="5665177"/>
            <a:ext cx="7289175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b="1" dirty="0"/>
              <a:t> Item#2 is picked, having weight=1, value=10</a:t>
            </a:r>
          </a:p>
        </p:txBody>
      </p:sp>
    </p:spTree>
    <p:extLst>
      <p:ext uri="{BB962C8B-B14F-4D97-AF65-F5344CB8AC3E}">
        <p14:creationId xmlns:p14="http://schemas.microsoft.com/office/powerpoint/2010/main" val="2507078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3" name="Rectangle 3">
            <a:extLst>
              <a:ext uri="{FF2B5EF4-FFF2-40B4-BE49-F238E27FC236}">
                <a16:creationId xmlns:a16="http://schemas.microsoft.com/office/drawing/2014/main" id="{A0D89135-7A65-4658-A987-6A87747610C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76690" y="417022"/>
            <a:ext cx="6781800" cy="2057400"/>
          </a:xfrm>
        </p:spPr>
        <p:txBody>
          <a:bodyPr>
            <a:normAutofit fontScale="85000" lnSpcReduction="20000"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Example:  Knapsack of capacity </a:t>
            </a:r>
            <a:r>
              <a:rPr lang="en-US" altLang="en-US" i="1" dirty="0"/>
              <a:t>W </a:t>
            </a:r>
            <a:r>
              <a:rPr lang="en-US" altLang="en-US" dirty="0"/>
              <a:t>= 5</a:t>
            </a:r>
            <a:endParaRPr lang="en-US" altLang="en-US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u="sng" dirty="0"/>
              <a:t>item      weight      value             </a:t>
            </a:r>
            <a:endParaRPr lang="en-US" altLang="en-US" i="1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1             2             $12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2             1             $10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3             3             $20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4             2             $15</a:t>
            </a:r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0281002"/>
              </p:ext>
            </p:extLst>
          </p:nvPr>
        </p:nvGraphicFramePr>
        <p:xfrm>
          <a:off x="381000" y="2743200"/>
          <a:ext cx="8380415" cy="232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823">
                  <a:extLst>
                    <a:ext uri="{9D8B030D-6E8A-4147-A177-3AD203B41FA5}">
                      <a16:colId xmlns:a16="http://schemas.microsoft.com/office/drawing/2014/main" val="407756699"/>
                    </a:ext>
                  </a:extLst>
                </a:gridCol>
                <a:gridCol w="322977">
                  <a:extLst>
                    <a:ext uri="{9D8B030D-6E8A-4147-A177-3AD203B41FA5}">
                      <a16:colId xmlns:a16="http://schemas.microsoft.com/office/drawing/2014/main" val="1396698258"/>
                    </a:ext>
                  </a:extLst>
                </a:gridCol>
                <a:gridCol w="932855">
                  <a:extLst>
                    <a:ext uri="{9D8B030D-6E8A-4147-A177-3AD203B41FA5}">
                      <a16:colId xmlns:a16="http://schemas.microsoft.com/office/drawing/2014/main" val="3727349464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628466055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700655419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385635510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341358621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855855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03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710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1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1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12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943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2 </a:t>
                      </a:r>
                      <a:r>
                        <a:rPr kumimoji="0" lang="en-US" altLang="en-US" dirty="0"/>
                        <a:t>= 1,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2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0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i="1" dirty="0"/>
                        <a:t>w</a:t>
                      </a:r>
                      <a:r>
                        <a:rPr lang="en-US" altLang="en-US" baseline="-25000" dirty="0"/>
                        <a:t>3 </a:t>
                      </a:r>
                      <a:r>
                        <a:rPr kumimoji="0" lang="en-US" altLang="en-US" dirty="0"/>
                        <a:t>= 3, </a:t>
                      </a:r>
                      <a:r>
                        <a:rPr lang="en-US" altLang="en-US" sz="2000" i="1" dirty="0"/>
                        <a:t>v</a:t>
                      </a:r>
                      <a:r>
                        <a:rPr lang="en-US" altLang="en-US" sz="2000" baseline="-25000" dirty="0"/>
                        <a:t>3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20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93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i="1" dirty="0"/>
                        <a:t>w</a:t>
                      </a:r>
                      <a:r>
                        <a:rPr lang="en-US" altLang="en-US" baseline="-25000" dirty="0"/>
                        <a:t>4 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i="1" dirty="0"/>
                        <a:t>v</a:t>
                      </a:r>
                      <a:r>
                        <a:rPr lang="en-US" altLang="en-US" sz="2000" baseline="-25000" dirty="0"/>
                        <a:t>4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15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7557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343400" y="2028891"/>
            <a:ext cx="12009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capacity </a:t>
            </a:r>
            <a:r>
              <a:rPr lang="en-US" altLang="en-US" i="1" dirty="0"/>
              <a:t>j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18</a:t>
            </a:fld>
            <a:endParaRPr 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843F2B8-FD88-459C-B871-A7531F67953E}"/>
              </a:ext>
            </a:extLst>
          </p:cNvPr>
          <p:cNvSpPr txBox="1">
            <a:spLocks noChangeArrowheads="1"/>
          </p:cNvSpPr>
          <p:nvPr/>
        </p:nvSpPr>
        <p:spPr>
          <a:xfrm>
            <a:off x="167299" y="23446"/>
            <a:ext cx="7467600" cy="3935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2400"/>
              <a:t>Knapsack Problem by DP (example)</a:t>
            </a:r>
            <a:endParaRPr lang="en-US" alt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381001" y="5394489"/>
            <a:ext cx="3200399" cy="1200329"/>
          </a:xfrm>
          <a:prstGeom prst="rect">
            <a:avLst/>
          </a:prstGeom>
          <a:solidFill>
            <a:srgbClr val="FF99FF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 Item#1 </a:t>
            </a:r>
          </a:p>
          <a:p>
            <a:r>
              <a:rPr lang="en-US" sz="2400" b="1" dirty="0"/>
              <a:t>having weight=2,</a:t>
            </a:r>
          </a:p>
          <a:p>
            <a:r>
              <a:rPr lang="en-US" sz="2400" b="1" dirty="0"/>
              <a:t> value=12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5309310"/>
            <a:ext cx="3200399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 Item#4 </a:t>
            </a:r>
          </a:p>
          <a:p>
            <a:r>
              <a:rPr lang="en-US" sz="2400" b="1" dirty="0"/>
              <a:t>having weight=2,</a:t>
            </a:r>
          </a:p>
          <a:p>
            <a:r>
              <a:rPr lang="en-US" sz="2400" b="1" dirty="0"/>
              <a:t> value=15</a:t>
            </a:r>
          </a:p>
        </p:txBody>
      </p:sp>
      <p:sp>
        <p:nvSpPr>
          <p:cNvPr id="3" name="Oval 2"/>
          <p:cNvSpPr/>
          <p:nvPr/>
        </p:nvSpPr>
        <p:spPr>
          <a:xfrm>
            <a:off x="4255008" y="5069840"/>
            <a:ext cx="3136392" cy="1788160"/>
          </a:xfrm>
          <a:prstGeom prst="ellips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974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3" name="Rectangle 3">
            <a:extLst>
              <a:ext uri="{FF2B5EF4-FFF2-40B4-BE49-F238E27FC236}">
                <a16:creationId xmlns:a16="http://schemas.microsoft.com/office/drawing/2014/main" id="{A0D89135-7A65-4658-A987-6A87747610C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76690" y="417022"/>
            <a:ext cx="6781800" cy="2057400"/>
          </a:xfrm>
        </p:spPr>
        <p:txBody>
          <a:bodyPr>
            <a:normAutofit fontScale="85000" lnSpcReduction="20000"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Example:  Knapsack of capacity </a:t>
            </a:r>
            <a:r>
              <a:rPr lang="en-US" altLang="en-US" i="1" dirty="0"/>
              <a:t>W </a:t>
            </a:r>
            <a:r>
              <a:rPr lang="en-US" altLang="en-US" dirty="0"/>
              <a:t>= 5</a:t>
            </a:r>
            <a:endParaRPr lang="en-US" altLang="en-US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u="sng" dirty="0"/>
              <a:t>item      weight      value             </a:t>
            </a:r>
            <a:endParaRPr lang="en-US" altLang="en-US" i="1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1             2             $12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2             1             $10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3             3             $20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4             2             $15</a:t>
            </a:r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8249046"/>
              </p:ext>
            </p:extLst>
          </p:nvPr>
        </p:nvGraphicFramePr>
        <p:xfrm>
          <a:off x="381000" y="2743200"/>
          <a:ext cx="8380415" cy="232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823">
                  <a:extLst>
                    <a:ext uri="{9D8B030D-6E8A-4147-A177-3AD203B41FA5}">
                      <a16:colId xmlns:a16="http://schemas.microsoft.com/office/drawing/2014/main" val="407756699"/>
                    </a:ext>
                  </a:extLst>
                </a:gridCol>
                <a:gridCol w="322977">
                  <a:extLst>
                    <a:ext uri="{9D8B030D-6E8A-4147-A177-3AD203B41FA5}">
                      <a16:colId xmlns:a16="http://schemas.microsoft.com/office/drawing/2014/main" val="1396698258"/>
                    </a:ext>
                  </a:extLst>
                </a:gridCol>
                <a:gridCol w="932855">
                  <a:extLst>
                    <a:ext uri="{9D8B030D-6E8A-4147-A177-3AD203B41FA5}">
                      <a16:colId xmlns:a16="http://schemas.microsoft.com/office/drawing/2014/main" val="3727349464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628466055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700655419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385635510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341358621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855855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03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710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1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1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12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943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2 </a:t>
                      </a:r>
                      <a:r>
                        <a:rPr kumimoji="0" lang="en-US" altLang="en-US" dirty="0"/>
                        <a:t>= 1,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2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0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i="1" dirty="0"/>
                        <a:t>w</a:t>
                      </a:r>
                      <a:r>
                        <a:rPr lang="en-US" altLang="en-US" baseline="-25000" dirty="0"/>
                        <a:t>3 </a:t>
                      </a:r>
                      <a:r>
                        <a:rPr kumimoji="0" lang="en-US" altLang="en-US" dirty="0"/>
                        <a:t>= 3, </a:t>
                      </a:r>
                      <a:r>
                        <a:rPr lang="en-US" altLang="en-US" sz="2000" i="1" dirty="0"/>
                        <a:t>v</a:t>
                      </a:r>
                      <a:r>
                        <a:rPr lang="en-US" altLang="en-US" sz="2000" baseline="-25000" dirty="0"/>
                        <a:t>3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20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93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i="1" dirty="0"/>
                        <a:t>w</a:t>
                      </a:r>
                      <a:r>
                        <a:rPr lang="en-US" altLang="en-US" baseline="-25000" dirty="0"/>
                        <a:t>4 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i="1" dirty="0"/>
                        <a:t>v</a:t>
                      </a:r>
                      <a:r>
                        <a:rPr lang="en-US" altLang="en-US" sz="2000" baseline="-25000" dirty="0"/>
                        <a:t>4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15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7557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343400" y="2028891"/>
            <a:ext cx="12009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capacity </a:t>
            </a:r>
            <a:r>
              <a:rPr lang="en-US" altLang="en-US" i="1" dirty="0"/>
              <a:t>j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19</a:t>
            </a:fld>
            <a:endParaRPr 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843F2B8-FD88-459C-B871-A7531F67953E}"/>
              </a:ext>
            </a:extLst>
          </p:cNvPr>
          <p:cNvSpPr txBox="1">
            <a:spLocks noChangeArrowheads="1"/>
          </p:cNvSpPr>
          <p:nvPr/>
        </p:nvSpPr>
        <p:spPr>
          <a:xfrm>
            <a:off x="167299" y="23446"/>
            <a:ext cx="7467600" cy="3935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2400"/>
              <a:t>Knapsack Problem by DP (example)</a:t>
            </a:r>
            <a:endParaRPr lang="en-US" alt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381001" y="5394489"/>
            <a:ext cx="2362199" cy="1200329"/>
          </a:xfrm>
          <a:prstGeom prst="rect">
            <a:avLst/>
          </a:prstGeom>
          <a:solidFill>
            <a:srgbClr val="FF99FF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 Item#1 &amp; 2 </a:t>
            </a:r>
          </a:p>
          <a:p>
            <a:r>
              <a:rPr lang="en-US" sz="2400" b="1" dirty="0"/>
              <a:t>weight=2+1,</a:t>
            </a:r>
          </a:p>
          <a:p>
            <a:r>
              <a:rPr lang="en-US" sz="2400" b="1" dirty="0"/>
              <a:t> value=12+10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1" y="5394489"/>
            <a:ext cx="2057400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 Item#3 </a:t>
            </a:r>
          </a:p>
          <a:p>
            <a:r>
              <a:rPr lang="en-US" sz="2400" b="1" dirty="0"/>
              <a:t>weight=3,</a:t>
            </a:r>
          </a:p>
          <a:p>
            <a:r>
              <a:rPr lang="en-US" sz="2400" b="1" dirty="0"/>
              <a:t> value=20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12309" y="5338618"/>
            <a:ext cx="2362199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 Item# 2 &amp; 4 </a:t>
            </a:r>
          </a:p>
          <a:p>
            <a:r>
              <a:rPr lang="en-US" sz="2400" b="1" dirty="0"/>
              <a:t>weight=1+2,</a:t>
            </a:r>
          </a:p>
          <a:p>
            <a:r>
              <a:rPr lang="en-US" sz="2400" b="1" dirty="0"/>
              <a:t> value=10+15</a:t>
            </a:r>
          </a:p>
        </p:txBody>
      </p:sp>
      <p:sp>
        <p:nvSpPr>
          <p:cNvPr id="2" name="Oval 1"/>
          <p:cNvSpPr/>
          <p:nvPr/>
        </p:nvSpPr>
        <p:spPr>
          <a:xfrm>
            <a:off x="5512309" y="5179091"/>
            <a:ext cx="2310385" cy="1519382"/>
          </a:xfrm>
          <a:prstGeom prst="ellips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834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3" name="Rectangle 3">
            <a:extLst>
              <a:ext uri="{FF2B5EF4-FFF2-40B4-BE49-F238E27FC236}">
                <a16:creationId xmlns:a16="http://schemas.microsoft.com/office/drawing/2014/main" id="{A0D89135-7A65-4658-A987-6A87747610C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76690" y="417022"/>
            <a:ext cx="6781800" cy="2057400"/>
          </a:xfrm>
        </p:spPr>
        <p:txBody>
          <a:bodyPr>
            <a:normAutofit fontScale="85000" lnSpcReduction="20000"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Example:  Knapsack of capacity </a:t>
            </a:r>
            <a:r>
              <a:rPr lang="en-US" altLang="en-US" i="1" dirty="0"/>
              <a:t>W </a:t>
            </a:r>
            <a:r>
              <a:rPr lang="en-US" altLang="en-US" dirty="0"/>
              <a:t>= 5</a:t>
            </a:r>
            <a:endParaRPr lang="en-US" altLang="en-US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u="sng" dirty="0"/>
              <a:t>item      weight      value             </a:t>
            </a:r>
            <a:endParaRPr lang="en-US" altLang="en-US" i="1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1             2             $12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2             1             $10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3             3             $20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4             2             $15</a:t>
            </a:r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5256974"/>
              </p:ext>
            </p:extLst>
          </p:nvPr>
        </p:nvGraphicFramePr>
        <p:xfrm>
          <a:off x="381000" y="2743200"/>
          <a:ext cx="8380415" cy="232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823">
                  <a:extLst>
                    <a:ext uri="{9D8B030D-6E8A-4147-A177-3AD203B41FA5}">
                      <a16:colId xmlns:a16="http://schemas.microsoft.com/office/drawing/2014/main" val="407756699"/>
                    </a:ext>
                  </a:extLst>
                </a:gridCol>
                <a:gridCol w="322977">
                  <a:extLst>
                    <a:ext uri="{9D8B030D-6E8A-4147-A177-3AD203B41FA5}">
                      <a16:colId xmlns:a16="http://schemas.microsoft.com/office/drawing/2014/main" val="1396698258"/>
                    </a:ext>
                  </a:extLst>
                </a:gridCol>
                <a:gridCol w="932855">
                  <a:extLst>
                    <a:ext uri="{9D8B030D-6E8A-4147-A177-3AD203B41FA5}">
                      <a16:colId xmlns:a16="http://schemas.microsoft.com/office/drawing/2014/main" val="3727349464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628466055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700655419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385635510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341358621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855855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03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710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1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1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12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943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2 </a:t>
                      </a:r>
                      <a:r>
                        <a:rPr kumimoji="0" lang="en-US" altLang="en-US" dirty="0"/>
                        <a:t>= 1,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2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0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i="1" dirty="0"/>
                        <a:t>w</a:t>
                      </a:r>
                      <a:r>
                        <a:rPr lang="en-US" altLang="en-US" baseline="-25000" dirty="0"/>
                        <a:t>3 </a:t>
                      </a:r>
                      <a:r>
                        <a:rPr kumimoji="0" lang="en-US" altLang="en-US" dirty="0"/>
                        <a:t>= 3, </a:t>
                      </a:r>
                      <a:r>
                        <a:rPr lang="en-US" altLang="en-US" sz="2000" i="1" dirty="0"/>
                        <a:t>v</a:t>
                      </a:r>
                      <a:r>
                        <a:rPr lang="en-US" altLang="en-US" sz="2000" baseline="-25000" dirty="0"/>
                        <a:t>3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20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93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i="1" dirty="0"/>
                        <a:t>w</a:t>
                      </a:r>
                      <a:r>
                        <a:rPr lang="en-US" altLang="en-US" baseline="-25000" dirty="0"/>
                        <a:t>4 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i="1" dirty="0"/>
                        <a:t>v</a:t>
                      </a:r>
                      <a:r>
                        <a:rPr lang="en-US" altLang="en-US" sz="2000" baseline="-25000" dirty="0"/>
                        <a:t>4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15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7557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343400" y="2028891"/>
            <a:ext cx="12009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capacity </a:t>
            </a:r>
            <a:r>
              <a:rPr lang="en-US" altLang="en-US" i="1" dirty="0"/>
              <a:t>j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20</a:t>
            </a:fld>
            <a:endParaRPr 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843F2B8-FD88-459C-B871-A7531F67953E}"/>
              </a:ext>
            </a:extLst>
          </p:cNvPr>
          <p:cNvSpPr txBox="1">
            <a:spLocks noChangeArrowheads="1"/>
          </p:cNvSpPr>
          <p:nvPr/>
        </p:nvSpPr>
        <p:spPr>
          <a:xfrm>
            <a:off x="167299" y="23446"/>
            <a:ext cx="7467600" cy="3935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2400"/>
              <a:t>Knapsack Problem by DP (example)</a:t>
            </a:r>
            <a:endParaRPr lang="en-US" alt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381001" y="5394489"/>
            <a:ext cx="2362199" cy="1200329"/>
          </a:xfrm>
          <a:prstGeom prst="rect">
            <a:avLst/>
          </a:prstGeom>
          <a:solidFill>
            <a:srgbClr val="FF99FF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 Item#1 &amp; 4 </a:t>
            </a:r>
          </a:p>
          <a:p>
            <a:r>
              <a:rPr lang="en-US" sz="2400" b="1" dirty="0"/>
              <a:t>weight=2+2,</a:t>
            </a:r>
          </a:p>
          <a:p>
            <a:r>
              <a:rPr lang="en-US" sz="2400" b="1" dirty="0"/>
              <a:t> value=12+15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1099" y="5394488"/>
            <a:ext cx="2362199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 Item# 2 &amp; 3 </a:t>
            </a:r>
          </a:p>
          <a:p>
            <a:r>
              <a:rPr lang="en-US" sz="2400" b="1" dirty="0"/>
              <a:t>weight=1+3,</a:t>
            </a:r>
          </a:p>
          <a:p>
            <a:r>
              <a:rPr lang="en-US" sz="2400" b="1" dirty="0"/>
              <a:t> value=10+20</a:t>
            </a:r>
          </a:p>
        </p:txBody>
      </p:sp>
      <p:sp>
        <p:nvSpPr>
          <p:cNvPr id="14" name="Oval 13"/>
          <p:cNvSpPr/>
          <p:nvPr/>
        </p:nvSpPr>
        <p:spPr>
          <a:xfrm>
            <a:off x="3901099" y="5229121"/>
            <a:ext cx="2310385" cy="1519382"/>
          </a:xfrm>
          <a:prstGeom prst="ellips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871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3" name="Rectangle 3">
            <a:extLst>
              <a:ext uri="{FF2B5EF4-FFF2-40B4-BE49-F238E27FC236}">
                <a16:creationId xmlns:a16="http://schemas.microsoft.com/office/drawing/2014/main" id="{A0D89135-7A65-4658-A987-6A87747610C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76690" y="417022"/>
            <a:ext cx="6781800" cy="2057400"/>
          </a:xfrm>
        </p:spPr>
        <p:txBody>
          <a:bodyPr>
            <a:normAutofit fontScale="85000" lnSpcReduction="20000"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Example:  Knapsack of capacity </a:t>
            </a:r>
            <a:r>
              <a:rPr lang="en-US" altLang="en-US" i="1" dirty="0"/>
              <a:t>W </a:t>
            </a:r>
            <a:r>
              <a:rPr lang="en-US" altLang="en-US" dirty="0"/>
              <a:t>= 5</a:t>
            </a:r>
            <a:endParaRPr lang="en-US" altLang="en-US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u="sng" dirty="0"/>
              <a:t>item      weight      value             </a:t>
            </a:r>
            <a:endParaRPr lang="en-US" altLang="en-US" i="1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1             2             $12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2             1             $10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3             3             $20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4             2             $15</a:t>
            </a:r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5229405"/>
              </p:ext>
            </p:extLst>
          </p:nvPr>
        </p:nvGraphicFramePr>
        <p:xfrm>
          <a:off x="381000" y="2743200"/>
          <a:ext cx="8380415" cy="232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823">
                  <a:extLst>
                    <a:ext uri="{9D8B030D-6E8A-4147-A177-3AD203B41FA5}">
                      <a16:colId xmlns:a16="http://schemas.microsoft.com/office/drawing/2014/main" val="407756699"/>
                    </a:ext>
                  </a:extLst>
                </a:gridCol>
                <a:gridCol w="322977">
                  <a:extLst>
                    <a:ext uri="{9D8B030D-6E8A-4147-A177-3AD203B41FA5}">
                      <a16:colId xmlns:a16="http://schemas.microsoft.com/office/drawing/2014/main" val="1396698258"/>
                    </a:ext>
                  </a:extLst>
                </a:gridCol>
                <a:gridCol w="932855">
                  <a:extLst>
                    <a:ext uri="{9D8B030D-6E8A-4147-A177-3AD203B41FA5}">
                      <a16:colId xmlns:a16="http://schemas.microsoft.com/office/drawing/2014/main" val="3727349464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628466055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700655419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385635510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341358621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855855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03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710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1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1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12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943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2 </a:t>
                      </a:r>
                      <a:r>
                        <a:rPr kumimoji="0" lang="en-US" altLang="en-US" dirty="0"/>
                        <a:t>= 1,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2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0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i="1" dirty="0"/>
                        <a:t>w</a:t>
                      </a:r>
                      <a:r>
                        <a:rPr lang="en-US" altLang="en-US" baseline="-25000" dirty="0"/>
                        <a:t>3 </a:t>
                      </a:r>
                      <a:r>
                        <a:rPr kumimoji="0" lang="en-US" altLang="en-US" dirty="0"/>
                        <a:t>= 3, </a:t>
                      </a:r>
                      <a:r>
                        <a:rPr lang="en-US" altLang="en-US" sz="2000" i="1" dirty="0"/>
                        <a:t>v</a:t>
                      </a:r>
                      <a:r>
                        <a:rPr lang="en-US" altLang="en-US" sz="2000" baseline="-25000" dirty="0"/>
                        <a:t>3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20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93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i="1" dirty="0"/>
                        <a:t>w</a:t>
                      </a:r>
                      <a:r>
                        <a:rPr lang="en-US" altLang="en-US" baseline="-25000" dirty="0"/>
                        <a:t>4 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i="1" dirty="0"/>
                        <a:t>v</a:t>
                      </a:r>
                      <a:r>
                        <a:rPr lang="en-US" altLang="en-US" sz="2000" baseline="-25000" dirty="0"/>
                        <a:t>4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15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37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7557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343400" y="2028891"/>
            <a:ext cx="12009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capacity </a:t>
            </a:r>
            <a:r>
              <a:rPr lang="en-US" altLang="en-US" i="1" dirty="0"/>
              <a:t>j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21</a:t>
            </a:fld>
            <a:endParaRPr 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843F2B8-FD88-459C-B871-A7531F67953E}"/>
              </a:ext>
            </a:extLst>
          </p:cNvPr>
          <p:cNvSpPr txBox="1">
            <a:spLocks noChangeArrowheads="1"/>
          </p:cNvSpPr>
          <p:nvPr/>
        </p:nvSpPr>
        <p:spPr>
          <a:xfrm>
            <a:off x="167299" y="23446"/>
            <a:ext cx="7467600" cy="3935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2400"/>
              <a:t>Knapsack Problem by DP (example)</a:t>
            </a:r>
            <a:endParaRPr lang="en-US" alt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381001" y="5394489"/>
            <a:ext cx="2362199" cy="1200329"/>
          </a:xfrm>
          <a:prstGeom prst="rect">
            <a:avLst/>
          </a:prstGeom>
          <a:solidFill>
            <a:srgbClr val="FF99FF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 Item#1 &amp; 3 </a:t>
            </a:r>
          </a:p>
          <a:p>
            <a:r>
              <a:rPr lang="en-US" sz="2400" b="1" dirty="0"/>
              <a:t>weight=2+3,</a:t>
            </a:r>
          </a:p>
          <a:p>
            <a:r>
              <a:rPr lang="en-US" sz="2400" b="1" dirty="0"/>
              <a:t> value=12+20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5914" y="5338618"/>
            <a:ext cx="3185501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 Item# 1 , 2 &amp; 4 </a:t>
            </a:r>
          </a:p>
          <a:p>
            <a:r>
              <a:rPr lang="en-US" sz="2400" b="1" dirty="0"/>
              <a:t>weight=2+1+2,</a:t>
            </a:r>
          </a:p>
          <a:p>
            <a:r>
              <a:rPr lang="en-US" sz="2400" b="1" dirty="0"/>
              <a:t> value=12+10+15</a:t>
            </a:r>
          </a:p>
        </p:txBody>
      </p:sp>
      <p:sp>
        <p:nvSpPr>
          <p:cNvPr id="14" name="Oval 13"/>
          <p:cNvSpPr/>
          <p:nvPr/>
        </p:nvSpPr>
        <p:spPr>
          <a:xfrm>
            <a:off x="5365772" y="5075436"/>
            <a:ext cx="3605784" cy="1519382"/>
          </a:xfrm>
          <a:prstGeom prst="ellips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953342" y="5375253"/>
            <a:ext cx="2362199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 Item#3 &amp; 4 </a:t>
            </a:r>
          </a:p>
          <a:p>
            <a:r>
              <a:rPr lang="en-US" sz="2400" b="1" dirty="0"/>
              <a:t>weight=3+2,</a:t>
            </a:r>
          </a:p>
          <a:p>
            <a:r>
              <a:rPr lang="en-US" sz="2400" b="1" dirty="0"/>
              <a:t> value=20+15</a:t>
            </a:r>
          </a:p>
        </p:txBody>
      </p:sp>
    </p:spTree>
    <p:extLst>
      <p:ext uri="{BB962C8B-B14F-4D97-AF65-F5344CB8AC3E}">
        <p14:creationId xmlns:p14="http://schemas.microsoft.com/office/powerpoint/2010/main" val="12926064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 pitchFamily="2" charset="2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CD36D664-EE44-4DE0-B666-11F1F850D48A}" type="slidenum">
              <a:rPr kumimoji="0" lang="en-US" altLang="en-US" sz="1400" b="0" smtClean="0">
                <a:solidFill>
                  <a:schemeClr val="tx1"/>
                </a:solidFill>
                <a:latin typeface="Arial Narrow" panose="020B0606020202030204" pitchFamily="34" charset="0"/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22</a:t>
            </a:fld>
            <a:endParaRPr kumimoji="0" lang="en-US" altLang="en-US" sz="1400" b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418818" name="Rectangle 2">
            <a:extLst>
              <a:ext uri="{FF2B5EF4-FFF2-40B4-BE49-F238E27FC236}">
                <a16:creationId xmlns:a16="http://schemas.microsoft.com/office/drawing/2014/main" id="{6163DC8B-92E3-4BD3-9017-A7F839D5A05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7585"/>
            <a:ext cx="8738616" cy="744415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en-US" altLang="en-US" sz="3600" b="1" dirty="0"/>
              <a:t>Knapsack Problem</a:t>
            </a:r>
          </a:p>
        </p:txBody>
      </p:sp>
      <p:sp>
        <p:nvSpPr>
          <p:cNvPr id="418819" name="Rectangle 3">
            <a:extLst>
              <a:ext uri="{FF2B5EF4-FFF2-40B4-BE49-F238E27FC236}">
                <a16:creationId xmlns:a16="http://schemas.microsoft.com/office/drawing/2014/main" id="{818DDDD9-E946-4442-9889-6A0B535312E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066800"/>
            <a:ext cx="8610600" cy="5791200"/>
          </a:xfrm>
        </p:spPr>
        <p:txBody>
          <a:bodyPr/>
          <a:lstStyle/>
          <a:p>
            <a:pPr marL="0" indent="0">
              <a:buFont typeface="Monotype Sorts" pitchFamily="2" charset="2"/>
              <a:buNone/>
              <a:defRPr/>
            </a:pPr>
            <a:endParaRPr lang="en-US" altLang="en-US" dirty="0"/>
          </a:p>
          <a:p>
            <a:pPr marL="0" indent="0">
              <a:buFont typeface="Monotype Sorts" pitchFamily="2" charset="2"/>
              <a:buNone/>
              <a:defRPr/>
            </a:pPr>
            <a:endParaRPr lang="en-US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828800" y="1319815"/>
            <a:ext cx="41761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Recursive Definition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043112"/>
            <a:ext cx="8586216" cy="277177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66700" y="5518820"/>
            <a:ext cx="4572000" cy="92333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dirty="0">
                <a:latin typeface="TimesTen-Roman"/>
              </a:rPr>
              <a:t>Among the subsets that do not include the </a:t>
            </a:r>
            <a:r>
              <a:rPr lang="en-US" i="1" dirty="0" err="1">
                <a:latin typeface="MTMI"/>
              </a:rPr>
              <a:t>i</a:t>
            </a:r>
            <a:r>
              <a:rPr lang="en-US" dirty="0" err="1">
                <a:latin typeface="TimesTen-Roman"/>
              </a:rPr>
              <a:t>th</a:t>
            </a:r>
            <a:r>
              <a:rPr lang="en-US" dirty="0">
                <a:latin typeface="TimesTen-Roman"/>
              </a:rPr>
              <a:t> item, the value of an optimal</a:t>
            </a:r>
          </a:p>
          <a:p>
            <a:r>
              <a:rPr lang="en-US" dirty="0">
                <a:latin typeface="TimesTen-Roman"/>
              </a:rPr>
              <a:t>subset is, by definition, </a:t>
            </a:r>
            <a:r>
              <a:rPr lang="en-US" i="1" dirty="0">
                <a:latin typeface="MTMI"/>
              </a:rPr>
              <a:t>F(</a:t>
            </a:r>
            <a:r>
              <a:rPr lang="en-US" i="1" dirty="0" err="1">
                <a:latin typeface="MTMI"/>
              </a:rPr>
              <a:t>i</a:t>
            </a:r>
            <a:r>
              <a:rPr lang="en-US" i="1" dirty="0">
                <a:latin typeface="MTMI"/>
              </a:rPr>
              <a:t> </a:t>
            </a:r>
            <a:r>
              <a:rPr lang="en-US" dirty="0">
                <a:latin typeface="MTSYN"/>
              </a:rPr>
              <a:t>− </a:t>
            </a:r>
            <a:r>
              <a:rPr lang="en-US" dirty="0">
                <a:latin typeface="TimesTen-Roman"/>
              </a:rPr>
              <a:t>1</a:t>
            </a:r>
            <a:r>
              <a:rPr lang="en-US" i="1" dirty="0">
                <a:latin typeface="MTMI"/>
              </a:rPr>
              <a:t>, j)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3573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 pitchFamily="2" charset="2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CD36D664-EE44-4DE0-B666-11F1F850D48A}" type="slidenum">
              <a:rPr kumimoji="0" lang="en-US" altLang="en-US" sz="1400" b="0" smtClean="0">
                <a:solidFill>
                  <a:schemeClr val="tx1"/>
                </a:solidFill>
                <a:latin typeface="Arial Narrow" panose="020B0606020202030204" pitchFamily="34" charset="0"/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23</a:t>
            </a:fld>
            <a:endParaRPr kumimoji="0" lang="en-US" altLang="en-US" sz="1400" b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418818" name="Rectangle 2">
            <a:extLst>
              <a:ext uri="{FF2B5EF4-FFF2-40B4-BE49-F238E27FC236}">
                <a16:creationId xmlns:a16="http://schemas.microsoft.com/office/drawing/2014/main" id="{6163DC8B-92E3-4BD3-9017-A7F839D5A05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7585"/>
            <a:ext cx="8738616" cy="744415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en-US" altLang="en-US" sz="3600" b="1" dirty="0"/>
              <a:t>Knapsack Problem</a:t>
            </a:r>
          </a:p>
        </p:txBody>
      </p:sp>
      <p:sp>
        <p:nvSpPr>
          <p:cNvPr id="418819" name="Rectangle 3">
            <a:extLst>
              <a:ext uri="{FF2B5EF4-FFF2-40B4-BE49-F238E27FC236}">
                <a16:creationId xmlns:a16="http://schemas.microsoft.com/office/drawing/2014/main" id="{818DDDD9-E946-4442-9889-6A0B535312E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066800"/>
            <a:ext cx="8610600" cy="5791200"/>
          </a:xfrm>
        </p:spPr>
        <p:txBody>
          <a:bodyPr/>
          <a:lstStyle/>
          <a:p>
            <a:pPr marL="0" indent="0">
              <a:buFont typeface="Monotype Sorts" pitchFamily="2" charset="2"/>
              <a:buNone/>
              <a:defRPr/>
            </a:pPr>
            <a:endParaRPr lang="en-US" altLang="en-US" dirty="0"/>
          </a:p>
          <a:p>
            <a:pPr marL="0" indent="0">
              <a:buFont typeface="Monotype Sorts" pitchFamily="2" charset="2"/>
              <a:buNone/>
              <a:defRPr/>
            </a:pPr>
            <a:endParaRPr lang="en-US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828800" y="1319815"/>
            <a:ext cx="41761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Recursive Definition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043112"/>
            <a:ext cx="8586216" cy="277177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5169" y="5255990"/>
            <a:ext cx="8471916" cy="120032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do include the </a:t>
            </a:r>
            <a:r>
              <a:rPr lang="en-US" i="1" dirty="0" err="1"/>
              <a:t>i</a:t>
            </a:r>
            <a:r>
              <a:rPr lang="en-US" dirty="0" err="1"/>
              <a:t>th</a:t>
            </a:r>
            <a:r>
              <a:rPr lang="en-US" dirty="0"/>
              <a:t> item (hence, </a:t>
            </a:r>
            <a:r>
              <a:rPr lang="en-US" i="1" dirty="0"/>
              <a:t>j </a:t>
            </a:r>
            <a:r>
              <a:rPr lang="en-US" dirty="0"/>
              <a:t>− </a:t>
            </a:r>
            <a:r>
              <a:rPr lang="en-US" i="1" dirty="0" err="1"/>
              <a:t>wi</a:t>
            </a:r>
            <a:r>
              <a:rPr lang="en-US" dirty="0"/>
              <a:t>≥ 0), an optimal</a:t>
            </a:r>
          </a:p>
          <a:p>
            <a:r>
              <a:rPr lang="en-US" dirty="0"/>
              <a:t>subset is made up of this item and an optimal subset of the first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− 1 items</a:t>
            </a:r>
          </a:p>
          <a:p>
            <a:r>
              <a:rPr lang="en-US" dirty="0"/>
              <a:t>that fits into the knapsack of capacity </a:t>
            </a:r>
            <a:r>
              <a:rPr lang="en-US" i="1" dirty="0"/>
              <a:t>j </a:t>
            </a:r>
            <a:r>
              <a:rPr lang="en-US" dirty="0"/>
              <a:t>− </a:t>
            </a:r>
            <a:r>
              <a:rPr lang="en-US" i="1" dirty="0" err="1"/>
              <a:t>wi</a:t>
            </a:r>
            <a:r>
              <a:rPr lang="en-US" i="1" dirty="0"/>
              <a:t> . </a:t>
            </a:r>
            <a:r>
              <a:rPr lang="en-US" dirty="0"/>
              <a:t>The value of such an optimal</a:t>
            </a:r>
          </a:p>
          <a:p>
            <a:r>
              <a:rPr lang="en-US" dirty="0"/>
              <a:t>subset is </a:t>
            </a:r>
            <a:r>
              <a:rPr lang="en-US" i="1" dirty="0"/>
              <a:t>vi </a:t>
            </a:r>
            <a:r>
              <a:rPr lang="en-US" dirty="0"/>
              <a:t>+ </a:t>
            </a:r>
            <a:r>
              <a:rPr lang="en-US" i="1" dirty="0"/>
              <a:t>F(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− 1</a:t>
            </a:r>
            <a:r>
              <a:rPr lang="en-US" i="1" dirty="0"/>
              <a:t>, j </a:t>
            </a:r>
            <a:r>
              <a:rPr lang="en-US" dirty="0"/>
              <a:t>− </a:t>
            </a:r>
            <a:r>
              <a:rPr lang="en-US" i="1" dirty="0" err="1"/>
              <a:t>wi</a:t>
            </a:r>
            <a:r>
              <a:rPr lang="en-US" i="1" dirty="0"/>
              <a:t>).</a:t>
            </a: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2667000" y="2514600"/>
            <a:ext cx="2514600" cy="286017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65453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3" name="Rectangle 3">
            <a:extLst>
              <a:ext uri="{FF2B5EF4-FFF2-40B4-BE49-F238E27FC236}">
                <a16:creationId xmlns:a16="http://schemas.microsoft.com/office/drawing/2014/main" id="{A0D89135-7A65-4658-A987-6A87747610C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76690" y="417022"/>
            <a:ext cx="6781800" cy="2057400"/>
          </a:xfrm>
        </p:spPr>
        <p:txBody>
          <a:bodyPr>
            <a:normAutofit fontScale="85000" lnSpcReduction="20000"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Example:  Knapsack of capacity </a:t>
            </a:r>
            <a:r>
              <a:rPr lang="en-US" altLang="en-US" i="1" dirty="0"/>
              <a:t>W </a:t>
            </a:r>
            <a:r>
              <a:rPr lang="en-US" altLang="en-US" dirty="0"/>
              <a:t>= 5</a:t>
            </a:r>
            <a:endParaRPr lang="en-US" altLang="en-US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u="sng" dirty="0"/>
              <a:t>item      weight      value             </a:t>
            </a:r>
            <a:endParaRPr lang="en-US" altLang="en-US" i="1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1             2             $12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2             1             $10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3             3             $20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4             2             $15</a:t>
            </a:r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3418697"/>
              </p:ext>
            </p:extLst>
          </p:nvPr>
        </p:nvGraphicFramePr>
        <p:xfrm>
          <a:off x="381000" y="2743200"/>
          <a:ext cx="8380415" cy="232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823">
                  <a:extLst>
                    <a:ext uri="{9D8B030D-6E8A-4147-A177-3AD203B41FA5}">
                      <a16:colId xmlns:a16="http://schemas.microsoft.com/office/drawing/2014/main" val="407756699"/>
                    </a:ext>
                  </a:extLst>
                </a:gridCol>
                <a:gridCol w="322977">
                  <a:extLst>
                    <a:ext uri="{9D8B030D-6E8A-4147-A177-3AD203B41FA5}">
                      <a16:colId xmlns:a16="http://schemas.microsoft.com/office/drawing/2014/main" val="1396698258"/>
                    </a:ext>
                  </a:extLst>
                </a:gridCol>
                <a:gridCol w="932855">
                  <a:extLst>
                    <a:ext uri="{9D8B030D-6E8A-4147-A177-3AD203B41FA5}">
                      <a16:colId xmlns:a16="http://schemas.microsoft.com/office/drawing/2014/main" val="3727349464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628466055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700655419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385635510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341358621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855855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03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710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1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1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12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943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2 </a:t>
                      </a:r>
                      <a:r>
                        <a:rPr kumimoji="0" lang="en-US" altLang="en-US" dirty="0"/>
                        <a:t>= 1,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2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0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i="1" dirty="0"/>
                        <a:t>w</a:t>
                      </a:r>
                      <a:r>
                        <a:rPr lang="en-US" altLang="en-US" baseline="-25000" dirty="0"/>
                        <a:t>3 </a:t>
                      </a:r>
                      <a:r>
                        <a:rPr kumimoji="0" lang="en-US" altLang="en-US" dirty="0"/>
                        <a:t>= 3, </a:t>
                      </a:r>
                      <a:r>
                        <a:rPr lang="en-US" altLang="en-US" sz="2000" i="1" dirty="0"/>
                        <a:t>v</a:t>
                      </a:r>
                      <a:r>
                        <a:rPr lang="en-US" altLang="en-US" sz="2000" baseline="-25000" dirty="0"/>
                        <a:t>3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20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93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i="1" dirty="0"/>
                        <a:t>w</a:t>
                      </a:r>
                      <a:r>
                        <a:rPr lang="en-US" altLang="en-US" baseline="-25000" dirty="0"/>
                        <a:t>4 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i="1" dirty="0"/>
                        <a:t>v</a:t>
                      </a:r>
                      <a:r>
                        <a:rPr lang="en-US" altLang="en-US" sz="2000" baseline="-25000" dirty="0"/>
                        <a:t>4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15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7557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343400" y="2028891"/>
            <a:ext cx="12009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capacity </a:t>
            </a:r>
            <a:r>
              <a:rPr lang="en-US" altLang="en-US" i="1" dirty="0"/>
              <a:t>j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24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70745" y="5313218"/>
            <a:ext cx="4867763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 err="1"/>
              <a:t>i</a:t>
            </a:r>
            <a:r>
              <a:rPr lang="en-US" sz="2400" b="1" dirty="0"/>
              <a:t>=4  j=1</a:t>
            </a:r>
          </a:p>
          <a:p>
            <a:r>
              <a:rPr lang="en-US" i="1" dirty="0"/>
              <a:t>j </a:t>
            </a:r>
            <a:r>
              <a:rPr lang="en-US" dirty="0"/>
              <a:t>− </a:t>
            </a:r>
            <a:r>
              <a:rPr lang="en-US" i="1" dirty="0" err="1"/>
              <a:t>w</a:t>
            </a:r>
            <a:r>
              <a:rPr lang="en-US" i="1" baseline="-25000" dirty="0" err="1"/>
              <a:t>i</a:t>
            </a:r>
            <a:r>
              <a:rPr lang="en-US" sz="2400" b="1" dirty="0"/>
              <a:t> =1-2=-1     &lt;0    </a:t>
            </a:r>
          </a:p>
          <a:p>
            <a:r>
              <a:rPr lang="en-US" sz="2400" b="1" dirty="0"/>
              <a:t>F(3, 1)</a:t>
            </a:r>
            <a:endParaRPr lang="en-US" sz="2400" b="1" baseline="-25000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843F2B8-FD88-459C-B871-A7531F67953E}"/>
              </a:ext>
            </a:extLst>
          </p:cNvPr>
          <p:cNvSpPr txBox="1">
            <a:spLocks noChangeArrowheads="1"/>
          </p:cNvSpPr>
          <p:nvPr/>
        </p:nvSpPr>
        <p:spPr>
          <a:xfrm>
            <a:off x="167299" y="23446"/>
            <a:ext cx="7467600" cy="3935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2400"/>
              <a:t>Knapsack Problem by DP (example)</a:t>
            </a:r>
            <a:endParaRPr lang="en-US" alt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766" y="986696"/>
            <a:ext cx="5276850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9203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3" name="Rectangle 3">
            <a:extLst>
              <a:ext uri="{FF2B5EF4-FFF2-40B4-BE49-F238E27FC236}">
                <a16:creationId xmlns:a16="http://schemas.microsoft.com/office/drawing/2014/main" id="{A0D89135-7A65-4658-A987-6A87747610C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76690" y="417022"/>
            <a:ext cx="6781800" cy="2057400"/>
          </a:xfrm>
        </p:spPr>
        <p:txBody>
          <a:bodyPr>
            <a:normAutofit fontScale="85000" lnSpcReduction="20000"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Example:  Knapsack of capacity </a:t>
            </a:r>
            <a:r>
              <a:rPr lang="en-US" altLang="en-US" i="1" dirty="0"/>
              <a:t>W </a:t>
            </a:r>
            <a:r>
              <a:rPr lang="en-US" altLang="en-US" dirty="0"/>
              <a:t>= 5</a:t>
            </a:r>
            <a:endParaRPr lang="en-US" altLang="en-US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u="sng" dirty="0"/>
              <a:t>item      weight      value             </a:t>
            </a:r>
            <a:endParaRPr lang="en-US" altLang="en-US" i="1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1             2             $12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2             1             $10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3             3             $20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4             2             $15</a:t>
            </a:r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6559361"/>
              </p:ext>
            </p:extLst>
          </p:nvPr>
        </p:nvGraphicFramePr>
        <p:xfrm>
          <a:off x="381000" y="2743200"/>
          <a:ext cx="8380415" cy="232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823">
                  <a:extLst>
                    <a:ext uri="{9D8B030D-6E8A-4147-A177-3AD203B41FA5}">
                      <a16:colId xmlns:a16="http://schemas.microsoft.com/office/drawing/2014/main" val="407756699"/>
                    </a:ext>
                  </a:extLst>
                </a:gridCol>
                <a:gridCol w="322977">
                  <a:extLst>
                    <a:ext uri="{9D8B030D-6E8A-4147-A177-3AD203B41FA5}">
                      <a16:colId xmlns:a16="http://schemas.microsoft.com/office/drawing/2014/main" val="1396698258"/>
                    </a:ext>
                  </a:extLst>
                </a:gridCol>
                <a:gridCol w="932855">
                  <a:extLst>
                    <a:ext uri="{9D8B030D-6E8A-4147-A177-3AD203B41FA5}">
                      <a16:colId xmlns:a16="http://schemas.microsoft.com/office/drawing/2014/main" val="3727349464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628466055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700655419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385635510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341358621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855855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03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710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1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1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12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943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2 </a:t>
                      </a:r>
                      <a:r>
                        <a:rPr kumimoji="0" lang="en-US" altLang="en-US" dirty="0"/>
                        <a:t>= 1,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2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0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i="1" dirty="0"/>
                        <a:t>w</a:t>
                      </a:r>
                      <a:r>
                        <a:rPr lang="en-US" altLang="en-US" baseline="-25000" dirty="0"/>
                        <a:t>3 </a:t>
                      </a:r>
                      <a:r>
                        <a:rPr kumimoji="0" lang="en-US" altLang="en-US" dirty="0"/>
                        <a:t>= 3, </a:t>
                      </a:r>
                      <a:r>
                        <a:rPr lang="en-US" altLang="en-US" sz="2000" i="1" dirty="0"/>
                        <a:t>v</a:t>
                      </a:r>
                      <a:r>
                        <a:rPr lang="en-US" altLang="en-US" sz="2000" baseline="-25000" dirty="0"/>
                        <a:t>3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20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93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i="1" dirty="0"/>
                        <a:t>w</a:t>
                      </a:r>
                      <a:r>
                        <a:rPr lang="en-US" altLang="en-US" baseline="-25000" dirty="0"/>
                        <a:t>4 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i="1" dirty="0"/>
                        <a:t>v</a:t>
                      </a:r>
                      <a:r>
                        <a:rPr lang="en-US" altLang="en-US" sz="2000" baseline="-25000" dirty="0"/>
                        <a:t>4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15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7557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343400" y="2028891"/>
            <a:ext cx="12009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capacity </a:t>
            </a:r>
            <a:r>
              <a:rPr lang="en-US" altLang="en-US" i="1" dirty="0"/>
              <a:t>j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25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70745" y="5313218"/>
            <a:ext cx="4867763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 err="1"/>
              <a:t>i</a:t>
            </a:r>
            <a:r>
              <a:rPr lang="en-US" sz="2400" b="1" dirty="0"/>
              <a:t>=4, j=2</a:t>
            </a:r>
          </a:p>
          <a:p>
            <a:r>
              <a:rPr lang="en-US" i="1" dirty="0"/>
              <a:t>j </a:t>
            </a:r>
            <a:r>
              <a:rPr lang="en-US" dirty="0"/>
              <a:t>− </a:t>
            </a:r>
            <a:r>
              <a:rPr lang="en-US" i="1" dirty="0" err="1"/>
              <a:t>w</a:t>
            </a:r>
            <a:r>
              <a:rPr lang="en-US" i="1" baseline="-25000" dirty="0" err="1"/>
              <a:t>i</a:t>
            </a:r>
            <a:r>
              <a:rPr lang="en-US" sz="2400" b="1" dirty="0"/>
              <a:t> =2-2=0     &gt;=0    </a:t>
            </a:r>
          </a:p>
          <a:p>
            <a:r>
              <a:rPr lang="en-US" sz="2400" b="1" dirty="0"/>
              <a:t>Max {  F(3, 2), 15 + F( 3, 0) }</a:t>
            </a:r>
            <a:endParaRPr lang="en-US" sz="2400" b="1" baseline="-25000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843F2B8-FD88-459C-B871-A7531F67953E}"/>
              </a:ext>
            </a:extLst>
          </p:cNvPr>
          <p:cNvSpPr txBox="1">
            <a:spLocks noChangeArrowheads="1"/>
          </p:cNvSpPr>
          <p:nvPr/>
        </p:nvSpPr>
        <p:spPr>
          <a:xfrm>
            <a:off x="167299" y="23446"/>
            <a:ext cx="7467600" cy="3935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2400"/>
              <a:t>Knapsack Problem by DP (example)</a:t>
            </a:r>
            <a:endParaRPr lang="en-US" alt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766" y="986696"/>
            <a:ext cx="5276850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6405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3" name="Rectangle 3">
            <a:extLst>
              <a:ext uri="{FF2B5EF4-FFF2-40B4-BE49-F238E27FC236}">
                <a16:creationId xmlns:a16="http://schemas.microsoft.com/office/drawing/2014/main" id="{A0D89135-7A65-4658-A987-6A87747610C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76690" y="417022"/>
            <a:ext cx="6781800" cy="2057400"/>
          </a:xfrm>
        </p:spPr>
        <p:txBody>
          <a:bodyPr>
            <a:normAutofit fontScale="85000" lnSpcReduction="20000"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Example:  Knapsack of capacity </a:t>
            </a:r>
            <a:r>
              <a:rPr lang="en-US" altLang="en-US" i="1" dirty="0"/>
              <a:t>W </a:t>
            </a:r>
            <a:r>
              <a:rPr lang="en-US" altLang="en-US" dirty="0"/>
              <a:t>= 5</a:t>
            </a:r>
            <a:endParaRPr lang="en-US" altLang="en-US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u="sng" dirty="0"/>
              <a:t>item      weight      value             </a:t>
            </a:r>
            <a:endParaRPr lang="en-US" altLang="en-US" i="1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1             2             $12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2             1             $10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3             3             $20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4             2             $15</a:t>
            </a:r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9617694"/>
              </p:ext>
            </p:extLst>
          </p:nvPr>
        </p:nvGraphicFramePr>
        <p:xfrm>
          <a:off x="381000" y="2743200"/>
          <a:ext cx="8380415" cy="232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823">
                  <a:extLst>
                    <a:ext uri="{9D8B030D-6E8A-4147-A177-3AD203B41FA5}">
                      <a16:colId xmlns:a16="http://schemas.microsoft.com/office/drawing/2014/main" val="407756699"/>
                    </a:ext>
                  </a:extLst>
                </a:gridCol>
                <a:gridCol w="322977">
                  <a:extLst>
                    <a:ext uri="{9D8B030D-6E8A-4147-A177-3AD203B41FA5}">
                      <a16:colId xmlns:a16="http://schemas.microsoft.com/office/drawing/2014/main" val="1396698258"/>
                    </a:ext>
                  </a:extLst>
                </a:gridCol>
                <a:gridCol w="932855">
                  <a:extLst>
                    <a:ext uri="{9D8B030D-6E8A-4147-A177-3AD203B41FA5}">
                      <a16:colId xmlns:a16="http://schemas.microsoft.com/office/drawing/2014/main" val="3727349464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628466055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700655419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385635510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341358621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855855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03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710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1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1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12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943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2 </a:t>
                      </a:r>
                      <a:r>
                        <a:rPr kumimoji="0" lang="en-US" altLang="en-US" dirty="0"/>
                        <a:t>= 1,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2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0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i="1" dirty="0"/>
                        <a:t>w</a:t>
                      </a:r>
                      <a:r>
                        <a:rPr lang="en-US" altLang="en-US" baseline="-25000" dirty="0"/>
                        <a:t>3 </a:t>
                      </a:r>
                      <a:r>
                        <a:rPr kumimoji="0" lang="en-US" altLang="en-US" dirty="0"/>
                        <a:t>= 3, </a:t>
                      </a:r>
                      <a:r>
                        <a:rPr lang="en-US" altLang="en-US" sz="2000" i="1" dirty="0"/>
                        <a:t>v</a:t>
                      </a:r>
                      <a:r>
                        <a:rPr lang="en-US" altLang="en-US" sz="2000" baseline="-25000" dirty="0"/>
                        <a:t>3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20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93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i="1" dirty="0"/>
                        <a:t>w</a:t>
                      </a:r>
                      <a:r>
                        <a:rPr lang="en-US" altLang="en-US" baseline="-25000" dirty="0"/>
                        <a:t>4 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i="1" dirty="0"/>
                        <a:t>v</a:t>
                      </a:r>
                      <a:r>
                        <a:rPr lang="en-US" altLang="en-US" sz="2000" baseline="-25000" dirty="0"/>
                        <a:t>4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15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7557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343400" y="2028891"/>
            <a:ext cx="12009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capacity </a:t>
            </a:r>
            <a:r>
              <a:rPr lang="en-US" altLang="en-US" i="1" dirty="0"/>
              <a:t>j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26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76607" y="5271379"/>
            <a:ext cx="4867763" cy="1569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 err="1"/>
              <a:t>i</a:t>
            </a:r>
            <a:r>
              <a:rPr lang="en-US" sz="2400" b="1" dirty="0"/>
              <a:t>=4, j=3</a:t>
            </a:r>
          </a:p>
          <a:p>
            <a:r>
              <a:rPr lang="en-US" i="1" dirty="0"/>
              <a:t>j </a:t>
            </a:r>
            <a:r>
              <a:rPr lang="en-US" dirty="0"/>
              <a:t>− </a:t>
            </a:r>
            <a:r>
              <a:rPr lang="en-US" i="1" dirty="0" err="1"/>
              <a:t>w</a:t>
            </a:r>
            <a:r>
              <a:rPr lang="en-US" i="1" baseline="-25000" dirty="0" err="1"/>
              <a:t>i</a:t>
            </a:r>
            <a:r>
              <a:rPr lang="en-US" sz="2400" b="1" dirty="0"/>
              <a:t> =3-2=1     &gt;=0    </a:t>
            </a:r>
          </a:p>
          <a:p>
            <a:r>
              <a:rPr lang="en-US" sz="2400" b="1" dirty="0"/>
              <a:t>Max {  F(3, 3), 15 + F( 3, 1) }</a:t>
            </a:r>
          </a:p>
          <a:p>
            <a:r>
              <a:rPr lang="en-US" sz="2400" b="1" dirty="0"/>
              <a:t>Max {   22,  15+10  }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843F2B8-FD88-459C-B871-A7531F67953E}"/>
              </a:ext>
            </a:extLst>
          </p:cNvPr>
          <p:cNvSpPr txBox="1">
            <a:spLocks noChangeArrowheads="1"/>
          </p:cNvSpPr>
          <p:nvPr/>
        </p:nvSpPr>
        <p:spPr>
          <a:xfrm>
            <a:off x="167299" y="23446"/>
            <a:ext cx="7467600" cy="3935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2400"/>
              <a:t>Knapsack Problem by DP (example)</a:t>
            </a:r>
            <a:endParaRPr lang="en-US" alt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766" y="986696"/>
            <a:ext cx="5276850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6513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3" name="Rectangle 3">
            <a:extLst>
              <a:ext uri="{FF2B5EF4-FFF2-40B4-BE49-F238E27FC236}">
                <a16:creationId xmlns:a16="http://schemas.microsoft.com/office/drawing/2014/main" id="{A0D89135-7A65-4658-A987-6A87747610C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76690" y="417022"/>
            <a:ext cx="6781800" cy="2057400"/>
          </a:xfrm>
        </p:spPr>
        <p:txBody>
          <a:bodyPr>
            <a:normAutofit fontScale="85000" lnSpcReduction="20000"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Example:  Knapsack of capacity </a:t>
            </a:r>
            <a:r>
              <a:rPr lang="en-US" altLang="en-US" i="1" dirty="0"/>
              <a:t>W </a:t>
            </a:r>
            <a:r>
              <a:rPr lang="en-US" altLang="en-US" dirty="0"/>
              <a:t>= 5</a:t>
            </a:r>
            <a:endParaRPr lang="en-US" altLang="en-US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u="sng" dirty="0"/>
              <a:t>item      weight      value             </a:t>
            </a:r>
            <a:endParaRPr lang="en-US" altLang="en-US" i="1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1             2             $12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2             1             $10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3             3             $20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4             2             $15</a:t>
            </a:r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1859635"/>
              </p:ext>
            </p:extLst>
          </p:nvPr>
        </p:nvGraphicFramePr>
        <p:xfrm>
          <a:off x="381000" y="2743200"/>
          <a:ext cx="8380415" cy="232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823">
                  <a:extLst>
                    <a:ext uri="{9D8B030D-6E8A-4147-A177-3AD203B41FA5}">
                      <a16:colId xmlns:a16="http://schemas.microsoft.com/office/drawing/2014/main" val="407756699"/>
                    </a:ext>
                  </a:extLst>
                </a:gridCol>
                <a:gridCol w="322977">
                  <a:extLst>
                    <a:ext uri="{9D8B030D-6E8A-4147-A177-3AD203B41FA5}">
                      <a16:colId xmlns:a16="http://schemas.microsoft.com/office/drawing/2014/main" val="1396698258"/>
                    </a:ext>
                  </a:extLst>
                </a:gridCol>
                <a:gridCol w="932855">
                  <a:extLst>
                    <a:ext uri="{9D8B030D-6E8A-4147-A177-3AD203B41FA5}">
                      <a16:colId xmlns:a16="http://schemas.microsoft.com/office/drawing/2014/main" val="3727349464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628466055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700655419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385635510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341358621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855855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03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710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1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1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12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943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2 </a:t>
                      </a:r>
                      <a:r>
                        <a:rPr kumimoji="0" lang="en-US" altLang="en-US" dirty="0"/>
                        <a:t>= 1,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2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0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i="1" dirty="0"/>
                        <a:t>w</a:t>
                      </a:r>
                      <a:r>
                        <a:rPr lang="en-US" altLang="en-US" baseline="-25000" dirty="0"/>
                        <a:t>3 </a:t>
                      </a:r>
                      <a:r>
                        <a:rPr kumimoji="0" lang="en-US" altLang="en-US" dirty="0"/>
                        <a:t>= 3, </a:t>
                      </a:r>
                      <a:r>
                        <a:rPr lang="en-US" altLang="en-US" sz="2000" i="1" dirty="0"/>
                        <a:t>v</a:t>
                      </a:r>
                      <a:r>
                        <a:rPr lang="en-US" altLang="en-US" sz="2000" baseline="-25000" dirty="0"/>
                        <a:t>3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20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93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i="1" dirty="0"/>
                        <a:t>w</a:t>
                      </a:r>
                      <a:r>
                        <a:rPr lang="en-US" altLang="en-US" baseline="-25000" dirty="0"/>
                        <a:t>4 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i="1" dirty="0"/>
                        <a:t>v</a:t>
                      </a:r>
                      <a:r>
                        <a:rPr lang="en-US" altLang="en-US" sz="2000" baseline="-25000" dirty="0"/>
                        <a:t>4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15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7557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343400" y="2028891"/>
            <a:ext cx="12009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capacity </a:t>
            </a:r>
            <a:r>
              <a:rPr lang="en-US" altLang="en-US" i="1" dirty="0"/>
              <a:t>j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27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76607" y="5271379"/>
            <a:ext cx="4867763" cy="1569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 err="1"/>
              <a:t>i</a:t>
            </a:r>
            <a:r>
              <a:rPr lang="en-US" sz="2400" b="1" dirty="0"/>
              <a:t>=4, j=4</a:t>
            </a:r>
          </a:p>
          <a:p>
            <a:r>
              <a:rPr lang="en-US" i="1" dirty="0"/>
              <a:t>j </a:t>
            </a:r>
            <a:r>
              <a:rPr lang="en-US" dirty="0"/>
              <a:t>− </a:t>
            </a:r>
            <a:r>
              <a:rPr lang="en-US" i="1" dirty="0" err="1"/>
              <a:t>w</a:t>
            </a:r>
            <a:r>
              <a:rPr lang="en-US" i="1" baseline="-25000" dirty="0" err="1"/>
              <a:t>i</a:t>
            </a:r>
            <a:r>
              <a:rPr lang="en-US" sz="2400" b="1" dirty="0"/>
              <a:t> =4-2=2     &gt;=0    </a:t>
            </a:r>
          </a:p>
          <a:p>
            <a:r>
              <a:rPr lang="en-US" sz="2400" b="1" dirty="0"/>
              <a:t>Max {  F(3, 4), 15 + F( 3, 2) }</a:t>
            </a:r>
          </a:p>
          <a:p>
            <a:r>
              <a:rPr lang="en-US" sz="2400" b="1" dirty="0"/>
              <a:t>Max {   30,  15+12 }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843F2B8-FD88-459C-B871-A7531F67953E}"/>
              </a:ext>
            </a:extLst>
          </p:cNvPr>
          <p:cNvSpPr txBox="1">
            <a:spLocks noChangeArrowheads="1"/>
          </p:cNvSpPr>
          <p:nvPr/>
        </p:nvSpPr>
        <p:spPr>
          <a:xfrm>
            <a:off x="167299" y="23446"/>
            <a:ext cx="7467600" cy="3935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2400"/>
              <a:t>Knapsack Problem by DP (example)</a:t>
            </a:r>
            <a:endParaRPr lang="en-US" alt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766" y="986696"/>
            <a:ext cx="5276850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0264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3" name="Rectangle 3">
            <a:extLst>
              <a:ext uri="{FF2B5EF4-FFF2-40B4-BE49-F238E27FC236}">
                <a16:creationId xmlns:a16="http://schemas.microsoft.com/office/drawing/2014/main" id="{A0D89135-7A65-4658-A987-6A87747610C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76690" y="417022"/>
            <a:ext cx="6781800" cy="2057400"/>
          </a:xfrm>
        </p:spPr>
        <p:txBody>
          <a:bodyPr>
            <a:normAutofit fontScale="85000" lnSpcReduction="20000"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Example:  Knapsack of capacity </a:t>
            </a:r>
            <a:r>
              <a:rPr lang="en-US" altLang="en-US" i="1" dirty="0"/>
              <a:t>W </a:t>
            </a:r>
            <a:r>
              <a:rPr lang="en-US" altLang="en-US" dirty="0"/>
              <a:t>= 5</a:t>
            </a:r>
            <a:endParaRPr lang="en-US" altLang="en-US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u="sng" dirty="0"/>
              <a:t>item      weight      value             </a:t>
            </a:r>
            <a:endParaRPr lang="en-US" altLang="en-US" i="1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1             2             $12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2             1             $10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3             3             $20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4             2             $15</a:t>
            </a:r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3264040"/>
              </p:ext>
            </p:extLst>
          </p:nvPr>
        </p:nvGraphicFramePr>
        <p:xfrm>
          <a:off x="381000" y="2743200"/>
          <a:ext cx="8380415" cy="232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823">
                  <a:extLst>
                    <a:ext uri="{9D8B030D-6E8A-4147-A177-3AD203B41FA5}">
                      <a16:colId xmlns:a16="http://schemas.microsoft.com/office/drawing/2014/main" val="407756699"/>
                    </a:ext>
                  </a:extLst>
                </a:gridCol>
                <a:gridCol w="322977">
                  <a:extLst>
                    <a:ext uri="{9D8B030D-6E8A-4147-A177-3AD203B41FA5}">
                      <a16:colId xmlns:a16="http://schemas.microsoft.com/office/drawing/2014/main" val="1396698258"/>
                    </a:ext>
                  </a:extLst>
                </a:gridCol>
                <a:gridCol w="932855">
                  <a:extLst>
                    <a:ext uri="{9D8B030D-6E8A-4147-A177-3AD203B41FA5}">
                      <a16:colId xmlns:a16="http://schemas.microsoft.com/office/drawing/2014/main" val="3727349464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628466055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700655419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385635510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341358621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855855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03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710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1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1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12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943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2 </a:t>
                      </a:r>
                      <a:r>
                        <a:rPr kumimoji="0" lang="en-US" altLang="en-US" dirty="0"/>
                        <a:t>= 1,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2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0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i="1" dirty="0"/>
                        <a:t>w</a:t>
                      </a:r>
                      <a:r>
                        <a:rPr lang="en-US" altLang="en-US" baseline="-25000" dirty="0"/>
                        <a:t>3 </a:t>
                      </a:r>
                      <a:r>
                        <a:rPr kumimoji="0" lang="en-US" altLang="en-US" dirty="0"/>
                        <a:t>= 3, </a:t>
                      </a:r>
                      <a:r>
                        <a:rPr lang="en-US" altLang="en-US" sz="2000" i="1" dirty="0"/>
                        <a:t>v</a:t>
                      </a:r>
                      <a:r>
                        <a:rPr lang="en-US" altLang="en-US" sz="2000" baseline="-25000" dirty="0"/>
                        <a:t>3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20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93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i="1" dirty="0"/>
                        <a:t>w</a:t>
                      </a:r>
                      <a:r>
                        <a:rPr lang="en-US" altLang="en-US" baseline="-25000" dirty="0"/>
                        <a:t>4 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i="1" dirty="0"/>
                        <a:t>v</a:t>
                      </a:r>
                      <a:r>
                        <a:rPr lang="en-US" altLang="en-US" sz="2000" baseline="-25000" dirty="0"/>
                        <a:t>4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15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7557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343400" y="2028891"/>
            <a:ext cx="12009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capacity </a:t>
            </a:r>
            <a:r>
              <a:rPr lang="en-US" altLang="en-US" i="1" dirty="0"/>
              <a:t>j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28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76607" y="5271379"/>
            <a:ext cx="4867763" cy="1569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 err="1"/>
              <a:t>i</a:t>
            </a:r>
            <a:r>
              <a:rPr lang="en-US" sz="2400" b="1" dirty="0"/>
              <a:t>=4, j=5</a:t>
            </a:r>
          </a:p>
          <a:p>
            <a:r>
              <a:rPr lang="en-US" i="1" dirty="0"/>
              <a:t>j </a:t>
            </a:r>
            <a:r>
              <a:rPr lang="en-US" dirty="0"/>
              <a:t>− </a:t>
            </a:r>
            <a:r>
              <a:rPr lang="en-US" i="1" dirty="0" err="1"/>
              <a:t>w</a:t>
            </a:r>
            <a:r>
              <a:rPr lang="en-US" i="1" baseline="-25000" dirty="0" err="1"/>
              <a:t>i</a:t>
            </a:r>
            <a:r>
              <a:rPr lang="en-US" sz="2400" b="1" dirty="0"/>
              <a:t> =5-2=3     &gt;=0    </a:t>
            </a:r>
          </a:p>
          <a:p>
            <a:r>
              <a:rPr lang="en-US" sz="2400" b="1" dirty="0"/>
              <a:t>Max {  F(3, 5), 15 + F( 3, 3) }</a:t>
            </a:r>
          </a:p>
          <a:p>
            <a:r>
              <a:rPr lang="en-US" sz="2400" b="1" dirty="0"/>
              <a:t>Max {   32,  15+22 }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843F2B8-FD88-459C-B871-A7531F67953E}"/>
              </a:ext>
            </a:extLst>
          </p:cNvPr>
          <p:cNvSpPr txBox="1">
            <a:spLocks noChangeArrowheads="1"/>
          </p:cNvSpPr>
          <p:nvPr/>
        </p:nvSpPr>
        <p:spPr>
          <a:xfrm>
            <a:off x="167299" y="23446"/>
            <a:ext cx="7467600" cy="3935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2400"/>
              <a:t>Knapsack Problem by DP (example)</a:t>
            </a:r>
            <a:endParaRPr lang="en-US" alt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766" y="986696"/>
            <a:ext cx="5276850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5272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 pitchFamily="2" charset="2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CD36D664-EE44-4DE0-B666-11F1F850D48A}" type="slidenum">
              <a:rPr kumimoji="0" lang="en-US" altLang="en-US" sz="1400" b="0" smtClean="0">
                <a:solidFill>
                  <a:schemeClr val="tx1"/>
                </a:solidFill>
                <a:latin typeface="Arial Narrow" panose="020B0606020202030204" pitchFamily="34" charset="0"/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29</a:t>
            </a:fld>
            <a:endParaRPr kumimoji="0" lang="en-US" altLang="en-US" sz="1400" b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418818" name="Rectangle 2">
            <a:extLst>
              <a:ext uri="{FF2B5EF4-FFF2-40B4-BE49-F238E27FC236}">
                <a16:creationId xmlns:a16="http://schemas.microsoft.com/office/drawing/2014/main" id="{6163DC8B-92E3-4BD3-9017-A7F839D5A05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7585"/>
            <a:ext cx="8738616" cy="744415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en-US" altLang="en-US" sz="3600" b="1" dirty="0"/>
              <a:t>Knapsack Problem</a:t>
            </a:r>
          </a:p>
        </p:txBody>
      </p:sp>
      <p:sp>
        <p:nvSpPr>
          <p:cNvPr id="418819" name="Rectangle 3">
            <a:extLst>
              <a:ext uri="{FF2B5EF4-FFF2-40B4-BE49-F238E27FC236}">
                <a16:creationId xmlns:a16="http://schemas.microsoft.com/office/drawing/2014/main" id="{818DDDD9-E946-4442-9889-6A0B535312E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066800"/>
            <a:ext cx="8610600" cy="5791200"/>
          </a:xfrm>
        </p:spPr>
        <p:txBody>
          <a:bodyPr/>
          <a:lstStyle/>
          <a:p>
            <a:pPr marL="0" indent="0">
              <a:buFont typeface="Monotype Sorts" pitchFamily="2" charset="2"/>
              <a:buNone/>
              <a:defRPr/>
            </a:pPr>
            <a:endParaRPr lang="en-US" altLang="en-US" dirty="0"/>
          </a:p>
          <a:p>
            <a:pPr marL="0" indent="0">
              <a:buFont typeface="Monotype Sorts" pitchFamily="2" charset="2"/>
              <a:buNone/>
              <a:defRPr/>
            </a:pPr>
            <a:endParaRPr lang="en-US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676400"/>
            <a:ext cx="7562850" cy="50006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1000" y="910650"/>
            <a:ext cx="41040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Recursive Algorithm</a:t>
            </a:r>
          </a:p>
        </p:txBody>
      </p:sp>
    </p:spTree>
    <p:extLst>
      <p:ext uri="{BB962C8B-B14F-4D97-AF65-F5344CB8AC3E}">
        <p14:creationId xmlns:p14="http://schemas.microsoft.com/office/powerpoint/2010/main" val="24047522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 pitchFamily="2" charset="2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CD36D664-EE44-4DE0-B666-11F1F850D48A}" type="slidenum">
              <a:rPr kumimoji="0" lang="en-US" altLang="en-US" sz="1400" b="0" smtClean="0">
                <a:solidFill>
                  <a:schemeClr val="tx1"/>
                </a:solidFill>
                <a:latin typeface="Arial Narrow" panose="020B0606020202030204" pitchFamily="34" charset="0"/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30</a:t>
            </a:fld>
            <a:endParaRPr kumimoji="0" lang="en-US" altLang="en-US" sz="1400" b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418818" name="Rectangle 2">
            <a:extLst>
              <a:ext uri="{FF2B5EF4-FFF2-40B4-BE49-F238E27FC236}">
                <a16:creationId xmlns:a16="http://schemas.microsoft.com/office/drawing/2014/main" id="{6163DC8B-92E3-4BD3-9017-A7F839D5A05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7585"/>
            <a:ext cx="8738616" cy="744415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en-US" altLang="en-US" sz="3600" b="1" dirty="0"/>
              <a:t>Knapsack Problem</a:t>
            </a:r>
          </a:p>
        </p:txBody>
      </p:sp>
      <p:sp>
        <p:nvSpPr>
          <p:cNvPr id="418819" name="Rectangle 3">
            <a:extLst>
              <a:ext uri="{FF2B5EF4-FFF2-40B4-BE49-F238E27FC236}">
                <a16:creationId xmlns:a16="http://schemas.microsoft.com/office/drawing/2014/main" id="{818DDDD9-E946-4442-9889-6A0B535312E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066800"/>
            <a:ext cx="8610600" cy="5791200"/>
          </a:xfrm>
        </p:spPr>
        <p:txBody>
          <a:bodyPr/>
          <a:lstStyle/>
          <a:p>
            <a:pPr marL="0" indent="0">
              <a:buFont typeface="Monotype Sorts" pitchFamily="2" charset="2"/>
              <a:buNone/>
              <a:defRPr/>
            </a:pPr>
            <a:endParaRPr lang="en-US" altLang="en-US" dirty="0"/>
          </a:p>
          <a:p>
            <a:pPr marL="0" indent="0">
              <a:buFont typeface="Monotype Sorts" pitchFamily="2" charset="2"/>
              <a:buNone/>
              <a:defRPr/>
            </a:pPr>
            <a:endParaRPr lang="en-US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24" y="1938337"/>
            <a:ext cx="8538392" cy="319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1116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3" name="Rectangle 3">
            <a:extLst>
              <a:ext uri="{FF2B5EF4-FFF2-40B4-BE49-F238E27FC236}">
                <a16:creationId xmlns:a16="http://schemas.microsoft.com/office/drawing/2014/main" id="{A0D89135-7A65-4658-A987-6A87747610C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76690" y="417022"/>
            <a:ext cx="6781800" cy="2057400"/>
          </a:xfrm>
        </p:spPr>
        <p:txBody>
          <a:bodyPr>
            <a:normAutofit fontScale="85000" lnSpcReduction="20000"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Example:  Knapsack of capacity </a:t>
            </a:r>
            <a:r>
              <a:rPr lang="en-US" altLang="en-US" i="1" dirty="0"/>
              <a:t>W </a:t>
            </a:r>
            <a:r>
              <a:rPr lang="en-US" altLang="en-US" dirty="0"/>
              <a:t>= 5</a:t>
            </a:r>
            <a:endParaRPr lang="en-US" altLang="en-US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u="sng" dirty="0"/>
              <a:t>item      weight      value             </a:t>
            </a:r>
            <a:endParaRPr lang="en-US" altLang="en-US" i="1" u="sng" dirty="0"/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1             2             $12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2             1             $10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3             3             $20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   4             2             $15</a:t>
            </a:r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4088056"/>
              </p:ext>
            </p:extLst>
          </p:nvPr>
        </p:nvGraphicFramePr>
        <p:xfrm>
          <a:off x="381000" y="2743200"/>
          <a:ext cx="8380415" cy="232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823">
                  <a:extLst>
                    <a:ext uri="{9D8B030D-6E8A-4147-A177-3AD203B41FA5}">
                      <a16:colId xmlns:a16="http://schemas.microsoft.com/office/drawing/2014/main" val="407756699"/>
                    </a:ext>
                  </a:extLst>
                </a:gridCol>
                <a:gridCol w="322977">
                  <a:extLst>
                    <a:ext uri="{9D8B030D-6E8A-4147-A177-3AD203B41FA5}">
                      <a16:colId xmlns:a16="http://schemas.microsoft.com/office/drawing/2014/main" val="1396698258"/>
                    </a:ext>
                  </a:extLst>
                </a:gridCol>
                <a:gridCol w="932855">
                  <a:extLst>
                    <a:ext uri="{9D8B030D-6E8A-4147-A177-3AD203B41FA5}">
                      <a16:colId xmlns:a16="http://schemas.microsoft.com/office/drawing/2014/main" val="3727349464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628466055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700655419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385635510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341358621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855855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03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710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1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1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12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943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2 </a:t>
                      </a:r>
                      <a:r>
                        <a:rPr kumimoji="0" lang="en-US" altLang="en-US" dirty="0"/>
                        <a:t>= 1,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2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0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i="1" dirty="0"/>
                        <a:t>w</a:t>
                      </a:r>
                      <a:r>
                        <a:rPr lang="en-US" altLang="en-US" baseline="-25000" dirty="0"/>
                        <a:t>3 </a:t>
                      </a:r>
                      <a:r>
                        <a:rPr kumimoji="0" lang="en-US" altLang="en-US" dirty="0"/>
                        <a:t>= 3, </a:t>
                      </a:r>
                      <a:r>
                        <a:rPr lang="en-US" altLang="en-US" sz="2000" i="1" dirty="0"/>
                        <a:t>v</a:t>
                      </a:r>
                      <a:r>
                        <a:rPr lang="en-US" altLang="en-US" sz="2000" baseline="-25000" dirty="0"/>
                        <a:t>3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20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93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i="1" dirty="0"/>
                        <a:t>w</a:t>
                      </a:r>
                      <a:r>
                        <a:rPr lang="en-US" altLang="en-US" baseline="-25000" dirty="0"/>
                        <a:t>4 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i="1" dirty="0"/>
                        <a:t>v</a:t>
                      </a:r>
                      <a:r>
                        <a:rPr lang="en-US" altLang="en-US" sz="2000" baseline="-25000" dirty="0"/>
                        <a:t>4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15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37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7557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343400" y="2028891"/>
            <a:ext cx="12009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capacity </a:t>
            </a:r>
            <a:r>
              <a:rPr lang="en-US" altLang="en-US" i="1" dirty="0"/>
              <a:t>j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31</a:t>
            </a:fld>
            <a:endParaRPr 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843F2B8-FD88-459C-B871-A7531F67953E}"/>
              </a:ext>
            </a:extLst>
          </p:cNvPr>
          <p:cNvSpPr txBox="1">
            <a:spLocks noChangeArrowheads="1"/>
          </p:cNvSpPr>
          <p:nvPr/>
        </p:nvSpPr>
        <p:spPr>
          <a:xfrm>
            <a:off x="167299" y="23446"/>
            <a:ext cx="7467600" cy="3935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2400"/>
              <a:t>Knapsack Problem by DP (example)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619741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2646252"/>
              </p:ext>
            </p:extLst>
          </p:nvPr>
        </p:nvGraphicFramePr>
        <p:xfrm>
          <a:off x="266945" y="1053449"/>
          <a:ext cx="8380415" cy="232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823">
                  <a:extLst>
                    <a:ext uri="{9D8B030D-6E8A-4147-A177-3AD203B41FA5}">
                      <a16:colId xmlns:a16="http://schemas.microsoft.com/office/drawing/2014/main" val="407756699"/>
                    </a:ext>
                  </a:extLst>
                </a:gridCol>
                <a:gridCol w="322977">
                  <a:extLst>
                    <a:ext uri="{9D8B030D-6E8A-4147-A177-3AD203B41FA5}">
                      <a16:colId xmlns:a16="http://schemas.microsoft.com/office/drawing/2014/main" val="1396698258"/>
                    </a:ext>
                  </a:extLst>
                </a:gridCol>
                <a:gridCol w="932855">
                  <a:extLst>
                    <a:ext uri="{9D8B030D-6E8A-4147-A177-3AD203B41FA5}">
                      <a16:colId xmlns:a16="http://schemas.microsoft.com/office/drawing/2014/main" val="3727349464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628466055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700655419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1385635510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341358621"/>
                    </a:ext>
                  </a:extLst>
                </a:gridCol>
                <a:gridCol w="1047552">
                  <a:extLst>
                    <a:ext uri="{9D8B030D-6E8A-4147-A177-3AD203B41FA5}">
                      <a16:colId xmlns:a16="http://schemas.microsoft.com/office/drawing/2014/main" val="2855855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03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710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1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1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12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943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w</a:t>
                      </a:r>
                      <a:r>
                        <a:rPr lang="en-US" altLang="en-US" baseline="-25000" dirty="0"/>
                        <a:t>2 </a:t>
                      </a:r>
                      <a:r>
                        <a:rPr kumimoji="0" lang="en-US" altLang="en-US" dirty="0"/>
                        <a:t>= 1, </a:t>
                      </a:r>
                      <a:r>
                        <a:rPr lang="en-US" altLang="en-US" sz="2000" dirty="0"/>
                        <a:t>v</a:t>
                      </a:r>
                      <a:r>
                        <a:rPr lang="en-US" altLang="en-US" sz="2000" baseline="-25000" dirty="0"/>
                        <a:t>2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0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i="1" dirty="0"/>
                        <a:t>w</a:t>
                      </a:r>
                      <a:r>
                        <a:rPr lang="en-US" altLang="en-US" baseline="-25000" dirty="0"/>
                        <a:t>3 </a:t>
                      </a:r>
                      <a:r>
                        <a:rPr kumimoji="0" lang="en-US" altLang="en-US" dirty="0"/>
                        <a:t>= 3, </a:t>
                      </a:r>
                      <a:r>
                        <a:rPr lang="en-US" altLang="en-US" sz="2000" i="1" dirty="0"/>
                        <a:t>v</a:t>
                      </a:r>
                      <a:r>
                        <a:rPr lang="en-US" altLang="en-US" sz="2000" baseline="-25000" dirty="0"/>
                        <a:t>3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20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93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i="1" dirty="0"/>
                        <a:t>w</a:t>
                      </a:r>
                      <a:r>
                        <a:rPr lang="en-US" altLang="en-US" baseline="-25000" dirty="0"/>
                        <a:t>4  </a:t>
                      </a:r>
                      <a:r>
                        <a:rPr kumimoji="0" lang="en-US" altLang="en-US" dirty="0"/>
                        <a:t>= 2, </a:t>
                      </a:r>
                      <a:r>
                        <a:rPr lang="en-US" altLang="en-US" sz="2000" i="1" dirty="0"/>
                        <a:t>v</a:t>
                      </a:r>
                      <a:r>
                        <a:rPr lang="en-US" altLang="en-US" sz="2000" baseline="-25000" dirty="0"/>
                        <a:t>4</a:t>
                      </a:r>
                      <a:r>
                        <a:rPr kumimoji="0" lang="en-US" altLang="en-US" sz="2000" dirty="0"/>
                        <a:t>=</a:t>
                      </a:r>
                      <a:r>
                        <a:rPr lang="en-US" altLang="en-US" sz="2000" baseline="-25000" dirty="0"/>
                        <a:t> </a:t>
                      </a:r>
                      <a:r>
                        <a:rPr kumimoji="0" lang="en-US" altLang="en-US" dirty="0"/>
                        <a:t>15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37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7557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10200" y="564461"/>
            <a:ext cx="12009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dirty="0"/>
              <a:t>capacity </a:t>
            </a:r>
            <a:r>
              <a:rPr lang="en-US" altLang="en-US" i="1" dirty="0"/>
              <a:t>j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>
          <a:xfrm>
            <a:off x="8217876" y="5715000"/>
            <a:ext cx="609600" cy="521208"/>
          </a:xfrm>
        </p:spPr>
        <p:txBody>
          <a:bodyPr/>
          <a:lstStyle/>
          <a:p>
            <a:fld id="{D46B8EC2-79DC-4D91-A125-9987AE897EFA}" type="slidenum">
              <a:rPr lang="en-US" smtClean="0">
                <a:solidFill>
                  <a:schemeClr val="tx1"/>
                </a:solidFill>
              </a:rPr>
              <a:t>32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843F2B8-FD88-459C-B871-A7531F67953E}"/>
              </a:ext>
            </a:extLst>
          </p:cNvPr>
          <p:cNvSpPr txBox="1">
            <a:spLocks noChangeArrowheads="1"/>
          </p:cNvSpPr>
          <p:nvPr/>
        </p:nvSpPr>
        <p:spPr>
          <a:xfrm>
            <a:off x="167299" y="23446"/>
            <a:ext cx="7467600" cy="3935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2400"/>
              <a:t>Knapsack Problem by DP (example)</a:t>
            </a:r>
            <a:endParaRPr lang="en-US" alt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167298" y="3417044"/>
            <a:ext cx="8671901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Ten-Roman"/>
              </a:rPr>
              <a:t>We can find the composition of an optimal subset by backtracking the computations of this entry in the table.</a:t>
            </a:r>
          </a:p>
          <a:p>
            <a:r>
              <a:rPr lang="en-US" dirty="0">
                <a:latin typeface="TimesTen-Roman"/>
              </a:rPr>
              <a:t> Since </a:t>
            </a:r>
            <a:r>
              <a:rPr lang="en-US" b="1" i="1" dirty="0">
                <a:solidFill>
                  <a:srgbClr val="FF0000"/>
                </a:solidFill>
                <a:latin typeface="MTMI"/>
              </a:rPr>
              <a:t>F(</a:t>
            </a:r>
            <a:r>
              <a:rPr lang="en-US" b="1" dirty="0">
                <a:solidFill>
                  <a:srgbClr val="FF0000"/>
                </a:solidFill>
                <a:latin typeface="TimesTen-Roman"/>
              </a:rPr>
              <a:t>4</a:t>
            </a:r>
            <a:r>
              <a:rPr lang="en-US" b="1" i="1" dirty="0">
                <a:solidFill>
                  <a:srgbClr val="FF0000"/>
                </a:solidFill>
                <a:latin typeface="MTMI"/>
              </a:rPr>
              <a:t>, </a:t>
            </a:r>
            <a:r>
              <a:rPr lang="en-US" b="1" dirty="0">
                <a:solidFill>
                  <a:srgbClr val="FF0000"/>
                </a:solidFill>
                <a:latin typeface="TimesTen-Roman"/>
              </a:rPr>
              <a:t>5</a:t>
            </a:r>
            <a:r>
              <a:rPr lang="en-US" b="1" i="1" dirty="0">
                <a:solidFill>
                  <a:srgbClr val="FF0000"/>
                </a:solidFill>
                <a:latin typeface="MTMI"/>
              </a:rPr>
              <a:t>) &gt; F(</a:t>
            </a:r>
            <a:r>
              <a:rPr lang="en-US" b="1" dirty="0">
                <a:solidFill>
                  <a:srgbClr val="FF0000"/>
                </a:solidFill>
                <a:latin typeface="TimesTen-Roman"/>
              </a:rPr>
              <a:t>3</a:t>
            </a:r>
            <a:r>
              <a:rPr lang="en-US" b="1" i="1" dirty="0">
                <a:solidFill>
                  <a:srgbClr val="FF0000"/>
                </a:solidFill>
                <a:latin typeface="MTMI"/>
              </a:rPr>
              <a:t>, </a:t>
            </a:r>
            <a:r>
              <a:rPr lang="en-US" b="1" dirty="0">
                <a:solidFill>
                  <a:srgbClr val="FF0000"/>
                </a:solidFill>
                <a:latin typeface="TimesTen-Roman"/>
              </a:rPr>
              <a:t>5</a:t>
            </a:r>
            <a:r>
              <a:rPr lang="en-US" b="1" i="1" dirty="0">
                <a:solidFill>
                  <a:srgbClr val="FF0000"/>
                </a:solidFill>
                <a:latin typeface="MTMI"/>
              </a:rPr>
              <a:t>), </a:t>
            </a:r>
            <a:r>
              <a:rPr lang="en-US" dirty="0">
                <a:latin typeface="TimesTen-Roman"/>
              </a:rPr>
              <a:t>item 4 has to be included in an optimal solution along with an optimal subset for filling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TimesTen-Roman"/>
              </a:rPr>
              <a:t>5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MTSYN"/>
              </a:rPr>
              <a:t>−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TimesTen-Roman"/>
              </a:rPr>
              <a:t>2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MTSYN"/>
              </a:rPr>
              <a:t>=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TimesTen-Roman"/>
              </a:rPr>
              <a:t>3 </a:t>
            </a:r>
            <a:r>
              <a:rPr lang="en-US" dirty="0">
                <a:latin typeface="TimesTen-Roman"/>
              </a:rPr>
              <a:t>remaining units of the knapsack capacity.</a:t>
            </a:r>
          </a:p>
          <a:p>
            <a:r>
              <a:rPr lang="en-US" dirty="0">
                <a:latin typeface="TimesTen-Roman"/>
              </a:rPr>
              <a:t>The value of the latter is </a:t>
            </a:r>
            <a:r>
              <a:rPr lang="en-US" i="1" dirty="0">
                <a:latin typeface="MTMI"/>
              </a:rPr>
              <a:t>F(</a:t>
            </a:r>
            <a:r>
              <a:rPr lang="en-US" dirty="0">
                <a:latin typeface="TimesTen-Roman"/>
              </a:rPr>
              <a:t>3</a:t>
            </a:r>
            <a:r>
              <a:rPr lang="en-US" i="1" dirty="0">
                <a:latin typeface="MTMI"/>
              </a:rPr>
              <a:t>, </a:t>
            </a:r>
            <a:r>
              <a:rPr lang="en-US" dirty="0">
                <a:latin typeface="TimesTen-Roman"/>
              </a:rPr>
              <a:t>3</a:t>
            </a:r>
            <a:r>
              <a:rPr lang="en-US" i="1" dirty="0">
                <a:latin typeface="MTMI"/>
              </a:rPr>
              <a:t>). </a:t>
            </a:r>
          </a:p>
          <a:p>
            <a:r>
              <a:rPr lang="en-US" dirty="0">
                <a:latin typeface="TimesTen-Roman"/>
              </a:rPr>
              <a:t>Since </a:t>
            </a:r>
            <a:r>
              <a:rPr lang="en-US" b="1" i="1" dirty="0">
                <a:solidFill>
                  <a:srgbClr val="FF0000"/>
                </a:solidFill>
                <a:latin typeface="MTMI"/>
              </a:rPr>
              <a:t>F(</a:t>
            </a:r>
            <a:r>
              <a:rPr lang="en-US" b="1" dirty="0">
                <a:solidFill>
                  <a:srgbClr val="FF0000"/>
                </a:solidFill>
                <a:latin typeface="TimesTen-Roman"/>
              </a:rPr>
              <a:t>3</a:t>
            </a:r>
            <a:r>
              <a:rPr lang="en-US" b="1" i="1" dirty="0">
                <a:solidFill>
                  <a:srgbClr val="FF0000"/>
                </a:solidFill>
                <a:latin typeface="MTMI"/>
              </a:rPr>
              <a:t>, </a:t>
            </a:r>
            <a:r>
              <a:rPr lang="en-US" b="1" dirty="0">
                <a:solidFill>
                  <a:srgbClr val="FF0000"/>
                </a:solidFill>
                <a:latin typeface="TimesTen-Roman"/>
              </a:rPr>
              <a:t>3</a:t>
            </a:r>
            <a:r>
              <a:rPr lang="en-US" b="1" i="1" dirty="0">
                <a:solidFill>
                  <a:srgbClr val="FF0000"/>
                </a:solidFill>
                <a:latin typeface="MTMI"/>
              </a:rPr>
              <a:t>) </a:t>
            </a:r>
            <a:r>
              <a:rPr lang="en-US" b="1" dirty="0">
                <a:solidFill>
                  <a:srgbClr val="FF0000"/>
                </a:solidFill>
                <a:latin typeface="MTSYN"/>
              </a:rPr>
              <a:t>= </a:t>
            </a:r>
            <a:r>
              <a:rPr lang="en-US" b="1" i="1" dirty="0">
                <a:solidFill>
                  <a:srgbClr val="FF0000"/>
                </a:solidFill>
                <a:latin typeface="MTMI"/>
              </a:rPr>
              <a:t>F(</a:t>
            </a:r>
            <a:r>
              <a:rPr lang="en-US" b="1" dirty="0">
                <a:solidFill>
                  <a:srgbClr val="FF0000"/>
                </a:solidFill>
                <a:latin typeface="TimesTen-Roman"/>
              </a:rPr>
              <a:t>2</a:t>
            </a:r>
            <a:r>
              <a:rPr lang="en-US" b="1" i="1" dirty="0">
                <a:solidFill>
                  <a:srgbClr val="FF0000"/>
                </a:solidFill>
                <a:latin typeface="MTMI"/>
              </a:rPr>
              <a:t>, </a:t>
            </a:r>
            <a:r>
              <a:rPr lang="en-US" b="1" dirty="0">
                <a:solidFill>
                  <a:srgbClr val="FF0000"/>
                </a:solidFill>
                <a:latin typeface="TimesTen-Roman"/>
              </a:rPr>
              <a:t>3</a:t>
            </a:r>
            <a:r>
              <a:rPr lang="en-US" b="1" i="1" dirty="0">
                <a:solidFill>
                  <a:srgbClr val="FF0000"/>
                </a:solidFill>
                <a:latin typeface="MTMI"/>
              </a:rPr>
              <a:t>), </a:t>
            </a:r>
            <a:r>
              <a:rPr lang="en-US" dirty="0">
                <a:latin typeface="TimesTen-Roman"/>
              </a:rPr>
              <a:t>item 3 need not be in an optimal subset. </a:t>
            </a:r>
          </a:p>
          <a:p>
            <a:r>
              <a:rPr lang="en-US" dirty="0">
                <a:latin typeface="TimesTen-Roman"/>
              </a:rPr>
              <a:t>Since </a:t>
            </a:r>
            <a:r>
              <a:rPr lang="en-US" b="1" i="1" dirty="0">
                <a:solidFill>
                  <a:srgbClr val="FF0000"/>
                </a:solidFill>
                <a:latin typeface="MTMI"/>
              </a:rPr>
              <a:t>F(</a:t>
            </a:r>
            <a:r>
              <a:rPr lang="en-US" b="1" dirty="0">
                <a:solidFill>
                  <a:srgbClr val="FF0000"/>
                </a:solidFill>
                <a:latin typeface="TimesTen-Roman"/>
              </a:rPr>
              <a:t>2</a:t>
            </a:r>
            <a:r>
              <a:rPr lang="en-US" b="1" i="1" dirty="0">
                <a:solidFill>
                  <a:srgbClr val="FF0000"/>
                </a:solidFill>
                <a:latin typeface="MTMI"/>
              </a:rPr>
              <a:t>, </a:t>
            </a:r>
            <a:r>
              <a:rPr lang="en-US" b="1" dirty="0">
                <a:solidFill>
                  <a:srgbClr val="FF0000"/>
                </a:solidFill>
                <a:latin typeface="TimesTen-Roman"/>
              </a:rPr>
              <a:t>3</a:t>
            </a:r>
            <a:r>
              <a:rPr lang="en-US" b="1" i="1" dirty="0">
                <a:solidFill>
                  <a:srgbClr val="FF0000"/>
                </a:solidFill>
                <a:latin typeface="MTMI"/>
              </a:rPr>
              <a:t>) &gt; F(</a:t>
            </a:r>
            <a:r>
              <a:rPr lang="en-US" b="1" dirty="0">
                <a:solidFill>
                  <a:srgbClr val="FF0000"/>
                </a:solidFill>
                <a:latin typeface="TimesTen-Roman"/>
              </a:rPr>
              <a:t>1</a:t>
            </a:r>
            <a:r>
              <a:rPr lang="en-US" b="1" i="1" dirty="0">
                <a:solidFill>
                  <a:srgbClr val="FF0000"/>
                </a:solidFill>
                <a:latin typeface="MTMI"/>
              </a:rPr>
              <a:t>, </a:t>
            </a:r>
            <a:r>
              <a:rPr lang="en-US" b="1" dirty="0">
                <a:solidFill>
                  <a:srgbClr val="FF0000"/>
                </a:solidFill>
                <a:latin typeface="TimesTen-Roman"/>
              </a:rPr>
              <a:t>3</a:t>
            </a:r>
            <a:r>
              <a:rPr lang="en-US" b="1" i="1" dirty="0">
                <a:solidFill>
                  <a:srgbClr val="FF0000"/>
                </a:solidFill>
                <a:latin typeface="MTMI"/>
              </a:rPr>
              <a:t>), </a:t>
            </a:r>
            <a:r>
              <a:rPr lang="en-US" dirty="0">
                <a:latin typeface="TimesTen-Roman"/>
              </a:rPr>
              <a:t>item 2 is a part of an optimal selection,</a:t>
            </a:r>
          </a:p>
          <a:p>
            <a:r>
              <a:rPr lang="en-US" dirty="0">
                <a:latin typeface="TimesTen-Roman"/>
              </a:rPr>
              <a:t>which leaves element </a:t>
            </a:r>
            <a:r>
              <a:rPr lang="en-US" i="1" dirty="0">
                <a:latin typeface="MTMI"/>
              </a:rPr>
              <a:t>F(</a:t>
            </a:r>
            <a:r>
              <a:rPr lang="en-US" dirty="0">
                <a:latin typeface="TimesTen-Roman"/>
              </a:rPr>
              <a:t>1</a:t>
            </a:r>
            <a:r>
              <a:rPr lang="en-US" i="1" dirty="0">
                <a:latin typeface="MTMI"/>
              </a:rPr>
              <a:t>, </a:t>
            </a:r>
            <a:r>
              <a:rPr lang="en-US" dirty="0">
                <a:latin typeface="TimesTen-Roman"/>
              </a:rPr>
              <a:t>3 </a:t>
            </a:r>
            <a:r>
              <a:rPr lang="en-US" dirty="0">
                <a:latin typeface="MTSYN"/>
              </a:rPr>
              <a:t>− </a:t>
            </a:r>
            <a:r>
              <a:rPr lang="en-US" dirty="0">
                <a:latin typeface="TimesTen-Roman"/>
              </a:rPr>
              <a:t>1</a:t>
            </a:r>
            <a:r>
              <a:rPr lang="en-US" i="1" dirty="0">
                <a:latin typeface="MTMI"/>
              </a:rPr>
              <a:t>) </a:t>
            </a:r>
            <a:r>
              <a:rPr lang="en-US" dirty="0">
                <a:latin typeface="TimesTen-Roman"/>
              </a:rPr>
              <a:t>to specify its remaining composition. </a:t>
            </a:r>
          </a:p>
          <a:p>
            <a:r>
              <a:rPr lang="en-US" dirty="0">
                <a:latin typeface="TimesTen-Roman"/>
              </a:rPr>
              <a:t>Similarly,</a:t>
            </a:r>
          </a:p>
          <a:p>
            <a:r>
              <a:rPr lang="en-US" dirty="0">
                <a:latin typeface="TimesTen-Roman"/>
              </a:rPr>
              <a:t>since </a:t>
            </a:r>
            <a:r>
              <a:rPr lang="en-US" b="1" i="1" dirty="0">
                <a:solidFill>
                  <a:srgbClr val="FF0000"/>
                </a:solidFill>
                <a:latin typeface="MTMI"/>
              </a:rPr>
              <a:t>F(</a:t>
            </a:r>
            <a:r>
              <a:rPr lang="en-US" b="1" dirty="0">
                <a:solidFill>
                  <a:srgbClr val="FF0000"/>
                </a:solidFill>
                <a:latin typeface="TimesTen-Roman"/>
              </a:rPr>
              <a:t>1</a:t>
            </a:r>
            <a:r>
              <a:rPr lang="en-US" b="1" i="1" dirty="0">
                <a:solidFill>
                  <a:srgbClr val="FF0000"/>
                </a:solidFill>
                <a:latin typeface="MTMI"/>
              </a:rPr>
              <a:t>, </a:t>
            </a:r>
            <a:r>
              <a:rPr lang="en-US" b="1" dirty="0">
                <a:solidFill>
                  <a:srgbClr val="FF0000"/>
                </a:solidFill>
                <a:latin typeface="TimesTen-Roman"/>
              </a:rPr>
              <a:t>2</a:t>
            </a:r>
            <a:r>
              <a:rPr lang="en-US" b="1" i="1" dirty="0">
                <a:solidFill>
                  <a:srgbClr val="FF0000"/>
                </a:solidFill>
                <a:latin typeface="MTMI"/>
              </a:rPr>
              <a:t>) &gt; F(</a:t>
            </a:r>
            <a:r>
              <a:rPr lang="en-US" b="1" dirty="0">
                <a:solidFill>
                  <a:srgbClr val="FF0000"/>
                </a:solidFill>
                <a:latin typeface="TimesTen-Roman"/>
              </a:rPr>
              <a:t>0</a:t>
            </a:r>
            <a:r>
              <a:rPr lang="en-US" b="1" i="1" dirty="0">
                <a:solidFill>
                  <a:srgbClr val="FF0000"/>
                </a:solidFill>
                <a:latin typeface="MTMI"/>
              </a:rPr>
              <a:t>, </a:t>
            </a:r>
            <a:r>
              <a:rPr lang="en-US" b="1" dirty="0">
                <a:solidFill>
                  <a:srgbClr val="FF0000"/>
                </a:solidFill>
                <a:latin typeface="TimesTen-Roman"/>
              </a:rPr>
              <a:t>2</a:t>
            </a:r>
            <a:r>
              <a:rPr lang="en-US" b="1" i="1" dirty="0">
                <a:solidFill>
                  <a:srgbClr val="FF0000"/>
                </a:solidFill>
                <a:latin typeface="MTMI"/>
              </a:rPr>
              <a:t>), </a:t>
            </a:r>
            <a:r>
              <a:rPr lang="en-US" dirty="0">
                <a:latin typeface="TimesTen-Roman"/>
              </a:rPr>
              <a:t>item 1 is the final part of the optimal solution </a:t>
            </a:r>
          </a:p>
          <a:p>
            <a:r>
              <a:rPr lang="en-US" sz="2800" dirty="0">
                <a:solidFill>
                  <a:srgbClr val="008000"/>
                </a:solidFill>
                <a:latin typeface="TimesTen-Roman"/>
              </a:rPr>
              <a:t>{item 1, item 2, item 4}</a:t>
            </a:r>
            <a:endParaRPr lang="en-US" sz="2800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20535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 pitchFamily="2" charset="2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CD36D664-EE44-4DE0-B666-11F1F850D48A}" type="slidenum">
              <a:rPr kumimoji="0" lang="en-US" altLang="en-US" sz="1400" b="0" smtClean="0">
                <a:solidFill>
                  <a:schemeClr val="tx1"/>
                </a:solidFill>
                <a:latin typeface="Arial Narrow" panose="020B0606020202030204" pitchFamily="34" charset="0"/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33</a:t>
            </a:fld>
            <a:endParaRPr kumimoji="0" lang="en-US" altLang="en-US" sz="1400" b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418818" name="Rectangle 2">
            <a:extLst>
              <a:ext uri="{FF2B5EF4-FFF2-40B4-BE49-F238E27FC236}">
                <a16:creationId xmlns:a16="http://schemas.microsoft.com/office/drawing/2014/main" id="{6163DC8B-92E3-4BD3-9017-A7F839D5A05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7585"/>
            <a:ext cx="8738616" cy="744415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en-US" altLang="en-US" sz="3600" b="1" dirty="0"/>
              <a:t>Knapsack Problem</a:t>
            </a:r>
          </a:p>
        </p:txBody>
      </p:sp>
      <p:sp>
        <p:nvSpPr>
          <p:cNvPr id="418819" name="Rectangle 3">
            <a:extLst>
              <a:ext uri="{FF2B5EF4-FFF2-40B4-BE49-F238E27FC236}">
                <a16:creationId xmlns:a16="http://schemas.microsoft.com/office/drawing/2014/main" id="{818DDDD9-E946-4442-9889-6A0B535312E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066800"/>
            <a:ext cx="8610600" cy="5791200"/>
          </a:xfrm>
        </p:spPr>
        <p:txBody>
          <a:bodyPr/>
          <a:lstStyle/>
          <a:p>
            <a:pPr marL="0" indent="0">
              <a:buFont typeface="Monotype Sorts" pitchFamily="2" charset="2"/>
              <a:buNone/>
              <a:defRPr/>
            </a:pPr>
            <a:endParaRPr lang="en-US" altLang="en-US" dirty="0"/>
          </a:p>
          <a:p>
            <a:pPr marL="0" indent="0">
              <a:buFont typeface="Monotype Sorts" pitchFamily="2" charset="2"/>
              <a:buNone/>
              <a:defRPr/>
            </a:pPr>
            <a:endParaRPr lang="en-US" altLang="en-US" dirty="0"/>
          </a:p>
        </p:txBody>
      </p:sp>
      <p:sp>
        <p:nvSpPr>
          <p:cNvPr id="4" name="Rectangle 3"/>
          <p:cNvSpPr/>
          <p:nvPr/>
        </p:nvSpPr>
        <p:spPr>
          <a:xfrm>
            <a:off x="243254" y="1055077"/>
            <a:ext cx="849536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time efficiency and space efficiency of this algorithm are both in </a:t>
            </a:r>
            <a:r>
              <a:rPr lang="az-Cyrl-A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Ѳ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nW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time needed to find the composition of an optimal solution is in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725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 pitchFamily="2" charset="2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CD36D664-EE44-4DE0-B666-11F1F850D48A}" type="slidenum">
              <a:rPr kumimoji="0" lang="en-US" altLang="en-US" sz="1400" b="0" smtClean="0">
                <a:solidFill>
                  <a:schemeClr val="tx1"/>
                </a:solidFill>
                <a:latin typeface="Arial Narrow" panose="020B0606020202030204" pitchFamily="34" charset="0"/>
              </a:rPr>
              <a:pPr>
                <a:spcBef>
                  <a:spcPct val="50000"/>
                </a:spcBef>
                <a:buClrTx/>
                <a:buSzTx/>
                <a:buFontTx/>
                <a:buNone/>
              </a:pPr>
              <a:t>34</a:t>
            </a:fld>
            <a:endParaRPr kumimoji="0" lang="en-US" altLang="en-US" sz="1400" b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418818" name="Rectangle 2">
            <a:extLst>
              <a:ext uri="{FF2B5EF4-FFF2-40B4-BE49-F238E27FC236}">
                <a16:creationId xmlns:a16="http://schemas.microsoft.com/office/drawing/2014/main" id="{6163DC8B-92E3-4BD3-9017-A7F839D5A05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7585"/>
            <a:ext cx="8738616" cy="744415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en-US" altLang="en-US" sz="3600" b="1" dirty="0"/>
              <a:t>Knapsack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243254" y="1055077"/>
            <a:ext cx="455734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#8 (Dynamic Programming)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Knapsack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(8.2)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# 292 – 297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Design and Analysis of Algorithms 3rd Edition,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2800" dirty="0" err="1"/>
              <a:t>Anany</a:t>
            </a:r>
            <a:r>
              <a:rPr lang="en-US" sz="2800" dirty="0"/>
              <a:t> Levitin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762000"/>
            <a:ext cx="3857625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6882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2653</TotalTime>
  <Words>3480</Words>
  <Application>Microsoft Office PowerPoint</Application>
  <PresentationFormat>On-screen Show (4:3)</PresentationFormat>
  <Paragraphs>1370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6" baseType="lpstr">
      <vt:lpstr>Arial</vt:lpstr>
      <vt:lpstr>Arial Narrow</vt:lpstr>
      <vt:lpstr>Calibri</vt:lpstr>
      <vt:lpstr>Century Schoolbook</vt:lpstr>
      <vt:lpstr>Monotype Sorts</vt:lpstr>
      <vt:lpstr>MTMI</vt:lpstr>
      <vt:lpstr>MTSYN</vt:lpstr>
      <vt:lpstr>Times New Roman</vt:lpstr>
      <vt:lpstr>TimesTen-Roman</vt:lpstr>
      <vt:lpstr>Wingdings</vt:lpstr>
      <vt:lpstr>Wingdings 2</vt:lpstr>
      <vt:lpstr>Oriel</vt:lpstr>
      <vt:lpstr>Dynamic Programming</vt:lpstr>
      <vt:lpstr>Knapsack Problem</vt:lpstr>
      <vt:lpstr>Knapsack Problem (Brute Force)</vt:lpstr>
      <vt:lpstr>Knapsack Problem by DP (example)</vt:lpstr>
      <vt:lpstr>Knapsack Problem by DP (example)</vt:lpstr>
      <vt:lpstr>Knapsack Problem by DP (example)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Knapsack Problem</vt:lpstr>
      <vt:lpstr>Knapsack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Knapsack Problem</vt:lpstr>
      <vt:lpstr>Knapsack Problem</vt:lpstr>
      <vt:lpstr>PowerPoint Presentation</vt:lpstr>
      <vt:lpstr>PowerPoint Presentation</vt:lpstr>
      <vt:lpstr>Knapsack Problem</vt:lpstr>
      <vt:lpstr>Knapsack 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Programming</dc:title>
  <dc:creator>admin</dc:creator>
  <cp:lastModifiedBy>Noor ul Ain</cp:lastModifiedBy>
  <cp:revision>167</cp:revision>
  <dcterms:created xsi:type="dcterms:W3CDTF">2020-04-05T17:03:17Z</dcterms:created>
  <dcterms:modified xsi:type="dcterms:W3CDTF">2025-11-26T06:19:31Z</dcterms:modified>
</cp:coreProperties>
</file>