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86" r:id="rId2"/>
    <p:sldId id="495" r:id="rId3"/>
    <p:sldId id="496" r:id="rId4"/>
    <p:sldId id="497" r:id="rId5"/>
    <p:sldId id="499" r:id="rId6"/>
    <p:sldId id="552" r:id="rId7"/>
    <p:sldId id="514" r:id="rId8"/>
    <p:sldId id="500" r:id="rId9"/>
    <p:sldId id="515" r:id="rId10"/>
    <p:sldId id="516" r:id="rId11"/>
    <p:sldId id="517" r:id="rId12"/>
    <p:sldId id="519" r:id="rId13"/>
    <p:sldId id="521" r:id="rId14"/>
    <p:sldId id="518" r:id="rId15"/>
    <p:sldId id="520" r:id="rId16"/>
    <p:sldId id="501" r:id="rId17"/>
    <p:sldId id="502" r:id="rId18"/>
    <p:sldId id="523" r:id="rId19"/>
    <p:sldId id="503" r:id="rId20"/>
    <p:sldId id="524" r:id="rId21"/>
    <p:sldId id="525" r:id="rId22"/>
    <p:sldId id="526" r:id="rId23"/>
    <p:sldId id="528" r:id="rId24"/>
    <p:sldId id="527" r:id="rId25"/>
    <p:sldId id="529" r:id="rId26"/>
    <p:sldId id="504" r:id="rId27"/>
    <p:sldId id="505" r:id="rId28"/>
    <p:sldId id="506" r:id="rId29"/>
    <p:sldId id="507" r:id="rId30"/>
    <p:sldId id="508" r:id="rId31"/>
    <p:sldId id="509" r:id="rId32"/>
    <p:sldId id="510" r:id="rId33"/>
    <p:sldId id="511" r:id="rId34"/>
    <p:sldId id="530" r:id="rId35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C0128"/>
    <a:srgbClr val="FFFFCC"/>
    <a:srgbClr val="FFFF99"/>
    <a:srgbClr val="99FF99"/>
    <a:srgbClr val="99CCFF"/>
    <a:srgbClr val="FFFF00"/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67" autoAdjust="0"/>
    <p:restoredTop sz="83126" autoAdjust="0"/>
  </p:normalViewPr>
  <p:slideViewPr>
    <p:cSldViewPr>
      <p:cViewPr varScale="1">
        <p:scale>
          <a:sx n="61" d="100"/>
          <a:sy n="61" d="100"/>
        </p:scale>
        <p:origin x="1746" y="66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3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7347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6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84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646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09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22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607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75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964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591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754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37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7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/>
              <a:t>   Design and Analysis of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200" dirty="0" smtClean="0"/>
              <a:t>Recurrence </a:t>
            </a:r>
            <a:r>
              <a:rPr lang="en-US" altLang="en-US" sz="3200" dirty="0"/>
              <a:t>Relation</a:t>
            </a:r>
          </a:p>
          <a:p>
            <a:pPr>
              <a:lnSpc>
                <a:spcPct val="80000"/>
              </a:lnSpc>
            </a:pPr>
            <a:endParaRPr lang="en-US" altLang="en-US" sz="3200" dirty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National University of Computer and Emerging Sciences, Islamabad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Recurrences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expression: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is a </a:t>
            </a:r>
            <a:r>
              <a:rPr lang="en-US" altLang="en-US" i="1">
                <a:solidFill>
                  <a:schemeClr val="tx2"/>
                </a:solidFill>
              </a:rPr>
              <a:t>recurrence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Recurrence: an equation that describes a function in terms of its value on smaller functions</a:t>
            </a:r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1676400" y="1676400"/>
          <a:ext cx="419100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7" name="Equation" r:id="rId3" imgW="1675673" imgH="863225" progId="Equation.3">
                  <p:embed/>
                </p:oleObj>
              </mc:Choice>
              <mc:Fallback>
                <p:oleObj name="Equation" r:id="rId3" imgW="1675673" imgH="863225" progId="Equation.3">
                  <p:embed/>
                  <p:pic>
                    <p:nvPicPr>
                      <p:cNvPr id="3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76400"/>
                        <a:ext cx="4191000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6590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Recurrence Examples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52400" y="1905000"/>
          <a:ext cx="40227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2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905000"/>
                        <a:ext cx="4022725" cy="1141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4965700" y="1905000"/>
          <a:ext cx="406717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3" name="Equation" r:id="rId5" imgW="1625600" imgH="457200" progId="Equation.3">
                  <p:embed/>
                </p:oleObj>
              </mc:Choice>
              <mc:Fallback>
                <p:oleObj name="Equation" r:id="rId5" imgW="1625600" imgH="457200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1905000"/>
                        <a:ext cx="4067175" cy="11445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76200" y="3657600"/>
          <a:ext cx="4648200" cy="258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4" name="Equation" r:id="rId7" imgW="1600200" imgH="863600" progId="Equation.3">
                  <p:embed/>
                </p:oleObj>
              </mc:Choice>
              <mc:Fallback>
                <p:oleObj name="Equation" r:id="rId7" imgW="1600200" imgH="863600" progId="Equation.3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657600"/>
                        <a:ext cx="4648200" cy="2589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4953000" y="3657600"/>
          <a:ext cx="4114800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5" name="Equation" r:id="rId9" imgW="1688367" imgH="1040948" progId="Equation.3">
                  <p:embed/>
                </p:oleObj>
              </mc:Choice>
              <mc:Fallback>
                <p:oleObj name="Equation" r:id="rId9" imgW="1688367" imgH="1040948" progId="Equation.3">
                  <p:embed/>
                  <p:pic>
                    <p:nvPicPr>
                      <p:cNvPr id="41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657600"/>
                        <a:ext cx="4114800" cy="26098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110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Methods to solve recurrence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Iteration method</a:t>
            </a:r>
          </a:p>
          <a:p>
            <a:r>
              <a:rPr lang="en-US" altLang="en-US" dirty="0"/>
              <a:t>Substitution method</a:t>
            </a:r>
          </a:p>
          <a:p>
            <a:r>
              <a:rPr lang="en-US" altLang="en-US" dirty="0"/>
              <a:t>Recursion tree method</a:t>
            </a:r>
          </a:p>
          <a:p>
            <a:r>
              <a:rPr lang="en-US" altLang="en-US" dirty="0"/>
              <a:t>Master Theorem</a:t>
            </a:r>
          </a:p>
        </p:txBody>
      </p:sp>
    </p:spTree>
    <p:extLst>
      <p:ext uri="{BB962C8B-B14F-4D97-AF65-F5344CB8AC3E}">
        <p14:creationId xmlns:p14="http://schemas.microsoft.com/office/powerpoint/2010/main" val="277755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143000"/>
            <a:ext cx="7772400" cy="685800"/>
          </a:xfrm>
        </p:spPr>
        <p:txBody>
          <a:bodyPr/>
          <a:lstStyle/>
          <a:p>
            <a:r>
              <a:rPr lang="en-US" altLang="en-US" dirty="0"/>
              <a:t>Solving Recurrences</a:t>
            </a:r>
            <a:br>
              <a:rPr lang="en-US" altLang="en-US" dirty="0"/>
            </a:br>
            <a:r>
              <a:rPr lang="en-US" altLang="en-US" dirty="0"/>
              <a:t> “iteration method”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848600" cy="4343400"/>
          </a:xfrm>
        </p:spPr>
        <p:txBody>
          <a:bodyPr/>
          <a:lstStyle/>
          <a:p>
            <a:pPr lvl="1"/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Work some algebra to express as a summation</a:t>
            </a:r>
          </a:p>
          <a:p>
            <a:pPr lvl="1"/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Evaluate the summation</a:t>
            </a:r>
          </a:p>
        </p:txBody>
      </p:sp>
    </p:spTree>
    <p:extLst>
      <p:ext uri="{BB962C8B-B14F-4D97-AF65-F5344CB8AC3E}">
        <p14:creationId xmlns:p14="http://schemas.microsoft.com/office/powerpoint/2010/main" val="257215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0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9744" y="2656185"/>
            <a:ext cx="283945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 = c + s(n-3)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57300" y="1356320"/>
            <a:ext cx="7409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s(4)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5941" y="2161828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825777" y="2144711"/>
            <a:ext cx="6639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s(3)</a:t>
            </a:r>
            <a:endParaRPr lang="en-US" dirty="0"/>
          </a:p>
        </p:txBody>
      </p:sp>
      <p:cxnSp>
        <p:nvCxnSpPr>
          <p:cNvPr id="9" name="Straight Connector 8"/>
          <p:cNvCxnSpPr>
            <a:stCxn id="3" idx="2"/>
          </p:cNvCxnSpPr>
          <p:nvPr/>
        </p:nvCxnSpPr>
        <p:spPr bwMode="auto">
          <a:xfrm flipH="1">
            <a:off x="926402" y="1817985"/>
            <a:ext cx="701352" cy="46166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3" idx="2"/>
            <a:endCxn id="7" idx="0"/>
          </p:cNvCxnSpPr>
          <p:nvPr/>
        </p:nvCxnSpPr>
        <p:spPr bwMode="auto">
          <a:xfrm>
            <a:off x="1627754" y="1817985"/>
            <a:ext cx="530005" cy="32672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1362925" y="2899867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c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 bwMode="auto">
          <a:xfrm flipH="1">
            <a:off x="1523386" y="2556024"/>
            <a:ext cx="701352" cy="46166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20" idx="0"/>
          </p:cNvCxnSpPr>
          <p:nvPr/>
        </p:nvCxnSpPr>
        <p:spPr bwMode="auto">
          <a:xfrm>
            <a:off x="2224738" y="2556024"/>
            <a:ext cx="513029" cy="4178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2405785" y="2973869"/>
            <a:ext cx="6639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s(2)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942933" y="3729025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c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733713" y="4516606"/>
            <a:ext cx="6639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s(0)</a:t>
            </a:r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 bwMode="auto">
          <a:xfrm flipH="1">
            <a:off x="2103394" y="3385182"/>
            <a:ext cx="701352" cy="46166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22" idx="0"/>
          </p:cNvCxnSpPr>
          <p:nvPr/>
        </p:nvCxnSpPr>
        <p:spPr bwMode="auto">
          <a:xfrm>
            <a:off x="3535690" y="4189880"/>
            <a:ext cx="530005" cy="32672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2415290" y="4525360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c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069749" y="3719852"/>
            <a:ext cx="6639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s(1)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 bwMode="auto">
          <a:xfrm flipH="1">
            <a:off x="2575751" y="4181517"/>
            <a:ext cx="701352" cy="46166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2804747" y="3414330"/>
            <a:ext cx="530005" cy="32672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>
            <a:off x="1086863" y="5334000"/>
            <a:ext cx="3533747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Left Bracket 38"/>
          <p:cNvSpPr/>
          <p:nvPr/>
        </p:nvSpPr>
        <p:spPr bwMode="auto">
          <a:xfrm>
            <a:off x="302336" y="2266512"/>
            <a:ext cx="545402" cy="3054350"/>
          </a:xfrm>
          <a:prstGeom prst="leftBracke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278391" y="5334000"/>
            <a:ext cx="130035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=4c+s(0)</a:t>
            </a:r>
          </a:p>
          <a:p>
            <a:r>
              <a:rPr lang="en-US" dirty="0"/>
              <a:t>=4c+0</a:t>
            </a:r>
          </a:p>
          <a:p>
            <a:r>
              <a:rPr lang="en-US" dirty="0"/>
              <a:t>=4c</a:t>
            </a:r>
          </a:p>
          <a:p>
            <a:r>
              <a:rPr lang="en-US" dirty="0"/>
              <a:t>=</a:t>
            </a:r>
            <a:r>
              <a:rPr lang="en-US" dirty="0" err="1"/>
              <a:t>nc</a:t>
            </a:r>
            <a:r>
              <a:rPr lang="en-US" dirty="0"/>
              <a:t>   = 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67504" y="5915208"/>
            <a:ext cx="665567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en-US" dirty="0"/>
              <a:t>n=4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08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s(4)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s(4-1) </a:t>
            </a:r>
          </a:p>
          <a:p>
            <a:pPr>
              <a:buFontTx/>
              <a:buNone/>
            </a:pPr>
            <a:r>
              <a:rPr lang="en-US" altLang="en-US" dirty="0"/>
              <a:t>	c + </a:t>
            </a:r>
            <a:r>
              <a:rPr lang="en-US" altLang="en-US" dirty="0">
                <a:solidFill>
                  <a:srgbClr val="FF0000"/>
                </a:solidFill>
              </a:rPr>
              <a:t>c + s(4-2)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s(4-2)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c + s(4-3)</a:t>
            </a:r>
          </a:p>
          <a:p>
            <a:pPr>
              <a:buFontTx/>
              <a:buNone/>
            </a:pPr>
            <a:r>
              <a:rPr lang="en-US" altLang="en-US" dirty="0"/>
              <a:t>	3c + s(4-3)</a:t>
            </a:r>
          </a:p>
          <a:p>
            <a:pPr>
              <a:buNone/>
            </a:pPr>
            <a:r>
              <a:rPr lang="en-US" altLang="en-US" dirty="0"/>
              <a:t>   4c + s(4-4)</a:t>
            </a:r>
          </a:p>
          <a:p>
            <a:pPr>
              <a:buFontTx/>
              <a:buNone/>
            </a:pPr>
            <a:r>
              <a:rPr lang="en-US" altLang="en-US" dirty="0"/>
              <a:t>    = 4c + s(0)</a:t>
            </a:r>
          </a:p>
          <a:p>
            <a:pPr>
              <a:buFontTx/>
              <a:buNone/>
            </a:pPr>
            <a:r>
              <a:rPr lang="en-US" altLang="en-US" dirty="0"/>
              <a:t>=4c+0   [Stops here]</a:t>
            </a:r>
          </a:p>
          <a:p>
            <a:pPr>
              <a:buFontTx/>
              <a:buNone/>
            </a:pPr>
            <a:r>
              <a:rPr lang="en-US" altLang="en-US" dirty="0"/>
              <a:t>=</a:t>
            </a:r>
            <a:r>
              <a:rPr lang="en-US" altLang="en-US" dirty="0" err="1"/>
              <a:t>nc</a:t>
            </a:r>
            <a:endParaRPr lang="en-US" altLang="en-US" dirty="0"/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1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9744" y="2656185"/>
            <a:ext cx="283945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 = c + s(n-3)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91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s(n)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s(n-1)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  <p:extLst>
              <p:ext uri="{D42A27DB-BD31-4B8C-83A1-F6EECF244321}">
                <p14:modId xmlns:p14="http://schemas.microsoft.com/office/powerpoint/2010/main" val="4176716560"/>
              </p:ext>
            </p:extLst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6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80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s(n)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s(n-1)</a:t>
            </a:r>
          </a:p>
          <a:p>
            <a:pPr>
              <a:buFontTx/>
              <a:buNone/>
            </a:pPr>
            <a:r>
              <a:rPr lang="en-US" altLang="en-US" dirty="0"/>
              <a:t>	c + </a:t>
            </a:r>
            <a:r>
              <a:rPr lang="en-US" altLang="en-US" dirty="0">
                <a:solidFill>
                  <a:srgbClr val="FF0000"/>
                </a:solidFill>
              </a:rPr>
              <a:t>c + s(n-2)</a:t>
            </a:r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5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80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s(n)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s(n-1)</a:t>
            </a:r>
          </a:p>
          <a:p>
            <a:pPr>
              <a:buFontTx/>
              <a:buNone/>
            </a:pPr>
            <a:r>
              <a:rPr lang="en-US" altLang="en-US" dirty="0"/>
              <a:t>	c + </a:t>
            </a:r>
            <a:r>
              <a:rPr lang="en-US" altLang="en-US" dirty="0">
                <a:solidFill>
                  <a:srgbClr val="FF0000"/>
                </a:solidFill>
              </a:rPr>
              <a:t>c + s(n-2)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9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9744" y="2656185"/>
            <a:ext cx="283945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 = c + s(n-3)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16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s(n)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s(n-1)</a:t>
            </a:r>
          </a:p>
          <a:p>
            <a:pPr>
              <a:buFontTx/>
              <a:buNone/>
            </a:pPr>
            <a:r>
              <a:rPr lang="en-US" altLang="en-US" dirty="0"/>
              <a:t>	c + </a:t>
            </a:r>
            <a:r>
              <a:rPr lang="en-US" altLang="en-US" dirty="0">
                <a:solidFill>
                  <a:srgbClr val="FF0000"/>
                </a:solidFill>
              </a:rPr>
              <a:t>c + s(n-2)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c + s(n-3)</a:t>
            </a:r>
          </a:p>
          <a:p>
            <a:pPr>
              <a:buFontTx/>
              <a:buNone/>
            </a:pPr>
            <a:endParaRPr lang="en-US" altLang="en-US" dirty="0"/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9744" y="2656185"/>
            <a:ext cx="283945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 = c + s(n-3)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2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s(n)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s(n-1)</a:t>
            </a:r>
          </a:p>
          <a:p>
            <a:pPr>
              <a:buFontTx/>
              <a:buNone/>
            </a:pPr>
            <a:r>
              <a:rPr lang="en-US" altLang="en-US" dirty="0"/>
              <a:t>	c + </a:t>
            </a:r>
            <a:r>
              <a:rPr lang="en-US" altLang="en-US" dirty="0">
                <a:solidFill>
                  <a:srgbClr val="FF0000"/>
                </a:solidFill>
              </a:rPr>
              <a:t>c + s(n-2)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c + s(n-3)</a:t>
            </a:r>
          </a:p>
          <a:p>
            <a:pPr>
              <a:buFontTx/>
              <a:buNone/>
            </a:pPr>
            <a:r>
              <a:rPr lang="en-US" altLang="en-US" dirty="0"/>
              <a:t>	3c + s(n-3)</a:t>
            </a:r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7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9744" y="2656185"/>
            <a:ext cx="283945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 = c + s(n-3)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24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s(n)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s(n-1)</a:t>
            </a:r>
          </a:p>
          <a:p>
            <a:pPr>
              <a:buFontTx/>
              <a:buNone/>
            </a:pPr>
            <a:r>
              <a:rPr lang="en-US" altLang="en-US" dirty="0"/>
              <a:t>	c + </a:t>
            </a:r>
            <a:r>
              <a:rPr lang="en-US" altLang="en-US" dirty="0">
                <a:solidFill>
                  <a:srgbClr val="FF0000"/>
                </a:solidFill>
              </a:rPr>
              <a:t>c + s(n-2)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c + s(n-3)</a:t>
            </a:r>
          </a:p>
          <a:p>
            <a:pPr>
              <a:buFontTx/>
              <a:buNone/>
            </a:pPr>
            <a:r>
              <a:rPr lang="en-US" altLang="en-US" dirty="0"/>
              <a:t>	3c + s(n-3)</a:t>
            </a:r>
          </a:p>
          <a:p>
            <a:pPr>
              <a:buFontTx/>
              <a:buNone/>
            </a:pPr>
            <a:r>
              <a:rPr lang="en-US" altLang="en-US" dirty="0"/>
              <a:t>	…</a:t>
            </a:r>
          </a:p>
          <a:p>
            <a:pPr>
              <a:buFontTx/>
              <a:buNone/>
            </a:pPr>
            <a:r>
              <a:rPr lang="en-US" altLang="en-US" dirty="0"/>
              <a:t>	kc + s(n-k) = </a:t>
            </a:r>
            <a:r>
              <a:rPr lang="en-US" altLang="en-US" dirty="0" err="1"/>
              <a:t>ck</a:t>
            </a:r>
            <a:r>
              <a:rPr lang="en-US" altLang="en-US" dirty="0"/>
              <a:t> + s(n-k)</a:t>
            </a:r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1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9744" y="2656185"/>
            <a:ext cx="283945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 = c + s(n-3)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676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s(n)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s(n-1)</a:t>
            </a:r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</a:p>
          <a:p>
            <a:pPr>
              <a:buFontTx/>
              <a:buNone/>
            </a:pPr>
            <a:r>
              <a:rPr lang="en-US" altLang="en-US" dirty="0"/>
              <a:t>	3c + s(n-3)</a:t>
            </a:r>
          </a:p>
          <a:p>
            <a:pPr>
              <a:buFontTx/>
              <a:buNone/>
            </a:pPr>
            <a:r>
              <a:rPr lang="en-US" altLang="en-US" dirty="0"/>
              <a:t>	…</a:t>
            </a:r>
          </a:p>
          <a:p>
            <a:pPr>
              <a:buFontTx/>
              <a:buNone/>
            </a:pPr>
            <a:r>
              <a:rPr lang="en-US" altLang="en-US" dirty="0"/>
              <a:t>	kc + s(n-k) = </a:t>
            </a:r>
            <a:r>
              <a:rPr lang="en-US" altLang="en-US" dirty="0" err="1"/>
              <a:t>ck</a:t>
            </a:r>
            <a:r>
              <a:rPr lang="en-US" altLang="en-US" dirty="0"/>
              <a:t> + s(n-k)</a:t>
            </a:r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5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9744" y="2656185"/>
            <a:ext cx="283945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 = c + s(n-3)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37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5257800" cy="5486400"/>
          </a:xfrm>
        </p:spPr>
        <p:txBody>
          <a:bodyPr/>
          <a:lstStyle/>
          <a:p>
            <a:r>
              <a:rPr lang="en-US" altLang="en-US" dirty="0"/>
              <a:t>s(n) =      </a:t>
            </a:r>
          </a:p>
          <a:p>
            <a:pPr marL="0" indent="0">
              <a:buNone/>
            </a:pPr>
            <a:r>
              <a:rPr lang="en-US" altLang="en-US" dirty="0"/>
              <a:t>    c + </a:t>
            </a:r>
            <a:r>
              <a:rPr lang="en-US" altLang="en-US" dirty="0">
                <a:solidFill>
                  <a:srgbClr val="FF0000"/>
                </a:solidFill>
              </a:rPr>
              <a:t>s(n-1)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</a:p>
          <a:p>
            <a:pPr>
              <a:buFontTx/>
              <a:buNone/>
            </a:pPr>
            <a:r>
              <a:rPr lang="en-US" altLang="en-US" dirty="0"/>
              <a:t>	2c +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</a:p>
          <a:p>
            <a:pPr>
              <a:buFontTx/>
              <a:buNone/>
            </a:pPr>
            <a:r>
              <a:rPr lang="en-US" altLang="en-US" dirty="0"/>
              <a:t>	3c + s(n-3)</a:t>
            </a:r>
          </a:p>
          <a:p>
            <a:pPr>
              <a:buFontTx/>
              <a:buNone/>
            </a:pPr>
            <a:endParaRPr lang="en-US" altLang="en-US" dirty="0"/>
          </a:p>
          <a:p>
            <a:pPr>
              <a:buNone/>
            </a:pPr>
            <a:r>
              <a:rPr lang="en-US" altLang="en-US" dirty="0"/>
              <a:t>   4c + s(n-4)</a:t>
            </a:r>
          </a:p>
          <a:p>
            <a:pPr>
              <a:buFontTx/>
              <a:buNone/>
            </a:pPr>
            <a:r>
              <a:rPr lang="en-US" altLang="en-US" dirty="0"/>
              <a:t>	…</a:t>
            </a:r>
          </a:p>
          <a:p>
            <a:pPr>
              <a:buFontTx/>
              <a:buNone/>
            </a:pPr>
            <a:r>
              <a:rPr lang="en-US" altLang="en-US" dirty="0"/>
              <a:t>	kc + s(n-k) = </a:t>
            </a:r>
            <a:r>
              <a:rPr lang="en-US" altLang="en-US" dirty="0" err="1"/>
              <a:t>ck</a:t>
            </a:r>
            <a:r>
              <a:rPr lang="en-US" altLang="en-US" dirty="0"/>
              <a:t> + s(n-k)</a:t>
            </a:r>
          </a:p>
        </p:txBody>
      </p:sp>
      <p:graphicFrame>
        <p:nvGraphicFramePr>
          <p:cNvPr id="819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20610" y="304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9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610" y="304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43600" y="1817985"/>
            <a:ext cx="268703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s(n-1) = c + s(n-2)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9744" y="2656185"/>
            <a:ext cx="283945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s(n-2) = c + s(n-3)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201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7848600" cy="4495800"/>
          </a:xfrm>
        </p:spPr>
        <p:txBody>
          <a:bodyPr/>
          <a:lstStyle/>
          <a:p>
            <a:r>
              <a:rPr lang="en-US" altLang="en-US" dirty="0"/>
              <a:t>So far for 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&gt;= k </a:t>
            </a:r>
            <a:r>
              <a:rPr lang="en-US" altLang="en-US" dirty="0"/>
              <a:t>we have </a:t>
            </a:r>
          </a:p>
          <a:p>
            <a:pPr lvl="1"/>
            <a:endParaRPr lang="en-US" altLang="en-US" dirty="0"/>
          </a:p>
          <a:p>
            <a:pPr lvl="1" algn="ctr"/>
            <a:r>
              <a:rPr lang="en-US" altLang="en-US" dirty="0"/>
              <a:t>s(n) = </a:t>
            </a:r>
            <a:r>
              <a:rPr lang="en-US" altLang="en-US" dirty="0" err="1"/>
              <a:t>ck</a:t>
            </a:r>
            <a:r>
              <a:rPr lang="en-US" altLang="en-US" dirty="0"/>
              <a:t> + s(n-k)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/>
              <a:t>What if k = n?</a:t>
            </a:r>
          </a:p>
          <a:p>
            <a:pPr lvl="1" algn="ctr"/>
            <a:r>
              <a:rPr lang="en-US" altLang="en-US" dirty="0"/>
              <a:t>s(n) = </a:t>
            </a:r>
            <a:r>
              <a:rPr lang="en-US" altLang="en-US" dirty="0" err="1"/>
              <a:t>cn</a:t>
            </a:r>
            <a:r>
              <a:rPr lang="en-US" altLang="en-US" dirty="0"/>
              <a:t> + s(0) = </a:t>
            </a:r>
            <a:r>
              <a:rPr lang="en-US" altLang="en-US" dirty="0" err="1"/>
              <a:t>cn</a:t>
            </a:r>
            <a:endParaRPr lang="en-US" altLang="en-US" dirty="0"/>
          </a:p>
        </p:txBody>
      </p:sp>
      <p:graphicFrame>
        <p:nvGraphicFramePr>
          <p:cNvPr id="9219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1981200" y="685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0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85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878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848600" cy="4800600"/>
          </a:xfrm>
        </p:spPr>
        <p:txBody>
          <a:bodyPr/>
          <a:lstStyle/>
          <a:p>
            <a:r>
              <a:rPr lang="en-US" altLang="en-US"/>
              <a:t>So far for n &gt;= k we have </a:t>
            </a:r>
          </a:p>
          <a:p>
            <a:pPr lvl="1"/>
            <a:r>
              <a:rPr lang="en-US" altLang="en-US"/>
              <a:t>s(n) = ck + s(n-k)</a:t>
            </a:r>
          </a:p>
          <a:p>
            <a:r>
              <a:rPr lang="en-US" altLang="en-US"/>
              <a:t>What if k = n?</a:t>
            </a:r>
          </a:p>
          <a:p>
            <a:pPr lvl="1"/>
            <a:r>
              <a:rPr lang="en-US" altLang="en-US"/>
              <a:t>s(n) = cn + s(0) = cn</a:t>
            </a:r>
          </a:p>
          <a:p>
            <a:r>
              <a:rPr lang="en-US" altLang="en-US"/>
              <a:t>So</a:t>
            </a:r>
          </a:p>
          <a:p>
            <a:endParaRPr lang="en-US" altLang="en-US"/>
          </a:p>
          <a:p>
            <a:r>
              <a:rPr lang="en-US" altLang="en-US"/>
              <a:t>Thus in general </a:t>
            </a:r>
          </a:p>
          <a:p>
            <a:pPr lvl="1"/>
            <a:r>
              <a:rPr lang="en-US" altLang="en-US"/>
              <a:t>s(n) = cn</a:t>
            </a:r>
          </a:p>
        </p:txBody>
      </p:sp>
      <p:graphicFrame>
        <p:nvGraphicFramePr>
          <p:cNvPr id="10243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6355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2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6355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2362200" y="3733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3" name="Equation" r:id="rId5" imgW="1612900" imgH="457200" progId="Equation.3">
                  <p:embed/>
                </p:oleObj>
              </mc:Choice>
              <mc:Fallback>
                <p:oleObj name="Equation" r:id="rId5" imgW="1612900" imgH="457200" progId="Equation.3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33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442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 dirty="0"/>
              <a:t>s(n) </a:t>
            </a:r>
          </a:p>
          <a:p>
            <a:pPr>
              <a:buFontTx/>
              <a:buNone/>
            </a:pPr>
            <a:endParaRPr lang="en-US" altLang="en-US" sz="2400" dirty="0"/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3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45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 dirty="0"/>
              <a:t>s(n) </a:t>
            </a:r>
          </a:p>
          <a:p>
            <a:pPr>
              <a:buFontTx/>
              <a:buNone/>
            </a:pPr>
            <a:r>
              <a:rPr lang="en-US" altLang="en-US" sz="2400" dirty="0"/>
              <a:t>=	n + s(n-1) 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endParaRPr lang="en-US" altLang="en-US" sz="2400" dirty="0"/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8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41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 dirty="0"/>
              <a:t>s(n) </a:t>
            </a:r>
          </a:p>
          <a:p>
            <a:pPr>
              <a:buFontTx/>
              <a:buNone/>
            </a:pPr>
            <a:r>
              <a:rPr lang="en-US" altLang="en-US" sz="2400" dirty="0"/>
              <a:t>=	n + s(n-1) </a:t>
            </a:r>
          </a:p>
          <a:p>
            <a:pPr>
              <a:buFontTx/>
              <a:buNone/>
            </a:pPr>
            <a:r>
              <a:rPr lang="en-US" altLang="en-US" sz="2400" dirty="0"/>
              <a:t>=	n + n-1 + s(n-2)</a:t>
            </a:r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7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360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 dirty="0"/>
              <a:t>s(n) </a:t>
            </a:r>
          </a:p>
          <a:p>
            <a:pPr>
              <a:buFontTx/>
              <a:buNone/>
            </a:pPr>
            <a:r>
              <a:rPr lang="en-US" altLang="en-US" sz="2400" dirty="0"/>
              <a:t>=	n + s(n-1) </a:t>
            </a:r>
          </a:p>
          <a:p>
            <a:pPr>
              <a:buFontTx/>
              <a:buNone/>
            </a:pPr>
            <a:r>
              <a:rPr lang="en-US" altLang="en-US" sz="2400" dirty="0"/>
              <a:t>=	n + n-1 + s(n-2)</a:t>
            </a:r>
          </a:p>
          <a:p>
            <a:pPr>
              <a:buFontTx/>
              <a:buNone/>
            </a:pPr>
            <a:r>
              <a:rPr lang="en-US" altLang="en-US" sz="2400" dirty="0"/>
              <a:t>=	n + n-1 + n-2 + s(n-3)</a:t>
            </a:r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1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53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 dirty="0"/>
              <a:t>s(n) </a:t>
            </a:r>
          </a:p>
          <a:p>
            <a:pPr>
              <a:buFontTx/>
              <a:buNone/>
            </a:pPr>
            <a:r>
              <a:rPr lang="en-US" altLang="en-US" sz="2400" dirty="0"/>
              <a:t>=	n + s(n-1) </a:t>
            </a:r>
          </a:p>
          <a:p>
            <a:pPr>
              <a:buFontTx/>
              <a:buNone/>
            </a:pPr>
            <a:r>
              <a:rPr lang="en-US" altLang="en-US" sz="2400" dirty="0"/>
              <a:t>=	n + n-1 + s(n-2)</a:t>
            </a:r>
          </a:p>
          <a:p>
            <a:pPr>
              <a:buFontTx/>
              <a:buNone/>
            </a:pPr>
            <a:r>
              <a:rPr lang="en-US" altLang="en-US" sz="2400" dirty="0"/>
              <a:t>=	n + n-1 + n-2 + s(n-3)</a:t>
            </a:r>
          </a:p>
          <a:p>
            <a:pPr>
              <a:buFontTx/>
              <a:buNone/>
            </a:pPr>
            <a:r>
              <a:rPr lang="en-US" altLang="en-US" sz="2400" dirty="0"/>
              <a:t>=	n + n-1 + n-2 + n-3 + s(n-4)</a:t>
            </a:r>
          </a:p>
          <a:p>
            <a:pPr>
              <a:buFontTx/>
              <a:buNone/>
            </a:pPr>
            <a:endParaRPr lang="en-US" altLang="en-US" sz="2400" dirty="0"/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5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590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/>
              <a:t>s(n) </a:t>
            </a:r>
          </a:p>
          <a:p>
            <a:pPr>
              <a:buFontTx/>
              <a:buNone/>
            </a:pPr>
            <a:r>
              <a:rPr lang="en-US" altLang="en-US" sz="2400"/>
              <a:t>=	n + s(n-1) </a:t>
            </a:r>
          </a:p>
          <a:p>
            <a:pPr>
              <a:buFontTx/>
              <a:buNone/>
            </a:pPr>
            <a:r>
              <a:rPr lang="en-US" altLang="en-US" sz="2400"/>
              <a:t>=	n + n-1 + s(n-2)</a:t>
            </a:r>
          </a:p>
          <a:p>
            <a:pPr>
              <a:buFontTx/>
              <a:buNone/>
            </a:pPr>
            <a:r>
              <a:rPr lang="en-US" altLang="en-US" sz="2400"/>
              <a:t>=	n + n-1 + n-2 + s(n-3)</a:t>
            </a:r>
          </a:p>
          <a:p>
            <a:pPr>
              <a:buFontTx/>
              <a:buNone/>
            </a:pPr>
            <a:r>
              <a:rPr lang="en-US" altLang="en-US" sz="2400"/>
              <a:t>=	n + n-1 + n-2 + n-3 + s(n-4)</a:t>
            </a:r>
          </a:p>
          <a:p>
            <a:pPr>
              <a:buFontTx/>
              <a:buNone/>
            </a:pPr>
            <a:r>
              <a:rPr lang="en-US" altLang="en-US" sz="2400"/>
              <a:t>=	…</a:t>
            </a:r>
          </a:p>
          <a:p>
            <a:pPr>
              <a:buFontTx/>
              <a:buNone/>
            </a:pPr>
            <a:r>
              <a:rPr lang="en-US" altLang="en-US" sz="2400"/>
              <a:t>= 	n + n-1 + n-2 + n-3 + … + n-(k-1) + s(n-k)</a:t>
            </a:r>
          </a:p>
          <a:p>
            <a:pPr>
              <a:buFontTx/>
              <a:buNone/>
            </a:pPr>
            <a:endParaRPr lang="en-US" altLang="en-US" sz="2400"/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9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608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 dirty="0"/>
              <a:t>s(5) </a:t>
            </a:r>
          </a:p>
          <a:p>
            <a:pPr>
              <a:buFontTx/>
              <a:buNone/>
            </a:pPr>
            <a:r>
              <a:rPr lang="en-US" altLang="en-US" sz="2400" dirty="0"/>
              <a:t>=	5 + s(5-1) 				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</a:rPr>
              <a:t>=5+S(4)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/>
              <a:t>=	5 + 4 + s(5-2) 			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</a:rPr>
              <a:t>=5+4+S(3)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/>
              <a:t>=	5 + 4 + 3 + s(5-3)			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</a:rPr>
              <a:t>= 5+4+3+S(2)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/>
              <a:t>=	5 + 4 + 3 + 2 + s(5-4) 		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</a:rPr>
              <a:t>=5+4+3+2+S(1)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=	5 + 4 + 3 + 2 +1+ s(5-5) 		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</a:rPr>
              <a:t>=5+4+3+2+1+S(0)</a:t>
            </a:r>
          </a:p>
          <a:p>
            <a:pPr>
              <a:buFontTx/>
              <a:buNone/>
            </a:pPr>
            <a:endParaRPr lang="en-US" altLang="en-US" sz="2400" dirty="0"/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73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530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/>
              <a:t>s(n) </a:t>
            </a:r>
          </a:p>
          <a:p>
            <a:pPr>
              <a:buFontTx/>
              <a:buNone/>
            </a:pPr>
            <a:r>
              <a:rPr lang="en-US" altLang="en-US" sz="2400"/>
              <a:t>=	n + s(n-1) </a:t>
            </a:r>
          </a:p>
          <a:p>
            <a:pPr>
              <a:buFontTx/>
              <a:buNone/>
            </a:pPr>
            <a:r>
              <a:rPr lang="en-US" altLang="en-US" sz="2400"/>
              <a:t>=	n + n-1 + s(n-2)</a:t>
            </a:r>
          </a:p>
          <a:p>
            <a:pPr>
              <a:buFontTx/>
              <a:buNone/>
            </a:pPr>
            <a:r>
              <a:rPr lang="en-US" altLang="en-US" sz="2400"/>
              <a:t>=	n + n-1 + n-2 + s(n-3)</a:t>
            </a:r>
          </a:p>
          <a:p>
            <a:pPr>
              <a:buFontTx/>
              <a:buNone/>
            </a:pPr>
            <a:r>
              <a:rPr lang="en-US" altLang="en-US" sz="2400"/>
              <a:t>=	n + n-1 + n-2 + n-3 + s(n-4)</a:t>
            </a:r>
          </a:p>
          <a:p>
            <a:pPr>
              <a:buFontTx/>
              <a:buNone/>
            </a:pPr>
            <a:r>
              <a:rPr lang="en-US" altLang="en-US" sz="2400"/>
              <a:t>=	…</a:t>
            </a:r>
          </a:p>
          <a:p>
            <a:pPr>
              <a:buFontTx/>
              <a:buNone/>
            </a:pPr>
            <a:r>
              <a:rPr lang="en-US" altLang="en-US" sz="2400"/>
              <a:t>= 	n + n-1 + n-2 + n-3 + … + n-(k-1) + s(n-k)</a:t>
            </a:r>
          </a:p>
          <a:p>
            <a:pPr>
              <a:buFontTx/>
              <a:buNone/>
            </a:pPr>
            <a:endParaRPr lang="en-US" altLang="en-US" sz="2400"/>
          </a:p>
        </p:txBody>
      </p:sp>
      <p:graphicFrame>
        <p:nvGraphicFramePr>
          <p:cNvPr id="1126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97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664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altLang="en-US" sz="2400" dirty="0"/>
              <a:t>s(n) </a:t>
            </a:r>
          </a:p>
          <a:p>
            <a:pPr>
              <a:buFontTx/>
              <a:buNone/>
            </a:pPr>
            <a:r>
              <a:rPr lang="en-US" altLang="en-US" sz="2400" dirty="0"/>
              <a:t>=	n + s(n-1) </a:t>
            </a:r>
          </a:p>
          <a:p>
            <a:pPr>
              <a:buFontTx/>
              <a:buNone/>
            </a:pPr>
            <a:r>
              <a:rPr lang="en-US" altLang="en-US" sz="2400" dirty="0"/>
              <a:t>=	n + n-1 + s(n-2)</a:t>
            </a:r>
          </a:p>
          <a:p>
            <a:pPr>
              <a:buFontTx/>
              <a:buNone/>
            </a:pPr>
            <a:r>
              <a:rPr lang="en-US" altLang="en-US" sz="2400" dirty="0"/>
              <a:t>=	n + n-1 + n-2 + s(n-3)</a:t>
            </a:r>
          </a:p>
          <a:p>
            <a:pPr>
              <a:buFontTx/>
              <a:buNone/>
            </a:pPr>
            <a:r>
              <a:rPr lang="en-US" altLang="en-US" sz="2400" dirty="0"/>
              <a:t>=	n + n-1 + n-2 + n-3 + s(n-4)</a:t>
            </a:r>
          </a:p>
          <a:p>
            <a:pPr>
              <a:buFontTx/>
              <a:buNone/>
            </a:pPr>
            <a:r>
              <a:rPr lang="en-US" altLang="en-US" sz="2400" dirty="0"/>
              <a:t>=	…</a:t>
            </a:r>
          </a:p>
          <a:p>
            <a:pPr>
              <a:buFontTx/>
              <a:buNone/>
            </a:pPr>
            <a:r>
              <a:rPr lang="en-US" altLang="en-US" sz="2400" dirty="0"/>
              <a:t>= 	n + n-1 + n-2 + n-3 + … + n-(k-1) + s(n-k)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lnSpc>
                <a:spcPct val="0"/>
              </a:lnSpc>
              <a:buFontTx/>
              <a:buNone/>
            </a:pPr>
            <a:r>
              <a:rPr lang="en-US" altLang="en-US" sz="2400" dirty="0"/>
              <a:t>= </a:t>
            </a:r>
          </a:p>
        </p:txBody>
      </p:sp>
      <p:graphicFrame>
        <p:nvGraphicFramePr>
          <p:cNvPr id="12291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762000" y="4789488"/>
          <a:ext cx="3052763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1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89488"/>
                        <a:ext cx="3052763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4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848600" cy="4572000"/>
          </a:xfrm>
        </p:spPr>
        <p:txBody>
          <a:bodyPr/>
          <a:lstStyle/>
          <a:p>
            <a:r>
              <a:rPr lang="en-US" altLang="en-US" sz="2400"/>
              <a:t>So far for n &gt;= k we have</a:t>
            </a:r>
          </a:p>
        </p:txBody>
      </p:sp>
      <p:graphicFrame>
        <p:nvGraphicFramePr>
          <p:cNvPr id="13315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2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3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219200" y="2655888"/>
          <a:ext cx="3052763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3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655888"/>
                        <a:ext cx="3052763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732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848600" cy="4572000"/>
          </a:xfrm>
        </p:spPr>
        <p:txBody>
          <a:bodyPr/>
          <a:lstStyle/>
          <a:p>
            <a:r>
              <a:rPr lang="en-US" altLang="en-US" sz="2400"/>
              <a:t>So far for n &gt;= k we have</a:t>
            </a:r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What if k = n?</a:t>
            </a:r>
          </a:p>
          <a:p>
            <a:endParaRPr lang="en-US" altLang="en-US" sz="2400"/>
          </a:p>
          <a:p>
            <a:endParaRPr lang="en-US" altLang="en-US" sz="2400"/>
          </a:p>
        </p:txBody>
      </p:sp>
      <p:graphicFrame>
        <p:nvGraphicFramePr>
          <p:cNvPr id="14339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8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4572000" y="2438400"/>
          <a:ext cx="3052763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9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38400"/>
                        <a:ext cx="3052763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4610100" y="3980043"/>
            <a:ext cx="4152900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dirty="0"/>
              <a:t>S(5)=5 + 4 + 3 + 2 +1+ s(5-5)               </a:t>
            </a:r>
          </a:p>
          <a:p>
            <a:r>
              <a:rPr lang="en-US" altLang="en-US" dirty="0"/>
              <a:t>       =5+4+3+2+1+S(0)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770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r>
              <a:rPr lang="en-US" altLang="en-US" sz="2400"/>
              <a:t>So far for n &gt;= k we have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What if k = n?</a:t>
            </a:r>
          </a:p>
        </p:txBody>
      </p:sp>
      <p:graphicFrame>
        <p:nvGraphicFramePr>
          <p:cNvPr id="15363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73075"/>
          <a:ext cx="40100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7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53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73075"/>
                        <a:ext cx="401002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286000" y="2438400"/>
          <a:ext cx="3052763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8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438400"/>
                        <a:ext cx="3052763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219200" y="4332288"/>
          <a:ext cx="674052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9" name="Equation" r:id="rId7" imgW="2692400" imgH="431800" progId="Equation.3">
                  <p:embed/>
                </p:oleObj>
              </mc:Choice>
              <mc:Fallback>
                <p:oleObj name="Equation" r:id="rId7" imgW="2692400" imgH="431800" progId="Equation.3">
                  <p:embed/>
                  <p:pic>
                    <p:nvPicPr>
                      <p:cNvPr id="15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332288"/>
                        <a:ext cx="6740525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711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So far for n &gt;= k we have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What if k = n?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Thus in general </a:t>
            </a:r>
          </a:p>
        </p:txBody>
      </p:sp>
      <p:graphicFrame>
        <p:nvGraphicFramePr>
          <p:cNvPr id="16387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643188" y="314325"/>
          <a:ext cx="37861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8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163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314325"/>
                        <a:ext cx="378618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2286000" y="1752600"/>
          <a:ext cx="3052763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9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163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3052763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1295400" y="3505200"/>
          <a:ext cx="674052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0" name="Equation" r:id="rId7" imgW="2692400" imgH="431800" progId="Equation.3">
                  <p:embed/>
                </p:oleObj>
              </mc:Choice>
              <mc:Fallback>
                <p:oleObj name="Equation" r:id="rId7" imgW="2692400" imgH="431800" progId="Equation.3">
                  <p:embed/>
                  <p:pic>
                    <p:nvPicPr>
                      <p:cNvPr id="1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05200"/>
                        <a:ext cx="6740525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2286000" y="5257800"/>
          <a:ext cx="26384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1" name="Equation" r:id="rId9" imgW="1054100" imgH="393700" progId="Equation.3">
                  <p:embed/>
                </p:oleObj>
              </mc:Choice>
              <mc:Fallback>
                <p:oleObj name="Equation" r:id="rId9" imgW="1054100" imgH="393700" progId="Equation.3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257800"/>
                        <a:ext cx="2638425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 bwMode="auto">
          <a:xfrm>
            <a:off x="228600" y="214312"/>
            <a:ext cx="2057400" cy="5175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charset="0"/>
              </a:rPr>
              <a:t>Example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949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Divide and Conquer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altLang="en-US" sz="2400" dirty="0"/>
              <a:t>The divide-and-conquer paradigm</a:t>
            </a:r>
          </a:p>
          <a:p>
            <a:pPr algn="r">
              <a:buFontTx/>
              <a:buNone/>
            </a:pPr>
            <a:r>
              <a:rPr lang="en-US" altLang="en-US" sz="1600" b="0" dirty="0">
                <a:solidFill>
                  <a:srgbClr val="FF0000"/>
                </a:solidFill>
              </a:rPr>
              <a:t>What is a paradigm? One that serves as a pattern or model.</a:t>
            </a:r>
          </a:p>
          <a:p>
            <a:r>
              <a:rPr lang="en-US" altLang="en-US" sz="2400" b="0" dirty="0">
                <a:solidFill>
                  <a:srgbClr val="000066"/>
                </a:solidFill>
              </a:rPr>
              <a:t>Divide</a:t>
            </a:r>
            <a:r>
              <a:rPr lang="en-US" altLang="en-US" sz="2400" dirty="0"/>
              <a:t> the problem into a number of </a:t>
            </a:r>
            <a:r>
              <a:rPr lang="en-US" altLang="en-US" sz="2400" dirty="0" err="1"/>
              <a:t>subproblems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b="0" dirty="0">
                <a:solidFill>
                  <a:srgbClr val="000066"/>
                </a:solidFill>
              </a:rPr>
              <a:t>Conquer</a:t>
            </a:r>
            <a:r>
              <a:rPr lang="en-US" altLang="en-US" sz="2400" dirty="0"/>
              <a:t> the </a:t>
            </a:r>
            <a:r>
              <a:rPr lang="en-US" altLang="en-US" sz="2400" dirty="0" err="1"/>
              <a:t>subproblems</a:t>
            </a:r>
            <a:r>
              <a:rPr lang="en-US" altLang="en-US" sz="2400" dirty="0"/>
              <a:t> by solving them recursively. If small enough, just solve directly without recursion</a:t>
            </a:r>
          </a:p>
          <a:p>
            <a:endParaRPr lang="en-US" altLang="en-US" sz="2400" dirty="0"/>
          </a:p>
          <a:p>
            <a:r>
              <a:rPr lang="en-US" altLang="en-US" sz="2400" b="0" dirty="0">
                <a:solidFill>
                  <a:srgbClr val="000066"/>
                </a:solidFill>
              </a:rPr>
              <a:t>Combine</a:t>
            </a:r>
            <a:r>
              <a:rPr lang="en-US" altLang="en-US" sz="2400" dirty="0"/>
              <a:t> the solutions of the </a:t>
            </a:r>
            <a:r>
              <a:rPr lang="en-US" altLang="en-US" sz="2400" dirty="0" err="1"/>
              <a:t>subproblems</a:t>
            </a:r>
            <a:r>
              <a:rPr lang="en-US" altLang="en-US" sz="2400" dirty="0"/>
              <a:t> into the solution for the original problem</a:t>
            </a:r>
          </a:p>
        </p:txBody>
      </p:sp>
    </p:spTree>
    <p:extLst>
      <p:ext uri="{BB962C8B-B14F-4D97-AF65-F5344CB8AC3E}">
        <p14:creationId xmlns:p14="http://schemas.microsoft.com/office/powerpoint/2010/main" val="109845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alt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0" dirty="0"/>
              <a:t>Let T(n) be the running time on a problem of size n.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0" dirty="0"/>
              <a:t>If problem is small enough, then solution takes constant time (this is a boundary condition, which will be assumed for all analyses)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0" dirty="0"/>
              <a:t>It takes time to divide the problem into sub-problems at the beginning. Denote this work by D(n).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1440" tIns="45720" rIns="91440" bIns="45720"/>
          <a:lstStyle/>
          <a:p>
            <a:r>
              <a:rPr lang="en-US" altLang="en-US"/>
              <a:t>Analyzing Divide-and-Conquer Algorithms</a:t>
            </a:r>
          </a:p>
        </p:txBody>
      </p:sp>
    </p:spTree>
    <p:extLst>
      <p:ext uri="{BB962C8B-B14F-4D97-AF65-F5344CB8AC3E}">
        <p14:creationId xmlns:p14="http://schemas.microsoft.com/office/powerpoint/2010/main" val="3677950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2133600"/>
            <a:ext cx="9144000" cy="4114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It takes time to combine the solutions at the end. Denote this by C(n).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If we divide the problem into ‘a’ problems, each of which is ‘1/b’ times the original size (n), and since the time to solve a problem with input size ‘n/b’ is T(n/b), and this is done ‘a’ times, the total time is: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                   T(n) = </a:t>
            </a:r>
            <a:r>
              <a:rPr lang="en-US" altLang="en-US" sz="2400">
                <a:sym typeface="Symbol" panose="05050102010706020507" pitchFamily="18" charset="2"/>
              </a:rPr>
              <a:t>(1), n small (or n  c 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                   T(n) = aT(n/b) + D(n) + C(n)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1440" tIns="45720" rIns="91440" bIns="45720"/>
          <a:lstStyle/>
          <a:p>
            <a:r>
              <a:rPr lang="en-US" altLang="en-US"/>
              <a:t>Analyzing Divide-and-Conquer Algorithms</a:t>
            </a:r>
          </a:p>
        </p:txBody>
      </p:sp>
    </p:spTree>
    <p:extLst>
      <p:ext uri="{BB962C8B-B14F-4D97-AF65-F5344CB8AC3E}">
        <p14:creationId xmlns:p14="http://schemas.microsoft.com/office/powerpoint/2010/main" val="184258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64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en-US" sz="2400" dirty="0">
                <a:solidFill>
                  <a:srgbClr val="000066"/>
                </a:solidFill>
              </a:rPr>
              <a:t>Function(</a:t>
            </a:r>
            <a:r>
              <a:rPr lang="en-US" altLang="en-US" sz="2400" dirty="0" err="1">
                <a:solidFill>
                  <a:srgbClr val="000066"/>
                </a:solidFill>
              </a:rPr>
              <a:t>int</a:t>
            </a:r>
            <a:r>
              <a:rPr lang="en-US" altLang="en-US" sz="2400" dirty="0">
                <a:solidFill>
                  <a:srgbClr val="000066"/>
                </a:solidFill>
              </a:rPr>
              <a:t> number)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/>
              <a:t>if number&lt;=1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/>
              <a:t>   then return;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/>
              <a:t>else</a:t>
            </a:r>
            <a:endParaRPr lang="en-US" altLang="en-US" sz="1800" dirty="0">
              <a:sym typeface="Wingdings" panose="05000000000000000000" pitchFamily="2" charset="2"/>
            </a:endParaRPr>
          </a:p>
          <a:p>
            <a:pPr marL="990600" lvl="1" indent="-533400">
              <a:buFontTx/>
              <a:buNone/>
            </a:pPr>
            <a:r>
              <a:rPr lang="en-US" altLang="en-US" sz="1800" dirty="0">
                <a:sym typeface="Wingdings" panose="05000000000000000000" pitchFamily="2" charset="2"/>
              </a:rPr>
              <a:t>      	Function(number/2)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>
                <a:sym typeface="Wingdings" panose="05000000000000000000" pitchFamily="2" charset="2"/>
              </a:rPr>
              <a:t>     	Function(number/2)</a:t>
            </a:r>
          </a:p>
          <a:p>
            <a:pPr marL="990600" lvl="1" indent="-533400">
              <a:buFontTx/>
              <a:buNone/>
            </a:pPr>
            <a:r>
              <a:rPr lang="en-US" altLang="en-US" sz="1800" dirty="0">
                <a:sym typeface="Wingdings" panose="05000000000000000000" pitchFamily="2" charset="2"/>
              </a:rPr>
              <a:t>      for(</a:t>
            </a:r>
            <a:r>
              <a:rPr lang="en-US" altLang="en-US" sz="1800" dirty="0" err="1">
                <a:sym typeface="Wingdings" panose="05000000000000000000" pitchFamily="2" charset="2"/>
              </a:rPr>
              <a:t>i</a:t>
            </a:r>
            <a:r>
              <a:rPr lang="en-US" altLang="en-US" sz="1800" dirty="0">
                <a:sym typeface="Wingdings" panose="05000000000000000000" pitchFamily="2" charset="2"/>
              </a:rPr>
              <a:t>=1 to number )</a:t>
            </a:r>
          </a:p>
          <a:p>
            <a:pPr marL="2209800" lvl="4" indent="-381000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Wingdings" panose="05000000000000000000" pitchFamily="2" charset="2"/>
              </a:rPr>
              <a:t>Display </a:t>
            </a:r>
            <a:r>
              <a:rPr lang="en-US" altLang="en-US" sz="18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sym typeface="Wingdings" panose="05000000000000000000" pitchFamily="2" charset="2"/>
              </a:rPr>
              <a:t>;</a:t>
            </a:r>
          </a:p>
          <a:p>
            <a:pPr marL="609600" indent="-609600">
              <a:buFontTx/>
              <a:buNone/>
            </a:pPr>
            <a:r>
              <a:rPr lang="en-US" altLang="en-US" sz="2400" i="1" dirty="0">
                <a:sym typeface="Wingdings" panose="05000000000000000000" pitchFamily="2" charset="2"/>
              </a:rPr>
              <a:t>It follows that</a:t>
            </a:r>
          </a:p>
          <a:p>
            <a:pPr marL="609600" indent="-609600" algn="ctr">
              <a:buFontTx/>
              <a:buNone/>
            </a:pPr>
            <a:r>
              <a:rPr lang="en-US" altLang="en-US" sz="2400" dirty="0"/>
              <a:t>T(n) = </a:t>
            </a:r>
            <a:r>
              <a:rPr lang="en-US" altLang="en-US" sz="2400" dirty="0">
                <a:solidFill>
                  <a:srgbClr val="3333FF"/>
                </a:solidFill>
              </a:rPr>
              <a:t>2</a:t>
            </a:r>
            <a:r>
              <a:rPr lang="en-US" altLang="en-US" sz="2400" dirty="0"/>
              <a:t> T(</a:t>
            </a:r>
            <a:r>
              <a:rPr lang="en-US" altLang="en-US" sz="2400" dirty="0">
                <a:solidFill>
                  <a:srgbClr val="3333FF"/>
                </a:solidFill>
              </a:rPr>
              <a:t>n/2</a:t>
            </a:r>
            <a:r>
              <a:rPr lang="en-US" altLang="en-US" sz="2400" dirty="0"/>
              <a:t>)+  </a:t>
            </a:r>
            <a:r>
              <a:rPr lang="en-US" altLang="en-US" sz="2400" dirty="0" err="1"/>
              <a:t>cn</a:t>
            </a:r>
            <a:endParaRPr lang="en-US" altLang="en-US" sz="2400" dirty="0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438400" y="4876800"/>
            <a:ext cx="205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number of sub-problems</a:t>
            </a: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42672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4648200" y="5029200"/>
            <a:ext cx="205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Sub-problem size</a:t>
            </a:r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 flipV="1">
            <a:off x="48768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6934200" y="4038600"/>
            <a:ext cx="1600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work done dividing and combining</a:t>
            </a:r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5562600" y="426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 flipH="1">
            <a:off x="6096000" y="4572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47478"/>
      </p:ext>
    </p:extLst>
  </p:cSld>
  <p:clrMapOvr>
    <a:masterClrMapping/>
  </p:clrMapOvr>
</p:sld>
</file>

<file path=ppt/theme/theme1.xml><?xml version="1.0" encoding="utf-8"?>
<a:theme xmlns:a="http://schemas.openxmlformats.org/drawingml/2006/main" name="plsd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9591</TotalTime>
  <Pages>11</Pages>
  <Words>735</Words>
  <Application>Microsoft Office PowerPoint</Application>
  <PresentationFormat>On-screen Show (4:3)</PresentationFormat>
  <Paragraphs>251</Paragraphs>
  <Slides>34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Symbol</vt:lpstr>
      <vt:lpstr>Times New Roman</vt:lpstr>
      <vt:lpstr>Wingdings</vt:lpstr>
      <vt:lpstr>plsd</vt:lpstr>
      <vt:lpstr>Equation</vt:lpstr>
      <vt:lpstr>   Design and Analysis of Algorithms</vt:lpstr>
      <vt:lpstr>Recurrences</vt:lpstr>
      <vt:lpstr>Recurrence Examples</vt:lpstr>
      <vt:lpstr>Methods to solve recurrence</vt:lpstr>
      <vt:lpstr>Solving Recurrences  “iteration method”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Divide and Conquer</vt:lpstr>
      <vt:lpstr>Analyzing Divide-and-Conquer Algorithms</vt:lpstr>
      <vt:lpstr>Analyzing Divide-and-Conquer Algorithms</vt:lpstr>
      <vt:lpstr>Example 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Windows User</cp:lastModifiedBy>
  <cp:revision>501</cp:revision>
  <cp:lastPrinted>2020-02-19T09:05:23Z</cp:lastPrinted>
  <dcterms:created xsi:type="dcterms:W3CDTF">1998-07-26T04:07:26Z</dcterms:created>
  <dcterms:modified xsi:type="dcterms:W3CDTF">2023-09-14T08:08:56Z</dcterms:modified>
</cp:coreProperties>
</file>