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</p:sldIdLst>
  <p:sldSz cy="6858000" cx="12192000"/>
  <p:notesSz cx="6858000" cy="9144000"/>
  <p:embeddedFontLst>
    <p:embeddedFont>
      <p:font typeface="Limelight"/>
      <p:regular r:id="rId64"/>
    </p:embeddedFont>
    <p:embeddedFont>
      <p:font typeface="Roboto"/>
      <p:regular r:id="rId65"/>
      <p:bold r:id="rId66"/>
      <p:italic r:id="rId67"/>
      <p:boldItalic r:id="rId68"/>
    </p:embeddedFont>
    <p:embeddedFont>
      <p:font typeface="Helvetica Neue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3" roundtripDataSignature="AMtx7mjetcVoyrD7JaJ5T7Tht3nEnxKm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customschemas.google.com/relationships/presentationmetadata" Target="metadata"/><Relationship Id="rId72" Type="http://schemas.openxmlformats.org/officeDocument/2006/relationships/font" Target="fonts/HelveticaNeue-boldItalic.fntdata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1" Type="http://schemas.openxmlformats.org/officeDocument/2006/relationships/font" Target="fonts/HelveticaNeue-italic.fntdata"/><Relationship Id="rId70" Type="http://schemas.openxmlformats.org/officeDocument/2006/relationships/font" Target="fonts/HelveticaNeue-bold.fntdata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font" Target="fonts/Limelight-regular.fntdata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font" Target="fonts/Roboto-bold.fntdata"/><Relationship Id="rId21" Type="http://schemas.openxmlformats.org/officeDocument/2006/relationships/slide" Target="slides/slide17.xml"/><Relationship Id="rId65" Type="http://schemas.openxmlformats.org/officeDocument/2006/relationships/font" Target="fonts/Roboto-regular.fntdata"/><Relationship Id="rId24" Type="http://schemas.openxmlformats.org/officeDocument/2006/relationships/slide" Target="slides/slide20.xml"/><Relationship Id="rId68" Type="http://schemas.openxmlformats.org/officeDocument/2006/relationships/font" Target="fonts/Roboto-boldItalic.fntdata"/><Relationship Id="rId23" Type="http://schemas.openxmlformats.org/officeDocument/2006/relationships/slide" Target="slides/slide19.xml"/><Relationship Id="rId67" Type="http://schemas.openxmlformats.org/officeDocument/2006/relationships/font" Target="fonts/Roboto-italic.fntdata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HelveticaNeue-regular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/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 a class which represent the whole system</a:t>
            </a:r>
            <a:endParaRPr/>
          </a:p>
        </p:txBody>
      </p:sp>
      <p:sp>
        <p:nvSpPr>
          <p:cNvPr id="365" name="Google Shape;36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Controller act as a barrier between actual business logic and outside world.</a:t>
            </a:r>
            <a:endParaRPr/>
          </a:p>
        </p:txBody>
      </p:sp>
      <p:sp>
        <p:nvSpPr>
          <p:cNvPr id="381" name="Google Shape;38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the system in the form of SDs.</a:t>
            </a:r>
            <a:endParaRPr/>
          </a:p>
        </p:txBody>
      </p:sp>
      <p:sp>
        <p:nvSpPr>
          <p:cNvPr id="397" name="Google Shape;39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Minimizing the unnecessary interaction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AccountLedger and Account class is information expert</a:t>
            </a:r>
            <a:endParaRPr/>
          </a:p>
        </p:txBody>
      </p:sp>
      <p:sp>
        <p:nvSpPr>
          <p:cNvPr id="530" name="Google Shape;530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78" name="Google Shape;578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9" name="Google Shape;57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>
  <p:cSld name="Titelfolie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1"/>
          <p:cNvSpPr/>
          <p:nvPr/>
        </p:nvSpPr>
        <p:spPr>
          <a:xfrm>
            <a:off x="-49557" y="1"/>
            <a:ext cx="12241556" cy="6857999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61"/>
          <p:cNvSpPr txBox="1"/>
          <p:nvPr>
            <p:ph type="ctrTitle"/>
          </p:nvPr>
        </p:nvSpPr>
        <p:spPr>
          <a:xfrm>
            <a:off x="864844" y="2042276"/>
            <a:ext cx="10363200" cy="492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1"/>
          <p:cNvSpPr txBox="1"/>
          <p:nvPr>
            <p:ph idx="1" type="subTitle"/>
          </p:nvPr>
        </p:nvSpPr>
        <p:spPr>
          <a:xfrm>
            <a:off x="3411622" y="3933699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pic>
        <p:nvPicPr>
          <p:cNvPr id="19" name="Google Shape;19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89048" y="5704389"/>
            <a:ext cx="1417294" cy="859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3" name="Google Shape;33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6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7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42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Relationship Id="rId5" Type="http://schemas.openxmlformats.org/officeDocument/2006/relationships/image" Target="../media/image53.png"/><Relationship Id="rId6" Type="http://schemas.openxmlformats.org/officeDocument/2006/relationships/image" Target="../media/image1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0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7.png"/><Relationship Id="rId4" Type="http://schemas.openxmlformats.org/officeDocument/2006/relationships/image" Target="../media/image3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0.png"/><Relationship Id="rId4" Type="http://schemas.openxmlformats.org/officeDocument/2006/relationships/image" Target="../media/image48.png"/><Relationship Id="rId5" Type="http://schemas.openxmlformats.org/officeDocument/2006/relationships/image" Target="../media/image5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>
            <p:ph type="ctrTitle"/>
          </p:nvPr>
        </p:nvSpPr>
        <p:spPr>
          <a:xfrm>
            <a:off x="2286595" y="2130874"/>
            <a:ext cx="6611541" cy="827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None/>
            </a:pPr>
            <a:r>
              <a:rPr lang="en-US"/>
              <a:t>Software Design and Analysis</a:t>
            </a:r>
            <a:br>
              <a:rPr lang="en-US"/>
            </a:br>
            <a:r>
              <a:rPr lang="en-US"/>
              <a:t>CS-3004</a:t>
            </a:r>
            <a:br>
              <a:rPr lang="en-US"/>
            </a:br>
            <a:r>
              <a:rPr lang="en-US"/>
              <a:t>Lecture#10</a:t>
            </a:r>
            <a:endParaRPr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8967020" y="3962400"/>
            <a:ext cx="2556271" cy="1013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Dr. Javaria Imtiaz,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Mr. Basharat Hussain, 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Mr. Majid Hussain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482010" y="301602"/>
            <a:ext cx="112563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Quiz #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code for the given sequence diagram.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8324"/>
          <a:stretch/>
        </p:blipFill>
        <p:spPr>
          <a:xfrm>
            <a:off x="3068410" y="1809180"/>
            <a:ext cx="6032500" cy="395854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4133940" y="2248043"/>
            <a:ext cx="57708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endParaRPr sz="1200">
              <a:solidFill>
                <a:srgbClr val="131313"/>
              </a:solidFill>
              <a:latin typeface="Limelight"/>
              <a:ea typeface="Limelight"/>
              <a:cs typeface="Limelight"/>
              <a:sym typeface="Limelight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4133940" y="2623162"/>
            <a:ext cx="6736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endParaRPr sz="1200">
              <a:solidFill>
                <a:srgbClr val="131313"/>
              </a:solidFill>
              <a:latin typeface="Limelight"/>
              <a:ea typeface="Limelight"/>
              <a:cs typeface="Limelight"/>
              <a:sym typeface="Limelight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7530996" y="3788452"/>
            <a:ext cx="6736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endParaRPr sz="1200">
              <a:solidFill>
                <a:srgbClr val="131313"/>
              </a:solidFill>
              <a:latin typeface="Limelight"/>
              <a:ea typeface="Limelight"/>
              <a:cs typeface="Limelight"/>
              <a:sym typeface="Limelight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7178431" y="3753366"/>
            <a:ext cx="115741" cy="6095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7120560" y="3851510"/>
            <a:ext cx="115741" cy="6095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2"/>
          <p:cNvCxnSpPr/>
          <p:nvPr/>
        </p:nvCxnSpPr>
        <p:spPr>
          <a:xfrm>
            <a:off x="7148122" y="3659826"/>
            <a:ext cx="382800" cy="222300"/>
          </a:xfrm>
          <a:prstGeom prst="bentConnector3">
            <a:avLst>
              <a:gd fmla="val 107239" name="adj1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 rot="10800000">
            <a:off x="7263219" y="3882932"/>
            <a:ext cx="288000" cy="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8" name="Google Shape;108;p2"/>
          <p:cNvSpPr txBox="1"/>
          <p:nvPr/>
        </p:nvSpPr>
        <p:spPr>
          <a:xfrm>
            <a:off x="4937897" y="2207006"/>
            <a:ext cx="340225" cy="297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6666273" y="2574352"/>
            <a:ext cx="340225" cy="297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8247333" y="3718784"/>
            <a:ext cx="340225" cy="297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3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3068409" y="1860102"/>
            <a:ext cx="996619" cy="24914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7" u="sng">
                <a:solidFill>
                  <a:srgbClr val="131313"/>
                </a:solidFill>
                <a:latin typeface="Arial"/>
                <a:ea typeface="Arial"/>
                <a:cs typeface="Arial"/>
                <a:sym typeface="Arial"/>
              </a:rPr>
              <a:t>:Runner</a:t>
            </a:r>
            <a:endParaRPr sz="1067" u="sng">
              <a:solidFill>
                <a:srgbClr val="1313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4937898" y="5408273"/>
            <a:ext cx="4163013" cy="3594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2"/>
          <p:cNvCxnSpPr/>
          <p:nvPr/>
        </p:nvCxnSpPr>
        <p:spPr>
          <a:xfrm>
            <a:off x="2340535" y="2367523"/>
            <a:ext cx="1081548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4" name="Google Shape;114;p2"/>
          <p:cNvSpPr txBox="1"/>
          <p:nvPr/>
        </p:nvSpPr>
        <p:spPr>
          <a:xfrm>
            <a:off x="2340534" y="2111916"/>
            <a:ext cx="108154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createMVC</a:t>
            </a:r>
            <a:endParaRPr sz="1200">
              <a:solidFill>
                <a:srgbClr val="131313"/>
              </a:solidFill>
              <a:latin typeface="Limelight"/>
              <a:ea typeface="Limelight"/>
              <a:cs typeface="Limelight"/>
              <a:sym typeface="Limelight"/>
            </a:endParaRPr>
          </a:p>
        </p:txBody>
      </p:sp>
      <p:sp>
        <p:nvSpPr>
          <p:cNvPr id="115" name="Google Shape;115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3">
            <a:alphaModFix/>
          </a:blip>
          <a:srcRect b="48633" l="0" r="47151" t="0"/>
          <a:stretch/>
        </p:blipFill>
        <p:spPr>
          <a:xfrm>
            <a:off x="423599" y="286058"/>
            <a:ext cx="3283162" cy="3047077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 b="5204" l="0" r="14230" t="51534"/>
          <a:stretch/>
        </p:blipFill>
        <p:spPr>
          <a:xfrm>
            <a:off x="266689" y="3638627"/>
            <a:ext cx="4593338" cy="2212260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4">
            <a:alphaModFix/>
          </a:blip>
          <a:srcRect b="49945" l="-670" r="32988" t="141"/>
          <a:stretch/>
        </p:blipFill>
        <p:spPr>
          <a:xfrm>
            <a:off x="4185864" y="286058"/>
            <a:ext cx="4004408" cy="2835446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24" name="Google Shape;124;p3"/>
          <p:cNvPicPr preferRelativeResize="0"/>
          <p:nvPr/>
        </p:nvPicPr>
        <p:blipFill rotWithShape="1">
          <a:blip r:embed="rId4">
            <a:alphaModFix/>
          </a:blip>
          <a:srcRect b="0" l="0" r="24452" t="82102"/>
          <a:stretch/>
        </p:blipFill>
        <p:spPr>
          <a:xfrm>
            <a:off x="6349181" y="5730363"/>
            <a:ext cx="4022487" cy="928175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25" name="Google Shape;125;p3"/>
          <p:cNvPicPr preferRelativeResize="0"/>
          <p:nvPr/>
        </p:nvPicPr>
        <p:blipFill rotWithShape="1">
          <a:blip r:embed="rId4">
            <a:alphaModFix/>
          </a:blip>
          <a:srcRect b="17868" l="0" r="13139" t="49755"/>
          <a:stretch/>
        </p:blipFill>
        <p:spPr>
          <a:xfrm>
            <a:off x="5685887" y="3333135"/>
            <a:ext cx="5579039" cy="1996643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Object-Oriented Design</a:t>
            </a:r>
            <a:endParaRPr/>
          </a:p>
        </p:txBody>
      </p:sp>
      <p:sp>
        <p:nvSpPr>
          <p:cNvPr id="131" name="Google Shape;13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“After identifying your </a:t>
            </a:r>
            <a:r>
              <a:rPr lang="en-US">
                <a:solidFill>
                  <a:srgbClr val="FF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requirements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and creating a </a:t>
            </a:r>
            <a:r>
              <a:rPr lang="en-US">
                <a:solidFill>
                  <a:srgbClr val="FF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domain model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, then create software </a:t>
            </a:r>
            <a:r>
              <a:rPr lang="en-US">
                <a:solidFill>
                  <a:srgbClr val="FF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classes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, and define the </a:t>
            </a:r>
            <a:r>
              <a:rPr lang="en-US">
                <a:solidFill>
                  <a:srgbClr val="FF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messaging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between the objects to fulfill the requirements.”</a:t>
            </a:r>
            <a:endParaRPr/>
          </a:p>
          <a:p>
            <a:pPr indent="-508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Often make </a:t>
            </a:r>
            <a:r>
              <a:rPr lang="en-US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Sequence diagram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 Diagram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in parallel using the </a:t>
            </a:r>
            <a:r>
              <a:rPr lang="en-US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domain model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SSD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4"/>
          <p:cNvSpPr txBox="1"/>
          <p:nvPr>
            <p:ph idx="4294967295" type="sldNum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600">
              <a:solidFill>
                <a:srgbClr val="88888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Class Diagram 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 class consists of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properties (attributes),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behavior (operations),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relationships to other objects,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Examples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Employee: has a name, employee# and department; an employee is hired, and fired; an employee works in one or more projects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9" name="Google Shape;1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4490" y="394161"/>
            <a:ext cx="6456577" cy="20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6"/>
          <p:cNvGrpSpPr/>
          <p:nvPr/>
        </p:nvGrpSpPr>
        <p:grpSpPr>
          <a:xfrm>
            <a:off x="3914775" y="2032828"/>
            <a:ext cx="4038600" cy="2743200"/>
            <a:chOff x="240" y="1344"/>
            <a:chExt cx="2544" cy="1728"/>
          </a:xfrm>
        </p:grpSpPr>
        <p:sp>
          <p:nvSpPr>
            <p:cNvPr id="148" name="Google Shape;148;p6"/>
            <p:cNvSpPr/>
            <p:nvPr/>
          </p:nvSpPr>
          <p:spPr>
            <a:xfrm>
              <a:off x="240" y="1344"/>
              <a:ext cx="2544" cy="1728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                      Student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 name: string = “Anon”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 registeredIn: Course [*]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 register (c: Course)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 isRegistered (c: Course) : Boolean</a:t>
              </a:r>
              <a:endParaRPr/>
            </a:p>
          </p:txBody>
        </p:sp>
        <p:cxnSp>
          <p:nvCxnSpPr>
            <p:cNvPr id="149" name="Google Shape;149;p6"/>
            <p:cNvCxnSpPr/>
            <p:nvPr/>
          </p:nvCxnSpPr>
          <p:spPr>
            <a:xfrm>
              <a:off x="240" y="1776"/>
              <a:ext cx="25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6"/>
            <p:cNvCxnSpPr/>
            <p:nvPr/>
          </p:nvCxnSpPr>
          <p:spPr>
            <a:xfrm>
              <a:off x="240" y="2496"/>
              <a:ext cx="2544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1" name="Google Shape;151;p6"/>
          <p:cNvSpPr txBox="1"/>
          <p:nvPr/>
        </p:nvSpPr>
        <p:spPr>
          <a:xfrm>
            <a:off x="6565901" y="1331154"/>
            <a:ext cx="237917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C0128"/>
                </a:solidFill>
                <a:latin typeface="Times"/>
                <a:ea typeface="Times"/>
                <a:cs typeface="Times"/>
                <a:sym typeface="Times"/>
              </a:rPr>
              <a:t>Name of the class</a:t>
            </a:r>
            <a:endParaRPr/>
          </a:p>
        </p:txBody>
      </p:sp>
      <p:cxnSp>
        <p:nvCxnSpPr>
          <p:cNvPr id="152" name="Google Shape;152;p6"/>
          <p:cNvCxnSpPr/>
          <p:nvPr/>
        </p:nvCxnSpPr>
        <p:spPr>
          <a:xfrm flipH="1">
            <a:off x="6124575" y="1728028"/>
            <a:ext cx="457200" cy="3810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3" name="Google Shape;153;p6"/>
          <p:cNvSpPr txBox="1"/>
          <p:nvPr/>
        </p:nvSpPr>
        <p:spPr>
          <a:xfrm>
            <a:off x="1933575" y="3404430"/>
            <a:ext cx="141173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C0128"/>
                </a:solidFill>
                <a:latin typeface="Times"/>
                <a:ea typeface="Times"/>
                <a:cs typeface="Times"/>
                <a:sym typeface="Times"/>
              </a:rPr>
              <a:t>Visibility: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C0128"/>
                </a:solidFill>
                <a:latin typeface="Times"/>
                <a:ea typeface="Times"/>
                <a:cs typeface="Times"/>
                <a:sym typeface="Times"/>
              </a:rPr>
              <a:t>+, -, #</a:t>
            </a:r>
            <a:endParaRPr/>
          </a:p>
        </p:txBody>
      </p:sp>
      <p:cxnSp>
        <p:nvCxnSpPr>
          <p:cNvPr id="154" name="Google Shape;154;p6"/>
          <p:cNvCxnSpPr/>
          <p:nvPr/>
        </p:nvCxnSpPr>
        <p:spPr>
          <a:xfrm flipH="1" rot="10800000">
            <a:off x="3076575" y="3175828"/>
            <a:ext cx="914400" cy="3048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5" name="Google Shape;155;p6"/>
          <p:cNvSpPr txBox="1"/>
          <p:nvPr/>
        </p:nvSpPr>
        <p:spPr>
          <a:xfrm>
            <a:off x="2081148" y="1804230"/>
            <a:ext cx="12939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C0128"/>
                </a:solidFill>
                <a:latin typeface="Times"/>
                <a:ea typeface="Times"/>
                <a:cs typeface="Times"/>
                <a:sym typeface="Times"/>
              </a:rPr>
              <a:t>Attribute</a:t>
            </a:r>
            <a:endParaRPr/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C0128"/>
                </a:solidFill>
                <a:latin typeface="Times"/>
                <a:ea typeface="Times"/>
                <a:cs typeface="Times"/>
                <a:sym typeface="Times"/>
              </a:rPr>
              <a:t>name</a:t>
            </a:r>
            <a:endParaRPr/>
          </a:p>
        </p:txBody>
      </p:sp>
      <p:cxnSp>
        <p:nvCxnSpPr>
          <p:cNvPr id="156" name="Google Shape;156;p6"/>
          <p:cNvCxnSpPr/>
          <p:nvPr/>
        </p:nvCxnSpPr>
        <p:spPr>
          <a:xfrm>
            <a:off x="3152775" y="2185228"/>
            <a:ext cx="1295400" cy="8382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7" name="Google Shape;157;p6"/>
          <p:cNvSpPr txBox="1"/>
          <p:nvPr/>
        </p:nvSpPr>
        <p:spPr>
          <a:xfrm>
            <a:off x="2256779" y="5157030"/>
            <a:ext cx="141417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C0128"/>
                </a:solidFill>
                <a:latin typeface="Times"/>
                <a:ea typeface="Times"/>
                <a:cs typeface="Times"/>
                <a:sym typeface="Times"/>
              </a:rPr>
              <a:t>Operation</a:t>
            </a:r>
            <a:endParaRPr/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C0128"/>
                </a:solidFill>
                <a:latin typeface="Times"/>
                <a:ea typeface="Times"/>
                <a:cs typeface="Times"/>
                <a:sym typeface="Times"/>
              </a:rPr>
              <a:t>name</a:t>
            </a:r>
            <a:endParaRPr/>
          </a:p>
        </p:txBody>
      </p:sp>
      <p:cxnSp>
        <p:nvCxnSpPr>
          <p:cNvPr id="158" name="Google Shape;158;p6"/>
          <p:cNvCxnSpPr/>
          <p:nvPr/>
        </p:nvCxnSpPr>
        <p:spPr>
          <a:xfrm flipH="1" rot="10800000">
            <a:off x="3609975" y="4623628"/>
            <a:ext cx="838200" cy="6858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9" name="Google Shape;159;p6"/>
          <p:cNvSpPr txBox="1"/>
          <p:nvPr/>
        </p:nvSpPr>
        <p:spPr>
          <a:xfrm>
            <a:off x="4837395" y="5614228"/>
            <a:ext cx="15504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C0128"/>
                </a:solidFill>
                <a:latin typeface="Times"/>
                <a:ea typeface="Times"/>
                <a:cs typeface="Times"/>
                <a:sym typeface="Times"/>
              </a:rPr>
              <a:t>Parameters</a:t>
            </a:r>
            <a:endParaRPr/>
          </a:p>
        </p:txBody>
      </p:sp>
      <p:cxnSp>
        <p:nvCxnSpPr>
          <p:cNvPr id="160" name="Google Shape;160;p6"/>
          <p:cNvCxnSpPr/>
          <p:nvPr/>
        </p:nvCxnSpPr>
        <p:spPr>
          <a:xfrm flipH="1" rot="10800000">
            <a:off x="5591175" y="4623628"/>
            <a:ext cx="228600" cy="9906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1" name="Google Shape;161;p6"/>
          <p:cNvSpPr txBox="1"/>
          <p:nvPr/>
        </p:nvSpPr>
        <p:spPr>
          <a:xfrm>
            <a:off x="7163638" y="5385628"/>
            <a:ext cx="17636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C0128"/>
                </a:solidFill>
                <a:latin typeface="Times"/>
                <a:ea typeface="Times"/>
                <a:cs typeface="Times"/>
                <a:sym typeface="Times"/>
              </a:rPr>
              <a:t>Return value</a:t>
            </a:r>
            <a:endParaRPr/>
          </a:p>
        </p:txBody>
      </p:sp>
      <p:cxnSp>
        <p:nvCxnSpPr>
          <p:cNvPr id="162" name="Google Shape;162;p6"/>
          <p:cNvCxnSpPr/>
          <p:nvPr/>
        </p:nvCxnSpPr>
        <p:spPr>
          <a:xfrm rot="10800000">
            <a:off x="7115175" y="4623628"/>
            <a:ext cx="685800" cy="7620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3" name="Google Shape;163;p6"/>
          <p:cNvSpPr txBox="1"/>
          <p:nvPr/>
        </p:nvSpPr>
        <p:spPr>
          <a:xfrm>
            <a:off x="3757548" y="1194630"/>
            <a:ext cx="129394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C0128"/>
                </a:solidFill>
                <a:latin typeface="Times"/>
                <a:ea typeface="Times"/>
                <a:cs typeface="Times"/>
                <a:sym typeface="Times"/>
              </a:rPr>
              <a:t>Attribute</a:t>
            </a:r>
            <a:endParaRPr/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C0128"/>
                </a:solidFill>
                <a:latin typeface="Times"/>
                <a:ea typeface="Times"/>
                <a:cs typeface="Times"/>
                <a:sym typeface="Times"/>
              </a:rPr>
              <a:t>type</a:t>
            </a:r>
            <a:endParaRPr/>
          </a:p>
        </p:txBody>
      </p:sp>
      <p:cxnSp>
        <p:nvCxnSpPr>
          <p:cNvPr id="164" name="Google Shape;164;p6"/>
          <p:cNvCxnSpPr/>
          <p:nvPr/>
        </p:nvCxnSpPr>
        <p:spPr>
          <a:xfrm>
            <a:off x="4676775" y="1804228"/>
            <a:ext cx="457200" cy="12192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5" name="Google Shape;165;p6"/>
          <p:cNvSpPr txBox="1"/>
          <p:nvPr/>
        </p:nvSpPr>
        <p:spPr>
          <a:xfrm>
            <a:off x="8328613" y="4166428"/>
            <a:ext cx="16514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C0128"/>
                </a:solidFill>
                <a:latin typeface="Times"/>
                <a:ea typeface="Times"/>
                <a:cs typeface="Times"/>
                <a:sym typeface="Times"/>
              </a:rPr>
              <a:t>Multiplicity</a:t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8289561" y="3556828"/>
            <a:ext cx="18485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C0128"/>
                </a:solidFill>
                <a:latin typeface="Times"/>
                <a:ea typeface="Times"/>
                <a:cs typeface="Times"/>
                <a:sym typeface="Times"/>
              </a:rPr>
              <a:t>Default value</a:t>
            </a:r>
            <a:endParaRPr/>
          </a:p>
        </p:txBody>
      </p:sp>
      <p:cxnSp>
        <p:nvCxnSpPr>
          <p:cNvPr id="167" name="Google Shape;167;p6"/>
          <p:cNvCxnSpPr/>
          <p:nvPr/>
        </p:nvCxnSpPr>
        <p:spPr>
          <a:xfrm rot="10800000">
            <a:off x="6581775" y="3480628"/>
            <a:ext cx="1752600" cy="8382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" name="Google Shape;168;p6"/>
          <p:cNvCxnSpPr/>
          <p:nvPr/>
        </p:nvCxnSpPr>
        <p:spPr>
          <a:xfrm rot="10800000">
            <a:off x="6419666" y="3153812"/>
            <a:ext cx="1914709" cy="555416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9" name="Google Shape;169;p6"/>
          <p:cNvSpPr/>
          <p:nvPr/>
        </p:nvSpPr>
        <p:spPr>
          <a:xfrm>
            <a:off x="1524002" y="-184667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349942" y="144843"/>
            <a:ext cx="113679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 Diagram Notation </a:t>
            </a:r>
            <a:endParaRPr sz="2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/>
          <p:nvPr/>
        </p:nvSpPr>
        <p:spPr>
          <a:xfrm>
            <a:off x="3929063" y="1357313"/>
            <a:ext cx="3429000" cy="1447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Order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dateReceived: Date [0..1]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isPrepaid: Boolean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lineItems: OrderLine [*] </a:t>
            </a:r>
            <a:endParaRPr/>
          </a:p>
        </p:txBody>
      </p:sp>
      <p:cxnSp>
        <p:nvCxnSpPr>
          <p:cNvPr id="177" name="Google Shape;177;p7"/>
          <p:cNvCxnSpPr/>
          <p:nvPr/>
        </p:nvCxnSpPr>
        <p:spPr>
          <a:xfrm>
            <a:off x="3929063" y="1814513"/>
            <a:ext cx="3429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7"/>
          <p:cNvCxnSpPr/>
          <p:nvPr/>
        </p:nvCxnSpPr>
        <p:spPr>
          <a:xfrm>
            <a:off x="3929063" y="2728913"/>
            <a:ext cx="3429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7"/>
          <p:cNvSpPr txBox="1"/>
          <p:nvPr/>
        </p:nvSpPr>
        <p:spPr>
          <a:xfrm>
            <a:off x="349942" y="366112"/>
            <a:ext cx="113679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Navigability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9007" y="3643313"/>
            <a:ext cx="5249111" cy="2462997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l">
              <a:srgbClr val="000000">
                <a:alpha val="44705"/>
              </a:srgbClr>
            </a:outerShdw>
          </a:effectLst>
        </p:spPr>
      </p:pic>
      <p:sp>
        <p:nvSpPr>
          <p:cNvPr id="181" name="Google Shape;18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8"/>
          <p:cNvGrpSpPr/>
          <p:nvPr/>
        </p:nvGrpSpPr>
        <p:grpSpPr>
          <a:xfrm>
            <a:off x="2667000" y="3962400"/>
            <a:ext cx="2209800" cy="990600"/>
            <a:chOff x="720" y="2496"/>
            <a:chExt cx="1392" cy="624"/>
          </a:xfrm>
        </p:grpSpPr>
        <p:sp>
          <p:nvSpPr>
            <p:cNvPr id="187" name="Google Shape;187;p8"/>
            <p:cNvSpPr/>
            <p:nvPr/>
          </p:nvSpPr>
          <p:spPr>
            <a:xfrm>
              <a:off x="720" y="2496"/>
              <a:ext cx="1392" cy="624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           Person</a:t>
              </a:r>
              <a:endParaRPr/>
            </a:p>
            <a:p>
              <a:pPr indent="0" lvl="0" marL="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 carsOwned: Car [*] </a:t>
              </a:r>
              <a:endParaRPr/>
            </a:p>
          </p:txBody>
        </p:sp>
        <p:cxnSp>
          <p:nvCxnSpPr>
            <p:cNvPr id="188" name="Google Shape;188;p8"/>
            <p:cNvCxnSpPr/>
            <p:nvPr/>
          </p:nvCxnSpPr>
          <p:spPr>
            <a:xfrm flipH="1" rot="10800000">
              <a:off x="720" y="2784"/>
              <a:ext cx="1392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" name="Google Shape;189;p8"/>
            <p:cNvCxnSpPr/>
            <p:nvPr/>
          </p:nvCxnSpPr>
          <p:spPr>
            <a:xfrm flipH="1" rot="10800000">
              <a:off x="720" y="3072"/>
              <a:ext cx="1392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0" name="Google Shape;190;p8"/>
          <p:cNvGrpSpPr/>
          <p:nvPr/>
        </p:nvGrpSpPr>
        <p:grpSpPr>
          <a:xfrm>
            <a:off x="7315200" y="3962400"/>
            <a:ext cx="2209800" cy="990600"/>
            <a:chOff x="3648" y="2496"/>
            <a:chExt cx="1392" cy="624"/>
          </a:xfrm>
        </p:grpSpPr>
        <p:sp>
          <p:nvSpPr>
            <p:cNvPr id="191" name="Google Shape;191;p8"/>
            <p:cNvSpPr/>
            <p:nvPr/>
          </p:nvSpPr>
          <p:spPr>
            <a:xfrm>
              <a:off x="3648" y="2496"/>
              <a:ext cx="1392" cy="624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             Car</a:t>
              </a:r>
              <a:endParaRPr/>
            </a:p>
            <a:p>
              <a:pPr indent="0" lvl="0" marL="0" marR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+ Owner: Person [0..1] </a:t>
              </a:r>
              <a:endParaRPr/>
            </a:p>
          </p:txBody>
        </p:sp>
        <p:cxnSp>
          <p:nvCxnSpPr>
            <p:cNvPr id="192" name="Google Shape;192;p8"/>
            <p:cNvCxnSpPr/>
            <p:nvPr/>
          </p:nvCxnSpPr>
          <p:spPr>
            <a:xfrm flipH="1" rot="10800000">
              <a:off x="3648" y="2784"/>
              <a:ext cx="1392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8"/>
            <p:cNvCxnSpPr/>
            <p:nvPr/>
          </p:nvCxnSpPr>
          <p:spPr>
            <a:xfrm flipH="1" rot="10800000">
              <a:off x="3648" y="3072"/>
              <a:ext cx="1392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4" name="Google Shape;194;p8"/>
          <p:cNvSpPr txBox="1"/>
          <p:nvPr/>
        </p:nvSpPr>
        <p:spPr>
          <a:xfrm>
            <a:off x="4191000" y="2971801"/>
            <a:ext cx="33528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How implement it?</a:t>
            </a:r>
            <a:endParaRPr/>
          </a:p>
        </p:txBody>
      </p:sp>
      <p:sp>
        <p:nvSpPr>
          <p:cNvPr id="195" name="Google Shape;195;p8"/>
          <p:cNvSpPr txBox="1"/>
          <p:nvPr>
            <p:ph type="title"/>
          </p:nvPr>
        </p:nvSpPr>
        <p:spPr>
          <a:xfrm>
            <a:off x="218768" y="-2143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Bidirectional Association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1429" y="1575784"/>
            <a:ext cx="4968671" cy="670618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197" name="Google Shape;19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 txBox="1"/>
          <p:nvPr>
            <p:ph type="title"/>
          </p:nvPr>
        </p:nvSpPr>
        <p:spPr>
          <a:xfrm>
            <a:off x="838200" y="365125"/>
            <a:ext cx="10515600" cy="806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</a:pPr>
            <a:r>
              <a:rPr lang="en-US" sz="3600">
                <a:latin typeface="Helvetica Neue"/>
                <a:ea typeface="Helvetica Neue"/>
                <a:cs typeface="Helvetica Neue"/>
                <a:sym typeface="Helvetica Neue"/>
              </a:rPr>
              <a:t>Generalization/Specialization</a:t>
            </a:r>
            <a:endParaRPr sz="3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9"/>
          <p:cNvSpPr txBox="1"/>
          <p:nvPr>
            <p:ph idx="1" type="body"/>
          </p:nvPr>
        </p:nvSpPr>
        <p:spPr>
          <a:xfrm>
            <a:off x="838200" y="127501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Generalization hierarchies may be created by generalizing from specific things or by specializing from general things.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4" name="Google Shape;2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760" y="2520628"/>
            <a:ext cx="7315834" cy="382252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>
                <a:latin typeface="Helvetica Neue"/>
                <a:ea typeface="Helvetica Neue"/>
                <a:cs typeface="Helvetica Neue"/>
                <a:sym typeface="Helvetica Neue"/>
              </a:rPr>
              <a:t>Inheritance </a:t>
            </a:r>
            <a:endParaRPr/>
          </a:p>
        </p:txBody>
      </p:sp>
      <p:sp>
        <p:nvSpPr>
          <p:cNvPr id="211" name="Google Shape;2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Arial"/>
              <a:buChar char="•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Class inheritance is implicit in a generalization relationship between classes.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3399"/>
              </a:buClr>
              <a:buSzPts val="2400"/>
              <a:buFont typeface="Arial"/>
              <a:buChar char="•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Subclasses inherit attributes, associations, &amp; operations from the superclass</a:t>
            </a:r>
            <a:endParaRPr/>
          </a:p>
          <a:p>
            <a:pPr indent="-762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2" name="Google Shape;2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8182" y="3404060"/>
            <a:ext cx="3435276" cy="333238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0"/>
          <p:cNvSpPr txBox="1"/>
          <p:nvPr/>
        </p:nvSpPr>
        <p:spPr>
          <a:xfrm>
            <a:off x="1600200" y="3733802"/>
            <a:ext cx="25908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the inheritance mechanism in Java?</a:t>
            </a:r>
            <a:endParaRPr/>
          </a:p>
        </p:txBody>
      </p:sp>
      <p:sp>
        <p:nvSpPr>
          <p:cNvPr id="214" name="Google Shape;2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"/>
          <p:cNvSpPr txBox="1"/>
          <p:nvPr>
            <p:ph type="title"/>
          </p:nvPr>
        </p:nvSpPr>
        <p:spPr>
          <a:xfrm>
            <a:off x="403123" y="152401"/>
            <a:ext cx="9385402" cy="1250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rPr lang="en-US" sz="3200">
                <a:latin typeface="Helvetica Neue"/>
                <a:ea typeface="Helvetica Neue"/>
                <a:cs typeface="Helvetica Neue"/>
                <a:sym typeface="Helvetica Neue"/>
              </a:rPr>
              <a:t>Inheritance</a:t>
            </a:r>
            <a:endParaRPr/>
          </a:p>
        </p:txBody>
      </p:sp>
      <p:pic>
        <p:nvPicPr>
          <p:cNvPr id="220" name="Google Shape;2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4385" y="152401"/>
            <a:ext cx="5792143" cy="381491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221" name="Google Shape;221;p11"/>
          <p:cNvSpPr txBox="1"/>
          <p:nvPr/>
        </p:nvSpPr>
        <p:spPr>
          <a:xfrm>
            <a:off x="403123" y="2779868"/>
            <a:ext cx="7949853" cy="372657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Java Inheritence</a:t>
            </a:r>
            <a:endParaRPr b="1"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US" sz="2000">
                <a:solidFill>
                  <a:srgbClr val="FF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subclass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may </a:t>
            </a:r>
            <a:r>
              <a:rPr lang="en-US" sz="200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override an inherited aspect</a:t>
            </a:r>
            <a:endParaRPr/>
          </a:p>
          <a:p>
            <a:pPr indent="-228600" lvl="1" marL="685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AdminStaff &amp; CreativeStaff have different </a:t>
            </a:r>
            <a:endParaRPr/>
          </a:p>
          <a:p>
            <a:pPr indent="-228600" lvl="1" marL="685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methods for calculating bonuses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US" sz="2000">
                <a:solidFill>
                  <a:srgbClr val="FF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Subclass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may </a:t>
            </a:r>
            <a:r>
              <a:rPr lang="en-US" sz="200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new features</a:t>
            </a:r>
            <a:endParaRPr/>
          </a:p>
          <a:p>
            <a:pPr indent="-228600" lvl="1" marL="685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qualification is a new attribute in CreativeStaff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33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Superclasses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may be </a:t>
            </a:r>
            <a:r>
              <a:rPr lang="en-US" sz="200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declared {abstract}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meaning they have no instances</a:t>
            </a:r>
            <a:endParaRPr/>
          </a:p>
          <a:p>
            <a:pPr indent="-228600" lvl="1" marL="685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Implies that the subclasses cover all possibilities</a:t>
            </a:r>
            <a:endParaRPr/>
          </a:p>
          <a:p>
            <a:pPr indent="-228600" lvl="1" marL="685800" marR="0" rtl="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 there are no other staff than AdminStaff and CreativeStaff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 txBox="1"/>
          <p:nvPr/>
        </p:nvSpPr>
        <p:spPr>
          <a:xfrm>
            <a:off x="686676" y="1612022"/>
            <a:ext cx="10902731" cy="4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the </a:t>
            </a:r>
            <a:r>
              <a:rPr lang="en-US" sz="2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“Has-A” 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relationship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5162553" y="4770106"/>
            <a:ext cx="1120775" cy="6715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:Person</a:t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2266953" y="4160506"/>
            <a:ext cx="1120775" cy="6715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:Car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8134353" y="4236706"/>
            <a:ext cx="1120775" cy="6715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:Train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31" name="Google Shape;231;p12"/>
          <p:cNvCxnSpPr>
            <a:stCxn id="232" idx="3"/>
            <a:endCxn id="228" idx="1"/>
          </p:cNvCxnSpPr>
          <p:nvPr/>
        </p:nvCxnSpPr>
        <p:spPr>
          <a:xfrm>
            <a:off x="3787776" y="4708195"/>
            <a:ext cx="1374900" cy="3978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32" name="Google Shape;232;p12"/>
          <p:cNvSpPr/>
          <p:nvPr/>
        </p:nvSpPr>
        <p:spPr>
          <a:xfrm>
            <a:off x="3406776" y="4587545"/>
            <a:ext cx="381000" cy="241300"/>
          </a:xfrm>
          <a:prstGeom prst="diamond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3714751" y="4693906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0..1</a:t>
            </a:r>
            <a:endParaRPr/>
          </a:p>
        </p:txBody>
      </p:sp>
      <p:cxnSp>
        <p:nvCxnSpPr>
          <p:cNvPr id="234" name="Google Shape;234;p12"/>
          <p:cNvCxnSpPr>
            <a:stCxn id="228" idx="3"/>
            <a:endCxn id="235" idx="1"/>
          </p:cNvCxnSpPr>
          <p:nvPr/>
        </p:nvCxnSpPr>
        <p:spPr>
          <a:xfrm flipH="1" rot="10800000">
            <a:off x="6283328" y="4820863"/>
            <a:ext cx="1470000" cy="2850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35" name="Google Shape;235;p12"/>
          <p:cNvSpPr/>
          <p:nvPr/>
        </p:nvSpPr>
        <p:spPr>
          <a:xfrm>
            <a:off x="7753351" y="4693905"/>
            <a:ext cx="381000" cy="254000"/>
          </a:xfrm>
          <a:prstGeom prst="diamond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7372351" y="4770106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0..1</a:t>
            </a:r>
            <a:endParaRPr/>
          </a:p>
        </p:txBody>
      </p:sp>
      <p:sp>
        <p:nvSpPr>
          <p:cNvPr id="237" name="Google Shape;237;p12"/>
          <p:cNvSpPr txBox="1"/>
          <p:nvPr/>
        </p:nvSpPr>
        <p:spPr>
          <a:xfrm>
            <a:off x="6534153" y="5074906"/>
            <a:ext cx="11095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passengers</a:t>
            </a:r>
            <a:endParaRPr/>
          </a:p>
        </p:txBody>
      </p:sp>
      <p:sp>
        <p:nvSpPr>
          <p:cNvPr id="238" name="Google Shape;238;p12"/>
          <p:cNvSpPr txBox="1"/>
          <p:nvPr/>
        </p:nvSpPr>
        <p:spPr>
          <a:xfrm>
            <a:off x="4248151" y="5074906"/>
            <a:ext cx="6319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driver</a:t>
            </a:r>
            <a:endParaRPr/>
          </a:p>
        </p:txBody>
      </p:sp>
      <p:sp>
        <p:nvSpPr>
          <p:cNvPr id="239" name="Google Shape;239;p12"/>
          <p:cNvSpPr txBox="1"/>
          <p:nvPr/>
        </p:nvSpPr>
        <p:spPr>
          <a:xfrm>
            <a:off x="4857751" y="5074906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240" name="Google Shape;240;p12"/>
          <p:cNvSpPr txBox="1"/>
          <p:nvPr/>
        </p:nvSpPr>
        <p:spPr>
          <a:xfrm>
            <a:off x="6229351" y="4846306"/>
            <a:ext cx="4539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0..*</a:t>
            </a:r>
            <a:endParaRPr/>
          </a:p>
        </p:txBody>
      </p:sp>
      <p:sp>
        <p:nvSpPr>
          <p:cNvPr id="241" name="Google Shape;241;p12"/>
          <p:cNvSpPr txBox="1"/>
          <p:nvPr/>
        </p:nvSpPr>
        <p:spPr>
          <a:xfrm>
            <a:off x="2730186" y="5230649"/>
            <a:ext cx="131028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aggregation</a:t>
            </a:r>
            <a:endParaRPr/>
          </a:p>
        </p:txBody>
      </p:sp>
      <p:cxnSp>
        <p:nvCxnSpPr>
          <p:cNvPr id="242" name="Google Shape;242;p12"/>
          <p:cNvCxnSpPr/>
          <p:nvPr/>
        </p:nvCxnSpPr>
        <p:spPr>
          <a:xfrm flipH="1" rot="10800000">
            <a:off x="3409951" y="4846305"/>
            <a:ext cx="130828" cy="457199"/>
          </a:xfrm>
          <a:prstGeom prst="straightConnector1">
            <a:avLst/>
          </a:prstGeom>
          <a:noFill/>
          <a:ln cap="flat" cmpd="sng" w="9525">
            <a:solidFill>
              <a:srgbClr val="75707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3" name="Google Shape;243;p12"/>
          <p:cNvSpPr/>
          <p:nvPr/>
        </p:nvSpPr>
        <p:spPr>
          <a:xfrm>
            <a:off x="2266953" y="4541506"/>
            <a:ext cx="1120775" cy="1381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5162553" y="5151106"/>
            <a:ext cx="1120775" cy="1381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8134353" y="4617706"/>
            <a:ext cx="1120775" cy="1381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46" name="Google Shape;246;p12"/>
          <p:cNvCxnSpPr>
            <a:stCxn id="247" idx="3"/>
          </p:cNvCxnSpPr>
          <p:nvPr/>
        </p:nvCxnSpPr>
        <p:spPr>
          <a:xfrm>
            <a:off x="4911725" y="2886661"/>
            <a:ext cx="1600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7" name="Google Shape;247;p12"/>
          <p:cNvSpPr/>
          <p:nvPr/>
        </p:nvSpPr>
        <p:spPr>
          <a:xfrm>
            <a:off x="4530725" y="2766011"/>
            <a:ext cx="381000" cy="241300"/>
          </a:xfrm>
          <a:prstGeom prst="diamond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6207125" y="2931112"/>
            <a:ext cx="2551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endParaRPr/>
          </a:p>
        </p:txBody>
      </p:sp>
      <p:sp>
        <p:nvSpPr>
          <p:cNvPr id="249" name="Google Shape;249;p12"/>
          <p:cNvSpPr txBox="1"/>
          <p:nvPr/>
        </p:nvSpPr>
        <p:spPr>
          <a:xfrm>
            <a:off x="4606926" y="2092911"/>
            <a:ext cx="137696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aggregation</a:t>
            </a:r>
            <a:endParaRPr/>
          </a:p>
        </p:txBody>
      </p:sp>
      <p:cxnSp>
        <p:nvCxnSpPr>
          <p:cNvPr id="250" name="Google Shape;250;p12"/>
          <p:cNvCxnSpPr/>
          <p:nvPr/>
        </p:nvCxnSpPr>
        <p:spPr>
          <a:xfrm flipH="1">
            <a:off x="4835525" y="2397711"/>
            <a:ext cx="304800" cy="38100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51" name="Google Shape;251;p12"/>
          <p:cNvGrpSpPr/>
          <p:nvPr/>
        </p:nvGrpSpPr>
        <p:grpSpPr>
          <a:xfrm>
            <a:off x="6511927" y="2550111"/>
            <a:ext cx="1120775" cy="671512"/>
            <a:chOff x="2976" y="1152"/>
            <a:chExt cx="706" cy="423"/>
          </a:xfrm>
        </p:grpSpPr>
        <p:sp>
          <p:nvSpPr>
            <p:cNvPr id="252" name="Google Shape;252;p12"/>
            <p:cNvSpPr/>
            <p:nvPr/>
          </p:nvSpPr>
          <p:spPr>
            <a:xfrm>
              <a:off x="2976" y="1152"/>
              <a:ext cx="706" cy="423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Member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53" name="Google Shape;253;p12"/>
            <p:cNvSpPr/>
            <p:nvPr/>
          </p:nvSpPr>
          <p:spPr>
            <a:xfrm>
              <a:off x="2976" y="1392"/>
              <a:ext cx="706" cy="87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54" name="Google Shape;254;p12"/>
          <p:cNvGrpSpPr/>
          <p:nvPr/>
        </p:nvGrpSpPr>
        <p:grpSpPr>
          <a:xfrm>
            <a:off x="3387727" y="2550111"/>
            <a:ext cx="1120775" cy="671512"/>
            <a:chOff x="1008" y="1152"/>
            <a:chExt cx="706" cy="423"/>
          </a:xfrm>
        </p:grpSpPr>
        <p:sp>
          <p:nvSpPr>
            <p:cNvPr id="255" name="Google Shape;255;p12"/>
            <p:cNvSpPr/>
            <p:nvPr/>
          </p:nvSpPr>
          <p:spPr>
            <a:xfrm>
              <a:off x="1008" y="1152"/>
              <a:ext cx="706" cy="423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Club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1008" y="1392"/>
              <a:ext cx="706" cy="87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57" name="Google Shape;257;p12"/>
          <p:cNvSpPr txBox="1"/>
          <p:nvPr/>
        </p:nvSpPr>
        <p:spPr>
          <a:xfrm>
            <a:off x="4606925" y="3007312"/>
            <a:ext cx="2551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endParaRPr/>
          </a:p>
        </p:txBody>
      </p:sp>
      <p:sp>
        <p:nvSpPr>
          <p:cNvPr id="258" name="Google Shape;258;p12"/>
          <p:cNvSpPr txBox="1"/>
          <p:nvPr>
            <p:ph type="title"/>
          </p:nvPr>
        </p:nvSpPr>
        <p:spPr>
          <a:xfrm>
            <a:off x="838200" y="365126"/>
            <a:ext cx="10515600" cy="8688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Aggregation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9" name="Google Shape;25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 txBox="1"/>
          <p:nvPr/>
        </p:nvSpPr>
        <p:spPr>
          <a:xfrm>
            <a:off x="1828800" y="3533776"/>
            <a:ext cx="8534400" cy="294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33362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t/>
            </a:r>
            <a:endParaRPr b="1" sz="1100">
              <a:solidFill>
                <a:srgbClr val="408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Composition" id="265" name="Google Shape;2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2890" y="3914775"/>
            <a:ext cx="6683375" cy="11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3"/>
          <p:cNvSpPr/>
          <p:nvPr/>
        </p:nvSpPr>
        <p:spPr>
          <a:xfrm>
            <a:off x="5195889" y="4371975"/>
            <a:ext cx="252412" cy="230188"/>
          </a:xfrm>
          <a:prstGeom prst="diamond">
            <a:avLst/>
          </a:prstGeom>
          <a:solidFill>
            <a:schemeClr val="dk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3024188" y="5691189"/>
            <a:ext cx="381000" cy="266700"/>
          </a:xfrm>
          <a:prstGeom prst="diamond">
            <a:avLst/>
          </a:prstGeom>
          <a:solidFill>
            <a:schemeClr val="dk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68" name="Google Shape;268;p13"/>
          <p:cNvCxnSpPr>
            <a:endCxn id="269" idx="1"/>
          </p:cNvCxnSpPr>
          <p:nvPr/>
        </p:nvCxnSpPr>
        <p:spPr>
          <a:xfrm>
            <a:off x="6238988" y="5826125"/>
            <a:ext cx="18906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0" name="Google Shape;270;p13"/>
          <p:cNvCxnSpPr>
            <a:stCxn id="267" idx="3"/>
          </p:cNvCxnSpPr>
          <p:nvPr/>
        </p:nvCxnSpPr>
        <p:spPr>
          <a:xfrm>
            <a:off x="3405188" y="5824539"/>
            <a:ext cx="1662000" cy="1500"/>
          </a:xfrm>
          <a:prstGeom prst="bentConnector3">
            <a:avLst>
              <a:gd fmla="val 50432" name="adj1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  <p:sp>
        <p:nvSpPr>
          <p:cNvPr id="269" name="Google Shape;269;p13"/>
          <p:cNvSpPr/>
          <p:nvPr/>
        </p:nvSpPr>
        <p:spPr>
          <a:xfrm>
            <a:off x="8129588" y="5680075"/>
            <a:ext cx="381000" cy="292100"/>
          </a:xfrm>
          <a:prstGeom prst="diamond">
            <a:avLst/>
          </a:prstGeom>
          <a:solidFill>
            <a:schemeClr val="dk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1" name="Google Shape;271;p13"/>
          <p:cNvSpPr txBox="1"/>
          <p:nvPr/>
        </p:nvSpPr>
        <p:spPr>
          <a:xfrm>
            <a:off x="4548188" y="5832476"/>
            <a:ext cx="4539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3..*</a:t>
            </a:r>
            <a:endParaRPr/>
          </a:p>
        </p:txBody>
      </p:sp>
      <p:sp>
        <p:nvSpPr>
          <p:cNvPr id="272" name="Google Shape;272;p13"/>
          <p:cNvSpPr txBox="1"/>
          <p:nvPr/>
        </p:nvSpPr>
        <p:spPr>
          <a:xfrm>
            <a:off x="6224589" y="5451476"/>
            <a:ext cx="6815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centre</a:t>
            </a:r>
            <a:endParaRPr/>
          </a:p>
        </p:txBody>
      </p:sp>
      <p:sp>
        <p:nvSpPr>
          <p:cNvPr id="273" name="Google Shape;273;p13"/>
          <p:cNvSpPr txBox="1"/>
          <p:nvPr/>
        </p:nvSpPr>
        <p:spPr>
          <a:xfrm>
            <a:off x="4167189" y="5451476"/>
            <a:ext cx="91884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{ordered}</a:t>
            </a:r>
            <a:endParaRPr/>
          </a:p>
        </p:txBody>
      </p:sp>
      <p:sp>
        <p:nvSpPr>
          <p:cNvPr id="274" name="Google Shape;274;p13"/>
          <p:cNvSpPr txBox="1"/>
          <p:nvPr/>
        </p:nvSpPr>
        <p:spPr>
          <a:xfrm>
            <a:off x="6323013" y="5832476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grpSp>
        <p:nvGrpSpPr>
          <p:cNvPr id="275" name="Google Shape;275;p13"/>
          <p:cNvGrpSpPr/>
          <p:nvPr/>
        </p:nvGrpSpPr>
        <p:grpSpPr>
          <a:xfrm>
            <a:off x="1881190" y="5489577"/>
            <a:ext cx="1120775" cy="671513"/>
            <a:chOff x="384" y="2544"/>
            <a:chExt cx="706" cy="423"/>
          </a:xfrm>
        </p:grpSpPr>
        <p:sp>
          <p:nvSpPr>
            <p:cNvPr id="276" name="Google Shape;276;p13"/>
            <p:cNvSpPr/>
            <p:nvPr/>
          </p:nvSpPr>
          <p:spPr>
            <a:xfrm>
              <a:off x="384" y="2544"/>
              <a:ext cx="706" cy="423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Polygon</a:t>
              </a:r>
              <a:endParaRPr/>
            </a:p>
          </p:txBody>
        </p:sp>
        <p:sp>
          <p:nvSpPr>
            <p:cNvPr id="277" name="Google Shape;277;p13"/>
            <p:cNvSpPr/>
            <p:nvPr/>
          </p:nvSpPr>
          <p:spPr>
            <a:xfrm>
              <a:off x="384" y="2784"/>
              <a:ext cx="706" cy="87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78" name="Google Shape;278;p13"/>
          <p:cNvGrpSpPr/>
          <p:nvPr/>
        </p:nvGrpSpPr>
        <p:grpSpPr>
          <a:xfrm>
            <a:off x="8510590" y="5489577"/>
            <a:ext cx="1120775" cy="671513"/>
            <a:chOff x="4512" y="3264"/>
            <a:chExt cx="706" cy="423"/>
          </a:xfrm>
        </p:grpSpPr>
        <p:sp>
          <p:nvSpPr>
            <p:cNvPr id="279" name="Google Shape;279;p13"/>
            <p:cNvSpPr/>
            <p:nvPr/>
          </p:nvSpPr>
          <p:spPr>
            <a:xfrm>
              <a:off x="4512" y="3264"/>
              <a:ext cx="706" cy="423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Circle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4512" y="3504"/>
              <a:ext cx="706" cy="87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81" name="Google Shape;281;p13"/>
          <p:cNvGrpSpPr/>
          <p:nvPr/>
        </p:nvGrpSpPr>
        <p:grpSpPr>
          <a:xfrm>
            <a:off x="5081588" y="5489577"/>
            <a:ext cx="1143000" cy="671513"/>
            <a:chOff x="2688" y="2928"/>
            <a:chExt cx="912" cy="423"/>
          </a:xfrm>
        </p:grpSpPr>
        <p:sp>
          <p:nvSpPr>
            <p:cNvPr id="282" name="Google Shape;282;p13"/>
            <p:cNvSpPr/>
            <p:nvPr/>
          </p:nvSpPr>
          <p:spPr>
            <a:xfrm>
              <a:off x="2688" y="2928"/>
              <a:ext cx="912" cy="423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Point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3" name="Google Shape;283;p13"/>
            <p:cNvSpPr/>
            <p:nvPr/>
          </p:nvSpPr>
          <p:spPr>
            <a:xfrm>
              <a:off x="2688" y="3168"/>
              <a:ext cx="912" cy="96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84" name="Google Shape;284;p13"/>
          <p:cNvSpPr txBox="1"/>
          <p:nvPr>
            <p:ph type="title"/>
          </p:nvPr>
        </p:nvSpPr>
        <p:spPr>
          <a:xfrm>
            <a:off x="503902" y="9418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Aggregation and Composition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5" name="Google Shape;285;p13"/>
          <p:cNvSpPr txBox="1"/>
          <p:nvPr>
            <p:ph idx="1" type="body"/>
          </p:nvPr>
        </p:nvSpPr>
        <p:spPr>
          <a:xfrm>
            <a:off x="838200" y="1456267"/>
            <a:ext cx="10879667" cy="2320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800"/>
              <a:buFont typeface="Arial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Composition is strong form of aggregation that implies ownership: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408000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if the whole is removed from the model, so is the part.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408000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the whole is responsible for the disposition of its parts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408000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Note: Parts can be removed from the composite (where allowed) before the composite is deleted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6" name="Google Shape;28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"/>
          <p:cNvSpPr/>
          <p:nvPr/>
        </p:nvSpPr>
        <p:spPr>
          <a:xfrm>
            <a:off x="5440365" y="1838162"/>
            <a:ext cx="1120775" cy="6715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:Engine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5821365" y="3743162"/>
            <a:ext cx="1120775" cy="6715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:Person</a:t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2925765" y="3133562"/>
            <a:ext cx="1120775" cy="6715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:Car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8793165" y="3209762"/>
            <a:ext cx="1120775" cy="6715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:Train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95" name="Google Shape;295;p14"/>
          <p:cNvCxnSpPr>
            <a:stCxn id="296" idx="3"/>
            <a:endCxn id="292" idx="1"/>
          </p:cNvCxnSpPr>
          <p:nvPr/>
        </p:nvCxnSpPr>
        <p:spPr>
          <a:xfrm>
            <a:off x="4446588" y="3681251"/>
            <a:ext cx="1374900" cy="3978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7" name="Google Shape;297;p14"/>
          <p:cNvCxnSpPr>
            <a:stCxn id="298" idx="3"/>
            <a:endCxn id="291" idx="1"/>
          </p:cNvCxnSpPr>
          <p:nvPr/>
        </p:nvCxnSpPr>
        <p:spPr>
          <a:xfrm flipH="1" rot="10800000">
            <a:off x="4449763" y="2174012"/>
            <a:ext cx="990600" cy="10929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98" name="Google Shape;298;p14"/>
          <p:cNvSpPr/>
          <p:nvPr/>
        </p:nvSpPr>
        <p:spPr>
          <a:xfrm>
            <a:off x="4068763" y="3133562"/>
            <a:ext cx="381000" cy="266700"/>
          </a:xfrm>
          <a:prstGeom prst="diamond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4065588" y="3560601"/>
            <a:ext cx="381000" cy="241300"/>
          </a:xfrm>
          <a:prstGeom prst="diamond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9" name="Google Shape;299;p14"/>
          <p:cNvSpPr txBox="1"/>
          <p:nvPr/>
        </p:nvSpPr>
        <p:spPr>
          <a:xfrm>
            <a:off x="4373563" y="2981162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300" name="Google Shape;300;p14"/>
          <p:cNvSpPr txBox="1"/>
          <p:nvPr/>
        </p:nvSpPr>
        <p:spPr>
          <a:xfrm>
            <a:off x="4373563" y="366696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0..1</a:t>
            </a:r>
            <a:endParaRPr/>
          </a:p>
        </p:txBody>
      </p:sp>
      <p:cxnSp>
        <p:nvCxnSpPr>
          <p:cNvPr id="301" name="Google Shape;301;p14"/>
          <p:cNvCxnSpPr>
            <a:stCxn id="302" idx="3"/>
            <a:endCxn id="303" idx="1"/>
          </p:cNvCxnSpPr>
          <p:nvPr/>
        </p:nvCxnSpPr>
        <p:spPr>
          <a:xfrm>
            <a:off x="7345363" y="3012119"/>
            <a:ext cx="1066800" cy="3438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4" name="Google Shape;304;p14"/>
          <p:cNvCxnSpPr>
            <a:stCxn id="292" idx="3"/>
            <a:endCxn id="305" idx="1"/>
          </p:cNvCxnSpPr>
          <p:nvPr/>
        </p:nvCxnSpPr>
        <p:spPr>
          <a:xfrm flipH="1" rot="10800000">
            <a:off x="6942140" y="3793919"/>
            <a:ext cx="1470000" cy="2850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03" name="Google Shape;303;p14"/>
          <p:cNvSpPr/>
          <p:nvPr/>
        </p:nvSpPr>
        <p:spPr>
          <a:xfrm>
            <a:off x="8412163" y="3209762"/>
            <a:ext cx="381000" cy="292100"/>
          </a:xfrm>
          <a:prstGeom prst="diamond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8412163" y="3666961"/>
            <a:ext cx="381000" cy="254000"/>
          </a:xfrm>
          <a:prstGeom prst="diamond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8031163" y="374316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0..1</a:t>
            </a:r>
            <a:endParaRPr/>
          </a:p>
        </p:txBody>
      </p:sp>
      <p:sp>
        <p:nvSpPr>
          <p:cNvPr id="307" name="Google Shape;307;p14"/>
          <p:cNvSpPr txBox="1"/>
          <p:nvPr/>
        </p:nvSpPr>
        <p:spPr>
          <a:xfrm>
            <a:off x="7345363" y="2752562"/>
            <a:ext cx="4539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1..*</a:t>
            </a:r>
            <a:endParaRPr/>
          </a:p>
        </p:txBody>
      </p:sp>
      <p:sp>
        <p:nvSpPr>
          <p:cNvPr id="308" name="Google Shape;308;p14"/>
          <p:cNvSpPr txBox="1"/>
          <p:nvPr/>
        </p:nvSpPr>
        <p:spPr>
          <a:xfrm>
            <a:off x="7192965" y="4047962"/>
            <a:ext cx="11095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passengers</a:t>
            </a:r>
            <a:endParaRPr/>
          </a:p>
        </p:txBody>
      </p:sp>
      <p:sp>
        <p:nvSpPr>
          <p:cNvPr id="309" name="Google Shape;309;p14"/>
          <p:cNvSpPr txBox="1"/>
          <p:nvPr/>
        </p:nvSpPr>
        <p:spPr>
          <a:xfrm>
            <a:off x="4906963" y="4047962"/>
            <a:ext cx="6319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driver</a:t>
            </a:r>
            <a:endParaRPr/>
          </a:p>
        </p:txBody>
      </p:sp>
      <p:sp>
        <p:nvSpPr>
          <p:cNvPr id="310" name="Google Shape;310;p14"/>
          <p:cNvSpPr txBox="1"/>
          <p:nvPr/>
        </p:nvSpPr>
        <p:spPr>
          <a:xfrm>
            <a:off x="5516563" y="4047962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311" name="Google Shape;311;p14"/>
          <p:cNvSpPr txBox="1"/>
          <p:nvPr/>
        </p:nvSpPr>
        <p:spPr>
          <a:xfrm>
            <a:off x="5135563" y="1914362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312" name="Google Shape;312;p14"/>
          <p:cNvSpPr txBox="1"/>
          <p:nvPr/>
        </p:nvSpPr>
        <p:spPr>
          <a:xfrm>
            <a:off x="8031163" y="3057362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0..1</a:t>
            </a:r>
            <a:endParaRPr/>
          </a:p>
        </p:txBody>
      </p:sp>
      <p:sp>
        <p:nvSpPr>
          <p:cNvPr id="313" name="Google Shape;313;p14"/>
          <p:cNvSpPr txBox="1"/>
          <p:nvPr/>
        </p:nvSpPr>
        <p:spPr>
          <a:xfrm>
            <a:off x="6888163" y="3819362"/>
            <a:ext cx="4539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0..*</a:t>
            </a:r>
            <a:endParaRPr/>
          </a:p>
        </p:txBody>
      </p:sp>
      <p:sp>
        <p:nvSpPr>
          <p:cNvPr id="314" name="Google Shape;314;p14"/>
          <p:cNvSpPr txBox="1"/>
          <p:nvPr/>
        </p:nvSpPr>
        <p:spPr>
          <a:xfrm>
            <a:off x="3154365" y="2523962"/>
            <a:ext cx="116410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FC0128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composition</a:t>
            </a:r>
            <a:endParaRPr/>
          </a:p>
        </p:txBody>
      </p:sp>
      <p:cxnSp>
        <p:nvCxnSpPr>
          <p:cNvPr id="315" name="Google Shape;315;p14"/>
          <p:cNvCxnSpPr/>
          <p:nvPr/>
        </p:nvCxnSpPr>
        <p:spPr>
          <a:xfrm>
            <a:off x="3916365" y="2828761"/>
            <a:ext cx="282575" cy="420688"/>
          </a:xfrm>
          <a:prstGeom prst="straightConnector1">
            <a:avLst/>
          </a:prstGeom>
          <a:noFill/>
          <a:ln cap="flat" cmpd="sng" w="9525">
            <a:solidFill>
              <a:srgbClr val="FC012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" name="Google Shape;316;p14"/>
          <p:cNvSpPr txBox="1"/>
          <p:nvPr/>
        </p:nvSpPr>
        <p:spPr>
          <a:xfrm>
            <a:off x="3382964" y="4200361"/>
            <a:ext cx="13493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FC0128"/>
                </a:solidFill>
                <a:latin typeface="Comic Sans MS"/>
                <a:ea typeface="Comic Sans MS"/>
                <a:cs typeface="Comic Sans MS"/>
                <a:sym typeface="Comic Sans MS"/>
              </a:rPr>
              <a:t>aggregation</a:t>
            </a:r>
            <a:endParaRPr/>
          </a:p>
        </p:txBody>
      </p:sp>
      <p:cxnSp>
        <p:nvCxnSpPr>
          <p:cNvPr id="317" name="Google Shape;317;p14"/>
          <p:cNvCxnSpPr/>
          <p:nvPr/>
        </p:nvCxnSpPr>
        <p:spPr>
          <a:xfrm flipH="1" rot="10800000">
            <a:off x="4068763" y="3666961"/>
            <a:ext cx="127000" cy="609600"/>
          </a:xfrm>
          <a:prstGeom prst="straightConnector1">
            <a:avLst/>
          </a:prstGeom>
          <a:noFill/>
          <a:ln cap="flat" cmpd="sng" w="9525">
            <a:solidFill>
              <a:srgbClr val="FC012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8" name="Google Shape;318;p14"/>
          <p:cNvSpPr/>
          <p:nvPr/>
        </p:nvSpPr>
        <p:spPr>
          <a:xfrm>
            <a:off x="2925765" y="3514562"/>
            <a:ext cx="1120775" cy="1381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5440365" y="2219162"/>
            <a:ext cx="1120775" cy="1381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5821365" y="4124162"/>
            <a:ext cx="1120775" cy="1381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793165" y="3590762"/>
            <a:ext cx="1120775" cy="1381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5897563" y="2676362"/>
            <a:ext cx="1447800" cy="6715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:Locomotive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5897563" y="3057361"/>
            <a:ext cx="1447800" cy="152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3" name="Google Shape;323;p14"/>
          <p:cNvSpPr txBox="1"/>
          <p:nvPr/>
        </p:nvSpPr>
        <p:spPr>
          <a:xfrm>
            <a:off x="469188" y="450851"/>
            <a:ext cx="113679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Aggregation and Composition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Object-Oriented Design</a:t>
            </a:r>
            <a:endParaRPr/>
          </a:p>
        </p:txBody>
      </p:sp>
      <p:sp>
        <p:nvSpPr>
          <p:cNvPr id="330" name="Google Shape;330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“After identifying your requirements and creating a domain model, then add methods to the software classes, and define the messaging between the objects to fulfill the requirements.”</a:t>
            </a:r>
            <a:endParaRPr/>
          </a:p>
          <a:p>
            <a:pPr indent="-508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en-US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how?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How should concepts be implemented by classes?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What method belongs where?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How should the objects interact?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This is a critical, important, and non-trivial task</a:t>
            </a:r>
            <a:endParaRPr/>
          </a:p>
        </p:txBody>
      </p:sp>
      <p:sp>
        <p:nvSpPr>
          <p:cNvPr id="331" name="Google Shape;331;p15"/>
          <p:cNvSpPr txBox="1"/>
          <p:nvPr>
            <p:ph idx="4294967295" type="sldNum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600">
              <a:solidFill>
                <a:srgbClr val="88888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Design Patterns - GRASP</a:t>
            </a:r>
            <a:endParaRPr/>
          </a:p>
        </p:txBody>
      </p:sp>
      <p:sp>
        <p:nvSpPr>
          <p:cNvPr id="337" name="Google Shape;33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b="0" i="0" lang="en-US"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Responsibility Driven Development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0" i="0" sz="20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b="0" i="0" lang="en-US"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r>
              <a:rPr b="0" i="0" lang="en-US" sz="2000">
                <a:latin typeface="Helvetica Neue"/>
                <a:ea typeface="Helvetica Neue"/>
                <a:cs typeface="Helvetica Neue"/>
                <a:sym typeface="Helvetica Neue"/>
              </a:rPr>
              <a:t>eneral</a:t>
            </a:r>
            <a:r>
              <a:rPr b="0" i="0" lang="en-US"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</a:t>
            </a:r>
            <a:r>
              <a:rPr b="0" i="0" lang="en-US" sz="2000">
                <a:latin typeface="Helvetica Neue"/>
                <a:ea typeface="Helvetica Neue"/>
                <a:cs typeface="Helvetica Neue"/>
                <a:sym typeface="Helvetica Neue"/>
              </a:rPr>
              <a:t>esponsibility</a:t>
            </a:r>
            <a:r>
              <a:rPr b="0" i="0" lang="en-US"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</a:t>
            </a:r>
            <a:r>
              <a:rPr b="0" i="0" lang="en-US" sz="2000">
                <a:latin typeface="Helvetica Neue"/>
                <a:ea typeface="Helvetica Neue"/>
                <a:cs typeface="Helvetica Neue"/>
                <a:sym typeface="Helvetica Neue"/>
              </a:rPr>
              <a:t>ssignment</a:t>
            </a:r>
            <a:r>
              <a:rPr b="0" i="0" lang="en-US"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</a:t>
            </a:r>
            <a:r>
              <a:rPr b="0" i="0" lang="en-US" sz="2000">
                <a:latin typeface="Helvetica Neue"/>
                <a:ea typeface="Helvetica Neue"/>
                <a:cs typeface="Helvetica Neue"/>
                <a:sym typeface="Helvetica Neue"/>
              </a:rPr>
              <a:t>oftware</a:t>
            </a:r>
            <a:r>
              <a:rPr b="0" i="0" lang="en-US"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</a:t>
            </a:r>
            <a:r>
              <a:rPr b="0" i="0" lang="en-US" sz="2000">
                <a:latin typeface="Helvetica Neue"/>
                <a:ea typeface="Helvetica Neue"/>
                <a:cs typeface="Helvetica Neue"/>
                <a:sym typeface="Helvetica Neue"/>
              </a:rPr>
              <a:t>atterns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Controller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Information Expert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Creator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Low Coupling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1300" lvl="0" marL="228600" rtl="0" algn="l">
              <a:spcBef>
                <a:spcPts val="100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High Cohesion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1300" lvl="0" marL="228600" rtl="0" algn="l">
              <a:spcBef>
                <a:spcPts val="100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Pure Fabrication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8168640" y="365125"/>
            <a:ext cx="3866606" cy="3100886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0950" lIns="121900" spcFirstLastPara="1" rIns="121900" wrap="square" tIns="6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 design pattern is a </a:t>
            </a: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general repeatable solution </a:t>
            </a: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a </a:t>
            </a: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commonly occurring problem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software design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Design patterns can speed up the development process by providing </a:t>
            </a:r>
            <a:r>
              <a:rPr lang="en-US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tested, proven development paradigms</a:t>
            </a:r>
            <a:endParaRPr sz="1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Controller</a:t>
            </a:r>
            <a:endParaRPr/>
          </a:p>
        </p:txBody>
      </p:sp>
      <p:sp>
        <p:nvSpPr>
          <p:cNvPr id="345" name="Google Shape;345;p17"/>
          <p:cNvSpPr txBox="1"/>
          <p:nvPr>
            <p:ph idx="1" type="body"/>
          </p:nvPr>
        </p:nvSpPr>
        <p:spPr>
          <a:xfrm>
            <a:off x="612059" y="1571806"/>
            <a:ext cx="10741742" cy="4817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6773" rtl="0" algn="just">
              <a:lnSpc>
                <a:spcPct val="1016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A simple layered architecture has a user interface layer (UI) and a business logic  layer. </a:t>
            </a:r>
            <a:endParaRPr/>
          </a:p>
          <a:p>
            <a:pPr indent="-228600" lvl="0" marL="228600" marR="6773" rtl="0" algn="just">
              <a:lnSpc>
                <a:spcPct val="101699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Actors, such as the human user, generate UI events  (such as clicking a button). </a:t>
            </a:r>
            <a:endParaRPr/>
          </a:p>
          <a:p>
            <a:pPr indent="-228600" lvl="0" marL="228600" marR="6773" rtl="0" algn="just">
              <a:lnSpc>
                <a:spcPct val="101699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The  UI software objects (such as a JFrame window and a JButton) must process  the event.</a:t>
            </a:r>
            <a:endParaRPr/>
          </a:p>
          <a:p>
            <a:pPr indent="-228600" lvl="0" marL="228600" marR="6773" rtl="0" algn="just">
              <a:lnSpc>
                <a:spcPct val="101699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When objects in the UI layer pick up an  event, they must delegate the request to an object in the domain layer.</a:t>
            </a:r>
            <a:endParaRPr/>
          </a:p>
          <a:p>
            <a:pPr indent="160867" lvl="0" marL="16933" marR="6773" rtl="0" algn="l">
              <a:lnSpc>
                <a:spcPct val="101699"/>
              </a:lnSpc>
              <a:spcBef>
                <a:spcPts val="127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b="1" i="1" lang="en-US"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Problem: What first object in the business logic layer should receive the message from the  UI layer?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	OR in other words</a:t>
            </a:r>
            <a:endParaRPr b="1" i="1" sz="20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b="1" i="1" lang="en-US" sz="20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Who should be responsible for handling system events 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46" name="Google Shape;34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Controller</a:t>
            </a:r>
            <a:endParaRPr/>
          </a:p>
        </p:txBody>
      </p:sp>
      <p:sp>
        <p:nvSpPr>
          <p:cNvPr id="352" name="Google Shape;352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The Controller is also an important idiom in modern web development frameworks, in forming a pillar of the </a:t>
            </a:r>
            <a:r>
              <a:rPr lang="en-US" sz="24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Model-View-Controller architectural pattern</a:t>
            </a: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. Controllers are used in AngularJS, Ruby on Rails, Sails and more.</a:t>
            </a:r>
            <a:endParaRPr/>
          </a:p>
        </p:txBody>
      </p:sp>
      <p:sp>
        <p:nvSpPr>
          <p:cNvPr id="353" name="Google Shape;3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2132"/>
          <a:stretch/>
        </p:blipFill>
        <p:spPr>
          <a:xfrm>
            <a:off x="6600424" y="198036"/>
            <a:ext cx="5274463" cy="403661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359" name="Google Shape;359;p19"/>
          <p:cNvSpPr txBox="1"/>
          <p:nvPr>
            <p:ph idx="4294967295" type="sldNum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6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 txBox="1"/>
          <p:nvPr/>
        </p:nvSpPr>
        <p:spPr>
          <a:xfrm>
            <a:off x="488272" y="198036"/>
            <a:ext cx="5948038" cy="7109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Problem: What first object in the business logic layer should receive the message from the  UI layer?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Solution: 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Façade Controller 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hide the complexity </a:t>
            </a:r>
            <a:endParaRPr/>
          </a:p>
          <a:p>
            <a:pPr indent="-380990" lvl="1" marL="11429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Works as a wrapper</a:t>
            </a:r>
            <a:endParaRPr/>
          </a:p>
          <a:p>
            <a:pPr indent="-380990" lvl="1" marL="11429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Should not contain business logic</a:t>
            </a:r>
            <a:endParaRPr/>
          </a:p>
          <a:p>
            <a:pPr indent="-228590" lvl="2" marL="16001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590" lvl="2" marL="16001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590" lvl="2" marL="16001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590" lvl="2" marL="16001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590" lvl="2" marL="16001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590" lvl="2" marL="160016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361" name="Google Shape;361;p19"/>
          <p:cNvCxnSpPr/>
          <p:nvPr/>
        </p:nvCxnSpPr>
        <p:spPr>
          <a:xfrm>
            <a:off x="6964409" y="2842917"/>
            <a:ext cx="4516391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Controller</a:t>
            </a:r>
            <a:endParaRPr/>
          </a:p>
        </p:txBody>
      </p:sp>
      <p:sp>
        <p:nvSpPr>
          <p:cNvPr id="368" name="Google Shape;368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class will receive the first system call?</a:t>
            </a:r>
            <a:endParaRPr/>
          </a:p>
          <a:p>
            <a:pPr indent="-64135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Deals with how to delegate the request from the UI layer objects to domain layer objects.</a:t>
            </a:r>
            <a:endParaRPr/>
          </a:p>
          <a:p>
            <a:pPr indent="-8763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When a request comes from UI layer object, Controller pattern helps us in determining what is that first object that receive the message from the UI layer objects.</a:t>
            </a:r>
            <a:endParaRPr/>
          </a:p>
          <a:p>
            <a:pPr indent="-8763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This object is called controller object which receives request from UI layer object and then controls/coordinates with other object of the domain layer to fulfill the request.</a:t>
            </a:r>
            <a:endParaRPr/>
          </a:p>
          <a:p>
            <a:pPr indent="-8763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It </a:t>
            </a:r>
            <a:r>
              <a:rPr lang="en-US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delegates the work to other class 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and coordinates the overall activity.</a:t>
            </a:r>
            <a:endParaRPr/>
          </a:p>
        </p:txBody>
      </p:sp>
      <p:sp>
        <p:nvSpPr>
          <p:cNvPr id="369" name="Google Shape;369;p20"/>
          <p:cNvSpPr txBox="1"/>
          <p:nvPr>
            <p:ph idx="4294967295" type="sldNum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6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1"/>
          <p:cNvSpPr txBox="1"/>
          <p:nvPr>
            <p:ph type="title"/>
          </p:nvPr>
        </p:nvSpPr>
        <p:spPr>
          <a:xfrm>
            <a:off x="381000" y="150495"/>
            <a:ext cx="10515600" cy="10890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Façade Controller</a:t>
            </a:r>
            <a:endParaRPr/>
          </a:p>
        </p:txBody>
      </p:sp>
      <p:sp>
        <p:nvSpPr>
          <p:cNvPr id="375" name="Google Shape;375;p21"/>
          <p:cNvSpPr txBox="1"/>
          <p:nvPr>
            <p:ph idx="1" type="body"/>
          </p:nvPr>
        </p:nvSpPr>
        <p:spPr>
          <a:xfrm>
            <a:off x="756920" y="17748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All system operations are assigned to one controller.</a:t>
            </a:r>
            <a:endParaRPr/>
          </a:p>
        </p:txBody>
      </p:sp>
      <p:pic>
        <p:nvPicPr>
          <p:cNvPr id="376" name="Google Shape;3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0680" y="2372362"/>
            <a:ext cx="6228080" cy="341061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1"/>
          <p:cNvSpPr txBox="1"/>
          <p:nvPr>
            <p:ph idx="4294967295" type="sldNum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600">
              <a:solidFill>
                <a:srgbClr val="88888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 txBox="1"/>
          <p:nvPr>
            <p:ph type="title"/>
          </p:nvPr>
        </p:nvSpPr>
        <p:spPr>
          <a:xfrm>
            <a:off x="47451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Controller</a:t>
            </a:r>
            <a:endParaRPr/>
          </a:p>
        </p:txBody>
      </p:sp>
      <p:sp>
        <p:nvSpPr>
          <p:cNvPr id="384" name="Google Shape;384;p22"/>
          <p:cNvSpPr txBox="1"/>
          <p:nvPr>
            <p:ph idx="1" type="body"/>
          </p:nvPr>
        </p:nvSpPr>
        <p:spPr>
          <a:xfrm>
            <a:off x="225137" y="3124742"/>
            <a:ext cx="11242964" cy="3258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We can make an object as Controller, if</a:t>
            </a:r>
            <a:endParaRPr/>
          </a:p>
          <a:p>
            <a:pPr indent="0" lvl="1" marL="457189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– Object represents the overall system (facade controller)</a:t>
            </a:r>
            <a:endParaRPr/>
          </a:p>
          <a:p>
            <a:pPr indent="0" lvl="1" marL="457189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– Object represent a use case, handling a sequence of operations (session controller).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 Benefits</a:t>
            </a:r>
            <a:endParaRPr/>
          </a:p>
          <a:p>
            <a:pPr indent="0" lvl="1" marL="457189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– can reuse this controller class.</a:t>
            </a:r>
            <a:endParaRPr/>
          </a:p>
          <a:p>
            <a:pPr indent="0" lvl="1" marL="457189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– Can use to maintain the state of the use case.</a:t>
            </a:r>
            <a:endParaRPr/>
          </a:p>
          <a:p>
            <a:pPr indent="0" lvl="1" marL="457189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– Can control the sequence of the activities</a:t>
            </a:r>
            <a:endParaRPr/>
          </a:p>
        </p:txBody>
      </p:sp>
      <p:pic>
        <p:nvPicPr>
          <p:cNvPr descr="Screen Clipping" id="385" name="Google Shape;3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0586" y="186841"/>
            <a:ext cx="7818799" cy="275961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386" name="Google Shape;386;p22"/>
          <p:cNvSpPr txBox="1"/>
          <p:nvPr>
            <p:ph idx="4294967295" type="sldNum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600">
              <a:solidFill>
                <a:srgbClr val="88888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Bloated Controller</a:t>
            </a:r>
            <a:endParaRPr/>
          </a:p>
        </p:txBody>
      </p:sp>
      <p:sp>
        <p:nvSpPr>
          <p:cNvPr id="392" name="Google Shape;392;p23"/>
          <p:cNvSpPr txBox="1"/>
          <p:nvPr>
            <p:ph idx="1" type="body"/>
          </p:nvPr>
        </p:nvSpPr>
        <p:spPr>
          <a:xfrm>
            <a:off x="838199" y="1825625"/>
            <a:ext cx="1108451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Controller class is called bloated, if</a:t>
            </a:r>
            <a:endParaRPr/>
          </a:p>
          <a:p>
            <a:pPr indent="0" lvl="1" marL="457189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– The class is overloaded with too many responsibilities.</a:t>
            </a:r>
            <a:endParaRPr/>
          </a:p>
          <a:p>
            <a:pPr indent="0" lvl="1" marL="457189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– </a:t>
            </a:r>
            <a:r>
              <a:rPr lang="en-US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Solution: Add more controllers</a:t>
            </a:r>
            <a:endParaRPr/>
          </a:p>
          <a:p>
            <a:pPr indent="0" lvl="1" marL="457189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1" marL="457189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The responsibility of controller class is to delegate things to others.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It will not perform any kind of business logic/ calculations.</a:t>
            </a:r>
            <a:endParaRPr/>
          </a:p>
        </p:txBody>
      </p:sp>
      <p:sp>
        <p:nvSpPr>
          <p:cNvPr id="393" name="Google Shape;393;p23"/>
          <p:cNvSpPr txBox="1"/>
          <p:nvPr>
            <p:ph idx="4294967295" type="sldNum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6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4"/>
          <p:cNvSpPr txBox="1"/>
          <p:nvPr>
            <p:ph type="title"/>
          </p:nvPr>
        </p:nvSpPr>
        <p:spPr>
          <a:xfrm>
            <a:off x="284018" y="189635"/>
            <a:ext cx="10515600" cy="124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Screen Clipping" id="400" name="Google Shape;4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143" y="758971"/>
            <a:ext cx="4303548" cy="2385746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4"/>
          <p:cNvSpPr txBox="1"/>
          <p:nvPr/>
        </p:nvSpPr>
        <p:spPr>
          <a:xfrm>
            <a:off x="808157" y="590679"/>
            <a:ext cx="2253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Domain Model</a:t>
            </a:r>
            <a:endParaRPr/>
          </a:p>
        </p:txBody>
      </p:sp>
      <p:sp>
        <p:nvSpPr>
          <p:cNvPr id="402" name="Google Shape;402;p24"/>
          <p:cNvSpPr txBox="1"/>
          <p:nvPr/>
        </p:nvSpPr>
        <p:spPr>
          <a:xfrm>
            <a:off x="4442691" y="204973"/>
            <a:ext cx="31172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System Sequence Diagram</a:t>
            </a:r>
            <a:endParaRPr/>
          </a:p>
        </p:txBody>
      </p:sp>
      <p:pic>
        <p:nvPicPr>
          <p:cNvPr descr="Screen Clipping" id="403" name="Google Shape;403;p24"/>
          <p:cNvPicPr preferRelativeResize="0"/>
          <p:nvPr/>
        </p:nvPicPr>
        <p:blipFill rotWithShape="1">
          <a:blip r:embed="rId4">
            <a:alphaModFix/>
          </a:blip>
          <a:srcRect b="0" l="0" r="5929" t="0"/>
          <a:stretch/>
        </p:blipFill>
        <p:spPr>
          <a:xfrm>
            <a:off x="284019" y="3534426"/>
            <a:ext cx="1905000" cy="3033023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4"/>
          <p:cNvSpPr txBox="1"/>
          <p:nvPr/>
        </p:nvSpPr>
        <p:spPr>
          <a:xfrm>
            <a:off x="386765" y="3144717"/>
            <a:ext cx="31172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Sequence Diagram</a:t>
            </a:r>
            <a:endParaRPr/>
          </a:p>
        </p:txBody>
      </p:sp>
      <p:cxnSp>
        <p:nvCxnSpPr>
          <p:cNvPr id="405" name="Google Shape;405;p24"/>
          <p:cNvCxnSpPr/>
          <p:nvPr/>
        </p:nvCxnSpPr>
        <p:spPr>
          <a:xfrm flipH="1" rot="10800000">
            <a:off x="139143" y="3131005"/>
            <a:ext cx="11507912" cy="923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Screen Clipping" id="406" name="Google Shape;40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612" y="3559772"/>
            <a:ext cx="2263336" cy="3101609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8" name="Google Shape;40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31864" y="189635"/>
            <a:ext cx="3513227" cy="2925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4" name="Google Shape;4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0729" y="1788897"/>
            <a:ext cx="7481471" cy="379475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5"/>
          <p:cNvSpPr txBox="1"/>
          <p:nvPr/>
        </p:nvSpPr>
        <p:spPr>
          <a:xfrm>
            <a:off x="47451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 sz="4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Controller Demo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creen Clipping" id="421" name="Google Shape;4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569" y="228573"/>
            <a:ext cx="3603600" cy="148481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Screen Clipping" id="422" name="Google Shape;42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569" y="2013857"/>
            <a:ext cx="3748261" cy="1563844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Screen Clipping" id="423" name="Google Shape;423;p26"/>
          <p:cNvPicPr preferRelativeResize="0"/>
          <p:nvPr/>
        </p:nvPicPr>
        <p:blipFill rotWithShape="1">
          <a:blip r:embed="rId5">
            <a:alphaModFix/>
          </a:blip>
          <a:srcRect b="0" l="0" r="0" t="1357"/>
          <a:stretch/>
        </p:blipFill>
        <p:spPr>
          <a:xfrm>
            <a:off x="4227116" y="228573"/>
            <a:ext cx="3241253" cy="373974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Screen Clipping" id="424" name="Google Shape;42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8655" y="157552"/>
            <a:ext cx="4271744" cy="510300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Screen Clipping" id="425" name="Google Shape;425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531" y="4550200"/>
            <a:ext cx="4007103" cy="192162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pic>
        <p:nvPicPr>
          <p:cNvPr descr="Screen Clipping" id="426" name="Google Shape;426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69920" y="4311314"/>
            <a:ext cx="3096057" cy="2410161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Information Expert</a:t>
            </a:r>
            <a:endParaRPr/>
          </a:p>
        </p:txBody>
      </p:sp>
      <p:sp>
        <p:nvSpPr>
          <p:cNvPr id="432" name="Google Shape;432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i="1" lang="en-US" sz="24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: What is general principle of assigning responsibilities to Objects?</a:t>
            </a:r>
            <a:endParaRPr/>
          </a:p>
          <a:p>
            <a:pPr indent="-508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Solution : Assign Responsibility to class that has the information to fulfil the responsibility</a:t>
            </a:r>
            <a:endParaRPr/>
          </a:p>
          <a:p>
            <a:pPr indent="-762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Decision of </a:t>
            </a:r>
            <a:r>
              <a:rPr lang="en-US" sz="240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class to call</a:t>
            </a: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? The </a:t>
            </a:r>
            <a:r>
              <a:rPr lang="en-US" sz="240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 that has relevant data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Can be current class or some other class</a:t>
            </a:r>
            <a:endParaRPr/>
          </a:p>
        </p:txBody>
      </p:sp>
      <p:sp>
        <p:nvSpPr>
          <p:cNvPr id="433" name="Google Shape;43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>
                <a:latin typeface="Helvetica Neue"/>
                <a:ea typeface="Helvetica Neue"/>
                <a:cs typeface="Helvetica Neue"/>
                <a:sym typeface="Helvetica Neue"/>
              </a:rPr>
              <a:t>Benefits</a:t>
            </a:r>
            <a:endParaRPr/>
          </a:p>
        </p:txBody>
      </p:sp>
      <p:sp>
        <p:nvSpPr>
          <p:cNvPr id="439" name="Google Shape;439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Char char="•"/>
            </a:pPr>
            <a:r>
              <a:rPr lang="en-US" sz="240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Information encapsulation is maintained </a:t>
            </a: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since objects use their own information to fulfill tasks. </a:t>
            </a:r>
            <a:endParaRPr/>
          </a:p>
          <a:p>
            <a:pPr indent="-762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This usually </a:t>
            </a:r>
            <a:r>
              <a:rPr lang="en-US" sz="240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supports low coupling</a:t>
            </a: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, which leads to more robust and maintainable systems. 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Behavior is distributed across the classes that have the required information, thus encouraging more cohesive "lightweight" class definitions that are easier to understand and maintain.</a:t>
            </a:r>
            <a:endParaRPr/>
          </a:p>
        </p:txBody>
      </p:sp>
      <p:sp>
        <p:nvSpPr>
          <p:cNvPr id="440" name="Google Shape;44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9"/>
          <p:cNvSpPr txBox="1"/>
          <p:nvPr>
            <p:ph type="title"/>
          </p:nvPr>
        </p:nvSpPr>
        <p:spPr>
          <a:xfrm>
            <a:off x="838200" y="365125"/>
            <a:ext cx="10515600" cy="824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/>
          </a:p>
        </p:txBody>
      </p:sp>
      <p:sp>
        <p:nvSpPr>
          <p:cNvPr id="446" name="Google Shape;446;p29"/>
          <p:cNvSpPr txBox="1"/>
          <p:nvPr>
            <p:ph idx="1" type="body"/>
          </p:nvPr>
        </p:nvSpPr>
        <p:spPr>
          <a:xfrm>
            <a:off x="838200" y="1615736"/>
            <a:ext cx="10515600" cy="45612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Assume we need to get all the videos of a </a:t>
            </a:r>
            <a:r>
              <a:rPr lang="en-US" sz="2000">
                <a:solidFill>
                  <a:srgbClr val="00B0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VideoStore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 Since </a:t>
            </a:r>
            <a:r>
              <a:rPr lang="en-US" sz="2000">
                <a:solidFill>
                  <a:srgbClr val="00B0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VideoStore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 knows about all the videos, we can assign this responsibility of giving all the videos can be assigned to </a:t>
            </a:r>
            <a:r>
              <a:rPr lang="en-US" sz="2000">
                <a:solidFill>
                  <a:srgbClr val="00B0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VideoStore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 class.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2000"/>
              <a:buChar char="•"/>
            </a:pPr>
            <a:r>
              <a:rPr lang="en-US" sz="2000">
                <a:solidFill>
                  <a:srgbClr val="00B0F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VideoStore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 is the information expert.</a:t>
            </a:r>
            <a:endParaRPr/>
          </a:p>
        </p:txBody>
      </p:sp>
      <p:pic>
        <p:nvPicPr>
          <p:cNvPr descr="Screen Clipping" id="447" name="Google Shape;44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825" y="3592921"/>
            <a:ext cx="4744187" cy="1918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Clipping" id="448" name="Google Shape;44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9758" y="3592921"/>
            <a:ext cx="5325975" cy="257708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Creator	</a:t>
            </a:r>
            <a:endParaRPr/>
          </a:p>
        </p:txBody>
      </p:sp>
      <p:sp>
        <p:nvSpPr>
          <p:cNvPr id="456" name="Google Shape;456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i="1" lang="en-US" sz="24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Problem: Who should be responsible for creating new instances of a class?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“Container” object creates “contained” objects.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Decide who can be creator based on the objects association and their interaction.</a:t>
            </a:r>
            <a:endParaRPr/>
          </a:p>
          <a:p>
            <a:pPr indent="-8762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i="1" sz="24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Solution: B creates If,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B aggregates 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B contains 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B records 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B closely uses 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B initializes A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7" name="Google Shape;45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Clipping" id="462" name="Google Shape;462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5565" y="210257"/>
            <a:ext cx="6607113" cy="2004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Clipping" id="463" name="Google Shape;46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1339" y="3599479"/>
            <a:ext cx="6035563" cy="208806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1"/>
          <p:cNvSpPr/>
          <p:nvPr/>
        </p:nvSpPr>
        <p:spPr>
          <a:xfrm>
            <a:off x="2751743" y="2977595"/>
            <a:ext cx="6303329" cy="420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33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Sequence Diagram – illustrates Creator Pattern</a:t>
            </a:r>
            <a:endParaRPr sz="2133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1"/>
          <p:cNvSpPr txBox="1"/>
          <p:nvPr>
            <p:ph idx="4294967295" type="sldNum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6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Low Coupling</a:t>
            </a:r>
            <a:endParaRPr/>
          </a:p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i="1" lang="en-US" sz="2400">
                <a:solidFill>
                  <a:srgbClr val="FF0000"/>
                </a:solidFill>
              </a:rPr>
              <a:t>Problem: How to support Low dependency, low change impact, increase re-use ?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i="1" sz="2400">
              <a:solidFill>
                <a:srgbClr val="FF0000"/>
              </a:solidFill>
            </a:endParaRPr>
          </a:p>
        </p:txBody>
      </p:sp>
      <p:sp>
        <p:nvSpPr>
          <p:cNvPr id="472" name="Google Shape;47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Coupling</a:t>
            </a:r>
            <a:endParaRPr/>
          </a:p>
        </p:txBody>
      </p:sp>
      <p:sp>
        <p:nvSpPr>
          <p:cNvPr id="478" name="Google Shape;478;p33"/>
          <p:cNvSpPr txBox="1"/>
          <p:nvPr>
            <p:ph idx="1" type="body"/>
          </p:nvPr>
        </p:nvSpPr>
        <p:spPr>
          <a:xfrm>
            <a:off x="838200" y="1443422"/>
            <a:ext cx="8143240" cy="4733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</a:t>
            </a:r>
            <a:r>
              <a:rPr b="1" i="1" lang="en-US">
                <a:solidFill>
                  <a:srgbClr val="FF0000"/>
                </a:solidFill>
              </a:rPr>
              <a:t>dependent </a:t>
            </a:r>
            <a:r>
              <a:rPr lang="en-US"/>
              <a:t>one element (e.g. class) is on other elements (e.g. classes)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Coupling is a measure of how strongly one element is connected to, has knowledge of, or relies on other elements.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9315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</a:pPr>
            <a:r>
              <a:t/>
            </a:r>
            <a:endParaRPr b="1" sz="2133">
              <a:solidFill>
                <a:srgbClr val="33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CC"/>
              </a:buClr>
              <a:buSzPts val="2133"/>
              <a:buChar char="•"/>
            </a:pPr>
            <a:r>
              <a:rPr b="1" lang="en-US" sz="2133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rgbClr val="0070C0"/>
                </a:solidFill>
              </a:rPr>
              <a:t>High coupling is problematic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79" name="Google Shape;479;p33"/>
          <p:cNvPicPr preferRelativeResize="0"/>
          <p:nvPr/>
        </p:nvPicPr>
        <p:blipFill rotWithShape="1">
          <a:blip r:embed="rId3">
            <a:alphaModFix/>
          </a:blip>
          <a:srcRect b="24109" l="6442" r="49137" t="0"/>
          <a:stretch/>
        </p:blipFill>
        <p:spPr>
          <a:xfrm>
            <a:off x="9700260" y="2153285"/>
            <a:ext cx="1569720" cy="1366203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3"/>
          <p:cNvSpPr/>
          <p:nvPr/>
        </p:nvSpPr>
        <p:spPr>
          <a:xfrm>
            <a:off x="9616440" y="2153285"/>
            <a:ext cx="538480" cy="4020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3"/>
          <p:cNvSpPr txBox="1"/>
          <p:nvPr>
            <p:ph idx="4294967295" type="sldNum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6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3"/>
          <p:cNvSpPr txBox="1"/>
          <p:nvPr/>
        </p:nvSpPr>
        <p:spPr>
          <a:xfrm>
            <a:off x="9680905" y="1677214"/>
            <a:ext cx="14859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coupling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Problems with High Coupling</a:t>
            </a:r>
            <a:endParaRPr/>
          </a:p>
        </p:txBody>
      </p:sp>
      <p:sp>
        <p:nvSpPr>
          <p:cNvPr id="488" name="Google Shape;488;p34"/>
          <p:cNvSpPr txBox="1"/>
          <p:nvPr>
            <p:ph idx="1" type="body"/>
          </p:nvPr>
        </p:nvSpPr>
        <p:spPr>
          <a:xfrm>
            <a:off x="838200" y="1443422"/>
            <a:ext cx="10879665" cy="4733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High coupling would mean that your class </a:t>
            </a:r>
            <a:r>
              <a:rPr lang="en-US">
                <a:solidFill>
                  <a:srgbClr val="0070C0"/>
                </a:solidFill>
              </a:rPr>
              <a:t>knows the way too much</a:t>
            </a:r>
            <a:r>
              <a:rPr lang="en-US"/>
              <a:t> about the inner workings of other classes.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classes that know too much about other classes make changes hard to coordinate and make code brittle and difficult to reuse.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</a:t>
            </a:r>
            <a:r>
              <a:rPr lang="en-US">
                <a:solidFill>
                  <a:srgbClr val="0070C0"/>
                </a:solidFill>
              </a:rPr>
              <a:t>class A</a:t>
            </a:r>
            <a:r>
              <a:rPr lang="en-US"/>
              <a:t> knows too much about </a:t>
            </a:r>
            <a:r>
              <a:rPr lang="en-US">
                <a:solidFill>
                  <a:srgbClr val="0070C0"/>
                </a:solidFill>
              </a:rPr>
              <a:t>class B</a:t>
            </a:r>
            <a:r>
              <a:rPr lang="en-US"/>
              <a:t>, changes in class B may break the functionality in class A.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0070C0"/>
              </a:solidFill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89" name="Google Shape;489;p34"/>
          <p:cNvSpPr/>
          <p:nvPr/>
        </p:nvSpPr>
        <p:spPr>
          <a:xfrm>
            <a:off x="9616440" y="2153285"/>
            <a:ext cx="538480" cy="40207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4"/>
          <p:cNvSpPr txBox="1"/>
          <p:nvPr>
            <p:ph idx="4294967295" type="sldNum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6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oftware Engineering | Coupling and Cohesion - javatpoint" id="491" name="Google Shape;491;p34"/>
          <p:cNvPicPr preferRelativeResize="0"/>
          <p:nvPr/>
        </p:nvPicPr>
        <p:blipFill rotWithShape="1">
          <a:blip r:embed="rId3">
            <a:alphaModFix/>
          </a:blip>
          <a:srcRect b="8322" l="0" r="0" t="16516"/>
          <a:stretch/>
        </p:blipFill>
        <p:spPr>
          <a:xfrm>
            <a:off x="6376275" y="4136173"/>
            <a:ext cx="5341591" cy="2007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Low Coupling</a:t>
            </a:r>
            <a:endParaRPr/>
          </a:p>
        </p:txBody>
      </p:sp>
      <p:sp>
        <p:nvSpPr>
          <p:cNvPr id="497" name="Google Shape;497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i="1" lang="en-US" sz="24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Problem: How to achieve low dependency, low change impact, increase re-use ?</a:t>
            </a:r>
            <a:endParaRPr/>
          </a:p>
          <a:p>
            <a:pPr indent="-762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i="1" sz="24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Solution : Assign responsibilities so that coupling remains low.</a:t>
            </a:r>
            <a:endParaRPr/>
          </a:p>
        </p:txBody>
      </p:sp>
      <p:sp>
        <p:nvSpPr>
          <p:cNvPr id="498" name="Google Shape;498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6"/>
          <p:cNvSpPr txBox="1"/>
          <p:nvPr>
            <p:ph type="title"/>
          </p:nvPr>
        </p:nvSpPr>
        <p:spPr>
          <a:xfrm>
            <a:off x="322217" y="14726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Low Coupling</a:t>
            </a:r>
            <a:endParaRPr/>
          </a:p>
        </p:txBody>
      </p:sp>
      <p:sp>
        <p:nvSpPr>
          <p:cNvPr id="504" name="Google Shape;504;p36"/>
          <p:cNvSpPr txBox="1"/>
          <p:nvPr>
            <p:ph idx="1" type="body"/>
          </p:nvPr>
        </p:nvSpPr>
        <p:spPr>
          <a:xfrm>
            <a:off x="322217" y="1653821"/>
            <a:ext cx="9126585" cy="4949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latin typeface="Helvetica Neue"/>
                <a:ea typeface="Helvetica Neue"/>
                <a:cs typeface="Helvetica Neue"/>
                <a:sym typeface="Helvetica Neue"/>
              </a:rPr>
              <a:t>Low coupling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 is an evaluative pattern that dictates how to assign responsibilities for the following benefits: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lower dependency between the classes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change in one class having a lower impact on other classes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higher reuse potential.</a:t>
            </a:r>
            <a:endParaRPr/>
          </a:p>
        </p:txBody>
      </p:sp>
      <p:pic>
        <p:nvPicPr>
          <p:cNvPr id="505" name="Google Shape;505;p36"/>
          <p:cNvPicPr preferRelativeResize="0"/>
          <p:nvPr/>
        </p:nvPicPr>
        <p:blipFill rotWithShape="1">
          <a:blip r:embed="rId3">
            <a:alphaModFix/>
          </a:blip>
          <a:srcRect b="24109" l="6442" r="49137" t="0"/>
          <a:stretch/>
        </p:blipFill>
        <p:spPr>
          <a:xfrm>
            <a:off x="9532622" y="2188271"/>
            <a:ext cx="1569720" cy="1366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6"/>
          <p:cNvPicPr preferRelativeResize="0"/>
          <p:nvPr/>
        </p:nvPicPr>
        <p:blipFill rotWithShape="1">
          <a:blip r:embed="rId3">
            <a:alphaModFix/>
          </a:blip>
          <a:srcRect b="28059" l="55895" r="-315" t="12981"/>
          <a:stretch/>
        </p:blipFill>
        <p:spPr>
          <a:xfrm>
            <a:off x="9532622" y="4875403"/>
            <a:ext cx="1569720" cy="1061403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6"/>
          <p:cNvSpPr txBox="1"/>
          <p:nvPr/>
        </p:nvSpPr>
        <p:spPr>
          <a:xfrm>
            <a:off x="9784081" y="4296950"/>
            <a:ext cx="17809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55A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 coupling</a:t>
            </a:r>
            <a:endParaRPr/>
          </a:p>
        </p:txBody>
      </p:sp>
      <p:sp>
        <p:nvSpPr>
          <p:cNvPr id="508" name="Google Shape;508;p36"/>
          <p:cNvSpPr txBox="1"/>
          <p:nvPr/>
        </p:nvSpPr>
        <p:spPr>
          <a:xfrm>
            <a:off x="9616440" y="1718887"/>
            <a:ext cx="18647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55A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 coupling</a:t>
            </a:r>
            <a:endParaRPr/>
          </a:p>
        </p:txBody>
      </p:sp>
      <p:sp>
        <p:nvSpPr>
          <p:cNvPr id="509" name="Google Shape;509;p36"/>
          <p:cNvSpPr/>
          <p:nvPr/>
        </p:nvSpPr>
        <p:spPr>
          <a:xfrm>
            <a:off x="9347200" y="2153285"/>
            <a:ext cx="538480" cy="40207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0" name="Google Shape;510;p36"/>
          <p:cNvSpPr txBox="1"/>
          <p:nvPr>
            <p:ph idx="4294967295" type="sldNum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600">
              <a:solidFill>
                <a:srgbClr val="88888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(High Coupling)</a:t>
            </a:r>
            <a:endParaRPr/>
          </a:p>
        </p:txBody>
      </p:sp>
      <p:pic>
        <p:nvPicPr>
          <p:cNvPr descr="Screen Clipping" id="516" name="Google Shape;516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2916" y="1735155"/>
            <a:ext cx="7961977" cy="3387691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37"/>
          <p:cNvSpPr txBox="1"/>
          <p:nvPr>
            <p:ph idx="4294967295" type="sldNum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6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(Low Coupling)</a:t>
            </a:r>
            <a:endParaRPr/>
          </a:p>
        </p:txBody>
      </p:sp>
      <p:pic>
        <p:nvPicPr>
          <p:cNvPr descr="Screen Clipping" id="523" name="Google Shape;523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4341" y="1782938"/>
            <a:ext cx="6683319" cy="329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8"/>
          <p:cNvSpPr txBox="1"/>
          <p:nvPr>
            <p:ph idx="4294967295" type="sldNum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6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Clipping" id="525" name="Google Shape;525;p38"/>
          <p:cNvPicPr preferRelativeResize="0"/>
          <p:nvPr/>
        </p:nvPicPr>
        <p:blipFill rotWithShape="1">
          <a:blip r:embed="rId3">
            <a:alphaModFix/>
          </a:blip>
          <a:srcRect b="76861" l="2714" r="79244" t="15810"/>
          <a:stretch/>
        </p:blipFill>
        <p:spPr>
          <a:xfrm>
            <a:off x="6250076" y="2257531"/>
            <a:ext cx="1205801" cy="241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Clipping" id="526" name="Google Shape;526;p38"/>
          <p:cNvPicPr preferRelativeResize="0"/>
          <p:nvPr/>
        </p:nvPicPr>
        <p:blipFill rotWithShape="1">
          <a:blip r:embed="rId4">
            <a:alphaModFix/>
          </a:blip>
          <a:srcRect b="12139" l="40426" r="46011" t="80741"/>
          <a:stretch/>
        </p:blipFill>
        <p:spPr>
          <a:xfrm>
            <a:off x="7965440" y="3429000"/>
            <a:ext cx="1079864" cy="24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9"/>
          <p:cNvSpPr txBox="1"/>
          <p:nvPr>
            <p:ph type="title"/>
          </p:nvPr>
        </p:nvSpPr>
        <p:spPr>
          <a:xfrm>
            <a:off x="284019" y="36907"/>
            <a:ext cx="11507912" cy="562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pic>
        <p:nvPicPr>
          <p:cNvPr descr="Screen Clipping" id="533" name="Google Shape;53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143" y="758971"/>
            <a:ext cx="4303548" cy="2385747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9"/>
          <p:cNvSpPr txBox="1"/>
          <p:nvPr/>
        </p:nvSpPr>
        <p:spPr>
          <a:xfrm>
            <a:off x="808157" y="590679"/>
            <a:ext cx="2253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Domain Model</a:t>
            </a:r>
            <a:endParaRPr/>
          </a:p>
        </p:txBody>
      </p:sp>
      <p:sp>
        <p:nvSpPr>
          <p:cNvPr id="535" name="Google Shape;535;p39"/>
          <p:cNvSpPr txBox="1"/>
          <p:nvPr/>
        </p:nvSpPr>
        <p:spPr>
          <a:xfrm>
            <a:off x="5449456" y="480026"/>
            <a:ext cx="31172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System Sequence Diagram</a:t>
            </a:r>
            <a:endParaRPr/>
          </a:p>
        </p:txBody>
      </p:sp>
      <p:sp>
        <p:nvSpPr>
          <p:cNvPr id="536" name="Google Shape;536;p39"/>
          <p:cNvSpPr txBox="1"/>
          <p:nvPr/>
        </p:nvSpPr>
        <p:spPr>
          <a:xfrm>
            <a:off x="386766" y="3144717"/>
            <a:ext cx="31172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Sequence Diagram</a:t>
            </a:r>
            <a:endParaRPr/>
          </a:p>
        </p:txBody>
      </p:sp>
      <p:cxnSp>
        <p:nvCxnSpPr>
          <p:cNvPr id="537" name="Google Shape;537;p39"/>
          <p:cNvCxnSpPr/>
          <p:nvPr/>
        </p:nvCxnSpPr>
        <p:spPr>
          <a:xfrm flipH="1" rot="10800000">
            <a:off x="139143" y="3131006"/>
            <a:ext cx="11507912" cy="923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Screen Clipping" id="538" name="Google Shape;538;p39"/>
          <p:cNvPicPr preferRelativeResize="0"/>
          <p:nvPr/>
        </p:nvPicPr>
        <p:blipFill rotWithShape="1">
          <a:blip r:embed="rId4">
            <a:alphaModFix/>
          </a:blip>
          <a:srcRect b="0" l="5200" r="4054" t="0"/>
          <a:stretch/>
        </p:blipFill>
        <p:spPr>
          <a:xfrm>
            <a:off x="301105" y="3589652"/>
            <a:ext cx="5110480" cy="3055885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9"/>
          <p:cNvSpPr txBox="1"/>
          <p:nvPr/>
        </p:nvSpPr>
        <p:spPr>
          <a:xfrm rot="-2257970">
            <a:off x="1645920" y="4519256"/>
            <a:ext cx="174752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Poor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Clipping" id="540" name="Google Shape;540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2402" y="3666327"/>
            <a:ext cx="5754655" cy="2666791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9"/>
          <p:cNvSpPr txBox="1"/>
          <p:nvPr/>
        </p:nvSpPr>
        <p:spPr>
          <a:xfrm>
            <a:off x="7274560" y="3329383"/>
            <a:ext cx="26314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Design Alternative</a:t>
            </a:r>
            <a:endParaRPr/>
          </a:p>
        </p:txBody>
      </p:sp>
      <p:pic>
        <p:nvPicPr>
          <p:cNvPr id="542" name="Google Shape;542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74355" y="202212"/>
            <a:ext cx="3200921" cy="2665751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High Cohesion</a:t>
            </a:r>
            <a:endParaRPr/>
          </a:p>
        </p:txBody>
      </p:sp>
      <p:sp>
        <p:nvSpPr>
          <p:cNvPr id="549" name="Google Shape;549;p40"/>
          <p:cNvSpPr txBox="1"/>
          <p:nvPr>
            <p:ph idx="1" type="body"/>
          </p:nvPr>
        </p:nvSpPr>
        <p:spPr>
          <a:xfrm>
            <a:off x="742405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Cohesion refers to how the functions of a class </a:t>
            </a:r>
            <a:r>
              <a:rPr lang="en-US" sz="240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belong together</a:t>
            </a: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. Related code should be close to each other to make it highly cohesive.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i="1" lang="en-US" sz="24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Problem: How to keep complexity manageable 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Solution : Assign responsibilities so that cohesion remains high.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Note </a:t>
            </a:r>
            <a:r>
              <a:rPr lang="en-US" sz="200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 cohesion 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200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high coupling </a:t>
            </a: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often go together.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Cohesion in Java with Example" id="550" name="Google Shape;550;p40"/>
          <p:cNvPicPr preferRelativeResize="0"/>
          <p:nvPr/>
        </p:nvPicPr>
        <p:blipFill rotWithShape="1">
          <a:blip r:embed="rId3">
            <a:alphaModFix/>
          </a:blip>
          <a:srcRect b="28927" l="8094" r="12230" t="21672"/>
          <a:stretch/>
        </p:blipFill>
        <p:spPr>
          <a:xfrm>
            <a:off x="6743978" y="230188"/>
            <a:ext cx="4723612" cy="1374834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  <p:sp>
        <p:nvSpPr>
          <p:cNvPr id="551" name="Google Shape;551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High Cohesion</a:t>
            </a:r>
            <a:endParaRPr/>
          </a:p>
        </p:txBody>
      </p:sp>
      <p:sp>
        <p:nvSpPr>
          <p:cNvPr id="557" name="Google Shape;557;p41"/>
          <p:cNvSpPr txBox="1"/>
          <p:nvPr>
            <p:ph idx="1" type="body"/>
          </p:nvPr>
        </p:nvSpPr>
        <p:spPr>
          <a:xfrm>
            <a:off x="452846" y="1731056"/>
            <a:ext cx="655755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How are the operations of any element functionally related?</a:t>
            </a:r>
            <a:endParaRPr/>
          </a:p>
          <a:p>
            <a:pPr indent="-10414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Related responsibilities in to one manageable unit</a:t>
            </a:r>
            <a:endParaRPr/>
          </a:p>
          <a:p>
            <a:pPr indent="-10414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Prefer high cohesion</a:t>
            </a:r>
            <a:endParaRPr/>
          </a:p>
          <a:p>
            <a:pPr indent="-10414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Clearly defines the purpose of the element</a:t>
            </a:r>
            <a:endParaRPr/>
          </a:p>
          <a:p>
            <a:pPr indent="-10414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Benefits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Easily understandable and maintainable.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Code reuse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Low coupling</a:t>
            </a:r>
            <a:endParaRPr/>
          </a:p>
        </p:txBody>
      </p:sp>
      <p:sp>
        <p:nvSpPr>
          <p:cNvPr id="558" name="Google Shape;558;p41"/>
          <p:cNvSpPr txBox="1"/>
          <p:nvPr>
            <p:ph idx="4294967295" type="sldNum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sz="1600">
              <a:solidFill>
                <a:srgbClr val="88888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Java Study Point (Java iQ): Coupling Vs Cohesion In Java" id="559" name="Google Shape;55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3317" y="879860"/>
            <a:ext cx="5053263" cy="432791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Clipping" id="564" name="Google Shape;564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3496" y="1555128"/>
            <a:ext cx="3322608" cy="4124312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2"/>
          <p:cNvSpPr txBox="1"/>
          <p:nvPr/>
        </p:nvSpPr>
        <p:spPr>
          <a:xfrm>
            <a:off x="1371600" y="762001"/>
            <a:ext cx="330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Low Cohesion</a:t>
            </a:r>
            <a:endParaRPr/>
          </a:p>
        </p:txBody>
      </p:sp>
      <p:pic>
        <p:nvPicPr>
          <p:cNvPr descr="Screen Clipping" id="566" name="Google Shape;56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4468" y="1826430"/>
            <a:ext cx="6736664" cy="3581711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42"/>
          <p:cNvSpPr txBox="1"/>
          <p:nvPr/>
        </p:nvSpPr>
        <p:spPr>
          <a:xfrm>
            <a:off x="6543040" y="914401"/>
            <a:ext cx="330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High Cohesion</a:t>
            </a:r>
            <a:endParaRPr/>
          </a:p>
        </p:txBody>
      </p:sp>
      <p:sp>
        <p:nvSpPr>
          <p:cNvPr id="568" name="Google Shape;568;p42"/>
          <p:cNvSpPr txBox="1"/>
          <p:nvPr>
            <p:ph idx="4294967295" type="sldNum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6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Pure Fabrication </a:t>
            </a:r>
            <a:endParaRPr/>
          </a:p>
        </p:txBody>
      </p:sp>
      <p:sp>
        <p:nvSpPr>
          <p:cNvPr id="574" name="Google Shape;574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If domain model provides no reasonable concept to assign responsibility without violating cohesion/coupling -&gt; create a new abstraction (e.g., PersistantStorage).</a:t>
            </a:r>
            <a:endParaRPr/>
          </a:p>
          <a:p>
            <a:pPr indent="-508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Assign a highly cohesive set of responsibilities to an artificial or convenience class that does not represent a problem domain concept—something made up, to support high cohesion, low coupling, and reuse</a:t>
            </a:r>
            <a:endParaRPr/>
          </a:p>
        </p:txBody>
      </p:sp>
      <p:sp>
        <p:nvSpPr>
          <p:cNvPr id="575" name="Google Shape;575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4"/>
          <p:cNvSpPr txBox="1"/>
          <p:nvPr>
            <p:ph idx="4294967295" type="sldNum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4"/>
          <p:cNvSpPr txBox="1"/>
          <p:nvPr>
            <p:ph type="title"/>
          </p:nvPr>
        </p:nvSpPr>
        <p:spPr>
          <a:xfrm>
            <a:off x="573089" y="39689"/>
            <a:ext cx="10515600" cy="786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GRASP Pattern</a:t>
            </a:r>
            <a:endParaRPr/>
          </a:p>
        </p:txBody>
      </p:sp>
      <p:sp>
        <p:nvSpPr>
          <p:cNvPr id="583" name="Google Shape;583;p44"/>
          <p:cNvSpPr/>
          <p:nvPr/>
        </p:nvSpPr>
        <p:spPr>
          <a:xfrm>
            <a:off x="775019" y="1856741"/>
            <a:ext cx="762000" cy="99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4" name="Google Shape;584;p44"/>
          <p:cNvCxnSpPr/>
          <p:nvPr/>
        </p:nvCxnSpPr>
        <p:spPr>
          <a:xfrm>
            <a:off x="775019" y="2161541"/>
            <a:ext cx="76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44"/>
          <p:cNvCxnSpPr/>
          <p:nvPr/>
        </p:nvCxnSpPr>
        <p:spPr>
          <a:xfrm>
            <a:off x="775019" y="2542541"/>
            <a:ext cx="76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44"/>
          <p:cNvSpPr/>
          <p:nvPr/>
        </p:nvSpPr>
        <p:spPr>
          <a:xfrm>
            <a:off x="587694" y="3609341"/>
            <a:ext cx="989012" cy="99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4"/>
          <p:cNvSpPr/>
          <p:nvPr/>
        </p:nvSpPr>
        <p:spPr>
          <a:xfrm>
            <a:off x="3100707" y="3450591"/>
            <a:ext cx="917575" cy="1371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8" name="Google Shape;588;p44"/>
          <p:cNvCxnSpPr/>
          <p:nvPr/>
        </p:nvCxnSpPr>
        <p:spPr>
          <a:xfrm>
            <a:off x="587694" y="3914141"/>
            <a:ext cx="98901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44"/>
          <p:cNvCxnSpPr/>
          <p:nvPr/>
        </p:nvCxnSpPr>
        <p:spPr>
          <a:xfrm>
            <a:off x="587694" y="4295141"/>
            <a:ext cx="98901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44"/>
          <p:cNvCxnSpPr/>
          <p:nvPr/>
        </p:nvCxnSpPr>
        <p:spPr>
          <a:xfrm>
            <a:off x="3100707" y="3983991"/>
            <a:ext cx="9175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44"/>
          <p:cNvCxnSpPr/>
          <p:nvPr/>
        </p:nvCxnSpPr>
        <p:spPr>
          <a:xfrm>
            <a:off x="3100707" y="4517391"/>
            <a:ext cx="9175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44"/>
          <p:cNvSpPr txBox="1"/>
          <p:nvPr/>
        </p:nvSpPr>
        <p:spPr>
          <a:xfrm>
            <a:off x="936944" y="1850391"/>
            <a:ext cx="4507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Sale</a:t>
            </a:r>
            <a:endParaRPr/>
          </a:p>
        </p:txBody>
      </p:sp>
      <p:sp>
        <p:nvSpPr>
          <p:cNvPr id="593" name="Google Shape;593;p44"/>
          <p:cNvSpPr txBox="1"/>
          <p:nvPr/>
        </p:nvSpPr>
        <p:spPr>
          <a:xfrm>
            <a:off x="741680" y="2121856"/>
            <a:ext cx="4603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time</a:t>
            </a:r>
            <a:endParaRPr/>
          </a:p>
        </p:txBody>
      </p:sp>
      <p:sp>
        <p:nvSpPr>
          <p:cNvPr id="594" name="Google Shape;594;p44"/>
          <p:cNvSpPr txBox="1"/>
          <p:nvPr/>
        </p:nvSpPr>
        <p:spPr>
          <a:xfrm>
            <a:off x="513082" y="3639506"/>
            <a:ext cx="10775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SalesLineItem</a:t>
            </a:r>
            <a:endParaRPr/>
          </a:p>
        </p:txBody>
      </p:sp>
      <p:sp>
        <p:nvSpPr>
          <p:cNvPr id="595" name="Google Shape;595;p44"/>
          <p:cNvSpPr txBox="1"/>
          <p:nvPr/>
        </p:nvSpPr>
        <p:spPr>
          <a:xfrm>
            <a:off x="513082" y="4020506"/>
            <a:ext cx="6912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quantity</a:t>
            </a:r>
            <a:endParaRPr/>
          </a:p>
        </p:txBody>
      </p:sp>
      <p:sp>
        <p:nvSpPr>
          <p:cNvPr id="596" name="Google Shape;596;p44"/>
          <p:cNvSpPr txBox="1"/>
          <p:nvPr/>
        </p:nvSpPr>
        <p:spPr>
          <a:xfrm>
            <a:off x="3021892" y="3456942"/>
            <a:ext cx="10005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Product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Specification</a:t>
            </a:r>
            <a:endParaRPr/>
          </a:p>
        </p:txBody>
      </p:sp>
      <p:sp>
        <p:nvSpPr>
          <p:cNvPr id="597" name="Google Shape;597;p44"/>
          <p:cNvSpPr txBox="1"/>
          <p:nvPr/>
        </p:nvSpPr>
        <p:spPr>
          <a:xfrm>
            <a:off x="3027682" y="3944306"/>
            <a:ext cx="87075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description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itemID</a:t>
            </a:r>
            <a:endParaRPr/>
          </a:p>
        </p:txBody>
      </p:sp>
      <p:cxnSp>
        <p:nvCxnSpPr>
          <p:cNvPr id="598" name="Google Shape;598;p44"/>
          <p:cNvCxnSpPr/>
          <p:nvPr/>
        </p:nvCxnSpPr>
        <p:spPr>
          <a:xfrm>
            <a:off x="1121093" y="2847341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9" name="Google Shape;599;p44"/>
          <p:cNvSpPr txBox="1"/>
          <p:nvPr/>
        </p:nvSpPr>
        <p:spPr>
          <a:xfrm>
            <a:off x="1181419" y="2831469"/>
            <a:ext cx="24878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/>
          </a:p>
        </p:txBody>
      </p:sp>
      <p:sp>
        <p:nvSpPr>
          <p:cNvPr id="600" name="Google Shape;600;p44"/>
          <p:cNvSpPr txBox="1"/>
          <p:nvPr/>
        </p:nvSpPr>
        <p:spPr>
          <a:xfrm>
            <a:off x="1121093" y="3364869"/>
            <a:ext cx="24878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*</a:t>
            </a:r>
            <a:endParaRPr/>
          </a:p>
        </p:txBody>
      </p:sp>
      <p:sp>
        <p:nvSpPr>
          <p:cNvPr id="601" name="Google Shape;601;p44"/>
          <p:cNvSpPr txBox="1"/>
          <p:nvPr/>
        </p:nvSpPr>
        <p:spPr>
          <a:xfrm>
            <a:off x="1559243" y="3822069"/>
            <a:ext cx="24878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*</a:t>
            </a:r>
            <a:endParaRPr/>
          </a:p>
        </p:txBody>
      </p:sp>
      <p:sp>
        <p:nvSpPr>
          <p:cNvPr id="602" name="Google Shape;602;p44"/>
          <p:cNvSpPr txBox="1"/>
          <p:nvPr/>
        </p:nvSpPr>
        <p:spPr>
          <a:xfrm>
            <a:off x="2778443" y="3837943"/>
            <a:ext cx="2487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603" name="Google Shape;603;p44"/>
          <p:cNvCxnSpPr/>
          <p:nvPr/>
        </p:nvCxnSpPr>
        <p:spPr>
          <a:xfrm>
            <a:off x="1578293" y="4218941"/>
            <a:ext cx="152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44"/>
          <p:cNvSpPr txBox="1"/>
          <p:nvPr/>
        </p:nvSpPr>
        <p:spPr>
          <a:xfrm>
            <a:off x="1784670" y="3966531"/>
            <a:ext cx="10021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Described by</a:t>
            </a:r>
            <a:endParaRPr/>
          </a:p>
        </p:txBody>
      </p:sp>
      <p:sp>
        <p:nvSpPr>
          <p:cNvPr id="605" name="Google Shape;605;p44"/>
          <p:cNvSpPr txBox="1"/>
          <p:nvPr/>
        </p:nvSpPr>
        <p:spPr>
          <a:xfrm>
            <a:off x="1121095" y="3075942"/>
            <a:ext cx="7328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Contains</a:t>
            </a:r>
            <a:endParaRPr/>
          </a:p>
        </p:txBody>
      </p:sp>
      <p:cxnSp>
        <p:nvCxnSpPr>
          <p:cNvPr id="606" name="Google Shape;606;p44"/>
          <p:cNvCxnSpPr/>
          <p:nvPr/>
        </p:nvCxnSpPr>
        <p:spPr>
          <a:xfrm>
            <a:off x="4826000" y="1234440"/>
            <a:ext cx="0" cy="46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7" name="Google Shape;607;p44"/>
          <p:cNvSpPr/>
          <p:nvPr/>
        </p:nvSpPr>
        <p:spPr>
          <a:xfrm>
            <a:off x="6654015" y="3639505"/>
            <a:ext cx="1066800" cy="533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8" name="Google Shape;608;p44"/>
          <p:cNvCxnSpPr/>
          <p:nvPr/>
        </p:nvCxnSpPr>
        <p:spPr>
          <a:xfrm>
            <a:off x="5282415" y="3868105"/>
            <a:ext cx="1371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9" name="Google Shape;609;p44"/>
          <p:cNvSpPr txBox="1"/>
          <p:nvPr/>
        </p:nvSpPr>
        <p:spPr>
          <a:xfrm>
            <a:off x="5266541" y="3599819"/>
            <a:ext cx="10427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 := getTotal()</a:t>
            </a:r>
            <a:endParaRPr/>
          </a:p>
        </p:txBody>
      </p:sp>
      <p:sp>
        <p:nvSpPr>
          <p:cNvPr id="610" name="Google Shape;610;p44"/>
          <p:cNvSpPr txBox="1"/>
          <p:nvPr/>
        </p:nvSpPr>
        <p:spPr>
          <a:xfrm>
            <a:off x="6882615" y="3752219"/>
            <a:ext cx="5325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: Sale</a:t>
            </a:r>
            <a:endParaRPr/>
          </a:p>
        </p:txBody>
      </p:sp>
      <p:sp>
        <p:nvSpPr>
          <p:cNvPr id="611" name="Google Shape;611;p44"/>
          <p:cNvSpPr txBox="1"/>
          <p:nvPr/>
        </p:nvSpPr>
        <p:spPr>
          <a:xfrm>
            <a:off x="598005" y="1220709"/>
            <a:ext cx="29614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Initial Domain Model</a:t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4"/>
          <p:cNvSpPr txBox="1"/>
          <p:nvPr/>
        </p:nvSpPr>
        <p:spPr>
          <a:xfrm>
            <a:off x="5291312" y="1237933"/>
            <a:ext cx="29614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Sequence Diagram</a:t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3" name="Google Shape;613;p44"/>
          <p:cNvCxnSpPr/>
          <p:nvPr/>
        </p:nvCxnSpPr>
        <p:spPr>
          <a:xfrm>
            <a:off x="8290560" y="1250319"/>
            <a:ext cx="0" cy="46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4" name="Google Shape;614;p44"/>
          <p:cNvSpPr txBox="1"/>
          <p:nvPr/>
        </p:nvSpPr>
        <p:spPr>
          <a:xfrm>
            <a:off x="8979392" y="1237933"/>
            <a:ext cx="29614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Software Class</a:t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4"/>
          <p:cNvSpPr/>
          <p:nvPr/>
        </p:nvSpPr>
        <p:spPr>
          <a:xfrm>
            <a:off x="9412929" y="3258504"/>
            <a:ext cx="762000" cy="99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6" name="Google Shape;616;p44"/>
          <p:cNvCxnSpPr/>
          <p:nvPr/>
        </p:nvCxnSpPr>
        <p:spPr>
          <a:xfrm>
            <a:off x="9412929" y="3563304"/>
            <a:ext cx="76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44"/>
          <p:cNvCxnSpPr/>
          <p:nvPr/>
        </p:nvCxnSpPr>
        <p:spPr>
          <a:xfrm>
            <a:off x="9412929" y="3944304"/>
            <a:ext cx="76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8" name="Google Shape;618;p44"/>
          <p:cNvSpPr txBox="1"/>
          <p:nvPr/>
        </p:nvSpPr>
        <p:spPr>
          <a:xfrm>
            <a:off x="9530404" y="3258505"/>
            <a:ext cx="4940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:Sale</a:t>
            </a:r>
            <a:endParaRPr/>
          </a:p>
        </p:txBody>
      </p:sp>
      <p:sp>
        <p:nvSpPr>
          <p:cNvPr id="619" name="Google Shape;619;p44"/>
          <p:cNvSpPr txBox="1"/>
          <p:nvPr/>
        </p:nvSpPr>
        <p:spPr>
          <a:xfrm>
            <a:off x="9378004" y="3523618"/>
            <a:ext cx="46038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time</a:t>
            </a:r>
            <a:endParaRPr/>
          </a:p>
        </p:txBody>
      </p:sp>
      <p:sp>
        <p:nvSpPr>
          <p:cNvPr id="620" name="Google Shape;620;p44"/>
          <p:cNvSpPr txBox="1"/>
          <p:nvPr/>
        </p:nvSpPr>
        <p:spPr>
          <a:xfrm>
            <a:off x="9378006" y="3980818"/>
            <a:ext cx="7926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getTotal()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Clipping" id="625" name="Google Shape;625;p4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470" y="98236"/>
            <a:ext cx="7318529" cy="6440676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7" name="Google Shape;627;p45"/>
          <p:cNvSpPr txBox="1"/>
          <p:nvPr/>
        </p:nvSpPr>
        <p:spPr>
          <a:xfrm>
            <a:off x="640080" y="812800"/>
            <a:ext cx="16154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Model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Clipping" id="632" name="Google Shape;632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2206" y="1033144"/>
            <a:ext cx="8339027" cy="5194935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4" name="Google Shape;634;p46"/>
          <p:cNvSpPr txBox="1"/>
          <p:nvPr/>
        </p:nvSpPr>
        <p:spPr>
          <a:xfrm>
            <a:off x="853440" y="528320"/>
            <a:ext cx="32816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Sequence Diagram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7"/>
          <p:cNvSpPr txBox="1"/>
          <p:nvPr>
            <p:ph type="title"/>
          </p:nvPr>
        </p:nvSpPr>
        <p:spPr>
          <a:xfrm>
            <a:off x="838200" y="365125"/>
            <a:ext cx="10515600" cy="742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makeNewSale()</a:t>
            </a:r>
            <a:endParaRPr/>
          </a:p>
        </p:txBody>
      </p:sp>
      <p:sp>
        <p:nvSpPr>
          <p:cNvPr id="641" name="Google Shape;641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2" name="Google Shape;642;p47"/>
          <p:cNvSpPr txBox="1"/>
          <p:nvPr/>
        </p:nvSpPr>
        <p:spPr>
          <a:xfrm>
            <a:off x="992500" y="2188924"/>
            <a:ext cx="26924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 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Expert ??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Creator ??</a:t>
            </a:r>
            <a:endParaRPr/>
          </a:p>
        </p:txBody>
      </p:sp>
      <p:pic>
        <p:nvPicPr>
          <p:cNvPr descr="Screen Clipping" id="643" name="Google Shape;64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7880" y="3379465"/>
            <a:ext cx="236240" cy="99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Clipping" id="644" name="Google Shape;64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2189" y="3425189"/>
            <a:ext cx="7621" cy="76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orkspace - Modeling - Blank Package::Collaboration3::Interaction1::SequenceDiagram1 - Rational® Software Architect Designer" id="645" name="Google Shape;645;p47"/>
          <p:cNvPicPr preferRelativeResize="0"/>
          <p:nvPr/>
        </p:nvPicPr>
        <p:blipFill rotWithShape="1">
          <a:blip r:embed="rId5">
            <a:alphaModFix/>
          </a:blip>
          <a:srcRect b="46532" l="29167" r="28666" t="18332"/>
          <a:stretch/>
        </p:blipFill>
        <p:spPr>
          <a:xfrm>
            <a:off x="4084320" y="1866424"/>
            <a:ext cx="7763230" cy="3498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8"/>
          <p:cNvSpPr txBox="1"/>
          <p:nvPr>
            <p:ph type="title"/>
          </p:nvPr>
        </p:nvSpPr>
        <p:spPr>
          <a:xfrm>
            <a:off x="838200" y="365125"/>
            <a:ext cx="10515600" cy="854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Explanation</a:t>
            </a:r>
            <a:endParaRPr/>
          </a:p>
        </p:txBody>
      </p:sp>
      <p:sp>
        <p:nvSpPr>
          <p:cNvPr id="651" name="Google Shape;651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838200" y="1930638"/>
            <a:ext cx="10476853" cy="4185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0" i="1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Register </a:t>
            </a: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may be thought of as recording a </a:t>
            </a:r>
            <a:r>
              <a:rPr b="0" i="1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Sale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1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Register </a:t>
            </a: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a reasonable candidate for creating a </a:t>
            </a:r>
            <a:r>
              <a:rPr b="0" i="1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Sale.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1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having the </a:t>
            </a:r>
            <a:r>
              <a:rPr b="0" i="1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Register </a:t>
            </a: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the </a:t>
            </a:r>
            <a:r>
              <a:rPr b="0" i="1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Sale, </a:t>
            </a: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 </a:t>
            </a:r>
            <a:r>
              <a:rPr b="0" i="1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Register </a:t>
            </a: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easily be associated with it over time,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During future operations within the session, the </a:t>
            </a:r>
            <a:r>
              <a:rPr b="0" i="1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Register </a:t>
            </a: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will have a reference to the current </a:t>
            </a:r>
            <a:r>
              <a:rPr b="0" i="1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Sale </a:t>
            </a: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instance.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the </a:t>
            </a:r>
            <a:r>
              <a:rPr b="0" i="1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Sale </a:t>
            </a: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created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must create an empty collection (container</a:t>
            </a:r>
            <a:r>
              <a:rPr b="0" i="1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 </a:t>
            </a: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record all future </a:t>
            </a:r>
            <a:r>
              <a:rPr b="0" i="1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SalesLineItem </a:t>
            </a: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instances that will be added.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collection will be contained within and maintained by the </a:t>
            </a:r>
            <a:r>
              <a:rPr b="0" i="1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Sale </a:t>
            </a: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instance,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Therefore: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 </a:t>
            </a:r>
            <a:r>
              <a:rPr b="0" i="1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Register </a:t>
            </a: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creates the </a:t>
            </a:r>
            <a:r>
              <a:rPr b="0" i="1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Sale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 </a:t>
            </a:r>
            <a:r>
              <a:rPr b="0" i="1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Sale </a:t>
            </a:r>
            <a:r>
              <a:rPr b="0" i="0" lang="en-US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creates an empty collection, represented by a multiobject in the interaction diagram.</a:t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enterNewItem(itemID, quantity)</a:t>
            </a:r>
            <a:endParaRPr/>
          </a:p>
        </p:txBody>
      </p:sp>
      <p:sp>
        <p:nvSpPr>
          <p:cNvPr id="658" name="Google Shape;658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9" name="Google Shape;659;p49"/>
          <p:cNvSpPr/>
          <p:nvPr/>
        </p:nvSpPr>
        <p:spPr>
          <a:xfrm>
            <a:off x="4064000" y="4084320"/>
            <a:ext cx="1767840" cy="2641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9"/>
          <p:cNvSpPr/>
          <p:nvPr/>
        </p:nvSpPr>
        <p:spPr>
          <a:xfrm>
            <a:off x="4064000" y="3749040"/>
            <a:ext cx="1767840" cy="3352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040" y="2493126"/>
            <a:ext cx="2743438" cy="1591194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/>
          <p:nvPr/>
        </p:nvSpPr>
        <p:spPr>
          <a:xfrm>
            <a:off x="4439195" y="5222617"/>
            <a:ext cx="691460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 step: access </a:t>
            </a:r>
            <a:r>
              <a:rPr b="1" lang="en-US" sz="160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ProductDescription</a:t>
            </a:r>
            <a:r>
              <a:rPr lang="en-US" sz="160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based on the itemID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ProductCatalog</a:t>
            </a:r>
            <a:r>
              <a:rPr lang="en-US" sz="1600">
                <a:solidFill>
                  <a:srgbClr val="0070C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information expert of ProductDescriptions</a:t>
            </a:r>
            <a:endParaRPr sz="1600">
              <a:solidFill>
                <a:srgbClr val="0070C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Screen Clipping" id="663" name="Google Shape;663;p4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2419" y="2025968"/>
            <a:ext cx="7774785" cy="2342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2094" l="0" r="0" t="0"/>
          <a:stretch/>
        </p:blipFill>
        <p:spPr>
          <a:xfrm>
            <a:off x="89163" y="1271746"/>
            <a:ext cx="11967232" cy="407802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Clipping" id="675" name="Google Shape;675;p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1384"/>
          <a:stretch/>
        </p:blipFill>
        <p:spPr>
          <a:xfrm>
            <a:off x="2153920" y="534591"/>
            <a:ext cx="7313841" cy="5699839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7" name="Google Shape;677;p51"/>
          <p:cNvSpPr txBox="1"/>
          <p:nvPr/>
        </p:nvSpPr>
        <p:spPr>
          <a:xfrm>
            <a:off x="508000" y="406400"/>
            <a:ext cx="2895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level view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Class Diagram, So far</a:t>
            </a:r>
            <a:endParaRPr/>
          </a:p>
        </p:txBody>
      </p:sp>
      <p:pic>
        <p:nvPicPr>
          <p:cNvPr descr="Screen Clipping" id="683" name="Google Shape;683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064" y="1690688"/>
            <a:ext cx="8981767" cy="4181472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endSale – Design Decisions</a:t>
            </a:r>
            <a:endParaRPr/>
          </a:p>
        </p:txBody>
      </p:sp>
      <p:sp>
        <p:nvSpPr>
          <p:cNvPr id="690" name="Google Shape;690;p5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Sale is to be completed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Total with tax calculated is presented</a:t>
            </a:r>
            <a:endParaRPr/>
          </a:p>
        </p:txBody>
      </p:sp>
      <p:sp>
        <p:nvSpPr>
          <p:cNvPr id="691" name="Google Shape;691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endSale</a:t>
            </a:r>
            <a:r>
              <a:rPr lang="en-US"/>
              <a:t>()</a:t>
            </a:r>
            <a:endParaRPr/>
          </a:p>
        </p:txBody>
      </p:sp>
      <p:pic>
        <p:nvPicPr>
          <p:cNvPr descr="Screen Clipping" id="697" name="Google Shape;697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5165" y="2031965"/>
            <a:ext cx="5156355" cy="3217213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Clipping" id="703" name="Google Shape;703;p5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1244" y="422490"/>
            <a:ext cx="8678596" cy="593386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getTotal()</a:t>
            </a:r>
            <a:endParaRPr/>
          </a:p>
        </p:txBody>
      </p:sp>
      <p:pic>
        <p:nvPicPr>
          <p:cNvPr descr="Screen Clipping" id="710" name="Google Shape;710;p5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6895" y="1690688"/>
            <a:ext cx="10346905" cy="3936322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makePayment(cashTendered)</a:t>
            </a:r>
            <a:endParaRPr/>
          </a:p>
        </p:txBody>
      </p:sp>
      <p:pic>
        <p:nvPicPr>
          <p:cNvPr descr="Screen Clipping" id="717" name="Google Shape;717;p5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827" y="1690688"/>
            <a:ext cx="10031830" cy="3978592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Clipping" id="723" name="Google Shape;723;p5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115724"/>
            <a:ext cx="11761083" cy="4421476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Clipping" id="729" name="Google Shape;729;p5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1244" y="422490"/>
            <a:ext cx="8678596" cy="593386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2020-11-12T10:14:00Z</dcterms:created>
  <dc:creator>Microsoft Office User</dc:creator>
</cp:coreProperties>
</file>