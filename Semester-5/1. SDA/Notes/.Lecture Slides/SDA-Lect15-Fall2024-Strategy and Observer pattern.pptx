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000"/>
  <p:notesSz cx="6858000" cy="9144000"/>
  <p:embeddedFontLst>
    <p:embeddedFont>
      <p:font typeface="Roboto"/>
      <p:regular r:id="rId43"/>
      <p:bold r:id="rId44"/>
      <p:italic r:id="rId45"/>
      <p:boldItalic r:id="rId46"/>
    </p:embeddedFont>
    <p:embeddedFont>
      <p:font typeface="Helvetica Neue"/>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xEAL5hbcXIJ1/1UhWhbNATWP0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HelveticaNeue-bold.fntdata"/><Relationship Id="rId47" Type="http://schemas.openxmlformats.org/officeDocument/2006/relationships/font" Target="fonts/HelveticaNeue-regular.fntdata"/><Relationship Id="rId49"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HelveticaNeue-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15" name="Google Shape;1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7" name="Google Shape;23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Related Patters:</a:t>
            </a:r>
            <a:endParaRPr/>
          </a:p>
          <a:p>
            <a:pPr indent="0" lvl="0" marL="0" rtl="0" algn="l">
              <a:spcBef>
                <a:spcPts val="0"/>
              </a:spcBef>
              <a:spcAft>
                <a:spcPts val="0"/>
              </a:spcAft>
              <a:buNone/>
            </a:pPr>
            <a:r>
              <a:rPr lang="en-US"/>
              <a:t>Mediator – an object in the middle intercepts all update requests and broadcasts them to other objects</a:t>
            </a:r>
            <a:endParaRPr/>
          </a:p>
          <a:p>
            <a:pPr indent="0" lvl="0" marL="0" rtl="0" algn="l">
              <a:spcBef>
                <a:spcPts val="0"/>
              </a:spcBef>
              <a:spcAft>
                <a:spcPts val="0"/>
              </a:spcAft>
              <a:buNone/>
            </a:pPr>
            <a:r>
              <a:rPr lang="en-US"/>
              <a:t>Singleton – A “single” subject object instance can be implemented with a Singleton</a:t>
            </a:r>
            <a:endParaRPr/>
          </a:p>
          <a:p>
            <a:pPr indent="0" lvl="0" marL="0" rtl="0" algn="l">
              <a:spcBef>
                <a:spcPts val="0"/>
              </a:spcBef>
              <a:spcAft>
                <a:spcPts val="0"/>
              </a:spcAft>
              <a:buNone/>
            </a:pPr>
            <a:r>
              <a:rPr lang="en-US"/>
              <a:t>Decorator – an intermediate observer can be viewed as a subject’s decorator</a:t>
            </a:r>
            <a:endParaRPr/>
          </a:p>
          <a:p>
            <a:pPr indent="0" lvl="0" marL="0" rtl="0" algn="l">
              <a:spcBef>
                <a:spcPts val="0"/>
              </a:spcBef>
              <a:spcAft>
                <a:spcPts val="0"/>
              </a:spcAft>
              <a:buNone/>
            </a:pPr>
            <a:r>
              <a:rPr lang="en-US"/>
              <a:t>Proxy – observer do not interact directly with subject and can hide the way the subject is acceded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Tweet Notification Example using Observer Design Pattern</a:t>
            </a:r>
            <a:endParaRPr/>
          </a:p>
          <a:p>
            <a:pPr indent="0" lvl="0" marL="0" rtl="0" algn="l">
              <a:spcBef>
                <a:spcPts val="0"/>
              </a:spcBef>
              <a:spcAft>
                <a:spcPts val="0"/>
              </a:spcAft>
              <a:buNone/>
            </a:pPr>
            <a:r>
              <a:t/>
            </a:r>
            <a:endParaRPr/>
          </a:p>
        </p:txBody>
      </p:sp>
      <p:sp>
        <p:nvSpPr>
          <p:cNvPr id="279" name="Google Shape;27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9"/>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9"/>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chemeClr val="dk1"/>
              </a:buClr>
              <a:buSzPts val="3200"/>
              <a:buNone/>
              <a:defRPr/>
            </a:lvl1pPr>
            <a:lvl2pPr lvl="1" algn="ctr">
              <a:spcBef>
                <a:spcPts val="560"/>
              </a:spcBef>
              <a:spcAft>
                <a:spcPts val="0"/>
              </a:spcAft>
              <a:buClr>
                <a:schemeClr val="dk1"/>
              </a:buClr>
              <a:buSzPts val="2800"/>
              <a:buNone/>
              <a:defRPr/>
            </a:lvl2pPr>
            <a:lvl3pPr lvl="2" algn="ctr">
              <a:spcBef>
                <a:spcPts val="480"/>
              </a:spcBef>
              <a:spcAft>
                <a:spcPts val="0"/>
              </a:spcAft>
              <a:buClr>
                <a:schemeClr val="dk1"/>
              </a:buClr>
              <a:buSzPts val="2400"/>
              <a:buNone/>
              <a:defRPr/>
            </a:lvl3pPr>
            <a:lvl4pPr lvl="3" algn="ctr">
              <a:spcBef>
                <a:spcPts val="400"/>
              </a:spcBef>
              <a:spcAft>
                <a:spcPts val="0"/>
              </a:spcAft>
              <a:buClr>
                <a:schemeClr val="dk1"/>
              </a:buClr>
              <a:buSzPts val="2000"/>
              <a:buNone/>
              <a:defRPr/>
            </a:lvl4pPr>
            <a:lvl5pPr lvl="4" algn="ctr">
              <a:spcBef>
                <a:spcPts val="400"/>
              </a:spcBef>
              <a:spcAft>
                <a:spcPts val="0"/>
              </a:spcAft>
              <a:buClr>
                <a:schemeClr val="dk1"/>
              </a:buClr>
              <a:buSzPts val="2000"/>
              <a:buNone/>
              <a:defRPr/>
            </a:lvl5pPr>
            <a:lvl6pPr lvl="5" algn="ctr">
              <a:spcBef>
                <a:spcPts val="400"/>
              </a:spcBef>
              <a:spcAft>
                <a:spcPts val="0"/>
              </a:spcAft>
              <a:buClr>
                <a:schemeClr val="dk1"/>
              </a:buClr>
              <a:buSzPts val="2000"/>
              <a:buNone/>
              <a:defRPr/>
            </a:lvl6pPr>
            <a:lvl7pPr lvl="6" algn="ctr">
              <a:spcBef>
                <a:spcPts val="400"/>
              </a:spcBef>
              <a:spcAft>
                <a:spcPts val="0"/>
              </a:spcAft>
              <a:buClr>
                <a:schemeClr val="dk1"/>
              </a:buClr>
              <a:buSzPts val="2000"/>
              <a:buNone/>
              <a:defRPr/>
            </a:lvl7pPr>
            <a:lvl8pPr lvl="7" algn="ctr">
              <a:spcBef>
                <a:spcPts val="400"/>
              </a:spcBef>
              <a:spcAft>
                <a:spcPts val="0"/>
              </a:spcAft>
              <a:buClr>
                <a:schemeClr val="dk1"/>
              </a:buClr>
              <a:buSzPts val="2000"/>
              <a:buNone/>
              <a:defRPr/>
            </a:lvl8pPr>
            <a:lvl9pPr lvl="8" algn="ctr">
              <a:spcBef>
                <a:spcPts val="400"/>
              </a:spcBef>
              <a:spcAft>
                <a:spcPts val="0"/>
              </a:spcAft>
              <a:buClr>
                <a:schemeClr val="dk1"/>
              </a:buClr>
              <a:buSzPts val="2000"/>
              <a:buNone/>
              <a:defRPr/>
            </a:lvl9pPr>
          </a:lstStyle>
          <a:p/>
        </p:txBody>
      </p:sp>
      <p:sp>
        <p:nvSpPr>
          <p:cNvPr id="18" name="Google Shape;18;p3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21" name="Shape 21"/>
        <p:cNvGrpSpPr/>
        <p:nvPr/>
      </p:nvGrpSpPr>
      <p:grpSpPr>
        <a:xfrm>
          <a:off x="0" y="0"/>
          <a:ext cx="0" cy="0"/>
          <a:chOff x="0" y="0"/>
          <a:chExt cx="0" cy="0"/>
        </a:xfrm>
      </p:grpSpPr>
      <p:sp>
        <p:nvSpPr>
          <p:cNvPr id="22" name="Google Shape;22;p4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68300" lvl="0" marL="457200" algn="l">
              <a:spcBef>
                <a:spcPts val="440"/>
              </a:spcBef>
              <a:spcAft>
                <a:spcPts val="0"/>
              </a:spcAft>
              <a:buClr>
                <a:schemeClr val="dk1"/>
              </a:buClr>
              <a:buSzPts val="2200"/>
              <a:buChar char="•"/>
              <a:defRPr sz="22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0"/>
          <p:cNvSpPr txBox="1"/>
          <p:nvPr>
            <p:ph idx="12" type="sldNum"/>
          </p:nvPr>
        </p:nvSpPr>
        <p:spPr>
          <a:xfrm>
            <a:off x="11074400" y="6248400"/>
            <a:ext cx="7112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0" sz="1200" u="none" cap="none" strike="noStrike">
                <a:solidFill>
                  <a:srgbClr val="888888"/>
                </a:solidFill>
                <a:latin typeface="Arial"/>
                <a:ea typeface="Arial"/>
                <a:cs typeface="Arial"/>
                <a:sym typeface="Arial"/>
              </a:defRPr>
            </a:lvl1pPr>
            <a:lvl2pPr indent="0" lvl="1" marL="0" algn="r">
              <a:spcBef>
                <a:spcPts val="0"/>
              </a:spcBef>
              <a:buNone/>
              <a:defRPr b="0" i="0" sz="1200" u="none" cap="none" strike="noStrike">
                <a:solidFill>
                  <a:srgbClr val="888888"/>
                </a:solidFill>
                <a:latin typeface="Arial"/>
                <a:ea typeface="Arial"/>
                <a:cs typeface="Arial"/>
                <a:sym typeface="Arial"/>
              </a:defRPr>
            </a:lvl2pPr>
            <a:lvl3pPr indent="0" lvl="2" marL="0" algn="r">
              <a:spcBef>
                <a:spcPts val="0"/>
              </a:spcBef>
              <a:buNone/>
              <a:defRPr b="0" i="0" sz="1200" u="none" cap="none" strike="noStrike">
                <a:solidFill>
                  <a:srgbClr val="888888"/>
                </a:solidFill>
                <a:latin typeface="Arial"/>
                <a:ea typeface="Arial"/>
                <a:cs typeface="Arial"/>
                <a:sym typeface="Arial"/>
              </a:defRPr>
            </a:lvl3pPr>
            <a:lvl4pPr indent="0" lvl="3" marL="0" algn="r">
              <a:spcBef>
                <a:spcPts val="0"/>
              </a:spcBef>
              <a:buNone/>
              <a:defRPr b="0" i="0" sz="1200" u="none" cap="none" strike="noStrike">
                <a:solidFill>
                  <a:srgbClr val="888888"/>
                </a:solidFill>
                <a:latin typeface="Arial"/>
                <a:ea typeface="Arial"/>
                <a:cs typeface="Arial"/>
                <a:sym typeface="Arial"/>
              </a:defRPr>
            </a:lvl4pPr>
            <a:lvl5pPr indent="0" lvl="4" marL="0" algn="r">
              <a:spcBef>
                <a:spcPts val="0"/>
              </a:spcBef>
              <a:buNone/>
              <a:defRPr b="0" i="0" sz="1200" u="none" cap="none" strike="noStrike">
                <a:solidFill>
                  <a:srgbClr val="888888"/>
                </a:solidFill>
                <a:latin typeface="Arial"/>
                <a:ea typeface="Arial"/>
                <a:cs typeface="Arial"/>
                <a:sym typeface="Arial"/>
              </a:defRPr>
            </a:lvl5pPr>
            <a:lvl6pPr indent="0" lvl="5" marL="0" algn="r">
              <a:spcBef>
                <a:spcPts val="0"/>
              </a:spcBef>
              <a:buNone/>
              <a:defRPr b="0" i="0" sz="1200" u="none" cap="none" strike="noStrike">
                <a:solidFill>
                  <a:srgbClr val="888888"/>
                </a:solidFill>
                <a:latin typeface="Arial"/>
                <a:ea typeface="Arial"/>
                <a:cs typeface="Arial"/>
                <a:sym typeface="Arial"/>
              </a:defRPr>
            </a:lvl6pPr>
            <a:lvl7pPr indent="0" lvl="6" marL="0" algn="r">
              <a:spcBef>
                <a:spcPts val="0"/>
              </a:spcBef>
              <a:buNone/>
              <a:defRPr b="0" i="0" sz="1200" u="none" cap="none" strike="noStrike">
                <a:solidFill>
                  <a:srgbClr val="888888"/>
                </a:solidFill>
                <a:latin typeface="Arial"/>
                <a:ea typeface="Arial"/>
                <a:cs typeface="Arial"/>
                <a:sym typeface="Arial"/>
              </a:defRPr>
            </a:lvl7pPr>
            <a:lvl8pPr indent="0" lvl="7" marL="0" algn="r">
              <a:spcBef>
                <a:spcPts val="0"/>
              </a:spcBef>
              <a:buNone/>
              <a:defRPr b="0" i="0" sz="1200" u="none" cap="none" strike="noStrike">
                <a:solidFill>
                  <a:srgbClr val="888888"/>
                </a:solidFill>
                <a:latin typeface="Arial"/>
                <a:ea typeface="Arial"/>
                <a:cs typeface="Arial"/>
                <a:sym typeface="Arial"/>
              </a:defRPr>
            </a:lvl8pPr>
            <a:lvl9pPr indent="0" lvl="8" mar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5" name="Shape 25"/>
        <p:cNvGrpSpPr/>
        <p:nvPr/>
      </p:nvGrpSpPr>
      <p:grpSpPr>
        <a:xfrm>
          <a:off x="0" y="0"/>
          <a:ext cx="0" cy="0"/>
          <a:chOff x="0" y="0"/>
          <a:chExt cx="0" cy="0"/>
        </a:xfrm>
      </p:grpSpPr>
      <p:sp>
        <p:nvSpPr>
          <p:cNvPr id="26" name="Google Shape;26;p41"/>
          <p:cNvSpPr txBox="1"/>
          <p:nvPr>
            <p:ph type="title"/>
          </p:nvPr>
        </p:nvSpPr>
        <p:spPr>
          <a:xfrm>
            <a:off x="609600" y="274638"/>
            <a:ext cx="10972800" cy="1143000"/>
          </a:xfrm>
          <a:prstGeom prst="rect">
            <a:avLst/>
          </a:prstGeom>
          <a:noFill/>
          <a:ln>
            <a:noFill/>
          </a:ln>
        </p:spPr>
        <p:txBody>
          <a:bodyPr anchorCtr="0" anchor="ctr" bIns="0" lIns="0" spcFirstLastPara="1" rIns="0" wrap="square" tIns="0">
            <a:normAutofit/>
          </a:bodyPr>
          <a:lstStyle>
            <a:lvl1pPr lvl="0" algn="ctr">
              <a:spcBef>
                <a:spcPts val="0"/>
              </a:spcBef>
              <a:spcAft>
                <a:spcPts val="0"/>
              </a:spcAft>
              <a:buClr>
                <a:schemeClr val="dk1"/>
              </a:buClr>
              <a:buSzPts val="3971"/>
              <a:buFont typeface="Twentieth Century"/>
              <a:buNone/>
              <a:defRPr b="0" i="0" sz="3971">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1"/>
          <p:cNvSpPr txBox="1"/>
          <p:nvPr>
            <p:ph idx="11" type="ftr"/>
          </p:nvPr>
        </p:nvSpPr>
        <p:spPr>
          <a:xfrm>
            <a:off x="4165600" y="6356351"/>
            <a:ext cx="3860800" cy="3651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1"/>
          <p:cNvSpPr txBox="1"/>
          <p:nvPr>
            <p:ph idx="10" type="dt"/>
          </p:nvPr>
        </p:nvSpPr>
        <p:spPr>
          <a:xfrm>
            <a:off x="609600" y="6356351"/>
            <a:ext cx="2844800" cy="365125"/>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1"/>
          <p:cNvSpPr txBox="1"/>
          <p:nvPr>
            <p:ph idx="12" type="sldNum"/>
          </p:nvPr>
        </p:nvSpPr>
        <p:spPr>
          <a:xfrm>
            <a:off x="8737600" y="6356351"/>
            <a:ext cx="2844800"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b="1" i="0" sz="1059">
                <a:solidFill>
                  <a:srgbClr val="898989"/>
                </a:solidFill>
                <a:latin typeface="Arial"/>
                <a:ea typeface="Arial"/>
                <a:cs typeface="Arial"/>
                <a:sym typeface="Arial"/>
              </a:defRPr>
            </a:lvl1pPr>
            <a:lvl2pPr indent="0" lvl="1" marL="0" algn="r">
              <a:spcBef>
                <a:spcPts val="0"/>
              </a:spcBef>
              <a:buNone/>
              <a:defRPr b="1" i="0" sz="1059">
                <a:solidFill>
                  <a:srgbClr val="898989"/>
                </a:solidFill>
                <a:latin typeface="Arial"/>
                <a:ea typeface="Arial"/>
                <a:cs typeface="Arial"/>
                <a:sym typeface="Arial"/>
              </a:defRPr>
            </a:lvl2pPr>
            <a:lvl3pPr indent="0" lvl="2" marL="0" algn="r">
              <a:spcBef>
                <a:spcPts val="0"/>
              </a:spcBef>
              <a:buNone/>
              <a:defRPr b="1" i="0" sz="1059">
                <a:solidFill>
                  <a:srgbClr val="898989"/>
                </a:solidFill>
                <a:latin typeface="Arial"/>
                <a:ea typeface="Arial"/>
                <a:cs typeface="Arial"/>
                <a:sym typeface="Arial"/>
              </a:defRPr>
            </a:lvl3pPr>
            <a:lvl4pPr indent="0" lvl="3" marL="0" algn="r">
              <a:spcBef>
                <a:spcPts val="0"/>
              </a:spcBef>
              <a:buNone/>
              <a:defRPr b="1" i="0" sz="1059">
                <a:solidFill>
                  <a:srgbClr val="898989"/>
                </a:solidFill>
                <a:latin typeface="Arial"/>
                <a:ea typeface="Arial"/>
                <a:cs typeface="Arial"/>
                <a:sym typeface="Arial"/>
              </a:defRPr>
            </a:lvl4pPr>
            <a:lvl5pPr indent="0" lvl="4" marL="0" algn="r">
              <a:spcBef>
                <a:spcPts val="0"/>
              </a:spcBef>
              <a:buNone/>
              <a:defRPr b="1" i="0" sz="1059">
                <a:solidFill>
                  <a:srgbClr val="898989"/>
                </a:solidFill>
                <a:latin typeface="Arial"/>
                <a:ea typeface="Arial"/>
                <a:cs typeface="Arial"/>
                <a:sym typeface="Arial"/>
              </a:defRPr>
            </a:lvl5pPr>
            <a:lvl6pPr indent="0" lvl="5" marL="0" algn="r">
              <a:spcBef>
                <a:spcPts val="0"/>
              </a:spcBef>
              <a:buNone/>
              <a:defRPr b="1" i="0" sz="1059">
                <a:solidFill>
                  <a:srgbClr val="898989"/>
                </a:solidFill>
                <a:latin typeface="Arial"/>
                <a:ea typeface="Arial"/>
                <a:cs typeface="Arial"/>
                <a:sym typeface="Arial"/>
              </a:defRPr>
            </a:lvl6pPr>
            <a:lvl7pPr indent="0" lvl="6" marL="0" algn="r">
              <a:spcBef>
                <a:spcPts val="0"/>
              </a:spcBef>
              <a:buNone/>
              <a:defRPr b="1" i="0" sz="1059">
                <a:solidFill>
                  <a:srgbClr val="898989"/>
                </a:solidFill>
                <a:latin typeface="Arial"/>
                <a:ea typeface="Arial"/>
                <a:cs typeface="Arial"/>
                <a:sym typeface="Arial"/>
              </a:defRPr>
            </a:lvl7pPr>
            <a:lvl8pPr indent="0" lvl="7" marL="0" algn="r">
              <a:spcBef>
                <a:spcPts val="0"/>
              </a:spcBef>
              <a:buNone/>
              <a:defRPr b="1" i="0" sz="1059">
                <a:solidFill>
                  <a:srgbClr val="898989"/>
                </a:solidFill>
                <a:latin typeface="Arial"/>
                <a:ea typeface="Arial"/>
                <a:cs typeface="Arial"/>
                <a:sym typeface="Arial"/>
              </a:defRPr>
            </a:lvl8pPr>
            <a:lvl9pPr indent="0" lvl="8" marL="0" algn="r">
              <a:spcBef>
                <a:spcPts val="0"/>
              </a:spcBef>
              <a:buNone/>
              <a:defRPr b="1" i="0" sz="1059">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30" name="Shape 30"/>
        <p:cNvGrpSpPr/>
        <p:nvPr/>
      </p:nvGrpSpPr>
      <p:grpSpPr>
        <a:xfrm>
          <a:off x="0" y="0"/>
          <a:ext cx="0" cy="0"/>
          <a:chOff x="0" y="0"/>
          <a:chExt cx="0" cy="0"/>
        </a:xfrm>
      </p:grpSpPr>
      <p:sp>
        <p:nvSpPr>
          <p:cNvPr id="31" name="Google Shape;31;p42"/>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rgbClr val="888888"/>
                </a:solidFill>
                <a:latin typeface="Arial"/>
                <a:ea typeface="Arial"/>
                <a:cs typeface="Arial"/>
                <a:sym typeface="Arial"/>
              </a:defRPr>
            </a:lvl1pPr>
            <a:lvl2pPr indent="0" lvl="1" marL="0" algn="r">
              <a:spcBef>
                <a:spcPts val="0"/>
              </a:spcBef>
              <a:buNone/>
              <a:defRPr sz="1200">
                <a:solidFill>
                  <a:srgbClr val="888888"/>
                </a:solidFill>
                <a:latin typeface="Arial"/>
                <a:ea typeface="Arial"/>
                <a:cs typeface="Arial"/>
                <a:sym typeface="Arial"/>
              </a:defRPr>
            </a:lvl2pPr>
            <a:lvl3pPr indent="0" lvl="2" marL="0" algn="r">
              <a:spcBef>
                <a:spcPts val="0"/>
              </a:spcBef>
              <a:buNone/>
              <a:defRPr sz="1200">
                <a:solidFill>
                  <a:srgbClr val="888888"/>
                </a:solidFill>
                <a:latin typeface="Arial"/>
                <a:ea typeface="Arial"/>
                <a:cs typeface="Arial"/>
                <a:sym typeface="Arial"/>
              </a:defRPr>
            </a:lvl3pPr>
            <a:lvl4pPr indent="0" lvl="3" marL="0" algn="r">
              <a:spcBef>
                <a:spcPts val="0"/>
              </a:spcBef>
              <a:buNone/>
              <a:defRPr sz="1200">
                <a:solidFill>
                  <a:srgbClr val="888888"/>
                </a:solidFill>
                <a:latin typeface="Arial"/>
                <a:ea typeface="Arial"/>
                <a:cs typeface="Arial"/>
                <a:sym typeface="Arial"/>
              </a:defRPr>
            </a:lvl4pPr>
            <a:lvl5pPr indent="0" lvl="4" marL="0" algn="r">
              <a:spcBef>
                <a:spcPts val="0"/>
              </a:spcBef>
              <a:buNone/>
              <a:defRPr sz="1200">
                <a:solidFill>
                  <a:srgbClr val="888888"/>
                </a:solidFill>
                <a:latin typeface="Arial"/>
                <a:ea typeface="Arial"/>
                <a:cs typeface="Arial"/>
                <a:sym typeface="Arial"/>
              </a:defRPr>
            </a:lvl5pPr>
            <a:lvl6pPr indent="0" lvl="5" marL="0" algn="r">
              <a:spcBef>
                <a:spcPts val="0"/>
              </a:spcBef>
              <a:buNone/>
              <a:defRPr sz="1200">
                <a:solidFill>
                  <a:srgbClr val="888888"/>
                </a:solidFill>
                <a:latin typeface="Arial"/>
                <a:ea typeface="Arial"/>
                <a:cs typeface="Arial"/>
                <a:sym typeface="Arial"/>
              </a:defRPr>
            </a:lvl6pPr>
            <a:lvl7pPr indent="0" lvl="6" marL="0" algn="r">
              <a:spcBef>
                <a:spcPts val="0"/>
              </a:spcBef>
              <a:buNone/>
              <a:defRPr sz="1200">
                <a:solidFill>
                  <a:srgbClr val="888888"/>
                </a:solidFill>
                <a:latin typeface="Arial"/>
                <a:ea typeface="Arial"/>
                <a:cs typeface="Arial"/>
                <a:sym typeface="Arial"/>
              </a:defRPr>
            </a:lvl7pPr>
            <a:lvl8pPr indent="0" lvl="7" marL="0" algn="r">
              <a:spcBef>
                <a:spcPts val="0"/>
              </a:spcBef>
              <a:buNone/>
              <a:defRPr sz="1200">
                <a:solidFill>
                  <a:srgbClr val="888888"/>
                </a:solidFill>
                <a:latin typeface="Arial"/>
                <a:ea typeface="Arial"/>
                <a:cs typeface="Arial"/>
                <a:sym typeface="Arial"/>
              </a:defRPr>
            </a:lvl8pPr>
            <a:lvl9pPr indent="0" lvl="8" marL="0" algn="r">
              <a:spcBef>
                <a:spcPts val="0"/>
              </a:spcBef>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p:cSld name="Titelfolie">
    <p:bg>
      <p:bgPr>
        <a:solidFill>
          <a:schemeClr val="lt1"/>
        </a:solidFill>
      </p:bgPr>
    </p:bg>
    <p:spTree>
      <p:nvGrpSpPr>
        <p:cNvPr id="32" name="Shape 32"/>
        <p:cNvGrpSpPr/>
        <p:nvPr/>
      </p:nvGrpSpPr>
      <p:grpSpPr>
        <a:xfrm>
          <a:off x="0" y="0"/>
          <a:ext cx="0" cy="0"/>
          <a:chOff x="0" y="0"/>
          <a:chExt cx="0" cy="0"/>
        </a:xfrm>
      </p:grpSpPr>
      <p:sp>
        <p:nvSpPr>
          <p:cNvPr id="33" name="Google Shape;33;p43"/>
          <p:cNvSpPr/>
          <p:nvPr/>
        </p:nvSpPr>
        <p:spPr>
          <a:xfrm>
            <a:off x="-49557" y="1"/>
            <a:ext cx="12241556" cy="6857999"/>
          </a:xfrm>
          <a:prstGeom prst="rect">
            <a:avLst/>
          </a:prstGeom>
          <a:solidFill>
            <a:schemeClr val="dk1"/>
          </a:solidFill>
          <a:ln cap="flat" cmpd="sng" w="9525">
            <a:solidFill>
              <a:schemeClr val="dk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 name="Google Shape;34;p43"/>
          <p:cNvSpPr txBox="1"/>
          <p:nvPr>
            <p:ph type="ctrTitle"/>
          </p:nvPr>
        </p:nvSpPr>
        <p:spPr>
          <a:xfrm>
            <a:off x="864844" y="204227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3"/>
          <p:cNvSpPr txBox="1"/>
          <p:nvPr>
            <p:ph idx="1" type="subTitle"/>
          </p:nvPr>
        </p:nvSpPr>
        <p:spPr>
          <a:xfrm>
            <a:off x="3411621" y="3933699"/>
            <a:ext cx="8534400" cy="1752600"/>
          </a:xfrm>
          <a:prstGeom prst="rect">
            <a:avLst/>
          </a:prstGeom>
          <a:noFill/>
          <a:ln>
            <a:noFill/>
          </a:ln>
        </p:spPr>
        <p:txBody>
          <a:bodyPr anchorCtr="0" anchor="t" bIns="45700" lIns="91425" spcFirstLastPara="1" rIns="91425" wrap="square" tIns="45700">
            <a:normAutofit/>
          </a:bodyPr>
          <a:lstStyle>
            <a:lvl1pPr lvl="0" algn="r">
              <a:spcBef>
                <a:spcPts val="320"/>
              </a:spcBef>
              <a:spcAft>
                <a:spcPts val="0"/>
              </a:spcAft>
              <a:buClr>
                <a:schemeClr val="dk1"/>
              </a:buClr>
              <a:buSzPts val="1600"/>
              <a:buNone/>
              <a:defRPr sz="1600">
                <a:latin typeface="Arial"/>
                <a:ea typeface="Arial"/>
                <a:cs typeface="Arial"/>
                <a:sym typeface="Arial"/>
              </a:defRPr>
            </a:lvl1pPr>
            <a:lvl2pPr lvl="1" algn="ctr">
              <a:spcBef>
                <a:spcPts val="560"/>
              </a:spcBef>
              <a:spcAft>
                <a:spcPts val="0"/>
              </a:spcAft>
              <a:buClr>
                <a:schemeClr val="dk1"/>
              </a:buClr>
              <a:buSzPts val="2800"/>
              <a:buNone/>
              <a:defRPr/>
            </a:lvl2pPr>
            <a:lvl3pPr lvl="2" algn="ctr">
              <a:spcBef>
                <a:spcPts val="480"/>
              </a:spcBef>
              <a:spcAft>
                <a:spcPts val="0"/>
              </a:spcAft>
              <a:buClr>
                <a:schemeClr val="dk1"/>
              </a:buClr>
              <a:buSzPts val="2400"/>
              <a:buNone/>
              <a:defRPr/>
            </a:lvl3pPr>
            <a:lvl4pPr lvl="3" algn="ctr">
              <a:spcBef>
                <a:spcPts val="400"/>
              </a:spcBef>
              <a:spcAft>
                <a:spcPts val="0"/>
              </a:spcAft>
              <a:buClr>
                <a:schemeClr val="dk1"/>
              </a:buClr>
              <a:buSzPts val="2000"/>
              <a:buNone/>
              <a:defRPr/>
            </a:lvl4pPr>
            <a:lvl5pPr lvl="4" algn="ctr">
              <a:spcBef>
                <a:spcPts val="400"/>
              </a:spcBef>
              <a:spcAft>
                <a:spcPts val="0"/>
              </a:spcAft>
              <a:buClr>
                <a:schemeClr val="dk1"/>
              </a:buClr>
              <a:buSzPts val="2000"/>
              <a:buNone/>
              <a:defRPr/>
            </a:lvl5pPr>
            <a:lvl6pPr lvl="5" algn="ctr">
              <a:spcBef>
                <a:spcPts val="400"/>
              </a:spcBef>
              <a:spcAft>
                <a:spcPts val="0"/>
              </a:spcAft>
              <a:buClr>
                <a:schemeClr val="dk1"/>
              </a:buClr>
              <a:buSzPts val="2000"/>
              <a:buNone/>
              <a:defRPr/>
            </a:lvl6pPr>
            <a:lvl7pPr lvl="6" algn="ctr">
              <a:spcBef>
                <a:spcPts val="400"/>
              </a:spcBef>
              <a:spcAft>
                <a:spcPts val="0"/>
              </a:spcAft>
              <a:buClr>
                <a:schemeClr val="dk1"/>
              </a:buClr>
              <a:buSzPts val="2000"/>
              <a:buNone/>
              <a:defRPr/>
            </a:lvl7pPr>
            <a:lvl8pPr lvl="7" algn="ctr">
              <a:spcBef>
                <a:spcPts val="400"/>
              </a:spcBef>
              <a:spcAft>
                <a:spcPts val="0"/>
              </a:spcAft>
              <a:buClr>
                <a:schemeClr val="dk1"/>
              </a:buClr>
              <a:buSzPts val="2000"/>
              <a:buNone/>
              <a:defRPr/>
            </a:lvl8pPr>
            <a:lvl9pPr lvl="8" algn="ctr">
              <a:spcBef>
                <a:spcPts val="400"/>
              </a:spcBef>
              <a:spcAft>
                <a:spcPts val="0"/>
              </a:spcAft>
              <a:buClr>
                <a:schemeClr val="dk1"/>
              </a:buClr>
              <a:buSzPts val="2000"/>
              <a:buNone/>
              <a:defRPr/>
            </a:lvl9pPr>
          </a:lstStyle>
          <a:p/>
        </p:txBody>
      </p:sp>
      <p:pic>
        <p:nvPicPr>
          <p:cNvPr id="36" name="Google Shape;36;p43"/>
          <p:cNvPicPr preferRelativeResize="0"/>
          <p:nvPr/>
        </p:nvPicPr>
        <p:blipFill rotWithShape="1">
          <a:blip r:embed="rId2">
            <a:alphaModFix/>
          </a:blip>
          <a:srcRect b="0" l="0" r="0" t="0"/>
          <a:stretch/>
        </p:blipFill>
        <p:spPr>
          <a:xfrm>
            <a:off x="10189048" y="5704389"/>
            <a:ext cx="1417293" cy="85972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37" name="Shape 37"/>
        <p:cNvGrpSpPr/>
        <p:nvPr/>
      </p:nvGrpSpPr>
      <p:grpSpPr>
        <a:xfrm>
          <a:off x="0" y="0"/>
          <a:ext cx="0" cy="0"/>
          <a:chOff x="0" y="0"/>
          <a:chExt cx="0" cy="0"/>
        </a:xfrm>
      </p:grpSpPr>
      <p:sp>
        <p:nvSpPr>
          <p:cNvPr id="38" name="Google Shape;38;p4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4"/>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rgbClr val="888888"/>
                </a:solidFill>
                <a:latin typeface="Arial"/>
                <a:ea typeface="Arial"/>
                <a:cs typeface="Arial"/>
                <a:sym typeface="Arial"/>
              </a:defRPr>
            </a:lvl1pPr>
            <a:lvl2pPr indent="0" lvl="1" marL="0" algn="r">
              <a:spcBef>
                <a:spcPts val="0"/>
              </a:spcBef>
              <a:buNone/>
              <a:defRPr sz="1200">
                <a:solidFill>
                  <a:srgbClr val="888888"/>
                </a:solidFill>
                <a:latin typeface="Arial"/>
                <a:ea typeface="Arial"/>
                <a:cs typeface="Arial"/>
                <a:sym typeface="Arial"/>
              </a:defRPr>
            </a:lvl2pPr>
            <a:lvl3pPr indent="0" lvl="2" marL="0" algn="r">
              <a:spcBef>
                <a:spcPts val="0"/>
              </a:spcBef>
              <a:buNone/>
              <a:defRPr sz="1200">
                <a:solidFill>
                  <a:srgbClr val="888888"/>
                </a:solidFill>
                <a:latin typeface="Arial"/>
                <a:ea typeface="Arial"/>
                <a:cs typeface="Arial"/>
                <a:sym typeface="Arial"/>
              </a:defRPr>
            </a:lvl3pPr>
            <a:lvl4pPr indent="0" lvl="3" marL="0" algn="r">
              <a:spcBef>
                <a:spcPts val="0"/>
              </a:spcBef>
              <a:buNone/>
              <a:defRPr sz="1200">
                <a:solidFill>
                  <a:srgbClr val="888888"/>
                </a:solidFill>
                <a:latin typeface="Arial"/>
                <a:ea typeface="Arial"/>
                <a:cs typeface="Arial"/>
                <a:sym typeface="Arial"/>
              </a:defRPr>
            </a:lvl4pPr>
            <a:lvl5pPr indent="0" lvl="4" marL="0" algn="r">
              <a:spcBef>
                <a:spcPts val="0"/>
              </a:spcBef>
              <a:buNone/>
              <a:defRPr sz="1200">
                <a:solidFill>
                  <a:srgbClr val="888888"/>
                </a:solidFill>
                <a:latin typeface="Arial"/>
                <a:ea typeface="Arial"/>
                <a:cs typeface="Arial"/>
                <a:sym typeface="Arial"/>
              </a:defRPr>
            </a:lvl5pPr>
            <a:lvl6pPr indent="0" lvl="5" marL="0" algn="r">
              <a:spcBef>
                <a:spcPts val="0"/>
              </a:spcBef>
              <a:buNone/>
              <a:defRPr sz="1200">
                <a:solidFill>
                  <a:srgbClr val="888888"/>
                </a:solidFill>
                <a:latin typeface="Arial"/>
                <a:ea typeface="Arial"/>
                <a:cs typeface="Arial"/>
                <a:sym typeface="Arial"/>
              </a:defRPr>
            </a:lvl6pPr>
            <a:lvl7pPr indent="0" lvl="6" marL="0" algn="r">
              <a:spcBef>
                <a:spcPts val="0"/>
              </a:spcBef>
              <a:buNone/>
              <a:defRPr sz="1200">
                <a:solidFill>
                  <a:srgbClr val="888888"/>
                </a:solidFill>
                <a:latin typeface="Arial"/>
                <a:ea typeface="Arial"/>
                <a:cs typeface="Arial"/>
                <a:sym typeface="Arial"/>
              </a:defRPr>
            </a:lvl7pPr>
            <a:lvl8pPr indent="0" lvl="7" marL="0" algn="r">
              <a:spcBef>
                <a:spcPts val="0"/>
              </a:spcBef>
              <a:buNone/>
              <a:defRPr sz="1200">
                <a:solidFill>
                  <a:srgbClr val="888888"/>
                </a:solidFill>
                <a:latin typeface="Arial"/>
                <a:ea typeface="Arial"/>
                <a:cs typeface="Arial"/>
                <a:sym typeface="Arial"/>
              </a:defRPr>
            </a:lvl8pPr>
            <a:lvl9pPr indent="0" lvl="8" marL="0" algn="r">
              <a:spcBef>
                <a:spcPts val="0"/>
              </a:spcBef>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0" name="Shape 40"/>
        <p:cNvGrpSpPr/>
        <p:nvPr/>
      </p:nvGrpSpPr>
      <p:grpSpPr>
        <a:xfrm>
          <a:off x="0" y="0"/>
          <a:ext cx="0" cy="0"/>
          <a:chOff x="0" y="0"/>
          <a:chExt cx="0" cy="0"/>
        </a:xfrm>
      </p:grpSpPr>
      <p:sp>
        <p:nvSpPr>
          <p:cNvPr id="41" name="Google Shape;41;p45"/>
          <p:cNvSpPr txBox="1"/>
          <p:nvPr>
            <p:ph type="title"/>
          </p:nvPr>
        </p:nvSpPr>
        <p:spPr>
          <a:xfrm>
            <a:off x="609600" y="274638"/>
            <a:ext cx="10972800" cy="1143000"/>
          </a:xfrm>
          <a:prstGeom prst="rect">
            <a:avLst/>
          </a:prstGeom>
          <a:noFill/>
          <a:ln>
            <a:noFill/>
          </a:ln>
        </p:spPr>
        <p:txBody>
          <a:bodyPr anchorCtr="0" anchor="ctr" bIns="0" lIns="0" spcFirstLastPara="1" rIns="0" wrap="square" tIns="0">
            <a:normAutofit/>
          </a:bodyPr>
          <a:lstStyle>
            <a:lvl1pPr lvl="0" algn="ctr">
              <a:spcBef>
                <a:spcPts val="0"/>
              </a:spcBef>
              <a:spcAft>
                <a:spcPts val="0"/>
              </a:spcAft>
              <a:buClr>
                <a:schemeClr val="dk1"/>
              </a:buClr>
              <a:buSzPts val="3971"/>
              <a:buFont typeface="Twentieth Century"/>
              <a:buNone/>
              <a:defRPr b="0" i="0" sz="3971">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5"/>
          <p:cNvSpPr txBox="1"/>
          <p:nvPr>
            <p:ph idx="1" type="body"/>
          </p:nvPr>
        </p:nvSpPr>
        <p:spPr>
          <a:xfrm>
            <a:off x="1388502" y="1900907"/>
            <a:ext cx="4068618" cy="434606"/>
          </a:xfrm>
          <a:prstGeom prst="rect">
            <a:avLst/>
          </a:prstGeom>
          <a:noFill/>
          <a:ln>
            <a:noFill/>
          </a:ln>
        </p:spPr>
        <p:txBody>
          <a:bodyPr anchorCtr="0" anchor="t" bIns="0" lIns="0" spcFirstLastPara="1" rIns="0" wrap="square" tIns="0">
            <a:spAutoFit/>
          </a:bodyPr>
          <a:lstStyle>
            <a:lvl1pPr indent="-407924" lvl="0" marL="457200" algn="l">
              <a:spcBef>
                <a:spcPts val="565"/>
              </a:spcBef>
              <a:spcAft>
                <a:spcPts val="0"/>
              </a:spcAft>
              <a:buClr>
                <a:schemeClr val="dk1"/>
              </a:buClr>
              <a:buSzPts val="2824"/>
              <a:buChar char="•"/>
              <a:defRPr b="1" i="0" sz="2824">
                <a:solidFill>
                  <a:schemeClr val="dk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3" name="Google Shape;43;p45"/>
          <p:cNvSpPr txBox="1"/>
          <p:nvPr>
            <p:ph idx="2" type="body"/>
          </p:nvPr>
        </p:nvSpPr>
        <p:spPr>
          <a:xfrm>
            <a:off x="6280117" y="1434662"/>
            <a:ext cx="4674368" cy="244362"/>
          </a:xfrm>
          <a:prstGeom prst="rect">
            <a:avLst/>
          </a:prstGeom>
          <a:noFill/>
          <a:ln>
            <a:noFill/>
          </a:ln>
        </p:spPr>
        <p:txBody>
          <a:bodyPr anchorCtr="0" anchor="t" bIns="0" lIns="0" spcFirstLastPara="1" rIns="0" wrap="square" tIns="0">
            <a:spAutoFit/>
          </a:bodyPr>
          <a:lstStyle>
            <a:lvl1pPr indent="-329438" lvl="0" marL="457200" algn="l">
              <a:spcBef>
                <a:spcPts val="318"/>
              </a:spcBef>
              <a:spcAft>
                <a:spcPts val="0"/>
              </a:spcAft>
              <a:buClr>
                <a:schemeClr val="dk1"/>
              </a:buClr>
              <a:buSzPts val="1588"/>
              <a:buChar char="•"/>
              <a:defRPr b="1" i="0" sz="1588">
                <a:solidFill>
                  <a:schemeClr val="dk1"/>
                </a:solidFill>
                <a:latin typeface="Twentieth Century"/>
                <a:ea typeface="Twentieth Century"/>
                <a:cs typeface="Twentieth Century"/>
                <a:sym typeface="Twentieth Century"/>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45"/>
          <p:cNvSpPr txBox="1"/>
          <p:nvPr>
            <p:ph idx="11" type="ftr"/>
          </p:nvPr>
        </p:nvSpPr>
        <p:spPr>
          <a:xfrm>
            <a:off x="4165600" y="6356351"/>
            <a:ext cx="3860800" cy="3651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5"/>
          <p:cNvSpPr txBox="1"/>
          <p:nvPr>
            <p:ph idx="10" type="dt"/>
          </p:nvPr>
        </p:nvSpPr>
        <p:spPr>
          <a:xfrm>
            <a:off x="609600" y="6356351"/>
            <a:ext cx="2844800" cy="365125"/>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5"/>
          <p:cNvSpPr txBox="1"/>
          <p:nvPr>
            <p:ph idx="12" type="sldNum"/>
          </p:nvPr>
        </p:nvSpPr>
        <p:spPr>
          <a:xfrm>
            <a:off x="8737600" y="6356351"/>
            <a:ext cx="2844800"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b="1" i="0" sz="1059">
                <a:solidFill>
                  <a:srgbClr val="898989"/>
                </a:solidFill>
                <a:latin typeface="Arial"/>
                <a:ea typeface="Arial"/>
                <a:cs typeface="Arial"/>
                <a:sym typeface="Arial"/>
              </a:defRPr>
            </a:lvl1pPr>
            <a:lvl2pPr indent="0" lvl="1" marL="0" algn="r">
              <a:spcBef>
                <a:spcPts val="0"/>
              </a:spcBef>
              <a:buNone/>
              <a:defRPr b="1" i="0" sz="1059">
                <a:solidFill>
                  <a:srgbClr val="898989"/>
                </a:solidFill>
                <a:latin typeface="Arial"/>
                <a:ea typeface="Arial"/>
                <a:cs typeface="Arial"/>
                <a:sym typeface="Arial"/>
              </a:defRPr>
            </a:lvl2pPr>
            <a:lvl3pPr indent="0" lvl="2" marL="0" algn="r">
              <a:spcBef>
                <a:spcPts val="0"/>
              </a:spcBef>
              <a:buNone/>
              <a:defRPr b="1" i="0" sz="1059">
                <a:solidFill>
                  <a:srgbClr val="898989"/>
                </a:solidFill>
                <a:latin typeface="Arial"/>
                <a:ea typeface="Arial"/>
                <a:cs typeface="Arial"/>
                <a:sym typeface="Arial"/>
              </a:defRPr>
            </a:lvl3pPr>
            <a:lvl4pPr indent="0" lvl="3" marL="0" algn="r">
              <a:spcBef>
                <a:spcPts val="0"/>
              </a:spcBef>
              <a:buNone/>
              <a:defRPr b="1" i="0" sz="1059">
                <a:solidFill>
                  <a:srgbClr val="898989"/>
                </a:solidFill>
                <a:latin typeface="Arial"/>
                <a:ea typeface="Arial"/>
                <a:cs typeface="Arial"/>
                <a:sym typeface="Arial"/>
              </a:defRPr>
            </a:lvl4pPr>
            <a:lvl5pPr indent="0" lvl="4" marL="0" algn="r">
              <a:spcBef>
                <a:spcPts val="0"/>
              </a:spcBef>
              <a:buNone/>
              <a:defRPr b="1" i="0" sz="1059">
                <a:solidFill>
                  <a:srgbClr val="898989"/>
                </a:solidFill>
                <a:latin typeface="Arial"/>
                <a:ea typeface="Arial"/>
                <a:cs typeface="Arial"/>
                <a:sym typeface="Arial"/>
              </a:defRPr>
            </a:lvl5pPr>
            <a:lvl6pPr indent="0" lvl="5" marL="0" algn="r">
              <a:spcBef>
                <a:spcPts val="0"/>
              </a:spcBef>
              <a:buNone/>
              <a:defRPr b="1" i="0" sz="1059">
                <a:solidFill>
                  <a:srgbClr val="898989"/>
                </a:solidFill>
                <a:latin typeface="Arial"/>
                <a:ea typeface="Arial"/>
                <a:cs typeface="Arial"/>
                <a:sym typeface="Arial"/>
              </a:defRPr>
            </a:lvl6pPr>
            <a:lvl7pPr indent="0" lvl="6" marL="0" algn="r">
              <a:spcBef>
                <a:spcPts val="0"/>
              </a:spcBef>
              <a:buNone/>
              <a:defRPr b="1" i="0" sz="1059">
                <a:solidFill>
                  <a:srgbClr val="898989"/>
                </a:solidFill>
                <a:latin typeface="Arial"/>
                <a:ea typeface="Arial"/>
                <a:cs typeface="Arial"/>
                <a:sym typeface="Arial"/>
              </a:defRPr>
            </a:lvl7pPr>
            <a:lvl8pPr indent="0" lvl="7" marL="0" algn="r">
              <a:spcBef>
                <a:spcPts val="0"/>
              </a:spcBef>
              <a:buNone/>
              <a:defRPr b="1" i="0" sz="1059">
                <a:solidFill>
                  <a:srgbClr val="898989"/>
                </a:solidFill>
                <a:latin typeface="Arial"/>
                <a:ea typeface="Arial"/>
                <a:cs typeface="Arial"/>
                <a:sym typeface="Arial"/>
              </a:defRPr>
            </a:lvl8pPr>
            <a:lvl9pPr indent="0" lvl="8" marL="0" algn="r">
              <a:spcBef>
                <a:spcPts val="0"/>
              </a:spcBef>
              <a:buNone/>
              <a:defRPr b="1" i="0" sz="1059">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53" name="Shape 53"/>
        <p:cNvGrpSpPr/>
        <p:nvPr/>
      </p:nvGrpSpPr>
      <p:grpSpPr>
        <a:xfrm>
          <a:off x="0" y="0"/>
          <a:ext cx="0" cy="0"/>
          <a:chOff x="0" y="0"/>
          <a:chExt cx="0" cy="0"/>
        </a:xfrm>
      </p:grpSpPr>
      <p:sp>
        <p:nvSpPr>
          <p:cNvPr id="54" name="Google Shape;54;p47"/>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solidFill>
                  <a:schemeClr val="l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47"/>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Arial"/>
              <a:buNone/>
              <a:defRPr sz="2400"/>
            </a:lvl1pPr>
            <a:lvl2pPr lvl="1" algn="ctr">
              <a:spcBef>
                <a:spcPts val="360"/>
              </a:spcBef>
              <a:spcAft>
                <a:spcPts val="0"/>
              </a:spcAft>
              <a:buClr>
                <a:schemeClr val="dk1"/>
              </a:buClr>
              <a:buSzPts val="1800"/>
              <a:buFont typeface="Arial"/>
              <a:buNone/>
              <a:defRPr/>
            </a:lvl2pPr>
            <a:lvl3pPr lvl="2" algn="ctr">
              <a:spcBef>
                <a:spcPts val="360"/>
              </a:spcBef>
              <a:spcAft>
                <a:spcPts val="0"/>
              </a:spcAft>
              <a:buClr>
                <a:schemeClr val="dk1"/>
              </a:buClr>
              <a:buSzPts val="1800"/>
              <a:buFont typeface="Arial"/>
              <a:buNone/>
              <a:defRPr/>
            </a:lvl3pPr>
            <a:lvl4pPr lvl="3" algn="ctr">
              <a:spcBef>
                <a:spcPts val="360"/>
              </a:spcBef>
              <a:spcAft>
                <a:spcPts val="0"/>
              </a:spcAft>
              <a:buClr>
                <a:schemeClr val="dk1"/>
              </a:buClr>
              <a:buSzPts val="1800"/>
              <a:buFont typeface="Arial"/>
              <a:buNone/>
              <a:defRPr/>
            </a:lvl4pPr>
            <a:lvl5pPr lvl="4" algn="ctr">
              <a:spcBef>
                <a:spcPts val="360"/>
              </a:spcBef>
              <a:spcAft>
                <a:spcPts val="0"/>
              </a:spcAft>
              <a:buClr>
                <a:schemeClr val="dk1"/>
              </a:buClr>
              <a:buSzPts val="18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56" name="Google Shape;56;p47"/>
          <p:cNvSpPr txBox="1"/>
          <p:nvPr>
            <p:ph idx="10" type="dt"/>
          </p:nvPr>
        </p:nvSpPr>
        <p:spPr>
          <a:xfrm>
            <a:off x="304800" y="6248400"/>
            <a:ext cx="29464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1800">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57" name="Shape 57"/>
        <p:cNvGrpSpPr/>
        <p:nvPr/>
      </p:nvGrpSpPr>
      <p:grpSpPr>
        <a:xfrm>
          <a:off x="0" y="0"/>
          <a:ext cx="0" cy="0"/>
          <a:chOff x="0" y="0"/>
          <a:chExt cx="0" cy="0"/>
        </a:xfrm>
      </p:grpSpPr>
      <p:sp>
        <p:nvSpPr>
          <p:cNvPr id="58" name="Google Shape;58;p48"/>
          <p:cNvSpPr txBox="1"/>
          <p:nvPr>
            <p:ph type="title"/>
          </p:nvPr>
        </p:nvSpPr>
        <p:spPr>
          <a:xfrm>
            <a:off x="349942" y="84677"/>
            <a:ext cx="11367925"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48"/>
          <p:cNvSpPr txBox="1"/>
          <p:nvPr>
            <p:ph idx="1" type="body"/>
          </p:nvPr>
        </p:nvSpPr>
        <p:spPr>
          <a:xfrm>
            <a:off x="349942" y="1456266"/>
            <a:ext cx="11367925" cy="4588933"/>
          </a:xfrm>
          <a:prstGeom prst="rect">
            <a:avLst/>
          </a:prstGeom>
          <a:noFill/>
          <a:ln>
            <a:noFill/>
          </a:ln>
        </p:spPr>
        <p:txBody>
          <a:bodyPr anchorCtr="0" anchor="t" bIns="45700" lIns="91425" spcFirstLastPara="1" rIns="91425" wrap="square" tIns="45700">
            <a:noAutofit/>
          </a:bodyPr>
          <a:lstStyle>
            <a:lvl1pPr indent="-368300" lvl="0" marL="457200" algn="l">
              <a:spcBef>
                <a:spcPts val="440"/>
              </a:spcBef>
              <a:spcAft>
                <a:spcPts val="0"/>
              </a:spcAft>
              <a:buClr>
                <a:schemeClr val="dk1"/>
              </a:buClr>
              <a:buSzPts val="2200"/>
              <a:buFont typeface="Arial"/>
              <a:buChar char="•"/>
              <a:defRPr sz="22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0" name="Google Shape;60;p48"/>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überschrift" type="secHead">
  <p:cSld name="SECTION_HEADER">
    <p:spTree>
      <p:nvGrpSpPr>
        <p:cNvPr id="61" name="Shape 61"/>
        <p:cNvGrpSpPr/>
        <p:nvPr/>
      </p:nvGrpSpPr>
      <p:grpSpPr>
        <a:xfrm>
          <a:off x="0" y="0"/>
          <a:ext cx="0" cy="0"/>
          <a:chOff x="0" y="0"/>
          <a:chExt cx="0" cy="0"/>
        </a:xfrm>
      </p:grpSpPr>
      <p:sp>
        <p:nvSpPr>
          <p:cNvPr id="62" name="Google Shape;62;p49"/>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49"/>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64" name="Google Shape;64;p49"/>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65" name="Shape 65"/>
        <p:cNvGrpSpPr/>
        <p:nvPr/>
      </p:nvGrpSpPr>
      <p:grpSpPr>
        <a:xfrm>
          <a:off x="0" y="0"/>
          <a:ext cx="0" cy="0"/>
          <a:chOff x="0" y="0"/>
          <a:chExt cx="0" cy="0"/>
        </a:xfrm>
      </p:grpSpPr>
      <p:sp>
        <p:nvSpPr>
          <p:cNvPr id="66" name="Google Shape;66;p50"/>
          <p:cNvSpPr txBox="1"/>
          <p:nvPr>
            <p:ph type="title"/>
          </p:nvPr>
        </p:nvSpPr>
        <p:spPr>
          <a:xfrm>
            <a:off x="349942" y="84677"/>
            <a:ext cx="11367925"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50"/>
          <p:cNvSpPr txBox="1"/>
          <p:nvPr>
            <p:ph idx="1" type="body"/>
          </p:nvPr>
        </p:nvSpPr>
        <p:spPr>
          <a:xfrm>
            <a:off x="914400" y="1981200"/>
            <a:ext cx="508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vl1pPr>
            <a:lvl2pPr indent="-342900" lvl="1" marL="914400" algn="l">
              <a:spcBef>
                <a:spcPts val="360"/>
              </a:spcBef>
              <a:spcAft>
                <a:spcPts val="0"/>
              </a:spcAft>
              <a:buClr>
                <a:schemeClr val="dk1"/>
              </a:buClr>
              <a:buSzPts val="1800"/>
              <a:buFont typeface="Arial"/>
              <a:buChar char="–"/>
              <a:defRPr sz="1800"/>
            </a:lvl2pPr>
            <a:lvl3pPr indent="-342900" lvl="2" marL="1371600" algn="l">
              <a:spcBef>
                <a:spcPts val="360"/>
              </a:spcBef>
              <a:spcAft>
                <a:spcPts val="0"/>
              </a:spcAft>
              <a:buClr>
                <a:schemeClr val="dk1"/>
              </a:buClr>
              <a:buSzPts val="1800"/>
              <a:buFont typeface="Arial"/>
              <a:buChar char="•"/>
              <a:defRPr sz="18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8" name="Google Shape;68;p50"/>
          <p:cNvSpPr txBox="1"/>
          <p:nvPr>
            <p:ph idx="2" type="body"/>
          </p:nvPr>
        </p:nvSpPr>
        <p:spPr>
          <a:xfrm>
            <a:off x="6197600" y="1981200"/>
            <a:ext cx="508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vl1pPr>
            <a:lvl2pPr indent="-342900" lvl="1" marL="914400" algn="l">
              <a:spcBef>
                <a:spcPts val="360"/>
              </a:spcBef>
              <a:spcAft>
                <a:spcPts val="0"/>
              </a:spcAft>
              <a:buClr>
                <a:schemeClr val="dk1"/>
              </a:buClr>
              <a:buSzPts val="1800"/>
              <a:buFont typeface="Arial"/>
              <a:buChar char="–"/>
              <a:defRPr sz="1800"/>
            </a:lvl2pPr>
            <a:lvl3pPr indent="-342900" lvl="2" marL="1371600" algn="l">
              <a:spcBef>
                <a:spcPts val="360"/>
              </a:spcBef>
              <a:spcAft>
                <a:spcPts val="0"/>
              </a:spcAft>
              <a:buClr>
                <a:schemeClr val="dk1"/>
              </a:buClr>
              <a:buSzPts val="1800"/>
              <a:buFont typeface="Arial"/>
              <a:buChar char="•"/>
              <a:defRPr sz="18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9" name="Google Shape;69;p50"/>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70" name="Shape 70"/>
        <p:cNvGrpSpPr/>
        <p:nvPr/>
      </p:nvGrpSpPr>
      <p:grpSpPr>
        <a:xfrm>
          <a:off x="0" y="0"/>
          <a:ext cx="0" cy="0"/>
          <a:chOff x="0" y="0"/>
          <a:chExt cx="0" cy="0"/>
        </a:xfrm>
      </p:grpSpPr>
      <p:sp>
        <p:nvSpPr>
          <p:cNvPr id="71" name="Google Shape;71;p5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2" name="Google Shape;72;p51"/>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Clr>
                <a:schemeClr val="dk1"/>
              </a:buClr>
              <a:buSzPts val="1800"/>
              <a:buFont typeface="Arial"/>
              <a:buNone/>
              <a:defRPr b="1" sz="18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73" name="Google Shape;73;p51"/>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vl1pPr>
            <a:lvl2pPr indent="-342900" lvl="1" marL="914400" algn="l">
              <a:spcBef>
                <a:spcPts val="360"/>
              </a:spcBef>
              <a:spcAft>
                <a:spcPts val="0"/>
              </a:spcAft>
              <a:buClr>
                <a:schemeClr val="dk1"/>
              </a:buClr>
              <a:buSzPts val="1800"/>
              <a:buFont typeface="Arial"/>
              <a:buChar char="–"/>
              <a:defRPr sz="1800"/>
            </a:lvl2pPr>
            <a:lvl3pPr indent="-342900" lvl="2" marL="1371600" algn="l">
              <a:spcBef>
                <a:spcPts val="360"/>
              </a:spcBef>
              <a:spcAft>
                <a:spcPts val="0"/>
              </a:spcAft>
              <a:buClr>
                <a:schemeClr val="dk1"/>
              </a:buClr>
              <a:buSzPts val="1800"/>
              <a:buFont typeface="Arial"/>
              <a:buChar char="•"/>
              <a:defRPr sz="18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4" name="Google Shape;74;p51"/>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Clr>
                <a:schemeClr val="dk1"/>
              </a:buClr>
              <a:buSzPts val="1800"/>
              <a:buFont typeface="Arial"/>
              <a:buNone/>
              <a:defRPr b="1" sz="18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75" name="Google Shape;75;p51"/>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vl1pPr>
            <a:lvl2pPr indent="-342900" lvl="1" marL="914400" algn="l">
              <a:spcBef>
                <a:spcPts val="360"/>
              </a:spcBef>
              <a:spcAft>
                <a:spcPts val="0"/>
              </a:spcAft>
              <a:buClr>
                <a:schemeClr val="dk1"/>
              </a:buClr>
              <a:buSzPts val="1800"/>
              <a:buFont typeface="Arial"/>
              <a:buChar char="–"/>
              <a:defRPr sz="1800"/>
            </a:lvl2pPr>
            <a:lvl3pPr indent="-342900" lvl="2" marL="1371600" algn="l">
              <a:spcBef>
                <a:spcPts val="360"/>
              </a:spcBef>
              <a:spcAft>
                <a:spcPts val="0"/>
              </a:spcAft>
              <a:buClr>
                <a:schemeClr val="dk1"/>
              </a:buClr>
              <a:buSzPts val="1800"/>
              <a:buFont typeface="Arial"/>
              <a:buChar char="•"/>
              <a:defRPr sz="18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6" name="Google Shape;76;p51"/>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77" name="Shape 77"/>
        <p:cNvGrpSpPr/>
        <p:nvPr/>
      </p:nvGrpSpPr>
      <p:grpSpPr>
        <a:xfrm>
          <a:off x="0" y="0"/>
          <a:ext cx="0" cy="0"/>
          <a:chOff x="0" y="0"/>
          <a:chExt cx="0" cy="0"/>
        </a:xfrm>
      </p:grpSpPr>
      <p:sp>
        <p:nvSpPr>
          <p:cNvPr id="78" name="Google Shape;78;p52"/>
          <p:cNvSpPr txBox="1"/>
          <p:nvPr>
            <p:ph type="title"/>
          </p:nvPr>
        </p:nvSpPr>
        <p:spPr>
          <a:xfrm>
            <a:off x="349942" y="84677"/>
            <a:ext cx="11367925"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9" name="Google Shape;79;p52"/>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80" name="Shape 80"/>
        <p:cNvGrpSpPr/>
        <p:nvPr/>
      </p:nvGrpSpPr>
      <p:grpSpPr>
        <a:xfrm>
          <a:off x="0" y="0"/>
          <a:ext cx="0" cy="0"/>
          <a:chOff x="0" y="0"/>
          <a:chExt cx="0" cy="0"/>
        </a:xfrm>
      </p:grpSpPr>
      <p:sp>
        <p:nvSpPr>
          <p:cNvPr id="81" name="Google Shape;81;p53"/>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Beschriftung" type="objTx">
  <p:cSld name="OBJECT_WITH_CAPTION_TEXT">
    <p:spTree>
      <p:nvGrpSpPr>
        <p:cNvPr id="82" name="Shape 82"/>
        <p:cNvGrpSpPr/>
        <p:nvPr/>
      </p:nvGrpSpPr>
      <p:grpSpPr>
        <a:xfrm>
          <a:off x="0" y="0"/>
          <a:ext cx="0" cy="0"/>
          <a:chOff x="0" y="0"/>
          <a:chExt cx="0" cy="0"/>
        </a:xfrm>
      </p:grpSpPr>
      <p:sp>
        <p:nvSpPr>
          <p:cNvPr id="83" name="Google Shape;83;p54"/>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4" name="Google Shape;84;p54"/>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Font typeface="Arial"/>
              <a:buChar char="•"/>
              <a:defRPr sz="1800"/>
            </a:lvl1pPr>
            <a:lvl2pPr indent="-342900" lvl="1" marL="914400" algn="l">
              <a:spcBef>
                <a:spcPts val="360"/>
              </a:spcBef>
              <a:spcAft>
                <a:spcPts val="0"/>
              </a:spcAft>
              <a:buClr>
                <a:schemeClr val="dk1"/>
              </a:buClr>
              <a:buSzPts val="1800"/>
              <a:buFont typeface="Arial"/>
              <a:buChar char="–"/>
              <a:defRPr sz="1800"/>
            </a:lvl2pPr>
            <a:lvl3pPr indent="-342900" lvl="2" marL="1371600" algn="l">
              <a:spcBef>
                <a:spcPts val="360"/>
              </a:spcBef>
              <a:spcAft>
                <a:spcPts val="0"/>
              </a:spcAft>
              <a:buClr>
                <a:schemeClr val="dk1"/>
              </a:buClr>
              <a:buSzPts val="1800"/>
              <a:buFont typeface="Arial"/>
              <a:buChar char="•"/>
              <a:defRPr sz="18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85" name="Google Shape;85;p54"/>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86" name="Google Shape;86;p54"/>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Beschriftung" type="picTx">
  <p:cSld name="PICTURE_WITH_CAPTION_TEXT">
    <p:spTree>
      <p:nvGrpSpPr>
        <p:cNvPr id="87" name="Shape 87"/>
        <p:cNvGrpSpPr/>
        <p:nvPr/>
      </p:nvGrpSpPr>
      <p:grpSpPr>
        <a:xfrm>
          <a:off x="0" y="0"/>
          <a:ext cx="0" cy="0"/>
          <a:chOff x="0" y="0"/>
          <a:chExt cx="0" cy="0"/>
        </a:xfrm>
      </p:grpSpPr>
      <p:sp>
        <p:nvSpPr>
          <p:cNvPr id="88" name="Google Shape;88;p55"/>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55"/>
          <p:cNvSpPr/>
          <p:nvPr>
            <p:ph idx="2" type="pic"/>
          </p:nvPr>
        </p:nvSpPr>
        <p:spPr>
          <a:xfrm>
            <a:off x="2389717" y="612775"/>
            <a:ext cx="7315200" cy="4114800"/>
          </a:xfrm>
          <a:prstGeom prst="rect">
            <a:avLst/>
          </a:prstGeom>
          <a:noFill/>
          <a:ln>
            <a:noFill/>
          </a:ln>
        </p:spPr>
      </p:sp>
      <p:sp>
        <p:nvSpPr>
          <p:cNvPr id="90" name="Google Shape;90;p55"/>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91" name="Google Shape;91;p55"/>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vertikaler Text" type="vertTx">
  <p:cSld name="VERTICAL_TEXT">
    <p:spTree>
      <p:nvGrpSpPr>
        <p:cNvPr id="92" name="Shape 92"/>
        <p:cNvGrpSpPr/>
        <p:nvPr/>
      </p:nvGrpSpPr>
      <p:grpSpPr>
        <a:xfrm>
          <a:off x="0" y="0"/>
          <a:ext cx="0" cy="0"/>
          <a:chOff x="0" y="0"/>
          <a:chExt cx="0" cy="0"/>
        </a:xfrm>
      </p:grpSpPr>
      <p:sp>
        <p:nvSpPr>
          <p:cNvPr id="93" name="Google Shape;93;p56"/>
          <p:cNvSpPr txBox="1"/>
          <p:nvPr>
            <p:ph type="title"/>
          </p:nvPr>
        </p:nvSpPr>
        <p:spPr>
          <a:xfrm>
            <a:off x="349942" y="84677"/>
            <a:ext cx="11367925"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4" name="Google Shape;94;p56"/>
          <p:cNvSpPr txBox="1"/>
          <p:nvPr>
            <p:ph idx="1" type="body"/>
          </p:nvPr>
        </p:nvSpPr>
        <p:spPr>
          <a:xfrm rot="5400000">
            <a:off x="3739438" y="-1933230"/>
            <a:ext cx="4588933" cy="113679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 name="Google Shape;95;p56"/>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kaler Titel und Text" type="vertTitleAndTx">
  <p:cSld name="VERTICAL_TITLE_AND_VERTICAL_TEXT">
    <p:spTree>
      <p:nvGrpSpPr>
        <p:cNvPr id="96" name="Shape 96"/>
        <p:cNvGrpSpPr/>
        <p:nvPr/>
      </p:nvGrpSpPr>
      <p:grpSpPr>
        <a:xfrm>
          <a:off x="0" y="0"/>
          <a:ext cx="0" cy="0"/>
          <a:chOff x="0" y="0"/>
          <a:chExt cx="0" cy="0"/>
        </a:xfrm>
      </p:grpSpPr>
      <p:sp>
        <p:nvSpPr>
          <p:cNvPr id="97" name="Google Shape;97;p57"/>
          <p:cNvSpPr txBox="1"/>
          <p:nvPr>
            <p:ph type="title"/>
          </p:nvPr>
        </p:nvSpPr>
        <p:spPr>
          <a:xfrm rot="5400000">
            <a:off x="7239000" y="2057400"/>
            <a:ext cx="5486400" cy="259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57"/>
          <p:cNvSpPr txBox="1"/>
          <p:nvPr>
            <p:ph idx="1" type="body"/>
          </p:nvPr>
        </p:nvSpPr>
        <p:spPr>
          <a:xfrm rot="5400000">
            <a:off x="1955800" y="-431800"/>
            <a:ext cx="5486400" cy="7569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p57"/>
          <p:cNvSpPr txBox="1"/>
          <p:nvPr>
            <p:ph idx="12" type="sldNum"/>
          </p:nvPr>
        </p:nvSpPr>
        <p:spPr>
          <a:xfrm>
            <a:off x="349941" y="6400800"/>
            <a:ext cx="7112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100" name="Shape 100"/>
        <p:cNvGrpSpPr/>
        <p:nvPr/>
      </p:nvGrpSpPr>
      <p:grpSpPr>
        <a:xfrm>
          <a:off x="0" y="0"/>
          <a:ext cx="0" cy="0"/>
          <a:chOff x="0" y="0"/>
          <a:chExt cx="0" cy="0"/>
        </a:xfrm>
      </p:grpSpPr>
      <p:sp>
        <p:nvSpPr>
          <p:cNvPr id="101" name="Google Shape;101;p5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58"/>
          <p:cNvSpPr txBox="1"/>
          <p:nvPr>
            <p:ph idx="10" type="dt"/>
          </p:nvPr>
        </p:nvSpPr>
        <p:spPr>
          <a:xfrm>
            <a:off x="609600" y="6248400"/>
            <a:ext cx="2844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3" name="Google Shape;103;p58"/>
          <p:cNvSpPr txBox="1"/>
          <p:nvPr>
            <p:ph idx="11" type="ftr"/>
          </p:nvPr>
        </p:nvSpPr>
        <p:spPr>
          <a:xfrm>
            <a:off x="4165600" y="6248400"/>
            <a:ext cx="3860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4" name="Google Shape;104;p58"/>
          <p:cNvSpPr txBox="1"/>
          <p:nvPr>
            <p:ph idx="12" type="sldNum"/>
          </p:nvPr>
        </p:nvSpPr>
        <p:spPr>
          <a:xfrm>
            <a:off x="8737600" y="6248400"/>
            <a:ext cx="28448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05" name="Shape 105"/>
        <p:cNvGrpSpPr/>
        <p:nvPr/>
      </p:nvGrpSpPr>
      <p:grpSpPr>
        <a:xfrm>
          <a:off x="0" y="0"/>
          <a:ext cx="0" cy="0"/>
          <a:chOff x="0" y="0"/>
          <a:chExt cx="0" cy="0"/>
        </a:xfrm>
      </p:grpSpPr>
      <p:sp>
        <p:nvSpPr>
          <p:cNvPr id="106" name="Google Shape;106;p5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7" name="Google Shape;107;p59"/>
          <p:cNvSpPr txBox="1"/>
          <p:nvPr>
            <p:ph idx="1" type="body"/>
          </p:nvPr>
        </p:nvSpPr>
        <p:spPr>
          <a:xfrm>
            <a:off x="609600" y="1600200"/>
            <a:ext cx="5384800" cy="4495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8" name="Google Shape;108;p59"/>
          <p:cNvSpPr txBox="1"/>
          <p:nvPr>
            <p:ph idx="2" type="body"/>
          </p:nvPr>
        </p:nvSpPr>
        <p:spPr>
          <a:xfrm>
            <a:off x="6197600" y="1600200"/>
            <a:ext cx="5384800" cy="21717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9" name="Google Shape;109;p59"/>
          <p:cNvSpPr txBox="1"/>
          <p:nvPr>
            <p:ph idx="3" type="body"/>
          </p:nvPr>
        </p:nvSpPr>
        <p:spPr>
          <a:xfrm>
            <a:off x="6197600" y="3924300"/>
            <a:ext cx="5384800" cy="21717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0" name="Google Shape;110;p59"/>
          <p:cNvSpPr txBox="1"/>
          <p:nvPr>
            <p:ph idx="10" type="dt"/>
          </p:nvPr>
        </p:nvSpPr>
        <p:spPr>
          <a:xfrm>
            <a:off x="609600" y="6248400"/>
            <a:ext cx="2844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1" name="Google Shape;111;p59"/>
          <p:cNvSpPr txBox="1"/>
          <p:nvPr>
            <p:ph idx="11" type="ftr"/>
          </p:nvPr>
        </p:nvSpPr>
        <p:spPr>
          <a:xfrm>
            <a:off x="4165600" y="6248400"/>
            <a:ext cx="3860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2" name="Google Shape;112;p59"/>
          <p:cNvSpPr txBox="1"/>
          <p:nvPr>
            <p:ph idx="12" type="sldNum"/>
          </p:nvPr>
        </p:nvSpPr>
        <p:spPr>
          <a:xfrm>
            <a:off x="8737600" y="6248400"/>
            <a:ext cx="2844800" cy="45720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sz="1200">
                <a:solidFill>
                  <a:schemeClr val="dk1"/>
                </a:solidFill>
                <a:latin typeface="Arial"/>
                <a:ea typeface="Arial"/>
                <a:cs typeface="Arial"/>
                <a:sym typeface="Arial"/>
              </a:defRPr>
            </a:lvl1pPr>
            <a:lvl2pPr indent="0" lvl="1" marL="0" algn="l">
              <a:spcBef>
                <a:spcPts val="0"/>
              </a:spcBef>
              <a:buNone/>
              <a:defRPr sz="1200">
                <a:solidFill>
                  <a:schemeClr val="dk1"/>
                </a:solidFill>
                <a:latin typeface="Arial"/>
                <a:ea typeface="Arial"/>
                <a:cs typeface="Arial"/>
                <a:sym typeface="Arial"/>
              </a:defRPr>
            </a:lvl2pPr>
            <a:lvl3pPr indent="0" lvl="2" marL="0" algn="l">
              <a:spcBef>
                <a:spcPts val="0"/>
              </a:spcBef>
              <a:buNone/>
              <a:defRPr sz="1200">
                <a:solidFill>
                  <a:schemeClr val="dk1"/>
                </a:solidFill>
                <a:latin typeface="Arial"/>
                <a:ea typeface="Arial"/>
                <a:cs typeface="Arial"/>
                <a:sym typeface="Arial"/>
              </a:defRPr>
            </a:lvl3pPr>
            <a:lvl4pPr indent="0" lvl="3" marL="0" algn="l">
              <a:spcBef>
                <a:spcPts val="0"/>
              </a:spcBef>
              <a:buNone/>
              <a:defRPr sz="1200">
                <a:solidFill>
                  <a:schemeClr val="dk1"/>
                </a:solidFill>
                <a:latin typeface="Arial"/>
                <a:ea typeface="Arial"/>
                <a:cs typeface="Arial"/>
                <a:sym typeface="Arial"/>
              </a:defRPr>
            </a:lvl4pPr>
            <a:lvl5pPr indent="0" lvl="4" marL="0" algn="l">
              <a:spcBef>
                <a:spcPts val="0"/>
              </a:spcBef>
              <a:buNone/>
              <a:defRPr sz="1200">
                <a:solidFill>
                  <a:schemeClr val="dk1"/>
                </a:solidFill>
                <a:latin typeface="Arial"/>
                <a:ea typeface="Arial"/>
                <a:cs typeface="Arial"/>
                <a:sym typeface="Arial"/>
              </a:defRPr>
            </a:lvl5pPr>
            <a:lvl6pPr indent="0" lvl="5" marL="0" algn="l">
              <a:spcBef>
                <a:spcPts val="0"/>
              </a:spcBef>
              <a:buNone/>
              <a:defRPr sz="1200">
                <a:solidFill>
                  <a:schemeClr val="dk1"/>
                </a:solidFill>
                <a:latin typeface="Arial"/>
                <a:ea typeface="Arial"/>
                <a:cs typeface="Arial"/>
                <a:sym typeface="Arial"/>
              </a:defRPr>
            </a:lvl6pPr>
            <a:lvl7pPr indent="0" lvl="6" marL="0" algn="l">
              <a:spcBef>
                <a:spcPts val="0"/>
              </a:spcBef>
              <a:buNone/>
              <a:defRPr sz="1200">
                <a:solidFill>
                  <a:schemeClr val="dk1"/>
                </a:solidFill>
                <a:latin typeface="Arial"/>
                <a:ea typeface="Arial"/>
                <a:cs typeface="Arial"/>
                <a:sym typeface="Arial"/>
              </a:defRPr>
            </a:lvl7pPr>
            <a:lvl8pPr indent="0" lvl="7" marL="0" algn="l">
              <a:spcBef>
                <a:spcPts val="0"/>
              </a:spcBef>
              <a:buNone/>
              <a:defRPr sz="1200">
                <a:solidFill>
                  <a:schemeClr val="dk1"/>
                </a:solidFill>
                <a:latin typeface="Arial"/>
                <a:ea typeface="Arial"/>
                <a:cs typeface="Arial"/>
                <a:sym typeface="Arial"/>
              </a:defRPr>
            </a:lvl8pPr>
            <a:lvl9pPr indent="0" lvl="8" mar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7.xml"/><Relationship Id="rId10" Type="http://schemas.openxmlformats.org/officeDocument/2006/relationships/slideLayout" Target="../slideLayouts/slideLayout16.xml"/><Relationship Id="rId13" Type="http://schemas.openxmlformats.org/officeDocument/2006/relationships/slideLayout" Target="../slideLayouts/slideLayout19.xml"/><Relationship Id="rId12" Type="http://schemas.openxmlformats.org/officeDocument/2006/relationships/slideLayout" Target="../slideLayouts/slideLayout18.xml"/><Relationship Id="rId1" Type="http://schemas.openxmlformats.org/officeDocument/2006/relationships/image" Target="../media/image12.png"/><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5" Type="http://schemas.openxmlformats.org/officeDocument/2006/relationships/theme" Target="../theme/theme1.xml"/><Relationship Id="rId14" Type="http://schemas.openxmlformats.org/officeDocument/2006/relationships/slideLayout" Target="../slideLayouts/slideLayout2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 name="Shape 47"/>
        <p:cNvGrpSpPr/>
        <p:nvPr/>
      </p:nvGrpSpPr>
      <p:grpSpPr>
        <a:xfrm>
          <a:off x="0" y="0"/>
          <a:ext cx="0" cy="0"/>
          <a:chOff x="0" y="0"/>
          <a:chExt cx="0" cy="0"/>
        </a:xfrm>
      </p:grpSpPr>
      <p:sp>
        <p:nvSpPr>
          <p:cNvPr id="48" name="Google Shape;48;p46"/>
          <p:cNvSpPr txBox="1"/>
          <p:nvPr>
            <p:ph type="title"/>
          </p:nvPr>
        </p:nvSpPr>
        <p:spPr>
          <a:xfrm>
            <a:off x="349942" y="84677"/>
            <a:ext cx="11367925"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8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800" u="none" cap="none" strike="noStrike">
                <a:solidFill>
                  <a:srgbClr val="007EB9"/>
                </a:solidFill>
                <a:latin typeface="Arial"/>
                <a:ea typeface="Arial"/>
                <a:cs typeface="Arial"/>
                <a:sym typeface="Arial"/>
              </a:defRPr>
            </a:lvl2pPr>
            <a:lvl3pPr lvl="2" marR="0" rtl="0" algn="ctr">
              <a:spcBef>
                <a:spcPts val="0"/>
              </a:spcBef>
              <a:spcAft>
                <a:spcPts val="0"/>
              </a:spcAft>
              <a:buSzPts val="1400"/>
              <a:buNone/>
              <a:defRPr b="0" i="0" sz="2800" u="none" cap="none" strike="noStrike">
                <a:solidFill>
                  <a:srgbClr val="007EB9"/>
                </a:solidFill>
                <a:latin typeface="Arial"/>
                <a:ea typeface="Arial"/>
                <a:cs typeface="Arial"/>
                <a:sym typeface="Arial"/>
              </a:defRPr>
            </a:lvl3pPr>
            <a:lvl4pPr lvl="3" marR="0" rtl="0" algn="ctr">
              <a:spcBef>
                <a:spcPts val="0"/>
              </a:spcBef>
              <a:spcAft>
                <a:spcPts val="0"/>
              </a:spcAft>
              <a:buSzPts val="1400"/>
              <a:buNone/>
              <a:defRPr b="0" i="0" sz="2800" u="none" cap="none" strike="noStrike">
                <a:solidFill>
                  <a:srgbClr val="007EB9"/>
                </a:solidFill>
                <a:latin typeface="Arial"/>
                <a:ea typeface="Arial"/>
                <a:cs typeface="Arial"/>
                <a:sym typeface="Arial"/>
              </a:defRPr>
            </a:lvl4pPr>
            <a:lvl5pPr lvl="4" marR="0" rtl="0" algn="ctr">
              <a:spcBef>
                <a:spcPts val="0"/>
              </a:spcBef>
              <a:spcAft>
                <a:spcPts val="0"/>
              </a:spcAft>
              <a:buSzPts val="1400"/>
              <a:buNone/>
              <a:defRPr b="0" i="0" sz="2800" u="none" cap="none" strike="noStrike">
                <a:solidFill>
                  <a:srgbClr val="007EB9"/>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49" name="Google Shape;49;p46"/>
          <p:cNvSpPr txBox="1"/>
          <p:nvPr>
            <p:ph idx="1" type="body"/>
          </p:nvPr>
        </p:nvSpPr>
        <p:spPr>
          <a:xfrm>
            <a:off x="349942" y="1456266"/>
            <a:ext cx="11367925" cy="4588933"/>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0" name="Google Shape;50;p46"/>
          <p:cNvSpPr txBox="1"/>
          <p:nvPr>
            <p:ph idx="12" type="sldNum"/>
          </p:nvPr>
        </p:nvSpPr>
        <p:spPr>
          <a:xfrm>
            <a:off x="349941" y="6434688"/>
            <a:ext cx="541867" cy="31852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200">
                <a:solidFill>
                  <a:schemeClr val="dk1"/>
                </a:solidFill>
                <a:latin typeface="Arial"/>
                <a:ea typeface="Arial"/>
                <a:cs typeface="Arial"/>
                <a:sym typeface="Arial"/>
              </a:defRPr>
            </a:lvl1pPr>
            <a:lvl2pPr indent="0" lvl="1" marL="0" marR="0" rtl="0" algn="l">
              <a:spcBef>
                <a:spcPts val="0"/>
              </a:spcBef>
              <a:buNone/>
              <a:defRPr sz="1200">
                <a:solidFill>
                  <a:schemeClr val="dk1"/>
                </a:solidFill>
                <a:latin typeface="Arial"/>
                <a:ea typeface="Arial"/>
                <a:cs typeface="Arial"/>
                <a:sym typeface="Arial"/>
              </a:defRPr>
            </a:lvl2pPr>
            <a:lvl3pPr indent="0" lvl="2" marL="0" marR="0" rtl="0" algn="l">
              <a:spcBef>
                <a:spcPts val="0"/>
              </a:spcBef>
              <a:buNone/>
              <a:defRPr sz="1200">
                <a:solidFill>
                  <a:schemeClr val="dk1"/>
                </a:solidFill>
                <a:latin typeface="Arial"/>
                <a:ea typeface="Arial"/>
                <a:cs typeface="Arial"/>
                <a:sym typeface="Arial"/>
              </a:defRPr>
            </a:lvl3pPr>
            <a:lvl4pPr indent="0" lvl="3" marL="0" marR="0" rtl="0" algn="l">
              <a:spcBef>
                <a:spcPts val="0"/>
              </a:spcBef>
              <a:buNone/>
              <a:defRPr sz="1200">
                <a:solidFill>
                  <a:schemeClr val="dk1"/>
                </a:solidFill>
                <a:latin typeface="Arial"/>
                <a:ea typeface="Arial"/>
                <a:cs typeface="Arial"/>
                <a:sym typeface="Arial"/>
              </a:defRPr>
            </a:lvl4pPr>
            <a:lvl5pPr indent="0" lvl="4" marL="0" marR="0" rtl="0" algn="l">
              <a:spcBef>
                <a:spcPts val="0"/>
              </a:spcBef>
              <a:buNone/>
              <a:defRPr sz="1200">
                <a:solidFill>
                  <a:schemeClr val="dk1"/>
                </a:solidFill>
                <a:latin typeface="Arial"/>
                <a:ea typeface="Arial"/>
                <a:cs typeface="Arial"/>
                <a:sym typeface="Arial"/>
              </a:defRPr>
            </a:lvl5pPr>
            <a:lvl6pPr indent="0" lvl="5" marL="0" marR="0" rtl="0" algn="l">
              <a:spcBef>
                <a:spcPts val="0"/>
              </a:spcBef>
              <a:buNone/>
              <a:defRPr sz="1200">
                <a:solidFill>
                  <a:schemeClr val="dk1"/>
                </a:solidFill>
                <a:latin typeface="Arial"/>
                <a:ea typeface="Arial"/>
                <a:cs typeface="Arial"/>
                <a:sym typeface="Arial"/>
              </a:defRPr>
            </a:lvl6pPr>
            <a:lvl7pPr indent="0" lvl="6" marL="0" marR="0" rtl="0" algn="l">
              <a:spcBef>
                <a:spcPts val="0"/>
              </a:spcBef>
              <a:buNone/>
              <a:defRPr sz="1200">
                <a:solidFill>
                  <a:schemeClr val="dk1"/>
                </a:solidFill>
                <a:latin typeface="Arial"/>
                <a:ea typeface="Arial"/>
                <a:cs typeface="Arial"/>
                <a:sym typeface="Arial"/>
              </a:defRPr>
            </a:lvl7pPr>
            <a:lvl8pPr indent="0" lvl="7" marL="0" marR="0" rtl="0" algn="l">
              <a:spcBef>
                <a:spcPts val="0"/>
              </a:spcBef>
              <a:buNone/>
              <a:defRPr sz="1200">
                <a:solidFill>
                  <a:schemeClr val="dk1"/>
                </a:solidFill>
                <a:latin typeface="Arial"/>
                <a:ea typeface="Arial"/>
                <a:cs typeface="Arial"/>
                <a:sym typeface="Arial"/>
              </a:defRPr>
            </a:lvl8pPr>
            <a:lvl9pPr indent="0" lvl="8" marL="0" marR="0" rtl="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51" name="Google Shape;51;p46"/>
          <p:cNvCxnSpPr/>
          <p:nvPr/>
        </p:nvCxnSpPr>
        <p:spPr>
          <a:xfrm>
            <a:off x="0" y="6239943"/>
            <a:ext cx="12192000" cy="0"/>
          </a:xfrm>
          <a:prstGeom prst="straightConnector1">
            <a:avLst/>
          </a:prstGeom>
          <a:solidFill>
            <a:schemeClr val="accent1"/>
          </a:solidFill>
          <a:ln cap="flat" cmpd="sng" w="9525">
            <a:solidFill>
              <a:schemeClr val="dk1"/>
            </a:solidFill>
            <a:prstDash val="solid"/>
            <a:round/>
            <a:headEnd len="sm" w="sm" type="none"/>
            <a:tailEnd len="sm" w="sm" type="none"/>
          </a:ln>
        </p:spPr>
      </p:cxnSp>
      <p:pic>
        <p:nvPicPr>
          <p:cNvPr id="52" name="Google Shape;52;p46"/>
          <p:cNvPicPr preferRelativeResize="0"/>
          <p:nvPr/>
        </p:nvPicPr>
        <p:blipFill rotWithShape="1">
          <a:blip r:embed="rId1">
            <a:alphaModFix/>
          </a:blip>
          <a:srcRect b="0" l="0" r="0" t="0"/>
          <a:stretch/>
        </p:blipFill>
        <p:spPr>
          <a:xfrm>
            <a:off x="9989330" y="6341776"/>
            <a:ext cx="1728537" cy="44300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en.wikipedia.org/wiki/Design_Pattern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4.png"/><Relationship Id="rId7" Type="http://schemas.openxmlformats.org/officeDocument/2006/relationships/image" Target="../media/image7.png"/><Relationship Id="rId8"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image" Target="../media/image32.png"/><Relationship Id="rId5" Type="http://schemas.openxmlformats.org/officeDocument/2006/relationships/image" Target="../media/image30.png"/><Relationship Id="rId6"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
          <p:cNvSpPr txBox="1"/>
          <p:nvPr>
            <p:ph type="ctrTitle"/>
          </p:nvPr>
        </p:nvSpPr>
        <p:spPr>
          <a:xfrm>
            <a:off x="1708266" y="1812175"/>
            <a:ext cx="8416636" cy="73818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Helvetica Neue"/>
              <a:buNone/>
            </a:pPr>
            <a:r>
              <a:rPr lang="en-US" sz="4000">
                <a:latin typeface="Helvetica Neue"/>
                <a:ea typeface="Helvetica Neue"/>
                <a:cs typeface="Helvetica Neue"/>
                <a:sym typeface="Helvetica Neue"/>
              </a:rPr>
              <a:t>Design for Change </a:t>
            </a:r>
            <a:br>
              <a:rPr lang="en-US" sz="4000">
                <a:latin typeface="Helvetica Neue"/>
                <a:ea typeface="Helvetica Neue"/>
                <a:cs typeface="Helvetica Neue"/>
                <a:sym typeface="Helvetica Neue"/>
              </a:rPr>
            </a:br>
            <a:r>
              <a:rPr lang="en-US" sz="4000">
                <a:latin typeface="Helvetica Neue"/>
                <a:ea typeface="Helvetica Neue"/>
                <a:cs typeface="Helvetica Neue"/>
                <a:sym typeface="Helvetica Neue"/>
              </a:rPr>
              <a:t>Patterns &amp; Principles</a:t>
            </a:r>
            <a:endParaRPr/>
          </a:p>
        </p:txBody>
      </p:sp>
      <p:sp>
        <p:nvSpPr>
          <p:cNvPr id="119" name="Google Shape;119;p1"/>
          <p:cNvSpPr txBox="1"/>
          <p:nvPr>
            <p:ph idx="1" type="subTitle"/>
          </p:nvPr>
        </p:nvSpPr>
        <p:spPr>
          <a:xfrm>
            <a:off x="2558242" y="3330632"/>
            <a:ext cx="6400800" cy="17526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ctr">
              <a:spcBef>
                <a:spcPts val="0"/>
              </a:spcBef>
              <a:spcAft>
                <a:spcPts val="0"/>
              </a:spcAft>
              <a:buClr>
                <a:schemeClr val="dk1"/>
              </a:buClr>
              <a:buSzPct val="100000"/>
              <a:buNone/>
            </a:pPr>
            <a:r>
              <a:t/>
            </a:r>
            <a:endParaRPr sz="2800">
              <a:solidFill>
                <a:srgbClr val="00B0F0"/>
              </a:solidFill>
              <a:latin typeface="Helvetica Neue"/>
              <a:ea typeface="Helvetica Neue"/>
              <a:cs typeface="Helvetica Neue"/>
              <a:sym typeface="Helvetica Neue"/>
            </a:endParaRPr>
          </a:p>
          <a:p>
            <a:pPr indent="0" lvl="0" marL="0" rtl="0" algn="ctr">
              <a:spcBef>
                <a:spcPts val="518"/>
              </a:spcBef>
              <a:spcAft>
                <a:spcPts val="0"/>
              </a:spcAft>
              <a:buClr>
                <a:srgbClr val="00B0F0"/>
              </a:buClr>
              <a:buSzPct val="100000"/>
              <a:buNone/>
            </a:pPr>
            <a:r>
              <a:rPr lang="en-US" sz="2800">
                <a:solidFill>
                  <a:srgbClr val="00B0F0"/>
                </a:solidFill>
                <a:latin typeface="Helvetica Neue"/>
                <a:ea typeface="Helvetica Neue"/>
                <a:cs typeface="Helvetica Neue"/>
                <a:sym typeface="Helvetica Neue"/>
              </a:rPr>
              <a:t>Dr. Javaria Imtiaz,</a:t>
            </a:r>
            <a:endParaRPr/>
          </a:p>
          <a:p>
            <a:pPr indent="0" lvl="0" marL="0" rtl="0" algn="ctr">
              <a:spcBef>
                <a:spcPts val="518"/>
              </a:spcBef>
              <a:spcAft>
                <a:spcPts val="0"/>
              </a:spcAft>
              <a:buClr>
                <a:srgbClr val="00B0F0"/>
              </a:buClr>
              <a:buSzPct val="100000"/>
              <a:buNone/>
            </a:pPr>
            <a:r>
              <a:rPr lang="en-US" sz="2800">
                <a:solidFill>
                  <a:srgbClr val="00B0F0"/>
                </a:solidFill>
                <a:latin typeface="Helvetica Neue"/>
                <a:ea typeface="Helvetica Neue"/>
                <a:cs typeface="Helvetica Neue"/>
                <a:sym typeface="Helvetica Neue"/>
              </a:rPr>
              <a:t> Mr. Basharat Hussain, </a:t>
            </a:r>
            <a:endParaRPr/>
          </a:p>
          <a:p>
            <a:pPr indent="0" lvl="0" marL="0" rtl="0" algn="ctr">
              <a:spcBef>
                <a:spcPts val="518"/>
              </a:spcBef>
              <a:spcAft>
                <a:spcPts val="0"/>
              </a:spcAft>
              <a:buClr>
                <a:srgbClr val="00B0F0"/>
              </a:buClr>
              <a:buSzPct val="100000"/>
              <a:buNone/>
            </a:pPr>
            <a:r>
              <a:rPr lang="en-US" sz="2800">
                <a:solidFill>
                  <a:srgbClr val="00B0F0"/>
                </a:solidFill>
                <a:latin typeface="Helvetica Neue"/>
                <a:ea typeface="Helvetica Neue"/>
                <a:cs typeface="Helvetica Neue"/>
                <a:sym typeface="Helvetica Neue"/>
              </a:rPr>
              <a:t>Mr. Majid Hussain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Content </a:t>
            </a:r>
            <a:endParaRPr/>
          </a:p>
        </p:txBody>
      </p:sp>
      <p:sp>
        <p:nvSpPr>
          <p:cNvPr id="125" name="Google Shape;125;p2"/>
          <p:cNvSpPr txBox="1"/>
          <p:nvPr>
            <p:ph idx="1" type="body"/>
          </p:nvPr>
        </p:nvSpPr>
        <p:spPr>
          <a:xfrm>
            <a:off x="717665" y="143842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Font typeface="Noto Sans Symbols"/>
              <a:buChar char="▪"/>
            </a:pPr>
            <a:r>
              <a:rPr lang="en-US">
                <a:latin typeface="Helvetica Neue"/>
                <a:ea typeface="Helvetica Neue"/>
                <a:cs typeface="Helvetica Neue"/>
                <a:sym typeface="Helvetica Neue"/>
              </a:rPr>
              <a:t>Observer </a:t>
            </a:r>
            <a:endParaRPr/>
          </a:p>
          <a:p>
            <a:pPr indent="-342900" lvl="0" marL="342900" rtl="0" algn="l">
              <a:spcBef>
                <a:spcPts val="440"/>
              </a:spcBef>
              <a:spcAft>
                <a:spcPts val="0"/>
              </a:spcAft>
              <a:buClr>
                <a:schemeClr val="dk1"/>
              </a:buClr>
              <a:buSzPts val="2200"/>
              <a:buFont typeface="Noto Sans Symbols"/>
              <a:buChar char="▪"/>
            </a:pPr>
            <a:r>
              <a:rPr lang="en-US">
                <a:latin typeface="Helvetica Neue"/>
                <a:ea typeface="Helvetica Neue"/>
                <a:cs typeface="Helvetica Neue"/>
                <a:sym typeface="Helvetica Neue"/>
              </a:rPr>
              <a:t>Adaptor </a:t>
            </a:r>
            <a:endParaRPr/>
          </a:p>
          <a:p>
            <a:pPr indent="-342900" lvl="0" marL="342900" rtl="0" algn="l">
              <a:spcBef>
                <a:spcPts val="440"/>
              </a:spcBef>
              <a:spcAft>
                <a:spcPts val="0"/>
              </a:spcAft>
              <a:buClr>
                <a:schemeClr val="dk1"/>
              </a:buClr>
              <a:buSzPts val="2200"/>
              <a:buFont typeface="Noto Sans Symbols"/>
              <a:buChar char="▪"/>
            </a:pPr>
            <a:r>
              <a:rPr lang="en-US">
                <a:latin typeface="Helvetica Neue"/>
                <a:ea typeface="Helvetica Neue"/>
                <a:cs typeface="Helvetica Neue"/>
                <a:sym typeface="Helvetica Neue"/>
              </a:rPr>
              <a:t>Strategy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idx="1" type="body"/>
          </p:nvPr>
        </p:nvSpPr>
        <p:spPr>
          <a:xfrm>
            <a:off x="609600" y="2182092"/>
            <a:ext cx="10972800" cy="2489661"/>
          </a:xfrm>
          <a:prstGeom prst="rect">
            <a:avLst/>
          </a:prstGeom>
          <a:noFill/>
          <a:ln>
            <a:noFill/>
          </a:ln>
        </p:spPr>
        <p:txBody>
          <a:bodyPr anchorCtr="0" anchor="t" bIns="45700" lIns="91425" spcFirstLastPara="1" rIns="91425" wrap="square" tIns="45700">
            <a:normAutofit/>
          </a:bodyPr>
          <a:lstStyle/>
          <a:p>
            <a:pPr indent="-203200" lvl="0" marL="342900" rtl="0" algn="ctr">
              <a:spcBef>
                <a:spcPts val="0"/>
              </a:spcBef>
              <a:spcAft>
                <a:spcPts val="0"/>
              </a:spcAft>
              <a:buClr>
                <a:schemeClr val="dk1"/>
              </a:buClr>
              <a:buSzPts val="2200"/>
              <a:buNone/>
            </a:pPr>
            <a:r>
              <a:t/>
            </a:r>
            <a:endParaRPr>
              <a:latin typeface="Helvetica Neue"/>
              <a:ea typeface="Helvetica Neue"/>
              <a:cs typeface="Helvetica Neue"/>
              <a:sym typeface="Helvetica Neue"/>
            </a:endParaRPr>
          </a:p>
          <a:p>
            <a:pPr indent="-342900" lvl="0" marL="342900" rtl="0" algn="ctr">
              <a:spcBef>
                <a:spcPts val="440"/>
              </a:spcBef>
              <a:spcAft>
                <a:spcPts val="0"/>
              </a:spcAft>
              <a:buClr>
                <a:schemeClr val="dk1"/>
              </a:buClr>
              <a:buSzPts val="2200"/>
              <a:buChar char="•"/>
            </a:pPr>
            <a:r>
              <a:rPr lang="en-US">
                <a:latin typeface="Helvetica Neue"/>
                <a:ea typeface="Helvetica Neue"/>
                <a:cs typeface="Helvetica Neue"/>
                <a:sym typeface="Helvetica Neue"/>
              </a:rPr>
              <a:t> </a:t>
            </a:r>
            <a:r>
              <a:rPr i="1" lang="en-US" u="sng">
                <a:solidFill>
                  <a:schemeClr val="hlink"/>
                </a:solidFill>
                <a:latin typeface="Helvetica Neue"/>
                <a:ea typeface="Helvetica Neue"/>
                <a:cs typeface="Helvetica Neue"/>
                <a:sym typeface="Helvetica Neue"/>
                <a:hlinkClick r:id="rId3"/>
              </a:rPr>
              <a:t>"Gang of Four" design patterns</a:t>
            </a:r>
            <a:r>
              <a:rPr lang="en-US">
                <a:latin typeface="Helvetica Neue"/>
                <a:ea typeface="Helvetica Neue"/>
                <a:cs typeface="Helvetica Neue"/>
                <a:sym typeface="Helvetica Neue"/>
              </a:rPr>
              <a:t> describing how to solve recurring design challenges in order to design flexible and reusable object-oriented software, i.e. objects which are easier to implement, change, test, and reuse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Strategy Pattern</a:t>
            </a:r>
            <a:endParaRPr/>
          </a:p>
        </p:txBody>
      </p:sp>
      <p:sp>
        <p:nvSpPr>
          <p:cNvPr id="136" name="Google Shape;136;p4"/>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200"/>
              <a:buNone/>
            </a:pPr>
            <a:r>
              <a:rPr b="1" lang="en-US" u="sng">
                <a:latin typeface="Helvetica Neue"/>
                <a:ea typeface="Helvetica Neue"/>
                <a:cs typeface="Helvetica Neue"/>
                <a:sym typeface="Helvetica Neue"/>
              </a:rPr>
              <a:t>Intent:</a:t>
            </a:r>
            <a:endParaRPr/>
          </a:p>
          <a:p>
            <a:pPr indent="-203200" lvl="0" marL="342900" rtl="0" algn="just">
              <a:spcBef>
                <a:spcPts val="440"/>
              </a:spcBef>
              <a:spcAft>
                <a:spcPts val="0"/>
              </a:spcAft>
              <a:buClr>
                <a:schemeClr val="dk1"/>
              </a:buClr>
              <a:buSzPts val="2200"/>
              <a:buNone/>
            </a:pPr>
            <a:r>
              <a:t/>
            </a:r>
            <a:endParaRPr b="1">
              <a:latin typeface="Helvetica Neue"/>
              <a:ea typeface="Helvetica Neue"/>
              <a:cs typeface="Helvetica Neue"/>
              <a:sym typeface="Helvetica Neue"/>
            </a:endParaRPr>
          </a:p>
          <a:p>
            <a:pPr indent="-342900" lvl="0" marL="342900" rtl="0" algn="just">
              <a:spcBef>
                <a:spcPts val="440"/>
              </a:spcBef>
              <a:spcAft>
                <a:spcPts val="0"/>
              </a:spcAft>
              <a:buClr>
                <a:schemeClr val="dk1"/>
              </a:buClr>
              <a:buSzPts val="2200"/>
              <a:buChar char="•"/>
            </a:pPr>
            <a:r>
              <a:rPr b="1" lang="en-US">
                <a:latin typeface="Helvetica Neue"/>
                <a:ea typeface="Helvetica Neue"/>
                <a:cs typeface="Helvetica Neue"/>
                <a:sym typeface="Helvetica Neue"/>
              </a:rPr>
              <a:t>Strategy</a:t>
            </a:r>
            <a:r>
              <a:rPr lang="en-US">
                <a:latin typeface="Helvetica Neue"/>
                <a:ea typeface="Helvetica Neue"/>
                <a:cs typeface="Helvetica Neue"/>
                <a:sym typeface="Helvetica Neue"/>
              </a:rPr>
              <a:t> is a </a:t>
            </a:r>
            <a:r>
              <a:rPr lang="en-US" u="sng">
                <a:solidFill>
                  <a:srgbClr val="00B0F0"/>
                </a:solidFill>
                <a:latin typeface="Helvetica Neue"/>
                <a:ea typeface="Helvetica Neue"/>
                <a:cs typeface="Helvetica Neue"/>
                <a:sym typeface="Helvetica Neue"/>
              </a:rPr>
              <a:t>behavioral design pattern </a:t>
            </a:r>
            <a:r>
              <a:rPr lang="en-US">
                <a:latin typeface="Helvetica Neue"/>
                <a:ea typeface="Helvetica Neue"/>
                <a:cs typeface="Helvetica Neue"/>
                <a:sym typeface="Helvetica Neue"/>
              </a:rPr>
              <a:t>that lets you define a family of algorithms, put each of them into a separate class, and make their objects interchangeable.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Helvetica Neue"/>
              <a:buNone/>
            </a:pPr>
            <a:r>
              <a:rPr lang="en-US" sz="4000">
                <a:latin typeface="Helvetica Neue"/>
                <a:ea typeface="Helvetica Neue"/>
                <a:cs typeface="Helvetica Neue"/>
                <a:sym typeface="Helvetica Neue"/>
              </a:rPr>
              <a:t>Problem</a:t>
            </a:r>
            <a:endParaRPr/>
          </a:p>
        </p:txBody>
      </p:sp>
      <p:sp>
        <p:nvSpPr>
          <p:cNvPr id="142" name="Google Shape;142;p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2000"/>
              <a:buFont typeface="Calibri"/>
              <a:buAutoNum type="arabicPeriod"/>
            </a:pPr>
            <a:r>
              <a:rPr lang="en-US" sz="2000">
                <a:latin typeface="Helvetica Neue"/>
                <a:ea typeface="Helvetica Neue"/>
                <a:cs typeface="Helvetica Neue"/>
                <a:sym typeface="Helvetica Neue"/>
              </a:rPr>
              <a:t>One day you decided to </a:t>
            </a:r>
            <a:r>
              <a:rPr lang="en-US" sz="2000" u="sng">
                <a:solidFill>
                  <a:srgbClr val="00B0F0"/>
                </a:solidFill>
                <a:latin typeface="Helvetica Neue"/>
                <a:ea typeface="Helvetica Neue"/>
                <a:cs typeface="Helvetica Neue"/>
                <a:sym typeface="Helvetica Neue"/>
              </a:rPr>
              <a:t>create a navigation app for casual travelers</a:t>
            </a:r>
            <a:r>
              <a:rPr lang="en-US" sz="2000">
                <a:latin typeface="Helvetica Neue"/>
                <a:ea typeface="Helvetica Neue"/>
                <a:cs typeface="Helvetica Neue"/>
                <a:sym typeface="Helvetica Neue"/>
              </a:rPr>
              <a:t>. The app was centered around a beautiful map which helped users quickly orient themselves in any city.</a:t>
            </a:r>
            <a:endParaRPr/>
          </a:p>
          <a:p>
            <a:pPr indent="-330200" lvl="0" marL="457200" rtl="0" algn="just">
              <a:spcBef>
                <a:spcPts val="400"/>
              </a:spcBef>
              <a:spcAft>
                <a:spcPts val="0"/>
              </a:spcAft>
              <a:buClr>
                <a:schemeClr val="dk1"/>
              </a:buClr>
              <a:buSzPts val="2000"/>
              <a:buFont typeface="Calibri"/>
              <a:buNone/>
            </a:pPr>
            <a:r>
              <a:t/>
            </a:r>
            <a:endParaRPr sz="2000">
              <a:latin typeface="Helvetica Neue"/>
              <a:ea typeface="Helvetica Neue"/>
              <a:cs typeface="Helvetica Neue"/>
              <a:sym typeface="Helvetica Neue"/>
            </a:endParaRPr>
          </a:p>
          <a:p>
            <a:pPr indent="-457200" lvl="0" marL="457200" rtl="0" algn="just">
              <a:spcBef>
                <a:spcPts val="400"/>
              </a:spcBef>
              <a:spcAft>
                <a:spcPts val="0"/>
              </a:spcAft>
              <a:buClr>
                <a:schemeClr val="dk1"/>
              </a:buClr>
              <a:buSzPts val="2000"/>
              <a:buFont typeface="Calibri"/>
              <a:buAutoNum type="arabicPeriod"/>
            </a:pPr>
            <a:r>
              <a:rPr lang="en-US" sz="2000">
                <a:latin typeface="Helvetica Neue"/>
                <a:ea typeface="Helvetica Neue"/>
                <a:cs typeface="Helvetica Neue"/>
                <a:sym typeface="Helvetica Neue"/>
              </a:rPr>
              <a:t>One of the most requested features for the app was </a:t>
            </a:r>
            <a:r>
              <a:rPr lang="en-US" sz="2000" u="sng">
                <a:solidFill>
                  <a:srgbClr val="00B0F0"/>
                </a:solidFill>
                <a:latin typeface="Helvetica Neue"/>
                <a:ea typeface="Helvetica Neue"/>
                <a:cs typeface="Helvetica Neue"/>
                <a:sym typeface="Helvetica Neue"/>
              </a:rPr>
              <a:t>automatic route planning</a:t>
            </a:r>
            <a:r>
              <a:rPr lang="en-US" sz="2000">
                <a:latin typeface="Helvetica Neue"/>
                <a:ea typeface="Helvetica Neue"/>
                <a:cs typeface="Helvetica Neue"/>
                <a:sym typeface="Helvetica Neue"/>
              </a:rPr>
              <a:t>. A user should be able to enter an address and see the fastest route to that destination displayed on the map.</a:t>
            </a:r>
            <a:endParaRPr/>
          </a:p>
          <a:p>
            <a:pPr indent="-330200" lvl="0" marL="457200" rtl="0" algn="just">
              <a:spcBef>
                <a:spcPts val="400"/>
              </a:spcBef>
              <a:spcAft>
                <a:spcPts val="0"/>
              </a:spcAft>
              <a:buClr>
                <a:schemeClr val="dk1"/>
              </a:buClr>
              <a:buSzPts val="2000"/>
              <a:buFont typeface="Calibri"/>
              <a:buNone/>
            </a:pPr>
            <a:r>
              <a:t/>
            </a:r>
            <a:endParaRPr sz="2000">
              <a:latin typeface="Helvetica Neue"/>
              <a:ea typeface="Helvetica Neue"/>
              <a:cs typeface="Helvetica Neue"/>
              <a:sym typeface="Helvetica Neue"/>
            </a:endParaRPr>
          </a:p>
          <a:p>
            <a:pPr indent="-457200" lvl="0" marL="457200" rtl="0" algn="just">
              <a:spcBef>
                <a:spcPts val="400"/>
              </a:spcBef>
              <a:spcAft>
                <a:spcPts val="0"/>
              </a:spcAft>
              <a:buClr>
                <a:schemeClr val="dk1"/>
              </a:buClr>
              <a:buSzPts val="2000"/>
              <a:buFont typeface="Calibri"/>
              <a:buAutoNum type="arabicPeriod"/>
            </a:pPr>
            <a:r>
              <a:rPr lang="en-US" sz="2000">
                <a:latin typeface="Helvetica Neue"/>
                <a:ea typeface="Helvetica Neue"/>
                <a:cs typeface="Helvetica Neue"/>
                <a:sym typeface="Helvetica Neue"/>
              </a:rPr>
              <a:t>The first version of the app could only build the routes over roads. </a:t>
            </a:r>
            <a:r>
              <a:rPr lang="en-US" sz="2000" u="sng">
                <a:solidFill>
                  <a:srgbClr val="00B0F0"/>
                </a:solidFill>
                <a:latin typeface="Helvetica Neue"/>
                <a:ea typeface="Helvetica Neue"/>
                <a:cs typeface="Helvetica Neue"/>
                <a:sym typeface="Helvetica Neue"/>
              </a:rPr>
              <a:t>People who traveled by car</a:t>
            </a:r>
            <a:r>
              <a:rPr lang="en-US" sz="2000">
                <a:solidFill>
                  <a:srgbClr val="00B0F0"/>
                </a:solidFill>
                <a:latin typeface="Helvetica Neue"/>
                <a:ea typeface="Helvetica Neue"/>
                <a:cs typeface="Helvetica Neue"/>
                <a:sym typeface="Helvetica Neue"/>
              </a:rPr>
              <a:t> </a:t>
            </a:r>
            <a:r>
              <a:rPr lang="en-US" sz="2000">
                <a:latin typeface="Helvetica Neue"/>
                <a:ea typeface="Helvetica Neue"/>
                <a:cs typeface="Helvetica Neue"/>
                <a:sym typeface="Helvetica Neue"/>
              </a:rPr>
              <a:t>were bursting with joy. But apparently, not everybody likes to drive on their vacation. So with the next update, you added an option to </a:t>
            </a:r>
            <a:r>
              <a:rPr lang="en-US" sz="2000" u="sng">
                <a:solidFill>
                  <a:srgbClr val="00B0F0"/>
                </a:solidFill>
                <a:latin typeface="Helvetica Neue"/>
                <a:ea typeface="Helvetica Neue"/>
                <a:cs typeface="Helvetica Neue"/>
                <a:sym typeface="Helvetica Neue"/>
              </a:rPr>
              <a:t>build walking routes</a:t>
            </a:r>
            <a:r>
              <a:rPr lang="en-US" sz="2000">
                <a:latin typeface="Helvetica Neue"/>
                <a:ea typeface="Helvetica Neue"/>
                <a:cs typeface="Helvetica Neue"/>
                <a:sym typeface="Helvetica Neue"/>
              </a:rPr>
              <a:t>. Right after that, you added another option to let </a:t>
            </a:r>
            <a:r>
              <a:rPr lang="en-US" sz="2000" u="sng">
                <a:solidFill>
                  <a:srgbClr val="00B0F0"/>
                </a:solidFill>
                <a:latin typeface="Helvetica Neue"/>
                <a:ea typeface="Helvetica Neue"/>
                <a:cs typeface="Helvetica Neue"/>
                <a:sym typeface="Helvetica Neue"/>
              </a:rPr>
              <a:t>people use public transport </a:t>
            </a:r>
            <a:r>
              <a:rPr lang="en-US" sz="2000">
                <a:latin typeface="Helvetica Neue"/>
                <a:ea typeface="Helvetica Neue"/>
                <a:cs typeface="Helvetica Neue"/>
                <a:sym typeface="Helvetica Neue"/>
              </a:rPr>
              <a:t>in their routes.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6"/>
          <p:cNvPicPr preferRelativeResize="0"/>
          <p:nvPr>
            <p:ph idx="1" type="body"/>
          </p:nvPr>
        </p:nvPicPr>
        <p:blipFill rotWithShape="1">
          <a:blip r:embed="rId3">
            <a:alphaModFix/>
          </a:blip>
          <a:srcRect b="0" l="0" r="0" t="0"/>
          <a:stretch/>
        </p:blipFill>
        <p:spPr>
          <a:xfrm>
            <a:off x="1860804" y="978902"/>
            <a:ext cx="8128000" cy="3810000"/>
          </a:xfrm>
          <a:prstGeom prst="rect">
            <a:avLst/>
          </a:prstGeom>
          <a:noFill/>
          <a:ln>
            <a:noFill/>
          </a:ln>
        </p:spPr>
      </p:pic>
      <p:sp>
        <p:nvSpPr>
          <p:cNvPr id="148" name="Google Shape;148;p6"/>
          <p:cNvSpPr/>
          <p:nvPr/>
        </p:nvSpPr>
        <p:spPr>
          <a:xfrm>
            <a:off x="3108960" y="5196225"/>
            <a:ext cx="6096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Helvetica Neue"/>
                <a:ea typeface="Helvetica Neue"/>
                <a:cs typeface="Helvetica Neue"/>
                <a:sym typeface="Helvetica Neue"/>
              </a:rPr>
              <a:t>Various strategies for getting to the airport.</a:t>
            </a:r>
            <a:endParaRPr/>
          </a:p>
          <a:p>
            <a:pPr indent="0" lvl="0" marL="0" marR="0" rtl="0" algn="l">
              <a:spcBef>
                <a:spcPts val="0"/>
              </a:spcBef>
              <a:spcAft>
                <a:spcPts val="0"/>
              </a:spcAft>
              <a:buNone/>
            </a:pPr>
            <a:br>
              <a:rPr b="0" i="0" lang="en-US" sz="1800" u="none" cap="none" strike="noStrike">
                <a:solidFill>
                  <a:schemeClr val="dk1"/>
                </a:solidFill>
                <a:latin typeface="Helvetica Neue"/>
                <a:ea typeface="Helvetica Neue"/>
                <a:cs typeface="Helvetica Neue"/>
                <a:sym typeface="Helvetica Neue"/>
              </a:rPr>
            </a:b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Cont..</a:t>
            </a:r>
            <a:endParaRPr/>
          </a:p>
        </p:txBody>
      </p:sp>
      <p:sp>
        <p:nvSpPr>
          <p:cNvPr id="154" name="Google Shape;154;p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Char char="•"/>
            </a:pPr>
            <a:r>
              <a:rPr lang="en-US" sz="2400">
                <a:latin typeface="Helvetica Neue"/>
                <a:ea typeface="Helvetica Neue"/>
                <a:cs typeface="Helvetica Neue"/>
                <a:sym typeface="Helvetica Neue"/>
              </a:rPr>
              <a:t>However, that was only the beginning. Later you planned to add route building for cyclists. And even later, another option for building routes through all of a city’s tourist attractions.</a:t>
            </a:r>
            <a:endParaRPr/>
          </a:p>
          <a:p>
            <a:pPr indent="-190500" lvl="0" marL="342900" rtl="0" algn="just">
              <a:spcBef>
                <a:spcPts val="480"/>
              </a:spcBef>
              <a:spcAft>
                <a:spcPts val="0"/>
              </a:spcAft>
              <a:buClr>
                <a:schemeClr val="dk1"/>
              </a:buClr>
              <a:buSzPts val="2400"/>
              <a:buNone/>
            </a:pPr>
            <a:r>
              <a:t/>
            </a:r>
            <a:endParaRPr sz="2400">
              <a:latin typeface="Helvetica Neue"/>
              <a:ea typeface="Helvetica Neue"/>
              <a:cs typeface="Helvetica Neue"/>
              <a:sym typeface="Helvetica Neue"/>
            </a:endParaRPr>
          </a:p>
          <a:p>
            <a:pPr indent="-190500" lvl="0" marL="342900" rtl="0" algn="just">
              <a:spcBef>
                <a:spcPts val="480"/>
              </a:spcBef>
              <a:spcAft>
                <a:spcPts val="0"/>
              </a:spcAft>
              <a:buClr>
                <a:schemeClr val="dk1"/>
              </a:buClr>
              <a:buSzPts val="2400"/>
              <a:buNone/>
            </a:pPr>
            <a:r>
              <a:t/>
            </a:r>
            <a:endParaRPr sz="2400">
              <a:latin typeface="Helvetica Neue"/>
              <a:ea typeface="Helvetica Neue"/>
              <a:cs typeface="Helvetica Neue"/>
              <a:sym typeface="Helvetica Neue"/>
            </a:endParaRPr>
          </a:p>
        </p:txBody>
      </p:sp>
      <p:pic>
        <p:nvPicPr>
          <p:cNvPr id="155" name="Google Shape;155;p7"/>
          <p:cNvPicPr preferRelativeResize="0"/>
          <p:nvPr/>
        </p:nvPicPr>
        <p:blipFill rotWithShape="1">
          <a:blip r:embed="rId3">
            <a:alphaModFix/>
          </a:blip>
          <a:srcRect b="0" l="0" r="0" t="0"/>
          <a:stretch/>
        </p:blipFill>
        <p:spPr>
          <a:xfrm>
            <a:off x="3716944" y="3065780"/>
            <a:ext cx="4191000" cy="1905000"/>
          </a:xfrm>
          <a:prstGeom prst="rect">
            <a:avLst/>
          </a:prstGeom>
          <a:noFill/>
          <a:ln>
            <a:noFill/>
          </a:ln>
        </p:spPr>
      </p:pic>
      <p:sp>
        <p:nvSpPr>
          <p:cNvPr id="156" name="Google Shape;156;p7"/>
          <p:cNvSpPr/>
          <p:nvPr/>
        </p:nvSpPr>
        <p:spPr>
          <a:xfrm>
            <a:off x="2764444" y="5109984"/>
            <a:ext cx="6096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Helvetica Neue"/>
                <a:ea typeface="Helvetica Neue"/>
                <a:cs typeface="Helvetica Neue"/>
                <a:sym typeface="Helvetica Neue"/>
              </a:rPr>
              <a:t>The code of the navigator became bloated.</a:t>
            </a:r>
            <a:endParaRPr/>
          </a:p>
          <a:p>
            <a:pPr indent="0" lvl="0" marL="0" marR="0" rtl="0" algn="l">
              <a:spcBef>
                <a:spcPts val="0"/>
              </a:spcBef>
              <a:spcAft>
                <a:spcPts val="0"/>
              </a:spcAft>
              <a:buNone/>
            </a:pPr>
            <a:br>
              <a:rPr lang="en-US" sz="1800">
                <a:solidFill>
                  <a:schemeClr val="dk1"/>
                </a:solidFill>
                <a:latin typeface="Helvetica Neue"/>
                <a:ea typeface="Helvetica Neue"/>
                <a:cs typeface="Helvetica Neue"/>
                <a:sym typeface="Helvetica Neue"/>
              </a:rPr>
            </a:b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Cont..</a:t>
            </a:r>
            <a:endParaRPr/>
          </a:p>
        </p:txBody>
      </p:sp>
      <p:sp>
        <p:nvSpPr>
          <p:cNvPr id="162" name="Google Shape;162;p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2200"/>
              <a:buFont typeface="Calibri"/>
              <a:buAutoNum type="arabicPeriod"/>
            </a:pPr>
            <a:r>
              <a:rPr lang="en-US">
                <a:latin typeface="Helvetica Neue"/>
                <a:ea typeface="Helvetica Neue"/>
                <a:cs typeface="Helvetica Neue"/>
                <a:sym typeface="Helvetica Neue"/>
              </a:rPr>
              <a:t> </a:t>
            </a:r>
            <a:r>
              <a:rPr lang="en-US" u="sng">
                <a:solidFill>
                  <a:srgbClr val="00B0F0"/>
                </a:solidFill>
                <a:latin typeface="Helvetica Neue"/>
                <a:ea typeface="Helvetica Neue"/>
                <a:cs typeface="Helvetica Neue"/>
                <a:sym typeface="Helvetica Neue"/>
              </a:rPr>
              <a:t>From a business perspective the app was a success</a:t>
            </a:r>
            <a:r>
              <a:rPr lang="en-US">
                <a:latin typeface="Helvetica Neue"/>
                <a:ea typeface="Helvetica Neue"/>
                <a:cs typeface="Helvetica Neue"/>
                <a:sym typeface="Helvetica Neue"/>
              </a:rPr>
              <a:t>, the technical part caused many headaches. </a:t>
            </a:r>
            <a:endParaRPr/>
          </a:p>
          <a:p>
            <a:pPr indent="-317500" lvl="0" marL="457200" rtl="0" algn="just">
              <a:spcBef>
                <a:spcPts val="440"/>
              </a:spcBef>
              <a:spcAft>
                <a:spcPts val="0"/>
              </a:spcAft>
              <a:buClr>
                <a:schemeClr val="dk1"/>
              </a:buClr>
              <a:buSzPts val="2200"/>
              <a:buFont typeface="Calibri"/>
              <a:buNone/>
            </a:pPr>
            <a:r>
              <a:t/>
            </a:r>
            <a:endParaRPr>
              <a:latin typeface="Helvetica Neue"/>
              <a:ea typeface="Helvetica Neue"/>
              <a:cs typeface="Helvetica Neue"/>
              <a:sym typeface="Helvetica Neue"/>
            </a:endParaRPr>
          </a:p>
          <a:p>
            <a:pPr indent="-457200" lvl="0" marL="457200" rtl="0" algn="just">
              <a:spcBef>
                <a:spcPts val="440"/>
              </a:spcBef>
              <a:spcAft>
                <a:spcPts val="0"/>
              </a:spcAft>
              <a:buClr>
                <a:schemeClr val="dk1"/>
              </a:buClr>
              <a:buSzPts val="2200"/>
              <a:buFont typeface="Calibri"/>
              <a:buAutoNum type="arabicPeriod"/>
            </a:pPr>
            <a:r>
              <a:rPr lang="en-US">
                <a:latin typeface="Helvetica Neue"/>
                <a:ea typeface="Helvetica Neue"/>
                <a:cs typeface="Helvetica Neue"/>
                <a:sym typeface="Helvetica Neue"/>
              </a:rPr>
              <a:t>Each time you </a:t>
            </a:r>
            <a:r>
              <a:rPr lang="en-US" u="sng">
                <a:solidFill>
                  <a:srgbClr val="00B0F0"/>
                </a:solidFill>
                <a:latin typeface="Helvetica Neue"/>
                <a:ea typeface="Helvetica Neue"/>
                <a:cs typeface="Helvetica Neue"/>
                <a:sym typeface="Helvetica Neue"/>
              </a:rPr>
              <a:t>added a new routing algorithm</a:t>
            </a:r>
            <a:r>
              <a:rPr lang="en-US">
                <a:latin typeface="Helvetica Neue"/>
                <a:ea typeface="Helvetica Neue"/>
                <a:cs typeface="Helvetica Neue"/>
                <a:sym typeface="Helvetica Neue"/>
              </a:rPr>
              <a:t>, the main class of the navigator doubled in size.  At some point, the beast became too hard to maintain.</a:t>
            </a:r>
            <a:endParaRPr/>
          </a:p>
          <a:p>
            <a:pPr indent="-317500" lvl="0" marL="457200" rtl="0" algn="just">
              <a:spcBef>
                <a:spcPts val="440"/>
              </a:spcBef>
              <a:spcAft>
                <a:spcPts val="0"/>
              </a:spcAft>
              <a:buClr>
                <a:schemeClr val="dk1"/>
              </a:buClr>
              <a:buSzPts val="2200"/>
              <a:buFont typeface="Calibri"/>
              <a:buNone/>
            </a:pPr>
            <a:r>
              <a:t/>
            </a:r>
            <a:endParaRPr>
              <a:latin typeface="Helvetica Neue"/>
              <a:ea typeface="Helvetica Neue"/>
              <a:cs typeface="Helvetica Neue"/>
              <a:sym typeface="Helvetica Neue"/>
            </a:endParaRPr>
          </a:p>
          <a:p>
            <a:pPr indent="-457200" lvl="0" marL="457200" rtl="0" algn="just">
              <a:spcBef>
                <a:spcPts val="440"/>
              </a:spcBef>
              <a:spcAft>
                <a:spcPts val="0"/>
              </a:spcAft>
              <a:buClr>
                <a:schemeClr val="dk1"/>
              </a:buClr>
              <a:buSzPts val="2200"/>
              <a:buFont typeface="Calibri"/>
              <a:buAutoNum type="arabicPeriod"/>
            </a:pPr>
            <a:r>
              <a:rPr lang="en-US">
                <a:latin typeface="Helvetica Neue"/>
                <a:ea typeface="Helvetica Neue"/>
                <a:cs typeface="Helvetica Neue"/>
                <a:sym typeface="Helvetica Neue"/>
              </a:rPr>
              <a:t>Any change to one of the algorithms, whether it was a simple bug fix or a slight adjustment of the street score, </a:t>
            </a:r>
            <a:r>
              <a:rPr lang="en-US" u="sng">
                <a:solidFill>
                  <a:srgbClr val="00B0F0"/>
                </a:solidFill>
                <a:latin typeface="Helvetica Neue"/>
                <a:ea typeface="Helvetica Neue"/>
                <a:cs typeface="Helvetica Neue"/>
                <a:sym typeface="Helvetica Neue"/>
              </a:rPr>
              <a:t>affected the whole class</a:t>
            </a:r>
            <a:r>
              <a:rPr lang="en-US">
                <a:latin typeface="Helvetica Neue"/>
                <a:ea typeface="Helvetica Neue"/>
                <a:cs typeface="Helvetica Neue"/>
                <a:sym typeface="Helvetica Neue"/>
              </a:rPr>
              <a:t>, increasing the chance of creating an error in already-working code.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Helvetica Neue"/>
              <a:buNone/>
            </a:pPr>
            <a:r>
              <a:rPr lang="en-US" sz="4000">
                <a:latin typeface="Helvetica Neue"/>
                <a:ea typeface="Helvetica Neue"/>
                <a:cs typeface="Helvetica Neue"/>
                <a:sym typeface="Helvetica Neue"/>
              </a:rPr>
              <a:t>Solution</a:t>
            </a:r>
            <a:endParaRPr/>
          </a:p>
        </p:txBody>
      </p:sp>
      <p:sp>
        <p:nvSpPr>
          <p:cNvPr id="168" name="Google Shape;168;p9"/>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2000"/>
              <a:buFont typeface="Calibri"/>
              <a:buAutoNum type="arabicPeriod"/>
            </a:pPr>
            <a:r>
              <a:rPr lang="en-US" sz="2000">
                <a:latin typeface="Helvetica Neue"/>
                <a:ea typeface="Helvetica Neue"/>
                <a:cs typeface="Helvetica Neue"/>
                <a:sym typeface="Helvetica Neue"/>
              </a:rPr>
              <a:t>The Strategy pattern suggests that you </a:t>
            </a:r>
            <a:r>
              <a:rPr lang="en-US" sz="2000" u="sng">
                <a:solidFill>
                  <a:srgbClr val="00B0F0"/>
                </a:solidFill>
                <a:latin typeface="Helvetica Neue"/>
                <a:ea typeface="Helvetica Neue"/>
                <a:cs typeface="Helvetica Neue"/>
                <a:sym typeface="Helvetica Neue"/>
              </a:rPr>
              <a:t>take a class that does something specific in a lot of different ways</a:t>
            </a:r>
            <a:r>
              <a:rPr lang="en-US" sz="2000">
                <a:latin typeface="Helvetica Neue"/>
                <a:ea typeface="Helvetica Neue"/>
                <a:cs typeface="Helvetica Neue"/>
                <a:sym typeface="Helvetica Neue"/>
              </a:rPr>
              <a:t> and extract all of these algorithms into separate classes called </a:t>
            </a:r>
            <a:r>
              <a:rPr i="1" lang="en-US" sz="2000">
                <a:latin typeface="Helvetica Neue"/>
                <a:ea typeface="Helvetica Neue"/>
                <a:cs typeface="Helvetica Neue"/>
                <a:sym typeface="Helvetica Neue"/>
              </a:rPr>
              <a:t>strategies</a:t>
            </a:r>
            <a:r>
              <a:rPr lang="en-US" sz="2000">
                <a:latin typeface="Helvetica Neue"/>
                <a:ea typeface="Helvetica Neue"/>
                <a:cs typeface="Helvetica Neue"/>
                <a:sym typeface="Helvetica Neue"/>
              </a:rPr>
              <a:t>.</a:t>
            </a:r>
            <a:endParaRPr/>
          </a:p>
          <a:p>
            <a:pPr indent="-330200" lvl="0" marL="457200" rtl="0" algn="just">
              <a:spcBef>
                <a:spcPts val="400"/>
              </a:spcBef>
              <a:spcAft>
                <a:spcPts val="0"/>
              </a:spcAft>
              <a:buClr>
                <a:schemeClr val="dk1"/>
              </a:buClr>
              <a:buSzPts val="2000"/>
              <a:buFont typeface="Calibri"/>
              <a:buNone/>
            </a:pPr>
            <a:r>
              <a:t/>
            </a:r>
            <a:endParaRPr sz="2000">
              <a:latin typeface="Helvetica Neue"/>
              <a:ea typeface="Helvetica Neue"/>
              <a:cs typeface="Helvetica Neue"/>
              <a:sym typeface="Helvetica Neue"/>
            </a:endParaRPr>
          </a:p>
          <a:p>
            <a:pPr indent="-457200" lvl="0" marL="457200" rtl="0" algn="just">
              <a:spcBef>
                <a:spcPts val="400"/>
              </a:spcBef>
              <a:spcAft>
                <a:spcPts val="0"/>
              </a:spcAft>
              <a:buClr>
                <a:schemeClr val="dk1"/>
              </a:buClr>
              <a:buSzPts val="2000"/>
              <a:buFont typeface="Calibri"/>
              <a:buAutoNum type="arabicPeriod"/>
            </a:pPr>
            <a:r>
              <a:rPr lang="en-US" sz="2000">
                <a:latin typeface="Helvetica Neue"/>
                <a:ea typeface="Helvetica Neue"/>
                <a:cs typeface="Helvetica Neue"/>
                <a:sym typeface="Helvetica Neue"/>
              </a:rPr>
              <a:t>The original class, called </a:t>
            </a:r>
            <a:r>
              <a:rPr i="1" lang="en-US" sz="2000">
                <a:latin typeface="Helvetica Neue"/>
                <a:ea typeface="Helvetica Neue"/>
                <a:cs typeface="Helvetica Neue"/>
                <a:sym typeface="Helvetica Neue"/>
              </a:rPr>
              <a:t>context</a:t>
            </a:r>
            <a:r>
              <a:rPr lang="en-US" sz="2000">
                <a:latin typeface="Helvetica Neue"/>
                <a:ea typeface="Helvetica Neue"/>
                <a:cs typeface="Helvetica Neue"/>
                <a:sym typeface="Helvetica Neue"/>
              </a:rPr>
              <a:t>, must have a field for storing a reference to one of the strategies. The </a:t>
            </a:r>
            <a:r>
              <a:rPr lang="en-US" sz="2000" u="sng">
                <a:solidFill>
                  <a:srgbClr val="00B0F0"/>
                </a:solidFill>
                <a:latin typeface="Helvetica Neue"/>
                <a:ea typeface="Helvetica Neue"/>
                <a:cs typeface="Helvetica Neue"/>
                <a:sym typeface="Helvetica Neue"/>
              </a:rPr>
              <a:t>context delegates the work to a linked strategy object</a:t>
            </a:r>
            <a:r>
              <a:rPr lang="en-US" sz="2000">
                <a:latin typeface="Helvetica Neue"/>
                <a:ea typeface="Helvetica Neue"/>
                <a:cs typeface="Helvetica Neue"/>
                <a:sym typeface="Helvetica Neue"/>
              </a:rPr>
              <a:t> instead of executing it on its own.</a:t>
            </a:r>
            <a:endParaRPr/>
          </a:p>
          <a:p>
            <a:pPr indent="-330200" lvl="0" marL="457200" rtl="0" algn="just">
              <a:spcBef>
                <a:spcPts val="400"/>
              </a:spcBef>
              <a:spcAft>
                <a:spcPts val="0"/>
              </a:spcAft>
              <a:buClr>
                <a:schemeClr val="dk1"/>
              </a:buClr>
              <a:buSzPts val="2000"/>
              <a:buFont typeface="Calibri"/>
              <a:buNone/>
            </a:pPr>
            <a:r>
              <a:t/>
            </a:r>
            <a:endParaRPr sz="2000">
              <a:latin typeface="Helvetica Neue"/>
              <a:ea typeface="Helvetica Neue"/>
              <a:cs typeface="Helvetica Neue"/>
              <a:sym typeface="Helvetica Neue"/>
            </a:endParaRPr>
          </a:p>
          <a:p>
            <a:pPr indent="-457200" lvl="0" marL="457200" rtl="0" algn="just">
              <a:spcBef>
                <a:spcPts val="400"/>
              </a:spcBef>
              <a:spcAft>
                <a:spcPts val="0"/>
              </a:spcAft>
              <a:buClr>
                <a:schemeClr val="dk1"/>
              </a:buClr>
              <a:buSzPts val="2000"/>
              <a:buFont typeface="Calibri"/>
              <a:buAutoNum type="arabicPeriod"/>
            </a:pPr>
            <a:r>
              <a:rPr lang="en-US" sz="2000">
                <a:latin typeface="Helvetica Neue"/>
                <a:ea typeface="Helvetica Neue"/>
                <a:cs typeface="Helvetica Neue"/>
                <a:sym typeface="Helvetica Neue"/>
              </a:rPr>
              <a:t>The context isn’t responsible for selecting an appropriate algorithm for the job. Instead, the </a:t>
            </a:r>
            <a:r>
              <a:rPr lang="en-US" sz="2000" u="sng">
                <a:solidFill>
                  <a:srgbClr val="00B0F0"/>
                </a:solidFill>
                <a:latin typeface="Helvetica Neue"/>
                <a:ea typeface="Helvetica Neue"/>
                <a:cs typeface="Helvetica Neue"/>
                <a:sym typeface="Helvetica Neue"/>
              </a:rPr>
              <a:t>client passes the desired strategy to the context</a:t>
            </a:r>
            <a:r>
              <a:rPr lang="en-US" sz="2000">
                <a:latin typeface="Helvetica Neue"/>
                <a:ea typeface="Helvetica Neue"/>
                <a:cs typeface="Helvetica Neue"/>
                <a:sym typeface="Helvetica Neue"/>
              </a:rPr>
              <a:t>. In fact, the context doesn’t know much about strategies. It works with all strategies through the same generic interface, which only exposes a single method for triggering the algorithm encapsulated within the selected strategy.</a:t>
            </a:r>
            <a:endParaRPr/>
          </a:p>
          <a:p>
            <a:pPr indent="-215900" lvl="0" marL="342900" rtl="0" algn="l">
              <a:spcBef>
                <a:spcPts val="400"/>
              </a:spcBef>
              <a:spcAft>
                <a:spcPts val="0"/>
              </a:spcAft>
              <a:buClr>
                <a:schemeClr val="dk1"/>
              </a:buClr>
              <a:buSzPts val="2000"/>
              <a:buNone/>
            </a:pPr>
            <a:r>
              <a:t/>
            </a:r>
            <a:endParaRPr sz="2000">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animEffect filter="fade" transition="in">
                                      <p:cBhvr>
                                        <p:cTn dur="500"/>
                                        <p:tgtEl>
                                          <p:spTgt spid="1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animEffect filter="fade" transition="in">
                                      <p:cBhvr>
                                        <p:cTn dur="500"/>
                                        <p:tgtEl>
                                          <p:spTgt spid="1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animEffect filter="fade" transition="in">
                                      <p:cBhvr>
                                        <p:cTn dur="500"/>
                                        <p:tgtEl>
                                          <p:spTgt spid="1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animEffect filter="fade" transition="in">
                                      <p:cBhvr>
                                        <p:cTn dur="500"/>
                                        <p:tgtEl>
                                          <p:spTgt spid="1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animEffect filter="fade" transition="in">
                                      <p:cBhvr>
                                        <p:cTn dur="500"/>
                                        <p:tgtEl>
                                          <p:spTgt spid="1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5" st="5"/>
                                            </p:txEl>
                                          </p:spTgt>
                                        </p:tgtEl>
                                        <p:attrNameLst>
                                          <p:attrName>style.visibility</p:attrName>
                                        </p:attrNameLst>
                                      </p:cBhvr>
                                      <p:to>
                                        <p:strVal val="visible"/>
                                      </p:to>
                                    </p:set>
                                    <p:animEffect filter="fade" transition="in">
                                      <p:cBhvr>
                                        <p:cTn dur="500"/>
                                        <p:tgtEl>
                                          <p:spTgt spid="16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Cont..</a:t>
            </a:r>
            <a:endParaRPr/>
          </a:p>
        </p:txBody>
      </p:sp>
      <p:sp>
        <p:nvSpPr>
          <p:cNvPr id="174" name="Google Shape;174;p1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200"/>
              <a:buChar char="•"/>
            </a:pPr>
            <a:r>
              <a:rPr lang="en-US">
                <a:latin typeface="Helvetica Neue"/>
                <a:ea typeface="Helvetica Neue"/>
                <a:cs typeface="Helvetica Neue"/>
                <a:sym typeface="Helvetica Neue"/>
              </a:rPr>
              <a:t>This way the context becomes independent of concrete strategies, so you can add new algorithms or modify existing ones without changing the code of the context or other strategies.</a:t>
            </a:r>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pic>
        <p:nvPicPr>
          <p:cNvPr id="175" name="Google Shape;175;p10"/>
          <p:cNvPicPr preferRelativeResize="0"/>
          <p:nvPr/>
        </p:nvPicPr>
        <p:blipFill rotWithShape="1">
          <a:blip r:embed="rId3">
            <a:alphaModFix/>
          </a:blip>
          <a:srcRect b="0" l="0" r="0" t="0"/>
          <a:stretch/>
        </p:blipFill>
        <p:spPr>
          <a:xfrm>
            <a:off x="2726557" y="2835274"/>
            <a:ext cx="6903218" cy="3391055"/>
          </a:xfrm>
          <a:prstGeom prst="rect">
            <a:avLst/>
          </a:prstGeom>
          <a:noFill/>
          <a:ln>
            <a:noFill/>
          </a:ln>
        </p:spPr>
      </p:pic>
      <p:sp>
        <p:nvSpPr>
          <p:cNvPr id="176" name="Google Shape;176;p10"/>
          <p:cNvSpPr/>
          <p:nvPr/>
        </p:nvSpPr>
        <p:spPr>
          <a:xfrm>
            <a:off x="6606711" y="6226329"/>
            <a:ext cx="237559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rgbClr val="00B0F0"/>
                </a:solidFill>
                <a:latin typeface="Helvetica Neue"/>
                <a:ea typeface="Helvetica Neue"/>
                <a:cs typeface="Helvetica Neue"/>
                <a:sym typeface="Helvetica Neue"/>
              </a:rPr>
              <a:t>Route planning strategies.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UML for Strategy pattern</a:t>
            </a:r>
            <a:endParaRPr/>
          </a:p>
        </p:txBody>
      </p:sp>
      <p:pic>
        <p:nvPicPr>
          <p:cNvPr id="182" name="Google Shape;182;p11"/>
          <p:cNvPicPr preferRelativeResize="0"/>
          <p:nvPr>
            <p:ph idx="1" type="body"/>
          </p:nvPr>
        </p:nvPicPr>
        <p:blipFill rotWithShape="1">
          <a:blip r:embed="rId3">
            <a:alphaModFix/>
          </a:blip>
          <a:srcRect b="0" l="0" r="0" t="0"/>
          <a:stretch/>
        </p:blipFill>
        <p:spPr>
          <a:xfrm>
            <a:off x="3492273" y="2176272"/>
            <a:ext cx="4783781" cy="4022725"/>
          </a:xfrm>
          <a:prstGeom prst="rect">
            <a:avLst/>
          </a:prstGeom>
          <a:noFill/>
          <a:ln>
            <a:noFill/>
          </a:ln>
        </p:spPr>
      </p:pic>
      <p:sp>
        <p:nvSpPr>
          <p:cNvPr id="183" name="Google Shape;183;p11"/>
          <p:cNvSpPr/>
          <p:nvPr/>
        </p:nvSpPr>
        <p:spPr>
          <a:xfrm>
            <a:off x="1158240" y="2188464"/>
            <a:ext cx="2763520" cy="116955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400">
                <a:solidFill>
                  <a:srgbClr val="205867"/>
                </a:solidFill>
                <a:latin typeface="Helvetica Neue"/>
                <a:ea typeface="Helvetica Neue"/>
                <a:cs typeface="Helvetica Neue"/>
                <a:sym typeface="Helvetica Neue"/>
              </a:rPr>
              <a:t>The </a:t>
            </a:r>
            <a:r>
              <a:rPr b="1" i="0" lang="en-US" sz="1400">
                <a:solidFill>
                  <a:srgbClr val="205867"/>
                </a:solidFill>
                <a:latin typeface="Helvetica Neue"/>
                <a:ea typeface="Helvetica Neue"/>
                <a:cs typeface="Helvetica Neue"/>
                <a:sym typeface="Helvetica Neue"/>
              </a:rPr>
              <a:t>Context</a:t>
            </a:r>
            <a:r>
              <a:rPr b="0" i="0" lang="en-US" sz="1400">
                <a:solidFill>
                  <a:srgbClr val="205867"/>
                </a:solidFill>
                <a:latin typeface="Helvetica Neue"/>
                <a:ea typeface="Helvetica Neue"/>
                <a:cs typeface="Helvetica Neue"/>
                <a:sym typeface="Helvetica Neue"/>
              </a:rPr>
              <a:t> maintains a reference to one of the concrete strategies and communicates with this object only via the strategy interface</a:t>
            </a:r>
            <a:endParaRPr sz="1400">
              <a:solidFill>
                <a:srgbClr val="205867"/>
              </a:solidFill>
              <a:latin typeface="Helvetica Neue"/>
              <a:ea typeface="Helvetica Neue"/>
              <a:cs typeface="Helvetica Neue"/>
              <a:sym typeface="Helvetica Neue"/>
            </a:endParaRPr>
          </a:p>
        </p:txBody>
      </p:sp>
      <p:sp>
        <p:nvSpPr>
          <p:cNvPr id="184" name="Google Shape;184;p11"/>
          <p:cNvSpPr/>
          <p:nvPr/>
        </p:nvSpPr>
        <p:spPr>
          <a:xfrm>
            <a:off x="1158240" y="4621964"/>
            <a:ext cx="2856411"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444444"/>
                </a:solidFill>
                <a:latin typeface="Helvetica Neue"/>
                <a:ea typeface="Helvetica Neue"/>
                <a:cs typeface="Helvetica Neue"/>
                <a:sym typeface="Helvetica Neue"/>
              </a:rPr>
              <a:t>The </a:t>
            </a:r>
            <a:r>
              <a:rPr b="1" lang="en-US" sz="1400">
                <a:solidFill>
                  <a:srgbClr val="444444"/>
                </a:solidFill>
                <a:latin typeface="Helvetica Neue"/>
                <a:ea typeface="Helvetica Neue"/>
                <a:cs typeface="Helvetica Neue"/>
                <a:sym typeface="Helvetica Neue"/>
              </a:rPr>
              <a:t>Client</a:t>
            </a:r>
            <a:r>
              <a:rPr lang="en-US" sz="1400">
                <a:solidFill>
                  <a:srgbClr val="444444"/>
                </a:solidFill>
                <a:latin typeface="Helvetica Neue"/>
                <a:ea typeface="Helvetica Neue"/>
                <a:cs typeface="Helvetica Neue"/>
                <a:sym typeface="Helvetica Neue"/>
              </a:rPr>
              <a:t> creates a specific strategy object and passes it to the context. The context exposes a setter which lets clients replace the strategy associated with the context at runtime.</a:t>
            </a:r>
            <a:endParaRPr sz="1400">
              <a:solidFill>
                <a:schemeClr val="dk1"/>
              </a:solidFill>
              <a:latin typeface="Helvetica Neue"/>
              <a:ea typeface="Helvetica Neue"/>
              <a:cs typeface="Helvetica Neue"/>
              <a:sym typeface="Helvetica Neue"/>
            </a:endParaRPr>
          </a:p>
        </p:txBody>
      </p:sp>
      <p:sp>
        <p:nvSpPr>
          <p:cNvPr id="185" name="Google Shape;185;p11"/>
          <p:cNvSpPr/>
          <p:nvPr/>
        </p:nvSpPr>
        <p:spPr>
          <a:xfrm>
            <a:off x="8386355" y="2245402"/>
            <a:ext cx="2595154" cy="116955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444444"/>
                </a:solidFill>
                <a:latin typeface="Helvetica Neue"/>
                <a:ea typeface="Helvetica Neue"/>
                <a:cs typeface="Helvetica Neue"/>
                <a:sym typeface="Helvetica Neue"/>
              </a:rPr>
              <a:t>The </a:t>
            </a:r>
            <a:r>
              <a:rPr b="1" lang="en-US" sz="1400">
                <a:solidFill>
                  <a:srgbClr val="444444"/>
                </a:solidFill>
                <a:latin typeface="Helvetica Neue"/>
                <a:ea typeface="Helvetica Neue"/>
                <a:cs typeface="Helvetica Neue"/>
                <a:sym typeface="Helvetica Neue"/>
              </a:rPr>
              <a:t>Strategy</a:t>
            </a:r>
            <a:r>
              <a:rPr lang="en-US" sz="1400">
                <a:solidFill>
                  <a:srgbClr val="444444"/>
                </a:solidFill>
                <a:latin typeface="Helvetica Neue"/>
                <a:ea typeface="Helvetica Neue"/>
                <a:cs typeface="Helvetica Neue"/>
                <a:sym typeface="Helvetica Neue"/>
              </a:rPr>
              <a:t> interface is common to all concrete strategies. It declares a method the context uses to execute a strategy.</a:t>
            </a:r>
            <a:endParaRPr sz="1400">
              <a:solidFill>
                <a:schemeClr val="dk1"/>
              </a:solidFill>
              <a:latin typeface="Helvetica Neue"/>
              <a:ea typeface="Helvetica Neue"/>
              <a:cs typeface="Helvetica Neue"/>
              <a:sym typeface="Helvetica Neue"/>
            </a:endParaRPr>
          </a:p>
        </p:txBody>
      </p:sp>
      <p:sp>
        <p:nvSpPr>
          <p:cNvPr id="186" name="Google Shape;186;p11"/>
          <p:cNvSpPr/>
          <p:nvPr/>
        </p:nvSpPr>
        <p:spPr>
          <a:xfrm>
            <a:off x="8447315" y="3865156"/>
            <a:ext cx="2612571" cy="144655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400">
                <a:solidFill>
                  <a:srgbClr val="444444"/>
                </a:solidFill>
                <a:latin typeface="Helvetica Neue"/>
                <a:ea typeface="Helvetica Neue"/>
                <a:cs typeface="Helvetica Neue"/>
                <a:sym typeface="Helvetica Neue"/>
              </a:rPr>
              <a:t>Concrete Strategies</a:t>
            </a:r>
            <a:r>
              <a:rPr lang="en-US" sz="1400">
                <a:solidFill>
                  <a:srgbClr val="444444"/>
                </a:solidFill>
                <a:latin typeface="Helvetica Neue"/>
                <a:ea typeface="Helvetica Neue"/>
                <a:cs typeface="Helvetica Neue"/>
                <a:sym typeface="Helvetica Neue"/>
              </a:rPr>
              <a:t> implement different variations of an algorithm the context uses.</a:t>
            </a:r>
            <a:endParaRPr/>
          </a:p>
          <a:p>
            <a:pPr indent="0" lvl="0" marL="0" marR="0" rtl="0" algn="l">
              <a:spcBef>
                <a:spcPts val="0"/>
              </a:spcBef>
              <a:spcAft>
                <a:spcPts val="0"/>
              </a:spcAft>
              <a:buNone/>
            </a:pPr>
            <a:br>
              <a:rPr lang="en-US" sz="1600">
                <a:solidFill>
                  <a:schemeClr val="dk1"/>
                </a:solidFill>
                <a:latin typeface="Helvetica Neue"/>
                <a:ea typeface="Helvetica Neue"/>
                <a:cs typeface="Helvetica Neue"/>
                <a:sym typeface="Helvetica Neue"/>
              </a:rPr>
            </a:br>
            <a:endParaRPr sz="1600">
              <a:solidFill>
                <a:schemeClr val="dk1"/>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2"/>
          <p:cNvSpPr txBox="1"/>
          <p:nvPr>
            <p:ph type="title"/>
          </p:nvPr>
        </p:nvSpPr>
        <p:spPr>
          <a:xfrm>
            <a:off x="2600379" y="2771067"/>
            <a:ext cx="6604581" cy="1499616"/>
          </a:xfrm>
          <a:prstGeom prst="rect">
            <a:avLst/>
          </a:prstGeom>
          <a:noFill/>
          <a:ln>
            <a:noFill/>
          </a:ln>
        </p:spPr>
        <p:txBody>
          <a:bodyPr anchorCtr="0" anchor="ctr" bIns="0" lIns="0" spcFirstLastPara="1" rIns="0" wrap="square" tIns="0">
            <a:normAutofit/>
          </a:bodyPr>
          <a:lstStyle/>
          <a:p>
            <a:pPr indent="0" lvl="0" marL="0" rtl="0" algn="ctr">
              <a:spcBef>
                <a:spcPts val="0"/>
              </a:spcBef>
              <a:spcAft>
                <a:spcPts val="0"/>
              </a:spcAft>
              <a:buClr>
                <a:schemeClr val="dk1"/>
              </a:buClr>
              <a:buSzPts val="3900"/>
              <a:buFont typeface="Helvetica Neue"/>
              <a:buNone/>
            </a:pPr>
            <a:r>
              <a:rPr lang="en-US">
                <a:latin typeface="Helvetica Neue"/>
                <a:ea typeface="Helvetica Neue"/>
                <a:cs typeface="Helvetica Neue"/>
                <a:sym typeface="Helvetica Neue"/>
              </a:rPr>
              <a:t>Implementation In JAVA</a:t>
            </a:r>
            <a:endParaRPr/>
          </a:p>
        </p:txBody>
      </p:sp>
      <p:sp>
        <p:nvSpPr>
          <p:cNvPr id="192" name="Google Shape;192;p12"/>
          <p:cNvSpPr txBox="1"/>
          <p:nvPr>
            <p:ph idx="10" type="dt"/>
          </p:nvPr>
        </p:nvSpPr>
        <p:spPr>
          <a:xfrm>
            <a:off x="609600" y="6356351"/>
            <a:ext cx="2844800" cy="365125"/>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a:t>
            </a:r>
            <a:endParaRPr/>
          </a:p>
        </p:txBody>
      </p:sp>
      <p:pic>
        <p:nvPicPr>
          <p:cNvPr descr="Strategy Pattern UML Diagram" id="198" name="Google Shape;198;p13"/>
          <p:cNvPicPr preferRelativeResize="0"/>
          <p:nvPr>
            <p:ph idx="1" type="body"/>
          </p:nvPr>
        </p:nvPicPr>
        <p:blipFill rotWithShape="1">
          <a:blip r:embed="rId3">
            <a:alphaModFix/>
          </a:blip>
          <a:srcRect b="0" l="0" r="0" t="0"/>
          <a:stretch/>
        </p:blipFill>
        <p:spPr>
          <a:xfrm>
            <a:off x="2533580" y="1774190"/>
            <a:ext cx="6701168" cy="384120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descr="Screen Clipping" id="203" name="Google Shape;203;p14"/>
          <p:cNvPicPr preferRelativeResize="0"/>
          <p:nvPr/>
        </p:nvPicPr>
        <p:blipFill rotWithShape="1">
          <a:blip r:embed="rId3">
            <a:alphaModFix/>
          </a:blip>
          <a:srcRect b="0" l="0" r="0" t="0"/>
          <a:stretch/>
        </p:blipFill>
        <p:spPr>
          <a:xfrm>
            <a:off x="325316" y="182876"/>
            <a:ext cx="3810532" cy="1305107"/>
          </a:xfrm>
          <a:prstGeom prst="rect">
            <a:avLst/>
          </a:prstGeom>
          <a:noFill/>
          <a:ln>
            <a:noFill/>
          </a:ln>
          <a:effectLst>
            <a:outerShdw blurRad="292100" rotWithShape="0" algn="tl" dir="2700000" dist="139700">
              <a:srgbClr val="333333">
                <a:alpha val="64705"/>
              </a:srgbClr>
            </a:outerShdw>
          </a:effectLst>
        </p:spPr>
      </p:pic>
      <p:pic>
        <p:nvPicPr>
          <p:cNvPr descr="Screen Clipping" id="204" name="Google Shape;204;p14"/>
          <p:cNvPicPr preferRelativeResize="0"/>
          <p:nvPr/>
        </p:nvPicPr>
        <p:blipFill rotWithShape="1">
          <a:blip r:embed="rId4">
            <a:alphaModFix/>
          </a:blip>
          <a:srcRect b="20704" l="0" r="0" t="0"/>
          <a:stretch/>
        </p:blipFill>
        <p:spPr>
          <a:xfrm>
            <a:off x="325316" y="1639026"/>
            <a:ext cx="3872453" cy="1561374"/>
          </a:xfrm>
          <a:prstGeom prst="rect">
            <a:avLst/>
          </a:prstGeom>
          <a:noFill/>
          <a:ln>
            <a:noFill/>
          </a:ln>
          <a:effectLst>
            <a:outerShdw blurRad="292100" rotWithShape="0" algn="tl" dir="2700000" dist="139700">
              <a:srgbClr val="333333">
                <a:alpha val="64705"/>
              </a:srgbClr>
            </a:outerShdw>
          </a:effectLst>
        </p:spPr>
      </p:pic>
      <p:pic>
        <p:nvPicPr>
          <p:cNvPr descr="Screen Clipping" id="205" name="Google Shape;205;p14"/>
          <p:cNvPicPr preferRelativeResize="0"/>
          <p:nvPr/>
        </p:nvPicPr>
        <p:blipFill rotWithShape="1">
          <a:blip r:embed="rId5">
            <a:alphaModFix/>
          </a:blip>
          <a:srcRect b="0" l="0" r="0" t="0"/>
          <a:stretch/>
        </p:blipFill>
        <p:spPr>
          <a:xfrm>
            <a:off x="325316" y="3429000"/>
            <a:ext cx="3928763" cy="1437352"/>
          </a:xfrm>
          <a:prstGeom prst="rect">
            <a:avLst/>
          </a:prstGeom>
          <a:noFill/>
          <a:ln>
            <a:noFill/>
          </a:ln>
          <a:effectLst>
            <a:outerShdw blurRad="292100" rotWithShape="0" algn="tl" dir="2700000" dist="139700">
              <a:srgbClr val="333333">
                <a:alpha val="64705"/>
              </a:srgbClr>
            </a:outerShdw>
          </a:effectLst>
        </p:spPr>
      </p:pic>
      <p:pic>
        <p:nvPicPr>
          <p:cNvPr descr="Screen Clipping" id="206" name="Google Shape;206;p14"/>
          <p:cNvPicPr preferRelativeResize="0"/>
          <p:nvPr/>
        </p:nvPicPr>
        <p:blipFill rotWithShape="1">
          <a:blip r:embed="rId6">
            <a:alphaModFix/>
          </a:blip>
          <a:srcRect b="0" l="0" r="0" t="0"/>
          <a:stretch/>
        </p:blipFill>
        <p:spPr>
          <a:xfrm>
            <a:off x="325316" y="5094952"/>
            <a:ext cx="3928763" cy="1424619"/>
          </a:xfrm>
          <a:prstGeom prst="rect">
            <a:avLst/>
          </a:prstGeom>
          <a:noFill/>
          <a:ln>
            <a:noFill/>
          </a:ln>
          <a:effectLst>
            <a:outerShdw blurRad="292100" rotWithShape="0" algn="tl" dir="2700000" dist="139700">
              <a:srgbClr val="333333">
                <a:alpha val="64705"/>
              </a:srgbClr>
            </a:outerShdw>
          </a:effectLst>
        </p:spPr>
      </p:pic>
      <p:pic>
        <p:nvPicPr>
          <p:cNvPr descr="Screen Clipping" id="207" name="Google Shape;207;p14"/>
          <p:cNvPicPr preferRelativeResize="0"/>
          <p:nvPr/>
        </p:nvPicPr>
        <p:blipFill rotWithShape="1">
          <a:blip r:embed="rId7">
            <a:alphaModFix/>
          </a:blip>
          <a:srcRect b="0" l="0" r="0" t="0"/>
          <a:stretch/>
        </p:blipFill>
        <p:spPr>
          <a:xfrm>
            <a:off x="4494207" y="69791"/>
            <a:ext cx="4267407" cy="3019118"/>
          </a:xfrm>
          <a:prstGeom prst="rect">
            <a:avLst/>
          </a:prstGeom>
          <a:noFill/>
          <a:ln>
            <a:noFill/>
          </a:ln>
          <a:effectLst>
            <a:outerShdw blurRad="292100" rotWithShape="0" algn="tl" dir="2700000" dist="139700">
              <a:srgbClr val="333333">
                <a:alpha val="64705"/>
              </a:srgbClr>
            </a:outerShdw>
          </a:effectLst>
        </p:spPr>
      </p:pic>
      <p:pic>
        <p:nvPicPr>
          <p:cNvPr descr="Screen Clipping" id="208" name="Google Shape;208;p14"/>
          <p:cNvPicPr preferRelativeResize="0"/>
          <p:nvPr/>
        </p:nvPicPr>
        <p:blipFill rotWithShape="1">
          <a:blip r:embed="rId8">
            <a:alphaModFix/>
          </a:blip>
          <a:srcRect b="0" l="0" r="0" t="0"/>
          <a:stretch/>
        </p:blipFill>
        <p:spPr>
          <a:xfrm>
            <a:off x="4494207" y="3200400"/>
            <a:ext cx="5801535" cy="3210373"/>
          </a:xfrm>
          <a:prstGeom prst="rect">
            <a:avLst/>
          </a:prstGeom>
          <a:noFill/>
          <a:ln>
            <a:noFill/>
          </a:ln>
          <a:effectLst>
            <a:outerShdw blurRad="292100" rotWithShape="0" algn="tl" dir="2700000" dist="139700">
              <a:srgbClr val="333333">
                <a:alpha val="64705"/>
              </a:srgbClr>
            </a:outerShdw>
          </a:effectLst>
        </p:spPr>
      </p:pic>
      <p:pic>
        <p:nvPicPr>
          <p:cNvPr descr="Screen Clipping" id="209" name="Google Shape;209;p14"/>
          <p:cNvPicPr preferRelativeResize="0"/>
          <p:nvPr/>
        </p:nvPicPr>
        <p:blipFill rotWithShape="1">
          <a:blip r:embed="rId9">
            <a:alphaModFix/>
          </a:blip>
          <a:srcRect b="0" l="0" r="0" t="0"/>
          <a:stretch/>
        </p:blipFill>
        <p:spPr>
          <a:xfrm>
            <a:off x="9456927" y="555187"/>
            <a:ext cx="1677629" cy="2166938"/>
          </a:xfrm>
          <a:prstGeom prst="rect">
            <a:avLst/>
          </a:prstGeom>
          <a:noFill/>
          <a:ln cap="sq" cmpd="thickThin" w="228600">
            <a:solidFill>
              <a:srgbClr val="000000"/>
            </a:solidFill>
            <a:prstDash val="solid"/>
            <a:miter lim="800000"/>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Difference between Factory and Strategy</a:t>
            </a:r>
            <a:endParaRPr/>
          </a:p>
        </p:txBody>
      </p:sp>
      <p:sp>
        <p:nvSpPr>
          <p:cNvPr id="215" name="Google Shape;215;p1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B0F0"/>
              </a:buClr>
              <a:buSzPts val="2200"/>
              <a:buChar char="•"/>
            </a:pPr>
            <a:r>
              <a:rPr lang="en-US">
                <a:solidFill>
                  <a:srgbClr val="00B0F0"/>
                </a:solidFill>
                <a:latin typeface="Helvetica Neue"/>
                <a:ea typeface="Helvetica Neue"/>
                <a:cs typeface="Helvetica Neue"/>
                <a:sym typeface="Helvetica Neue"/>
              </a:rPr>
              <a:t>The Factory Pattern.</a:t>
            </a:r>
            <a:endParaRPr/>
          </a:p>
          <a:p>
            <a:pPr indent="-285750" lvl="1" marL="742950" rtl="0" algn="just">
              <a:spcBef>
                <a:spcPts val="400"/>
              </a:spcBef>
              <a:spcAft>
                <a:spcPts val="0"/>
              </a:spcAft>
              <a:buClr>
                <a:schemeClr val="dk1"/>
              </a:buClr>
              <a:buSzPts val="2000"/>
              <a:buChar char="–"/>
            </a:pPr>
            <a:r>
              <a:rPr lang="en-US">
                <a:latin typeface="Helvetica Neue"/>
                <a:ea typeface="Helvetica Neue"/>
                <a:cs typeface="Helvetica Neue"/>
                <a:sym typeface="Helvetica Neue"/>
              </a:rPr>
              <a:t>Create concrete instances only. Different arguments may result in different objects. It depends on the logic etc.</a:t>
            </a:r>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a:p>
            <a:pPr indent="-342900" lvl="0" marL="342900" rtl="0" algn="l">
              <a:spcBef>
                <a:spcPts val="440"/>
              </a:spcBef>
              <a:spcAft>
                <a:spcPts val="0"/>
              </a:spcAft>
              <a:buClr>
                <a:srgbClr val="00B0F0"/>
              </a:buClr>
              <a:buSzPts val="2200"/>
              <a:buChar char="•"/>
            </a:pPr>
            <a:r>
              <a:rPr lang="en-US">
                <a:solidFill>
                  <a:srgbClr val="00B0F0"/>
                </a:solidFill>
                <a:latin typeface="Helvetica Neue"/>
                <a:ea typeface="Helvetica Neue"/>
                <a:cs typeface="Helvetica Neue"/>
                <a:sym typeface="Helvetica Neue"/>
              </a:rPr>
              <a:t>The Strategy Pattern.</a:t>
            </a:r>
            <a:endParaRPr/>
          </a:p>
          <a:p>
            <a:pPr indent="-285750" lvl="1" marL="742950" rtl="0" algn="just">
              <a:spcBef>
                <a:spcPts val="400"/>
              </a:spcBef>
              <a:spcAft>
                <a:spcPts val="0"/>
              </a:spcAft>
              <a:buClr>
                <a:schemeClr val="dk1"/>
              </a:buClr>
              <a:buSzPts val="2000"/>
              <a:buChar char="–"/>
            </a:pPr>
            <a:r>
              <a:rPr lang="en-US">
                <a:latin typeface="Helvetica Neue"/>
                <a:ea typeface="Helvetica Neue"/>
                <a:cs typeface="Helvetica Neue"/>
                <a:sym typeface="Helvetica Neue"/>
              </a:rPr>
              <a:t>Encapsulate the algorithm ( steps ) to perform an action. So you can change the strategy and use another algorithm.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Observer Pattern</a:t>
            </a:r>
            <a:endParaRPr/>
          </a:p>
        </p:txBody>
      </p:sp>
      <p:sp>
        <p:nvSpPr>
          <p:cNvPr id="221" name="Google Shape;221;p16"/>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2000"/>
              <a:buChar char="•"/>
            </a:pPr>
            <a:r>
              <a:rPr lang="en-US" sz="2000">
                <a:latin typeface="Helvetica Neue"/>
                <a:ea typeface="Helvetica Neue"/>
                <a:cs typeface="Helvetica Neue"/>
                <a:sym typeface="Helvetica Neue"/>
              </a:rPr>
              <a:t>The Observer Design Pattern maintains one-to-many dependency between Subject (Observable) and its dependents (Observer) in such a way that whenever state of Subject changes, its dependents get notified.</a:t>
            </a:r>
            <a:endParaRPr/>
          </a:p>
          <a:p>
            <a:pPr indent="-215900" lvl="0" marL="342900" rtl="0" algn="just">
              <a:spcBef>
                <a:spcPts val="400"/>
              </a:spcBef>
              <a:spcAft>
                <a:spcPts val="0"/>
              </a:spcAft>
              <a:buClr>
                <a:schemeClr val="dk1"/>
              </a:buClr>
              <a:buSzPts val="2000"/>
              <a:buNone/>
            </a:pPr>
            <a:r>
              <a:t/>
            </a:r>
            <a:endParaRPr sz="2000">
              <a:latin typeface="Helvetica Neue"/>
              <a:ea typeface="Helvetica Neue"/>
              <a:cs typeface="Helvetica Neue"/>
              <a:sym typeface="Helvetica Neue"/>
            </a:endParaRPr>
          </a:p>
          <a:p>
            <a:pPr indent="-342900" lvl="0" marL="342900" rtl="0" algn="just">
              <a:spcBef>
                <a:spcPts val="400"/>
              </a:spcBef>
              <a:spcAft>
                <a:spcPts val="0"/>
              </a:spcAft>
              <a:buClr>
                <a:schemeClr val="dk1"/>
              </a:buClr>
              <a:buSzPts val="2000"/>
              <a:buChar char="•"/>
            </a:pPr>
            <a:r>
              <a:rPr lang="en-US" sz="2000">
                <a:latin typeface="Helvetica Neue"/>
                <a:ea typeface="Helvetica Neue"/>
                <a:cs typeface="Helvetica Neue"/>
                <a:sym typeface="Helvetica Neue"/>
              </a:rPr>
              <a:t>The Observer Design Pattern is a design pattern in which an object, called the subject, maintains a list of its dependents, called observers, and notifies them automatically of any state changes, usually by calling one of their methods. </a:t>
            </a:r>
            <a:endParaRPr/>
          </a:p>
          <a:p>
            <a:pPr indent="-215900" lvl="0" marL="342900" rtl="0" algn="just">
              <a:spcBef>
                <a:spcPts val="400"/>
              </a:spcBef>
              <a:spcAft>
                <a:spcPts val="0"/>
              </a:spcAft>
              <a:buClr>
                <a:schemeClr val="dk1"/>
              </a:buClr>
              <a:buSzPts val="2000"/>
              <a:buNone/>
            </a:pPr>
            <a:r>
              <a:t/>
            </a:r>
            <a:endParaRPr sz="2000">
              <a:latin typeface="Helvetica Neue"/>
              <a:ea typeface="Helvetica Neue"/>
              <a:cs typeface="Helvetica Neue"/>
              <a:sym typeface="Helvetica Neue"/>
            </a:endParaRPr>
          </a:p>
          <a:p>
            <a:pPr indent="-342900" lvl="0" marL="342900" rtl="0" algn="just">
              <a:spcBef>
                <a:spcPts val="400"/>
              </a:spcBef>
              <a:spcAft>
                <a:spcPts val="0"/>
              </a:spcAft>
              <a:buClr>
                <a:schemeClr val="dk1"/>
              </a:buClr>
              <a:buSzPts val="2000"/>
              <a:buChar char="•"/>
            </a:pPr>
            <a:r>
              <a:rPr lang="en-US" sz="2000">
                <a:latin typeface="Helvetica Neue"/>
                <a:ea typeface="Helvetica Neue"/>
                <a:cs typeface="Helvetica Neue"/>
                <a:sym typeface="Helvetica Neue"/>
              </a:rPr>
              <a:t>The Observer Design Pattern is used when we like to have notification upon changes in the objects state.</a:t>
            </a:r>
            <a:endParaRPr/>
          </a:p>
          <a:p>
            <a:pPr indent="-215900" lvl="0" marL="342900" rtl="0" algn="just">
              <a:spcBef>
                <a:spcPts val="400"/>
              </a:spcBef>
              <a:spcAft>
                <a:spcPts val="0"/>
              </a:spcAft>
              <a:buClr>
                <a:schemeClr val="dk1"/>
              </a:buClr>
              <a:buSzPts val="2000"/>
              <a:buNone/>
            </a:pPr>
            <a:r>
              <a:t/>
            </a:r>
            <a:endParaRPr sz="2000">
              <a:latin typeface="Helvetica Neue"/>
              <a:ea typeface="Helvetica Neue"/>
              <a:cs typeface="Helvetica Neue"/>
              <a:sym typeface="Helvetica Neue"/>
            </a:endParaRPr>
          </a:p>
          <a:p>
            <a:pPr indent="-342900" lvl="0" marL="342900" rtl="0" algn="just">
              <a:spcBef>
                <a:spcPts val="400"/>
              </a:spcBef>
              <a:spcAft>
                <a:spcPts val="0"/>
              </a:spcAft>
              <a:buClr>
                <a:schemeClr val="dk1"/>
              </a:buClr>
              <a:buSzPts val="2000"/>
              <a:buChar char="•"/>
            </a:pPr>
            <a:r>
              <a:rPr lang="en-US" sz="2000">
                <a:latin typeface="Helvetica Neue"/>
                <a:ea typeface="Helvetica Neue"/>
                <a:cs typeface="Helvetica Neue"/>
                <a:sym typeface="Helvetica Neue"/>
              </a:rPr>
              <a:t>The Observer Design Pattern is one of twenty-three well known Gang of Four design patterns that defines an one-to-many dependency objects so that when one object changes state, all of its dependents get notified and updated automatically.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Helvetica Neue"/>
              <a:buNone/>
            </a:pPr>
            <a:r>
              <a:rPr lang="en-US" sz="3600">
                <a:latin typeface="Helvetica Neue"/>
                <a:ea typeface="Helvetica Neue"/>
                <a:cs typeface="Helvetica Neue"/>
                <a:sym typeface="Helvetica Neue"/>
              </a:rPr>
              <a:t>Real world example of observer pattern</a:t>
            </a:r>
            <a:endParaRPr/>
          </a:p>
        </p:txBody>
      </p:sp>
      <p:sp>
        <p:nvSpPr>
          <p:cNvPr id="227" name="Google Shape;227;p17"/>
          <p:cNvSpPr/>
          <p:nvPr/>
        </p:nvSpPr>
        <p:spPr>
          <a:xfrm>
            <a:off x="825190" y="1882764"/>
            <a:ext cx="10838986" cy="147732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Helvetica Neue"/>
                <a:ea typeface="Helvetica Neue"/>
                <a:cs typeface="Helvetica Neue"/>
                <a:sym typeface="Helvetica Neue"/>
              </a:rPr>
              <a:t>A real world example of observer pattern can be any social media platform such as Facebook or twitter. When a person updates his status – all his followers gets the notification.</a:t>
            </a:r>
            <a:endParaRPr/>
          </a:p>
          <a:p>
            <a:pPr indent="-171450" lvl="0" marL="285750" marR="0" rtl="0" algn="just">
              <a:spcBef>
                <a:spcPts val="0"/>
              </a:spcBef>
              <a:spcAft>
                <a:spcPts val="0"/>
              </a:spcAft>
              <a:buClr>
                <a:schemeClr val="dk1"/>
              </a:buClr>
              <a:buSzPts val="1800"/>
              <a:buFont typeface="Arial"/>
              <a:buNone/>
            </a:pPr>
            <a:r>
              <a:t/>
            </a:r>
            <a:endParaRPr sz="1800">
              <a:solidFill>
                <a:schemeClr val="dk1"/>
              </a:solidFill>
              <a:latin typeface="Helvetica Neue"/>
              <a:ea typeface="Helvetica Neue"/>
              <a:cs typeface="Helvetica Neue"/>
              <a:sym typeface="Helvetica Neue"/>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Helvetica Neue"/>
                <a:ea typeface="Helvetica Neue"/>
                <a:cs typeface="Helvetica Neue"/>
                <a:sym typeface="Helvetica Neue"/>
              </a:rPr>
              <a:t>A follower can follow or unfollow another person at any point of time. Once unfollowed, person will not get the notifications from subject in future.</a:t>
            </a:r>
            <a:endParaRPr/>
          </a:p>
        </p:txBody>
      </p:sp>
      <p:pic>
        <p:nvPicPr>
          <p:cNvPr id="228" name="Google Shape;228;p17"/>
          <p:cNvPicPr preferRelativeResize="0"/>
          <p:nvPr>
            <p:ph idx="1" type="body"/>
          </p:nvPr>
        </p:nvPicPr>
        <p:blipFill rotWithShape="1">
          <a:blip r:embed="rId3">
            <a:alphaModFix/>
          </a:blip>
          <a:srcRect b="0" l="0" r="0" t="0"/>
          <a:stretch/>
        </p:blipFill>
        <p:spPr>
          <a:xfrm>
            <a:off x="5262488" y="3623080"/>
            <a:ext cx="5711590" cy="281117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8"/>
          <p:cNvSpPr txBox="1"/>
          <p:nvPr>
            <p:ph type="title"/>
          </p:nvPr>
        </p:nvSpPr>
        <p:spPr>
          <a:xfrm>
            <a:off x="1981200" y="533400"/>
            <a:ext cx="7543800" cy="80803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Subject &amp; Observer</a:t>
            </a:r>
            <a:endParaRPr/>
          </a:p>
        </p:txBody>
      </p:sp>
      <p:sp>
        <p:nvSpPr>
          <p:cNvPr id="234" name="Google Shape;234;p18"/>
          <p:cNvSpPr txBox="1"/>
          <p:nvPr>
            <p:ph idx="1" type="body"/>
          </p:nvPr>
        </p:nvSpPr>
        <p:spPr>
          <a:xfrm>
            <a:off x="781396" y="1600201"/>
            <a:ext cx="10515600" cy="478397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B0F0"/>
              </a:buClr>
              <a:buSzPts val="2200"/>
              <a:buChar char="•"/>
            </a:pPr>
            <a:r>
              <a:rPr b="1" lang="en-US">
                <a:solidFill>
                  <a:srgbClr val="00B0F0"/>
                </a:solidFill>
                <a:latin typeface="Helvetica Neue"/>
                <a:ea typeface="Helvetica Neue"/>
                <a:cs typeface="Helvetica Neue"/>
                <a:sym typeface="Helvetica Neue"/>
              </a:rPr>
              <a:t>Subject</a:t>
            </a:r>
            <a:endParaRPr/>
          </a:p>
          <a:p>
            <a:pPr indent="-285750" lvl="1" marL="742950" rtl="0" algn="just">
              <a:spcBef>
                <a:spcPts val="400"/>
              </a:spcBef>
              <a:spcAft>
                <a:spcPts val="0"/>
              </a:spcAft>
              <a:buClr>
                <a:schemeClr val="dk1"/>
              </a:buClr>
              <a:buSzPts val="2000"/>
              <a:buChar char="–"/>
            </a:pPr>
            <a:r>
              <a:rPr lang="en-US">
                <a:latin typeface="Helvetica Neue"/>
                <a:ea typeface="Helvetica Neue"/>
                <a:cs typeface="Helvetica Neue"/>
                <a:sym typeface="Helvetica Neue"/>
              </a:rPr>
              <a:t>the object which will frequently change its state and upon which other objects depend</a:t>
            </a:r>
            <a:endParaRPr/>
          </a:p>
          <a:p>
            <a:pPr indent="-285750" lvl="1" marL="742950" rtl="0" algn="l">
              <a:spcBef>
                <a:spcPts val="400"/>
              </a:spcBef>
              <a:spcAft>
                <a:spcPts val="0"/>
              </a:spcAft>
              <a:buClr>
                <a:schemeClr val="dk1"/>
              </a:buClr>
              <a:buSzPts val="2000"/>
              <a:buFont typeface="Noto Sans Symbols"/>
              <a:buNone/>
            </a:pPr>
            <a:r>
              <a:t/>
            </a:r>
            <a:endParaRPr>
              <a:latin typeface="Helvetica Neue"/>
              <a:ea typeface="Helvetica Neue"/>
              <a:cs typeface="Helvetica Neue"/>
              <a:sym typeface="Helvetica Neue"/>
            </a:endParaRPr>
          </a:p>
          <a:p>
            <a:pPr indent="-342900" lvl="0" marL="342900" rtl="0" algn="l">
              <a:spcBef>
                <a:spcPts val="440"/>
              </a:spcBef>
              <a:spcAft>
                <a:spcPts val="0"/>
              </a:spcAft>
              <a:buClr>
                <a:srgbClr val="00B0F0"/>
              </a:buClr>
              <a:buSzPts val="2200"/>
              <a:buChar char="•"/>
            </a:pPr>
            <a:r>
              <a:rPr b="1" lang="en-US">
                <a:solidFill>
                  <a:srgbClr val="00B0F0"/>
                </a:solidFill>
                <a:latin typeface="Helvetica Neue"/>
                <a:ea typeface="Helvetica Neue"/>
                <a:cs typeface="Helvetica Neue"/>
                <a:sym typeface="Helvetica Neue"/>
              </a:rPr>
              <a:t>Observer</a:t>
            </a:r>
            <a:endParaRPr/>
          </a:p>
          <a:p>
            <a:pPr indent="-285750" lvl="1" marL="742950" rtl="0" algn="just">
              <a:spcBef>
                <a:spcPts val="400"/>
              </a:spcBef>
              <a:spcAft>
                <a:spcPts val="0"/>
              </a:spcAft>
              <a:buClr>
                <a:schemeClr val="dk1"/>
              </a:buClr>
              <a:buSzPts val="2000"/>
              <a:buChar char="–"/>
            </a:pPr>
            <a:r>
              <a:rPr lang="en-US">
                <a:latin typeface="Helvetica Neue"/>
                <a:ea typeface="Helvetica Neue"/>
                <a:cs typeface="Helvetica Neue"/>
                <a:sym typeface="Helvetica Neue"/>
              </a:rPr>
              <a:t>the object which depends on a subject and updates according to its subject's state.</a:t>
            </a:r>
            <a:endParaRPr/>
          </a:p>
          <a:p>
            <a:pPr indent="-203200" lvl="0" marL="342900" rtl="0" algn="l">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9"/>
          <p:cNvSpPr txBox="1"/>
          <p:nvPr>
            <p:ph type="title"/>
          </p:nvPr>
        </p:nvSpPr>
        <p:spPr>
          <a:xfrm>
            <a:off x="1981200" y="533400"/>
            <a:ext cx="7543800" cy="655638"/>
          </a:xfrm>
          <a:prstGeom prst="rect">
            <a:avLst/>
          </a:prstGeom>
          <a:noFill/>
          <a:ln>
            <a:noFill/>
          </a:ln>
        </p:spPr>
        <p:txBody>
          <a:bodyPr anchorCtr="0" anchor="ctr" bIns="0" lIns="0" spcFirstLastPara="1" rIns="0" wrap="square" tIns="0">
            <a:normAutofit/>
          </a:bodyPr>
          <a:lstStyle/>
          <a:p>
            <a:pPr indent="0" lvl="0" marL="0" rtl="0" algn="ctr">
              <a:spcBef>
                <a:spcPts val="0"/>
              </a:spcBef>
              <a:spcAft>
                <a:spcPts val="0"/>
              </a:spcAft>
              <a:buClr>
                <a:schemeClr val="dk1"/>
              </a:buClr>
              <a:buSzPts val="3900"/>
              <a:buFont typeface="Twentieth Century"/>
              <a:buNone/>
            </a:pPr>
            <a:r>
              <a:rPr lang="en-US"/>
              <a:t>Observer Pattern - UML</a:t>
            </a:r>
            <a:endParaRPr/>
          </a:p>
        </p:txBody>
      </p:sp>
      <p:sp>
        <p:nvSpPr>
          <p:cNvPr id="241" name="Google Shape;241;p19"/>
          <p:cNvSpPr/>
          <p:nvPr/>
        </p:nvSpPr>
        <p:spPr>
          <a:xfrm>
            <a:off x="1676400" y="1752600"/>
            <a:ext cx="1905000" cy="3810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Comic Sans MS"/>
                <a:ea typeface="Comic Sans MS"/>
                <a:cs typeface="Comic Sans MS"/>
                <a:sym typeface="Comic Sans MS"/>
              </a:rPr>
              <a:t>Subject</a:t>
            </a:r>
            <a:endParaRPr/>
          </a:p>
        </p:txBody>
      </p:sp>
      <p:sp>
        <p:nvSpPr>
          <p:cNvPr id="242" name="Google Shape;242;p19"/>
          <p:cNvSpPr/>
          <p:nvPr/>
        </p:nvSpPr>
        <p:spPr>
          <a:xfrm>
            <a:off x="1676400" y="2133600"/>
            <a:ext cx="1905000" cy="7620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omic Sans MS"/>
                <a:ea typeface="Comic Sans MS"/>
                <a:cs typeface="Comic Sans MS"/>
                <a:sym typeface="Comic Sans MS"/>
              </a:rPr>
              <a:t>Attach(Observer)</a:t>
            </a:r>
            <a:endParaRPr/>
          </a:p>
          <a:p>
            <a:pPr indent="0" lvl="0" marL="0" marR="0" rtl="0" algn="ctr">
              <a:spcBef>
                <a:spcPts val="0"/>
              </a:spcBef>
              <a:spcAft>
                <a:spcPts val="0"/>
              </a:spcAft>
              <a:buNone/>
            </a:pPr>
            <a:r>
              <a:rPr lang="en-US" sz="1600">
                <a:solidFill>
                  <a:schemeClr val="dk1"/>
                </a:solidFill>
                <a:latin typeface="Comic Sans MS"/>
                <a:ea typeface="Comic Sans MS"/>
                <a:cs typeface="Comic Sans MS"/>
                <a:sym typeface="Comic Sans MS"/>
              </a:rPr>
              <a:t>Detach(Observer)</a:t>
            </a:r>
            <a:br>
              <a:rPr lang="en-US" sz="1600">
                <a:solidFill>
                  <a:schemeClr val="dk1"/>
                </a:solidFill>
                <a:latin typeface="Comic Sans MS"/>
                <a:ea typeface="Comic Sans MS"/>
                <a:cs typeface="Comic Sans MS"/>
                <a:sym typeface="Comic Sans MS"/>
              </a:rPr>
            </a:br>
            <a:r>
              <a:rPr lang="en-US" sz="1600">
                <a:solidFill>
                  <a:schemeClr val="dk1"/>
                </a:solidFill>
                <a:latin typeface="Comic Sans MS"/>
                <a:ea typeface="Comic Sans MS"/>
                <a:cs typeface="Comic Sans MS"/>
                <a:sym typeface="Comic Sans MS"/>
              </a:rPr>
              <a:t>Notify()</a:t>
            </a:r>
            <a:endParaRPr b="1" sz="2400">
              <a:solidFill>
                <a:schemeClr val="dk1"/>
              </a:solidFill>
              <a:latin typeface="Comic Sans MS"/>
              <a:ea typeface="Comic Sans MS"/>
              <a:cs typeface="Comic Sans MS"/>
              <a:sym typeface="Comic Sans MS"/>
            </a:endParaRPr>
          </a:p>
        </p:txBody>
      </p:sp>
      <p:sp>
        <p:nvSpPr>
          <p:cNvPr id="243" name="Google Shape;243;p19"/>
          <p:cNvSpPr/>
          <p:nvPr/>
        </p:nvSpPr>
        <p:spPr>
          <a:xfrm>
            <a:off x="1676400" y="4495800"/>
            <a:ext cx="1905000" cy="3810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ConcreteSubject</a:t>
            </a:r>
            <a:endParaRPr/>
          </a:p>
        </p:txBody>
      </p:sp>
      <p:sp>
        <p:nvSpPr>
          <p:cNvPr id="244" name="Google Shape;244;p19"/>
          <p:cNvSpPr/>
          <p:nvPr/>
        </p:nvSpPr>
        <p:spPr>
          <a:xfrm>
            <a:off x="1676400" y="5486400"/>
            <a:ext cx="1905000" cy="3810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omic Sans MS"/>
                <a:ea typeface="Comic Sans MS"/>
                <a:cs typeface="Comic Sans MS"/>
                <a:sym typeface="Comic Sans MS"/>
              </a:rPr>
              <a:t>subjectState</a:t>
            </a:r>
            <a:endParaRPr/>
          </a:p>
        </p:txBody>
      </p:sp>
      <p:sp>
        <p:nvSpPr>
          <p:cNvPr id="245" name="Google Shape;245;p19"/>
          <p:cNvSpPr/>
          <p:nvPr/>
        </p:nvSpPr>
        <p:spPr>
          <a:xfrm>
            <a:off x="1676400" y="4876800"/>
            <a:ext cx="1905000" cy="6096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omic Sans MS"/>
                <a:ea typeface="Comic Sans MS"/>
                <a:cs typeface="Comic Sans MS"/>
                <a:sym typeface="Comic Sans MS"/>
              </a:rPr>
              <a:t>SetState()</a:t>
            </a:r>
            <a:endParaRPr/>
          </a:p>
          <a:p>
            <a:pPr indent="0" lvl="0" marL="0" marR="0" rtl="0" algn="ctr">
              <a:spcBef>
                <a:spcPts val="0"/>
              </a:spcBef>
              <a:spcAft>
                <a:spcPts val="0"/>
              </a:spcAft>
              <a:buNone/>
            </a:pPr>
            <a:r>
              <a:rPr lang="en-US" sz="1600">
                <a:solidFill>
                  <a:schemeClr val="dk1"/>
                </a:solidFill>
                <a:latin typeface="Comic Sans MS"/>
                <a:ea typeface="Comic Sans MS"/>
                <a:cs typeface="Comic Sans MS"/>
                <a:sym typeface="Comic Sans MS"/>
              </a:rPr>
              <a:t>GetState()</a:t>
            </a:r>
            <a:endParaRPr b="1" sz="1600">
              <a:solidFill>
                <a:schemeClr val="dk1"/>
              </a:solidFill>
              <a:latin typeface="Comic Sans MS"/>
              <a:ea typeface="Comic Sans MS"/>
              <a:cs typeface="Comic Sans MS"/>
              <a:sym typeface="Comic Sans MS"/>
            </a:endParaRPr>
          </a:p>
        </p:txBody>
      </p:sp>
      <p:sp>
        <p:nvSpPr>
          <p:cNvPr id="246" name="Google Shape;246;p19"/>
          <p:cNvSpPr/>
          <p:nvPr/>
        </p:nvSpPr>
        <p:spPr>
          <a:xfrm>
            <a:off x="4038600" y="2438400"/>
            <a:ext cx="1905000" cy="9144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Comic Sans MS"/>
                <a:ea typeface="Comic Sans MS"/>
                <a:cs typeface="Comic Sans MS"/>
                <a:sym typeface="Comic Sans MS"/>
              </a:rPr>
              <a:t>for all o in</a:t>
            </a:r>
            <a:endParaRPr/>
          </a:p>
          <a:p>
            <a:pPr indent="0" lvl="0" marL="0" marR="0" rtl="0" algn="l">
              <a:spcBef>
                <a:spcPts val="0"/>
              </a:spcBef>
              <a:spcAft>
                <a:spcPts val="0"/>
              </a:spcAft>
              <a:buNone/>
            </a:pPr>
            <a:r>
              <a:rPr lang="en-US" sz="1600">
                <a:solidFill>
                  <a:schemeClr val="dk1"/>
                </a:solidFill>
                <a:latin typeface="Comic Sans MS"/>
                <a:ea typeface="Comic Sans MS"/>
                <a:cs typeface="Comic Sans MS"/>
                <a:sym typeface="Comic Sans MS"/>
              </a:rPr>
              <a:t>   observers {</a:t>
            </a:r>
            <a:endParaRPr/>
          </a:p>
          <a:p>
            <a:pPr indent="0" lvl="0" marL="0" marR="0" rtl="0" algn="l">
              <a:spcBef>
                <a:spcPts val="0"/>
              </a:spcBef>
              <a:spcAft>
                <a:spcPts val="0"/>
              </a:spcAft>
              <a:buNone/>
            </a:pPr>
            <a:r>
              <a:rPr lang="en-US" sz="1600">
                <a:solidFill>
                  <a:schemeClr val="dk1"/>
                </a:solidFill>
                <a:latin typeface="Comic Sans MS"/>
                <a:ea typeface="Comic Sans MS"/>
                <a:cs typeface="Comic Sans MS"/>
                <a:sym typeface="Comic Sans MS"/>
              </a:rPr>
              <a:t>   o -&gt; Update()}</a:t>
            </a:r>
            <a:endParaRPr b="1" sz="1600">
              <a:solidFill>
                <a:schemeClr val="dk1"/>
              </a:solidFill>
              <a:latin typeface="Comic Sans MS"/>
              <a:ea typeface="Comic Sans MS"/>
              <a:cs typeface="Comic Sans MS"/>
              <a:sym typeface="Comic Sans MS"/>
            </a:endParaRPr>
          </a:p>
        </p:txBody>
      </p:sp>
      <p:cxnSp>
        <p:nvCxnSpPr>
          <p:cNvPr id="247" name="Google Shape;247;p19"/>
          <p:cNvCxnSpPr/>
          <p:nvPr/>
        </p:nvCxnSpPr>
        <p:spPr>
          <a:xfrm rot="10800000">
            <a:off x="2590800" y="2895601"/>
            <a:ext cx="0" cy="1571625"/>
          </a:xfrm>
          <a:prstGeom prst="straightConnector1">
            <a:avLst/>
          </a:prstGeom>
          <a:noFill/>
          <a:ln cap="flat" cmpd="sng" w="28575">
            <a:solidFill>
              <a:schemeClr val="dk1"/>
            </a:solidFill>
            <a:prstDash val="solid"/>
            <a:round/>
            <a:headEnd len="sm" w="sm" type="none"/>
            <a:tailEnd len="sm" w="sm" type="none"/>
          </a:ln>
        </p:spPr>
      </p:cxnSp>
      <p:cxnSp>
        <p:nvCxnSpPr>
          <p:cNvPr id="248" name="Google Shape;248;p19"/>
          <p:cNvCxnSpPr/>
          <p:nvPr/>
        </p:nvCxnSpPr>
        <p:spPr>
          <a:xfrm rot="10800000">
            <a:off x="2590800" y="3200400"/>
            <a:ext cx="0" cy="228600"/>
          </a:xfrm>
          <a:prstGeom prst="straightConnector1">
            <a:avLst/>
          </a:prstGeom>
          <a:noFill/>
          <a:ln cap="flat" cmpd="sng" w="28575">
            <a:solidFill>
              <a:schemeClr val="dk1"/>
            </a:solidFill>
            <a:prstDash val="solid"/>
            <a:round/>
            <a:headEnd len="sm" w="sm" type="none"/>
            <a:tailEnd len="lg" w="lg" type="triangle"/>
          </a:ln>
        </p:spPr>
      </p:cxnSp>
      <p:sp>
        <p:nvSpPr>
          <p:cNvPr id="249" name="Google Shape;249;p19"/>
          <p:cNvSpPr/>
          <p:nvPr/>
        </p:nvSpPr>
        <p:spPr>
          <a:xfrm>
            <a:off x="6096000" y="1752600"/>
            <a:ext cx="1905000" cy="3810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Comic Sans MS"/>
                <a:ea typeface="Comic Sans MS"/>
                <a:cs typeface="Comic Sans MS"/>
                <a:sym typeface="Comic Sans MS"/>
              </a:rPr>
              <a:t>Observer</a:t>
            </a:r>
            <a:endParaRPr/>
          </a:p>
        </p:txBody>
      </p:sp>
      <p:sp>
        <p:nvSpPr>
          <p:cNvPr id="250" name="Google Shape;250;p19"/>
          <p:cNvSpPr/>
          <p:nvPr/>
        </p:nvSpPr>
        <p:spPr>
          <a:xfrm>
            <a:off x="6096000" y="2133600"/>
            <a:ext cx="1905000" cy="3810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Comic Sans MS"/>
                <a:ea typeface="Comic Sans MS"/>
                <a:cs typeface="Comic Sans MS"/>
                <a:sym typeface="Comic Sans MS"/>
              </a:rPr>
              <a:t>Update()</a:t>
            </a:r>
            <a:endParaRPr/>
          </a:p>
        </p:txBody>
      </p:sp>
      <p:sp>
        <p:nvSpPr>
          <p:cNvPr id="251" name="Google Shape;251;p19"/>
          <p:cNvSpPr/>
          <p:nvPr/>
        </p:nvSpPr>
        <p:spPr>
          <a:xfrm>
            <a:off x="5943600" y="1873250"/>
            <a:ext cx="152400" cy="15240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52" name="Google Shape;252;p19"/>
          <p:cNvCxnSpPr>
            <a:stCxn id="241" idx="3"/>
            <a:endCxn id="251" idx="2"/>
          </p:cNvCxnSpPr>
          <p:nvPr/>
        </p:nvCxnSpPr>
        <p:spPr>
          <a:xfrm>
            <a:off x="3581400" y="1943100"/>
            <a:ext cx="2362200" cy="6300"/>
          </a:xfrm>
          <a:prstGeom prst="straightConnector1">
            <a:avLst/>
          </a:prstGeom>
          <a:noFill/>
          <a:ln cap="flat" cmpd="sng" w="28575">
            <a:solidFill>
              <a:schemeClr val="dk1"/>
            </a:solidFill>
            <a:prstDash val="solid"/>
            <a:round/>
            <a:headEnd len="sm" w="sm" type="none"/>
            <a:tailEnd len="sm" w="sm" type="none"/>
          </a:ln>
        </p:spPr>
      </p:cxnSp>
      <p:sp>
        <p:nvSpPr>
          <p:cNvPr id="253" name="Google Shape;253;p19"/>
          <p:cNvSpPr txBox="1"/>
          <p:nvPr/>
        </p:nvSpPr>
        <p:spPr>
          <a:xfrm>
            <a:off x="3886200" y="1524000"/>
            <a:ext cx="1600200" cy="4572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omic Sans MS"/>
                <a:ea typeface="Comic Sans MS"/>
                <a:cs typeface="Comic Sans MS"/>
                <a:sym typeface="Comic Sans MS"/>
              </a:rPr>
              <a:t>observers</a:t>
            </a:r>
            <a:endParaRPr/>
          </a:p>
        </p:txBody>
      </p:sp>
      <p:sp>
        <p:nvSpPr>
          <p:cNvPr id="254" name="Google Shape;254;p19"/>
          <p:cNvSpPr/>
          <p:nvPr/>
        </p:nvSpPr>
        <p:spPr>
          <a:xfrm>
            <a:off x="5715000" y="3657600"/>
            <a:ext cx="2286000" cy="3810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Comic Sans MS"/>
                <a:ea typeface="Comic Sans MS"/>
                <a:cs typeface="Comic Sans MS"/>
                <a:sym typeface="Comic Sans MS"/>
              </a:rPr>
              <a:t>ConcreteObserver</a:t>
            </a:r>
            <a:endParaRPr/>
          </a:p>
        </p:txBody>
      </p:sp>
      <p:sp>
        <p:nvSpPr>
          <p:cNvPr id="255" name="Google Shape;255;p19"/>
          <p:cNvSpPr/>
          <p:nvPr/>
        </p:nvSpPr>
        <p:spPr>
          <a:xfrm>
            <a:off x="8534400" y="3962400"/>
            <a:ext cx="1981200" cy="6096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Comic Sans MS"/>
                <a:ea typeface="Comic Sans MS"/>
                <a:cs typeface="Comic Sans MS"/>
                <a:sym typeface="Comic Sans MS"/>
              </a:rPr>
              <a:t>observerState =</a:t>
            </a:r>
            <a:endParaRPr/>
          </a:p>
          <a:p>
            <a:pPr indent="0" lvl="0" marL="0" marR="0" rtl="0" algn="l">
              <a:spcBef>
                <a:spcPts val="0"/>
              </a:spcBef>
              <a:spcAft>
                <a:spcPts val="0"/>
              </a:spcAft>
              <a:buNone/>
            </a:pPr>
            <a:r>
              <a:rPr b="1" lang="en-US" sz="1400">
                <a:solidFill>
                  <a:schemeClr val="dk1"/>
                </a:solidFill>
                <a:latin typeface="Comic Sans MS"/>
                <a:ea typeface="Comic Sans MS"/>
                <a:cs typeface="Comic Sans MS"/>
                <a:sym typeface="Comic Sans MS"/>
              </a:rPr>
              <a:t>subject-&gt;GetState()</a:t>
            </a:r>
            <a:endParaRPr/>
          </a:p>
        </p:txBody>
      </p:sp>
      <p:sp>
        <p:nvSpPr>
          <p:cNvPr id="256" name="Google Shape;256;p19"/>
          <p:cNvSpPr/>
          <p:nvPr/>
        </p:nvSpPr>
        <p:spPr>
          <a:xfrm>
            <a:off x="5715000" y="4038600"/>
            <a:ext cx="2286000" cy="4572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Comic Sans MS"/>
                <a:ea typeface="Comic Sans MS"/>
                <a:cs typeface="Comic Sans MS"/>
                <a:sym typeface="Comic Sans MS"/>
              </a:rPr>
              <a:t>Update()</a:t>
            </a:r>
            <a:endParaRPr/>
          </a:p>
        </p:txBody>
      </p:sp>
      <p:sp>
        <p:nvSpPr>
          <p:cNvPr id="257" name="Google Shape;257;p19"/>
          <p:cNvSpPr/>
          <p:nvPr/>
        </p:nvSpPr>
        <p:spPr>
          <a:xfrm>
            <a:off x="6934200" y="4191000"/>
            <a:ext cx="152400" cy="152400"/>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58" name="Google Shape;258;p19"/>
          <p:cNvCxnSpPr>
            <a:stCxn id="257" idx="6"/>
            <a:endCxn id="255" idx="1"/>
          </p:cNvCxnSpPr>
          <p:nvPr/>
        </p:nvCxnSpPr>
        <p:spPr>
          <a:xfrm>
            <a:off x="7086600" y="4267200"/>
            <a:ext cx="1447800" cy="0"/>
          </a:xfrm>
          <a:prstGeom prst="straightConnector1">
            <a:avLst/>
          </a:prstGeom>
          <a:noFill/>
          <a:ln cap="flat" cmpd="sng" w="28575">
            <a:solidFill>
              <a:schemeClr val="dk1"/>
            </a:solidFill>
            <a:prstDash val="dot"/>
            <a:round/>
            <a:headEnd len="sm" w="sm" type="none"/>
            <a:tailEnd len="sm" w="sm" type="none"/>
          </a:ln>
        </p:spPr>
      </p:cxnSp>
      <p:sp>
        <p:nvSpPr>
          <p:cNvPr id="259" name="Google Shape;259;p19"/>
          <p:cNvSpPr/>
          <p:nvPr/>
        </p:nvSpPr>
        <p:spPr>
          <a:xfrm>
            <a:off x="5715000" y="4495800"/>
            <a:ext cx="2286000" cy="3810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Comic Sans MS"/>
                <a:ea typeface="Comic Sans MS"/>
                <a:cs typeface="Comic Sans MS"/>
                <a:sym typeface="Comic Sans MS"/>
              </a:rPr>
              <a:t>observerState</a:t>
            </a:r>
            <a:endParaRPr/>
          </a:p>
        </p:txBody>
      </p:sp>
      <p:cxnSp>
        <p:nvCxnSpPr>
          <p:cNvPr id="260" name="Google Shape;260;p19"/>
          <p:cNvCxnSpPr>
            <a:stCxn id="259" idx="1"/>
            <a:endCxn id="243" idx="3"/>
          </p:cNvCxnSpPr>
          <p:nvPr/>
        </p:nvCxnSpPr>
        <p:spPr>
          <a:xfrm rot="10800000">
            <a:off x="3581400" y="4686300"/>
            <a:ext cx="2133600" cy="0"/>
          </a:xfrm>
          <a:prstGeom prst="straightConnector1">
            <a:avLst/>
          </a:prstGeom>
          <a:noFill/>
          <a:ln cap="flat" cmpd="sng" w="28575">
            <a:solidFill>
              <a:schemeClr val="dk1"/>
            </a:solidFill>
            <a:prstDash val="solid"/>
            <a:round/>
            <a:headEnd len="sm" w="sm" type="none"/>
            <a:tailEnd len="med" w="med" type="triangle"/>
          </a:ln>
        </p:spPr>
      </p:cxnSp>
      <p:sp>
        <p:nvSpPr>
          <p:cNvPr id="261" name="Google Shape;261;p19"/>
          <p:cNvSpPr/>
          <p:nvPr/>
        </p:nvSpPr>
        <p:spPr>
          <a:xfrm>
            <a:off x="4419600" y="4953000"/>
            <a:ext cx="2895600" cy="381000"/>
          </a:xfrm>
          <a:prstGeom prst="rect">
            <a:avLst/>
          </a:prstGeom>
          <a:solidFill>
            <a:srgbClr val="99CCFF"/>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return subjectState</a:t>
            </a:r>
            <a:endParaRPr/>
          </a:p>
        </p:txBody>
      </p:sp>
      <p:sp>
        <p:nvSpPr>
          <p:cNvPr id="262" name="Google Shape;262;p19"/>
          <p:cNvSpPr/>
          <p:nvPr/>
        </p:nvSpPr>
        <p:spPr>
          <a:xfrm>
            <a:off x="3200400" y="5072063"/>
            <a:ext cx="152400" cy="152400"/>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63" name="Google Shape;263;p19"/>
          <p:cNvCxnSpPr>
            <a:stCxn id="261" idx="1"/>
            <a:endCxn id="262" idx="6"/>
          </p:cNvCxnSpPr>
          <p:nvPr/>
        </p:nvCxnSpPr>
        <p:spPr>
          <a:xfrm flipH="1">
            <a:off x="3352800" y="5143500"/>
            <a:ext cx="1066800" cy="4800"/>
          </a:xfrm>
          <a:prstGeom prst="straightConnector1">
            <a:avLst/>
          </a:prstGeom>
          <a:noFill/>
          <a:ln cap="flat" cmpd="sng" w="28575">
            <a:solidFill>
              <a:schemeClr val="dk1"/>
            </a:solidFill>
            <a:prstDash val="dot"/>
            <a:round/>
            <a:headEnd len="sm" w="sm" type="none"/>
            <a:tailEnd len="sm" w="sm" type="none"/>
          </a:ln>
        </p:spPr>
      </p:cxnSp>
      <p:cxnSp>
        <p:nvCxnSpPr>
          <p:cNvPr id="264" name="Google Shape;264;p19"/>
          <p:cNvCxnSpPr>
            <a:stCxn id="254" idx="0"/>
            <a:endCxn id="265" idx="2"/>
          </p:cNvCxnSpPr>
          <p:nvPr/>
        </p:nvCxnSpPr>
        <p:spPr>
          <a:xfrm rot="10800000">
            <a:off x="6858000" y="2514600"/>
            <a:ext cx="0" cy="1143000"/>
          </a:xfrm>
          <a:prstGeom prst="straightConnector1">
            <a:avLst/>
          </a:prstGeom>
          <a:noFill/>
          <a:ln cap="flat" cmpd="sng" w="28575">
            <a:solidFill>
              <a:schemeClr val="dk1"/>
            </a:solidFill>
            <a:prstDash val="solid"/>
            <a:round/>
            <a:headEnd len="sm" w="sm" type="none"/>
            <a:tailEnd len="sm" w="sm" type="none"/>
          </a:ln>
        </p:spPr>
      </p:cxnSp>
      <p:cxnSp>
        <p:nvCxnSpPr>
          <p:cNvPr id="266" name="Google Shape;266;p19"/>
          <p:cNvCxnSpPr/>
          <p:nvPr/>
        </p:nvCxnSpPr>
        <p:spPr>
          <a:xfrm rot="10800000">
            <a:off x="6858000" y="2819400"/>
            <a:ext cx="0" cy="228600"/>
          </a:xfrm>
          <a:prstGeom prst="straightConnector1">
            <a:avLst/>
          </a:prstGeom>
          <a:noFill/>
          <a:ln cap="flat" cmpd="sng" w="28575">
            <a:solidFill>
              <a:schemeClr val="dk1"/>
            </a:solidFill>
            <a:prstDash val="solid"/>
            <a:round/>
            <a:headEnd len="sm" w="sm" type="none"/>
            <a:tailEnd len="lg" w="lg" type="triangle"/>
          </a:ln>
        </p:spPr>
      </p:cxnSp>
      <p:sp>
        <p:nvSpPr>
          <p:cNvPr id="265" name="Google Shape;265;p19"/>
          <p:cNvSpPr/>
          <p:nvPr/>
        </p:nvSpPr>
        <p:spPr>
          <a:xfrm>
            <a:off x="6705600" y="2362200"/>
            <a:ext cx="304800" cy="152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9"/>
          <p:cNvSpPr txBox="1"/>
          <p:nvPr/>
        </p:nvSpPr>
        <p:spPr>
          <a:xfrm>
            <a:off x="4129088" y="4191000"/>
            <a:ext cx="1263650" cy="4572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omic Sans MS"/>
                <a:ea typeface="Comic Sans MS"/>
                <a:cs typeface="Comic Sans MS"/>
                <a:sym typeface="Comic Sans MS"/>
              </a:rPr>
              <a:t>subject</a:t>
            </a:r>
            <a:endParaRPr/>
          </a:p>
        </p:txBody>
      </p:sp>
      <p:sp>
        <p:nvSpPr>
          <p:cNvPr id="268" name="Google Shape;268;p19"/>
          <p:cNvSpPr/>
          <p:nvPr/>
        </p:nvSpPr>
        <p:spPr>
          <a:xfrm>
            <a:off x="3111500" y="2667000"/>
            <a:ext cx="152400" cy="152400"/>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69" name="Google Shape;269;p19"/>
          <p:cNvCxnSpPr>
            <a:stCxn id="268" idx="6"/>
          </p:cNvCxnSpPr>
          <p:nvPr/>
        </p:nvCxnSpPr>
        <p:spPr>
          <a:xfrm>
            <a:off x="3263900" y="2743200"/>
            <a:ext cx="735000" cy="1500"/>
          </a:xfrm>
          <a:prstGeom prst="straightConnector1">
            <a:avLst/>
          </a:prstGeom>
          <a:noFill/>
          <a:ln cap="flat" cmpd="sng" w="28575">
            <a:solidFill>
              <a:schemeClr val="dk1"/>
            </a:solidFill>
            <a:prstDash val="dot"/>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275" name="Google Shape;275;p20"/>
          <p:cNvPicPr preferRelativeResize="0"/>
          <p:nvPr/>
        </p:nvPicPr>
        <p:blipFill rotWithShape="1">
          <a:blip r:embed="rId3">
            <a:alphaModFix/>
          </a:blip>
          <a:srcRect b="0" l="0" r="0" t="0"/>
          <a:stretch/>
        </p:blipFill>
        <p:spPr>
          <a:xfrm>
            <a:off x="1830185" y="1786196"/>
            <a:ext cx="8178338" cy="438125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1"/>
          <p:cNvSpPr/>
          <p:nvPr/>
        </p:nvSpPr>
        <p:spPr>
          <a:xfrm>
            <a:off x="454428" y="77323"/>
            <a:ext cx="6336898"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600">
                <a:solidFill>
                  <a:srgbClr val="244061"/>
                </a:solidFill>
                <a:latin typeface="Helvetica Neue"/>
                <a:ea typeface="Helvetica Neue"/>
                <a:cs typeface="Helvetica Neue"/>
                <a:sym typeface="Helvetica Neue"/>
              </a:rPr>
              <a:t>Suppose there are some public figures like politicians or celebrities for which there are some followers.  Whenever these public figures do any tweet, there registered followers get the notification on that. </a:t>
            </a:r>
            <a:endParaRPr/>
          </a:p>
        </p:txBody>
      </p:sp>
      <p:pic>
        <p:nvPicPr>
          <p:cNvPr descr="Screen Clipping" id="282" name="Google Shape;282;p21"/>
          <p:cNvPicPr preferRelativeResize="0"/>
          <p:nvPr/>
        </p:nvPicPr>
        <p:blipFill rotWithShape="1">
          <a:blip r:embed="rId3">
            <a:alphaModFix/>
          </a:blip>
          <a:srcRect b="0" l="0" r="0" t="14946"/>
          <a:stretch/>
        </p:blipFill>
        <p:spPr>
          <a:xfrm>
            <a:off x="785546" y="1238250"/>
            <a:ext cx="4413356" cy="1628775"/>
          </a:xfrm>
          <a:prstGeom prst="rect">
            <a:avLst/>
          </a:prstGeom>
          <a:noFill/>
          <a:ln>
            <a:noFill/>
          </a:ln>
          <a:effectLst>
            <a:outerShdw blurRad="292100" rotWithShape="0" algn="tl" dir="2700000" dist="139700">
              <a:srgbClr val="333333">
                <a:alpha val="64705"/>
              </a:srgbClr>
            </a:outerShdw>
          </a:effectLst>
        </p:spPr>
      </p:pic>
      <p:pic>
        <p:nvPicPr>
          <p:cNvPr descr="Screen Clipping" id="283" name="Google Shape;283;p21"/>
          <p:cNvPicPr preferRelativeResize="0"/>
          <p:nvPr/>
        </p:nvPicPr>
        <p:blipFill rotWithShape="1">
          <a:blip r:embed="rId4">
            <a:alphaModFix/>
          </a:blip>
          <a:srcRect b="0" l="0" r="0" t="0"/>
          <a:stretch/>
        </p:blipFill>
        <p:spPr>
          <a:xfrm>
            <a:off x="652196" y="3376561"/>
            <a:ext cx="5010849" cy="733527"/>
          </a:xfrm>
          <a:prstGeom prst="rect">
            <a:avLst/>
          </a:prstGeom>
          <a:noFill/>
          <a:ln>
            <a:noFill/>
          </a:ln>
          <a:effectLst>
            <a:outerShdw blurRad="292100" rotWithShape="0" algn="tl" dir="2700000" dist="139700">
              <a:srgbClr val="333333">
                <a:alpha val="64705"/>
              </a:srgbClr>
            </a:outerShdw>
          </a:effectLst>
        </p:spPr>
      </p:pic>
      <p:pic>
        <p:nvPicPr>
          <p:cNvPr descr="Screen Clipping" id="284" name="Google Shape;284;p21"/>
          <p:cNvPicPr preferRelativeResize="0"/>
          <p:nvPr/>
        </p:nvPicPr>
        <p:blipFill rotWithShape="1">
          <a:blip r:embed="rId5">
            <a:alphaModFix/>
          </a:blip>
          <a:srcRect b="0" l="0" r="0" t="0"/>
          <a:stretch/>
        </p:blipFill>
        <p:spPr>
          <a:xfrm>
            <a:off x="6906959" y="0"/>
            <a:ext cx="4570666" cy="672399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descr="Screen Clipping" id="289" name="Google Shape;289;p22"/>
          <p:cNvPicPr preferRelativeResize="0"/>
          <p:nvPr/>
        </p:nvPicPr>
        <p:blipFill rotWithShape="1">
          <a:blip r:embed="rId3">
            <a:alphaModFix/>
          </a:blip>
          <a:srcRect b="0" l="0" r="0" t="0"/>
          <a:stretch/>
        </p:blipFill>
        <p:spPr>
          <a:xfrm>
            <a:off x="889928" y="1347548"/>
            <a:ext cx="10531103" cy="3815001"/>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descr="Screen Clipping" id="294" name="Google Shape;294;p23"/>
          <p:cNvPicPr preferRelativeResize="0"/>
          <p:nvPr/>
        </p:nvPicPr>
        <p:blipFill rotWithShape="1">
          <a:blip r:embed="rId3">
            <a:alphaModFix/>
          </a:blip>
          <a:srcRect b="0" l="0" r="0" t="0"/>
          <a:stretch/>
        </p:blipFill>
        <p:spPr>
          <a:xfrm>
            <a:off x="2961837" y="28100"/>
            <a:ext cx="6268325" cy="6801799"/>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descr="Screen Clipping" id="299" name="Google Shape;299;p24"/>
          <p:cNvPicPr preferRelativeResize="0"/>
          <p:nvPr/>
        </p:nvPicPr>
        <p:blipFill rotWithShape="1">
          <a:blip r:embed="rId3">
            <a:alphaModFix/>
          </a:blip>
          <a:srcRect b="0" l="0" r="0" t="0"/>
          <a:stretch/>
        </p:blipFill>
        <p:spPr>
          <a:xfrm>
            <a:off x="2171164" y="1061716"/>
            <a:ext cx="7678222" cy="4601217"/>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Adapter</a:t>
            </a:r>
            <a:endParaRPr/>
          </a:p>
        </p:txBody>
      </p:sp>
      <p:sp>
        <p:nvSpPr>
          <p:cNvPr id="305" name="Google Shape;305;p2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Char char="•"/>
            </a:pPr>
            <a:r>
              <a:rPr lang="en-US">
                <a:latin typeface="Helvetica Neue"/>
                <a:ea typeface="Helvetica Neue"/>
                <a:cs typeface="Helvetica Neue"/>
                <a:sym typeface="Helvetica Neue"/>
              </a:rPr>
              <a:t>Adapter pattern works as a bridge between two incompatible interfaces. </a:t>
            </a:r>
            <a:endParaRPr/>
          </a:p>
          <a:p>
            <a:pPr indent="-342900" lvl="0" marL="342900" rtl="0" algn="l">
              <a:spcBef>
                <a:spcPts val="440"/>
              </a:spcBef>
              <a:spcAft>
                <a:spcPts val="0"/>
              </a:spcAft>
              <a:buClr>
                <a:schemeClr val="dk1"/>
              </a:buClr>
              <a:buSzPts val="2200"/>
              <a:buChar char="•"/>
            </a:pPr>
            <a:r>
              <a:rPr lang="en-US">
                <a:latin typeface="Helvetica Neue"/>
                <a:ea typeface="Helvetica Neue"/>
                <a:cs typeface="Helvetica Neue"/>
                <a:sym typeface="Helvetica Neue"/>
              </a:rPr>
              <a:t>This type of design pattern comes under structural pattern as this pattern combines the capability of two independent interfaces.</a:t>
            </a:r>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This pattern involves a single class which is responsible to join functionalities of independent or incompatible interfaces.</a:t>
            </a:r>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 It can convert the interface of a class, to make it compatible with a client who is expecting a different interface, without changing the source code of the class.</a:t>
            </a:r>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The Adapter Pattern is also known as Wrapper.</a:t>
            </a:r>
            <a:endParaRPr/>
          </a:p>
          <a:p>
            <a:pPr indent="-203200" lvl="0" marL="342900" rtl="0" algn="just">
              <a:spcBef>
                <a:spcPts val="440"/>
              </a:spcBef>
              <a:spcAft>
                <a:spcPts val="0"/>
              </a:spcAft>
              <a:buClr>
                <a:schemeClr val="dk1"/>
              </a:buClr>
              <a:buSzPts val="2200"/>
              <a:buNone/>
            </a:pPr>
            <a:r>
              <a:t/>
            </a:r>
            <a:endParaRPr>
              <a:latin typeface="Helvetica Neue"/>
              <a:ea typeface="Helvetica Neue"/>
              <a:cs typeface="Helvetica Neue"/>
              <a:sym typeface="Helvetica Neue"/>
            </a:endParaRPr>
          </a:p>
          <a:p>
            <a:pPr indent="-203200" lvl="0" marL="342900" rtl="0" algn="just">
              <a:spcBef>
                <a:spcPts val="440"/>
              </a:spcBef>
              <a:spcAft>
                <a:spcPts val="0"/>
              </a:spcAft>
              <a:buClr>
                <a:schemeClr val="dk1"/>
              </a:buClr>
              <a:buSzPts val="2200"/>
              <a:buNone/>
            </a:pPr>
            <a:r>
              <a:t/>
            </a:r>
            <a:endParaRPr>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Examples</a:t>
            </a:r>
            <a:endParaRPr/>
          </a:p>
        </p:txBody>
      </p:sp>
      <p:sp>
        <p:nvSpPr>
          <p:cNvPr id="311" name="Google Shape;311;p26"/>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200"/>
              <a:buChar char="•"/>
            </a:pPr>
            <a:r>
              <a:rPr lang="en-US">
                <a:latin typeface="Helvetica Neue"/>
                <a:ea typeface="Helvetica Neue"/>
                <a:cs typeface="Helvetica Neue"/>
                <a:sym typeface="Helvetica Neue"/>
              </a:rPr>
              <a:t>Like we have a card reader adapter which acts as a link between our computer and memory card.</a:t>
            </a:r>
            <a:endParaRPr/>
          </a:p>
          <a:p>
            <a:pPr indent="-342900" lvl="0" marL="342900" rtl="0" algn="just">
              <a:spcBef>
                <a:spcPts val="440"/>
              </a:spcBef>
              <a:spcAft>
                <a:spcPts val="0"/>
              </a:spcAft>
              <a:buClr>
                <a:schemeClr val="dk1"/>
              </a:buClr>
              <a:buSzPts val="2200"/>
              <a:buChar char="•"/>
            </a:pPr>
            <a:r>
              <a:rPr lang="en-US">
                <a:latin typeface="Helvetica Neue"/>
                <a:ea typeface="Helvetica Neue"/>
                <a:cs typeface="Helvetica Neue"/>
                <a:sym typeface="Helvetica Neue"/>
              </a:rPr>
              <a:t>Another example will be a charging adapter that acts as a link between a device and the charging port.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Examples</a:t>
            </a:r>
            <a:endParaRPr/>
          </a:p>
        </p:txBody>
      </p:sp>
      <p:pic>
        <p:nvPicPr>
          <p:cNvPr id="317" name="Google Shape;317;p27"/>
          <p:cNvPicPr preferRelativeResize="0"/>
          <p:nvPr>
            <p:ph idx="1" type="body"/>
          </p:nvPr>
        </p:nvPicPr>
        <p:blipFill rotWithShape="1">
          <a:blip r:embed="rId3">
            <a:alphaModFix/>
          </a:blip>
          <a:srcRect b="0" l="0" r="0" t="0"/>
          <a:stretch/>
        </p:blipFill>
        <p:spPr>
          <a:xfrm>
            <a:off x="1820552" y="1879542"/>
            <a:ext cx="8742161" cy="4075209"/>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28"/>
          <p:cNvPicPr preferRelativeResize="0"/>
          <p:nvPr/>
        </p:nvPicPr>
        <p:blipFill rotWithShape="1">
          <a:blip r:embed="rId3">
            <a:alphaModFix/>
          </a:blip>
          <a:srcRect b="0" l="0" r="0" t="0"/>
          <a:stretch/>
        </p:blipFill>
        <p:spPr>
          <a:xfrm>
            <a:off x="2810894" y="465789"/>
            <a:ext cx="6213669" cy="5778601"/>
          </a:xfrm>
          <a:prstGeom prst="rect">
            <a:avLst/>
          </a:prstGeom>
          <a:noFill/>
          <a:ln>
            <a:noFill/>
          </a:ln>
        </p:spPr>
      </p:pic>
      <p:sp>
        <p:nvSpPr>
          <p:cNvPr id="323" name="Google Shape;323;p28"/>
          <p:cNvSpPr/>
          <p:nvPr/>
        </p:nvSpPr>
        <p:spPr>
          <a:xfrm>
            <a:off x="505166" y="241961"/>
            <a:ext cx="195085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Examples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Examples</a:t>
            </a:r>
            <a:endParaRPr/>
          </a:p>
        </p:txBody>
      </p:sp>
      <p:pic>
        <p:nvPicPr>
          <p:cNvPr id="329" name="Google Shape;329;p29"/>
          <p:cNvPicPr preferRelativeResize="0"/>
          <p:nvPr/>
        </p:nvPicPr>
        <p:blipFill rotWithShape="1">
          <a:blip r:embed="rId3">
            <a:alphaModFix/>
          </a:blip>
          <a:srcRect b="0" l="0" r="0" t="0"/>
          <a:stretch/>
        </p:blipFill>
        <p:spPr>
          <a:xfrm>
            <a:off x="2038815" y="1576735"/>
            <a:ext cx="8287214" cy="49386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Problem</a:t>
            </a:r>
            <a:endParaRPr/>
          </a:p>
        </p:txBody>
      </p:sp>
      <p:sp>
        <p:nvSpPr>
          <p:cNvPr id="335" name="Google Shape;335;p3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000"/>
              <a:buChar char="•"/>
            </a:pPr>
            <a:r>
              <a:rPr lang="en-US" sz="2000">
                <a:latin typeface="Helvetica Neue"/>
                <a:ea typeface="Helvetica Neue"/>
                <a:cs typeface="Helvetica Neue"/>
                <a:sym typeface="Helvetica Neue"/>
              </a:rPr>
              <a:t>Let us say we have an image showing application that can show only jpeg images, but we want to use an advanced image application that is capable of showing (.png) and (.jpg) files too. So we can use Adapter Design Pattern here to act as a link between these two different interfaces.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31"/>
          <p:cNvPicPr preferRelativeResize="0"/>
          <p:nvPr/>
        </p:nvPicPr>
        <p:blipFill rotWithShape="1">
          <a:blip r:embed="rId3">
            <a:alphaModFix/>
          </a:blip>
          <a:srcRect b="7438" l="2733" r="4922" t="3627"/>
          <a:stretch/>
        </p:blipFill>
        <p:spPr>
          <a:xfrm>
            <a:off x="2129590" y="1196239"/>
            <a:ext cx="7196831" cy="4355431"/>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341" name="Google Shape;341;p31"/>
          <p:cNvSpPr/>
          <p:nvPr/>
        </p:nvSpPr>
        <p:spPr>
          <a:xfrm>
            <a:off x="9600227" y="3566461"/>
            <a:ext cx="2312010" cy="160043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00B0F0"/>
                </a:solidFill>
                <a:latin typeface="Helvetica Neue"/>
                <a:ea typeface="Helvetica Neue"/>
                <a:cs typeface="Helvetica Neue"/>
                <a:sym typeface="Helvetica Neue"/>
              </a:rPr>
              <a:t>We have an ImageViewer interface and a concrete class named GalleryApp which is implementing the ImageViewer interface. GalleryApp can show jpeg files by default.</a:t>
            </a:r>
            <a:endParaRPr/>
          </a:p>
        </p:txBody>
      </p:sp>
      <p:sp>
        <p:nvSpPr>
          <p:cNvPr id="342" name="Google Shape;342;p31"/>
          <p:cNvSpPr/>
          <p:nvPr/>
        </p:nvSpPr>
        <p:spPr>
          <a:xfrm>
            <a:off x="44058" y="2690609"/>
            <a:ext cx="2085532"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00B0F0"/>
                </a:solidFill>
                <a:latin typeface="Helvetica Neue"/>
                <a:ea typeface="Helvetica Neue"/>
                <a:cs typeface="Helvetica Neue"/>
                <a:sym typeface="Helvetica Neue"/>
              </a:rPr>
              <a:t>AdvancedImageViewer and concrete classes implementing this interface.These classes can show png and jpg files by default.</a:t>
            </a:r>
            <a:endParaRPr/>
          </a:p>
        </p:txBody>
      </p:sp>
      <p:sp>
        <p:nvSpPr>
          <p:cNvPr id="343" name="Google Shape;343;p31"/>
          <p:cNvSpPr/>
          <p:nvPr/>
        </p:nvSpPr>
        <p:spPr>
          <a:xfrm>
            <a:off x="914400" y="5986135"/>
            <a:ext cx="9841832" cy="646331"/>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rgbClr val="FF0000"/>
              </a:buClr>
              <a:buSzPts val="1800"/>
              <a:buFont typeface="Noto Sans Symbols"/>
              <a:buChar char="⮚"/>
            </a:pPr>
            <a:r>
              <a:rPr lang="en-US" sz="1800">
                <a:solidFill>
                  <a:srgbClr val="FF0000"/>
                </a:solidFill>
                <a:latin typeface="Helvetica Neue"/>
                <a:ea typeface="Helvetica Neue"/>
                <a:cs typeface="Helvetica Neue"/>
                <a:sym typeface="Helvetica Neue"/>
              </a:rPr>
              <a:t>Now we want our GalleryApp class to be able to show png and jpg files without changing the source code of the ImageViewer interface.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descr="Screen Clipping" id="348" name="Google Shape;348;p32"/>
          <p:cNvPicPr preferRelativeResize="0"/>
          <p:nvPr/>
        </p:nvPicPr>
        <p:blipFill rotWithShape="1">
          <a:blip r:embed="rId3">
            <a:alphaModFix/>
          </a:blip>
          <a:srcRect b="0" l="0" r="0" t="3965"/>
          <a:stretch/>
        </p:blipFill>
        <p:spPr>
          <a:xfrm>
            <a:off x="2074996" y="383644"/>
            <a:ext cx="7646520" cy="4621928"/>
          </a:xfrm>
          <a:prstGeom prst="rect">
            <a:avLst/>
          </a:prstGeom>
          <a:noFill/>
          <a:ln>
            <a:noFill/>
          </a:ln>
        </p:spPr>
      </p:pic>
      <p:sp>
        <p:nvSpPr>
          <p:cNvPr id="349" name="Google Shape;349;p32"/>
          <p:cNvSpPr/>
          <p:nvPr/>
        </p:nvSpPr>
        <p:spPr>
          <a:xfrm>
            <a:off x="749967" y="5198511"/>
            <a:ext cx="10776285" cy="1323439"/>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600"/>
              <a:buFont typeface="Arial"/>
              <a:buChar char="•"/>
            </a:pPr>
            <a:r>
              <a:rPr lang="en-US" sz="1600">
                <a:solidFill>
                  <a:schemeClr val="dk1"/>
                </a:solidFill>
                <a:latin typeface="Helvetica Neue"/>
                <a:ea typeface="Helvetica Neue"/>
                <a:cs typeface="Helvetica Neue"/>
                <a:sym typeface="Helvetica Neue"/>
              </a:rPr>
              <a:t>So we can use an Adapter design pattern to achieve this. We will create a ImageAdapter which implements ImageViewer and uses a AdvancedImageViewer object to show the desired image format.</a:t>
            </a:r>
            <a:endParaRPr/>
          </a:p>
          <a:p>
            <a:pPr indent="-184150" lvl="0" marL="285750" marR="0" rtl="0" algn="just">
              <a:spcBef>
                <a:spcPts val="0"/>
              </a:spcBef>
              <a:spcAft>
                <a:spcPts val="0"/>
              </a:spcAft>
              <a:buClr>
                <a:schemeClr val="dk1"/>
              </a:buClr>
              <a:buSzPts val="1600"/>
              <a:buFont typeface="Arial"/>
              <a:buNone/>
            </a:pPr>
            <a:r>
              <a:t/>
            </a:r>
            <a:endParaRPr sz="1600">
              <a:solidFill>
                <a:schemeClr val="dk1"/>
              </a:solidFill>
              <a:latin typeface="Helvetica Neue"/>
              <a:ea typeface="Helvetica Neue"/>
              <a:cs typeface="Helvetica Neue"/>
              <a:sym typeface="Helvetica Neue"/>
            </a:endParaRPr>
          </a:p>
          <a:p>
            <a:pPr indent="-285750" lvl="0" marL="285750" marR="0" rtl="0" algn="just">
              <a:spcBef>
                <a:spcPts val="0"/>
              </a:spcBef>
              <a:spcAft>
                <a:spcPts val="0"/>
              </a:spcAft>
              <a:buClr>
                <a:schemeClr val="dk1"/>
              </a:buClr>
              <a:buSzPts val="1600"/>
              <a:buFont typeface="Arial"/>
              <a:buChar char="•"/>
            </a:pPr>
            <a:r>
              <a:rPr lang="en-US" sz="1600">
                <a:solidFill>
                  <a:schemeClr val="dk1"/>
                </a:solidFill>
                <a:latin typeface="Helvetica Neue"/>
                <a:ea typeface="Helvetica Neue"/>
                <a:cs typeface="Helvetica Neue"/>
                <a:sym typeface="Helvetica Neue"/>
              </a:rPr>
              <a:t>Our Gallery application will use the ImageAdapter and simply pass the desired image format without worrying about which class can show what image format.</a:t>
            </a:r>
            <a:endParaRPr/>
          </a:p>
        </p:txBody>
      </p:sp>
      <p:sp>
        <p:nvSpPr>
          <p:cNvPr id="350" name="Google Shape;350;p32"/>
          <p:cNvSpPr/>
          <p:nvPr/>
        </p:nvSpPr>
        <p:spPr>
          <a:xfrm>
            <a:off x="5654842" y="2683477"/>
            <a:ext cx="2310064" cy="2501668"/>
          </a:xfrm>
          <a:prstGeom prst="rect">
            <a:avLst/>
          </a:prstGeom>
          <a:noFill/>
          <a:ln cap="flat" cmpd="sng" w="34925">
            <a:solidFill>
              <a:srgbClr val="0070C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descr="Screen Clipping" id="355" name="Google Shape;355;p33"/>
          <p:cNvPicPr preferRelativeResize="0"/>
          <p:nvPr/>
        </p:nvPicPr>
        <p:blipFill rotWithShape="1">
          <a:blip r:embed="rId3">
            <a:alphaModFix/>
          </a:blip>
          <a:srcRect b="0" l="0" r="0" t="25289"/>
          <a:stretch/>
        </p:blipFill>
        <p:spPr>
          <a:xfrm>
            <a:off x="269021" y="399252"/>
            <a:ext cx="6239746" cy="982169"/>
          </a:xfrm>
          <a:prstGeom prst="rect">
            <a:avLst/>
          </a:prstGeom>
          <a:noFill/>
          <a:ln>
            <a:noFill/>
          </a:ln>
          <a:effectLst>
            <a:outerShdw blurRad="292100" rotWithShape="0" algn="tl" dir="2700000" dist="139700">
              <a:srgbClr val="333333">
                <a:alpha val="64705"/>
              </a:srgbClr>
            </a:outerShdw>
          </a:effectLst>
        </p:spPr>
      </p:pic>
      <p:pic>
        <p:nvPicPr>
          <p:cNvPr descr="Screen Clipping" id="356" name="Google Shape;356;p33"/>
          <p:cNvPicPr preferRelativeResize="0"/>
          <p:nvPr/>
        </p:nvPicPr>
        <p:blipFill rotWithShape="1">
          <a:blip r:embed="rId4">
            <a:alphaModFix/>
          </a:blip>
          <a:srcRect b="0" l="0" r="0" t="0"/>
          <a:stretch/>
        </p:blipFill>
        <p:spPr>
          <a:xfrm>
            <a:off x="4155221" y="1635705"/>
            <a:ext cx="4439270" cy="1276528"/>
          </a:xfrm>
          <a:prstGeom prst="rect">
            <a:avLst/>
          </a:prstGeom>
          <a:noFill/>
          <a:ln>
            <a:noFill/>
          </a:ln>
          <a:effectLst>
            <a:outerShdw blurRad="292100" rotWithShape="0" algn="tl" dir="2700000" dist="139700">
              <a:srgbClr val="333333">
                <a:alpha val="64705"/>
              </a:srgbClr>
            </a:outerShdw>
          </a:effectLst>
        </p:spPr>
      </p:pic>
      <p:pic>
        <p:nvPicPr>
          <p:cNvPr descr="Screen Clipping" id="357" name="Google Shape;357;p33"/>
          <p:cNvPicPr preferRelativeResize="0"/>
          <p:nvPr/>
        </p:nvPicPr>
        <p:blipFill rotWithShape="1">
          <a:blip r:embed="rId5">
            <a:alphaModFix/>
          </a:blip>
          <a:srcRect b="0" l="0" r="0" t="0"/>
          <a:stretch/>
        </p:blipFill>
        <p:spPr>
          <a:xfrm>
            <a:off x="136674" y="3166517"/>
            <a:ext cx="5839966" cy="2789115"/>
          </a:xfrm>
          <a:prstGeom prst="rect">
            <a:avLst/>
          </a:prstGeom>
          <a:noFill/>
          <a:ln>
            <a:noFill/>
          </a:ln>
          <a:effectLst>
            <a:outerShdw blurRad="292100" rotWithShape="0" algn="tl" dir="2700000" dist="139700">
              <a:srgbClr val="333333">
                <a:alpha val="64705"/>
              </a:srgbClr>
            </a:outerShdw>
          </a:effectLst>
        </p:spPr>
      </p:pic>
      <p:pic>
        <p:nvPicPr>
          <p:cNvPr descr="Screen Clipping" id="358" name="Google Shape;358;p33"/>
          <p:cNvPicPr preferRelativeResize="0"/>
          <p:nvPr/>
        </p:nvPicPr>
        <p:blipFill rotWithShape="1">
          <a:blip r:embed="rId6">
            <a:alphaModFix/>
          </a:blip>
          <a:srcRect b="0" l="0" r="0" t="0"/>
          <a:stretch/>
        </p:blipFill>
        <p:spPr>
          <a:xfrm>
            <a:off x="6172592" y="3145759"/>
            <a:ext cx="5737645" cy="2948734"/>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descr="Screen Clipping" id="363" name="Google Shape;363;p34"/>
          <p:cNvPicPr preferRelativeResize="0"/>
          <p:nvPr/>
        </p:nvPicPr>
        <p:blipFill rotWithShape="1">
          <a:blip r:embed="rId3">
            <a:alphaModFix/>
          </a:blip>
          <a:srcRect b="0" l="0" r="0" t="0"/>
          <a:stretch/>
        </p:blipFill>
        <p:spPr>
          <a:xfrm>
            <a:off x="2895153" y="213864"/>
            <a:ext cx="6401693" cy="6430272"/>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descr="Screen Clipping" id="368" name="Google Shape;368;p35"/>
          <p:cNvPicPr preferRelativeResize="0"/>
          <p:nvPr/>
        </p:nvPicPr>
        <p:blipFill rotWithShape="1">
          <a:blip r:embed="rId3">
            <a:alphaModFix/>
          </a:blip>
          <a:srcRect b="0" l="0" r="0" t="0"/>
          <a:stretch/>
        </p:blipFill>
        <p:spPr>
          <a:xfrm>
            <a:off x="1128394" y="344543"/>
            <a:ext cx="9700087" cy="6164541"/>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descr="Screen Clipping" id="373" name="Google Shape;373;p36"/>
          <p:cNvPicPr preferRelativeResize="0"/>
          <p:nvPr/>
        </p:nvPicPr>
        <p:blipFill rotWithShape="1">
          <a:blip r:embed="rId3">
            <a:alphaModFix/>
          </a:blip>
          <a:srcRect b="0" l="0" r="0" t="0"/>
          <a:stretch/>
        </p:blipFill>
        <p:spPr>
          <a:xfrm>
            <a:off x="456644" y="695876"/>
            <a:ext cx="5282419" cy="3464070"/>
          </a:xfrm>
          <a:prstGeom prst="rect">
            <a:avLst/>
          </a:prstGeom>
          <a:noFill/>
          <a:ln>
            <a:noFill/>
          </a:ln>
          <a:effectLst>
            <a:outerShdw blurRad="292100" rotWithShape="0" algn="tl" dir="2700000" dist="139700">
              <a:srgbClr val="333333">
                <a:alpha val="64705"/>
              </a:srgbClr>
            </a:outerShdw>
          </a:effectLst>
        </p:spPr>
      </p:pic>
      <p:pic>
        <p:nvPicPr>
          <p:cNvPr descr="Screen Clipping" id="374" name="Google Shape;374;p36"/>
          <p:cNvPicPr preferRelativeResize="0"/>
          <p:nvPr/>
        </p:nvPicPr>
        <p:blipFill rotWithShape="1">
          <a:blip r:embed="rId4">
            <a:alphaModFix/>
          </a:blip>
          <a:srcRect b="0" l="0" r="0" t="0"/>
          <a:stretch/>
        </p:blipFill>
        <p:spPr>
          <a:xfrm>
            <a:off x="6545397" y="1822988"/>
            <a:ext cx="4983511" cy="148569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Helvetica Neue"/>
              <a:buNone/>
            </a:pPr>
            <a:r>
              <a:rPr lang="en-US">
                <a:latin typeface="Helvetica Neue"/>
                <a:ea typeface="Helvetica Neue"/>
                <a:cs typeface="Helvetica Neue"/>
                <a:sym typeface="Helvetica Neue"/>
              </a:rPr>
              <a:t>Benefits</a:t>
            </a:r>
            <a:endParaRPr/>
          </a:p>
        </p:txBody>
      </p:sp>
      <p:sp>
        <p:nvSpPr>
          <p:cNvPr id="380" name="Google Shape;380;p3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200"/>
              <a:buChar char="•"/>
            </a:pPr>
            <a:r>
              <a:rPr b="1" lang="en-US">
                <a:latin typeface="Helvetica Neue"/>
                <a:ea typeface="Helvetica Neue"/>
                <a:cs typeface="Helvetica Neue"/>
                <a:sym typeface="Helvetica Neue"/>
              </a:rPr>
              <a:t>Separation of Concern: </a:t>
            </a:r>
            <a:r>
              <a:rPr lang="en-US">
                <a:latin typeface="Helvetica Neue"/>
                <a:ea typeface="Helvetica Neue"/>
                <a:cs typeface="Helvetica Neue"/>
                <a:sym typeface="Helvetica Neue"/>
              </a:rPr>
              <a:t>We can separate the interface or data conversion code from the main business logic part of the code.</a:t>
            </a:r>
            <a:endParaRPr/>
          </a:p>
          <a:p>
            <a:pPr indent="-342900" lvl="0" marL="342900" rtl="0" algn="just">
              <a:spcBef>
                <a:spcPts val="440"/>
              </a:spcBef>
              <a:spcAft>
                <a:spcPts val="0"/>
              </a:spcAft>
              <a:buClr>
                <a:schemeClr val="dk1"/>
              </a:buClr>
              <a:buSzPts val="2200"/>
              <a:buChar char="•"/>
            </a:pPr>
            <a:r>
              <a:rPr b="1" lang="en-US">
                <a:latin typeface="Helvetica Neue"/>
                <a:ea typeface="Helvetica Neue"/>
                <a:cs typeface="Helvetica Neue"/>
                <a:sym typeface="Helvetica Neue"/>
              </a:rPr>
              <a:t>Independence of Code: </a:t>
            </a:r>
            <a:r>
              <a:rPr lang="en-US">
                <a:latin typeface="Helvetica Neue"/>
                <a:ea typeface="Helvetica Neue"/>
                <a:cs typeface="Helvetica Neue"/>
                <a:sym typeface="Helvetica Neue"/>
              </a:rPr>
              <a:t>We can implement and use the various adapters without breaking the existing client or main code.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est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2020-12-11T06:36:34Z</dcterms:created>
  <dc:creator>Microsoft Office User</dc:creator>
</cp:coreProperties>
</file>