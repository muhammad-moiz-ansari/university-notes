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57" r:id="rId4"/>
    <p:sldId id="259" r:id="rId5"/>
    <p:sldId id="260" r:id="rId6"/>
    <p:sldId id="261" r:id="rId7"/>
    <p:sldId id="262" r:id="rId8"/>
    <p:sldId id="263" r:id="rId9"/>
    <p:sldId id="276" r:id="rId10"/>
    <p:sldId id="264" r:id="rId11"/>
    <p:sldId id="277" r:id="rId12"/>
    <p:sldId id="278" r:id="rId13"/>
    <p:sldId id="279" r:id="rId14"/>
    <p:sldId id="280" r:id="rId15"/>
    <p:sldId id="265" r:id="rId16"/>
    <p:sldId id="267" r:id="rId17"/>
    <p:sldId id="269" r:id="rId18"/>
    <p:sldId id="271" r:id="rId19"/>
    <p:sldId id="272" r:id="rId20"/>
    <p:sldId id="273"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51" autoAdjust="0"/>
  </p:normalViewPr>
  <p:slideViewPr>
    <p:cSldViewPr snapToGrid="0">
      <p:cViewPr varScale="1">
        <p:scale>
          <a:sx n="96" d="100"/>
          <a:sy n="96" d="100"/>
        </p:scale>
        <p:origin x="11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B18B61-888F-43D3-AFC9-A8FC3AFB4054}" type="datetimeFigureOut">
              <a:rPr lang="en-US" smtClean="0"/>
              <a:t>9/11/2024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77A2B2-600B-475C-B67E-D5F02A7CF969}" type="slidenum">
              <a:rPr lang="en-US" smtClean="0"/>
              <a:t>‹#›</a:t>
            </a:fld>
            <a:endParaRPr lang="en-US"/>
          </a:p>
        </p:txBody>
      </p:sp>
    </p:spTree>
    <p:extLst>
      <p:ext uri="{BB962C8B-B14F-4D97-AF65-F5344CB8AC3E}">
        <p14:creationId xmlns:p14="http://schemas.microsoft.com/office/powerpoint/2010/main" val="380689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77A2B2-600B-475C-B67E-D5F02A7CF969}" type="slidenum">
              <a:rPr lang="en-US" smtClean="0"/>
              <a:t>10</a:t>
            </a:fld>
            <a:endParaRPr lang="en-US"/>
          </a:p>
        </p:txBody>
      </p:sp>
    </p:spTree>
    <p:extLst>
      <p:ext uri="{BB962C8B-B14F-4D97-AF65-F5344CB8AC3E}">
        <p14:creationId xmlns:p14="http://schemas.microsoft.com/office/powerpoint/2010/main" val="199331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Match Confirmation</a:t>
            </a:r>
            <a:r>
              <a:rPr lang="en-US" dirty="0" smtClean="0"/>
              <a:t>: The system confirms that a driver has been assigned to the </a:t>
            </a:r>
            <a:r>
              <a:rPr lang="en-US" dirty="0" err="1" smtClean="0"/>
              <a:t>rider.</a:t>
            </a:r>
            <a:r>
              <a:rPr lang="en-US" b="1" dirty="0" err="1" smtClean="0"/>
              <a:t>Update</a:t>
            </a:r>
            <a:r>
              <a:rPr lang="en-US" b="1" dirty="0" smtClean="0"/>
              <a:t> System Status</a:t>
            </a:r>
            <a:r>
              <a:rPr lang="en-US" dirty="0" smtClean="0"/>
              <a:t>: The driver’s status is updated from "available" to "engaged," meaning they are now busy and cannot accept other ride </a:t>
            </a:r>
            <a:r>
              <a:rPr lang="en-US" dirty="0" err="1" smtClean="0"/>
              <a:t>requests.</a:t>
            </a:r>
            <a:r>
              <a:rPr lang="en-US" b="1" dirty="0" err="1" smtClean="0"/>
              <a:t>Notify</a:t>
            </a:r>
            <a:r>
              <a:rPr lang="en-US" b="1" dirty="0" smtClean="0"/>
              <a:t> Rider</a:t>
            </a:r>
            <a:r>
              <a:rPr lang="en-US" dirty="0" smtClean="0"/>
              <a:t>: The rider is notified that a driver has been assigned, with details about the driver and the </a:t>
            </a:r>
            <a:r>
              <a:rPr lang="en-US" dirty="0" err="1" smtClean="0"/>
              <a:t>vehicle.</a:t>
            </a:r>
            <a:r>
              <a:rPr lang="en-US" b="1" dirty="0" err="1" smtClean="0"/>
              <a:t>Route</a:t>
            </a:r>
            <a:r>
              <a:rPr lang="en-US" b="1" dirty="0" smtClean="0"/>
              <a:t> and ETA Calculation</a:t>
            </a:r>
            <a:r>
              <a:rPr lang="en-US" dirty="0" smtClean="0"/>
              <a:t>: The system calculates the optimal route for the driver to reach the rider’s location and provides an estimated time of arrival (ETA).</a:t>
            </a:r>
            <a:r>
              <a:rPr lang="en-US" b="1" dirty="0" smtClean="0"/>
              <a:t>Payment and Fare Lock-In</a:t>
            </a:r>
            <a:r>
              <a:rPr lang="en-US" dirty="0" smtClean="0"/>
              <a:t>: The system may lock in fare estimates and other payment-related details at this point.</a:t>
            </a:r>
            <a:endParaRPr lang="en-US" dirty="0"/>
          </a:p>
        </p:txBody>
      </p:sp>
      <p:sp>
        <p:nvSpPr>
          <p:cNvPr id="4" name="Slide Number Placeholder 3"/>
          <p:cNvSpPr>
            <a:spLocks noGrp="1"/>
          </p:cNvSpPr>
          <p:nvPr>
            <p:ph type="sldNum" sz="quarter" idx="10"/>
          </p:nvPr>
        </p:nvSpPr>
        <p:spPr/>
        <p:txBody>
          <a:bodyPr/>
          <a:lstStyle/>
          <a:p>
            <a:fld id="{0B77A2B2-600B-475C-B67E-D5F02A7CF969}" type="slidenum">
              <a:rPr lang="en-US" smtClean="0"/>
              <a:t>11</a:t>
            </a:fld>
            <a:endParaRPr lang="en-US"/>
          </a:p>
        </p:txBody>
      </p:sp>
    </p:spTree>
    <p:extLst>
      <p:ext uri="{BB962C8B-B14F-4D97-AF65-F5344CB8AC3E}">
        <p14:creationId xmlns:p14="http://schemas.microsoft.com/office/powerpoint/2010/main" val="1697652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Rate Driver</a:t>
            </a:r>
            <a:r>
              <a:rPr lang="en-US" dirty="0" smtClean="0"/>
              <a:t> isn’t just a one-off action—it </a:t>
            </a:r>
            <a:r>
              <a:rPr lang="en-US" b="1" dirty="0" smtClean="0"/>
              <a:t>triggers a series of actions</a:t>
            </a:r>
            <a:r>
              <a:rPr lang="en-US" dirty="0" smtClean="0"/>
              <a:t> within the system: The rating is stored in the driver’s profile and affects their overall rating.</a:t>
            </a:r>
          </a:p>
          <a:p>
            <a:r>
              <a:rPr lang="en-US" dirty="0" smtClean="0"/>
              <a:t>The rating system may provide the rider with an option to leave additional comments about the driver or the ride experience.</a:t>
            </a:r>
          </a:p>
          <a:p>
            <a:r>
              <a:rPr lang="en-US" dirty="0" smtClean="0"/>
              <a:t>If the rating is particularly low, the system might prompt the rider to give specific feedback (e.g., whether the driver was rude or the vehicle was unclean).</a:t>
            </a:r>
          </a:p>
          <a:p>
            <a:r>
              <a:rPr lang="en-US" dirty="0" smtClean="0"/>
              <a:t>In some cases, Uber’s system might flag low ratings and send an alert to the admin or support team for follow-up actions.</a:t>
            </a:r>
          </a:p>
          <a:p>
            <a:endParaRPr lang="en-US" dirty="0"/>
          </a:p>
        </p:txBody>
      </p:sp>
      <p:sp>
        <p:nvSpPr>
          <p:cNvPr id="4" name="Slide Number Placeholder 3"/>
          <p:cNvSpPr>
            <a:spLocks noGrp="1"/>
          </p:cNvSpPr>
          <p:nvPr>
            <p:ph type="sldNum" sz="quarter" idx="10"/>
          </p:nvPr>
        </p:nvSpPr>
        <p:spPr/>
        <p:txBody>
          <a:bodyPr/>
          <a:lstStyle/>
          <a:p>
            <a:fld id="{0B77A2B2-600B-475C-B67E-D5F02A7CF969}" type="slidenum">
              <a:rPr lang="en-US" smtClean="0"/>
              <a:t>12</a:t>
            </a:fld>
            <a:endParaRPr lang="en-US"/>
          </a:p>
        </p:txBody>
      </p:sp>
    </p:spTree>
    <p:extLst>
      <p:ext uri="{BB962C8B-B14F-4D97-AF65-F5344CB8AC3E}">
        <p14:creationId xmlns:p14="http://schemas.microsoft.com/office/powerpoint/2010/main" val="1836506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77A2B2-600B-475C-B67E-D5F02A7CF969}" type="slidenum">
              <a:rPr lang="en-US" smtClean="0"/>
              <a:t>16</a:t>
            </a:fld>
            <a:endParaRPr lang="en-US" dirty="0"/>
          </a:p>
        </p:txBody>
      </p:sp>
    </p:spTree>
    <p:extLst>
      <p:ext uri="{BB962C8B-B14F-4D97-AF65-F5344CB8AC3E}">
        <p14:creationId xmlns:p14="http://schemas.microsoft.com/office/powerpoint/2010/main" val="4278012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156992-E2AF-4C1C-8943-924A27594D40}"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80046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156992-E2AF-4C1C-8943-924A27594D40}"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77932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3156992-E2AF-4C1C-8943-924A27594D40}"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3132583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156992-E2AF-4C1C-8943-924A27594D40}" type="datetimeFigureOut">
              <a:rPr lang="en-US" smtClean="0"/>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1960138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156992-E2AF-4C1C-8943-924A27594D40}" type="datetimeFigureOut">
              <a:rPr lang="en-US" smtClean="0"/>
              <a:t>9/11/2024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62072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156992-E2AF-4C1C-8943-924A27594D40}" type="datetimeFigureOut">
              <a:rPr lang="en-US" smtClean="0"/>
              <a:t>9/11/2024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689560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156992-E2AF-4C1C-8943-924A27594D40}" type="datetimeFigureOut">
              <a:rPr lang="en-US" smtClean="0"/>
              <a:t>9/11/2024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270466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156992-E2AF-4C1C-8943-924A27594D40}" type="datetimeFigureOut">
              <a:rPr lang="en-US" smtClean="0"/>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2358683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156992-E2AF-4C1C-8943-924A27594D40}" type="datetimeFigureOut">
              <a:rPr lang="en-US" smtClean="0"/>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2564842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156992-E2AF-4C1C-8943-924A27594D40}"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90635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156992-E2AF-4C1C-8943-924A27594D40}" type="datetimeFigureOut">
              <a:rPr lang="en-US" smtClean="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DF7214-6A2B-40F9-94F7-65EBD5492129}" type="slidenum">
              <a:rPr lang="en-US" smtClean="0"/>
              <a:t>‹#›</a:t>
            </a:fld>
            <a:endParaRPr lang="en-US"/>
          </a:p>
        </p:txBody>
      </p:sp>
    </p:spTree>
    <p:extLst>
      <p:ext uri="{BB962C8B-B14F-4D97-AF65-F5344CB8AC3E}">
        <p14:creationId xmlns:p14="http://schemas.microsoft.com/office/powerpoint/2010/main" val="2320275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156992-E2AF-4C1C-8943-924A27594D40}" type="datetimeFigureOut">
              <a:rPr lang="en-US" smtClean="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DF7214-6A2B-40F9-94F7-65EBD5492129}" type="slidenum">
              <a:rPr lang="en-US" smtClean="0"/>
              <a:t>‹#›</a:t>
            </a:fld>
            <a:endParaRPr lang="en-US"/>
          </a:p>
        </p:txBody>
      </p:sp>
    </p:spTree>
    <p:extLst>
      <p:ext uri="{BB962C8B-B14F-4D97-AF65-F5344CB8AC3E}">
        <p14:creationId xmlns:p14="http://schemas.microsoft.com/office/powerpoint/2010/main" val="143134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Practice</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28020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Case Study</a:t>
            </a:r>
            <a:endParaRPr lang="en-US" dirty="0"/>
          </a:p>
        </p:txBody>
      </p:sp>
      <p:sp>
        <p:nvSpPr>
          <p:cNvPr id="3" name="Content Placeholder 2"/>
          <p:cNvSpPr>
            <a:spLocks noGrp="1"/>
          </p:cNvSpPr>
          <p:nvPr>
            <p:ph idx="1"/>
          </p:nvPr>
        </p:nvSpPr>
        <p:spPr/>
        <p:txBody>
          <a:bodyPr/>
          <a:lstStyle/>
          <a:p>
            <a:pPr algn="just"/>
            <a:r>
              <a:rPr lang="en-US" b="1" dirty="0"/>
              <a:t>Uber</a:t>
            </a:r>
            <a:r>
              <a:rPr lang="en-US" dirty="0"/>
              <a:t>, founded in 2009, revolutionized the transportation industry by creating a technology-driven ride-hailing platform. The platform seamlessly connects riders and drivers, enabling the booking of rides via a mobile application. </a:t>
            </a:r>
          </a:p>
        </p:txBody>
      </p:sp>
    </p:spTree>
    <p:extLst>
      <p:ext uri="{BB962C8B-B14F-4D97-AF65-F5344CB8AC3E}">
        <p14:creationId xmlns:p14="http://schemas.microsoft.com/office/powerpoint/2010/main" val="1512415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59371"/>
            <a:ext cx="10515600" cy="4351338"/>
          </a:xfrm>
        </p:spPr>
        <p:txBody>
          <a:bodyPr>
            <a:normAutofit/>
          </a:bodyPr>
          <a:lstStyle/>
          <a:p>
            <a:pPr algn="just"/>
            <a:r>
              <a:rPr lang="en-US" dirty="0"/>
              <a:t>Uber’s platform involves several key actors like </a:t>
            </a:r>
            <a:r>
              <a:rPr lang="en-US" b="1" dirty="0"/>
              <a:t>Rider</a:t>
            </a:r>
            <a:r>
              <a:rPr lang="en-US" dirty="0"/>
              <a:t>, </a:t>
            </a:r>
            <a:r>
              <a:rPr lang="en-US" b="1" dirty="0"/>
              <a:t>Driver</a:t>
            </a:r>
            <a:r>
              <a:rPr lang="en-US" dirty="0"/>
              <a:t>, </a:t>
            </a:r>
            <a:r>
              <a:rPr lang="en-US" b="1" dirty="0"/>
              <a:t>Admin</a:t>
            </a:r>
            <a:r>
              <a:rPr lang="en-US" dirty="0"/>
              <a:t>, and an external </a:t>
            </a:r>
            <a:r>
              <a:rPr lang="en-US" b="1" dirty="0"/>
              <a:t>Payment Gateway</a:t>
            </a:r>
            <a:r>
              <a:rPr lang="en-US" dirty="0"/>
              <a:t>. Each of these actors plays a critical role in the system’s overall operation. The </a:t>
            </a:r>
            <a:r>
              <a:rPr lang="en-US" b="1" dirty="0"/>
              <a:t>Rider</a:t>
            </a:r>
            <a:r>
              <a:rPr lang="en-US" dirty="0"/>
              <a:t> is the customer who requests transportation, while the </a:t>
            </a:r>
            <a:r>
              <a:rPr lang="en-US" b="1" dirty="0"/>
              <a:t>Driver</a:t>
            </a:r>
            <a:r>
              <a:rPr lang="en-US" dirty="0"/>
              <a:t> fulfills this request by offering their vehicle and services. The </a:t>
            </a:r>
            <a:r>
              <a:rPr lang="en-US" b="1" dirty="0"/>
              <a:t>Admin</a:t>
            </a:r>
            <a:r>
              <a:rPr lang="en-US" dirty="0"/>
              <a:t> oversees the entire system, handling the management of users, resolving disputes, and ensuring that payments are correctly processed. Finally, the </a:t>
            </a:r>
            <a:r>
              <a:rPr lang="en-US" b="1" dirty="0"/>
              <a:t>Payment Gateway</a:t>
            </a:r>
            <a:r>
              <a:rPr lang="en-US" dirty="0"/>
              <a:t> handles the transactional aspect of Uber, ensuring secure and seamless payment processing.</a:t>
            </a:r>
          </a:p>
          <a:p>
            <a:pPr algn="just"/>
            <a:endParaRPr lang="en-US" dirty="0"/>
          </a:p>
        </p:txBody>
      </p:sp>
    </p:spTree>
    <p:extLst>
      <p:ext uri="{BB962C8B-B14F-4D97-AF65-F5344CB8AC3E}">
        <p14:creationId xmlns:p14="http://schemas.microsoft.com/office/powerpoint/2010/main" val="278026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lgn="just"/>
            <a:r>
              <a:rPr lang="en-US" dirty="0"/>
              <a:t>The interaction begins with </a:t>
            </a:r>
            <a:r>
              <a:rPr lang="en-US" b="1" dirty="0"/>
              <a:t>registration</a:t>
            </a:r>
            <a:r>
              <a:rPr lang="en-US" dirty="0"/>
              <a:t> and </a:t>
            </a:r>
            <a:r>
              <a:rPr lang="en-US" b="1" dirty="0"/>
              <a:t>login</a:t>
            </a:r>
            <a:r>
              <a:rPr lang="en-US" dirty="0"/>
              <a:t>, where riders create an account and provide personal details such as contact information and payment methods. Once authenticated, the rider </a:t>
            </a:r>
            <a:r>
              <a:rPr lang="en-US" b="1" dirty="0"/>
              <a:t>requests a ride</a:t>
            </a:r>
            <a:r>
              <a:rPr lang="en-US" dirty="0"/>
              <a:t>, wherein they input their pick-up and drop-off locations, select the ride type (</a:t>
            </a:r>
            <a:r>
              <a:rPr lang="en-US" dirty="0" err="1"/>
              <a:t>UberX</a:t>
            </a:r>
            <a:r>
              <a:rPr lang="en-US" dirty="0"/>
              <a:t>, </a:t>
            </a:r>
            <a:r>
              <a:rPr lang="en-US" dirty="0" err="1"/>
              <a:t>UberPool</a:t>
            </a:r>
            <a:r>
              <a:rPr lang="en-US" dirty="0"/>
              <a:t>, etc.), and submit the request to available drivers. The rider can then </a:t>
            </a:r>
            <a:r>
              <a:rPr lang="en-US" b="1" dirty="0"/>
              <a:t>track the ride</a:t>
            </a:r>
            <a:r>
              <a:rPr lang="en-US" dirty="0"/>
              <a:t> in real-time using GPS integration, receiving constant updates about the driver's location and estimated time of arrival. At the end of the journey, riders engage in </a:t>
            </a:r>
            <a:r>
              <a:rPr lang="en-US" b="1" dirty="0"/>
              <a:t>payment processing</a:t>
            </a:r>
            <a:r>
              <a:rPr lang="en-US" dirty="0"/>
              <a:t>, using stored payment methods that interact with the </a:t>
            </a:r>
            <a:r>
              <a:rPr lang="en-US" b="1" dirty="0"/>
              <a:t>Payment Gateway</a:t>
            </a:r>
            <a:r>
              <a:rPr lang="en-US" dirty="0"/>
              <a:t> for secure transactions. Post-ride, the rider has the option to </a:t>
            </a:r>
            <a:r>
              <a:rPr lang="en-US" b="1" dirty="0"/>
              <a:t>rate the driver</a:t>
            </a:r>
            <a:r>
              <a:rPr lang="en-US" dirty="0"/>
              <a:t>, providing feedback that contributes to Uber’s driver-rating system.</a:t>
            </a:r>
          </a:p>
          <a:p>
            <a:pPr algn="just"/>
            <a:endParaRPr lang="en-US" dirty="0"/>
          </a:p>
        </p:txBody>
      </p:sp>
    </p:spTree>
    <p:extLst>
      <p:ext uri="{BB962C8B-B14F-4D97-AF65-F5344CB8AC3E}">
        <p14:creationId xmlns:p14="http://schemas.microsoft.com/office/powerpoint/2010/main" val="461540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Like riders, drivers must </a:t>
            </a:r>
            <a:r>
              <a:rPr lang="en-US" b="1" dirty="0"/>
              <a:t>register</a:t>
            </a:r>
            <a:r>
              <a:rPr lang="en-US" dirty="0"/>
              <a:t> and </a:t>
            </a:r>
            <a:r>
              <a:rPr lang="en-US" b="1" dirty="0"/>
              <a:t>log in</a:t>
            </a:r>
            <a:r>
              <a:rPr lang="en-US" dirty="0"/>
              <a:t> to the system. However, their registration process involves more scrutiny, requiring them to submit documents such as driver’s licenses, vehicle registration, and insurance. Once logged in, the driver’s primary task is to </a:t>
            </a:r>
            <a:r>
              <a:rPr lang="en-US" b="1" dirty="0"/>
              <a:t>accept ride requests</a:t>
            </a:r>
            <a:r>
              <a:rPr lang="en-US" dirty="0"/>
              <a:t> sent by the system based on proximity and availability. Upon accepting a ride, the driver navigates to the rider’s location, using the app to </a:t>
            </a:r>
            <a:r>
              <a:rPr lang="en-US" b="1" dirty="0"/>
              <a:t>track the ride’s progress</a:t>
            </a:r>
            <a:r>
              <a:rPr lang="en-US" dirty="0"/>
              <a:t> and ensure efficient routes. After completing the journey, drivers </a:t>
            </a:r>
            <a:r>
              <a:rPr lang="en-US" b="1" dirty="0"/>
              <a:t>mark the ride as complete</a:t>
            </a:r>
            <a:r>
              <a:rPr lang="en-US" dirty="0"/>
              <a:t>, which triggers the payment process. Similar to riders, drivers can also </a:t>
            </a:r>
            <a:r>
              <a:rPr lang="en-US" b="1" dirty="0"/>
              <a:t>rate the rider</a:t>
            </a:r>
            <a:r>
              <a:rPr lang="en-US" dirty="0"/>
              <a:t>, ensuring two-way feedback that maintains quality standards on both sides.</a:t>
            </a:r>
          </a:p>
          <a:p>
            <a:pPr algn="just"/>
            <a:endParaRPr lang="en-US" dirty="0"/>
          </a:p>
        </p:txBody>
      </p:sp>
    </p:spTree>
    <p:extLst>
      <p:ext uri="{BB962C8B-B14F-4D97-AF65-F5344CB8AC3E}">
        <p14:creationId xmlns:p14="http://schemas.microsoft.com/office/powerpoint/2010/main" val="2022579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The </a:t>
            </a:r>
            <a:r>
              <a:rPr lang="en-US" b="1" dirty="0"/>
              <a:t>Admin</a:t>
            </a:r>
            <a:r>
              <a:rPr lang="en-US" dirty="0"/>
              <a:t> is responsible for ensuring the smooth operation of the Uber platform. This role includes managing rider and driver accounts, handling driver documentation, and resolving disputes. Admins are also involved in overseeing the </a:t>
            </a:r>
            <a:r>
              <a:rPr lang="en-US" b="1" dirty="0"/>
              <a:t>payment management</a:t>
            </a:r>
            <a:r>
              <a:rPr lang="en-US" dirty="0"/>
              <a:t> process, ensuring that payments are appropriately divided between the driver and Uber, handling refunds, and addressing transaction failures. In addition, the Admin has oversight of the </a:t>
            </a:r>
            <a:r>
              <a:rPr lang="en-US" b="1" dirty="0"/>
              <a:t>support system</a:t>
            </a:r>
            <a:r>
              <a:rPr lang="en-US" dirty="0"/>
              <a:t>, where both riders and drivers can submit inquiries or complaints related to rides, payments, or technical issues. One notable feature is the </a:t>
            </a:r>
            <a:r>
              <a:rPr lang="en-US" b="1" dirty="0"/>
              <a:t>rating system</a:t>
            </a:r>
            <a:r>
              <a:rPr lang="en-US" dirty="0"/>
              <a:t>, which extends from the ride completion. After the trip, both rider and driver rate each other. This feedback is vital for maintaining service quality, influencing driver eligibility and potentially affecting a rider’s future ride experience. The Admin can intervene if there are disputes related to these ratings or any inappropriate behavior reported by either party.</a:t>
            </a:r>
          </a:p>
          <a:p>
            <a:pPr algn="just"/>
            <a:endParaRPr lang="en-US" b="1" dirty="0"/>
          </a:p>
        </p:txBody>
      </p:sp>
    </p:spTree>
    <p:extLst>
      <p:ext uri="{BB962C8B-B14F-4D97-AF65-F5344CB8AC3E}">
        <p14:creationId xmlns:p14="http://schemas.microsoft.com/office/powerpoint/2010/main" val="16220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Steps to Create the Diagram:</a:t>
            </a:r>
            <a:br>
              <a:rPr lang="en-US" b="1" dirty="0" smtClean="0"/>
            </a:br>
            <a:endParaRPr lang="en-US" dirty="0"/>
          </a:p>
        </p:txBody>
      </p:sp>
      <p:sp>
        <p:nvSpPr>
          <p:cNvPr id="3" name="Content Placeholder 2"/>
          <p:cNvSpPr>
            <a:spLocks noGrp="1"/>
          </p:cNvSpPr>
          <p:nvPr>
            <p:ph idx="1"/>
          </p:nvPr>
        </p:nvSpPr>
        <p:spPr/>
        <p:txBody>
          <a:bodyPr/>
          <a:lstStyle/>
          <a:p>
            <a:pPr algn="just"/>
            <a:r>
              <a:rPr lang="en-US" b="1" dirty="0" smtClean="0"/>
              <a:t>Identify Actors: </a:t>
            </a:r>
            <a:r>
              <a:rPr lang="en-US" dirty="0" smtClean="0"/>
              <a:t>List out all primary actors </a:t>
            </a:r>
          </a:p>
          <a:p>
            <a:pPr algn="just"/>
            <a:r>
              <a:rPr lang="en-US" b="1" dirty="0" smtClean="0"/>
              <a:t>Identify Use Cases: </a:t>
            </a:r>
            <a:r>
              <a:rPr lang="en-US" dirty="0" smtClean="0"/>
              <a:t>Each actor should have specific actions they perform in the system.</a:t>
            </a:r>
          </a:p>
          <a:p>
            <a:pPr algn="just"/>
            <a:r>
              <a:rPr lang="en-US" b="1" dirty="0" smtClean="0"/>
              <a:t>Draw the System Boundary: </a:t>
            </a:r>
            <a:r>
              <a:rPr lang="en-US" dirty="0" smtClean="0"/>
              <a:t>Place all the use cases within the system boundary.</a:t>
            </a:r>
          </a:p>
          <a:p>
            <a:pPr algn="just"/>
            <a:r>
              <a:rPr lang="en-US" b="1" dirty="0" smtClean="0"/>
              <a:t>Draw Use Case Relationships</a:t>
            </a:r>
            <a:r>
              <a:rPr lang="en-US" dirty="0" smtClean="0"/>
              <a:t>:</a:t>
            </a:r>
          </a:p>
          <a:p>
            <a:endParaRPr lang="en-US" dirty="0"/>
          </a:p>
        </p:txBody>
      </p:sp>
    </p:spTree>
    <p:extLst>
      <p:ext uri="{BB962C8B-B14F-4D97-AF65-F5344CB8AC3E}">
        <p14:creationId xmlns:p14="http://schemas.microsoft.com/office/powerpoint/2010/main" val="3158883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Actors</a:t>
            </a:r>
            <a:r>
              <a:rPr lang="en-US" dirty="0" smtClean="0"/>
              <a:t>:</a:t>
            </a:r>
            <a:br>
              <a:rPr lang="en-US" dirty="0" smtClean="0"/>
            </a:br>
            <a:endParaRPr lang="en-US" dirty="0"/>
          </a:p>
        </p:txBody>
      </p:sp>
      <p:sp>
        <p:nvSpPr>
          <p:cNvPr id="3" name="Content Placeholder 2"/>
          <p:cNvSpPr>
            <a:spLocks noGrp="1"/>
          </p:cNvSpPr>
          <p:nvPr>
            <p:ph idx="1"/>
          </p:nvPr>
        </p:nvSpPr>
        <p:spPr/>
        <p:txBody>
          <a:bodyPr/>
          <a:lstStyle/>
          <a:p>
            <a:r>
              <a:rPr lang="en-US" dirty="0" smtClean="0"/>
              <a:t>Rider (</a:t>
            </a:r>
            <a:r>
              <a:rPr lang="en-US" b="1" dirty="0" smtClean="0"/>
              <a:t>Primary</a:t>
            </a:r>
            <a:r>
              <a:rPr lang="en-US" dirty="0" smtClean="0"/>
              <a:t>)</a:t>
            </a:r>
          </a:p>
          <a:p>
            <a:r>
              <a:rPr lang="en-US" dirty="0" smtClean="0"/>
              <a:t>Driver (</a:t>
            </a:r>
            <a:r>
              <a:rPr lang="en-US" b="1" dirty="0" smtClean="0"/>
              <a:t>Primary</a:t>
            </a:r>
            <a:r>
              <a:rPr lang="en-US" dirty="0" smtClean="0"/>
              <a:t>)</a:t>
            </a:r>
          </a:p>
          <a:p>
            <a:pPr algn="just"/>
            <a:r>
              <a:rPr lang="en-US" dirty="0" smtClean="0"/>
              <a:t>Admin (</a:t>
            </a:r>
            <a:r>
              <a:rPr lang="en-US" b="1" dirty="0" smtClean="0"/>
              <a:t>Supporting</a:t>
            </a:r>
            <a:r>
              <a:rPr lang="en-US" dirty="0" smtClean="0"/>
              <a:t>) </a:t>
            </a:r>
            <a:r>
              <a:rPr lang="en-US" dirty="0">
                <a:solidFill>
                  <a:srgbClr val="FF0000"/>
                </a:solidFill>
              </a:rPr>
              <a:t>Admin doesn't directly interact with the system to achieve the core business goals (e.g., requesting or completing rides). Instead, the Admin performs </a:t>
            </a:r>
            <a:r>
              <a:rPr lang="en-US" u="sng" dirty="0">
                <a:solidFill>
                  <a:srgbClr val="FF0000"/>
                </a:solidFill>
              </a:rPr>
              <a:t>background tasks </a:t>
            </a:r>
            <a:r>
              <a:rPr lang="en-US" dirty="0">
                <a:solidFill>
                  <a:srgbClr val="FF0000"/>
                </a:solidFill>
              </a:rPr>
              <a:t>that support and maintain the system’s operations.</a:t>
            </a:r>
          </a:p>
          <a:p>
            <a:pPr algn="just"/>
            <a:r>
              <a:rPr lang="en-US" dirty="0" smtClean="0"/>
              <a:t>Payment </a:t>
            </a:r>
            <a:r>
              <a:rPr lang="en-US" dirty="0" smtClean="0"/>
              <a:t>Gateway (</a:t>
            </a:r>
            <a:r>
              <a:rPr lang="en-US" b="1" dirty="0" smtClean="0"/>
              <a:t>External)</a:t>
            </a:r>
          </a:p>
          <a:p>
            <a:endParaRPr lang="en-US" dirty="0"/>
          </a:p>
        </p:txBody>
      </p:sp>
    </p:spTree>
    <p:extLst>
      <p:ext uri="{BB962C8B-B14F-4D97-AF65-F5344CB8AC3E}">
        <p14:creationId xmlns:p14="http://schemas.microsoft.com/office/powerpoint/2010/main" val="939936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7495" y="1994597"/>
            <a:ext cx="9872870" cy="2862322"/>
          </a:xfrm>
          <a:prstGeom prst="rect">
            <a:avLst/>
          </a:prstGeom>
        </p:spPr>
        <p:txBody>
          <a:bodyPr wrap="square">
            <a:spAutoFit/>
          </a:bodyPr>
          <a:lstStyle/>
          <a:p>
            <a:pPr marL="285750" indent="-285750" algn="just">
              <a:buFont typeface="Arial" panose="020B0604020202020204" pitchFamily="34" charset="0"/>
              <a:buChar char="•"/>
            </a:pPr>
            <a:r>
              <a:rPr lang="en-US" dirty="0"/>
              <a:t>The </a:t>
            </a:r>
            <a:r>
              <a:rPr lang="en-US" b="1" dirty="0">
                <a:solidFill>
                  <a:srgbClr val="FF0000"/>
                </a:solidFill>
              </a:rPr>
              <a:t>GPS system </a:t>
            </a:r>
            <a:r>
              <a:rPr lang="en-US" dirty="0"/>
              <a:t>is not directly interacting with the system in the same way that users (like Riders, Drivers, or Admins) do. It functions more as a tool or a resource within the system, providing data to support use cases such as Request Ride or Track Ride</a:t>
            </a:r>
            <a:r>
              <a:rPr lang="en-US" dirty="0" smtClean="0"/>
              <a:t>.</a:t>
            </a: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a:t>GPS provides </a:t>
            </a:r>
            <a:r>
              <a:rPr lang="en-US" dirty="0">
                <a:solidFill>
                  <a:srgbClr val="FF0000"/>
                </a:solidFill>
              </a:rPr>
              <a:t>location data in the background</a:t>
            </a:r>
            <a:r>
              <a:rPr lang="en-US" dirty="0"/>
              <a:t>, but it does not initiate actions or make decisions like an external actor would</a:t>
            </a:r>
            <a:r>
              <a:rPr lang="en-US" dirty="0" smtClean="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smtClean="0"/>
              <a:t>GPS </a:t>
            </a:r>
            <a:r>
              <a:rPr lang="en-US" b="1" dirty="0"/>
              <a:t>is a Supporting </a:t>
            </a:r>
            <a:r>
              <a:rPr lang="en-US" b="1" dirty="0" smtClean="0"/>
              <a:t>Technology</a:t>
            </a:r>
            <a:endParaRPr lang="en-US" b="1"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p:txBody>
      </p:sp>
      <p:sp>
        <p:nvSpPr>
          <p:cNvPr id="3" name="Rectangle 2"/>
          <p:cNvSpPr/>
          <p:nvPr/>
        </p:nvSpPr>
        <p:spPr>
          <a:xfrm>
            <a:off x="3746371" y="342108"/>
            <a:ext cx="4820230" cy="461665"/>
          </a:xfrm>
          <a:prstGeom prst="rect">
            <a:avLst/>
          </a:prstGeom>
        </p:spPr>
        <p:txBody>
          <a:bodyPr wrap="none">
            <a:spAutoFit/>
          </a:bodyPr>
          <a:lstStyle/>
          <a:p>
            <a:r>
              <a:rPr lang="en-US" sz="2400" b="1" dirty="0" smtClean="0"/>
              <a:t>Why GPS is not a secondary system?</a:t>
            </a:r>
            <a:endParaRPr lang="en-US" sz="2400" dirty="0"/>
          </a:p>
        </p:txBody>
      </p:sp>
    </p:spTree>
    <p:extLst>
      <p:ext uri="{BB962C8B-B14F-4D97-AF65-F5344CB8AC3E}">
        <p14:creationId xmlns:p14="http://schemas.microsoft.com/office/powerpoint/2010/main" val="2933369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Main Use Cases</a:t>
            </a:r>
            <a:r>
              <a:rPr lang="en-US" dirty="0" smtClean="0"/>
              <a:t>:</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622786433"/>
              </p:ext>
            </p:extLst>
          </p:nvPr>
        </p:nvGraphicFramePr>
        <p:xfrm>
          <a:off x="838200" y="2012757"/>
          <a:ext cx="10515599" cy="2656840"/>
        </p:xfrm>
        <a:graphic>
          <a:graphicData uri="http://schemas.openxmlformats.org/drawingml/2006/table">
            <a:tbl>
              <a:tblPr firstRow="1" bandRow="1">
                <a:tableStyleId>{5C22544A-7EE6-4342-B048-85BDC9FD1C3A}</a:tableStyleId>
              </a:tblPr>
              <a:tblGrid>
                <a:gridCol w="2549647">
                  <a:extLst>
                    <a:ext uri="{9D8B030D-6E8A-4147-A177-3AD203B41FA5}">
                      <a16:colId xmlns:a16="http://schemas.microsoft.com/office/drawing/2014/main" val="3981950351"/>
                    </a:ext>
                  </a:extLst>
                </a:gridCol>
                <a:gridCol w="2568614">
                  <a:extLst>
                    <a:ext uri="{9D8B030D-6E8A-4147-A177-3AD203B41FA5}">
                      <a16:colId xmlns:a16="http://schemas.microsoft.com/office/drawing/2014/main" val="103847748"/>
                    </a:ext>
                  </a:extLst>
                </a:gridCol>
                <a:gridCol w="3279903">
                  <a:extLst>
                    <a:ext uri="{9D8B030D-6E8A-4147-A177-3AD203B41FA5}">
                      <a16:colId xmlns:a16="http://schemas.microsoft.com/office/drawing/2014/main" val="3372086673"/>
                    </a:ext>
                  </a:extLst>
                </a:gridCol>
                <a:gridCol w="2117435">
                  <a:extLst>
                    <a:ext uri="{9D8B030D-6E8A-4147-A177-3AD203B41FA5}">
                      <a16:colId xmlns:a16="http://schemas.microsoft.com/office/drawing/2014/main" val="2798823202"/>
                    </a:ext>
                  </a:extLst>
                </a:gridCol>
              </a:tblGrid>
              <a:tr h="370840">
                <a:tc>
                  <a:txBody>
                    <a:bodyPr/>
                    <a:lstStyle/>
                    <a:p>
                      <a:r>
                        <a:rPr lang="en-US" dirty="0" smtClean="0"/>
                        <a:t>Rider</a:t>
                      </a:r>
                      <a:endParaRPr lang="en-US" dirty="0"/>
                    </a:p>
                  </a:txBody>
                  <a:tcPr/>
                </a:tc>
                <a:tc>
                  <a:txBody>
                    <a:bodyPr/>
                    <a:lstStyle/>
                    <a:p>
                      <a:r>
                        <a:rPr lang="en-US" dirty="0" smtClean="0"/>
                        <a:t>Driver</a:t>
                      </a:r>
                      <a:endParaRPr lang="en-US" dirty="0"/>
                    </a:p>
                  </a:txBody>
                  <a:tcPr/>
                </a:tc>
                <a:tc>
                  <a:txBody>
                    <a:bodyPr/>
                    <a:lstStyle/>
                    <a:p>
                      <a:r>
                        <a:rPr lang="en-US" dirty="0" smtClean="0"/>
                        <a:t>Admin</a:t>
                      </a:r>
                      <a:endParaRPr lang="en-US" dirty="0"/>
                    </a:p>
                  </a:txBody>
                  <a:tcPr/>
                </a:tc>
                <a:tc>
                  <a:txBody>
                    <a:bodyPr/>
                    <a:lstStyle/>
                    <a:p>
                      <a:r>
                        <a:rPr lang="en-US" dirty="0" smtClean="0"/>
                        <a:t>Payment Gateway </a:t>
                      </a:r>
                      <a:endParaRPr lang="en-US" dirty="0"/>
                    </a:p>
                  </a:txBody>
                  <a:tcPr/>
                </a:tc>
                <a:extLst>
                  <a:ext uri="{0D108BD9-81ED-4DB2-BD59-A6C34878D82A}">
                    <a16:rowId xmlns:a16="http://schemas.microsoft.com/office/drawing/2014/main" val="2188492680"/>
                  </a:ext>
                </a:extLst>
              </a:tr>
              <a:tr h="370840">
                <a:tc>
                  <a:txBody>
                    <a:bodyPr/>
                    <a:lstStyle/>
                    <a:p>
                      <a:pPr marL="285750" indent="-285750">
                        <a:buFont typeface="Arial" panose="020B0604020202020204" pitchFamily="34" charset="0"/>
                        <a:buChar char="•"/>
                      </a:pPr>
                      <a:r>
                        <a:rPr lang="en-US" dirty="0" smtClean="0"/>
                        <a:t>Register</a:t>
                      </a:r>
                    </a:p>
                    <a:p>
                      <a:pPr marL="285750" indent="-285750">
                        <a:buFont typeface="Arial" panose="020B0604020202020204" pitchFamily="34" charset="0"/>
                        <a:buChar char="•"/>
                      </a:pPr>
                      <a:r>
                        <a:rPr lang="en-US" dirty="0" smtClean="0"/>
                        <a:t>Login</a:t>
                      </a:r>
                    </a:p>
                    <a:p>
                      <a:pPr marL="285750" indent="-285750">
                        <a:buFont typeface="Arial" panose="020B0604020202020204" pitchFamily="34" charset="0"/>
                        <a:buChar char="•"/>
                      </a:pPr>
                      <a:r>
                        <a:rPr lang="en-US" dirty="0" smtClean="0"/>
                        <a:t>Request Ride</a:t>
                      </a:r>
                    </a:p>
                    <a:p>
                      <a:pPr marL="285750" indent="-285750">
                        <a:buFont typeface="Arial" panose="020B0604020202020204" pitchFamily="34" charset="0"/>
                        <a:buChar char="•"/>
                      </a:pPr>
                      <a:r>
                        <a:rPr lang="en-US" dirty="0" smtClean="0"/>
                        <a:t>Track Ride</a:t>
                      </a:r>
                    </a:p>
                    <a:p>
                      <a:pPr marL="285750" indent="-285750">
                        <a:buFont typeface="Arial" panose="020B0604020202020204" pitchFamily="34" charset="0"/>
                        <a:buChar char="•"/>
                      </a:pPr>
                      <a:r>
                        <a:rPr lang="en-US" dirty="0" smtClean="0"/>
                        <a:t>Make Payment</a:t>
                      </a:r>
                    </a:p>
                    <a:p>
                      <a:pPr marL="285750" indent="-285750">
                        <a:buFont typeface="Arial" panose="020B0604020202020204" pitchFamily="34" charset="0"/>
                        <a:buChar char="•"/>
                      </a:pPr>
                      <a:r>
                        <a:rPr lang="en-US" dirty="0" smtClean="0"/>
                        <a:t>Rate Ride</a:t>
                      </a:r>
                    </a:p>
                    <a:p>
                      <a:pPr marL="285750" indent="-285750">
                        <a:buFont typeface="Arial" panose="020B0604020202020204" pitchFamily="34" charset="0"/>
                        <a:buChar char="•"/>
                      </a:pPr>
                      <a:r>
                        <a:rPr lang="en-US" dirty="0" smtClean="0"/>
                        <a:t>View Ride History</a:t>
                      </a:r>
                    </a:p>
                    <a:p>
                      <a:pPr marL="285750" indent="-285750">
                        <a:buFont typeface="Arial" panose="020B0604020202020204" pitchFamily="34" charset="0"/>
                        <a:buChar char="•"/>
                      </a:pPr>
                      <a:r>
                        <a:rPr lang="en-US" dirty="0" smtClean="0"/>
                        <a:t>Contact Support</a:t>
                      </a:r>
                      <a:endParaRPr lang="en-US" dirty="0"/>
                    </a:p>
                  </a:txBody>
                  <a:tcPr/>
                </a:tc>
                <a:tc>
                  <a:txBody>
                    <a:bodyPr/>
                    <a:lstStyle/>
                    <a:p>
                      <a:pPr marL="285750" indent="-285750">
                        <a:buFont typeface="Arial" panose="020B0604020202020204" pitchFamily="34" charset="0"/>
                        <a:buChar char="•"/>
                      </a:pPr>
                      <a:r>
                        <a:rPr lang="en-US" dirty="0" smtClean="0"/>
                        <a:t>Register</a:t>
                      </a:r>
                    </a:p>
                    <a:p>
                      <a:pPr marL="285750" indent="-285750">
                        <a:buFont typeface="Arial" panose="020B0604020202020204" pitchFamily="34" charset="0"/>
                        <a:buChar char="•"/>
                      </a:pPr>
                      <a:r>
                        <a:rPr lang="en-US" dirty="0" smtClean="0"/>
                        <a:t>Login</a:t>
                      </a:r>
                    </a:p>
                    <a:p>
                      <a:pPr marL="285750" indent="-285750">
                        <a:buFont typeface="Arial" panose="020B0604020202020204" pitchFamily="34" charset="0"/>
                        <a:buChar char="•"/>
                      </a:pPr>
                      <a:r>
                        <a:rPr lang="en-US" dirty="0" smtClean="0"/>
                        <a:t>Accept Ride</a:t>
                      </a:r>
                    </a:p>
                    <a:p>
                      <a:pPr marL="285750" indent="-285750">
                        <a:buFont typeface="Arial" panose="020B0604020202020204" pitchFamily="34" charset="0"/>
                        <a:buChar char="•"/>
                      </a:pPr>
                      <a:r>
                        <a:rPr lang="en-US" dirty="0" smtClean="0"/>
                        <a:t>Complete Ride</a:t>
                      </a:r>
                    </a:p>
                    <a:p>
                      <a:pPr marL="285750" indent="-285750">
                        <a:buFont typeface="Arial" panose="020B0604020202020204" pitchFamily="34" charset="0"/>
                        <a:buChar char="•"/>
                      </a:pPr>
                      <a:r>
                        <a:rPr lang="en-US" dirty="0" smtClean="0"/>
                        <a:t>Rate Rider</a:t>
                      </a:r>
                    </a:p>
                    <a:p>
                      <a:pPr marL="285750" indent="-285750">
                        <a:buFont typeface="Arial" panose="020B0604020202020204" pitchFamily="34" charset="0"/>
                        <a:buChar char="•"/>
                      </a:pPr>
                      <a:r>
                        <a:rPr lang="en-US" dirty="0" smtClean="0"/>
                        <a:t>View Ride History</a:t>
                      </a:r>
                    </a:p>
                    <a:p>
                      <a:pPr marL="285750" indent="-285750">
                        <a:buFont typeface="Arial" panose="020B0604020202020204" pitchFamily="34" charset="0"/>
                        <a:buChar char="•"/>
                      </a:pPr>
                      <a:r>
                        <a:rPr lang="en-US" dirty="0" smtClean="0"/>
                        <a:t>Contact Support</a:t>
                      </a:r>
                      <a:endParaRPr lang="en-US" dirty="0"/>
                    </a:p>
                  </a:txBody>
                  <a:tcPr/>
                </a:tc>
                <a:tc>
                  <a:txBody>
                    <a:bodyPr/>
                    <a:lstStyle/>
                    <a:p>
                      <a:pPr marL="285750" indent="-285750">
                        <a:buFont typeface="Arial" panose="020B0604020202020204" pitchFamily="34" charset="0"/>
                        <a:buChar char="•"/>
                      </a:pPr>
                      <a:r>
                        <a:rPr lang="en-US" dirty="0" smtClean="0"/>
                        <a:t>Manage Users</a:t>
                      </a:r>
                    </a:p>
                    <a:p>
                      <a:pPr marL="285750" indent="-285750">
                        <a:buFont typeface="Arial" panose="020B0604020202020204" pitchFamily="34" charset="0"/>
                        <a:buChar char="•"/>
                      </a:pPr>
                      <a:r>
                        <a:rPr lang="en-US" dirty="0" smtClean="0"/>
                        <a:t>Manage Drivers</a:t>
                      </a:r>
                    </a:p>
                    <a:p>
                      <a:pPr marL="285750" indent="-285750">
                        <a:buFont typeface="Arial" panose="020B0604020202020204" pitchFamily="34" charset="0"/>
                        <a:buChar char="•"/>
                      </a:pPr>
                      <a:r>
                        <a:rPr lang="en-US" dirty="0" smtClean="0"/>
                        <a:t>Manage Payments</a:t>
                      </a:r>
                    </a:p>
                    <a:p>
                      <a:pPr marL="285750" indent="-285750">
                        <a:buFont typeface="Arial" panose="020B0604020202020204" pitchFamily="34" charset="0"/>
                        <a:buChar char="•"/>
                      </a:pPr>
                      <a:r>
                        <a:rPr lang="en-US" dirty="0" smtClean="0"/>
                        <a:t>Handle Support Requests</a:t>
                      </a:r>
                      <a:endParaRPr lang="en-US" dirty="0"/>
                    </a:p>
                  </a:txBody>
                  <a:tcPr/>
                </a:tc>
                <a:tc>
                  <a:txBody>
                    <a:bodyPr/>
                    <a:lstStyle/>
                    <a:p>
                      <a:endParaRPr lang="en-US" dirty="0" smtClean="0"/>
                    </a:p>
                    <a:p>
                      <a:pPr marL="285750" lvl="0" indent="-285750">
                        <a:buFont typeface="Arial" panose="020B0604020202020204" pitchFamily="34" charset="0"/>
                        <a:buChar char="•"/>
                      </a:pPr>
                      <a:r>
                        <a:rPr lang="en-US" dirty="0" smtClean="0"/>
                        <a:t>Process Payment</a:t>
                      </a:r>
                    </a:p>
                    <a:p>
                      <a:pPr algn="just"/>
                      <a:endParaRPr lang="en-US" dirty="0"/>
                    </a:p>
                  </a:txBody>
                  <a:tcPr/>
                </a:tc>
                <a:extLst>
                  <a:ext uri="{0D108BD9-81ED-4DB2-BD59-A6C34878D82A}">
                    <a16:rowId xmlns:a16="http://schemas.microsoft.com/office/drawing/2014/main" val="760992387"/>
                  </a:ext>
                </a:extLst>
              </a:tr>
            </a:tbl>
          </a:graphicData>
        </a:graphic>
      </p:graphicFrame>
    </p:spTree>
    <p:extLst>
      <p:ext uri="{BB962C8B-B14F-4D97-AF65-F5344CB8AC3E}">
        <p14:creationId xmlns:p14="http://schemas.microsoft.com/office/powerpoint/2010/main" val="321382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Accept ride </a:t>
            </a:r>
            <a:endParaRPr lang="en-US" dirty="0"/>
          </a:p>
        </p:txBody>
      </p:sp>
      <p:sp>
        <p:nvSpPr>
          <p:cNvPr id="3" name="Content Placeholder 2"/>
          <p:cNvSpPr>
            <a:spLocks noGrp="1"/>
          </p:cNvSpPr>
          <p:nvPr>
            <p:ph idx="1"/>
          </p:nvPr>
        </p:nvSpPr>
        <p:spPr/>
        <p:txBody>
          <a:bodyPr/>
          <a:lstStyle/>
          <a:p>
            <a:pPr algn="just"/>
            <a:r>
              <a:rPr lang="en-US" dirty="0"/>
              <a:t>Although it may seem like just tapping a button to accept a ride, the </a:t>
            </a:r>
            <a:r>
              <a:rPr lang="en-US" u="sng" dirty="0">
                <a:solidFill>
                  <a:srgbClr val="FF0000"/>
                </a:solidFill>
              </a:rPr>
              <a:t>Accept Ride action is a critical decision point </a:t>
            </a:r>
            <a:r>
              <a:rPr lang="en-US" dirty="0"/>
              <a:t>in the system. It transitions the ride request from a pending state to an active trip and is the driver’s confirmation to participate in a ride</a:t>
            </a:r>
            <a:r>
              <a:rPr lang="en-US" dirty="0" smtClean="0"/>
              <a:t>. Without </a:t>
            </a:r>
            <a:r>
              <a:rPr lang="en-US" dirty="0"/>
              <a:t>this action, the ride cannot proceed. The system depends on the driver’s acceptance to assign a ride and proceed with the booking.</a:t>
            </a:r>
          </a:p>
        </p:txBody>
      </p:sp>
    </p:spTree>
    <p:extLst>
      <p:ext uri="{BB962C8B-B14F-4D97-AF65-F5344CB8AC3E}">
        <p14:creationId xmlns:p14="http://schemas.microsoft.com/office/powerpoint/2010/main" val="329111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a:t>"Rate Driver"</a:t>
            </a:r>
            <a:r>
              <a:rPr lang="en-US" dirty="0"/>
              <a:t> use case is crucial to maintaining Uber’s two-way feedback system, which helps ensure service quality. Riders rate drivers after each trip, which directly impacts the driver’s reputation and future opportunities within the platform.</a:t>
            </a:r>
          </a:p>
        </p:txBody>
      </p:sp>
    </p:spTree>
    <p:extLst>
      <p:ext uri="{BB962C8B-B14F-4D97-AF65-F5344CB8AC3E}">
        <p14:creationId xmlns:p14="http://schemas.microsoft.com/office/powerpoint/2010/main" val="1615667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Complete Ride</a:t>
            </a:r>
            <a:endParaRPr lang="en-US" dirty="0"/>
          </a:p>
        </p:txBody>
      </p:sp>
      <p:sp>
        <p:nvSpPr>
          <p:cNvPr id="3" name="Content Placeholder 2"/>
          <p:cNvSpPr>
            <a:spLocks noGrp="1"/>
          </p:cNvSpPr>
          <p:nvPr>
            <p:ph idx="1"/>
          </p:nvPr>
        </p:nvSpPr>
        <p:spPr/>
        <p:txBody>
          <a:bodyPr>
            <a:normAutofit lnSpcReduction="10000"/>
          </a:bodyPr>
          <a:lstStyle/>
          <a:p>
            <a:r>
              <a:rPr lang="en-US" dirty="0"/>
              <a:t>seem like a single action performed by the driver, it triggers several important </a:t>
            </a:r>
            <a:r>
              <a:rPr lang="en-US" dirty="0" smtClean="0"/>
              <a:t>system operations </a:t>
            </a:r>
            <a:r>
              <a:rPr lang="en-US" dirty="0"/>
              <a:t>and business </a:t>
            </a:r>
            <a:r>
              <a:rPr lang="en-US" dirty="0" smtClean="0"/>
              <a:t>functions.</a:t>
            </a:r>
          </a:p>
          <a:p>
            <a:r>
              <a:rPr lang="en-US" dirty="0"/>
              <a:t>initiates </a:t>
            </a:r>
            <a:r>
              <a:rPr lang="en-US" dirty="0"/>
              <a:t>a series of important automated processes within Uber’s system</a:t>
            </a:r>
            <a:r>
              <a:rPr lang="en-US" dirty="0"/>
              <a:t>:</a:t>
            </a:r>
          </a:p>
          <a:p>
            <a:pPr lvl="1"/>
            <a:r>
              <a:rPr lang="en-US" sz="1800" b="1" dirty="0" smtClean="0"/>
              <a:t>Fare </a:t>
            </a:r>
            <a:r>
              <a:rPr lang="en-US" sz="1800" b="1" dirty="0"/>
              <a:t>Calculation</a:t>
            </a:r>
            <a:r>
              <a:rPr lang="en-US" sz="1800" dirty="0"/>
              <a:t>: Once the ride is completed, the system finalizes the fare, considering factors like time, distance, surge pricing, and tolls.</a:t>
            </a:r>
          </a:p>
          <a:p>
            <a:pPr lvl="1"/>
            <a:r>
              <a:rPr lang="en-US" sz="1800" b="1" dirty="0"/>
              <a:t>Payment Processing</a:t>
            </a:r>
            <a:r>
              <a:rPr lang="en-US" sz="1800" dirty="0"/>
              <a:t>: The system triggers the payment process, charging the rider’s saved payment method and initiating the transfer of earnings to the driver.</a:t>
            </a:r>
          </a:p>
          <a:p>
            <a:pPr lvl="1"/>
            <a:r>
              <a:rPr lang="en-US" sz="1800" b="1" dirty="0"/>
              <a:t>Receipt Generation</a:t>
            </a:r>
            <a:r>
              <a:rPr lang="en-US" sz="1800" dirty="0"/>
              <a:t>: Uber generates a detailed receipt for the rider, summarizing the cost and the trip details.</a:t>
            </a:r>
          </a:p>
          <a:p>
            <a:pPr lvl="1"/>
            <a:r>
              <a:rPr lang="en-US" sz="1800" b="1" dirty="0"/>
              <a:t>Driver Availability Update</a:t>
            </a:r>
            <a:r>
              <a:rPr lang="en-US" sz="1800" dirty="0"/>
              <a:t>: The driver’s status is updated from "on a trip" to "available" again, allowing them to accept new ride requests.</a:t>
            </a:r>
          </a:p>
          <a:p>
            <a:pPr lvl="1"/>
            <a:r>
              <a:rPr lang="en-US" sz="1800" b="1" dirty="0"/>
              <a:t>Feedback Loop</a:t>
            </a:r>
            <a:r>
              <a:rPr lang="en-US" sz="1800" dirty="0"/>
              <a:t>: Both rider and driver are prompted to rate each other, a crucial part of Uber's reputation system.</a:t>
            </a:r>
          </a:p>
          <a:p>
            <a:endParaRPr lang="en-US" dirty="0"/>
          </a:p>
          <a:p>
            <a:endParaRPr lang="en-US" dirty="0"/>
          </a:p>
        </p:txBody>
      </p:sp>
    </p:spTree>
    <p:extLst>
      <p:ext uri="{BB962C8B-B14F-4D97-AF65-F5344CB8AC3E}">
        <p14:creationId xmlns:p14="http://schemas.microsoft.com/office/powerpoint/2010/main" val="3270582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past ride information</a:t>
            </a:r>
          </a:p>
        </p:txBody>
      </p:sp>
      <p:sp>
        <p:nvSpPr>
          <p:cNvPr id="3" name="Content Placeholder 2"/>
          <p:cNvSpPr>
            <a:spLocks noGrp="1"/>
          </p:cNvSpPr>
          <p:nvPr>
            <p:ph idx="1"/>
          </p:nvPr>
        </p:nvSpPr>
        <p:spPr/>
        <p:txBody>
          <a:bodyPr/>
          <a:lstStyle/>
          <a:p>
            <a:r>
              <a:rPr lang="en-US" dirty="0"/>
              <a:t>The primary goal of the </a:t>
            </a:r>
            <a:r>
              <a:rPr lang="en-US" b="1" dirty="0"/>
              <a:t>Rider</a:t>
            </a:r>
            <a:r>
              <a:rPr lang="en-US" dirty="0"/>
              <a:t> or </a:t>
            </a:r>
            <a:r>
              <a:rPr lang="en-US" b="1" dirty="0"/>
              <a:t>Driver</a:t>
            </a:r>
            <a:r>
              <a:rPr lang="en-US" dirty="0"/>
              <a:t> in this use case is to </a:t>
            </a:r>
            <a:r>
              <a:rPr lang="en-US" b="1" dirty="0"/>
              <a:t>access past ride information</a:t>
            </a:r>
            <a:r>
              <a:rPr lang="en-US" dirty="0"/>
              <a:t> for a variety of reasons, such </a:t>
            </a:r>
            <a:r>
              <a:rPr lang="en-US" dirty="0" err="1"/>
              <a:t>as:Reviewing</a:t>
            </a:r>
            <a:r>
              <a:rPr lang="en-US" dirty="0"/>
              <a:t> previous trips for expense tracking.</a:t>
            </a:r>
          </a:p>
          <a:p>
            <a:r>
              <a:rPr lang="en-US" dirty="0"/>
              <a:t>Checking the details of the routes, dates, or times of rides.</a:t>
            </a:r>
          </a:p>
          <a:p>
            <a:r>
              <a:rPr lang="en-US" dirty="0"/>
              <a:t>Retrieving receipts for payments.</a:t>
            </a:r>
          </a:p>
          <a:p>
            <a:r>
              <a:rPr lang="en-US" dirty="0"/>
              <a:t>Resolving disputes or issues related to a ride.</a:t>
            </a:r>
          </a:p>
        </p:txBody>
      </p:sp>
    </p:spTree>
    <p:extLst>
      <p:ext uri="{BB962C8B-B14F-4D97-AF65-F5344CB8AC3E}">
        <p14:creationId xmlns:p14="http://schemas.microsoft.com/office/powerpoint/2010/main" val="3089842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
            </a:r>
            <a:r>
              <a:rPr lang="en-US" dirty="0" smtClean="0"/>
              <a:t>hy login </a:t>
            </a:r>
            <a:r>
              <a:rPr lang="en-US" dirty="0" smtClean="0"/>
              <a:t>might still appear in a use case diagram</a:t>
            </a:r>
            <a:endParaRPr lang="en-US" dirty="0"/>
          </a:p>
        </p:txBody>
      </p:sp>
      <p:sp>
        <p:nvSpPr>
          <p:cNvPr id="3" name="Content Placeholder 2"/>
          <p:cNvSpPr>
            <a:spLocks noGrp="1"/>
          </p:cNvSpPr>
          <p:nvPr>
            <p:ph idx="1"/>
          </p:nvPr>
        </p:nvSpPr>
        <p:spPr>
          <a:xfrm>
            <a:off x="838200" y="2296680"/>
            <a:ext cx="10515600" cy="4351338"/>
          </a:xfrm>
        </p:spPr>
        <p:txBody>
          <a:bodyPr/>
          <a:lstStyle/>
          <a:p>
            <a:pPr algn="just"/>
            <a:r>
              <a:rPr lang="en-US" b="1" dirty="0" smtClean="0"/>
              <a:t>Technical Necessity: </a:t>
            </a:r>
            <a:r>
              <a:rPr lang="en-US" dirty="0" smtClean="0"/>
              <a:t>In most systems, logging in is necessary to access other core functions, such as booking a ride or accepting a ride request. Without login, users wouldn’t be able to perform their intended actions.</a:t>
            </a:r>
          </a:p>
          <a:p>
            <a:pPr algn="just"/>
            <a:r>
              <a:rPr lang="en-US" b="1" dirty="0" smtClean="0"/>
              <a:t>Supporting Functionality: </a:t>
            </a:r>
            <a:r>
              <a:rPr lang="en-US" dirty="0" smtClean="0"/>
              <a:t>While login isn’t a business goal, it supports critical functionality (e.g., verifying user identity, associating past rides or payment methods).</a:t>
            </a:r>
            <a:endParaRPr lang="en-US" dirty="0"/>
          </a:p>
        </p:txBody>
      </p:sp>
    </p:spTree>
    <p:extLst>
      <p:ext uri="{BB962C8B-B14F-4D97-AF65-F5344CB8AC3E}">
        <p14:creationId xmlns:p14="http://schemas.microsoft.com/office/powerpoint/2010/main" val="952553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799" y="695695"/>
            <a:ext cx="10843491" cy="4801314"/>
          </a:xfrm>
          <a:prstGeom prst="rect">
            <a:avLst/>
          </a:prstGeom>
        </p:spPr>
        <p:txBody>
          <a:bodyPr wrap="square">
            <a:spAutoFit/>
          </a:bodyPr>
          <a:lstStyle/>
          <a:p>
            <a:r>
              <a:rPr lang="en-US" b="1" dirty="0" smtClean="0"/>
              <a:t>1. Request Ride (Rider)</a:t>
            </a:r>
          </a:p>
          <a:p>
            <a:pPr lvl="1">
              <a:buFont typeface="Arial" panose="020B0604020202020204" pitchFamily="34" charset="0"/>
              <a:buChar char="•"/>
            </a:pPr>
            <a:r>
              <a:rPr lang="en-US" b="1" dirty="0" smtClean="0"/>
              <a:t>Description</a:t>
            </a:r>
            <a:r>
              <a:rPr lang="en-US" dirty="0" smtClean="0"/>
              <a:t>: The rider selects their pick-up and drop-off locations, ride type, and submits a ride request.</a:t>
            </a:r>
          </a:p>
          <a:p>
            <a:pPr lvl="1">
              <a:buFont typeface="Arial" panose="020B0604020202020204" pitchFamily="34" charset="0"/>
              <a:buChar char="•"/>
            </a:pPr>
            <a:r>
              <a:rPr lang="en-US" b="1" dirty="0" smtClean="0"/>
              <a:t>Actor</a:t>
            </a:r>
            <a:r>
              <a:rPr lang="en-US" dirty="0" smtClean="0"/>
              <a:t>: Rider</a:t>
            </a:r>
          </a:p>
          <a:p>
            <a:pPr>
              <a:buFont typeface="Arial" panose="020B0604020202020204" pitchFamily="34" charset="0"/>
              <a:buChar char="•"/>
            </a:pPr>
            <a:endParaRPr lang="en-US" dirty="0" smtClean="0"/>
          </a:p>
          <a:p>
            <a:r>
              <a:rPr lang="en-US" b="1" dirty="0" smtClean="0"/>
              <a:t>2. Accept Ride Request (Driver)</a:t>
            </a:r>
          </a:p>
          <a:p>
            <a:pPr lvl="1">
              <a:buFont typeface="Arial" panose="020B0604020202020204" pitchFamily="34" charset="0"/>
              <a:buChar char="•"/>
            </a:pPr>
            <a:r>
              <a:rPr lang="en-US" b="1" dirty="0" smtClean="0"/>
              <a:t>Description</a:t>
            </a:r>
            <a:r>
              <a:rPr lang="en-US" dirty="0" smtClean="0"/>
              <a:t>: A driver receives a notification of a ride request and decides whether to accept or reject it.</a:t>
            </a:r>
          </a:p>
          <a:p>
            <a:pPr lvl="1">
              <a:buFont typeface="Arial" panose="020B0604020202020204" pitchFamily="34" charset="0"/>
              <a:buChar char="•"/>
            </a:pPr>
            <a:r>
              <a:rPr lang="en-US" b="1" dirty="0" smtClean="0"/>
              <a:t>Actor</a:t>
            </a:r>
            <a:r>
              <a:rPr lang="en-US" dirty="0" smtClean="0"/>
              <a:t>: Driver</a:t>
            </a:r>
          </a:p>
          <a:p>
            <a:pPr lvl="1">
              <a:buFont typeface="Arial" panose="020B0604020202020204" pitchFamily="34" charset="0"/>
              <a:buChar char="•"/>
            </a:pPr>
            <a:endParaRPr lang="en-US" dirty="0"/>
          </a:p>
          <a:p>
            <a:pPr algn="just"/>
            <a:r>
              <a:rPr lang="en-US" b="1" dirty="0" smtClean="0"/>
              <a:t>3. Track Ride (Rider &amp; Driver)</a:t>
            </a:r>
          </a:p>
          <a:p>
            <a:pPr lvl="1" algn="just">
              <a:buFont typeface="Arial" panose="020B0604020202020204" pitchFamily="34" charset="0"/>
              <a:buChar char="•"/>
            </a:pPr>
            <a:r>
              <a:rPr lang="en-US" b="1" dirty="0" smtClean="0"/>
              <a:t>Description</a:t>
            </a:r>
            <a:r>
              <a:rPr lang="en-US" dirty="0" smtClean="0"/>
              <a:t>: Both the rider and driver use real-time GPS to track each other’s location and the ride's progress.</a:t>
            </a:r>
          </a:p>
          <a:p>
            <a:pPr lvl="1" algn="just">
              <a:buFont typeface="Arial" panose="020B0604020202020204" pitchFamily="34" charset="0"/>
              <a:buChar char="•"/>
            </a:pPr>
            <a:r>
              <a:rPr lang="en-US" b="1" dirty="0" smtClean="0"/>
              <a:t>Actors</a:t>
            </a:r>
            <a:r>
              <a:rPr lang="en-US" dirty="0" smtClean="0"/>
              <a:t>: Rider, Driver</a:t>
            </a:r>
          </a:p>
          <a:p>
            <a:pPr algn="just"/>
            <a:endParaRPr lang="en-US" dirty="0" smtClean="0"/>
          </a:p>
          <a:p>
            <a:pPr algn="just"/>
            <a:r>
              <a:rPr lang="en-US" b="1" dirty="0" smtClean="0"/>
              <a:t>4. Make Payment (Rider)</a:t>
            </a:r>
          </a:p>
          <a:p>
            <a:pPr lvl="1" algn="just">
              <a:buFont typeface="Arial" panose="020B0604020202020204" pitchFamily="34" charset="0"/>
              <a:buChar char="•"/>
            </a:pPr>
            <a:r>
              <a:rPr lang="en-US" b="1" dirty="0" smtClean="0"/>
              <a:t>Description</a:t>
            </a:r>
            <a:r>
              <a:rPr lang="en-US" dirty="0" smtClean="0"/>
              <a:t>: After the ride is completed, the rider is charged, and payment is processed through the app’s integrated payment system.</a:t>
            </a:r>
          </a:p>
          <a:p>
            <a:pPr lvl="1" algn="just">
              <a:buFont typeface="Arial" panose="020B0604020202020204" pitchFamily="34" charset="0"/>
              <a:buChar char="•"/>
            </a:pPr>
            <a:r>
              <a:rPr lang="en-US" b="1" dirty="0" smtClean="0"/>
              <a:t>Actor</a:t>
            </a:r>
            <a:r>
              <a:rPr lang="en-US" dirty="0" smtClean="0"/>
              <a:t>: Rider, Payment Gateway (External)</a:t>
            </a:r>
          </a:p>
        </p:txBody>
      </p:sp>
    </p:spTree>
    <p:extLst>
      <p:ext uri="{BB962C8B-B14F-4D97-AF65-F5344CB8AC3E}">
        <p14:creationId xmlns:p14="http://schemas.microsoft.com/office/powerpoint/2010/main" val="3508268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8836" y="335846"/>
            <a:ext cx="10649528" cy="5632311"/>
          </a:xfrm>
          <a:prstGeom prst="rect">
            <a:avLst/>
          </a:prstGeom>
        </p:spPr>
        <p:txBody>
          <a:bodyPr wrap="square">
            <a:spAutoFit/>
          </a:bodyPr>
          <a:lstStyle/>
          <a:p>
            <a:r>
              <a:rPr lang="en-US" b="1" dirty="0" smtClean="0"/>
              <a:t>5. Complete Ride (Driver)</a:t>
            </a:r>
          </a:p>
          <a:p>
            <a:pPr>
              <a:buFont typeface="Arial" panose="020B0604020202020204" pitchFamily="34" charset="0"/>
              <a:buChar char="•"/>
            </a:pPr>
            <a:r>
              <a:rPr lang="en-US" b="1" dirty="0" smtClean="0"/>
              <a:t>Description</a:t>
            </a:r>
            <a:r>
              <a:rPr lang="en-US" dirty="0" smtClean="0"/>
              <a:t>: The driver marks the ride as completed once the rider is dropped off at their destination.</a:t>
            </a:r>
          </a:p>
          <a:p>
            <a:pPr>
              <a:buFont typeface="Arial" panose="020B0604020202020204" pitchFamily="34" charset="0"/>
              <a:buChar char="•"/>
            </a:pPr>
            <a:r>
              <a:rPr lang="en-US" b="1" dirty="0" smtClean="0"/>
              <a:t>Actor</a:t>
            </a:r>
            <a:r>
              <a:rPr lang="en-US" dirty="0" smtClean="0"/>
              <a:t>: Driver</a:t>
            </a:r>
          </a:p>
          <a:p>
            <a:pPr>
              <a:buFont typeface="Arial" panose="020B0604020202020204" pitchFamily="34" charset="0"/>
              <a:buChar char="•"/>
            </a:pPr>
            <a:endParaRPr lang="en-US" dirty="0" smtClean="0"/>
          </a:p>
          <a:p>
            <a:r>
              <a:rPr lang="en-US" b="1" dirty="0" smtClean="0"/>
              <a:t>6. Rate Ride (Rider &amp; Driver)</a:t>
            </a:r>
          </a:p>
          <a:p>
            <a:pPr>
              <a:buFont typeface="Arial" panose="020B0604020202020204" pitchFamily="34" charset="0"/>
              <a:buChar char="•"/>
            </a:pPr>
            <a:r>
              <a:rPr lang="en-US" b="1" dirty="0" smtClean="0"/>
              <a:t>Description</a:t>
            </a:r>
            <a:r>
              <a:rPr lang="en-US" dirty="0" smtClean="0"/>
              <a:t>: After the ride, both rider and driver provide feedback by rating each other.</a:t>
            </a:r>
          </a:p>
          <a:p>
            <a:pPr>
              <a:buFont typeface="Arial" panose="020B0604020202020204" pitchFamily="34" charset="0"/>
              <a:buChar char="•"/>
            </a:pPr>
            <a:r>
              <a:rPr lang="en-US" b="1" dirty="0" smtClean="0"/>
              <a:t>Actors</a:t>
            </a:r>
            <a:r>
              <a:rPr lang="en-US" dirty="0" smtClean="0"/>
              <a:t>: Rider, Driver</a:t>
            </a:r>
          </a:p>
          <a:p>
            <a:pPr>
              <a:buFont typeface="Arial" panose="020B0604020202020204" pitchFamily="34" charset="0"/>
              <a:buChar char="•"/>
            </a:pPr>
            <a:endParaRPr lang="en-US" dirty="0" smtClean="0"/>
          </a:p>
          <a:p>
            <a:r>
              <a:rPr lang="en-US" b="1" dirty="0" smtClean="0"/>
              <a:t>7. View Ride History (Rider &amp; Driver)</a:t>
            </a:r>
          </a:p>
          <a:p>
            <a:pPr>
              <a:buFont typeface="Arial" panose="020B0604020202020204" pitchFamily="34" charset="0"/>
              <a:buChar char="•"/>
            </a:pPr>
            <a:r>
              <a:rPr lang="en-US" b="1" dirty="0" smtClean="0"/>
              <a:t>Description</a:t>
            </a:r>
            <a:r>
              <a:rPr lang="en-US" dirty="0" smtClean="0"/>
              <a:t>: Users can view a list of their completed rides and details such as date, time, and cost.</a:t>
            </a:r>
          </a:p>
          <a:p>
            <a:pPr>
              <a:buFont typeface="Arial" panose="020B0604020202020204" pitchFamily="34" charset="0"/>
              <a:buChar char="•"/>
            </a:pPr>
            <a:r>
              <a:rPr lang="en-US" b="1" dirty="0" smtClean="0"/>
              <a:t>Actors</a:t>
            </a:r>
            <a:r>
              <a:rPr lang="en-US" dirty="0" smtClean="0"/>
              <a:t>: Rider, Driver</a:t>
            </a:r>
          </a:p>
          <a:p>
            <a:pPr>
              <a:buFont typeface="Arial" panose="020B0604020202020204" pitchFamily="34" charset="0"/>
              <a:buChar char="•"/>
            </a:pPr>
            <a:endParaRPr lang="en-US" dirty="0"/>
          </a:p>
          <a:p>
            <a:r>
              <a:rPr lang="en-US" b="1" dirty="0" smtClean="0"/>
              <a:t>8.Manage Profile (Rider &amp; Driver)</a:t>
            </a:r>
          </a:p>
          <a:p>
            <a:pPr>
              <a:buFont typeface="Arial" panose="020B0604020202020204" pitchFamily="34" charset="0"/>
              <a:buChar char="•"/>
            </a:pPr>
            <a:r>
              <a:rPr lang="en-US" b="1" dirty="0" smtClean="0"/>
              <a:t>Description</a:t>
            </a:r>
            <a:r>
              <a:rPr lang="en-US" dirty="0" smtClean="0"/>
              <a:t>: Users can update personal information such as payment methods (for riders) or vehicle information (for drivers).</a:t>
            </a:r>
          </a:p>
          <a:p>
            <a:pPr>
              <a:buFont typeface="Arial" panose="020B0604020202020204" pitchFamily="34" charset="0"/>
              <a:buChar char="•"/>
            </a:pPr>
            <a:r>
              <a:rPr lang="en-US" b="1" dirty="0" smtClean="0"/>
              <a:t>Actors</a:t>
            </a:r>
            <a:r>
              <a:rPr lang="en-US" dirty="0" smtClean="0"/>
              <a:t>: Rider, Driver</a:t>
            </a:r>
          </a:p>
          <a:p>
            <a:pPr>
              <a:buFont typeface="Arial" panose="020B0604020202020204" pitchFamily="34" charset="0"/>
              <a:buChar char="•"/>
            </a:pPr>
            <a:endParaRPr lang="en-US" dirty="0" smtClean="0"/>
          </a:p>
          <a:p>
            <a:r>
              <a:rPr lang="en-US" b="1" dirty="0" smtClean="0"/>
              <a:t>9. Support Request (Rider &amp; Driver)</a:t>
            </a:r>
          </a:p>
          <a:p>
            <a:pPr>
              <a:buFont typeface="Arial" panose="020B0604020202020204" pitchFamily="34" charset="0"/>
              <a:buChar char="•"/>
            </a:pPr>
            <a:r>
              <a:rPr lang="en-US" b="1" dirty="0" smtClean="0"/>
              <a:t>Description</a:t>
            </a:r>
            <a:r>
              <a:rPr lang="en-US" dirty="0" smtClean="0"/>
              <a:t>: Users can request support for any issues related to rides, payments, or account problems.</a:t>
            </a:r>
          </a:p>
          <a:p>
            <a:pPr>
              <a:buFont typeface="Arial" panose="020B0604020202020204" pitchFamily="34" charset="0"/>
              <a:buChar char="•"/>
            </a:pPr>
            <a:r>
              <a:rPr lang="en-US" b="1" dirty="0" smtClean="0"/>
              <a:t>Actors</a:t>
            </a:r>
            <a:r>
              <a:rPr lang="en-US" dirty="0" smtClean="0"/>
              <a:t>: Rider, Driver, Admin</a:t>
            </a:r>
          </a:p>
        </p:txBody>
      </p:sp>
    </p:spTree>
    <p:extLst>
      <p:ext uri="{BB962C8B-B14F-4D97-AF65-F5344CB8AC3E}">
        <p14:creationId xmlns:p14="http://schemas.microsoft.com/office/powerpoint/2010/main" val="2741589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0240" y="251752"/>
            <a:ext cx="5859104" cy="461665"/>
          </a:xfrm>
          <a:prstGeom prst="rect">
            <a:avLst/>
          </a:prstGeom>
        </p:spPr>
        <p:txBody>
          <a:bodyPr wrap="none">
            <a:spAutoFit/>
          </a:bodyPr>
          <a:lstStyle/>
          <a:p>
            <a:r>
              <a:rPr lang="en-US" sz="2400" b="1" dirty="0" smtClean="0">
                <a:solidFill>
                  <a:srgbClr val="FF0000"/>
                </a:solidFill>
              </a:rPr>
              <a:t>Fully Dressed Use Case: Request Ride (Rider)</a:t>
            </a:r>
            <a:endParaRPr lang="en-US" sz="2400" b="1" dirty="0">
              <a:solidFill>
                <a:srgbClr val="FF0000"/>
              </a:solidFill>
            </a:endParaRPr>
          </a:p>
        </p:txBody>
      </p:sp>
      <p:sp>
        <p:nvSpPr>
          <p:cNvPr id="3" name="Rectangle 2"/>
          <p:cNvSpPr/>
          <p:nvPr/>
        </p:nvSpPr>
        <p:spPr>
          <a:xfrm>
            <a:off x="609599" y="1259114"/>
            <a:ext cx="9578109" cy="4524315"/>
          </a:xfrm>
          <a:prstGeom prst="rect">
            <a:avLst/>
          </a:prstGeom>
        </p:spPr>
        <p:txBody>
          <a:bodyPr wrap="square">
            <a:spAutoFit/>
          </a:bodyPr>
          <a:lstStyle/>
          <a:p>
            <a:pPr marL="342900" indent="-342900">
              <a:buFont typeface="+mj-lt"/>
              <a:buAutoNum type="arabicPeriod"/>
            </a:pPr>
            <a:r>
              <a:rPr lang="en-US" b="1" dirty="0" smtClean="0"/>
              <a:t>Use Case Name: Request Ride</a:t>
            </a:r>
          </a:p>
          <a:p>
            <a:pPr marL="342900" indent="-342900">
              <a:buFont typeface="+mj-lt"/>
              <a:buAutoNum type="arabicPeriod"/>
            </a:pPr>
            <a:endParaRPr lang="en-US" b="1" dirty="0" smtClean="0"/>
          </a:p>
          <a:p>
            <a:pPr marL="342900" indent="-342900">
              <a:buFont typeface="+mj-lt"/>
              <a:buAutoNum type="arabicPeriod"/>
            </a:pPr>
            <a:r>
              <a:rPr lang="en-US" b="1" dirty="0" smtClean="0"/>
              <a:t>Primary Actor: Rider</a:t>
            </a:r>
          </a:p>
          <a:p>
            <a:pPr marL="342900" indent="-342900">
              <a:buFont typeface="+mj-lt"/>
              <a:buAutoNum type="arabicPeriod"/>
            </a:pPr>
            <a:endParaRPr lang="en-US" b="1" dirty="0"/>
          </a:p>
          <a:p>
            <a:pPr marL="342900" indent="-342900">
              <a:buFont typeface="+mj-lt"/>
              <a:buAutoNum type="arabicPeriod"/>
            </a:pPr>
            <a:r>
              <a:rPr lang="en-US" b="1" dirty="0" smtClean="0"/>
              <a:t>Scope: Uber </a:t>
            </a:r>
          </a:p>
          <a:p>
            <a:pPr marL="342900" indent="-342900">
              <a:buFont typeface="+mj-lt"/>
              <a:buAutoNum type="arabicPeriod"/>
            </a:pPr>
            <a:endParaRPr lang="en-US" b="1" dirty="0"/>
          </a:p>
          <a:p>
            <a:pPr marL="342900" indent="-342900">
              <a:buFont typeface="+mj-lt"/>
              <a:buAutoNum type="arabicPeriod"/>
            </a:pPr>
            <a:r>
              <a:rPr lang="en-US" b="1" dirty="0" smtClean="0"/>
              <a:t>Level: user goal</a:t>
            </a:r>
          </a:p>
          <a:p>
            <a:pPr marL="342900" indent="-342900">
              <a:buFont typeface="+mj-lt"/>
              <a:buAutoNum type="arabicPeriod"/>
            </a:pPr>
            <a:endParaRPr lang="en-US" b="1" dirty="0" smtClean="0"/>
          </a:p>
          <a:p>
            <a:pPr marL="342900" indent="-342900">
              <a:buFont typeface="+mj-lt"/>
              <a:buAutoNum type="arabicPeriod"/>
            </a:pPr>
            <a:r>
              <a:rPr lang="en-US" b="1" dirty="0" smtClean="0"/>
              <a:t>Stakeholders and Interests:</a:t>
            </a:r>
          </a:p>
          <a:p>
            <a:pPr lvl="1">
              <a:buFont typeface="Arial" panose="020B0604020202020204" pitchFamily="34" charset="0"/>
              <a:buChar char="•"/>
            </a:pPr>
            <a:r>
              <a:rPr lang="en-US" b="1" dirty="0" smtClean="0"/>
              <a:t>Rider</a:t>
            </a:r>
            <a:r>
              <a:rPr lang="en-US" dirty="0" smtClean="0"/>
              <a:t>: Wants to quickly request a ride and be matched with an available driver.</a:t>
            </a:r>
          </a:p>
          <a:p>
            <a:pPr lvl="1">
              <a:buFont typeface="Arial" panose="020B0604020202020204" pitchFamily="34" charset="0"/>
              <a:buChar char="•"/>
            </a:pPr>
            <a:r>
              <a:rPr lang="en-US" b="1" dirty="0" smtClean="0"/>
              <a:t>Driver</a:t>
            </a:r>
            <a:r>
              <a:rPr lang="en-US" dirty="0" smtClean="0"/>
              <a:t>: Wants to receive ride requests and complete rides to earn income.</a:t>
            </a:r>
          </a:p>
          <a:p>
            <a:pPr lvl="1">
              <a:buFont typeface="Arial" panose="020B0604020202020204" pitchFamily="34" charset="0"/>
              <a:buChar char="•"/>
            </a:pPr>
            <a:r>
              <a:rPr lang="en-US" b="1" dirty="0" smtClean="0"/>
              <a:t>Admin (Uber)</a:t>
            </a:r>
            <a:r>
              <a:rPr lang="en-US" dirty="0" smtClean="0"/>
              <a:t>: Ensures that the system operates efficiently, matching riders and drivers effectively.</a:t>
            </a:r>
          </a:p>
          <a:p>
            <a:pPr lvl="1">
              <a:buFont typeface="Arial" panose="020B0604020202020204" pitchFamily="34" charset="0"/>
              <a:buChar char="•"/>
            </a:pPr>
            <a:r>
              <a:rPr lang="en-US" b="1" dirty="0" smtClean="0"/>
              <a:t>Payment Gateway</a:t>
            </a:r>
            <a:r>
              <a:rPr lang="en-US" dirty="0" smtClean="0"/>
              <a:t>: Processes payments once the ride is completed.</a:t>
            </a:r>
          </a:p>
          <a:p>
            <a:pPr lvl="1">
              <a:buFont typeface="Arial" panose="020B0604020202020204" pitchFamily="34" charset="0"/>
              <a:buChar char="•"/>
            </a:pPr>
            <a:r>
              <a:rPr lang="en-US" b="1" dirty="0" smtClean="0"/>
              <a:t>Government/Regulators</a:t>
            </a:r>
            <a:r>
              <a:rPr lang="en-US" dirty="0" smtClean="0"/>
              <a:t>: Ensure the system complies with local transportation regulations, safety, and driver/rider accountability.</a:t>
            </a:r>
            <a:endParaRPr lang="en-US" dirty="0"/>
          </a:p>
        </p:txBody>
      </p:sp>
    </p:spTree>
    <p:extLst>
      <p:ext uri="{BB962C8B-B14F-4D97-AF65-F5344CB8AC3E}">
        <p14:creationId xmlns:p14="http://schemas.microsoft.com/office/powerpoint/2010/main" val="1744866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8908" y="778593"/>
            <a:ext cx="10123055" cy="2308324"/>
          </a:xfrm>
          <a:prstGeom prst="rect">
            <a:avLst/>
          </a:prstGeom>
        </p:spPr>
        <p:txBody>
          <a:bodyPr wrap="square">
            <a:spAutoFit/>
          </a:bodyPr>
          <a:lstStyle/>
          <a:p>
            <a:r>
              <a:rPr lang="en-US" b="1" dirty="0" smtClean="0"/>
              <a:t>6. Preconditions:</a:t>
            </a:r>
          </a:p>
          <a:p>
            <a:pPr>
              <a:buFont typeface="Arial" panose="020B0604020202020204" pitchFamily="34" charset="0"/>
              <a:buChar char="•"/>
            </a:pPr>
            <a:r>
              <a:rPr lang="en-US" dirty="0" smtClean="0"/>
              <a:t>The rider must be logged in to the Uber app.</a:t>
            </a:r>
          </a:p>
          <a:p>
            <a:pPr>
              <a:buFont typeface="Arial" panose="020B0604020202020204" pitchFamily="34" charset="0"/>
              <a:buChar char="•"/>
            </a:pPr>
            <a:r>
              <a:rPr lang="en-US" dirty="0" smtClean="0"/>
              <a:t>The rider must have a valid payment method associated with their account.</a:t>
            </a:r>
          </a:p>
          <a:p>
            <a:pPr>
              <a:buFont typeface="Arial" panose="020B0604020202020204" pitchFamily="34" charset="0"/>
              <a:buChar char="•"/>
            </a:pPr>
            <a:r>
              <a:rPr lang="en-US" dirty="0" smtClean="0"/>
              <a:t>The rider’s GPS must be enabled to determine their current location.</a:t>
            </a:r>
          </a:p>
          <a:p>
            <a:pPr>
              <a:buFont typeface="Arial" panose="020B0604020202020204" pitchFamily="34" charset="0"/>
              <a:buChar char="•"/>
            </a:pPr>
            <a:endParaRPr lang="en-US" dirty="0"/>
          </a:p>
          <a:p>
            <a:pPr>
              <a:buFont typeface="Arial" panose="020B0604020202020204" pitchFamily="34" charset="0"/>
              <a:buChar char="•"/>
            </a:pPr>
            <a:endParaRPr lang="en-US" dirty="0" smtClean="0"/>
          </a:p>
          <a:p>
            <a:r>
              <a:rPr lang="en-US" b="1" dirty="0" smtClean="0"/>
              <a:t>7. </a:t>
            </a:r>
            <a:r>
              <a:rPr lang="en-US" b="1" dirty="0" err="1" smtClean="0"/>
              <a:t>Postconditions</a:t>
            </a:r>
            <a:r>
              <a:rPr lang="en-US" b="1" dirty="0" smtClean="0"/>
              <a:t>:</a:t>
            </a:r>
          </a:p>
          <a:p>
            <a:pPr>
              <a:buFont typeface="Arial" panose="020B0604020202020204" pitchFamily="34" charset="0"/>
              <a:buChar char="•"/>
            </a:pPr>
            <a:r>
              <a:rPr lang="en-US" dirty="0" smtClean="0"/>
              <a:t>The system has successfully matched the rider with a driver, and the ride request has been accepted.</a:t>
            </a:r>
            <a:endParaRPr lang="en-US" dirty="0"/>
          </a:p>
        </p:txBody>
      </p:sp>
    </p:spTree>
    <p:extLst>
      <p:ext uri="{BB962C8B-B14F-4D97-AF65-F5344CB8AC3E}">
        <p14:creationId xmlns:p14="http://schemas.microsoft.com/office/powerpoint/2010/main" val="1626501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8909" y="474345"/>
            <a:ext cx="10215418" cy="3970318"/>
          </a:xfrm>
          <a:prstGeom prst="rect">
            <a:avLst/>
          </a:prstGeom>
        </p:spPr>
        <p:txBody>
          <a:bodyPr wrap="square">
            <a:spAutoFit/>
          </a:bodyPr>
          <a:lstStyle/>
          <a:p>
            <a:r>
              <a:rPr lang="en-US" b="1" dirty="0" smtClean="0"/>
              <a:t>8. Main Success Scenario (Basic Flow):</a:t>
            </a:r>
          </a:p>
          <a:p>
            <a:endParaRPr lang="en-US" b="1" dirty="0" smtClean="0"/>
          </a:p>
          <a:p>
            <a:pPr marL="342900" indent="-342900">
              <a:buFont typeface="+mj-lt"/>
              <a:buAutoNum type="arabicPeriod"/>
            </a:pPr>
            <a:r>
              <a:rPr lang="en-US" dirty="0" smtClean="0"/>
              <a:t>The rider wants to book the ride using Uber app </a:t>
            </a:r>
          </a:p>
          <a:p>
            <a:pPr marL="342900" indent="-342900">
              <a:buFont typeface="+mj-lt"/>
              <a:buAutoNum type="arabicPeriod"/>
            </a:pPr>
            <a:r>
              <a:rPr lang="en-US" dirty="0"/>
              <a:t>S</a:t>
            </a:r>
            <a:r>
              <a:rPr lang="en-US" dirty="0" smtClean="0"/>
              <a:t>ystem identifies the rider's current location using GPS.</a:t>
            </a:r>
          </a:p>
          <a:p>
            <a:pPr marL="342900" indent="-342900">
              <a:buFont typeface="+mj-lt"/>
              <a:buAutoNum type="arabicPeriod"/>
            </a:pPr>
            <a:r>
              <a:rPr lang="en-US" dirty="0" smtClean="0"/>
              <a:t>The rider inputs their desired drop-off location.</a:t>
            </a:r>
          </a:p>
          <a:p>
            <a:pPr marL="342900" indent="-342900">
              <a:buFont typeface="+mj-lt"/>
              <a:buAutoNum type="arabicPeriod"/>
            </a:pPr>
            <a:r>
              <a:rPr lang="en-US" dirty="0" smtClean="0"/>
              <a:t>The system displays different ride options (e.g., </a:t>
            </a:r>
            <a:r>
              <a:rPr lang="en-US" dirty="0" err="1" smtClean="0"/>
              <a:t>UberX</a:t>
            </a:r>
            <a:r>
              <a:rPr lang="en-US" dirty="0" smtClean="0"/>
              <a:t>, </a:t>
            </a:r>
            <a:r>
              <a:rPr lang="en-US" dirty="0" err="1" smtClean="0"/>
              <a:t>UberPool</a:t>
            </a:r>
            <a:r>
              <a:rPr lang="en-US" dirty="0" smtClean="0"/>
              <a:t>, etc.). </a:t>
            </a:r>
          </a:p>
          <a:p>
            <a:pPr marL="342900" indent="-342900">
              <a:buFont typeface="+mj-lt"/>
              <a:buAutoNum type="arabicPeriod"/>
            </a:pPr>
            <a:r>
              <a:rPr lang="en-US" dirty="0" smtClean="0"/>
              <a:t>The rider selects a ride type based on price and availability.</a:t>
            </a:r>
          </a:p>
          <a:p>
            <a:pPr marL="342900" indent="-342900">
              <a:buFont typeface="+mj-lt"/>
              <a:buAutoNum type="arabicPeriod"/>
            </a:pPr>
            <a:r>
              <a:rPr lang="en-US" dirty="0" smtClean="0"/>
              <a:t>The system calculates and displays an estimated fare based on distance, traffic, and ride type.</a:t>
            </a:r>
          </a:p>
          <a:p>
            <a:pPr marL="342900" indent="-342900">
              <a:buFont typeface="+mj-lt"/>
              <a:buAutoNum type="arabicPeriod"/>
            </a:pPr>
            <a:r>
              <a:rPr lang="en-US" dirty="0" smtClean="0"/>
              <a:t>The rider confirms the ride request by tapping the "Request Ride" button.</a:t>
            </a:r>
          </a:p>
          <a:p>
            <a:pPr marL="342900" indent="-342900">
              <a:buFont typeface="+mj-lt"/>
              <a:buAutoNum type="arabicPeriod"/>
            </a:pPr>
            <a:r>
              <a:rPr lang="en-US" dirty="0" smtClean="0"/>
              <a:t>The system searches for available drivers in the nearby area.</a:t>
            </a:r>
          </a:p>
          <a:p>
            <a:pPr marL="342900" indent="-342900">
              <a:buFont typeface="+mj-lt"/>
              <a:buAutoNum type="arabicPeriod"/>
            </a:pPr>
            <a:r>
              <a:rPr lang="en-US" dirty="0" smtClean="0"/>
              <a:t>An available driver accepts the ride request.</a:t>
            </a:r>
          </a:p>
          <a:p>
            <a:pPr marL="342900" indent="-342900">
              <a:buFont typeface="+mj-lt"/>
              <a:buAutoNum type="arabicPeriod"/>
            </a:pPr>
            <a:r>
              <a:rPr lang="en-US" dirty="0"/>
              <a:t>S</a:t>
            </a:r>
            <a:r>
              <a:rPr lang="en-US" dirty="0" smtClean="0"/>
              <a:t>ystem provides the rider with driver and vehicle details (e.g., name, photo, car model, license plate).</a:t>
            </a:r>
          </a:p>
          <a:p>
            <a:pPr marL="342900" indent="-342900">
              <a:buFont typeface="+mj-lt"/>
              <a:buAutoNum type="arabicPeriod"/>
            </a:pPr>
            <a:r>
              <a:rPr lang="en-US" dirty="0" smtClean="0"/>
              <a:t>The system displays the driver's current location and estimated time of arrival (ETA) for the rider.</a:t>
            </a:r>
          </a:p>
          <a:p>
            <a:pPr marL="342900" indent="-342900">
              <a:buFont typeface="+mj-lt"/>
              <a:buAutoNum type="arabicPeriod"/>
            </a:pPr>
            <a:r>
              <a:rPr lang="en-US" dirty="0" smtClean="0"/>
              <a:t>The ride is officially matched, and the rider waits for the driver to arrive.</a:t>
            </a:r>
            <a:endParaRPr lang="en-US" dirty="0"/>
          </a:p>
        </p:txBody>
      </p:sp>
    </p:spTree>
    <p:extLst>
      <p:ext uri="{BB962C8B-B14F-4D97-AF65-F5344CB8AC3E}">
        <p14:creationId xmlns:p14="http://schemas.microsoft.com/office/powerpoint/2010/main" val="2209524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8398" y="611493"/>
            <a:ext cx="9716654" cy="4524315"/>
          </a:xfrm>
          <a:prstGeom prst="rect">
            <a:avLst/>
          </a:prstGeom>
        </p:spPr>
        <p:txBody>
          <a:bodyPr wrap="square">
            <a:spAutoFit/>
          </a:bodyPr>
          <a:lstStyle/>
          <a:p>
            <a:r>
              <a:rPr lang="en-US" b="1" dirty="0" smtClean="0"/>
              <a:t>9. Extensions (Alternate Flows):</a:t>
            </a:r>
          </a:p>
          <a:p>
            <a:endParaRPr lang="en-US" b="1" dirty="0" smtClean="0"/>
          </a:p>
          <a:p>
            <a:pPr>
              <a:buFont typeface="Arial" panose="020B0604020202020204" pitchFamily="34" charset="0"/>
              <a:buChar char="•"/>
            </a:pPr>
            <a:r>
              <a:rPr lang="en-US" b="1" dirty="0" smtClean="0"/>
              <a:t>3a. No Available Drivers</a:t>
            </a:r>
            <a:r>
              <a:rPr lang="en-US" dirty="0" smtClean="0"/>
              <a:t>:</a:t>
            </a:r>
          </a:p>
          <a:p>
            <a:pPr marL="742950" lvl="1" indent="-285750">
              <a:buFont typeface="Arial" panose="020B0604020202020204" pitchFamily="34" charset="0"/>
              <a:buChar char="•"/>
            </a:pPr>
            <a:r>
              <a:rPr lang="en-US" dirty="0" smtClean="0"/>
              <a:t>3a1. The system informs the rider that no drivers are available at the moment.</a:t>
            </a:r>
          </a:p>
          <a:p>
            <a:pPr marL="742950" lvl="1" indent="-285750">
              <a:buFont typeface="Arial" panose="020B0604020202020204" pitchFamily="34" charset="0"/>
              <a:buChar char="•"/>
            </a:pPr>
            <a:r>
              <a:rPr lang="en-US" dirty="0" smtClean="0"/>
              <a:t>3a2. The rider is given the option to try again or switch to a different ride type.</a:t>
            </a:r>
          </a:p>
          <a:p>
            <a:pPr>
              <a:buFont typeface="Arial" panose="020B0604020202020204" pitchFamily="34" charset="0"/>
              <a:buChar char="•"/>
            </a:pPr>
            <a:r>
              <a:rPr lang="en-US" b="1" dirty="0" smtClean="0"/>
              <a:t>5a. Payment Method Failure</a:t>
            </a:r>
            <a:r>
              <a:rPr lang="en-US" dirty="0" smtClean="0"/>
              <a:t>:</a:t>
            </a:r>
          </a:p>
          <a:p>
            <a:pPr marL="742950" lvl="1" indent="-285750">
              <a:buFont typeface="Arial" panose="020B0604020202020204" pitchFamily="34" charset="0"/>
              <a:buChar char="•"/>
            </a:pPr>
            <a:r>
              <a:rPr lang="en-US" dirty="0" smtClean="0"/>
              <a:t>5a1. The system detects that the rider’s payment method is invalid or expired.</a:t>
            </a:r>
          </a:p>
          <a:p>
            <a:pPr marL="742950" lvl="1" indent="-285750">
              <a:buFont typeface="Arial" panose="020B0604020202020204" pitchFamily="34" charset="0"/>
              <a:buChar char="•"/>
            </a:pPr>
            <a:r>
              <a:rPr lang="en-US" dirty="0" smtClean="0"/>
              <a:t>5a2. The rider is prompted to update their payment method before proceeding with the request.</a:t>
            </a:r>
          </a:p>
          <a:p>
            <a:pPr>
              <a:buFont typeface="Arial" panose="020B0604020202020204" pitchFamily="34" charset="0"/>
              <a:buChar char="•"/>
            </a:pPr>
            <a:r>
              <a:rPr lang="en-US" b="1" dirty="0" smtClean="0"/>
              <a:t>6a. Rider Cancels Ride</a:t>
            </a:r>
            <a:r>
              <a:rPr lang="en-US" dirty="0" smtClean="0"/>
              <a:t>:</a:t>
            </a:r>
          </a:p>
          <a:p>
            <a:pPr marL="742950" lvl="1" indent="-285750">
              <a:buFont typeface="Arial" panose="020B0604020202020204" pitchFamily="34" charset="0"/>
              <a:buChar char="•"/>
            </a:pPr>
            <a:r>
              <a:rPr lang="en-US" dirty="0" smtClean="0"/>
              <a:t>6a1. Before the driver accepts, the rider chooses to cancel the ride request.</a:t>
            </a:r>
          </a:p>
          <a:p>
            <a:pPr marL="742950" lvl="1" indent="-285750">
              <a:buFont typeface="Arial" panose="020B0604020202020204" pitchFamily="34" charset="0"/>
              <a:buChar char="•"/>
            </a:pPr>
            <a:r>
              <a:rPr lang="en-US" dirty="0" smtClean="0"/>
              <a:t>6a2. The system cancels the request and informs the rider of the cancellation policy.</a:t>
            </a:r>
          </a:p>
          <a:p>
            <a:pPr>
              <a:buFont typeface="Arial" panose="020B0604020202020204" pitchFamily="34" charset="0"/>
              <a:buChar char="•"/>
            </a:pPr>
            <a:r>
              <a:rPr lang="en-US" b="1" dirty="0" smtClean="0"/>
              <a:t>7a. Driver Declines Ride</a:t>
            </a:r>
            <a:r>
              <a:rPr lang="en-US" dirty="0" smtClean="0"/>
              <a:t>:</a:t>
            </a:r>
          </a:p>
          <a:p>
            <a:pPr marL="742950" lvl="1" indent="-285750">
              <a:buFont typeface="Arial" panose="020B0604020202020204" pitchFamily="34" charset="0"/>
              <a:buChar char="•"/>
            </a:pPr>
            <a:r>
              <a:rPr lang="en-US" dirty="0" smtClean="0"/>
              <a:t>7a1. The system attempts to match the rider with a driver, but the driver declines.</a:t>
            </a:r>
          </a:p>
          <a:p>
            <a:pPr marL="742950" lvl="1" indent="-285750">
              <a:buFont typeface="Arial" panose="020B0604020202020204" pitchFamily="34" charset="0"/>
              <a:buChar char="•"/>
            </a:pPr>
            <a:r>
              <a:rPr lang="en-US" dirty="0" smtClean="0"/>
              <a:t>7a2. The system searches for another available driver.</a:t>
            </a:r>
          </a:p>
          <a:p>
            <a:pPr marL="742950" lvl="1" indent="-285750">
              <a:buFont typeface="Arial" panose="020B0604020202020204" pitchFamily="34" charset="0"/>
              <a:buChar char="•"/>
            </a:pPr>
            <a:r>
              <a:rPr lang="en-US" dirty="0" smtClean="0"/>
              <a:t>7a3. If no other drivers are available, the system informs the rider.</a:t>
            </a:r>
            <a:endParaRPr lang="en-US" dirty="0"/>
          </a:p>
        </p:txBody>
      </p:sp>
    </p:spTree>
    <p:extLst>
      <p:ext uri="{BB962C8B-B14F-4D97-AF65-F5344CB8AC3E}">
        <p14:creationId xmlns:p14="http://schemas.microsoft.com/office/powerpoint/2010/main" val="450200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2654" y="944848"/>
            <a:ext cx="11055928" cy="1477328"/>
          </a:xfrm>
          <a:prstGeom prst="rect">
            <a:avLst/>
          </a:prstGeom>
        </p:spPr>
        <p:txBody>
          <a:bodyPr wrap="square">
            <a:spAutoFit/>
          </a:bodyPr>
          <a:lstStyle/>
          <a:p>
            <a:r>
              <a:rPr lang="en-US" b="1" dirty="0" smtClean="0"/>
              <a:t>Special Requirements:</a:t>
            </a:r>
          </a:p>
          <a:p>
            <a:pPr>
              <a:buFont typeface="Arial" panose="020B0604020202020204" pitchFamily="34" charset="0"/>
              <a:buChar char="•"/>
            </a:pPr>
            <a:r>
              <a:rPr lang="en-US" dirty="0" smtClean="0"/>
              <a:t>The app must provide real-time tracking of driver location and ride status updates.</a:t>
            </a:r>
          </a:p>
          <a:p>
            <a:pPr>
              <a:buFont typeface="Arial" panose="020B0604020202020204" pitchFamily="34" charset="0"/>
              <a:buChar char="•"/>
            </a:pPr>
            <a:r>
              <a:rPr lang="en-US" dirty="0" smtClean="0"/>
              <a:t>The system must process ride requests in under 5 seconds to ensure a seamless user experience.</a:t>
            </a:r>
          </a:p>
          <a:p>
            <a:pPr>
              <a:buFont typeface="Arial" panose="020B0604020202020204" pitchFamily="34" charset="0"/>
              <a:buChar char="•"/>
            </a:pPr>
            <a:r>
              <a:rPr lang="en-US" dirty="0" smtClean="0"/>
              <a:t>GPS must accurately detect the rider's pick-up location to avoid confusion.</a:t>
            </a:r>
          </a:p>
          <a:p>
            <a:pPr>
              <a:buFont typeface="Arial" panose="020B0604020202020204" pitchFamily="34" charset="0"/>
              <a:buChar char="•"/>
            </a:pPr>
            <a:r>
              <a:rPr lang="en-US" dirty="0" smtClean="0"/>
              <a:t>Surge pricing must be clearly communicated to the rider if applicable.</a:t>
            </a:r>
            <a:endParaRPr lang="en-US" dirty="0"/>
          </a:p>
        </p:txBody>
      </p:sp>
    </p:spTree>
    <p:extLst>
      <p:ext uri="{BB962C8B-B14F-4D97-AF65-F5344CB8AC3E}">
        <p14:creationId xmlns:p14="http://schemas.microsoft.com/office/powerpoint/2010/main" val="2876581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2321</Words>
  <Application>Microsoft Office PowerPoint</Application>
  <PresentationFormat>Widescreen</PresentationFormat>
  <Paragraphs>168</Paragraphs>
  <Slides>22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Practice</vt:lpstr>
      <vt:lpstr>Case Study</vt:lpstr>
      <vt:lpstr>PowerPoint Presentation</vt:lpstr>
      <vt:lpstr>PowerPoint Presentation</vt:lpstr>
      <vt:lpstr>PowerPoint Presentation</vt:lpstr>
      <vt:lpstr>PowerPoint Presentation</vt:lpstr>
      <vt:lpstr>Steps to Create the Diagram: </vt:lpstr>
      <vt:lpstr>Actors: </vt:lpstr>
      <vt:lpstr>PowerPoint Presentation</vt:lpstr>
      <vt:lpstr>Main Use Cases:</vt:lpstr>
      <vt:lpstr>Accept ride </vt:lpstr>
      <vt:lpstr>PowerPoint Presentation</vt:lpstr>
      <vt:lpstr>Complete Ride</vt:lpstr>
      <vt:lpstr>accessing past ride information</vt:lpstr>
      <vt:lpstr>Why login might still appear in a use case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rg-adguard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A653</dc:creator>
  <cp:lastModifiedBy>Windows User</cp:lastModifiedBy>
  <cp:revision>23</cp:revision>
  <dcterms:created xsi:type="dcterms:W3CDTF">2024-09-10T17:59:09Z</dcterms:created>
  <dcterms:modified xsi:type="dcterms:W3CDTF">2024-09-11T07:11:44Z</dcterms:modified>
</cp:coreProperties>
</file>