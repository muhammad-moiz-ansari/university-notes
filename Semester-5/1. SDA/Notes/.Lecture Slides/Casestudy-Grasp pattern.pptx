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0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91" r:id="rId13"/>
    <p:sldId id="268" r:id="rId14"/>
    <p:sldId id="292" r:id="rId15"/>
    <p:sldId id="271" r:id="rId16"/>
    <p:sldId id="272" r:id="rId17"/>
    <p:sldId id="273" r:id="rId18"/>
    <p:sldId id="274" r:id="rId19"/>
    <p:sldId id="275" r:id="rId20"/>
    <p:sldId id="276" r:id="rId21"/>
    <p:sldId id="288" r:id="rId22"/>
    <p:sldId id="289" r:id="rId2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5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87369" y="1452153"/>
            <a:ext cx="4088129" cy="517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26410" y="2153079"/>
            <a:ext cx="4864658" cy="49230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32769" y="979931"/>
            <a:ext cx="2592861" cy="44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718" y="1527489"/>
            <a:ext cx="6562725" cy="2432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675" y="6882107"/>
            <a:ext cx="302259" cy="276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3276600"/>
            <a:ext cx="8549640" cy="423193"/>
          </a:xfrm>
        </p:spPr>
        <p:txBody>
          <a:bodyPr/>
          <a:lstStyle/>
          <a:p>
            <a:pPr algn="ctr"/>
            <a:r>
              <a:rPr lang="en-US" dirty="0" smtClean="0"/>
              <a:t>GRASP-Case Study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74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0326" y="979931"/>
            <a:ext cx="537845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Using Design Patterns with</a:t>
            </a:r>
            <a:r>
              <a:rPr spc="-45" dirty="0"/>
              <a:t> </a:t>
            </a:r>
            <a:r>
              <a:rPr spc="10" dirty="0"/>
              <a:t>GRASP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4119" y="1959521"/>
            <a:ext cx="7178675" cy="204472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</a:t>
            </a:r>
            <a:r>
              <a:rPr sz="1950" b="1" spc="10" dirty="0">
                <a:latin typeface="Times New Roman"/>
                <a:cs typeface="Times New Roman"/>
              </a:rPr>
              <a:t>eneral </a:t>
            </a:r>
            <a:r>
              <a:rPr sz="2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sz="1950" b="1" spc="5" dirty="0">
                <a:latin typeface="Times New Roman"/>
                <a:cs typeface="Times New Roman"/>
              </a:rPr>
              <a:t>esponsibility </a:t>
            </a:r>
            <a:r>
              <a:rPr sz="2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1950" b="1" spc="10" dirty="0">
                <a:latin typeface="Times New Roman"/>
                <a:cs typeface="Times New Roman"/>
              </a:rPr>
              <a:t>ssignment </a:t>
            </a:r>
            <a:r>
              <a:rPr sz="2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sz="1950" b="1" spc="5" dirty="0">
                <a:latin typeface="Times New Roman"/>
                <a:cs typeface="Times New Roman"/>
              </a:rPr>
              <a:t>oftware</a:t>
            </a:r>
            <a:r>
              <a:rPr sz="1950" b="1" spc="-5" dirty="0">
                <a:latin typeface="Times New Roman"/>
                <a:cs typeface="Times New Roman"/>
              </a:rPr>
              <a:t> </a:t>
            </a:r>
            <a:r>
              <a:rPr sz="2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sz="1950" b="1" spc="10" dirty="0">
                <a:latin typeface="Times New Roman"/>
                <a:cs typeface="Times New Roman"/>
              </a:rPr>
              <a:t>atterns</a:t>
            </a:r>
            <a:endParaRPr sz="19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 dirty="0">
              <a:latin typeface="Times New Roman"/>
              <a:cs typeface="Times New Roman"/>
            </a:endParaRPr>
          </a:p>
          <a:p>
            <a:pPr marL="163195" marR="5080">
              <a:lnSpc>
                <a:spcPct val="101699"/>
              </a:lnSpc>
            </a:pPr>
            <a:r>
              <a:rPr sz="2350" b="1" spc="10" dirty="0">
                <a:latin typeface="Times New Roman"/>
                <a:cs typeface="Times New Roman"/>
              </a:rPr>
              <a:t>The </a:t>
            </a:r>
            <a:r>
              <a:rPr sz="2350" b="1" spc="5" dirty="0">
                <a:latin typeface="Times New Roman"/>
                <a:cs typeface="Times New Roman"/>
              </a:rPr>
              <a:t>“patterns” </a:t>
            </a:r>
            <a:r>
              <a:rPr sz="2350" b="1" dirty="0">
                <a:latin typeface="Times New Roman"/>
                <a:cs typeface="Times New Roman"/>
              </a:rPr>
              <a:t>provide </a:t>
            </a:r>
            <a:r>
              <a:rPr sz="2350" b="1" spc="10" dirty="0">
                <a:latin typeface="Times New Roman"/>
                <a:cs typeface="Times New Roman"/>
              </a:rPr>
              <a:t>a </a:t>
            </a:r>
            <a:r>
              <a:rPr sz="2350" b="1" dirty="0">
                <a:latin typeface="Times New Roman"/>
                <a:cs typeface="Times New Roman"/>
              </a:rPr>
              <a:t>representation </a:t>
            </a:r>
            <a:r>
              <a:rPr sz="2350" b="1" spc="5" dirty="0" smtClean="0">
                <a:latin typeface="Times New Roman"/>
                <a:cs typeface="Times New Roman"/>
              </a:rPr>
              <a:t>of</a:t>
            </a:r>
            <a:r>
              <a:rPr lang="en-US" sz="2350" b="1" spc="5" dirty="0" smtClean="0">
                <a:latin typeface="Times New Roman"/>
                <a:cs typeface="Times New Roman"/>
              </a:rPr>
              <a:t> </a:t>
            </a:r>
            <a:r>
              <a:rPr sz="2350" b="1" spc="5" dirty="0" smtClean="0">
                <a:latin typeface="Times New Roman"/>
                <a:cs typeface="Times New Roman"/>
              </a:rPr>
              <a:t>basic  </a:t>
            </a:r>
            <a:r>
              <a:rPr sz="2350" b="1" spc="5" dirty="0">
                <a:latin typeface="Times New Roman"/>
                <a:cs typeface="Times New Roman"/>
              </a:rPr>
              <a:t>principles </a:t>
            </a:r>
            <a:r>
              <a:rPr sz="2350" b="1" spc="10" dirty="0">
                <a:latin typeface="Times New Roman"/>
                <a:cs typeface="Times New Roman"/>
              </a:rPr>
              <a:t>that form a foundation </a:t>
            </a:r>
            <a:r>
              <a:rPr sz="2350" b="1" spc="5" dirty="0">
                <a:latin typeface="Times New Roman"/>
                <a:cs typeface="Times New Roman"/>
              </a:rPr>
              <a:t>for designing object-  oriented</a:t>
            </a:r>
            <a:r>
              <a:rPr sz="2350" b="1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systems.</a:t>
            </a:r>
            <a:endParaRPr sz="235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090196"/>
              </p:ext>
            </p:extLst>
          </p:nvPr>
        </p:nvGraphicFramePr>
        <p:xfrm>
          <a:off x="1471117" y="4784918"/>
          <a:ext cx="7463154" cy="1313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9340"/>
                <a:gridCol w="2474594"/>
                <a:gridCol w="2649220"/>
              </a:tblGrid>
              <a:tr h="331134">
                <a:tc>
                  <a:txBody>
                    <a:bodyPr/>
                    <a:lstStyle/>
                    <a:p>
                      <a:pPr marL="31750">
                        <a:lnSpc>
                          <a:spcPts val="1935"/>
                        </a:lnSpc>
                      </a:pPr>
                      <a:r>
                        <a:rPr sz="1750" b="1" spc="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Creator</a:t>
                      </a: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1935"/>
                        </a:lnSpc>
                      </a:pPr>
                      <a:r>
                        <a:rPr sz="1750" b="1" spc="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Controller</a:t>
                      </a: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3255">
                        <a:lnSpc>
                          <a:spcPts val="1935"/>
                        </a:lnSpc>
                      </a:pPr>
                      <a:r>
                        <a:rPr sz="1750" b="1" spc="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Pure</a:t>
                      </a:r>
                      <a:r>
                        <a:rPr sz="1750" b="1" spc="-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Fabrication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0690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750" b="1" spc="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750" b="1" spc="-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Expert</a:t>
                      </a: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750" b="1" spc="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750" b="1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Cohesion</a:t>
                      </a: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64325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15" dirty="0" smtClean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lang="en-US" sz="1750" b="1" dirty="0" smtClean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750" b="1" spc="10" dirty="0" smtClean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Coupling</a:t>
                      </a:r>
                      <a:endParaRPr lang="en-US" sz="1750" dirty="0" smtClean="0">
                        <a:latin typeface="Times New Roman"/>
                        <a:cs typeface="Times New Roman"/>
                      </a:endParaRPr>
                    </a:p>
                    <a:p>
                      <a:pPr marL="6432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/>
                </a:tc>
              </a:tr>
              <a:tr h="326117">
                <a:tc>
                  <a:txBody>
                    <a:bodyPr/>
                    <a:lstStyle/>
                    <a:p>
                      <a:pPr marL="31750">
                        <a:lnSpc>
                          <a:spcPts val="2035"/>
                        </a:lnSpc>
                        <a:spcBef>
                          <a:spcPts val="430"/>
                        </a:spcBef>
                      </a:pP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/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ts val="2035"/>
                        </a:lnSpc>
                        <a:spcBef>
                          <a:spcPts val="430"/>
                        </a:spcBef>
                      </a:pP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/>
                </a:tc>
                <a:tc>
                  <a:txBody>
                    <a:bodyPr/>
                    <a:lstStyle/>
                    <a:p>
                      <a:pPr marL="643255">
                        <a:lnSpc>
                          <a:spcPts val="2035"/>
                        </a:lnSpc>
                        <a:spcBef>
                          <a:spcPts val="430"/>
                        </a:spcBef>
                      </a:pPr>
                      <a:endParaRPr sz="17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541587" y="6857492"/>
            <a:ext cx="13843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6331" y="904582"/>
            <a:ext cx="544639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Example of </a:t>
            </a:r>
            <a:r>
              <a:rPr spc="10" dirty="0"/>
              <a:t>RDD </a:t>
            </a:r>
            <a:r>
              <a:rPr spc="5" dirty="0"/>
              <a:t>– Monopoly</a:t>
            </a:r>
            <a:r>
              <a:rPr spc="-40" dirty="0"/>
              <a:t> </a:t>
            </a:r>
            <a:r>
              <a:rPr spc="10" dirty="0"/>
              <a:t>Game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6187" y="6882107"/>
            <a:ext cx="189230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z="1750" b="1" spc="15" dirty="0">
                <a:latin typeface="Times New Roman"/>
                <a:cs typeface="Times New Roman"/>
              </a:rPr>
              <a:t>3</a:t>
            </a:fld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6331" y="829220"/>
            <a:ext cx="544639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Example of </a:t>
            </a:r>
            <a:r>
              <a:rPr spc="10" dirty="0"/>
              <a:t>RDD </a:t>
            </a:r>
            <a:r>
              <a:rPr spc="5" dirty="0"/>
              <a:t>– Monopoly</a:t>
            </a:r>
            <a:r>
              <a:rPr spc="-40" dirty="0"/>
              <a:t> </a:t>
            </a:r>
            <a:r>
              <a:rPr spc="10" dirty="0"/>
              <a:t>Game</a:t>
            </a:r>
          </a:p>
        </p:txBody>
      </p:sp>
      <p:sp>
        <p:nvSpPr>
          <p:cNvPr id="3" name="object 3"/>
          <p:cNvSpPr/>
          <p:nvPr/>
        </p:nvSpPr>
        <p:spPr>
          <a:xfrm>
            <a:off x="3522218" y="2454487"/>
            <a:ext cx="1733550" cy="1055370"/>
          </a:xfrm>
          <a:custGeom>
            <a:avLst/>
            <a:gdLst/>
            <a:ahLst/>
            <a:cxnLst/>
            <a:rect l="l" t="t" r="r" b="b"/>
            <a:pathLst>
              <a:path w="1733550" h="1055370">
                <a:moveTo>
                  <a:pt x="0" y="0"/>
                </a:moveTo>
                <a:lnTo>
                  <a:pt x="1733029" y="0"/>
                </a:lnTo>
                <a:lnTo>
                  <a:pt x="1733029" y="1054947"/>
                </a:lnTo>
                <a:lnTo>
                  <a:pt x="0" y="1054947"/>
                </a:lnTo>
                <a:lnTo>
                  <a:pt x="0" y="0"/>
                </a:lnTo>
                <a:close/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2218" y="2454487"/>
            <a:ext cx="173355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1750" b="1" spc="15" dirty="0">
                <a:latin typeface="Times New Roman"/>
                <a:cs typeface="Times New Roman"/>
              </a:rPr>
              <a:t>MonopolyGame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15868" y="2448137"/>
            <a:ext cx="4533900" cy="1068070"/>
            <a:chOff x="3515868" y="2448137"/>
            <a:chExt cx="4533900" cy="1068070"/>
          </a:xfrm>
        </p:grpSpPr>
        <p:sp>
          <p:nvSpPr>
            <p:cNvPr id="6" name="object 6"/>
            <p:cNvSpPr/>
            <p:nvPr/>
          </p:nvSpPr>
          <p:spPr>
            <a:xfrm>
              <a:off x="3522218" y="2906607"/>
              <a:ext cx="1733550" cy="0"/>
            </a:xfrm>
            <a:custGeom>
              <a:avLst/>
              <a:gdLst/>
              <a:ahLst/>
              <a:cxnLst/>
              <a:rect l="l" t="t" r="r" b="b"/>
              <a:pathLst>
                <a:path w="1733550">
                  <a:moveTo>
                    <a:pt x="0" y="0"/>
                  </a:moveTo>
                  <a:lnTo>
                    <a:pt x="1733029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88277" y="2454487"/>
              <a:ext cx="1055370" cy="1055370"/>
            </a:xfrm>
            <a:custGeom>
              <a:avLst/>
              <a:gdLst/>
              <a:ahLst/>
              <a:cxnLst/>
              <a:rect l="l" t="t" r="r" b="b"/>
              <a:pathLst>
                <a:path w="1055370" h="1055370">
                  <a:moveTo>
                    <a:pt x="0" y="0"/>
                  </a:moveTo>
                  <a:lnTo>
                    <a:pt x="1054887" y="0"/>
                  </a:lnTo>
                  <a:lnTo>
                    <a:pt x="1054887" y="1054947"/>
                  </a:lnTo>
                  <a:lnTo>
                    <a:pt x="0" y="1054947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88277" y="2454487"/>
            <a:ext cx="105537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75"/>
              </a:spcBef>
            </a:pPr>
            <a:r>
              <a:rPr sz="1950" b="1" spc="10" dirty="0">
                <a:latin typeface="Times New Roman"/>
                <a:cs typeface="Times New Roman"/>
              </a:rPr>
              <a:t>Board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95407" y="2900257"/>
            <a:ext cx="3554729" cy="3027045"/>
            <a:chOff x="4495407" y="2900257"/>
            <a:chExt cx="3554729" cy="3027045"/>
          </a:xfrm>
        </p:grpSpPr>
        <p:sp>
          <p:nvSpPr>
            <p:cNvPr id="10" name="object 10"/>
            <p:cNvSpPr/>
            <p:nvPr/>
          </p:nvSpPr>
          <p:spPr>
            <a:xfrm>
              <a:off x="6988277" y="2906607"/>
              <a:ext cx="1055370" cy="0"/>
            </a:xfrm>
            <a:custGeom>
              <a:avLst/>
              <a:gdLst/>
              <a:ahLst/>
              <a:cxnLst/>
              <a:rect l="l" t="t" r="r" b="b"/>
              <a:pathLst>
                <a:path w="1055370">
                  <a:moveTo>
                    <a:pt x="0" y="0"/>
                  </a:moveTo>
                  <a:lnTo>
                    <a:pt x="1054887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01757" y="4865795"/>
              <a:ext cx="1055370" cy="1055370"/>
            </a:xfrm>
            <a:custGeom>
              <a:avLst/>
              <a:gdLst/>
              <a:ahLst/>
              <a:cxnLst/>
              <a:rect l="l" t="t" r="r" b="b"/>
              <a:pathLst>
                <a:path w="1055370" h="1055370">
                  <a:moveTo>
                    <a:pt x="0" y="0"/>
                  </a:moveTo>
                  <a:lnTo>
                    <a:pt x="1054887" y="0"/>
                  </a:lnTo>
                  <a:lnTo>
                    <a:pt x="1054887" y="1054947"/>
                  </a:lnTo>
                  <a:lnTo>
                    <a:pt x="0" y="1054947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01757" y="4865795"/>
            <a:ext cx="105537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75"/>
              </a:spcBef>
            </a:pPr>
            <a:r>
              <a:rPr sz="1950" b="1" spc="10" dirty="0">
                <a:latin typeface="Times New Roman"/>
                <a:cs typeface="Times New Roman"/>
              </a:rPr>
              <a:t>Piece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1757" y="5317915"/>
            <a:ext cx="1055370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550" spc="10" dirty="0">
                <a:latin typeface="Times New Roman"/>
                <a:cs typeface="Times New Roman"/>
              </a:rPr>
              <a:t>name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13839" y="4865795"/>
            <a:ext cx="1055370" cy="1055370"/>
          </a:xfrm>
          <a:custGeom>
            <a:avLst/>
            <a:gdLst/>
            <a:ahLst/>
            <a:cxnLst/>
            <a:rect l="l" t="t" r="r" b="b"/>
            <a:pathLst>
              <a:path w="1055370" h="1055370">
                <a:moveTo>
                  <a:pt x="0" y="0"/>
                </a:moveTo>
                <a:lnTo>
                  <a:pt x="1054887" y="0"/>
                </a:lnTo>
                <a:lnTo>
                  <a:pt x="1054887" y="1054947"/>
                </a:lnTo>
                <a:lnTo>
                  <a:pt x="0" y="1054947"/>
                </a:lnTo>
                <a:lnTo>
                  <a:pt x="0" y="0"/>
                </a:lnTo>
                <a:close/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13839" y="4865795"/>
            <a:ext cx="105537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75"/>
              </a:spcBef>
            </a:pPr>
            <a:r>
              <a:rPr sz="1950" b="1" spc="10" dirty="0">
                <a:latin typeface="Times New Roman"/>
                <a:cs typeface="Times New Roman"/>
              </a:rPr>
              <a:t>Player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3839" y="5317915"/>
            <a:ext cx="1055370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550" spc="10" dirty="0">
                <a:latin typeface="Times New Roman"/>
                <a:cs typeface="Times New Roman"/>
              </a:rPr>
              <a:t>name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37094" y="2379134"/>
            <a:ext cx="1055370" cy="1055370"/>
          </a:xfrm>
          <a:custGeom>
            <a:avLst/>
            <a:gdLst/>
            <a:ahLst/>
            <a:cxnLst/>
            <a:rect l="l" t="t" r="r" b="b"/>
            <a:pathLst>
              <a:path w="1055370" h="1055370">
                <a:moveTo>
                  <a:pt x="0" y="0"/>
                </a:moveTo>
                <a:lnTo>
                  <a:pt x="1054887" y="0"/>
                </a:lnTo>
                <a:lnTo>
                  <a:pt x="1054887" y="1054947"/>
                </a:lnTo>
                <a:lnTo>
                  <a:pt x="0" y="1054947"/>
                </a:lnTo>
                <a:lnTo>
                  <a:pt x="0" y="0"/>
                </a:lnTo>
                <a:close/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37094" y="2379134"/>
            <a:ext cx="105537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750" b="1" spc="5" dirty="0">
                <a:latin typeface="Times New Roman"/>
                <a:cs typeface="Times New Roman"/>
              </a:rPr>
              <a:t>Die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37094" y="2831254"/>
            <a:ext cx="1055370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80"/>
              </a:spcBef>
            </a:pPr>
            <a:r>
              <a:rPr sz="1550" spc="-10" dirty="0">
                <a:latin typeface="Times New Roman"/>
                <a:cs typeface="Times New Roman"/>
              </a:rPr>
              <a:t>faceValue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38975" y="4790441"/>
            <a:ext cx="1055370" cy="1055370"/>
          </a:xfrm>
          <a:custGeom>
            <a:avLst/>
            <a:gdLst/>
            <a:ahLst/>
            <a:cxnLst/>
            <a:rect l="l" t="t" r="r" b="b"/>
            <a:pathLst>
              <a:path w="1055370" h="1055370">
                <a:moveTo>
                  <a:pt x="0" y="0"/>
                </a:moveTo>
                <a:lnTo>
                  <a:pt x="1054887" y="0"/>
                </a:lnTo>
                <a:lnTo>
                  <a:pt x="1054887" y="1054947"/>
                </a:lnTo>
                <a:lnTo>
                  <a:pt x="0" y="1054947"/>
                </a:lnTo>
                <a:lnTo>
                  <a:pt x="0" y="0"/>
                </a:lnTo>
                <a:close/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138975" y="4790441"/>
            <a:ext cx="105537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75"/>
              </a:spcBef>
            </a:pPr>
            <a:r>
              <a:rPr sz="1950" b="1" spc="5" dirty="0">
                <a:latin typeface="Times New Roman"/>
                <a:cs typeface="Times New Roman"/>
              </a:rPr>
              <a:t>Square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38975" y="5317915"/>
            <a:ext cx="105537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550" spc="10" dirty="0">
                <a:latin typeface="Times New Roman"/>
                <a:cs typeface="Times New Roman"/>
              </a:rPr>
              <a:t>name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64537" y="2002367"/>
            <a:ext cx="5727065" cy="3240405"/>
          </a:xfrm>
          <a:custGeom>
            <a:avLst/>
            <a:gdLst/>
            <a:ahLst/>
            <a:cxnLst/>
            <a:rect l="l" t="t" r="r" b="b"/>
            <a:pathLst>
              <a:path w="5727065" h="3240404">
                <a:moveTo>
                  <a:pt x="0" y="376766"/>
                </a:moveTo>
                <a:lnTo>
                  <a:pt x="0" y="0"/>
                </a:lnTo>
              </a:path>
              <a:path w="5727065" h="3240404">
                <a:moveTo>
                  <a:pt x="0" y="0"/>
                </a:moveTo>
                <a:lnTo>
                  <a:pt x="2109775" y="0"/>
                </a:lnTo>
              </a:path>
              <a:path w="5727065" h="3240404">
                <a:moveTo>
                  <a:pt x="2109775" y="0"/>
                </a:moveTo>
                <a:lnTo>
                  <a:pt x="2109775" y="452120"/>
                </a:lnTo>
              </a:path>
              <a:path w="5727065" h="3240404">
                <a:moveTo>
                  <a:pt x="3089313" y="452120"/>
                </a:moveTo>
                <a:lnTo>
                  <a:pt x="3089313" y="0"/>
                </a:lnTo>
              </a:path>
              <a:path w="5727065" h="3240404">
                <a:moveTo>
                  <a:pt x="3089313" y="0"/>
                </a:moveTo>
                <a:lnTo>
                  <a:pt x="5575834" y="0"/>
                </a:lnTo>
              </a:path>
              <a:path w="5727065" h="3240404">
                <a:moveTo>
                  <a:pt x="5575834" y="0"/>
                </a:moveTo>
                <a:lnTo>
                  <a:pt x="5575834" y="452120"/>
                </a:lnTo>
              </a:path>
              <a:path w="5727065" h="3240404">
                <a:moveTo>
                  <a:pt x="5726532" y="1507067"/>
                </a:moveTo>
                <a:lnTo>
                  <a:pt x="5726532" y="2788074"/>
                </a:lnTo>
              </a:path>
              <a:path w="5727065" h="3240404">
                <a:moveTo>
                  <a:pt x="3692106" y="3240194"/>
                </a:moveTo>
                <a:lnTo>
                  <a:pt x="5274437" y="3240194"/>
                </a:lnTo>
              </a:path>
              <a:path w="5727065" h="3240404">
                <a:moveTo>
                  <a:pt x="904189" y="3164841"/>
                </a:moveTo>
                <a:lnTo>
                  <a:pt x="2637218" y="3164841"/>
                </a:lnTo>
              </a:path>
              <a:path w="5727065" h="3240404">
                <a:moveTo>
                  <a:pt x="376745" y="2863427"/>
                </a:moveTo>
                <a:lnTo>
                  <a:pt x="376745" y="1808480"/>
                </a:lnTo>
              </a:path>
              <a:path w="5727065" h="3240404">
                <a:moveTo>
                  <a:pt x="376745" y="1808480"/>
                </a:moveTo>
                <a:lnTo>
                  <a:pt x="1280934" y="1808480"/>
                </a:lnTo>
              </a:path>
              <a:path w="5727065" h="3240404">
                <a:moveTo>
                  <a:pt x="1280934" y="1808480"/>
                </a:moveTo>
                <a:lnTo>
                  <a:pt x="1280934" y="1054947"/>
                </a:lnTo>
              </a:path>
              <a:path w="5727065" h="3240404">
                <a:moveTo>
                  <a:pt x="1280934" y="1054947"/>
                </a:moveTo>
                <a:lnTo>
                  <a:pt x="1657680" y="1054947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45054" y="3918711"/>
            <a:ext cx="4495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" dirty="0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sz="1550" spc="5" dirty="0">
                <a:solidFill>
                  <a:srgbClr val="3333CC"/>
                </a:solidFill>
                <a:latin typeface="Times New Roman"/>
                <a:cs typeface="Times New Roman"/>
              </a:rPr>
              <a:t>la</a:t>
            </a:r>
            <a:r>
              <a:rPr sz="1550" spc="10" dirty="0">
                <a:solidFill>
                  <a:srgbClr val="3333CC"/>
                </a:solidFill>
                <a:latin typeface="Times New Roman"/>
                <a:cs typeface="Times New Roman"/>
              </a:rPr>
              <a:t>ys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16187" y="6882107"/>
            <a:ext cx="189230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z="1750" b="1" spc="15" dirty="0">
                <a:latin typeface="Times New Roman"/>
                <a:cs typeface="Times New Roman"/>
              </a:rPr>
              <a:t>4</a:t>
            </a:fld>
            <a:endParaRPr sz="17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73894" y="4747602"/>
            <a:ext cx="45021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" dirty="0">
                <a:solidFill>
                  <a:srgbClr val="3333CC"/>
                </a:solidFill>
                <a:latin typeface="Times New Roman"/>
                <a:cs typeface="Times New Roman"/>
              </a:rPr>
              <a:t>owns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35764" y="4898301"/>
            <a:ext cx="438784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0" dirty="0">
                <a:solidFill>
                  <a:srgbClr val="3333CC"/>
                </a:solidFill>
                <a:latin typeface="Times New Roman"/>
                <a:cs typeface="Times New Roman"/>
              </a:rPr>
              <a:t>Is-on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94840" y="3994060"/>
            <a:ext cx="6953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5" dirty="0">
                <a:solidFill>
                  <a:srgbClr val="3333CC"/>
                </a:solidFill>
                <a:latin typeface="Times New Roman"/>
                <a:cs typeface="Times New Roman"/>
              </a:rPr>
              <a:t>c</a:t>
            </a:r>
            <a:r>
              <a:rPr sz="1550" spc="15" dirty="0">
                <a:solidFill>
                  <a:srgbClr val="3333CC"/>
                </a:solidFill>
                <a:latin typeface="Times New Roman"/>
                <a:cs typeface="Times New Roman"/>
              </a:rPr>
              <a:t>on</a:t>
            </a:r>
            <a:r>
              <a:rPr sz="1550" spc="5" dirty="0">
                <a:solidFill>
                  <a:srgbClr val="3333CC"/>
                </a:solidFill>
                <a:latin typeface="Times New Roman"/>
                <a:cs typeface="Times New Roman"/>
              </a:rPr>
              <a:t>tai</a:t>
            </a:r>
            <a:r>
              <a:rPr sz="1550" spc="10" dirty="0">
                <a:solidFill>
                  <a:srgbClr val="3333CC"/>
                </a:solidFill>
                <a:latin typeface="Times New Roman"/>
                <a:cs typeface="Times New Roman"/>
              </a:rPr>
              <a:t>ns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92960" y="1658112"/>
            <a:ext cx="985519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0" dirty="0">
                <a:solidFill>
                  <a:srgbClr val="3333CC"/>
                </a:solidFill>
                <a:latin typeface="Times New Roman"/>
                <a:cs typeface="Times New Roman"/>
              </a:rPr>
              <a:t>played-with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59018" y="1658112"/>
            <a:ext cx="8293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0" dirty="0">
                <a:solidFill>
                  <a:srgbClr val="3333CC"/>
                </a:solidFill>
                <a:latin typeface="Times New Roman"/>
                <a:cs typeface="Times New Roman"/>
              </a:rPr>
              <a:t>played-on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44142" y="3617302"/>
            <a:ext cx="126364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44142" y="4446180"/>
            <a:ext cx="22669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" dirty="0">
                <a:solidFill>
                  <a:srgbClr val="3333CC"/>
                </a:solidFill>
                <a:latin typeface="Times New Roman"/>
                <a:cs typeface="Times New Roman"/>
              </a:rPr>
              <a:t>40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09716" y="5350421"/>
            <a:ext cx="3270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0" dirty="0">
                <a:solidFill>
                  <a:srgbClr val="3333CC"/>
                </a:solidFill>
                <a:latin typeface="Times New Roman"/>
                <a:cs typeface="Times New Roman"/>
              </a:rPr>
              <a:t>0..8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64604" y="5350421"/>
            <a:ext cx="126364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90167" y="2034882"/>
            <a:ext cx="126364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40865" y="4521543"/>
            <a:ext cx="3270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0" dirty="0">
                <a:solidFill>
                  <a:srgbClr val="3333CC"/>
                </a:solidFill>
                <a:latin typeface="Times New Roman"/>
                <a:cs typeface="Times New Roman"/>
              </a:rPr>
              <a:t>2..8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76643" y="6556078"/>
            <a:ext cx="34093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Times New Roman"/>
                <a:cs typeface="Times New Roman"/>
              </a:rPr>
              <a:t>Domain Model (Analyze</a:t>
            </a:r>
            <a:r>
              <a:rPr sz="1950" b="1" spc="-40" dirty="0">
                <a:latin typeface="Times New Roman"/>
                <a:cs typeface="Times New Roman"/>
              </a:rPr>
              <a:t> </a:t>
            </a:r>
            <a:r>
              <a:rPr sz="1950" b="1" spc="10" dirty="0">
                <a:latin typeface="Times New Roman"/>
                <a:cs typeface="Times New Roman"/>
              </a:rPr>
              <a:t>Phase)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8516187" y="6882107"/>
            <a:ext cx="189230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z="1750" b="1" spc="15" dirty="0">
                <a:latin typeface="Times New Roman"/>
                <a:cs typeface="Times New Roman"/>
              </a:rPr>
              <a:t>5</a:t>
            </a:fld>
            <a:endParaRPr sz="17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6480" y="1055281"/>
            <a:ext cx="395224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Monopoly </a:t>
            </a:r>
            <a:r>
              <a:rPr spc="10" dirty="0"/>
              <a:t>Game</a:t>
            </a:r>
            <a:r>
              <a:rPr spc="-40" dirty="0"/>
              <a:t> </a:t>
            </a:r>
            <a:r>
              <a:rPr spc="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067" y="1959520"/>
            <a:ext cx="6200933" cy="3161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Who </a:t>
            </a:r>
            <a:r>
              <a:rPr sz="1950" b="1" dirty="0">
                <a:solidFill>
                  <a:srgbClr val="3333CC"/>
                </a:solidFill>
                <a:latin typeface="Times New Roman"/>
                <a:cs typeface="Times New Roman"/>
              </a:rPr>
              <a:t>creates </a:t>
            </a:r>
            <a:r>
              <a:rPr sz="19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19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</a:t>
            </a:r>
            <a:r>
              <a:rPr sz="195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 smtClean="0">
                <a:solidFill>
                  <a:srgbClr val="3333CC"/>
                </a:solidFill>
                <a:latin typeface="Times New Roman"/>
                <a:cs typeface="Times New Roman"/>
              </a:rPr>
              <a:t>object</a:t>
            </a:r>
            <a:r>
              <a:rPr lang="en-US" sz="1950" b="1" spc="10" dirty="0" smtClean="0">
                <a:solidFill>
                  <a:srgbClr val="3333CC"/>
                </a:solidFill>
                <a:latin typeface="Times New Roman"/>
                <a:cs typeface="Times New Roman"/>
              </a:rPr>
              <a:t> in a Monopoly game</a:t>
            </a:r>
            <a:r>
              <a:rPr sz="1950" b="1" spc="10" dirty="0" smtClean="0">
                <a:solidFill>
                  <a:srgbClr val="3333CC"/>
                </a:solidFill>
                <a:latin typeface="Times New Roman"/>
                <a:cs typeface="Times New Roman"/>
              </a:rPr>
              <a:t>?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9000" y="2547530"/>
            <a:ext cx="2100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lang="en-US" spc="10" dirty="0" smtClean="0">
                <a:latin typeface="Times New Roman"/>
                <a:cs typeface="Times New Roman"/>
              </a:rPr>
              <a:t>The </a:t>
            </a:r>
            <a:r>
              <a:rPr lang="en-US" b="1" spc="5" dirty="0" smtClean="0">
                <a:latin typeface="Times New Roman"/>
                <a:cs typeface="Times New Roman"/>
              </a:rPr>
              <a:t>Creator</a:t>
            </a:r>
            <a:r>
              <a:rPr lang="en-US" b="1" spc="-5" dirty="0" smtClean="0">
                <a:latin typeface="Times New Roman"/>
                <a:cs typeface="Times New Roman"/>
              </a:rPr>
              <a:t> </a:t>
            </a:r>
            <a:r>
              <a:rPr lang="en-US" spc="5" dirty="0" smtClean="0">
                <a:latin typeface="Times New Roman"/>
                <a:cs typeface="Times New Roman"/>
              </a:rPr>
              <a:t>pattern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400" y="3188760"/>
            <a:ext cx="8639333" cy="309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tr-TR" sz="2800" b="1" dirty="0" smtClean="0"/>
              <a:t>Java answer: </a:t>
            </a:r>
            <a:r>
              <a:rPr lang="tr-TR" sz="2800" dirty="0" smtClean="0"/>
              <a:t>Any object could</a:t>
            </a:r>
          </a:p>
          <a:p>
            <a:pPr>
              <a:lnSpc>
                <a:spcPct val="80000"/>
              </a:lnSpc>
            </a:pPr>
            <a:r>
              <a:rPr lang="tr-TR" sz="2800" dirty="0" smtClean="0"/>
              <a:t>But what makes for good design?</a:t>
            </a:r>
          </a:p>
          <a:p>
            <a:pPr>
              <a:lnSpc>
                <a:spcPct val="80000"/>
              </a:lnSpc>
            </a:pPr>
            <a:r>
              <a:rPr lang="tr-TR" sz="2800" b="1" dirty="0" smtClean="0"/>
              <a:t>Common answer</a:t>
            </a:r>
            <a:r>
              <a:rPr lang="tr-TR" sz="2800" dirty="0" smtClean="0"/>
              <a:t>: Make Board create Square objects</a:t>
            </a:r>
          </a:p>
          <a:p>
            <a:pPr>
              <a:lnSpc>
                <a:spcPct val="80000"/>
              </a:lnSpc>
            </a:pPr>
            <a:r>
              <a:rPr lang="tr-TR" sz="2800" b="1" dirty="0" smtClean="0"/>
              <a:t>Intuition: </a:t>
            </a:r>
            <a:r>
              <a:rPr lang="tr-TR" sz="2800" dirty="0" smtClean="0"/>
              <a:t>Containers should create the things contained in them</a:t>
            </a:r>
          </a:p>
          <a:p>
            <a:pPr>
              <a:lnSpc>
                <a:spcPct val="80000"/>
              </a:lnSpc>
            </a:pPr>
            <a:r>
              <a:rPr lang="tr-TR" sz="2800" b="1" dirty="0" smtClean="0"/>
              <a:t>Issue: </a:t>
            </a:r>
            <a:r>
              <a:rPr lang="tr-TR" sz="2800" dirty="0" smtClean="0"/>
              <a:t>Wait, but we don’t have any classes yet, we only have the domain model!	</a:t>
            </a:r>
          </a:p>
          <a:p>
            <a:pPr lvl="1">
              <a:lnSpc>
                <a:spcPct val="80000"/>
              </a:lnSpc>
            </a:pPr>
            <a:r>
              <a:rPr lang="tr-TR" sz="2400" dirty="0" smtClean="0"/>
              <a:t>We have to start somewhere, and we look at the domain model for inspiration to pick our first few important software classes</a:t>
            </a:r>
            <a:endParaRPr lang="tr-TR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073" y="621905"/>
            <a:ext cx="2452688" cy="16206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3839" y="2153074"/>
            <a:ext cx="1507490" cy="1356360"/>
          </a:xfrm>
          <a:custGeom>
            <a:avLst/>
            <a:gdLst/>
            <a:ahLst/>
            <a:cxnLst/>
            <a:rect l="l" t="t" r="r" b="b"/>
            <a:pathLst>
              <a:path w="1507489" h="1356360">
                <a:moveTo>
                  <a:pt x="0" y="0"/>
                </a:moveTo>
                <a:lnTo>
                  <a:pt x="1506982" y="0"/>
                </a:lnTo>
                <a:lnTo>
                  <a:pt x="1506982" y="1356360"/>
                </a:lnTo>
                <a:lnTo>
                  <a:pt x="0" y="1356360"/>
                </a:lnTo>
                <a:lnTo>
                  <a:pt x="0" y="0"/>
                </a:lnTo>
                <a:close/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13839" y="2153074"/>
            <a:ext cx="150749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980"/>
              </a:spcBef>
            </a:pPr>
            <a:r>
              <a:rPr sz="1750" b="1" spc="15" dirty="0">
                <a:latin typeface="Times New Roman"/>
                <a:cs typeface="Times New Roman"/>
              </a:rPr>
              <a:t>Board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13839" y="2674268"/>
            <a:ext cx="2116455" cy="314325"/>
            <a:chOff x="1713839" y="2674268"/>
            <a:chExt cx="2116455" cy="314325"/>
          </a:xfrm>
        </p:grpSpPr>
        <p:sp>
          <p:nvSpPr>
            <p:cNvPr id="5" name="object 5"/>
            <p:cNvSpPr/>
            <p:nvPr/>
          </p:nvSpPr>
          <p:spPr>
            <a:xfrm>
              <a:off x="1713839" y="2680547"/>
              <a:ext cx="1507490" cy="0"/>
            </a:xfrm>
            <a:custGeom>
              <a:avLst/>
              <a:gdLst/>
              <a:ahLst/>
              <a:cxnLst/>
              <a:rect l="l" t="t" r="r" b="b"/>
              <a:pathLst>
                <a:path w="1507489">
                  <a:moveTo>
                    <a:pt x="0" y="0"/>
                  </a:moveTo>
                  <a:lnTo>
                    <a:pt x="1506982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20821" y="2680550"/>
              <a:ext cx="603250" cy="301625"/>
            </a:xfrm>
            <a:custGeom>
              <a:avLst/>
              <a:gdLst/>
              <a:ahLst/>
              <a:cxnLst/>
              <a:rect l="l" t="t" r="r" b="b"/>
              <a:pathLst>
                <a:path w="603250" h="301625">
                  <a:moveTo>
                    <a:pt x="301396" y="0"/>
                  </a:moveTo>
                  <a:lnTo>
                    <a:pt x="0" y="150698"/>
                  </a:lnTo>
                  <a:lnTo>
                    <a:pt x="301396" y="301409"/>
                  </a:lnTo>
                  <a:lnTo>
                    <a:pt x="602792" y="150698"/>
                  </a:lnTo>
                  <a:lnTo>
                    <a:pt x="3013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20822" y="2680547"/>
              <a:ext cx="603250" cy="301625"/>
            </a:xfrm>
            <a:custGeom>
              <a:avLst/>
              <a:gdLst/>
              <a:ahLst/>
              <a:cxnLst/>
              <a:rect l="l" t="t" r="r" b="b"/>
              <a:pathLst>
                <a:path w="603250" h="301625">
                  <a:moveTo>
                    <a:pt x="0" y="150706"/>
                  </a:moveTo>
                  <a:lnTo>
                    <a:pt x="301396" y="0"/>
                  </a:lnTo>
                  <a:lnTo>
                    <a:pt x="602792" y="150706"/>
                  </a:lnTo>
                  <a:lnTo>
                    <a:pt x="301396" y="301413"/>
                  </a:lnTo>
                  <a:lnTo>
                    <a:pt x="0" y="150706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57113" y="279358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49"/>
                </a:lnTo>
                <a:lnTo>
                  <a:pt x="75349" y="37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817335" y="2146794"/>
          <a:ext cx="3391535" cy="1356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4045"/>
                <a:gridCol w="1507490"/>
              </a:tblGrid>
              <a:tr h="52747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R="227965" algn="r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750" b="1" spc="5" dirty="0">
                          <a:latin typeface="Times New Roman"/>
                          <a:cs typeface="Times New Roman"/>
                        </a:rPr>
                        <a:t>Square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07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14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7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97105" y="979931"/>
            <a:ext cx="766953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Implementation of the </a:t>
            </a:r>
            <a:r>
              <a:rPr dirty="0"/>
              <a:t>Creator </a:t>
            </a:r>
            <a:r>
              <a:rPr spc="5" dirty="0"/>
              <a:t>Pattern in</a:t>
            </a:r>
            <a:r>
              <a:rPr spc="-70" dirty="0"/>
              <a:t> </a:t>
            </a:r>
            <a:r>
              <a:rPr spc="5" dirty="0"/>
              <a:t>Monoply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029347" y="4639733"/>
            <a:ext cx="4703445" cy="1890395"/>
            <a:chOff x="1029347" y="4639733"/>
            <a:chExt cx="4703445" cy="1890395"/>
          </a:xfrm>
        </p:grpSpPr>
        <p:sp>
          <p:nvSpPr>
            <p:cNvPr id="12" name="object 12"/>
            <p:cNvSpPr/>
            <p:nvPr/>
          </p:nvSpPr>
          <p:spPr>
            <a:xfrm>
              <a:off x="1035697" y="4941148"/>
              <a:ext cx="1205865" cy="0"/>
            </a:xfrm>
            <a:custGeom>
              <a:avLst/>
              <a:gdLst/>
              <a:ahLst/>
              <a:cxnLst/>
              <a:rect l="l" t="t" r="r" b="b"/>
              <a:pathLst>
                <a:path w="1205864">
                  <a:moveTo>
                    <a:pt x="0" y="0"/>
                  </a:moveTo>
                  <a:lnTo>
                    <a:pt x="1205585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91054" y="490347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94774" y="5242562"/>
              <a:ext cx="2712720" cy="1281430"/>
            </a:xfrm>
            <a:custGeom>
              <a:avLst/>
              <a:gdLst/>
              <a:ahLst/>
              <a:cxnLst/>
              <a:rect l="l" t="t" r="r" b="b"/>
              <a:pathLst>
                <a:path w="2712720" h="1281429">
                  <a:moveTo>
                    <a:pt x="0" y="0"/>
                  </a:moveTo>
                  <a:lnTo>
                    <a:pt x="0" y="1281007"/>
                  </a:lnTo>
                </a:path>
                <a:path w="2712720" h="1281429">
                  <a:moveTo>
                    <a:pt x="0" y="678180"/>
                  </a:moveTo>
                  <a:lnTo>
                    <a:pt x="2712567" y="67818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57113" y="588305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41283" y="4639733"/>
              <a:ext cx="1431925" cy="603250"/>
            </a:xfrm>
            <a:custGeom>
              <a:avLst/>
              <a:gdLst/>
              <a:ahLst/>
              <a:cxnLst/>
              <a:rect l="l" t="t" r="r" b="b"/>
              <a:pathLst>
                <a:path w="1431925" h="603250">
                  <a:moveTo>
                    <a:pt x="1431632" y="0"/>
                  </a:moveTo>
                  <a:lnTo>
                    <a:pt x="0" y="0"/>
                  </a:lnTo>
                  <a:lnTo>
                    <a:pt x="0" y="602827"/>
                  </a:lnTo>
                  <a:lnTo>
                    <a:pt x="1431632" y="602827"/>
                  </a:lnTo>
                  <a:lnTo>
                    <a:pt x="1431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64119" y="4596891"/>
            <a:ext cx="504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5" dirty="0">
                <a:latin typeface="Times New Roman"/>
                <a:cs typeface="Times New Roman"/>
              </a:rPr>
              <a:t>create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01338" y="5576480"/>
            <a:ext cx="504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5" dirty="0">
                <a:latin typeface="Times New Roman"/>
                <a:cs typeface="Times New Roman"/>
              </a:rPr>
              <a:t>create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41283" y="4639735"/>
            <a:ext cx="1431925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980"/>
              </a:spcBef>
            </a:pPr>
            <a:r>
              <a:rPr sz="1750" b="1" spc="10" dirty="0">
                <a:latin typeface="Times New Roman"/>
                <a:cs typeface="Times New Roman"/>
              </a:rPr>
              <a:t>:Board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07341" y="5619327"/>
            <a:ext cx="1507490" cy="527685"/>
          </a:xfrm>
          <a:custGeom>
            <a:avLst/>
            <a:gdLst/>
            <a:ahLst/>
            <a:cxnLst/>
            <a:rect l="l" t="t" r="r" b="b"/>
            <a:pathLst>
              <a:path w="1507490" h="527685">
                <a:moveTo>
                  <a:pt x="1506982" y="0"/>
                </a:moveTo>
                <a:lnTo>
                  <a:pt x="0" y="0"/>
                </a:lnTo>
                <a:lnTo>
                  <a:pt x="0" y="527472"/>
                </a:lnTo>
                <a:lnTo>
                  <a:pt x="1506982" y="527472"/>
                </a:lnTo>
                <a:lnTo>
                  <a:pt x="15069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07342" y="5619328"/>
            <a:ext cx="150749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750" b="1" spc="5" dirty="0">
                <a:latin typeface="Times New Roman"/>
                <a:cs typeface="Times New Roman"/>
              </a:rPr>
              <a:t>:Square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6187" y="6882107"/>
            <a:ext cx="189230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z="1750" b="1" spc="15" dirty="0">
                <a:latin typeface="Times New Roman"/>
                <a:cs typeface="Times New Roman"/>
              </a:rPr>
              <a:t>6</a:t>
            </a:fld>
            <a:endParaRPr sz="1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72498" y="6631431"/>
            <a:ext cx="434276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Dynamic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Model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–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illustrates Creator</a:t>
            </a:r>
            <a:r>
              <a:rPr sz="175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Pattern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95752" y="3918712"/>
            <a:ext cx="438721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Applying 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Creator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pattern in Static</a:t>
            </a:r>
            <a:r>
              <a:rPr sz="175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Model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8516187" y="6882107"/>
            <a:ext cx="189230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z="1750" b="1" spc="15" dirty="0">
                <a:latin typeface="Times New Roman"/>
                <a:cs typeface="Times New Roman"/>
              </a:rPr>
              <a:t>7</a:t>
            </a:fld>
            <a:endParaRPr sz="17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3457" y="1055281"/>
            <a:ext cx="395224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Monopoly </a:t>
            </a:r>
            <a:r>
              <a:rPr spc="10" dirty="0"/>
              <a:t>Game</a:t>
            </a:r>
            <a:r>
              <a:rPr spc="-40" dirty="0"/>
              <a:t> </a:t>
            </a:r>
            <a:r>
              <a:rPr spc="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3416" y="1733461"/>
            <a:ext cx="6759575" cy="2871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7630" marR="5080">
              <a:lnSpc>
                <a:spcPct val="103600"/>
              </a:lnSpc>
              <a:spcBef>
                <a:spcPts val="55"/>
              </a:spcBef>
            </a:pPr>
            <a:r>
              <a:rPr sz="1750" b="1" spc="20" dirty="0" smtClean="0">
                <a:solidFill>
                  <a:srgbClr val="3333CC"/>
                </a:solidFill>
                <a:latin typeface="Times New Roman"/>
                <a:cs typeface="Times New Roman"/>
              </a:rPr>
              <a:t>Who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knows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about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object, given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1750" b="1" spc="-5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key</a:t>
            </a:r>
            <a:r>
              <a:rPr sz="1750" b="1" spc="10" dirty="0" smtClean="0">
                <a:solidFill>
                  <a:srgbClr val="3333CC"/>
                </a:solidFill>
                <a:latin typeface="Times New Roman"/>
                <a:cs typeface="Times New Roman"/>
              </a:rPr>
              <a:t>?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548" y="3048000"/>
            <a:ext cx="7992109" cy="15525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34620">
              <a:lnSpc>
                <a:spcPct val="103600"/>
              </a:lnSpc>
              <a:spcBef>
                <a:spcPts val="55"/>
              </a:spcBef>
            </a:pP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player Marker needs to find 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to which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it is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move and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 options  pertaining to that</a:t>
            </a:r>
            <a:r>
              <a:rPr sz="175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square.</a:t>
            </a:r>
            <a:endParaRPr sz="1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 dirty="0">
              <a:latin typeface="Times New Roman"/>
              <a:cs typeface="Times New Roman"/>
            </a:endParaRPr>
          </a:p>
          <a:p>
            <a:pPr marL="87630" marR="5080">
              <a:lnSpc>
                <a:spcPct val="103600"/>
              </a:lnSpc>
              <a:spcBef>
                <a:spcPts val="1175"/>
              </a:spcBef>
            </a:pP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The Board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aggregates all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of the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Squares,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so the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Board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has the Information needed  to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fulfill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this</a:t>
            </a:r>
            <a:r>
              <a:rPr sz="175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FF6600"/>
                </a:solidFill>
                <a:latin typeface="Times New Roman"/>
                <a:cs typeface="Times New Roman"/>
              </a:rPr>
              <a:t>responsibility.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62200" y="2170755"/>
            <a:ext cx="2960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lang="en-US" b="1" u="sng" spc="1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Information Expert</a:t>
            </a:r>
            <a:r>
              <a:rPr lang="en-US" b="1" u="sng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b="1" u="sng" spc="1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pattern</a:t>
            </a: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9867" y="904582"/>
            <a:ext cx="495808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0" dirty="0"/>
              <a:t>Make </a:t>
            </a:r>
            <a:r>
              <a:rPr spc="5" dirty="0"/>
              <a:t>Board Information</a:t>
            </a:r>
            <a:r>
              <a:rPr spc="-40" dirty="0"/>
              <a:t> </a:t>
            </a:r>
            <a:r>
              <a:rPr spc="5" dirty="0"/>
              <a:t>Expert</a:t>
            </a:r>
          </a:p>
        </p:txBody>
      </p:sp>
      <p:sp>
        <p:nvSpPr>
          <p:cNvPr id="3" name="object 3"/>
          <p:cNvSpPr/>
          <p:nvPr/>
        </p:nvSpPr>
        <p:spPr>
          <a:xfrm>
            <a:off x="3974313" y="2831254"/>
            <a:ext cx="3616960" cy="1582420"/>
          </a:xfrm>
          <a:custGeom>
            <a:avLst/>
            <a:gdLst/>
            <a:ahLst/>
            <a:cxnLst/>
            <a:rect l="l" t="t" r="r" b="b"/>
            <a:pathLst>
              <a:path w="3616959" h="1582420">
                <a:moveTo>
                  <a:pt x="0" y="0"/>
                </a:moveTo>
                <a:lnTo>
                  <a:pt x="0" y="1582420"/>
                </a:lnTo>
              </a:path>
              <a:path w="3616959" h="1582420">
                <a:moveTo>
                  <a:pt x="3616757" y="0"/>
                </a:moveTo>
                <a:lnTo>
                  <a:pt x="3616757" y="158242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45472" y="2002367"/>
            <a:ext cx="1582420" cy="82931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750" b="1" spc="10" dirty="0">
                <a:latin typeface="Times New Roman"/>
                <a:cs typeface="Times New Roman"/>
              </a:rPr>
              <a:t>:Board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5484" y="2002367"/>
            <a:ext cx="2260600" cy="82931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9939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570"/>
              </a:spcBef>
            </a:pPr>
            <a:r>
              <a:rPr sz="1750" b="1" spc="10" dirty="0">
                <a:latin typeface="Times New Roman"/>
                <a:cs typeface="Times New Roman"/>
              </a:rPr>
              <a:t>sqs:</a:t>
            </a:r>
            <a:r>
              <a:rPr sz="1750" b="1" spc="-10" dirty="0">
                <a:latin typeface="Times New Roman"/>
                <a:cs typeface="Times New Roman"/>
              </a:rPr>
              <a:t> </a:t>
            </a:r>
            <a:r>
              <a:rPr sz="1750" b="1" spc="10" dirty="0">
                <a:latin typeface="Times New Roman"/>
                <a:cs typeface="Times New Roman"/>
              </a:rPr>
              <a:t>Map&lt;Square&gt;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37094" y="3321050"/>
            <a:ext cx="6279515" cy="753745"/>
            <a:chOff x="1337094" y="3321050"/>
            <a:chExt cx="6279515" cy="753745"/>
          </a:xfrm>
        </p:grpSpPr>
        <p:sp>
          <p:nvSpPr>
            <p:cNvPr id="7" name="object 7"/>
            <p:cNvSpPr/>
            <p:nvPr/>
          </p:nvSpPr>
          <p:spPr>
            <a:xfrm>
              <a:off x="1337094" y="3358727"/>
              <a:ext cx="2637790" cy="0"/>
            </a:xfrm>
            <a:custGeom>
              <a:avLst/>
              <a:gdLst/>
              <a:ahLst/>
              <a:cxnLst/>
              <a:rect l="l" t="t" r="r" b="b"/>
              <a:pathLst>
                <a:path w="2637790">
                  <a:moveTo>
                    <a:pt x="0" y="0"/>
                  </a:moveTo>
                  <a:lnTo>
                    <a:pt x="2637218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4084" y="332105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74313" y="4036908"/>
              <a:ext cx="3616960" cy="0"/>
            </a:xfrm>
            <a:custGeom>
              <a:avLst/>
              <a:gdLst/>
              <a:ahLst/>
              <a:cxnLst/>
              <a:rect l="l" t="t" r="r" b="b"/>
              <a:pathLst>
                <a:path w="3616959">
                  <a:moveTo>
                    <a:pt x="0" y="0"/>
                  </a:moveTo>
                  <a:lnTo>
                    <a:pt x="3616757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40840" y="399923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0167" y="2939122"/>
            <a:ext cx="6094730" cy="975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s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75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getSquare(name)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Times New Roman"/>
              <a:cs typeface="Times New Roman"/>
            </a:endParaRPr>
          </a:p>
          <a:p>
            <a:pPr marL="3252470">
              <a:lnSpc>
                <a:spcPct val="100000"/>
              </a:lnSpc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s =get (name) :</a:t>
            </a:r>
            <a:r>
              <a:rPr sz="175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16187" y="6882107"/>
            <a:ext cx="189230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z="1750" b="1" spc="15" dirty="0">
                <a:latin typeface="Times New Roman"/>
                <a:cs typeface="Times New Roman"/>
              </a:rPr>
              <a:t>8</a:t>
            </a:fld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993534" y="2104133"/>
            <a:ext cx="1446333" cy="766916"/>
          </a:xfrm>
          <a:prstGeom prst="borderCallout1">
            <a:avLst>
              <a:gd name="adj1" fmla="val 18750"/>
              <a:gd name="adj2" fmla="val -8333"/>
              <a:gd name="adj3" fmla="val 124423"/>
              <a:gd name="adj4" fmla="val -2252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 expert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7648" y="904582"/>
            <a:ext cx="282829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Alternative</a:t>
            </a:r>
            <a:r>
              <a:rPr spc="-60" dirty="0"/>
              <a:t> </a:t>
            </a:r>
            <a:r>
              <a:rPr spc="5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3839" y="2228427"/>
            <a:ext cx="1356360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980"/>
              </a:spcBef>
            </a:pPr>
            <a:r>
              <a:rPr sz="1750" b="1" spc="15" dirty="0">
                <a:latin typeface="Times New Roman"/>
                <a:cs typeface="Times New Roman"/>
              </a:rPr>
              <a:t>Dog:</a:t>
            </a:r>
            <a:r>
              <a:rPr sz="1750" b="1" spc="-1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Times New Roman"/>
                <a:cs typeface="Times New Roman"/>
              </a:rPr>
              <a:t>Piece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5011" y="2153074"/>
            <a:ext cx="1507490" cy="67818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9939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570"/>
              </a:spcBef>
            </a:pPr>
            <a:r>
              <a:rPr sz="1750" b="1" spc="10" dirty="0">
                <a:latin typeface="Times New Roman"/>
                <a:cs typeface="Times New Roman"/>
              </a:rPr>
              <a:t>:Board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2928" y="2153074"/>
            <a:ext cx="2110105" cy="67818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993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570"/>
              </a:spcBef>
            </a:pPr>
            <a:r>
              <a:rPr sz="1750" b="1" spc="10" dirty="0">
                <a:latin typeface="Times New Roman"/>
                <a:cs typeface="Times New Roman"/>
              </a:rPr>
              <a:t>Sqs:</a:t>
            </a:r>
            <a:r>
              <a:rPr sz="1750" b="1" spc="-10" dirty="0">
                <a:latin typeface="Times New Roman"/>
                <a:cs typeface="Times New Roman"/>
              </a:rPr>
              <a:t> </a:t>
            </a:r>
            <a:r>
              <a:rPr sz="1750" b="1" spc="10" dirty="0">
                <a:latin typeface="Times New Roman"/>
                <a:cs typeface="Times New Roman"/>
              </a:rPr>
              <a:t>Map&lt;Square&gt;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3300" y="2824904"/>
            <a:ext cx="7171055" cy="2122805"/>
            <a:chOff x="803300" y="2824904"/>
            <a:chExt cx="7171055" cy="2122805"/>
          </a:xfrm>
        </p:grpSpPr>
        <p:sp>
          <p:nvSpPr>
            <p:cNvPr id="7" name="object 7"/>
            <p:cNvSpPr/>
            <p:nvPr/>
          </p:nvSpPr>
          <p:spPr>
            <a:xfrm>
              <a:off x="2467330" y="2831254"/>
              <a:ext cx="0" cy="2110105"/>
            </a:xfrm>
            <a:custGeom>
              <a:avLst/>
              <a:gdLst/>
              <a:ahLst/>
              <a:cxnLst/>
              <a:rect l="l" t="t" r="r" b="b"/>
              <a:pathLst>
                <a:path h="2110104">
                  <a:moveTo>
                    <a:pt x="0" y="0"/>
                  </a:moveTo>
                  <a:lnTo>
                    <a:pt x="0" y="2109894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9650" y="3434081"/>
              <a:ext cx="1657985" cy="0"/>
            </a:xfrm>
            <a:custGeom>
              <a:avLst/>
              <a:gdLst/>
              <a:ahLst/>
              <a:cxnLst/>
              <a:rect l="l" t="t" r="r" b="b"/>
              <a:pathLst>
                <a:path w="1657985">
                  <a:moveTo>
                    <a:pt x="0" y="0"/>
                  </a:moveTo>
                  <a:lnTo>
                    <a:pt x="165768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17102" y="339639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8502" y="2831254"/>
              <a:ext cx="0" cy="2110105"/>
            </a:xfrm>
            <a:custGeom>
              <a:avLst/>
              <a:gdLst/>
              <a:ahLst/>
              <a:cxnLst/>
              <a:rect l="l" t="t" r="r" b="b"/>
              <a:pathLst>
                <a:path h="2110104">
                  <a:moveTo>
                    <a:pt x="0" y="0"/>
                  </a:moveTo>
                  <a:lnTo>
                    <a:pt x="0" y="2109894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67330" y="4036908"/>
              <a:ext cx="2411730" cy="0"/>
            </a:xfrm>
            <a:custGeom>
              <a:avLst/>
              <a:gdLst/>
              <a:ahLst/>
              <a:cxnLst/>
              <a:rect l="l" t="t" r="r" b="b"/>
              <a:pathLst>
                <a:path w="2411729">
                  <a:moveTo>
                    <a:pt x="0" y="0"/>
                  </a:moveTo>
                  <a:lnTo>
                    <a:pt x="2411171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28273" y="399923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67815" y="2831254"/>
              <a:ext cx="0" cy="2034539"/>
            </a:xfrm>
            <a:custGeom>
              <a:avLst/>
              <a:gdLst/>
              <a:ahLst/>
              <a:cxnLst/>
              <a:rect l="l" t="t" r="r" b="b"/>
              <a:pathLst>
                <a:path h="2034539">
                  <a:moveTo>
                    <a:pt x="0" y="0"/>
                  </a:moveTo>
                  <a:lnTo>
                    <a:pt x="0" y="203454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04263" y="5839855"/>
            <a:ext cx="5577205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5"/>
              </a:lnSpc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Alternative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–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Assign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getSquare(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name) to 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Piece</a:t>
            </a:r>
            <a:r>
              <a:rPr sz="1750" b="1" spc="-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object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972" y="3089821"/>
            <a:ext cx="178816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s </a:t>
            </a: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550" b="1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getSquare(name)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3609" y="3692651"/>
            <a:ext cx="239903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30"/>
              </a:spcBef>
            </a:pP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sqs </a:t>
            </a: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55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getAllSquares(name)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67330" y="4526699"/>
            <a:ext cx="5525770" cy="75565"/>
            <a:chOff x="2467330" y="4526699"/>
            <a:chExt cx="5525770" cy="75565"/>
          </a:xfrm>
        </p:grpSpPr>
        <p:sp>
          <p:nvSpPr>
            <p:cNvPr id="18" name="object 18"/>
            <p:cNvSpPr/>
            <p:nvPr/>
          </p:nvSpPr>
          <p:spPr>
            <a:xfrm>
              <a:off x="2467330" y="4564381"/>
              <a:ext cx="5501005" cy="0"/>
            </a:xfrm>
            <a:custGeom>
              <a:avLst/>
              <a:gdLst/>
              <a:ahLst/>
              <a:cxnLst/>
              <a:rect l="l" t="t" r="r" b="b"/>
              <a:pathLst>
                <a:path w="5501005">
                  <a:moveTo>
                    <a:pt x="0" y="0"/>
                  </a:moveTo>
                  <a:lnTo>
                    <a:pt x="5500485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17586" y="452669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73609" y="4220121"/>
            <a:ext cx="305689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63625">
              <a:lnSpc>
                <a:spcPct val="100000"/>
              </a:lnSpc>
              <a:spcBef>
                <a:spcPts val="130"/>
              </a:spcBef>
            </a:pP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s </a:t>
            </a: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= </a:t>
            </a: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get </a:t>
            </a: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(name) </a:t>
            </a: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sz="1550" b="1" spc="-1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Square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6323" y="4130649"/>
            <a:ext cx="89789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5095">
              <a:lnSpc>
                <a:spcPct val="101400"/>
              </a:lnSpc>
              <a:spcBef>
                <a:spcPts val="95"/>
              </a:spcBef>
            </a:pPr>
            <a:r>
              <a:rPr sz="19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Poor  Design</a:t>
            </a:r>
            <a:r>
              <a:rPr sz="1950" b="1" spc="-8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9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!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35697" y="5311565"/>
            <a:ext cx="7459980" cy="1068070"/>
            <a:chOff x="1035697" y="5311565"/>
            <a:chExt cx="7459980" cy="1068070"/>
          </a:xfrm>
        </p:grpSpPr>
        <p:sp>
          <p:nvSpPr>
            <p:cNvPr id="23" name="object 23"/>
            <p:cNvSpPr/>
            <p:nvPr/>
          </p:nvSpPr>
          <p:spPr>
            <a:xfrm>
              <a:off x="1035697" y="5393270"/>
              <a:ext cx="7459980" cy="904240"/>
            </a:xfrm>
            <a:custGeom>
              <a:avLst/>
              <a:gdLst/>
              <a:ahLst/>
              <a:cxnLst/>
              <a:rect l="l" t="t" r="r" b="b"/>
              <a:pathLst>
                <a:path w="7459980" h="904239">
                  <a:moveTo>
                    <a:pt x="7459560" y="0"/>
                  </a:moveTo>
                  <a:lnTo>
                    <a:pt x="0" y="0"/>
                  </a:lnTo>
                  <a:lnTo>
                    <a:pt x="0" y="904239"/>
                  </a:lnTo>
                  <a:lnTo>
                    <a:pt x="7459560" y="904239"/>
                  </a:lnTo>
                  <a:lnTo>
                    <a:pt x="7459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75709" y="5317913"/>
              <a:ext cx="1356360" cy="1055370"/>
            </a:xfrm>
            <a:custGeom>
              <a:avLst/>
              <a:gdLst/>
              <a:ahLst/>
              <a:cxnLst/>
              <a:rect l="l" t="t" r="r" b="b"/>
              <a:pathLst>
                <a:path w="1356360" h="1055370">
                  <a:moveTo>
                    <a:pt x="1356283" y="0"/>
                  </a:moveTo>
                  <a:lnTo>
                    <a:pt x="0" y="0"/>
                  </a:lnTo>
                  <a:lnTo>
                    <a:pt x="0" y="1054947"/>
                  </a:lnTo>
                  <a:lnTo>
                    <a:pt x="1356283" y="1054947"/>
                  </a:lnTo>
                  <a:lnTo>
                    <a:pt x="1356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75709" y="5317915"/>
              <a:ext cx="1356360" cy="1055370"/>
            </a:xfrm>
            <a:custGeom>
              <a:avLst/>
              <a:gdLst/>
              <a:ahLst/>
              <a:cxnLst/>
              <a:rect l="l" t="t" r="r" b="b"/>
              <a:pathLst>
                <a:path w="1356360" h="1055370">
                  <a:moveTo>
                    <a:pt x="0" y="0"/>
                  </a:moveTo>
                  <a:lnTo>
                    <a:pt x="1356283" y="0"/>
                  </a:lnTo>
                  <a:lnTo>
                    <a:pt x="1356283" y="1054947"/>
                  </a:lnTo>
                  <a:lnTo>
                    <a:pt x="0" y="1054947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275709" y="5317915"/>
            <a:ext cx="135636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750" b="1" spc="15" dirty="0">
                <a:latin typeface="Times New Roman"/>
                <a:cs typeface="Times New Roman"/>
              </a:rPr>
              <a:t>Board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75709" y="5311565"/>
            <a:ext cx="4678045" cy="992505"/>
            <a:chOff x="4275709" y="5311565"/>
            <a:chExt cx="4678045" cy="992505"/>
          </a:xfrm>
        </p:grpSpPr>
        <p:sp>
          <p:nvSpPr>
            <p:cNvPr id="28" name="object 28"/>
            <p:cNvSpPr/>
            <p:nvPr/>
          </p:nvSpPr>
          <p:spPr>
            <a:xfrm>
              <a:off x="4275709" y="5763756"/>
              <a:ext cx="1356360" cy="12700"/>
            </a:xfrm>
            <a:custGeom>
              <a:avLst/>
              <a:gdLst/>
              <a:ahLst/>
              <a:cxnLst/>
              <a:rect l="l" t="t" r="r" b="b"/>
              <a:pathLst>
                <a:path w="1356360" h="12700">
                  <a:moveTo>
                    <a:pt x="0" y="0"/>
                  </a:moveTo>
                  <a:lnTo>
                    <a:pt x="1356284" y="0"/>
                  </a:lnTo>
                  <a:lnTo>
                    <a:pt x="1356284" y="12558"/>
                  </a:lnTo>
                  <a:lnTo>
                    <a:pt x="0" y="125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91069" y="5317918"/>
              <a:ext cx="1356360" cy="979805"/>
            </a:xfrm>
            <a:custGeom>
              <a:avLst/>
              <a:gdLst/>
              <a:ahLst/>
              <a:cxnLst/>
              <a:rect l="l" t="t" r="r" b="b"/>
              <a:pathLst>
                <a:path w="1356359" h="979804">
                  <a:moveTo>
                    <a:pt x="1356283" y="0"/>
                  </a:moveTo>
                  <a:lnTo>
                    <a:pt x="0" y="0"/>
                  </a:lnTo>
                  <a:lnTo>
                    <a:pt x="0" y="979592"/>
                  </a:lnTo>
                  <a:lnTo>
                    <a:pt x="1356283" y="979592"/>
                  </a:lnTo>
                  <a:lnTo>
                    <a:pt x="1356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91070" y="5317915"/>
              <a:ext cx="1356360" cy="979805"/>
            </a:xfrm>
            <a:custGeom>
              <a:avLst/>
              <a:gdLst/>
              <a:ahLst/>
              <a:cxnLst/>
              <a:rect l="l" t="t" r="r" b="b"/>
              <a:pathLst>
                <a:path w="1356359" h="979804">
                  <a:moveTo>
                    <a:pt x="0" y="0"/>
                  </a:moveTo>
                  <a:lnTo>
                    <a:pt x="1356283" y="0"/>
                  </a:lnTo>
                  <a:lnTo>
                    <a:pt x="1356283" y="979593"/>
                  </a:lnTo>
                  <a:lnTo>
                    <a:pt x="0" y="979593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591069" y="5317915"/>
            <a:ext cx="135636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750" b="1" spc="5" dirty="0">
                <a:latin typeface="Times New Roman"/>
                <a:cs typeface="Times New Roman"/>
              </a:rPr>
              <a:t>Square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790628" y="5763755"/>
            <a:ext cx="6156960" cy="1123950"/>
            <a:chOff x="2790628" y="5763755"/>
            <a:chExt cx="6156960" cy="1123950"/>
          </a:xfrm>
        </p:grpSpPr>
        <p:sp>
          <p:nvSpPr>
            <p:cNvPr id="33" name="object 33"/>
            <p:cNvSpPr/>
            <p:nvPr/>
          </p:nvSpPr>
          <p:spPr>
            <a:xfrm>
              <a:off x="7591070" y="5763755"/>
              <a:ext cx="1356360" cy="12700"/>
            </a:xfrm>
            <a:custGeom>
              <a:avLst/>
              <a:gdLst/>
              <a:ahLst/>
              <a:cxnLst/>
              <a:rect l="l" t="t" r="r" b="b"/>
              <a:pathLst>
                <a:path w="1356359" h="12700">
                  <a:moveTo>
                    <a:pt x="0" y="0"/>
                  </a:moveTo>
                  <a:lnTo>
                    <a:pt x="1356284" y="0"/>
                  </a:lnTo>
                  <a:lnTo>
                    <a:pt x="1356284" y="12558"/>
                  </a:lnTo>
                  <a:lnTo>
                    <a:pt x="0" y="125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19425" y="5920741"/>
              <a:ext cx="1356360" cy="0"/>
            </a:xfrm>
            <a:custGeom>
              <a:avLst/>
              <a:gdLst/>
              <a:ahLst/>
              <a:cxnLst/>
              <a:rect l="l" t="t" r="r" b="b"/>
              <a:pathLst>
                <a:path w="1356360">
                  <a:moveTo>
                    <a:pt x="0" y="0"/>
                  </a:moveTo>
                  <a:lnTo>
                    <a:pt x="1356283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25480" y="5883058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96978" y="6363437"/>
              <a:ext cx="5022215" cy="517525"/>
            </a:xfrm>
            <a:custGeom>
              <a:avLst/>
              <a:gdLst/>
              <a:ahLst/>
              <a:cxnLst/>
              <a:rect l="l" t="t" r="r" b="b"/>
              <a:pathLst>
                <a:path w="5022215" h="517525">
                  <a:moveTo>
                    <a:pt x="0" y="76925"/>
                  </a:moveTo>
                  <a:lnTo>
                    <a:pt x="55827" y="94950"/>
                  </a:lnTo>
                  <a:lnTo>
                    <a:pt x="99203" y="121026"/>
                  </a:lnTo>
                  <a:lnTo>
                    <a:pt x="127940" y="141434"/>
                  </a:lnTo>
                  <a:lnTo>
                    <a:pt x="174252" y="172689"/>
                  </a:lnTo>
                  <a:lnTo>
                    <a:pt x="205913" y="186548"/>
                  </a:lnTo>
                  <a:lnTo>
                    <a:pt x="240374" y="194079"/>
                  </a:lnTo>
                  <a:lnTo>
                    <a:pt x="275129" y="200727"/>
                  </a:lnTo>
                  <a:lnTo>
                    <a:pt x="307675" y="211938"/>
                  </a:lnTo>
                  <a:lnTo>
                    <a:pt x="353501" y="234427"/>
                  </a:lnTo>
                  <a:lnTo>
                    <a:pt x="399339" y="255465"/>
                  </a:lnTo>
                  <a:lnTo>
                    <a:pt x="445240" y="275108"/>
                  </a:lnTo>
                  <a:lnTo>
                    <a:pt x="491259" y="293411"/>
                  </a:lnTo>
                  <a:lnTo>
                    <a:pt x="537447" y="310430"/>
                  </a:lnTo>
                  <a:lnTo>
                    <a:pt x="583859" y="326222"/>
                  </a:lnTo>
                  <a:lnTo>
                    <a:pt x="630547" y="340841"/>
                  </a:lnTo>
                  <a:lnTo>
                    <a:pt x="677565" y="354344"/>
                  </a:lnTo>
                  <a:lnTo>
                    <a:pt x="724964" y="366787"/>
                  </a:lnTo>
                  <a:lnTo>
                    <a:pt x="772799" y="378225"/>
                  </a:lnTo>
                  <a:lnTo>
                    <a:pt x="821122" y="388714"/>
                  </a:lnTo>
                  <a:lnTo>
                    <a:pt x="869986" y="398309"/>
                  </a:lnTo>
                  <a:lnTo>
                    <a:pt x="919445" y="407067"/>
                  </a:lnTo>
                  <a:lnTo>
                    <a:pt x="969551" y="415044"/>
                  </a:lnTo>
                  <a:lnTo>
                    <a:pt x="1020357" y="422295"/>
                  </a:lnTo>
                  <a:lnTo>
                    <a:pt x="1070946" y="431287"/>
                  </a:lnTo>
                  <a:lnTo>
                    <a:pt x="1122101" y="442938"/>
                  </a:lnTo>
                  <a:lnTo>
                    <a:pt x="1173605" y="455462"/>
                  </a:lnTo>
                  <a:lnTo>
                    <a:pt x="1225240" y="467069"/>
                  </a:lnTo>
                  <a:lnTo>
                    <a:pt x="1276789" y="475972"/>
                  </a:lnTo>
                  <a:lnTo>
                    <a:pt x="1328033" y="480382"/>
                  </a:lnTo>
                  <a:lnTo>
                    <a:pt x="1378316" y="481564"/>
                  </a:lnTo>
                  <a:lnTo>
                    <a:pt x="1428599" y="482680"/>
                  </a:lnTo>
                  <a:lnTo>
                    <a:pt x="1478882" y="483734"/>
                  </a:lnTo>
                  <a:lnTo>
                    <a:pt x="1529165" y="484729"/>
                  </a:lnTo>
                  <a:lnTo>
                    <a:pt x="1579448" y="485667"/>
                  </a:lnTo>
                  <a:lnTo>
                    <a:pt x="1629731" y="486553"/>
                  </a:lnTo>
                  <a:lnTo>
                    <a:pt x="1680015" y="487390"/>
                  </a:lnTo>
                  <a:lnTo>
                    <a:pt x="1730298" y="488180"/>
                  </a:lnTo>
                  <a:lnTo>
                    <a:pt x="1780581" y="488926"/>
                  </a:lnTo>
                  <a:lnTo>
                    <a:pt x="1830864" y="489633"/>
                  </a:lnTo>
                  <a:lnTo>
                    <a:pt x="1881147" y="490302"/>
                  </a:lnTo>
                  <a:lnTo>
                    <a:pt x="1931431" y="490938"/>
                  </a:lnTo>
                  <a:lnTo>
                    <a:pt x="1981714" y="491543"/>
                  </a:lnTo>
                  <a:lnTo>
                    <a:pt x="2031997" y="492121"/>
                  </a:lnTo>
                  <a:lnTo>
                    <a:pt x="2082281" y="492674"/>
                  </a:lnTo>
                  <a:lnTo>
                    <a:pt x="2132564" y="493206"/>
                  </a:lnTo>
                  <a:lnTo>
                    <a:pt x="2182847" y="493720"/>
                  </a:lnTo>
                  <a:lnTo>
                    <a:pt x="2233131" y="494219"/>
                  </a:lnTo>
                  <a:lnTo>
                    <a:pt x="2283414" y="494706"/>
                  </a:lnTo>
                  <a:lnTo>
                    <a:pt x="2333698" y="495185"/>
                  </a:lnTo>
                  <a:lnTo>
                    <a:pt x="2383981" y="495659"/>
                  </a:lnTo>
                  <a:lnTo>
                    <a:pt x="2434265" y="496130"/>
                  </a:lnTo>
                  <a:lnTo>
                    <a:pt x="2484549" y="496602"/>
                  </a:lnTo>
                  <a:lnTo>
                    <a:pt x="2534832" y="497078"/>
                  </a:lnTo>
                  <a:lnTo>
                    <a:pt x="2585116" y="497562"/>
                  </a:lnTo>
                  <a:lnTo>
                    <a:pt x="2635400" y="498056"/>
                  </a:lnTo>
                  <a:lnTo>
                    <a:pt x="2685684" y="498563"/>
                  </a:lnTo>
                  <a:lnTo>
                    <a:pt x="2735968" y="499088"/>
                  </a:lnTo>
                  <a:lnTo>
                    <a:pt x="2786252" y="499632"/>
                  </a:lnTo>
                  <a:lnTo>
                    <a:pt x="2836536" y="500199"/>
                  </a:lnTo>
                  <a:lnTo>
                    <a:pt x="2886820" y="500793"/>
                  </a:lnTo>
                  <a:lnTo>
                    <a:pt x="2937266" y="510562"/>
                  </a:lnTo>
                  <a:lnTo>
                    <a:pt x="2988627" y="515849"/>
                  </a:lnTo>
                  <a:lnTo>
                    <a:pt x="3040685" y="517350"/>
                  </a:lnTo>
                  <a:lnTo>
                    <a:pt x="3093224" y="515761"/>
                  </a:lnTo>
                  <a:lnTo>
                    <a:pt x="3146026" y="511781"/>
                  </a:lnTo>
                  <a:lnTo>
                    <a:pt x="3198876" y="506104"/>
                  </a:lnTo>
                  <a:lnTo>
                    <a:pt x="3251556" y="499429"/>
                  </a:lnTo>
                  <a:lnTo>
                    <a:pt x="3303850" y="492453"/>
                  </a:lnTo>
                  <a:lnTo>
                    <a:pt x="3355541" y="485872"/>
                  </a:lnTo>
                  <a:lnTo>
                    <a:pt x="3406412" y="480382"/>
                  </a:lnTo>
                  <a:lnTo>
                    <a:pt x="3453728" y="469835"/>
                  </a:lnTo>
                  <a:lnTo>
                    <a:pt x="3501454" y="461268"/>
                  </a:lnTo>
                  <a:lnTo>
                    <a:pt x="3549539" y="454447"/>
                  </a:lnTo>
                  <a:lnTo>
                    <a:pt x="3597935" y="449132"/>
                  </a:lnTo>
                  <a:lnTo>
                    <a:pt x="3646589" y="445088"/>
                  </a:lnTo>
                  <a:lnTo>
                    <a:pt x="3695453" y="442076"/>
                  </a:lnTo>
                  <a:lnTo>
                    <a:pt x="3744476" y="439859"/>
                  </a:lnTo>
                  <a:lnTo>
                    <a:pt x="3793607" y="438201"/>
                  </a:lnTo>
                  <a:lnTo>
                    <a:pt x="3842797" y="436863"/>
                  </a:lnTo>
                  <a:lnTo>
                    <a:pt x="3891996" y="435610"/>
                  </a:lnTo>
                  <a:lnTo>
                    <a:pt x="3941153" y="434203"/>
                  </a:lnTo>
                  <a:lnTo>
                    <a:pt x="3990218" y="432405"/>
                  </a:lnTo>
                  <a:lnTo>
                    <a:pt x="4039141" y="429979"/>
                  </a:lnTo>
                  <a:lnTo>
                    <a:pt x="4087871" y="426688"/>
                  </a:lnTo>
                  <a:lnTo>
                    <a:pt x="4136359" y="422295"/>
                  </a:lnTo>
                  <a:lnTo>
                    <a:pt x="4181453" y="394254"/>
                  </a:lnTo>
                  <a:lnTo>
                    <a:pt x="4224364" y="371638"/>
                  </a:lnTo>
                  <a:lnTo>
                    <a:pt x="4267803" y="353466"/>
                  </a:lnTo>
                  <a:lnTo>
                    <a:pt x="4314482" y="338760"/>
                  </a:lnTo>
                  <a:lnTo>
                    <a:pt x="4367113" y="326541"/>
                  </a:lnTo>
                  <a:lnTo>
                    <a:pt x="4413425" y="295282"/>
                  </a:lnTo>
                  <a:lnTo>
                    <a:pt x="4442162" y="274871"/>
                  </a:lnTo>
                  <a:lnTo>
                    <a:pt x="4459586" y="262315"/>
                  </a:lnTo>
                  <a:lnTo>
                    <a:pt x="4471956" y="254621"/>
                  </a:lnTo>
                  <a:lnTo>
                    <a:pt x="4485534" y="248796"/>
                  </a:lnTo>
                  <a:lnTo>
                    <a:pt x="4506581" y="241845"/>
                  </a:lnTo>
                  <a:lnTo>
                    <a:pt x="4541356" y="230777"/>
                  </a:lnTo>
                  <a:lnTo>
                    <a:pt x="4575980" y="187719"/>
                  </a:lnTo>
                  <a:lnTo>
                    <a:pt x="4612697" y="160535"/>
                  </a:lnTo>
                  <a:lnTo>
                    <a:pt x="4652028" y="144428"/>
                  </a:lnTo>
                  <a:lnTo>
                    <a:pt x="4694500" y="134602"/>
                  </a:lnTo>
                  <a:lnTo>
                    <a:pt x="4740634" y="126259"/>
                  </a:lnTo>
                  <a:lnTo>
                    <a:pt x="4790957" y="114602"/>
                  </a:lnTo>
                  <a:lnTo>
                    <a:pt x="4819896" y="105405"/>
                  </a:lnTo>
                  <a:lnTo>
                    <a:pt x="4848250" y="95178"/>
                  </a:lnTo>
                  <a:lnTo>
                    <a:pt x="4876604" y="85243"/>
                  </a:lnTo>
                  <a:lnTo>
                    <a:pt x="4905543" y="76925"/>
                  </a:lnTo>
                  <a:lnTo>
                    <a:pt x="4925314" y="72216"/>
                  </a:lnTo>
                  <a:lnTo>
                    <a:pt x="4944790" y="67506"/>
                  </a:lnTo>
                  <a:lnTo>
                    <a:pt x="4964266" y="62796"/>
                  </a:lnTo>
                  <a:lnTo>
                    <a:pt x="4984037" y="58087"/>
                  </a:lnTo>
                  <a:lnTo>
                    <a:pt x="4995221" y="41063"/>
                  </a:lnTo>
                  <a:lnTo>
                    <a:pt x="5007583" y="21979"/>
                  </a:lnTo>
                  <a:lnTo>
                    <a:pt x="5017590" y="6427"/>
                  </a:lnTo>
                  <a:lnTo>
                    <a:pt x="5021711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91070" y="6297508"/>
              <a:ext cx="377190" cy="226060"/>
            </a:xfrm>
            <a:custGeom>
              <a:avLst/>
              <a:gdLst/>
              <a:ahLst/>
              <a:cxnLst/>
              <a:rect l="l" t="t" r="r" b="b"/>
              <a:pathLst>
                <a:path w="377190" h="226059">
                  <a:moveTo>
                    <a:pt x="301396" y="75353"/>
                  </a:moveTo>
                  <a:lnTo>
                    <a:pt x="226047" y="226060"/>
                  </a:lnTo>
                </a:path>
                <a:path w="377190" h="226059">
                  <a:moveTo>
                    <a:pt x="376745" y="0"/>
                  </a:moveTo>
                  <a:lnTo>
                    <a:pt x="0" y="75353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275709" y="5770035"/>
            <a:ext cx="1356360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65735">
              <a:lnSpc>
                <a:spcPct val="100000"/>
              </a:lnSpc>
              <a:spcBef>
                <a:spcPts val="5"/>
              </a:spcBef>
            </a:pPr>
            <a:r>
              <a:rPr sz="1350" spc="10" dirty="0">
                <a:latin typeface="Times New Roman"/>
                <a:cs typeface="Times New Roman"/>
              </a:rPr>
              <a:t>getAllSquares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707489" y="5386918"/>
            <a:ext cx="1218565" cy="1068070"/>
            <a:chOff x="1707489" y="5386918"/>
            <a:chExt cx="1218565" cy="1068070"/>
          </a:xfrm>
        </p:grpSpPr>
        <p:sp>
          <p:nvSpPr>
            <p:cNvPr id="40" name="object 40"/>
            <p:cNvSpPr/>
            <p:nvPr/>
          </p:nvSpPr>
          <p:spPr>
            <a:xfrm>
              <a:off x="1713839" y="5393261"/>
              <a:ext cx="1205865" cy="1055370"/>
            </a:xfrm>
            <a:custGeom>
              <a:avLst/>
              <a:gdLst/>
              <a:ahLst/>
              <a:cxnLst/>
              <a:rect l="l" t="t" r="r" b="b"/>
              <a:pathLst>
                <a:path w="1205864" h="1055370">
                  <a:moveTo>
                    <a:pt x="1205585" y="0"/>
                  </a:moveTo>
                  <a:lnTo>
                    <a:pt x="0" y="0"/>
                  </a:lnTo>
                  <a:lnTo>
                    <a:pt x="0" y="1054947"/>
                  </a:lnTo>
                  <a:lnTo>
                    <a:pt x="1205585" y="1054947"/>
                  </a:lnTo>
                  <a:lnTo>
                    <a:pt x="12055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13839" y="5393268"/>
              <a:ext cx="1205865" cy="1055370"/>
            </a:xfrm>
            <a:custGeom>
              <a:avLst/>
              <a:gdLst/>
              <a:ahLst/>
              <a:cxnLst/>
              <a:rect l="l" t="t" r="r" b="b"/>
              <a:pathLst>
                <a:path w="1205864" h="1055370">
                  <a:moveTo>
                    <a:pt x="0" y="0"/>
                  </a:moveTo>
                  <a:lnTo>
                    <a:pt x="1205585" y="0"/>
                  </a:lnTo>
                  <a:lnTo>
                    <a:pt x="1205585" y="1054947"/>
                  </a:lnTo>
                  <a:lnTo>
                    <a:pt x="0" y="1054947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713839" y="5393268"/>
            <a:ext cx="1205865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750" b="1" spc="10" dirty="0">
                <a:latin typeface="Times New Roman"/>
                <a:cs typeface="Times New Roman"/>
              </a:rPr>
              <a:t>Piece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713839" y="5688402"/>
            <a:ext cx="5902960" cy="238760"/>
            <a:chOff x="1713839" y="5688402"/>
            <a:chExt cx="5902960" cy="238760"/>
          </a:xfrm>
        </p:grpSpPr>
        <p:sp>
          <p:nvSpPr>
            <p:cNvPr id="44" name="object 44"/>
            <p:cNvSpPr/>
            <p:nvPr/>
          </p:nvSpPr>
          <p:spPr>
            <a:xfrm>
              <a:off x="1713839" y="5839109"/>
              <a:ext cx="1205865" cy="12700"/>
            </a:xfrm>
            <a:custGeom>
              <a:avLst/>
              <a:gdLst/>
              <a:ahLst/>
              <a:cxnLst/>
              <a:rect l="l" t="t" r="r" b="b"/>
              <a:pathLst>
                <a:path w="1205864" h="12700">
                  <a:moveTo>
                    <a:pt x="0" y="0"/>
                  </a:moveTo>
                  <a:lnTo>
                    <a:pt x="1205585" y="0"/>
                  </a:lnTo>
                  <a:lnTo>
                    <a:pt x="1205585" y="12558"/>
                  </a:lnTo>
                  <a:lnTo>
                    <a:pt x="0" y="125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31992" y="5694680"/>
              <a:ext cx="301625" cy="226060"/>
            </a:xfrm>
            <a:custGeom>
              <a:avLst/>
              <a:gdLst/>
              <a:ahLst/>
              <a:cxnLst/>
              <a:rect l="l" t="t" r="r" b="b"/>
              <a:pathLst>
                <a:path w="301625" h="226060">
                  <a:moveTo>
                    <a:pt x="150698" y="0"/>
                  </a:moveTo>
                  <a:lnTo>
                    <a:pt x="0" y="113030"/>
                  </a:lnTo>
                  <a:lnTo>
                    <a:pt x="150698" y="226060"/>
                  </a:lnTo>
                  <a:lnTo>
                    <a:pt x="301396" y="113030"/>
                  </a:lnTo>
                  <a:lnTo>
                    <a:pt x="1506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31993" y="5694682"/>
              <a:ext cx="301625" cy="226060"/>
            </a:xfrm>
            <a:custGeom>
              <a:avLst/>
              <a:gdLst/>
              <a:ahLst/>
              <a:cxnLst/>
              <a:rect l="l" t="t" r="r" b="b"/>
              <a:pathLst>
                <a:path w="301625" h="226060">
                  <a:moveTo>
                    <a:pt x="0" y="113030"/>
                  </a:moveTo>
                  <a:lnTo>
                    <a:pt x="150698" y="0"/>
                  </a:lnTo>
                  <a:lnTo>
                    <a:pt x="301396" y="113030"/>
                  </a:lnTo>
                  <a:lnTo>
                    <a:pt x="150698" y="226060"/>
                  </a:lnTo>
                  <a:lnTo>
                    <a:pt x="0" y="11303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33389" y="5845388"/>
              <a:ext cx="1657985" cy="0"/>
            </a:xfrm>
            <a:custGeom>
              <a:avLst/>
              <a:gdLst/>
              <a:ahLst/>
              <a:cxnLst/>
              <a:rect l="l" t="t" r="r" b="b"/>
              <a:pathLst>
                <a:path w="1657984">
                  <a:moveTo>
                    <a:pt x="0" y="0"/>
                  </a:moveTo>
                  <a:lnTo>
                    <a:pt x="165768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40841" y="580771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915289" y="5576480"/>
            <a:ext cx="55308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15" dirty="0">
                <a:latin typeface="Times New Roman"/>
                <a:cs typeface="Times New Roman"/>
              </a:rPr>
              <a:t>squ</a:t>
            </a:r>
            <a:r>
              <a:rPr sz="1350" spc="10" dirty="0">
                <a:latin typeface="Times New Roman"/>
                <a:cs typeface="Times New Roman"/>
              </a:rPr>
              <a:t>ares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915289" y="5895475"/>
            <a:ext cx="51689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20" dirty="0">
                <a:latin typeface="Times New Roman"/>
                <a:cs typeface="Times New Roman"/>
              </a:rPr>
              <a:t>{M</a:t>
            </a:r>
            <a:r>
              <a:rPr sz="1350" spc="10" dirty="0">
                <a:latin typeface="Times New Roman"/>
                <a:cs typeface="Times New Roman"/>
              </a:rPr>
              <a:t>a</a:t>
            </a:r>
            <a:r>
              <a:rPr sz="1350" spc="15" dirty="0">
                <a:latin typeface="Times New Roman"/>
                <a:cs typeface="Times New Roman"/>
              </a:rPr>
              <a:t>p}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13839" y="5845388"/>
            <a:ext cx="1205865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350" spc="10" dirty="0">
                <a:latin typeface="Times New Roman"/>
                <a:cs typeface="Times New Roman"/>
              </a:rPr>
              <a:t>getSquare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2020" y="6631431"/>
            <a:ext cx="2243455" cy="5734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55"/>
              </a:spcBef>
            </a:pP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More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coupling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if Piece 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has getSquare (</a:t>
            </a:r>
            <a:r>
              <a:rPr sz="175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541587" y="6857492"/>
            <a:ext cx="13843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10</a:t>
            </a:fld>
            <a:endParaRPr spc="15" dirty="0"/>
          </a:p>
        </p:txBody>
      </p:sp>
      <p:sp>
        <p:nvSpPr>
          <p:cNvPr id="2" name="object 2"/>
          <p:cNvSpPr txBox="1"/>
          <p:nvPr/>
        </p:nvSpPr>
        <p:spPr>
          <a:xfrm>
            <a:off x="833996" y="1658111"/>
            <a:ext cx="8301355" cy="35801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25"/>
              </a:spcBef>
              <a:buSzPct val="74358"/>
              <a:buFont typeface="Wingdings"/>
              <a:buChar char=""/>
              <a:tabLst>
                <a:tab pos="351155" algn="l"/>
                <a:tab pos="351790" algn="l"/>
              </a:tabLst>
            </a:pPr>
            <a:r>
              <a:rPr sz="1950" b="1" spc="10" dirty="0">
                <a:latin typeface="Times New Roman"/>
                <a:cs typeface="Times New Roman"/>
              </a:rPr>
              <a:t>Key Point: Expert Supports </a:t>
            </a:r>
            <a:r>
              <a:rPr sz="1950" b="1" spc="15" dirty="0">
                <a:latin typeface="Times New Roman"/>
                <a:cs typeface="Times New Roman"/>
              </a:rPr>
              <a:t>Low</a:t>
            </a:r>
            <a:r>
              <a:rPr sz="1950" b="1" spc="-20" dirty="0">
                <a:latin typeface="Times New Roman"/>
                <a:cs typeface="Times New Roman"/>
              </a:rPr>
              <a:t> </a:t>
            </a:r>
            <a:r>
              <a:rPr sz="1950" b="1" spc="10" dirty="0">
                <a:latin typeface="Times New Roman"/>
                <a:cs typeface="Times New Roman"/>
              </a:rPr>
              <a:t>Coupling</a:t>
            </a: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"/>
            </a:pPr>
            <a:endParaRPr sz="2900">
              <a:latin typeface="Times New Roman"/>
              <a:cs typeface="Times New Roman"/>
            </a:endParaRPr>
          </a:p>
          <a:p>
            <a:pPr marL="351155" marR="22225" indent="-339090">
              <a:lnSpc>
                <a:spcPct val="101699"/>
              </a:lnSpc>
              <a:spcBef>
                <a:spcPts val="5"/>
              </a:spcBef>
              <a:buSzPct val="74358"/>
              <a:buFont typeface="Wingdings"/>
              <a:buChar char=""/>
              <a:tabLst>
                <a:tab pos="351155" algn="l"/>
                <a:tab pos="351790" algn="l"/>
              </a:tabLst>
            </a:pPr>
            <a:r>
              <a:rPr sz="1950" spc="-55" dirty="0">
                <a:latin typeface="Times New Roman"/>
                <a:cs typeface="Times New Roman"/>
              </a:rPr>
              <a:t>To </a:t>
            </a:r>
            <a:r>
              <a:rPr sz="1950" spc="5" dirty="0">
                <a:latin typeface="Times New Roman"/>
                <a:cs typeface="Times New Roman"/>
              </a:rPr>
              <a:t>return to the motivation </a:t>
            </a:r>
            <a:r>
              <a:rPr sz="1950" spc="10" dirty="0">
                <a:latin typeface="Times New Roman"/>
                <a:cs typeface="Times New Roman"/>
              </a:rPr>
              <a:t>for Information </a:t>
            </a:r>
            <a:r>
              <a:rPr sz="1950" spc="5" dirty="0">
                <a:latin typeface="Times New Roman"/>
                <a:cs typeface="Times New Roman"/>
              </a:rPr>
              <a:t>Expert: it </a:t>
            </a:r>
            <a:r>
              <a:rPr sz="1950" spc="10" dirty="0">
                <a:latin typeface="Times New Roman"/>
                <a:cs typeface="Times New Roman"/>
              </a:rPr>
              <a:t>guides us </a:t>
            </a:r>
            <a:r>
              <a:rPr sz="1950" spc="5" dirty="0">
                <a:latin typeface="Times New Roman"/>
                <a:cs typeface="Times New Roman"/>
              </a:rPr>
              <a:t>to </a:t>
            </a:r>
            <a:r>
              <a:rPr sz="1950" spc="10" dirty="0">
                <a:latin typeface="Times New Roman"/>
                <a:cs typeface="Times New Roman"/>
              </a:rPr>
              <a:t>a </a:t>
            </a:r>
            <a:r>
              <a:rPr sz="1950" spc="5" dirty="0">
                <a:latin typeface="Times New Roman"/>
                <a:cs typeface="Times New Roman"/>
              </a:rPr>
              <a:t>choice that  </a:t>
            </a:r>
            <a:r>
              <a:rPr sz="1950" spc="10" dirty="0">
                <a:latin typeface="Times New Roman"/>
                <a:cs typeface="Times New Roman"/>
              </a:rPr>
              <a:t>supports </a:t>
            </a:r>
            <a:r>
              <a:rPr sz="1950" spc="15" dirty="0">
                <a:latin typeface="Times New Roman"/>
                <a:cs typeface="Times New Roman"/>
              </a:rPr>
              <a:t>Low </a:t>
            </a:r>
            <a:r>
              <a:rPr sz="1950" spc="10" dirty="0">
                <a:latin typeface="Times New Roman"/>
                <a:cs typeface="Times New Roman"/>
              </a:rPr>
              <a:t>Coupling. Expert asks us </a:t>
            </a:r>
            <a:r>
              <a:rPr sz="1950" spc="5" dirty="0">
                <a:latin typeface="Times New Roman"/>
                <a:cs typeface="Times New Roman"/>
              </a:rPr>
              <a:t>to find the object that </a:t>
            </a:r>
            <a:r>
              <a:rPr sz="1950" spc="10" dirty="0">
                <a:latin typeface="Times New Roman"/>
                <a:cs typeface="Times New Roman"/>
              </a:rPr>
              <a:t>has most of </a:t>
            </a:r>
            <a:r>
              <a:rPr sz="1950" spc="5" dirty="0">
                <a:latin typeface="Times New Roman"/>
                <a:cs typeface="Times New Roman"/>
              </a:rPr>
              <a:t>the  information required </a:t>
            </a:r>
            <a:r>
              <a:rPr sz="1950" spc="10" dirty="0">
                <a:latin typeface="Times New Roman"/>
                <a:cs typeface="Times New Roman"/>
              </a:rPr>
              <a:t>for </a:t>
            </a:r>
            <a:r>
              <a:rPr sz="1950" spc="5" dirty="0">
                <a:latin typeface="Times New Roman"/>
                <a:cs typeface="Times New Roman"/>
              </a:rPr>
              <a:t>the responsibility (e.g., </a:t>
            </a:r>
            <a:r>
              <a:rPr sz="1950" spc="10" dirty="0">
                <a:latin typeface="Times New Roman"/>
                <a:cs typeface="Times New Roman"/>
              </a:rPr>
              <a:t>Board) and </a:t>
            </a:r>
            <a:r>
              <a:rPr sz="1950" spc="5" dirty="0">
                <a:latin typeface="Times New Roman"/>
                <a:cs typeface="Times New Roman"/>
              </a:rPr>
              <a:t>assign  responsibility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there.</a:t>
            </a: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"/>
            </a:pPr>
            <a:endParaRPr sz="2800">
              <a:latin typeface="Times New Roman"/>
              <a:cs typeface="Times New Roman"/>
            </a:endParaRPr>
          </a:p>
          <a:p>
            <a:pPr marL="351155" marR="5080" indent="-339090">
              <a:lnSpc>
                <a:spcPct val="101699"/>
              </a:lnSpc>
              <a:buSzPct val="74358"/>
              <a:buFont typeface="Wingdings"/>
              <a:buChar char=""/>
              <a:tabLst>
                <a:tab pos="351155" algn="l"/>
                <a:tab pos="351790" algn="l"/>
              </a:tabLst>
            </a:pPr>
            <a:r>
              <a:rPr sz="1950" spc="5" dirty="0">
                <a:latin typeface="Times New Roman"/>
                <a:cs typeface="Times New Roman"/>
              </a:rPr>
              <a:t>If </a:t>
            </a:r>
            <a:r>
              <a:rPr sz="1950" spc="15" dirty="0">
                <a:latin typeface="Times New Roman"/>
                <a:cs typeface="Times New Roman"/>
              </a:rPr>
              <a:t>we </a:t>
            </a:r>
            <a:r>
              <a:rPr sz="1950" spc="10" dirty="0">
                <a:latin typeface="Times New Roman"/>
                <a:cs typeface="Times New Roman"/>
              </a:rPr>
              <a:t>put </a:t>
            </a:r>
            <a:r>
              <a:rPr sz="1950" spc="5" dirty="0">
                <a:latin typeface="Times New Roman"/>
                <a:cs typeface="Times New Roman"/>
              </a:rPr>
              <a:t>the responsibility </a:t>
            </a:r>
            <a:r>
              <a:rPr sz="1950" spc="10" dirty="0">
                <a:latin typeface="Times New Roman"/>
                <a:cs typeface="Times New Roman"/>
              </a:rPr>
              <a:t>anywhere </a:t>
            </a:r>
            <a:r>
              <a:rPr sz="1950" spc="5" dirty="0">
                <a:latin typeface="Times New Roman"/>
                <a:cs typeface="Times New Roman"/>
              </a:rPr>
              <a:t>else (e.g., </a:t>
            </a:r>
            <a:r>
              <a:rPr sz="1950" spc="10" dirty="0">
                <a:latin typeface="Times New Roman"/>
                <a:cs typeface="Times New Roman"/>
              </a:rPr>
              <a:t>Dog), </a:t>
            </a:r>
            <a:r>
              <a:rPr sz="1950" spc="5" dirty="0">
                <a:latin typeface="Times New Roman"/>
                <a:cs typeface="Times New Roman"/>
              </a:rPr>
              <a:t>the overall </a:t>
            </a:r>
            <a:r>
              <a:rPr sz="1950" spc="10" dirty="0">
                <a:latin typeface="Times New Roman"/>
                <a:cs typeface="Times New Roman"/>
              </a:rPr>
              <a:t>coupling </a:t>
            </a:r>
            <a:r>
              <a:rPr sz="1950" spc="5" dirty="0">
                <a:latin typeface="Times New Roman"/>
                <a:cs typeface="Times New Roman"/>
              </a:rPr>
              <a:t>will  </a:t>
            </a:r>
            <a:r>
              <a:rPr sz="1950" spc="10" dirty="0">
                <a:latin typeface="Times New Roman"/>
                <a:cs typeface="Times New Roman"/>
              </a:rPr>
              <a:t>be higher because more </a:t>
            </a:r>
            <a:r>
              <a:rPr sz="1950" spc="5" dirty="0">
                <a:latin typeface="Times New Roman"/>
                <a:cs typeface="Times New Roman"/>
              </a:rPr>
              <a:t>information </a:t>
            </a:r>
            <a:r>
              <a:rPr sz="1950" spc="10" dirty="0">
                <a:latin typeface="Times New Roman"/>
                <a:cs typeface="Times New Roman"/>
              </a:rPr>
              <a:t>or </a:t>
            </a:r>
            <a:r>
              <a:rPr sz="1950" spc="5" dirty="0">
                <a:latin typeface="Times New Roman"/>
                <a:cs typeface="Times New Roman"/>
              </a:rPr>
              <a:t>objects </a:t>
            </a:r>
            <a:r>
              <a:rPr sz="1950" spc="10" dirty="0">
                <a:latin typeface="Times New Roman"/>
                <a:cs typeface="Times New Roman"/>
              </a:rPr>
              <a:t>must be shared away from </a:t>
            </a:r>
            <a:r>
              <a:rPr sz="1950" spc="5" dirty="0">
                <a:latin typeface="Times New Roman"/>
                <a:cs typeface="Times New Roman"/>
              </a:rPr>
              <a:t>their  original </a:t>
            </a:r>
            <a:r>
              <a:rPr sz="1950" spc="10" dirty="0">
                <a:latin typeface="Times New Roman"/>
                <a:cs typeface="Times New Roman"/>
              </a:rPr>
              <a:t>source or home, </a:t>
            </a:r>
            <a:r>
              <a:rPr sz="1950" spc="5" dirty="0">
                <a:latin typeface="Times New Roman"/>
                <a:cs typeface="Times New Roman"/>
              </a:rPr>
              <a:t>as the </a:t>
            </a:r>
            <a:r>
              <a:rPr sz="1950" spc="10" dirty="0">
                <a:latin typeface="Times New Roman"/>
                <a:cs typeface="Times New Roman"/>
              </a:rPr>
              <a:t>squares </a:t>
            </a:r>
            <a:r>
              <a:rPr sz="1950" spc="5" dirty="0">
                <a:latin typeface="Times New Roman"/>
                <a:cs typeface="Times New Roman"/>
              </a:rPr>
              <a:t>in the </a:t>
            </a:r>
            <a:r>
              <a:rPr sz="1950" spc="15" dirty="0">
                <a:latin typeface="Times New Roman"/>
                <a:cs typeface="Times New Roman"/>
              </a:rPr>
              <a:t>Map </a:t>
            </a:r>
            <a:r>
              <a:rPr sz="1950" spc="5" dirty="0">
                <a:latin typeface="Times New Roman"/>
                <a:cs typeface="Times New Roman"/>
              </a:rPr>
              <a:t>collection </a:t>
            </a:r>
            <a:r>
              <a:rPr sz="1950" spc="10" dirty="0">
                <a:latin typeface="Times New Roman"/>
                <a:cs typeface="Times New Roman"/>
              </a:rPr>
              <a:t>had </a:t>
            </a:r>
            <a:r>
              <a:rPr sz="1950" spc="5" dirty="0">
                <a:latin typeface="Times New Roman"/>
                <a:cs typeface="Times New Roman"/>
              </a:rPr>
              <a:t>to </a:t>
            </a:r>
            <a:r>
              <a:rPr sz="1950" spc="10" dirty="0">
                <a:latin typeface="Times New Roman"/>
                <a:cs typeface="Times New Roman"/>
              </a:rPr>
              <a:t>be shared  </a:t>
            </a:r>
            <a:r>
              <a:rPr sz="1950" spc="5" dirty="0">
                <a:latin typeface="Times New Roman"/>
                <a:cs typeface="Times New Roman"/>
              </a:rPr>
              <a:t>with the </a:t>
            </a:r>
            <a:r>
              <a:rPr sz="1950" spc="10" dirty="0">
                <a:latin typeface="Times New Roman"/>
                <a:cs typeface="Times New Roman"/>
              </a:rPr>
              <a:t>Dog, away from </a:t>
            </a:r>
            <a:r>
              <a:rPr sz="1950" spc="5" dirty="0">
                <a:latin typeface="Times New Roman"/>
                <a:cs typeface="Times New Roman"/>
              </a:rPr>
              <a:t>their </a:t>
            </a:r>
            <a:r>
              <a:rPr sz="1950" spc="10" dirty="0">
                <a:latin typeface="Times New Roman"/>
                <a:cs typeface="Times New Roman"/>
              </a:rPr>
              <a:t>home </a:t>
            </a:r>
            <a:r>
              <a:rPr sz="1950" spc="5" dirty="0">
                <a:latin typeface="Times New Roman"/>
                <a:cs typeface="Times New Roman"/>
              </a:rPr>
              <a:t>in the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Board.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9108" y="753871"/>
            <a:ext cx="216598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0" dirty="0"/>
              <a:t>Low</a:t>
            </a:r>
            <a:r>
              <a:rPr spc="-60" dirty="0"/>
              <a:t> </a:t>
            </a:r>
            <a:r>
              <a:rPr spc="5" dirty="0"/>
              <a:t>Coupling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278" y="979931"/>
            <a:ext cx="160083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Cont</a:t>
            </a:r>
            <a:r>
              <a:rPr spc="-50" dirty="0"/>
              <a:t>r</a:t>
            </a:r>
            <a:r>
              <a:rPr spc="5" dirty="0"/>
              <a:t>o</a:t>
            </a:r>
            <a:r>
              <a:rPr dirty="0"/>
              <a:t>lle</a:t>
            </a:r>
            <a:r>
              <a:rPr spc="5"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067" y="1658112"/>
            <a:ext cx="7596505" cy="2456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  <a:tabLst>
                <a:tab pos="3743960" algn="l"/>
              </a:tabLst>
            </a:pPr>
            <a:r>
              <a:rPr sz="1750" b="1" spc="20" dirty="0">
                <a:solidFill>
                  <a:srgbClr val="3333CC"/>
                </a:solidFill>
                <a:latin typeface="Times New Roman"/>
                <a:cs typeface="Times New Roman"/>
              </a:rPr>
              <a:t>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simple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layered architecture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has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user interface layer (UI)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and a domain  </a:t>
            </a:r>
            <a:r>
              <a:rPr sz="175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layer.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Actors, such as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human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player in </a:t>
            </a:r>
            <a:r>
              <a:rPr sz="1750" b="1" dirty="0">
                <a:solidFill>
                  <a:srgbClr val="3333CC"/>
                </a:solidFill>
                <a:latin typeface="Times New Roman"/>
                <a:cs typeface="Times New Roman"/>
              </a:rPr>
              <a:t>Monopoly,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generate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UI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events  (such as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clicking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button with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mouse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to play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game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or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make 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move).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The  UI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software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objects (such as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JFrame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window and 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JButton)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must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process 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 event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cause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game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175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play.	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When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objects in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UI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layer pick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up</a:t>
            </a:r>
            <a:r>
              <a:rPr sz="1750" b="1" spc="-1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 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event, they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must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delegate 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request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object in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domain</a:t>
            </a:r>
            <a:r>
              <a:rPr sz="1750" b="1" spc="-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layer.</a:t>
            </a:r>
            <a:endParaRPr sz="1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87630" marR="368300">
              <a:lnSpc>
                <a:spcPct val="103600"/>
              </a:lnSpc>
            </a:pP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What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first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object beyond the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UI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layer should </a:t>
            </a:r>
            <a:r>
              <a:rPr sz="1750" b="1" dirty="0">
                <a:solidFill>
                  <a:srgbClr val="FF6600"/>
                </a:solidFill>
                <a:latin typeface="Times New Roman"/>
                <a:cs typeface="Times New Roman"/>
              </a:rPr>
              <a:t>receive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the message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from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the 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UI</a:t>
            </a:r>
            <a:r>
              <a:rPr sz="1750" b="1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layer?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85075" y="6857492"/>
            <a:ext cx="25146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latin typeface="Times New Roman"/>
                <a:cs typeface="Times New Roman"/>
              </a:rPr>
              <a:t>12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ntroller-monopo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9144000" cy="414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89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8265" y="1927013"/>
            <a:ext cx="1733550" cy="75374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316230" marR="353695">
              <a:lnSpc>
                <a:spcPct val="103600"/>
              </a:lnSpc>
              <a:spcBef>
                <a:spcPts val="900"/>
              </a:spcBef>
            </a:pPr>
            <a:r>
              <a:rPr sz="1750" b="1" spc="20" dirty="0">
                <a:latin typeface="Times New Roman"/>
                <a:cs typeface="Times New Roman"/>
              </a:rPr>
              <a:t>M</a:t>
            </a:r>
            <a:r>
              <a:rPr sz="1750" b="1" spc="15" dirty="0">
                <a:latin typeface="Times New Roman"/>
                <a:cs typeface="Times New Roman"/>
              </a:rPr>
              <a:t>onopo</a:t>
            </a:r>
            <a:r>
              <a:rPr sz="1750" b="1" dirty="0">
                <a:latin typeface="Times New Roman"/>
                <a:cs typeface="Times New Roman"/>
              </a:rPr>
              <a:t>l</a:t>
            </a:r>
            <a:r>
              <a:rPr sz="1750" b="1" spc="10" dirty="0">
                <a:latin typeface="Times New Roman"/>
                <a:cs typeface="Times New Roman"/>
              </a:rPr>
              <a:t>y:  JFrame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52455" y="2680547"/>
            <a:ext cx="0" cy="2034539"/>
          </a:xfrm>
          <a:custGeom>
            <a:avLst/>
            <a:gdLst/>
            <a:ahLst/>
            <a:cxnLst/>
            <a:rect l="l" t="t" r="r" b="b"/>
            <a:pathLst>
              <a:path h="2034539">
                <a:moveTo>
                  <a:pt x="0" y="0"/>
                </a:moveTo>
                <a:lnTo>
                  <a:pt x="0" y="203454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14324" y="1851660"/>
            <a:ext cx="1582420" cy="75374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0170" marR="429259">
              <a:lnSpc>
                <a:spcPct val="103600"/>
              </a:lnSpc>
              <a:spcBef>
                <a:spcPts val="900"/>
              </a:spcBef>
            </a:pPr>
            <a:r>
              <a:rPr sz="1750" b="1" spc="10" dirty="0">
                <a:latin typeface="Times New Roman"/>
                <a:cs typeface="Times New Roman"/>
              </a:rPr>
              <a:t>:</a:t>
            </a:r>
            <a:r>
              <a:rPr sz="1750" b="1" spc="20" dirty="0">
                <a:latin typeface="Times New Roman"/>
                <a:cs typeface="Times New Roman"/>
              </a:rPr>
              <a:t>M</a:t>
            </a:r>
            <a:r>
              <a:rPr sz="1750" b="1" spc="15" dirty="0">
                <a:latin typeface="Times New Roman"/>
                <a:cs typeface="Times New Roman"/>
              </a:rPr>
              <a:t>onopo</a:t>
            </a:r>
            <a:r>
              <a:rPr sz="1750" b="1" dirty="0">
                <a:latin typeface="Times New Roman"/>
                <a:cs typeface="Times New Roman"/>
              </a:rPr>
              <a:t>l</a:t>
            </a:r>
            <a:r>
              <a:rPr sz="1750" b="1" spc="10" dirty="0">
                <a:latin typeface="Times New Roman"/>
                <a:cs typeface="Times New Roman"/>
              </a:rPr>
              <a:t>y  </a:t>
            </a:r>
            <a:r>
              <a:rPr sz="1750" b="1" spc="15" dirty="0">
                <a:latin typeface="Times New Roman"/>
                <a:cs typeface="Times New Roman"/>
              </a:rPr>
              <a:t>Game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46105" y="1694603"/>
            <a:ext cx="3422650" cy="4226560"/>
            <a:chOff x="4646105" y="1694603"/>
            <a:chExt cx="3422650" cy="4226560"/>
          </a:xfrm>
        </p:grpSpPr>
        <p:sp>
          <p:nvSpPr>
            <p:cNvPr id="6" name="object 6"/>
            <p:cNvSpPr/>
            <p:nvPr/>
          </p:nvSpPr>
          <p:spPr>
            <a:xfrm>
              <a:off x="8043165" y="2605194"/>
              <a:ext cx="0" cy="1959610"/>
            </a:xfrm>
            <a:custGeom>
              <a:avLst/>
              <a:gdLst/>
              <a:ahLst/>
              <a:cxnLst/>
              <a:rect l="l" t="t" r="r" b="b"/>
              <a:pathLst>
                <a:path h="1959610">
                  <a:moveTo>
                    <a:pt x="0" y="0"/>
                  </a:moveTo>
                  <a:lnTo>
                    <a:pt x="0" y="1959187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52455" y="1700953"/>
              <a:ext cx="3390900" cy="4213860"/>
            </a:xfrm>
            <a:custGeom>
              <a:avLst/>
              <a:gdLst/>
              <a:ahLst/>
              <a:cxnLst/>
              <a:rect l="l" t="t" r="r" b="b"/>
              <a:pathLst>
                <a:path w="3390900" h="4213860">
                  <a:moveTo>
                    <a:pt x="1900992" y="0"/>
                  </a:moveTo>
                  <a:lnTo>
                    <a:pt x="1890885" y="47208"/>
                  </a:lnTo>
                  <a:lnTo>
                    <a:pt x="1879646" y="93211"/>
                  </a:lnTo>
                  <a:lnTo>
                    <a:pt x="1867653" y="138687"/>
                  </a:lnTo>
                  <a:lnTo>
                    <a:pt x="1855285" y="184313"/>
                  </a:lnTo>
                  <a:lnTo>
                    <a:pt x="1842918" y="230767"/>
                  </a:lnTo>
                  <a:lnTo>
                    <a:pt x="1848828" y="270922"/>
                  </a:lnTo>
                  <a:lnTo>
                    <a:pt x="1853708" y="311812"/>
                  </a:lnTo>
                  <a:lnTo>
                    <a:pt x="1863002" y="350643"/>
                  </a:lnTo>
                  <a:lnTo>
                    <a:pt x="1882155" y="384618"/>
                  </a:lnTo>
                  <a:lnTo>
                    <a:pt x="1914144" y="414181"/>
                  </a:lnTo>
                  <a:lnTo>
                    <a:pt x="1960597" y="448943"/>
                  </a:lnTo>
                  <a:lnTo>
                    <a:pt x="2012248" y="484309"/>
                  </a:lnTo>
                  <a:lnTo>
                    <a:pt x="2059829" y="515680"/>
                  </a:lnTo>
                  <a:lnTo>
                    <a:pt x="2094072" y="538460"/>
                  </a:lnTo>
                  <a:lnTo>
                    <a:pt x="2105257" y="557101"/>
                  </a:lnTo>
                  <a:lnTo>
                    <a:pt x="2117619" y="575743"/>
                  </a:lnTo>
                  <a:lnTo>
                    <a:pt x="2127626" y="594975"/>
                  </a:lnTo>
                  <a:lnTo>
                    <a:pt x="2131746" y="615385"/>
                  </a:lnTo>
                  <a:lnTo>
                    <a:pt x="2126964" y="631303"/>
                  </a:lnTo>
                  <a:lnTo>
                    <a:pt x="2115853" y="645015"/>
                  </a:lnTo>
                  <a:lnTo>
                    <a:pt x="2103271" y="658434"/>
                  </a:lnTo>
                  <a:lnTo>
                    <a:pt x="2094072" y="673473"/>
                  </a:lnTo>
                  <a:lnTo>
                    <a:pt x="2080693" y="715854"/>
                  </a:lnTo>
                  <a:lnTo>
                    <a:pt x="2076017" y="743790"/>
                  </a:lnTo>
                  <a:lnTo>
                    <a:pt x="2074719" y="761867"/>
                  </a:lnTo>
                  <a:lnTo>
                    <a:pt x="2071470" y="774672"/>
                  </a:lnTo>
                  <a:lnTo>
                    <a:pt x="2037813" y="802809"/>
                  </a:lnTo>
                  <a:lnTo>
                    <a:pt x="1996751" y="827314"/>
                  </a:lnTo>
                  <a:lnTo>
                    <a:pt x="1951523" y="851257"/>
                  </a:lnTo>
                  <a:lnTo>
                    <a:pt x="1900997" y="876375"/>
                  </a:lnTo>
                  <a:lnTo>
                    <a:pt x="1859890" y="896195"/>
                  </a:lnTo>
                  <a:lnTo>
                    <a:pt x="1842918" y="904240"/>
                  </a:lnTo>
                  <a:lnTo>
                    <a:pt x="1821993" y="924817"/>
                  </a:lnTo>
                  <a:lnTo>
                    <a:pt x="1790915" y="957023"/>
                  </a:lnTo>
                  <a:lnTo>
                    <a:pt x="1761899" y="991878"/>
                  </a:lnTo>
                  <a:lnTo>
                    <a:pt x="1747159" y="1020405"/>
                  </a:lnTo>
                  <a:lnTo>
                    <a:pt x="1748764" y="1066174"/>
                  </a:lnTo>
                  <a:lnTo>
                    <a:pt x="1764715" y="1109195"/>
                  </a:lnTo>
                  <a:lnTo>
                    <a:pt x="1790521" y="1149336"/>
                  </a:lnTo>
                  <a:lnTo>
                    <a:pt x="1821690" y="1186468"/>
                  </a:lnTo>
                  <a:lnTo>
                    <a:pt x="1853732" y="1220460"/>
                  </a:lnTo>
                  <a:lnTo>
                    <a:pt x="1882155" y="1251182"/>
                  </a:lnTo>
                  <a:lnTo>
                    <a:pt x="1906758" y="1284170"/>
                  </a:lnTo>
                  <a:lnTo>
                    <a:pt x="1923560" y="1314953"/>
                  </a:lnTo>
                  <a:lnTo>
                    <a:pt x="1938889" y="1347207"/>
                  </a:lnTo>
                  <a:lnTo>
                    <a:pt x="1959076" y="1384613"/>
                  </a:lnTo>
                  <a:lnTo>
                    <a:pt x="1977496" y="1413804"/>
                  </a:lnTo>
                  <a:lnTo>
                    <a:pt x="1996947" y="1442700"/>
                  </a:lnTo>
                  <a:lnTo>
                    <a:pt x="2016694" y="1471596"/>
                  </a:lnTo>
                  <a:lnTo>
                    <a:pt x="2035998" y="1500787"/>
                  </a:lnTo>
                  <a:lnTo>
                    <a:pt x="2047182" y="1517811"/>
                  </a:lnTo>
                  <a:lnTo>
                    <a:pt x="2059544" y="1536895"/>
                  </a:lnTo>
                  <a:lnTo>
                    <a:pt x="2069552" y="1552448"/>
                  </a:lnTo>
                  <a:lnTo>
                    <a:pt x="2073672" y="1558875"/>
                  </a:lnTo>
                  <a:lnTo>
                    <a:pt x="2064616" y="1616030"/>
                  </a:lnTo>
                  <a:lnTo>
                    <a:pt x="2057368" y="1661958"/>
                  </a:lnTo>
                  <a:lnTo>
                    <a:pt x="2045073" y="1700501"/>
                  </a:lnTo>
                  <a:lnTo>
                    <a:pt x="2020873" y="1735502"/>
                  </a:lnTo>
                  <a:lnTo>
                    <a:pt x="1977914" y="1770804"/>
                  </a:lnTo>
                  <a:lnTo>
                    <a:pt x="1996700" y="1817530"/>
                  </a:lnTo>
                  <a:lnTo>
                    <a:pt x="2020937" y="1862031"/>
                  </a:lnTo>
                  <a:lnTo>
                    <a:pt x="2049535" y="1904440"/>
                  </a:lnTo>
                  <a:lnTo>
                    <a:pt x="2081402" y="1944885"/>
                  </a:lnTo>
                  <a:lnTo>
                    <a:pt x="2115448" y="1983498"/>
                  </a:lnTo>
                  <a:lnTo>
                    <a:pt x="2150584" y="2020409"/>
                  </a:lnTo>
                  <a:lnTo>
                    <a:pt x="2143716" y="2078032"/>
                  </a:lnTo>
                  <a:lnTo>
                    <a:pt x="2135944" y="2129296"/>
                  </a:lnTo>
                  <a:lnTo>
                    <a:pt x="2126740" y="2175474"/>
                  </a:lnTo>
                  <a:lnTo>
                    <a:pt x="2115577" y="2217837"/>
                  </a:lnTo>
                  <a:lnTo>
                    <a:pt x="2101927" y="2257656"/>
                  </a:lnTo>
                  <a:lnTo>
                    <a:pt x="2085263" y="2296204"/>
                  </a:lnTo>
                  <a:lnTo>
                    <a:pt x="2065057" y="2334752"/>
                  </a:lnTo>
                  <a:lnTo>
                    <a:pt x="2040782" y="2374572"/>
                  </a:lnTo>
                  <a:lnTo>
                    <a:pt x="2011910" y="2416936"/>
                  </a:lnTo>
                  <a:lnTo>
                    <a:pt x="1977914" y="2463115"/>
                  </a:lnTo>
                  <a:lnTo>
                    <a:pt x="1961200" y="2511765"/>
                  </a:lnTo>
                  <a:lnTo>
                    <a:pt x="1949583" y="2543840"/>
                  </a:lnTo>
                  <a:lnTo>
                    <a:pt x="1942565" y="2565134"/>
                  </a:lnTo>
                  <a:lnTo>
                    <a:pt x="1939649" y="2581443"/>
                  </a:lnTo>
                  <a:lnTo>
                    <a:pt x="1940340" y="2598561"/>
                  </a:lnTo>
                  <a:lnTo>
                    <a:pt x="1944139" y="2622283"/>
                  </a:lnTo>
                  <a:lnTo>
                    <a:pt x="1950550" y="2658405"/>
                  </a:lnTo>
                  <a:lnTo>
                    <a:pt x="1959076" y="2712721"/>
                  </a:lnTo>
                  <a:lnTo>
                    <a:pt x="1961654" y="2769779"/>
                  </a:lnTo>
                  <a:lnTo>
                    <a:pt x="1964844" y="2824948"/>
                  </a:lnTo>
                  <a:lnTo>
                    <a:pt x="1968418" y="2878474"/>
                  </a:lnTo>
                  <a:lnTo>
                    <a:pt x="1972152" y="2930600"/>
                  </a:lnTo>
                  <a:lnTo>
                    <a:pt x="1975818" y="2981574"/>
                  </a:lnTo>
                  <a:lnTo>
                    <a:pt x="1979192" y="3031641"/>
                  </a:lnTo>
                  <a:lnTo>
                    <a:pt x="1982047" y="3081046"/>
                  </a:lnTo>
                  <a:lnTo>
                    <a:pt x="1984156" y="3130036"/>
                  </a:lnTo>
                  <a:lnTo>
                    <a:pt x="1985295" y="3178855"/>
                  </a:lnTo>
                  <a:lnTo>
                    <a:pt x="1985237" y="3227749"/>
                  </a:lnTo>
                  <a:lnTo>
                    <a:pt x="1983755" y="3276965"/>
                  </a:lnTo>
                  <a:lnTo>
                    <a:pt x="1980624" y="3326747"/>
                  </a:lnTo>
                  <a:lnTo>
                    <a:pt x="1975618" y="3377341"/>
                  </a:lnTo>
                  <a:lnTo>
                    <a:pt x="1968511" y="3428993"/>
                  </a:lnTo>
                  <a:lnTo>
                    <a:pt x="1959076" y="3481948"/>
                  </a:lnTo>
                  <a:lnTo>
                    <a:pt x="1977925" y="3532171"/>
                  </a:lnTo>
                  <a:lnTo>
                    <a:pt x="1994213" y="3573278"/>
                  </a:lnTo>
                  <a:lnTo>
                    <a:pt x="2012535" y="3610467"/>
                  </a:lnTo>
                  <a:lnTo>
                    <a:pt x="2037490" y="3648937"/>
                  </a:lnTo>
                  <a:lnTo>
                    <a:pt x="2073672" y="3693887"/>
                  </a:lnTo>
                  <a:lnTo>
                    <a:pt x="2117595" y="3722139"/>
                  </a:lnTo>
                  <a:lnTo>
                    <a:pt x="2131746" y="3733126"/>
                  </a:lnTo>
                  <a:lnTo>
                    <a:pt x="2147447" y="3750887"/>
                  </a:lnTo>
                  <a:lnTo>
                    <a:pt x="2161968" y="3770413"/>
                  </a:lnTo>
                  <a:lnTo>
                    <a:pt x="2175899" y="3790527"/>
                  </a:lnTo>
                  <a:lnTo>
                    <a:pt x="2189831" y="3810051"/>
                  </a:lnTo>
                  <a:lnTo>
                    <a:pt x="2207982" y="3868618"/>
                  </a:lnTo>
                  <a:lnTo>
                    <a:pt x="2218362" y="3911422"/>
                  </a:lnTo>
                  <a:lnTo>
                    <a:pt x="2221464" y="3944998"/>
                  </a:lnTo>
                  <a:lnTo>
                    <a:pt x="2217784" y="3975882"/>
                  </a:lnTo>
                  <a:lnTo>
                    <a:pt x="2207816" y="4010610"/>
                  </a:lnTo>
                  <a:lnTo>
                    <a:pt x="2192054" y="4055719"/>
                  </a:lnTo>
                  <a:lnTo>
                    <a:pt x="2170993" y="4117744"/>
                  </a:lnTo>
                  <a:lnTo>
                    <a:pt x="2158387" y="4167808"/>
                  </a:lnTo>
                  <a:lnTo>
                    <a:pt x="2154905" y="4188585"/>
                  </a:lnTo>
                  <a:lnTo>
                    <a:pt x="2144948" y="4197882"/>
                  </a:lnTo>
                  <a:lnTo>
                    <a:pt x="2112919" y="4213508"/>
                  </a:lnTo>
                </a:path>
                <a:path w="3390900" h="4213860">
                  <a:moveTo>
                    <a:pt x="0" y="2109894"/>
                  </a:moveTo>
                  <a:lnTo>
                    <a:pt x="3390709" y="2109894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92935" y="377316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75291" y="5651843"/>
            <a:ext cx="120586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UI</a:t>
            </a:r>
            <a:r>
              <a:rPr sz="2350" b="1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Layer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92047" y="5425783"/>
            <a:ext cx="18923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Domain</a:t>
            </a:r>
            <a:r>
              <a:rPr sz="2350" b="1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Layer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6225" y="3391243"/>
            <a:ext cx="10179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sz="1750" b="1" dirty="0">
                <a:solidFill>
                  <a:srgbClr val="3333CC"/>
                </a:solidFill>
                <a:latin typeface="Times New Roman"/>
                <a:cs typeface="Times New Roman"/>
              </a:rPr>
              <a:t>l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ayGame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4301" y="2605194"/>
            <a:ext cx="603250" cy="1205865"/>
          </a:xfrm>
          <a:custGeom>
            <a:avLst/>
            <a:gdLst/>
            <a:ahLst/>
            <a:cxnLst/>
            <a:rect l="l" t="t" r="r" b="b"/>
            <a:pathLst>
              <a:path w="603250" h="1205864">
                <a:moveTo>
                  <a:pt x="150698" y="150706"/>
                </a:moveTo>
                <a:lnTo>
                  <a:pt x="158380" y="103071"/>
                </a:lnTo>
                <a:lnTo>
                  <a:pt x="179774" y="61700"/>
                </a:lnTo>
                <a:lnTo>
                  <a:pt x="212396" y="29077"/>
                </a:lnTo>
                <a:lnTo>
                  <a:pt x="253764" y="7682"/>
                </a:lnTo>
                <a:lnTo>
                  <a:pt x="301396" y="0"/>
                </a:lnTo>
                <a:lnTo>
                  <a:pt x="349028" y="7682"/>
                </a:lnTo>
                <a:lnTo>
                  <a:pt x="390396" y="29077"/>
                </a:lnTo>
                <a:lnTo>
                  <a:pt x="423018" y="61700"/>
                </a:lnTo>
                <a:lnTo>
                  <a:pt x="444411" y="103071"/>
                </a:lnTo>
                <a:lnTo>
                  <a:pt x="452094" y="150706"/>
                </a:lnTo>
                <a:lnTo>
                  <a:pt x="444411" y="198342"/>
                </a:lnTo>
                <a:lnTo>
                  <a:pt x="423018" y="239712"/>
                </a:lnTo>
                <a:lnTo>
                  <a:pt x="390396" y="272336"/>
                </a:lnTo>
                <a:lnTo>
                  <a:pt x="349028" y="293730"/>
                </a:lnTo>
                <a:lnTo>
                  <a:pt x="301396" y="301413"/>
                </a:lnTo>
                <a:lnTo>
                  <a:pt x="253764" y="293730"/>
                </a:lnTo>
                <a:lnTo>
                  <a:pt x="212396" y="272336"/>
                </a:lnTo>
                <a:lnTo>
                  <a:pt x="179774" y="239712"/>
                </a:lnTo>
                <a:lnTo>
                  <a:pt x="158380" y="198342"/>
                </a:lnTo>
                <a:lnTo>
                  <a:pt x="150698" y="150706"/>
                </a:lnTo>
                <a:close/>
              </a:path>
              <a:path w="603250" h="1205864">
                <a:moveTo>
                  <a:pt x="301396" y="301413"/>
                </a:moveTo>
                <a:lnTo>
                  <a:pt x="301396" y="753533"/>
                </a:lnTo>
              </a:path>
              <a:path w="603250" h="1205864">
                <a:moveTo>
                  <a:pt x="301396" y="753533"/>
                </a:moveTo>
                <a:lnTo>
                  <a:pt x="150698" y="1205653"/>
                </a:lnTo>
              </a:path>
              <a:path w="603250" h="1205864">
                <a:moveTo>
                  <a:pt x="301396" y="753533"/>
                </a:moveTo>
                <a:lnTo>
                  <a:pt x="527443" y="1205653"/>
                </a:lnTo>
              </a:path>
              <a:path w="603250" h="1205864">
                <a:moveTo>
                  <a:pt x="0" y="452120"/>
                </a:moveTo>
                <a:lnTo>
                  <a:pt x="602792" y="45212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12443" y="2981961"/>
            <a:ext cx="1130300" cy="60325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65735" marR="404495">
              <a:lnSpc>
                <a:spcPct val="103800"/>
              </a:lnSpc>
              <a:spcBef>
                <a:spcPts val="325"/>
              </a:spcBef>
            </a:pPr>
            <a:r>
              <a:rPr sz="1350" spc="10" dirty="0">
                <a:latin typeface="Times New Roman"/>
                <a:cs typeface="Times New Roman"/>
              </a:rPr>
              <a:t>Press</a:t>
            </a:r>
            <a:r>
              <a:rPr sz="1350" spc="-70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to  play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0167" y="2562351"/>
            <a:ext cx="80454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0" dirty="0">
                <a:latin typeface="Times New Roman"/>
                <a:cs typeface="Times New Roman"/>
              </a:rPr>
              <a:t>JButton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42680" y="3245700"/>
            <a:ext cx="2135505" cy="75565"/>
            <a:chOff x="2542680" y="3245700"/>
            <a:chExt cx="2135505" cy="75565"/>
          </a:xfrm>
        </p:grpSpPr>
        <p:sp>
          <p:nvSpPr>
            <p:cNvPr id="16" name="object 16"/>
            <p:cNvSpPr/>
            <p:nvPr/>
          </p:nvSpPr>
          <p:spPr>
            <a:xfrm>
              <a:off x="2542680" y="3283374"/>
              <a:ext cx="2110105" cy="0"/>
            </a:xfrm>
            <a:custGeom>
              <a:avLst/>
              <a:gdLst/>
              <a:ahLst/>
              <a:cxnLst/>
              <a:rect l="l" t="t" r="r" b="b"/>
              <a:pathLst>
                <a:path w="2110104">
                  <a:moveTo>
                    <a:pt x="0" y="0"/>
                  </a:moveTo>
                  <a:lnTo>
                    <a:pt x="2109775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02226" y="324570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95752" y="2939122"/>
            <a:ext cx="119761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10" dirty="0">
                <a:latin typeface="Times New Roman"/>
                <a:cs typeface="Times New Roman"/>
              </a:rPr>
              <a:t>actionPerformed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13</a:t>
            </a:fld>
            <a:endParaRPr spc="15" dirty="0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249555" y="904582"/>
            <a:ext cx="348932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0" dirty="0"/>
              <a:t>The </a:t>
            </a:r>
            <a:r>
              <a:rPr dirty="0"/>
              <a:t>Controller</a:t>
            </a:r>
            <a:r>
              <a:rPr spc="-130" dirty="0"/>
              <a:t> </a:t>
            </a:r>
            <a:r>
              <a:rPr spc="5" dirty="0"/>
              <a:t>Pattern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2718" y="1527489"/>
            <a:ext cx="8257482" cy="487518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tr-TR" sz="2800" b="1" dirty="0">
                <a:latin typeface="+mn-lt"/>
              </a:rPr>
              <a:t>Option 1: </a:t>
            </a:r>
            <a:r>
              <a:rPr lang="tr-TR" sz="2800" dirty="0">
                <a:latin typeface="+mn-lt"/>
              </a:rPr>
              <a:t>Represents the overall “system” or a “root object”</a:t>
            </a:r>
          </a:p>
          <a:p>
            <a:pPr lvl="1">
              <a:lnSpc>
                <a:spcPct val="80000"/>
              </a:lnSpc>
            </a:pPr>
            <a:r>
              <a:rPr lang="tr-TR" sz="2400" dirty="0"/>
              <a:t>An object called MonopolyGame</a:t>
            </a:r>
          </a:p>
          <a:p>
            <a:pPr>
              <a:lnSpc>
                <a:spcPct val="80000"/>
              </a:lnSpc>
            </a:pPr>
            <a:r>
              <a:rPr lang="tr-TR" sz="2800" b="1" dirty="0">
                <a:latin typeface="+mn-lt"/>
              </a:rPr>
              <a:t>Option </a:t>
            </a:r>
            <a:r>
              <a:rPr lang="en-US" sz="2800" b="1" dirty="0" smtClean="0">
                <a:latin typeface="+mn-lt"/>
              </a:rPr>
              <a:t>2</a:t>
            </a:r>
            <a:r>
              <a:rPr lang="tr-TR" sz="2800" b="1" dirty="0" smtClean="0">
                <a:latin typeface="+mn-lt"/>
              </a:rPr>
              <a:t>: </a:t>
            </a:r>
            <a:r>
              <a:rPr lang="tr-TR" sz="2800" dirty="0">
                <a:latin typeface="+mn-lt"/>
              </a:rPr>
              <a:t>Represents a device that the software is running within</a:t>
            </a:r>
          </a:p>
          <a:p>
            <a:pPr lvl="1">
              <a:lnSpc>
                <a:spcPct val="80000"/>
              </a:lnSpc>
            </a:pPr>
            <a:r>
              <a:rPr lang="tr-TR" sz="2400" dirty="0"/>
              <a:t>It doesn’t really apply here. </a:t>
            </a:r>
          </a:p>
          <a:p>
            <a:pPr lvl="1">
              <a:lnSpc>
                <a:spcPct val="80000"/>
              </a:lnSpc>
            </a:pPr>
            <a:r>
              <a:rPr lang="tr-TR" sz="2400" dirty="0"/>
              <a:t>It applies to designs with specialized hardware devices: Phone, BankCashMachine, …</a:t>
            </a:r>
          </a:p>
          <a:p>
            <a:pPr>
              <a:lnSpc>
                <a:spcPct val="80000"/>
              </a:lnSpc>
            </a:pPr>
            <a:r>
              <a:rPr lang="tr-TR" sz="2800" b="1" dirty="0">
                <a:latin typeface="+mn-lt"/>
              </a:rPr>
              <a:t>Option </a:t>
            </a:r>
            <a:r>
              <a:rPr lang="en-US" sz="2800" b="1" dirty="0" smtClean="0">
                <a:latin typeface="+mn-lt"/>
              </a:rPr>
              <a:t>3</a:t>
            </a:r>
            <a:r>
              <a:rPr lang="tr-TR" sz="2800" b="1" dirty="0" smtClean="0">
                <a:latin typeface="+mn-lt"/>
              </a:rPr>
              <a:t>:</a:t>
            </a:r>
            <a:r>
              <a:rPr lang="tr-TR" sz="2800" dirty="0" smtClean="0">
                <a:latin typeface="+mn-lt"/>
              </a:rPr>
              <a:t> </a:t>
            </a:r>
            <a:r>
              <a:rPr lang="tr-TR" sz="2800" dirty="0">
                <a:latin typeface="+mn-lt"/>
              </a:rPr>
              <a:t>Represents the use case or session.</a:t>
            </a:r>
          </a:p>
          <a:p>
            <a:pPr lvl="1">
              <a:lnSpc>
                <a:spcPct val="80000"/>
              </a:lnSpc>
            </a:pPr>
            <a:r>
              <a:rPr lang="tr-TR" sz="2400" dirty="0"/>
              <a:t>The use case that the playGame system operation occurs in is called Play Monopoly Game</a:t>
            </a:r>
          </a:p>
          <a:p>
            <a:pPr lvl="1">
              <a:lnSpc>
                <a:spcPct val="80000"/>
              </a:lnSpc>
            </a:pPr>
            <a:r>
              <a:rPr lang="tr-TR" sz="2400" dirty="0"/>
              <a:t>A class such as PlayMonopolyGameHandler (or ...Session) might be used</a:t>
            </a:r>
          </a:p>
          <a:p>
            <a:pPr>
              <a:lnSpc>
                <a:spcPct val="80000"/>
              </a:lnSpc>
            </a:pPr>
            <a:r>
              <a:rPr lang="tr-TR" sz="2800" dirty="0">
                <a:latin typeface="+mn-lt"/>
              </a:rPr>
              <a:t>The very first option looks good if there are only a few system operations</a:t>
            </a:r>
          </a:p>
        </p:txBody>
      </p:sp>
    </p:spTree>
    <p:extLst>
      <p:ext uri="{BB962C8B-B14F-4D97-AF65-F5344CB8AC3E}">
        <p14:creationId xmlns:p14="http://schemas.microsoft.com/office/powerpoint/2010/main" val="308577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15</a:t>
            </a:fld>
            <a:endParaRPr spc="1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2032" y="979931"/>
            <a:ext cx="569976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First </a:t>
            </a:r>
            <a:r>
              <a:rPr spc="5" dirty="0"/>
              <a:t>Iteration of the Monopoly</a:t>
            </a:r>
            <a:r>
              <a:rPr spc="-30" dirty="0"/>
              <a:t> </a:t>
            </a:r>
            <a:r>
              <a:rPr spc="10" dirty="0"/>
              <a:t>Game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369" y="1733461"/>
            <a:ext cx="7813040" cy="43008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5"/>
              </a:spcBef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In Iteration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1 –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there is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no </a:t>
            </a:r>
            <a:r>
              <a:rPr sz="175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winner.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rules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of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game </a:t>
            </a:r>
            <a:r>
              <a:rPr sz="1750" b="1" dirty="0">
                <a:solidFill>
                  <a:srgbClr val="3333CC"/>
                </a:solidFill>
                <a:latin typeface="Times New Roman"/>
                <a:cs typeface="Times New Roman"/>
              </a:rPr>
              <a:t>are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not yet  incorporated into the design. Iteration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1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is merely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concerned with the mechanics  of having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player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move a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piece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around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 Board, landing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on one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of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40 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Squares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each</a:t>
            </a:r>
            <a:r>
              <a:rPr sz="1750" b="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turn.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Definition</a:t>
            </a:r>
            <a:r>
              <a:rPr sz="1750" b="1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–</a:t>
            </a:r>
            <a:endParaRPr sz="1750">
              <a:latin typeface="Times New Roman"/>
              <a:cs typeface="Times New Roman"/>
            </a:endParaRPr>
          </a:p>
          <a:p>
            <a:pPr marL="991869" marR="1746885">
              <a:lnSpc>
                <a:spcPct val="150700"/>
              </a:lnSpc>
              <a:spcBef>
                <a:spcPts val="80"/>
              </a:spcBef>
            </a:pP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turn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– a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player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rolling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the dice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and moving one</a:t>
            </a:r>
            <a:r>
              <a:rPr sz="1750" b="1" spc="-15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piece 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round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– </a:t>
            </a:r>
            <a:r>
              <a:rPr sz="175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all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players taking </a:t>
            </a:r>
            <a:r>
              <a:rPr sz="175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one</a:t>
            </a:r>
            <a:r>
              <a:rPr sz="175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turn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50" spc="10" dirty="0">
                <a:latin typeface="Times New Roman"/>
                <a:cs typeface="Times New Roman"/>
              </a:rPr>
              <a:t>The game loop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algorithm:</a:t>
            </a:r>
            <a:endParaRPr sz="1750">
              <a:latin typeface="Times New Roman"/>
              <a:cs typeface="Times New Roman"/>
            </a:endParaRPr>
          </a:p>
          <a:p>
            <a:pPr marL="916305">
              <a:lnSpc>
                <a:spcPct val="100000"/>
              </a:lnSpc>
              <a:spcBef>
                <a:spcPts val="1145"/>
              </a:spcBef>
            </a:pPr>
            <a:r>
              <a:rPr sz="1750" b="1" spc="10" dirty="0">
                <a:latin typeface="Times New Roman"/>
                <a:cs typeface="Times New Roman"/>
              </a:rPr>
              <a:t>for </a:t>
            </a:r>
            <a:r>
              <a:rPr sz="1750" b="1" spc="20" dirty="0">
                <a:latin typeface="Times New Roman"/>
                <a:cs typeface="Times New Roman"/>
              </a:rPr>
              <a:t>N</a:t>
            </a:r>
            <a:r>
              <a:rPr sz="1750" b="1" spc="-3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Times New Roman"/>
                <a:cs typeface="Times New Roman"/>
              </a:rPr>
              <a:t>rounds</a:t>
            </a:r>
            <a:endParaRPr sz="1750">
              <a:latin typeface="Times New Roman"/>
              <a:cs typeface="Times New Roman"/>
            </a:endParaRPr>
          </a:p>
          <a:p>
            <a:pPr marL="1820545">
              <a:lnSpc>
                <a:spcPct val="100000"/>
              </a:lnSpc>
              <a:spcBef>
                <a:spcPts val="1065"/>
              </a:spcBef>
            </a:pPr>
            <a:r>
              <a:rPr sz="1750" b="1" spc="10" dirty="0">
                <a:latin typeface="Times New Roman"/>
                <a:cs typeface="Times New Roman"/>
              </a:rPr>
              <a:t>for each player</a:t>
            </a:r>
            <a:r>
              <a:rPr sz="1750" b="1" spc="-70" dirty="0">
                <a:latin typeface="Times New Roman"/>
                <a:cs typeface="Times New Roman"/>
              </a:rPr>
              <a:t> </a:t>
            </a:r>
            <a:r>
              <a:rPr sz="1750" b="1" spc="15" dirty="0">
                <a:latin typeface="Times New Roman"/>
                <a:cs typeface="Times New Roman"/>
              </a:rPr>
              <a:t>p</a:t>
            </a:r>
            <a:endParaRPr sz="1750">
              <a:latin typeface="Times New Roman"/>
              <a:cs typeface="Times New Roman"/>
            </a:endParaRPr>
          </a:p>
          <a:p>
            <a:pPr marR="1016635" algn="ctr">
              <a:lnSpc>
                <a:spcPct val="100000"/>
              </a:lnSpc>
              <a:spcBef>
                <a:spcPts val="1065"/>
              </a:spcBef>
            </a:pPr>
            <a:r>
              <a:rPr sz="1750" b="1" spc="15" dirty="0">
                <a:latin typeface="Times New Roman"/>
                <a:cs typeface="Times New Roman"/>
              </a:rPr>
              <a:t>p </a:t>
            </a:r>
            <a:r>
              <a:rPr sz="1750" b="1" spc="10" dirty="0">
                <a:latin typeface="Times New Roman"/>
                <a:cs typeface="Times New Roman"/>
              </a:rPr>
              <a:t>takes </a:t>
            </a:r>
            <a:r>
              <a:rPr sz="1750" b="1" spc="15" dirty="0">
                <a:latin typeface="Times New Roman"/>
                <a:cs typeface="Times New Roman"/>
              </a:rPr>
              <a:t>a</a:t>
            </a:r>
            <a:r>
              <a:rPr sz="1750" b="1" spc="-15" dirty="0">
                <a:latin typeface="Times New Roman"/>
                <a:cs typeface="Times New Roman"/>
              </a:rPr>
              <a:t> </a:t>
            </a:r>
            <a:r>
              <a:rPr sz="1750" b="1" spc="10" dirty="0">
                <a:latin typeface="Times New Roman"/>
                <a:cs typeface="Times New Roman"/>
              </a:rPr>
              <a:t>turn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16</a:t>
            </a:fld>
            <a:endParaRPr spc="1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458" y="979931"/>
            <a:ext cx="800354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Assign Responsibility for </a:t>
            </a:r>
            <a:r>
              <a:rPr dirty="0"/>
              <a:t>Controlling </a:t>
            </a:r>
            <a:r>
              <a:rPr spc="5" dirty="0"/>
              <a:t>the </a:t>
            </a:r>
            <a:r>
              <a:rPr spc="10" dirty="0"/>
              <a:t>Game</a:t>
            </a:r>
            <a:r>
              <a:rPr spc="-85" dirty="0"/>
              <a:t> </a:t>
            </a:r>
            <a:r>
              <a:rPr spc="10" dirty="0"/>
              <a:t>Loop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06163" y="1920734"/>
          <a:ext cx="7233920" cy="2863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8780"/>
                <a:gridCol w="4295140"/>
              </a:tblGrid>
              <a:tr h="602826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7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Needed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750" b="1" spc="20" dirty="0">
                          <a:latin typeface="Times New Roman"/>
                          <a:cs typeface="Times New Roman"/>
                        </a:rPr>
                        <a:t>Who </a:t>
                      </a:r>
                      <a:r>
                        <a:rPr sz="1750" b="1" spc="15" dirty="0">
                          <a:latin typeface="Times New Roman"/>
                          <a:cs typeface="Times New Roman"/>
                        </a:rPr>
                        <a:t>Has </a:t>
                      </a: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Information?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795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 current round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count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197485">
                        <a:lnSpc>
                          <a:spcPct val="101200"/>
                        </a:lnSpc>
                        <a:spcBef>
                          <a:spcPts val="955"/>
                        </a:spcBef>
                      </a:pPr>
                      <a:r>
                        <a:rPr sz="1750" spc="15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has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it yet,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by LRG*, 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assigning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this to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750" i="1" spc="15" dirty="0">
                          <a:latin typeface="Times New Roman"/>
                          <a:cs typeface="Times New Roman"/>
                        </a:rPr>
                        <a:t>MonopolyGame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object  is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justifiable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1007">
                <a:tc>
                  <a:txBody>
                    <a:bodyPr/>
                    <a:lstStyle/>
                    <a:p>
                      <a:pPr marL="316230" marR="235585">
                        <a:lnSpc>
                          <a:spcPct val="101200"/>
                        </a:lnSpc>
                        <a:spcBef>
                          <a:spcPts val="1545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All the players (so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that  each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can be used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taking  a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turn)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750" spc="1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examination of the domain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model,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50" i="1" spc="15" dirty="0">
                          <a:latin typeface="Times New Roman"/>
                          <a:cs typeface="Times New Roman"/>
                        </a:rPr>
                        <a:t>MonopolyGame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candidate.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565516" y="5199722"/>
            <a:ext cx="3288665" cy="5734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55"/>
              </a:spcBef>
            </a:pP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*LRG –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low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representational</a:t>
            </a:r>
            <a:r>
              <a:rPr sz="175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gap. 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r>
              <a:rPr sz="175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models.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4754" y="5199722"/>
            <a:ext cx="337629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Lower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gap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between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our</a:t>
            </a:r>
            <a:r>
              <a:rPr sz="1750" b="1" spc="-1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mental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1933" y="979931"/>
            <a:ext cx="4170679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Controlling </a:t>
            </a:r>
            <a:r>
              <a:rPr spc="5" dirty="0"/>
              <a:t>the </a:t>
            </a:r>
            <a:r>
              <a:rPr spc="10" dirty="0"/>
              <a:t>Game</a:t>
            </a:r>
            <a:r>
              <a:rPr spc="-65" dirty="0"/>
              <a:t> </a:t>
            </a:r>
            <a:r>
              <a:rPr spc="1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7567" y="2002367"/>
            <a:ext cx="2562225" cy="67818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9939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1570"/>
              </a:spcBef>
            </a:pPr>
            <a:r>
              <a:rPr sz="1750" b="1" spc="15" dirty="0">
                <a:latin typeface="Times New Roman"/>
                <a:cs typeface="Times New Roman"/>
              </a:rPr>
              <a:t>:MonopolyGame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39887" y="2680547"/>
            <a:ext cx="5883910" cy="2863850"/>
            <a:chOff x="1939887" y="2680547"/>
            <a:chExt cx="5883910" cy="2863850"/>
          </a:xfrm>
        </p:grpSpPr>
        <p:sp>
          <p:nvSpPr>
            <p:cNvPr id="5" name="object 5"/>
            <p:cNvSpPr/>
            <p:nvPr/>
          </p:nvSpPr>
          <p:spPr>
            <a:xfrm>
              <a:off x="4803153" y="2680547"/>
              <a:ext cx="0" cy="2863850"/>
            </a:xfrm>
            <a:custGeom>
              <a:avLst/>
              <a:gdLst/>
              <a:ahLst/>
              <a:cxnLst/>
              <a:rect l="l" t="t" r="r" b="b"/>
              <a:pathLst>
                <a:path h="2863850">
                  <a:moveTo>
                    <a:pt x="0" y="2712723"/>
                  </a:moveTo>
                  <a:lnTo>
                    <a:pt x="0" y="2863427"/>
                  </a:lnTo>
                </a:path>
                <a:path h="2863850">
                  <a:moveTo>
                    <a:pt x="0" y="0"/>
                  </a:moveTo>
                  <a:lnTo>
                    <a:pt x="0" y="452123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52454" y="3132667"/>
              <a:ext cx="301625" cy="2260600"/>
            </a:xfrm>
            <a:custGeom>
              <a:avLst/>
              <a:gdLst/>
              <a:ahLst/>
              <a:cxnLst/>
              <a:rect l="l" t="t" r="r" b="b"/>
              <a:pathLst>
                <a:path w="301625" h="2260600">
                  <a:moveTo>
                    <a:pt x="0" y="0"/>
                  </a:moveTo>
                  <a:lnTo>
                    <a:pt x="301396" y="0"/>
                  </a:lnTo>
                  <a:lnTo>
                    <a:pt x="301396" y="2260600"/>
                  </a:lnTo>
                  <a:lnTo>
                    <a:pt x="0" y="2260600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39887" y="3208021"/>
              <a:ext cx="2712720" cy="0"/>
            </a:xfrm>
            <a:custGeom>
              <a:avLst/>
              <a:gdLst/>
              <a:ahLst/>
              <a:cxnLst/>
              <a:rect l="l" t="t" r="r" b="b"/>
              <a:pathLst>
                <a:path w="2712720">
                  <a:moveTo>
                    <a:pt x="0" y="0"/>
                  </a:moveTo>
                  <a:lnTo>
                    <a:pt x="2712567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02225" y="317033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8501" y="3810847"/>
              <a:ext cx="226060" cy="979805"/>
            </a:xfrm>
            <a:custGeom>
              <a:avLst/>
              <a:gdLst/>
              <a:ahLst/>
              <a:cxnLst/>
              <a:rect l="l" t="t" r="r" b="b"/>
              <a:pathLst>
                <a:path w="226060" h="979804">
                  <a:moveTo>
                    <a:pt x="226047" y="0"/>
                  </a:moveTo>
                  <a:lnTo>
                    <a:pt x="0" y="0"/>
                  </a:lnTo>
                  <a:lnTo>
                    <a:pt x="0" y="979592"/>
                  </a:lnTo>
                  <a:lnTo>
                    <a:pt x="226047" y="979592"/>
                  </a:lnTo>
                  <a:lnTo>
                    <a:pt x="226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8502" y="3810848"/>
              <a:ext cx="226060" cy="979805"/>
            </a:xfrm>
            <a:custGeom>
              <a:avLst/>
              <a:gdLst/>
              <a:ahLst/>
              <a:cxnLst/>
              <a:rect l="l" t="t" r="r" b="b"/>
              <a:pathLst>
                <a:path w="226060" h="979804">
                  <a:moveTo>
                    <a:pt x="0" y="0"/>
                  </a:moveTo>
                  <a:lnTo>
                    <a:pt x="226047" y="0"/>
                  </a:lnTo>
                  <a:lnTo>
                    <a:pt x="226047" y="979593"/>
                  </a:lnTo>
                  <a:lnTo>
                    <a:pt x="0" y="979593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53851" y="3660141"/>
              <a:ext cx="829310" cy="753745"/>
            </a:xfrm>
            <a:custGeom>
              <a:avLst/>
              <a:gdLst/>
              <a:ahLst/>
              <a:cxnLst/>
              <a:rect l="l" t="t" r="r" b="b"/>
              <a:pathLst>
                <a:path w="829310" h="753745">
                  <a:moveTo>
                    <a:pt x="0" y="0"/>
                  </a:moveTo>
                  <a:lnTo>
                    <a:pt x="828840" y="0"/>
                  </a:lnTo>
                </a:path>
                <a:path w="829310" h="753745">
                  <a:moveTo>
                    <a:pt x="828840" y="0"/>
                  </a:moveTo>
                  <a:lnTo>
                    <a:pt x="828840" y="753533"/>
                  </a:lnTo>
                </a:path>
                <a:path w="829310" h="753745">
                  <a:moveTo>
                    <a:pt x="828840" y="753533"/>
                  </a:moveTo>
                  <a:lnTo>
                    <a:pt x="150698" y="753533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79428" y="437600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75349" y="0"/>
                  </a:moveTo>
                  <a:lnTo>
                    <a:pt x="0" y="37668"/>
                  </a:lnTo>
                  <a:lnTo>
                    <a:pt x="75349" y="75349"/>
                  </a:lnTo>
                  <a:lnTo>
                    <a:pt x="753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44076" y="3434081"/>
              <a:ext cx="4973320" cy="1808480"/>
            </a:xfrm>
            <a:custGeom>
              <a:avLst/>
              <a:gdLst/>
              <a:ahLst/>
              <a:cxnLst/>
              <a:rect l="l" t="t" r="r" b="b"/>
              <a:pathLst>
                <a:path w="4973320" h="1808479">
                  <a:moveTo>
                    <a:pt x="0" y="0"/>
                  </a:moveTo>
                  <a:lnTo>
                    <a:pt x="4973041" y="0"/>
                  </a:lnTo>
                </a:path>
                <a:path w="4973320" h="1808479">
                  <a:moveTo>
                    <a:pt x="4973041" y="0"/>
                  </a:moveTo>
                  <a:lnTo>
                    <a:pt x="4973041" y="1733127"/>
                  </a:lnTo>
                </a:path>
                <a:path w="4973320" h="1808479">
                  <a:moveTo>
                    <a:pt x="4973041" y="1733127"/>
                  </a:moveTo>
                  <a:lnTo>
                    <a:pt x="0" y="1733127"/>
                  </a:lnTo>
                </a:path>
                <a:path w="4973320" h="1808479">
                  <a:moveTo>
                    <a:pt x="0" y="1808480"/>
                  </a:moveTo>
                  <a:lnTo>
                    <a:pt x="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35764" y="3843362"/>
            <a:ext cx="97536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sz="1550" b="1" dirty="0">
                <a:solidFill>
                  <a:srgbClr val="3333CC"/>
                </a:solidFill>
                <a:latin typeface="Times New Roman"/>
                <a:cs typeface="Times New Roman"/>
              </a:rPr>
              <a:t>l</a:t>
            </a: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ayRound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17</a:t>
            </a:fld>
            <a:endParaRPr spc="15" dirty="0"/>
          </a:p>
        </p:txBody>
      </p:sp>
      <p:sp>
        <p:nvSpPr>
          <p:cNvPr id="15" name="object 15"/>
          <p:cNvSpPr txBox="1"/>
          <p:nvPr/>
        </p:nvSpPr>
        <p:spPr>
          <a:xfrm>
            <a:off x="2243658" y="2863761"/>
            <a:ext cx="2402840" cy="9150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playGame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765810">
              <a:lnSpc>
                <a:spcPct val="100000"/>
              </a:lnSpc>
              <a:spcBef>
                <a:spcPts val="1530"/>
              </a:spcBef>
              <a:tabLst>
                <a:tab pos="1217930" algn="l"/>
              </a:tabLst>
            </a:pP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loop	[rndCnt &lt;</a:t>
            </a:r>
            <a:r>
              <a:rPr sz="135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N]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18</a:t>
            </a:fld>
            <a:endParaRPr spc="1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8201" y="829220"/>
            <a:ext cx="296735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0" dirty="0"/>
              <a:t>Who </a:t>
            </a:r>
            <a:r>
              <a:rPr spc="-45" dirty="0"/>
              <a:t>Takes </a:t>
            </a:r>
            <a:r>
              <a:rPr spc="5" dirty="0"/>
              <a:t>a</a:t>
            </a:r>
            <a:r>
              <a:rPr spc="-120" dirty="0"/>
              <a:t> </a:t>
            </a:r>
            <a:r>
              <a:rPr spc="-45" dirty="0"/>
              <a:t>Turn?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0116" y="1845381"/>
          <a:ext cx="7685404" cy="4671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770"/>
                <a:gridCol w="4445634"/>
              </a:tblGrid>
              <a:tr h="67818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7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Needed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720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750" b="1" spc="20" dirty="0">
                          <a:latin typeface="Times New Roman"/>
                          <a:cs typeface="Times New Roman"/>
                        </a:rPr>
                        <a:t>Who </a:t>
                      </a:r>
                      <a:r>
                        <a:rPr sz="1750" b="1" spc="15" dirty="0">
                          <a:latin typeface="Times New Roman"/>
                          <a:cs typeface="Times New Roman"/>
                        </a:rPr>
                        <a:t>Has </a:t>
                      </a: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10" dirty="0">
                          <a:latin typeface="Times New Roman"/>
                          <a:cs typeface="Times New Roman"/>
                        </a:rPr>
                        <a:t>Information?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6360">
                <a:tc>
                  <a:txBody>
                    <a:bodyPr/>
                    <a:lstStyle/>
                    <a:p>
                      <a:pPr marL="240665" marR="191135">
                        <a:lnSpc>
                          <a:spcPct val="101200"/>
                        </a:lnSpc>
                        <a:spcBef>
                          <a:spcPts val="1545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Current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location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of the player 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(to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know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starting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point of</a:t>
                      </a:r>
                      <a:r>
                        <a:rPr sz="17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  move)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197485">
                        <a:lnSpc>
                          <a:spcPct val="102000"/>
                        </a:lnSpc>
                        <a:spcBef>
                          <a:spcPts val="1530"/>
                        </a:spcBef>
                      </a:pPr>
                      <a:r>
                        <a:rPr sz="1750" spc="-55" dirty="0">
                          <a:latin typeface="Times New Roman"/>
                          <a:cs typeface="Times New Roman"/>
                        </a:rPr>
                        <a:t>We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observe from the domain model, a Piece 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knows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1750" i="1" dirty="0">
                          <a:latin typeface="Times New Roman"/>
                          <a:cs typeface="Times New Roman"/>
                        </a:rPr>
                        <a:t>Square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and a </a:t>
                      </a:r>
                      <a:r>
                        <a:rPr sz="1750" i="1" spc="10" dirty="0">
                          <a:latin typeface="Times New Roman"/>
                          <a:cs typeface="Times New Roman"/>
                        </a:rPr>
                        <a:t>Player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knows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its  </a:t>
                      </a:r>
                      <a:r>
                        <a:rPr sz="1750" i="1" spc="5" dirty="0">
                          <a:latin typeface="Times New Roman"/>
                          <a:cs typeface="Times New Roman"/>
                        </a:rPr>
                        <a:t>Piece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Therefore, a </a:t>
                      </a:r>
                      <a:r>
                        <a:rPr sz="1750" i="1" spc="10" dirty="0">
                          <a:latin typeface="Times New Roman"/>
                          <a:cs typeface="Times New Roman"/>
                        </a:rPr>
                        <a:t>Player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software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object 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could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know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its location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LRG.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4947">
                <a:tc>
                  <a:txBody>
                    <a:bodyPr/>
                    <a:lstStyle/>
                    <a:p>
                      <a:pPr marL="240665" marR="292735">
                        <a:lnSpc>
                          <a:spcPct val="103600"/>
                        </a:lnSpc>
                        <a:spcBef>
                          <a:spcPts val="1495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 two Die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objects (to roll 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them and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calculate their</a:t>
                      </a:r>
                      <a:r>
                        <a:rPr sz="17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total)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405765">
                        <a:lnSpc>
                          <a:spcPct val="101200"/>
                        </a:lnSpc>
                        <a:spcBef>
                          <a:spcPts val="1545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 domain model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indicates that  </a:t>
                      </a:r>
                      <a:r>
                        <a:rPr sz="1750" i="1" spc="15" dirty="0">
                          <a:latin typeface="Times New Roman"/>
                          <a:cs typeface="Times New Roman"/>
                        </a:rPr>
                        <a:t>MonopolyGame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 candidate since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we 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think of the dice as being part of the</a:t>
                      </a:r>
                      <a:r>
                        <a:rPr sz="175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game.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2420">
                <a:tc>
                  <a:txBody>
                    <a:bodyPr/>
                    <a:lstStyle/>
                    <a:p>
                      <a:pPr marL="240665" marR="486409">
                        <a:lnSpc>
                          <a:spcPct val="102000"/>
                        </a:lnSpc>
                        <a:spcBef>
                          <a:spcPts val="1530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All the squares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5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square 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organization (to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be able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to 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move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correct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new  square)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40665">
                        <a:lnSpc>
                          <a:spcPct val="100000"/>
                        </a:lnSpc>
                      </a:pPr>
                      <a:r>
                        <a:rPr sz="1750" spc="15" dirty="0">
                          <a:latin typeface="Times New Roman"/>
                          <a:cs typeface="Times New Roman"/>
                        </a:rPr>
                        <a:t>By LRG, </a:t>
                      </a:r>
                      <a:r>
                        <a:rPr sz="1750" i="1" dirty="0">
                          <a:latin typeface="Times New Roman"/>
                          <a:cs typeface="Times New Roman"/>
                        </a:rPr>
                        <a:t>Board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candidate.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5"/>
              </a:lnSpc>
            </a:pPr>
            <a:fld id="{81D60167-4931-47E6-BA6A-407CBD079E47}" type="slidenum">
              <a:rPr spc="15" dirty="0"/>
              <a:t>19</a:t>
            </a:fld>
            <a:endParaRPr spc="1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3325" y="979931"/>
            <a:ext cx="216344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35" dirty="0"/>
              <a:t>Taking </a:t>
            </a:r>
            <a:r>
              <a:rPr spc="5" dirty="0"/>
              <a:t>a</a:t>
            </a:r>
            <a:r>
              <a:rPr spc="-95" dirty="0"/>
              <a:t> </a:t>
            </a:r>
            <a:r>
              <a:rPr spc="-55" dirty="0"/>
              <a:t>Turn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369" y="1775320"/>
            <a:ext cx="8044815" cy="5140325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350" b="1" spc="-30" dirty="0">
                <a:latin typeface="Times New Roman"/>
                <a:cs typeface="Times New Roman"/>
              </a:rPr>
              <a:t>Taking </a:t>
            </a:r>
            <a:r>
              <a:rPr sz="2350" b="1" spc="10" dirty="0">
                <a:latin typeface="Times New Roman"/>
                <a:cs typeface="Times New Roman"/>
              </a:rPr>
              <a:t>a </a:t>
            </a:r>
            <a:r>
              <a:rPr sz="2350" b="1" spc="5" dirty="0">
                <a:latin typeface="Times New Roman"/>
                <a:cs typeface="Times New Roman"/>
              </a:rPr>
              <a:t>turn</a:t>
            </a:r>
            <a:r>
              <a:rPr sz="2350" b="1" spc="30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Times New Roman"/>
                <a:cs typeface="Times New Roman"/>
              </a:rPr>
              <a:t>means</a:t>
            </a:r>
            <a:r>
              <a:rPr sz="1750" b="1" spc="10" dirty="0">
                <a:latin typeface="Times New Roman"/>
                <a:cs typeface="Times New Roman"/>
              </a:rPr>
              <a:t>:</a:t>
            </a:r>
            <a:endParaRPr sz="1750">
              <a:latin typeface="Times New Roman"/>
              <a:cs typeface="Times New Roman"/>
            </a:endParaRPr>
          </a:p>
          <a:p>
            <a:pPr marL="92075" indent="-80010">
              <a:lnSpc>
                <a:spcPct val="100000"/>
              </a:lnSpc>
              <a:spcBef>
                <a:spcPts val="1125"/>
              </a:spcBef>
              <a:buSzPct val="94285"/>
              <a:buFont typeface="Times New Roman"/>
              <a:buChar char="•"/>
              <a:tabLst>
                <a:tab pos="92710" algn="l"/>
              </a:tabLst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Calculating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 random number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between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2 and</a:t>
            </a:r>
            <a:r>
              <a:rPr sz="1750" b="1" spc="-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12</a:t>
            </a:r>
            <a:endParaRPr sz="1750">
              <a:latin typeface="Times New Roman"/>
              <a:cs typeface="Times New Roman"/>
            </a:endParaRPr>
          </a:p>
          <a:p>
            <a:pPr marL="92075" indent="-80010">
              <a:lnSpc>
                <a:spcPct val="100000"/>
              </a:lnSpc>
              <a:spcBef>
                <a:spcPts val="1065"/>
              </a:spcBef>
              <a:buSzPct val="94285"/>
              <a:buFont typeface="Times New Roman"/>
              <a:buChar char="•"/>
              <a:tabLst>
                <a:tab pos="92710" algn="l"/>
              </a:tabLst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Determining the location of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new</a:t>
            </a:r>
            <a:r>
              <a:rPr sz="175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</a:t>
            </a:r>
            <a:endParaRPr sz="1750">
              <a:latin typeface="Times New Roman"/>
              <a:cs typeface="Times New Roman"/>
            </a:endParaRPr>
          </a:p>
          <a:p>
            <a:pPr marL="92075" indent="-80010">
              <a:lnSpc>
                <a:spcPct val="100000"/>
              </a:lnSpc>
              <a:spcBef>
                <a:spcPts val="1160"/>
              </a:spcBef>
              <a:buSzPct val="94285"/>
              <a:buFont typeface="Times New Roman"/>
              <a:buChar char="•"/>
              <a:tabLst>
                <a:tab pos="92710" algn="l"/>
              </a:tabLst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Moving 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player’s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piece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from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 old location to the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new</a:t>
            </a:r>
            <a:r>
              <a:rPr sz="175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square.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1375"/>
              </a:spcBef>
            </a:pPr>
            <a:r>
              <a:rPr sz="1750" spc="5" dirty="0">
                <a:latin typeface="Times New Roman"/>
                <a:cs typeface="Times New Roman"/>
              </a:rPr>
              <a:t>Calculating </a:t>
            </a:r>
            <a:r>
              <a:rPr sz="1750" spc="10" dirty="0">
                <a:latin typeface="Times New Roman"/>
                <a:cs typeface="Times New Roman"/>
              </a:rPr>
              <a:t>a new </a:t>
            </a:r>
            <a:r>
              <a:rPr sz="1750" spc="5" dirty="0">
                <a:latin typeface="Times New Roman"/>
                <a:cs typeface="Times New Roman"/>
              </a:rPr>
              <a:t>face </a:t>
            </a:r>
            <a:r>
              <a:rPr sz="1750" spc="10" dirty="0">
                <a:latin typeface="Times New Roman"/>
                <a:cs typeface="Times New Roman"/>
              </a:rPr>
              <a:t>value means changing information </a:t>
            </a:r>
            <a:r>
              <a:rPr sz="1750" spc="5" dirty="0">
                <a:latin typeface="Times New Roman"/>
                <a:cs typeface="Times New Roman"/>
              </a:rPr>
              <a:t>in </a:t>
            </a:r>
            <a:r>
              <a:rPr sz="1750" i="1" spc="10" dirty="0">
                <a:latin typeface="Times New Roman"/>
                <a:cs typeface="Times New Roman"/>
              </a:rPr>
              <a:t>Die, </a:t>
            </a:r>
            <a:r>
              <a:rPr sz="1750" spc="10" dirty="0">
                <a:latin typeface="Times New Roman"/>
                <a:cs typeface="Times New Roman"/>
              </a:rPr>
              <a:t>so </a:t>
            </a:r>
            <a:r>
              <a:rPr sz="1750" spc="15" dirty="0">
                <a:latin typeface="Times New Roman"/>
                <a:cs typeface="Times New Roman"/>
              </a:rPr>
              <a:t>by </a:t>
            </a:r>
            <a:r>
              <a:rPr sz="1750" spc="10" dirty="0">
                <a:latin typeface="Times New Roman"/>
                <a:cs typeface="Times New Roman"/>
              </a:rPr>
              <a:t>Expert</a:t>
            </a:r>
            <a:r>
              <a:rPr sz="1750" i="1" spc="10" dirty="0">
                <a:latin typeface="Times New Roman"/>
                <a:cs typeface="Times New Roman"/>
              </a:rPr>
              <a:t>,</a:t>
            </a:r>
            <a:r>
              <a:rPr sz="1750" i="1" spc="-5" dirty="0">
                <a:latin typeface="Times New Roman"/>
                <a:cs typeface="Times New Roman"/>
              </a:rPr>
              <a:t> </a:t>
            </a:r>
            <a:r>
              <a:rPr sz="1750" i="1" spc="10" dirty="0">
                <a:latin typeface="Times New Roman"/>
                <a:cs typeface="Times New Roman"/>
              </a:rPr>
              <a:t>Die</a:t>
            </a:r>
            <a:endParaRPr sz="175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Times New Roman"/>
                <a:cs typeface="Times New Roman"/>
              </a:rPr>
              <a:t>should be able </a:t>
            </a:r>
            <a:r>
              <a:rPr sz="1750" spc="5" dirty="0">
                <a:latin typeface="Times New Roman"/>
                <a:cs typeface="Times New Roman"/>
              </a:rPr>
              <a:t>to roll itself </a:t>
            </a:r>
            <a:r>
              <a:rPr sz="1750" spc="10" dirty="0">
                <a:latin typeface="Times New Roman"/>
                <a:cs typeface="Times New Roman"/>
              </a:rPr>
              <a:t>(generate a random number) and answer </a:t>
            </a:r>
            <a:r>
              <a:rPr sz="1750" spc="5" dirty="0">
                <a:latin typeface="Times New Roman"/>
                <a:cs typeface="Times New Roman"/>
              </a:rPr>
              <a:t>its face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value.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238125" marR="5080">
              <a:lnSpc>
                <a:spcPct val="101200"/>
              </a:lnSpc>
            </a:pPr>
            <a:r>
              <a:rPr sz="1750" spc="10" dirty="0">
                <a:latin typeface="Times New Roman"/>
                <a:cs typeface="Times New Roman"/>
              </a:rPr>
              <a:t>The new square </a:t>
            </a:r>
            <a:r>
              <a:rPr sz="1750" spc="5" dirty="0">
                <a:latin typeface="Times New Roman"/>
                <a:cs typeface="Times New Roman"/>
              </a:rPr>
              <a:t>location </a:t>
            </a:r>
            <a:r>
              <a:rPr sz="1750" spc="10" dirty="0">
                <a:latin typeface="Times New Roman"/>
                <a:cs typeface="Times New Roman"/>
              </a:rPr>
              <a:t>problem: Since the </a:t>
            </a:r>
            <a:r>
              <a:rPr sz="1750" i="1" dirty="0">
                <a:latin typeface="Times New Roman"/>
                <a:cs typeface="Times New Roman"/>
              </a:rPr>
              <a:t>Board </a:t>
            </a:r>
            <a:r>
              <a:rPr sz="1750" spc="15" dirty="0">
                <a:latin typeface="Times New Roman"/>
                <a:cs typeface="Times New Roman"/>
              </a:rPr>
              <a:t>knows </a:t>
            </a:r>
            <a:r>
              <a:rPr sz="1750" spc="5" dirty="0">
                <a:latin typeface="Times New Roman"/>
                <a:cs typeface="Times New Roman"/>
              </a:rPr>
              <a:t>all its </a:t>
            </a:r>
            <a:r>
              <a:rPr sz="1750" i="1" dirty="0">
                <a:latin typeface="Times New Roman"/>
                <a:cs typeface="Times New Roman"/>
              </a:rPr>
              <a:t>Squares</a:t>
            </a:r>
            <a:r>
              <a:rPr sz="1750" dirty="0">
                <a:latin typeface="Times New Roman"/>
                <a:cs typeface="Times New Roman"/>
              </a:rPr>
              <a:t>, </a:t>
            </a:r>
            <a:r>
              <a:rPr sz="1750" spc="5" dirty="0">
                <a:latin typeface="Times New Roman"/>
                <a:cs typeface="Times New Roman"/>
              </a:rPr>
              <a:t>it </a:t>
            </a:r>
            <a:r>
              <a:rPr sz="1750" spc="10" dirty="0">
                <a:latin typeface="Times New Roman"/>
                <a:cs typeface="Times New Roman"/>
              </a:rPr>
              <a:t>should be  responsible for finding a new square </a:t>
            </a:r>
            <a:r>
              <a:rPr sz="1750" spc="5" dirty="0">
                <a:latin typeface="Times New Roman"/>
                <a:cs typeface="Times New Roman"/>
              </a:rPr>
              <a:t>location, </a:t>
            </a:r>
            <a:r>
              <a:rPr sz="1750" spc="10" dirty="0">
                <a:latin typeface="Times New Roman"/>
                <a:cs typeface="Times New Roman"/>
              </a:rPr>
              <a:t>given an old square </a:t>
            </a:r>
            <a:r>
              <a:rPr sz="1750" spc="5" dirty="0">
                <a:latin typeface="Times New Roman"/>
                <a:cs typeface="Times New Roman"/>
              </a:rPr>
              <a:t>location </a:t>
            </a:r>
            <a:r>
              <a:rPr sz="1750" spc="10" dirty="0">
                <a:latin typeface="Times New Roman"/>
                <a:cs typeface="Times New Roman"/>
              </a:rPr>
              <a:t>and some  </a:t>
            </a:r>
            <a:r>
              <a:rPr sz="1750" dirty="0">
                <a:latin typeface="Times New Roman"/>
                <a:cs typeface="Times New Roman"/>
              </a:rPr>
              <a:t>offset </a:t>
            </a:r>
            <a:r>
              <a:rPr sz="1750" spc="10" dirty="0">
                <a:latin typeface="Times New Roman"/>
                <a:cs typeface="Times New Roman"/>
              </a:rPr>
              <a:t>(the dice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total)</a:t>
            </a:r>
            <a:endParaRPr sz="1750">
              <a:latin typeface="Times New Roman"/>
              <a:cs typeface="Times New Roman"/>
            </a:endParaRPr>
          </a:p>
          <a:p>
            <a:pPr marL="238125" marR="286385">
              <a:lnSpc>
                <a:spcPct val="102000"/>
              </a:lnSpc>
              <a:spcBef>
                <a:spcPts val="1320"/>
              </a:spcBef>
            </a:pPr>
            <a:r>
              <a:rPr sz="1750" spc="10" dirty="0">
                <a:latin typeface="Times New Roman"/>
                <a:cs typeface="Times New Roman"/>
              </a:rPr>
              <a:t>The </a:t>
            </a:r>
            <a:r>
              <a:rPr sz="1750" spc="5" dirty="0">
                <a:latin typeface="Times New Roman"/>
                <a:cs typeface="Times New Roman"/>
              </a:rPr>
              <a:t>piece </a:t>
            </a:r>
            <a:r>
              <a:rPr sz="1750" spc="10" dirty="0">
                <a:latin typeface="Times New Roman"/>
                <a:cs typeface="Times New Roman"/>
              </a:rPr>
              <a:t>movement problem: </a:t>
            </a:r>
            <a:r>
              <a:rPr sz="1750" spc="15" dirty="0">
                <a:latin typeface="Times New Roman"/>
                <a:cs typeface="Times New Roman"/>
              </a:rPr>
              <a:t>By LRG </a:t>
            </a:r>
            <a:r>
              <a:rPr sz="1750" spc="5" dirty="0">
                <a:latin typeface="Times New Roman"/>
                <a:cs typeface="Times New Roman"/>
              </a:rPr>
              <a:t>it is </a:t>
            </a:r>
            <a:r>
              <a:rPr sz="1750" spc="10" dirty="0">
                <a:latin typeface="Times New Roman"/>
                <a:cs typeface="Times New Roman"/>
              </a:rPr>
              <a:t>reasonable for a </a:t>
            </a:r>
            <a:r>
              <a:rPr sz="1750" i="1" spc="10" dirty="0">
                <a:latin typeface="Times New Roman"/>
                <a:cs typeface="Times New Roman"/>
              </a:rPr>
              <a:t>Player </a:t>
            </a:r>
            <a:r>
              <a:rPr sz="1750" spc="5" dirty="0">
                <a:latin typeface="Times New Roman"/>
                <a:cs typeface="Times New Roman"/>
              </a:rPr>
              <a:t>to </a:t>
            </a:r>
            <a:r>
              <a:rPr sz="1750" spc="15" dirty="0">
                <a:latin typeface="Times New Roman"/>
                <a:cs typeface="Times New Roman"/>
              </a:rPr>
              <a:t>know </a:t>
            </a:r>
            <a:r>
              <a:rPr sz="1750" spc="5" dirty="0">
                <a:latin typeface="Times New Roman"/>
                <a:cs typeface="Times New Roman"/>
              </a:rPr>
              <a:t>its  </a:t>
            </a:r>
            <a:r>
              <a:rPr sz="1750" i="1" spc="5" dirty="0">
                <a:latin typeface="Times New Roman"/>
                <a:cs typeface="Times New Roman"/>
              </a:rPr>
              <a:t>Piece</a:t>
            </a:r>
            <a:r>
              <a:rPr sz="1750" spc="5" dirty="0">
                <a:latin typeface="Times New Roman"/>
                <a:cs typeface="Times New Roman"/>
              </a:rPr>
              <a:t>, </a:t>
            </a:r>
            <a:r>
              <a:rPr sz="1750" spc="10" dirty="0">
                <a:latin typeface="Times New Roman"/>
                <a:cs typeface="Times New Roman"/>
              </a:rPr>
              <a:t>and a </a:t>
            </a:r>
            <a:r>
              <a:rPr sz="1750" i="1" spc="5" dirty="0">
                <a:latin typeface="Times New Roman"/>
                <a:cs typeface="Times New Roman"/>
              </a:rPr>
              <a:t>Piece </a:t>
            </a:r>
            <a:r>
              <a:rPr sz="1750" spc="5" dirty="0">
                <a:latin typeface="Times New Roman"/>
                <a:cs typeface="Times New Roman"/>
              </a:rPr>
              <a:t>its </a:t>
            </a:r>
            <a:r>
              <a:rPr sz="1750" i="1" dirty="0">
                <a:latin typeface="Times New Roman"/>
                <a:cs typeface="Times New Roman"/>
              </a:rPr>
              <a:t>Square </a:t>
            </a:r>
            <a:r>
              <a:rPr sz="1750" spc="5" dirty="0">
                <a:latin typeface="Times New Roman"/>
                <a:cs typeface="Times New Roman"/>
              </a:rPr>
              <a:t>location </a:t>
            </a:r>
            <a:r>
              <a:rPr sz="1750" spc="10" dirty="0">
                <a:latin typeface="Times New Roman"/>
                <a:cs typeface="Times New Roman"/>
              </a:rPr>
              <a:t>(or even for a </a:t>
            </a:r>
            <a:r>
              <a:rPr sz="1750" i="1" spc="10" dirty="0">
                <a:latin typeface="Times New Roman"/>
                <a:cs typeface="Times New Roman"/>
              </a:rPr>
              <a:t>Player </a:t>
            </a:r>
            <a:r>
              <a:rPr sz="1750" spc="5" dirty="0">
                <a:latin typeface="Times New Roman"/>
                <a:cs typeface="Times New Roman"/>
              </a:rPr>
              <a:t>to directly </a:t>
            </a:r>
            <a:r>
              <a:rPr sz="1750" spc="15" dirty="0">
                <a:latin typeface="Times New Roman"/>
                <a:cs typeface="Times New Roman"/>
              </a:rPr>
              <a:t>know </a:t>
            </a:r>
            <a:r>
              <a:rPr sz="1750" spc="5" dirty="0">
                <a:latin typeface="Times New Roman"/>
                <a:cs typeface="Times New Roman"/>
              </a:rPr>
              <a:t>its  </a:t>
            </a:r>
            <a:r>
              <a:rPr sz="1750" i="1" dirty="0">
                <a:latin typeface="Times New Roman"/>
                <a:cs typeface="Times New Roman"/>
              </a:rPr>
              <a:t>Square </a:t>
            </a:r>
            <a:r>
              <a:rPr sz="1750" spc="5" dirty="0">
                <a:latin typeface="Times New Roman"/>
                <a:cs typeface="Times New Roman"/>
              </a:rPr>
              <a:t>location). </a:t>
            </a:r>
            <a:r>
              <a:rPr sz="1750" spc="15" dirty="0">
                <a:latin typeface="Times New Roman"/>
                <a:cs typeface="Times New Roman"/>
              </a:rPr>
              <a:t>By </a:t>
            </a:r>
            <a:r>
              <a:rPr sz="1750" spc="10" dirty="0">
                <a:latin typeface="Times New Roman"/>
                <a:cs typeface="Times New Roman"/>
              </a:rPr>
              <a:t>Expert, a </a:t>
            </a:r>
            <a:r>
              <a:rPr sz="1750" i="1" spc="5" dirty="0">
                <a:latin typeface="Times New Roman"/>
                <a:cs typeface="Times New Roman"/>
              </a:rPr>
              <a:t>Piece </a:t>
            </a:r>
            <a:r>
              <a:rPr sz="1750" spc="5" dirty="0">
                <a:latin typeface="Times New Roman"/>
                <a:cs typeface="Times New Roman"/>
              </a:rPr>
              <a:t>will set its </a:t>
            </a:r>
            <a:r>
              <a:rPr sz="1750" spc="10" dirty="0">
                <a:latin typeface="Times New Roman"/>
                <a:cs typeface="Times New Roman"/>
              </a:rPr>
              <a:t>new </a:t>
            </a:r>
            <a:r>
              <a:rPr sz="1750" spc="5" dirty="0">
                <a:latin typeface="Times New Roman"/>
                <a:cs typeface="Times New Roman"/>
              </a:rPr>
              <a:t>location, </a:t>
            </a:r>
            <a:r>
              <a:rPr sz="1750" spc="10" dirty="0">
                <a:latin typeface="Times New Roman"/>
                <a:cs typeface="Times New Roman"/>
              </a:rPr>
              <a:t>but may </a:t>
            </a:r>
            <a:r>
              <a:rPr sz="1750" spc="5" dirty="0">
                <a:latin typeface="Times New Roman"/>
                <a:cs typeface="Times New Roman"/>
              </a:rPr>
              <a:t>receive that  </a:t>
            </a:r>
            <a:r>
              <a:rPr sz="1750" spc="10" dirty="0">
                <a:latin typeface="Times New Roman"/>
                <a:cs typeface="Times New Roman"/>
              </a:rPr>
              <a:t>new </a:t>
            </a:r>
            <a:r>
              <a:rPr sz="1750" spc="5" dirty="0">
                <a:latin typeface="Times New Roman"/>
                <a:cs typeface="Times New Roman"/>
              </a:rPr>
              <a:t>location </a:t>
            </a:r>
            <a:r>
              <a:rPr sz="1750" spc="10" dirty="0">
                <a:latin typeface="Times New Roman"/>
                <a:cs typeface="Times New Roman"/>
              </a:rPr>
              <a:t>from </a:t>
            </a:r>
            <a:r>
              <a:rPr sz="1750" spc="5" dirty="0">
                <a:latin typeface="Times New Roman"/>
                <a:cs typeface="Times New Roman"/>
              </a:rPr>
              <a:t>its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Player</a:t>
            </a:r>
            <a:r>
              <a:rPr sz="1750" spc="5" dirty="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649" y="829220"/>
            <a:ext cx="848042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Final Design of the System Operation playGame </a:t>
            </a:r>
            <a:r>
              <a:rPr spc="-40" dirty="0"/>
              <a:t>(Iter.</a:t>
            </a:r>
            <a:r>
              <a:rPr spc="5" dirty="0"/>
              <a:t> 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7792" y="1474893"/>
            <a:ext cx="2034539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550" b="1" spc="15" dirty="0">
                <a:latin typeface="Times New Roman"/>
                <a:cs typeface="Times New Roman"/>
              </a:rPr>
              <a:t>:MonopolyGame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67330" y="2002367"/>
            <a:ext cx="0" cy="226060"/>
          </a:xfrm>
          <a:custGeom>
            <a:avLst/>
            <a:gdLst/>
            <a:ahLst/>
            <a:cxnLst/>
            <a:rect l="l" t="t" r="r" b="b"/>
            <a:pathLst>
              <a:path h="226060">
                <a:moveTo>
                  <a:pt x="0" y="0"/>
                </a:moveTo>
                <a:lnTo>
                  <a:pt x="0" y="226063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07342" y="1474893"/>
            <a:ext cx="1356360" cy="75374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750" b="1" spc="10" dirty="0">
                <a:latin typeface="Times New Roman"/>
                <a:cs typeface="Times New Roman"/>
              </a:rPr>
              <a:t>players</a:t>
            </a:r>
            <a:endParaRPr sz="1750">
              <a:latin typeface="Times New Roman"/>
              <a:cs typeface="Times New Roman"/>
            </a:endParaRPr>
          </a:p>
          <a:p>
            <a:pPr marL="165735"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Times New Roman"/>
                <a:cs typeface="Times New Roman"/>
              </a:rPr>
              <a:t>[i]:</a:t>
            </a:r>
            <a:r>
              <a:rPr sz="1750" b="1" spc="10" dirty="0">
                <a:latin typeface="Times New Roman"/>
                <a:cs typeface="Times New Roman"/>
              </a:rPr>
              <a:t>Player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3300" y="2222077"/>
            <a:ext cx="5664200" cy="1595120"/>
            <a:chOff x="803300" y="2222077"/>
            <a:chExt cx="5664200" cy="1595120"/>
          </a:xfrm>
        </p:grpSpPr>
        <p:sp>
          <p:nvSpPr>
            <p:cNvPr id="7" name="object 7"/>
            <p:cNvSpPr/>
            <p:nvPr/>
          </p:nvSpPr>
          <p:spPr>
            <a:xfrm>
              <a:off x="2391981" y="2228427"/>
              <a:ext cx="151130" cy="1582420"/>
            </a:xfrm>
            <a:custGeom>
              <a:avLst/>
              <a:gdLst/>
              <a:ahLst/>
              <a:cxnLst/>
              <a:rect l="l" t="t" r="r" b="b"/>
              <a:pathLst>
                <a:path w="151130" h="1582420">
                  <a:moveTo>
                    <a:pt x="0" y="0"/>
                  </a:moveTo>
                  <a:lnTo>
                    <a:pt x="150698" y="0"/>
                  </a:lnTo>
                  <a:lnTo>
                    <a:pt x="150698" y="1582420"/>
                  </a:lnTo>
                  <a:lnTo>
                    <a:pt x="0" y="1582420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9650" y="2303780"/>
              <a:ext cx="1582420" cy="0"/>
            </a:xfrm>
            <a:custGeom>
              <a:avLst/>
              <a:gdLst/>
              <a:ahLst/>
              <a:cxnLst/>
              <a:rect l="l" t="t" r="r" b="b"/>
              <a:pathLst>
                <a:path w="1582420">
                  <a:moveTo>
                    <a:pt x="0" y="0"/>
                  </a:moveTo>
                  <a:lnTo>
                    <a:pt x="1582331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41753" y="226609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60833" y="2228427"/>
              <a:ext cx="0" cy="1582420"/>
            </a:xfrm>
            <a:custGeom>
              <a:avLst/>
              <a:gdLst/>
              <a:ahLst/>
              <a:cxnLst/>
              <a:rect l="l" t="t" r="r" b="b"/>
              <a:pathLst>
                <a:path h="1582420">
                  <a:moveTo>
                    <a:pt x="0" y="0"/>
                  </a:moveTo>
                  <a:lnTo>
                    <a:pt x="0" y="158242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7369" y="2034882"/>
            <a:ext cx="79756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play</a:t>
            </a:r>
            <a:r>
              <a:rPr sz="1350" b="1" spc="20" dirty="0">
                <a:solidFill>
                  <a:srgbClr val="3333CC"/>
                </a:solidFill>
                <a:latin typeface="Times New Roman"/>
                <a:cs typeface="Times New Roman"/>
              </a:rPr>
              <a:t>Game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60980" y="2523490"/>
            <a:ext cx="4025265" cy="1821180"/>
            <a:chOff x="2460980" y="2523490"/>
            <a:chExt cx="4025265" cy="1821180"/>
          </a:xfrm>
        </p:grpSpPr>
        <p:sp>
          <p:nvSpPr>
            <p:cNvPr id="13" name="object 13"/>
            <p:cNvSpPr/>
            <p:nvPr/>
          </p:nvSpPr>
          <p:spPr>
            <a:xfrm>
              <a:off x="2467330" y="3810847"/>
              <a:ext cx="0" cy="527685"/>
            </a:xfrm>
            <a:custGeom>
              <a:avLst/>
              <a:gdLst/>
              <a:ahLst/>
              <a:cxnLst/>
              <a:rect l="l" t="t" r="r" b="b"/>
              <a:pathLst>
                <a:path h="527685">
                  <a:moveTo>
                    <a:pt x="0" y="0"/>
                  </a:moveTo>
                  <a:lnTo>
                    <a:pt x="0" y="527473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42679" y="2529840"/>
              <a:ext cx="527685" cy="452120"/>
            </a:xfrm>
            <a:custGeom>
              <a:avLst/>
              <a:gdLst/>
              <a:ahLst/>
              <a:cxnLst/>
              <a:rect l="l" t="t" r="r" b="b"/>
              <a:pathLst>
                <a:path w="527685" h="452119">
                  <a:moveTo>
                    <a:pt x="527443" y="0"/>
                  </a:moveTo>
                  <a:lnTo>
                    <a:pt x="527443" y="452120"/>
                  </a:lnTo>
                </a:path>
                <a:path w="527685" h="452119">
                  <a:moveTo>
                    <a:pt x="0" y="0"/>
                  </a:moveTo>
                  <a:lnTo>
                    <a:pt x="527443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67330" y="2605192"/>
              <a:ext cx="151130" cy="1055370"/>
            </a:xfrm>
            <a:custGeom>
              <a:avLst/>
              <a:gdLst/>
              <a:ahLst/>
              <a:cxnLst/>
              <a:rect l="l" t="t" r="r" b="b"/>
              <a:pathLst>
                <a:path w="151130" h="1055370">
                  <a:moveTo>
                    <a:pt x="150698" y="0"/>
                  </a:moveTo>
                  <a:lnTo>
                    <a:pt x="0" y="0"/>
                  </a:lnTo>
                  <a:lnTo>
                    <a:pt x="0" y="1054947"/>
                  </a:lnTo>
                  <a:lnTo>
                    <a:pt x="150698" y="1054947"/>
                  </a:lnTo>
                  <a:lnTo>
                    <a:pt x="150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67330" y="2605194"/>
              <a:ext cx="151130" cy="1055370"/>
            </a:xfrm>
            <a:custGeom>
              <a:avLst/>
              <a:gdLst/>
              <a:ahLst/>
              <a:cxnLst/>
              <a:rect l="l" t="t" r="r" b="b"/>
              <a:pathLst>
                <a:path w="151130" h="1055370">
                  <a:moveTo>
                    <a:pt x="0" y="0"/>
                  </a:moveTo>
                  <a:lnTo>
                    <a:pt x="150698" y="0"/>
                  </a:lnTo>
                  <a:lnTo>
                    <a:pt x="150698" y="1054947"/>
                  </a:lnTo>
                  <a:lnTo>
                    <a:pt x="0" y="1054947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18029" y="2981960"/>
              <a:ext cx="452120" cy="0"/>
            </a:xfrm>
            <a:custGeom>
              <a:avLst/>
              <a:gdLst/>
              <a:ahLst/>
              <a:cxnLst/>
              <a:rect l="l" t="t" r="r" b="b"/>
              <a:pathLst>
                <a:path w="452119">
                  <a:moveTo>
                    <a:pt x="452094" y="0"/>
                  </a:moveTo>
                  <a:lnTo>
                    <a:pt x="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92908" y="294427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75349" y="0"/>
                  </a:moveTo>
                  <a:lnTo>
                    <a:pt x="0" y="37680"/>
                  </a:lnTo>
                  <a:lnTo>
                    <a:pt x="75349" y="75361"/>
                  </a:lnTo>
                  <a:lnTo>
                    <a:pt x="753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18029" y="3509434"/>
              <a:ext cx="3843020" cy="0"/>
            </a:xfrm>
            <a:custGeom>
              <a:avLst/>
              <a:gdLst/>
              <a:ahLst/>
              <a:cxnLst/>
              <a:rect l="l" t="t" r="r" b="b"/>
              <a:pathLst>
                <a:path w="3843020">
                  <a:moveTo>
                    <a:pt x="0" y="0"/>
                  </a:moveTo>
                  <a:lnTo>
                    <a:pt x="3842804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0604" y="347176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47847" y="2637701"/>
            <a:ext cx="8566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playRound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4308" y="3240532"/>
            <a:ext cx="383032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88060">
              <a:lnSpc>
                <a:spcPct val="100000"/>
              </a:lnSpc>
              <a:spcBef>
                <a:spcPts val="135"/>
              </a:spcBef>
            </a:pPr>
            <a:r>
              <a:rPr sz="135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takeTurn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89188" y="3132667"/>
            <a:ext cx="4973320" cy="753745"/>
          </a:xfrm>
          <a:custGeom>
            <a:avLst/>
            <a:gdLst/>
            <a:ahLst/>
            <a:cxnLst/>
            <a:rect l="l" t="t" r="r" b="b"/>
            <a:pathLst>
              <a:path w="4973320" h="753745">
                <a:moveTo>
                  <a:pt x="0" y="0"/>
                </a:moveTo>
                <a:lnTo>
                  <a:pt x="4973041" y="0"/>
                </a:lnTo>
              </a:path>
              <a:path w="4973320" h="753745">
                <a:moveTo>
                  <a:pt x="0" y="0"/>
                </a:moveTo>
                <a:lnTo>
                  <a:pt x="0" y="753533"/>
                </a:lnTo>
              </a:path>
              <a:path w="4973320" h="753745">
                <a:moveTo>
                  <a:pt x="0" y="753533"/>
                </a:moveTo>
                <a:lnTo>
                  <a:pt x="4973041" y="753533"/>
                </a:lnTo>
              </a:path>
              <a:path w="4973320" h="753745">
                <a:moveTo>
                  <a:pt x="4973041" y="753533"/>
                </a:moveTo>
                <a:lnTo>
                  <a:pt x="4973041" y="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66912" y="3165182"/>
            <a:ext cx="3479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loop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0348" y="2454487"/>
            <a:ext cx="6405245" cy="1808480"/>
          </a:xfrm>
          <a:custGeom>
            <a:avLst/>
            <a:gdLst/>
            <a:ahLst/>
            <a:cxnLst/>
            <a:rect l="l" t="t" r="r" b="b"/>
            <a:pathLst>
              <a:path w="6405245" h="1808479">
                <a:moveTo>
                  <a:pt x="0" y="0"/>
                </a:moveTo>
                <a:lnTo>
                  <a:pt x="6404674" y="0"/>
                </a:lnTo>
              </a:path>
              <a:path w="6405245" h="1808479">
                <a:moveTo>
                  <a:pt x="0" y="0"/>
                </a:moveTo>
                <a:lnTo>
                  <a:pt x="0" y="1808480"/>
                </a:lnTo>
              </a:path>
              <a:path w="6405245" h="1808479">
                <a:moveTo>
                  <a:pt x="0" y="1808480"/>
                </a:moveTo>
                <a:lnTo>
                  <a:pt x="6404674" y="1808480"/>
                </a:lnTo>
              </a:path>
              <a:path w="6405245" h="1808479">
                <a:moveTo>
                  <a:pt x="6404674" y="1808480"/>
                </a:moveTo>
                <a:lnTo>
                  <a:pt x="6404674" y="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88765" y="2562351"/>
            <a:ext cx="3479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loop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93863" y="4489028"/>
            <a:ext cx="979805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80"/>
              </a:spcBef>
            </a:pPr>
            <a:r>
              <a:rPr sz="1550" b="1" spc="10" dirty="0">
                <a:latin typeface="Times New Roman"/>
                <a:cs typeface="Times New Roman"/>
              </a:rPr>
              <a:t>:Piece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08886" y="4934798"/>
            <a:ext cx="6718934" cy="1896745"/>
            <a:chOff x="2008886" y="4934798"/>
            <a:chExt cx="6718934" cy="1896745"/>
          </a:xfrm>
        </p:grpSpPr>
        <p:sp>
          <p:nvSpPr>
            <p:cNvPr id="29" name="object 29"/>
            <p:cNvSpPr/>
            <p:nvPr/>
          </p:nvSpPr>
          <p:spPr>
            <a:xfrm>
              <a:off x="8721306" y="4941148"/>
              <a:ext cx="0" cy="1884045"/>
            </a:xfrm>
            <a:custGeom>
              <a:avLst/>
              <a:gdLst/>
              <a:ahLst/>
              <a:cxnLst/>
              <a:rect l="l" t="t" r="r" b="b"/>
              <a:pathLst>
                <a:path h="1884045">
                  <a:moveTo>
                    <a:pt x="0" y="0"/>
                  </a:moveTo>
                  <a:lnTo>
                    <a:pt x="0" y="1883834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5236" y="5619328"/>
              <a:ext cx="2637790" cy="0"/>
            </a:xfrm>
            <a:custGeom>
              <a:avLst/>
              <a:gdLst/>
              <a:ahLst/>
              <a:cxnLst/>
              <a:rect l="l" t="t" r="r" b="b"/>
              <a:pathLst>
                <a:path w="2637790">
                  <a:moveTo>
                    <a:pt x="0" y="0"/>
                  </a:moveTo>
                  <a:lnTo>
                    <a:pt x="2637218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02226" y="558165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021515" y="5350421"/>
            <a:ext cx="262509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30225" algn="ctr">
              <a:lnSpc>
                <a:spcPct val="100000"/>
              </a:lnSpc>
              <a:spcBef>
                <a:spcPts val="135"/>
              </a:spcBef>
            </a:pPr>
            <a:r>
              <a:rPr sz="13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roll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03300" y="5204879"/>
            <a:ext cx="4383405" cy="873125"/>
            <a:chOff x="803300" y="5204879"/>
            <a:chExt cx="4383405" cy="873125"/>
          </a:xfrm>
        </p:grpSpPr>
        <p:sp>
          <p:nvSpPr>
            <p:cNvPr id="34" name="object 34"/>
            <p:cNvSpPr/>
            <p:nvPr/>
          </p:nvSpPr>
          <p:spPr>
            <a:xfrm>
              <a:off x="2015236" y="5920742"/>
              <a:ext cx="2637790" cy="0"/>
            </a:xfrm>
            <a:custGeom>
              <a:avLst/>
              <a:gdLst/>
              <a:ahLst/>
              <a:cxnLst/>
              <a:rect l="l" t="t" r="r" b="b"/>
              <a:pathLst>
                <a:path w="2637790">
                  <a:moveTo>
                    <a:pt x="0" y="0"/>
                  </a:moveTo>
                  <a:lnTo>
                    <a:pt x="2637218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02225" y="588305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37094" y="5317915"/>
              <a:ext cx="3843020" cy="753745"/>
            </a:xfrm>
            <a:custGeom>
              <a:avLst/>
              <a:gdLst/>
              <a:ahLst/>
              <a:cxnLst/>
              <a:rect l="l" t="t" r="r" b="b"/>
              <a:pathLst>
                <a:path w="3843020" h="753745">
                  <a:moveTo>
                    <a:pt x="3842804" y="0"/>
                  </a:moveTo>
                  <a:lnTo>
                    <a:pt x="0" y="0"/>
                  </a:lnTo>
                </a:path>
                <a:path w="3843020" h="753745">
                  <a:moveTo>
                    <a:pt x="0" y="0"/>
                  </a:moveTo>
                  <a:lnTo>
                    <a:pt x="0" y="753533"/>
                  </a:lnTo>
                </a:path>
                <a:path w="3843020" h="753745">
                  <a:moveTo>
                    <a:pt x="0" y="753533"/>
                  </a:moveTo>
                  <a:lnTo>
                    <a:pt x="3842804" y="753533"/>
                  </a:lnTo>
                </a:path>
                <a:path w="3843020" h="753745">
                  <a:moveTo>
                    <a:pt x="3842804" y="753533"/>
                  </a:moveTo>
                  <a:lnTo>
                    <a:pt x="3842804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9650" y="5242561"/>
              <a:ext cx="1205865" cy="0"/>
            </a:xfrm>
            <a:custGeom>
              <a:avLst/>
              <a:gdLst/>
              <a:ahLst/>
              <a:cxnLst/>
              <a:rect l="l" t="t" r="r" b="b"/>
              <a:pathLst>
                <a:path w="1205864">
                  <a:moveTo>
                    <a:pt x="0" y="0"/>
                  </a:moveTo>
                  <a:lnTo>
                    <a:pt x="1205585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65007" y="520487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85972" y="4973663"/>
            <a:ext cx="7226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takeTurn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008886" y="6410540"/>
            <a:ext cx="6737984" cy="75565"/>
            <a:chOff x="2008886" y="6410540"/>
            <a:chExt cx="6737984" cy="75565"/>
          </a:xfrm>
        </p:grpSpPr>
        <p:sp>
          <p:nvSpPr>
            <p:cNvPr id="41" name="object 41"/>
            <p:cNvSpPr/>
            <p:nvPr/>
          </p:nvSpPr>
          <p:spPr>
            <a:xfrm>
              <a:off x="2015236" y="6448215"/>
              <a:ext cx="6706234" cy="0"/>
            </a:xfrm>
            <a:custGeom>
              <a:avLst/>
              <a:gdLst/>
              <a:ahLst/>
              <a:cxnLst/>
              <a:rect l="l" t="t" r="r" b="b"/>
              <a:pathLst>
                <a:path w="6706234">
                  <a:moveTo>
                    <a:pt x="0" y="0"/>
                  </a:moveTo>
                  <a:lnTo>
                    <a:pt x="670607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71077" y="641054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487792" y="4564381"/>
            <a:ext cx="1205865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80"/>
              </a:spcBef>
            </a:pPr>
            <a:r>
              <a:rPr sz="1750" b="1" spc="10" dirty="0">
                <a:latin typeface="Times New Roman"/>
                <a:cs typeface="Times New Roman"/>
              </a:rPr>
              <a:t>:</a:t>
            </a:r>
            <a:r>
              <a:rPr sz="1550" b="1" spc="10" dirty="0">
                <a:latin typeface="Times New Roman"/>
                <a:cs typeface="Times New Roman"/>
              </a:rPr>
              <a:t>Player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015236" y="5016501"/>
            <a:ext cx="0" cy="2260600"/>
          </a:xfrm>
          <a:custGeom>
            <a:avLst/>
            <a:gdLst/>
            <a:ahLst/>
            <a:cxnLst/>
            <a:rect l="l" t="t" r="r" b="b"/>
            <a:pathLst>
              <a:path h="2260600">
                <a:moveTo>
                  <a:pt x="0" y="0"/>
                </a:moveTo>
                <a:lnTo>
                  <a:pt x="0" y="1883834"/>
                </a:lnTo>
              </a:path>
              <a:path h="2260600">
                <a:moveTo>
                  <a:pt x="0" y="1808480"/>
                </a:moveTo>
                <a:lnTo>
                  <a:pt x="0" y="226060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049662" y="4489028"/>
            <a:ext cx="113030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1550" b="1" spc="5" dirty="0">
                <a:latin typeface="Times New Roman"/>
                <a:cs typeface="Times New Roman"/>
              </a:rPr>
              <a:t>dice[i] </a:t>
            </a:r>
            <a:r>
              <a:rPr sz="1550" b="1" spc="10" dirty="0">
                <a:latin typeface="Times New Roman"/>
                <a:cs typeface="Times New Roman"/>
              </a:rPr>
              <a:t>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Die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652455" y="5016501"/>
            <a:ext cx="0" cy="2260600"/>
          </a:xfrm>
          <a:custGeom>
            <a:avLst/>
            <a:gdLst/>
            <a:ahLst/>
            <a:cxnLst/>
            <a:rect l="l" t="t" r="r" b="b"/>
            <a:pathLst>
              <a:path h="2260600">
                <a:moveTo>
                  <a:pt x="0" y="0"/>
                </a:moveTo>
                <a:lnTo>
                  <a:pt x="0" y="1808480"/>
                </a:lnTo>
              </a:path>
              <a:path h="2260600">
                <a:moveTo>
                  <a:pt x="0" y="1733127"/>
                </a:moveTo>
                <a:lnTo>
                  <a:pt x="0" y="226060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385484" y="4489028"/>
            <a:ext cx="1055370" cy="452120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550" b="1" spc="15" dirty="0">
                <a:latin typeface="Times New Roman"/>
                <a:cs typeface="Times New Roman"/>
              </a:rPr>
              <a:t>:Board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015236" y="4941148"/>
            <a:ext cx="6731634" cy="2336165"/>
            <a:chOff x="2015236" y="4941148"/>
            <a:chExt cx="6731634" cy="2336165"/>
          </a:xfrm>
        </p:grpSpPr>
        <p:sp>
          <p:nvSpPr>
            <p:cNvPr id="49" name="object 49"/>
            <p:cNvSpPr/>
            <p:nvPr/>
          </p:nvSpPr>
          <p:spPr>
            <a:xfrm>
              <a:off x="6988277" y="4941148"/>
              <a:ext cx="1733550" cy="2336165"/>
            </a:xfrm>
            <a:custGeom>
              <a:avLst/>
              <a:gdLst/>
              <a:ahLst/>
              <a:cxnLst/>
              <a:rect l="l" t="t" r="r" b="b"/>
              <a:pathLst>
                <a:path w="1733550" h="2336165">
                  <a:moveTo>
                    <a:pt x="0" y="0"/>
                  </a:moveTo>
                  <a:lnTo>
                    <a:pt x="0" y="1883834"/>
                  </a:lnTo>
                </a:path>
                <a:path w="1733550" h="2336165">
                  <a:moveTo>
                    <a:pt x="0" y="1883834"/>
                  </a:moveTo>
                  <a:lnTo>
                    <a:pt x="0" y="2335954"/>
                  </a:lnTo>
                </a:path>
                <a:path w="1733550" h="2336165">
                  <a:moveTo>
                    <a:pt x="1733029" y="1733127"/>
                  </a:moveTo>
                  <a:lnTo>
                    <a:pt x="1733029" y="2335954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15236" y="6749629"/>
              <a:ext cx="4973320" cy="0"/>
            </a:xfrm>
            <a:custGeom>
              <a:avLst/>
              <a:gdLst/>
              <a:ahLst/>
              <a:cxnLst/>
              <a:rect l="l" t="t" r="r" b="b"/>
              <a:pathLst>
                <a:path w="4973320">
                  <a:moveTo>
                    <a:pt x="0" y="0"/>
                  </a:moveTo>
                  <a:lnTo>
                    <a:pt x="4973041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38048" y="671195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5">
                  <a:moveTo>
                    <a:pt x="0" y="0"/>
                  </a:moveTo>
                  <a:lnTo>
                    <a:pt x="0" y="75352"/>
                  </a:lnTo>
                  <a:lnTo>
                    <a:pt x="75349" y="37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015236" y="7051042"/>
              <a:ext cx="6706234" cy="0"/>
            </a:xfrm>
            <a:custGeom>
              <a:avLst/>
              <a:gdLst/>
              <a:ahLst/>
              <a:cxnLst/>
              <a:rect l="l" t="t" r="r" b="b"/>
              <a:pathLst>
                <a:path w="6706234">
                  <a:moveTo>
                    <a:pt x="0" y="0"/>
                  </a:moveTo>
                  <a:lnTo>
                    <a:pt x="670607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671077" y="7013362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5">
                  <a:moveTo>
                    <a:pt x="0" y="0"/>
                  </a:moveTo>
                  <a:lnTo>
                    <a:pt x="0" y="75354"/>
                  </a:lnTo>
                  <a:lnTo>
                    <a:pt x="75349" y="37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021515" y="5651843"/>
            <a:ext cx="4960620" cy="1367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135"/>
              </a:spcBef>
            </a:pPr>
            <a:r>
              <a:rPr sz="1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fv </a:t>
            </a: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35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3333CC"/>
                </a:solidFill>
                <a:latin typeface="Times New Roman"/>
                <a:cs typeface="Times New Roman"/>
              </a:rPr>
              <a:t>getFaceValue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762000">
              <a:lnSpc>
                <a:spcPct val="100000"/>
              </a:lnSpc>
            </a:pP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oldLoc = </a:t>
            </a:r>
            <a:r>
              <a:rPr sz="1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getLocation(</a:t>
            </a:r>
            <a:r>
              <a:rPr sz="135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):Square</a:t>
            </a:r>
            <a:endParaRPr sz="1350">
              <a:latin typeface="Times New Roman"/>
              <a:cs typeface="Times New Roman"/>
            </a:endParaRPr>
          </a:p>
          <a:p>
            <a:pPr marL="837565" marR="891540" indent="-107314">
              <a:lnSpc>
                <a:spcPct val="146500"/>
              </a:lnSpc>
            </a:pP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newLoc = </a:t>
            </a:r>
            <a:r>
              <a:rPr sz="1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getSquare(oldLoc, </a:t>
            </a:r>
            <a:r>
              <a:rPr sz="135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fvTot) </a:t>
            </a:r>
            <a:r>
              <a:rPr sz="13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: Square  setLocation</a:t>
            </a:r>
            <a:r>
              <a:rPr sz="1350" b="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(newLoc)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94556" y="6857492"/>
            <a:ext cx="1729739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latin typeface="Times New Roman"/>
                <a:cs typeface="Times New Roman"/>
              </a:rPr>
              <a:t>21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5008" y="829220"/>
            <a:ext cx="295338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spc="-10" dirty="0"/>
              <a:t>Pure</a:t>
            </a:r>
            <a:r>
              <a:rPr sz="3150" spc="-45" dirty="0"/>
              <a:t> </a:t>
            </a:r>
            <a:r>
              <a:rPr sz="3150" dirty="0"/>
              <a:t>Fabrication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1113416" y="1649310"/>
            <a:ext cx="854710" cy="736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0"/>
              </a:spcBef>
            </a:pPr>
            <a:r>
              <a:rPr sz="1750" spc="10" dirty="0">
                <a:latin typeface="Times New Roman"/>
                <a:cs typeface="Times New Roman"/>
              </a:rPr>
              <a:t>Name:  </a:t>
            </a:r>
            <a:r>
              <a:rPr sz="1750" spc="10" dirty="0" smtClean="0">
                <a:latin typeface="Times New Roman"/>
                <a:cs typeface="Times New Roman"/>
              </a:rPr>
              <a:t>Prob</a:t>
            </a:r>
            <a:r>
              <a:rPr sz="1750" spc="5" dirty="0" smtClean="0">
                <a:latin typeface="Times New Roman"/>
                <a:cs typeface="Times New Roman"/>
              </a:rPr>
              <a:t>lem: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6850" y="1428659"/>
            <a:ext cx="5237480" cy="293433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50" b="1" spc="5" dirty="0">
                <a:latin typeface="Times New Roman"/>
                <a:cs typeface="Times New Roman"/>
              </a:rPr>
              <a:t>Pure</a:t>
            </a:r>
            <a:r>
              <a:rPr sz="1750" b="1" dirty="0">
                <a:latin typeface="Times New Roman"/>
                <a:cs typeface="Times New Roman"/>
              </a:rPr>
              <a:t> </a:t>
            </a:r>
            <a:r>
              <a:rPr sz="1750" b="1" spc="10" dirty="0">
                <a:latin typeface="Times New Roman"/>
                <a:cs typeface="Times New Roman"/>
              </a:rPr>
              <a:t>Fabrication</a:t>
            </a:r>
            <a:endParaRPr sz="1750" dirty="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2870"/>
              </a:lnSpc>
              <a:spcBef>
                <a:spcPts val="155"/>
              </a:spcBef>
            </a:pPr>
            <a:r>
              <a:rPr sz="1750" spc="10" dirty="0">
                <a:latin typeface="Times New Roman"/>
                <a:cs typeface="Times New Roman"/>
              </a:rPr>
              <a:t>What </a:t>
            </a:r>
            <a:r>
              <a:rPr sz="1750" spc="5" dirty="0">
                <a:latin typeface="Times New Roman"/>
                <a:cs typeface="Times New Roman"/>
              </a:rPr>
              <a:t>object </a:t>
            </a:r>
            <a:r>
              <a:rPr sz="1750" spc="10" dirty="0">
                <a:latin typeface="Times New Roman"/>
                <a:cs typeface="Times New Roman"/>
              </a:rPr>
              <a:t>should have responsibilitywhen </a:t>
            </a:r>
            <a:r>
              <a:rPr sz="1750" spc="15" dirty="0">
                <a:latin typeface="Times New Roman"/>
                <a:cs typeface="Times New Roman"/>
              </a:rPr>
              <a:t>you do </a:t>
            </a:r>
            <a:r>
              <a:rPr sz="1750" spc="10" dirty="0">
                <a:latin typeface="Times New Roman"/>
                <a:cs typeface="Times New Roman"/>
              </a:rPr>
              <a:t>not  want </a:t>
            </a:r>
            <a:r>
              <a:rPr sz="1750" spc="5" dirty="0">
                <a:latin typeface="Times New Roman"/>
                <a:cs typeface="Times New Roman"/>
              </a:rPr>
              <a:t>to violate </a:t>
            </a:r>
            <a:r>
              <a:rPr sz="1750" spc="10" dirty="0">
                <a:latin typeface="Times New Roman"/>
                <a:cs typeface="Times New Roman"/>
              </a:rPr>
              <a:t>High Cohesion and </a:t>
            </a:r>
            <a:r>
              <a:rPr sz="1750" spc="15" dirty="0">
                <a:latin typeface="Times New Roman"/>
                <a:cs typeface="Times New Roman"/>
              </a:rPr>
              <a:t>Low </a:t>
            </a:r>
            <a:r>
              <a:rPr sz="1750" spc="10" dirty="0">
                <a:latin typeface="Times New Roman"/>
                <a:cs typeface="Times New Roman"/>
              </a:rPr>
              <a:t>Coupling, or  other goals, but solutions </a:t>
            </a:r>
            <a:r>
              <a:rPr sz="1750" spc="5" dirty="0">
                <a:latin typeface="Times New Roman"/>
                <a:cs typeface="Times New Roman"/>
              </a:rPr>
              <a:t>offered </a:t>
            </a:r>
            <a:r>
              <a:rPr sz="1750" spc="15" dirty="0">
                <a:latin typeface="Times New Roman"/>
                <a:cs typeface="Times New Roman"/>
              </a:rPr>
              <a:t>by </a:t>
            </a:r>
            <a:r>
              <a:rPr sz="1750" spc="10" dirty="0">
                <a:latin typeface="Times New Roman"/>
                <a:cs typeface="Times New Roman"/>
              </a:rPr>
              <a:t>Expert (for example)  are not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appropriate?</a:t>
            </a: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750" spc="10" dirty="0">
                <a:latin typeface="Times New Roman"/>
                <a:cs typeface="Times New Roman"/>
              </a:rPr>
              <a:t>Sometimes assigning </a:t>
            </a:r>
            <a:r>
              <a:rPr sz="1750" spc="5" dirty="0">
                <a:latin typeface="Times New Roman"/>
                <a:cs typeface="Times New Roman"/>
              </a:rPr>
              <a:t>responsibilities </a:t>
            </a:r>
            <a:r>
              <a:rPr sz="1750" spc="10" dirty="0">
                <a:latin typeface="Times New Roman"/>
                <a:cs typeface="Times New Roman"/>
              </a:rPr>
              <a:t>only </a:t>
            </a:r>
            <a:r>
              <a:rPr sz="1750" spc="5" dirty="0">
                <a:latin typeface="Times New Roman"/>
                <a:cs typeface="Times New Roman"/>
              </a:rPr>
              <a:t>to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domain</a:t>
            </a:r>
            <a:endParaRPr sz="1750" dirty="0">
              <a:latin typeface="Times New Roman"/>
              <a:cs typeface="Times New Roman"/>
            </a:endParaRPr>
          </a:p>
          <a:p>
            <a:pPr marL="12700" marR="728345">
              <a:lnSpc>
                <a:spcPts val="2970"/>
              </a:lnSpc>
              <a:spcBef>
                <a:spcPts val="145"/>
              </a:spcBef>
            </a:pPr>
            <a:r>
              <a:rPr sz="1750" spc="5" dirty="0">
                <a:latin typeface="Times New Roman"/>
                <a:cs typeface="Times New Roman"/>
              </a:rPr>
              <a:t>layer </a:t>
            </a:r>
            <a:r>
              <a:rPr sz="1750" spc="10" dirty="0">
                <a:latin typeface="Times New Roman"/>
                <a:cs typeface="Times New Roman"/>
              </a:rPr>
              <a:t>software </a:t>
            </a:r>
            <a:r>
              <a:rPr sz="1750" spc="5" dirty="0">
                <a:latin typeface="Times New Roman"/>
                <a:cs typeface="Times New Roman"/>
              </a:rPr>
              <a:t>classes leads to </a:t>
            </a:r>
            <a:r>
              <a:rPr sz="1750" spc="10" dirty="0">
                <a:latin typeface="Times New Roman"/>
                <a:cs typeface="Times New Roman"/>
              </a:rPr>
              <a:t>problems </a:t>
            </a:r>
            <a:r>
              <a:rPr sz="1750" spc="5" dirty="0">
                <a:latin typeface="Times New Roman"/>
                <a:cs typeface="Times New Roman"/>
              </a:rPr>
              <a:t>like </a:t>
            </a:r>
            <a:r>
              <a:rPr sz="1750" spc="10" dirty="0">
                <a:latin typeface="Times New Roman"/>
                <a:cs typeface="Times New Roman"/>
              </a:rPr>
              <a:t>poor  cohesion or coupling, or low reuse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potential.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416" y="5015103"/>
            <a:ext cx="85471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5" dirty="0" smtClean="0">
                <a:latin typeface="Times New Roman"/>
                <a:cs typeface="Times New Roman"/>
              </a:rPr>
              <a:t>So</a:t>
            </a:r>
            <a:r>
              <a:rPr sz="1750" dirty="0" smtClean="0">
                <a:latin typeface="Times New Roman"/>
                <a:cs typeface="Times New Roman"/>
              </a:rPr>
              <a:t>l</a:t>
            </a:r>
            <a:r>
              <a:rPr sz="1750" spc="15" dirty="0" smtClean="0">
                <a:latin typeface="Times New Roman"/>
                <a:cs typeface="Times New Roman"/>
              </a:rPr>
              <a:t>u</a:t>
            </a:r>
            <a:r>
              <a:rPr sz="1750" dirty="0" smtClean="0">
                <a:latin typeface="Times New Roman"/>
                <a:cs typeface="Times New Roman"/>
              </a:rPr>
              <a:t>ti</a:t>
            </a:r>
            <a:r>
              <a:rPr sz="1750" spc="10" dirty="0" smtClean="0">
                <a:latin typeface="Times New Roman"/>
                <a:cs typeface="Times New Roman"/>
              </a:rPr>
              <a:t>on</a:t>
            </a:r>
            <a:r>
              <a:rPr sz="1750" spc="10" dirty="0">
                <a:latin typeface="Times New Roman"/>
                <a:cs typeface="Times New Roman"/>
              </a:rPr>
              <a:t>: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1657" y="4922164"/>
            <a:ext cx="4970780" cy="754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>
              <a:lnSpc>
                <a:spcPct val="136600"/>
              </a:lnSpc>
              <a:spcBef>
                <a:spcPts val="90"/>
              </a:spcBef>
            </a:pPr>
            <a:r>
              <a:rPr sz="1750" spc="10" dirty="0">
                <a:latin typeface="Times New Roman"/>
                <a:cs typeface="Times New Roman"/>
              </a:rPr>
              <a:t>Assign a highly cohesive </a:t>
            </a:r>
            <a:r>
              <a:rPr sz="1750" spc="5" dirty="0">
                <a:latin typeface="Times New Roman"/>
                <a:cs typeface="Times New Roman"/>
              </a:rPr>
              <a:t>set </a:t>
            </a:r>
            <a:r>
              <a:rPr sz="1750" spc="10" dirty="0">
                <a:latin typeface="Times New Roman"/>
                <a:cs typeface="Times New Roman"/>
              </a:rPr>
              <a:t>of </a:t>
            </a:r>
            <a:r>
              <a:rPr sz="1750" spc="5" dirty="0">
                <a:latin typeface="Times New Roman"/>
                <a:cs typeface="Times New Roman"/>
              </a:rPr>
              <a:t>responsibilities to </a:t>
            </a:r>
            <a:r>
              <a:rPr sz="1750" spc="10" dirty="0">
                <a:latin typeface="Times New Roman"/>
                <a:cs typeface="Times New Roman"/>
              </a:rPr>
              <a:t>an  </a:t>
            </a:r>
            <a:r>
              <a:rPr sz="1750" spc="5" dirty="0">
                <a:latin typeface="Times New Roman"/>
                <a:cs typeface="Times New Roman"/>
              </a:rPr>
              <a:t>artificial </a:t>
            </a:r>
            <a:r>
              <a:rPr sz="1750" spc="10" dirty="0">
                <a:latin typeface="Times New Roman"/>
                <a:cs typeface="Times New Roman"/>
              </a:rPr>
              <a:t>or convenience </a:t>
            </a:r>
            <a:r>
              <a:rPr sz="1750" spc="5" dirty="0">
                <a:latin typeface="Times New Roman"/>
                <a:cs typeface="Times New Roman"/>
              </a:rPr>
              <a:t>class that </a:t>
            </a:r>
            <a:r>
              <a:rPr sz="1750" spc="10" dirty="0">
                <a:latin typeface="Times New Roman"/>
                <a:cs typeface="Times New Roman"/>
              </a:rPr>
              <a:t>does not represent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a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8765" y="5743524"/>
            <a:ext cx="7818120" cy="1046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45614">
              <a:lnSpc>
                <a:spcPts val="1875"/>
              </a:lnSpc>
              <a:spcBef>
                <a:spcPts val="130"/>
              </a:spcBef>
            </a:pPr>
            <a:r>
              <a:rPr sz="1750" spc="10" dirty="0">
                <a:latin typeface="Times New Roman"/>
                <a:cs typeface="Times New Roman"/>
              </a:rPr>
              <a:t>domain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concept.</a:t>
            </a: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ts val="1875"/>
              </a:lnSpc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Example: Rolling </a:t>
            </a:r>
            <a:r>
              <a:rPr sz="1750" b="1" spc="10" dirty="0" smtClean="0">
                <a:solidFill>
                  <a:srgbClr val="3333CC"/>
                </a:solidFill>
                <a:latin typeface="Times New Roman"/>
                <a:cs typeface="Times New Roman"/>
              </a:rPr>
              <a:t>the dice in </a:t>
            </a:r>
            <a:r>
              <a:rPr sz="1750" b="1" spc="15" dirty="0" smtClean="0">
                <a:solidFill>
                  <a:srgbClr val="3333CC"/>
                </a:solidFill>
                <a:latin typeface="Times New Roman"/>
                <a:cs typeface="Times New Roman"/>
              </a:rPr>
              <a:t>a Monopoly game – </a:t>
            </a:r>
            <a:r>
              <a:rPr sz="1750" b="1" spc="10" dirty="0" smtClean="0">
                <a:solidFill>
                  <a:srgbClr val="3333CC"/>
                </a:solidFill>
                <a:latin typeface="Times New Roman"/>
                <a:cs typeface="Times New Roman"/>
              </a:rPr>
              <a:t>Dice </a:t>
            </a:r>
            <a:r>
              <a:rPr sz="1750" b="1" dirty="0">
                <a:solidFill>
                  <a:srgbClr val="3333CC"/>
                </a:solidFill>
                <a:latin typeface="Times New Roman"/>
                <a:cs typeface="Times New Roman"/>
              </a:rPr>
              <a:t>are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used in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many</a:t>
            </a:r>
            <a:r>
              <a:rPr sz="1750" b="1" spc="-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games</a:t>
            </a:r>
            <a:endParaRPr sz="1750" dirty="0">
              <a:latin typeface="Times New Roman"/>
              <a:cs typeface="Times New Roman"/>
            </a:endParaRPr>
          </a:p>
          <a:p>
            <a:pPr marL="12700" marR="5080">
              <a:lnSpc>
                <a:spcPts val="2080"/>
              </a:lnSpc>
              <a:spcBef>
                <a:spcPts val="160"/>
              </a:spcBef>
            </a:pP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putting 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rolling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and summing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responsibilities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in Player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makes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it 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impossible to generalize this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service.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Also,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it is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not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now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possible to simply ask</a:t>
            </a:r>
            <a:r>
              <a:rPr sz="1750" b="1" spc="-1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for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8765" y="6769579"/>
            <a:ext cx="4180204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current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dice total without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rolling</a:t>
            </a:r>
            <a:r>
              <a:rPr sz="1750" b="1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again.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85075" y="6857492"/>
            <a:ext cx="25146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latin typeface="Times New Roman"/>
                <a:cs typeface="Times New Roman"/>
              </a:rPr>
              <a:t>33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Pure</a:t>
            </a:r>
            <a:r>
              <a:rPr spc="-70" dirty="0"/>
              <a:t> </a:t>
            </a:r>
            <a:r>
              <a:rPr spc="5" dirty="0"/>
              <a:t>Fabrication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369" y="1658112"/>
            <a:ext cx="8138795" cy="5734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55"/>
              </a:spcBef>
            </a:pP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Use a </a:t>
            </a:r>
            <a:r>
              <a:rPr sz="1750" b="1" i="1" spc="15" dirty="0">
                <a:solidFill>
                  <a:srgbClr val="3333CC"/>
                </a:solidFill>
                <a:latin typeface="Times New Roman"/>
                <a:cs typeface="Times New Roman"/>
              </a:rPr>
              <a:t>Cup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to hold the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dice, </a:t>
            </a:r>
            <a:r>
              <a:rPr sz="1750" b="1" dirty="0">
                <a:solidFill>
                  <a:srgbClr val="3333CC"/>
                </a:solidFill>
                <a:latin typeface="Times New Roman"/>
                <a:cs typeface="Times New Roman"/>
              </a:rPr>
              <a:t>roll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them,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and know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their total. It can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be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reused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in </a:t>
            </a:r>
            <a:r>
              <a:rPr sz="17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many 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different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applications </a:t>
            </a:r>
            <a:r>
              <a:rPr sz="17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where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dice </a:t>
            </a:r>
            <a:r>
              <a:rPr sz="1750" b="1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175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involved.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7792" y="3434081"/>
            <a:ext cx="150749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550" b="1" spc="10" dirty="0">
                <a:latin typeface="Times New Roman"/>
                <a:cs typeface="Times New Roman"/>
              </a:rPr>
              <a:t>p:Player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0585" y="3961554"/>
            <a:ext cx="0" cy="2637790"/>
          </a:xfrm>
          <a:custGeom>
            <a:avLst/>
            <a:gdLst/>
            <a:ahLst/>
            <a:cxnLst/>
            <a:rect l="l" t="t" r="r" b="b"/>
            <a:pathLst>
              <a:path h="2637790">
                <a:moveTo>
                  <a:pt x="0" y="0"/>
                </a:moveTo>
                <a:lnTo>
                  <a:pt x="0" y="2637367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71520" y="3434081"/>
            <a:ext cx="113030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80"/>
              </a:spcBef>
            </a:pPr>
            <a:r>
              <a:rPr sz="1750" b="1" spc="15" dirty="0">
                <a:latin typeface="Times New Roman"/>
                <a:cs typeface="Times New Roman"/>
              </a:rPr>
              <a:t>:Cup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74313" y="3961554"/>
            <a:ext cx="0" cy="2712720"/>
          </a:xfrm>
          <a:custGeom>
            <a:avLst/>
            <a:gdLst/>
            <a:ahLst/>
            <a:cxnLst/>
            <a:rect l="l" t="t" r="r" b="b"/>
            <a:pathLst>
              <a:path h="2712720">
                <a:moveTo>
                  <a:pt x="0" y="0"/>
                </a:moveTo>
                <a:lnTo>
                  <a:pt x="0" y="2712721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30597" y="3434081"/>
            <a:ext cx="1281430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750" b="1" spc="10" dirty="0">
                <a:latin typeface="Times New Roman"/>
                <a:cs typeface="Times New Roman"/>
              </a:rPr>
              <a:t>:Board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08739" y="3961554"/>
            <a:ext cx="0" cy="2712720"/>
          </a:xfrm>
          <a:custGeom>
            <a:avLst/>
            <a:gdLst/>
            <a:ahLst/>
            <a:cxnLst/>
            <a:rect l="l" t="t" r="r" b="b"/>
            <a:pathLst>
              <a:path h="2712720">
                <a:moveTo>
                  <a:pt x="0" y="0"/>
                </a:moveTo>
                <a:lnTo>
                  <a:pt x="0" y="2712721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63626" y="3434081"/>
            <a:ext cx="1431925" cy="52768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80"/>
              </a:spcBef>
            </a:pPr>
            <a:r>
              <a:rPr sz="1750" b="1" spc="5" dirty="0">
                <a:latin typeface="Times New Roman"/>
                <a:cs typeface="Times New Roman"/>
              </a:rPr>
              <a:t>loc:Square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3300" y="3955204"/>
            <a:ext cx="7020559" cy="2650490"/>
            <a:chOff x="803300" y="3955204"/>
            <a:chExt cx="7020559" cy="2650490"/>
          </a:xfrm>
        </p:grpSpPr>
        <p:sp>
          <p:nvSpPr>
            <p:cNvPr id="12" name="object 12"/>
            <p:cNvSpPr/>
            <p:nvPr/>
          </p:nvSpPr>
          <p:spPr>
            <a:xfrm>
              <a:off x="809650" y="4489028"/>
              <a:ext cx="1281430" cy="0"/>
            </a:xfrm>
            <a:custGeom>
              <a:avLst/>
              <a:gdLst/>
              <a:ahLst/>
              <a:cxnLst/>
              <a:rect l="l" t="t" r="r" b="b"/>
              <a:pathLst>
                <a:path w="1281430">
                  <a:moveTo>
                    <a:pt x="0" y="0"/>
                  </a:moveTo>
                  <a:lnTo>
                    <a:pt x="1280934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40356" y="445135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90585" y="494114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727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24084" y="490346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90585" y="546862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727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24084" y="5430939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61"/>
                  </a:lnTo>
                  <a:lnTo>
                    <a:pt x="75349" y="3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17118" y="3961554"/>
              <a:ext cx="0" cy="2637790"/>
            </a:xfrm>
            <a:custGeom>
              <a:avLst/>
              <a:gdLst/>
              <a:ahLst/>
              <a:cxnLst/>
              <a:rect l="l" t="t" r="r" b="b"/>
              <a:pathLst>
                <a:path h="2637790">
                  <a:moveTo>
                    <a:pt x="0" y="0"/>
                  </a:moveTo>
                  <a:lnTo>
                    <a:pt x="0" y="2637367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12020" y="4144771"/>
            <a:ext cx="3156585" cy="12465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takeTurn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Times New Roman"/>
              <a:cs typeface="Times New Roman"/>
            </a:endParaRPr>
          </a:p>
          <a:p>
            <a:pPr marL="1820545">
              <a:lnSpc>
                <a:spcPct val="100000"/>
              </a:lnSpc>
              <a:spcBef>
                <a:spcPts val="5"/>
              </a:spcBef>
            </a:pPr>
            <a:r>
              <a:rPr sz="1550" b="1" dirty="0">
                <a:solidFill>
                  <a:srgbClr val="3333CC"/>
                </a:solidFill>
                <a:latin typeface="Times New Roman"/>
                <a:cs typeface="Times New Roman"/>
              </a:rPr>
              <a:t>roll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1519555">
              <a:lnSpc>
                <a:spcPct val="100000"/>
              </a:lnSpc>
            </a:pPr>
            <a:r>
              <a:rPr sz="155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fvTot </a:t>
            </a: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5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getTotal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90585" y="5958420"/>
            <a:ext cx="5751830" cy="527685"/>
            <a:chOff x="2090585" y="5958420"/>
            <a:chExt cx="5751830" cy="527685"/>
          </a:xfrm>
        </p:grpSpPr>
        <p:sp>
          <p:nvSpPr>
            <p:cNvPr id="21" name="object 21"/>
            <p:cNvSpPr/>
            <p:nvPr/>
          </p:nvSpPr>
          <p:spPr>
            <a:xfrm>
              <a:off x="2090585" y="5996095"/>
              <a:ext cx="3918585" cy="0"/>
            </a:xfrm>
            <a:custGeom>
              <a:avLst/>
              <a:gdLst/>
              <a:ahLst/>
              <a:cxnLst/>
              <a:rect l="l" t="t" r="r" b="b"/>
              <a:pathLst>
                <a:path w="3918585">
                  <a:moveTo>
                    <a:pt x="0" y="0"/>
                  </a:moveTo>
                  <a:lnTo>
                    <a:pt x="3918153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58509" y="595842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90585" y="6448215"/>
              <a:ext cx="5727065" cy="0"/>
            </a:xfrm>
            <a:custGeom>
              <a:avLst/>
              <a:gdLst/>
              <a:ahLst/>
              <a:cxnLst/>
              <a:rect l="l" t="t" r="r" b="b"/>
              <a:pathLst>
                <a:path w="5727065">
                  <a:moveTo>
                    <a:pt x="0" y="0"/>
                  </a:moveTo>
                  <a:lnTo>
                    <a:pt x="5726532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66888" y="6410540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4">
                  <a:moveTo>
                    <a:pt x="0" y="0"/>
                  </a:moveTo>
                  <a:lnTo>
                    <a:pt x="0" y="75349"/>
                  </a:lnTo>
                  <a:lnTo>
                    <a:pt x="75349" y="37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96864" y="5651843"/>
            <a:ext cx="187134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30"/>
              </a:spcBef>
            </a:pP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loc </a:t>
            </a:r>
            <a:r>
              <a:rPr sz="1550" b="1" spc="1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550" b="1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getSquare(lo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57582" y="5651843"/>
            <a:ext cx="72009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55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c,</a:t>
            </a:r>
            <a:r>
              <a:rPr sz="1550" b="1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55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fvTot)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80592" y="6103963"/>
            <a:ext cx="202247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30"/>
              </a:spcBef>
            </a:pPr>
            <a:r>
              <a:rPr sz="155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landedOn(p)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85075" y="6857492"/>
            <a:ext cx="25146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15" dirty="0">
                <a:latin typeface="Times New Roman"/>
                <a:cs typeface="Times New Roman"/>
              </a:rPr>
              <a:t>34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1370</Words>
  <Application>Microsoft Office PowerPoint</Application>
  <PresentationFormat>Custom</PresentationFormat>
  <Paragraphs>229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Times New Roman</vt:lpstr>
      <vt:lpstr>Wingdings</vt:lpstr>
      <vt:lpstr>Office Theme</vt:lpstr>
      <vt:lpstr>GRASP-Case Study</vt:lpstr>
      <vt:lpstr>Using Design Patterns with GRASP</vt:lpstr>
      <vt:lpstr>Example of RDD – Monopoly Game</vt:lpstr>
      <vt:lpstr>Example of RDD – Monopoly Game</vt:lpstr>
      <vt:lpstr>Monopoly Game Example</vt:lpstr>
      <vt:lpstr>Implementation of the Creator Pattern in Monoply</vt:lpstr>
      <vt:lpstr>Monopoly Game Example</vt:lpstr>
      <vt:lpstr>Make Board Information Expert</vt:lpstr>
      <vt:lpstr>Alternative Design</vt:lpstr>
      <vt:lpstr>Low Coupling</vt:lpstr>
      <vt:lpstr>Controller</vt:lpstr>
      <vt:lpstr>PowerPoint Presentation</vt:lpstr>
      <vt:lpstr>The Controller Pattern</vt:lpstr>
      <vt:lpstr>PowerPoint Presentation</vt:lpstr>
      <vt:lpstr>First Iteration of the Monopoly Game</vt:lpstr>
      <vt:lpstr>Assign Responsibility for Controlling the Game Loop</vt:lpstr>
      <vt:lpstr>Controlling the Game Loop</vt:lpstr>
      <vt:lpstr>Who Takes a Turn?</vt:lpstr>
      <vt:lpstr>Taking a Turn</vt:lpstr>
      <vt:lpstr>Final Design of the System Operation playGame (Iter. 1)</vt:lpstr>
      <vt:lpstr>Pure Fabrication</vt:lpstr>
      <vt:lpstr>Pure Fabrication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Design Patterns with GRASP</dc:title>
  <cp:lastModifiedBy>Shafaq Riaz</cp:lastModifiedBy>
  <cp:revision>9</cp:revision>
  <dcterms:created xsi:type="dcterms:W3CDTF">2020-11-17T07:09:04Z</dcterms:created>
  <dcterms:modified xsi:type="dcterms:W3CDTF">2020-11-17T10:46:55Z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2020-11-17T00:00:00Z</vt:filetime>
  </property>
</Properties>
</file>