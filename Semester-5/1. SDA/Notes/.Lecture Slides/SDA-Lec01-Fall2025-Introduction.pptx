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43"/>
  </p:notesMasterIdLst>
  <p:sldIdLst>
    <p:sldId id="256" r:id="rId2"/>
    <p:sldId id="314" r:id="rId3"/>
    <p:sldId id="345" r:id="rId4"/>
    <p:sldId id="257" r:id="rId5"/>
    <p:sldId id="332" r:id="rId6"/>
    <p:sldId id="333" r:id="rId7"/>
    <p:sldId id="344" r:id="rId8"/>
    <p:sldId id="334" r:id="rId9"/>
    <p:sldId id="335" r:id="rId10"/>
    <p:sldId id="336" r:id="rId11"/>
    <p:sldId id="337" r:id="rId12"/>
    <p:sldId id="316" r:id="rId13"/>
    <p:sldId id="338" r:id="rId14"/>
    <p:sldId id="339" r:id="rId15"/>
    <p:sldId id="317" r:id="rId16"/>
    <p:sldId id="318" r:id="rId17"/>
    <p:sldId id="319" r:id="rId18"/>
    <p:sldId id="346" r:id="rId19"/>
    <p:sldId id="264" r:id="rId20"/>
    <p:sldId id="342" r:id="rId21"/>
    <p:sldId id="343" r:id="rId22"/>
    <p:sldId id="265" r:id="rId23"/>
    <p:sldId id="266" r:id="rId24"/>
    <p:sldId id="267" r:id="rId25"/>
    <p:sldId id="341" r:id="rId26"/>
    <p:sldId id="268" r:id="rId27"/>
    <p:sldId id="286" r:id="rId28"/>
    <p:sldId id="287" r:id="rId29"/>
    <p:sldId id="288" r:id="rId30"/>
    <p:sldId id="306" r:id="rId31"/>
    <p:sldId id="307" r:id="rId32"/>
    <p:sldId id="308" r:id="rId33"/>
    <p:sldId id="309" r:id="rId34"/>
    <p:sldId id="310" r:id="rId35"/>
    <p:sldId id="347" r:id="rId36"/>
    <p:sldId id="348" r:id="rId37"/>
    <p:sldId id="349" r:id="rId38"/>
    <p:sldId id="350" r:id="rId39"/>
    <p:sldId id="351" r:id="rId40"/>
    <p:sldId id="352" r:id="rId41"/>
    <p:sldId id="312" r:id="rId42"/>
  </p:sldIdLst>
  <p:sldSz cx="12192000" cy="6858000"/>
  <p:notesSz cx="6858000" cy="9144000"/>
  <p:embeddedFontLst>
    <p:embeddedFont>
      <p:font typeface="Helvetica" panose="020B0604020202020204" pitchFamily="34" charset="0"/>
      <p:regular r:id="rId44"/>
      <p:bold r:id="rId45"/>
      <p:italic r:id="rId46"/>
      <p:boldItalic r:id="rId47"/>
    </p:embeddedFont>
    <p:embeddedFont>
      <p:font typeface="Trebuchet MS" panose="020B0603020202020204" pitchFamily="34" charset="0"/>
      <p:regular r:id="rId48"/>
      <p:bold r:id="rId49"/>
      <p:italic r:id="rId50"/>
      <p:boldItalic r:id="rId51"/>
    </p:embeddedFont>
    <p:embeddedFont>
      <p:font typeface="Roboto" panose="020B0604020202020204" charset="0"/>
      <p:regular r:id="rId52"/>
      <p:bold r:id="rId53"/>
      <p:italic r:id="rId54"/>
      <p:boldItalic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Helvetica Neue" panose="020B060402020202020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F244B4-F419-4A42-A447-C3FAE094C37E}">
  <a:tblStyle styleId="{38F244B4-F419-4A42-A447-C3FAE094C3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D3CE0AE-BFEE-4A4E-83E9-8BC841B57AB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352" autoAdjust="0"/>
  </p:normalViewPr>
  <p:slideViewPr>
    <p:cSldViewPr snapToGrid="0">
      <p:cViewPr varScale="1">
        <p:scale>
          <a:sx n="54" d="100"/>
          <a:sy n="54" d="100"/>
        </p:scale>
        <p:origin x="13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57736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5395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0735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7468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376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8794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0" name="Google Shape;28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3453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8" name="Google Shape;28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015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6" name="Google Shape;29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5321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5" name="Google Shape;30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748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9026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211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 smtClean="0"/>
              <a:t>It means carefully </a:t>
            </a:r>
            <a:r>
              <a:rPr lang="en-US" b="1" dirty="0" smtClean="0"/>
              <a:t>studying the problem</a:t>
            </a:r>
            <a:r>
              <a:rPr lang="en-US" dirty="0" smtClean="0"/>
              <a:t> to understand:</a:t>
            </a:r>
          </a:p>
          <a:p>
            <a:r>
              <a:rPr lang="en-US" b="1" dirty="0" smtClean="0"/>
              <a:t>What is the actual problem?</a:t>
            </a:r>
            <a:endParaRPr lang="en-US" dirty="0" smtClean="0"/>
          </a:p>
          <a:p>
            <a:r>
              <a:rPr lang="en-US" b="1" dirty="0" smtClean="0"/>
              <a:t>What are the requirements or constraints?</a:t>
            </a:r>
            <a:endParaRPr lang="en-US" dirty="0" smtClean="0"/>
          </a:p>
          <a:p>
            <a:r>
              <a:rPr lang="en-US" b="1" dirty="0" smtClean="0"/>
              <a:t>What resources are available?</a:t>
            </a:r>
            <a:endParaRPr lang="en-US" dirty="0" smtClean="0"/>
          </a:p>
          <a:p>
            <a:r>
              <a:rPr lang="en-US" b="1" dirty="0" smtClean="0"/>
              <a:t>What approaches or algorithms can be applied?</a:t>
            </a:r>
          </a:p>
          <a:p>
            <a:endParaRPr lang="en-US" b="1" dirty="0" smtClean="0"/>
          </a:p>
          <a:p>
            <a:r>
              <a:rPr lang="en-US" b="1" dirty="0" smtClean="0"/>
              <a:t>Steps in Problem-Solving Investigation:</a:t>
            </a:r>
          </a:p>
          <a:p>
            <a:r>
              <a:rPr lang="en-US" b="1" dirty="0" smtClean="0"/>
              <a:t>Problem Understanding</a:t>
            </a:r>
            <a:r>
              <a:rPr lang="en-US" dirty="0" smtClean="0"/>
              <a:t> – Define the problem clearly (what is being asked?).</a:t>
            </a:r>
          </a:p>
          <a:p>
            <a:r>
              <a:rPr lang="en-US" b="1" dirty="0" smtClean="0"/>
              <a:t>Gather Information</a:t>
            </a:r>
            <a:r>
              <a:rPr lang="en-US" dirty="0" smtClean="0"/>
              <a:t> – Collect data, requirements, and constraints.</a:t>
            </a:r>
          </a:p>
          <a:p>
            <a:r>
              <a:rPr lang="en-US" b="1" dirty="0" smtClean="0"/>
              <a:t>Break Down Problem</a:t>
            </a:r>
            <a:r>
              <a:rPr lang="en-US" dirty="0" smtClean="0"/>
              <a:t> – Divide it into smaller, manageable parts.</a:t>
            </a:r>
          </a:p>
          <a:p>
            <a:r>
              <a:rPr lang="en-US" b="1" dirty="0" smtClean="0"/>
              <a:t>Explore Possible Solutions</a:t>
            </a:r>
            <a:r>
              <a:rPr lang="en-US" dirty="0" smtClean="0"/>
              <a:t> – Brainstorm different strategies.</a:t>
            </a:r>
          </a:p>
          <a:p>
            <a:r>
              <a:rPr lang="en-US" b="1" dirty="0" smtClean="0"/>
              <a:t>Choose Best Solution</a:t>
            </a:r>
            <a:r>
              <a:rPr lang="en-US" dirty="0" smtClean="0"/>
              <a:t> – Select based on efficiency, feasibility, and resources.</a:t>
            </a:r>
          </a:p>
          <a:p>
            <a:r>
              <a:rPr lang="en-US" b="1" dirty="0" smtClean="0"/>
              <a:t>Plan Implementation</a:t>
            </a:r>
            <a:r>
              <a:rPr lang="en-US" dirty="0" smtClean="0"/>
              <a:t> – Prepare algorithms, flowcharts, or design.</a:t>
            </a:r>
          </a:p>
          <a:p>
            <a:r>
              <a:rPr lang="en-US" b="1" dirty="0" smtClean="0"/>
              <a:t>Test &amp; Validate</a:t>
            </a:r>
            <a:r>
              <a:rPr lang="en-US" dirty="0" smtClean="0"/>
              <a:t> – Check if the solution really solves the problem.</a:t>
            </a:r>
          </a:p>
          <a:p>
            <a:endParaRPr lang="en-US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2" name="Google Shape;2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9493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 smtClean="0"/>
              <a:t>High level abstract model of </a:t>
            </a:r>
            <a:r>
              <a:rPr lang="en-US" smtClean="0"/>
              <a:t>the system</a:t>
            </a:r>
          </a:p>
          <a:p>
            <a:r>
              <a:rPr lang="en-US" dirty="0" smtClean="0"/>
              <a:t>Conceptual design is the </a:t>
            </a:r>
            <a:r>
              <a:rPr lang="en-US" b="1" dirty="0" smtClean="0"/>
              <a:t>abstract model</a:t>
            </a:r>
            <a:r>
              <a:rPr lang="en-US" dirty="0" smtClean="0"/>
              <a:t> that describes the system in terms of concepts, entities, relationships, and high-level processes.</a:t>
            </a:r>
          </a:p>
          <a:p>
            <a:r>
              <a:rPr lang="en-US" dirty="0" smtClean="0"/>
              <a:t>It focuses on </a:t>
            </a:r>
            <a:r>
              <a:rPr lang="en-US" b="1" dirty="0" smtClean="0"/>
              <a:t>what the system is</a:t>
            </a:r>
            <a:r>
              <a:rPr lang="en-US" dirty="0" smtClean="0"/>
              <a:t> and </a:t>
            </a:r>
            <a:r>
              <a:rPr lang="en-US" b="1" dirty="0" smtClean="0"/>
              <a:t>what it must achieve</a:t>
            </a:r>
            <a:r>
              <a:rPr lang="en-US" dirty="0" smtClean="0"/>
              <a:t>, not on programming details, hardware, or actual implementation.</a:t>
            </a:r>
          </a:p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 smtClean="0"/>
          </a:p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 smtClean="0"/>
          </a:p>
          <a:p>
            <a:r>
              <a:rPr lang="en-US" b="1" dirty="0" smtClean="0"/>
              <a:t>Abstract</a:t>
            </a:r>
            <a:r>
              <a:rPr lang="en-US" dirty="0" smtClean="0"/>
              <a:t> → Does not include technical details.</a:t>
            </a:r>
          </a:p>
          <a:p>
            <a:r>
              <a:rPr lang="en-US" b="1" dirty="0" smtClean="0"/>
              <a:t>User-oriented</a:t>
            </a:r>
            <a:r>
              <a:rPr lang="en-US" dirty="0" smtClean="0"/>
              <a:t> → Describes the system from the user’s or business perspective.</a:t>
            </a:r>
          </a:p>
          <a:p>
            <a:r>
              <a:rPr lang="en-US" b="1" dirty="0" smtClean="0"/>
              <a:t>Platform-independent</a:t>
            </a:r>
            <a:r>
              <a:rPr lang="en-US" dirty="0" smtClean="0"/>
              <a:t> → Can be implemented in any programming language, database, or technology later.</a:t>
            </a:r>
          </a:p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30" name="Google Shape;23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6032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6639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4856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3105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0582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Reference link</a:t>
            </a:r>
            <a:r>
              <a:rPr lang="en-US"/>
              <a:t>: https://www.tatvasoft.com/blog/top-12-software-development-methodologies-and-its-advantages-disadvantages/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659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57309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4329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reliability is the probability of failure-free operation of a computer program for a specified period in a specified environment</a:t>
            </a:r>
            <a:endParaRPr/>
          </a:p>
        </p:txBody>
      </p:sp>
      <p:sp>
        <p:nvSpPr>
          <p:cNvPr id="201" name="Google Shape;20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9670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goal of the OMG was a common portable and interoperable object model with methods and data that work using all types of development environments on all types of platforms.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87529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17143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88477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7" name="Google Shape;51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86455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4" name="Google Shape;52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0556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59416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9" name="Google Shape;53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3090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59485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Academic System Flex, ATM, Air Reservation System</a:t>
            </a:r>
          </a:p>
          <a:p>
            <a:r>
              <a:rPr lang="en-US" altLang="en-US" smtClean="0"/>
              <a:t>System should be full of relevant information for you</a:t>
            </a:r>
          </a:p>
          <a:p>
            <a:endParaRPr lang="en-US" altLang="en-US" smtClean="0"/>
          </a:p>
          <a:p>
            <a:r>
              <a:rPr lang="en-US" altLang="en-US" smtClean="0"/>
              <a:t>Involve yourself in a system, feel, observe and analyze about it.</a:t>
            </a:r>
          </a:p>
          <a:p>
            <a:r>
              <a:rPr lang="en-US" altLang="en-US" smtClean="0"/>
              <a:t>How booking is managed?</a:t>
            </a:r>
          </a:p>
          <a:p>
            <a:r>
              <a:rPr lang="en-US" altLang="en-US" smtClean="0"/>
              <a:t>How treatments, diagnosis and issue medicines are managed?</a:t>
            </a:r>
          </a:p>
          <a:p>
            <a:r>
              <a:rPr lang="en-US" altLang="en-US" smtClean="0"/>
              <a:t>How manufacturing status is monitored?</a:t>
            </a:r>
          </a:p>
          <a:p>
            <a:endParaRPr lang="en-US" altLang="en-US" smtClean="0"/>
          </a:p>
          <a:p>
            <a:r>
              <a:rPr lang="en-US" altLang="en-US" smtClean="0"/>
              <a:t>System is a set of methods, procedures, practices and technology</a:t>
            </a: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EC1D4E-2881-464C-A0D3-051041BB0E6C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83827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Roboto" panose="020B0604020202020204" charset="0"/>
              </a:rPr>
              <a:t>Methodologies for getting information can be Waterfall Model, Agile Development, Object Oriented Approach, ER-Design, ERP etc.</a:t>
            </a:r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C11DAB-04D0-4D16-9D4E-6B56C9E94964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41361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A System is introduced in some organization, Information need to be implemented by flowing information</a:t>
            </a: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27AA5F-8CE2-48FE-B9EB-566E9BAFB2B2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94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COE does not have time to see information such as all invoices</a:t>
            </a:r>
          </a:p>
          <a:p>
            <a:r>
              <a:rPr lang="en-US" altLang="en-US" smtClean="0"/>
              <a:t>Director does not need list of vouchers of fee of every student. Director only need total fee collected for a particular semester. He may need comparison values</a:t>
            </a:r>
          </a:p>
          <a:p>
            <a:r>
              <a:rPr lang="en-US" altLang="en-US" smtClean="0"/>
              <a:t>Information about Customer, Supplier, Accounting, Grading etc.</a:t>
            </a:r>
          </a:p>
          <a:p>
            <a:r>
              <a:rPr lang="en-US" altLang="en-US" smtClean="0"/>
              <a:t>ESS: Executive Support system, </a:t>
            </a:r>
          </a:p>
          <a:p>
            <a:r>
              <a:rPr lang="en-US" altLang="en-US" smtClean="0"/>
              <a:t>DSS: Decision Support System</a:t>
            </a:r>
          </a:p>
          <a:p>
            <a:r>
              <a:rPr lang="en-US" altLang="en-US" smtClean="0"/>
              <a:t>KWS: Knowledge Work System</a:t>
            </a:r>
          </a:p>
          <a:p>
            <a:r>
              <a:rPr lang="en-US" altLang="en-US" smtClean="0"/>
              <a:t>OLTP: Online Transaction Processing</a:t>
            </a:r>
          </a:p>
          <a:p>
            <a:endParaRPr lang="en-US" altLang="en-US" smtClean="0"/>
          </a:p>
          <a:p>
            <a:r>
              <a:rPr lang="en-US" altLang="en-US" smtClean="0"/>
              <a:t>Search for CS507 online lecture about IS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1B2DF2-2F7C-4870-B427-0F246B100534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44368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Can we say DB system lies under principles of IS?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E06449-340E-4C5F-9303-B51DC6B00420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84990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Timelines: On time, without delay</a:t>
            </a:r>
          </a:p>
          <a:p>
            <a:r>
              <a:rPr lang="en-US" altLang="en-US" smtClean="0"/>
              <a:t>Information are relevant to your need. From Academic system, salary details cannot be obtained</a:t>
            </a:r>
          </a:p>
          <a:p>
            <a:r>
              <a:rPr lang="en-US" altLang="en-US" smtClean="0"/>
              <a:t>Take the decisions to lowest level, why a data entry operator enters data for higher management. Entering attendance for exam sittings</a:t>
            </a:r>
          </a:p>
          <a:p>
            <a:r>
              <a:rPr lang="en-US" altLang="en-US" smtClean="0"/>
              <a:t>Global Village: Business need. Place an order on internet and get pricing, then goods are delivered to me from abroad seamless. Information are passed on very frequently.</a:t>
            </a:r>
          </a:p>
          <a:p>
            <a:r>
              <a:rPr lang="en-US" altLang="en-US" smtClean="0"/>
              <a:t>Find the status of order online-automated</a:t>
            </a:r>
          </a:p>
          <a:p>
            <a:endParaRPr lang="en-US" altLang="en-US" smtClean="0"/>
          </a:p>
          <a:p>
            <a:r>
              <a:rPr lang="en-US" altLang="en-US" smtClean="0"/>
              <a:t>Business need means: In academic system, students need to view their own grades, marks and transcript. Status of reg, offered courses etc.</a:t>
            </a: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7B86A3-2EA4-4191-9A58-5ED189DBFFC4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252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2844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49557" y="1"/>
            <a:ext cx="12241556" cy="6857999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864844" y="204227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411621" y="3933699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71"/>
              <a:buFont typeface="Twentieth Century"/>
              <a:buNone/>
              <a:defRPr sz="3971" b="0" i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1388502" y="1900907"/>
            <a:ext cx="4068618" cy="43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07924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2824"/>
              <a:buChar char="•"/>
              <a:defRPr sz="2824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2"/>
          </p:nvPr>
        </p:nvSpPr>
        <p:spPr>
          <a:xfrm>
            <a:off x="6280117" y="1434662"/>
            <a:ext cx="4674368" cy="24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29438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Clr>
                <a:schemeClr val="dk1"/>
              </a:buClr>
              <a:buSzPts val="1588"/>
              <a:buChar char="•"/>
              <a:defRPr sz="1588" b="1" i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33619" marR="0" lvl="0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3619" marR="0" lvl="1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3619" marR="0" lvl="2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3619" marR="0" lvl="3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3619" marR="0" lvl="4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619" marR="0" lvl="5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3619" marR="0" lvl="6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619" marR="0" lvl="7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619" marR="0" lvl="8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361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71"/>
              <a:buFont typeface="Twentieth Century"/>
              <a:buNone/>
              <a:defRPr sz="3971" b="0" i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33619" marR="0" lvl="0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3619" marR="0" lvl="1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3619" marR="0" lvl="2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3619" marR="0" lvl="3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3619" marR="0" lvl="4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619" marR="0" lvl="5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3619" marR="0" lvl="6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619" marR="0" lvl="7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619" marR="0" lvl="8" indent="0" algn="r">
              <a:lnSpc>
                <a:spcPct val="1186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9"/>
              <a:buFont typeface="Arial"/>
              <a:buNone/>
              <a:defRPr sz="1059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361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überschrift" type="secHead">
  <p:cSld name="Abschnittsüberschrif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349941" y="64008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954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43726" y="492102"/>
            <a:ext cx="7104548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1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/>
            <a:r>
              <a:rPr lang="en-US" smtClean="0"/>
              <a:t>Object</a:t>
            </a:r>
            <a:r>
              <a:rPr lang="en-US" spc="-40" smtClean="0"/>
              <a:t> </a:t>
            </a:r>
            <a:r>
              <a:rPr lang="en-US" smtClean="0"/>
              <a:t>Oriented</a:t>
            </a:r>
            <a:r>
              <a:rPr lang="en-US" spc="-50" smtClean="0"/>
              <a:t> </a:t>
            </a:r>
            <a:r>
              <a:rPr lang="en-US" spc="-5" smtClean="0"/>
              <a:t>Analysis</a:t>
            </a:r>
            <a:r>
              <a:rPr lang="en-US" spc="-10" smtClean="0"/>
              <a:t> </a:t>
            </a:r>
            <a:r>
              <a:rPr lang="en-US" smtClean="0"/>
              <a:t>and</a:t>
            </a:r>
            <a:r>
              <a:rPr lang="en-US" spc="-5" smtClean="0"/>
              <a:t> Design,</a:t>
            </a:r>
            <a:r>
              <a:rPr lang="en-US" spc="-15" smtClean="0"/>
              <a:t> </a:t>
            </a:r>
            <a:r>
              <a:rPr lang="en-US" spc="-5" smtClean="0"/>
              <a:t>OOAD,</a:t>
            </a:r>
            <a:r>
              <a:rPr lang="en-US" spc="-30" smtClean="0"/>
              <a:t> </a:t>
            </a:r>
            <a:r>
              <a:rPr lang="en-US" smtClean="0"/>
              <a:t>Fall</a:t>
            </a:r>
            <a:r>
              <a:rPr lang="en-US" spc="-10" smtClean="0"/>
              <a:t> </a:t>
            </a:r>
            <a:r>
              <a:rPr lang="en-US" smtClean="0"/>
              <a:t>2018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4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70" r:id="rId5"/>
    <p:sldLayoutId id="214748367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.ahmed@nu.edu.p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mailto:javaria.imtiaz@nu.edu.pk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tional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mg.or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ctrTitle"/>
          </p:nvPr>
        </p:nvSpPr>
        <p:spPr>
          <a:xfrm>
            <a:off x="914400" y="1875674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-US"/>
              <a:t>Software Design and Analysis</a:t>
            </a:r>
            <a:br>
              <a:rPr lang="en-US"/>
            </a:br>
            <a:r>
              <a:rPr lang="en-US"/>
              <a:t>CS-3004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ubTitle" idx="1"/>
          </p:nvPr>
        </p:nvSpPr>
        <p:spPr>
          <a:xfrm>
            <a:off x="7385306" y="5636944"/>
            <a:ext cx="4545105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Dr. </a:t>
            </a:r>
            <a:r>
              <a:rPr lang="en-US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Ejaz Ahmed,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Mr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Majid Hussain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Contact Details</a:t>
            </a:r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325718" y="1600201"/>
            <a:ext cx="1074868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324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Helvetica Neue"/>
                <a:ea typeface="Helvetica Neue"/>
                <a:cs typeface="Helvetica Neue"/>
                <a:sym typeface="Helvetica Neue"/>
              </a:rPr>
              <a:t>Dr</a:t>
            </a:r>
            <a:r>
              <a:rPr lang="en-US" b="1" dirty="0" smtClean="0">
                <a:latin typeface="Helvetica Neue"/>
                <a:ea typeface="Helvetica Neue"/>
                <a:cs typeface="Helvetica Neue"/>
                <a:sym typeface="Helvetica Neue"/>
              </a:rPr>
              <a:t>. Ejaz Ahmed</a:t>
            </a:r>
            <a:endParaRPr dirty="0"/>
          </a:p>
          <a:p>
            <a:pPr marL="742950" lvl="1" indent="-2762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Email: </a:t>
            </a:r>
            <a:r>
              <a:rPr lang="en-US" u="sng" dirty="0" smtClean="0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ejaz</a:t>
            </a:r>
            <a:r>
              <a:rPr lang="en-US" u="sng" dirty="0" smtClean="0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.ahmed@nu.edu.pk</a:t>
            </a: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762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Office: Room 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(C-203E, 2</a:t>
            </a:r>
            <a:r>
              <a:rPr lang="en-US" baseline="30000" dirty="0" smtClean="0">
                <a:latin typeface="Helvetica Neue"/>
                <a:ea typeface="Helvetica Neue"/>
                <a:cs typeface="Helvetica Neue"/>
                <a:sym typeface="Helvetica Neue"/>
              </a:rPr>
              <a:t>nd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 Floor 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Computer Science Block C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), Ext 634</a:t>
            </a:r>
            <a:endParaRPr dirty="0"/>
          </a:p>
          <a:p>
            <a:pPr marL="342900" lvl="0" indent="-332422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 smtClean="0">
                <a:latin typeface="Helvetica Neue"/>
                <a:ea typeface="Helvetica Neue"/>
                <a:cs typeface="Helvetica Neue"/>
                <a:sym typeface="Helvetica Neue"/>
              </a:rPr>
              <a:t>Mr</a:t>
            </a:r>
            <a:r>
              <a:rPr lang="en-US" b="1" dirty="0">
                <a:latin typeface="Helvetica Neue"/>
                <a:ea typeface="Helvetica Neue"/>
                <a:cs typeface="Helvetica Neue"/>
                <a:sym typeface="Helvetica Neue"/>
              </a:rPr>
              <a:t>. Majid Hussain</a:t>
            </a:r>
            <a:endParaRPr dirty="0"/>
          </a:p>
          <a:p>
            <a:pPr marL="742950" lvl="1" indent="-2762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Email: </a:t>
            </a:r>
            <a:r>
              <a:rPr lang="en-US" u="sng" dirty="0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majid.hussain@nu.edu.pk</a:t>
            </a: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762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Office: Room 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(D-110C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baseline="30000" dirty="0" smtClean="0">
                <a:latin typeface="Helvetica Neue"/>
                <a:ea typeface="Helvetica Neue"/>
                <a:cs typeface="Helvetica Neue"/>
                <a:sym typeface="Helvetica Neue"/>
              </a:rPr>
              <a:t>st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Floor Computer Science Block 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D)</a:t>
            </a:r>
            <a:endParaRPr dirty="0"/>
          </a:p>
          <a:p>
            <a:pPr marL="342900" lvl="0" indent="-332422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 smtClean="0">
                <a:latin typeface="Helvetica Neue"/>
                <a:ea typeface="Helvetica Neue"/>
                <a:cs typeface="Helvetica Neue"/>
                <a:sym typeface="Helvetica Neue"/>
              </a:rPr>
              <a:t>Miscellaneous</a:t>
            </a:r>
            <a:endParaRPr dirty="0"/>
          </a:p>
          <a:p>
            <a:pPr marL="742950" lvl="1" indent="-2762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Office Hours: Will be Displayed outside my office. </a:t>
            </a:r>
            <a:endParaRPr dirty="0"/>
          </a:p>
          <a:p>
            <a:pPr marL="742950" lvl="1" indent="-2762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2 Classes of 1.5 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hours each</a:t>
            </a:r>
            <a:endParaRPr dirty="0"/>
          </a:p>
          <a:p>
            <a:pPr marL="742950" lvl="1" indent="-158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148" name="Google Shape;148;p27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270150">
            <a:off x="9239361" y="609089"/>
            <a:ext cx="2276941" cy="2272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645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About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Me, Dr. </a:t>
            </a:r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Ejaz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Ahmed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0490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Associate Professor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Education</a:t>
            </a:r>
          </a:p>
          <a:p>
            <a:pPr lvl="1"/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PhD(CS)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University of Bedfordshire, UK</a:t>
            </a: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2"/>
            <a:r>
              <a:rPr lang="en-US"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Research Area – Databases, Software Architecture, Data Mining, IS</a:t>
            </a:r>
          </a:p>
          <a:p>
            <a:pPr lvl="1"/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MS(CS) – Coventry University, UK</a:t>
            </a:r>
          </a:p>
          <a:p>
            <a:pPr lvl="1"/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MPhil: Quaid-E-</a:t>
            </a:r>
            <a:r>
              <a:rPr lang="en-US" sz="18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Azam</a:t>
            </a:r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University, Islamabad</a:t>
            </a:r>
          </a:p>
          <a:p>
            <a:pPr lvl="1"/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MSc(</a:t>
            </a:r>
            <a:r>
              <a:rPr lang="en-US" sz="18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Maths</a:t>
            </a:r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n-US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Punjab University, Lahore</a:t>
            </a: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Teaching Experience - NU-FAST, Islamabad (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2012)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Database Systems, 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Software Engineering, </a:t>
            </a:r>
            <a:r>
              <a:rPr 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Data Warehousing, Programming Fundaments, Object 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Oriented Analysis and </a:t>
            </a:r>
            <a:r>
              <a:rPr 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Design(OOAD)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Industry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Experience -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(15 years)</a:t>
            </a:r>
          </a:p>
          <a:p>
            <a:pPr lvl="1"/>
            <a:r>
              <a:rPr lang="en-US"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PRAL, Saudi Aramco, GlaxoSmithKline (GSK Canada), Delano Tech Canada</a:t>
            </a:r>
          </a:p>
          <a:p>
            <a:pPr lvl="1"/>
            <a:r>
              <a:rPr lang="en-US"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Technical Project Manager, Team Lead, Principal/senior software engineer</a:t>
            </a:r>
          </a:p>
          <a:p>
            <a:pPr lvl="1"/>
            <a:r>
              <a:rPr lang="en-US"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C++, Oracle, JavaScript, SAP, VB</a:t>
            </a:r>
            <a:endParaRPr 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</p:spPr>
        <p:txBody>
          <a:bodyPr/>
          <a:lstStyle/>
          <a:p>
            <a:fld id="{BA28652E-AACC-B249-B75B-9215B21BC295}" type="slidenum">
              <a:rPr lang="en-US" smtClean="0">
                <a:latin typeface="Helvetica" panose="020B0604020202020204" pitchFamily="34" charset="0"/>
                <a:cs typeface="Helvetica" panose="020B0604020202020204" pitchFamily="34" charset="0"/>
              </a:rPr>
              <a:pPr/>
              <a:t>3</a:t>
            </a:fld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46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Introduction to the Course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Course Objectives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Why this course is important for you?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Course Contents and Structure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Course Project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 sz="4400">
                <a:latin typeface="Helvetica Neue"/>
                <a:ea typeface="Helvetica Neue"/>
                <a:cs typeface="Helvetica Neue"/>
                <a:sym typeface="Helvetica Neue"/>
              </a:rPr>
              <a:t>Course Structure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4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Follow Course Outlines/ Syllabus NCEAC format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lang="en-US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Hour Course (More applied than you think)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No labs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Programming Language and Tools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Java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UML Case tools like Enterprise Architect, </a:t>
            </a:r>
            <a:r>
              <a:rPr lang="en-US" sz="1800" dirty="0" smtClean="0">
                <a:latin typeface="Helvetica Neue"/>
                <a:ea typeface="Helvetica Neue"/>
                <a:cs typeface="Helvetica Neue"/>
                <a:sym typeface="Helvetica Neue"/>
              </a:rPr>
              <a:t>Papyrus, draw.io 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etc.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 Project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Vital and major component of the course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Group of </a:t>
            </a:r>
            <a:r>
              <a:rPr lang="en-US" sz="1800" dirty="0" smtClean="0">
                <a:latin typeface="Helvetica Neue"/>
                <a:ea typeface="Helvetica Neue"/>
                <a:cs typeface="Helvetica Neue"/>
                <a:sym typeface="Helvetica Neue"/>
              </a:rPr>
              <a:t>(2) 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students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Weekly </a:t>
            </a:r>
            <a:r>
              <a:rPr lang="en-US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</a:t>
            </a:r>
          </a:p>
          <a:p>
            <a:pPr marL="800100" lvl="1" indent="-342900">
              <a:buClr>
                <a:schemeClr val="dk2"/>
              </a:buClr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Coding 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Tasks</a:t>
            </a:r>
            <a:endParaRPr lang="en-US" dirty="0" smtClean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dirty="0" smtClean="0">
                <a:solidFill>
                  <a:schemeClr val="dk2"/>
                </a:solidFill>
                <a:latin typeface="Helvetica Neue"/>
                <a:sym typeface="Helvetica Neue"/>
              </a:rPr>
              <a:t>Book Reading/ Self studying topics - Quizzes</a:t>
            </a:r>
            <a:endParaRPr dirty="0"/>
          </a:p>
        </p:txBody>
      </p:sp>
      <p:sp>
        <p:nvSpPr>
          <p:cNvPr id="255" name="Google Shape;255;p41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118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Textbooks and Supplementary Reading List</a:t>
            </a:r>
            <a:endParaRPr/>
          </a:p>
        </p:txBody>
      </p:sp>
      <p:sp>
        <p:nvSpPr>
          <p:cNvPr id="276" name="Google Shape;276;p4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6674" lvl="0" indent="-15240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Text Book(s)</a:t>
            </a:r>
            <a:endParaRPr/>
          </a:p>
          <a:p>
            <a:pPr marL="499248" lvl="1" indent="-152967" algn="just" rtl="0">
              <a:lnSpc>
                <a:spcPct val="10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Craig Larman, </a:t>
            </a:r>
            <a:r>
              <a:rPr lang="en-US" sz="1800" u="sng">
                <a:latin typeface="Helvetica Neue"/>
                <a:ea typeface="Helvetica Neue"/>
                <a:cs typeface="Helvetica Neue"/>
                <a:sym typeface="Helvetica Neue"/>
              </a:rPr>
              <a:t>Applying UML and Patterns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, 3</a:t>
            </a:r>
            <a:r>
              <a:rPr lang="en-US" sz="1800" baseline="30000">
                <a:latin typeface="Helvetica Neue"/>
                <a:ea typeface="Helvetica Neue"/>
                <a:cs typeface="Helvetica Neue"/>
                <a:sym typeface="Helvetica Neue"/>
              </a:rPr>
              <a:t>rd 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edition, 2004.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99248" marR="63317" lvl="1" indent="-152408" algn="just" rtl="0">
              <a:lnSpc>
                <a:spcPct val="95055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Bernd Bruegge, Allen H. Dutoit, </a:t>
            </a:r>
            <a:r>
              <a:rPr lang="en-US" sz="1800" u="sng">
                <a:latin typeface="Helvetica Neue"/>
                <a:ea typeface="Helvetica Neue"/>
                <a:cs typeface="Helvetica Neue"/>
                <a:sym typeface="Helvetica Neue"/>
              </a:rPr>
              <a:t>Object-Oriented Software Engineering, using  UML, Patterns, and Java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99248" lvl="1" indent="-152967" algn="just" rtl="0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UML 2 Toolkit Published by Wiley Publishing, Inc.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99248" lvl="1" indent="-152967" algn="just" rtl="0">
              <a:lnSpc>
                <a:spcPct val="100000"/>
              </a:lnSpc>
              <a:spcBef>
                <a:spcPts val="17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UML 2.0, Documentat</a:t>
            </a:r>
            <a:r>
              <a:rPr lang="en-US" sz="1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ion:www.rational.com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499248" lvl="1" indent="-38667" algn="just" rtl="0">
              <a:lnSpc>
                <a:spcPct val="100000"/>
              </a:lnSpc>
              <a:spcBef>
                <a:spcPts val="17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0858" lvl="0" indent="-114300" algn="just" rtl="0">
              <a:lnSpc>
                <a:spcPct val="100000"/>
              </a:lnSpc>
              <a:spcBef>
                <a:spcPts val="5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Additional Reading List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99248" marR="38102" lvl="1" indent="-152408" algn="just" rtl="0">
              <a:lnSpc>
                <a:spcPct val="95055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Unified Modeling Language: Superstructure, version 2.1.2, formal/07-11-02,  OMG,</a:t>
            </a:r>
            <a:r>
              <a:rPr lang="en-US" sz="1800">
                <a:solidFill>
                  <a:srgbClr val="0562C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www.omg.org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165100" algn="just" rtl="0">
              <a:lnSpc>
                <a:spcPct val="100000"/>
              </a:lnSpc>
              <a:spcBef>
                <a:spcPts val="26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8308" lvl="0" indent="-214042" algn="just" rtl="0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Available in the Library/E-Book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p44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006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603962"/>
            <a:ext cx="8153400" cy="615553"/>
          </a:xfrm>
        </p:spPr>
        <p:txBody>
          <a:bodyPr/>
          <a:lstStyle/>
          <a:p>
            <a:r>
              <a:rPr lang="en-US" sz="4000" dirty="0">
                <a:latin typeface="+mn-lt"/>
                <a:cs typeface="Helvetica" panose="020B0604020202020204" pitchFamily="34" charset="0"/>
              </a:rPr>
              <a:t>Software use during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9290" y="1539535"/>
            <a:ext cx="6721025" cy="4245445"/>
          </a:xfrm>
        </p:spPr>
        <p:txBody>
          <a:bodyPr/>
          <a:lstStyle/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UML  (</a:t>
            </a:r>
            <a:r>
              <a:rPr lang="en-US" sz="2400" dirty="0" smtClean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Designing/Modelling </a:t>
            </a:r>
            <a:r>
              <a:rPr lang="en-US" sz="24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Standard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Papyrus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2400" dirty="0" smtClean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Design/Modelling </a:t>
            </a:r>
            <a:r>
              <a:rPr lang="en-US" sz="24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tool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Enterprise Architect(</a:t>
            </a:r>
            <a:r>
              <a:rPr lang="en-US" sz="24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Design/Modelling </a:t>
            </a:r>
            <a:r>
              <a:rPr lang="en-US" sz="2400" dirty="0" smtClean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tool</a:t>
            </a:r>
            <a:r>
              <a:rPr lang="en-US" sz="2400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Draw.io(</a:t>
            </a:r>
            <a:r>
              <a:rPr lang="en-US" sz="24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Design/Modelling </a:t>
            </a:r>
            <a:r>
              <a:rPr lang="en-US" sz="2400" dirty="0" smtClean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tool</a:t>
            </a:r>
            <a:r>
              <a:rPr lang="en-US" sz="2400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lang="en-US" sz="2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Eclipse IDE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2400" dirty="0" smtClean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Java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Development </a:t>
            </a:r>
            <a:r>
              <a:rPr lang="en-US" sz="24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IDE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141" y="1436327"/>
            <a:ext cx="1873762" cy="12493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759" y="5600516"/>
            <a:ext cx="2971800" cy="690224"/>
          </a:xfrm>
          <a:prstGeom prst="rect">
            <a:avLst/>
          </a:prstGeom>
        </p:spPr>
      </p:pic>
      <p:pic>
        <p:nvPicPr>
          <p:cNvPr id="2050" name="Picture 2" descr="Papyrus (software)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74" y="3252220"/>
            <a:ext cx="2555875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raw io Vector Logo - Download Free SVG Icon | Worldvector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434" y="3396911"/>
            <a:ext cx="1847850" cy="1418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erprise Architect | Brands of the World™ | Download vector logos and  logotyp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774" y="1402791"/>
            <a:ext cx="1857375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36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Some Rules</a:t>
            </a:r>
            <a:endParaRPr/>
          </a:p>
        </p:txBody>
      </p:sp>
      <p:sp>
        <p:nvSpPr>
          <p:cNvPr id="284" name="Google Shape;284;p45"/>
          <p:cNvSpPr txBox="1">
            <a:spLocks noGrp="1"/>
          </p:cNvSpPr>
          <p:nvPr>
            <p:ph type="body" idx="1"/>
          </p:nvPr>
        </p:nvSpPr>
        <p:spPr>
          <a:xfrm>
            <a:off x="521074" y="1676401"/>
            <a:ext cx="10657914" cy="465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Raise your hand before asking any question </a:t>
            </a:r>
            <a:endParaRPr/>
          </a:p>
          <a:p>
            <a:pPr marL="457200" lvl="1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Don’t miss a class</a:t>
            </a:r>
            <a:endParaRPr/>
          </a:p>
          <a:p>
            <a:pPr marL="1143000" lvl="2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No retakes (except for Mid or Final Exam)</a:t>
            </a:r>
            <a:endParaRPr/>
          </a:p>
          <a:p>
            <a:pPr marL="1143000" lvl="2" indent="-12700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Don’t “sleep” in the class</a:t>
            </a:r>
            <a:endParaRPr/>
          </a:p>
          <a:p>
            <a:pPr marL="1143000" lvl="2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You might miss a quiz ☹</a:t>
            </a:r>
            <a:endParaRPr/>
          </a:p>
          <a:p>
            <a:pPr marL="1143000" lvl="2" indent="-16510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Avoid using mobile phone in the class</a:t>
            </a:r>
            <a:endParaRPr/>
          </a:p>
          <a:p>
            <a:pPr marL="742950" lvl="1" indent="-19685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–"/>
            </a:pPr>
            <a:r>
              <a:rPr lang="en-US" sz="1800" b="1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Above all, whatever you do, please do not disturb others 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45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557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</a:pPr>
            <a:r>
              <a:rPr lang="en-US" sz="3600">
                <a:latin typeface="Helvetica Neue"/>
                <a:ea typeface="Helvetica Neue"/>
                <a:cs typeface="Helvetica Neue"/>
                <a:sym typeface="Helvetica Neue"/>
              </a:rPr>
              <a:t>Attendance Policy</a:t>
            </a:r>
            <a:endParaRPr/>
          </a:p>
        </p:txBody>
      </p:sp>
      <p:sp>
        <p:nvSpPr>
          <p:cNvPr id="292" name="Google Shape;292;p46"/>
          <p:cNvSpPr txBox="1">
            <a:spLocks noGrp="1"/>
          </p:cNvSpPr>
          <p:nvPr>
            <p:ph type="body" idx="1"/>
          </p:nvPr>
        </p:nvSpPr>
        <p:spPr>
          <a:xfrm>
            <a:off x="709332" y="1766047"/>
            <a:ext cx="10460691" cy="465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Attendance will be taken at the beginning of the lecture</a:t>
            </a:r>
            <a:endParaRPr/>
          </a:p>
          <a:p>
            <a:pPr marL="742950" lvl="1" indent="-22225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–"/>
            </a:pPr>
            <a:r>
              <a:rPr lang="en-US" sz="1800" b="1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80% attendance is mandatory </a:t>
            </a:r>
            <a:endParaRPr/>
          </a:p>
          <a:p>
            <a:pPr marL="742950" lvl="1" indent="-215900" algn="just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Students coming late will be marked as </a:t>
            </a:r>
            <a:r>
              <a:rPr lang="en-US" sz="1800" b="1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18415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2 late arrivals are equal to an absent</a:t>
            </a:r>
            <a:endParaRPr/>
          </a:p>
          <a:p>
            <a:pPr marL="742950" lvl="1" indent="-1714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46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4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>
            <a:spLocks noGrp="1"/>
          </p:cNvSpPr>
          <p:nvPr>
            <p:ph type="body" idx="1"/>
          </p:nvPr>
        </p:nvSpPr>
        <p:spPr>
          <a:xfrm>
            <a:off x="609599" y="1882776"/>
            <a:ext cx="10578353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All parties involved in any kind of cheating in (Quizzes, Assignments &amp; Projects) will get </a:t>
            </a:r>
            <a:r>
              <a:rPr lang="en-US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ZERO 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in that exam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Plagiarism in midterm/ final exam may result in </a:t>
            </a:r>
            <a:r>
              <a:rPr lang="en-US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grade 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in the course</a:t>
            </a:r>
            <a:endParaRPr/>
          </a:p>
          <a:p>
            <a:pPr marL="342900" lvl="0" indent="-266700" algn="just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Habitual cases will be awarded F</a:t>
            </a:r>
            <a:endParaRPr/>
          </a:p>
          <a:p>
            <a:pPr marL="3429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1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0" name="Google Shape;300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4083" y="3543208"/>
            <a:ext cx="3175000" cy="25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Dishonesty, Plagiarism</a:t>
            </a:r>
            <a:endParaRPr/>
          </a:p>
        </p:txBody>
      </p:sp>
      <p:sp>
        <p:nvSpPr>
          <p:cNvPr id="302" name="Google Shape;302;p47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371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>
            <a:spLocks noGrp="1"/>
          </p:cNvSpPr>
          <p:nvPr>
            <p:ph type="title"/>
          </p:nvPr>
        </p:nvSpPr>
        <p:spPr>
          <a:xfrm>
            <a:off x="609600" y="24664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Google Classroom Code</a:t>
            </a:r>
            <a:endParaRPr/>
          </a:p>
        </p:txBody>
      </p:sp>
      <p:sp>
        <p:nvSpPr>
          <p:cNvPr id="309" name="Google Shape;309;p48"/>
          <p:cNvSpPr txBox="1">
            <a:spLocks noGrp="1"/>
          </p:cNvSpPr>
          <p:nvPr>
            <p:ph type="body" idx="1"/>
          </p:nvPr>
        </p:nvSpPr>
        <p:spPr>
          <a:xfrm>
            <a:off x="609600" y="1147665"/>
            <a:ext cx="10972800" cy="562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Clr>
                <a:srgbClr val="0070C0"/>
              </a:buClr>
              <a:buSzPts val="9600"/>
              <a:buNone/>
            </a:pPr>
            <a:r>
              <a:rPr lang="en-US" sz="9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jskxdtai</a:t>
            </a:r>
            <a:endParaRPr sz="9600" dirty="0">
              <a:solidFill>
                <a:schemeClr val="bg2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8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44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Lecture Format</a:t>
            </a:r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Start with Q &amp; 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Main Lecture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No short breaks in the middle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Practice sessions on various case studies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Designing/Modelling of software artifacts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Translation of design artifacts into code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fld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6891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676CDB-18CC-83C8-8C20-37BB356A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82" y="-68259"/>
            <a:ext cx="12101804" cy="947027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Why this course is important for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415D1E-A478-AFFA-F0C1-F617337A772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30694" y="5975760"/>
            <a:ext cx="10972800" cy="4525963"/>
          </a:xfrm>
        </p:spPr>
        <p:txBody>
          <a:bodyPr/>
          <a:lstStyle/>
          <a:p>
            <a:pPr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Provide you with skills needed to get good jobs</a:t>
            </a:r>
          </a:p>
          <a:p>
            <a:pPr algn="just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B311A8F-D01B-9A87-550F-580D68F62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649034"/>
            <a:ext cx="2486025" cy="764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CC554164-EF85-7ECE-A5BC-DB0AFE998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3371851"/>
            <a:ext cx="6029325" cy="2514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E937A5E-7C4A-8B06-52B3-06AB084E1AFD}"/>
              </a:ext>
            </a:extLst>
          </p:cNvPr>
          <p:cNvSpPr/>
          <p:nvPr/>
        </p:nvSpPr>
        <p:spPr>
          <a:xfrm>
            <a:off x="4080165" y="3849832"/>
            <a:ext cx="1776845" cy="28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1CBFF83-BC57-64D6-769B-C762777ADA64}"/>
              </a:ext>
            </a:extLst>
          </p:cNvPr>
          <p:cNvSpPr/>
          <p:nvPr/>
        </p:nvSpPr>
        <p:spPr>
          <a:xfrm>
            <a:off x="1981201" y="4584664"/>
            <a:ext cx="3688773" cy="28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FFB3551-AAC5-F0E2-657D-B706F1E17465}"/>
              </a:ext>
            </a:extLst>
          </p:cNvPr>
          <p:cNvSpPr/>
          <p:nvPr/>
        </p:nvSpPr>
        <p:spPr>
          <a:xfrm>
            <a:off x="4236028" y="5164282"/>
            <a:ext cx="3688773" cy="28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FCDB12D9-6AB0-7528-1E38-B12FC62EB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414" y="2483103"/>
            <a:ext cx="2828925" cy="7358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25517471-34A5-0983-4FB0-BA29E8554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140" y="3192338"/>
            <a:ext cx="5479256" cy="23360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BF1189EC-8B3C-653F-973E-7E417812079F}"/>
              </a:ext>
            </a:extLst>
          </p:cNvPr>
          <p:cNvSpPr/>
          <p:nvPr/>
        </p:nvSpPr>
        <p:spPr>
          <a:xfrm>
            <a:off x="4822141" y="4276888"/>
            <a:ext cx="1776845" cy="182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53D440B9-3646-D6D9-F887-66C6A8C04DC7}"/>
              </a:ext>
            </a:extLst>
          </p:cNvPr>
          <p:cNvSpPr/>
          <p:nvPr/>
        </p:nvSpPr>
        <p:spPr>
          <a:xfrm>
            <a:off x="4822140" y="4576603"/>
            <a:ext cx="2831198" cy="182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17ACE33F-EEAF-2F6F-CBF7-1FF4C7EB6AC1}"/>
              </a:ext>
            </a:extLst>
          </p:cNvPr>
          <p:cNvSpPr/>
          <p:nvPr/>
        </p:nvSpPr>
        <p:spPr>
          <a:xfrm>
            <a:off x="4863867" y="5338770"/>
            <a:ext cx="1735119" cy="1895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541CCDC6-39A2-7977-C6BF-86173E5372AE}"/>
              </a:ext>
            </a:extLst>
          </p:cNvPr>
          <p:cNvSpPr/>
          <p:nvPr/>
        </p:nvSpPr>
        <p:spPr>
          <a:xfrm>
            <a:off x="7511925" y="5325366"/>
            <a:ext cx="767790" cy="1895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10D792F0-F97C-42A3-46E8-20C27215F1CE}"/>
              </a:ext>
            </a:extLst>
          </p:cNvPr>
          <p:cNvSpPr/>
          <p:nvPr/>
        </p:nvSpPr>
        <p:spPr>
          <a:xfrm>
            <a:off x="4843003" y="3974146"/>
            <a:ext cx="2541470" cy="175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2048F19F-3FA6-9872-E65E-B0BC1794F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9817" y="1046295"/>
            <a:ext cx="1507331" cy="5643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8A2087EC-675D-6A58-5BEC-097CFE5B54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817" y="1594520"/>
            <a:ext cx="4500563" cy="250031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021AFCF6-DA65-0D39-710C-5F8A7AEBADE1}"/>
              </a:ext>
            </a:extLst>
          </p:cNvPr>
          <p:cNvSpPr/>
          <p:nvPr/>
        </p:nvSpPr>
        <p:spPr>
          <a:xfrm>
            <a:off x="1981200" y="1894154"/>
            <a:ext cx="4339178" cy="461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80051007-7E2F-819A-AAEC-F51693EE22A4}"/>
              </a:ext>
            </a:extLst>
          </p:cNvPr>
          <p:cNvSpPr/>
          <p:nvPr/>
        </p:nvSpPr>
        <p:spPr>
          <a:xfrm>
            <a:off x="1981200" y="2776905"/>
            <a:ext cx="3408219" cy="2881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C42F500-808E-CDE3-2F3A-4E9623D787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3114" y="960569"/>
            <a:ext cx="1564481" cy="7358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="" xmlns:a16="http://schemas.microsoft.com/office/drawing/2014/main" id="{CEA2FB71-77BF-1501-E500-F6794C1C0C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1623" y="1644526"/>
            <a:ext cx="4500563" cy="245030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AD52F371-DA53-0E35-19D3-5330E3DF7329}"/>
              </a:ext>
            </a:extLst>
          </p:cNvPr>
          <p:cNvSpPr/>
          <p:nvPr/>
        </p:nvSpPr>
        <p:spPr>
          <a:xfrm>
            <a:off x="6113738" y="1920023"/>
            <a:ext cx="4187658" cy="461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</p:spTree>
    <p:extLst>
      <p:ext uri="{BB962C8B-B14F-4D97-AF65-F5344CB8AC3E}">
        <p14:creationId xmlns:p14="http://schemas.microsoft.com/office/powerpoint/2010/main" val="53852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9" grpId="0" animBg="1"/>
      <p:bldP spid="30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Why this course is important for you?</a:t>
            </a:r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03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Almost every large and complex industrial project follow a detailed design.</a:t>
            </a:r>
            <a:endParaRPr dirty="0"/>
          </a:p>
          <a:p>
            <a:pPr marL="742950" lvl="1" indent="-2857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Every safety critical system must be well designed according to their safety standards.</a:t>
            </a:r>
            <a:endParaRPr dirty="0"/>
          </a:p>
          <a:p>
            <a:pPr marL="742950" lvl="1" indent="-1587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Industry 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hires requirement/ business 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analysts and software designers to model the ongoing projects.</a:t>
            </a:r>
            <a:endParaRPr dirty="0"/>
          </a:p>
          <a:p>
            <a:pPr marL="342900" lvl="0" indent="-203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Design artifacts carry a major weightage in FYP. </a:t>
            </a:r>
            <a:endParaRPr dirty="0"/>
          </a:p>
        </p:txBody>
      </p:sp>
      <p:sp>
        <p:nvSpPr>
          <p:cNvPr id="164" name="Google Shape;164;p29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13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What is Software Analysis?</a:t>
            </a:r>
            <a:endParaRPr/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b="1" dirty="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 emphasizes an </a:t>
            </a:r>
            <a:r>
              <a:rPr lang="en-US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investigation of the problem and requirements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, rather than a solution. </a:t>
            </a:r>
            <a:endParaRPr dirty="0"/>
          </a:p>
          <a:p>
            <a:pPr marL="742950" lvl="1" indent="-2857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For example, if a new online trading system is desired, how will it be used? What are its functions?</a:t>
            </a:r>
            <a:endParaRPr dirty="0"/>
          </a:p>
          <a:p>
            <a:pPr marL="342900" lvl="0" indent="-203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"</a:t>
            </a:r>
            <a:r>
              <a:rPr lang="en-US" b="1" dirty="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" is a broad term, best qualified, as in requirements analysis (an investigation of the requirements) or object-oriented analysis (an investigation of the domain objects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</a:p>
          <a:p>
            <a:pPr marL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lang="en-US" dirty="0" smtClean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 smtClean="0">
                <a:latin typeface="Helvetica Neue"/>
                <a:sym typeface="Helvetica Neue"/>
              </a:rPr>
              <a:t>First time requirements from scratch or requirements of an existing system (enhancements)</a:t>
            </a:r>
            <a:endParaRPr dirty="0"/>
          </a:p>
        </p:txBody>
      </p:sp>
      <p:sp>
        <p:nvSpPr>
          <p:cNvPr id="226" name="Google Shape;226;p37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699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What is Software Design?</a:t>
            </a:r>
            <a:endParaRPr/>
          </a:p>
        </p:txBody>
      </p:sp>
      <p:sp>
        <p:nvSpPr>
          <p:cNvPr id="233" name="Google Shape;233;p38"/>
          <p:cNvSpPr txBox="1">
            <a:spLocks noGrp="1"/>
          </p:cNvSpPr>
          <p:nvPr>
            <p:ph type="body" idx="1"/>
          </p:nvPr>
        </p:nvSpPr>
        <p:spPr>
          <a:xfrm>
            <a:off x="609600" y="141763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b="1" dirty="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 emphasizes a conceptual solution (in software and hardware) that fulfills the requirements, rather than its implementation. </a:t>
            </a:r>
            <a:endParaRPr dirty="0"/>
          </a:p>
          <a:p>
            <a:pPr marL="742950" lvl="1" indent="-2857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For example, a description of a database schema and software objects. </a:t>
            </a:r>
            <a:endParaRPr dirty="0"/>
          </a:p>
          <a:p>
            <a:pPr marL="742950" lvl="1" indent="-1460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b="1" dirty="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 ideas often exclude low-level or "obvious" details—obvious to the intended consumers.</a:t>
            </a:r>
            <a:endParaRPr dirty="0"/>
          </a:p>
          <a:p>
            <a:pPr marL="342900" lvl="0" indent="-203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b="1" dirty="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r>
              <a:rPr lang="en-US" dirty="0">
                <a:latin typeface="Helvetica Neue"/>
                <a:ea typeface="Helvetica Neue"/>
                <a:cs typeface="Helvetica Neue"/>
                <a:sym typeface="Helvetica Neue"/>
              </a:rPr>
              <a:t> can be implemented, and the implementation (such as code) expresses the true and complete realized design</a:t>
            </a:r>
            <a:r>
              <a:rPr lang="en-US" dirty="0" smtClean="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endParaRPr lang="en-US" dirty="0" smtClean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dirty="0" smtClean="0"/>
              <a:t>Civil Architect prepares a design of building, houses, dams, bridges etc. Other Designs can be nuclear power plants, Electrical and Electronics etc.</a:t>
            </a: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endParaRPr lang="en-US" dirty="0" smtClean="0"/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dirty="0" smtClean="0"/>
              <a:t>What is a System?</a:t>
            </a:r>
            <a:endParaRPr dirty="0"/>
          </a:p>
        </p:txBody>
      </p:sp>
      <p:sp>
        <p:nvSpPr>
          <p:cNvPr id="234" name="Google Shape;234;p38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8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>
            <a:spLocks noGrp="1"/>
          </p:cNvSpPr>
          <p:nvPr>
            <p:ph type="body" idx="1"/>
          </p:nvPr>
        </p:nvSpPr>
        <p:spPr>
          <a:xfrm>
            <a:off x="1061141" y="1793632"/>
            <a:ext cx="10363200" cy="2607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200" dirty="0"/>
              <a:t>Useful analysis and design have been summarized in the phrase </a:t>
            </a:r>
            <a:endParaRPr lang="en-US" sz="3200" dirty="0" smtClean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32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3200" dirty="0" smtClean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200" b="1" dirty="0" smtClean="0">
                <a:solidFill>
                  <a:srgbClr val="00B0F0"/>
                </a:solidFill>
              </a:rPr>
              <a:t>do </a:t>
            </a:r>
            <a:r>
              <a:rPr lang="en-US" sz="3200" b="1" dirty="0">
                <a:solidFill>
                  <a:srgbClr val="00B0F0"/>
                </a:solidFill>
              </a:rPr>
              <a:t>the right thing </a:t>
            </a:r>
            <a:r>
              <a:rPr lang="en-US" sz="3200" dirty="0"/>
              <a:t>(analysis), and </a:t>
            </a:r>
            <a:endParaRPr lang="en-US" sz="3200" dirty="0" smtClean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3200" dirty="0" smtClean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200" b="1" dirty="0" smtClean="0">
                <a:solidFill>
                  <a:srgbClr val="00B0F0"/>
                </a:solidFill>
              </a:rPr>
              <a:t>do </a:t>
            </a:r>
            <a:r>
              <a:rPr lang="en-US" sz="3200" b="1" dirty="0">
                <a:solidFill>
                  <a:srgbClr val="00B0F0"/>
                </a:solidFill>
              </a:rPr>
              <a:t>the thing right </a:t>
            </a:r>
            <a:r>
              <a:rPr lang="en-US" sz="3200" dirty="0"/>
              <a:t>(design).</a:t>
            </a:r>
            <a:endParaRPr sz="3200" dirty="0"/>
          </a:p>
        </p:txBody>
      </p:sp>
      <p:sp>
        <p:nvSpPr>
          <p:cNvPr id="240" name="Google Shape;240;p39"/>
          <p:cNvSpPr txBox="1">
            <a:spLocks noGrp="1"/>
          </p:cNvSpPr>
          <p:nvPr>
            <p:ph type="sldNum" idx="12"/>
          </p:nvPr>
        </p:nvSpPr>
        <p:spPr>
          <a:xfrm>
            <a:off x="349941" y="64008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660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>
            <a:spLocks noGrp="1"/>
          </p:cNvSpPr>
          <p:nvPr>
            <p:ph type="body" idx="1"/>
          </p:nvPr>
        </p:nvSpPr>
        <p:spPr>
          <a:xfrm>
            <a:off x="1061141" y="880885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200" dirty="0" smtClean="0"/>
              <a:t>What if we do not follow Design?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3200" dirty="0"/>
          </a:p>
        </p:txBody>
      </p:sp>
      <p:sp>
        <p:nvSpPr>
          <p:cNvPr id="240" name="Google Shape;240;p39"/>
          <p:cNvSpPr txBox="1">
            <a:spLocks noGrp="1"/>
          </p:cNvSpPr>
          <p:nvPr>
            <p:ph type="sldNum" idx="12"/>
          </p:nvPr>
        </p:nvSpPr>
        <p:spPr>
          <a:xfrm>
            <a:off x="349941" y="64008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898" y="2545307"/>
            <a:ext cx="3581400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75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Software Development Process</a:t>
            </a:r>
            <a:endParaRPr/>
          </a:p>
        </p:txBody>
      </p:sp>
      <p:pic>
        <p:nvPicPr>
          <p:cNvPr id="170" name="Google Shape;170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73295" y="1521432"/>
            <a:ext cx="5948408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1375" y="3501540"/>
            <a:ext cx="8335742" cy="78551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 descr="Comparison of the advantages and disadvantages of the plan-driven and agile process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9" y="0"/>
            <a:ext cx="1206137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00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Traditional Software Development Flow</a:t>
            </a:r>
            <a:endParaRPr/>
          </a:p>
        </p:txBody>
      </p:sp>
      <p:sp>
        <p:nvSpPr>
          <p:cNvPr id="218" name="Google Shape;218;p3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When a software developer begins work with a new project, it's natural for him to choose to commence scripting the code immediately. </a:t>
            </a:r>
            <a:endParaRPr/>
          </a:p>
          <a:p>
            <a:pPr marL="342900" lvl="0" indent="-203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Regardless of his software knowledge, if someone produces software without laying out a strategy for it, he might as well have been laying bricks without establishing a solid foundation.</a:t>
            </a:r>
            <a:endParaRPr/>
          </a:p>
          <a:p>
            <a:pPr marL="342900" lvl="0" indent="-203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building will fall no matter how robust the construction process and resource consumption are; similarly, the software would fail without a fundamental layout.</a:t>
            </a:r>
            <a:endParaRPr/>
          </a:p>
          <a:p>
            <a:pPr marL="342900" lvl="0" indent="-203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Nobody wants their efforts to be for waste because they didn't have a plan for them, right? That's where software design comes in, a mechanism that simplifies important software operations in a certain way.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36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21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741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200221" y="444815"/>
            <a:ext cx="5787943" cy="498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rPr lang="en-US" sz="3600">
                <a:latin typeface="Helvetica Neue"/>
                <a:ea typeface="Helvetica Neue"/>
                <a:cs typeface="Helvetica Neue"/>
                <a:sym typeface="Helvetica Neue"/>
              </a:rPr>
              <a:t>Software development Methodologies </a:t>
            </a:r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79" name="Google Shape;179;p31"/>
          <p:cNvSpPr txBox="1"/>
          <p:nvPr/>
        </p:nvSpPr>
        <p:spPr>
          <a:xfrm>
            <a:off x="5988164" y="2415404"/>
            <a:ext cx="504951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frequent alteration in the development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minimize risk by developing software in short time boxes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changing requirements of the clients.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384" y="1369975"/>
            <a:ext cx="4364074" cy="5136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Cont..</a:t>
            </a:r>
            <a:endParaRPr/>
          </a:p>
        </p:txBody>
      </p:sp>
      <p:sp>
        <p:nvSpPr>
          <p:cNvPr id="187" name="Google Shape;187;p32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845" y="1855992"/>
            <a:ext cx="5096784" cy="307101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  <p:sp>
        <p:nvSpPr>
          <p:cNvPr id="189" name="Google Shape;189;p32"/>
          <p:cNvSpPr txBox="1"/>
          <p:nvPr/>
        </p:nvSpPr>
        <p:spPr>
          <a:xfrm>
            <a:off x="5631629" y="2560320"/>
            <a:ext cx="5798371" cy="187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Follow continuous integration and continuous delivery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development and operational teams to perform everything simultaneously in development, quality assurance, security, and other operations.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makes the process faster and easier for businesses to process on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Cont..</a:t>
            </a:r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" y="129026"/>
            <a:ext cx="4426957" cy="672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 txBox="1"/>
          <p:nvPr/>
        </p:nvSpPr>
        <p:spPr>
          <a:xfrm>
            <a:off x="5497158" y="2293522"/>
            <a:ext cx="557724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companies where the requirements are highly emerging and rapid changes are easily adhered 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daily meeting easily helps the developer to make it possible to measure individual productivity.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Due to short sprints and constant feedback, it becomes easier to cope with the changes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3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Introduction to the Course</a:t>
            </a:r>
            <a:endParaRPr sz="4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3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53546" lvl="0" indent="-342900" algn="l" rtl="0">
              <a:lnSpc>
                <a:spcPct val="10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 major engineering problem today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lvl="1" indent="-285750" algn="l" rtl="0">
              <a:lnSpc>
                <a:spcPct val="130125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 Predictable development </a:t>
            </a:r>
            <a:r>
              <a:rPr lang="en-US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reliable </a:t>
            </a: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software systems.</a:t>
            </a:r>
            <a:endParaRPr/>
          </a:p>
          <a:p>
            <a:pPr marL="685800" lvl="1" indent="-184150" algn="l" rtl="0">
              <a:lnSpc>
                <a:spcPct val="130125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546" lvl="0" indent="-342900" algn="l" rtl="0">
              <a:lnSpc>
                <a:spcPct val="1094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The object-oriented paradigm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2825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solutions to many development problems</a:t>
            </a:r>
            <a:endParaRPr/>
          </a:p>
          <a:p>
            <a:pPr marL="742950" lvl="1" indent="-285750" algn="just" rtl="0">
              <a:lnSpc>
                <a:spcPct val="12825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provides a reliable design, complexity control, and reusability</a:t>
            </a:r>
            <a:endParaRPr/>
          </a:p>
          <a:p>
            <a:pPr marL="742950" lvl="1" indent="-285750" algn="just" rtl="0">
              <a:lnSpc>
                <a:spcPct val="12825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Object-oriented methods can be divided into analysis and design,  implementation languages, and distribution</a:t>
            </a:r>
            <a:endParaRPr/>
          </a:p>
          <a:p>
            <a:pPr marL="742950" lvl="1" indent="-285750" algn="just" rtl="0">
              <a:lnSpc>
                <a:spcPct val="12825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Basic to the entire enterprise, however, are analysis and design, which has  remained remarkably stable for years.</a:t>
            </a:r>
            <a:endParaRPr/>
          </a:p>
          <a:p>
            <a:pPr marL="742950" lvl="1" indent="-184150" algn="just" rtl="0">
              <a:lnSpc>
                <a:spcPct val="12825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3546" lvl="0" indent="-342900" algn="l" rtl="0">
              <a:lnSpc>
                <a:spcPct val="1094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Object-Oriented Analysis and Design</a:t>
            </a:r>
            <a:endParaRPr/>
          </a:p>
          <a:p>
            <a:pPr marL="742950" marR="464509" lvl="1" indent="-285750" algn="just" rtl="0">
              <a:lnSpc>
                <a:spcPct val="12825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overall goals of the object paradigm, the selection of classes, the  relationships among them, and their realization to implement systems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34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Unified Modeling Language</a:t>
            </a:r>
            <a:endParaRPr/>
          </a:p>
        </p:txBody>
      </p:sp>
      <p:sp>
        <p:nvSpPr>
          <p:cNvPr id="344" name="Google Shape;344;p5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facto industry standard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by the Object Management Group (OMG)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Standard  language for </a:t>
            </a:r>
            <a:r>
              <a:rPr lang="en-US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specifying, visualizing, constructing, and documenting the artifacts of software systems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business modeling and other non-software systems.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UML represents a collection of </a:t>
            </a:r>
            <a:r>
              <a:rPr lang="en-US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 engineering practices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that have proven successful in the modeling of large and complex systems.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UML is a very important part of </a:t>
            </a:r>
            <a:r>
              <a:rPr lang="en-US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developing object oriented software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and the software development process. 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UML uses mostly </a:t>
            </a:r>
            <a:r>
              <a:rPr lang="en-US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graphical notations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to express the design of software projects.  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Using the UML helps </a:t>
            </a:r>
            <a:r>
              <a:rPr lang="en-US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teams communicate, explore potential designs, and validate the architectural design of the software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</p:txBody>
      </p:sp>
      <p:sp>
        <p:nvSpPr>
          <p:cNvPr id="345" name="Google Shape;345;p52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>
            <a:spLocks noGrp="1"/>
          </p:cNvSpPr>
          <p:nvPr>
            <p:ph type="title"/>
          </p:nvPr>
        </p:nvSpPr>
        <p:spPr>
          <a:xfrm>
            <a:off x="1782291" y="5794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Overview of UML Diagrams</a:t>
            </a:r>
            <a:endParaRPr/>
          </a:p>
        </p:txBody>
      </p:sp>
      <p:pic>
        <p:nvPicPr>
          <p:cNvPr id="351" name="Google Shape;351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4241" y="1664506"/>
            <a:ext cx="6765700" cy="452042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  <p:sp>
        <p:nvSpPr>
          <p:cNvPr id="352" name="Google Shape;352;p5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3619" lvl="0" indent="0" algn="r" rtl="0">
              <a:lnSpc>
                <a:spcPct val="1257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53" name="Google Shape;353;p53"/>
          <p:cNvSpPr/>
          <p:nvPr/>
        </p:nvSpPr>
        <p:spPr>
          <a:xfrm>
            <a:off x="412376" y="2718558"/>
            <a:ext cx="1994288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emphasizes the </a:t>
            </a:r>
            <a:r>
              <a:rPr lang="en-US" sz="1600" b="0" i="0" u="sng" strike="noStrike" cap="none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static structure </a:t>
            </a:r>
            <a:r>
              <a:rPr lang="en-US" sz="1600" b="0" i="0" u="none" strike="noStrike" cap="none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the system using objects, attributes, operations and relationships.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3"/>
          <p:cNvSpPr/>
          <p:nvPr/>
        </p:nvSpPr>
        <p:spPr>
          <a:xfrm>
            <a:off x="9495094" y="2612331"/>
            <a:ext cx="2521198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49442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emphasizes the dynamic behavior of the system </a:t>
            </a:r>
            <a:r>
              <a:rPr lang="en-US" sz="1600" b="0" i="0" u="sng" strike="noStrike" cap="none">
                <a:solidFill>
                  <a:srgbClr val="49442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showing collaborations among objects </a:t>
            </a:r>
            <a:r>
              <a:rPr lang="en-US" sz="1600" b="0" i="0" u="none" strike="noStrike" cap="none">
                <a:solidFill>
                  <a:srgbClr val="49442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changes to the internal states of objects.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3619" lvl="0" indent="0" algn="r" rtl="0">
              <a:lnSpc>
                <a:spcPct val="1257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60" name="Google Shape;360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65" y="428187"/>
            <a:ext cx="9860109" cy="592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2"/>
          <p:cNvSpPr txBox="1">
            <a:spLocks noGrp="1"/>
          </p:cNvSpPr>
          <p:nvPr>
            <p:ph type="title"/>
          </p:nvPr>
        </p:nvSpPr>
        <p:spPr>
          <a:xfrm>
            <a:off x="4121499" y="2486786"/>
            <a:ext cx="4860575" cy="50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lang="en-US" sz="3200">
                <a:latin typeface="Helvetica Neue"/>
                <a:ea typeface="Helvetica Neue"/>
                <a:cs typeface="Helvetica Neue"/>
                <a:sym typeface="Helvetica Neue"/>
              </a:rPr>
              <a:t>COURSE PROJECT</a:t>
            </a:r>
            <a:endParaRPr/>
          </a:p>
        </p:txBody>
      </p:sp>
      <p:sp>
        <p:nvSpPr>
          <p:cNvPr id="520" name="Google Shape;520;p72"/>
          <p:cNvSpPr/>
          <p:nvPr/>
        </p:nvSpPr>
        <p:spPr>
          <a:xfrm>
            <a:off x="3778106" y="3438144"/>
            <a:ext cx="5547360" cy="707136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Should be MIS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3619" lvl="0" indent="0" algn="r" rtl="0">
              <a:lnSpc>
                <a:spcPct val="1257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3"/>
          <p:cNvSpPr txBox="1">
            <a:spLocks noGrp="1"/>
          </p:cNvSpPr>
          <p:nvPr>
            <p:ph type="title"/>
          </p:nvPr>
        </p:nvSpPr>
        <p:spPr>
          <a:xfrm>
            <a:off x="2743868" y="429025"/>
            <a:ext cx="6409204" cy="98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7"/>
              <a:buFont typeface="Helvetica Neue"/>
              <a:buNone/>
            </a:pPr>
            <a:r>
              <a:rPr lang="en-US" sz="3177">
                <a:latin typeface="Helvetica Neue"/>
                <a:ea typeface="Helvetica Neue"/>
                <a:cs typeface="Helvetica Neue"/>
                <a:sym typeface="Helvetica Neue"/>
              </a:rPr>
              <a:t>SW Development Project: Deliverable 1</a:t>
            </a:r>
            <a:endParaRPr/>
          </a:p>
        </p:txBody>
      </p:sp>
      <p:sp>
        <p:nvSpPr>
          <p:cNvPr id="527" name="Google Shape;527;p73"/>
          <p:cNvSpPr txBox="1"/>
          <p:nvPr/>
        </p:nvSpPr>
        <p:spPr>
          <a:xfrm>
            <a:off x="1048511" y="1914005"/>
            <a:ext cx="5937795" cy="360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25" rIns="0" bIns="0" anchor="t" anchorCtr="0">
            <a:spAutoFit/>
          </a:bodyPr>
          <a:lstStyle/>
          <a:p>
            <a:pPr marL="163054" marR="0" lvl="0" indent="-152408" algn="l" rtl="0">
              <a:lnSpc>
                <a:spcPct val="11818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1"/>
              <a:buFont typeface="Arial"/>
              <a:buChar char="•"/>
            </a:pPr>
            <a:r>
              <a:rPr lang="en-US" sz="1941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Deliverable #1:</a:t>
            </a:r>
            <a:endParaRPr sz="1941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marR="0" lvl="1" indent="-152967" algn="l" rtl="0">
              <a:lnSpc>
                <a:spcPct val="1179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65"/>
              <a:buFont typeface="Arial"/>
              <a:buChar char="•"/>
            </a:pPr>
            <a:r>
              <a:rPr lang="en-US" sz="1765" b="1" i="0" u="none" strike="noStrike" cap="none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Deadline: </a:t>
            </a:r>
            <a:r>
              <a:rPr lang="en-US" sz="1765" b="1" i="0" u="none" strike="noStrike" cap="none" dirty="0" smtClean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765" b="1" dirty="0" smtClean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Announced later</a:t>
            </a:r>
            <a:r>
              <a:rPr lang="en-US" sz="1765" b="1" i="0" u="none" strike="noStrike" cap="none" dirty="0" smtClean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765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63054" marR="0" lvl="0" indent="-152408" algn="l" rtl="0">
              <a:lnSpc>
                <a:spcPct val="118186"/>
              </a:lnSpc>
              <a:spcBef>
                <a:spcPts val="238"/>
              </a:spcBef>
              <a:spcAft>
                <a:spcPts val="0"/>
              </a:spcAft>
              <a:buClr>
                <a:schemeClr val="dk1"/>
              </a:buClr>
              <a:buSzPts val="1941"/>
              <a:buFont typeface="Arial"/>
              <a:buChar char="•"/>
            </a:pPr>
            <a:r>
              <a:rPr lang="en-US" sz="1941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COMPANY</a:t>
            </a:r>
            <a:endParaRPr sz="1941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marR="4483" lvl="1" indent="-152408" algn="l" rtl="0">
              <a:lnSpc>
                <a:spcPct val="80000"/>
              </a:lnSpc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765"/>
              <a:buFont typeface="Arial"/>
              <a:buChar char="•"/>
            </a:pPr>
            <a:r>
              <a:rPr lang="en-US" sz="1765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Company Name (of your newly established company)</a:t>
            </a:r>
            <a:endParaRPr sz="1765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marR="0" lvl="1" indent="-152967" algn="l" rtl="0">
              <a:lnSpc>
                <a:spcPct val="1164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Font typeface="Arial"/>
              <a:buChar char="•"/>
            </a:pPr>
            <a:r>
              <a:rPr lang="en-US" sz="1765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Company Logo</a:t>
            </a:r>
            <a:endParaRPr sz="1765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63054" marR="0" lvl="0" indent="-152408" algn="l" rtl="0">
              <a:lnSpc>
                <a:spcPct val="118650"/>
              </a:lnSpc>
              <a:spcBef>
                <a:spcPts val="224"/>
              </a:spcBef>
              <a:spcAft>
                <a:spcPts val="0"/>
              </a:spcAft>
              <a:buClr>
                <a:schemeClr val="dk1"/>
              </a:buClr>
              <a:buSzPts val="1941"/>
              <a:buFont typeface="Arial"/>
              <a:buChar char="•"/>
            </a:pPr>
            <a:r>
              <a:rPr lang="en-US" sz="1941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(3) Members</a:t>
            </a:r>
            <a:endParaRPr sz="1941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marR="0" lvl="1" indent="-152967" algn="l" rtl="0">
              <a:lnSpc>
                <a:spcPct val="1162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Font typeface="Arial"/>
              <a:buChar char="•"/>
            </a:pPr>
            <a:r>
              <a:rPr lang="en-US" sz="1765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(Team) Manager</a:t>
            </a:r>
            <a:endParaRPr sz="1765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marR="0" lvl="1" indent="-152967" algn="l" rtl="0">
              <a:lnSpc>
                <a:spcPct val="115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Font typeface="Arial"/>
              <a:buChar char="•"/>
            </a:pPr>
            <a:r>
              <a:rPr lang="en-US" sz="1765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(Requirement) Analyst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629" marR="0" lvl="1" indent="-152967" algn="l" rtl="0">
              <a:lnSpc>
                <a:spcPct val="115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Font typeface="Arial"/>
              <a:buChar char="•"/>
            </a:pPr>
            <a:r>
              <a:rPr lang="en-US" sz="1765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QA</a:t>
            </a:r>
            <a:endParaRPr sz="1765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marR="0" lvl="1" indent="-152967" algn="l" rtl="0">
              <a:lnSpc>
                <a:spcPct val="115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Font typeface="Arial"/>
              <a:buChar char="•"/>
            </a:pPr>
            <a:r>
              <a:rPr lang="en-US" sz="1765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629" marR="0" lvl="1" indent="-152967" algn="l" rtl="0">
              <a:lnSpc>
                <a:spcPct val="1182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Font typeface="Arial"/>
              <a:buChar char="•"/>
            </a:pPr>
            <a:r>
              <a:rPr lang="en-US" sz="1765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Developers/SW Engineers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8" name="Google Shape;528;p73"/>
          <p:cNvGraphicFramePr/>
          <p:nvPr/>
        </p:nvGraphicFramePr>
        <p:xfrm>
          <a:off x="6986307" y="1732597"/>
          <a:ext cx="2286000" cy="4546500"/>
        </p:xfrm>
        <a:graphic>
          <a:graphicData uri="http://schemas.openxmlformats.org/drawingml/2006/table">
            <a:tbl>
              <a:tblPr firstRow="1" bandRow="1">
                <a:noFill/>
                <a:tableStyleId>{3D3CE0AE-BFEE-4A4E-83E9-8BC841B57AB2}</a:tableStyleId>
              </a:tblPr>
              <a:tblGrid>
                <a:gridCol w="629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56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9175">
                <a:tc>
                  <a:txBody>
                    <a:bodyPr/>
                    <a:lstStyle/>
                    <a:p>
                      <a:pPr marL="0" marR="32512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7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APEX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19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1940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2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SYNOPSIS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50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32512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7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Chimera Soft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19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1940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2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LOGIX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50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32512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7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Envision Tech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19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31940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6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2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HEDZ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50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2512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93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Consumate Logiciels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3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31940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8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2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Logistics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50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2512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9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93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ATEK Inc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3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28892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2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Pi Sigma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50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02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11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93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Erap Solutions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3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28892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2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Mantaq Solutions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50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02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13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93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Design Minds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3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28892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14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0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Dream Technologies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38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02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93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Logic All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3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28892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16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0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Synergy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38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02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17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93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Solution Providers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3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28892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18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0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Ferocity Inc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38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220525">
                <a:tc>
                  <a:txBody>
                    <a:bodyPr/>
                    <a:lstStyle/>
                    <a:p>
                      <a:pPr marL="0" marR="302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19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493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Cryph Tech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336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219175">
                <a:tc>
                  <a:txBody>
                    <a:bodyPr/>
                    <a:lstStyle/>
                    <a:p>
                      <a:pPr marL="0" marR="28892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33339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</a:t>
                      </a:r>
                      <a:endParaRPr sz="12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50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COGILENT</a:t>
                      </a:r>
                      <a:endParaRPr sz="105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638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29" name="Google Shape;529;p73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SW Development Project: Deliverable 2</a:t>
            </a:r>
            <a:endParaRPr/>
          </a:p>
        </p:txBody>
      </p:sp>
      <p:sp>
        <p:nvSpPr>
          <p:cNvPr id="535" name="Google Shape;535;p7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Deliverable #2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Project Selection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Meeting with the client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Project Proposal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Present the idea of the project and what is aimed to achieve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Sections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Project Title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Scope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Problem Statement and Description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74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</a:pPr>
            <a:r>
              <a:rPr lang="en-US" sz="3600">
                <a:latin typeface="Helvetica Neue"/>
                <a:ea typeface="Helvetica Neue"/>
                <a:cs typeface="Helvetica Neue"/>
                <a:sym typeface="Helvetica Neue"/>
              </a:rPr>
              <a:t>Project Proposal Components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7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3054" lvl="0" indent="-152408" algn="just" rtl="0">
              <a:lnSpc>
                <a:spcPct val="105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Title</a:t>
            </a:r>
            <a:endParaRPr/>
          </a:p>
          <a:p>
            <a:pPr marL="465629" marR="353004" lvl="1" indent="-152408" algn="just" rtl="0">
              <a:lnSpc>
                <a:spcPct val="80000"/>
              </a:lnSpc>
              <a:spcBef>
                <a:spcPts val="36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	Should be well defined Indicate the project aim and immediate solution its  going to provide.</a:t>
            </a:r>
            <a:endParaRPr/>
          </a:p>
          <a:p>
            <a:pPr marL="465629" marR="353004" lvl="1" indent="-38106" algn="just" rtl="0">
              <a:lnSpc>
                <a:spcPct val="80000"/>
              </a:lnSpc>
              <a:spcBef>
                <a:spcPts val="36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63054" lvl="0" indent="-152408" algn="just" rtl="0">
              <a:lnSpc>
                <a:spcPct val="105250"/>
              </a:lnSpc>
              <a:spcBef>
                <a:spcPts val="27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Scope</a:t>
            </a:r>
            <a:endParaRPr/>
          </a:p>
          <a:p>
            <a:pPr marL="465629" marR="200036" lvl="1" indent="-152408" algn="just" rtl="0">
              <a:lnSpc>
                <a:spcPct val="80000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Defines the</a:t>
            </a:r>
            <a:r>
              <a:rPr lang="en-US" sz="18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u="sng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</a:t>
            </a:r>
            <a:r>
              <a:rPr lang="en-US" sz="18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of the project. List any</a:t>
            </a:r>
            <a:r>
              <a:rPr lang="en-US" sz="18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u="sng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previous tools</a:t>
            </a:r>
            <a:r>
              <a:rPr lang="en-US" sz="18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or work done in the  same area. Also identify the level to which the project is going to be probed  into in</a:t>
            </a:r>
            <a:r>
              <a:rPr lang="en-US" sz="1800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u="sng">
                <a:solidFill>
                  <a:srgbClr val="00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</a:t>
            </a: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465629" marR="200036" lvl="1" indent="-38106" algn="just" rtl="0">
              <a:lnSpc>
                <a:spcPct val="80000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63054" lvl="0" indent="-152408" algn="just" rtl="0">
              <a:lnSpc>
                <a:spcPct val="105250"/>
              </a:lnSpc>
              <a:spcBef>
                <a:spcPts val="27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Objective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marR="527265" lvl="1" indent="-152408" algn="just" rtl="0">
              <a:lnSpc>
                <a:spcPct val="80000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Outline the major aims/goals that are aimed to be achieved through the  project</a:t>
            </a:r>
            <a:endParaRPr/>
          </a:p>
          <a:p>
            <a:pPr marL="465629" marR="527265" lvl="1" indent="-38106" algn="just" rtl="0">
              <a:lnSpc>
                <a:spcPct val="80000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63054" lvl="0" indent="-152408" algn="just" rtl="0">
              <a:lnSpc>
                <a:spcPct val="105250"/>
              </a:lnSpc>
              <a:spcBef>
                <a:spcPts val="27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Problem Statement and Description</a:t>
            </a:r>
            <a:endParaRPr/>
          </a:p>
          <a:p>
            <a:pPr marL="465629" marR="4483" lvl="1" indent="-152408" algn="just" rtl="0">
              <a:lnSpc>
                <a:spcPct val="80000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Explain the major reason for choosing the project and the problem addressed  by the project. Describe the problem in detail ( e.g. office automation mitigates  manual work etc)</a:t>
            </a:r>
            <a:endParaRPr/>
          </a:p>
          <a:p>
            <a:pPr marL="465629" lvl="1" indent="-152966" algn="just" rtl="0">
              <a:lnSpc>
                <a:spcPct val="103944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Should not be more than 2-3 paragraphs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5629" lvl="1" indent="-152966" algn="just" rtl="0">
              <a:lnSpc>
                <a:spcPct val="104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Can also explain Feasibility.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543" name="Google Shape;543;p75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SW Development Project: Deliverable 2</a:t>
            </a:r>
            <a:endParaRPr/>
          </a:p>
        </p:txBody>
      </p:sp>
      <p:sp>
        <p:nvSpPr>
          <p:cNvPr id="549" name="Google Shape;549;p7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5467" lvl="0" indent="-152408" algn="l" rtl="0">
              <a:lnSpc>
                <a:spcPct val="11855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82"/>
              <a:buFont typeface="Arial"/>
              <a:buChar char="•"/>
            </a:pPr>
            <a:r>
              <a:rPr lang="en-US" sz="2382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Deadline</a:t>
            </a:r>
            <a:r>
              <a:rPr lang="en-US" sz="2382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</a:t>
            </a:r>
            <a:r>
              <a:rPr lang="en-US" sz="2382" b="1" smtClean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Announced later</a:t>
            </a:r>
            <a:endParaRPr sz="2382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790617" lvl="1" indent="-152408" algn="l" rtl="0">
              <a:lnSpc>
                <a:spcPct val="115704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53"/>
              <a:buFont typeface="Arial"/>
              <a:buChar char="•"/>
            </a:pPr>
            <a:r>
              <a:rPr lang="en-US" sz="1853" dirty="0">
                <a:latin typeface="Twentieth Century"/>
                <a:ea typeface="Twentieth Century"/>
                <a:cs typeface="Twentieth Century"/>
                <a:sym typeface="Twentieth Century"/>
              </a:rPr>
              <a:t>Project Title</a:t>
            </a:r>
            <a:endParaRPr sz="1853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790617" lvl="1" indent="-152408" algn="l" rtl="0">
              <a:lnSpc>
                <a:spcPct val="115218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53"/>
              <a:buFont typeface="Arial"/>
              <a:buChar char="•"/>
            </a:pPr>
            <a:r>
              <a:rPr lang="en-US" sz="1853" dirty="0">
                <a:latin typeface="Twentieth Century"/>
                <a:ea typeface="Twentieth Century"/>
                <a:cs typeface="Twentieth Century"/>
                <a:sym typeface="Twentieth Century"/>
              </a:rPr>
              <a:t>Scope</a:t>
            </a:r>
            <a:endParaRPr dirty="0"/>
          </a:p>
          <a:p>
            <a:pPr marL="790617" lvl="1" indent="-152408" algn="l" rtl="0">
              <a:lnSpc>
                <a:spcPct val="114786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53"/>
              <a:buFont typeface="Arial"/>
              <a:buChar char="•"/>
            </a:pPr>
            <a:r>
              <a:rPr lang="en-US" sz="1853" dirty="0">
                <a:latin typeface="Twentieth Century"/>
                <a:ea typeface="Twentieth Century"/>
                <a:cs typeface="Twentieth Century"/>
                <a:sym typeface="Twentieth Century"/>
              </a:rPr>
              <a:t>Objectives</a:t>
            </a:r>
            <a:endParaRPr sz="1853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790617" lvl="1" indent="-152408" algn="l" rtl="0">
              <a:lnSpc>
                <a:spcPct val="117377"/>
              </a:lnSpc>
              <a:spcBef>
                <a:spcPts val="371"/>
              </a:spcBef>
              <a:spcAft>
                <a:spcPts val="0"/>
              </a:spcAft>
              <a:buClr>
                <a:schemeClr val="dk1"/>
              </a:buClr>
              <a:buSzPts val="1853"/>
              <a:buFont typeface="Arial"/>
              <a:buChar char="•"/>
            </a:pPr>
            <a:r>
              <a:rPr lang="en-US" sz="1853" dirty="0">
                <a:latin typeface="Twentieth Century"/>
                <a:ea typeface="Twentieth Century"/>
                <a:cs typeface="Twentieth Century"/>
                <a:sym typeface="Twentieth Century"/>
              </a:rPr>
              <a:t>Problem Statement and Description</a:t>
            </a:r>
            <a:endParaRPr sz="1853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185467" marR="583858" lvl="0" indent="-152408" algn="l" rtl="0">
              <a:lnSpc>
                <a:spcPct val="80000"/>
              </a:lnSpc>
              <a:spcBef>
                <a:spcPts val="688"/>
              </a:spcBef>
              <a:spcAft>
                <a:spcPts val="0"/>
              </a:spcAft>
              <a:buClr>
                <a:schemeClr val="dk1"/>
              </a:buClr>
              <a:buSzPts val="2382"/>
              <a:buFont typeface="Arial"/>
              <a:buChar char="•"/>
            </a:pPr>
            <a:r>
              <a:rPr lang="en-US" sz="2382" dirty="0">
                <a:latin typeface="Twentieth Century"/>
                <a:ea typeface="Twentieth Century"/>
                <a:cs typeface="Twentieth Century"/>
                <a:sym typeface="Twentieth Century"/>
              </a:rPr>
              <a:t>Project Proposal and other deliverables (to be  explained later on by Course Instructors and LI’s)</a:t>
            </a:r>
            <a:endParaRPr sz="2382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185467" marR="26896" lvl="0" indent="-152408" algn="l" rtl="0">
              <a:lnSpc>
                <a:spcPct val="8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382"/>
              <a:buFont typeface="Arial"/>
              <a:buChar char="•"/>
            </a:pPr>
            <a:r>
              <a:rPr lang="en-US" sz="2382" dirty="0">
                <a:latin typeface="Twentieth Century"/>
                <a:ea typeface="Twentieth Century"/>
                <a:cs typeface="Twentieth Century"/>
                <a:sym typeface="Twentieth Century"/>
              </a:rPr>
              <a:t>Deliverable format : Found in course book, explained  by course instructor OR explained in the assignment  description.</a:t>
            </a:r>
            <a:endParaRPr dirty="0"/>
          </a:p>
          <a:p>
            <a:pPr marL="185467" marR="570410" lvl="0" indent="-152408" algn="l" rtl="0">
              <a:lnSpc>
                <a:spcPct val="80000"/>
              </a:lnSpc>
              <a:spcBef>
                <a:spcPts val="697"/>
              </a:spcBef>
              <a:spcAft>
                <a:spcPts val="0"/>
              </a:spcAft>
              <a:buClr>
                <a:schemeClr val="dk1"/>
              </a:buClr>
              <a:buSzPts val="2382"/>
              <a:buFont typeface="Arial"/>
              <a:buChar char="•"/>
            </a:pPr>
            <a:r>
              <a:rPr lang="en-US" sz="2382" dirty="0">
                <a:latin typeface="Twentieth Century"/>
                <a:ea typeface="Twentieth Century"/>
                <a:cs typeface="Twentieth Century"/>
                <a:sym typeface="Twentieth Century"/>
              </a:rPr>
              <a:t>If in doubt, YOUR responsibility to </a:t>
            </a:r>
            <a:r>
              <a:rPr lang="en-US" sz="2382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ask AHEAD of  deadline</a:t>
            </a:r>
            <a:r>
              <a:rPr lang="en-US" sz="2382" dirty="0">
                <a:latin typeface="Twentieth Century"/>
                <a:ea typeface="Twentieth Century"/>
                <a:cs typeface="Twentieth Century"/>
                <a:sym typeface="Twentieth Century"/>
              </a:rPr>
              <a:t>, not ON or AFTER IT!</a:t>
            </a:r>
            <a:endParaRPr sz="2382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203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dirty="0"/>
          </a:p>
        </p:txBody>
      </p:sp>
      <p:sp>
        <p:nvSpPr>
          <p:cNvPr id="550" name="Google Shape;550;p76"/>
          <p:cNvSpPr txBox="1">
            <a:spLocks noGrp="1"/>
          </p:cNvSpPr>
          <p:nvPr>
            <p:ph type="sldNum" idx="12"/>
          </p:nvPr>
        </p:nvSpPr>
        <p:spPr>
          <a:xfrm>
            <a:off x="11074400" y="62484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 is a System?</a:t>
            </a:r>
          </a:p>
        </p:txBody>
      </p:sp>
      <p:sp>
        <p:nvSpPr>
          <p:cNvPr id="4710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pPr marL="0" indent="0">
              <a:buNone/>
            </a:pPr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  <a:p>
            <a:pPr marL="0" indent="0" algn="ctr">
              <a:buNone/>
            </a:pPr>
            <a:r>
              <a:rPr lang="en-US" altLang="en-US" dirty="0" smtClean="0"/>
              <a:t>A system is a group of elements that are integrated with the common purpose of achieving objectives</a:t>
            </a:r>
          </a:p>
        </p:txBody>
      </p:sp>
      <p:sp>
        <p:nvSpPr>
          <p:cNvPr id="4710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BB75EB-FC58-4ECB-B0EA-2A2C66E1A594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800"/>
          </a:p>
        </p:txBody>
      </p:sp>
      <p:pic>
        <p:nvPicPr>
          <p:cNvPr id="4710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057275"/>
            <a:ext cx="28956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495801"/>
            <a:ext cx="26289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1" y="4676775"/>
            <a:ext cx="303847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0222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 noChangeArrowheads="1"/>
          </p:cNvSpPr>
          <p:nvPr>
            <p:ph type="title"/>
          </p:nvPr>
        </p:nvSpPr>
        <p:spPr>
          <a:xfrm>
            <a:off x="1524000" y="274638"/>
            <a:ext cx="8686800" cy="1143000"/>
          </a:xfrm>
        </p:spPr>
        <p:txBody>
          <a:bodyPr/>
          <a:lstStyle/>
          <a:p>
            <a:r>
              <a:rPr lang="en-US" altLang="en-US" smtClean="0"/>
              <a:t>System with Information</a:t>
            </a:r>
          </a:p>
        </p:txBody>
      </p:sp>
      <p:sp>
        <p:nvSpPr>
          <p:cNvPr id="5120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en-US" dirty="0"/>
              <a:t>System is a set of methods, procedures, practices and technology.</a:t>
            </a:r>
          </a:p>
          <a:p>
            <a:pPr marL="0" indent="0">
              <a:buNone/>
              <a:defRPr/>
            </a:pPr>
            <a:endParaRPr lang="en-US" altLang="en-US" dirty="0"/>
          </a:p>
          <a:p>
            <a:pPr marL="0" indent="0">
              <a:buNone/>
              <a:defRPr/>
            </a:pPr>
            <a:r>
              <a:rPr lang="en-US" altLang="en-US" dirty="0"/>
              <a:t>Business need means: In academic system, students need to view their own grades, marks and transcript. Status of registration, offered courses etc.</a:t>
            </a: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What kind </a:t>
            </a:r>
            <a:r>
              <a:rPr lang="en-US" altLang="en-US">
                <a:solidFill>
                  <a:srgbClr val="FF0000"/>
                </a:solidFill>
              </a:rPr>
              <a:t>of system </a:t>
            </a:r>
            <a:r>
              <a:rPr lang="en-US" altLang="en-US" dirty="0">
                <a:solidFill>
                  <a:srgbClr val="FF0000"/>
                </a:solidFill>
              </a:rPr>
              <a:t>has less information?</a:t>
            </a:r>
          </a:p>
          <a:p>
            <a:pPr>
              <a:defRPr/>
            </a:pPr>
            <a:endParaRPr lang="en-US" altLang="en-US" dirty="0"/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8200" y="6245225"/>
            <a:ext cx="28956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Dr. Ejaz Ahmed</a:t>
            </a:r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8A4948-0E27-45B1-AD59-23DD56694280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930002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Need for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219200"/>
            <a:ext cx="8229600" cy="4876800"/>
          </a:xfrm>
        </p:spPr>
        <p:txBody>
          <a:bodyPr/>
          <a:lstStyle/>
          <a:p>
            <a:pPr>
              <a:defRPr/>
            </a:pPr>
            <a:r>
              <a:rPr lang="en-US" dirty="0"/>
              <a:t>Businesses require decisions</a:t>
            </a:r>
          </a:p>
          <a:p>
            <a:pPr>
              <a:defRPr/>
            </a:pPr>
            <a:r>
              <a:rPr lang="en-US" dirty="0"/>
              <a:t>Decisions require information</a:t>
            </a:r>
          </a:p>
          <a:p>
            <a:pPr>
              <a:defRPr/>
            </a:pPr>
            <a:r>
              <a:rPr lang="en-US" dirty="0"/>
              <a:t>Nature of information varies with the nature of business and decision</a:t>
            </a:r>
          </a:p>
          <a:p>
            <a:pPr>
              <a:defRPr/>
            </a:pPr>
            <a:r>
              <a:rPr lang="en-US" dirty="0"/>
              <a:t>Planning for business requires information at regular interval</a:t>
            </a:r>
          </a:p>
          <a:p>
            <a:pPr marL="0" indent="0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Create processes, Store data/ information, Search data, Summarize Data, Control data (rules/ best practices), Access information</a:t>
            </a:r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8200" y="6245225"/>
            <a:ext cx="28956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Dr. Ejaz Ahmed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5CBD0D-AE8C-4DDB-A00C-46E086C8EB0C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706457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>
          <a:xfrm>
            <a:off x="1524000" y="274638"/>
            <a:ext cx="8686800" cy="1143000"/>
          </a:xfrm>
        </p:spPr>
        <p:txBody>
          <a:bodyPr/>
          <a:lstStyle/>
          <a:p>
            <a:r>
              <a:rPr lang="en-US" altLang="en-US" smtClean="0"/>
              <a:t>What is Information System (IS)?</a:t>
            </a:r>
          </a:p>
        </p:txBody>
      </p:sp>
      <p:sp>
        <p:nvSpPr>
          <p:cNvPr id="5734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Interrelated components are working together to collect, process, store and disseminate information</a:t>
            </a:r>
          </a:p>
          <a:p>
            <a:endParaRPr lang="en-US" altLang="en-US" smtClean="0"/>
          </a:p>
          <a:p>
            <a:r>
              <a:rPr lang="en-US" altLang="en-US" smtClean="0"/>
              <a:t>Every information does not go to </a:t>
            </a:r>
            <a:r>
              <a:rPr lang="en-US" altLang="en-US" smtClean="0">
                <a:solidFill>
                  <a:srgbClr val="FF0000"/>
                </a:solidFill>
              </a:rPr>
              <a:t>every body</a:t>
            </a:r>
          </a:p>
          <a:p>
            <a:r>
              <a:rPr lang="en-US" altLang="en-US" smtClean="0"/>
              <a:t>ESS, DSS, MIS, KWS, OLTP</a:t>
            </a:r>
          </a:p>
        </p:txBody>
      </p:sp>
      <p:sp>
        <p:nvSpPr>
          <p:cNvPr id="5734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8200" y="6245225"/>
            <a:ext cx="28956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Dr. Ejaz Ahmed</a:t>
            </a: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AD9067-4333-4727-9E7E-77AA45C5E684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701669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Artifacts for IS?</a:t>
            </a:r>
          </a:p>
        </p:txBody>
      </p:sp>
      <p:sp>
        <p:nvSpPr>
          <p:cNvPr id="59395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8200" y="6245225"/>
            <a:ext cx="28956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Dr. Ejaz Ahmed</a:t>
            </a:r>
          </a:p>
        </p:txBody>
      </p:sp>
      <p:sp>
        <p:nvSpPr>
          <p:cNvPr id="5939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817B44-E670-4FF6-90CD-79380BFF9882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800"/>
          </a:p>
        </p:txBody>
      </p:sp>
      <p:pic>
        <p:nvPicPr>
          <p:cNvPr id="5939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39" y="4762500"/>
            <a:ext cx="14192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373439"/>
            <a:ext cx="19431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50" y="1128714"/>
            <a:ext cx="497205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TextBox 5"/>
          <p:cNvSpPr txBox="1">
            <a:spLocks noChangeArrowheads="1"/>
          </p:cNvSpPr>
          <p:nvPr/>
        </p:nvSpPr>
        <p:spPr bwMode="auto">
          <a:xfrm>
            <a:off x="3433763" y="5832475"/>
            <a:ext cx="2749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Database (Data Storage)</a:t>
            </a:r>
          </a:p>
        </p:txBody>
      </p:sp>
      <p:sp>
        <p:nvSpPr>
          <p:cNvPr id="59401" name="TextBox 6"/>
          <p:cNvSpPr txBox="1">
            <a:spLocks noChangeArrowheads="1"/>
          </p:cNvSpPr>
          <p:nvPr/>
        </p:nvSpPr>
        <p:spPr bwMode="auto">
          <a:xfrm>
            <a:off x="4305301" y="4678363"/>
            <a:ext cx="2428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Coding/ Programming</a:t>
            </a:r>
          </a:p>
        </p:txBody>
      </p:sp>
      <p:sp>
        <p:nvSpPr>
          <p:cNvPr id="59402" name="TextBox 7"/>
          <p:cNvSpPr txBox="1">
            <a:spLocks noChangeArrowheads="1"/>
          </p:cNvSpPr>
          <p:nvPr/>
        </p:nvSpPr>
        <p:spPr bwMode="auto">
          <a:xfrm>
            <a:off x="7916864" y="2670175"/>
            <a:ext cx="13477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Web &amp; GUI</a:t>
            </a:r>
          </a:p>
        </p:txBody>
      </p:sp>
      <p:pic>
        <p:nvPicPr>
          <p:cNvPr id="5940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51" y="2914651"/>
            <a:ext cx="14382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4" name="TextBox 8"/>
          <p:cNvSpPr txBox="1">
            <a:spLocks noChangeArrowheads="1"/>
          </p:cNvSpPr>
          <p:nvPr/>
        </p:nvSpPr>
        <p:spPr bwMode="auto">
          <a:xfrm>
            <a:off x="6780213" y="4205288"/>
            <a:ext cx="227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Designing/ Modeling</a:t>
            </a:r>
          </a:p>
        </p:txBody>
      </p:sp>
      <p:sp>
        <p:nvSpPr>
          <p:cNvPr id="59405" name="TextBox 5"/>
          <p:cNvSpPr txBox="1">
            <a:spLocks noChangeArrowheads="1"/>
          </p:cNvSpPr>
          <p:nvPr/>
        </p:nvSpPr>
        <p:spPr bwMode="auto">
          <a:xfrm>
            <a:off x="3435351" y="5384800"/>
            <a:ext cx="208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SQL Programming</a:t>
            </a:r>
          </a:p>
        </p:txBody>
      </p:sp>
    </p:spTree>
    <p:extLst>
      <p:ext uri="{BB962C8B-B14F-4D97-AF65-F5344CB8AC3E}">
        <p14:creationId xmlns:p14="http://schemas.microsoft.com/office/powerpoint/2010/main" val="1283087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Attributes of IS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Easily Availability</a:t>
            </a:r>
          </a:p>
          <a:p>
            <a:r>
              <a:rPr lang="en-US" altLang="en-US" smtClean="0"/>
              <a:t>Timelines</a:t>
            </a:r>
          </a:p>
          <a:p>
            <a:r>
              <a:rPr lang="en-US" altLang="en-US" smtClean="0"/>
              <a:t>Relevant to decision at hand</a:t>
            </a:r>
          </a:p>
          <a:p>
            <a:r>
              <a:rPr lang="en-US" altLang="en-US" smtClean="0"/>
              <a:t>Related to current business needs</a:t>
            </a:r>
          </a:p>
        </p:txBody>
      </p:sp>
      <p:sp>
        <p:nvSpPr>
          <p:cNvPr id="6144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8200" y="6245225"/>
            <a:ext cx="28956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Dr. Ejaz Ahmed</a:t>
            </a: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40C90C-AA67-4F02-BEAA-1D6D58821123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693415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8"/>
          <p:cNvSpPr txBox="1">
            <a:spLocks noGrp="1"/>
          </p:cNvSpPr>
          <p:nvPr>
            <p:ph type="ctrTitle"/>
          </p:nvPr>
        </p:nvSpPr>
        <p:spPr>
          <a:xfrm>
            <a:off x="2229194" y="2111604"/>
            <a:ext cx="7772400" cy="1023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-US"/>
              <a:t>Thanks</a:t>
            </a:r>
            <a:endParaRPr b="1"/>
          </a:p>
        </p:txBody>
      </p:sp>
      <p:pic>
        <p:nvPicPr>
          <p:cNvPr id="565" name="Google Shape;565;p78"/>
          <p:cNvPicPr preferRelativeResize="0"/>
          <p:nvPr/>
        </p:nvPicPr>
        <p:blipFill rotWithShape="1">
          <a:blip r:embed="rId3">
            <a:alphaModFix/>
          </a:blip>
          <a:srcRect l="26470"/>
          <a:stretch/>
        </p:blipFill>
        <p:spPr>
          <a:xfrm>
            <a:off x="1976284" y="5882443"/>
            <a:ext cx="2212257" cy="784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2324</Words>
  <Application>Microsoft Office PowerPoint</Application>
  <PresentationFormat>Widescreen</PresentationFormat>
  <Paragraphs>412</Paragraphs>
  <Slides>41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Helvetica</vt:lpstr>
      <vt:lpstr>Trebuchet MS</vt:lpstr>
      <vt:lpstr>Twentieth Century</vt:lpstr>
      <vt:lpstr>Noto Sans Symbols</vt:lpstr>
      <vt:lpstr>Roboto</vt:lpstr>
      <vt:lpstr>Calibri</vt:lpstr>
      <vt:lpstr>Helvetica Neue</vt:lpstr>
      <vt:lpstr>Theme1</vt:lpstr>
      <vt:lpstr>Software Design and Analysis CS-3004</vt:lpstr>
      <vt:lpstr>Contact Details</vt:lpstr>
      <vt:lpstr>About Me, Dr. Ejaz Ahmed</vt:lpstr>
      <vt:lpstr>Outline</vt:lpstr>
      <vt:lpstr>Course Structure</vt:lpstr>
      <vt:lpstr>Textbooks and Supplementary Reading List</vt:lpstr>
      <vt:lpstr>Software use during this course</vt:lpstr>
      <vt:lpstr>Some Rules</vt:lpstr>
      <vt:lpstr>Attendance Policy</vt:lpstr>
      <vt:lpstr>Dishonesty, Plagiarism</vt:lpstr>
      <vt:lpstr>Google Classroom Code</vt:lpstr>
      <vt:lpstr>Lecture Format</vt:lpstr>
      <vt:lpstr>Why this course is important for you?</vt:lpstr>
      <vt:lpstr>Why this course is important for you?</vt:lpstr>
      <vt:lpstr>What is Software Analysis?</vt:lpstr>
      <vt:lpstr>What is Software Design?</vt:lpstr>
      <vt:lpstr>PowerPoint Presentation</vt:lpstr>
      <vt:lpstr>PowerPoint Presentation</vt:lpstr>
      <vt:lpstr>Software Development Process</vt:lpstr>
      <vt:lpstr>PowerPoint Presentation</vt:lpstr>
      <vt:lpstr>Traditional Software Development Flow</vt:lpstr>
      <vt:lpstr>Software development Methodologies </vt:lpstr>
      <vt:lpstr>Cont..</vt:lpstr>
      <vt:lpstr>Cont..</vt:lpstr>
      <vt:lpstr>PowerPoint Presentation</vt:lpstr>
      <vt:lpstr>Introduction to the Course</vt:lpstr>
      <vt:lpstr>Unified Modeling Language</vt:lpstr>
      <vt:lpstr>Overview of UML Diagrams</vt:lpstr>
      <vt:lpstr>PowerPoint Presentation</vt:lpstr>
      <vt:lpstr>COURSE PROJECT</vt:lpstr>
      <vt:lpstr>SW Development Project: Deliverable 1</vt:lpstr>
      <vt:lpstr>SW Development Project: Deliverable 2</vt:lpstr>
      <vt:lpstr>Project Proposal Components</vt:lpstr>
      <vt:lpstr>SW Development Project: Deliverable 2</vt:lpstr>
      <vt:lpstr>What is a System?</vt:lpstr>
      <vt:lpstr>System with Information</vt:lpstr>
      <vt:lpstr>Need for information</vt:lpstr>
      <vt:lpstr>What is Information System (IS)?</vt:lpstr>
      <vt:lpstr>Artifacts for IS?</vt:lpstr>
      <vt:lpstr>Attributes of IS</vt:lpstr>
      <vt:lpstr>Thanks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and Analysis CS-3004</dc:title>
  <dc:creator>Lenovo</dc:creator>
  <cp:lastModifiedBy>Al Shahbaz</cp:lastModifiedBy>
  <cp:revision>43</cp:revision>
  <dcterms:modified xsi:type="dcterms:W3CDTF">2025-08-18T16:26:33Z</dcterms:modified>
</cp:coreProperties>
</file>