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6858000" cy="9144000"/>
  <p:embeddedFontLst>
    <p:embeddedFont>
      <p:font typeface="IBM Plex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
        <p:nvSpPr>
          <p:cNvPr id="170" name="Google Shape;170;p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7" name="Google Shape;28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 for example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http://en.wikipedia.org/wiki/Multitier_architecture  [last accessed 8/31/2011]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generally consider the browser/client as one of the tiers.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Sometimes the web server box above is thought of as two of the layers [with a web server and scripts the server runs].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See such as http://www.webhostinglogic.com/support/support-topics/web-database-3tier.html</a:t>
            </a:r>
            <a:endParaRPr/>
          </a:p>
        </p:txBody>
      </p:sp>
      <p:sp>
        <p:nvSpPr>
          <p:cNvPr id="288" name="Google Shape;28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2" name="Google Shape;33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 for example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http://en.wikipedia.org/wiki/Multitier_architecture  [last accessed 8/31/2011]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generally consider the browser/client as one of the tiers.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Sometimes the web server box above is thought of as two of the layers [with a web server and scripts the server runs].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See such as http://www.webhostinglogic.com/support/support-topics/web-database-3tier.html</a:t>
            </a:r>
            <a:endParaRPr/>
          </a:p>
        </p:txBody>
      </p:sp>
      <p:sp>
        <p:nvSpPr>
          <p:cNvPr id="333" name="Google Shape;333;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1" name="Google Shape;34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 for example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http://en.wikipedia.org/wiki/Multitier_architecture  [last accessed 8/31/2011]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generally consider the browser/client as one of the tiers.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Sometimes the web server box above is thought of as two of the layers [with a web server and scripts the server runs].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See such as http://www.webhostinglogic.com/support/support-topics/web-database-3tier.html</a:t>
            </a:r>
            <a:endParaRPr/>
          </a:p>
        </p:txBody>
      </p:sp>
      <p:sp>
        <p:nvSpPr>
          <p:cNvPr id="342" name="Google Shape;34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6" name="Google Shape;16;p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7" name="Google Shape;17;p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750"/>
              </a:spcBef>
              <a:spcAft>
                <a:spcPts val="0"/>
              </a:spcAft>
              <a:buClr>
                <a:schemeClr val="dk1"/>
              </a:buClr>
              <a:buSzPts val="2800"/>
              <a:buChar char="•"/>
              <a:defRPr sz="2800"/>
            </a:lvl1pPr>
            <a:lvl2pPr indent="-406400" lvl="1" marL="914400" algn="l">
              <a:lnSpc>
                <a:spcPct val="90000"/>
              </a:lnSpc>
              <a:spcBef>
                <a:spcPts val="375"/>
              </a:spcBef>
              <a:spcAft>
                <a:spcPts val="0"/>
              </a:spcAft>
              <a:buClr>
                <a:schemeClr val="dk1"/>
              </a:buClr>
              <a:buSzPts val="2800"/>
              <a:buChar char="•"/>
              <a:defRPr sz="2800"/>
            </a:lvl2pPr>
            <a:lvl3pPr indent="-406400" lvl="2" marL="1371600" algn="l">
              <a:lnSpc>
                <a:spcPct val="90000"/>
              </a:lnSpc>
              <a:spcBef>
                <a:spcPts val="375"/>
              </a:spcBef>
              <a:spcAft>
                <a:spcPts val="0"/>
              </a:spcAft>
              <a:buClr>
                <a:schemeClr val="dk1"/>
              </a:buClr>
              <a:buSzPts val="2800"/>
              <a:buChar char="•"/>
              <a:defRPr sz="2800"/>
            </a:lvl3pPr>
            <a:lvl4pPr indent="-406400" lvl="3" marL="1828800" algn="l">
              <a:lnSpc>
                <a:spcPct val="90000"/>
              </a:lnSpc>
              <a:spcBef>
                <a:spcPts val="375"/>
              </a:spcBef>
              <a:spcAft>
                <a:spcPts val="0"/>
              </a:spcAft>
              <a:buClr>
                <a:schemeClr val="dk1"/>
              </a:buClr>
              <a:buSzPts val="2800"/>
              <a:buChar char="•"/>
              <a:defRPr sz="2800"/>
            </a:lvl4pPr>
            <a:lvl5pPr indent="-406400" lvl="4" marL="2286000" algn="l">
              <a:lnSpc>
                <a:spcPct val="90000"/>
              </a:lnSpc>
              <a:spcBef>
                <a:spcPts val="375"/>
              </a:spcBef>
              <a:spcAft>
                <a:spcPts val="0"/>
              </a:spcAft>
              <a:buClr>
                <a:schemeClr val="dk1"/>
              </a:buClr>
              <a:buSzPts val="2800"/>
              <a:buChar char="•"/>
              <a:defRPr sz="28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5" name="Google Shape;25;p3"/>
          <p:cNvPicPr preferRelativeResize="0"/>
          <p:nvPr/>
        </p:nvPicPr>
        <p:blipFill rotWithShape="1">
          <a:blip r:embed="rId2">
            <a:alphaModFix/>
          </a:blip>
          <a:srcRect b="0" l="0" r="0" t="0"/>
          <a:stretch/>
        </p:blipFill>
        <p:spPr>
          <a:xfrm>
            <a:off x="245830" y="6319588"/>
            <a:ext cx="1286631" cy="418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6" name="Shape 26"/>
        <p:cNvGrpSpPr/>
        <p:nvPr/>
      </p:nvGrpSpPr>
      <p:grpSpPr>
        <a:xfrm>
          <a:off x="0" y="0"/>
          <a:ext cx="0" cy="0"/>
          <a:chOff x="0" y="0"/>
          <a:chExt cx="0" cy="0"/>
        </a:xfrm>
      </p:grpSpPr>
      <p:sp>
        <p:nvSpPr>
          <p:cNvPr id="27" name="Google Shape;27;p4"/>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 name="Google Shape;28;p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5"/>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2" name="Google Shape;32;p5"/>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3" name="Google Shape;33;p5"/>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8" name="Google Shape;38;p6"/>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3" name="Google Shape;43;p6"/>
          <p:cNvPicPr preferRelativeResize="0"/>
          <p:nvPr/>
        </p:nvPicPr>
        <p:blipFill rotWithShape="1">
          <a:blip r:embed="rId2">
            <a:alphaModFix/>
          </a:blip>
          <a:srcRect b="0" l="0" r="0" t="0"/>
          <a:stretch/>
        </p:blipFill>
        <p:spPr>
          <a:xfrm>
            <a:off x="245830" y="6319588"/>
            <a:ext cx="1286631" cy="41815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6" name="Google Shape;46;p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7" name="Google Shape;47;p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 name="Google Shape;48;p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7"/>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5" name="Google Shape;55;p8"/>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9"/>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4" name="Google Shape;64;p10"/>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5" name="Google Shape;65;p10"/>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6" name="Google Shape;66;p10"/>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1" name="Google Shape;71;p11"/>
          <p:cNvSpPr/>
          <p:nvPr>
            <p:ph idx="2" type="pic"/>
          </p:nvPr>
        </p:nvSpPr>
        <p:spPr>
          <a:xfrm>
            <a:off x="3887391" y="987426"/>
            <a:ext cx="4629150" cy="4873625"/>
          </a:xfrm>
          <a:prstGeom prst="rect">
            <a:avLst/>
          </a:prstGeom>
          <a:noFill/>
          <a:ln>
            <a:noFill/>
          </a:ln>
        </p:spPr>
      </p:sp>
      <p:sp>
        <p:nvSpPr>
          <p:cNvPr id="72" name="Google Shape;72;p11"/>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3" name="Google Shape;73;p11"/>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8" name="Google Shape;78;p12"/>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9" name="Google Shape;79;p12"/>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1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3"/>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4" name="Google Shape;84;p13"/>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5" name="Google Shape;85;p13"/>
          <p:cNvSpPr txBox="1"/>
          <p:nvPr>
            <p:ph idx="10" type="dt"/>
          </p:nvPr>
        </p:nvSpPr>
        <p:spPr>
          <a:xfrm>
            <a:off x="628650" y="6356350"/>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1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95" name="Shape 95"/>
        <p:cNvGrpSpPr/>
        <p:nvPr/>
      </p:nvGrpSpPr>
      <p:grpSpPr>
        <a:xfrm>
          <a:off x="0" y="0"/>
          <a:ext cx="0" cy="0"/>
          <a:chOff x="0" y="0"/>
          <a:chExt cx="0" cy="0"/>
        </a:xfrm>
      </p:grpSpPr>
      <p:sp>
        <p:nvSpPr>
          <p:cNvPr id="96" name="Google Shape;96;p1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3300"/>
              <a:buFont typeface="Arial"/>
              <a:buNone/>
              <a:defRPr b="1" sz="33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17500" lvl="4" marL="2286000" algn="l">
              <a:spcBef>
                <a:spcPts val="280"/>
              </a:spcBef>
              <a:spcAft>
                <a:spcPts val="0"/>
              </a:spcAft>
              <a:buSzPts val="1400"/>
              <a:buChar char="•"/>
              <a:defRPr sz="14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8" name="Google Shape;98;p1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pic>
        <p:nvPicPr>
          <p:cNvPr id="100" name="Google Shape;100;p15"/>
          <p:cNvPicPr preferRelativeResize="0"/>
          <p:nvPr/>
        </p:nvPicPr>
        <p:blipFill rotWithShape="1">
          <a:blip r:embed="rId2">
            <a:alphaModFix/>
          </a:blip>
          <a:srcRect b="0" l="0" r="0" t="0"/>
          <a:stretch/>
        </p:blipFill>
        <p:spPr>
          <a:xfrm>
            <a:off x="245830" y="6319588"/>
            <a:ext cx="1286631" cy="41815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1" name="Shape 101"/>
        <p:cNvGrpSpPr/>
        <p:nvPr/>
      </p:nvGrpSpPr>
      <p:grpSpPr>
        <a:xfrm>
          <a:off x="0" y="0"/>
          <a:ext cx="0" cy="0"/>
          <a:chOff x="0" y="0"/>
          <a:chExt cx="0" cy="0"/>
        </a:xfrm>
      </p:grpSpPr>
      <p:sp>
        <p:nvSpPr>
          <p:cNvPr id="102" name="Google Shape;102;p16"/>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6"/>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SzPts val="2040"/>
              <a:buNone/>
              <a:defRPr>
                <a:solidFill>
                  <a:srgbClr val="3F3F3F"/>
                </a:solidFill>
              </a:defRPr>
            </a:lvl1pPr>
            <a:lvl2pPr lvl="1" algn="ctr">
              <a:spcBef>
                <a:spcPts val="400"/>
              </a:spcBef>
              <a:spcAft>
                <a:spcPts val="0"/>
              </a:spcAft>
              <a:buSzPts val="1700"/>
              <a:buNone/>
              <a:defRPr>
                <a:solidFill>
                  <a:srgbClr val="888888"/>
                </a:solidFill>
              </a:defRPr>
            </a:lvl2pPr>
            <a:lvl3pPr lvl="2" algn="ctr">
              <a:spcBef>
                <a:spcPts val="360"/>
              </a:spcBef>
              <a:spcAft>
                <a:spcPts val="0"/>
              </a:spcAft>
              <a:buSzPts val="1620"/>
              <a:buNone/>
              <a:defRPr>
                <a:solidFill>
                  <a:srgbClr val="888888"/>
                </a:solidFill>
              </a:defRPr>
            </a:lvl3pPr>
            <a:lvl4pPr lvl="3" algn="ctr">
              <a:spcBef>
                <a:spcPts val="320"/>
              </a:spcBef>
              <a:spcAft>
                <a:spcPts val="0"/>
              </a:spcAft>
              <a:buSzPts val="1600"/>
              <a:buNone/>
              <a:defRPr>
                <a:solidFill>
                  <a:srgbClr val="888888"/>
                </a:solidFill>
              </a:defRPr>
            </a:lvl4pPr>
            <a:lvl5pPr lvl="4" algn="ctr">
              <a:spcBef>
                <a:spcPts val="280"/>
              </a:spcBef>
              <a:spcAft>
                <a:spcPts val="0"/>
              </a:spcAft>
              <a:buSzPts val="1400"/>
              <a:buNone/>
              <a:defRPr>
                <a:solidFill>
                  <a:srgbClr val="888888"/>
                </a:solidFill>
              </a:defRPr>
            </a:lvl5pPr>
            <a:lvl6pPr lvl="5" algn="ctr">
              <a:spcBef>
                <a:spcPts val="260"/>
              </a:spcBef>
              <a:spcAft>
                <a:spcPts val="0"/>
              </a:spcAft>
              <a:buSzPts val="1300"/>
              <a:buNone/>
              <a:defRPr>
                <a:solidFill>
                  <a:srgbClr val="888888"/>
                </a:solidFill>
              </a:defRPr>
            </a:lvl6pPr>
            <a:lvl7pPr lvl="6" algn="ctr">
              <a:spcBef>
                <a:spcPts val="260"/>
              </a:spcBef>
              <a:spcAft>
                <a:spcPts val="0"/>
              </a:spcAft>
              <a:buSzPts val="1300"/>
              <a:buNone/>
              <a:defRPr>
                <a:solidFill>
                  <a:srgbClr val="888888"/>
                </a:solidFill>
              </a:defRPr>
            </a:lvl7pPr>
            <a:lvl8pPr lvl="7" algn="ctr">
              <a:spcBef>
                <a:spcPts val="260"/>
              </a:spcBef>
              <a:spcAft>
                <a:spcPts val="0"/>
              </a:spcAft>
              <a:buSzPts val="1300"/>
              <a:buNone/>
              <a:defRPr>
                <a:solidFill>
                  <a:srgbClr val="888888"/>
                </a:solidFill>
              </a:defRPr>
            </a:lvl8pPr>
            <a:lvl9pPr lvl="8" algn="ctr">
              <a:spcBef>
                <a:spcPts val="260"/>
              </a:spcBef>
              <a:spcAft>
                <a:spcPts val="0"/>
              </a:spcAft>
              <a:buSzPts val="1300"/>
              <a:buNone/>
              <a:defRPr>
                <a:solidFill>
                  <a:srgbClr val="888888"/>
                </a:solidFill>
              </a:defRPr>
            </a:lvl9pPr>
          </a:lstStyle>
          <a:p/>
        </p:txBody>
      </p:sp>
      <p:sp>
        <p:nvSpPr>
          <p:cNvPr id="104" name="Google Shape;104;p16"/>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6"/>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6" name="Google Shape;106;p1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07" name="Google Shape;107;p16"/>
          <p:cNvCxnSpPr/>
          <p:nvPr/>
        </p:nvCxnSpPr>
        <p:spPr>
          <a:xfrm>
            <a:off x="685800" y="3398520"/>
            <a:ext cx="784860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108" name="Shape 108"/>
        <p:cNvGrpSpPr/>
        <p:nvPr/>
      </p:nvGrpSpPr>
      <p:grpSpPr>
        <a:xfrm>
          <a:off x="0" y="0"/>
          <a:ext cx="0" cy="0"/>
          <a:chOff x="0" y="0"/>
          <a:chExt cx="0" cy="0"/>
        </a:xfrm>
      </p:grpSpPr>
      <p:sp>
        <p:nvSpPr>
          <p:cNvPr id="109" name="Google Shape;109;p17"/>
          <p:cNvSpPr txBox="1"/>
          <p:nvPr>
            <p:ph type="title"/>
          </p:nvPr>
        </p:nvSpPr>
        <p:spPr>
          <a:xfrm>
            <a:off x="722313" y="2362200"/>
            <a:ext cx="7772400" cy="22002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7"/>
          <p:cNvSpPr txBox="1"/>
          <p:nvPr>
            <p:ph idx="1" type="body"/>
          </p:nvPr>
        </p:nvSpPr>
        <p:spPr>
          <a:xfrm>
            <a:off x="722313" y="4626864"/>
            <a:ext cx="77724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111" name="Google Shape;111;p17"/>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7"/>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13" name="Google Shape;113;p1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14" name="Google Shape;114;p17"/>
          <p:cNvCxnSpPr/>
          <p:nvPr/>
        </p:nvCxnSpPr>
        <p:spPr>
          <a:xfrm>
            <a:off x="731520" y="4599432"/>
            <a:ext cx="7848600" cy="1588"/>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5" name="Shape 115"/>
        <p:cNvGrpSpPr/>
        <p:nvPr/>
      </p:nvGrpSpPr>
      <p:grpSpPr>
        <a:xfrm>
          <a:off x="0" y="0"/>
          <a:ext cx="0" cy="0"/>
          <a:chOff x="0" y="0"/>
          <a:chExt cx="0" cy="0"/>
        </a:xfrm>
      </p:grpSpPr>
      <p:sp>
        <p:nvSpPr>
          <p:cNvPr id="116" name="Google Shape;116;p1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300"/>
              <a:buFont typeface="Arial"/>
              <a:buNone/>
              <a:defRPr b="1" sz="3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8"/>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18" name="Google Shape;118;p18"/>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19" name="Google Shape;119;p18"/>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8"/>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1" name="Google Shape;121;p1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2" name="Shape 122"/>
        <p:cNvGrpSpPr/>
        <p:nvPr/>
      </p:nvGrpSpPr>
      <p:grpSpPr>
        <a:xfrm>
          <a:off x="0" y="0"/>
          <a:ext cx="0" cy="0"/>
          <a:chOff x="0" y="0"/>
          <a:chExt cx="0" cy="0"/>
        </a:xfrm>
      </p:grpSpPr>
      <p:sp>
        <p:nvSpPr>
          <p:cNvPr id="123" name="Google Shape;123;p1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9"/>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25" name="Google Shape;125;p19"/>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26" name="Google Shape;126;p19"/>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27" name="Google Shape;127;p19"/>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28" name="Google Shape;128;p19"/>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9"/>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0" name="Google Shape;130;p1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31" name="Google Shape;131;p19"/>
          <p:cNvCxnSpPr/>
          <p:nvPr/>
        </p:nvCxnSpPr>
        <p:spPr>
          <a:xfrm rot="5400000">
            <a:off x="2217817" y="4045823"/>
            <a:ext cx="470916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2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20"/>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0"/>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6" name="Google Shape;136;p2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7" name="Shape 137"/>
        <p:cNvGrpSpPr/>
        <p:nvPr/>
      </p:nvGrpSpPr>
      <p:grpSpPr>
        <a:xfrm>
          <a:off x="0" y="0"/>
          <a:ext cx="0" cy="0"/>
          <a:chOff x="0" y="0"/>
          <a:chExt cx="0" cy="0"/>
        </a:xfrm>
      </p:grpSpPr>
      <p:sp>
        <p:nvSpPr>
          <p:cNvPr id="138" name="Google Shape;138;p2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1"/>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0" name="Google Shape;140;p2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1" name="Shape 141"/>
        <p:cNvGrpSpPr/>
        <p:nvPr/>
      </p:nvGrpSpPr>
      <p:grpSpPr>
        <a:xfrm>
          <a:off x="0" y="0"/>
          <a:ext cx="0" cy="0"/>
          <a:chOff x="0" y="0"/>
          <a:chExt cx="0" cy="0"/>
        </a:xfrm>
      </p:grpSpPr>
      <p:sp>
        <p:nvSpPr>
          <p:cNvPr id="142" name="Google Shape;142;p22"/>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2"/>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144" name="Google Shape;144;p22"/>
          <p:cNvSpPr txBox="1"/>
          <p:nvPr>
            <p:ph idx="2" type="body"/>
          </p:nvPr>
        </p:nvSpPr>
        <p:spPr>
          <a:xfrm>
            <a:off x="457201" y="2130552"/>
            <a:ext cx="2139696" cy="4243615"/>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45" name="Google Shape;145;p2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2"/>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7" name="Google Shape;147;p2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48" name="Google Shape;148;p22"/>
          <p:cNvCxnSpPr/>
          <p:nvPr/>
        </p:nvCxnSpPr>
        <p:spPr>
          <a:xfrm rot="5400000">
            <a:off x="-13116" y="3580206"/>
            <a:ext cx="557784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9" name="Shape 149"/>
        <p:cNvGrpSpPr/>
        <p:nvPr/>
      </p:nvGrpSpPr>
      <p:grpSpPr>
        <a:xfrm>
          <a:off x="0" y="0"/>
          <a:ext cx="0" cy="0"/>
          <a:chOff x="0" y="0"/>
          <a:chExt cx="0" cy="0"/>
        </a:xfrm>
      </p:grpSpPr>
      <p:sp>
        <p:nvSpPr>
          <p:cNvPr id="150" name="Google Shape;150;p23"/>
          <p:cNvSpPr txBox="1"/>
          <p:nvPr>
            <p:ph type="title"/>
          </p:nvPr>
        </p:nvSpPr>
        <p:spPr>
          <a:xfrm>
            <a:off x="457200" y="792480"/>
            <a:ext cx="2142680" cy="1264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3"/>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sp>
      <p:sp>
        <p:nvSpPr>
          <p:cNvPr id="152" name="Google Shape;152;p23"/>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53" name="Google Shape;153;p2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3"/>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5" name="Google Shape;155;p2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6" name="Shape 156"/>
        <p:cNvGrpSpPr/>
        <p:nvPr/>
      </p:nvGrpSpPr>
      <p:grpSpPr>
        <a:xfrm>
          <a:off x="0" y="0"/>
          <a:ext cx="0" cy="0"/>
          <a:chOff x="0" y="0"/>
          <a:chExt cx="0" cy="0"/>
        </a:xfrm>
      </p:grpSpPr>
      <p:sp>
        <p:nvSpPr>
          <p:cNvPr id="157" name="Google Shape;157;p2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24"/>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59" name="Google Shape;159;p2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4"/>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1" name="Google Shape;161;p2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2" name="Shape 162"/>
        <p:cNvGrpSpPr/>
        <p:nvPr/>
      </p:nvGrpSpPr>
      <p:grpSpPr>
        <a:xfrm>
          <a:off x="0" y="0"/>
          <a:ext cx="0" cy="0"/>
          <a:chOff x="0" y="0"/>
          <a:chExt cx="0" cy="0"/>
        </a:xfrm>
      </p:grpSpPr>
      <p:sp>
        <p:nvSpPr>
          <p:cNvPr id="163" name="Google Shape;163;p25"/>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5"/>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5" name="Google Shape;165;p2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5"/>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7" name="Google Shape;167;p2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1pPr>
            <a:lvl2pPr lvl="1"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2pPr>
            <a:lvl3pPr lvl="2"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3pPr>
            <a:lvl4pPr lvl="3"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4pPr>
            <a:lvl5pPr lvl="4"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5pPr>
            <a:lvl6pPr lvl="5"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6pPr>
            <a:lvl7pPr lvl="6"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7pPr>
            <a:lvl8pPr lvl="7"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8pPr>
            <a:lvl9pPr lvl="8" marR="0" rtl="0" algn="l">
              <a:lnSpc>
                <a:spcPct val="90000"/>
              </a:lnSpc>
              <a:spcBef>
                <a:spcPts val="0"/>
              </a:spcBef>
              <a:spcAft>
                <a:spcPts val="0"/>
              </a:spcAft>
              <a:buSzPts val="1400"/>
              <a:buNone/>
              <a:defRPr b="1" i="0" sz="3300" u="none" cap="none" strike="noStrike">
                <a:solidFill>
                  <a:schemeClr val="dk1"/>
                </a:solidFill>
                <a:latin typeface="Arial"/>
                <a:ea typeface="Arial"/>
                <a:cs typeface="Arial"/>
                <a:sym typeface="Arial"/>
              </a:defRPr>
            </a:lvl9pPr>
          </a:lstStyle>
          <a:p/>
        </p:txBody>
      </p:sp>
      <p:sp>
        <p:nvSpPr>
          <p:cNvPr id="11" name="Google Shape;11;p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81000" lvl="1" marL="9144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81000" lvl="2" marL="13716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81000" lvl="3" marL="18288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4pPr>
            <a:lvl5pPr indent="-381000" lvl="4" marL="22860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9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9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9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9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9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9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9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9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4"/>
          <p:cNvSpPr/>
          <p:nvPr/>
        </p:nvSpPr>
        <p:spPr>
          <a:xfrm>
            <a:off x="0" y="220786"/>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1" name="Google Shape;91;p1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92" name="Google Shape;92;p1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3" name="Google Shape;93;p1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94" name="Google Shape;94;p14"/>
          <p:cNvPicPr preferRelativeResize="0"/>
          <p:nvPr/>
        </p:nvPicPr>
        <p:blipFill rotWithShape="1">
          <a:blip r:embed="rId1">
            <a:alphaModFix/>
          </a:blip>
          <a:srcRect b="0" l="0" r="0" t="0"/>
          <a:stretch/>
        </p:blipFill>
        <p:spPr>
          <a:xfrm>
            <a:off x="245830" y="6319588"/>
            <a:ext cx="1286631" cy="41815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4.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6"/>
          <p:cNvPicPr preferRelativeResize="0"/>
          <p:nvPr/>
        </p:nvPicPr>
        <p:blipFill rotWithShape="1">
          <a:blip r:embed="rId3">
            <a:alphaModFix/>
          </a:blip>
          <a:srcRect b="7000" l="0" r="0" t="0"/>
          <a:stretch/>
        </p:blipFill>
        <p:spPr>
          <a:xfrm>
            <a:off x="1002506" y="1632632"/>
            <a:ext cx="6834187" cy="4413744"/>
          </a:xfrm>
          <a:prstGeom prst="rect">
            <a:avLst/>
          </a:prstGeom>
          <a:noFill/>
          <a:ln>
            <a:noFill/>
          </a:ln>
        </p:spPr>
      </p:pic>
      <p:sp>
        <p:nvSpPr>
          <p:cNvPr id="174" name="Google Shape;174;p26"/>
          <p:cNvSpPr txBox="1"/>
          <p:nvPr>
            <p:ph idx="1" type="subTitle"/>
          </p:nvPr>
        </p:nvSpPr>
        <p:spPr>
          <a:xfrm>
            <a:off x="723900" y="5816600"/>
            <a:ext cx="7696200" cy="106521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r">
              <a:lnSpc>
                <a:spcPct val="80000"/>
              </a:lnSpc>
              <a:spcBef>
                <a:spcPts val="0"/>
              </a:spcBef>
              <a:spcAft>
                <a:spcPts val="0"/>
              </a:spcAft>
              <a:buClr>
                <a:schemeClr val="dk1"/>
              </a:buClr>
              <a:buSzPct val="100000"/>
              <a:buNone/>
            </a:pPr>
            <a:r>
              <a:rPr b="1" lang="en-US" sz="2800"/>
              <a:t>	</a:t>
            </a:r>
            <a:endParaRPr/>
          </a:p>
          <a:p>
            <a:pPr indent="0" lvl="0" marL="0" rtl="0" algn="r">
              <a:lnSpc>
                <a:spcPct val="80000"/>
              </a:lnSpc>
              <a:spcBef>
                <a:spcPts val="750"/>
              </a:spcBef>
              <a:spcAft>
                <a:spcPts val="0"/>
              </a:spcAft>
              <a:buClr>
                <a:schemeClr val="dk1"/>
              </a:buClr>
              <a:buSzPct val="100000"/>
              <a:buNone/>
            </a:pPr>
            <a:r>
              <a:rPr b="1" lang="en-US" sz="11200"/>
              <a:t>Hira Naveed</a:t>
            </a:r>
            <a:endParaRPr/>
          </a:p>
          <a:p>
            <a:pPr indent="0" lvl="0" marL="0" rtl="0" algn="r">
              <a:lnSpc>
                <a:spcPct val="80000"/>
              </a:lnSpc>
              <a:spcBef>
                <a:spcPts val="750"/>
              </a:spcBef>
              <a:spcAft>
                <a:spcPts val="0"/>
              </a:spcAft>
              <a:buClr>
                <a:schemeClr val="dk1"/>
              </a:buClr>
              <a:buSzPct val="100000"/>
              <a:buNone/>
            </a:pPr>
            <a:r>
              <a:rPr lang="en-US" sz="7200"/>
              <a:t>Lecture # 5 Three-tier Architecture</a:t>
            </a:r>
            <a:endParaRPr/>
          </a:p>
          <a:p>
            <a:pPr indent="0" lvl="0" marL="0" rtl="0" algn="r">
              <a:lnSpc>
                <a:spcPct val="80000"/>
              </a:lnSpc>
              <a:spcBef>
                <a:spcPts val="750"/>
              </a:spcBef>
              <a:spcAft>
                <a:spcPts val="0"/>
              </a:spcAft>
              <a:buClr>
                <a:schemeClr val="dk1"/>
              </a:buClr>
              <a:buSzPct val="100000"/>
              <a:buNone/>
            </a:pPr>
            <a:r>
              <a:t/>
            </a:r>
            <a:endParaRPr sz="6400"/>
          </a:p>
          <a:p>
            <a:pPr indent="0" lvl="0" marL="0" rtl="0" algn="r">
              <a:lnSpc>
                <a:spcPct val="80000"/>
              </a:lnSpc>
              <a:spcBef>
                <a:spcPts val="750"/>
              </a:spcBef>
              <a:spcAft>
                <a:spcPts val="0"/>
              </a:spcAft>
              <a:buClr>
                <a:schemeClr val="dk1"/>
              </a:buClr>
              <a:buSzPct val="100000"/>
              <a:buNone/>
            </a:pPr>
            <a:r>
              <a:rPr b="1" lang="en-US" sz="2800"/>
              <a:t>		</a:t>
            </a:r>
            <a:endParaRPr/>
          </a:p>
        </p:txBody>
      </p:sp>
      <p:sp>
        <p:nvSpPr>
          <p:cNvPr id="175" name="Google Shape;175;p26"/>
          <p:cNvSpPr/>
          <p:nvPr/>
        </p:nvSpPr>
        <p:spPr>
          <a:xfrm>
            <a:off x="1219200" y="5486400"/>
            <a:ext cx="64008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333399"/>
              </a:solidFill>
              <a:latin typeface="Arial"/>
              <a:ea typeface="Arial"/>
              <a:cs typeface="Arial"/>
              <a:sym typeface="Arial"/>
            </a:endParaRPr>
          </a:p>
        </p:txBody>
      </p:sp>
      <p:pic>
        <p:nvPicPr>
          <p:cNvPr id="176" name="Google Shape;176;p26"/>
          <p:cNvPicPr preferRelativeResize="0"/>
          <p:nvPr/>
        </p:nvPicPr>
        <p:blipFill rotWithShape="1">
          <a:blip r:embed="rId4">
            <a:alphaModFix/>
          </a:blip>
          <a:srcRect b="0" l="0" r="0" t="0"/>
          <a:stretch/>
        </p:blipFill>
        <p:spPr>
          <a:xfrm>
            <a:off x="1376363" y="158750"/>
            <a:ext cx="830262" cy="830263"/>
          </a:xfrm>
          <a:prstGeom prst="rect">
            <a:avLst/>
          </a:prstGeom>
          <a:noFill/>
          <a:ln>
            <a:noFill/>
          </a:ln>
        </p:spPr>
      </p:pic>
      <p:sp>
        <p:nvSpPr>
          <p:cNvPr id="177" name="Google Shape;177;p26"/>
          <p:cNvSpPr txBox="1"/>
          <p:nvPr/>
        </p:nvSpPr>
        <p:spPr>
          <a:xfrm>
            <a:off x="1944688" y="244475"/>
            <a:ext cx="5600700" cy="12065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National University of Computer 	and Emerging Sciences					</a:t>
            </a:r>
            <a:endParaRPr/>
          </a:p>
        </p:txBody>
      </p:sp>
      <p:sp>
        <p:nvSpPr>
          <p:cNvPr id="178" name="Google Shape;178;p26"/>
          <p:cNvSpPr txBox="1"/>
          <p:nvPr/>
        </p:nvSpPr>
        <p:spPr>
          <a:xfrm>
            <a:off x="723900" y="1399152"/>
            <a:ext cx="7696200" cy="686093"/>
          </a:xfrm>
          <a:prstGeom prst="rect">
            <a:avLst/>
          </a:prstGeom>
          <a:noFill/>
          <a:ln>
            <a:noFill/>
          </a:ln>
        </p:spPr>
        <p:txBody>
          <a:bodyPr anchorCtr="0" anchor="b"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Software Design and Architecture</a:t>
            </a:r>
            <a:endParaRPr/>
          </a:p>
        </p:txBody>
      </p:sp>
      <p:pic>
        <p:nvPicPr>
          <p:cNvPr id="179" name="Google Shape;179;p26"/>
          <p:cNvPicPr preferRelativeResize="0"/>
          <p:nvPr/>
        </p:nvPicPr>
        <p:blipFill rotWithShape="1">
          <a:blip r:embed="rId5">
            <a:alphaModFix/>
          </a:blip>
          <a:srcRect b="0" l="0" r="0" t="0"/>
          <a:stretch/>
        </p:blipFill>
        <p:spPr>
          <a:xfrm>
            <a:off x="723900" y="6107824"/>
            <a:ext cx="1743831" cy="5667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3-tier Architecture</a:t>
            </a:r>
            <a:endParaRPr/>
          </a:p>
        </p:txBody>
      </p:sp>
      <p:sp>
        <p:nvSpPr>
          <p:cNvPr id="185" name="Google Shape;185;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A software architecture that organizes applications into </a:t>
            </a:r>
            <a:r>
              <a:rPr lang="en-US">
                <a:solidFill>
                  <a:srgbClr val="FF0000"/>
                </a:solidFill>
              </a:rPr>
              <a:t>three</a:t>
            </a:r>
            <a:r>
              <a:rPr lang="en-US"/>
              <a:t> </a:t>
            </a:r>
            <a:r>
              <a:rPr lang="en-US">
                <a:solidFill>
                  <a:srgbClr val="0070C0"/>
                </a:solidFill>
              </a:rPr>
              <a:t>logical</a:t>
            </a:r>
            <a:r>
              <a:rPr lang="en-US"/>
              <a:t> and </a:t>
            </a:r>
            <a:r>
              <a:rPr lang="en-US">
                <a:solidFill>
                  <a:srgbClr val="0070C0"/>
                </a:solidFill>
              </a:rPr>
              <a:t>physical computing tiers:</a:t>
            </a:r>
            <a:endParaRPr/>
          </a:p>
          <a:p>
            <a:pPr indent="-457200" lvl="1" marL="731520" rtl="0" algn="l">
              <a:spcBef>
                <a:spcPts val="480"/>
              </a:spcBef>
              <a:spcAft>
                <a:spcPts val="0"/>
              </a:spcAft>
              <a:buSzPts val="2040"/>
              <a:buFont typeface="Arial"/>
              <a:buAutoNum type="arabicPeriod"/>
            </a:pPr>
            <a:r>
              <a:rPr b="1" lang="en-US" sz="2400"/>
              <a:t>Presentation tier, </a:t>
            </a:r>
            <a:r>
              <a:rPr lang="en-US" sz="2400"/>
              <a:t>or user interface; </a:t>
            </a:r>
            <a:endParaRPr/>
          </a:p>
          <a:p>
            <a:pPr indent="-327660" lvl="1" marL="731520" rtl="0" algn="l">
              <a:spcBef>
                <a:spcPts val="480"/>
              </a:spcBef>
              <a:spcAft>
                <a:spcPts val="0"/>
              </a:spcAft>
              <a:buSzPts val="2040"/>
              <a:buFont typeface="Arial"/>
              <a:buNone/>
            </a:pPr>
            <a:r>
              <a:t/>
            </a:r>
            <a:endParaRPr sz="2400"/>
          </a:p>
          <a:p>
            <a:pPr indent="-457200" lvl="1" marL="731520" rtl="0" algn="l">
              <a:spcBef>
                <a:spcPts val="480"/>
              </a:spcBef>
              <a:spcAft>
                <a:spcPts val="0"/>
              </a:spcAft>
              <a:buSzPts val="2040"/>
              <a:buFont typeface="Arial"/>
              <a:buAutoNum type="arabicPeriod"/>
            </a:pPr>
            <a:r>
              <a:rPr b="1" lang="en-US" sz="2400"/>
              <a:t>Application tier, </a:t>
            </a:r>
            <a:r>
              <a:rPr lang="en-US" sz="2400"/>
              <a:t>where data is processed;</a:t>
            </a:r>
            <a:endParaRPr/>
          </a:p>
          <a:p>
            <a:pPr indent="-327660" lvl="1" marL="731520" rtl="0" algn="l">
              <a:spcBef>
                <a:spcPts val="480"/>
              </a:spcBef>
              <a:spcAft>
                <a:spcPts val="0"/>
              </a:spcAft>
              <a:buSzPts val="2040"/>
              <a:buFont typeface="Arial"/>
              <a:buNone/>
            </a:pPr>
            <a:r>
              <a:t/>
            </a:r>
            <a:endParaRPr sz="2400"/>
          </a:p>
          <a:p>
            <a:pPr indent="-457200" lvl="1" marL="731520" rtl="0" algn="l">
              <a:spcBef>
                <a:spcPts val="480"/>
              </a:spcBef>
              <a:spcAft>
                <a:spcPts val="0"/>
              </a:spcAft>
              <a:buSzPts val="2040"/>
              <a:buFont typeface="Arial"/>
              <a:buAutoNum type="arabicPeriod"/>
            </a:pPr>
            <a:r>
              <a:rPr b="1" lang="en-US" sz="2400"/>
              <a:t>Data tier, </a:t>
            </a:r>
            <a:r>
              <a:rPr lang="en-US" sz="2400"/>
              <a:t>where the data associated with the application is stored and managed.</a:t>
            </a:r>
            <a:endParaRPr/>
          </a:p>
          <a:p>
            <a:pPr indent="0" lvl="0" marL="0" rtl="0" algn="l">
              <a:spcBef>
                <a:spcPts val="480"/>
              </a:spcBef>
              <a:spcAft>
                <a:spcPts val="0"/>
              </a:spcAft>
              <a:buSzPts val="2040"/>
              <a:buNone/>
            </a:pPr>
            <a:r>
              <a:t/>
            </a:r>
            <a:endParaRPr/>
          </a:p>
        </p:txBody>
      </p:sp>
      <p:sp>
        <p:nvSpPr>
          <p:cNvPr id="186" name="Google Shape;186;p2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Tier vs Layer</a:t>
            </a:r>
            <a:endParaRPr/>
          </a:p>
        </p:txBody>
      </p:sp>
      <p:sp>
        <p:nvSpPr>
          <p:cNvPr id="192" name="Google Shape;192;p2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10000"/>
          </a:bodyPr>
          <a:lstStyle/>
          <a:p>
            <a:pPr indent="-182880" lvl="0" marL="182880" rtl="0" algn="l">
              <a:spcBef>
                <a:spcPts val="0"/>
              </a:spcBef>
              <a:spcAft>
                <a:spcPts val="0"/>
              </a:spcAft>
              <a:buSzPts val="2040"/>
              <a:buChar char="•"/>
            </a:pPr>
            <a:r>
              <a:rPr lang="en-US"/>
              <a:t>They aren't the same. </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A </a:t>
            </a:r>
            <a:r>
              <a:rPr lang="en-US" u="sng"/>
              <a:t>'layer</a:t>
            </a:r>
            <a:r>
              <a:rPr lang="en-US"/>
              <a:t>' refers to a </a:t>
            </a:r>
            <a:r>
              <a:rPr lang="en-US">
                <a:solidFill>
                  <a:srgbClr val="0070C0"/>
                </a:solidFill>
              </a:rPr>
              <a:t>functional division of the software</a:t>
            </a:r>
            <a:r>
              <a:rPr lang="en-US"/>
              <a:t>, but a </a:t>
            </a:r>
            <a:r>
              <a:rPr lang="en-US" u="sng"/>
              <a:t>'tier</a:t>
            </a:r>
            <a:r>
              <a:rPr lang="en-US"/>
              <a:t>' refers to a functional division of the software that </a:t>
            </a:r>
            <a:r>
              <a:rPr lang="en-US">
                <a:solidFill>
                  <a:srgbClr val="0070C0"/>
                </a:solidFill>
              </a:rPr>
              <a:t>runs on separate hardware</a:t>
            </a:r>
            <a:r>
              <a:rPr lang="en-US"/>
              <a:t> </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The Contacts app on your phone, for example, is a </a:t>
            </a:r>
            <a:r>
              <a:rPr lang="en-US">
                <a:solidFill>
                  <a:srgbClr val="FF0000"/>
                </a:solidFill>
              </a:rPr>
              <a:t>three-layer application</a:t>
            </a:r>
            <a:r>
              <a:rPr lang="en-US"/>
              <a:t>, but a </a:t>
            </a:r>
            <a:r>
              <a:rPr lang="en-US">
                <a:solidFill>
                  <a:srgbClr val="0070C0"/>
                </a:solidFill>
              </a:rPr>
              <a:t>single-tier application</a:t>
            </a:r>
            <a:r>
              <a:rPr lang="en-US"/>
              <a:t>, because all three layers run on your phone.</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The difference is important, because layers can't offer the same benefits as tiers.</a:t>
            </a:r>
            <a:endParaRPr/>
          </a:p>
          <a:p>
            <a:pPr indent="0" lvl="0" marL="0" rtl="0" algn="l">
              <a:spcBef>
                <a:spcPts val="480"/>
              </a:spcBef>
              <a:spcAft>
                <a:spcPts val="0"/>
              </a:spcAft>
              <a:buSzPts val="2040"/>
              <a:buNone/>
            </a:pPr>
            <a:r>
              <a:t/>
            </a:r>
            <a:endParaRPr/>
          </a:p>
        </p:txBody>
      </p:sp>
      <p:sp>
        <p:nvSpPr>
          <p:cNvPr id="193" name="Google Shape;193;p2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94" name="Google Shape;194;p28"/>
          <p:cNvSpPr/>
          <p:nvPr/>
        </p:nvSpPr>
        <p:spPr>
          <a:xfrm>
            <a:off x="4604084" y="115022"/>
            <a:ext cx="4419600" cy="2209800"/>
          </a:xfrm>
          <a:prstGeom prst="cloudCallout">
            <a:avLst>
              <a:gd fmla="val -20833" name="adj1"/>
              <a:gd fmla="val 62500" name="adj2"/>
            </a:avLst>
          </a:prstGeom>
          <a:solidFill>
            <a:srgbClr val="CCCCCC"/>
          </a:solidFill>
          <a:ln cap="flat" cmpd="sng" w="264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l">
              <a:spcBef>
                <a:spcPts val="0"/>
              </a:spcBef>
              <a:spcAft>
                <a:spcPts val="0"/>
              </a:spcAft>
              <a:buNone/>
            </a:pPr>
            <a:r>
              <a:rPr b="1" i="0" lang="en-US" sz="2400" u="sng" cap="none" strike="noStrike">
                <a:solidFill>
                  <a:schemeClr val="dk1"/>
                </a:solidFill>
                <a:latin typeface="Arial"/>
                <a:ea typeface="Arial"/>
                <a:cs typeface="Arial"/>
                <a:sym typeface="Arial"/>
              </a:rPr>
              <a:t>Tier:</a:t>
            </a:r>
            <a:r>
              <a:rPr b="1"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physical separation</a:t>
            </a:r>
            <a:endParaRPr/>
          </a:p>
          <a:p>
            <a:pPr indent="0" lvl="1" marL="457200" marR="0" rtl="0" algn="l">
              <a:spcBef>
                <a:spcPts val="0"/>
              </a:spcBef>
              <a:spcAft>
                <a:spcPts val="0"/>
              </a:spcAft>
              <a:buNone/>
            </a:pPr>
            <a:r>
              <a:rPr b="1" i="0" lang="en-US" sz="2400" u="sng" cap="none" strike="noStrike">
                <a:solidFill>
                  <a:schemeClr val="dk1"/>
                </a:solidFill>
                <a:latin typeface="Arial"/>
                <a:ea typeface="Arial"/>
                <a:cs typeface="Arial"/>
                <a:sym typeface="Arial"/>
              </a:rPr>
              <a:t>Layer:</a:t>
            </a:r>
            <a:r>
              <a:rPr b="1"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logical separation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9"/>
          <p:cNvPicPr preferRelativeResize="0"/>
          <p:nvPr/>
        </p:nvPicPr>
        <p:blipFill rotWithShape="1">
          <a:blip r:embed="rId3">
            <a:alphaModFix/>
          </a:blip>
          <a:srcRect b="0" l="0" r="0" t="0"/>
          <a:stretch/>
        </p:blipFill>
        <p:spPr>
          <a:xfrm>
            <a:off x="803262" y="1340768"/>
            <a:ext cx="7572375" cy="2667000"/>
          </a:xfrm>
          <a:prstGeom prst="rect">
            <a:avLst/>
          </a:prstGeom>
          <a:noFill/>
          <a:ln>
            <a:noFill/>
          </a:ln>
        </p:spPr>
      </p:pic>
      <p:sp>
        <p:nvSpPr>
          <p:cNvPr id="200" name="Google Shape;200;p29"/>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3-Tier Architecture</a:t>
            </a:r>
            <a:br>
              <a:rPr lang="en-US"/>
            </a:br>
            <a:endParaRPr/>
          </a:p>
        </p:txBody>
      </p:sp>
      <p:sp>
        <p:nvSpPr>
          <p:cNvPr id="201" name="Google Shape;201;p29"/>
          <p:cNvSpPr txBox="1"/>
          <p:nvPr>
            <p:ph idx="1" type="body"/>
          </p:nvPr>
        </p:nvSpPr>
        <p:spPr>
          <a:xfrm>
            <a:off x="628650" y="4190999"/>
            <a:ext cx="7886700" cy="1985963"/>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2800"/>
              <a:buFont typeface="Courier New"/>
              <a:buChar char="o"/>
            </a:pPr>
            <a:r>
              <a:rPr lang="en-US"/>
              <a:t>Each layer runs on a different machine</a:t>
            </a:r>
            <a:endParaRPr/>
          </a:p>
          <a:p>
            <a:pPr indent="0" lvl="0" marL="0" marR="0" rtl="0" algn="l">
              <a:lnSpc>
                <a:spcPct val="100000"/>
              </a:lnSpc>
              <a:spcBef>
                <a:spcPts val="0"/>
              </a:spcBef>
              <a:spcAft>
                <a:spcPts val="0"/>
              </a:spcAft>
              <a:buClr>
                <a:schemeClr val="dk1"/>
              </a:buClr>
              <a:buSzPts val="2800"/>
              <a:buFont typeface="Calibri"/>
              <a:buNone/>
            </a:pPr>
            <a:r>
              <a:t/>
            </a:r>
            <a:endParaRPr/>
          </a:p>
          <a:p>
            <a:pPr indent="-285750" lvl="0" marL="285750" marR="0" rtl="0" algn="l">
              <a:lnSpc>
                <a:spcPct val="100000"/>
              </a:lnSpc>
              <a:spcBef>
                <a:spcPts val="0"/>
              </a:spcBef>
              <a:spcAft>
                <a:spcPts val="0"/>
              </a:spcAft>
              <a:buClr>
                <a:schemeClr val="dk1"/>
              </a:buClr>
              <a:buSzPts val="2800"/>
              <a:buFont typeface="Courier New"/>
              <a:buChar char="o"/>
            </a:pPr>
            <a:r>
              <a:rPr lang="en-US"/>
              <a:t>Presentation, logic, data layers disconnected</a:t>
            </a:r>
            <a:endParaRPr/>
          </a:p>
          <a:p>
            <a:pPr indent="0" lvl="0" marL="0" rtl="0" algn="l">
              <a:lnSpc>
                <a:spcPct val="90000"/>
              </a:lnSpc>
              <a:spcBef>
                <a:spcPts val="750"/>
              </a:spcBef>
              <a:spcAft>
                <a:spcPts val="0"/>
              </a:spcAft>
              <a:buClr>
                <a:schemeClr val="dk1"/>
              </a:buClr>
              <a:buSzPts val="2800"/>
              <a:buNone/>
            </a:pPr>
            <a:r>
              <a:t/>
            </a:r>
            <a:endParaRPr/>
          </a:p>
        </p:txBody>
      </p:sp>
      <p:sp>
        <p:nvSpPr>
          <p:cNvPr id="202" name="Google Shape;202;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Presentation Tier</a:t>
            </a:r>
            <a:endParaRPr/>
          </a:p>
        </p:txBody>
      </p:sp>
      <p:sp>
        <p:nvSpPr>
          <p:cNvPr id="208" name="Google Shape;208;p30"/>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The </a:t>
            </a:r>
            <a:r>
              <a:rPr lang="en-US">
                <a:solidFill>
                  <a:srgbClr val="0070C0"/>
                </a:solidFill>
              </a:rPr>
              <a:t>user interface </a:t>
            </a:r>
            <a:r>
              <a:rPr lang="en-US"/>
              <a:t>and </a:t>
            </a:r>
            <a:r>
              <a:rPr lang="en-US">
                <a:solidFill>
                  <a:srgbClr val="0070C0"/>
                </a:solidFill>
              </a:rPr>
              <a:t>communication layer </a:t>
            </a:r>
            <a:r>
              <a:rPr lang="en-US"/>
              <a:t>of the application, where the end user interacts with the application. </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Its main purpose is to </a:t>
            </a:r>
            <a:r>
              <a:rPr lang="en-US">
                <a:solidFill>
                  <a:srgbClr val="0070C0"/>
                </a:solidFill>
              </a:rPr>
              <a:t>display information </a:t>
            </a:r>
            <a:r>
              <a:rPr lang="en-US"/>
              <a:t>to and </a:t>
            </a:r>
            <a:r>
              <a:rPr lang="en-US">
                <a:solidFill>
                  <a:srgbClr val="0070C0"/>
                </a:solidFill>
              </a:rPr>
              <a:t>collect information</a:t>
            </a:r>
            <a:r>
              <a:rPr lang="en-US"/>
              <a:t> from the user. </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This top-level tier can run on a web browser, as desktop application, or a graphical user interface (GUI), for example. </a:t>
            </a:r>
            <a:endParaRPr/>
          </a:p>
        </p:txBody>
      </p:sp>
      <p:sp>
        <p:nvSpPr>
          <p:cNvPr id="209" name="Google Shape;209;p3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Presentation Tier</a:t>
            </a:r>
            <a:endParaRPr/>
          </a:p>
        </p:txBody>
      </p:sp>
      <p:sp>
        <p:nvSpPr>
          <p:cNvPr id="215" name="Google Shape;215;p3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Graphical User Interface Examples" id="216" name="Google Shape;216;p31"/>
          <p:cNvPicPr preferRelativeResize="0"/>
          <p:nvPr>
            <p:ph idx="1" type="body"/>
          </p:nvPr>
        </p:nvPicPr>
        <p:blipFill rotWithShape="1">
          <a:blip r:embed="rId3">
            <a:alphaModFix/>
          </a:blip>
          <a:srcRect b="0" l="0" r="0" t="0"/>
          <a:stretch/>
        </p:blipFill>
        <p:spPr>
          <a:xfrm>
            <a:off x="522017" y="1681854"/>
            <a:ext cx="3791588" cy="2125987"/>
          </a:xfrm>
          <a:prstGeom prst="rect">
            <a:avLst/>
          </a:prstGeom>
          <a:noFill/>
          <a:ln>
            <a:noFill/>
          </a:ln>
        </p:spPr>
      </p:pic>
      <p:pic>
        <p:nvPicPr>
          <p:cNvPr descr="Graphical User Interface Examples" id="217" name="Google Shape;217;p31"/>
          <p:cNvPicPr preferRelativeResize="0"/>
          <p:nvPr/>
        </p:nvPicPr>
        <p:blipFill rotWithShape="1">
          <a:blip r:embed="rId4">
            <a:alphaModFix/>
          </a:blip>
          <a:srcRect b="0" l="0" r="0" t="0"/>
          <a:stretch/>
        </p:blipFill>
        <p:spPr>
          <a:xfrm>
            <a:off x="4701539" y="1600200"/>
            <a:ext cx="4442461" cy="3657600"/>
          </a:xfrm>
          <a:prstGeom prst="rect">
            <a:avLst/>
          </a:prstGeom>
          <a:noFill/>
          <a:ln>
            <a:noFill/>
          </a:ln>
        </p:spPr>
      </p:pic>
      <p:pic>
        <p:nvPicPr>
          <p:cNvPr descr="Facebook page GUI PSD/Sketch Template | Every Interaction" id="218" name="Google Shape;218;p31"/>
          <p:cNvPicPr preferRelativeResize="0"/>
          <p:nvPr/>
        </p:nvPicPr>
        <p:blipFill rotWithShape="1">
          <a:blip r:embed="rId5">
            <a:alphaModFix/>
          </a:blip>
          <a:srcRect b="0" l="0" r="0" t="0"/>
          <a:stretch/>
        </p:blipFill>
        <p:spPr>
          <a:xfrm>
            <a:off x="522017" y="3965695"/>
            <a:ext cx="3843594" cy="20145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Application Tier</a:t>
            </a:r>
            <a:endParaRPr/>
          </a:p>
        </p:txBody>
      </p:sp>
      <p:sp>
        <p:nvSpPr>
          <p:cNvPr id="224" name="Google Shape;224;p3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10000"/>
          </a:bodyPr>
          <a:lstStyle/>
          <a:p>
            <a:pPr indent="-182880" lvl="0" marL="182880" rtl="0" algn="l">
              <a:spcBef>
                <a:spcPts val="0"/>
              </a:spcBef>
              <a:spcAft>
                <a:spcPts val="0"/>
              </a:spcAft>
              <a:buSzPts val="2040"/>
              <a:buChar char="•"/>
            </a:pPr>
            <a:r>
              <a:rPr lang="en-US"/>
              <a:t>a.k.a the business logic tier, is the </a:t>
            </a:r>
            <a:r>
              <a:rPr lang="en-US">
                <a:solidFill>
                  <a:srgbClr val="0070C0"/>
                </a:solidFill>
              </a:rPr>
              <a:t>heart of the application</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In this tier, information collected in the presentation tier is processed - </a:t>
            </a:r>
            <a:r>
              <a:rPr lang="en-US">
                <a:solidFill>
                  <a:srgbClr val="0070C0"/>
                </a:solidFill>
              </a:rPr>
              <a:t>using business logic</a:t>
            </a:r>
            <a:r>
              <a:rPr lang="en-US"/>
              <a:t>, a specific set of business rules. </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The application tier can also </a:t>
            </a:r>
            <a:r>
              <a:rPr lang="en-US">
                <a:solidFill>
                  <a:srgbClr val="0070C0"/>
                </a:solidFill>
              </a:rPr>
              <a:t>add, delete or modify data in the data tier</a:t>
            </a:r>
            <a:r>
              <a:rPr lang="en-US"/>
              <a:t>.</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The application tier is typically developed using Python, Java, Perl, PHP or Ruby, and communicates with the data tier using API calls. </a:t>
            </a:r>
            <a:endParaRPr/>
          </a:p>
          <a:p>
            <a:pPr indent="-53339" lvl="0" marL="182880" rtl="0" algn="l">
              <a:spcBef>
                <a:spcPts val="480"/>
              </a:spcBef>
              <a:spcAft>
                <a:spcPts val="0"/>
              </a:spcAft>
              <a:buSzPts val="2040"/>
              <a:buNone/>
            </a:pPr>
            <a:r>
              <a:t/>
            </a:r>
            <a:endParaRPr/>
          </a:p>
        </p:txBody>
      </p:sp>
      <p:sp>
        <p:nvSpPr>
          <p:cNvPr id="225" name="Google Shape;225;p3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Application Tier</a:t>
            </a:r>
            <a:endParaRPr/>
          </a:p>
        </p:txBody>
      </p:sp>
      <p:sp>
        <p:nvSpPr>
          <p:cNvPr id="231" name="Google Shape;231;p3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Java - OOP Basics 1/5 (Class and Object) - YouTube" id="232" name="Google Shape;232;p33"/>
          <p:cNvPicPr preferRelativeResize="0"/>
          <p:nvPr>
            <p:ph idx="1" type="body"/>
          </p:nvPr>
        </p:nvPicPr>
        <p:blipFill rotWithShape="1">
          <a:blip r:embed="rId3">
            <a:alphaModFix/>
          </a:blip>
          <a:srcRect b="0" l="0" r="0" t="0"/>
          <a:stretch/>
        </p:blipFill>
        <p:spPr>
          <a:xfrm>
            <a:off x="457200" y="1675397"/>
            <a:ext cx="8229600" cy="4629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Data Tier</a:t>
            </a:r>
            <a:endParaRPr/>
          </a:p>
        </p:txBody>
      </p:sp>
      <p:sp>
        <p:nvSpPr>
          <p:cNvPr id="238" name="Google Shape;238;p3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Also called database tier, is where the information processed by the application is </a:t>
            </a:r>
            <a:r>
              <a:rPr lang="en-US">
                <a:solidFill>
                  <a:srgbClr val="0070C0"/>
                </a:solidFill>
              </a:rPr>
              <a:t>stored and managed</a:t>
            </a:r>
            <a:r>
              <a:rPr lang="en-US"/>
              <a:t>. </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solidFill>
                  <a:schemeClr val="dk2"/>
                </a:solidFill>
              </a:rPr>
              <a:t>This can be a relational database management system such as MySQL, Oracle or a NO-SQL database like MongoDB, Hadoop etc.</a:t>
            </a:r>
            <a:endParaRPr>
              <a:solidFill>
                <a:schemeClr val="dk2"/>
              </a:solidFill>
            </a:endParaRPr>
          </a:p>
        </p:txBody>
      </p:sp>
      <p:sp>
        <p:nvSpPr>
          <p:cNvPr id="239" name="Google Shape;239;p3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Data Tier</a:t>
            </a:r>
            <a:endParaRPr/>
          </a:p>
        </p:txBody>
      </p:sp>
      <p:sp>
        <p:nvSpPr>
          <p:cNvPr id="245" name="Google Shape;245;p3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SQL vs NoSQL - Difference B/W SQL &amp;amp;amp; NoSQL Databases | MySQL vs MongoDB  Tutorial | Edureka - YouTube" id="246" name="Google Shape;246;p35"/>
          <p:cNvPicPr preferRelativeResize="0"/>
          <p:nvPr>
            <p:ph idx="1" type="body"/>
          </p:nvPr>
        </p:nvPicPr>
        <p:blipFill rotWithShape="1">
          <a:blip r:embed="rId3">
            <a:alphaModFix/>
          </a:blip>
          <a:srcRect b="5554" l="6482" r="57406" t="15432"/>
          <a:stretch/>
        </p:blipFill>
        <p:spPr>
          <a:xfrm>
            <a:off x="990600" y="1981201"/>
            <a:ext cx="2971800" cy="3657600"/>
          </a:xfrm>
          <a:prstGeom prst="rect">
            <a:avLst/>
          </a:prstGeom>
          <a:noFill/>
          <a:ln>
            <a:noFill/>
          </a:ln>
        </p:spPr>
      </p:pic>
      <p:pic>
        <p:nvPicPr>
          <p:cNvPr descr="SQL vs NoSQL - Difference B/W SQL &amp;amp;amp; NoSQL Databases | MySQL vs MongoDB  Tutorial | Edureka - YouTube" id="247" name="Google Shape;247;p35"/>
          <p:cNvPicPr preferRelativeResize="0"/>
          <p:nvPr/>
        </p:nvPicPr>
        <p:blipFill rotWithShape="1">
          <a:blip r:embed="rId3">
            <a:alphaModFix/>
          </a:blip>
          <a:srcRect b="5554" l="51854" r="12033" t="15432"/>
          <a:stretch/>
        </p:blipFill>
        <p:spPr>
          <a:xfrm>
            <a:off x="5181602" y="1981201"/>
            <a:ext cx="2971800" cy="3657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Three-tier architecture overview - AWS Serverless Multi-Tier Architectures  with Amazon API Gateway and AWS Lambda" id="252" name="Google Shape;252;p36"/>
          <p:cNvPicPr preferRelativeResize="0"/>
          <p:nvPr/>
        </p:nvPicPr>
        <p:blipFill rotWithShape="1">
          <a:blip r:embed="rId3">
            <a:alphaModFix/>
          </a:blip>
          <a:srcRect b="12629" l="0" r="0" t="0"/>
          <a:stretch/>
        </p:blipFill>
        <p:spPr>
          <a:xfrm>
            <a:off x="1129254" y="3830469"/>
            <a:ext cx="6885492" cy="2494131"/>
          </a:xfrm>
          <a:prstGeom prst="rect">
            <a:avLst/>
          </a:prstGeom>
          <a:noFill/>
          <a:ln>
            <a:noFill/>
          </a:ln>
        </p:spPr>
      </p:pic>
      <p:sp>
        <p:nvSpPr>
          <p:cNvPr id="253" name="Google Shape;253;p3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In a three-tier application, all communication </a:t>
            </a:r>
            <a:r>
              <a:rPr lang="en-US">
                <a:solidFill>
                  <a:srgbClr val="0070C0"/>
                </a:solidFill>
              </a:rPr>
              <a:t>goes through the application tier</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The presentation tier and the data tier </a:t>
            </a:r>
            <a:r>
              <a:rPr lang="en-US">
                <a:solidFill>
                  <a:srgbClr val="0070C0"/>
                </a:solidFill>
              </a:rPr>
              <a:t>cannot communicate directly</a:t>
            </a:r>
            <a:r>
              <a:rPr lang="en-US"/>
              <a:t> with one another</a:t>
            </a:r>
            <a:endParaRPr/>
          </a:p>
        </p:txBody>
      </p:sp>
      <p:sp>
        <p:nvSpPr>
          <p:cNvPr id="254" name="Google Shape;254;p3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Three-Tier Architecture</a:t>
            </a:r>
            <a:endParaRPr/>
          </a:p>
        </p:txBody>
      </p:sp>
      <p:sp>
        <p:nvSpPr>
          <p:cNvPr id="255" name="Google Shape;255;p3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N-tier Architecture</a:t>
            </a:r>
            <a:endParaRPr/>
          </a:p>
        </p:txBody>
      </p:sp>
      <p:sp>
        <p:nvSpPr>
          <p:cNvPr id="261" name="Google Shape;261;p3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While three-tier architecture is easily the </a:t>
            </a:r>
            <a:r>
              <a:rPr lang="en-US">
                <a:solidFill>
                  <a:srgbClr val="0070C0"/>
                </a:solidFill>
              </a:rPr>
              <a:t>most widely-adopted multi-tier application architecture</a:t>
            </a:r>
            <a:r>
              <a:rPr lang="en-US"/>
              <a:t>, there are others also</a:t>
            </a:r>
            <a:endParaRPr/>
          </a:p>
          <a:p>
            <a:pPr indent="-53339" lvl="0" marL="182880" rtl="0" algn="l">
              <a:spcBef>
                <a:spcPts val="480"/>
              </a:spcBef>
              <a:spcAft>
                <a:spcPts val="0"/>
              </a:spcAft>
              <a:buSzPts val="2040"/>
              <a:buNone/>
            </a:pPr>
            <a:r>
              <a:t/>
            </a:r>
            <a:endParaRPr>
              <a:solidFill>
                <a:srgbClr val="525252"/>
              </a:solidFill>
              <a:latin typeface="IBM Plex Sans"/>
              <a:ea typeface="IBM Plex Sans"/>
              <a:cs typeface="IBM Plex Sans"/>
              <a:sym typeface="IBM Plex Sans"/>
            </a:endParaRPr>
          </a:p>
          <a:p>
            <a:pPr indent="-182880" lvl="0" marL="182880" rtl="0" algn="l">
              <a:spcBef>
                <a:spcPts val="480"/>
              </a:spcBef>
              <a:spcAft>
                <a:spcPts val="0"/>
              </a:spcAft>
              <a:buSzPts val="2040"/>
              <a:buChar char="•"/>
            </a:pPr>
            <a:r>
              <a:rPr b="1" lang="en-US"/>
              <a:t>N-tier architecture </a:t>
            </a:r>
            <a:r>
              <a:rPr lang="en-US"/>
              <a:t>-  refers to any application architecture with </a:t>
            </a:r>
            <a:r>
              <a:rPr lang="en-US">
                <a:solidFill>
                  <a:srgbClr val="FF0000"/>
                </a:solidFill>
              </a:rPr>
              <a:t>more than one tier</a:t>
            </a:r>
            <a:endParaRPr/>
          </a:p>
          <a:p>
            <a:pPr indent="-53339" lvl="0" marL="182880" rtl="0" algn="l">
              <a:spcBef>
                <a:spcPts val="480"/>
              </a:spcBef>
              <a:spcAft>
                <a:spcPts val="0"/>
              </a:spcAft>
              <a:buSzPts val="2040"/>
              <a:buNone/>
            </a:pPr>
            <a:r>
              <a:t/>
            </a:r>
            <a:endParaRPr>
              <a:solidFill>
                <a:srgbClr val="FF0000"/>
              </a:solidFill>
            </a:endParaRPr>
          </a:p>
          <a:p>
            <a:pPr indent="-182880" lvl="0" marL="182880" rtl="0" algn="l">
              <a:spcBef>
                <a:spcPts val="480"/>
              </a:spcBef>
              <a:spcAft>
                <a:spcPts val="0"/>
              </a:spcAft>
              <a:buSzPts val="2040"/>
              <a:buChar char="•"/>
            </a:pPr>
            <a:r>
              <a:rPr b="1" lang="en-US"/>
              <a:t>Two-tier architecture </a:t>
            </a:r>
            <a:r>
              <a:rPr lang="en-US"/>
              <a:t>is the original </a:t>
            </a:r>
            <a:r>
              <a:rPr lang="en-US">
                <a:solidFill>
                  <a:srgbClr val="0070C0"/>
                </a:solidFill>
              </a:rPr>
              <a:t>client-server architecture</a:t>
            </a:r>
            <a:r>
              <a:rPr lang="en-US"/>
              <a:t>, consisting of a presentation tier and a data tier; the business logic lives in either the presentation tier or the data tier </a:t>
            </a:r>
            <a:endParaRPr/>
          </a:p>
          <a:p>
            <a:pPr indent="0" lvl="0" marL="0" rtl="0" algn="l">
              <a:spcBef>
                <a:spcPts val="480"/>
              </a:spcBef>
              <a:spcAft>
                <a:spcPts val="0"/>
              </a:spcAft>
              <a:buSzPts val="2040"/>
              <a:buNone/>
            </a:pPr>
            <a:r>
              <a:t/>
            </a:r>
            <a:endParaRPr/>
          </a:p>
        </p:txBody>
      </p:sp>
      <p:sp>
        <p:nvSpPr>
          <p:cNvPr id="262" name="Google Shape;262;p3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1" sz="2400">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1" sz="2400">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rgbClr val="565656"/>
              </a:solidFill>
              <a:latin typeface="Calibri"/>
              <a:ea typeface="Calibri"/>
              <a:cs typeface="Calibri"/>
              <a:sym typeface="Calibri"/>
            </a:endParaRPr>
          </a:p>
          <a:p>
            <a:pPr indent="0" lvl="0" marL="0" marR="0" rtl="0" algn="l">
              <a:lnSpc>
                <a:spcPct val="100000"/>
              </a:lnSpc>
              <a:spcBef>
                <a:spcPts val="0"/>
              </a:spcBef>
              <a:spcAft>
                <a:spcPts val="0"/>
              </a:spcAft>
              <a:buClr>
                <a:srgbClr val="0070C0"/>
              </a:buClr>
              <a:buSzPts val="2400"/>
              <a:buFont typeface="Arial"/>
              <a:buNone/>
            </a:pPr>
            <a:r>
              <a:rPr lang="en-US">
                <a:solidFill>
                  <a:srgbClr val="0070C0"/>
                </a:solidFill>
              </a:rPr>
              <a:t>Database runs on Server</a:t>
            </a:r>
            <a:endParaRPr/>
          </a:p>
          <a:p>
            <a:pPr indent="-342900" lvl="1" marL="800100" marR="0" rtl="0" algn="l">
              <a:lnSpc>
                <a:spcPct val="100000"/>
              </a:lnSpc>
              <a:spcBef>
                <a:spcPts val="0"/>
              </a:spcBef>
              <a:spcAft>
                <a:spcPts val="0"/>
              </a:spcAft>
              <a:buClr>
                <a:schemeClr val="dk1"/>
              </a:buClr>
              <a:buSzPts val="2000"/>
              <a:buFont typeface="Courier New"/>
              <a:buChar char="o"/>
            </a:pPr>
            <a:r>
              <a:rPr lang="en-US"/>
              <a:t>Separated from client</a:t>
            </a:r>
            <a:endParaRPr/>
          </a:p>
          <a:p>
            <a:pPr indent="-342900" lvl="1" marL="800100" marR="0" rtl="0" algn="l">
              <a:lnSpc>
                <a:spcPct val="100000"/>
              </a:lnSpc>
              <a:spcBef>
                <a:spcPts val="0"/>
              </a:spcBef>
              <a:spcAft>
                <a:spcPts val="0"/>
              </a:spcAft>
              <a:buClr>
                <a:schemeClr val="dk1"/>
              </a:buClr>
              <a:buSzPts val="2000"/>
              <a:buFont typeface="Courier New"/>
              <a:buChar char="o"/>
            </a:pPr>
            <a:r>
              <a:rPr lang="en-US"/>
              <a:t>Easy to switch to a different database</a:t>
            </a:r>
            <a:endParaRPr/>
          </a:p>
          <a:p>
            <a:pPr indent="0" lvl="0" marL="0" marR="0" rtl="0" algn="l">
              <a:lnSpc>
                <a:spcPct val="100000"/>
              </a:lnSpc>
              <a:spcBef>
                <a:spcPts val="0"/>
              </a:spcBef>
              <a:spcAft>
                <a:spcPts val="0"/>
              </a:spcAft>
              <a:buClr>
                <a:schemeClr val="dk1"/>
              </a:buClr>
              <a:buSzPts val="2400"/>
              <a:buFont typeface="Arial"/>
              <a:buNone/>
            </a:pPr>
            <a:r>
              <a:rPr lang="en-US"/>
              <a:t>Presentation and logic layers still </a:t>
            </a:r>
            <a:r>
              <a:rPr lang="en-US">
                <a:solidFill>
                  <a:srgbClr val="0070C0"/>
                </a:solidFill>
              </a:rPr>
              <a:t>tightly connected </a:t>
            </a:r>
            <a:r>
              <a:rPr lang="en-US"/>
              <a:t>(coupled)</a:t>
            </a:r>
            <a:endParaRPr/>
          </a:p>
          <a:p>
            <a:pPr indent="-342900" lvl="1" marL="800100" marR="0" rtl="0" algn="l">
              <a:lnSpc>
                <a:spcPct val="100000"/>
              </a:lnSpc>
              <a:spcBef>
                <a:spcPts val="0"/>
              </a:spcBef>
              <a:spcAft>
                <a:spcPts val="0"/>
              </a:spcAft>
              <a:buClr>
                <a:schemeClr val="dk1"/>
              </a:buClr>
              <a:buSzPts val="2000"/>
              <a:buFont typeface="Courier New"/>
              <a:buChar char="o"/>
            </a:pPr>
            <a:r>
              <a:rPr lang="en-US"/>
              <a:t>Heavy load on server</a:t>
            </a:r>
            <a:endParaRPr/>
          </a:p>
          <a:p>
            <a:pPr indent="-342900" lvl="1" marL="800100" marR="0" rtl="0" algn="l">
              <a:lnSpc>
                <a:spcPct val="100000"/>
              </a:lnSpc>
              <a:spcBef>
                <a:spcPts val="0"/>
              </a:spcBef>
              <a:spcAft>
                <a:spcPts val="0"/>
              </a:spcAft>
              <a:buClr>
                <a:schemeClr val="dk1"/>
              </a:buClr>
              <a:buSzPts val="2000"/>
              <a:buFont typeface="Courier New"/>
              <a:buChar char="o"/>
            </a:pPr>
            <a:r>
              <a:rPr lang="en-US"/>
              <a:t>Potential congestion on network</a:t>
            </a:r>
            <a:endParaRPr/>
          </a:p>
          <a:p>
            <a:pPr indent="-342900" lvl="1" marL="800100" marR="0" rtl="0" algn="l">
              <a:lnSpc>
                <a:spcPct val="100000"/>
              </a:lnSpc>
              <a:spcBef>
                <a:spcPts val="0"/>
              </a:spcBef>
              <a:spcAft>
                <a:spcPts val="0"/>
              </a:spcAft>
              <a:buClr>
                <a:schemeClr val="dk1"/>
              </a:buClr>
              <a:buSzPts val="2000"/>
              <a:buFont typeface="Courier New"/>
              <a:buChar char="o"/>
            </a:pPr>
            <a:r>
              <a:rPr lang="en-US"/>
              <a:t>Presentation still tied to business logic</a:t>
            </a:r>
            <a:endParaRPr/>
          </a:p>
          <a:p>
            <a:pPr indent="-53339" lvl="0" marL="182880" rtl="0" algn="l">
              <a:spcBef>
                <a:spcPts val="480"/>
              </a:spcBef>
              <a:spcAft>
                <a:spcPts val="0"/>
              </a:spcAft>
              <a:buSzPts val="2040"/>
              <a:buNone/>
            </a:pPr>
            <a:r>
              <a:t/>
            </a:r>
            <a:endParaRPr/>
          </a:p>
        </p:txBody>
      </p:sp>
      <p:pic>
        <p:nvPicPr>
          <p:cNvPr id="268" name="Google Shape;268;p38"/>
          <p:cNvPicPr preferRelativeResize="0"/>
          <p:nvPr/>
        </p:nvPicPr>
        <p:blipFill rotWithShape="1">
          <a:blip r:embed="rId3">
            <a:alphaModFix/>
          </a:blip>
          <a:srcRect b="0" l="0" r="0" t="0"/>
          <a:stretch/>
        </p:blipFill>
        <p:spPr>
          <a:xfrm>
            <a:off x="1038225" y="1295400"/>
            <a:ext cx="7067550" cy="2647950"/>
          </a:xfrm>
          <a:prstGeom prst="rect">
            <a:avLst/>
          </a:prstGeom>
          <a:noFill/>
          <a:ln>
            <a:noFill/>
          </a:ln>
        </p:spPr>
      </p:pic>
      <p:sp>
        <p:nvSpPr>
          <p:cNvPr id="269" name="Google Shape;269;p38"/>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Arial"/>
              <a:buNone/>
            </a:pPr>
            <a:r>
              <a:rPr lang="en-US"/>
              <a:t>2-Tier Architecture</a:t>
            </a:r>
            <a:br>
              <a:rPr lang="en-US"/>
            </a:br>
            <a:endParaRPr/>
          </a:p>
        </p:txBody>
      </p:sp>
      <p:sp>
        <p:nvSpPr>
          <p:cNvPr id="270" name="Google Shape;270;p3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Arial"/>
              <a:buNone/>
            </a:pPr>
            <a:r>
              <a:rPr lang="en-US" sz="3600"/>
              <a:t>Benefits of Three-Tier Architecture</a:t>
            </a:r>
            <a:br>
              <a:rPr lang="en-US" sz="3600"/>
            </a:br>
            <a:endParaRPr/>
          </a:p>
        </p:txBody>
      </p:sp>
      <p:sp>
        <p:nvSpPr>
          <p:cNvPr id="276" name="Google Shape;276;p3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Logical and physical </a:t>
            </a:r>
            <a:r>
              <a:rPr lang="en-US">
                <a:solidFill>
                  <a:srgbClr val="0070C0"/>
                </a:solidFill>
              </a:rPr>
              <a:t>separation of functionality</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Each tier can run on a </a:t>
            </a:r>
            <a:r>
              <a:rPr lang="en-US">
                <a:solidFill>
                  <a:srgbClr val="0070C0"/>
                </a:solidFill>
              </a:rPr>
              <a:t>separate operating system </a:t>
            </a:r>
            <a:r>
              <a:rPr lang="en-US"/>
              <a:t>and server platform - e.g., web server, application server, database server - that best fits its functional requirements.</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Each tier runs on at least </a:t>
            </a:r>
            <a:r>
              <a:rPr lang="en-US">
                <a:solidFill>
                  <a:srgbClr val="0070C0"/>
                </a:solidFill>
              </a:rPr>
              <a:t>one dedicated server hardware</a:t>
            </a:r>
            <a:r>
              <a:rPr lang="en-US"/>
              <a:t>, so the services of each tier can be customized and optimized </a:t>
            </a:r>
            <a:r>
              <a:rPr lang="en-US">
                <a:solidFill>
                  <a:srgbClr val="0070C0"/>
                </a:solidFill>
              </a:rPr>
              <a:t>without impact the other tiers</a:t>
            </a:r>
            <a:endParaRPr>
              <a:solidFill>
                <a:srgbClr val="0070C0"/>
              </a:solidFill>
            </a:endParaRPr>
          </a:p>
          <a:p>
            <a:pPr indent="-53339" lvl="0" marL="182880" rtl="0" algn="l">
              <a:spcBef>
                <a:spcPts val="480"/>
              </a:spcBef>
              <a:spcAft>
                <a:spcPts val="0"/>
              </a:spcAft>
              <a:buSzPts val="2040"/>
              <a:buNone/>
            </a:pPr>
            <a:r>
              <a:t/>
            </a:r>
            <a:endParaRPr/>
          </a:p>
        </p:txBody>
      </p:sp>
      <p:sp>
        <p:nvSpPr>
          <p:cNvPr id="277" name="Google Shape;277;p3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Arial"/>
              <a:buNone/>
            </a:pPr>
            <a:r>
              <a:rPr lang="en-US" sz="3600"/>
              <a:t>Benefits of Three-Tier Architecture</a:t>
            </a:r>
            <a:br>
              <a:rPr lang="en-US" sz="3600"/>
            </a:br>
            <a:endParaRPr/>
          </a:p>
        </p:txBody>
      </p:sp>
      <p:sp>
        <p:nvSpPr>
          <p:cNvPr id="283" name="Google Shape;283;p40"/>
          <p:cNvSpPr txBox="1"/>
          <p:nvPr>
            <p:ph idx="1" type="body"/>
          </p:nvPr>
        </p:nvSpPr>
        <p:spPr>
          <a:xfrm>
            <a:off x="457200" y="1371600"/>
            <a:ext cx="8229600" cy="5105400"/>
          </a:xfrm>
          <a:prstGeom prst="rect">
            <a:avLst/>
          </a:prstGeom>
          <a:noFill/>
          <a:ln>
            <a:noFill/>
          </a:ln>
        </p:spPr>
        <p:txBody>
          <a:bodyPr anchorCtr="0" anchor="t" bIns="45700" lIns="91425" spcFirstLastPara="1" rIns="91425" wrap="square" tIns="45700">
            <a:normAutofit lnSpcReduction="10000"/>
          </a:bodyPr>
          <a:lstStyle/>
          <a:p>
            <a:pPr indent="-182880" lvl="0" marL="182880" rtl="0" algn="l">
              <a:spcBef>
                <a:spcPts val="0"/>
              </a:spcBef>
              <a:spcAft>
                <a:spcPts val="0"/>
              </a:spcAft>
              <a:buSzPts val="2040"/>
              <a:buFont typeface="Arial"/>
              <a:buChar char="•"/>
            </a:pPr>
            <a:r>
              <a:rPr b="1" lang="en-US"/>
              <a:t>Faster development: </a:t>
            </a:r>
            <a:r>
              <a:rPr lang="en-US" sz="2000"/>
              <a:t>Because each tier can be developed simultaneously by different teams, an organization can bring the application to market faster, and programmers can use the latest and best languages and tools for each tier.</a:t>
            </a:r>
            <a:endParaRPr/>
          </a:p>
          <a:p>
            <a:pPr indent="-74929" lvl="0" marL="182880" rtl="0" algn="l">
              <a:spcBef>
                <a:spcPts val="400"/>
              </a:spcBef>
              <a:spcAft>
                <a:spcPts val="0"/>
              </a:spcAft>
              <a:buSzPts val="1700"/>
              <a:buFont typeface="Arial"/>
              <a:buNone/>
            </a:pPr>
            <a:r>
              <a:t/>
            </a:r>
            <a:endParaRPr sz="2000"/>
          </a:p>
          <a:p>
            <a:pPr indent="-182880" lvl="0" marL="182880" rtl="0" algn="l">
              <a:spcBef>
                <a:spcPts val="480"/>
              </a:spcBef>
              <a:spcAft>
                <a:spcPts val="0"/>
              </a:spcAft>
              <a:buSzPts val="2040"/>
              <a:buFont typeface="Arial"/>
              <a:buChar char="•"/>
            </a:pPr>
            <a:r>
              <a:rPr b="1" lang="en-US"/>
              <a:t>Improved scalability: </a:t>
            </a:r>
            <a:r>
              <a:rPr lang="en-US" sz="2000"/>
              <a:t>Any tier can be scaled independently of the others as needed.</a:t>
            </a:r>
            <a:endParaRPr/>
          </a:p>
          <a:p>
            <a:pPr indent="-74929" lvl="0" marL="182880" rtl="0" algn="l">
              <a:spcBef>
                <a:spcPts val="400"/>
              </a:spcBef>
              <a:spcAft>
                <a:spcPts val="0"/>
              </a:spcAft>
              <a:buSzPts val="1700"/>
              <a:buFont typeface="Arial"/>
              <a:buNone/>
            </a:pPr>
            <a:r>
              <a:t/>
            </a:r>
            <a:endParaRPr sz="2000"/>
          </a:p>
          <a:p>
            <a:pPr indent="-182880" lvl="0" marL="182880" rtl="0" algn="l">
              <a:spcBef>
                <a:spcPts val="480"/>
              </a:spcBef>
              <a:spcAft>
                <a:spcPts val="0"/>
              </a:spcAft>
              <a:buSzPts val="2040"/>
              <a:buFont typeface="Arial"/>
              <a:buChar char="•"/>
            </a:pPr>
            <a:r>
              <a:rPr b="1" lang="en-US"/>
              <a:t>Improved reliability: </a:t>
            </a:r>
            <a:r>
              <a:rPr lang="en-US" sz="2000"/>
              <a:t>An outage in one tier is less likely to impact the availability or performance of the other tiers.</a:t>
            </a:r>
            <a:endParaRPr/>
          </a:p>
          <a:p>
            <a:pPr indent="-74929" lvl="0" marL="182880" rtl="0" algn="l">
              <a:spcBef>
                <a:spcPts val="400"/>
              </a:spcBef>
              <a:spcAft>
                <a:spcPts val="0"/>
              </a:spcAft>
              <a:buSzPts val="1700"/>
              <a:buFont typeface="Arial"/>
              <a:buNone/>
            </a:pPr>
            <a:r>
              <a:t/>
            </a:r>
            <a:endParaRPr sz="2000"/>
          </a:p>
          <a:p>
            <a:pPr indent="-182880" lvl="0" marL="182880" rtl="0" algn="l">
              <a:spcBef>
                <a:spcPts val="480"/>
              </a:spcBef>
              <a:spcAft>
                <a:spcPts val="0"/>
              </a:spcAft>
              <a:buSzPts val="2040"/>
              <a:buFont typeface="Arial"/>
              <a:buChar char="•"/>
            </a:pPr>
            <a:r>
              <a:rPr b="1" lang="en-US"/>
              <a:t>Improved security</a:t>
            </a:r>
            <a:r>
              <a:rPr lang="en-US"/>
              <a:t>: </a:t>
            </a:r>
            <a:r>
              <a:rPr lang="en-US" sz="2000"/>
              <a:t>Because the presentation tier and data tier can't communicate directly, a well-designed application tier can function as a sort of internal firewall, preventing SQL injections and other malicious exploits.</a:t>
            </a:r>
            <a:endParaRPr/>
          </a:p>
          <a:p>
            <a:pPr indent="-53339" lvl="0" marL="182880" rtl="0" algn="l">
              <a:spcBef>
                <a:spcPts val="480"/>
              </a:spcBef>
              <a:spcAft>
                <a:spcPts val="0"/>
              </a:spcAft>
              <a:buSzPts val="2040"/>
              <a:buNone/>
            </a:pPr>
            <a:r>
              <a:t/>
            </a:r>
            <a:endParaRPr/>
          </a:p>
        </p:txBody>
      </p:sp>
      <p:sp>
        <p:nvSpPr>
          <p:cNvPr id="284" name="Google Shape;284;p4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1"/>
          <p:cNvSpPr/>
          <p:nvPr/>
        </p:nvSpPr>
        <p:spPr>
          <a:xfrm>
            <a:off x="82550" y="1828800"/>
            <a:ext cx="8978900" cy="4868863"/>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1" name="Google Shape;291;p41"/>
          <p:cNvSpPr/>
          <p:nvPr/>
        </p:nvSpPr>
        <p:spPr>
          <a:xfrm>
            <a:off x="1795463" y="2103438"/>
            <a:ext cx="1752600" cy="1981200"/>
          </a:xfrm>
          <a:prstGeom prst="roundRect">
            <a:avLst>
              <a:gd fmla="val 16667" name="adj"/>
            </a:avLst>
          </a:prstGeom>
          <a:solidFill>
            <a:srgbClr val="9C9C9C"/>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2" name="Google Shape;292;p41"/>
          <p:cNvSpPr/>
          <p:nvPr/>
        </p:nvSpPr>
        <p:spPr>
          <a:xfrm>
            <a:off x="561975" y="2370138"/>
            <a:ext cx="1096963" cy="1633537"/>
          </a:xfrm>
          <a:prstGeom prst="rect">
            <a:avLst/>
          </a:prstGeom>
          <a:solidFill>
            <a:srgbClr val="FFFFFF"/>
          </a:solidFill>
          <a:ln cap="flat" cmpd="sng" w="50800">
            <a:solidFill>
              <a:srgbClr val="114F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3" name="Google Shape;293;p41"/>
          <p:cNvSpPr/>
          <p:nvPr/>
        </p:nvSpPr>
        <p:spPr>
          <a:xfrm>
            <a:off x="3757613" y="2330450"/>
            <a:ext cx="1147762" cy="1874838"/>
          </a:xfrm>
          <a:prstGeom prst="rect">
            <a:avLst/>
          </a:prstGeom>
          <a:solidFill>
            <a:srgbClr val="FFFFFF"/>
          </a:solidFill>
          <a:ln cap="flat" cmpd="sng" w="50800">
            <a:solidFill>
              <a:srgbClr val="114F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4" name="Google Shape;294;p41"/>
          <p:cNvSpPr/>
          <p:nvPr/>
        </p:nvSpPr>
        <p:spPr>
          <a:xfrm>
            <a:off x="803276" y="1879783"/>
            <a:ext cx="1066800" cy="485647"/>
          </a:xfrm>
          <a:prstGeom prst="rect">
            <a:avLst/>
          </a:prstGeom>
          <a:noFill/>
          <a:ln>
            <a:noFill/>
          </a:ln>
        </p:spPr>
        <p:txBody>
          <a:bodyPr anchorCtr="0" anchor="t" bIns="27100" lIns="55175" spcFirstLastPara="1" rIns="55175" wrap="square" tIns="2710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Browser </a:t>
            </a:r>
            <a:endParaRPr/>
          </a:p>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client</a:t>
            </a:r>
            <a:endParaRPr b="0" i="0" sz="1400" u="none" cap="none" strike="noStrike">
              <a:solidFill>
                <a:schemeClr val="dk1"/>
              </a:solidFill>
              <a:latin typeface="Arial"/>
              <a:ea typeface="Arial"/>
              <a:cs typeface="Arial"/>
              <a:sym typeface="Arial"/>
            </a:endParaRPr>
          </a:p>
        </p:txBody>
      </p:sp>
      <p:cxnSp>
        <p:nvCxnSpPr>
          <p:cNvPr id="295" name="Google Shape;295;p41"/>
          <p:cNvCxnSpPr/>
          <p:nvPr/>
        </p:nvCxnSpPr>
        <p:spPr>
          <a:xfrm>
            <a:off x="1622425" y="3019425"/>
            <a:ext cx="2133600" cy="0"/>
          </a:xfrm>
          <a:prstGeom prst="straightConnector1">
            <a:avLst/>
          </a:prstGeom>
          <a:noFill/>
          <a:ln cap="flat" cmpd="sng" w="25400">
            <a:solidFill>
              <a:srgbClr val="000000"/>
            </a:solidFill>
            <a:prstDash val="solid"/>
            <a:round/>
            <a:headEnd len="med" w="med" type="none"/>
            <a:tailEnd len="med" w="med" type="triangle"/>
          </a:ln>
        </p:spPr>
      </p:cxnSp>
      <p:sp>
        <p:nvSpPr>
          <p:cNvPr id="296" name="Google Shape;296;p41"/>
          <p:cNvSpPr/>
          <p:nvPr/>
        </p:nvSpPr>
        <p:spPr>
          <a:xfrm>
            <a:off x="1928813" y="2198688"/>
            <a:ext cx="1844675" cy="731837"/>
          </a:xfrm>
          <a:prstGeom prst="rect">
            <a:avLst/>
          </a:prstGeom>
          <a:noFill/>
          <a:ln>
            <a:noFill/>
          </a:ln>
        </p:spPr>
        <p:txBody>
          <a:bodyPr anchorCtr="0" anchor="t" bIns="27100" lIns="55175" spcFirstLastPara="1" rIns="55175" wrap="square" tIns="27100">
            <a:noAutofit/>
          </a:bodyPr>
          <a:lstStyle/>
          <a:p>
            <a:pPr indent="-342900" lvl="0" marL="34290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Browser sends</a:t>
            </a:r>
            <a:endParaRPr/>
          </a:p>
          <a:p>
            <a:pPr indent="-342900" lvl="0" marL="34290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URL to web server,</a:t>
            </a:r>
            <a:endParaRPr/>
          </a:p>
          <a:p>
            <a:pPr indent="-342900" lvl="0" marL="34290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requesting a file or </a:t>
            </a:r>
            <a:endParaRPr/>
          </a:p>
          <a:p>
            <a:pPr indent="-342900" lvl="0" marL="34290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program</a:t>
            </a:r>
            <a:endParaRPr b="0" i="0" sz="1100" u="none" cap="none" strike="noStrike">
              <a:solidFill>
                <a:schemeClr val="dk1"/>
              </a:solidFill>
              <a:latin typeface="Arial"/>
              <a:ea typeface="Arial"/>
              <a:cs typeface="Arial"/>
              <a:sym typeface="Arial"/>
            </a:endParaRPr>
          </a:p>
        </p:txBody>
      </p:sp>
      <p:sp>
        <p:nvSpPr>
          <p:cNvPr id="297" name="Google Shape;297;p41"/>
          <p:cNvSpPr/>
          <p:nvPr/>
        </p:nvSpPr>
        <p:spPr>
          <a:xfrm>
            <a:off x="3971245" y="1874127"/>
            <a:ext cx="781050" cy="485647"/>
          </a:xfrm>
          <a:prstGeom prst="rect">
            <a:avLst/>
          </a:prstGeom>
          <a:noFill/>
          <a:ln>
            <a:noFill/>
          </a:ln>
        </p:spPr>
        <p:txBody>
          <a:bodyPr anchorCtr="0" anchor="t" bIns="27100" lIns="55175" spcFirstLastPara="1" rIns="55175" wrap="square" tIns="2710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Web</a:t>
            </a:r>
            <a:endParaRPr/>
          </a:p>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server</a:t>
            </a:r>
            <a:endParaRPr/>
          </a:p>
        </p:txBody>
      </p:sp>
      <p:sp>
        <p:nvSpPr>
          <p:cNvPr id="298" name="Google Shape;298;p41"/>
          <p:cNvSpPr/>
          <p:nvPr/>
        </p:nvSpPr>
        <p:spPr>
          <a:xfrm>
            <a:off x="5133975" y="2224088"/>
            <a:ext cx="2079625" cy="485775"/>
          </a:xfrm>
          <a:prstGeom prst="rect">
            <a:avLst/>
          </a:prstGeom>
          <a:noFill/>
          <a:ln>
            <a:noFill/>
          </a:ln>
        </p:spPr>
        <p:txBody>
          <a:bodyPr anchorCtr="0" anchor="t" bIns="27100" lIns="55175" spcFirstLastPara="1" rIns="55175" wrap="square" tIns="27100">
            <a:noAutofit/>
          </a:bodyPr>
          <a:lstStyle/>
          <a:p>
            <a:pPr indent="0" lvl="0" marL="0" marR="0" rtl="0" algn="l">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   </a:t>
            </a:r>
            <a:r>
              <a:rPr b="0" i="0" lang="en-US" sz="1400" u="none" cap="none" strike="noStrike">
                <a:solidFill>
                  <a:schemeClr val="dk1"/>
                </a:solidFill>
                <a:latin typeface="Arial"/>
                <a:ea typeface="Arial"/>
                <a:cs typeface="Arial"/>
                <a:sym typeface="Arial"/>
              </a:rPr>
              <a:t>Fetches file or runs </a:t>
            </a:r>
            <a:endParaRPr/>
          </a:p>
          <a:p>
            <a:pPr indent="0" lvl="0" marL="0" marR="0" rtl="0" algn="l">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   server side (php) script</a:t>
            </a:r>
            <a:endParaRPr/>
          </a:p>
        </p:txBody>
      </p:sp>
      <p:cxnSp>
        <p:nvCxnSpPr>
          <p:cNvPr id="299" name="Google Shape;299;p41"/>
          <p:cNvCxnSpPr/>
          <p:nvPr/>
        </p:nvCxnSpPr>
        <p:spPr>
          <a:xfrm rot="10800000">
            <a:off x="1622425" y="3552825"/>
            <a:ext cx="2133600" cy="0"/>
          </a:xfrm>
          <a:prstGeom prst="straightConnector1">
            <a:avLst/>
          </a:prstGeom>
          <a:noFill/>
          <a:ln cap="flat" cmpd="sng" w="25400">
            <a:solidFill>
              <a:srgbClr val="000000"/>
            </a:solidFill>
            <a:prstDash val="solid"/>
            <a:round/>
            <a:headEnd len="med" w="med" type="none"/>
            <a:tailEnd len="med" w="med" type="triangle"/>
          </a:ln>
        </p:spPr>
      </p:cxnSp>
      <p:sp>
        <p:nvSpPr>
          <p:cNvPr id="300" name="Google Shape;300;p41"/>
          <p:cNvSpPr/>
          <p:nvPr/>
        </p:nvSpPr>
        <p:spPr>
          <a:xfrm>
            <a:off x="1831975" y="3530600"/>
            <a:ext cx="1925638" cy="363538"/>
          </a:xfrm>
          <a:prstGeom prst="rect">
            <a:avLst/>
          </a:prstGeom>
          <a:noFill/>
          <a:ln>
            <a:noFill/>
          </a:ln>
        </p:spPr>
        <p:txBody>
          <a:bodyPr anchorCtr="0" anchor="t" bIns="27100" lIns="55175" spcFirstLastPara="1" rIns="55175" wrap="square" tIns="27100">
            <a:noAutofit/>
          </a:bodyPr>
          <a:lstStyle/>
          <a:p>
            <a:pPr indent="0" lvl="0" marL="0" marR="0" rtl="0" algn="l">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Server returns results </a:t>
            </a:r>
            <a:endParaRPr/>
          </a:p>
          <a:p>
            <a:pPr indent="0" lvl="0" marL="0" marR="0" rtl="0" algn="l">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file and/or program outputs</a:t>
            </a:r>
            <a:endParaRPr/>
          </a:p>
        </p:txBody>
      </p:sp>
      <p:sp>
        <p:nvSpPr>
          <p:cNvPr id="301" name="Google Shape;301;p41"/>
          <p:cNvSpPr/>
          <p:nvPr/>
        </p:nvSpPr>
        <p:spPr>
          <a:xfrm>
            <a:off x="85725" y="4856163"/>
            <a:ext cx="3074988" cy="454025"/>
          </a:xfrm>
          <a:prstGeom prst="rect">
            <a:avLst/>
          </a:prstGeom>
          <a:noFill/>
          <a:ln>
            <a:noFill/>
          </a:ln>
        </p:spPr>
        <p:txBody>
          <a:bodyPr anchorCtr="0" anchor="t" bIns="27100" lIns="55175" spcFirstLastPara="1" rIns="55175" wrap="square" tIns="2710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 HTML: Browser displays (</a:t>
            </a:r>
            <a:r>
              <a:rPr b="1" i="1" lang="en-US" sz="1300" u="none" cap="none" strike="noStrike">
                <a:solidFill>
                  <a:srgbClr val="000000"/>
                </a:solidFill>
                <a:latin typeface="Arial"/>
                <a:ea typeface="Arial"/>
                <a:cs typeface="Arial"/>
                <a:sym typeface="Arial"/>
              </a:rPr>
              <a:t>renders</a:t>
            </a:r>
            <a:r>
              <a:rPr b="1" i="0" lang="en-US" sz="1300" u="none" cap="none" strike="noStrike">
                <a:solidFill>
                  <a:srgbClr val="000000"/>
                </a:solidFill>
                <a:latin typeface="Arial"/>
                <a:ea typeface="Arial"/>
                <a:cs typeface="Arial"/>
                <a:sym typeface="Arial"/>
              </a:rPr>
              <a:t>)    </a:t>
            </a:r>
            <a:endParaRPr/>
          </a:p>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 resulting page</a:t>
            </a:r>
            <a:endParaRPr b="0" i="0" sz="1300" u="none" cap="none" strike="noStrike">
              <a:solidFill>
                <a:schemeClr val="dk1"/>
              </a:solidFill>
              <a:latin typeface="Arial"/>
              <a:ea typeface="Arial"/>
              <a:cs typeface="Arial"/>
              <a:sym typeface="Arial"/>
            </a:endParaRPr>
          </a:p>
        </p:txBody>
      </p:sp>
      <p:cxnSp>
        <p:nvCxnSpPr>
          <p:cNvPr id="302" name="Google Shape;302;p41"/>
          <p:cNvCxnSpPr/>
          <p:nvPr/>
        </p:nvCxnSpPr>
        <p:spPr>
          <a:xfrm flipH="1">
            <a:off x="1046163" y="4003675"/>
            <a:ext cx="9525" cy="827088"/>
          </a:xfrm>
          <a:prstGeom prst="straightConnector1">
            <a:avLst/>
          </a:prstGeom>
          <a:noFill/>
          <a:ln cap="flat" cmpd="sng" w="25400">
            <a:solidFill>
              <a:srgbClr val="000000"/>
            </a:solidFill>
            <a:prstDash val="solid"/>
            <a:round/>
            <a:headEnd len="med" w="med" type="none"/>
            <a:tailEnd len="med" w="med" type="triangle"/>
          </a:ln>
        </p:spPr>
      </p:cxnSp>
      <p:sp>
        <p:nvSpPr>
          <p:cNvPr id="303" name="Google Shape;303;p41"/>
          <p:cNvSpPr txBox="1"/>
          <p:nvPr/>
        </p:nvSpPr>
        <p:spPr>
          <a:xfrm>
            <a:off x="381000" y="304800"/>
            <a:ext cx="8394032" cy="10064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3300"/>
              <a:buFont typeface="Arial"/>
              <a:buNone/>
            </a:pPr>
            <a:r>
              <a:rPr b="1" i="0" lang="en-US" sz="3300" u="none" cap="none" strike="noStrike">
                <a:solidFill>
                  <a:schemeClr val="dk1"/>
                </a:solidFill>
                <a:latin typeface="Arial"/>
                <a:ea typeface="Arial"/>
                <a:cs typeface="Arial"/>
                <a:sym typeface="Arial"/>
              </a:rPr>
              <a:t>Example of 3-Tier Architecture </a:t>
            </a:r>
            <a:endParaRPr/>
          </a:p>
          <a:p>
            <a:pPr indent="0" lvl="0" marL="0" marR="0" rtl="0" algn="ctr">
              <a:lnSpc>
                <a:spcPct val="90000"/>
              </a:lnSpc>
              <a:spcBef>
                <a:spcPts val="0"/>
              </a:spcBef>
              <a:spcAft>
                <a:spcPts val="0"/>
              </a:spcAft>
              <a:buClr>
                <a:schemeClr val="dk1"/>
              </a:buClr>
              <a:buSzPts val="3300"/>
              <a:buFont typeface="Arial"/>
              <a:buNone/>
            </a:pPr>
            <a:r>
              <a:rPr b="1" i="0" lang="en-US" sz="3300" u="none" cap="none" strike="noStrike">
                <a:solidFill>
                  <a:schemeClr val="dk1"/>
                </a:solidFill>
                <a:latin typeface="Arial"/>
                <a:ea typeface="Arial"/>
                <a:cs typeface="Arial"/>
                <a:sym typeface="Arial"/>
              </a:rPr>
              <a:t>(web-based applications)</a:t>
            </a:r>
            <a:endParaRPr/>
          </a:p>
        </p:txBody>
      </p:sp>
      <p:sp>
        <p:nvSpPr>
          <p:cNvPr id="304" name="Google Shape;304;p41"/>
          <p:cNvSpPr/>
          <p:nvPr/>
        </p:nvSpPr>
        <p:spPr>
          <a:xfrm>
            <a:off x="6116638" y="4835525"/>
            <a:ext cx="1371600" cy="485647"/>
          </a:xfrm>
          <a:prstGeom prst="rect">
            <a:avLst/>
          </a:prstGeom>
          <a:noFill/>
          <a:ln>
            <a:noFill/>
          </a:ln>
        </p:spPr>
        <p:txBody>
          <a:bodyPr anchorCtr="0" anchor="t" bIns="27100" lIns="55175" spcFirstLastPara="1" rIns="55175" wrap="square" tIns="2710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MySQL</a:t>
            </a:r>
            <a:endParaRPr/>
          </a:p>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Database</a:t>
            </a:r>
            <a:endParaRPr/>
          </a:p>
        </p:txBody>
      </p:sp>
      <p:sp>
        <p:nvSpPr>
          <p:cNvPr id="305" name="Google Shape;305;p41"/>
          <p:cNvSpPr txBox="1"/>
          <p:nvPr/>
        </p:nvSpPr>
        <p:spPr>
          <a:xfrm>
            <a:off x="6505575" y="2894013"/>
            <a:ext cx="2301875" cy="646112"/>
          </a:xfrm>
          <a:prstGeom prst="rect">
            <a:avLst/>
          </a:prstGeom>
          <a:noFill/>
          <a:ln cap="flat" cmpd="sng" w="9525">
            <a:solidFill>
              <a:srgbClr val="00B05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rgbClr val="00B050"/>
              </a:buClr>
              <a:buSzPts val="1200"/>
              <a:buFont typeface="Arial"/>
              <a:buNone/>
            </a:pPr>
            <a:r>
              <a:rPr b="1" i="0" lang="en-US" sz="1200" u="none" cap="none" strike="noStrike">
                <a:solidFill>
                  <a:srgbClr val="00B050"/>
                </a:solidFill>
                <a:latin typeface="Arial"/>
                <a:ea typeface="Arial"/>
                <a:cs typeface="Arial"/>
                <a:sym typeface="Arial"/>
              </a:rPr>
              <a:t>SQL programming  interface:</a:t>
            </a:r>
            <a:endParaRPr/>
          </a:p>
          <a:p>
            <a:pPr indent="0" lvl="0" marL="0" marR="0" rtl="0" algn="l">
              <a:spcBef>
                <a:spcPts val="0"/>
              </a:spcBef>
              <a:spcAft>
                <a:spcPts val="0"/>
              </a:spcAft>
              <a:buClr>
                <a:srgbClr val="00B050"/>
              </a:buClr>
              <a:buSzPts val="1200"/>
              <a:buFont typeface="Arial"/>
              <a:buNone/>
            </a:pPr>
            <a:r>
              <a:rPr b="1" i="0" lang="en-US" sz="1200" u="none" cap="none" strike="noStrike">
                <a:solidFill>
                  <a:srgbClr val="00B050"/>
                </a:solidFill>
                <a:latin typeface="Arial"/>
                <a:ea typeface="Arial"/>
                <a:cs typeface="Arial"/>
                <a:sym typeface="Arial"/>
              </a:rPr>
              <a:t>SQL commands sent  </a:t>
            </a:r>
            <a:endParaRPr/>
          </a:p>
          <a:p>
            <a:pPr indent="0" lvl="0" marL="0" marR="0" rtl="0" algn="l">
              <a:spcBef>
                <a:spcPts val="0"/>
              </a:spcBef>
              <a:spcAft>
                <a:spcPts val="0"/>
              </a:spcAft>
              <a:buClr>
                <a:srgbClr val="00B050"/>
              </a:buClr>
              <a:buSzPts val="1200"/>
              <a:buFont typeface="Arial"/>
              <a:buNone/>
            </a:pPr>
            <a:r>
              <a:rPr b="1" i="0" lang="en-US" sz="1200" u="none" cap="none" strike="noStrike">
                <a:solidFill>
                  <a:srgbClr val="00B050"/>
                </a:solidFill>
                <a:latin typeface="Arial"/>
                <a:ea typeface="Arial"/>
                <a:cs typeface="Arial"/>
                <a:sym typeface="Arial"/>
              </a:rPr>
              <a:t>- results returned</a:t>
            </a:r>
            <a:endParaRPr/>
          </a:p>
        </p:txBody>
      </p:sp>
      <p:cxnSp>
        <p:nvCxnSpPr>
          <p:cNvPr id="306" name="Google Shape;306;p41"/>
          <p:cNvCxnSpPr/>
          <p:nvPr/>
        </p:nvCxnSpPr>
        <p:spPr>
          <a:xfrm>
            <a:off x="4905375" y="2528888"/>
            <a:ext cx="381000" cy="0"/>
          </a:xfrm>
          <a:prstGeom prst="straightConnector1">
            <a:avLst/>
          </a:prstGeom>
          <a:noFill/>
          <a:ln cap="flat" cmpd="sng" w="25400">
            <a:solidFill>
              <a:srgbClr val="000000"/>
            </a:solidFill>
            <a:prstDash val="solid"/>
            <a:round/>
            <a:headEnd len="med" w="med" type="triangle"/>
            <a:tailEnd len="med" w="med" type="triangle"/>
          </a:ln>
        </p:spPr>
      </p:cxnSp>
      <p:sp>
        <p:nvSpPr>
          <p:cNvPr id="307" name="Google Shape;307;p41"/>
          <p:cNvSpPr txBox="1"/>
          <p:nvPr/>
        </p:nvSpPr>
        <p:spPr>
          <a:xfrm>
            <a:off x="3430588" y="4351338"/>
            <a:ext cx="687387" cy="277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HTML5</a:t>
            </a:r>
            <a:endParaRPr/>
          </a:p>
        </p:txBody>
      </p:sp>
      <p:sp>
        <p:nvSpPr>
          <p:cNvPr id="308" name="Google Shape;308;p41"/>
          <p:cNvSpPr txBox="1"/>
          <p:nvPr/>
        </p:nvSpPr>
        <p:spPr>
          <a:xfrm>
            <a:off x="3448050" y="4756150"/>
            <a:ext cx="500063"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PHP</a:t>
            </a:r>
            <a:endParaRPr/>
          </a:p>
        </p:txBody>
      </p:sp>
      <p:sp>
        <p:nvSpPr>
          <p:cNvPr id="309" name="Google Shape;309;p41"/>
          <p:cNvSpPr txBox="1"/>
          <p:nvPr/>
        </p:nvSpPr>
        <p:spPr>
          <a:xfrm>
            <a:off x="3438525" y="4973638"/>
            <a:ext cx="492125"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SQL</a:t>
            </a:r>
            <a:endParaRPr/>
          </a:p>
        </p:txBody>
      </p:sp>
      <p:sp>
        <p:nvSpPr>
          <p:cNvPr id="310" name="Google Shape;310;p41"/>
          <p:cNvSpPr txBox="1"/>
          <p:nvPr/>
        </p:nvSpPr>
        <p:spPr>
          <a:xfrm>
            <a:off x="3421063" y="5164138"/>
            <a:ext cx="696912"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MySQL</a:t>
            </a:r>
            <a:endParaRPr/>
          </a:p>
        </p:txBody>
      </p:sp>
      <p:sp>
        <p:nvSpPr>
          <p:cNvPr id="311" name="Google Shape;311;p41"/>
          <p:cNvSpPr txBox="1"/>
          <p:nvPr/>
        </p:nvSpPr>
        <p:spPr>
          <a:xfrm>
            <a:off x="63500" y="5337175"/>
            <a:ext cx="3117850" cy="8921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JavaScript: executed by </a:t>
            </a:r>
            <a:r>
              <a:rPr b="1" i="0" lang="en-US" sz="1300" u="none" cap="none" strike="noStrike">
                <a:solidFill>
                  <a:schemeClr val="dk1"/>
                </a:solidFill>
                <a:latin typeface="Arial"/>
                <a:ea typeface="Arial"/>
                <a:cs typeface="Arial"/>
                <a:sym typeface="Arial"/>
              </a:rPr>
              <a:t>browser</a:t>
            </a:r>
            <a:endParaRPr/>
          </a:p>
          <a:p>
            <a:pPr indent="0" lvl="0" marL="0" marR="0" rtl="0" algn="l">
              <a:spcBef>
                <a:spcPts val="0"/>
              </a:spcBef>
              <a:spcAft>
                <a:spcPts val="0"/>
              </a:spcAft>
              <a:buClr>
                <a:schemeClr val="dk1"/>
              </a:buClr>
              <a:buSzPts val="1300"/>
              <a:buFont typeface="Arial"/>
              <a:buNone/>
            </a:pPr>
            <a:r>
              <a:t/>
            </a:r>
            <a:endParaRPr b="1" i="0" sz="13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jQuery AJAX: ‘direct’ asynchronous web server connection </a:t>
            </a:r>
            <a:endParaRPr/>
          </a:p>
        </p:txBody>
      </p:sp>
      <p:sp>
        <p:nvSpPr>
          <p:cNvPr id="312" name="Google Shape;312;p41"/>
          <p:cNvSpPr txBox="1"/>
          <p:nvPr/>
        </p:nvSpPr>
        <p:spPr>
          <a:xfrm flipH="1">
            <a:off x="3421063" y="5394325"/>
            <a:ext cx="1219200"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Javascript</a:t>
            </a:r>
            <a:endParaRPr/>
          </a:p>
        </p:txBody>
      </p:sp>
      <p:sp>
        <p:nvSpPr>
          <p:cNvPr id="313" name="Google Shape;313;p41"/>
          <p:cNvSpPr txBox="1"/>
          <p:nvPr/>
        </p:nvSpPr>
        <p:spPr>
          <a:xfrm flipH="1">
            <a:off x="3438525" y="5627688"/>
            <a:ext cx="2014538" cy="277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HTTP (developer tools)</a:t>
            </a:r>
            <a:endParaRPr/>
          </a:p>
        </p:txBody>
      </p:sp>
      <p:cxnSp>
        <p:nvCxnSpPr>
          <p:cNvPr id="314" name="Google Shape;314;p41"/>
          <p:cNvCxnSpPr>
            <a:stCxn id="293" idx="1"/>
            <a:endCxn id="293" idx="3"/>
          </p:cNvCxnSpPr>
          <p:nvPr/>
        </p:nvCxnSpPr>
        <p:spPr>
          <a:xfrm>
            <a:off x="3757613" y="3267869"/>
            <a:ext cx="1147800" cy="0"/>
          </a:xfrm>
          <a:prstGeom prst="straightConnector1">
            <a:avLst/>
          </a:prstGeom>
          <a:noFill/>
          <a:ln cap="flat" cmpd="sng" w="9525">
            <a:solidFill>
              <a:schemeClr val="dk1"/>
            </a:solidFill>
            <a:prstDash val="solid"/>
            <a:round/>
            <a:headEnd len="med" w="med" type="none"/>
            <a:tailEnd len="med" w="med" type="none"/>
          </a:ln>
        </p:spPr>
      </p:cxnSp>
      <p:sp>
        <p:nvSpPr>
          <p:cNvPr id="315" name="Google Shape;315;p41"/>
          <p:cNvSpPr txBox="1"/>
          <p:nvPr/>
        </p:nvSpPr>
        <p:spPr>
          <a:xfrm>
            <a:off x="3846513" y="2436813"/>
            <a:ext cx="914400" cy="8318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Apache web server</a:t>
            </a:r>
            <a:endParaRPr/>
          </a:p>
        </p:txBody>
      </p:sp>
      <p:sp>
        <p:nvSpPr>
          <p:cNvPr id="316" name="Google Shape;316;p41"/>
          <p:cNvSpPr txBox="1"/>
          <p:nvPr/>
        </p:nvSpPr>
        <p:spPr>
          <a:xfrm>
            <a:off x="3819525" y="3375025"/>
            <a:ext cx="12954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PHP</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script</a:t>
            </a:r>
            <a:endParaRPr/>
          </a:p>
        </p:txBody>
      </p:sp>
      <p:sp>
        <p:nvSpPr>
          <p:cNvPr id="317" name="Google Shape;317;p41"/>
          <p:cNvSpPr txBox="1"/>
          <p:nvPr/>
        </p:nvSpPr>
        <p:spPr>
          <a:xfrm flipH="1">
            <a:off x="3427413" y="5805488"/>
            <a:ext cx="2027237"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AJAX, jQuery notation</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JSON, web services</a:t>
            </a:r>
            <a:endParaRPr/>
          </a:p>
        </p:txBody>
      </p:sp>
      <p:cxnSp>
        <p:nvCxnSpPr>
          <p:cNvPr id="318" name="Google Shape;318;p41"/>
          <p:cNvCxnSpPr/>
          <p:nvPr/>
        </p:nvCxnSpPr>
        <p:spPr>
          <a:xfrm>
            <a:off x="4900613" y="3568700"/>
            <a:ext cx="1752600" cy="1295400"/>
          </a:xfrm>
          <a:prstGeom prst="bentConnector3">
            <a:avLst>
              <a:gd fmla="val 99801" name="adj1"/>
            </a:avLst>
          </a:prstGeom>
          <a:noFill/>
          <a:ln cap="flat" cmpd="sng" w="28575">
            <a:solidFill>
              <a:schemeClr val="dk1"/>
            </a:solidFill>
            <a:prstDash val="solid"/>
            <a:round/>
            <a:headEnd len="med" w="med" type="triangle"/>
            <a:tailEnd len="med" w="med" type="triangle"/>
          </a:ln>
        </p:spPr>
      </p:cxnSp>
      <p:cxnSp>
        <p:nvCxnSpPr>
          <p:cNvPr id="319" name="Google Shape;319;p41"/>
          <p:cNvCxnSpPr>
            <a:stCxn id="313" idx="3"/>
            <a:endCxn id="291" idx="2"/>
          </p:cNvCxnSpPr>
          <p:nvPr/>
        </p:nvCxnSpPr>
        <p:spPr>
          <a:xfrm rot="10800000">
            <a:off x="2671725" y="4084494"/>
            <a:ext cx="766800" cy="1682100"/>
          </a:xfrm>
          <a:prstGeom prst="straightConnector1">
            <a:avLst/>
          </a:prstGeom>
          <a:noFill/>
          <a:ln cap="flat" cmpd="sng" w="9525">
            <a:solidFill>
              <a:schemeClr val="dk1"/>
            </a:solidFill>
            <a:prstDash val="solid"/>
            <a:round/>
            <a:headEnd len="med" w="med" type="none"/>
            <a:tailEnd len="med" w="med" type="stealth"/>
          </a:ln>
        </p:spPr>
      </p:cxnSp>
      <p:sp>
        <p:nvSpPr>
          <p:cNvPr id="320" name="Google Shape;320;p41"/>
          <p:cNvSpPr txBox="1"/>
          <p:nvPr/>
        </p:nvSpPr>
        <p:spPr>
          <a:xfrm>
            <a:off x="3438525" y="4554538"/>
            <a:ext cx="500063"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CSS</a:t>
            </a:r>
            <a:endParaRPr/>
          </a:p>
        </p:txBody>
      </p:sp>
      <p:grpSp>
        <p:nvGrpSpPr>
          <p:cNvPr id="321" name="Google Shape;321;p41"/>
          <p:cNvGrpSpPr/>
          <p:nvPr/>
        </p:nvGrpSpPr>
        <p:grpSpPr>
          <a:xfrm>
            <a:off x="7273925" y="4370388"/>
            <a:ext cx="1655763" cy="1362075"/>
            <a:chOff x="7662704" y="3944668"/>
            <a:chExt cx="1756927" cy="1871413"/>
          </a:xfrm>
        </p:grpSpPr>
        <p:sp>
          <p:nvSpPr>
            <p:cNvPr id="322" name="Google Shape;322;p41"/>
            <p:cNvSpPr txBox="1"/>
            <p:nvPr/>
          </p:nvSpPr>
          <p:spPr>
            <a:xfrm>
              <a:off x="7901610" y="3944668"/>
              <a:ext cx="1518021" cy="1057977"/>
            </a:xfrm>
            <a:prstGeom prst="rect">
              <a:avLst/>
            </a:prstGeom>
            <a:noFill/>
            <a:ln cap="flat" cmpd="sng" w="9525">
              <a:solidFill>
                <a:srgbClr val="00B05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rgbClr val="00B050"/>
                </a:buClr>
                <a:buSzPts val="1100"/>
                <a:buFont typeface="Arial"/>
                <a:buNone/>
              </a:pPr>
              <a:r>
                <a:rPr b="1" i="0" lang="en-US" sz="1100" u="sng" cap="none" strike="noStrike">
                  <a:solidFill>
                    <a:srgbClr val="00B050"/>
                  </a:solidFill>
                  <a:latin typeface="Arial"/>
                  <a:ea typeface="Arial"/>
                  <a:cs typeface="Arial"/>
                  <a:sym typeface="Arial"/>
                </a:rPr>
                <a:t>phpMyAdmin</a:t>
              </a:r>
              <a:endParaRPr/>
            </a:p>
            <a:p>
              <a:pPr indent="0" lvl="0" marL="0" marR="0" rtl="0" algn="l">
                <a:spcBef>
                  <a:spcPts val="0"/>
                </a:spcBef>
                <a:spcAft>
                  <a:spcPts val="0"/>
                </a:spcAft>
                <a:buClr>
                  <a:srgbClr val="00B050"/>
                </a:buClr>
                <a:buSzPts val="1100"/>
                <a:buFont typeface="Arial"/>
                <a:buNone/>
              </a:pPr>
              <a:r>
                <a:rPr b="1" i="0" lang="en-US" sz="1100" u="none" cap="none" strike="noStrike">
                  <a:solidFill>
                    <a:srgbClr val="00B050"/>
                  </a:solidFill>
                  <a:latin typeface="Arial"/>
                  <a:ea typeface="Arial"/>
                  <a:cs typeface="Arial"/>
                  <a:sym typeface="Arial"/>
                </a:rPr>
                <a:t>provides separate </a:t>
              </a:r>
              <a:endParaRPr/>
            </a:p>
            <a:p>
              <a:pPr indent="0" lvl="0" marL="0" marR="0" rtl="0" algn="l">
                <a:spcBef>
                  <a:spcPts val="0"/>
                </a:spcBef>
                <a:spcAft>
                  <a:spcPts val="0"/>
                </a:spcAft>
                <a:buClr>
                  <a:srgbClr val="00B050"/>
                </a:buClr>
                <a:buSzPts val="1100"/>
                <a:buFont typeface="Arial"/>
                <a:buNone/>
              </a:pPr>
              <a:r>
                <a:rPr b="1" i="0" lang="en-US" sz="1100" u="none" cap="none" strike="noStrike">
                  <a:solidFill>
                    <a:srgbClr val="00B050"/>
                  </a:solidFill>
                  <a:latin typeface="Arial"/>
                  <a:ea typeface="Arial"/>
                  <a:cs typeface="Arial"/>
                  <a:sym typeface="Arial"/>
                </a:rPr>
                <a:t>browser-based </a:t>
              </a:r>
              <a:endParaRPr/>
            </a:p>
            <a:p>
              <a:pPr indent="0" lvl="0" marL="0" marR="0" rtl="0" algn="l">
                <a:spcBef>
                  <a:spcPts val="0"/>
                </a:spcBef>
                <a:spcAft>
                  <a:spcPts val="0"/>
                </a:spcAft>
                <a:buClr>
                  <a:srgbClr val="00B050"/>
                </a:buClr>
                <a:buSzPts val="1100"/>
                <a:buFont typeface="Arial"/>
                <a:buNone/>
              </a:pPr>
              <a:r>
                <a:rPr b="1" i="0" lang="en-US" sz="1100" u="none" cap="none" strike="noStrike">
                  <a:solidFill>
                    <a:srgbClr val="00B050"/>
                  </a:solidFill>
                  <a:latin typeface="Arial"/>
                  <a:ea typeface="Arial"/>
                  <a:cs typeface="Arial"/>
                  <a:sym typeface="Arial"/>
                </a:rPr>
                <a:t>GUI interface</a:t>
              </a:r>
              <a:endParaRPr b="1" i="0" sz="1600" u="none" cap="none" strike="noStrike">
                <a:solidFill>
                  <a:srgbClr val="00B050"/>
                </a:solidFill>
                <a:latin typeface="Arial"/>
                <a:ea typeface="Arial"/>
                <a:cs typeface="Arial"/>
                <a:sym typeface="Arial"/>
              </a:endParaRPr>
            </a:p>
          </p:txBody>
        </p:sp>
        <p:cxnSp>
          <p:nvCxnSpPr>
            <p:cNvPr id="323" name="Google Shape;323;p41"/>
            <p:cNvCxnSpPr/>
            <p:nvPr/>
          </p:nvCxnSpPr>
          <p:spPr>
            <a:xfrm flipH="1">
              <a:off x="7662704" y="5099925"/>
              <a:ext cx="438943" cy="716156"/>
            </a:xfrm>
            <a:prstGeom prst="straightConnector1">
              <a:avLst/>
            </a:prstGeom>
            <a:noFill/>
            <a:ln cap="flat" cmpd="sng" w="9525">
              <a:solidFill>
                <a:srgbClr val="00B0F0"/>
              </a:solidFill>
              <a:prstDash val="dash"/>
              <a:round/>
              <a:headEnd len="med" w="med" type="none"/>
              <a:tailEnd len="med" w="med" type="stealth"/>
            </a:ln>
          </p:spPr>
        </p:cxnSp>
      </p:grpSp>
      <p:sp>
        <p:nvSpPr>
          <p:cNvPr id="324" name="Google Shape;324;p41"/>
          <p:cNvSpPr/>
          <p:nvPr/>
        </p:nvSpPr>
        <p:spPr>
          <a:xfrm>
            <a:off x="6194425" y="5405438"/>
            <a:ext cx="881063" cy="1171575"/>
          </a:xfrm>
          <a:prstGeom prst="rect">
            <a:avLst/>
          </a:prstGeom>
          <a:solidFill>
            <a:srgbClr val="FFFFFF"/>
          </a:solidFill>
          <a:ln cap="flat" cmpd="sng" w="50800">
            <a:solidFill>
              <a:srgbClr val="114F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25" name="Google Shape;325;p41"/>
          <p:cNvGrpSpPr/>
          <p:nvPr/>
        </p:nvGrpSpPr>
        <p:grpSpPr>
          <a:xfrm>
            <a:off x="7907338" y="3225800"/>
            <a:ext cx="612775" cy="246063"/>
            <a:chOff x="8153400" y="1967186"/>
            <a:chExt cx="612380" cy="194510"/>
          </a:xfrm>
        </p:grpSpPr>
        <p:cxnSp>
          <p:nvCxnSpPr>
            <p:cNvPr id="326" name="Google Shape;326;p41"/>
            <p:cNvCxnSpPr/>
            <p:nvPr/>
          </p:nvCxnSpPr>
          <p:spPr>
            <a:xfrm>
              <a:off x="8458200" y="1967186"/>
              <a:ext cx="307580" cy="0"/>
            </a:xfrm>
            <a:prstGeom prst="straightConnector1">
              <a:avLst/>
            </a:prstGeom>
            <a:noFill/>
            <a:ln cap="flat" cmpd="sng" w="9525">
              <a:solidFill>
                <a:schemeClr val="dk1"/>
              </a:solidFill>
              <a:prstDash val="solid"/>
              <a:round/>
              <a:headEnd len="med" w="med" type="none"/>
              <a:tailEnd len="med" w="med" type="triangle"/>
            </a:ln>
          </p:spPr>
        </p:cxnSp>
        <p:cxnSp>
          <p:nvCxnSpPr>
            <p:cNvPr id="327" name="Google Shape;327;p41"/>
            <p:cNvCxnSpPr/>
            <p:nvPr/>
          </p:nvCxnSpPr>
          <p:spPr>
            <a:xfrm rot="10800000">
              <a:off x="8153400" y="2161696"/>
              <a:ext cx="214242" cy="0"/>
            </a:xfrm>
            <a:prstGeom prst="straightConnector1">
              <a:avLst/>
            </a:prstGeom>
            <a:noFill/>
            <a:ln cap="flat" cmpd="sng" w="9525">
              <a:solidFill>
                <a:schemeClr val="dk1"/>
              </a:solidFill>
              <a:prstDash val="solid"/>
              <a:round/>
              <a:headEnd len="med" w="med" type="none"/>
              <a:tailEnd len="med" w="med" type="triangle"/>
            </a:ln>
          </p:spPr>
        </p:cxnSp>
      </p:grpSp>
      <p:sp>
        <p:nvSpPr>
          <p:cNvPr id="328" name="Google Shape;328;p41"/>
          <p:cNvSpPr txBox="1"/>
          <p:nvPr/>
        </p:nvSpPr>
        <p:spPr>
          <a:xfrm>
            <a:off x="7907338" y="4021138"/>
            <a:ext cx="55562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2</a:t>
            </a:r>
            <a:endParaRPr/>
          </a:p>
        </p:txBody>
      </p:sp>
      <p:sp>
        <p:nvSpPr>
          <p:cNvPr id="329" name="Google Shape;329;p41"/>
          <p:cNvSpPr txBox="1"/>
          <p:nvPr/>
        </p:nvSpPr>
        <p:spPr>
          <a:xfrm>
            <a:off x="5280025" y="3287713"/>
            <a:ext cx="55562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nvSpPr>
        <p:spPr>
          <a:xfrm>
            <a:off x="374983" y="609600"/>
            <a:ext cx="8394032" cy="10064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3300"/>
              <a:buFont typeface="Arial"/>
              <a:buNone/>
            </a:pPr>
            <a:r>
              <a:rPr b="1" i="0" lang="en-US" sz="3300" u="none" cap="none" strike="noStrike">
                <a:solidFill>
                  <a:schemeClr val="dk1"/>
                </a:solidFill>
                <a:latin typeface="Arial"/>
                <a:ea typeface="Arial"/>
                <a:cs typeface="Arial"/>
                <a:sym typeface="Arial"/>
              </a:rPr>
              <a:t>Facebook also uses Three-tier Architecture</a:t>
            </a:r>
            <a:endParaRPr/>
          </a:p>
        </p:txBody>
      </p:sp>
      <p:pic>
        <p:nvPicPr>
          <p:cNvPr descr="Facebook logo Images, Stock Photos &amp;amp;amp; Vectors | Shutterstock" id="336" name="Google Shape;336;p42"/>
          <p:cNvPicPr preferRelativeResize="0"/>
          <p:nvPr/>
        </p:nvPicPr>
        <p:blipFill rotWithShape="1">
          <a:blip r:embed="rId3">
            <a:alphaModFix/>
          </a:blip>
          <a:srcRect b="13802" l="0" r="0" t="7142"/>
          <a:stretch/>
        </p:blipFill>
        <p:spPr>
          <a:xfrm>
            <a:off x="4571999" y="5370635"/>
            <a:ext cx="4562475" cy="1487366"/>
          </a:xfrm>
          <a:prstGeom prst="rect">
            <a:avLst/>
          </a:prstGeom>
          <a:noFill/>
          <a:ln>
            <a:noFill/>
          </a:ln>
        </p:spPr>
      </p:pic>
      <p:sp>
        <p:nvSpPr>
          <p:cNvPr id="337" name="Google Shape;337;p4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rgbClr val="000000"/>
              </a:buClr>
              <a:buSzPts val="2400"/>
              <a:buChar char="•"/>
            </a:pPr>
            <a:r>
              <a:rPr b="0" i="0" lang="en-US" sz="2400">
                <a:solidFill>
                  <a:srgbClr val="000000"/>
                </a:solidFill>
                <a:latin typeface="Arial"/>
                <a:ea typeface="Arial"/>
                <a:cs typeface="Arial"/>
                <a:sym typeface="Arial"/>
              </a:rPr>
              <a:t>The </a:t>
            </a:r>
            <a:r>
              <a:rPr b="0" i="0" lang="en-US" sz="2400">
                <a:solidFill>
                  <a:srgbClr val="0070C0"/>
                </a:solidFill>
                <a:latin typeface="Arial"/>
                <a:ea typeface="Arial"/>
                <a:cs typeface="Arial"/>
                <a:sym typeface="Arial"/>
              </a:rPr>
              <a:t>presentation tier </a:t>
            </a:r>
            <a:r>
              <a:rPr b="0" i="0" lang="en-US" sz="2400">
                <a:solidFill>
                  <a:srgbClr val="000000"/>
                </a:solidFill>
                <a:latin typeface="Arial"/>
                <a:ea typeface="Arial"/>
                <a:cs typeface="Arial"/>
                <a:sym typeface="Arial"/>
              </a:rPr>
              <a:t>of the Facebook is made up of the Web servers that create the Web pages that users see</a:t>
            </a:r>
            <a:endParaRPr/>
          </a:p>
          <a:p>
            <a:pPr indent="-19050" lvl="0" marL="171450" rtl="0" algn="l">
              <a:lnSpc>
                <a:spcPct val="90000"/>
              </a:lnSpc>
              <a:spcBef>
                <a:spcPts val="750"/>
              </a:spcBef>
              <a:spcAft>
                <a:spcPts val="0"/>
              </a:spcAft>
              <a:buClr>
                <a:schemeClr val="dk1"/>
              </a:buClr>
              <a:buSzPts val="2400"/>
              <a:buNone/>
            </a:pPr>
            <a:r>
              <a:t/>
            </a:r>
            <a:endParaRPr b="0" i="0" sz="2400">
              <a:solidFill>
                <a:srgbClr val="000000"/>
              </a:solidFill>
              <a:latin typeface="Arial"/>
              <a:ea typeface="Arial"/>
              <a:cs typeface="Arial"/>
              <a:sym typeface="Arial"/>
            </a:endParaRPr>
          </a:p>
          <a:p>
            <a:pPr indent="-171450" lvl="0" marL="171450" rtl="0" algn="l">
              <a:lnSpc>
                <a:spcPct val="90000"/>
              </a:lnSpc>
              <a:spcBef>
                <a:spcPts val="750"/>
              </a:spcBef>
              <a:spcAft>
                <a:spcPts val="0"/>
              </a:spcAft>
              <a:buClr>
                <a:srgbClr val="000000"/>
              </a:buClr>
              <a:buSzPts val="2400"/>
              <a:buChar char="•"/>
            </a:pPr>
            <a:r>
              <a:rPr b="0" i="0" lang="en-US" sz="2400">
                <a:solidFill>
                  <a:srgbClr val="000000"/>
                </a:solidFill>
                <a:latin typeface="Arial"/>
                <a:ea typeface="Arial"/>
                <a:cs typeface="Arial"/>
                <a:sym typeface="Arial"/>
              </a:rPr>
              <a:t>The </a:t>
            </a:r>
            <a:r>
              <a:rPr b="0" i="0" lang="en-US" sz="2400">
                <a:solidFill>
                  <a:srgbClr val="0070C0"/>
                </a:solidFill>
                <a:latin typeface="Arial"/>
                <a:ea typeface="Arial"/>
                <a:cs typeface="Arial"/>
                <a:sym typeface="Arial"/>
              </a:rPr>
              <a:t>middle tier </a:t>
            </a:r>
            <a:r>
              <a:rPr b="0" i="0" lang="en-US" sz="2400">
                <a:solidFill>
                  <a:srgbClr val="000000"/>
                </a:solidFill>
                <a:latin typeface="Arial"/>
                <a:ea typeface="Arial"/>
                <a:cs typeface="Arial"/>
                <a:sym typeface="Arial"/>
              </a:rPr>
              <a:t>consists of</a:t>
            </a:r>
            <a:r>
              <a:rPr lang="en-US" sz="2400">
                <a:solidFill>
                  <a:srgbClr val="000000"/>
                </a:solidFill>
                <a:latin typeface="Arial"/>
                <a:ea typeface="Arial"/>
                <a:cs typeface="Arial"/>
                <a:sym typeface="Arial"/>
              </a:rPr>
              <a:t> all the business logic and data requests</a:t>
            </a:r>
            <a:endParaRPr/>
          </a:p>
          <a:p>
            <a:pPr indent="-19050" lvl="0" marL="171450" rtl="0" algn="l">
              <a:lnSpc>
                <a:spcPct val="90000"/>
              </a:lnSpc>
              <a:spcBef>
                <a:spcPts val="750"/>
              </a:spcBef>
              <a:spcAft>
                <a:spcPts val="0"/>
              </a:spcAft>
              <a:buClr>
                <a:schemeClr val="dk1"/>
              </a:buClr>
              <a:buSzPts val="2400"/>
              <a:buNone/>
            </a:pPr>
            <a:r>
              <a:t/>
            </a:r>
            <a:endParaRPr sz="2400">
              <a:solidFill>
                <a:srgbClr val="000000"/>
              </a:solidFill>
              <a:latin typeface="Arial"/>
              <a:ea typeface="Arial"/>
              <a:cs typeface="Arial"/>
              <a:sym typeface="Arial"/>
            </a:endParaRPr>
          </a:p>
          <a:p>
            <a:pPr indent="-171450" lvl="0" marL="171450" rtl="0" algn="l">
              <a:lnSpc>
                <a:spcPct val="90000"/>
              </a:lnSpc>
              <a:spcBef>
                <a:spcPts val="750"/>
              </a:spcBef>
              <a:spcAft>
                <a:spcPts val="0"/>
              </a:spcAft>
              <a:buClr>
                <a:srgbClr val="000000"/>
              </a:buClr>
              <a:buSzPts val="2400"/>
              <a:buChar char="•"/>
            </a:pPr>
            <a:r>
              <a:rPr b="0" i="0" lang="en-US" sz="2400">
                <a:solidFill>
                  <a:srgbClr val="000000"/>
                </a:solidFill>
                <a:latin typeface="Arial"/>
                <a:ea typeface="Arial"/>
                <a:cs typeface="Arial"/>
                <a:sym typeface="Arial"/>
              </a:rPr>
              <a:t>The </a:t>
            </a:r>
            <a:r>
              <a:rPr b="0" i="0" lang="en-US" sz="2400">
                <a:solidFill>
                  <a:srgbClr val="0070C0"/>
                </a:solidFill>
                <a:latin typeface="Arial"/>
                <a:ea typeface="Arial"/>
                <a:cs typeface="Arial"/>
                <a:sym typeface="Arial"/>
              </a:rPr>
              <a:t>data tier </a:t>
            </a:r>
            <a:r>
              <a:rPr b="0" i="0" lang="en-US" sz="2400">
                <a:solidFill>
                  <a:srgbClr val="000000"/>
                </a:solidFill>
                <a:latin typeface="Arial"/>
                <a:ea typeface="Arial"/>
                <a:cs typeface="Arial"/>
                <a:sym typeface="Arial"/>
              </a:rPr>
              <a:t>consists of a database server application. This tier stores all the data about every object in the database, such as a person, photo, or event.</a:t>
            </a:r>
            <a:endParaRPr sz="2400"/>
          </a:p>
        </p:txBody>
      </p:sp>
      <p:sp>
        <p:nvSpPr>
          <p:cNvPr id="338" name="Google Shape;338;p4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txBox="1"/>
          <p:nvPr/>
        </p:nvSpPr>
        <p:spPr>
          <a:xfrm>
            <a:off x="374983" y="609600"/>
            <a:ext cx="8394032" cy="54938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3300"/>
              <a:buFont typeface="Arial"/>
              <a:buNone/>
            </a:pPr>
            <a:r>
              <a:rPr b="1" i="0" lang="en-US" sz="3300" u="none" cap="none" strike="noStrike">
                <a:solidFill>
                  <a:schemeClr val="dk1"/>
                </a:solidFill>
                <a:latin typeface="Arial"/>
                <a:ea typeface="Arial"/>
                <a:cs typeface="Arial"/>
                <a:sym typeface="Arial"/>
              </a:rPr>
              <a:t>3-Tier Architecture Demo</a:t>
            </a:r>
            <a:endParaRPr/>
          </a:p>
        </p:txBody>
      </p:sp>
      <p:pic>
        <p:nvPicPr>
          <p:cNvPr descr="Three-tier architecture overview - AWS Serverless Multi-Tier Architectures  with Amazon API Gateway and AWS Lambda" id="345" name="Google Shape;345;p43"/>
          <p:cNvPicPr preferRelativeResize="0"/>
          <p:nvPr/>
        </p:nvPicPr>
        <p:blipFill rotWithShape="1">
          <a:blip r:embed="rId3">
            <a:alphaModFix/>
          </a:blip>
          <a:srcRect b="0" l="0" r="0" t="0"/>
          <a:stretch/>
        </p:blipFill>
        <p:spPr>
          <a:xfrm>
            <a:off x="201107" y="1905000"/>
            <a:ext cx="8741785" cy="36242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larity">
  <a:themeElements>
    <a:clrScheme name="Custom 1">
      <a:dk1>
        <a:srgbClr val="000000"/>
      </a:dk1>
      <a:lt1>
        <a:srgbClr val="FFFFFF"/>
      </a:lt1>
      <a:dk2>
        <a:srgbClr val="000000"/>
      </a:dk2>
      <a:lt2>
        <a:srgbClr val="808080"/>
      </a:lt2>
      <a:accent1>
        <a:srgbClr val="000000"/>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