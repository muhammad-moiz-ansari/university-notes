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63"/>
  </p:notesMasterIdLst>
  <p:sldIdLst>
    <p:sldId id="960" r:id="rId2"/>
    <p:sldId id="1076" r:id="rId3"/>
    <p:sldId id="1077" r:id="rId4"/>
    <p:sldId id="1078" r:id="rId5"/>
    <p:sldId id="1081" r:id="rId6"/>
    <p:sldId id="1213" r:id="rId7"/>
    <p:sldId id="1082" r:id="rId8"/>
    <p:sldId id="1083" r:id="rId9"/>
    <p:sldId id="1084" r:id="rId10"/>
    <p:sldId id="1085" r:id="rId11"/>
    <p:sldId id="1086" r:id="rId12"/>
    <p:sldId id="1222" r:id="rId13"/>
    <p:sldId id="1223" r:id="rId14"/>
    <p:sldId id="1087" r:id="rId15"/>
    <p:sldId id="1088" r:id="rId16"/>
    <p:sldId id="1089" r:id="rId17"/>
    <p:sldId id="1090" r:id="rId18"/>
    <p:sldId id="1091" r:id="rId19"/>
    <p:sldId id="1093" r:id="rId20"/>
    <p:sldId id="1092" r:id="rId21"/>
    <p:sldId id="1095" r:id="rId22"/>
    <p:sldId id="1096" r:id="rId23"/>
    <p:sldId id="1098" r:id="rId24"/>
    <p:sldId id="1214" r:id="rId25"/>
    <p:sldId id="1097" r:id="rId26"/>
    <p:sldId id="1104" r:id="rId27"/>
    <p:sldId id="1220" r:id="rId28"/>
    <p:sldId id="1099" r:id="rId29"/>
    <p:sldId id="1100" r:id="rId30"/>
    <p:sldId id="1102" r:id="rId31"/>
    <p:sldId id="1101" r:id="rId32"/>
    <p:sldId id="1103" r:id="rId33"/>
    <p:sldId id="1105" r:id="rId34"/>
    <p:sldId id="1107" r:id="rId35"/>
    <p:sldId id="1108" r:id="rId36"/>
    <p:sldId id="1109" r:id="rId37"/>
    <p:sldId id="1218" r:id="rId38"/>
    <p:sldId id="1216" r:id="rId39"/>
    <p:sldId id="1110" r:id="rId40"/>
    <p:sldId id="1219" r:id="rId41"/>
    <p:sldId id="1111" r:id="rId42"/>
    <p:sldId id="1112" r:id="rId43"/>
    <p:sldId id="1113" r:id="rId44"/>
    <p:sldId id="1114" r:id="rId45"/>
    <p:sldId id="1115" r:id="rId46"/>
    <p:sldId id="1116" r:id="rId47"/>
    <p:sldId id="1117" r:id="rId48"/>
    <p:sldId id="1118" r:id="rId49"/>
    <p:sldId id="1194" r:id="rId50"/>
    <p:sldId id="1119" r:id="rId51"/>
    <p:sldId id="1192" r:id="rId52"/>
    <p:sldId id="1224" r:id="rId53"/>
    <p:sldId id="1120" r:id="rId54"/>
    <p:sldId id="1121" r:id="rId55"/>
    <p:sldId id="1221" r:id="rId56"/>
    <p:sldId id="1122" r:id="rId57"/>
    <p:sldId id="1123" r:id="rId58"/>
    <p:sldId id="1125" r:id="rId59"/>
    <p:sldId id="1225" r:id="rId60"/>
    <p:sldId id="1127" r:id="rId61"/>
    <p:sldId id="1226" r:id="rId6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1975" autoAdjust="0"/>
    <p:restoredTop sz="90166" autoAdjust="0"/>
  </p:normalViewPr>
  <p:slideViewPr>
    <p:cSldViewPr snapToGrid="0" snapToObjects="1">
      <p:cViewPr varScale="1">
        <p:scale>
          <a:sx n="113" d="100"/>
          <a:sy n="113" d="100"/>
        </p:scale>
        <p:origin x="656" y="168"/>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notesMaster" Target="notesMasters/notesMaster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theme" Target="theme/theme1.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11/9/25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middleboxes (and Internet arch), Net neutrality, buffering …</a:t>
            </a:r>
          </a:p>
          <a:p>
            <a:pPr marL="171450" indent="-171450">
              <a:buFont typeface="Arial" panose="020B0604020202020204" pitchFamily="34" charset="0"/>
              <a:buChar char="•"/>
            </a:pPr>
            <a:r>
              <a:rPr lang="en-US" dirty="0"/>
              <a:t>lighter header font</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a:p>
        </p:txBody>
      </p:sp>
    </p:spTree>
    <p:extLst>
      <p:ext uri="{BB962C8B-B14F-4D97-AF65-F5344CB8AC3E}">
        <p14:creationId xmlns:p14="http://schemas.microsoft.com/office/powerpoint/2010/main" val="291036230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26</a:t>
            </a:fld>
            <a:endParaRPr lang="en-US"/>
          </a:p>
        </p:txBody>
      </p:sp>
    </p:spTree>
    <p:extLst>
      <p:ext uri="{BB962C8B-B14F-4D97-AF65-F5344CB8AC3E}">
        <p14:creationId xmlns:p14="http://schemas.microsoft.com/office/powerpoint/2010/main" val="257439433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a:p>
        </p:txBody>
      </p:sp>
    </p:spTree>
    <p:extLst>
      <p:ext uri="{BB962C8B-B14F-4D97-AF65-F5344CB8AC3E}">
        <p14:creationId xmlns:p14="http://schemas.microsoft.com/office/powerpoint/2010/main" val="224179991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52</a:t>
            </a:fld>
            <a:endParaRPr lang="en-US"/>
          </a:p>
        </p:txBody>
      </p:sp>
    </p:spTree>
    <p:extLst>
      <p:ext uri="{BB962C8B-B14F-4D97-AF65-F5344CB8AC3E}">
        <p14:creationId xmlns:p14="http://schemas.microsoft.com/office/powerpoint/2010/main" val="156977969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a:t>
            </a:r>
            <a:r>
              <a:rPr lang="en-US" sz="1200" kern="1200" dirty="0" err="1">
                <a:solidFill>
                  <a:schemeClr val="tx1"/>
                </a:solidFill>
                <a:effectLst/>
                <a:latin typeface="+mn-lt"/>
                <a:ea typeface="+mn-ea"/>
                <a:cs typeface="+mn-cs"/>
              </a:rPr>
              <a:t>whiteboxes</a:t>
            </a:r>
            <a:r>
              <a:rPr lang="en-US" sz="1200" kern="1200" dirty="0">
                <a:solidFill>
                  <a:schemeClr val="tx1"/>
                </a:solidFill>
                <a:effectLst/>
                <a:latin typeface="+mn-lt"/>
                <a:ea typeface="+mn-ea"/>
                <a:cs typeface="+mn-cs"/>
              </a:rPr>
              <a:t>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9.png"/><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4.png"/></Relationships>
</file>

<file path=ppt/slides/_rels/slide1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11.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7.xml"/><Relationship Id="rId1" Type="http://schemas.openxmlformats.org/officeDocument/2006/relationships/slideLayout" Target="../slideLayouts/slideLayout2.xml"/><Relationship Id="rId4" Type="http://schemas.openxmlformats.org/officeDocument/2006/relationships/image" Target="../media/image13.png"/></Relationships>
</file>

<file path=ppt/slides/_rels/slide2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8.xml"/><Relationship Id="rId1" Type="http://schemas.openxmlformats.org/officeDocument/2006/relationships/slideLayout" Target="../slideLayouts/slideLayout2.xml"/><Relationship Id="rId4" Type="http://schemas.openxmlformats.org/officeDocument/2006/relationships/image" Target="../media/image13.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5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47.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image" Target="../media/image25.png"/><Relationship Id="rId18" Type="http://schemas.openxmlformats.org/officeDocument/2006/relationships/image" Target="../media/image30.png"/><Relationship Id="rId3" Type="http://schemas.openxmlformats.org/officeDocument/2006/relationships/image" Target="../media/image19.png"/><Relationship Id="rId21" Type="http://schemas.openxmlformats.org/officeDocument/2006/relationships/image" Target="../media/image33.png"/><Relationship Id="rId7" Type="http://schemas.openxmlformats.org/officeDocument/2006/relationships/image" Target="../media/image9.png"/><Relationship Id="rId12" Type="http://schemas.openxmlformats.org/officeDocument/2006/relationships/image" Target="../media/image24.png"/><Relationship Id="rId17" Type="http://schemas.openxmlformats.org/officeDocument/2006/relationships/image" Target="../media/image29.png"/><Relationship Id="rId2" Type="http://schemas.openxmlformats.org/officeDocument/2006/relationships/image" Target="../media/image18.png"/><Relationship Id="rId16" Type="http://schemas.openxmlformats.org/officeDocument/2006/relationships/image" Target="../media/image28.png"/><Relationship Id="rId20" Type="http://schemas.openxmlformats.org/officeDocument/2006/relationships/image" Target="../media/image32.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23.png"/><Relationship Id="rId5" Type="http://schemas.openxmlformats.org/officeDocument/2006/relationships/image" Target="../media/image7.png"/><Relationship Id="rId15" Type="http://schemas.openxmlformats.org/officeDocument/2006/relationships/image" Target="../media/image27.png"/><Relationship Id="rId10" Type="http://schemas.openxmlformats.org/officeDocument/2006/relationships/image" Target="../media/image22.png"/><Relationship Id="rId19" Type="http://schemas.openxmlformats.org/officeDocument/2006/relationships/image" Target="../media/image31.png"/><Relationship Id="rId4" Type="http://schemas.openxmlformats.org/officeDocument/2006/relationships/image" Target="../media/image4.png"/><Relationship Id="rId9" Type="http://schemas.openxmlformats.org/officeDocument/2006/relationships/image" Target="../media/image21.png"/><Relationship Id="rId14" Type="http://schemas.openxmlformats.org/officeDocument/2006/relationships/image" Target="../media/image26.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image" Target="../media/image18.png"/><Relationship Id="rId7" Type="http://schemas.openxmlformats.org/officeDocument/2006/relationships/image" Target="../media/image4.png"/><Relationship Id="rId2" Type="http://schemas.openxmlformats.org/officeDocument/2006/relationships/notesSlide" Target="../notesSlides/notesSlide55.xml"/><Relationship Id="rId1" Type="http://schemas.openxmlformats.org/officeDocument/2006/relationships/slideLayout" Target="../slideLayouts/slideLayout2.xml"/><Relationship Id="rId6" Type="http://schemas.openxmlformats.org/officeDocument/2006/relationships/image" Target="../media/image21.png"/><Relationship Id="rId5" Type="http://schemas.openxmlformats.org/officeDocument/2006/relationships/image" Target="../media/image25.png"/><Relationship Id="rId4" Type="http://schemas.openxmlformats.org/officeDocument/2006/relationships/image" Target="../media/image24.png"/><Relationship Id="rId9" Type="http://schemas.openxmlformats.org/officeDocument/2006/relationships/image" Target="../media/image23.png"/></Relationships>
</file>

<file path=ppt/slides/_rels/slide60.xml.rels><?xml version="1.0" encoding="UTF-8" standalone="yes"?>
<Relationships xmlns="http://schemas.openxmlformats.org/package/2006/relationships"><Relationship Id="rId8" Type="http://schemas.openxmlformats.org/officeDocument/2006/relationships/image" Target="../media/image30.png"/><Relationship Id="rId13" Type="http://schemas.openxmlformats.org/officeDocument/2006/relationships/image" Target="../media/image26.png"/><Relationship Id="rId3" Type="http://schemas.openxmlformats.org/officeDocument/2006/relationships/image" Target="../media/image34.png"/><Relationship Id="rId7" Type="http://schemas.openxmlformats.org/officeDocument/2006/relationships/image" Target="../media/image29.png"/><Relationship Id="rId12" Type="http://schemas.openxmlformats.org/officeDocument/2006/relationships/image" Target="../media/image32.png"/><Relationship Id="rId2" Type="http://schemas.openxmlformats.org/officeDocument/2006/relationships/notesSlide" Target="../notesSlides/notesSlide56.xml"/><Relationship Id="rId1" Type="http://schemas.openxmlformats.org/officeDocument/2006/relationships/slideLayout" Target="../slideLayouts/slideLayout2.xml"/><Relationship Id="rId6" Type="http://schemas.openxmlformats.org/officeDocument/2006/relationships/image" Target="../media/image28.png"/><Relationship Id="rId11" Type="http://schemas.openxmlformats.org/officeDocument/2006/relationships/image" Target="../media/image31.png"/><Relationship Id="rId5" Type="http://schemas.openxmlformats.org/officeDocument/2006/relationships/image" Target="../media/image36.png"/><Relationship Id="rId10" Type="http://schemas.openxmlformats.org/officeDocument/2006/relationships/image" Target="../media/image37.png"/><Relationship Id="rId4" Type="http://schemas.openxmlformats.org/officeDocument/2006/relationships/image" Target="../media/image35.png"/><Relationship Id="rId9" Type="http://schemas.openxmlformats.org/officeDocument/2006/relationships/image" Target="../media/image27.png"/></Relationships>
</file>

<file path=ppt/slides/_rels/slide6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266933"/>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DHCP</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F8C44E3D-5F8D-967E-CFA1-34A250DFDA01}"/>
              </a:ext>
            </a:extLst>
          </p:cNvPr>
          <p:cNvSpPr>
            <a:spLocks noGrp="1"/>
          </p:cNvSpPr>
          <p:nvPr>
            <p:ph idx="1"/>
          </p:nvPr>
        </p:nvSpPr>
        <p:spPr/>
        <p:txBody>
          <a:bodyPr/>
          <a:lstStyle/>
          <a:p>
            <a:endParaRPr lang="en-US"/>
          </a:p>
        </p:txBody>
      </p:sp>
      <p:sp>
        <p:nvSpPr>
          <p:cNvPr id="3" name="Title 2">
            <a:extLst>
              <a:ext uri="{FF2B5EF4-FFF2-40B4-BE49-F238E27FC236}">
                <a16:creationId xmlns:a16="http://schemas.microsoft.com/office/drawing/2014/main" id="{238DDBE4-2AC1-939E-D677-1BBD178211FF}"/>
              </a:ext>
            </a:extLst>
          </p:cNvPr>
          <p:cNvSpPr>
            <a:spLocks noGrp="1"/>
          </p:cNvSpPr>
          <p:nvPr>
            <p:ph type="title"/>
          </p:nvPr>
        </p:nvSpPr>
        <p:spPr/>
        <p:txBody>
          <a:bodyPr/>
          <a:lstStyle/>
          <a:p>
            <a:r>
              <a:rPr lang="en-US" dirty="0"/>
              <a:t>Classful Addressing</a:t>
            </a:r>
          </a:p>
        </p:txBody>
      </p:sp>
      <p:sp>
        <p:nvSpPr>
          <p:cNvPr id="4" name="Slide Number Placeholder 3">
            <a:extLst>
              <a:ext uri="{FF2B5EF4-FFF2-40B4-BE49-F238E27FC236}">
                <a16:creationId xmlns:a16="http://schemas.microsoft.com/office/drawing/2014/main" id="{3AEAD657-E553-FE85-3382-1985F90928C1}"/>
              </a:ext>
            </a:extLst>
          </p:cNvPr>
          <p:cNvSpPr>
            <a:spLocks noGrp="1"/>
          </p:cNvSpPr>
          <p:nvPr>
            <p:ph type="sldNum" sz="quarter" idx="4"/>
          </p:nvPr>
        </p:nvSpPr>
        <p:spPr/>
        <p:txBody>
          <a:bodyPr/>
          <a:lstStyle/>
          <a:p>
            <a:r>
              <a:rPr lang="en-US"/>
              <a:t>Network Layer: 4-</a:t>
            </a:r>
            <a:fld id="{C4204591-24BD-A542-B9D5-F8D8A88D2FEE}" type="slidenum">
              <a:rPr lang="en-US" smtClean="0"/>
              <a:pPr/>
              <a:t>12</a:t>
            </a:fld>
            <a:endParaRPr lang="en-US" dirty="0"/>
          </a:p>
        </p:txBody>
      </p:sp>
      <p:pic>
        <p:nvPicPr>
          <p:cNvPr id="6" name="Picture 5">
            <a:extLst>
              <a:ext uri="{FF2B5EF4-FFF2-40B4-BE49-F238E27FC236}">
                <a16:creationId xmlns:a16="http://schemas.microsoft.com/office/drawing/2014/main" id="{1D213692-E128-8940-4ADD-F38A4C231FAB}"/>
              </a:ext>
            </a:extLst>
          </p:cNvPr>
          <p:cNvPicPr>
            <a:picLocks noChangeAspect="1"/>
          </p:cNvPicPr>
          <p:nvPr/>
        </p:nvPicPr>
        <p:blipFill>
          <a:blip r:embed="rId2"/>
          <a:stretch>
            <a:fillRect/>
          </a:stretch>
        </p:blipFill>
        <p:spPr>
          <a:xfrm>
            <a:off x="0" y="1252795"/>
            <a:ext cx="12192000" cy="5571613"/>
          </a:xfrm>
          <a:prstGeom prst="rect">
            <a:avLst/>
          </a:prstGeom>
        </p:spPr>
      </p:pic>
    </p:spTree>
    <p:extLst>
      <p:ext uri="{BB962C8B-B14F-4D97-AF65-F5344CB8AC3E}">
        <p14:creationId xmlns:p14="http://schemas.microsoft.com/office/powerpoint/2010/main" val="307308171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618A4CF-BDDC-0261-D1A4-0FB362274445}"/>
              </a:ext>
            </a:extLst>
          </p:cNvPr>
          <p:cNvSpPr>
            <a:spLocks noGrp="1"/>
          </p:cNvSpPr>
          <p:nvPr>
            <p:ph idx="1"/>
          </p:nvPr>
        </p:nvSpPr>
        <p:spPr/>
        <p:txBody>
          <a:bodyPr/>
          <a:lstStyle/>
          <a:p>
            <a:endParaRPr lang="en-US"/>
          </a:p>
        </p:txBody>
      </p:sp>
      <p:sp>
        <p:nvSpPr>
          <p:cNvPr id="3" name="Title 2">
            <a:extLst>
              <a:ext uri="{FF2B5EF4-FFF2-40B4-BE49-F238E27FC236}">
                <a16:creationId xmlns:a16="http://schemas.microsoft.com/office/drawing/2014/main" id="{773AF212-98FF-CCFE-D5BA-623C38B725D8}"/>
              </a:ext>
            </a:extLst>
          </p:cNvPr>
          <p:cNvSpPr>
            <a:spLocks noGrp="1"/>
          </p:cNvSpPr>
          <p:nvPr>
            <p:ph type="title"/>
          </p:nvPr>
        </p:nvSpPr>
        <p:spPr/>
        <p:txBody>
          <a:bodyPr/>
          <a:lstStyle/>
          <a:p>
            <a:endParaRPr lang="en-US"/>
          </a:p>
        </p:txBody>
      </p:sp>
      <p:sp>
        <p:nvSpPr>
          <p:cNvPr id="4" name="Slide Number Placeholder 3">
            <a:extLst>
              <a:ext uri="{FF2B5EF4-FFF2-40B4-BE49-F238E27FC236}">
                <a16:creationId xmlns:a16="http://schemas.microsoft.com/office/drawing/2014/main" id="{65BAA66D-6446-13D4-FE0A-D40FDAE6D967}"/>
              </a:ext>
            </a:extLst>
          </p:cNvPr>
          <p:cNvSpPr>
            <a:spLocks noGrp="1"/>
          </p:cNvSpPr>
          <p:nvPr>
            <p:ph type="sldNum" sz="quarter" idx="4"/>
          </p:nvPr>
        </p:nvSpPr>
        <p:spPr/>
        <p:txBody>
          <a:bodyPr/>
          <a:lstStyle/>
          <a:p>
            <a:r>
              <a:rPr lang="en-US"/>
              <a:t>Network Layer: 4-</a:t>
            </a:r>
            <a:fld id="{C4204591-24BD-A542-B9D5-F8D8A88D2FEE}" type="slidenum">
              <a:rPr lang="en-US" smtClean="0"/>
              <a:pPr/>
              <a:t>13</a:t>
            </a:fld>
            <a:endParaRPr lang="en-US" dirty="0"/>
          </a:p>
        </p:txBody>
      </p:sp>
      <p:pic>
        <p:nvPicPr>
          <p:cNvPr id="6" name="Picture 5">
            <a:extLst>
              <a:ext uri="{FF2B5EF4-FFF2-40B4-BE49-F238E27FC236}">
                <a16:creationId xmlns:a16="http://schemas.microsoft.com/office/drawing/2014/main" id="{BCC33D35-0E5E-DE0D-0CCF-EB75B98DF92E}"/>
              </a:ext>
            </a:extLst>
          </p:cNvPr>
          <p:cNvPicPr>
            <a:picLocks noChangeAspect="1"/>
          </p:cNvPicPr>
          <p:nvPr/>
        </p:nvPicPr>
        <p:blipFill>
          <a:blip r:embed="rId2"/>
          <a:stretch>
            <a:fillRect/>
          </a:stretch>
        </p:blipFill>
        <p:spPr>
          <a:xfrm>
            <a:off x="198120" y="0"/>
            <a:ext cx="11795760" cy="6858000"/>
          </a:xfrm>
          <a:prstGeom prst="rect">
            <a:avLst/>
          </a:prstGeom>
        </p:spPr>
      </p:pic>
    </p:spTree>
    <p:extLst>
      <p:ext uri="{BB962C8B-B14F-4D97-AF65-F5344CB8AC3E}">
        <p14:creationId xmlns:p14="http://schemas.microsoft.com/office/powerpoint/2010/main" val="150716654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26752" y="2964551"/>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44534" y="4190101"/>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09290" y="5558526"/>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6B9157-134B-D951-5AB5-DB1E86FBC3DC}"/>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9FCA621C-FF03-5E52-84B7-43ED04AAC1D3}"/>
              </a:ext>
            </a:extLst>
          </p:cNvPr>
          <p:cNvSpPr>
            <a:spLocks noGrp="1"/>
          </p:cNvSpPr>
          <p:nvPr>
            <p:ph sz="half" idx="1"/>
          </p:nvPr>
        </p:nvSpPr>
        <p:spPr/>
        <p:txBody>
          <a:bodyPr/>
          <a:lstStyle/>
          <a:p>
            <a:endParaRPr lang="en-US"/>
          </a:p>
        </p:txBody>
      </p:sp>
      <p:sp>
        <p:nvSpPr>
          <p:cNvPr id="4" name="Content Placeholder 3">
            <a:extLst>
              <a:ext uri="{FF2B5EF4-FFF2-40B4-BE49-F238E27FC236}">
                <a16:creationId xmlns:a16="http://schemas.microsoft.com/office/drawing/2014/main" id="{6CFC35E9-6B62-05FD-C363-FA746779128B}"/>
              </a:ext>
            </a:extLst>
          </p:cNvPr>
          <p:cNvSpPr>
            <a:spLocks noGrp="1"/>
          </p:cNvSpPr>
          <p:nvPr>
            <p:ph sz="half" idx="2"/>
          </p:nvPr>
        </p:nvSpPr>
        <p:spPr/>
        <p:txBody>
          <a:bodyPr/>
          <a:lstStyle/>
          <a:p>
            <a:endParaRPr lang="en-US"/>
          </a:p>
        </p:txBody>
      </p:sp>
      <p:sp>
        <p:nvSpPr>
          <p:cNvPr id="5" name="Slide Number Placeholder 4">
            <a:extLst>
              <a:ext uri="{FF2B5EF4-FFF2-40B4-BE49-F238E27FC236}">
                <a16:creationId xmlns:a16="http://schemas.microsoft.com/office/drawing/2014/main" id="{0579A408-567D-C473-BD06-285A99ED2F72}"/>
              </a:ext>
            </a:extLst>
          </p:cNvPr>
          <p:cNvSpPr>
            <a:spLocks noGrp="1"/>
          </p:cNvSpPr>
          <p:nvPr>
            <p:ph type="sldNum" sz="quarter" idx="4"/>
          </p:nvPr>
        </p:nvSpPr>
        <p:spPr/>
        <p:txBody>
          <a:bodyPr/>
          <a:lstStyle/>
          <a:p>
            <a:r>
              <a:rPr lang="en-US"/>
              <a:t>Network Layer: 4-</a:t>
            </a:r>
            <a:fld id="{C4204591-24BD-A542-B9D5-F8D8A88D2FEE}" type="slidenum">
              <a:rPr lang="en-US" smtClean="0"/>
              <a:pPr/>
              <a:t>27</a:t>
            </a:fld>
            <a:endParaRPr lang="en-US" dirty="0"/>
          </a:p>
        </p:txBody>
      </p:sp>
      <p:pic>
        <p:nvPicPr>
          <p:cNvPr id="7" name="Picture 6">
            <a:extLst>
              <a:ext uri="{FF2B5EF4-FFF2-40B4-BE49-F238E27FC236}">
                <a16:creationId xmlns:a16="http://schemas.microsoft.com/office/drawing/2014/main" id="{9036739F-E5E8-AC64-59D1-542CFA87F85B}"/>
              </a:ext>
            </a:extLst>
          </p:cNvPr>
          <p:cNvPicPr>
            <a:picLocks noChangeAspect="1"/>
          </p:cNvPicPr>
          <p:nvPr/>
        </p:nvPicPr>
        <p:blipFill>
          <a:blip r:embed="rId2"/>
          <a:stretch>
            <a:fillRect/>
          </a:stretch>
        </p:blipFill>
        <p:spPr>
          <a:xfrm>
            <a:off x="980361" y="2057208"/>
            <a:ext cx="10231278" cy="2743583"/>
          </a:xfrm>
          <a:prstGeom prst="rect">
            <a:avLst/>
          </a:prstGeom>
        </p:spPr>
      </p:pic>
    </p:spTree>
    <p:extLst>
      <p:ext uri="{BB962C8B-B14F-4D97-AF65-F5344CB8AC3E}">
        <p14:creationId xmlns:p14="http://schemas.microsoft.com/office/powerpoint/2010/main" val="323420287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enables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a:t>
            </a: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grpSp>
        <p:nvGrpSpPr>
          <p:cNvPr id="5" name="Group 4">
            <a:extLst>
              <a:ext uri="{FF2B5EF4-FFF2-40B4-BE49-F238E27FC236}">
                <a16:creationId xmlns:a16="http://schemas.microsoft.com/office/drawing/2014/main" id="{ADBF531C-BE87-EB49-B479-7855BE4CF21B}"/>
              </a:ext>
            </a:extLst>
          </p:cNvPr>
          <p:cNvGrpSpPr/>
          <p:nvPr/>
        </p:nvGrpSpPr>
        <p:grpSpPr>
          <a:xfrm>
            <a:off x="1284513" y="2612571"/>
            <a:ext cx="10450286" cy="4049486"/>
            <a:chOff x="1284513" y="2612571"/>
            <a:chExt cx="10450286" cy="4049486"/>
          </a:xfrm>
        </p:grpSpPr>
        <p:sp>
          <p:nvSpPr>
            <p:cNvPr id="4" name="TextBox 3">
              <a:extLst>
                <a:ext uri="{FF2B5EF4-FFF2-40B4-BE49-F238E27FC236}">
                  <a16:creationId xmlns:a16="http://schemas.microsoft.com/office/drawing/2014/main" id="{80A49F01-0502-D745-8771-4AE4FBD24A44}"/>
                </a:ext>
              </a:extLst>
            </p:cNvPr>
            <p:cNvSpPr txBox="1"/>
            <p:nvPr/>
          </p:nvSpPr>
          <p:spPr>
            <a:xfrm>
              <a:off x="9092540" y="5704114"/>
              <a:ext cx="2642259"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3A076BA1-0C02-564F-A83C-F71E4CB4A5F0}"/>
                </a:ext>
              </a:extLst>
            </p:cNvPr>
            <p:cNvPicPr>
              <a:picLocks noChangeAspect="1"/>
            </p:cNvPicPr>
            <p:nvPr/>
          </p:nvPicPr>
          <p:blipFill>
            <a:blip r:embed="rId3"/>
            <a:stretch>
              <a:fillRect/>
            </a:stretch>
          </p:blipFill>
          <p:spPr>
            <a:xfrm>
              <a:off x="1284513" y="2612571"/>
              <a:ext cx="7411254" cy="4049486"/>
            </a:xfrm>
            <a:prstGeom prst="rect">
              <a:avLst/>
            </a:prstGeom>
          </p:spPr>
        </p:pic>
      </p:gr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667897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161186506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 SDN</a:t>
            </a:r>
          </a:p>
          <a:p>
            <a:pPr lvl="1">
              <a:lnSpc>
                <a:spcPct val="100000"/>
              </a:lnSpc>
              <a:spcBef>
                <a:spcPts val="0"/>
              </a:spcBef>
            </a:pPr>
            <a:r>
              <a:rPr lang="en-US" altLang="en-US" sz="2800" dirty="0" err="1">
                <a:ea typeface="ＭＳ Ｐゴシック" panose="020B0600070205080204" pitchFamily="34" charset="-128"/>
              </a:rPr>
              <a:t>Match+action</a:t>
            </a:r>
            <a:endParaRPr lang="en-US" altLang="en-US" sz="2800" dirty="0">
              <a:ea typeface="ＭＳ Ｐゴシック" panose="020B0600070205080204" pitchFamily="34" charset="-128"/>
            </a:endParaRPr>
          </a:p>
          <a:p>
            <a:pPr lvl="1">
              <a:lnSpc>
                <a:spcPct val="100000"/>
              </a:lnSpc>
              <a:spcBef>
                <a:spcPts val="0"/>
              </a:spcBef>
            </a:pPr>
            <a:r>
              <a:rPr lang="en-US" altLang="en-US" sz="2800" dirty="0">
                <a:ea typeface="ＭＳ Ｐゴシック" panose="020B0600070205080204" pitchFamily="34" charset="-128"/>
              </a:rPr>
              <a:t>OpenFlow: </a:t>
            </a:r>
            <a:r>
              <a:rPr lang="en-US" altLang="en-US" sz="2800" dirty="0" err="1">
                <a:ea typeface="ＭＳ Ｐゴシック" panose="020B0600070205080204" pitchFamily="34" charset="-128"/>
              </a:rPr>
              <a:t>match+action</a:t>
            </a:r>
            <a:r>
              <a:rPr lang="en-US" altLang="en-US" sz="2800" dirty="0">
                <a:ea typeface="ＭＳ Ｐゴシック" panose="020B0600070205080204" pitchFamily="34" charset="-128"/>
              </a:rPr>
              <a:t> in action</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55142630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a:t>
            </a:r>
            <a:r>
              <a:rPr kumimoji="0" lang="en-US" altLang="en-US" sz="2800" b="0" i="1" u="none" strike="noStrike" kern="1200" cap="none" spc="0" normalizeH="0" baseline="0" noProof="0" dirty="0" err="1">
                <a:ln>
                  <a:noFill/>
                </a:ln>
                <a:solidFill>
                  <a:srgbClr val="0013A3"/>
                </a:solidFill>
                <a:effectLst/>
                <a:uLnTx/>
                <a:uFillTx/>
                <a:latin typeface="Calibri" panose="020F0502020204030204"/>
                <a:ea typeface="ＭＳ Ｐゴシック" panose="020B0600070205080204" pitchFamily="34" charset="-128"/>
                <a:cs typeface="+mn-cs"/>
              </a:rPr>
              <a:t>eneralized</a:t>
            </a: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dest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match+action</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=10.1.2.3,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=1.2.*.*,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 *.*.*.*,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dirty="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ssh</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err="1">
                <a:solidFill>
                  <a:srgbClr val="C00000"/>
                </a:solidFill>
                <a:latin typeface="Calibri" panose="020F0502020204030204" pitchFamily="34" charset="0"/>
              </a:rPr>
              <a:t>match+action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Src</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Dst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922053"/>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What’s inside a router</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marL="403225" indent="-285750">
              <a:spcBef>
                <a:spcPts val="800"/>
              </a:spcBef>
              <a:buClr>
                <a:srgbClr val="0013A3"/>
              </a:buClr>
            </a:pPr>
            <a:r>
              <a:rPr lang="en-US" sz="3600" dirty="0"/>
              <a:t>Middleboxes</a:t>
            </a:r>
          </a:p>
          <a:p>
            <a:pPr marL="746125" lvl="1" indent="-285750">
              <a:spcBef>
                <a:spcPts val="800"/>
              </a:spcBef>
              <a:buClr>
                <a:srgbClr val="0013A3"/>
              </a:buClr>
            </a:pPr>
            <a:r>
              <a:rPr lang="en-US" sz="2800" dirty="0"/>
              <a:t>middlebox functions</a:t>
            </a:r>
          </a:p>
          <a:p>
            <a:pPr marL="746125" lvl="1" indent="-285750">
              <a:spcBef>
                <a:spcPts val="800"/>
              </a:spcBef>
              <a:buClr>
                <a:srgbClr val="0013A3"/>
              </a:buClr>
            </a:pPr>
            <a:r>
              <a:rPr lang="en-US" sz="2800" dirty="0"/>
              <a:t>evolution, architectural principles of the Internet</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9942459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a:t>Middleboxes everywhere!</a:t>
            </a:r>
            <a:endParaRPr lang="en-US" dirty="0"/>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r>
              <a:rPr kumimoji="0" lang="en-US" sz="2800" b="0" i="0" u="none" strike="noStrike" kern="1200" cap="none" spc="0" normalizeH="0" baseline="0" noProof="0" dirty="0" err="1">
                <a:ln>
                  <a:noFill/>
                </a:ln>
                <a:solidFill>
                  <a:srgbClr val="0000A8"/>
                </a:solidFill>
                <a:effectLst/>
                <a:uLnTx/>
                <a:uFillTx/>
                <a:latin typeface="Calibri" panose="020F0502020204030204"/>
                <a:ea typeface="+mn-ea"/>
                <a:cs typeface="+mn-cs"/>
              </a:rPr>
              <a:t>whitebox</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match+action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unctionality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2"/>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spTree>
    <p:extLst>
      <p:ext uri="{BB962C8B-B14F-4D97-AF65-F5344CB8AC3E}">
        <p14:creationId xmlns:p14="http://schemas.microsoft.com/office/powerpoint/2010/main" val="3430021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12601</TotalTime>
  <Words>5374</Words>
  <Application>Microsoft Macintosh PowerPoint</Application>
  <PresentationFormat>Widescreen</PresentationFormat>
  <Paragraphs>1531</Paragraphs>
  <Slides>61</Slides>
  <Notes>56</Notes>
  <HiddenSlides>1</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61</vt:i4>
      </vt:variant>
    </vt:vector>
  </HeadingPairs>
  <TitlesOfParts>
    <vt:vector size="71" baseType="lpstr">
      <vt:lpstr>ＭＳ Ｐゴシック</vt:lpstr>
      <vt:lpstr>Arial</vt:lpstr>
      <vt:lpstr>Calibri</vt:lpstr>
      <vt:lpstr>Calibri Light</vt:lpstr>
      <vt:lpstr>Comic Sans MS</vt:lpstr>
      <vt:lpstr>Gill Sans MT</vt:lpstr>
      <vt:lpstr>Tahoma</vt:lpstr>
      <vt:lpstr>Times New Roman</vt:lpstr>
      <vt:lpstr>Wingdings</vt:lpstr>
      <vt:lpstr>Office Theme</vt:lpstr>
      <vt:lpstr>PowerPoint Presentation</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Classful Addressing</vt:lpstr>
      <vt:lpstr>PowerPoint Presentation</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PowerPoint Presentation</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The IP hourglass</vt:lpstr>
      <vt:lpstr>The IP hourglass, at middle age</vt:lpstr>
      <vt:lpstr>Architectural Principles of the Internet</vt:lpstr>
      <vt:lpstr>The end-end argument</vt:lpstr>
      <vt:lpstr>Where’s the intelligence?</vt:lpstr>
      <vt:lpstr>Chapter 4: done!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Ali Zeeshan</cp:lastModifiedBy>
  <cp:revision>531</cp:revision>
  <dcterms:created xsi:type="dcterms:W3CDTF">2020-01-18T07:24:59Z</dcterms:created>
  <dcterms:modified xsi:type="dcterms:W3CDTF">2025-11-09T09:55:39Z</dcterms:modified>
</cp:coreProperties>
</file>