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1044" r:id="rId2"/>
    <p:sldId id="1096" r:id="rId3"/>
    <p:sldId id="1217" r:id="rId4"/>
    <p:sldId id="1216" r:id="rId5"/>
    <p:sldId id="1203" r:id="rId6"/>
    <p:sldId id="1098" r:id="rId7"/>
    <p:sldId id="1218" r:id="rId8"/>
    <p:sldId id="1220" r:id="rId9"/>
    <p:sldId id="1221" r:id="rId10"/>
    <p:sldId id="1222" r:id="rId11"/>
    <p:sldId id="1223" r:id="rId12"/>
    <p:sldId id="1224" r:id="rId13"/>
    <p:sldId id="1225" r:id="rId14"/>
    <p:sldId id="1226" r:id="rId15"/>
    <p:sldId id="1227" r:id="rId16"/>
    <p:sldId id="1099" r:id="rId17"/>
    <p:sldId id="1235" r:id="rId18"/>
    <p:sldId id="1236" r:id="rId19"/>
    <p:sldId id="1237" r:id="rId20"/>
    <p:sldId id="1228" r:id="rId21"/>
    <p:sldId id="1104" r:id="rId22"/>
    <p:sldId id="1230" r:id="rId23"/>
    <p:sldId id="1231" r:id="rId24"/>
    <p:sldId id="1232" r:id="rId25"/>
    <p:sldId id="1233" r:id="rId26"/>
    <p:sldId id="1234" r:id="rId27"/>
    <p:sldId id="1110" r:id="rId28"/>
    <p:sldId id="1108" r:id="rId29"/>
    <p:sldId id="1238" r:id="rId30"/>
    <p:sldId id="1112" r:id="rId31"/>
    <p:sldId id="1198" r:id="rId32"/>
    <p:sldId id="1124" r:id="rId33"/>
    <p:sldId id="1125" r:id="rId34"/>
    <p:sldId id="1113" r:id="rId35"/>
    <p:sldId id="1199" r:id="rId36"/>
    <p:sldId id="1114" r:id="rId37"/>
    <p:sldId id="1115" r:id="rId38"/>
    <p:sldId id="1116" r:id="rId39"/>
    <p:sldId id="1200" r:id="rId40"/>
    <p:sldId id="1201" r:id="rId41"/>
    <p:sldId id="1117" r:id="rId42"/>
    <p:sldId id="1202" r:id="rId43"/>
    <p:sldId id="111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3"/>
    <a:srgbClr val="3C6CDF"/>
    <a:srgbClr val="ED356A"/>
    <a:srgbClr val="E40000"/>
    <a:srgbClr val="FFB3D3"/>
    <a:srgbClr val="FA376E"/>
    <a:srgbClr val="9CDFF9"/>
    <a:srgbClr val="0000A8"/>
    <a:srgbClr val="B8C2C9"/>
    <a:srgbClr val="D6DC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320" autoAdjust="0"/>
    <p:restoredTop sz="93979" autoAdjust="0"/>
  </p:normalViewPr>
  <p:slideViewPr>
    <p:cSldViewPr snapToGrid="0" snapToObjects="1">
      <p:cViewPr varScale="1">
        <p:scale>
          <a:sx n="63" d="100"/>
          <a:sy n="63" d="100"/>
        </p:scale>
        <p:origin x="524" y="48"/>
      </p:cViewPr>
      <p:guideLst/>
    </p:cSldViewPr>
  </p:slideViewPr>
  <p:outlineViewPr>
    <p:cViewPr>
      <p:scale>
        <a:sx n="33" d="100"/>
        <a:sy n="33" d="100"/>
      </p:scale>
      <p:origin x="0" y="-257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10/28/2025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a:t>
            </a:fld>
            <a:endParaRPr lang="en-US"/>
          </a:p>
        </p:txBody>
      </p:sp>
    </p:spTree>
    <p:extLst>
      <p:ext uri="{BB962C8B-B14F-4D97-AF65-F5344CB8AC3E}">
        <p14:creationId xmlns:p14="http://schemas.microsoft.com/office/powerpoint/2010/main" val="388260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914400" lvl="1" indent="-457200">
              <a:buFont typeface="+mj-lt"/>
              <a:buAutoNum type="arabicPeriod"/>
            </a:pPr>
            <a:r>
              <a:rPr lang="en-US" altLang="en-US" sz="2000" dirty="0">
                <a:latin typeface="Gill Sans MT" panose="020B0502020104020203" pitchFamily="34" charset="0"/>
              </a:rPr>
              <a:t>between a single sender and a single receiver. The transfer of data from one sender to many receivers in a single send operation</a:t>
            </a:r>
            <a:r>
              <a:rPr lang="en-US" altLang="en-US" sz="2000" baseline="0" dirty="0">
                <a:latin typeface="Gill Sans MT" panose="020B0502020104020203" pitchFamily="34" charset="0"/>
              </a:rPr>
              <a:t> </a:t>
            </a:r>
            <a:r>
              <a:rPr lang="en-US" altLang="en-US" sz="2000" dirty="0">
                <a:latin typeface="Gill Sans MT" panose="020B0502020104020203" pitchFamily="34" charset="0"/>
              </a:rPr>
              <a:t>is not possible</a:t>
            </a:r>
          </a:p>
          <a:p>
            <a:pPr marL="914400" marR="0" lvl="1"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Typical MSS is 1460 bytes</a:t>
            </a:r>
          </a:p>
          <a:p>
            <a:pPr marL="914400" marR="0" lvl="1"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dirty="0"/>
          </a:p>
          <a:p>
            <a:pPr marL="914400" lvl="1" indent="-457200">
              <a:buFont typeface="+mj-lt"/>
              <a:buAutoNum type="arabicPeriod"/>
            </a:pPr>
            <a:endParaRPr lang="en-US" altLang="en-US" sz="2000" dirty="0">
              <a:latin typeface="Gill Sans MT" panose="020B0502020104020203" pitchFamily="34" charset="0"/>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3584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TCP connection is logical one. NOT like TDM or FDM  circuit</a:t>
            </a:r>
            <a:r>
              <a:rPr lang="en-US" altLang="en-US" baseline="0" dirty="0">
                <a:latin typeface="Arial" panose="020B0604020202020204" pitchFamily="34" charset="0"/>
                <a:ea typeface="ＭＳ Ｐゴシック" panose="020B0600070205080204" pitchFamily="34" charset="-128"/>
              </a:rPr>
              <a:t> as in Circuit switched networks in which states are reserved in intermediate nodes or elements. TCP connection is logical one where common states are only stored on end system. So intermediate nodes or routers have no idea about TCP connections.</a:t>
            </a:r>
            <a:endParaRPr lang="en-US" altLang="en-US" dirty="0">
              <a:latin typeface="Arial" panose="020B0604020202020204" pitchFamily="34" charset="0"/>
              <a:ea typeface="ＭＳ Ｐゴシック" panose="020B0600070205080204" pitchFamily="34" charset="-128"/>
            </a:endParaRPr>
          </a:p>
        </p:txBody>
      </p:sp>
      <p:sp>
        <p:nvSpPr>
          <p:cNvPr id="1434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panose="020B0604020202020204" pitchFamily="34" charset="0"/>
                <a:ea typeface="ＭＳ Ｐゴシック" panose="020B0600070205080204" pitchFamily="34" charset="-128"/>
              </a:defRPr>
            </a:lvl1pPr>
            <a:lvl2pPr marL="742950" indent="-285750">
              <a:defRPr sz="2800">
                <a:solidFill>
                  <a:schemeClr val="tx1"/>
                </a:solidFill>
                <a:latin typeface="Arial" panose="020B0604020202020204" pitchFamily="34" charset="0"/>
                <a:ea typeface="ＭＳ Ｐゴシック" panose="020B0600070205080204" pitchFamily="34" charset="-128"/>
              </a:defRPr>
            </a:lvl2pPr>
            <a:lvl3pPr marL="1143000" indent="-228600">
              <a:defRPr sz="2800">
                <a:solidFill>
                  <a:schemeClr val="tx1"/>
                </a:solidFill>
                <a:latin typeface="Arial" panose="020B0604020202020204" pitchFamily="34" charset="0"/>
                <a:ea typeface="ＭＳ Ｐゴシック" panose="020B0600070205080204" pitchFamily="34" charset="-128"/>
              </a:defRPr>
            </a:lvl3pPr>
            <a:lvl4pPr marL="1600200" indent="-228600">
              <a:defRPr sz="2800">
                <a:solidFill>
                  <a:schemeClr val="tx1"/>
                </a:solidFill>
                <a:latin typeface="Arial" panose="020B0604020202020204" pitchFamily="34" charset="0"/>
                <a:ea typeface="ＭＳ Ｐゴシック" panose="020B0600070205080204" pitchFamily="34" charset="-128"/>
              </a:defRPr>
            </a:lvl4pPr>
            <a:lvl5pPr marL="2057400" indent="-228600">
              <a:defRPr sz="28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9pPr>
          </a:lstStyle>
          <a:p>
            <a:fld id="{98D10C3B-6DAF-4FBA-A91F-EF0C84CEC9C8}" type="slidenum">
              <a:rPr lang="en-US" altLang="en-US" sz="1200" smtClean="0"/>
              <a:pPr/>
              <a:t>3</a:t>
            </a:fld>
            <a:endParaRPr lang="en-US" altLang="en-US" sz="1200"/>
          </a:p>
        </p:txBody>
      </p:sp>
    </p:spTree>
    <p:extLst>
      <p:ext uri="{BB962C8B-B14F-4D97-AF65-F5344CB8AC3E}">
        <p14:creationId xmlns:p14="http://schemas.microsoft.com/office/powerpoint/2010/main" val="354224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Remember client process is one that initiates</a:t>
            </a:r>
            <a:r>
              <a:rPr lang="en-US" baseline="0" dirty="0"/>
              <a:t> the connection. </a:t>
            </a:r>
            <a:endParaRPr lang="en-US" dirty="0"/>
          </a:p>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4</a:t>
            </a:fld>
            <a:endParaRPr lang="en-US"/>
          </a:p>
        </p:txBody>
      </p:sp>
    </p:spTree>
    <p:extLst>
      <p:ext uri="{BB962C8B-B14F-4D97-AF65-F5344CB8AC3E}">
        <p14:creationId xmlns:p14="http://schemas.microsoft.com/office/powerpoint/2010/main" val="25826537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3394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98878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2458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64D97D9F-571A-42C1-A078-1ED56C5B6FB2}" type="slidenum">
              <a:rPr lang="en-US" altLang="en-US" smtClean="0"/>
              <a:pPr>
                <a:spcBef>
                  <a:spcPct val="0"/>
                </a:spcBef>
              </a:pPr>
              <a:t>11</a:t>
            </a:fld>
            <a:endParaRPr lang="en-US" altLang="en-US"/>
          </a:p>
        </p:txBody>
      </p:sp>
    </p:spTree>
    <p:extLst>
      <p:ext uri="{BB962C8B-B14F-4D97-AF65-F5344CB8AC3E}">
        <p14:creationId xmlns:p14="http://schemas.microsoft.com/office/powerpoint/2010/main" val="503579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Espace réservé de l'image des diapositives 1"/>
          <p:cNvSpPr>
            <a:spLocks noGrp="1" noRot="1" noChangeAspect="1" noTextEdit="1"/>
          </p:cNvSpPr>
          <p:nvPr>
            <p:ph type="sldImg"/>
          </p:nvPr>
        </p:nvSpPr>
        <p:spPr>
          <a:ln/>
        </p:spPr>
      </p:sp>
      <p:sp>
        <p:nvSpPr>
          <p:cNvPr id="2969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dirty="0">
                <a:latin typeface="Arial" panose="020B0604020202020204" pitchFamily="34" charset="0"/>
                <a:ea typeface="ＭＳ Ｐゴシック" panose="020B0600070205080204" pitchFamily="34" charset="-128"/>
              </a:rPr>
              <a:t>This </a:t>
            </a:r>
            <a:r>
              <a:rPr lang="fr-FR" altLang="en-US" dirty="0" err="1">
                <a:latin typeface="Arial" panose="020B0604020202020204" pitchFamily="34" charset="0"/>
                <a:ea typeface="ＭＳ Ｐゴシック" panose="020B0600070205080204" pitchFamily="34" charset="-128"/>
              </a:rPr>
              <a:t>is</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done</a:t>
            </a:r>
            <a:r>
              <a:rPr lang="fr-FR" altLang="en-US" dirty="0">
                <a:latin typeface="Arial" panose="020B0604020202020204" pitchFamily="34" charset="0"/>
                <a:ea typeface="ＭＳ Ｐゴシック" panose="020B0600070205080204" pitchFamily="34" charset="-128"/>
              </a:rPr>
              <a:t> to </a:t>
            </a:r>
            <a:r>
              <a:rPr lang="fr-FR" altLang="en-US" dirty="0" err="1">
                <a:latin typeface="Arial" panose="020B0604020202020204" pitchFamily="34" charset="0"/>
                <a:ea typeface="ＭＳ Ｐゴシック" panose="020B0600070205080204" pitchFamily="34" charset="-128"/>
              </a:rPr>
              <a:t>minimize</a:t>
            </a:r>
            <a:r>
              <a:rPr lang="fr-FR" altLang="en-US" dirty="0">
                <a:latin typeface="Arial" panose="020B0604020202020204" pitchFamily="34" charset="0"/>
                <a:ea typeface="ＭＳ Ｐゴシック" panose="020B0600070205080204" pitchFamily="34" charset="-128"/>
              </a:rPr>
              <a:t> the </a:t>
            </a:r>
            <a:r>
              <a:rPr lang="fr-FR" altLang="en-US" dirty="0" err="1">
                <a:latin typeface="Arial" panose="020B0604020202020204" pitchFamily="34" charset="0"/>
                <a:ea typeface="ＭＳ Ｐゴシック" panose="020B0600070205080204" pitchFamily="34" charset="-128"/>
              </a:rPr>
              <a:t>possibility</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that</a:t>
            </a:r>
            <a:r>
              <a:rPr lang="fr-FR" altLang="en-US" dirty="0">
                <a:latin typeface="Arial" panose="020B0604020202020204" pitchFamily="34" charset="0"/>
                <a:ea typeface="ＭＳ Ｐゴシック" panose="020B0600070205080204" pitchFamily="34" charset="-128"/>
              </a:rPr>
              <a:t> a segment </a:t>
            </a:r>
            <a:r>
              <a:rPr lang="fr-FR" altLang="en-US" dirty="0" err="1">
                <a:latin typeface="Arial" panose="020B0604020202020204" pitchFamily="34" charset="0"/>
                <a:ea typeface="ＭＳ Ｐゴシック" panose="020B0600070205080204" pitchFamily="34" charset="-128"/>
              </a:rPr>
              <a:t>that</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is</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still</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present</a:t>
            </a:r>
            <a:r>
              <a:rPr lang="fr-FR" altLang="en-US" dirty="0">
                <a:latin typeface="Arial" panose="020B0604020202020204" pitchFamily="34" charset="0"/>
                <a:ea typeface="ＭＳ Ｐゴシック" panose="020B0600070205080204" pitchFamily="34" charset="-128"/>
              </a:rPr>
              <a:t> in the network </a:t>
            </a:r>
            <a:r>
              <a:rPr lang="fr-FR" altLang="en-US" dirty="0" err="1">
                <a:latin typeface="Arial" panose="020B0604020202020204" pitchFamily="34" charset="0"/>
                <a:ea typeface="ＭＳ Ｐゴシック" panose="020B0600070205080204" pitchFamily="34" charset="-128"/>
              </a:rPr>
              <a:t>from</a:t>
            </a:r>
            <a:r>
              <a:rPr lang="fr-FR" altLang="en-US" dirty="0">
                <a:latin typeface="Arial" panose="020B0604020202020204" pitchFamily="34" charset="0"/>
                <a:ea typeface="ＭＳ Ｐゴシック" panose="020B0600070205080204" pitchFamily="34" charset="-128"/>
              </a:rPr>
              <a:t> an </a:t>
            </a:r>
            <a:r>
              <a:rPr lang="fr-FR" altLang="en-US" dirty="0" err="1">
                <a:latin typeface="Arial" panose="020B0604020202020204" pitchFamily="34" charset="0"/>
                <a:ea typeface="ＭＳ Ｐゴシック" panose="020B0600070205080204" pitchFamily="34" charset="-128"/>
              </a:rPr>
              <a:t>earlier</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already-terminated</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connection</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between</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two</a:t>
            </a:r>
            <a:r>
              <a:rPr lang="fr-FR" altLang="en-US" dirty="0">
                <a:latin typeface="Arial" panose="020B0604020202020204" pitchFamily="34" charset="0"/>
                <a:ea typeface="ＭＳ Ｐゴシック" panose="020B0600070205080204" pitchFamily="34" charset="-128"/>
              </a:rPr>
              <a:t> hosts </a:t>
            </a:r>
            <a:r>
              <a:rPr lang="fr-FR" altLang="en-US" dirty="0" err="1">
                <a:latin typeface="Arial" panose="020B0604020202020204" pitchFamily="34" charset="0"/>
                <a:ea typeface="ＭＳ Ｐゴシック" panose="020B0600070205080204" pitchFamily="34" charset="-128"/>
              </a:rPr>
              <a:t>is</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mistaken</a:t>
            </a:r>
            <a:r>
              <a:rPr lang="fr-FR" altLang="en-US" dirty="0">
                <a:latin typeface="Arial" panose="020B0604020202020204" pitchFamily="34" charset="0"/>
                <a:ea typeface="ＭＳ Ｐゴシック" panose="020B0600070205080204" pitchFamily="34" charset="-128"/>
              </a:rPr>
              <a:t> for a </a:t>
            </a:r>
            <a:r>
              <a:rPr lang="fr-FR" altLang="en-US" dirty="0" err="1">
                <a:latin typeface="Arial" panose="020B0604020202020204" pitchFamily="34" charset="0"/>
                <a:ea typeface="ＭＳ Ｐゴシック" panose="020B0600070205080204" pitchFamily="34" charset="-128"/>
              </a:rPr>
              <a:t>valid</a:t>
            </a:r>
            <a:r>
              <a:rPr lang="fr-FR" altLang="en-US" dirty="0">
                <a:latin typeface="Arial" panose="020B0604020202020204" pitchFamily="34" charset="0"/>
                <a:ea typeface="ＭＳ Ｐゴシック" panose="020B0600070205080204" pitchFamily="34" charset="-128"/>
              </a:rPr>
              <a:t> segment in a </a:t>
            </a:r>
            <a:r>
              <a:rPr lang="fr-FR" altLang="en-US" dirty="0" err="1">
                <a:latin typeface="Arial" panose="020B0604020202020204" pitchFamily="34" charset="0"/>
                <a:ea typeface="ＭＳ Ｐゴシック" panose="020B0600070205080204" pitchFamily="34" charset="-128"/>
              </a:rPr>
              <a:t>later</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connection</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between</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these</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same</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two</a:t>
            </a:r>
            <a:r>
              <a:rPr lang="fr-FR" altLang="en-US" dirty="0">
                <a:latin typeface="Arial" panose="020B0604020202020204" pitchFamily="34" charset="0"/>
                <a:ea typeface="ＭＳ Ｐゴシック" panose="020B0600070205080204" pitchFamily="34" charset="-128"/>
              </a:rPr>
              <a:t> hosts (</a:t>
            </a:r>
            <a:r>
              <a:rPr lang="fr-FR" altLang="en-US" dirty="0" err="1">
                <a:latin typeface="Arial" panose="020B0604020202020204" pitchFamily="34" charset="0"/>
                <a:ea typeface="ＭＳ Ｐゴシック" panose="020B0600070205080204" pitchFamily="34" charset="-128"/>
              </a:rPr>
              <a:t>which</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also</a:t>
            </a:r>
            <a:r>
              <a:rPr lang="fr-FR" altLang="en-US" dirty="0">
                <a:latin typeface="Arial" panose="020B0604020202020204" pitchFamily="34" charset="0"/>
                <a:ea typeface="ＭＳ Ｐゴシック" panose="020B0600070205080204" pitchFamily="34" charset="-128"/>
              </a:rPr>
              <a:t> </a:t>
            </a:r>
            <a:r>
              <a:rPr lang="fr-FR" altLang="en-US">
                <a:latin typeface="Arial" panose="020B0604020202020204" pitchFamily="34" charset="0"/>
                <a:ea typeface="ＭＳ Ｐゴシック" panose="020B0600070205080204" pitchFamily="34" charset="-128"/>
              </a:rPr>
              <a:t>happen</a:t>
            </a:r>
            <a:r>
              <a:rPr lang="fr-FR" altLang="en-US" dirty="0">
                <a:latin typeface="Arial" panose="020B0604020202020204" pitchFamily="34" charset="0"/>
                <a:ea typeface="ＭＳ Ｐゴシック" panose="020B0600070205080204" pitchFamily="34" charset="-128"/>
              </a:rPr>
              <a:t> to </a:t>
            </a:r>
            <a:r>
              <a:rPr lang="fr-FR" altLang="en-US" dirty="0" err="1">
                <a:latin typeface="Arial" panose="020B0604020202020204" pitchFamily="34" charset="0"/>
                <a:ea typeface="ＭＳ Ｐゴシック" panose="020B0600070205080204" pitchFamily="34" charset="-128"/>
              </a:rPr>
              <a:t>be</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using</a:t>
            </a:r>
            <a:r>
              <a:rPr lang="fr-FR" altLang="en-US" dirty="0">
                <a:latin typeface="Arial" panose="020B0604020202020204" pitchFamily="34" charset="0"/>
                <a:ea typeface="ＭＳ Ｐゴシック" panose="020B0600070205080204" pitchFamily="34" charset="-128"/>
              </a:rPr>
              <a:t> the </a:t>
            </a:r>
            <a:r>
              <a:rPr lang="fr-FR" altLang="en-US" dirty="0" err="1">
                <a:latin typeface="Arial" panose="020B0604020202020204" pitchFamily="34" charset="0"/>
                <a:ea typeface="ＭＳ Ｐゴシック" panose="020B0600070205080204" pitchFamily="34" charset="-128"/>
              </a:rPr>
              <a:t>same</a:t>
            </a:r>
            <a:r>
              <a:rPr lang="fr-FR" altLang="en-US" dirty="0">
                <a:latin typeface="Arial" panose="020B0604020202020204" pitchFamily="34" charset="0"/>
                <a:ea typeface="ＭＳ Ｐゴシック" panose="020B0600070205080204" pitchFamily="34" charset="-128"/>
              </a:rPr>
              <a:t> port </a:t>
            </a:r>
            <a:r>
              <a:rPr lang="fr-FR" altLang="en-US" dirty="0" err="1">
                <a:latin typeface="Arial" panose="020B0604020202020204" pitchFamily="34" charset="0"/>
                <a:ea typeface="ＭＳ Ｐゴシック" panose="020B0600070205080204" pitchFamily="34" charset="-128"/>
              </a:rPr>
              <a:t>numbers</a:t>
            </a:r>
            <a:r>
              <a:rPr lang="fr-FR" altLang="en-US" dirty="0">
                <a:latin typeface="Arial" panose="020B0604020202020204" pitchFamily="34" charset="0"/>
                <a:ea typeface="ＭＳ Ｐゴシック" panose="020B0600070205080204" pitchFamily="34" charset="-128"/>
              </a:rPr>
              <a:t> as the </a:t>
            </a:r>
            <a:r>
              <a:rPr lang="fr-FR" altLang="en-US" dirty="0" err="1">
                <a:latin typeface="Arial" panose="020B0604020202020204" pitchFamily="34" charset="0"/>
                <a:ea typeface="ＭＳ Ｐゴシック" panose="020B0600070205080204" pitchFamily="34" charset="-128"/>
              </a:rPr>
              <a:t>old</a:t>
            </a:r>
            <a:r>
              <a:rPr lang="fr-FR" altLang="en-US" dirty="0">
                <a:latin typeface="Arial" panose="020B0604020202020204" pitchFamily="34" charset="0"/>
                <a:ea typeface="ＭＳ Ｐゴシック" panose="020B0600070205080204" pitchFamily="34" charset="-128"/>
              </a:rPr>
              <a:t> </a:t>
            </a:r>
            <a:r>
              <a:rPr lang="fr-FR" altLang="en-US" dirty="0" err="1">
                <a:latin typeface="Arial" panose="020B0604020202020204" pitchFamily="34" charset="0"/>
                <a:ea typeface="ＭＳ Ｐゴシック" panose="020B0600070205080204" pitchFamily="34" charset="-128"/>
              </a:rPr>
              <a:t>connection</a:t>
            </a:r>
            <a:r>
              <a:rPr lang="fr-FR" altLang="en-US" dirty="0">
                <a:latin typeface="Arial" panose="020B0604020202020204" pitchFamily="34" charset="0"/>
                <a:ea typeface="ＭＳ Ｐゴシック" panose="020B0600070205080204" pitchFamily="34" charset="-128"/>
              </a:rPr>
              <a:t>) </a:t>
            </a:r>
          </a:p>
          <a:p>
            <a:endParaRPr lang="fr-FR" altLang="en-US" dirty="0">
              <a:latin typeface="Arial" panose="020B0604020202020204" pitchFamily="34" charset="0"/>
              <a:ea typeface="ＭＳ Ｐゴシック" panose="020B0600070205080204" pitchFamily="34" charset="-128"/>
            </a:endParaRPr>
          </a:p>
        </p:txBody>
      </p:sp>
      <p:sp>
        <p:nvSpPr>
          <p:cNvPr id="29700"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D1022A63-F521-4045-B2C2-2F0E7CFB74FE}" type="slidenum">
              <a:rPr lang="en-US" altLang="en-US" smtClean="0"/>
              <a:pPr>
                <a:spcBef>
                  <a:spcPct val="0"/>
                </a:spcBef>
              </a:pPr>
              <a:t>15</a:t>
            </a:fld>
            <a:endParaRPr lang="en-US" altLang="en-US"/>
          </a:p>
        </p:txBody>
      </p:sp>
    </p:spTree>
    <p:extLst>
      <p:ext uri="{BB962C8B-B14F-4D97-AF65-F5344CB8AC3E}">
        <p14:creationId xmlns:p14="http://schemas.microsoft.com/office/powerpoint/2010/main" val="3340489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thing to note here is that the ACK number (43) on the B-to-A segment is one more than the sequence number (42) on the A-</a:t>
            </a:r>
            <a:r>
              <a:rPr lang="en-US" dirty="0" err="1"/>
              <a:t>toB</a:t>
            </a:r>
            <a:r>
              <a:rPr lang="en-US" dirty="0"/>
              <a:t> segment that triggered that ACK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Similarly, the ACK number (80) on the </a:t>
            </a:r>
            <a:r>
              <a:rPr lang="en-US"/>
              <a:t>last A-to-B </a:t>
            </a:r>
            <a:r>
              <a:rPr lang="en-US" dirty="0"/>
              <a:t>segment is one more than the sequence number (79) on the B-to-A segment that triggered that ACK</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4182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Given these details of TCP sequence numbers, acks, and timers, we can now describe the big picture view of how the TCP sender and receiver operate</a:t>
            </a:r>
          </a:p>
          <a:p>
            <a:endParaRPr lang="en-US" dirty="0"/>
          </a:p>
          <a:p>
            <a:r>
              <a:rPr lang="en-US" dirty="0"/>
              <a:t>You can check out FSMs in book; let’s just give an English text description here and let’s start with the sender.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8937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defRPr/>
            </a:pPr>
            <a:fld id="{3F8F6550-35AC-4930-B2C9-5D1849CB8BDB}" type="slidenum">
              <a:rPr lang="en-US" altLang="en-US" smtClean="0">
                <a:latin typeface="Times New Roman" panose="02020603050405020304" pitchFamily="18" charset="0"/>
              </a:rPr>
              <a:pPr eaLnBrk="1" hangingPunct="1">
                <a:spcBef>
                  <a:spcPct val="0"/>
                </a:spcBef>
                <a:defRPr/>
              </a:pPr>
              <a:t>23</a:t>
            </a:fld>
            <a:endParaRPr lang="en-US" altLang="en-US">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p:txBody>
          <a:bodyPr/>
          <a:lstStyle/>
          <a:p>
            <a:pPr>
              <a:defRPr/>
            </a:pPr>
            <a:endParaRPr lang="en-US">
              <a:latin typeface="Times New Roman" charset="0"/>
              <a:cs typeface="+mn-cs"/>
            </a:endParaRPr>
          </a:p>
        </p:txBody>
      </p:sp>
    </p:spTree>
    <p:extLst>
      <p:ext uri="{BB962C8B-B14F-4D97-AF65-F5344CB8AC3E}">
        <p14:creationId xmlns:p14="http://schemas.microsoft.com/office/powerpoint/2010/main" val="1361121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defRPr/>
            </a:pPr>
            <a:fld id="{701050D4-D2CE-4B1C-9BDE-9C8DC236DE11}" type="slidenum">
              <a:rPr lang="en-US" altLang="en-US" smtClean="0">
                <a:latin typeface="Times New Roman" panose="02020603050405020304" pitchFamily="18" charset="0"/>
              </a:rPr>
              <a:pPr eaLnBrk="1" hangingPunct="1">
                <a:spcBef>
                  <a:spcPct val="0"/>
                </a:spcBef>
                <a:defRPr/>
              </a:pPr>
              <a:t>24</a:t>
            </a:fld>
            <a:endParaRPr lang="en-US" altLang="en-US">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p:txBody>
          <a:bodyPr/>
          <a:lstStyle/>
          <a:p>
            <a:pPr>
              <a:defRPr/>
            </a:pPr>
            <a:endParaRPr lang="en-US">
              <a:latin typeface="Times New Roman" charset="0"/>
              <a:cs typeface="+mn-cs"/>
            </a:endParaRPr>
          </a:p>
        </p:txBody>
      </p:sp>
    </p:spTree>
    <p:extLst>
      <p:ext uri="{BB962C8B-B14F-4D97-AF65-F5344CB8AC3E}">
        <p14:creationId xmlns:p14="http://schemas.microsoft.com/office/powerpoint/2010/main" val="440320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defRPr/>
            </a:pPr>
            <a:r>
              <a:rPr lang="fr-FR" altLang="en-US">
                <a:latin typeface="Arial" pitchFamily="34" charset="0"/>
                <a:ea typeface="ＭＳ Ｐゴシック" pitchFamily="34" charset="-128"/>
              </a:rPr>
              <a:t>For example, suppose TimeoutInterval associated with the oldest not yet acknowledged segment is .75 sec when the timer first expires. TCP will then retransmit this segment and set the new expiration time to 1.5 sec. If the timer expires again 1.5 sec later, TCP will again retransmit this segment, now setting the expiration time to 3.0 sec. </a:t>
            </a:r>
          </a:p>
          <a:p>
            <a:pPr>
              <a:defRPr/>
            </a:pPr>
            <a:endParaRPr lang="fr-FR" altLang="en-US">
              <a:latin typeface="Arial" pitchFamily="34" charset="0"/>
              <a:ea typeface="ＭＳ Ｐゴシック" pitchFamily="34" charset="-128"/>
            </a:endParaRPr>
          </a:p>
        </p:txBody>
      </p:sp>
      <p:sp>
        <p:nvSpPr>
          <p:cNvPr id="4" name="Espace réservé du numéro de diapositive 3"/>
          <p:cNvSpPr>
            <a:spLocks noGrp="1"/>
          </p:cNvSpPr>
          <p:nvPr>
            <p:ph type="sldNum" sz="quarter" idx="5"/>
          </p:nvPr>
        </p:nvSpPr>
        <p:spPr/>
        <p:txBody>
          <a:bodyPr/>
          <a:lstStyle>
            <a:lvl1pPr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defRPr/>
            </a:pPr>
            <a:fld id="{D7697385-120B-444C-BE4E-D3F6841063AF}" type="slidenum">
              <a:rPr lang="en-US" altLang="en-US" smtClean="0"/>
              <a:pPr eaLnBrk="1" hangingPunct="1">
                <a:spcBef>
                  <a:spcPct val="0"/>
                </a:spcBef>
                <a:defRPr/>
              </a:pPr>
              <a:t>25</a:t>
            </a:fld>
            <a:endParaRPr lang="en-US" altLang="en-US"/>
          </a:p>
        </p:txBody>
      </p:sp>
    </p:spTree>
    <p:extLst>
      <p:ext uri="{BB962C8B-B14F-4D97-AF65-F5344CB8AC3E}">
        <p14:creationId xmlns:p14="http://schemas.microsoft.com/office/powerpoint/2010/main" val="34470503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defRPr/>
            </a:pPr>
            <a:endParaRPr lang="fr-FR" dirty="0"/>
          </a:p>
        </p:txBody>
      </p:sp>
      <p:sp>
        <p:nvSpPr>
          <p:cNvPr id="4" name="Espace réservé du numéro de diapositive 3"/>
          <p:cNvSpPr>
            <a:spLocks noGrp="1"/>
          </p:cNvSpPr>
          <p:nvPr>
            <p:ph type="sldNum" sz="quarter" idx="5"/>
          </p:nvPr>
        </p:nvSpPr>
        <p:spPr/>
        <p:txBody>
          <a:bodyPr/>
          <a:lstStyle>
            <a:lvl1pPr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defRPr/>
            </a:pPr>
            <a:fld id="{EC31B4AE-A114-4214-B075-D816F31007BF}" type="slidenum">
              <a:rPr lang="en-US" altLang="en-US" smtClean="0"/>
              <a:pPr eaLnBrk="1" hangingPunct="1">
                <a:spcBef>
                  <a:spcPct val="0"/>
                </a:spcBef>
                <a:defRPr/>
              </a:pPr>
              <a:t>26</a:t>
            </a:fld>
            <a:endParaRPr lang="en-US" altLang="en-US"/>
          </a:p>
        </p:txBody>
      </p:sp>
    </p:spTree>
    <p:extLst>
      <p:ext uri="{BB962C8B-B14F-4D97-AF65-F5344CB8AC3E}">
        <p14:creationId xmlns:p14="http://schemas.microsoft.com/office/powerpoint/2010/main" val="5428743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our study of TCP reliability by discussing an optimization to the original TCP known as TCP fast retransmit,</a:t>
            </a:r>
          </a:p>
          <a:p>
            <a:endParaRPr lang="en-US" dirty="0"/>
          </a:p>
          <a:p>
            <a:r>
              <a:rPr lang="en-US" dirty="0"/>
              <a:t>Take a look at this example on the right where 5 segments are transmitted and the second segment is lost.  In this case the TCP receiver sends an ACK 100 acknowledging the first received segment.</a:t>
            </a:r>
          </a:p>
          <a:p>
            <a:r>
              <a:rPr lang="en-US" dirty="0"/>
              <a:t>When the third segment arrives at the receiver, the TCP receiver sends another ACK 100 since the second segment has not arrived. And similarly for the 4</a:t>
            </a:r>
            <a:r>
              <a:rPr lang="en-US" baseline="30000" dirty="0"/>
              <a:t>th</a:t>
            </a:r>
            <a:r>
              <a:rPr lang="en-US" dirty="0"/>
              <a:t> and 5</a:t>
            </a:r>
            <a:r>
              <a:rPr lang="en-US" baseline="30000" dirty="0"/>
              <a:t>th</a:t>
            </a:r>
            <a:r>
              <a:rPr lang="en-US" dirty="0"/>
              <a:t> segments to arrive.</a:t>
            </a:r>
          </a:p>
          <a:p>
            <a:endParaRPr lang="en-US" dirty="0"/>
          </a:p>
          <a:p>
            <a:r>
              <a:rPr lang="en-US" dirty="0"/>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p>
          <a:p>
            <a:endParaRPr lang="en-US" dirty="0"/>
          </a:p>
          <a:p>
            <a:r>
              <a:rPr lang="en-US" dirty="0"/>
              <a:t>With fast retransmit, the arrival of three duplicate ACK causes the sender to retransmit its oldest </a:t>
            </a:r>
            <a:r>
              <a:rPr lang="en-US" dirty="0" err="1"/>
              <a:t>unACKed</a:t>
            </a:r>
            <a:r>
              <a:rPr lang="en-US" dirty="0"/>
              <a:t> segment, without waiting for a timeout event.  This allows TCP to recover more quickly from what is very likely a loss event</a:t>
            </a:r>
          </a:p>
          <a:p>
            <a:endParaRPr lang="en-US" dirty="0"/>
          </a:p>
          <a:p>
            <a:r>
              <a:rPr lang="en-US" dirty="0"/>
              <a:t>specifically that the second segment has been lost, since three higher -numbered segments were received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8102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Rather than immediately </a:t>
            </a:r>
            <a:r>
              <a:rPr lang="en-US" dirty="0" err="1"/>
              <a:t>ACKnowledig</a:t>
            </a:r>
            <a:r>
              <a:rPr lang="en-US" dirty="0"/>
              <a:t>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57111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5A740-FA4B-6C37-4E14-815E3A52B4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9BFAB-723F-D360-11B0-743FF4795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A48E18-3121-4EB4-CD92-6055C956EF1A}"/>
              </a:ext>
            </a:extLst>
          </p:cNvPr>
          <p:cNvSpPr>
            <a:spLocks noGrp="1"/>
          </p:cNvSpPr>
          <p:nvPr>
            <p:ph type="body" idx="1"/>
          </p:nvPr>
        </p:nvSpPr>
        <p:spPr/>
        <p:txBody>
          <a:bodyPr/>
          <a:lstStyle/>
          <a:p>
            <a:endParaRPr lang="en-US" dirty="0"/>
          </a:p>
          <a:p>
            <a:r>
              <a:rPr lang="en-US" dirty="0"/>
              <a:t>Rather than immediately </a:t>
            </a:r>
            <a:r>
              <a:rPr lang="en-US" dirty="0" err="1"/>
              <a:t>ACKnowledig</a:t>
            </a:r>
            <a:r>
              <a:rPr lang="en-US" dirty="0"/>
              <a:t>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p>
        </p:txBody>
      </p:sp>
      <p:sp>
        <p:nvSpPr>
          <p:cNvPr id="4" name="Slide Number Placeholder 3">
            <a:extLst>
              <a:ext uri="{FF2B5EF4-FFF2-40B4-BE49-F238E27FC236}">
                <a16:creationId xmlns:a16="http://schemas.microsoft.com/office/drawing/2014/main" id="{B77D949E-A052-0FA1-AA24-251C4157B3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6820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a:t>
            </a:r>
            <a:r>
              <a:rPr kumimoji="0" lang="en-US" sz="1200" b="0" i="0" u="none" strike="noStrike" kern="1200" cap="none" spc="0" normalizeH="0" baseline="0" noProof="0" dirty="0" err="1">
                <a:ln>
                  <a:noFill/>
                </a:ln>
                <a:solidFill>
                  <a:prstClr val="black"/>
                </a:solidFill>
                <a:effectLst/>
                <a:uLnTx/>
                <a:uFillTx/>
                <a:latin typeface="+mn-lt"/>
                <a:ea typeface="+mn-ea"/>
                <a:cs typeface="+mn-cs"/>
              </a:rPr>
              <a:t>explictly</a:t>
            </a:r>
            <a:r>
              <a:rPr kumimoji="0" lang="en-US" sz="1200" b="0" i="0" u="none" strike="noStrike" kern="1200" cap="none" spc="0" normalizeH="0" baseline="0" noProof="0" dirty="0">
                <a:ln>
                  <a:noFill/>
                </a:ln>
                <a:solidFill>
                  <a:prstClr val="black"/>
                </a:solidFill>
                <a:effectLst/>
                <a:uLnTx/>
                <a:uFillTx/>
                <a:latin typeface="+mn-lt"/>
                <a:ea typeface="+mn-ea"/>
                <a:cs typeface="+mn-cs"/>
              </a:rPr>
              <a:t>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0377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a:t>
            </a:r>
            <a:r>
              <a:rPr kumimoji="0" lang="en-US" sz="1200" b="0" i="0" u="none" strike="noStrike" kern="1200" cap="none" spc="0" normalizeH="0" baseline="0" noProof="0" dirty="0" err="1">
                <a:ln>
                  <a:noFill/>
                </a:ln>
                <a:solidFill>
                  <a:prstClr val="black"/>
                </a:solidFill>
                <a:effectLst/>
                <a:uLnTx/>
                <a:uFillTx/>
                <a:latin typeface="+mn-lt"/>
                <a:ea typeface="+mn-ea"/>
                <a:cs typeface="+mn-cs"/>
              </a:rPr>
              <a:t>explictly</a:t>
            </a:r>
            <a:r>
              <a:rPr kumimoji="0" lang="en-US" sz="1200" b="0" i="0" u="none" strike="noStrike" kern="1200" cap="none" spc="0" normalizeH="0" baseline="0" noProof="0" dirty="0">
                <a:ln>
                  <a:noFill/>
                </a:ln>
                <a:solidFill>
                  <a:prstClr val="black"/>
                </a:solidFill>
                <a:effectLst/>
                <a:uLnTx/>
                <a:uFillTx/>
                <a:latin typeface="+mn-lt"/>
                <a:ea typeface="+mn-ea"/>
                <a:cs typeface="+mn-cs"/>
              </a:rPr>
              <a:t>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8057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a:t>
            </a:r>
            <a:r>
              <a:rPr kumimoji="0" lang="en-US" sz="1200" b="0" i="0" u="none" strike="noStrike" kern="1200" cap="none" spc="0" normalizeH="0" baseline="0" noProof="0" dirty="0" err="1">
                <a:ln>
                  <a:noFill/>
                </a:ln>
                <a:solidFill>
                  <a:prstClr val="black"/>
                </a:solidFill>
                <a:effectLst/>
                <a:uLnTx/>
                <a:uFillTx/>
                <a:latin typeface="+mn-lt"/>
                <a:ea typeface="+mn-ea"/>
                <a:cs typeface="+mn-cs"/>
              </a:rPr>
              <a:t>explictly</a:t>
            </a:r>
            <a:r>
              <a:rPr kumimoji="0" lang="en-US" sz="1200" b="0" i="0" u="none" strike="noStrike" kern="1200" cap="none" spc="0" normalizeH="0" baseline="0" noProof="0" dirty="0">
                <a:ln>
                  <a:noFill/>
                </a:ln>
                <a:solidFill>
                  <a:prstClr val="black"/>
                </a:solidFill>
                <a:effectLst/>
                <a:uLnTx/>
                <a:uFillTx/>
                <a:latin typeface="+mn-lt"/>
                <a:ea typeface="+mn-ea"/>
                <a:cs typeface="+mn-cs"/>
              </a:rPr>
              <a:t>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83280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a:t>
            </a:r>
            <a:r>
              <a:rPr kumimoji="0" lang="en-US" sz="1200" b="0" i="0" u="none" strike="noStrike" kern="1200" cap="none" spc="0" normalizeH="0" baseline="0" noProof="0" dirty="0" err="1">
                <a:ln>
                  <a:noFill/>
                </a:ln>
                <a:solidFill>
                  <a:prstClr val="black"/>
                </a:solidFill>
                <a:effectLst/>
                <a:uLnTx/>
                <a:uFillTx/>
                <a:latin typeface="+mn-lt"/>
                <a:ea typeface="+mn-ea"/>
                <a:cs typeface="+mn-cs"/>
              </a:rPr>
              <a:t>explictly</a:t>
            </a:r>
            <a:r>
              <a:rPr kumimoji="0" lang="en-US" sz="1200" b="0" i="0" u="none" strike="noStrike" kern="1200" cap="none" spc="0" normalizeH="0" baseline="0" noProof="0" dirty="0">
                <a:ln>
                  <a:noFill/>
                </a:ln>
                <a:solidFill>
                  <a:prstClr val="black"/>
                </a:solidFill>
                <a:effectLst/>
                <a:uLnTx/>
                <a:uFillTx/>
                <a:latin typeface="+mn-lt"/>
                <a:ea typeface="+mn-ea"/>
                <a:cs typeface="+mn-cs"/>
              </a:rPr>
              <a:t>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105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TCP implement flow control.  The basic idea is simple – the receiver informs the sender how much free buffer space there is, and the sender is limited to send no more than this amount of data.  That the value o RWND in the diagram to the right.</a:t>
            </a:r>
          </a:p>
          <a:p>
            <a:endParaRPr lang="en-US" dirty="0"/>
          </a:p>
          <a:p>
            <a:r>
              <a:rPr lang="en-US" dirty="0"/>
              <a:t>This information is carried from the receiver to the sender in the “receiver advertised window” (do a PIP of header) in the TCP header, and the value will change as the amount of free buffer space fluctuates over time.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3564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TCP implement flow control.  The basic idea is simple – the receiver informs the sender how much free buffer space there is, and the sender is limited to send no more than this amount of data.  That the value o RWND in the diagram to the right.</a:t>
            </a:r>
          </a:p>
          <a:p>
            <a:endParaRPr lang="en-US" dirty="0"/>
          </a:p>
          <a:p>
            <a:r>
              <a:rPr lang="en-US" dirty="0"/>
              <a:t>This information is carried from the receiver to the sender in the “receiver advertised window” (do a PIP of header) in the TCP header, and the value will change as the amount of free buffer space fluctuates over time.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73418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The other TCP topic we’ll want to consider here is that of “connection  management”</a:t>
            </a:r>
          </a:p>
          <a:p>
            <a:endParaRPr lang="en-US" dirty="0"/>
          </a:p>
          <a:p>
            <a:pPr marL="0" indent="0">
              <a:buFont typeface="Arial" panose="020B0604020202020204" pitchFamily="34" charset="0"/>
              <a:buNone/>
            </a:pPr>
            <a:r>
              <a:rPr lang="en-US" dirty="0"/>
              <a:t>The TCP sender and </a:t>
            </a:r>
            <a:r>
              <a:rPr lang="en-US" dirty="0" err="1"/>
              <a:t>reciver</a:t>
            </a:r>
            <a:r>
              <a:rPr lang="en-US" dirty="0"/>
              <a:t> have a number of pieces of shared state that they must establish before actually communication</a:t>
            </a:r>
          </a:p>
          <a:p>
            <a:pPr marL="171450" indent="-171450">
              <a:buFont typeface="Arial" panose="020B0604020202020204" pitchFamily="34" charset="0"/>
              <a:buChar char="•"/>
            </a:pPr>
            <a:r>
              <a:rPr lang="en-US" dirty="0"/>
              <a:t>FIRST </a:t>
            </a:r>
            <a:r>
              <a:rPr lang="en-US" dirty="0" err="1"/>
              <a:t>theym</a:t>
            </a:r>
            <a:r>
              <a:rPr lang="en-US" dirty="0"/>
              <a:t> </a:t>
            </a:r>
            <a:r>
              <a:rPr lang="en-US" dirty="0" err="1"/>
              <a:t>ust</a:t>
            </a:r>
            <a:r>
              <a:rPr lang="en-US" dirty="0"/>
              <a:t> both agree that they WANT to communicate with each other</a:t>
            </a:r>
          </a:p>
          <a:p>
            <a:pPr marL="171450" indent="-171450">
              <a:buFont typeface="Arial" panose="020B0604020202020204" pitchFamily="34" charset="0"/>
              <a:buChar char="•"/>
            </a:pPr>
            <a:r>
              <a:rPr lang="en-US" dirty="0"/>
              <a:t>Secondly there are connection parameters – the initial sequence number and the initial receiver-advertised </a:t>
            </a:r>
            <a:r>
              <a:rPr lang="en-US" dirty="0" err="1"/>
              <a:t>bufferspace</a:t>
            </a:r>
            <a:r>
              <a:rPr lang="en-US" dirty="0"/>
              <a:t> that they’ll want to agree on</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This is done via a so-called handshake protocol – the client reaching our to the server, and the server answering back.</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And before diving into the TCP handshake protocol, let’s first consider the problem of handshaking, of establishing shared state.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65701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Here’s an example of a two way handshake.  Alice reaches out to Bob and say’s “let’s talk” and Bob says OK, and they start their conversation</a:t>
            </a:r>
          </a:p>
          <a:p>
            <a:endParaRPr lang="en-US" dirty="0"/>
          </a:p>
          <a:p>
            <a:r>
              <a:rPr lang="en-US" dirty="0"/>
              <a:t>For a network protocol, the equivalent protocol would be a client sending a “request connection” message saying ”let’s talk, the initial sequence number is x”</a:t>
            </a:r>
          </a:p>
          <a:p>
            <a:r>
              <a:rPr lang="en-US" dirty="0"/>
              <a:t>And the server would respond with a message ”I accept your connect x”</a:t>
            </a:r>
          </a:p>
          <a:p>
            <a:endParaRPr lang="en-US" dirty="0"/>
          </a:p>
          <a:p>
            <a:r>
              <a:rPr lang="en-US" dirty="0"/>
              <a:t>And the question we want to ask ourselves is &lt;talk through&gt;</a:t>
            </a:r>
          </a:p>
          <a:p>
            <a:endParaRPr lang="en-US" dirty="0"/>
          </a:p>
          <a:p>
            <a:r>
              <a:rPr lang="en-US" dirty="0"/>
              <a:t>Will this work?  Let’s look at a few scenarios…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42492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76018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89066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706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TCP’s three way handshake, that operates as follows</a:t>
            </a:r>
          </a:p>
          <a:p>
            <a:r>
              <a:rPr lang="en-US" dirty="0"/>
              <a:t> </a:t>
            </a:r>
          </a:p>
          <a:p>
            <a:r>
              <a:rPr lang="en-US" dirty="0"/>
              <a:t>Let’s say the client and server both create a TCP socket as we learned about in Chapter 2 and enter the LISTEN state</a:t>
            </a:r>
          </a:p>
          <a:p>
            <a:endParaRPr lang="en-US" dirty="0"/>
          </a:p>
          <a:p>
            <a:r>
              <a:rPr lang="en-US" dirty="0"/>
              <a:t>The client then connects to the server sending a SYN message with a sequence number x (SYN Message is an TCP Segment with SYN but set in the header – you might want to go back and review the TCP segment format!)</a:t>
            </a:r>
          </a:p>
          <a:p>
            <a:endParaRPr lang="en-US" dirty="0"/>
          </a:p>
          <a:p>
            <a:r>
              <a:rPr lang="en-US" dirty="0"/>
              <a:t>The server is waiting for a connection, and receives the SYN message enters the SYN received state (NOT the established state and sends a SYN ACK message back.</a:t>
            </a:r>
          </a:p>
          <a:p>
            <a:endParaRPr lang="en-US" dirty="0"/>
          </a:p>
          <a:p>
            <a:r>
              <a:rPr lang="en-US" dirty="0"/>
              <a:t>Finally the client sends an ACK message to the server, and when the server receiver this enters the </a:t>
            </a:r>
            <a:r>
              <a:rPr lang="en-US" dirty="0" err="1"/>
              <a:t>ESTABLished</a:t>
            </a:r>
            <a:r>
              <a:rPr lang="en-US" dirty="0"/>
              <a:t> state.  This is when the application process would see the return from the wait on the  socket accept() call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15648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usual, there’s a human protocol analogy to the three way handshake, and I still remember thinking about this clinging for my life while climbing up a rockface</a:t>
            </a:r>
          </a:p>
          <a:p>
            <a:endParaRPr lang="en-US" dirty="0"/>
          </a:p>
          <a:p>
            <a:r>
              <a:rPr lang="en-US" dirty="0"/>
              <a:t>When you want start climbing you first say ON BELOW (meaning ARE YOU READY WITH MY SAFETY ROPE)</a:t>
            </a:r>
          </a:p>
          <a:p>
            <a:r>
              <a:rPr lang="en-US" dirty="0"/>
              <a:t>THE BELYER (server) responds BELAY ON (that lets you know the belayer is ready for you)</a:t>
            </a:r>
          </a:p>
          <a:p>
            <a:r>
              <a:rPr lang="en-US" dirty="0"/>
              <a:t>And then you say CLIMING</a:t>
            </a:r>
          </a:p>
          <a:p>
            <a:endParaRPr lang="en-US" dirty="0"/>
          </a:p>
          <a:p>
            <a:r>
              <a:rPr lang="en-US" dirty="0"/>
              <a:t>It’s amazing what can pass through your head when your clinging for your life o a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7599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good things must come to an end, and that’s true for a TCP connection as well.</a:t>
            </a:r>
          </a:p>
          <a:p>
            <a:endParaRPr lang="en-US" dirty="0"/>
          </a:p>
          <a:p>
            <a:r>
              <a:rPr lang="en-US" dirty="0"/>
              <a:t>And of course there’s a protocol for one side to gracefully close of a TCP connection using a FIN message, to which the other side sends a FINACK message and waits around a bit to respond to any retransmitted FIN messages before timing out.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1858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BD3F215-6F5B-4997-8B5B-0F7ADC17D93C}" type="slidenum">
              <a:rPr lang="en-US" altLang="en-US"/>
              <a:pPr>
                <a:defRPr/>
              </a:pPr>
              <a:t>‹#›</a:t>
            </a:fld>
            <a:endParaRPr lang="en-US" altLang="en-US"/>
          </a:p>
        </p:txBody>
      </p:sp>
    </p:spTree>
    <p:extLst>
      <p:ext uri="{BB962C8B-B14F-4D97-AF65-F5344CB8AC3E}">
        <p14:creationId xmlns:p14="http://schemas.microsoft.com/office/powerpoint/2010/main" val="23674209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Lst>
  <p:hf hdr="0" ftr="0" dt="0"/>
  <p:txStyles>
    <p:titleStyle>
      <a:lvl1pPr algn="l" defTabSz="914400" rtl="0" eaLnBrk="1" latinLnBrk="0" hangingPunct="1">
        <a:lnSpc>
          <a:spcPct val="90000"/>
        </a:lnSpc>
        <a:spcBef>
          <a:spcPct val="0"/>
        </a:spcBef>
        <a:buNone/>
        <a:defRPr sz="4000" b="1" kern="1200">
          <a:solidFill>
            <a:srgbClr val="0000A3"/>
          </a:solidFill>
          <a:latin typeface="+mn-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5.xml"/><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11.jpeg"/><Relationship Id="rId4" Type="http://schemas.openxmlformats.org/officeDocument/2006/relationships/image" Target="../media/image10.jpe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183946"/>
            <a:ext cx="6618109" cy="5624267"/>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a:t>
            </a:r>
          </a:p>
          <a:p>
            <a:pPr marL="403225" indent="-285750">
              <a:spcBef>
                <a:spcPts val="800"/>
              </a:spcBef>
            </a:pPr>
            <a:r>
              <a:rPr lang="en-US" sz="3200" dirty="0"/>
              <a:t>Connection-oriented transport: TCP</a:t>
            </a:r>
          </a:p>
          <a:p>
            <a:pPr marL="746125" lvl="1" indent="-288925">
              <a:buFont typeface="Arial"/>
              <a:buChar char="•"/>
              <a:defRPr/>
            </a:pPr>
            <a:r>
              <a:rPr lang="en-US" dirty="0"/>
              <a:t>segment structure</a:t>
            </a:r>
          </a:p>
          <a:p>
            <a:pPr marL="746125" lvl="1" indent="-288925">
              <a:buFont typeface="Arial"/>
              <a:buChar char="•"/>
              <a:defRPr/>
            </a:pPr>
            <a:r>
              <a:rPr lang="en-US" dirty="0"/>
              <a:t>reliable data transfer</a:t>
            </a:r>
          </a:p>
          <a:p>
            <a:pPr marL="746125" lvl="1" indent="-288925">
              <a:buFont typeface="Arial"/>
              <a:buChar char="•"/>
              <a:defRPr/>
            </a:pPr>
            <a:r>
              <a:rPr lang="en-US" dirty="0"/>
              <a:t>flow control</a:t>
            </a:r>
          </a:p>
          <a:p>
            <a:pPr marL="746125" lvl="1" indent="-288925">
              <a:buFont typeface="Arial"/>
              <a:buChar char="•"/>
              <a:defRPr/>
            </a:pPr>
            <a:r>
              <a:rPr lang="en-US" dirty="0"/>
              <a:t>connection management</a:t>
            </a:r>
            <a:endParaRPr lang="en-US" sz="3200" dirty="0"/>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006FDDC9-958A-FA4C-8403-56ABF73A6F8E}"/>
              </a:ext>
            </a:extLst>
          </p:cNvPr>
          <p:cNvSpPr>
            <a:spLocks noGrp="1"/>
          </p:cNvSpPr>
          <p:nvPr>
            <p:ph type="sldNum" sz="quarter" idx="4"/>
          </p:nvPr>
        </p:nvSpPr>
        <p:spPr/>
        <p:txBody>
          <a:bodyPr/>
          <a:lstStyle/>
          <a:p>
            <a:r>
              <a:rPr lang="en-US"/>
              <a:t>Transport Layer: 3-</a:t>
            </a:r>
            <a:fld id="{C4204591-24BD-A542-B9D5-F8D8A88D2FEE}" type="slidenum">
              <a:rPr lang="en-US" smtClean="0"/>
              <a:pPr/>
              <a:t>1</a:t>
            </a:fld>
            <a:endParaRPr lang="en-US" dirty="0"/>
          </a:p>
        </p:txBody>
      </p:sp>
      <p:pic>
        <p:nvPicPr>
          <p:cNvPr id="6" name="Picture 5">
            <a:extLst>
              <a:ext uri="{FF2B5EF4-FFF2-40B4-BE49-F238E27FC236}">
                <a16:creationId xmlns:a16="http://schemas.microsoft.com/office/drawing/2014/main" id="{BC34935B-A6B2-0C48-9638-656FA430E71C}"/>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1327162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overview  </a:t>
            </a:r>
            <a:r>
              <a:rPr lang="en-US" sz="3200" b="0" dirty="0"/>
              <a:t>RFCs: 793,1122, 2018, 5681, 7323</a:t>
            </a:r>
            <a:endParaRPr lang="en-US" sz="4400" b="0" dirty="0"/>
          </a:p>
        </p:txBody>
      </p:sp>
      <p:sp>
        <p:nvSpPr>
          <p:cNvPr id="70" name="Rectangle 3">
            <a:extLst>
              <a:ext uri="{FF2B5EF4-FFF2-40B4-BE49-F238E27FC236}">
                <a16:creationId xmlns:a16="http://schemas.microsoft.com/office/drawing/2014/main" id="{BE7365D6-3297-0A41-9B2B-91B801F95815}"/>
              </a:ext>
            </a:extLst>
          </p:cNvPr>
          <p:cNvSpPr txBox="1">
            <a:spLocks noChangeArrowheads="1"/>
          </p:cNvSpPr>
          <p:nvPr/>
        </p:nvSpPr>
        <p:spPr>
          <a:xfrm>
            <a:off x="5949863" y="1322613"/>
            <a:ext cx="6012953" cy="553538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cumulative ACKs</a:t>
            </a:r>
          </a:p>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pipelining:</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TCP congestion and flow control set window size</a:t>
            </a:r>
            <a:endParaRPr kumimoji="0" lang="en-US" altLang="en-US" sz="28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connection-oriented: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handshaking (exchange of control messages) initializes sender, receiver state before data exchange</a:t>
            </a: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flow controlled:</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will not overwhelm receiver</a:t>
            </a:r>
          </a:p>
        </p:txBody>
      </p:sp>
      <p:sp>
        <p:nvSpPr>
          <p:cNvPr id="71" name="Rectangle 4">
            <a:extLst>
              <a:ext uri="{FF2B5EF4-FFF2-40B4-BE49-F238E27FC236}">
                <a16:creationId xmlns:a16="http://schemas.microsoft.com/office/drawing/2014/main" id="{B36C086D-3E3E-F04F-BB50-EE7FE6F1A87A}"/>
              </a:ext>
            </a:extLst>
          </p:cNvPr>
          <p:cNvSpPr txBox="1">
            <a:spLocks noChangeArrowheads="1"/>
          </p:cNvSpPr>
          <p:nvPr/>
        </p:nvSpPr>
        <p:spPr>
          <a:xfrm>
            <a:off x="687960" y="1322613"/>
            <a:ext cx="5382987"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point-to-point</a:t>
            </a: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one sender, one receiver</a:t>
            </a:r>
            <a:r>
              <a:rPr kumimoji="0" lang="en-US" altLang="en-US" sz="28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p>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reliable, in-order </a:t>
            </a:r>
            <a:r>
              <a:rPr kumimoji="0" lang="en-US" altLang="en-US" sz="32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byte steam:</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message boundaries"</a:t>
            </a: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a:ea typeface="+mn-ea"/>
                <a:cs typeface="+mn-cs"/>
              </a:rPr>
              <a:t>full duplex data:</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bi-directional data flow in same connection</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MSS: maximum segment size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 name="Slide Number Placeholder 2">
            <a:extLst>
              <a:ext uri="{FF2B5EF4-FFF2-40B4-BE49-F238E27FC236}">
                <a16:creationId xmlns:a16="http://schemas.microsoft.com/office/drawing/2014/main" id="{D9F10C56-26D5-5C45-B097-EE8A46539976}"/>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a:t>
            </a:fld>
            <a:endParaRPr lang="en-US" dirty="0"/>
          </a:p>
        </p:txBody>
      </p:sp>
    </p:spTree>
    <p:extLst>
      <p:ext uri="{BB962C8B-B14F-4D97-AF65-F5344CB8AC3E}">
        <p14:creationId xmlns:p14="http://schemas.microsoft.com/office/powerpoint/2010/main" val="155591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re 4"/>
          <p:cNvSpPr>
            <a:spLocks noGrp="1"/>
          </p:cNvSpPr>
          <p:nvPr>
            <p:ph type="title"/>
          </p:nvPr>
        </p:nvSpPr>
        <p:spPr/>
        <p:txBody>
          <a:bodyPr/>
          <a:lstStyle/>
          <a:p>
            <a:r>
              <a:rPr lang="fr-FR" altLang="en-US"/>
              <a:t>TCP connection </a:t>
            </a:r>
          </a:p>
        </p:txBody>
      </p:sp>
      <p:sp>
        <p:nvSpPr>
          <p:cNvPr id="13315" name="Espace réservé du contenu 5"/>
          <p:cNvSpPr>
            <a:spLocks noGrp="1"/>
          </p:cNvSpPr>
          <p:nvPr>
            <p:ph idx="1"/>
          </p:nvPr>
        </p:nvSpPr>
        <p:spPr/>
        <p:txBody>
          <a:bodyPr/>
          <a:lstStyle/>
          <a:p>
            <a:r>
              <a:rPr lang="fr-FR" altLang="en-US" dirty="0"/>
              <a:t>TCP </a:t>
            </a:r>
            <a:r>
              <a:rPr lang="fr-FR" altLang="en-US" dirty="0" err="1"/>
              <a:t>connection</a:t>
            </a:r>
            <a:r>
              <a:rPr lang="fr-FR" altLang="en-US" dirty="0"/>
              <a:t> </a:t>
            </a:r>
            <a:r>
              <a:rPr lang="fr-FR" altLang="en-US" dirty="0" err="1"/>
              <a:t>consists</a:t>
            </a:r>
            <a:r>
              <a:rPr lang="fr-FR" altLang="en-US" dirty="0"/>
              <a:t> of </a:t>
            </a:r>
          </a:p>
          <a:p>
            <a:pPr lvl="1"/>
            <a:r>
              <a:rPr lang="fr-FR" altLang="en-US" dirty="0"/>
              <a:t>Buffers and variables</a:t>
            </a:r>
          </a:p>
          <a:p>
            <a:pPr lvl="1"/>
            <a:r>
              <a:rPr lang="fr-FR" altLang="en-US" dirty="0"/>
              <a:t>a socket </a:t>
            </a:r>
            <a:r>
              <a:rPr lang="fr-FR" altLang="en-US" dirty="0" err="1"/>
              <a:t>connection</a:t>
            </a:r>
            <a:r>
              <a:rPr lang="fr-FR" altLang="en-US" dirty="0"/>
              <a:t> to a </a:t>
            </a:r>
            <a:r>
              <a:rPr lang="fr-FR" altLang="en-US" dirty="0" err="1"/>
              <a:t>process</a:t>
            </a:r>
            <a:r>
              <a:rPr lang="fr-FR" altLang="en-US" dirty="0"/>
              <a:t> in one host, and </a:t>
            </a:r>
            <a:r>
              <a:rPr lang="fr-FR" altLang="en-US" dirty="0" err="1"/>
              <a:t>another</a:t>
            </a:r>
            <a:r>
              <a:rPr lang="fr-FR" altLang="en-US" dirty="0"/>
              <a:t> set of buffers, variables, and a socket </a:t>
            </a:r>
            <a:r>
              <a:rPr lang="fr-FR" altLang="en-US" dirty="0" err="1"/>
              <a:t>connection</a:t>
            </a:r>
            <a:r>
              <a:rPr lang="fr-FR" altLang="en-US" dirty="0"/>
              <a:t> to a </a:t>
            </a:r>
            <a:r>
              <a:rPr lang="fr-FR" altLang="en-US" dirty="0" err="1"/>
              <a:t>process</a:t>
            </a:r>
            <a:r>
              <a:rPr lang="fr-FR" altLang="en-US" dirty="0"/>
              <a:t> in </a:t>
            </a:r>
            <a:r>
              <a:rPr lang="fr-FR" altLang="en-US" dirty="0" err="1"/>
              <a:t>another</a:t>
            </a:r>
            <a:r>
              <a:rPr lang="fr-FR" altLang="en-US" dirty="0"/>
              <a:t> host. </a:t>
            </a:r>
          </a:p>
          <a:p>
            <a:pPr lvl="1"/>
            <a:endParaRPr lang="fr-FR" altLang="en-US" dirty="0"/>
          </a:p>
          <a:p>
            <a:r>
              <a:rPr lang="fr-FR" altLang="en-US" dirty="0"/>
              <a:t>Nothing </a:t>
            </a:r>
            <a:r>
              <a:rPr lang="fr-FR" altLang="en-US" dirty="0" err="1"/>
              <a:t>is</a:t>
            </a:r>
            <a:r>
              <a:rPr lang="fr-FR" altLang="en-US" dirty="0"/>
              <a:t> </a:t>
            </a:r>
            <a:r>
              <a:rPr lang="fr-FR" altLang="en-US" dirty="0" err="1"/>
              <a:t>stored</a:t>
            </a:r>
            <a:r>
              <a:rPr lang="fr-FR" altLang="en-US" dirty="0"/>
              <a:t> in the network </a:t>
            </a:r>
            <a:r>
              <a:rPr lang="fr-FR" altLang="en-US" dirty="0" err="1"/>
              <a:t>elements</a:t>
            </a:r>
            <a:r>
              <a:rPr lang="fr-FR" altLang="en-US" dirty="0"/>
              <a:t> (</a:t>
            </a:r>
            <a:r>
              <a:rPr lang="fr-FR" altLang="en-US" dirty="0" err="1"/>
              <a:t>routers</a:t>
            </a:r>
            <a:r>
              <a:rPr lang="fr-FR" altLang="en-US" dirty="0"/>
              <a:t>, switches, and </a:t>
            </a:r>
            <a:r>
              <a:rPr lang="fr-FR" altLang="en-US" dirty="0" err="1"/>
              <a:t>repeaters</a:t>
            </a:r>
            <a:r>
              <a:rPr lang="fr-FR" altLang="en-US" dirty="0"/>
              <a:t>) </a:t>
            </a:r>
            <a:r>
              <a:rPr lang="fr-FR" altLang="en-US" dirty="0" err="1"/>
              <a:t>between</a:t>
            </a:r>
            <a:r>
              <a:rPr lang="fr-FR" altLang="en-US" dirty="0"/>
              <a:t> the hosts. </a:t>
            </a:r>
          </a:p>
          <a:p>
            <a:endParaRPr lang="fr-FR" altLang="en-US" dirty="0"/>
          </a:p>
        </p:txBody>
      </p:sp>
    </p:spTree>
    <p:extLst>
      <p:ext uri="{BB962C8B-B14F-4D97-AF65-F5344CB8AC3E}">
        <p14:creationId xmlns:p14="http://schemas.microsoft.com/office/powerpoint/2010/main" val="944372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re 1"/>
          <p:cNvSpPr>
            <a:spLocks noGrp="1"/>
          </p:cNvSpPr>
          <p:nvPr>
            <p:ph type="title"/>
          </p:nvPr>
        </p:nvSpPr>
        <p:spPr/>
        <p:txBody>
          <a:bodyPr/>
          <a:lstStyle/>
          <a:p>
            <a:r>
              <a:rPr lang="fr-FR" altLang="en-US"/>
              <a:t>TCP Send/Receive buffers</a:t>
            </a:r>
          </a:p>
        </p:txBody>
      </p:sp>
      <p:pic>
        <p:nvPicPr>
          <p:cNvPr id="12291" name="Image 4" descr="Screen Shot 2015-09-27 at 11.26.16.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98489" y="3247566"/>
            <a:ext cx="71469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103088" y="1117600"/>
            <a:ext cx="10958286" cy="2728230"/>
          </a:xfrm>
          <a:prstGeom prst="rect">
            <a:avLst/>
          </a:prstGeom>
        </p:spPr>
        <p:txBody>
          <a:bodyPr wrap="square">
            <a:spAutoFit/>
          </a:bodyPr>
          <a:lstStyle/>
          <a:p>
            <a:pPr marL="342900" indent="-342900">
              <a:buFont typeface="Arial" panose="020B0604020202020204" pitchFamily="34" charset="0"/>
              <a:buChar char="•"/>
              <a:defRPr/>
            </a:pPr>
            <a:r>
              <a:rPr lang="en-US" sz="2400" dirty="0"/>
              <a:t>The client process passes a stream of data through the socket. </a:t>
            </a:r>
          </a:p>
          <a:p>
            <a:pPr marL="342900" indent="-342900">
              <a:buFont typeface="Arial" panose="020B0604020202020204" pitchFamily="34" charset="0"/>
              <a:buChar char="•"/>
              <a:defRPr/>
            </a:pPr>
            <a:r>
              <a:rPr lang="en-US" sz="2400" dirty="0"/>
              <a:t>Once the data passes through the Socket, the data is in the hands of TCP </a:t>
            </a:r>
          </a:p>
          <a:p>
            <a:pPr>
              <a:defRPr/>
            </a:pPr>
            <a:r>
              <a:rPr lang="en-US" sz="2400" dirty="0"/>
              <a:t>      running in the client. </a:t>
            </a:r>
          </a:p>
          <a:p>
            <a:pPr marL="342900" indent="-342900">
              <a:buFont typeface="Arial" panose="020B0604020202020204" pitchFamily="34" charset="0"/>
              <a:buChar char="•"/>
              <a:defRPr/>
            </a:pPr>
            <a:r>
              <a:rPr lang="en-US" sz="2400" dirty="0"/>
              <a:t>TCP directs this data to the connection’s send buffer, which is one of the </a:t>
            </a:r>
          </a:p>
          <a:p>
            <a:pPr>
              <a:defRPr/>
            </a:pPr>
            <a:r>
              <a:rPr lang="en-US" sz="2400" dirty="0"/>
              <a:t>      buffers that is set aside during the initial three-way handshake.</a:t>
            </a:r>
          </a:p>
          <a:p>
            <a:pPr marL="342900" indent="-342900">
              <a:buFont typeface="Arial" panose="020B0604020202020204" pitchFamily="34" charset="0"/>
              <a:buChar char="•"/>
              <a:defRPr/>
            </a:pPr>
            <a:r>
              <a:rPr lang="en-US" sz="2400" dirty="0"/>
              <a:t>From time to time, TCP will grab chunks of data from the send buffer and </a:t>
            </a:r>
          </a:p>
          <a:p>
            <a:pPr>
              <a:defRPr/>
            </a:pPr>
            <a:r>
              <a:rPr lang="en-US" sz="2400" dirty="0"/>
              <a:t>     pass the data to the network layer.</a:t>
            </a:r>
          </a:p>
        </p:txBody>
      </p:sp>
    </p:spTree>
    <p:extLst>
      <p:ext uri="{BB962C8B-B14F-4D97-AF65-F5344CB8AC3E}">
        <p14:creationId xmlns:p14="http://schemas.microsoft.com/office/powerpoint/2010/main" val="3776564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segment structure</a:t>
            </a:r>
            <a:endParaRPr lang="en-US" sz="4400" b="0" dirty="0"/>
          </a:p>
        </p:txBody>
      </p:sp>
      <p:sp>
        <p:nvSpPr>
          <p:cNvPr id="60" name="Rectangle 4">
            <a:extLst>
              <a:ext uri="{FF2B5EF4-FFF2-40B4-BE49-F238E27FC236}">
                <a16:creationId xmlns:a16="http://schemas.microsoft.com/office/drawing/2014/main" id="{1438C6A7-F9CB-854D-92BB-74AFAE175928}"/>
              </a:ext>
            </a:extLst>
          </p:cNvPr>
          <p:cNvSpPr>
            <a:spLocks noChangeArrowheads="1"/>
          </p:cNvSpPr>
          <p:nvPr/>
        </p:nvSpPr>
        <p:spPr bwMode="auto">
          <a:xfrm>
            <a:off x="4432073" y="1560062"/>
            <a:ext cx="3951287" cy="4824412"/>
          </a:xfrm>
          <a:prstGeom prst="rect">
            <a:avLst/>
          </a:prstGeom>
          <a:solidFill>
            <a:srgbClr val="000099"/>
          </a:solidFill>
          <a:ln>
            <a:noFill/>
          </a:ln>
          <a:effectLst/>
          <a:extLst>
            <a:ext uri="{91240B29-F687-4f45-9708-019B960494DF}">
              <a14:hiddenLine xmlns:a14="http://schemas.microsoft.com/office/drawing/2010/main" xmlns="" w="1905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61" name="Rectangle 5">
            <a:extLst>
              <a:ext uri="{FF2B5EF4-FFF2-40B4-BE49-F238E27FC236}">
                <a16:creationId xmlns:a16="http://schemas.microsoft.com/office/drawing/2014/main" id="{21D47CEF-020C-9C44-AB75-DA719011CBEF}"/>
              </a:ext>
            </a:extLst>
          </p:cNvPr>
          <p:cNvSpPr>
            <a:spLocks noChangeArrowheads="1"/>
          </p:cNvSpPr>
          <p:nvPr/>
        </p:nvSpPr>
        <p:spPr bwMode="auto">
          <a:xfrm>
            <a:off x="4346348" y="1675949"/>
            <a:ext cx="3951287" cy="4805363"/>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4" name="Group 3">
            <a:extLst>
              <a:ext uri="{FF2B5EF4-FFF2-40B4-BE49-F238E27FC236}">
                <a16:creationId xmlns:a16="http://schemas.microsoft.com/office/drawing/2014/main" id="{A0F66122-9E4A-7644-B40C-189BABEA3388}"/>
              </a:ext>
            </a:extLst>
          </p:cNvPr>
          <p:cNvGrpSpPr/>
          <p:nvPr/>
        </p:nvGrpSpPr>
        <p:grpSpPr>
          <a:xfrm>
            <a:off x="4495573" y="1661303"/>
            <a:ext cx="3450544" cy="401997"/>
            <a:chOff x="4495573" y="1661303"/>
            <a:chExt cx="3450544" cy="401997"/>
          </a:xfrm>
        </p:grpSpPr>
        <p:sp>
          <p:nvSpPr>
            <p:cNvPr id="62" name="Text Box 6">
              <a:extLst>
                <a:ext uri="{FF2B5EF4-FFF2-40B4-BE49-F238E27FC236}">
                  <a16:creationId xmlns:a16="http://schemas.microsoft.com/office/drawing/2014/main" id="{A183A89B-2122-E141-9DF3-203A60EFF295}"/>
                </a:ext>
              </a:extLst>
            </p:cNvPr>
            <p:cNvSpPr txBox="1">
              <a:spLocks noChangeArrowheads="1"/>
            </p:cNvSpPr>
            <p:nvPr/>
          </p:nvSpPr>
          <p:spPr bwMode="auto">
            <a:xfrm>
              <a:off x="4495573" y="1661303"/>
              <a:ext cx="1663700"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source port #</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63" name="Text Box 7">
              <a:extLst>
                <a:ext uri="{FF2B5EF4-FFF2-40B4-BE49-F238E27FC236}">
                  <a16:creationId xmlns:a16="http://schemas.microsoft.com/office/drawing/2014/main" id="{E52BAEBA-8AEA-B545-A35F-AEB6190843E5}"/>
                </a:ext>
              </a:extLst>
            </p:cNvPr>
            <p:cNvSpPr txBox="1">
              <a:spLocks noChangeArrowheads="1"/>
            </p:cNvSpPr>
            <p:nvPr/>
          </p:nvSpPr>
          <p:spPr bwMode="auto">
            <a:xfrm>
              <a:off x="6564992" y="1666425"/>
              <a:ext cx="1381125"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mn-cs"/>
                </a:rPr>
                <a:t>dest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 port #</a:t>
              </a: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64" name="Line 8">
            <a:extLst>
              <a:ext uri="{FF2B5EF4-FFF2-40B4-BE49-F238E27FC236}">
                <a16:creationId xmlns:a16="http://schemas.microsoft.com/office/drawing/2014/main" id="{BDC40F37-DD1A-6848-AB76-2EA7683B9566}"/>
              </a:ext>
            </a:extLst>
          </p:cNvPr>
          <p:cNvSpPr>
            <a:spLocks noChangeShapeType="1"/>
          </p:cNvSpPr>
          <p:nvPr/>
        </p:nvSpPr>
        <p:spPr bwMode="auto">
          <a:xfrm>
            <a:off x="4349523" y="2050599"/>
            <a:ext cx="3946525" cy="4763"/>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5" name="Line 9">
            <a:extLst>
              <a:ext uri="{FF2B5EF4-FFF2-40B4-BE49-F238E27FC236}">
                <a16:creationId xmlns:a16="http://schemas.microsoft.com/office/drawing/2014/main" id="{92C91585-33BC-084B-A3CF-F5A7CD082B67}"/>
              </a:ext>
            </a:extLst>
          </p:cNvPr>
          <p:cNvSpPr>
            <a:spLocks noChangeShapeType="1"/>
          </p:cNvSpPr>
          <p:nvPr/>
        </p:nvSpPr>
        <p:spPr bwMode="auto">
          <a:xfrm flipV="1">
            <a:off x="4343173" y="2430012"/>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 name="Group 11">
            <a:extLst>
              <a:ext uri="{FF2B5EF4-FFF2-40B4-BE49-F238E27FC236}">
                <a16:creationId xmlns:a16="http://schemas.microsoft.com/office/drawing/2014/main" id="{8552304C-19AC-C84B-842E-CBCC3EA9E153}"/>
              </a:ext>
            </a:extLst>
          </p:cNvPr>
          <p:cNvGrpSpPr/>
          <p:nvPr/>
        </p:nvGrpSpPr>
        <p:grpSpPr>
          <a:xfrm>
            <a:off x="4324123" y="1145724"/>
            <a:ext cx="3935412" cy="366713"/>
            <a:chOff x="4324123" y="1145724"/>
            <a:chExt cx="3935412" cy="366713"/>
          </a:xfrm>
        </p:grpSpPr>
        <p:sp>
          <p:nvSpPr>
            <p:cNvPr id="67" name="Text Box 11">
              <a:extLst>
                <a:ext uri="{FF2B5EF4-FFF2-40B4-BE49-F238E27FC236}">
                  <a16:creationId xmlns:a16="http://schemas.microsoft.com/office/drawing/2014/main" id="{D7A6E153-CAA2-2E43-9742-982E16926734}"/>
                </a:ext>
              </a:extLst>
            </p:cNvPr>
            <p:cNvSpPr txBox="1">
              <a:spLocks noChangeArrowheads="1"/>
            </p:cNvSpPr>
            <p:nvPr/>
          </p:nvSpPr>
          <p:spPr bwMode="auto">
            <a:xfrm>
              <a:off x="5832248" y="1145724"/>
              <a:ext cx="85725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mn-cs"/>
                </a:rPr>
                <a:t>32 bits</a:t>
              </a:r>
              <a:endParaRPr kumimoji="0" lang="en-US" sz="24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68" name="Line 12">
              <a:extLst>
                <a:ext uri="{FF2B5EF4-FFF2-40B4-BE49-F238E27FC236}">
                  <a16:creationId xmlns:a16="http://schemas.microsoft.com/office/drawing/2014/main" id="{C28AE80D-AED7-BB43-AEEF-9A3E95D70A42}"/>
                </a:ext>
              </a:extLst>
            </p:cNvPr>
            <p:cNvSpPr>
              <a:spLocks noChangeShapeType="1"/>
            </p:cNvSpPr>
            <p:nvPr/>
          </p:nvSpPr>
          <p:spPr bwMode="auto">
            <a:xfrm>
              <a:off x="6832373" y="1391787"/>
              <a:ext cx="1427162" cy="476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9" name="Line 13">
              <a:extLst>
                <a:ext uri="{FF2B5EF4-FFF2-40B4-BE49-F238E27FC236}">
                  <a16:creationId xmlns:a16="http://schemas.microsoft.com/office/drawing/2014/main" id="{0FE91D57-DF52-A948-8B79-BE2C69D24056}"/>
                </a:ext>
              </a:extLst>
            </p:cNvPr>
            <p:cNvSpPr>
              <a:spLocks noChangeShapeType="1"/>
            </p:cNvSpPr>
            <p:nvPr/>
          </p:nvSpPr>
          <p:spPr bwMode="auto">
            <a:xfrm rot="10800000">
              <a:off x="4324123" y="1402899"/>
              <a:ext cx="1341437"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74" name="Line 16">
            <a:extLst>
              <a:ext uri="{FF2B5EF4-FFF2-40B4-BE49-F238E27FC236}">
                <a16:creationId xmlns:a16="http://schemas.microsoft.com/office/drawing/2014/main" id="{ADBC9EF8-B51B-F249-8F7B-C16F5F07A21E}"/>
              </a:ext>
            </a:extLst>
          </p:cNvPr>
          <p:cNvSpPr>
            <a:spLocks noChangeShapeType="1"/>
          </p:cNvSpPr>
          <p:nvPr/>
        </p:nvSpPr>
        <p:spPr bwMode="auto">
          <a:xfrm flipV="1">
            <a:off x="4352698" y="2811012"/>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6" name="Line 18">
            <a:extLst>
              <a:ext uri="{FF2B5EF4-FFF2-40B4-BE49-F238E27FC236}">
                <a16:creationId xmlns:a16="http://schemas.microsoft.com/office/drawing/2014/main" id="{32231029-9349-864B-ABF1-0D56E55824BB}"/>
              </a:ext>
            </a:extLst>
          </p:cNvPr>
          <p:cNvSpPr>
            <a:spLocks noChangeShapeType="1"/>
          </p:cNvSpPr>
          <p:nvPr/>
        </p:nvSpPr>
        <p:spPr bwMode="auto">
          <a:xfrm flipV="1">
            <a:off x="4347935" y="3206299"/>
            <a:ext cx="3951288"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7" name="Line 19">
            <a:extLst>
              <a:ext uri="{FF2B5EF4-FFF2-40B4-BE49-F238E27FC236}">
                <a16:creationId xmlns:a16="http://schemas.microsoft.com/office/drawing/2014/main" id="{F2503E28-C28E-B541-932B-7E2993655C9A}"/>
              </a:ext>
            </a:extLst>
          </p:cNvPr>
          <p:cNvSpPr>
            <a:spLocks noChangeShapeType="1"/>
          </p:cNvSpPr>
          <p:nvPr/>
        </p:nvSpPr>
        <p:spPr bwMode="auto">
          <a:xfrm flipV="1">
            <a:off x="4343173" y="3596824"/>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8" name="Line 20">
            <a:extLst>
              <a:ext uri="{FF2B5EF4-FFF2-40B4-BE49-F238E27FC236}">
                <a16:creationId xmlns:a16="http://schemas.microsoft.com/office/drawing/2014/main" id="{10D5BEAE-CBC6-5040-B37E-6D12FC20E9CB}"/>
              </a:ext>
            </a:extLst>
          </p:cNvPr>
          <p:cNvSpPr>
            <a:spLocks noChangeShapeType="1"/>
          </p:cNvSpPr>
          <p:nvPr/>
        </p:nvSpPr>
        <p:spPr bwMode="auto">
          <a:xfrm flipV="1">
            <a:off x="4343173" y="4158799"/>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9" name="Line 21">
            <a:extLst>
              <a:ext uri="{FF2B5EF4-FFF2-40B4-BE49-F238E27FC236}">
                <a16:creationId xmlns:a16="http://schemas.microsoft.com/office/drawing/2014/main" id="{A186AEBD-F0F5-494B-9D24-09B9888787CD}"/>
              </a:ext>
            </a:extLst>
          </p:cNvPr>
          <p:cNvSpPr>
            <a:spLocks noChangeShapeType="1"/>
          </p:cNvSpPr>
          <p:nvPr/>
        </p:nvSpPr>
        <p:spPr bwMode="auto">
          <a:xfrm flipH="1" flipV="1">
            <a:off x="6303735" y="2814187"/>
            <a:ext cx="4763" cy="777875"/>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7" name="Line 29">
            <a:extLst>
              <a:ext uri="{FF2B5EF4-FFF2-40B4-BE49-F238E27FC236}">
                <a16:creationId xmlns:a16="http://schemas.microsoft.com/office/drawing/2014/main" id="{B0BB3064-7239-A344-B7D3-3350540CF7AA}"/>
              </a:ext>
            </a:extLst>
          </p:cNvPr>
          <p:cNvSpPr>
            <a:spLocks noChangeShapeType="1"/>
          </p:cNvSpPr>
          <p:nvPr/>
        </p:nvSpPr>
        <p:spPr bwMode="auto">
          <a:xfrm flipV="1">
            <a:off x="5668735" y="2814187"/>
            <a:ext cx="0" cy="392112"/>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8" name="Line 30">
            <a:extLst>
              <a:ext uri="{FF2B5EF4-FFF2-40B4-BE49-F238E27FC236}">
                <a16:creationId xmlns:a16="http://schemas.microsoft.com/office/drawing/2014/main" id="{22FDEDB0-0202-4C4C-9B34-FF72CC278D77}"/>
              </a:ext>
            </a:extLst>
          </p:cNvPr>
          <p:cNvSpPr>
            <a:spLocks noChangeShapeType="1"/>
          </p:cNvSpPr>
          <p:nvPr/>
        </p:nvSpPr>
        <p:spPr bwMode="auto">
          <a:xfrm flipV="1">
            <a:off x="5514748"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9" name="Line 31">
            <a:extLst>
              <a:ext uri="{FF2B5EF4-FFF2-40B4-BE49-F238E27FC236}">
                <a16:creationId xmlns:a16="http://schemas.microsoft.com/office/drawing/2014/main" id="{9AF172E8-0A6A-6644-BD77-F1EE190D4ADE}"/>
              </a:ext>
            </a:extLst>
          </p:cNvPr>
          <p:cNvSpPr>
            <a:spLocks noChangeShapeType="1"/>
          </p:cNvSpPr>
          <p:nvPr/>
        </p:nvSpPr>
        <p:spPr bwMode="auto">
          <a:xfrm flipV="1">
            <a:off x="5355998" y="2818949"/>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96" name="Text Box 38">
            <a:extLst>
              <a:ext uri="{FF2B5EF4-FFF2-40B4-BE49-F238E27FC236}">
                <a16:creationId xmlns:a16="http://schemas.microsoft.com/office/drawing/2014/main" id="{A4AA77C6-3CD5-F642-BD90-B898C462C724}"/>
              </a:ext>
            </a:extLst>
          </p:cNvPr>
          <p:cNvSpPr txBox="1">
            <a:spLocks noChangeArrowheads="1"/>
          </p:cNvSpPr>
          <p:nvPr/>
        </p:nvSpPr>
        <p:spPr bwMode="auto">
          <a:xfrm>
            <a:off x="4636966" y="2822952"/>
            <a:ext cx="482824" cy="4076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not</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used</a:t>
            </a:r>
            <a:endPar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7" name="Line 39">
            <a:extLst>
              <a:ext uri="{FF2B5EF4-FFF2-40B4-BE49-F238E27FC236}">
                <a16:creationId xmlns:a16="http://schemas.microsoft.com/office/drawing/2014/main" id="{356A6247-1FB1-3845-A2C5-956708DFFBCF}"/>
              </a:ext>
            </a:extLst>
          </p:cNvPr>
          <p:cNvSpPr>
            <a:spLocks noChangeShapeType="1"/>
          </p:cNvSpPr>
          <p:nvPr/>
        </p:nvSpPr>
        <p:spPr bwMode="auto">
          <a:xfrm flipV="1">
            <a:off x="4713766"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grpSp>
        <p:nvGrpSpPr>
          <p:cNvPr id="115" name="Group 114">
            <a:extLst>
              <a:ext uri="{FF2B5EF4-FFF2-40B4-BE49-F238E27FC236}">
                <a16:creationId xmlns:a16="http://schemas.microsoft.com/office/drawing/2014/main" id="{25F3ABB6-FC22-8E45-923B-C272F3E47C12}"/>
              </a:ext>
            </a:extLst>
          </p:cNvPr>
          <p:cNvGrpSpPr/>
          <p:nvPr/>
        </p:nvGrpSpPr>
        <p:grpSpPr>
          <a:xfrm>
            <a:off x="6405335" y="2817362"/>
            <a:ext cx="5252586" cy="731484"/>
            <a:chOff x="6405335" y="2817362"/>
            <a:chExt cx="5252586" cy="731484"/>
          </a:xfrm>
        </p:grpSpPr>
        <p:sp>
          <p:nvSpPr>
            <p:cNvPr id="80" name="Text Box 22">
              <a:extLst>
                <a:ext uri="{FF2B5EF4-FFF2-40B4-BE49-F238E27FC236}">
                  <a16:creationId xmlns:a16="http://schemas.microsoft.com/office/drawing/2014/main" id="{C121B465-E333-C34D-A9B1-4EC95AB29663}"/>
                </a:ext>
              </a:extLst>
            </p:cNvPr>
            <p:cNvSpPr txBox="1">
              <a:spLocks noChangeArrowheads="1"/>
            </p:cNvSpPr>
            <p:nvPr/>
          </p:nvSpPr>
          <p:spPr bwMode="auto">
            <a:xfrm>
              <a:off x="6405335" y="2817362"/>
              <a:ext cx="1746250" cy="3667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receive window</a:t>
              </a:r>
            </a:p>
          </p:txBody>
        </p:sp>
        <p:sp>
          <p:nvSpPr>
            <p:cNvPr id="107" name="Text Box 49">
              <a:extLst>
                <a:ext uri="{FF2B5EF4-FFF2-40B4-BE49-F238E27FC236}">
                  <a16:creationId xmlns:a16="http://schemas.microsoft.com/office/drawing/2014/main" id="{C1196D10-63E5-F146-A338-FB6B53C00F42}"/>
                </a:ext>
              </a:extLst>
            </p:cNvPr>
            <p:cNvSpPr txBox="1">
              <a:spLocks noChangeArrowheads="1"/>
            </p:cNvSpPr>
            <p:nvPr/>
          </p:nvSpPr>
          <p:spPr bwMode="auto">
            <a:xfrm>
              <a:off x="8724900" y="2847115"/>
              <a:ext cx="2933021" cy="7017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flow control: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bytes receiver willing to accept</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1" name="Line 53">
              <a:extLst>
                <a:ext uri="{FF2B5EF4-FFF2-40B4-BE49-F238E27FC236}">
                  <a16:creationId xmlns:a16="http://schemas.microsoft.com/office/drawing/2014/main" id="{AF202832-D8A0-CC44-AEC9-474E90CA4102}"/>
                </a:ext>
              </a:extLst>
            </p:cNvPr>
            <p:cNvSpPr>
              <a:spLocks noChangeShapeType="1"/>
            </p:cNvSpPr>
            <p:nvPr/>
          </p:nvSpPr>
          <p:spPr bwMode="auto">
            <a:xfrm flipH="1">
              <a:off x="8142852" y="3044701"/>
              <a:ext cx="582048" cy="0"/>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6" name="Group 5">
            <a:extLst>
              <a:ext uri="{FF2B5EF4-FFF2-40B4-BE49-F238E27FC236}">
                <a16:creationId xmlns:a16="http://schemas.microsoft.com/office/drawing/2014/main" id="{9EBAA956-8E89-0A4A-A4BC-91B08D93CC59}"/>
              </a:ext>
            </a:extLst>
          </p:cNvPr>
          <p:cNvGrpSpPr/>
          <p:nvPr/>
        </p:nvGrpSpPr>
        <p:grpSpPr>
          <a:xfrm>
            <a:off x="4979760" y="1674436"/>
            <a:ext cx="7040433" cy="1034129"/>
            <a:chOff x="4979760" y="1674436"/>
            <a:chExt cx="7040433" cy="1034129"/>
          </a:xfrm>
        </p:grpSpPr>
        <p:sp>
          <p:nvSpPr>
            <p:cNvPr id="73" name="Text Box 15">
              <a:extLst>
                <a:ext uri="{FF2B5EF4-FFF2-40B4-BE49-F238E27FC236}">
                  <a16:creationId xmlns:a16="http://schemas.microsoft.com/office/drawing/2014/main" id="{2925631F-CA45-E24E-A2A3-36475CE0E0E7}"/>
                </a:ext>
              </a:extLst>
            </p:cNvPr>
            <p:cNvSpPr txBox="1">
              <a:spLocks noChangeArrowheads="1"/>
            </p:cNvSpPr>
            <p:nvPr/>
          </p:nvSpPr>
          <p:spPr bwMode="auto">
            <a:xfrm>
              <a:off x="4979760" y="2029962"/>
              <a:ext cx="2486025"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sequence number</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08" name="Text Box 50">
              <a:extLst>
                <a:ext uri="{FF2B5EF4-FFF2-40B4-BE49-F238E27FC236}">
                  <a16:creationId xmlns:a16="http://schemas.microsoft.com/office/drawing/2014/main" id="{62087231-CA89-9F46-9993-D5CE4726B8FD}"/>
                </a:ext>
              </a:extLst>
            </p:cNvPr>
            <p:cNvSpPr txBox="1">
              <a:spLocks noChangeArrowheads="1"/>
            </p:cNvSpPr>
            <p:nvPr/>
          </p:nvSpPr>
          <p:spPr bwMode="auto">
            <a:xfrm>
              <a:off x="8724900" y="1674436"/>
              <a:ext cx="3295293" cy="103412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segment seq  #: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counting bytes of data</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into </a:t>
              </a:r>
              <a:r>
                <a:rPr kumimoji="0" lang="en-US" sz="2000" b="0" i="0" u="none" strike="noStrike" kern="1200" cap="none" spc="0" normalizeH="0" baseline="0" noProof="0" dirty="0" err="1">
                  <a:ln>
                    <a:noFill/>
                  </a:ln>
                  <a:solidFill>
                    <a:srgbClr val="000000"/>
                  </a:solidFill>
                  <a:effectLst/>
                  <a:uLnTx/>
                  <a:uFillTx/>
                  <a:latin typeface="Calibri" panose="020F0502020204030204"/>
                  <a:ea typeface="ＭＳ Ｐゴシック" charset="0"/>
                  <a:cs typeface="+mn-cs"/>
                </a:rPr>
                <a:t>bytestream</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(not segments!)</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3" name="Line 55">
              <a:extLst>
                <a:ext uri="{FF2B5EF4-FFF2-40B4-BE49-F238E27FC236}">
                  <a16:creationId xmlns:a16="http://schemas.microsoft.com/office/drawing/2014/main" id="{69F8FE7B-57A5-CA45-A15F-AB7CA1D8D54F}"/>
                </a:ext>
              </a:extLst>
            </p:cNvPr>
            <p:cNvSpPr>
              <a:spLocks noChangeShapeType="1"/>
            </p:cNvSpPr>
            <p:nvPr/>
          </p:nvSpPr>
          <p:spPr bwMode="auto">
            <a:xfrm flipH="1" flipV="1">
              <a:off x="7924797" y="2244436"/>
              <a:ext cx="800102" cy="0"/>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29" name="Group 128">
            <a:extLst>
              <a:ext uri="{FF2B5EF4-FFF2-40B4-BE49-F238E27FC236}">
                <a16:creationId xmlns:a16="http://schemas.microsoft.com/office/drawing/2014/main" id="{33475873-1909-F649-A643-DFFF77ECF966}"/>
              </a:ext>
            </a:extLst>
          </p:cNvPr>
          <p:cNvGrpSpPr/>
          <p:nvPr/>
        </p:nvGrpSpPr>
        <p:grpSpPr>
          <a:xfrm>
            <a:off x="5398860" y="4614412"/>
            <a:ext cx="5770816" cy="1113459"/>
            <a:chOff x="5398860" y="4614412"/>
            <a:chExt cx="5770816" cy="1113459"/>
          </a:xfrm>
        </p:grpSpPr>
        <p:sp>
          <p:nvSpPr>
            <p:cNvPr id="72" name="Text Box 14">
              <a:extLst>
                <a:ext uri="{FF2B5EF4-FFF2-40B4-BE49-F238E27FC236}">
                  <a16:creationId xmlns:a16="http://schemas.microsoft.com/office/drawing/2014/main" id="{394540FC-9B80-C049-964F-3AEAF7A4BA2D}"/>
                </a:ext>
              </a:extLst>
            </p:cNvPr>
            <p:cNvSpPr txBox="1">
              <a:spLocks noChangeArrowheads="1"/>
            </p:cNvSpPr>
            <p:nvPr/>
          </p:nvSpPr>
          <p:spPr bwMode="auto">
            <a:xfrm>
              <a:off x="5398860" y="4614412"/>
              <a:ext cx="2005013" cy="10064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(variable length)</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25" name="TextBox 124">
              <a:extLst>
                <a:ext uri="{FF2B5EF4-FFF2-40B4-BE49-F238E27FC236}">
                  <a16:creationId xmlns:a16="http://schemas.microsoft.com/office/drawing/2014/main" id="{5CEFBFE2-D6C5-6C4B-85CD-C2B1704479E4}"/>
                </a:ext>
              </a:extLst>
            </p:cNvPr>
            <p:cNvSpPr txBox="1"/>
            <p:nvPr/>
          </p:nvSpPr>
          <p:spPr>
            <a:xfrm>
              <a:off x="8980285" y="4638342"/>
              <a:ext cx="2189391" cy="1089529"/>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data sent by application into TCP socket</a:t>
              </a:r>
            </a:p>
          </p:txBody>
        </p:sp>
        <p:cxnSp>
          <p:nvCxnSpPr>
            <p:cNvPr id="127" name="Straight Connector 126">
              <a:extLst>
                <a:ext uri="{FF2B5EF4-FFF2-40B4-BE49-F238E27FC236}">
                  <a16:creationId xmlns:a16="http://schemas.microsoft.com/office/drawing/2014/main" id="{C6493B77-D766-824F-B26A-A73B9CE92231}"/>
                </a:ext>
              </a:extLst>
            </p:cNvPr>
            <p:cNvCxnSpPr>
              <a:cxnSpLocks/>
            </p:cNvCxnSpPr>
            <p:nvPr/>
          </p:nvCxnSpPr>
          <p:spPr>
            <a:xfrm>
              <a:off x="6727821" y="5150307"/>
              <a:ext cx="2149479"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BF59DCBE-5CE4-3C4C-AE43-7FF674B5D23E}"/>
              </a:ext>
            </a:extLst>
          </p:cNvPr>
          <p:cNvGrpSpPr/>
          <p:nvPr/>
        </p:nvGrpSpPr>
        <p:grpSpPr>
          <a:xfrm>
            <a:off x="230393" y="1952743"/>
            <a:ext cx="7771793" cy="1241280"/>
            <a:chOff x="230393" y="1952743"/>
            <a:chExt cx="7771793" cy="1241280"/>
          </a:xfrm>
        </p:grpSpPr>
        <p:sp>
          <p:nvSpPr>
            <p:cNvPr id="137" name="Text Box 35">
              <a:extLst>
                <a:ext uri="{FF2B5EF4-FFF2-40B4-BE49-F238E27FC236}">
                  <a16:creationId xmlns:a16="http://schemas.microsoft.com/office/drawing/2014/main" id="{56F627F0-D04E-AD42-8864-F7B517B4A587}"/>
                </a:ext>
              </a:extLst>
            </p:cNvPr>
            <p:cNvSpPr txBox="1">
              <a:spLocks noChangeArrowheads="1"/>
            </p:cNvSpPr>
            <p:nvPr/>
          </p:nvSpPr>
          <p:spPr bwMode="auto">
            <a:xfrm>
              <a:off x="5447297" y="2855469"/>
              <a:ext cx="303288"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A</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nvGrpSpPr>
            <p:cNvPr id="15" name="Group 14">
              <a:extLst>
                <a:ext uri="{FF2B5EF4-FFF2-40B4-BE49-F238E27FC236}">
                  <a16:creationId xmlns:a16="http://schemas.microsoft.com/office/drawing/2014/main" id="{3379D87E-87A4-BA4A-B25D-D60B162F998C}"/>
                </a:ext>
              </a:extLst>
            </p:cNvPr>
            <p:cNvGrpSpPr/>
            <p:nvPr/>
          </p:nvGrpSpPr>
          <p:grpSpPr>
            <a:xfrm>
              <a:off x="230393" y="1952743"/>
              <a:ext cx="7771793" cy="971860"/>
              <a:chOff x="217867" y="1965269"/>
              <a:chExt cx="7771793" cy="971860"/>
            </a:xfrm>
          </p:grpSpPr>
          <p:sp>
            <p:nvSpPr>
              <p:cNvPr id="75" name="Text Box 17">
                <a:extLst>
                  <a:ext uri="{FF2B5EF4-FFF2-40B4-BE49-F238E27FC236}">
                    <a16:creationId xmlns:a16="http://schemas.microsoft.com/office/drawing/2014/main" id="{0864898F-71F3-8C4E-ACBC-273A8F765CF5}"/>
                  </a:ext>
                </a:extLst>
              </p:cNvPr>
              <p:cNvSpPr txBox="1">
                <a:spLocks noChangeArrowheads="1"/>
              </p:cNvSpPr>
              <p:nvPr/>
            </p:nvSpPr>
            <p:spPr bwMode="auto">
              <a:xfrm>
                <a:off x="4579710" y="2430012"/>
                <a:ext cx="3409950"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acknowledgement number</a:t>
                </a:r>
              </a:p>
            </p:txBody>
          </p:sp>
          <p:sp>
            <p:nvSpPr>
              <p:cNvPr id="119" name="Text Box 42">
                <a:extLst>
                  <a:ext uri="{FF2B5EF4-FFF2-40B4-BE49-F238E27FC236}">
                    <a16:creationId xmlns:a16="http://schemas.microsoft.com/office/drawing/2014/main" id="{C0762B76-1537-D346-8718-8BAF6E1F14E0}"/>
                  </a:ext>
                </a:extLst>
              </p:cNvPr>
              <p:cNvSpPr txBox="1">
                <a:spLocks noChangeArrowheads="1"/>
              </p:cNvSpPr>
              <p:nvPr/>
            </p:nvSpPr>
            <p:spPr bwMode="auto">
              <a:xfrm>
                <a:off x="217867" y="1965269"/>
                <a:ext cx="3287333" cy="7017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ACK: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seq # of next expected byte; A bit: this is an ACK</a:t>
                </a:r>
                <a:endParaRPr kumimoji="0" lang="en-US" sz="11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30" name="Line 46">
                <a:extLst>
                  <a:ext uri="{FF2B5EF4-FFF2-40B4-BE49-F238E27FC236}">
                    <a16:creationId xmlns:a16="http://schemas.microsoft.com/office/drawing/2014/main" id="{412FF679-1D4F-2847-94BC-15BFC61FB4F3}"/>
                  </a:ext>
                </a:extLst>
              </p:cNvPr>
              <p:cNvSpPr>
                <a:spLocks noChangeShapeType="1"/>
              </p:cNvSpPr>
              <p:nvPr/>
            </p:nvSpPr>
            <p:spPr bwMode="auto">
              <a:xfrm>
                <a:off x="3505200" y="2417523"/>
                <a:ext cx="2076276" cy="519606"/>
              </a:xfrm>
              <a:custGeom>
                <a:avLst/>
                <a:gdLst>
                  <a:gd name="connsiteX0" fmla="*/ 0 w 2082626"/>
                  <a:gd name="connsiteY0" fmla="*/ 0 h 560881"/>
                  <a:gd name="connsiteX1" fmla="*/ 2082626 w 2082626"/>
                  <a:gd name="connsiteY1" fmla="*/ 560881 h 560881"/>
                  <a:gd name="connsiteX0" fmla="*/ 0 w 2076276"/>
                  <a:gd name="connsiteY0" fmla="*/ 0 h 519606"/>
                  <a:gd name="connsiteX1" fmla="*/ 2076276 w 2076276"/>
                  <a:gd name="connsiteY1" fmla="*/ 519606 h 519606"/>
                </a:gdLst>
                <a:ahLst/>
                <a:cxnLst>
                  <a:cxn ang="0">
                    <a:pos x="connsiteX0" y="connsiteY0"/>
                  </a:cxn>
                  <a:cxn ang="0">
                    <a:pos x="connsiteX1" y="connsiteY1"/>
                  </a:cxn>
                </a:cxnLst>
                <a:rect l="l" t="t" r="r" b="b"/>
                <a:pathLst>
                  <a:path w="2076276" h="519606">
                    <a:moveTo>
                      <a:pt x="0" y="0"/>
                    </a:moveTo>
                    <a:cubicBezTo>
                      <a:pt x="694209" y="186960"/>
                      <a:pt x="1382067" y="332646"/>
                      <a:pt x="2076276" y="519606"/>
                    </a:cubicBezTo>
                  </a:path>
                </a:pathLst>
              </a:cu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9" name="Line 46">
                <a:extLst>
                  <a:ext uri="{FF2B5EF4-FFF2-40B4-BE49-F238E27FC236}">
                    <a16:creationId xmlns:a16="http://schemas.microsoft.com/office/drawing/2014/main" id="{EB8BFD18-324C-2547-AC63-1A0429ECFF56}"/>
                  </a:ext>
                </a:extLst>
              </p:cNvPr>
              <p:cNvSpPr>
                <a:spLocks noChangeShapeType="1"/>
              </p:cNvSpPr>
              <p:nvPr/>
            </p:nvSpPr>
            <p:spPr bwMode="auto">
              <a:xfrm>
                <a:off x="3505200" y="2404996"/>
                <a:ext cx="1263476" cy="215853"/>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19" name="Group 18">
            <a:extLst>
              <a:ext uri="{FF2B5EF4-FFF2-40B4-BE49-F238E27FC236}">
                <a16:creationId xmlns:a16="http://schemas.microsoft.com/office/drawing/2014/main" id="{953AA9D9-F43E-B546-80D0-95A95FF3FD84}"/>
              </a:ext>
            </a:extLst>
          </p:cNvPr>
          <p:cNvGrpSpPr/>
          <p:nvPr/>
        </p:nvGrpSpPr>
        <p:grpSpPr>
          <a:xfrm>
            <a:off x="1895418" y="3659802"/>
            <a:ext cx="5828956" cy="1090980"/>
            <a:chOff x="1895418" y="3659802"/>
            <a:chExt cx="5828956" cy="1090980"/>
          </a:xfrm>
        </p:grpSpPr>
        <p:sp>
          <p:nvSpPr>
            <p:cNvPr id="98" name="Text Box 40">
              <a:extLst>
                <a:ext uri="{FF2B5EF4-FFF2-40B4-BE49-F238E27FC236}">
                  <a16:creationId xmlns:a16="http://schemas.microsoft.com/office/drawing/2014/main" id="{CF922213-3DD4-4C4D-B198-ADF3A29EDBE7}"/>
                </a:ext>
              </a:extLst>
            </p:cNvPr>
            <p:cNvSpPr txBox="1">
              <a:spLocks noChangeArrowheads="1"/>
            </p:cNvSpPr>
            <p:nvPr/>
          </p:nvSpPr>
          <p:spPr bwMode="auto">
            <a:xfrm>
              <a:off x="4830361" y="3659802"/>
              <a:ext cx="2894013" cy="4001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options (variable length)</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99" name="Text Box 42">
              <a:extLst>
                <a:ext uri="{FF2B5EF4-FFF2-40B4-BE49-F238E27FC236}">
                  <a16:creationId xmlns:a16="http://schemas.microsoft.com/office/drawing/2014/main" id="{0BC58028-06B7-1A4E-8510-AE6EC1534B60}"/>
                </a:ext>
              </a:extLst>
            </p:cNvPr>
            <p:cNvSpPr txBox="1">
              <a:spLocks noChangeArrowheads="1"/>
            </p:cNvSpPr>
            <p:nvPr/>
          </p:nvSpPr>
          <p:spPr bwMode="auto">
            <a:xfrm>
              <a:off x="1895418" y="4326050"/>
              <a:ext cx="1688926"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TCP</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options</a:t>
              </a: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cxnSp>
          <p:nvCxnSpPr>
            <p:cNvPr id="7" name="Straight Connector 6">
              <a:extLst>
                <a:ext uri="{FF2B5EF4-FFF2-40B4-BE49-F238E27FC236}">
                  <a16:creationId xmlns:a16="http://schemas.microsoft.com/office/drawing/2014/main" id="{163A6281-16AF-5F4C-91CB-DC46FB513501}"/>
                </a:ext>
              </a:extLst>
            </p:cNvPr>
            <p:cNvCxnSpPr>
              <a:cxnSpLocks/>
              <a:stCxn id="99" idx="3"/>
              <a:endCxn id="98" idx="1"/>
            </p:cNvCxnSpPr>
            <p:nvPr/>
          </p:nvCxnSpPr>
          <p:spPr>
            <a:xfrm flipV="1">
              <a:off x="3584344" y="3859857"/>
              <a:ext cx="1246017" cy="67855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F2A3E3DD-D73E-3547-B33E-7D97BEE9201E}"/>
              </a:ext>
            </a:extLst>
          </p:cNvPr>
          <p:cNvGrpSpPr/>
          <p:nvPr/>
        </p:nvGrpSpPr>
        <p:grpSpPr>
          <a:xfrm>
            <a:off x="318075" y="2819126"/>
            <a:ext cx="4456458" cy="424732"/>
            <a:chOff x="318075" y="2819126"/>
            <a:chExt cx="4456458" cy="424732"/>
          </a:xfrm>
        </p:grpSpPr>
        <p:sp>
          <p:nvSpPr>
            <p:cNvPr id="95" name="Text Box 37">
              <a:extLst>
                <a:ext uri="{FF2B5EF4-FFF2-40B4-BE49-F238E27FC236}">
                  <a16:creationId xmlns:a16="http://schemas.microsoft.com/office/drawing/2014/main" id="{71EB8016-A1DB-1C48-954C-FFBE5CF06DD6}"/>
                </a:ext>
              </a:extLst>
            </p:cNvPr>
            <p:cNvSpPr txBox="1">
              <a:spLocks noChangeArrowheads="1"/>
            </p:cNvSpPr>
            <p:nvPr/>
          </p:nvSpPr>
          <p:spPr bwMode="auto">
            <a:xfrm>
              <a:off x="4278884" y="2826980"/>
              <a:ext cx="495649" cy="4076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head</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err="1">
                  <a:ln>
                    <a:noFill/>
                  </a:ln>
                  <a:solidFill>
                    <a:srgbClr val="000000"/>
                  </a:solidFill>
                  <a:effectLst/>
                  <a:uLnTx/>
                  <a:uFillTx/>
                  <a:latin typeface="Calibri"/>
                  <a:ea typeface="ＭＳ Ｐゴシック" charset="0"/>
                  <a:cs typeface="+mn-cs"/>
                </a:rPr>
                <a:t>len</a:t>
              </a:r>
              <a:endPar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3" name="Text Box 42">
              <a:extLst>
                <a:ext uri="{FF2B5EF4-FFF2-40B4-BE49-F238E27FC236}">
                  <a16:creationId xmlns:a16="http://schemas.microsoft.com/office/drawing/2014/main" id="{23616F6F-F6F8-274A-8F63-2AC8E94CAB0A}"/>
                </a:ext>
              </a:extLst>
            </p:cNvPr>
            <p:cNvSpPr txBox="1">
              <a:spLocks noChangeArrowheads="1"/>
            </p:cNvSpPr>
            <p:nvPr/>
          </p:nvSpPr>
          <p:spPr bwMode="auto">
            <a:xfrm>
              <a:off x="318075" y="2819126"/>
              <a:ext cx="3287333"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length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(of TCP header)</a:t>
              </a:r>
            </a:p>
          </p:txBody>
        </p:sp>
        <p:cxnSp>
          <p:nvCxnSpPr>
            <p:cNvPr id="100" name="Straight Connector 99">
              <a:extLst>
                <a:ext uri="{FF2B5EF4-FFF2-40B4-BE49-F238E27FC236}">
                  <a16:creationId xmlns:a16="http://schemas.microsoft.com/office/drawing/2014/main" id="{D004F6AA-C795-934B-B4F0-CA6FD9652FA1}"/>
                </a:ext>
              </a:extLst>
            </p:cNvPr>
            <p:cNvCxnSpPr>
              <a:cxnSpLocks/>
            </p:cNvCxnSpPr>
            <p:nvPr/>
          </p:nvCxnSpPr>
          <p:spPr>
            <a:xfrm>
              <a:off x="3544867" y="3031480"/>
              <a:ext cx="78388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B36175C2-99D1-404D-ADB0-0C09C4338566}"/>
              </a:ext>
            </a:extLst>
          </p:cNvPr>
          <p:cNvGrpSpPr/>
          <p:nvPr/>
        </p:nvGrpSpPr>
        <p:grpSpPr>
          <a:xfrm>
            <a:off x="-24878" y="3174115"/>
            <a:ext cx="6031751" cy="424732"/>
            <a:chOff x="-24878" y="3174115"/>
            <a:chExt cx="6031751" cy="424732"/>
          </a:xfrm>
        </p:grpSpPr>
        <p:sp>
          <p:nvSpPr>
            <p:cNvPr id="82" name="Text Box 24">
              <a:extLst>
                <a:ext uri="{FF2B5EF4-FFF2-40B4-BE49-F238E27FC236}">
                  <a16:creationId xmlns:a16="http://schemas.microsoft.com/office/drawing/2014/main" id="{DA04993C-122C-384A-9568-6515DE95D883}"/>
                </a:ext>
              </a:extLst>
            </p:cNvPr>
            <p:cNvSpPr txBox="1">
              <a:spLocks noChangeArrowheads="1"/>
            </p:cNvSpPr>
            <p:nvPr/>
          </p:nvSpPr>
          <p:spPr bwMode="auto">
            <a:xfrm>
              <a:off x="4794023" y="3203124"/>
              <a:ext cx="121285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checksum</a:t>
              </a:r>
            </a:p>
          </p:txBody>
        </p:sp>
        <p:sp>
          <p:nvSpPr>
            <p:cNvPr id="109" name="Text Box 51">
              <a:extLst>
                <a:ext uri="{FF2B5EF4-FFF2-40B4-BE49-F238E27FC236}">
                  <a16:creationId xmlns:a16="http://schemas.microsoft.com/office/drawing/2014/main" id="{CE090396-5F4D-6E4E-AA9C-2778A62E73B2}"/>
                </a:ext>
              </a:extLst>
            </p:cNvPr>
            <p:cNvSpPr txBox="1">
              <a:spLocks noChangeArrowheads="1"/>
            </p:cNvSpPr>
            <p:nvPr/>
          </p:nvSpPr>
          <p:spPr bwMode="auto">
            <a:xfrm>
              <a:off x="-24878" y="3174115"/>
              <a:ext cx="3595495"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Internet</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checksum</a:t>
              </a:r>
            </a:p>
          </p:txBody>
        </p:sp>
        <p:cxnSp>
          <p:nvCxnSpPr>
            <p:cNvPr id="101" name="Straight Connector 100">
              <a:extLst>
                <a:ext uri="{FF2B5EF4-FFF2-40B4-BE49-F238E27FC236}">
                  <a16:creationId xmlns:a16="http://schemas.microsoft.com/office/drawing/2014/main" id="{4F87AC36-0055-DB45-A995-89129C5BB34A}"/>
                </a:ext>
              </a:extLst>
            </p:cNvPr>
            <p:cNvCxnSpPr>
              <a:cxnSpLocks/>
              <a:stCxn id="109" idx="3"/>
              <a:endCxn id="82" idx="1"/>
            </p:cNvCxnSpPr>
            <p:nvPr/>
          </p:nvCxnSpPr>
          <p:spPr>
            <a:xfrm>
              <a:off x="3570617" y="3386481"/>
              <a:ext cx="122340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6" name="Line 10">
            <a:extLst>
              <a:ext uri="{FF2B5EF4-FFF2-40B4-BE49-F238E27FC236}">
                <a16:creationId xmlns:a16="http://schemas.microsoft.com/office/drawing/2014/main" id="{A7BD37B6-D73B-A04D-BDC5-AC47A5470DF4}"/>
              </a:ext>
            </a:extLst>
          </p:cNvPr>
          <p:cNvSpPr>
            <a:spLocks noChangeShapeType="1"/>
          </p:cNvSpPr>
          <p:nvPr/>
        </p:nvSpPr>
        <p:spPr bwMode="auto">
          <a:xfrm flipH="1" flipV="1">
            <a:off x="6289447" y="1679374"/>
            <a:ext cx="1761" cy="365184"/>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4" name="Line 26">
            <a:extLst>
              <a:ext uri="{FF2B5EF4-FFF2-40B4-BE49-F238E27FC236}">
                <a16:creationId xmlns:a16="http://schemas.microsoft.com/office/drawing/2014/main" id="{E9E32468-C9DF-C94D-9DAD-F82B75D02C08}"/>
              </a:ext>
            </a:extLst>
          </p:cNvPr>
          <p:cNvSpPr>
            <a:spLocks noChangeShapeType="1"/>
          </p:cNvSpPr>
          <p:nvPr/>
        </p:nvSpPr>
        <p:spPr bwMode="auto">
          <a:xfrm flipV="1">
            <a:off x="6150711" y="2804662"/>
            <a:ext cx="0" cy="392112"/>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5" name="Line 27">
            <a:extLst>
              <a:ext uri="{FF2B5EF4-FFF2-40B4-BE49-F238E27FC236}">
                <a16:creationId xmlns:a16="http://schemas.microsoft.com/office/drawing/2014/main" id="{595D2D86-0F8D-4945-A03B-3D969A9DA275}"/>
              </a:ext>
            </a:extLst>
          </p:cNvPr>
          <p:cNvSpPr>
            <a:spLocks noChangeShapeType="1"/>
          </p:cNvSpPr>
          <p:nvPr/>
        </p:nvSpPr>
        <p:spPr bwMode="auto">
          <a:xfrm flipV="1">
            <a:off x="5992924"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6" name="Line 28">
            <a:extLst>
              <a:ext uri="{FF2B5EF4-FFF2-40B4-BE49-F238E27FC236}">
                <a16:creationId xmlns:a16="http://schemas.microsoft.com/office/drawing/2014/main" id="{480E04C4-4E6B-614E-B6E0-47722F1E738E}"/>
              </a:ext>
            </a:extLst>
          </p:cNvPr>
          <p:cNvSpPr>
            <a:spLocks noChangeShapeType="1"/>
          </p:cNvSpPr>
          <p:nvPr/>
        </p:nvSpPr>
        <p:spPr bwMode="auto">
          <a:xfrm flipV="1">
            <a:off x="5830374"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grpSp>
        <p:nvGrpSpPr>
          <p:cNvPr id="28" name="Group 27">
            <a:extLst>
              <a:ext uri="{FF2B5EF4-FFF2-40B4-BE49-F238E27FC236}">
                <a16:creationId xmlns:a16="http://schemas.microsoft.com/office/drawing/2014/main" id="{D7BB42C1-3F72-AF44-97A0-27D00776292C}"/>
              </a:ext>
            </a:extLst>
          </p:cNvPr>
          <p:cNvGrpSpPr/>
          <p:nvPr/>
        </p:nvGrpSpPr>
        <p:grpSpPr>
          <a:xfrm>
            <a:off x="172543" y="2863949"/>
            <a:ext cx="6190466" cy="2660551"/>
            <a:chOff x="172543" y="2863949"/>
            <a:chExt cx="6190466" cy="2660551"/>
          </a:xfrm>
        </p:grpSpPr>
        <p:sp>
          <p:nvSpPr>
            <p:cNvPr id="102" name="Text Box 44">
              <a:extLst>
                <a:ext uri="{FF2B5EF4-FFF2-40B4-BE49-F238E27FC236}">
                  <a16:creationId xmlns:a16="http://schemas.microsoft.com/office/drawing/2014/main" id="{26B4BE77-FB6F-AB48-BDB1-C2E23D5564F9}"/>
                </a:ext>
              </a:extLst>
            </p:cNvPr>
            <p:cNvSpPr txBox="1">
              <a:spLocks noChangeArrowheads="1"/>
            </p:cNvSpPr>
            <p:nvPr/>
          </p:nvSpPr>
          <p:spPr bwMode="auto">
            <a:xfrm>
              <a:off x="172543" y="4822769"/>
              <a:ext cx="3419248" cy="7017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RST, SYN, FIN: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connection management</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06" name="Freeform 48">
              <a:extLst>
                <a:ext uri="{FF2B5EF4-FFF2-40B4-BE49-F238E27FC236}">
                  <a16:creationId xmlns:a16="http://schemas.microsoft.com/office/drawing/2014/main" id="{60B1CDA3-93F4-6C43-A635-618B9929B512}"/>
                </a:ext>
              </a:extLst>
            </p:cNvPr>
            <p:cNvSpPr>
              <a:spLocks/>
            </p:cNvSpPr>
            <p:nvPr/>
          </p:nvSpPr>
          <p:spPr bwMode="auto">
            <a:xfrm>
              <a:off x="3558336" y="3152325"/>
              <a:ext cx="2678659" cy="2026938"/>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877"/>
                <a:gd name="connsiteY0" fmla="*/ 32885 h 32885"/>
                <a:gd name="connsiteX1" fmla="*/ 10451 w 11877"/>
                <a:gd name="connsiteY1" fmla="*/ 0 h 32885"/>
                <a:gd name="connsiteX2" fmla="*/ 11877 w 11877"/>
                <a:gd name="connsiteY2" fmla="*/ 0 h 32885"/>
                <a:gd name="connsiteX0" fmla="*/ 0 w 11573"/>
                <a:gd name="connsiteY0" fmla="*/ 32885 h 32885"/>
                <a:gd name="connsiteX1" fmla="*/ 10147 w 11573"/>
                <a:gd name="connsiteY1" fmla="*/ 0 h 32885"/>
                <a:gd name="connsiteX2" fmla="*/ 11573 w 11573"/>
                <a:gd name="connsiteY2" fmla="*/ 0 h 32885"/>
                <a:gd name="connsiteX0" fmla="*/ 0 w 11573"/>
                <a:gd name="connsiteY0" fmla="*/ 28757 h 28757"/>
                <a:gd name="connsiteX1" fmla="*/ 10147 w 11573"/>
                <a:gd name="connsiteY1" fmla="*/ 0 h 28757"/>
                <a:gd name="connsiteX2" fmla="*/ 11573 w 11573"/>
                <a:gd name="connsiteY2" fmla="*/ 0 h 28757"/>
              </a:gdLst>
              <a:ahLst/>
              <a:cxnLst>
                <a:cxn ang="0">
                  <a:pos x="connsiteX0" y="connsiteY0"/>
                </a:cxn>
                <a:cxn ang="0">
                  <a:pos x="connsiteX1" y="connsiteY1"/>
                </a:cxn>
                <a:cxn ang="0">
                  <a:pos x="connsiteX2" y="connsiteY2"/>
                </a:cxn>
              </a:cxnLst>
              <a:rect l="l" t="t" r="r" b="b"/>
              <a:pathLst>
                <a:path w="11573" h="28757">
                  <a:moveTo>
                    <a:pt x="0" y="28757"/>
                  </a:moveTo>
                  <a:lnTo>
                    <a:pt x="10147" y="0"/>
                  </a:lnTo>
                  <a:lnTo>
                    <a:pt x="11573"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7" name="Group 26">
              <a:extLst>
                <a:ext uri="{FF2B5EF4-FFF2-40B4-BE49-F238E27FC236}">
                  <a16:creationId xmlns:a16="http://schemas.microsoft.com/office/drawing/2014/main" id="{879AF9A6-0FEF-B247-BE32-9C9E788D06B7}"/>
                </a:ext>
              </a:extLst>
            </p:cNvPr>
            <p:cNvGrpSpPr/>
            <p:nvPr/>
          </p:nvGrpSpPr>
          <p:grpSpPr>
            <a:xfrm>
              <a:off x="5775299" y="2863949"/>
              <a:ext cx="587710" cy="339181"/>
              <a:chOff x="5775299" y="2863949"/>
              <a:chExt cx="587710" cy="339181"/>
            </a:xfrm>
          </p:grpSpPr>
          <p:sp>
            <p:nvSpPr>
              <p:cNvPr id="104" name="Text Box 25">
                <a:extLst>
                  <a:ext uri="{FF2B5EF4-FFF2-40B4-BE49-F238E27FC236}">
                    <a16:creationId xmlns:a16="http://schemas.microsoft.com/office/drawing/2014/main" id="{1E9027CA-7A6A-B448-891E-3892BD3436EF}"/>
                  </a:ext>
                </a:extLst>
              </p:cNvPr>
              <p:cNvSpPr txBox="1">
                <a:spLocks noChangeArrowheads="1"/>
              </p:cNvSpPr>
              <p:nvPr/>
            </p:nvSpPr>
            <p:spPr bwMode="auto">
              <a:xfrm>
                <a:off x="6083766" y="2864576"/>
                <a:ext cx="279243"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F</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105" name="Text Box 32">
                <a:extLst>
                  <a:ext uri="{FF2B5EF4-FFF2-40B4-BE49-F238E27FC236}">
                    <a16:creationId xmlns:a16="http://schemas.microsoft.com/office/drawing/2014/main" id="{BF401CFD-599A-5C4B-A029-67CB6B08DBD3}"/>
                  </a:ext>
                </a:extLst>
              </p:cNvPr>
              <p:cNvSpPr txBox="1">
                <a:spLocks noChangeArrowheads="1"/>
              </p:cNvSpPr>
              <p:nvPr/>
            </p:nvSpPr>
            <p:spPr bwMode="auto">
              <a:xfrm>
                <a:off x="5939184" y="2863949"/>
                <a:ext cx="279243"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S</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112" name="Text Box 33">
                <a:extLst>
                  <a:ext uri="{FF2B5EF4-FFF2-40B4-BE49-F238E27FC236}">
                    <a16:creationId xmlns:a16="http://schemas.microsoft.com/office/drawing/2014/main" id="{4835EFCA-3EC6-3040-AA54-B10AD772E111}"/>
                  </a:ext>
                </a:extLst>
              </p:cNvPr>
              <p:cNvSpPr txBox="1">
                <a:spLocks noChangeArrowheads="1"/>
              </p:cNvSpPr>
              <p:nvPr/>
            </p:nvSpPr>
            <p:spPr bwMode="auto">
              <a:xfrm>
                <a:off x="5775299" y="2863950"/>
                <a:ext cx="296876"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R</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grpSp>
      <p:grpSp>
        <p:nvGrpSpPr>
          <p:cNvPr id="25" name="Group 24">
            <a:extLst>
              <a:ext uri="{FF2B5EF4-FFF2-40B4-BE49-F238E27FC236}">
                <a16:creationId xmlns:a16="http://schemas.microsoft.com/office/drawing/2014/main" id="{3AF86AF7-F0A9-0D49-BD66-0BCBA2EFC273}"/>
              </a:ext>
            </a:extLst>
          </p:cNvPr>
          <p:cNvGrpSpPr/>
          <p:nvPr/>
        </p:nvGrpSpPr>
        <p:grpSpPr>
          <a:xfrm>
            <a:off x="5277007" y="2859957"/>
            <a:ext cx="2976178" cy="719405"/>
            <a:chOff x="5277007" y="2859957"/>
            <a:chExt cx="2976178" cy="719405"/>
          </a:xfrm>
        </p:grpSpPr>
        <p:sp>
          <p:nvSpPr>
            <p:cNvPr id="81" name="Text Box 23">
              <a:extLst>
                <a:ext uri="{FF2B5EF4-FFF2-40B4-BE49-F238E27FC236}">
                  <a16:creationId xmlns:a16="http://schemas.microsoft.com/office/drawing/2014/main" id="{81D77D1D-D542-E748-880E-847E52816584}"/>
                </a:ext>
              </a:extLst>
            </p:cNvPr>
            <p:cNvSpPr txBox="1">
              <a:spLocks noChangeArrowheads="1"/>
            </p:cNvSpPr>
            <p:nvPr/>
          </p:nvSpPr>
          <p:spPr bwMode="auto">
            <a:xfrm>
              <a:off x="6430735" y="3212649"/>
              <a:ext cx="182245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err="1">
                  <a:ln>
                    <a:noFill/>
                  </a:ln>
                  <a:solidFill>
                    <a:prstClr val="white">
                      <a:lumMod val="75000"/>
                    </a:prstClr>
                  </a:solidFill>
                  <a:effectLst/>
                  <a:uLnTx/>
                  <a:uFillTx/>
                  <a:latin typeface="Arial" charset="0"/>
                  <a:ea typeface="ＭＳ Ｐゴシック" charset="0"/>
                  <a:cs typeface="+mn-cs"/>
                </a:rPr>
                <a:t>Urg</a:t>
              </a:r>
              <a:r>
                <a:rPr kumimoji="0" lang="en-US" sz="1800" b="0" i="0" u="none" strike="noStrike" kern="1200" cap="none" spc="0" normalizeH="0" baseline="0" noProof="0" dirty="0">
                  <a:ln>
                    <a:noFill/>
                  </a:ln>
                  <a:solidFill>
                    <a:prstClr val="white">
                      <a:lumMod val="75000"/>
                    </a:prstClr>
                  </a:solidFill>
                  <a:effectLst/>
                  <a:uLnTx/>
                  <a:uFillTx/>
                  <a:latin typeface="Arial" charset="0"/>
                  <a:ea typeface="ＭＳ Ｐゴシック" charset="0"/>
                  <a:cs typeface="+mn-cs"/>
                </a:rPr>
                <a:t> data pointer</a:t>
              </a:r>
            </a:p>
          </p:txBody>
        </p:sp>
        <p:grpSp>
          <p:nvGrpSpPr>
            <p:cNvPr id="20" name="Group 19">
              <a:extLst>
                <a:ext uri="{FF2B5EF4-FFF2-40B4-BE49-F238E27FC236}">
                  <a16:creationId xmlns:a16="http://schemas.microsoft.com/office/drawing/2014/main" id="{B4F94C5D-E8AA-B440-8C55-70C383D81C15}"/>
                </a:ext>
              </a:extLst>
            </p:cNvPr>
            <p:cNvGrpSpPr/>
            <p:nvPr/>
          </p:nvGrpSpPr>
          <p:grpSpPr>
            <a:xfrm>
              <a:off x="5277007" y="2859957"/>
              <a:ext cx="627836" cy="345695"/>
              <a:chOff x="5527528" y="3067992"/>
              <a:chExt cx="627836" cy="345695"/>
            </a:xfrm>
          </p:grpSpPr>
          <p:sp>
            <p:nvSpPr>
              <p:cNvPr id="114" name="Text Box 34">
                <a:extLst>
                  <a:ext uri="{FF2B5EF4-FFF2-40B4-BE49-F238E27FC236}">
                    <a16:creationId xmlns:a16="http://schemas.microsoft.com/office/drawing/2014/main" id="{7FD0470F-0A1F-AA4D-A333-01EBF41CDBEA}"/>
                  </a:ext>
                </a:extLst>
              </p:cNvPr>
              <p:cNvSpPr txBox="1">
                <a:spLocks noChangeArrowheads="1"/>
              </p:cNvSpPr>
              <p:nvPr/>
            </p:nvSpPr>
            <p:spPr bwMode="auto">
              <a:xfrm>
                <a:off x="5864900" y="3067992"/>
                <a:ext cx="290464"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rPr>
                  <a:t>P</a:t>
                </a:r>
                <a:endParaRPr kumimoji="0" lang="en-US" sz="24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endParaRPr>
              </a:p>
            </p:txBody>
          </p:sp>
          <p:sp>
            <p:nvSpPr>
              <p:cNvPr id="120" name="Text Box 36">
                <a:extLst>
                  <a:ext uri="{FF2B5EF4-FFF2-40B4-BE49-F238E27FC236}">
                    <a16:creationId xmlns:a16="http://schemas.microsoft.com/office/drawing/2014/main" id="{B48CC928-18A3-8E4E-944E-47C0F754B01D}"/>
                  </a:ext>
                </a:extLst>
              </p:cNvPr>
              <p:cNvSpPr txBox="1">
                <a:spLocks noChangeArrowheads="1"/>
              </p:cNvSpPr>
              <p:nvPr/>
            </p:nvSpPr>
            <p:spPr bwMode="auto">
              <a:xfrm>
                <a:off x="5527528" y="3075133"/>
                <a:ext cx="316112"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rPr>
                  <a:t>U</a:t>
                </a:r>
                <a:endParaRPr kumimoji="0" lang="en-US" sz="24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endParaRPr>
              </a:p>
            </p:txBody>
          </p:sp>
        </p:grpSp>
      </p:grpSp>
      <p:sp>
        <p:nvSpPr>
          <p:cNvPr id="83" name="Line 39">
            <a:extLst>
              <a:ext uri="{FF2B5EF4-FFF2-40B4-BE49-F238E27FC236}">
                <a16:creationId xmlns:a16="http://schemas.microsoft.com/office/drawing/2014/main" id="{392B7123-3C26-1749-8AFA-C33B254E566D}"/>
              </a:ext>
            </a:extLst>
          </p:cNvPr>
          <p:cNvSpPr>
            <a:spLocks noChangeShapeType="1"/>
          </p:cNvSpPr>
          <p:nvPr/>
        </p:nvSpPr>
        <p:spPr bwMode="auto">
          <a:xfrm flipV="1">
            <a:off x="5038305" y="2821148"/>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90" name="Line 39">
            <a:extLst>
              <a:ext uri="{FF2B5EF4-FFF2-40B4-BE49-F238E27FC236}">
                <a16:creationId xmlns:a16="http://schemas.microsoft.com/office/drawing/2014/main" id="{7076B497-C69A-EF44-9C73-7365E43E17C4}"/>
              </a:ext>
            </a:extLst>
          </p:cNvPr>
          <p:cNvSpPr>
            <a:spLocks noChangeShapeType="1"/>
          </p:cNvSpPr>
          <p:nvPr/>
        </p:nvSpPr>
        <p:spPr bwMode="auto">
          <a:xfrm flipV="1">
            <a:off x="5198693" y="2812182"/>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grpSp>
        <p:nvGrpSpPr>
          <p:cNvPr id="21" name="Group 20">
            <a:extLst>
              <a:ext uri="{FF2B5EF4-FFF2-40B4-BE49-F238E27FC236}">
                <a16:creationId xmlns:a16="http://schemas.microsoft.com/office/drawing/2014/main" id="{EDC6B1EF-A64F-C94C-81C5-7457A0FFD99A}"/>
              </a:ext>
            </a:extLst>
          </p:cNvPr>
          <p:cNvGrpSpPr/>
          <p:nvPr/>
        </p:nvGrpSpPr>
        <p:grpSpPr>
          <a:xfrm>
            <a:off x="182880" y="2863950"/>
            <a:ext cx="5235245" cy="1390074"/>
            <a:chOff x="182880" y="2863950"/>
            <a:chExt cx="5235245" cy="1390074"/>
          </a:xfrm>
        </p:grpSpPr>
        <p:grpSp>
          <p:nvGrpSpPr>
            <p:cNvPr id="18" name="Group 17">
              <a:extLst>
                <a:ext uri="{FF2B5EF4-FFF2-40B4-BE49-F238E27FC236}">
                  <a16:creationId xmlns:a16="http://schemas.microsoft.com/office/drawing/2014/main" id="{A2C55822-331C-DB41-AB07-59E5BF177405}"/>
                </a:ext>
              </a:extLst>
            </p:cNvPr>
            <p:cNvGrpSpPr/>
            <p:nvPr/>
          </p:nvGrpSpPr>
          <p:grpSpPr>
            <a:xfrm>
              <a:off x="4962499" y="2863950"/>
              <a:ext cx="455626" cy="338554"/>
              <a:chOff x="4962499" y="2863950"/>
              <a:chExt cx="455626" cy="338554"/>
            </a:xfrm>
          </p:grpSpPr>
          <p:sp>
            <p:nvSpPr>
              <p:cNvPr id="91" name="Text Box 33">
                <a:extLst>
                  <a:ext uri="{FF2B5EF4-FFF2-40B4-BE49-F238E27FC236}">
                    <a16:creationId xmlns:a16="http://schemas.microsoft.com/office/drawing/2014/main" id="{C85C82AE-5A3B-EC47-8EA4-C0FA0727D048}"/>
                  </a:ext>
                </a:extLst>
              </p:cNvPr>
              <p:cNvSpPr txBox="1">
                <a:spLocks noChangeArrowheads="1"/>
              </p:cNvSpPr>
              <p:nvPr/>
            </p:nvSpPr>
            <p:spPr bwMode="auto">
              <a:xfrm>
                <a:off x="4962499" y="2863950"/>
                <a:ext cx="296876"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C</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2" name="Text Box 33">
                <a:extLst>
                  <a:ext uri="{FF2B5EF4-FFF2-40B4-BE49-F238E27FC236}">
                    <a16:creationId xmlns:a16="http://schemas.microsoft.com/office/drawing/2014/main" id="{D8D1B074-0355-2942-9977-4413DF7E41C7}"/>
                  </a:ext>
                </a:extLst>
              </p:cNvPr>
              <p:cNvSpPr txBox="1">
                <a:spLocks noChangeArrowheads="1"/>
              </p:cNvSpPr>
              <p:nvPr/>
            </p:nvSpPr>
            <p:spPr bwMode="auto">
              <a:xfrm>
                <a:off x="5121249" y="2863950"/>
                <a:ext cx="296876"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E</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sp>
          <p:nvSpPr>
            <p:cNvPr id="103" name="Text Box 44">
              <a:extLst>
                <a:ext uri="{FF2B5EF4-FFF2-40B4-BE49-F238E27FC236}">
                  <a16:creationId xmlns:a16="http://schemas.microsoft.com/office/drawing/2014/main" id="{8DAB804F-166B-0D4B-8089-4B58E3A0811F}"/>
                </a:ext>
              </a:extLst>
            </p:cNvPr>
            <p:cNvSpPr txBox="1">
              <a:spLocks noChangeArrowheads="1"/>
            </p:cNvSpPr>
            <p:nvPr/>
          </p:nvSpPr>
          <p:spPr bwMode="auto">
            <a:xfrm>
              <a:off x="182880" y="3829292"/>
              <a:ext cx="3384479"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 E: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congestion notification</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0" name="Freeform 48">
              <a:extLst>
                <a:ext uri="{FF2B5EF4-FFF2-40B4-BE49-F238E27FC236}">
                  <a16:creationId xmlns:a16="http://schemas.microsoft.com/office/drawing/2014/main" id="{7103D547-1AEC-9743-8B26-22B579AF1CE1}"/>
                </a:ext>
              </a:extLst>
            </p:cNvPr>
            <p:cNvSpPr>
              <a:spLocks/>
            </p:cNvSpPr>
            <p:nvPr/>
          </p:nvSpPr>
          <p:spPr bwMode="auto">
            <a:xfrm>
              <a:off x="3573195" y="3136684"/>
              <a:ext cx="1749482" cy="914811"/>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391"/>
                <a:gd name="connsiteY0" fmla="*/ 28743 h 28743"/>
                <a:gd name="connsiteX1" fmla="*/ 6388 w 11391"/>
                <a:gd name="connsiteY1" fmla="*/ 0 h 28743"/>
                <a:gd name="connsiteX2" fmla="*/ 11391 w 11391"/>
                <a:gd name="connsiteY2" fmla="*/ 49 h 28743"/>
                <a:gd name="connsiteX0" fmla="*/ 0 w 7455"/>
                <a:gd name="connsiteY0" fmla="*/ 28792 h 28792"/>
                <a:gd name="connsiteX1" fmla="*/ 6388 w 7455"/>
                <a:gd name="connsiteY1" fmla="*/ 49 h 28792"/>
                <a:gd name="connsiteX2" fmla="*/ 7455 w 7455"/>
                <a:gd name="connsiteY2" fmla="*/ 0 h 28792"/>
                <a:gd name="connsiteX0" fmla="*/ 0 w 9679"/>
                <a:gd name="connsiteY0" fmla="*/ 9983 h 9983"/>
                <a:gd name="connsiteX1" fmla="*/ 8569 w 9679"/>
                <a:gd name="connsiteY1" fmla="*/ 0 h 9983"/>
                <a:gd name="connsiteX2" fmla="*/ 9679 w 9679"/>
                <a:gd name="connsiteY2" fmla="*/ 34 h 9983"/>
                <a:gd name="connsiteX0" fmla="*/ 0 w 10062"/>
                <a:gd name="connsiteY0" fmla="*/ 10017 h 10017"/>
                <a:gd name="connsiteX1" fmla="*/ 8853 w 10062"/>
                <a:gd name="connsiteY1" fmla="*/ 17 h 10017"/>
                <a:gd name="connsiteX2" fmla="*/ 10062 w 10062"/>
                <a:gd name="connsiteY2" fmla="*/ 0 h 10017"/>
              </a:gdLst>
              <a:ahLst/>
              <a:cxnLst>
                <a:cxn ang="0">
                  <a:pos x="connsiteX0" y="connsiteY0"/>
                </a:cxn>
                <a:cxn ang="0">
                  <a:pos x="connsiteX1" y="connsiteY1"/>
                </a:cxn>
                <a:cxn ang="0">
                  <a:pos x="connsiteX2" y="connsiteY2"/>
                </a:cxn>
              </a:cxnLst>
              <a:rect l="l" t="t" r="r" b="b"/>
              <a:pathLst>
                <a:path w="10062" h="10017">
                  <a:moveTo>
                    <a:pt x="0" y="10017"/>
                  </a:moveTo>
                  <a:lnTo>
                    <a:pt x="8853" y="17"/>
                  </a:lnTo>
                  <a:lnTo>
                    <a:pt x="10062"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4" name="Slide Number Placeholder 2">
            <a:extLst>
              <a:ext uri="{FF2B5EF4-FFF2-40B4-BE49-F238E27FC236}">
                <a16:creationId xmlns:a16="http://schemas.microsoft.com/office/drawing/2014/main" id="{A3EE5CD7-E8F0-2F4B-B766-7EC8F235C30A}"/>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5</a:t>
            </a:fld>
            <a:endParaRPr lang="en-US" dirty="0"/>
          </a:p>
        </p:txBody>
      </p:sp>
    </p:spTree>
    <p:extLst>
      <p:ext uri="{BB962C8B-B14F-4D97-AF65-F5344CB8AC3E}">
        <p14:creationId xmlns:p14="http://schemas.microsoft.com/office/powerpoint/2010/main" val="1761510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9"/>
                                        </p:tgtEl>
                                        <p:attrNameLst>
                                          <p:attrName>style.visibility</p:attrName>
                                        </p:attrNameLst>
                                      </p:cBhvr>
                                      <p:to>
                                        <p:strVal val="visible"/>
                                      </p:to>
                                    </p:set>
                                    <p:animEffect transition="in" filter="dissolve">
                                      <p:cBhvr>
                                        <p:cTn id="22" dur="500"/>
                                        <p:tgtEl>
                                          <p:spTgt spid="12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dissolv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15"/>
                                        </p:tgtEl>
                                        <p:attrNameLst>
                                          <p:attrName>style.visibility</p:attrName>
                                        </p:attrNameLst>
                                      </p:cBhvr>
                                      <p:to>
                                        <p:strVal val="visible"/>
                                      </p:to>
                                    </p:set>
                                    <p:animEffect transition="in" filter="dissolve">
                                      <p:cBhvr>
                                        <p:cTn id="47" dur="500"/>
                                        <p:tgtEl>
                                          <p:spTgt spid="11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dissolve">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dissolv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sequence numbers, ACKs</a:t>
            </a:r>
            <a:endParaRPr lang="en-US" sz="4400" b="0" dirty="0"/>
          </a:p>
        </p:txBody>
      </p:sp>
      <p:sp>
        <p:nvSpPr>
          <p:cNvPr id="223" name="Rectangle 5">
            <a:extLst>
              <a:ext uri="{FF2B5EF4-FFF2-40B4-BE49-F238E27FC236}">
                <a16:creationId xmlns:a16="http://schemas.microsoft.com/office/drawing/2014/main" id="{D2976065-03BB-9A44-9CEB-93BE9CAA88A6}"/>
              </a:ext>
            </a:extLst>
          </p:cNvPr>
          <p:cNvSpPr txBox="1">
            <a:spLocks noChangeArrowheads="1"/>
          </p:cNvSpPr>
          <p:nvPr/>
        </p:nvSpPr>
        <p:spPr bwMode="auto">
          <a:xfrm>
            <a:off x="715171" y="1355712"/>
            <a:ext cx="5096669" cy="1311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en-US" sz="28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Sequence numbers:</a:t>
            </a:r>
          </a:p>
          <a:p>
            <a:pPr marL="635000" marR="0" lvl="1" indent="-277813"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byte stream “</a:t>
            </a:r>
            <a:r>
              <a:rPr kumimoji="0" lang="en-US" altLang="ja-JP"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number” of first byte in segment’s data</a:t>
            </a:r>
            <a:endParaRPr kumimoji="0" lang="en-US" altLang="ja-JP"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224" name="Group 192">
            <a:extLst>
              <a:ext uri="{FF2B5EF4-FFF2-40B4-BE49-F238E27FC236}">
                <a16:creationId xmlns:a16="http://schemas.microsoft.com/office/drawing/2014/main" id="{9FCDCC73-BB43-8046-8E2C-1100B11E1F9D}"/>
              </a:ext>
            </a:extLst>
          </p:cNvPr>
          <p:cNvGrpSpPr>
            <a:grpSpLocks/>
          </p:cNvGrpSpPr>
          <p:nvPr/>
        </p:nvGrpSpPr>
        <p:grpSpPr bwMode="auto">
          <a:xfrm>
            <a:off x="7783528" y="3989281"/>
            <a:ext cx="3086106" cy="2541588"/>
            <a:chOff x="3520" y="2404"/>
            <a:chExt cx="1944" cy="1601"/>
          </a:xfrm>
        </p:grpSpPr>
        <p:sp>
          <p:nvSpPr>
            <p:cNvPr id="225" name="Rectangle 167">
              <a:extLst>
                <a:ext uri="{FF2B5EF4-FFF2-40B4-BE49-F238E27FC236}">
                  <a16:creationId xmlns:a16="http://schemas.microsoft.com/office/drawing/2014/main" id="{9463A16E-CF3F-744B-B6DB-33800BAB4519}"/>
                </a:ext>
              </a:extLst>
            </p:cNvPr>
            <p:cNvSpPr>
              <a:spLocks noChangeArrowheads="1"/>
            </p:cNvSpPr>
            <p:nvPr/>
          </p:nvSpPr>
          <p:spPr bwMode="auto">
            <a:xfrm>
              <a:off x="3755" y="3589"/>
              <a:ext cx="1202" cy="130"/>
            </a:xfrm>
            <a:prstGeom prst="rect">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6" name="Group 148">
              <a:extLst>
                <a:ext uri="{FF2B5EF4-FFF2-40B4-BE49-F238E27FC236}">
                  <a16:creationId xmlns:a16="http://schemas.microsoft.com/office/drawing/2014/main" id="{841F4166-2762-C948-9842-0D47AF0FC7F8}"/>
                </a:ext>
              </a:extLst>
            </p:cNvPr>
            <p:cNvGrpSpPr>
              <a:grpSpLocks/>
            </p:cNvGrpSpPr>
            <p:nvPr/>
          </p:nvGrpSpPr>
          <p:grpSpPr bwMode="auto">
            <a:xfrm>
              <a:off x="3731" y="3291"/>
              <a:ext cx="1252" cy="714"/>
              <a:chOff x="1974" y="2984"/>
              <a:chExt cx="1252" cy="714"/>
            </a:xfrm>
          </p:grpSpPr>
          <p:sp>
            <p:nvSpPr>
              <p:cNvPr id="229" name="Rectangle 149">
                <a:extLst>
                  <a:ext uri="{FF2B5EF4-FFF2-40B4-BE49-F238E27FC236}">
                    <a16:creationId xmlns:a16="http://schemas.microsoft.com/office/drawing/2014/main" id="{6E7D0693-0288-9A4A-9FBC-6B90B9B96584}"/>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0" name="Text Box 150">
                <a:extLst>
                  <a:ext uri="{FF2B5EF4-FFF2-40B4-BE49-F238E27FC236}">
                    <a16:creationId xmlns:a16="http://schemas.microsoft.com/office/drawing/2014/main" id="{62697352-4BED-A64F-8830-504FE043B5D0}"/>
                  </a:ext>
                </a:extLst>
              </p:cNvPr>
              <p:cNvSpPr txBox="1">
                <a:spLocks noChangeArrowheads="1"/>
              </p:cNvSpPr>
              <p:nvPr/>
            </p:nvSpPr>
            <p:spPr bwMode="auto">
              <a:xfrm>
                <a:off x="2001" y="2984"/>
                <a:ext cx="580"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source port #</a:t>
                </a:r>
              </a:p>
            </p:txBody>
          </p:sp>
          <p:sp>
            <p:nvSpPr>
              <p:cNvPr id="231" name="Text Box 151">
                <a:extLst>
                  <a:ext uri="{FF2B5EF4-FFF2-40B4-BE49-F238E27FC236}">
                    <a16:creationId xmlns:a16="http://schemas.microsoft.com/office/drawing/2014/main" id="{2C0BFF63-7DCB-6D4D-AF9A-56894AAAD824}"/>
                  </a:ext>
                </a:extLst>
              </p:cNvPr>
              <p:cNvSpPr txBox="1">
                <a:spLocks noChangeArrowheads="1"/>
              </p:cNvSpPr>
              <p:nvPr/>
            </p:nvSpPr>
            <p:spPr bwMode="auto">
              <a:xfrm>
                <a:off x="2648" y="2987"/>
                <a:ext cx="491"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dest port #</a:t>
                </a:r>
              </a:p>
            </p:txBody>
          </p:sp>
          <p:sp>
            <p:nvSpPr>
              <p:cNvPr id="232" name="Text Box 152">
                <a:extLst>
                  <a:ext uri="{FF2B5EF4-FFF2-40B4-BE49-F238E27FC236}">
                    <a16:creationId xmlns:a16="http://schemas.microsoft.com/office/drawing/2014/main" id="{69698EB5-AC5E-124A-AB12-0B1B72742F02}"/>
                  </a:ext>
                </a:extLst>
              </p:cNvPr>
              <p:cNvSpPr txBox="1">
                <a:spLocks noChangeArrowheads="1"/>
              </p:cNvSpPr>
              <p:nvPr/>
            </p:nvSpPr>
            <p:spPr bwMode="auto">
              <a:xfrm>
                <a:off x="2154" y="3117"/>
                <a:ext cx="912"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sequence number</a:t>
                </a:r>
              </a:p>
            </p:txBody>
          </p:sp>
          <p:sp>
            <p:nvSpPr>
              <p:cNvPr id="233" name="Text Box 153">
                <a:extLst>
                  <a:ext uri="{FF2B5EF4-FFF2-40B4-BE49-F238E27FC236}">
                    <a16:creationId xmlns:a16="http://schemas.microsoft.com/office/drawing/2014/main" id="{697ADB2B-E096-7A41-ACDA-9E058B2EFF5D}"/>
                  </a:ext>
                </a:extLst>
              </p:cNvPr>
              <p:cNvSpPr txBox="1">
                <a:spLocks noChangeArrowheads="1"/>
              </p:cNvSpPr>
              <p:nvPr/>
            </p:nvSpPr>
            <p:spPr bwMode="auto">
              <a:xfrm>
                <a:off x="1974" y="3257"/>
                <a:ext cx="1252"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charset="0"/>
                    <a:ea typeface="ＭＳ Ｐゴシック" charset="0"/>
                    <a:cs typeface="+mn-cs"/>
                  </a:rPr>
                  <a:t>acknowledgement number</a:t>
                </a:r>
              </a:p>
            </p:txBody>
          </p:sp>
          <p:sp>
            <p:nvSpPr>
              <p:cNvPr id="234" name="Text Box 154">
                <a:extLst>
                  <a:ext uri="{FF2B5EF4-FFF2-40B4-BE49-F238E27FC236}">
                    <a16:creationId xmlns:a16="http://schemas.microsoft.com/office/drawing/2014/main" id="{FD66858C-8D5E-8443-9F2A-57EB759D3EFB}"/>
                  </a:ext>
                </a:extLst>
              </p:cNvPr>
              <p:cNvSpPr txBox="1">
                <a:spLocks noChangeArrowheads="1"/>
              </p:cNvSpPr>
              <p:nvPr/>
            </p:nvSpPr>
            <p:spPr bwMode="auto">
              <a:xfrm>
                <a:off x="2053" y="3544"/>
                <a:ext cx="475"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checksum</a:t>
                </a:r>
              </a:p>
            </p:txBody>
          </p:sp>
          <p:sp>
            <p:nvSpPr>
              <p:cNvPr id="235" name="Line 155">
                <a:extLst>
                  <a:ext uri="{FF2B5EF4-FFF2-40B4-BE49-F238E27FC236}">
                    <a16:creationId xmlns:a16="http://schemas.microsoft.com/office/drawing/2014/main" id="{3FFD0288-879C-5D4E-AB0C-3445A5A97975}"/>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6" name="Line 156">
                <a:extLst>
                  <a:ext uri="{FF2B5EF4-FFF2-40B4-BE49-F238E27FC236}">
                    <a16:creationId xmlns:a16="http://schemas.microsoft.com/office/drawing/2014/main" id="{258401F9-F43D-C344-A200-772A5E1E1CB6}"/>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Line 157">
                <a:extLst>
                  <a:ext uri="{FF2B5EF4-FFF2-40B4-BE49-F238E27FC236}">
                    <a16:creationId xmlns:a16="http://schemas.microsoft.com/office/drawing/2014/main" id="{1E8AD451-7070-4243-A92C-2F6573F9406B}"/>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8" name="Line 158">
                <a:extLst>
                  <a:ext uri="{FF2B5EF4-FFF2-40B4-BE49-F238E27FC236}">
                    <a16:creationId xmlns:a16="http://schemas.microsoft.com/office/drawing/2014/main" id="{A4BD4C96-4E2A-074E-8E46-E4BF76EDD858}"/>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9" name="Line 159">
                <a:extLst>
                  <a:ext uri="{FF2B5EF4-FFF2-40B4-BE49-F238E27FC236}">
                    <a16:creationId xmlns:a16="http://schemas.microsoft.com/office/drawing/2014/main" id="{2153A22B-2E95-B947-A87C-50991B8DBA5D}"/>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Line 160">
                <a:extLst>
                  <a:ext uri="{FF2B5EF4-FFF2-40B4-BE49-F238E27FC236}">
                    <a16:creationId xmlns:a16="http://schemas.microsoft.com/office/drawing/2014/main" id="{BE256B00-4CFB-254F-8432-198CA45B2CAE}"/>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1" name="Text Box 161">
                <a:extLst>
                  <a:ext uri="{FF2B5EF4-FFF2-40B4-BE49-F238E27FC236}">
                    <a16:creationId xmlns:a16="http://schemas.microsoft.com/office/drawing/2014/main" id="{B0718275-925B-4143-80DA-87B335709565}"/>
                  </a:ext>
                </a:extLst>
              </p:cNvPr>
              <p:cNvSpPr txBox="1">
                <a:spLocks noChangeArrowheads="1"/>
              </p:cNvSpPr>
              <p:nvPr/>
            </p:nvSpPr>
            <p:spPr bwMode="auto">
              <a:xfrm>
                <a:off x="2708" y="3390"/>
                <a:ext cx="323"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rwnd</a:t>
                </a:r>
              </a:p>
            </p:txBody>
          </p:sp>
          <p:sp>
            <p:nvSpPr>
              <p:cNvPr id="242" name="Text Box 162">
                <a:extLst>
                  <a:ext uri="{FF2B5EF4-FFF2-40B4-BE49-F238E27FC236}">
                    <a16:creationId xmlns:a16="http://schemas.microsoft.com/office/drawing/2014/main" id="{539F6CE1-CE5E-234B-9AFA-A6F230193072}"/>
                  </a:ext>
                </a:extLst>
              </p:cNvPr>
              <p:cNvSpPr txBox="1">
                <a:spLocks noChangeArrowheads="1"/>
              </p:cNvSpPr>
              <p:nvPr/>
            </p:nvSpPr>
            <p:spPr bwMode="auto">
              <a:xfrm>
                <a:off x="2651" y="3544"/>
                <a:ext cx="496"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urg pointer</a:t>
                </a:r>
              </a:p>
            </p:txBody>
          </p:sp>
          <p:sp>
            <p:nvSpPr>
              <p:cNvPr id="243" name="Line 163">
                <a:extLst>
                  <a:ext uri="{FF2B5EF4-FFF2-40B4-BE49-F238E27FC236}">
                    <a16:creationId xmlns:a16="http://schemas.microsoft.com/office/drawing/2014/main" id="{6A1FC325-C1C9-E145-AB86-EB4CA77AB42D}"/>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Line 164">
                <a:extLst>
                  <a:ext uri="{FF2B5EF4-FFF2-40B4-BE49-F238E27FC236}">
                    <a16:creationId xmlns:a16="http://schemas.microsoft.com/office/drawing/2014/main" id="{A57D4AEC-EA9B-6441-B943-116E0B65541F}"/>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7" name="Text Box 166">
              <a:extLst>
                <a:ext uri="{FF2B5EF4-FFF2-40B4-BE49-F238E27FC236}">
                  <a16:creationId xmlns:a16="http://schemas.microsoft.com/office/drawing/2014/main" id="{A11A42A2-3DE7-8749-BEFC-4B12DFD4E911}"/>
                </a:ext>
              </a:extLst>
            </p:cNvPr>
            <p:cNvSpPr txBox="1">
              <a:spLocks noChangeArrowheads="1"/>
            </p:cNvSpPr>
            <p:nvPr/>
          </p:nvSpPr>
          <p:spPr bwMode="auto">
            <a:xfrm>
              <a:off x="3520" y="3092"/>
              <a:ext cx="1944"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outgoing segment from receiver</a:t>
              </a:r>
            </a:p>
          </p:txBody>
        </p:sp>
        <p:sp>
          <p:nvSpPr>
            <p:cNvPr id="228" name="Freeform 168">
              <a:extLst>
                <a:ext uri="{FF2B5EF4-FFF2-40B4-BE49-F238E27FC236}">
                  <a16:creationId xmlns:a16="http://schemas.microsoft.com/office/drawing/2014/main" id="{06FB8DE4-FF8B-2A4C-9587-9B7067BCC3D8}"/>
                </a:ext>
              </a:extLst>
            </p:cNvPr>
            <p:cNvSpPr>
              <a:spLocks/>
            </p:cNvSpPr>
            <p:nvPr/>
          </p:nvSpPr>
          <p:spPr bwMode="auto">
            <a:xfrm flipH="1" flipV="1">
              <a:off x="3599" y="2404"/>
              <a:ext cx="107" cy="1194"/>
            </a:xfrm>
            <a:custGeom>
              <a:avLst/>
              <a:gdLst>
                <a:gd name="T0" fmla="*/ 0 w 107"/>
                <a:gd name="T1" fmla="*/ 0 h 910"/>
                <a:gd name="T2" fmla="*/ 107 w 107"/>
                <a:gd name="T3" fmla="*/ 0 h 910"/>
                <a:gd name="T4" fmla="*/ 107 w 107"/>
                <a:gd name="T5" fmla="*/ 13768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45" name="Group 195">
            <a:extLst>
              <a:ext uri="{FF2B5EF4-FFF2-40B4-BE49-F238E27FC236}">
                <a16:creationId xmlns:a16="http://schemas.microsoft.com/office/drawing/2014/main" id="{B37D7216-C212-C843-A667-53A7C0B847CF}"/>
              </a:ext>
            </a:extLst>
          </p:cNvPr>
          <p:cNvGrpSpPr>
            <a:grpSpLocks/>
          </p:cNvGrpSpPr>
          <p:nvPr/>
        </p:nvGrpSpPr>
        <p:grpSpPr bwMode="auto">
          <a:xfrm>
            <a:off x="8685214" y="6022869"/>
            <a:ext cx="358775" cy="304800"/>
            <a:chOff x="5144" y="3677"/>
            <a:chExt cx="226" cy="192"/>
          </a:xfrm>
        </p:grpSpPr>
        <p:sp>
          <p:nvSpPr>
            <p:cNvPr id="246" name="Rectangle 194">
              <a:extLst>
                <a:ext uri="{FF2B5EF4-FFF2-40B4-BE49-F238E27FC236}">
                  <a16:creationId xmlns:a16="http://schemas.microsoft.com/office/drawing/2014/main" id="{43AFBFF1-B1C6-C147-BB51-D67A053105CA}"/>
                </a:ext>
              </a:extLst>
            </p:cNvPr>
            <p:cNvSpPr>
              <a:spLocks noChangeArrowheads="1"/>
            </p:cNvSpPr>
            <p:nvPr/>
          </p:nvSpPr>
          <p:spPr bwMode="auto">
            <a:xfrm>
              <a:off x="5212" y="3716"/>
              <a:ext cx="88" cy="130"/>
            </a:xfrm>
            <a:prstGeom prst="rect">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47" name="Text Box 193">
              <a:extLst>
                <a:ext uri="{FF2B5EF4-FFF2-40B4-BE49-F238E27FC236}">
                  <a16:creationId xmlns:a16="http://schemas.microsoft.com/office/drawing/2014/main" id="{BF6FCEAE-49B5-A041-A298-4CB690E54688}"/>
                </a:ext>
              </a:extLst>
            </p:cNvPr>
            <p:cNvSpPr txBox="1">
              <a:spLocks noChangeArrowheads="1"/>
            </p:cNvSpPr>
            <p:nvPr/>
          </p:nvSpPr>
          <p:spPr bwMode="auto">
            <a:xfrm>
              <a:off x="5144" y="3677"/>
              <a:ext cx="22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charset="0"/>
                  <a:ea typeface="ＭＳ Ｐゴシック" charset="0"/>
                  <a:cs typeface="+mn-cs"/>
                </a:rPr>
                <a:t>A</a:t>
              </a:r>
            </a:p>
          </p:txBody>
        </p:sp>
      </p:grpSp>
      <p:sp>
        <p:nvSpPr>
          <p:cNvPr id="248" name="Rectangle 37">
            <a:extLst>
              <a:ext uri="{FF2B5EF4-FFF2-40B4-BE49-F238E27FC236}">
                <a16:creationId xmlns:a16="http://schemas.microsoft.com/office/drawing/2014/main" id="{A8678432-C6E0-9045-9DFE-9E95FBC24301}"/>
              </a:ext>
            </a:extLst>
          </p:cNvPr>
          <p:cNvSpPr>
            <a:spLocks noChangeArrowheads="1"/>
          </p:cNvSpPr>
          <p:nvPr/>
        </p:nvSpPr>
        <p:spPr bwMode="auto">
          <a:xfrm>
            <a:off x="6835777" y="3123626"/>
            <a:ext cx="65087" cy="622300"/>
          </a:xfrm>
          <a:prstGeom prst="rect">
            <a:avLst/>
          </a:prstGeom>
          <a:gradFill rotWithShape="1">
            <a:gsLst>
              <a:gs pos="0">
                <a:srgbClr val="FFFFFF"/>
              </a:gs>
              <a:gs pos="100000">
                <a:srgbClr val="33CC33"/>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9" name="Rectangle 39">
            <a:extLst>
              <a:ext uri="{FF2B5EF4-FFF2-40B4-BE49-F238E27FC236}">
                <a16:creationId xmlns:a16="http://schemas.microsoft.com/office/drawing/2014/main" id="{92ADD221-F1C3-B645-92EB-9D1C9315A58A}"/>
              </a:ext>
            </a:extLst>
          </p:cNvPr>
          <p:cNvSpPr>
            <a:spLocks noChangeArrowheads="1"/>
          </p:cNvSpPr>
          <p:nvPr/>
        </p:nvSpPr>
        <p:spPr bwMode="auto">
          <a:xfrm>
            <a:off x="6932614" y="3125214"/>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0" name="Rectangle 40">
            <a:extLst>
              <a:ext uri="{FF2B5EF4-FFF2-40B4-BE49-F238E27FC236}">
                <a16:creationId xmlns:a16="http://schemas.microsoft.com/office/drawing/2014/main" id="{BB8D0EB3-2337-2A41-9EFC-CC44292E23D6}"/>
              </a:ext>
            </a:extLst>
          </p:cNvPr>
          <p:cNvSpPr>
            <a:spLocks noChangeArrowheads="1"/>
          </p:cNvSpPr>
          <p:nvPr/>
        </p:nvSpPr>
        <p:spPr bwMode="auto">
          <a:xfrm>
            <a:off x="7031039"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1" name="Rectangle 41">
            <a:extLst>
              <a:ext uri="{FF2B5EF4-FFF2-40B4-BE49-F238E27FC236}">
                <a16:creationId xmlns:a16="http://schemas.microsoft.com/office/drawing/2014/main" id="{08B40AAE-C4F3-B24B-A758-0CBE422C11F5}"/>
              </a:ext>
            </a:extLst>
          </p:cNvPr>
          <p:cNvSpPr>
            <a:spLocks noChangeArrowheads="1"/>
          </p:cNvSpPr>
          <p:nvPr/>
        </p:nvSpPr>
        <p:spPr bwMode="auto">
          <a:xfrm>
            <a:off x="7127877" y="3123626"/>
            <a:ext cx="65087"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2" name="Rectangle 42">
            <a:extLst>
              <a:ext uri="{FF2B5EF4-FFF2-40B4-BE49-F238E27FC236}">
                <a16:creationId xmlns:a16="http://schemas.microsoft.com/office/drawing/2014/main" id="{1B696D21-4399-C041-91DC-701FB61A0E4C}"/>
              </a:ext>
            </a:extLst>
          </p:cNvPr>
          <p:cNvSpPr>
            <a:spLocks noChangeArrowheads="1"/>
          </p:cNvSpPr>
          <p:nvPr/>
        </p:nvSpPr>
        <p:spPr bwMode="auto">
          <a:xfrm>
            <a:off x="7223127" y="3123626"/>
            <a:ext cx="65087"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3" name="Rectangle 43">
            <a:extLst>
              <a:ext uri="{FF2B5EF4-FFF2-40B4-BE49-F238E27FC236}">
                <a16:creationId xmlns:a16="http://schemas.microsoft.com/office/drawing/2014/main" id="{2CEBC228-9E7F-7E48-9C85-63629AFC09AA}"/>
              </a:ext>
            </a:extLst>
          </p:cNvPr>
          <p:cNvSpPr>
            <a:spLocks noChangeArrowheads="1"/>
          </p:cNvSpPr>
          <p:nvPr/>
        </p:nvSpPr>
        <p:spPr bwMode="auto">
          <a:xfrm>
            <a:off x="7319964"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4" name="Rectangle 45">
            <a:extLst>
              <a:ext uri="{FF2B5EF4-FFF2-40B4-BE49-F238E27FC236}">
                <a16:creationId xmlns:a16="http://schemas.microsoft.com/office/drawing/2014/main" id="{499D6101-0E72-764D-90A9-65FA5E9288DF}"/>
              </a:ext>
            </a:extLst>
          </p:cNvPr>
          <p:cNvSpPr>
            <a:spLocks noChangeArrowheads="1"/>
          </p:cNvSpPr>
          <p:nvPr/>
        </p:nvSpPr>
        <p:spPr bwMode="auto">
          <a:xfrm>
            <a:off x="7412039"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5" name="Rectangle 46">
            <a:extLst>
              <a:ext uri="{FF2B5EF4-FFF2-40B4-BE49-F238E27FC236}">
                <a16:creationId xmlns:a16="http://schemas.microsoft.com/office/drawing/2014/main" id="{69025D46-11EA-C34F-8D0D-7B789A5DBC95}"/>
              </a:ext>
            </a:extLst>
          </p:cNvPr>
          <p:cNvSpPr>
            <a:spLocks noChangeArrowheads="1"/>
          </p:cNvSpPr>
          <p:nvPr/>
        </p:nvSpPr>
        <p:spPr bwMode="auto">
          <a:xfrm>
            <a:off x="7507289"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6" name="Rectangle 47">
            <a:extLst>
              <a:ext uri="{FF2B5EF4-FFF2-40B4-BE49-F238E27FC236}">
                <a16:creationId xmlns:a16="http://schemas.microsoft.com/office/drawing/2014/main" id="{097282D2-CB09-6743-BD88-978413D66230}"/>
              </a:ext>
            </a:extLst>
          </p:cNvPr>
          <p:cNvSpPr>
            <a:spLocks noChangeArrowheads="1"/>
          </p:cNvSpPr>
          <p:nvPr/>
        </p:nvSpPr>
        <p:spPr bwMode="auto">
          <a:xfrm>
            <a:off x="7602539"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7" name="Rectangle 50">
            <a:extLst>
              <a:ext uri="{FF2B5EF4-FFF2-40B4-BE49-F238E27FC236}">
                <a16:creationId xmlns:a16="http://schemas.microsoft.com/office/drawing/2014/main" id="{C44BBA4A-C75F-6344-A7C0-80FA59F967B5}"/>
              </a:ext>
            </a:extLst>
          </p:cNvPr>
          <p:cNvSpPr>
            <a:spLocks noChangeArrowheads="1"/>
          </p:cNvSpPr>
          <p:nvPr/>
        </p:nvSpPr>
        <p:spPr bwMode="auto">
          <a:xfrm>
            <a:off x="7708902" y="3123626"/>
            <a:ext cx="65087"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8" name="Rectangle 51">
            <a:extLst>
              <a:ext uri="{FF2B5EF4-FFF2-40B4-BE49-F238E27FC236}">
                <a16:creationId xmlns:a16="http://schemas.microsoft.com/office/drawing/2014/main" id="{660EEC78-FF50-7445-8190-34F20263528D}"/>
              </a:ext>
            </a:extLst>
          </p:cNvPr>
          <p:cNvSpPr>
            <a:spLocks noChangeArrowheads="1"/>
          </p:cNvSpPr>
          <p:nvPr/>
        </p:nvSpPr>
        <p:spPr bwMode="auto">
          <a:xfrm>
            <a:off x="7807327" y="3125214"/>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9" name="Rectangle 52">
            <a:extLst>
              <a:ext uri="{FF2B5EF4-FFF2-40B4-BE49-F238E27FC236}">
                <a16:creationId xmlns:a16="http://schemas.microsoft.com/office/drawing/2014/main" id="{BF1D4EAF-3E48-E64D-A9F0-800C14DE416B}"/>
              </a:ext>
            </a:extLst>
          </p:cNvPr>
          <p:cNvSpPr>
            <a:spLocks noChangeArrowheads="1"/>
          </p:cNvSpPr>
          <p:nvPr/>
        </p:nvSpPr>
        <p:spPr bwMode="auto">
          <a:xfrm>
            <a:off x="7904164"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0" name="Rectangle 53">
            <a:extLst>
              <a:ext uri="{FF2B5EF4-FFF2-40B4-BE49-F238E27FC236}">
                <a16:creationId xmlns:a16="http://schemas.microsoft.com/office/drawing/2014/main" id="{7F7F3BD0-061B-0346-BC6C-7C752F28EF13}"/>
              </a:ext>
            </a:extLst>
          </p:cNvPr>
          <p:cNvSpPr>
            <a:spLocks noChangeArrowheads="1"/>
          </p:cNvSpPr>
          <p:nvPr/>
        </p:nvSpPr>
        <p:spPr bwMode="auto">
          <a:xfrm>
            <a:off x="8001002" y="3123626"/>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1" name="Rectangle 54">
            <a:extLst>
              <a:ext uri="{FF2B5EF4-FFF2-40B4-BE49-F238E27FC236}">
                <a16:creationId xmlns:a16="http://schemas.microsoft.com/office/drawing/2014/main" id="{1419AB61-44E3-7B43-ADE9-9DF5C9E18D93}"/>
              </a:ext>
            </a:extLst>
          </p:cNvPr>
          <p:cNvSpPr>
            <a:spLocks noChangeArrowheads="1"/>
          </p:cNvSpPr>
          <p:nvPr/>
        </p:nvSpPr>
        <p:spPr bwMode="auto">
          <a:xfrm>
            <a:off x="8097839"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2" name="Rectangle 55">
            <a:extLst>
              <a:ext uri="{FF2B5EF4-FFF2-40B4-BE49-F238E27FC236}">
                <a16:creationId xmlns:a16="http://schemas.microsoft.com/office/drawing/2014/main" id="{FA07924E-D97C-9E4F-9629-377D86F65D54}"/>
              </a:ext>
            </a:extLst>
          </p:cNvPr>
          <p:cNvSpPr>
            <a:spLocks noChangeArrowheads="1"/>
          </p:cNvSpPr>
          <p:nvPr/>
        </p:nvSpPr>
        <p:spPr bwMode="auto">
          <a:xfrm>
            <a:off x="8193089"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3" name="Rectangle 56">
            <a:extLst>
              <a:ext uri="{FF2B5EF4-FFF2-40B4-BE49-F238E27FC236}">
                <a16:creationId xmlns:a16="http://schemas.microsoft.com/office/drawing/2014/main" id="{78BBA4C2-77BF-7140-8522-72AA5C9FF7DA}"/>
              </a:ext>
            </a:extLst>
          </p:cNvPr>
          <p:cNvSpPr>
            <a:spLocks noChangeArrowheads="1"/>
          </p:cNvSpPr>
          <p:nvPr/>
        </p:nvSpPr>
        <p:spPr bwMode="auto">
          <a:xfrm>
            <a:off x="8285164"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4" name="Rectangle 57">
            <a:extLst>
              <a:ext uri="{FF2B5EF4-FFF2-40B4-BE49-F238E27FC236}">
                <a16:creationId xmlns:a16="http://schemas.microsoft.com/office/drawing/2014/main" id="{8C781153-D0D1-4F49-A7D5-E9E0E02C7481}"/>
              </a:ext>
            </a:extLst>
          </p:cNvPr>
          <p:cNvSpPr>
            <a:spLocks noChangeArrowheads="1"/>
          </p:cNvSpPr>
          <p:nvPr/>
        </p:nvSpPr>
        <p:spPr bwMode="auto">
          <a:xfrm>
            <a:off x="8380414"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5" name="Rectangle 58">
            <a:extLst>
              <a:ext uri="{FF2B5EF4-FFF2-40B4-BE49-F238E27FC236}">
                <a16:creationId xmlns:a16="http://schemas.microsoft.com/office/drawing/2014/main" id="{1252424B-0051-8B4E-8014-7CDFA89980FC}"/>
              </a:ext>
            </a:extLst>
          </p:cNvPr>
          <p:cNvSpPr>
            <a:spLocks noChangeArrowheads="1"/>
          </p:cNvSpPr>
          <p:nvPr/>
        </p:nvSpPr>
        <p:spPr bwMode="auto">
          <a:xfrm>
            <a:off x="8477252" y="3123626"/>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6" name="Rectangle 59">
            <a:extLst>
              <a:ext uri="{FF2B5EF4-FFF2-40B4-BE49-F238E27FC236}">
                <a16:creationId xmlns:a16="http://schemas.microsoft.com/office/drawing/2014/main" id="{FA783663-FBFD-1D4F-94E0-8E07864896AD}"/>
              </a:ext>
            </a:extLst>
          </p:cNvPr>
          <p:cNvSpPr>
            <a:spLocks noChangeArrowheads="1"/>
          </p:cNvSpPr>
          <p:nvPr/>
        </p:nvSpPr>
        <p:spPr bwMode="auto">
          <a:xfrm>
            <a:off x="8566152" y="3123626"/>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7" name="Rectangle 60">
            <a:extLst>
              <a:ext uri="{FF2B5EF4-FFF2-40B4-BE49-F238E27FC236}">
                <a16:creationId xmlns:a16="http://schemas.microsoft.com/office/drawing/2014/main" id="{9A20FCBA-A9E2-494E-8A95-747703BA2FAA}"/>
              </a:ext>
            </a:extLst>
          </p:cNvPr>
          <p:cNvSpPr>
            <a:spLocks noChangeArrowheads="1"/>
          </p:cNvSpPr>
          <p:nvPr/>
        </p:nvSpPr>
        <p:spPr bwMode="auto">
          <a:xfrm>
            <a:off x="8661402" y="3123626"/>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8" name="Rectangle 61">
            <a:extLst>
              <a:ext uri="{FF2B5EF4-FFF2-40B4-BE49-F238E27FC236}">
                <a16:creationId xmlns:a16="http://schemas.microsoft.com/office/drawing/2014/main" id="{BD15B2FA-70B2-F44B-A21B-EE69A9B05DC8}"/>
              </a:ext>
            </a:extLst>
          </p:cNvPr>
          <p:cNvSpPr>
            <a:spLocks noChangeArrowheads="1"/>
          </p:cNvSpPr>
          <p:nvPr/>
        </p:nvSpPr>
        <p:spPr bwMode="auto">
          <a:xfrm>
            <a:off x="8755064" y="3122039"/>
            <a:ext cx="65088"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9" name="Rectangle 62">
            <a:extLst>
              <a:ext uri="{FF2B5EF4-FFF2-40B4-BE49-F238E27FC236}">
                <a16:creationId xmlns:a16="http://schemas.microsoft.com/office/drawing/2014/main" id="{FCC59CFB-2A58-CB44-B886-3040D9E44C77}"/>
              </a:ext>
            </a:extLst>
          </p:cNvPr>
          <p:cNvSpPr>
            <a:spLocks noChangeArrowheads="1"/>
          </p:cNvSpPr>
          <p:nvPr/>
        </p:nvSpPr>
        <p:spPr bwMode="auto">
          <a:xfrm>
            <a:off x="8847139" y="3122039"/>
            <a:ext cx="65088"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0" name="Rectangle 63">
            <a:extLst>
              <a:ext uri="{FF2B5EF4-FFF2-40B4-BE49-F238E27FC236}">
                <a16:creationId xmlns:a16="http://schemas.microsoft.com/office/drawing/2014/main" id="{C2CEED62-895E-984B-A8A4-247D41CE7E93}"/>
              </a:ext>
            </a:extLst>
          </p:cNvPr>
          <p:cNvSpPr>
            <a:spLocks noChangeArrowheads="1"/>
          </p:cNvSpPr>
          <p:nvPr/>
        </p:nvSpPr>
        <p:spPr bwMode="auto">
          <a:xfrm>
            <a:off x="8943977" y="3122039"/>
            <a:ext cx="65087"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1" name="Rectangle 64">
            <a:extLst>
              <a:ext uri="{FF2B5EF4-FFF2-40B4-BE49-F238E27FC236}">
                <a16:creationId xmlns:a16="http://schemas.microsoft.com/office/drawing/2014/main" id="{A927D859-82EA-9A4A-9764-093C53E03753}"/>
              </a:ext>
            </a:extLst>
          </p:cNvPr>
          <p:cNvSpPr>
            <a:spLocks noChangeArrowheads="1"/>
          </p:cNvSpPr>
          <p:nvPr/>
        </p:nvSpPr>
        <p:spPr bwMode="auto">
          <a:xfrm>
            <a:off x="9039227" y="3122039"/>
            <a:ext cx="65087"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2" name="Rectangle 65">
            <a:extLst>
              <a:ext uri="{FF2B5EF4-FFF2-40B4-BE49-F238E27FC236}">
                <a16:creationId xmlns:a16="http://schemas.microsoft.com/office/drawing/2014/main" id="{F473CF44-260A-E04B-8696-E13EFF7EE281}"/>
              </a:ext>
            </a:extLst>
          </p:cNvPr>
          <p:cNvSpPr>
            <a:spLocks noChangeArrowheads="1"/>
          </p:cNvSpPr>
          <p:nvPr/>
        </p:nvSpPr>
        <p:spPr bwMode="auto">
          <a:xfrm>
            <a:off x="9128127" y="3122039"/>
            <a:ext cx="65087"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3" name="Rectangle 66">
            <a:extLst>
              <a:ext uri="{FF2B5EF4-FFF2-40B4-BE49-F238E27FC236}">
                <a16:creationId xmlns:a16="http://schemas.microsoft.com/office/drawing/2014/main" id="{489A018C-E3FF-AC42-A61C-40BC11AD79CE}"/>
              </a:ext>
            </a:extLst>
          </p:cNvPr>
          <p:cNvSpPr>
            <a:spLocks noChangeArrowheads="1"/>
          </p:cNvSpPr>
          <p:nvPr/>
        </p:nvSpPr>
        <p:spPr bwMode="auto">
          <a:xfrm>
            <a:off x="9223377" y="3122039"/>
            <a:ext cx="65087"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4" name="Rectangle 68">
            <a:extLst>
              <a:ext uri="{FF2B5EF4-FFF2-40B4-BE49-F238E27FC236}">
                <a16:creationId xmlns:a16="http://schemas.microsoft.com/office/drawing/2014/main" id="{15DBA7E3-2A55-A347-8398-5FF2E190C152}"/>
              </a:ext>
            </a:extLst>
          </p:cNvPr>
          <p:cNvSpPr>
            <a:spLocks noChangeArrowheads="1"/>
          </p:cNvSpPr>
          <p:nvPr/>
        </p:nvSpPr>
        <p:spPr bwMode="auto">
          <a:xfrm>
            <a:off x="9320214"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5" name="Rectangle 69">
            <a:extLst>
              <a:ext uri="{FF2B5EF4-FFF2-40B4-BE49-F238E27FC236}">
                <a16:creationId xmlns:a16="http://schemas.microsoft.com/office/drawing/2014/main" id="{C41C2999-2C3A-6B42-BFD4-461D81F336F2}"/>
              </a:ext>
            </a:extLst>
          </p:cNvPr>
          <p:cNvSpPr>
            <a:spLocks noChangeArrowheads="1"/>
          </p:cNvSpPr>
          <p:nvPr/>
        </p:nvSpPr>
        <p:spPr bwMode="auto">
          <a:xfrm>
            <a:off x="9417052" y="3125214"/>
            <a:ext cx="65087"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6" name="Rectangle 70">
            <a:extLst>
              <a:ext uri="{FF2B5EF4-FFF2-40B4-BE49-F238E27FC236}">
                <a16:creationId xmlns:a16="http://schemas.microsoft.com/office/drawing/2014/main" id="{C31E0892-5A99-CC4B-9267-B95157619AAA}"/>
              </a:ext>
            </a:extLst>
          </p:cNvPr>
          <p:cNvSpPr>
            <a:spLocks noChangeArrowheads="1"/>
          </p:cNvSpPr>
          <p:nvPr/>
        </p:nvSpPr>
        <p:spPr bwMode="auto">
          <a:xfrm>
            <a:off x="9513889"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7" name="Rectangle 71">
            <a:extLst>
              <a:ext uri="{FF2B5EF4-FFF2-40B4-BE49-F238E27FC236}">
                <a16:creationId xmlns:a16="http://schemas.microsoft.com/office/drawing/2014/main" id="{F4A34BCF-97FE-9043-BC3E-A64DDF0FE4E2}"/>
              </a:ext>
            </a:extLst>
          </p:cNvPr>
          <p:cNvSpPr>
            <a:spLocks noChangeArrowheads="1"/>
          </p:cNvSpPr>
          <p:nvPr/>
        </p:nvSpPr>
        <p:spPr bwMode="auto">
          <a:xfrm>
            <a:off x="9612314"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8" name="Rectangle 72">
            <a:extLst>
              <a:ext uri="{FF2B5EF4-FFF2-40B4-BE49-F238E27FC236}">
                <a16:creationId xmlns:a16="http://schemas.microsoft.com/office/drawing/2014/main" id="{AF39E66A-9553-3344-9AD6-6EDA216F2880}"/>
              </a:ext>
            </a:extLst>
          </p:cNvPr>
          <p:cNvSpPr>
            <a:spLocks noChangeArrowheads="1"/>
          </p:cNvSpPr>
          <p:nvPr/>
        </p:nvSpPr>
        <p:spPr bwMode="auto">
          <a:xfrm>
            <a:off x="9707564"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9" name="Rectangle 73">
            <a:extLst>
              <a:ext uri="{FF2B5EF4-FFF2-40B4-BE49-F238E27FC236}">
                <a16:creationId xmlns:a16="http://schemas.microsoft.com/office/drawing/2014/main" id="{ECFAFFA1-A372-CF41-884A-8A8C27CFE0C1}"/>
              </a:ext>
            </a:extLst>
          </p:cNvPr>
          <p:cNvSpPr>
            <a:spLocks noChangeArrowheads="1"/>
          </p:cNvSpPr>
          <p:nvPr/>
        </p:nvSpPr>
        <p:spPr bwMode="auto">
          <a:xfrm>
            <a:off x="9802814"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0" name="Rectangle 74">
            <a:extLst>
              <a:ext uri="{FF2B5EF4-FFF2-40B4-BE49-F238E27FC236}">
                <a16:creationId xmlns:a16="http://schemas.microsoft.com/office/drawing/2014/main" id="{3C3828F5-F0A3-9B49-AB1D-346F1948CC97}"/>
              </a:ext>
            </a:extLst>
          </p:cNvPr>
          <p:cNvSpPr>
            <a:spLocks noChangeArrowheads="1"/>
          </p:cNvSpPr>
          <p:nvPr/>
        </p:nvSpPr>
        <p:spPr bwMode="auto">
          <a:xfrm>
            <a:off x="9894889"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1" name="Rectangle 75">
            <a:extLst>
              <a:ext uri="{FF2B5EF4-FFF2-40B4-BE49-F238E27FC236}">
                <a16:creationId xmlns:a16="http://schemas.microsoft.com/office/drawing/2014/main" id="{E047C25C-F28E-9A40-9394-4DFA7C5CF236}"/>
              </a:ext>
            </a:extLst>
          </p:cNvPr>
          <p:cNvSpPr>
            <a:spLocks noChangeArrowheads="1"/>
          </p:cNvSpPr>
          <p:nvPr/>
        </p:nvSpPr>
        <p:spPr bwMode="auto">
          <a:xfrm>
            <a:off x="9991727" y="3123626"/>
            <a:ext cx="65087"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2" name="Rectangle 76">
            <a:extLst>
              <a:ext uri="{FF2B5EF4-FFF2-40B4-BE49-F238E27FC236}">
                <a16:creationId xmlns:a16="http://schemas.microsoft.com/office/drawing/2014/main" id="{95AB1F8C-60E0-6E4E-BBC9-6AFCA871BF9F}"/>
              </a:ext>
            </a:extLst>
          </p:cNvPr>
          <p:cNvSpPr>
            <a:spLocks noChangeArrowheads="1"/>
          </p:cNvSpPr>
          <p:nvPr/>
        </p:nvSpPr>
        <p:spPr bwMode="auto">
          <a:xfrm>
            <a:off x="10086977" y="3123626"/>
            <a:ext cx="65087" cy="622300"/>
          </a:xfrm>
          <a:prstGeom prst="rect">
            <a:avLst/>
          </a:pr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3" name="Rectangle 78">
            <a:extLst>
              <a:ext uri="{FF2B5EF4-FFF2-40B4-BE49-F238E27FC236}">
                <a16:creationId xmlns:a16="http://schemas.microsoft.com/office/drawing/2014/main" id="{4C4E8CF6-C760-5B4C-9C8B-724BC7EC9D27}"/>
              </a:ext>
            </a:extLst>
          </p:cNvPr>
          <p:cNvSpPr>
            <a:spLocks noChangeArrowheads="1"/>
          </p:cNvSpPr>
          <p:nvPr/>
        </p:nvSpPr>
        <p:spPr bwMode="auto">
          <a:xfrm>
            <a:off x="6792914" y="3861814"/>
            <a:ext cx="3408363" cy="889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4" name="Rectangle 79">
            <a:extLst>
              <a:ext uri="{FF2B5EF4-FFF2-40B4-BE49-F238E27FC236}">
                <a16:creationId xmlns:a16="http://schemas.microsoft.com/office/drawing/2014/main" id="{19F096B9-3111-7D40-B5B1-AE181A6D6D1D}"/>
              </a:ext>
            </a:extLst>
          </p:cNvPr>
          <p:cNvSpPr>
            <a:spLocks noChangeArrowheads="1"/>
          </p:cNvSpPr>
          <p:nvPr/>
        </p:nvSpPr>
        <p:spPr bwMode="auto">
          <a:xfrm>
            <a:off x="6878639" y="3014089"/>
            <a:ext cx="3408363" cy="889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5" name="Line 80">
            <a:extLst>
              <a:ext uri="{FF2B5EF4-FFF2-40B4-BE49-F238E27FC236}">
                <a16:creationId xmlns:a16="http://schemas.microsoft.com/office/drawing/2014/main" id="{E753CF95-7893-FD4E-BE3D-215F410E8408}"/>
              </a:ext>
            </a:extLst>
          </p:cNvPr>
          <p:cNvSpPr>
            <a:spLocks noChangeShapeType="1"/>
          </p:cNvSpPr>
          <p:nvPr/>
        </p:nvSpPr>
        <p:spPr bwMode="auto">
          <a:xfrm>
            <a:off x="6900864" y="3976114"/>
            <a:ext cx="868363"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6" name="Line 82">
            <a:extLst>
              <a:ext uri="{FF2B5EF4-FFF2-40B4-BE49-F238E27FC236}">
                <a16:creationId xmlns:a16="http://schemas.microsoft.com/office/drawing/2014/main" id="{A84B4DF1-EC9A-7F46-AA18-AD952AC6BF0E}"/>
              </a:ext>
            </a:extLst>
          </p:cNvPr>
          <p:cNvSpPr>
            <a:spLocks noChangeShapeType="1"/>
          </p:cNvSpPr>
          <p:nvPr/>
        </p:nvSpPr>
        <p:spPr bwMode="auto">
          <a:xfrm>
            <a:off x="7835902" y="3977701"/>
            <a:ext cx="868362"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7" name="Line 83">
            <a:extLst>
              <a:ext uri="{FF2B5EF4-FFF2-40B4-BE49-F238E27FC236}">
                <a16:creationId xmlns:a16="http://schemas.microsoft.com/office/drawing/2014/main" id="{F05D6B54-06E8-3340-AF49-E2A2D7CDBC38}"/>
              </a:ext>
            </a:extLst>
          </p:cNvPr>
          <p:cNvSpPr>
            <a:spLocks noChangeShapeType="1"/>
          </p:cNvSpPr>
          <p:nvPr/>
        </p:nvSpPr>
        <p:spPr bwMode="auto">
          <a:xfrm>
            <a:off x="9329739" y="3976114"/>
            <a:ext cx="801688"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8" name="Line 84">
            <a:extLst>
              <a:ext uri="{FF2B5EF4-FFF2-40B4-BE49-F238E27FC236}">
                <a16:creationId xmlns:a16="http://schemas.microsoft.com/office/drawing/2014/main" id="{B41A428C-2E0E-ED49-9C7F-ADDB6951A77B}"/>
              </a:ext>
            </a:extLst>
          </p:cNvPr>
          <p:cNvSpPr>
            <a:spLocks noChangeShapeType="1"/>
          </p:cNvSpPr>
          <p:nvPr/>
        </p:nvSpPr>
        <p:spPr bwMode="auto">
          <a:xfrm>
            <a:off x="8759827" y="3977701"/>
            <a:ext cx="528637"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9" name="Line 87">
            <a:extLst>
              <a:ext uri="{FF2B5EF4-FFF2-40B4-BE49-F238E27FC236}">
                <a16:creationId xmlns:a16="http://schemas.microsoft.com/office/drawing/2014/main" id="{F10E82D1-86EA-0A43-A26B-826B8C65625C}"/>
              </a:ext>
            </a:extLst>
          </p:cNvPr>
          <p:cNvSpPr>
            <a:spLocks noChangeShapeType="1"/>
          </p:cNvSpPr>
          <p:nvPr/>
        </p:nvSpPr>
        <p:spPr bwMode="auto">
          <a:xfrm>
            <a:off x="6992939" y="3999926"/>
            <a:ext cx="0" cy="233363"/>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0" name="Line 88">
            <a:extLst>
              <a:ext uri="{FF2B5EF4-FFF2-40B4-BE49-F238E27FC236}">
                <a16:creationId xmlns:a16="http://schemas.microsoft.com/office/drawing/2014/main" id="{849D7775-1F0E-F446-AFC3-AB4363FCD990}"/>
              </a:ext>
            </a:extLst>
          </p:cNvPr>
          <p:cNvSpPr>
            <a:spLocks noChangeShapeType="1"/>
          </p:cNvSpPr>
          <p:nvPr/>
        </p:nvSpPr>
        <p:spPr bwMode="auto">
          <a:xfrm>
            <a:off x="8221664" y="3995164"/>
            <a:ext cx="0" cy="233362"/>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1" name="Line 89">
            <a:extLst>
              <a:ext uri="{FF2B5EF4-FFF2-40B4-BE49-F238E27FC236}">
                <a16:creationId xmlns:a16="http://schemas.microsoft.com/office/drawing/2014/main" id="{0E0B871C-6367-774B-BA58-EF11B16FA4E2}"/>
              </a:ext>
            </a:extLst>
          </p:cNvPr>
          <p:cNvSpPr>
            <a:spLocks noChangeShapeType="1"/>
          </p:cNvSpPr>
          <p:nvPr/>
        </p:nvSpPr>
        <p:spPr bwMode="auto">
          <a:xfrm>
            <a:off x="9040814" y="3995164"/>
            <a:ext cx="0" cy="233362"/>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2" name="Line 90">
            <a:extLst>
              <a:ext uri="{FF2B5EF4-FFF2-40B4-BE49-F238E27FC236}">
                <a16:creationId xmlns:a16="http://schemas.microsoft.com/office/drawing/2014/main" id="{C09F078D-04FC-E640-8A03-2400CC0F0B8A}"/>
              </a:ext>
            </a:extLst>
          </p:cNvPr>
          <p:cNvSpPr>
            <a:spLocks noChangeShapeType="1"/>
          </p:cNvSpPr>
          <p:nvPr/>
        </p:nvSpPr>
        <p:spPr bwMode="auto">
          <a:xfrm>
            <a:off x="9698039" y="3995164"/>
            <a:ext cx="0" cy="233362"/>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3" name="Text Box 91">
            <a:extLst>
              <a:ext uri="{FF2B5EF4-FFF2-40B4-BE49-F238E27FC236}">
                <a16:creationId xmlns:a16="http://schemas.microsoft.com/office/drawing/2014/main" id="{39A723B2-B4B0-634D-AE9D-8AC58218E734}"/>
              </a:ext>
            </a:extLst>
          </p:cNvPr>
          <p:cNvSpPr txBox="1">
            <a:spLocks noChangeArrowheads="1"/>
          </p:cNvSpPr>
          <p:nvPr/>
        </p:nvSpPr>
        <p:spPr bwMode="auto">
          <a:xfrm>
            <a:off x="6869114" y="4223764"/>
            <a:ext cx="693738"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sent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ACKed</a:t>
            </a:r>
          </a:p>
        </p:txBody>
      </p:sp>
      <p:sp>
        <p:nvSpPr>
          <p:cNvPr id="294" name="Text Box 92">
            <a:extLst>
              <a:ext uri="{FF2B5EF4-FFF2-40B4-BE49-F238E27FC236}">
                <a16:creationId xmlns:a16="http://schemas.microsoft.com/office/drawing/2014/main" id="{3B367685-832F-A24C-8E10-9208FC23187F}"/>
              </a:ext>
            </a:extLst>
          </p:cNvPr>
          <p:cNvSpPr txBox="1">
            <a:spLocks noChangeArrowheads="1"/>
          </p:cNvSpPr>
          <p:nvPr/>
        </p:nvSpPr>
        <p:spPr bwMode="auto">
          <a:xfrm>
            <a:off x="7850188" y="4230114"/>
            <a:ext cx="1139821" cy="68480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sent, not-yet </a:t>
            </a:r>
            <a:r>
              <a:rPr kumimoji="0" lang="en-US" altLang="en-US" sz="1400" b="0" i="0" u="none" strike="noStrike" kern="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ACKed</a:t>
            </a:r>
            <a:endPar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l" defTabSz="914400" rtl="0" eaLnBrk="0" fontAlgn="base" latinLnBrk="0" hangingPunct="0">
              <a:lnSpc>
                <a:spcPct val="90000"/>
              </a:lnSpc>
              <a:spcBef>
                <a:spcPts val="30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r>
              <a:rPr kumimoji="0" lang="en-US" altLang="ja-JP"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in-flight”)</a:t>
            </a:r>
            <a:endParaRPr kumimoji="0" lang="en-US" altLang="en-US"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5" name="Text Box 93">
            <a:extLst>
              <a:ext uri="{FF2B5EF4-FFF2-40B4-BE49-F238E27FC236}">
                <a16:creationId xmlns:a16="http://schemas.microsoft.com/office/drawing/2014/main" id="{81CC0B14-ECA5-7042-90A8-A3D1691D8277}"/>
              </a:ext>
            </a:extLst>
          </p:cNvPr>
          <p:cNvSpPr txBox="1">
            <a:spLocks noChangeArrowheads="1"/>
          </p:cNvSpPr>
          <p:nvPr/>
        </p:nvSpPr>
        <p:spPr bwMode="auto">
          <a:xfrm>
            <a:off x="8829677" y="4225351"/>
            <a:ext cx="1066800" cy="6683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usable</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but not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yet sent</a:t>
            </a:r>
          </a:p>
        </p:txBody>
      </p:sp>
      <p:sp>
        <p:nvSpPr>
          <p:cNvPr id="296" name="Text Box 94">
            <a:extLst>
              <a:ext uri="{FF2B5EF4-FFF2-40B4-BE49-F238E27FC236}">
                <a16:creationId xmlns:a16="http://schemas.microsoft.com/office/drawing/2014/main" id="{AA04402D-D3B0-AD47-B91F-3AC1C3E2066A}"/>
              </a:ext>
            </a:extLst>
          </p:cNvPr>
          <p:cNvSpPr txBox="1">
            <a:spLocks noChangeArrowheads="1"/>
          </p:cNvSpPr>
          <p:nvPr/>
        </p:nvSpPr>
        <p:spPr bwMode="auto">
          <a:xfrm>
            <a:off x="9586914" y="4230114"/>
            <a:ext cx="81915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not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usable</a:t>
            </a:r>
          </a:p>
        </p:txBody>
      </p:sp>
      <p:sp>
        <p:nvSpPr>
          <p:cNvPr id="297" name="Text Box 96">
            <a:extLst>
              <a:ext uri="{FF2B5EF4-FFF2-40B4-BE49-F238E27FC236}">
                <a16:creationId xmlns:a16="http://schemas.microsoft.com/office/drawing/2014/main" id="{7BC9AF2B-9067-6D40-8AD6-38C8B0980442}"/>
              </a:ext>
            </a:extLst>
          </p:cNvPr>
          <p:cNvSpPr txBox="1">
            <a:spLocks noChangeArrowheads="1"/>
          </p:cNvSpPr>
          <p:nvPr/>
        </p:nvSpPr>
        <p:spPr bwMode="auto">
          <a:xfrm>
            <a:off x="7929564" y="2658489"/>
            <a:ext cx="1131888"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window size</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1" u="none" strike="noStrike" kern="0" cap="none" spc="0" normalizeH="0" baseline="0" noProof="0">
                <a:ln>
                  <a:noFill/>
                </a:ln>
                <a:solidFill>
                  <a:srgbClr val="000000"/>
                </a:solidFill>
                <a:effectLst/>
                <a:uLnTx/>
                <a:uFillTx/>
                <a:latin typeface="Tahoma" charset="0"/>
                <a:ea typeface="ＭＳ Ｐゴシック" charset="0"/>
                <a:cs typeface="+mn-cs"/>
              </a:rPr>
              <a:t> N</a:t>
            </a:r>
          </a:p>
        </p:txBody>
      </p:sp>
      <p:grpSp>
        <p:nvGrpSpPr>
          <p:cNvPr id="298" name="Group 99">
            <a:extLst>
              <a:ext uri="{FF2B5EF4-FFF2-40B4-BE49-F238E27FC236}">
                <a16:creationId xmlns:a16="http://schemas.microsoft.com/office/drawing/2014/main" id="{24BD0429-57C9-5949-A0FA-36C1FBC99776}"/>
              </a:ext>
            </a:extLst>
          </p:cNvPr>
          <p:cNvGrpSpPr>
            <a:grpSpLocks/>
          </p:cNvGrpSpPr>
          <p:nvPr/>
        </p:nvGrpSpPr>
        <p:grpSpPr bwMode="auto">
          <a:xfrm>
            <a:off x="8696327" y="2882326"/>
            <a:ext cx="593725" cy="136525"/>
            <a:chOff x="4250" y="1692"/>
            <a:chExt cx="374" cy="86"/>
          </a:xfrm>
        </p:grpSpPr>
        <p:sp>
          <p:nvSpPr>
            <p:cNvPr id="299" name="Line 97">
              <a:extLst>
                <a:ext uri="{FF2B5EF4-FFF2-40B4-BE49-F238E27FC236}">
                  <a16:creationId xmlns:a16="http://schemas.microsoft.com/office/drawing/2014/main" id="{A02E02EA-0929-104A-BF00-5ADA492F2B7C}"/>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00" name="Line 98">
              <a:extLst>
                <a:ext uri="{FF2B5EF4-FFF2-40B4-BE49-F238E27FC236}">
                  <a16:creationId xmlns:a16="http://schemas.microsoft.com/office/drawing/2014/main" id="{BBA1422E-A86D-8048-8C6A-CBCE03DB28AC}"/>
                </a:ext>
              </a:extLst>
            </p:cNvPr>
            <p:cNvSpPr>
              <a:spLocks noChangeShapeType="1"/>
            </p:cNvSpPr>
            <p:nvPr/>
          </p:nvSpPr>
          <p:spPr bwMode="auto">
            <a:xfrm>
              <a:off x="4622" y="1692"/>
              <a:ext cx="0" cy="86"/>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01" name="Group 100">
            <a:extLst>
              <a:ext uri="{FF2B5EF4-FFF2-40B4-BE49-F238E27FC236}">
                <a16:creationId xmlns:a16="http://schemas.microsoft.com/office/drawing/2014/main" id="{953BBB09-1247-E749-B041-4AB4BC053F15}"/>
              </a:ext>
            </a:extLst>
          </p:cNvPr>
          <p:cNvGrpSpPr>
            <a:grpSpLocks/>
          </p:cNvGrpSpPr>
          <p:nvPr/>
        </p:nvGrpSpPr>
        <p:grpSpPr bwMode="auto">
          <a:xfrm rot="10800000">
            <a:off x="7804152" y="2907726"/>
            <a:ext cx="593725" cy="136525"/>
            <a:chOff x="4250" y="1692"/>
            <a:chExt cx="374" cy="86"/>
          </a:xfrm>
        </p:grpSpPr>
        <p:sp>
          <p:nvSpPr>
            <p:cNvPr id="302" name="Line 101">
              <a:extLst>
                <a:ext uri="{FF2B5EF4-FFF2-40B4-BE49-F238E27FC236}">
                  <a16:creationId xmlns:a16="http://schemas.microsoft.com/office/drawing/2014/main" id="{3C66FDCF-F2B7-8447-A6D6-18D719B215CF}"/>
                </a:ext>
              </a:extLst>
            </p:cNvPr>
            <p:cNvSpPr>
              <a:spLocks noChangeShapeType="1"/>
            </p:cNvSpPr>
            <p:nvPr/>
          </p:nvSpPr>
          <p:spPr bwMode="auto">
            <a:xfrm>
              <a:off x="4257" y="1745"/>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03" name="Line 102">
              <a:extLst>
                <a:ext uri="{FF2B5EF4-FFF2-40B4-BE49-F238E27FC236}">
                  <a16:creationId xmlns:a16="http://schemas.microsoft.com/office/drawing/2014/main" id="{3E685C18-38D0-2242-B6E7-6B45955EA4D6}"/>
                </a:ext>
              </a:extLst>
            </p:cNvPr>
            <p:cNvSpPr>
              <a:spLocks noChangeShapeType="1"/>
            </p:cNvSpPr>
            <p:nvPr/>
          </p:nvSpPr>
          <p:spPr bwMode="auto">
            <a:xfrm>
              <a:off x="4629" y="1699"/>
              <a:ext cx="0" cy="86"/>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304" name="Text Box 196">
            <a:extLst>
              <a:ext uri="{FF2B5EF4-FFF2-40B4-BE49-F238E27FC236}">
                <a16:creationId xmlns:a16="http://schemas.microsoft.com/office/drawing/2014/main" id="{8A4318F8-8B4B-BA46-9E7C-C771B9AFC315}"/>
              </a:ext>
            </a:extLst>
          </p:cNvPr>
          <p:cNvSpPr txBox="1">
            <a:spLocks noChangeArrowheads="1"/>
          </p:cNvSpPr>
          <p:nvPr/>
        </p:nvSpPr>
        <p:spPr bwMode="auto">
          <a:xfrm>
            <a:off x="7085014" y="3677664"/>
            <a:ext cx="31781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marL="342900" indent="-342900">
              <a:defRPr sz="1600">
                <a:solidFill>
                  <a:schemeClr val="tx1"/>
                </a:solidFill>
                <a:latin typeface="Tahoma" charset="0"/>
                <a:ea typeface="ＭＳ Ｐゴシック" charset="0"/>
              </a:defRPr>
            </a:lvl1pPr>
            <a:lvl2pPr>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1" indent="0" algn="ctr" defTabSz="914400" rtl="0" eaLnBrk="0" fontAlgn="base" latinLnBrk="0" hangingPunct="0">
              <a:lnSpc>
                <a:spcPct val="100000"/>
              </a:lnSpc>
              <a:spcBef>
                <a:spcPct val="0"/>
              </a:spcBef>
              <a:spcAft>
                <a:spcPct val="0"/>
              </a:spcAft>
              <a:buClrTx/>
              <a:buSzTx/>
              <a:buFontTx/>
              <a:buNone/>
              <a:tabLst/>
              <a:defRPr/>
            </a:pPr>
            <a:r>
              <a:rPr kumimoji="0" lang="en-US" sz="1400" b="0" i="1" u="none" strike="noStrike" kern="0" cap="none" spc="0" normalizeH="0" baseline="0" noProof="0">
                <a:ln>
                  <a:noFill/>
                </a:ln>
                <a:solidFill>
                  <a:srgbClr val="000000"/>
                </a:solidFill>
                <a:effectLst/>
                <a:uLnTx/>
                <a:uFillTx/>
                <a:latin typeface="Tahoma" charset="0"/>
                <a:ea typeface="ＭＳ Ｐゴシック" charset="0"/>
                <a:cs typeface="+mn-cs"/>
              </a:rPr>
              <a:t>sender sequence number space </a:t>
            </a:r>
          </a:p>
        </p:txBody>
      </p:sp>
      <p:grpSp>
        <p:nvGrpSpPr>
          <p:cNvPr id="305" name="Group 199">
            <a:extLst>
              <a:ext uri="{FF2B5EF4-FFF2-40B4-BE49-F238E27FC236}">
                <a16:creationId xmlns:a16="http://schemas.microsoft.com/office/drawing/2014/main" id="{17C79495-9E5E-D743-8F6F-313B7597C3E0}"/>
              </a:ext>
            </a:extLst>
          </p:cNvPr>
          <p:cNvGrpSpPr>
            <a:grpSpLocks/>
          </p:cNvGrpSpPr>
          <p:nvPr/>
        </p:nvGrpSpPr>
        <p:grpSpPr bwMode="auto">
          <a:xfrm>
            <a:off x="6321427" y="1140839"/>
            <a:ext cx="2952750" cy="1966912"/>
            <a:chOff x="2600" y="665"/>
            <a:chExt cx="1860" cy="1239"/>
          </a:xfrm>
        </p:grpSpPr>
        <p:sp>
          <p:nvSpPr>
            <p:cNvPr id="306" name="Rectangle 171">
              <a:extLst>
                <a:ext uri="{FF2B5EF4-FFF2-40B4-BE49-F238E27FC236}">
                  <a16:creationId xmlns:a16="http://schemas.microsoft.com/office/drawing/2014/main" id="{1EAF4F70-21E7-C34E-8873-423E3B1E6A8A}"/>
                </a:ext>
              </a:extLst>
            </p:cNvPr>
            <p:cNvSpPr>
              <a:spLocks noChangeArrowheads="1"/>
            </p:cNvSpPr>
            <p:nvPr/>
          </p:nvSpPr>
          <p:spPr bwMode="auto">
            <a:xfrm>
              <a:off x="2840" y="1028"/>
              <a:ext cx="1202" cy="130"/>
            </a:xfrm>
            <a:prstGeom prst="rect">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07" name="Group 172">
              <a:extLst>
                <a:ext uri="{FF2B5EF4-FFF2-40B4-BE49-F238E27FC236}">
                  <a16:creationId xmlns:a16="http://schemas.microsoft.com/office/drawing/2014/main" id="{DEE85BA8-BC48-F24A-B3C5-A13DD502AF23}"/>
                </a:ext>
              </a:extLst>
            </p:cNvPr>
            <p:cNvGrpSpPr>
              <a:grpSpLocks/>
            </p:cNvGrpSpPr>
            <p:nvPr/>
          </p:nvGrpSpPr>
          <p:grpSpPr bwMode="auto">
            <a:xfrm>
              <a:off x="2820" y="872"/>
              <a:ext cx="1252" cy="714"/>
              <a:chOff x="1976" y="2984"/>
              <a:chExt cx="1252" cy="714"/>
            </a:xfrm>
          </p:grpSpPr>
          <p:sp>
            <p:nvSpPr>
              <p:cNvPr id="310" name="Rectangle 173">
                <a:extLst>
                  <a:ext uri="{FF2B5EF4-FFF2-40B4-BE49-F238E27FC236}">
                    <a16:creationId xmlns:a16="http://schemas.microsoft.com/office/drawing/2014/main" id="{512EC936-B599-4C42-A3CB-F206B3359FAC}"/>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1" name="Text Box 174">
                <a:extLst>
                  <a:ext uri="{FF2B5EF4-FFF2-40B4-BE49-F238E27FC236}">
                    <a16:creationId xmlns:a16="http://schemas.microsoft.com/office/drawing/2014/main" id="{D1A37C4D-C221-B944-960D-5E1AC157A7DE}"/>
                  </a:ext>
                </a:extLst>
              </p:cNvPr>
              <p:cNvSpPr txBox="1">
                <a:spLocks noChangeArrowheads="1"/>
              </p:cNvSpPr>
              <p:nvPr/>
            </p:nvSpPr>
            <p:spPr bwMode="auto">
              <a:xfrm>
                <a:off x="2001" y="2984"/>
                <a:ext cx="580"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source port #</a:t>
                </a:r>
              </a:p>
            </p:txBody>
          </p:sp>
          <p:sp>
            <p:nvSpPr>
              <p:cNvPr id="312" name="Text Box 175">
                <a:extLst>
                  <a:ext uri="{FF2B5EF4-FFF2-40B4-BE49-F238E27FC236}">
                    <a16:creationId xmlns:a16="http://schemas.microsoft.com/office/drawing/2014/main" id="{DC506D04-4DCA-2A42-8A11-92D274739497}"/>
                  </a:ext>
                </a:extLst>
              </p:cNvPr>
              <p:cNvSpPr txBox="1">
                <a:spLocks noChangeArrowheads="1"/>
              </p:cNvSpPr>
              <p:nvPr/>
            </p:nvSpPr>
            <p:spPr bwMode="auto">
              <a:xfrm>
                <a:off x="2648" y="2987"/>
                <a:ext cx="491"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dest port #</a:t>
                </a:r>
              </a:p>
            </p:txBody>
          </p:sp>
          <p:sp>
            <p:nvSpPr>
              <p:cNvPr id="313" name="Text Box 176">
                <a:extLst>
                  <a:ext uri="{FF2B5EF4-FFF2-40B4-BE49-F238E27FC236}">
                    <a16:creationId xmlns:a16="http://schemas.microsoft.com/office/drawing/2014/main" id="{E9E72ACF-7C4B-3247-896D-D6CDE3C1CEE4}"/>
                  </a:ext>
                </a:extLst>
              </p:cNvPr>
              <p:cNvSpPr txBox="1">
                <a:spLocks noChangeArrowheads="1"/>
              </p:cNvSpPr>
              <p:nvPr/>
            </p:nvSpPr>
            <p:spPr bwMode="auto">
              <a:xfrm>
                <a:off x="2154" y="3117"/>
                <a:ext cx="912"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Arial" charset="0"/>
                    <a:ea typeface="ＭＳ Ｐゴシック" charset="0"/>
                    <a:cs typeface="+mn-cs"/>
                  </a:rPr>
                  <a:t>sequence number</a:t>
                </a:r>
              </a:p>
            </p:txBody>
          </p:sp>
          <p:sp>
            <p:nvSpPr>
              <p:cNvPr id="314" name="Text Box 177">
                <a:extLst>
                  <a:ext uri="{FF2B5EF4-FFF2-40B4-BE49-F238E27FC236}">
                    <a16:creationId xmlns:a16="http://schemas.microsoft.com/office/drawing/2014/main" id="{4A1EA7EA-E261-2540-A61F-14F1D3C62770}"/>
                  </a:ext>
                </a:extLst>
              </p:cNvPr>
              <p:cNvSpPr txBox="1">
                <a:spLocks noChangeArrowheads="1"/>
              </p:cNvSpPr>
              <p:nvPr/>
            </p:nvSpPr>
            <p:spPr bwMode="auto">
              <a:xfrm>
                <a:off x="1976" y="3257"/>
                <a:ext cx="1252"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acknowledgement number</a:t>
                </a:r>
              </a:p>
            </p:txBody>
          </p:sp>
          <p:sp>
            <p:nvSpPr>
              <p:cNvPr id="315" name="Text Box 178">
                <a:extLst>
                  <a:ext uri="{FF2B5EF4-FFF2-40B4-BE49-F238E27FC236}">
                    <a16:creationId xmlns:a16="http://schemas.microsoft.com/office/drawing/2014/main" id="{14D444FC-B976-4B43-AF8C-651999F1EAD7}"/>
                  </a:ext>
                </a:extLst>
              </p:cNvPr>
              <p:cNvSpPr txBox="1">
                <a:spLocks noChangeArrowheads="1"/>
              </p:cNvSpPr>
              <p:nvPr/>
            </p:nvSpPr>
            <p:spPr bwMode="auto">
              <a:xfrm>
                <a:off x="2053" y="3544"/>
                <a:ext cx="475"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checksum</a:t>
                </a:r>
              </a:p>
            </p:txBody>
          </p:sp>
          <p:sp>
            <p:nvSpPr>
              <p:cNvPr id="316" name="Line 179">
                <a:extLst>
                  <a:ext uri="{FF2B5EF4-FFF2-40B4-BE49-F238E27FC236}">
                    <a16:creationId xmlns:a16="http://schemas.microsoft.com/office/drawing/2014/main" id="{03CA3683-10CF-2D45-855C-D741CB3E84FC}"/>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7" name="Line 180">
                <a:extLst>
                  <a:ext uri="{FF2B5EF4-FFF2-40B4-BE49-F238E27FC236}">
                    <a16:creationId xmlns:a16="http://schemas.microsoft.com/office/drawing/2014/main" id="{4427CEC2-BFD3-0543-AAB5-E40DA49DCF81}"/>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8" name="Line 181">
                <a:extLst>
                  <a:ext uri="{FF2B5EF4-FFF2-40B4-BE49-F238E27FC236}">
                    <a16:creationId xmlns:a16="http://schemas.microsoft.com/office/drawing/2014/main" id="{83A31360-0241-B24B-9A5B-5DF36A70BB1A}"/>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9" name="Line 182">
                <a:extLst>
                  <a:ext uri="{FF2B5EF4-FFF2-40B4-BE49-F238E27FC236}">
                    <a16:creationId xmlns:a16="http://schemas.microsoft.com/office/drawing/2014/main" id="{E2E74D6E-689D-3E49-A5CA-1EB053F0D115}"/>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0" name="Line 183">
                <a:extLst>
                  <a:ext uri="{FF2B5EF4-FFF2-40B4-BE49-F238E27FC236}">
                    <a16:creationId xmlns:a16="http://schemas.microsoft.com/office/drawing/2014/main" id="{34408127-C1C4-5142-81BC-0772E406AF42}"/>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1" name="Line 184">
                <a:extLst>
                  <a:ext uri="{FF2B5EF4-FFF2-40B4-BE49-F238E27FC236}">
                    <a16:creationId xmlns:a16="http://schemas.microsoft.com/office/drawing/2014/main" id="{AF6C4EF8-1ED8-1A4B-B94D-F145C940A384}"/>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2" name="Text Box 185">
                <a:extLst>
                  <a:ext uri="{FF2B5EF4-FFF2-40B4-BE49-F238E27FC236}">
                    <a16:creationId xmlns:a16="http://schemas.microsoft.com/office/drawing/2014/main" id="{8F8508CA-EE38-AF4E-A97C-1BE94735E56E}"/>
                  </a:ext>
                </a:extLst>
              </p:cNvPr>
              <p:cNvSpPr txBox="1">
                <a:spLocks noChangeArrowheads="1"/>
              </p:cNvSpPr>
              <p:nvPr/>
            </p:nvSpPr>
            <p:spPr bwMode="auto">
              <a:xfrm>
                <a:off x="2708" y="3390"/>
                <a:ext cx="323"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rwnd</a:t>
                </a:r>
              </a:p>
            </p:txBody>
          </p:sp>
          <p:sp>
            <p:nvSpPr>
              <p:cNvPr id="323" name="Text Box 186">
                <a:extLst>
                  <a:ext uri="{FF2B5EF4-FFF2-40B4-BE49-F238E27FC236}">
                    <a16:creationId xmlns:a16="http://schemas.microsoft.com/office/drawing/2014/main" id="{88BEC28D-C62B-B54E-A090-DF6809C9E835}"/>
                  </a:ext>
                </a:extLst>
              </p:cNvPr>
              <p:cNvSpPr txBox="1">
                <a:spLocks noChangeArrowheads="1"/>
              </p:cNvSpPr>
              <p:nvPr/>
            </p:nvSpPr>
            <p:spPr bwMode="auto">
              <a:xfrm>
                <a:off x="2651" y="3544"/>
                <a:ext cx="496"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urg pointer</a:t>
                </a:r>
              </a:p>
            </p:txBody>
          </p:sp>
          <p:sp>
            <p:nvSpPr>
              <p:cNvPr id="324" name="Line 187">
                <a:extLst>
                  <a:ext uri="{FF2B5EF4-FFF2-40B4-BE49-F238E27FC236}">
                    <a16:creationId xmlns:a16="http://schemas.microsoft.com/office/drawing/2014/main" id="{8CC1CABE-C086-144F-8F1F-A7D004A1EA6E}"/>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5" name="Line 188">
                <a:extLst>
                  <a:ext uri="{FF2B5EF4-FFF2-40B4-BE49-F238E27FC236}">
                    <a16:creationId xmlns:a16="http://schemas.microsoft.com/office/drawing/2014/main" id="{061C4173-FBA5-7749-BCE1-9EBD070DBA3D}"/>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08" name="Text Box 189">
              <a:extLst>
                <a:ext uri="{FF2B5EF4-FFF2-40B4-BE49-F238E27FC236}">
                  <a16:creationId xmlns:a16="http://schemas.microsoft.com/office/drawing/2014/main" id="{961ADE6B-9EA8-FA44-92C6-6941117B3BDE}"/>
                </a:ext>
              </a:extLst>
            </p:cNvPr>
            <p:cNvSpPr txBox="1">
              <a:spLocks noChangeArrowheads="1"/>
            </p:cNvSpPr>
            <p:nvPr/>
          </p:nvSpPr>
          <p:spPr bwMode="auto">
            <a:xfrm>
              <a:off x="2600" y="665"/>
              <a:ext cx="1860"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outgoing segment from sender</a:t>
              </a:r>
            </a:p>
          </p:txBody>
        </p:sp>
        <p:sp>
          <p:nvSpPr>
            <p:cNvPr id="309" name="Freeform 190">
              <a:extLst>
                <a:ext uri="{FF2B5EF4-FFF2-40B4-BE49-F238E27FC236}">
                  <a16:creationId xmlns:a16="http://schemas.microsoft.com/office/drawing/2014/main" id="{ECB9422A-F7AA-6143-8673-CA97EE9D620B}"/>
                </a:ext>
              </a:extLst>
            </p:cNvPr>
            <p:cNvSpPr>
              <a:spLocks/>
            </p:cNvSpPr>
            <p:nvPr/>
          </p:nvSpPr>
          <p:spPr bwMode="auto">
            <a:xfrm>
              <a:off x="4050" y="1080"/>
              <a:ext cx="107" cy="824"/>
            </a:xfrm>
            <a:custGeom>
              <a:avLst/>
              <a:gdLst>
                <a:gd name="T0" fmla="*/ 0 w 107"/>
                <a:gd name="T1" fmla="*/ 0 h 910"/>
                <a:gd name="T2" fmla="*/ 107 w 107"/>
                <a:gd name="T3" fmla="*/ 0 h 910"/>
                <a:gd name="T4" fmla="*/ 107 w 107"/>
                <a:gd name="T5" fmla="*/ 337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07" name="Rectangle 5">
            <a:extLst>
              <a:ext uri="{FF2B5EF4-FFF2-40B4-BE49-F238E27FC236}">
                <a16:creationId xmlns:a16="http://schemas.microsoft.com/office/drawing/2014/main" id="{6C3FDCE7-5731-3B49-B3F0-A28BEE20C1DD}"/>
              </a:ext>
            </a:extLst>
          </p:cNvPr>
          <p:cNvSpPr txBox="1">
            <a:spLocks noChangeArrowheads="1"/>
          </p:cNvSpPr>
          <p:nvPr/>
        </p:nvSpPr>
        <p:spPr bwMode="auto">
          <a:xfrm>
            <a:off x="740571" y="2803512"/>
            <a:ext cx="5096669" cy="17684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en-US" sz="28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Acknowledgements</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t>
            </a:r>
            <a:endPar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endParaRP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 of next byte expected from other side</a:t>
            </a: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cumulative ACK</a:t>
            </a:r>
          </a:p>
        </p:txBody>
      </p:sp>
      <p:sp>
        <p:nvSpPr>
          <p:cNvPr id="108" name="Rectangle 5">
            <a:extLst>
              <a:ext uri="{FF2B5EF4-FFF2-40B4-BE49-F238E27FC236}">
                <a16:creationId xmlns:a16="http://schemas.microsoft.com/office/drawing/2014/main" id="{845D3A7B-C2B2-5F46-AC88-0FE1A562E0B2}"/>
              </a:ext>
            </a:extLst>
          </p:cNvPr>
          <p:cNvSpPr txBox="1">
            <a:spLocks noChangeArrowheads="1"/>
          </p:cNvSpPr>
          <p:nvPr/>
        </p:nvSpPr>
        <p:spPr bwMode="auto">
          <a:xfrm>
            <a:off x="651671" y="4633906"/>
            <a:ext cx="5096669" cy="1730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ts val="1900"/>
              </a:spcBef>
              <a:spcAft>
                <a:spcPct val="0"/>
              </a:spcAft>
              <a:buClr>
                <a:srgbClr val="000099"/>
              </a:buClr>
              <a:buSzPct val="100000"/>
              <a:buFont typeface="Wingdings" pitchFamily="2" charset="2"/>
              <a:buNone/>
              <a:tabLst/>
              <a:defRPr/>
            </a:pPr>
            <a:r>
              <a:rPr kumimoji="0" lang="en-US" altLang="en-US" sz="2800" b="0" i="1"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Q</a:t>
            </a: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 how receiver handles out-of-order segments</a:t>
            </a: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1" u="sng" strike="noStrike" kern="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 </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TCP spec doesn</a:t>
            </a:r>
            <a:r>
              <a:rPr kumimoji="0" lang="en-US" altLang="ja-JP"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say, - up to implementor</a:t>
            </a:r>
            <a:endPar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09" name="Slide Number Placeholder 2">
            <a:extLst>
              <a:ext uri="{FF2B5EF4-FFF2-40B4-BE49-F238E27FC236}">
                <a16:creationId xmlns:a16="http://schemas.microsoft.com/office/drawing/2014/main" id="{471D7C94-F1DF-F240-884F-FBFDCBF83554}"/>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6</a:t>
            </a:fld>
            <a:endParaRPr lang="en-US" dirty="0"/>
          </a:p>
        </p:txBody>
      </p:sp>
    </p:spTree>
    <p:extLst>
      <p:ext uri="{BB962C8B-B14F-4D97-AF65-F5344CB8AC3E}">
        <p14:creationId xmlns:p14="http://schemas.microsoft.com/office/powerpoint/2010/main" val="1655807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dissolve">
                                      <p:cBhvr>
                                        <p:cTn id="7" dur="500"/>
                                        <p:tgtEl>
                                          <p:spTgt spid="30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4"/>
                                        </p:tgtEl>
                                        <p:attrNameLst>
                                          <p:attrName>style.visibility</p:attrName>
                                        </p:attrNameLst>
                                      </p:cBhvr>
                                      <p:to>
                                        <p:strVal val="visible"/>
                                      </p:to>
                                    </p:set>
                                    <p:animEffect transition="in" filter="dissolve">
                                      <p:cBhvr>
                                        <p:cTn id="12" dur="500"/>
                                        <p:tgtEl>
                                          <p:spTgt spid="224"/>
                                        </p:tgtEl>
                                      </p:cBhvr>
                                    </p:animEffect>
                                  </p:childTnLst>
                                </p:cTn>
                              </p:par>
                              <p:par>
                                <p:cTn id="13" presetID="9" presetClass="entr" presetSubtype="0" fill="hold" nodeType="withEffect">
                                  <p:stCondLst>
                                    <p:cond delay="0"/>
                                  </p:stCondLst>
                                  <p:childTnLst>
                                    <p:set>
                                      <p:cBhvr>
                                        <p:cTn id="14" dur="1" fill="hold">
                                          <p:stCondLst>
                                            <p:cond delay="0"/>
                                          </p:stCondLst>
                                        </p:cTn>
                                        <p:tgtEl>
                                          <p:spTgt spid="245"/>
                                        </p:tgtEl>
                                        <p:attrNameLst>
                                          <p:attrName>style.visibility</p:attrName>
                                        </p:attrNameLst>
                                      </p:cBhvr>
                                      <p:to>
                                        <p:strVal val="visible"/>
                                      </p:to>
                                    </p:set>
                                    <p:animEffect transition="in" filter="dissolve">
                                      <p:cBhvr>
                                        <p:cTn id="15" dur="500"/>
                                        <p:tgtEl>
                                          <p:spTgt spid="24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07"/>
                                        </p:tgtEl>
                                        <p:attrNameLst>
                                          <p:attrName>style.visibility</p:attrName>
                                        </p:attrNameLst>
                                      </p:cBhvr>
                                      <p:to>
                                        <p:strVal val="visible"/>
                                      </p:to>
                                    </p:set>
                                    <p:animEffect transition="in" filter="dissolve">
                                      <p:cBhvr>
                                        <p:cTn id="18" dur="500"/>
                                        <p:tgtEl>
                                          <p:spTgt spid="10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08"/>
                                        </p:tgtEl>
                                        <p:attrNameLst>
                                          <p:attrName>style.visibility</p:attrName>
                                        </p:attrNameLst>
                                      </p:cBhvr>
                                      <p:to>
                                        <p:strVal val="visible"/>
                                      </p:to>
                                    </p:set>
                                    <p:animEffect transition="in" filter="dissolve">
                                      <p:cBhvr>
                                        <p:cTn id="23"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re 1"/>
          <p:cNvSpPr>
            <a:spLocks noGrp="1"/>
          </p:cNvSpPr>
          <p:nvPr>
            <p:ph type="title"/>
          </p:nvPr>
        </p:nvSpPr>
        <p:spPr/>
        <p:txBody>
          <a:bodyPr/>
          <a:lstStyle/>
          <a:p>
            <a:r>
              <a:rPr lang="fr-FR" altLang="en-US"/>
              <a:t>Sequence Numbers </a:t>
            </a:r>
          </a:p>
        </p:txBody>
      </p:sp>
      <p:sp>
        <p:nvSpPr>
          <p:cNvPr id="18435" name="Espace réservé du contenu 2"/>
          <p:cNvSpPr>
            <a:spLocks noGrp="1"/>
          </p:cNvSpPr>
          <p:nvPr>
            <p:ph idx="1"/>
          </p:nvPr>
        </p:nvSpPr>
        <p:spPr/>
        <p:txBody>
          <a:bodyPr/>
          <a:lstStyle/>
          <a:p>
            <a:r>
              <a:rPr lang="fr-FR" altLang="en-US" dirty="0"/>
              <a:t>TCP </a:t>
            </a:r>
            <a:r>
              <a:rPr lang="fr-FR" altLang="en-US" dirty="0" err="1"/>
              <a:t>views</a:t>
            </a:r>
            <a:r>
              <a:rPr lang="fr-FR" altLang="en-US" dirty="0"/>
              <a:t> data as an </a:t>
            </a:r>
            <a:r>
              <a:rPr lang="fr-FR" altLang="en-US" dirty="0" err="1"/>
              <a:t>unstructured</a:t>
            </a:r>
            <a:r>
              <a:rPr lang="fr-FR" altLang="en-US" dirty="0"/>
              <a:t>, but </a:t>
            </a:r>
            <a:r>
              <a:rPr lang="fr-FR" altLang="en-US" dirty="0" err="1"/>
              <a:t>ordered</a:t>
            </a:r>
            <a:r>
              <a:rPr lang="fr-FR" altLang="en-US" dirty="0"/>
              <a:t>, </a:t>
            </a:r>
            <a:r>
              <a:rPr lang="fr-FR" altLang="en-US" dirty="0" err="1"/>
              <a:t>stream</a:t>
            </a:r>
            <a:r>
              <a:rPr lang="fr-FR" altLang="en-US" dirty="0"/>
              <a:t> of bytes. </a:t>
            </a:r>
          </a:p>
          <a:p>
            <a:endParaRPr lang="fr-FR" altLang="en-US" dirty="0"/>
          </a:p>
          <a:p>
            <a:r>
              <a:rPr lang="fr-FR" altLang="en-US" dirty="0" err="1"/>
              <a:t>Sequence</a:t>
            </a:r>
            <a:r>
              <a:rPr lang="fr-FR" altLang="en-US" dirty="0"/>
              <a:t> </a:t>
            </a:r>
            <a:r>
              <a:rPr lang="fr-FR" altLang="en-US" dirty="0" err="1"/>
              <a:t>numbers</a:t>
            </a:r>
            <a:r>
              <a:rPr lang="fr-FR" altLang="en-US" dirty="0"/>
              <a:t> are over the </a:t>
            </a:r>
            <a:r>
              <a:rPr lang="fr-FR" altLang="en-US" dirty="0" err="1"/>
              <a:t>stream</a:t>
            </a:r>
            <a:r>
              <a:rPr lang="fr-FR" altLang="en-US" dirty="0"/>
              <a:t> of </a:t>
            </a:r>
            <a:r>
              <a:rPr lang="fr-FR" altLang="en-US" dirty="0" err="1"/>
              <a:t>transmitted</a:t>
            </a:r>
            <a:r>
              <a:rPr lang="fr-FR" altLang="en-US" dirty="0"/>
              <a:t> bytes and </a:t>
            </a:r>
            <a:r>
              <a:rPr lang="fr-FR" altLang="en-US" i="1" dirty="0"/>
              <a:t>not </a:t>
            </a:r>
            <a:r>
              <a:rPr lang="fr-FR" altLang="en-US" dirty="0"/>
              <a:t>over the </a:t>
            </a:r>
            <a:r>
              <a:rPr lang="fr-FR" altLang="en-US" dirty="0" err="1"/>
              <a:t>series</a:t>
            </a:r>
            <a:r>
              <a:rPr lang="fr-FR" altLang="en-US" dirty="0"/>
              <a:t> of </a:t>
            </a:r>
            <a:r>
              <a:rPr lang="fr-FR" altLang="en-US" dirty="0" err="1"/>
              <a:t>transmitted</a:t>
            </a:r>
            <a:r>
              <a:rPr lang="fr-FR" altLang="en-US" dirty="0"/>
              <a:t> segments. </a:t>
            </a:r>
          </a:p>
          <a:p>
            <a:r>
              <a:rPr lang="fr-FR" altLang="en-US" dirty="0"/>
              <a:t>The </a:t>
            </a:r>
            <a:r>
              <a:rPr lang="fr-FR" altLang="en-US" b="1" dirty="0" err="1"/>
              <a:t>sequence</a:t>
            </a:r>
            <a:r>
              <a:rPr lang="fr-FR" altLang="en-US" b="1" dirty="0"/>
              <a:t> </a:t>
            </a:r>
            <a:r>
              <a:rPr lang="fr-FR" altLang="en-US" b="1" dirty="0" err="1"/>
              <a:t>number</a:t>
            </a:r>
            <a:r>
              <a:rPr lang="fr-FR" altLang="en-US" b="1" dirty="0"/>
              <a:t> for a segment </a:t>
            </a:r>
            <a:r>
              <a:rPr lang="fr-FR" altLang="en-US" dirty="0" err="1"/>
              <a:t>is</a:t>
            </a:r>
            <a:r>
              <a:rPr lang="fr-FR" altLang="en-US" dirty="0"/>
              <a:t> </a:t>
            </a:r>
            <a:r>
              <a:rPr lang="fr-FR" altLang="en-US" dirty="0" err="1"/>
              <a:t>therefore</a:t>
            </a:r>
            <a:r>
              <a:rPr lang="fr-FR" altLang="en-US" dirty="0"/>
              <a:t> the byte-</a:t>
            </a:r>
            <a:r>
              <a:rPr lang="fr-FR" altLang="en-US" dirty="0" err="1"/>
              <a:t>stream</a:t>
            </a:r>
            <a:r>
              <a:rPr lang="fr-FR" altLang="en-US" dirty="0"/>
              <a:t> </a:t>
            </a:r>
            <a:r>
              <a:rPr lang="fr-FR" altLang="en-US" dirty="0" err="1"/>
              <a:t>number</a:t>
            </a:r>
            <a:r>
              <a:rPr lang="fr-FR" altLang="en-US" dirty="0"/>
              <a:t> of the first byte in the segment. </a:t>
            </a:r>
          </a:p>
          <a:p>
            <a:endParaRPr lang="fr-FR" altLang="en-US" dirty="0"/>
          </a:p>
          <a:p>
            <a:endParaRPr lang="fr-FR" altLang="en-US" dirty="0"/>
          </a:p>
        </p:txBody>
      </p:sp>
    </p:spTree>
    <p:extLst>
      <p:ext uri="{BB962C8B-B14F-4D97-AF65-F5344CB8AC3E}">
        <p14:creationId xmlns:p14="http://schemas.microsoft.com/office/powerpoint/2010/main" val="4188395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re 1"/>
          <p:cNvSpPr>
            <a:spLocks noGrp="1"/>
          </p:cNvSpPr>
          <p:nvPr>
            <p:ph type="title"/>
          </p:nvPr>
        </p:nvSpPr>
        <p:spPr/>
        <p:txBody>
          <a:bodyPr/>
          <a:lstStyle/>
          <a:p>
            <a:r>
              <a:rPr lang="fr-FR" altLang="en-US"/>
              <a:t>An example</a:t>
            </a:r>
          </a:p>
        </p:txBody>
      </p:sp>
      <p:sp>
        <p:nvSpPr>
          <p:cNvPr id="20483" name="Espace réservé du contenu 2"/>
          <p:cNvSpPr>
            <a:spLocks noGrp="1"/>
          </p:cNvSpPr>
          <p:nvPr>
            <p:ph idx="1"/>
          </p:nvPr>
        </p:nvSpPr>
        <p:spPr/>
        <p:txBody>
          <a:bodyPr/>
          <a:lstStyle/>
          <a:p>
            <a:r>
              <a:rPr lang="fr-FR" altLang="en-US"/>
              <a:t>A process in Host A wants to send a stream of data to a process in Host B. </a:t>
            </a:r>
          </a:p>
          <a:p>
            <a:endParaRPr lang="fr-FR" altLang="en-US"/>
          </a:p>
          <a:p>
            <a:r>
              <a:rPr lang="fr-FR" altLang="en-US"/>
              <a:t>The TCP in Host A will implicitly number each byte in the data stream. </a:t>
            </a:r>
          </a:p>
          <a:p>
            <a:pPr lvl="1"/>
            <a:r>
              <a:rPr lang="fr-FR" altLang="en-US"/>
              <a:t>For a file consisting of 500,000 bytes, </a:t>
            </a:r>
          </a:p>
          <a:p>
            <a:pPr lvl="1"/>
            <a:r>
              <a:rPr lang="fr-FR" altLang="en-US"/>
              <a:t>MSS being 1,000 bytes, and that the first byte of the data stream is numbered 0. </a:t>
            </a:r>
          </a:p>
          <a:p>
            <a:pPr lvl="1"/>
            <a:r>
              <a:rPr lang="fr-FR" altLang="en-US"/>
              <a:t>TCP constructs 500 segments out of the data stream. </a:t>
            </a:r>
          </a:p>
          <a:p>
            <a:endParaRPr lang="fr-FR" altLang="en-US"/>
          </a:p>
        </p:txBody>
      </p:sp>
    </p:spTree>
    <p:extLst>
      <p:ext uri="{BB962C8B-B14F-4D97-AF65-F5344CB8AC3E}">
        <p14:creationId xmlns:p14="http://schemas.microsoft.com/office/powerpoint/2010/main" val="1437431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re 1"/>
          <p:cNvSpPr>
            <a:spLocks noGrp="1"/>
          </p:cNvSpPr>
          <p:nvPr>
            <p:ph type="title"/>
          </p:nvPr>
        </p:nvSpPr>
        <p:spPr/>
        <p:txBody>
          <a:bodyPr/>
          <a:lstStyle/>
          <a:p>
            <a:r>
              <a:rPr lang="fr-FR" altLang="en-US"/>
              <a:t>TCP Sequence Numbers </a:t>
            </a:r>
          </a:p>
        </p:txBody>
      </p:sp>
      <p:pic>
        <p:nvPicPr>
          <p:cNvPr id="21507" name="Image 3" descr="Screen Shot 2015-09-27 at 11.44.04.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03363" y="1371600"/>
            <a:ext cx="9144001"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4"/>
          <p:cNvSpPr>
            <a:spLocks noChangeArrowheads="1"/>
          </p:cNvSpPr>
          <p:nvPr/>
        </p:nvSpPr>
        <p:spPr bwMode="auto">
          <a:xfrm>
            <a:off x="2133600" y="4303713"/>
            <a:ext cx="7924800" cy="1097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2800" baseline="30000"/>
              <a:t>The first segment gets assigned sequence number 0, the second segment gets assigned sequence number 1,000, the third segment gets assigned sequence number 2,000, and so on.</a:t>
            </a:r>
            <a:endParaRPr lang="fr-FR" altLang="en-US" sz="2800"/>
          </a:p>
        </p:txBody>
      </p:sp>
    </p:spTree>
    <p:extLst>
      <p:ext uri="{BB962C8B-B14F-4D97-AF65-F5344CB8AC3E}">
        <p14:creationId xmlns:p14="http://schemas.microsoft.com/office/powerpoint/2010/main" val="2280945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re 1"/>
          <p:cNvSpPr>
            <a:spLocks noGrp="1"/>
          </p:cNvSpPr>
          <p:nvPr>
            <p:ph type="title"/>
          </p:nvPr>
        </p:nvSpPr>
        <p:spPr/>
        <p:txBody>
          <a:bodyPr/>
          <a:lstStyle/>
          <a:p>
            <a:r>
              <a:rPr lang="fr-FR" altLang="en-US"/>
              <a:t>Full duplex</a:t>
            </a:r>
          </a:p>
        </p:txBody>
      </p:sp>
      <p:sp>
        <p:nvSpPr>
          <p:cNvPr id="3" name="Espace réservé du contenu 2"/>
          <p:cNvSpPr>
            <a:spLocks noGrp="1"/>
          </p:cNvSpPr>
          <p:nvPr>
            <p:ph idx="1"/>
          </p:nvPr>
        </p:nvSpPr>
        <p:spPr/>
        <p:txBody>
          <a:bodyPr/>
          <a:lstStyle/>
          <a:p>
            <a:pPr>
              <a:defRPr/>
            </a:pPr>
            <a:r>
              <a:rPr lang="fr-FR" dirty="0"/>
              <a:t>TCP </a:t>
            </a:r>
            <a:r>
              <a:rPr lang="fr-FR" dirty="0" err="1"/>
              <a:t>is</a:t>
            </a:r>
            <a:r>
              <a:rPr lang="fr-FR" dirty="0"/>
              <a:t> full-duplex, </a:t>
            </a:r>
            <a:r>
              <a:rPr lang="fr-FR" dirty="0" err="1"/>
              <a:t>so</a:t>
            </a:r>
            <a:r>
              <a:rPr lang="fr-FR" dirty="0"/>
              <a:t> </a:t>
            </a:r>
            <a:r>
              <a:rPr lang="fr-FR" dirty="0" err="1"/>
              <a:t>that</a:t>
            </a:r>
            <a:r>
              <a:rPr lang="fr-FR" dirty="0"/>
              <a:t> Host A </a:t>
            </a:r>
            <a:r>
              <a:rPr lang="fr-FR" dirty="0" err="1"/>
              <a:t>may</a:t>
            </a:r>
            <a:r>
              <a:rPr lang="fr-FR" dirty="0"/>
              <a:t> </a:t>
            </a:r>
            <a:r>
              <a:rPr lang="fr-FR" dirty="0" err="1"/>
              <a:t>be</a:t>
            </a:r>
            <a:r>
              <a:rPr lang="fr-FR" dirty="0"/>
              <a:t> </a:t>
            </a:r>
            <a:r>
              <a:rPr lang="fr-FR" dirty="0" err="1"/>
              <a:t>receiving</a:t>
            </a:r>
            <a:r>
              <a:rPr lang="fr-FR" dirty="0"/>
              <a:t> data </a:t>
            </a:r>
            <a:r>
              <a:rPr lang="fr-FR" dirty="0" err="1"/>
              <a:t>from</a:t>
            </a:r>
            <a:r>
              <a:rPr lang="fr-FR" dirty="0"/>
              <a:t> Host B </a:t>
            </a:r>
            <a:r>
              <a:rPr lang="fr-FR" dirty="0" err="1"/>
              <a:t>while</a:t>
            </a:r>
            <a:r>
              <a:rPr lang="fr-FR" dirty="0"/>
              <a:t> </a:t>
            </a:r>
            <a:r>
              <a:rPr lang="fr-FR" dirty="0" err="1"/>
              <a:t>it</a:t>
            </a:r>
            <a:r>
              <a:rPr lang="fr-FR" dirty="0"/>
              <a:t> </a:t>
            </a:r>
            <a:r>
              <a:rPr lang="fr-FR" dirty="0" err="1"/>
              <a:t>sends</a:t>
            </a:r>
            <a:r>
              <a:rPr lang="fr-FR" dirty="0"/>
              <a:t> data to Host B (as part of the </a:t>
            </a:r>
            <a:r>
              <a:rPr lang="fr-FR" dirty="0" err="1"/>
              <a:t>same</a:t>
            </a:r>
            <a:r>
              <a:rPr lang="fr-FR" dirty="0"/>
              <a:t> TCP </a:t>
            </a:r>
            <a:r>
              <a:rPr lang="fr-FR" dirty="0" err="1"/>
              <a:t>connection</a:t>
            </a:r>
            <a:r>
              <a:rPr lang="fr-FR" dirty="0"/>
              <a:t>). </a:t>
            </a:r>
          </a:p>
          <a:p>
            <a:pPr>
              <a:defRPr/>
            </a:pPr>
            <a:endParaRPr lang="fr-FR" dirty="0"/>
          </a:p>
          <a:p>
            <a:pPr marL="457200" lvl="1" indent="0">
              <a:buNone/>
              <a:defRPr/>
            </a:pPr>
            <a:endParaRPr lang="fr-FR" dirty="0"/>
          </a:p>
          <a:p>
            <a:pPr lvl="1">
              <a:defRPr/>
            </a:pPr>
            <a:endParaRPr lang="fr-FR" dirty="0"/>
          </a:p>
          <a:p>
            <a:pPr>
              <a:defRPr/>
            </a:pPr>
            <a:endParaRPr lang="fr-FR" dirty="0"/>
          </a:p>
        </p:txBody>
      </p:sp>
      <p:sp>
        <p:nvSpPr>
          <p:cNvPr id="22532" name="Line 20"/>
          <p:cNvSpPr>
            <a:spLocks noChangeShapeType="1"/>
          </p:cNvSpPr>
          <p:nvPr/>
        </p:nvSpPr>
        <p:spPr bwMode="auto">
          <a:xfrm>
            <a:off x="3810000" y="4343400"/>
            <a:ext cx="426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US"/>
          </a:p>
        </p:txBody>
      </p:sp>
      <p:graphicFrame>
        <p:nvGraphicFramePr>
          <p:cNvPr id="22533" name="Object 22"/>
          <p:cNvGraphicFramePr>
            <a:graphicFrameLocks noChangeAspect="1"/>
          </p:cNvGraphicFramePr>
          <p:nvPr/>
        </p:nvGraphicFramePr>
        <p:xfrm>
          <a:off x="3200400" y="3733800"/>
          <a:ext cx="838200" cy="757238"/>
        </p:xfrm>
        <a:graphic>
          <a:graphicData uri="http://schemas.openxmlformats.org/presentationml/2006/ole">
            <mc:AlternateContent xmlns:mc="http://schemas.openxmlformats.org/markup-compatibility/2006">
              <mc:Choice xmlns:v="urn:schemas-microsoft-com:vml" Requires="v">
                <p:oleObj name="Clip" r:id="rId2" imgW="1259840" imgH="1136073" progId="MS_ClipArt_Gallery.2">
                  <p:embed/>
                </p:oleObj>
              </mc:Choice>
              <mc:Fallback>
                <p:oleObj name="Clip" r:id="rId2" imgW="1259840" imgH="1136073" progId="MS_ClipArt_Gallery.2">
                  <p:embed/>
                  <p:pic>
                    <p:nvPicPr>
                      <p:cNvPr id="22533"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733800"/>
                        <a:ext cx="838200"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2534" name="Object 23"/>
          <p:cNvGraphicFramePr>
            <a:graphicFrameLocks noChangeAspect="1"/>
          </p:cNvGraphicFramePr>
          <p:nvPr/>
        </p:nvGraphicFramePr>
        <p:xfrm>
          <a:off x="8077200" y="3733800"/>
          <a:ext cx="838200" cy="757238"/>
        </p:xfrm>
        <a:graphic>
          <a:graphicData uri="http://schemas.openxmlformats.org/presentationml/2006/ole">
            <mc:AlternateContent xmlns:mc="http://schemas.openxmlformats.org/markup-compatibility/2006">
              <mc:Choice xmlns:v="urn:schemas-microsoft-com:vml" Requires="v">
                <p:oleObj name="Clip" r:id="rId4" imgW="1259840" imgH="1136073" progId="MS_ClipArt_Gallery.2">
                  <p:embed/>
                </p:oleObj>
              </mc:Choice>
              <mc:Fallback>
                <p:oleObj name="Clip" r:id="rId4" imgW="1259840" imgH="1136073" progId="MS_ClipArt_Gallery.2">
                  <p:embed/>
                  <p:pic>
                    <p:nvPicPr>
                      <p:cNvPr id="22534"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200" y="3733800"/>
                        <a:ext cx="838200"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 name="Rectangle 24"/>
          <p:cNvSpPr>
            <a:spLocks noChangeArrowheads="1"/>
          </p:cNvSpPr>
          <p:nvPr/>
        </p:nvSpPr>
        <p:spPr bwMode="auto">
          <a:xfrm>
            <a:off x="4114800" y="3657600"/>
            <a:ext cx="1219200" cy="381000"/>
          </a:xfrm>
          <a:prstGeom prst="rect">
            <a:avLst/>
          </a:prstGeom>
          <a:solidFill>
            <a:srgbClr val="99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1800"/>
              <a:t>Data for B</a:t>
            </a:r>
            <a:endParaRPr lang="en-US" altLang="en-US" sz="2800">
              <a:latin typeface="Times New Roman" panose="02020603050405020304" pitchFamily="18" charset="0"/>
            </a:endParaRPr>
          </a:p>
        </p:txBody>
      </p:sp>
      <p:sp>
        <p:nvSpPr>
          <p:cNvPr id="22536" name="Text Box 26"/>
          <p:cNvSpPr txBox="1">
            <a:spLocks noChangeArrowheads="1"/>
          </p:cNvSpPr>
          <p:nvPr/>
        </p:nvSpPr>
        <p:spPr bwMode="auto">
          <a:xfrm>
            <a:off x="3276600" y="45720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spAutoFit/>
          </a:bodyPr>
          <a:lstStyle>
            <a:lvl1pPr>
              <a:spcBef>
                <a:spcPct val="20000"/>
              </a:spcBef>
              <a:buChar char="•"/>
              <a:tabLst>
                <a:tab pos="1995488" algn="l"/>
                <a:tab pos="4113213" algn="l"/>
                <a:tab pos="4799013" algn="l"/>
                <a:tab pos="8634413" algn="r"/>
              </a:tabLst>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tabLst>
                <a:tab pos="1995488" algn="l"/>
                <a:tab pos="4113213" algn="l"/>
                <a:tab pos="4799013" algn="l"/>
                <a:tab pos="8634413" algn="r"/>
              </a:tabLst>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tabLst>
                <a:tab pos="1995488" algn="l"/>
                <a:tab pos="4113213" algn="l"/>
                <a:tab pos="4799013" algn="l"/>
                <a:tab pos="8634413" algn="r"/>
              </a:tabLst>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en-US" altLang="en-US" sz="2400">
                <a:solidFill>
                  <a:srgbClr val="000000"/>
                </a:solidFill>
              </a:rPr>
              <a:t>A</a:t>
            </a:r>
          </a:p>
        </p:txBody>
      </p:sp>
      <p:sp>
        <p:nvSpPr>
          <p:cNvPr id="22537" name="Text Box 27"/>
          <p:cNvSpPr txBox="1">
            <a:spLocks noChangeArrowheads="1"/>
          </p:cNvSpPr>
          <p:nvPr/>
        </p:nvSpPr>
        <p:spPr bwMode="auto">
          <a:xfrm>
            <a:off x="8229600" y="4495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spAutoFit/>
          </a:bodyPr>
          <a:lstStyle>
            <a:lvl1pPr>
              <a:spcBef>
                <a:spcPct val="20000"/>
              </a:spcBef>
              <a:buChar char="•"/>
              <a:tabLst>
                <a:tab pos="1995488" algn="l"/>
                <a:tab pos="4113213" algn="l"/>
                <a:tab pos="4799013" algn="l"/>
                <a:tab pos="8634413" algn="r"/>
              </a:tabLst>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tabLst>
                <a:tab pos="1995488" algn="l"/>
                <a:tab pos="4113213" algn="l"/>
                <a:tab pos="4799013" algn="l"/>
                <a:tab pos="8634413" algn="r"/>
              </a:tabLst>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tabLst>
                <a:tab pos="1995488" algn="l"/>
                <a:tab pos="4113213" algn="l"/>
                <a:tab pos="4799013" algn="l"/>
                <a:tab pos="8634413" algn="r"/>
              </a:tabLst>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tabLst>
                <a:tab pos="1995488" algn="l"/>
                <a:tab pos="4113213" algn="l"/>
                <a:tab pos="4799013" algn="l"/>
                <a:tab pos="8634413" algn="r"/>
              </a:tabLst>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en-US" altLang="en-US" sz="2400">
                <a:solidFill>
                  <a:srgbClr val="000000"/>
                </a:solidFill>
              </a:rPr>
              <a:t>B</a:t>
            </a:r>
          </a:p>
        </p:txBody>
      </p:sp>
      <p:grpSp>
        <p:nvGrpSpPr>
          <p:cNvPr id="4" name="Group 33"/>
          <p:cNvGrpSpPr>
            <a:grpSpLocks/>
          </p:cNvGrpSpPr>
          <p:nvPr/>
        </p:nvGrpSpPr>
        <p:grpSpPr bwMode="auto">
          <a:xfrm>
            <a:off x="5943600" y="4495800"/>
            <a:ext cx="1905000" cy="381000"/>
            <a:chOff x="2448" y="3744"/>
            <a:chExt cx="1200" cy="240"/>
          </a:xfrm>
        </p:grpSpPr>
        <p:sp>
          <p:nvSpPr>
            <p:cNvPr id="22540" name="Rectangle 28"/>
            <p:cNvSpPr>
              <a:spLocks noChangeArrowheads="1"/>
            </p:cNvSpPr>
            <p:nvPr/>
          </p:nvSpPr>
          <p:spPr bwMode="auto">
            <a:xfrm>
              <a:off x="2448" y="3744"/>
              <a:ext cx="768" cy="240"/>
            </a:xfrm>
            <a:prstGeom prst="rect">
              <a:avLst/>
            </a:prstGeom>
            <a:solidFill>
              <a:srgbClr val="99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1800"/>
                <a:t>Data for A</a:t>
              </a:r>
            </a:p>
          </p:txBody>
        </p:sp>
        <p:sp>
          <p:nvSpPr>
            <p:cNvPr id="22541" name="Rectangle 31"/>
            <p:cNvSpPr>
              <a:spLocks noChangeArrowheads="1"/>
            </p:cNvSpPr>
            <p:nvPr/>
          </p:nvSpPr>
          <p:spPr bwMode="auto">
            <a:xfrm>
              <a:off x="3216" y="3744"/>
              <a:ext cx="432" cy="240"/>
            </a:xfrm>
            <a:prstGeom prst="rect">
              <a:avLst/>
            </a:prstGeom>
            <a:solidFill>
              <a:srgbClr val="66FF33"/>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1800"/>
                <a:t>ACK</a:t>
              </a:r>
            </a:p>
          </p:txBody>
        </p:sp>
      </p:grpSp>
      <p:sp>
        <p:nvSpPr>
          <p:cNvPr id="14" name="Rectangle 32"/>
          <p:cNvSpPr>
            <a:spLocks noChangeArrowheads="1"/>
          </p:cNvSpPr>
          <p:nvPr/>
        </p:nvSpPr>
        <p:spPr bwMode="auto">
          <a:xfrm>
            <a:off x="4114800" y="5181600"/>
            <a:ext cx="685800" cy="381000"/>
          </a:xfrm>
          <a:prstGeom prst="rect">
            <a:avLst/>
          </a:prstGeom>
          <a:solidFill>
            <a:srgbClr val="66FF33"/>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1800"/>
              <a:t>ACK</a:t>
            </a:r>
          </a:p>
        </p:txBody>
      </p:sp>
    </p:spTree>
    <p:extLst>
      <p:ext uri="{BB962C8B-B14F-4D97-AF65-F5344CB8AC3E}">
        <p14:creationId xmlns:p14="http://schemas.microsoft.com/office/powerpoint/2010/main" val="23420547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63" presetClass="path" presetSubtype="0" accel="50000" decel="50000" fill="hold" grpId="1" nodeType="clickEffect">
                                  <p:stCondLst>
                                    <p:cond delay="0"/>
                                  </p:stCondLst>
                                  <p:childTnLst>
                                    <p:animMotion origin="layout" path="M 3.33333E-6 2.09453E-6 L 0.35 2.09453E-6 " pathEditMode="relative" rAng="0" ptsTypes="AA">
                                      <p:cBhvr>
                                        <p:cTn id="10" dur="2000" fill="hold"/>
                                        <p:tgtEl>
                                          <p:spTgt spid="8"/>
                                        </p:tgtEl>
                                        <p:attrNameLst>
                                          <p:attrName>ppt_x</p:attrName>
                                          <p:attrName>ppt_y</p:attrName>
                                        </p:attrNameLst>
                                      </p:cBhvr>
                                      <p:rCtr x="17500" y="0"/>
                                    </p:animMotion>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35" presetClass="path" presetSubtype="0" accel="50000" decel="50000" fill="hold" nodeType="clickEffect">
                                  <p:stCondLst>
                                    <p:cond delay="0"/>
                                  </p:stCondLst>
                                  <p:childTnLst>
                                    <p:animMotion origin="layout" path="M 3.33333E-6 -3.4013E-6 L -0.30417 -3.4013E-6 " pathEditMode="relative" rAng="0" ptsTypes="AA">
                                      <p:cBhvr>
                                        <p:cTn id="18" dur="2000" fill="hold"/>
                                        <p:tgtEl>
                                          <p:spTgt spid="4"/>
                                        </p:tgtEl>
                                        <p:attrNameLst>
                                          <p:attrName>ppt_x</p:attrName>
                                          <p:attrName>ppt_y</p:attrName>
                                        </p:attrNameLst>
                                      </p:cBhvr>
                                      <p:rCtr x="-15208" y="0"/>
                                    </p:animMotion>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63" presetClass="path" presetSubtype="0" accel="50000" decel="50000" fill="hold" grpId="1" nodeType="clickEffect">
                                  <p:stCondLst>
                                    <p:cond delay="0"/>
                                  </p:stCondLst>
                                  <p:childTnLst>
                                    <p:animMotion origin="layout" path="M 0.0 3.9203E-6 L 0.3875 3.9203E-6 " pathEditMode="relative" rAng="0" ptsTypes="AA">
                                      <p:cBhvr>
                                        <p:cTn id="26" dur="2000" fill="hold"/>
                                        <p:tgtEl>
                                          <p:spTgt spid="14"/>
                                        </p:tgtEl>
                                        <p:attrNameLst>
                                          <p:attrName>ppt_x</p:attrName>
                                          <p:attrName>ppt_y</p:attrName>
                                        </p:attrNameLst>
                                      </p:cBhvr>
                                      <p:rCtr x="1937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4" grpId="0" animBg="1"/>
      <p:bldP spid="14"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re 1"/>
          <p:cNvSpPr>
            <a:spLocks noGrp="1"/>
          </p:cNvSpPr>
          <p:nvPr>
            <p:ph type="title"/>
          </p:nvPr>
        </p:nvSpPr>
        <p:spPr/>
        <p:txBody>
          <a:bodyPr/>
          <a:lstStyle/>
          <a:p>
            <a:r>
              <a:rPr lang="fr-FR" altLang="en-US"/>
              <a:t>Acknowledgment numbers </a:t>
            </a:r>
          </a:p>
        </p:txBody>
      </p:sp>
      <p:sp>
        <p:nvSpPr>
          <p:cNvPr id="3" name="Espace réservé du contenu 2"/>
          <p:cNvSpPr>
            <a:spLocks noGrp="1"/>
          </p:cNvSpPr>
          <p:nvPr>
            <p:ph idx="1"/>
          </p:nvPr>
        </p:nvSpPr>
        <p:spPr/>
        <p:txBody>
          <a:bodyPr/>
          <a:lstStyle/>
          <a:p>
            <a:pPr>
              <a:defRPr/>
            </a:pPr>
            <a:r>
              <a:rPr lang="fr-FR" dirty="0"/>
              <a:t>A </a:t>
            </a:r>
            <a:r>
              <a:rPr lang="fr-FR" dirty="0" err="1"/>
              <a:t>sends</a:t>
            </a:r>
            <a:r>
              <a:rPr lang="fr-FR" dirty="0"/>
              <a:t> a segment to B, </a:t>
            </a:r>
            <a:r>
              <a:rPr lang="fr-FR" dirty="0" err="1"/>
              <a:t>what</a:t>
            </a:r>
            <a:r>
              <a:rPr lang="fr-FR" dirty="0"/>
              <a:t> </a:t>
            </a:r>
            <a:r>
              <a:rPr lang="fr-FR" dirty="0" err="1"/>
              <a:t>would</a:t>
            </a:r>
            <a:r>
              <a:rPr lang="fr-FR" dirty="0"/>
              <a:t> B put in the </a:t>
            </a:r>
            <a:r>
              <a:rPr lang="fr-FR" dirty="0" err="1"/>
              <a:t>Ack</a:t>
            </a:r>
            <a:r>
              <a:rPr lang="fr-FR" dirty="0"/>
              <a:t> </a:t>
            </a:r>
            <a:r>
              <a:rPr lang="fr-FR" dirty="0" err="1"/>
              <a:t>sequence</a:t>
            </a:r>
            <a:r>
              <a:rPr lang="fr-FR" dirty="0"/>
              <a:t> </a:t>
            </a:r>
            <a:r>
              <a:rPr lang="fr-FR" dirty="0" err="1"/>
              <a:t>number</a:t>
            </a:r>
            <a:r>
              <a:rPr lang="fr-FR" dirty="0"/>
              <a:t> in the </a:t>
            </a:r>
            <a:r>
              <a:rPr lang="fr-FR" dirty="0" err="1"/>
              <a:t>next</a:t>
            </a:r>
            <a:r>
              <a:rPr lang="fr-FR" dirty="0"/>
              <a:t> segment </a:t>
            </a:r>
            <a:r>
              <a:rPr lang="fr-FR" dirty="0" err="1"/>
              <a:t>it</a:t>
            </a:r>
            <a:r>
              <a:rPr lang="fr-FR" dirty="0"/>
              <a:t> </a:t>
            </a:r>
            <a:r>
              <a:rPr lang="fr-FR" dirty="0" err="1"/>
              <a:t>sends</a:t>
            </a:r>
            <a:r>
              <a:rPr lang="fr-FR" dirty="0"/>
              <a:t> to A? </a:t>
            </a:r>
          </a:p>
          <a:p>
            <a:pPr lvl="1">
              <a:defRPr/>
            </a:pPr>
            <a:r>
              <a:rPr lang="fr-FR" i="1" dirty="0" err="1"/>
              <a:t>next</a:t>
            </a:r>
            <a:r>
              <a:rPr lang="fr-FR" i="1" dirty="0"/>
              <a:t> byte Host B </a:t>
            </a:r>
            <a:r>
              <a:rPr lang="fr-FR" i="1" dirty="0" err="1"/>
              <a:t>is</a:t>
            </a:r>
            <a:r>
              <a:rPr lang="fr-FR" i="1" dirty="0"/>
              <a:t> </a:t>
            </a:r>
            <a:r>
              <a:rPr lang="fr-FR" i="1" dirty="0" err="1"/>
              <a:t>expecting</a:t>
            </a:r>
            <a:r>
              <a:rPr lang="fr-FR" i="1" dirty="0"/>
              <a:t> </a:t>
            </a:r>
            <a:r>
              <a:rPr lang="fr-FR" i="1" dirty="0" err="1"/>
              <a:t>from</a:t>
            </a:r>
            <a:r>
              <a:rPr lang="fr-FR" i="1" dirty="0"/>
              <a:t> Host A. </a:t>
            </a:r>
          </a:p>
          <a:p>
            <a:pPr>
              <a:defRPr/>
            </a:pPr>
            <a:endParaRPr lang="fr-FR" dirty="0"/>
          </a:p>
          <a:p>
            <a:pPr>
              <a:defRPr/>
            </a:pPr>
            <a:r>
              <a:rPr lang="fr-FR" dirty="0"/>
              <a:t>A </a:t>
            </a:r>
            <a:r>
              <a:rPr lang="fr-FR" dirty="0" err="1"/>
              <a:t>sends</a:t>
            </a:r>
            <a:r>
              <a:rPr lang="fr-FR" dirty="0"/>
              <a:t> a segment to B, </a:t>
            </a:r>
            <a:r>
              <a:rPr lang="fr-FR" dirty="0" err="1"/>
              <a:t>what</a:t>
            </a:r>
            <a:r>
              <a:rPr lang="fr-FR" dirty="0"/>
              <a:t> </a:t>
            </a:r>
            <a:r>
              <a:rPr lang="fr-FR" dirty="0" err="1"/>
              <a:t>would</a:t>
            </a:r>
            <a:r>
              <a:rPr lang="fr-FR" dirty="0"/>
              <a:t> A put in the </a:t>
            </a:r>
            <a:r>
              <a:rPr lang="fr-FR" dirty="0" err="1"/>
              <a:t>Ack</a:t>
            </a:r>
            <a:r>
              <a:rPr lang="fr-FR" dirty="0"/>
              <a:t> </a:t>
            </a:r>
            <a:r>
              <a:rPr lang="fr-FR" dirty="0" err="1"/>
              <a:t>sequence</a:t>
            </a:r>
            <a:r>
              <a:rPr lang="fr-FR" dirty="0"/>
              <a:t> </a:t>
            </a:r>
            <a:r>
              <a:rPr lang="fr-FR" dirty="0" err="1"/>
              <a:t>number</a:t>
            </a:r>
            <a:r>
              <a:rPr lang="fr-FR" dirty="0"/>
              <a:t> in the </a:t>
            </a:r>
            <a:r>
              <a:rPr lang="fr-FR" dirty="0" err="1"/>
              <a:t>next</a:t>
            </a:r>
            <a:r>
              <a:rPr lang="fr-FR" dirty="0"/>
              <a:t> segment </a:t>
            </a:r>
            <a:r>
              <a:rPr lang="fr-FR" dirty="0" err="1"/>
              <a:t>it</a:t>
            </a:r>
            <a:r>
              <a:rPr lang="fr-FR" dirty="0"/>
              <a:t> </a:t>
            </a:r>
            <a:r>
              <a:rPr lang="fr-FR" dirty="0" err="1"/>
              <a:t>sends</a:t>
            </a:r>
            <a:r>
              <a:rPr lang="fr-FR" dirty="0"/>
              <a:t> to B? </a:t>
            </a:r>
          </a:p>
          <a:p>
            <a:pPr lvl="1">
              <a:defRPr/>
            </a:pPr>
            <a:r>
              <a:rPr lang="fr-FR" i="1" dirty="0" err="1"/>
              <a:t>next</a:t>
            </a:r>
            <a:r>
              <a:rPr lang="fr-FR" i="1" dirty="0"/>
              <a:t> byte Host A </a:t>
            </a:r>
            <a:r>
              <a:rPr lang="fr-FR" i="1" dirty="0" err="1"/>
              <a:t>is</a:t>
            </a:r>
            <a:r>
              <a:rPr lang="fr-FR" i="1" dirty="0"/>
              <a:t> </a:t>
            </a:r>
            <a:r>
              <a:rPr lang="fr-FR" i="1" dirty="0" err="1"/>
              <a:t>expecting</a:t>
            </a:r>
            <a:r>
              <a:rPr lang="fr-FR" i="1" dirty="0"/>
              <a:t> </a:t>
            </a:r>
            <a:r>
              <a:rPr lang="fr-FR" i="1" dirty="0" err="1"/>
              <a:t>from</a:t>
            </a:r>
            <a:r>
              <a:rPr lang="fr-FR" i="1" dirty="0"/>
              <a:t> Host B. </a:t>
            </a:r>
          </a:p>
          <a:p>
            <a:pPr marL="457200" lvl="1" indent="0">
              <a:buNone/>
              <a:defRPr/>
            </a:pPr>
            <a:endParaRPr lang="fr-FR" dirty="0"/>
          </a:p>
          <a:p>
            <a:pPr lvl="1">
              <a:defRPr/>
            </a:pPr>
            <a:endParaRPr lang="fr-FR" dirty="0"/>
          </a:p>
          <a:p>
            <a:pPr>
              <a:defRPr/>
            </a:pPr>
            <a:endParaRPr lang="fr-FR" dirty="0"/>
          </a:p>
        </p:txBody>
      </p:sp>
    </p:spTree>
    <p:extLst>
      <p:ext uri="{BB962C8B-B14F-4D97-AF65-F5344CB8AC3E}">
        <p14:creationId xmlns:p14="http://schemas.microsoft.com/office/powerpoint/2010/main" val="41551001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heckerboard(across)">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5" presetClass="entr" presetSubtype="10" fill="hold"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checkerboard(across)">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re 1"/>
          <p:cNvSpPr>
            <a:spLocks noGrp="1"/>
          </p:cNvSpPr>
          <p:nvPr>
            <p:ph type="title"/>
          </p:nvPr>
        </p:nvSpPr>
        <p:spPr/>
        <p:txBody>
          <a:bodyPr/>
          <a:lstStyle/>
          <a:p>
            <a:r>
              <a:rPr lang="fr-FR" altLang="en-US"/>
              <a:t>An example</a:t>
            </a:r>
          </a:p>
        </p:txBody>
      </p:sp>
      <p:sp>
        <p:nvSpPr>
          <p:cNvPr id="25603" name="Espace réservé du contenu 2"/>
          <p:cNvSpPr>
            <a:spLocks noGrp="1"/>
          </p:cNvSpPr>
          <p:nvPr>
            <p:ph idx="1"/>
          </p:nvPr>
        </p:nvSpPr>
        <p:spPr/>
        <p:txBody>
          <a:bodyPr/>
          <a:lstStyle/>
          <a:p>
            <a:r>
              <a:rPr lang="fr-FR" altLang="en-US"/>
              <a:t>Host A has received all bytes numbered 0 through 535 from B. </a:t>
            </a:r>
          </a:p>
          <a:p>
            <a:r>
              <a:rPr lang="fr-FR" altLang="en-US"/>
              <a:t>Host A is waiting for byte 536 and all the subsequent bytes in Host B</a:t>
            </a:r>
            <a:r>
              <a:rPr lang="fr-FR" altLang="fr-FR"/>
              <a:t>’</a:t>
            </a:r>
            <a:r>
              <a:rPr lang="fr-FR" altLang="en-US"/>
              <a:t>s data stream. </a:t>
            </a:r>
          </a:p>
          <a:p>
            <a:endParaRPr lang="fr-FR" altLang="en-US"/>
          </a:p>
          <a:p>
            <a:r>
              <a:rPr lang="fr-FR" altLang="en-US"/>
              <a:t>What does Host A put in the acknowledgment number field of the next segment it sends to B?</a:t>
            </a:r>
          </a:p>
          <a:p>
            <a:endParaRPr lang="fr-FR" altLang="en-US"/>
          </a:p>
        </p:txBody>
      </p:sp>
      <p:sp>
        <p:nvSpPr>
          <p:cNvPr id="2" name="Rectangle 1"/>
          <p:cNvSpPr>
            <a:spLocks noChangeArrowheads="1"/>
          </p:cNvSpPr>
          <p:nvPr/>
        </p:nvSpPr>
        <p:spPr bwMode="auto">
          <a:xfrm>
            <a:off x="2438400" y="5410200"/>
            <a:ext cx="77724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2800">
                <a:solidFill>
                  <a:srgbClr val="FF3300"/>
                </a:solidFill>
              </a:rPr>
              <a:t>Host A puts 536 in the acknowledgment number</a:t>
            </a:r>
          </a:p>
          <a:p>
            <a:pPr>
              <a:spcBef>
                <a:spcPct val="0"/>
              </a:spcBef>
              <a:buFontTx/>
              <a:buNone/>
            </a:pPr>
            <a:r>
              <a:rPr lang="en-US" altLang="en-US" sz="2800">
                <a:solidFill>
                  <a:srgbClr val="FF3300"/>
                </a:solidFill>
              </a:rPr>
              <a:t>field of the segment it sends to B</a:t>
            </a:r>
          </a:p>
        </p:txBody>
      </p:sp>
    </p:spTree>
    <p:extLst>
      <p:ext uri="{BB962C8B-B14F-4D97-AF65-F5344CB8AC3E}">
        <p14:creationId xmlns:p14="http://schemas.microsoft.com/office/powerpoint/2010/main" val="2109563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p:cNvSpPr>
            <a:spLocks noGrp="1"/>
          </p:cNvSpPr>
          <p:nvPr>
            <p:ph type="title"/>
          </p:nvPr>
        </p:nvSpPr>
        <p:spPr/>
        <p:txBody>
          <a:bodyPr/>
          <a:lstStyle/>
          <a:p>
            <a:r>
              <a:rPr lang="fr-FR" altLang="en-US"/>
              <a:t>Another example</a:t>
            </a:r>
          </a:p>
        </p:txBody>
      </p:sp>
      <p:sp>
        <p:nvSpPr>
          <p:cNvPr id="20483" name="Espace réservé du contenu 2"/>
          <p:cNvSpPr>
            <a:spLocks noGrp="1"/>
          </p:cNvSpPr>
          <p:nvPr>
            <p:ph idx="1"/>
          </p:nvPr>
        </p:nvSpPr>
        <p:spPr/>
        <p:txBody>
          <a:bodyPr/>
          <a:lstStyle/>
          <a:p>
            <a:pPr>
              <a:defRPr/>
            </a:pPr>
            <a:r>
              <a:rPr lang="fr-FR" altLang="en-US" dirty="0"/>
              <a:t>Host A has </a:t>
            </a:r>
            <a:r>
              <a:rPr lang="fr-FR" altLang="en-US" dirty="0" err="1"/>
              <a:t>received</a:t>
            </a:r>
            <a:r>
              <a:rPr lang="fr-FR" altLang="en-US" dirty="0"/>
              <a:t> all bytes </a:t>
            </a:r>
            <a:r>
              <a:rPr lang="fr-FR" altLang="en-US" dirty="0" err="1"/>
              <a:t>numbered</a:t>
            </a:r>
            <a:r>
              <a:rPr lang="fr-FR" altLang="en-US" dirty="0"/>
              <a:t> 0 </a:t>
            </a:r>
            <a:r>
              <a:rPr lang="fr-FR" altLang="en-US" dirty="0" err="1"/>
              <a:t>through</a:t>
            </a:r>
            <a:r>
              <a:rPr lang="fr-FR" altLang="en-US" dirty="0"/>
              <a:t> 535 </a:t>
            </a:r>
            <a:r>
              <a:rPr lang="fr-FR" altLang="en-US" dirty="0" err="1"/>
              <a:t>from</a:t>
            </a:r>
            <a:r>
              <a:rPr lang="fr-FR" altLang="en-US" dirty="0"/>
              <a:t> B. </a:t>
            </a:r>
          </a:p>
          <a:p>
            <a:pPr>
              <a:defRPr/>
            </a:pPr>
            <a:r>
              <a:rPr lang="fr-FR" altLang="en-US" dirty="0"/>
              <a:t>Host A has </a:t>
            </a:r>
            <a:r>
              <a:rPr lang="fr-FR" altLang="en-US" dirty="0" err="1"/>
              <a:t>also</a:t>
            </a:r>
            <a:r>
              <a:rPr lang="fr-FR" altLang="en-US" dirty="0"/>
              <a:t> </a:t>
            </a:r>
            <a:r>
              <a:rPr lang="fr-FR" altLang="en-US" dirty="0" err="1"/>
              <a:t>received</a:t>
            </a:r>
            <a:r>
              <a:rPr lang="fr-FR" altLang="en-US" dirty="0"/>
              <a:t> </a:t>
            </a:r>
            <a:r>
              <a:rPr lang="fr-FR" altLang="en-US" dirty="0" err="1"/>
              <a:t>another</a:t>
            </a:r>
            <a:r>
              <a:rPr lang="fr-FR" altLang="en-US" dirty="0"/>
              <a:t> segment </a:t>
            </a:r>
            <a:r>
              <a:rPr lang="fr-FR" altLang="en-US" dirty="0" err="1"/>
              <a:t>containing</a:t>
            </a:r>
            <a:r>
              <a:rPr lang="fr-FR" altLang="en-US" dirty="0"/>
              <a:t> bytes 900 </a:t>
            </a:r>
            <a:r>
              <a:rPr lang="fr-FR" altLang="en-US" dirty="0" err="1"/>
              <a:t>through</a:t>
            </a:r>
            <a:r>
              <a:rPr lang="fr-FR" altLang="en-US" dirty="0"/>
              <a:t> 1,000 </a:t>
            </a:r>
          </a:p>
          <a:p>
            <a:pPr lvl="1">
              <a:defRPr/>
            </a:pPr>
            <a:r>
              <a:rPr lang="fr-FR" altLang="en-US" dirty="0"/>
              <a:t>For </a:t>
            </a:r>
            <a:r>
              <a:rPr lang="fr-FR" altLang="en-US" dirty="0" err="1"/>
              <a:t>some</a:t>
            </a:r>
            <a:r>
              <a:rPr lang="fr-FR" altLang="en-US" dirty="0"/>
              <a:t> </a:t>
            </a:r>
            <a:r>
              <a:rPr lang="fr-FR" altLang="en-US" dirty="0" err="1"/>
              <a:t>reason</a:t>
            </a:r>
            <a:r>
              <a:rPr lang="fr-FR" altLang="en-US" dirty="0"/>
              <a:t> Host A has not </a:t>
            </a:r>
            <a:r>
              <a:rPr lang="fr-FR" altLang="en-US" dirty="0" err="1"/>
              <a:t>yet</a:t>
            </a:r>
            <a:r>
              <a:rPr lang="fr-FR" altLang="en-US" dirty="0"/>
              <a:t> </a:t>
            </a:r>
            <a:r>
              <a:rPr lang="fr-FR" altLang="en-US" dirty="0" err="1"/>
              <a:t>received</a:t>
            </a:r>
            <a:r>
              <a:rPr lang="fr-FR" altLang="en-US" dirty="0"/>
              <a:t> bytes 536 </a:t>
            </a:r>
            <a:r>
              <a:rPr lang="fr-FR" altLang="en-US" dirty="0" err="1"/>
              <a:t>through</a:t>
            </a:r>
            <a:r>
              <a:rPr lang="fr-FR" altLang="en-US" dirty="0"/>
              <a:t> 899. </a:t>
            </a:r>
          </a:p>
          <a:p>
            <a:pPr marL="457200" lvl="1" indent="0">
              <a:buNone/>
              <a:defRPr/>
            </a:pPr>
            <a:endParaRPr lang="fr-FR" altLang="en-US" dirty="0"/>
          </a:p>
          <a:p>
            <a:pPr>
              <a:defRPr/>
            </a:pPr>
            <a:r>
              <a:rPr lang="fr-FR" altLang="en-US" dirty="0" err="1"/>
              <a:t>What</a:t>
            </a:r>
            <a:r>
              <a:rPr lang="fr-FR" altLang="en-US" dirty="0"/>
              <a:t> </a:t>
            </a:r>
            <a:r>
              <a:rPr lang="fr-FR" altLang="en-US" dirty="0" err="1"/>
              <a:t>does</a:t>
            </a:r>
            <a:r>
              <a:rPr lang="fr-FR" altLang="en-US" dirty="0"/>
              <a:t> Host A put in the </a:t>
            </a:r>
            <a:r>
              <a:rPr lang="fr-FR" altLang="en-US" dirty="0" err="1"/>
              <a:t>acknowledgment</a:t>
            </a:r>
            <a:r>
              <a:rPr lang="fr-FR" altLang="en-US" dirty="0"/>
              <a:t> </a:t>
            </a:r>
            <a:r>
              <a:rPr lang="fr-FR" altLang="en-US" dirty="0" err="1"/>
              <a:t>number</a:t>
            </a:r>
            <a:r>
              <a:rPr lang="fr-FR" altLang="en-US" dirty="0"/>
              <a:t> </a:t>
            </a:r>
            <a:r>
              <a:rPr lang="fr-FR" altLang="en-US" dirty="0" err="1"/>
              <a:t>field</a:t>
            </a:r>
            <a:r>
              <a:rPr lang="fr-FR" altLang="en-US" dirty="0"/>
              <a:t> of the </a:t>
            </a:r>
            <a:r>
              <a:rPr lang="fr-FR" altLang="en-US" dirty="0" err="1"/>
              <a:t>next</a:t>
            </a:r>
            <a:r>
              <a:rPr lang="fr-FR" altLang="en-US" dirty="0"/>
              <a:t> segment </a:t>
            </a:r>
            <a:r>
              <a:rPr lang="fr-FR" altLang="en-US" dirty="0" err="1"/>
              <a:t>it</a:t>
            </a:r>
            <a:r>
              <a:rPr lang="fr-FR" altLang="en-US" dirty="0"/>
              <a:t> </a:t>
            </a:r>
            <a:r>
              <a:rPr lang="fr-FR" altLang="en-US" dirty="0" err="1"/>
              <a:t>sends</a:t>
            </a:r>
            <a:r>
              <a:rPr lang="fr-FR" altLang="en-US" dirty="0"/>
              <a:t> to B?</a:t>
            </a:r>
          </a:p>
          <a:p>
            <a:pPr>
              <a:defRPr/>
            </a:pPr>
            <a:endParaRPr lang="fr-FR" altLang="en-US" dirty="0"/>
          </a:p>
        </p:txBody>
      </p:sp>
      <p:sp>
        <p:nvSpPr>
          <p:cNvPr id="26628" name="Rectangle 1"/>
          <p:cNvSpPr>
            <a:spLocks noChangeArrowheads="1"/>
          </p:cNvSpPr>
          <p:nvPr/>
        </p:nvSpPr>
        <p:spPr bwMode="auto">
          <a:xfrm>
            <a:off x="2362200" y="5799139"/>
            <a:ext cx="8915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2000">
                <a:solidFill>
                  <a:srgbClr val="FF3300"/>
                </a:solidFill>
              </a:rPr>
              <a:t>A’s next segment to B will contain 536 in the acknowledgment</a:t>
            </a:r>
          </a:p>
          <a:p>
            <a:pPr>
              <a:spcBef>
                <a:spcPct val="0"/>
              </a:spcBef>
              <a:buFontTx/>
              <a:buNone/>
            </a:pPr>
            <a:r>
              <a:rPr lang="en-US" altLang="en-US" sz="2000">
                <a:solidFill>
                  <a:srgbClr val="FF3300"/>
                </a:solidFill>
              </a:rPr>
              <a:t>number field</a:t>
            </a:r>
          </a:p>
        </p:txBody>
      </p:sp>
    </p:spTree>
    <p:extLst>
      <p:ext uri="{BB962C8B-B14F-4D97-AF65-F5344CB8AC3E}">
        <p14:creationId xmlns:p14="http://schemas.microsoft.com/office/powerpoint/2010/main" val="371457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1"/>
          <p:cNvSpPr>
            <a:spLocks noGrp="1"/>
          </p:cNvSpPr>
          <p:nvPr>
            <p:ph type="title"/>
          </p:nvPr>
        </p:nvSpPr>
        <p:spPr/>
        <p:txBody>
          <a:bodyPr/>
          <a:lstStyle/>
          <a:p>
            <a:r>
              <a:rPr lang="fr-FR" altLang="en-US"/>
              <a:t>Out of order segments</a:t>
            </a:r>
          </a:p>
        </p:txBody>
      </p:sp>
      <p:sp>
        <p:nvSpPr>
          <p:cNvPr id="27651" name="Espace réservé du contenu 2"/>
          <p:cNvSpPr>
            <a:spLocks noGrp="1"/>
          </p:cNvSpPr>
          <p:nvPr>
            <p:ph idx="1"/>
          </p:nvPr>
        </p:nvSpPr>
        <p:spPr/>
        <p:txBody>
          <a:bodyPr/>
          <a:lstStyle/>
          <a:p>
            <a:r>
              <a:rPr lang="fr-FR" altLang="en-US"/>
              <a:t>TCP only acknowledges bytes up to the first missing byte in the stream, TCP is said to provide </a:t>
            </a:r>
            <a:r>
              <a:rPr lang="fr-FR" altLang="en-US" b="1"/>
              <a:t>cumulative acknowledgments</a:t>
            </a:r>
            <a:r>
              <a:rPr lang="fr-FR" altLang="en-US"/>
              <a:t>. </a:t>
            </a:r>
          </a:p>
          <a:p>
            <a:endParaRPr lang="fr-FR" altLang="en-US"/>
          </a:p>
          <a:p>
            <a:r>
              <a:rPr lang="fr-FR" altLang="en-US"/>
              <a:t>For out of order segments it can either discard them or buffer them (the approach actually taken in practice)</a:t>
            </a:r>
          </a:p>
        </p:txBody>
      </p:sp>
    </p:spTree>
    <p:extLst>
      <p:ext uri="{BB962C8B-B14F-4D97-AF65-F5344CB8AC3E}">
        <p14:creationId xmlns:p14="http://schemas.microsoft.com/office/powerpoint/2010/main" val="697258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1"/>
          <p:cNvSpPr>
            <a:spLocks noGrp="1"/>
          </p:cNvSpPr>
          <p:nvPr>
            <p:ph type="title"/>
          </p:nvPr>
        </p:nvSpPr>
        <p:spPr/>
        <p:txBody>
          <a:bodyPr/>
          <a:lstStyle/>
          <a:p>
            <a:r>
              <a:rPr lang="fr-FR" altLang="en-US"/>
              <a:t>The seg/ack numbers base</a:t>
            </a:r>
          </a:p>
        </p:txBody>
      </p:sp>
      <p:sp>
        <p:nvSpPr>
          <p:cNvPr id="3" name="Espace réservé du contenu 2"/>
          <p:cNvSpPr>
            <a:spLocks noGrp="1"/>
          </p:cNvSpPr>
          <p:nvPr>
            <p:ph idx="1"/>
          </p:nvPr>
        </p:nvSpPr>
        <p:spPr/>
        <p:txBody>
          <a:bodyPr/>
          <a:lstStyle/>
          <a:p>
            <a:r>
              <a:rPr lang="fr-FR" altLang="en-US"/>
              <a:t>we assumed that the initial sequence number was zero. </a:t>
            </a:r>
          </a:p>
          <a:p>
            <a:r>
              <a:rPr lang="fr-FR" altLang="en-US"/>
              <a:t>In truth, both sides of a TCP connection randomly choose an initial sequence number. </a:t>
            </a:r>
          </a:p>
          <a:p>
            <a:endParaRPr lang="fr-FR" altLang="en-US"/>
          </a:p>
          <a:p>
            <a:r>
              <a:rPr lang="fr-FR" altLang="en-US"/>
              <a:t>Why?</a:t>
            </a:r>
          </a:p>
        </p:txBody>
      </p:sp>
    </p:spTree>
    <p:extLst>
      <p:ext uri="{BB962C8B-B14F-4D97-AF65-F5344CB8AC3E}">
        <p14:creationId xmlns:p14="http://schemas.microsoft.com/office/powerpoint/2010/main" val="40002045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sequence numbers, ACKs</a:t>
            </a:r>
            <a:endParaRPr lang="en-US" sz="4400" b="0" dirty="0"/>
          </a:p>
        </p:txBody>
      </p:sp>
      <p:sp>
        <p:nvSpPr>
          <p:cNvPr id="133" name="Text Box 8">
            <a:extLst>
              <a:ext uri="{FF2B5EF4-FFF2-40B4-BE49-F238E27FC236}">
                <a16:creationId xmlns:a16="http://schemas.microsoft.com/office/drawing/2014/main" id="{4BFA7F94-ECDC-4F4E-BAAE-2F377F89AF1C}"/>
              </a:ext>
            </a:extLst>
          </p:cNvPr>
          <p:cNvSpPr txBox="1">
            <a:spLocks noChangeArrowheads="1"/>
          </p:cNvSpPr>
          <p:nvPr/>
        </p:nvSpPr>
        <p:spPr bwMode="auto">
          <a:xfrm>
            <a:off x="1661117" y="4011734"/>
            <a:ext cx="2519185" cy="75713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host ACKs receipt of echoed </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4" name="Text Box 9">
            <a:extLst>
              <a:ext uri="{FF2B5EF4-FFF2-40B4-BE49-F238E27FC236}">
                <a16:creationId xmlns:a16="http://schemas.microsoft.com/office/drawing/2014/main" id="{6F6C270A-95D4-3B45-95CD-2E7A27820BF0}"/>
              </a:ext>
            </a:extLst>
          </p:cNvPr>
          <p:cNvSpPr txBox="1">
            <a:spLocks noChangeArrowheads="1"/>
          </p:cNvSpPr>
          <p:nvPr/>
        </p:nvSpPr>
        <p:spPr bwMode="auto">
          <a:xfrm>
            <a:off x="7229477" y="3001865"/>
            <a:ext cx="3187212" cy="83099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host ACKs receipt of</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echoes </a:t>
            </a: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back </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6" name="Text Box 11">
            <a:extLst>
              <a:ext uri="{FF2B5EF4-FFF2-40B4-BE49-F238E27FC236}">
                <a16:creationId xmlns:a16="http://schemas.microsoft.com/office/drawing/2014/main" id="{7AB83FEF-E6C5-3C4E-8F11-410822AB937A}"/>
              </a:ext>
            </a:extLst>
          </p:cNvPr>
          <p:cNvSpPr txBox="1">
            <a:spLocks noChangeArrowheads="1"/>
          </p:cNvSpPr>
          <p:nvPr/>
        </p:nvSpPr>
        <p:spPr bwMode="auto">
          <a:xfrm>
            <a:off x="3961011" y="5644479"/>
            <a:ext cx="3401893" cy="52322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dirty="0">
                <a:ln>
                  <a:noFill/>
                </a:ln>
                <a:solidFill>
                  <a:srgbClr val="000099"/>
                </a:solidFill>
                <a:effectLst/>
                <a:uLnTx/>
                <a:uFillTx/>
                <a:latin typeface="Calibri" panose="020F0502020204030204"/>
                <a:ea typeface="ＭＳ Ｐゴシック" charset="0"/>
                <a:cs typeface="+mn-cs"/>
              </a:rPr>
              <a:t>simple telnet scenario</a:t>
            </a:r>
            <a:endParaRPr kumimoji="0" lang="en-US" sz="1200" b="0" i="0" u="none" strike="noStrike" kern="0" cap="none" spc="0" normalizeH="0" baseline="0" noProof="0" dirty="0">
              <a:ln>
                <a:noFill/>
              </a:ln>
              <a:solidFill>
                <a:srgbClr val="000099"/>
              </a:solidFill>
              <a:effectLst/>
              <a:uLnTx/>
              <a:uFillTx/>
              <a:latin typeface="Calibri" panose="020F0502020204030204"/>
              <a:ea typeface="ＭＳ Ｐゴシック" charset="0"/>
              <a:cs typeface="+mn-cs"/>
            </a:endParaRPr>
          </a:p>
        </p:txBody>
      </p:sp>
      <p:sp>
        <p:nvSpPr>
          <p:cNvPr id="137" name="Text Box 13">
            <a:extLst>
              <a:ext uri="{FF2B5EF4-FFF2-40B4-BE49-F238E27FC236}">
                <a16:creationId xmlns:a16="http://schemas.microsoft.com/office/drawing/2014/main" id="{0851DEB2-88A4-C849-8DEA-02D53E9ABCBD}"/>
              </a:ext>
            </a:extLst>
          </p:cNvPr>
          <p:cNvSpPr txBox="1">
            <a:spLocks noChangeArrowheads="1"/>
          </p:cNvSpPr>
          <p:nvPr/>
        </p:nvSpPr>
        <p:spPr bwMode="auto">
          <a:xfrm>
            <a:off x="7129672" y="1492971"/>
            <a:ext cx="997389" cy="46166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B</a:t>
            </a:r>
          </a:p>
        </p:txBody>
      </p:sp>
      <p:sp>
        <p:nvSpPr>
          <p:cNvPr id="138" name="Text Box 17">
            <a:extLst>
              <a:ext uri="{FF2B5EF4-FFF2-40B4-BE49-F238E27FC236}">
                <a16:creationId xmlns:a16="http://schemas.microsoft.com/office/drawing/2014/main" id="{847A8C2E-C7AE-5B45-9FFE-DE39BC581384}"/>
              </a:ext>
            </a:extLst>
          </p:cNvPr>
          <p:cNvSpPr txBox="1">
            <a:spLocks noChangeArrowheads="1"/>
          </p:cNvSpPr>
          <p:nvPr/>
        </p:nvSpPr>
        <p:spPr bwMode="auto">
          <a:xfrm>
            <a:off x="3204390" y="1459336"/>
            <a:ext cx="1008610" cy="46166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A</a:t>
            </a:r>
          </a:p>
        </p:txBody>
      </p:sp>
      <p:grpSp>
        <p:nvGrpSpPr>
          <p:cNvPr id="4" name="Group 3">
            <a:extLst>
              <a:ext uri="{FF2B5EF4-FFF2-40B4-BE49-F238E27FC236}">
                <a16:creationId xmlns:a16="http://schemas.microsoft.com/office/drawing/2014/main" id="{89152BC9-BFE2-2C4F-B7CF-DD705BF09468}"/>
              </a:ext>
            </a:extLst>
          </p:cNvPr>
          <p:cNvGrpSpPr/>
          <p:nvPr/>
        </p:nvGrpSpPr>
        <p:grpSpPr>
          <a:xfrm>
            <a:off x="1499000" y="2541021"/>
            <a:ext cx="5581275" cy="780392"/>
            <a:chOff x="1499000" y="2541021"/>
            <a:chExt cx="5581275" cy="780392"/>
          </a:xfrm>
        </p:grpSpPr>
        <p:sp>
          <p:nvSpPr>
            <p:cNvPr id="131" name="Line 4">
              <a:extLst>
                <a:ext uri="{FF2B5EF4-FFF2-40B4-BE49-F238E27FC236}">
                  <a16:creationId xmlns:a16="http://schemas.microsoft.com/office/drawing/2014/main" id="{4E48AD8B-7F93-B847-8494-F0B86AABA007}"/>
                </a:ext>
              </a:extLst>
            </p:cNvPr>
            <p:cNvSpPr>
              <a:spLocks noChangeShapeType="1"/>
            </p:cNvSpPr>
            <p:nvPr/>
          </p:nvSpPr>
          <p:spPr bwMode="auto">
            <a:xfrm>
              <a:off x="4354237" y="2749913"/>
              <a:ext cx="2586037"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32" name="Text Box 7">
              <a:extLst>
                <a:ext uri="{FF2B5EF4-FFF2-40B4-BE49-F238E27FC236}">
                  <a16:creationId xmlns:a16="http://schemas.microsoft.com/office/drawing/2014/main" id="{B9E9C219-DA90-8A41-A18D-4DF67A2B1B94}"/>
                </a:ext>
              </a:extLst>
            </p:cNvPr>
            <p:cNvSpPr txBox="1">
              <a:spLocks noChangeArrowheads="1"/>
            </p:cNvSpPr>
            <p:nvPr/>
          </p:nvSpPr>
          <p:spPr bwMode="auto">
            <a:xfrm>
              <a:off x="1499000" y="2541021"/>
              <a:ext cx="2725007"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 types</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9" name="Rectangle 18">
              <a:extLst>
                <a:ext uri="{FF2B5EF4-FFF2-40B4-BE49-F238E27FC236}">
                  <a16:creationId xmlns:a16="http://schemas.microsoft.com/office/drawing/2014/main" id="{35BA661F-5A22-C84E-B47D-9147B3088598}"/>
                </a:ext>
              </a:extLst>
            </p:cNvPr>
            <p:cNvSpPr>
              <a:spLocks noChangeArrowheads="1"/>
            </p:cNvSpPr>
            <p:nvPr/>
          </p:nvSpPr>
          <p:spPr bwMode="auto">
            <a:xfrm>
              <a:off x="5167037" y="2841988"/>
              <a:ext cx="814387" cy="37941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0" name="Text Box 19">
              <a:extLst>
                <a:ext uri="{FF2B5EF4-FFF2-40B4-BE49-F238E27FC236}">
                  <a16:creationId xmlns:a16="http://schemas.microsoft.com/office/drawing/2014/main" id="{880D64B6-5AB7-0245-B925-5A511DDE93D7}"/>
                </a:ext>
              </a:extLst>
            </p:cNvPr>
            <p:cNvSpPr txBox="1">
              <a:spLocks noChangeArrowheads="1"/>
            </p:cNvSpPr>
            <p:nvPr/>
          </p:nvSpPr>
          <p:spPr bwMode="auto">
            <a:xfrm>
              <a:off x="4260272" y="2854620"/>
              <a:ext cx="2820003"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Seq=42, ACK=79, data = </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30581A9F-48A7-D546-AB16-5A259024E309}"/>
              </a:ext>
            </a:extLst>
          </p:cNvPr>
          <p:cNvGrpSpPr/>
          <p:nvPr/>
        </p:nvGrpSpPr>
        <p:grpSpPr>
          <a:xfrm>
            <a:off x="4264368" y="3523026"/>
            <a:ext cx="2813399" cy="800100"/>
            <a:chOff x="4264368" y="3523026"/>
            <a:chExt cx="2813399" cy="800100"/>
          </a:xfrm>
        </p:grpSpPr>
        <p:sp>
          <p:nvSpPr>
            <p:cNvPr id="135" name="Line 10">
              <a:extLst>
                <a:ext uri="{FF2B5EF4-FFF2-40B4-BE49-F238E27FC236}">
                  <a16:creationId xmlns:a16="http://schemas.microsoft.com/office/drawing/2014/main" id="{7C681F4C-24E8-5D43-BE10-D3949F61CDFA}"/>
                </a:ext>
              </a:extLst>
            </p:cNvPr>
            <p:cNvSpPr>
              <a:spLocks noChangeShapeType="1"/>
            </p:cNvSpPr>
            <p:nvPr/>
          </p:nvSpPr>
          <p:spPr bwMode="auto">
            <a:xfrm flipH="1">
              <a:off x="4344712" y="3523026"/>
              <a:ext cx="2554287" cy="8001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1" name="Rectangle 20">
              <a:extLst>
                <a:ext uri="{FF2B5EF4-FFF2-40B4-BE49-F238E27FC236}">
                  <a16:creationId xmlns:a16="http://schemas.microsoft.com/office/drawing/2014/main" id="{E3E3363E-9511-1A43-912C-05D171708B3A}"/>
                </a:ext>
              </a:extLst>
            </p:cNvPr>
            <p:cNvSpPr>
              <a:spLocks noChangeArrowheads="1"/>
            </p:cNvSpPr>
            <p:nvPr/>
          </p:nvSpPr>
          <p:spPr bwMode="auto">
            <a:xfrm>
              <a:off x="5201962" y="3800838"/>
              <a:ext cx="823912" cy="24606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2" name="Text Box 21">
              <a:extLst>
                <a:ext uri="{FF2B5EF4-FFF2-40B4-BE49-F238E27FC236}">
                  <a16:creationId xmlns:a16="http://schemas.microsoft.com/office/drawing/2014/main" id="{18709FF4-595B-2F4F-9697-F2C14F760728}"/>
                </a:ext>
              </a:extLst>
            </p:cNvPr>
            <p:cNvSpPr txBox="1">
              <a:spLocks noChangeArrowheads="1"/>
            </p:cNvSpPr>
            <p:nvPr/>
          </p:nvSpPr>
          <p:spPr bwMode="auto">
            <a:xfrm>
              <a:off x="4264368" y="3736718"/>
              <a:ext cx="2813399"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Seq=79, ACK=43, data = </a:t>
              </a:r>
              <a:r>
                <a:rPr kumimoji="0" lang="ja-JP" altLang="en-US" sz="1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1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1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id="{9A6C1350-9453-1E48-8790-F100F9587769}"/>
              </a:ext>
            </a:extLst>
          </p:cNvPr>
          <p:cNvGrpSpPr/>
          <p:nvPr/>
        </p:nvGrpSpPr>
        <p:grpSpPr>
          <a:xfrm>
            <a:off x="4339949" y="4518388"/>
            <a:ext cx="2590800" cy="506413"/>
            <a:chOff x="4339949" y="4518388"/>
            <a:chExt cx="2590800" cy="506413"/>
          </a:xfrm>
        </p:grpSpPr>
        <p:sp>
          <p:nvSpPr>
            <p:cNvPr id="130" name="Line 3">
              <a:extLst>
                <a:ext uri="{FF2B5EF4-FFF2-40B4-BE49-F238E27FC236}">
                  <a16:creationId xmlns:a16="http://schemas.microsoft.com/office/drawing/2014/main" id="{21939EAE-12FE-4B4B-8477-DA966E53E581}"/>
                </a:ext>
              </a:extLst>
            </p:cNvPr>
            <p:cNvSpPr>
              <a:spLocks noChangeShapeType="1"/>
            </p:cNvSpPr>
            <p:nvPr/>
          </p:nvSpPr>
          <p:spPr bwMode="auto">
            <a:xfrm>
              <a:off x="4339949" y="4518388"/>
              <a:ext cx="2590800" cy="50641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3" name="Rectangle 22">
              <a:extLst>
                <a:ext uri="{FF2B5EF4-FFF2-40B4-BE49-F238E27FC236}">
                  <a16:creationId xmlns:a16="http://schemas.microsoft.com/office/drawing/2014/main" id="{36373196-F0F3-9041-A157-0DFF0B56BE41}"/>
                </a:ext>
              </a:extLst>
            </p:cNvPr>
            <p:cNvSpPr>
              <a:spLocks noChangeArrowheads="1"/>
            </p:cNvSpPr>
            <p:nvPr/>
          </p:nvSpPr>
          <p:spPr bwMode="auto">
            <a:xfrm>
              <a:off x="5268637" y="4648563"/>
              <a:ext cx="958850" cy="35718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4" name="Text Box 23">
              <a:extLst>
                <a:ext uri="{FF2B5EF4-FFF2-40B4-BE49-F238E27FC236}">
                  <a16:creationId xmlns:a16="http://schemas.microsoft.com/office/drawing/2014/main" id="{2C94660D-0BE1-434B-85A6-BB22849908C7}"/>
                </a:ext>
              </a:extLst>
            </p:cNvPr>
            <p:cNvSpPr txBox="1">
              <a:spLocks noChangeArrowheads="1"/>
            </p:cNvSpPr>
            <p:nvPr/>
          </p:nvSpPr>
          <p:spPr bwMode="auto">
            <a:xfrm>
              <a:off x="4934710" y="4609843"/>
              <a:ext cx="1712264"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Seq=43, ACK=80</a:t>
              </a:r>
              <a:endParaRPr kumimoji="0" lang="en-US" sz="11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145" name="Line 24">
            <a:extLst>
              <a:ext uri="{FF2B5EF4-FFF2-40B4-BE49-F238E27FC236}">
                <a16:creationId xmlns:a16="http://schemas.microsoft.com/office/drawing/2014/main" id="{4198420A-33F5-1542-B39F-616C0F629FE7}"/>
              </a:ext>
            </a:extLst>
          </p:cNvPr>
          <p:cNvSpPr>
            <a:spLocks noChangeShapeType="1"/>
          </p:cNvSpPr>
          <p:nvPr/>
        </p:nvSpPr>
        <p:spPr bwMode="auto">
          <a:xfrm>
            <a:off x="4332012" y="2508613"/>
            <a:ext cx="0" cy="2587625"/>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6" name="Line 25">
            <a:extLst>
              <a:ext uri="{FF2B5EF4-FFF2-40B4-BE49-F238E27FC236}">
                <a16:creationId xmlns:a16="http://schemas.microsoft.com/office/drawing/2014/main" id="{C59AD6B4-1F7E-D046-AE58-B0A2143452E4}"/>
              </a:ext>
            </a:extLst>
          </p:cNvPr>
          <p:cNvSpPr>
            <a:spLocks noChangeShapeType="1"/>
          </p:cNvSpPr>
          <p:nvPr/>
        </p:nvSpPr>
        <p:spPr bwMode="auto">
          <a:xfrm>
            <a:off x="6994249" y="2561001"/>
            <a:ext cx="0" cy="2587625"/>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nvGrpSpPr>
          <p:cNvPr id="147" name="Group 27">
            <a:extLst>
              <a:ext uri="{FF2B5EF4-FFF2-40B4-BE49-F238E27FC236}">
                <a16:creationId xmlns:a16="http://schemas.microsoft.com/office/drawing/2014/main" id="{78A4C821-5D3D-F049-95FB-64A6C2EFC29B}"/>
              </a:ext>
            </a:extLst>
          </p:cNvPr>
          <p:cNvGrpSpPr>
            <a:grpSpLocks/>
          </p:cNvGrpSpPr>
          <p:nvPr/>
        </p:nvGrpSpPr>
        <p:grpSpPr bwMode="auto">
          <a:xfrm>
            <a:off x="3824012" y="1687876"/>
            <a:ext cx="755650" cy="782637"/>
            <a:chOff x="-44" y="1473"/>
            <a:chExt cx="981" cy="1105"/>
          </a:xfrm>
        </p:grpSpPr>
        <p:pic>
          <p:nvPicPr>
            <p:cNvPr id="148" name="Picture 28" descr="desktop_computer_stylized_medium">
              <a:extLst>
                <a:ext uri="{FF2B5EF4-FFF2-40B4-BE49-F238E27FC236}">
                  <a16:creationId xmlns:a16="http://schemas.microsoft.com/office/drawing/2014/main" id="{37E197D2-A990-E643-BBEF-3FDB8B30E8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 name="Freeform 29">
              <a:extLst>
                <a:ext uri="{FF2B5EF4-FFF2-40B4-BE49-F238E27FC236}">
                  <a16:creationId xmlns:a16="http://schemas.microsoft.com/office/drawing/2014/main" id="{B63C2E39-A8CB-1F4B-B3CA-E65FF2976D4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150" name="Group 30">
            <a:extLst>
              <a:ext uri="{FF2B5EF4-FFF2-40B4-BE49-F238E27FC236}">
                <a16:creationId xmlns:a16="http://schemas.microsoft.com/office/drawing/2014/main" id="{AEA67504-808C-2C43-80AA-6BED564C9A22}"/>
              </a:ext>
            </a:extLst>
          </p:cNvPr>
          <p:cNvGrpSpPr>
            <a:grpSpLocks/>
          </p:cNvGrpSpPr>
          <p:nvPr/>
        </p:nvGrpSpPr>
        <p:grpSpPr bwMode="auto">
          <a:xfrm flipH="1">
            <a:off x="6686274" y="1727563"/>
            <a:ext cx="788988" cy="862013"/>
            <a:chOff x="-44" y="1473"/>
            <a:chExt cx="981" cy="1105"/>
          </a:xfrm>
        </p:grpSpPr>
        <p:pic>
          <p:nvPicPr>
            <p:cNvPr id="151" name="Picture 31" descr="desktop_computer_stylized_medium">
              <a:extLst>
                <a:ext uri="{FF2B5EF4-FFF2-40B4-BE49-F238E27FC236}">
                  <a16:creationId xmlns:a16="http://schemas.microsoft.com/office/drawing/2014/main" id="{0B37A6B2-9E4A-114B-85F9-5E3DF6205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 name="Freeform 32">
              <a:extLst>
                <a:ext uri="{FF2B5EF4-FFF2-40B4-BE49-F238E27FC236}">
                  <a16:creationId xmlns:a16="http://schemas.microsoft.com/office/drawing/2014/main" id="{100E17DE-5CEE-AB45-8E97-F0E8B661790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9" name="Group 8">
            <a:extLst>
              <a:ext uri="{FF2B5EF4-FFF2-40B4-BE49-F238E27FC236}">
                <a16:creationId xmlns:a16="http://schemas.microsoft.com/office/drawing/2014/main" id="{178778AE-4599-7841-B71E-D835F9A5393E}"/>
              </a:ext>
            </a:extLst>
          </p:cNvPr>
          <p:cNvGrpSpPr/>
          <p:nvPr/>
        </p:nvGrpSpPr>
        <p:grpSpPr>
          <a:xfrm>
            <a:off x="4692316" y="2815389"/>
            <a:ext cx="1388485" cy="1371600"/>
            <a:chOff x="4692316" y="2815389"/>
            <a:chExt cx="1388485" cy="1371600"/>
          </a:xfrm>
        </p:grpSpPr>
        <p:sp>
          <p:nvSpPr>
            <p:cNvPr id="3" name="Oval 2">
              <a:extLst>
                <a:ext uri="{FF2B5EF4-FFF2-40B4-BE49-F238E27FC236}">
                  <a16:creationId xmlns:a16="http://schemas.microsoft.com/office/drawing/2014/main" id="{AB715EF6-F294-3449-96CB-B6947A099ADE}"/>
                </a:ext>
              </a:extLst>
            </p:cNvPr>
            <p:cNvSpPr/>
            <p:nvPr/>
          </p:nvSpPr>
          <p:spPr>
            <a:xfrm>
              <a:off x="5566610" y="3721768"/>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Oval 30">
              <a:extLst>
                <a:ext uri="{FF2B5EF4-FFF2-40B4-BE49-F238E27FC236}">
                  <a16:creationId xmlns:a16="http://schemas.microsoft.com/office/drawing/2014/main" id="{7D783624-80C6-2148-8502-F1C29047872A}"/>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8" name="Straight Arrow Connector 7">
              <a:extLst>
                <a:ext uri="{FF2B5EF4-FFF2-40B4-BE49-F238E27FC236}">
                  <a16:creationId xmlns:a16="http://schemas.microsoft.com/office/drawing/2014/main" id="{907B7D31-A373-0B4B-A1B5-F4FD39A2F3C3}"/>
                </a:ext>
              </a:extLst>
            </p:cNvPr>
            <p:cNvCxnSpPr/>
            <p:nvPr/>
          </p:nvCxnSpPr>
          <p:spPr>
            <a:xfrm flipH="1" flipV="1">
              <a:off x="5117431" y="3224463"/>
              <a:ext cx="513348" cy="513348"/>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A45AF06C-D673-CA4F-A51B-93240818CB9A}"/>
              </a:ext>
            </a:extLst>
          </p:cNvPr>
          <p:cNvGrpSpPr/>
          <p:nvPr/>
        </p:nvGrpSpPr>
        <p:grpSpPr>
          <a:xfrm>
            <a:off x="4684295" y="3737810"/>
            <a:ext cx="1982043" cy="1307432"/>
            <a:chOff x="4692316" y="2815389"/>
            <a:chExt cx="1982043" cy="1307432"/>
          </a:xfrm>
        </p:grpSpPr>
        <p:sp>
          <p:nvSpPr>
            <p:cNvPr id="36" name="Oval 35">
              <a:extLst>
                <a:ext uri="{FF2B5EF4-FFF2-40B4-BE49-F238E27FC236}">
                  <a16:creationId xmlns:a16="http://schemas.microsoft.com/office/drawing/2014/main" id="{6B1B5065-4044-F742-9CE7-C6C1E51A71E8}"/>
                </a:ext>
              </a:extLst>
            </p:cNvPr>
            <p:cNvSpPr/>
            <p:nvPr/>
          </p:nvSpPr>
          <p:spPr>
            <a:xfrm>
              <a:off x="6160168" y="3657600"/>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Oval 36">
              <a:extLst>
                <a:ext uri="{FF2B5EF4-FFF2-40B4-BE49-F238E27FC236}">
                  <a16:creationId xmlns:a16="http://schemas.microsoft.com/office/drawing/2014/main" id="{C5F4BEC1-9A8B-BA47-BC77-A5A357B8A4B6}"/>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8" name="Straight Arrow Connector 37">
              <a:extLst>
                <a:ext uri="{FF2B5EF4-FFF2-40B4-BE49-F238E27FC236}">
                  <a16:creationId xmlns:a16="http://schemas.microsoft.com/office/drawing/2014/main" id="{1894C7DC-0B9B-5648-ACEB-7945930EE55B}"/>
                </a:ext>
              </a:extLst>
            </p:cNvPr>
            <p:cNvCxnSpPr>
              <a:cxnSpLocks/>
            </p:cNvCxnSpPr>
            <p:nvPr/>
          </p:nvCxnSpPr>
          <p:spPr>
            <a:xfrm flipH="1" flipV="1">
              <a:off x="5165557" y="3224463"/>
              <a:ext cx="970548" cy="521369"/>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Slide Number Placeholder 2">
            <a:extLst>
              <a:ext uri="{FF2B5EF4-FFF2-40B4-BE49-F238E27FC236}">
                <a16:creationId xmlns:a16="http://schemas.microsoft.com/office/drawing/2014/main" id="{951C5C48-402B-A744-B23C-9DA42D7A6E17}"/>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16</a:t>
            </a:fld>
            <a:endParaRPr lang="en-US" dirty="0"/>
          </a:p>
        </p:txBody>
      </p:sp>
    </p:spTree>
    <p:extLst>
      <p:ext uri="{BB962C8B-B14F-4D97-AF65-F5344CB8AC3E}">
        <p14:creationId xmlns:p14="http://schemas.microsoft.com/office/powerpoint/2010/main" val="2677503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4"/>
                                        </p:tgtEl>
                                        <p:attrNameLst>
                                          <p:attrName>style.visibility</p:attrName>
                                        </p:attrNameLst>
                                      </p:cBhvr>
                                      <p:to>
                                        <p:strVal val="visible"/>
                                      </p:to>
                                    </p:set>
                                    <p:animEffect transition="in" filter="dissolve">
                                      <p:cBhvr>
                                        <p:cTn id="11" dur="500"/>
                                        <p:tgtEl>
                                          <p:spTgt spid="134"/>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righ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33"/>
                                        </p:tgtEl>
                                        <p:attrNameLst>
                                          <p:attrName>style.visibility</p:attrName>
                                        </p:attrNameLst>
                                      </p:cBhvr>
                                      <p:to>
                                        <p:strVal val="visible"/>
                                      </p:to>
                                    </p:set>
                                    <p:animEffect transition="in" filter="dissolve">
                                      <p:cBhvr>
                                        <p:cTn id="19" dur="500"/>
                                        <p:tgtEl>
                                          <p:spTgt spid="13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ssolv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xit" presetSubtype="0" fill="hold" nodeType="clickEffect">
                                  <p:stCondLst>
                                    <p:cond delay="0"/>
                                  </p:stCondLst>
                                  <p:childTnLst>
                                    <p:animEffect transition="out" filter="dissolve">
                                      <p:cBhvr>
                                        <p:cTn id="32" dur="500"/>
                                        <p:tgtEl>
                                          <p:spTgt spid="9"/>
                                        </p:tgtEl>
                                      </p:cBhvr>
                                    </p:animEffect>
                                    <p:set>
                                      <p:cBhvr>
                                        <p:cTn id="33" dur="1" fill="hold">
                                          <p:stCondLst>
                                            <p:cond delay="499"/>
                                          </p:stCondLst>
                                        </p:cTn>
                                        <p:tgtEl>
                                          <p:spTgt spid="9"/>
                                        </p:tgtEl>
                                        <p:attrNameLst>
                                          <p:attrName>style.visibility</p:attrName>
                                        </p:attrNameLst>
                                      </p:cBhvr>
                                      <p:to>
                                        <p:strVal val="hidden"/>
                                      </p:to>
                                    </p:set>
                                  </p:childTnLst>
                                </p:cTn>
                              </p:par>
                              <p:par>
                                <p:cTn id="34" presetID="9" presetClass="entr" presetSubtype="0" fill="hold"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dissolve">
                                      <p:cBhvr>
                                        <p:cTn id="3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P spid="13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5"/>
          <p:cNvSpPr>
            <a:spLocks noGrp="1"/>
          </p:cNvSpPr>
          <p:nvPr>
            <p:ph type="ftr" sz="quarter" idx="429496729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MS PGothic" charset="0"/>
                <a:cs typeface="MS PGothic" charset="0"/>
              </a:defRPr>
            </a:lvl1pPr>
            <a:lvl2pPr marL="742950" indent="-285750">
              <a:defRPr sz="1600">
                <a:solidFill>
                  <a:schemeClr val="tx1"/>
                </a:solidFill>
                <a:latin typeface="Tahoma" charset="0"/>
                <a:ea typeface="MS PGothic" charset="0"/>
                <a:cs typeface="MS PGothic" charset="0"/>
              </a:defRPr>
            </a:lvl2pPr>
            <a:lvl3pPr marL="1143000" indent="-228600">
              <a:defRPr sz="1600">
                <a:solidFill>
                  <a:schemeClr val="tx1"/>
                </a:solidFill>
                <a:latin typeface="Tahoma" charset="0"/>
                <a:ea typeface="MS PGothic" charset="0"/>
                <a:cs typeface="MS PGothic" charset="0"/>
              </a:defRPr>
            </a:lvl3pPr>
            <a:lvl4pPr marL="1600200" indent="-228600">
              <a:defRPr sz="1600">
                <a:solidFill>
                  <a:schemeClr val="tx1"/>
                </a:solidFill>
                <a:latin typeface="Tahoma" charset="0"/>
                <a:ea typeface="MS PGothic" charset="0"/>
                <a:cs typeface="MS PGothic" charset="0"/>
              </a:defRPr>
            </a:lvl4pPr>
            <a:lvl5pPr marL="2057400" indent="-228600">
              <a:defRPr sz="1600">
                <a:solidFill>
                  <a:schemeClr val="tx1"/>
                </a:solidFill>
                <a:latin typeface="Tahoma" charset="0"/>
                <a:ea typeface="MS PGothic" charset="0"/>
                <a:cs typeface="MS PGothic" charset="0"/>
              </a:defRPr>
            </a:lvl5pPr>
            <a:lvl6pPr marL="25146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6pPr>
            <a:lvl7pPr marL="29718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7pPr>
            <a:lvl8pPr marL="34290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8pPr>
            <a:lvl9pPr marL="38862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ahoma" charset="0"/>
                <a:ea typeface="MS PGothic" charset="0"/>
              </a:rPr>
              <a:t>Transport</a:t>
            </a:r>
            <a:r>
              <a:rPr kumimoji="0" lang="en-US" sz="1200" b="0" i="0" u="none" strike="noStrike" kern="1200" cap="none" spc="0" normalizeH="0" baseline="0" noProof="0">
                <a:ln>
                  <a:noFill/>
                </a:ln>
                <a:solidFill>
                  <a:prstClr val="black"/>
                </a:solidFill>
                <a:effectLst/>
                <a:uLnTx/>
                <a:uFillTx/>
                <a:latin typeface="Tahoma" charset="0"/>
                <a:ea typeface="MS PGothic" charset="0"/>
              </a:rPr>
              <a:t> </a:t>
            </a:r>
            <a:r>
              <a:rPr kumimoji="0" lang="en-US" sz="1100" b="0" i="0" u="none" strike="noStrike" kern="1200" cap="none" spc="0" normalizeH="0" baseline="0" noProof="0">
                <a:ln>
                  <a:noFill/>
                </a:ln>
                <a:solidFill>
                  <a:prstClr val="black"/>
                </a:solidFill>
                <a:effectLst/>
                <a:uLnTx/>
                <a:uFillTx/>
                <a:latin typeface="Tahoma" charset="0"/>
                <a:ea typeface="MS PGothic" charset="0"/>
              </a:rPr>
              <a:t>Layer</a:t>
            </a:r>
          </a:p>
        </p:txBody>
      </p:sp>
      <p:sp>
        <p:nvSpPr>
          <p:cNvPr id="64515" name="Slide Number Placeholder 6"/>
          <p:cNvSpPr>
            <a:spLocks noGrp="1"/>
          </p:cNvSpPr>
          <p:nvPr>
            <p:ph type="sldNum" sz="quarter" idx="429496729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rPr>
              <a:t>3-</a:t>
            </a:r>
            <a:fld id="{81424E59-CB39-4DEC-AB61-E8B5E1BE0B73}" type="slidenum">
              <a:rPr kumimoji="0" lang="en-US" altLang="en-US" sz="11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17</a:t>
            </a:fld>
            <a:endParaRPr kumimoji="0" lang="en-US" altLang="en-US" sz="11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62469" name="Rectangle 1026"/>
          <p:cNvSpPr>
            <a:spLocks noGrp="1" noChangeArrowheads="1"/>
          </p:cNvSpPr>
          <p:nvPr>
            <p:ph type="title"/>
          </p:nvPr>
        </p:nvSpPr>
        <p:spPr>
          <a:xfrm>
            <a:off x="2066925" y="233363"/>
            <a:ext cx="7772400" cy="920750"/>
          </a:xfrm>
        </p:spPr>
        <p:txBody>
          <a:bodyPr/>
          <a:lstStyle/>
          <a:p>
            <a:pPr>
              <a:defRPr/>
            </a:pPr>
            <a:r>
              <a:rPr lang="en-US" sz="3200"/>
              <a:t>TCP round trip time, timeout</a:t>
            </a:r>
            <a:endParaRPr lang="en-US"/>
          </a:p>
        </p:txBody>
      </p:sp>
      <p:sp>
        <p:nvSpPr>
          <p:cNvPr id="62470" name="Rectangle 1027"/>
          <p:cNvSpPr>
            <a:spLocks noGrp="1" noChangeArrowheads="1"/>
          </p:cNvSpPr>
          <p:nvPr>
            <p:ph type="body" sz="half" idx="1"/>
          </p:nvPr>
        </p:nvSpPr>
        <p:spPr>
          <a:xfrm>
            <a:off x="2105025" y="1436688"/>
            <a:ext cx="3716338" cy="4648200"/>
          </a:xfrm>
        </p:spPr>
        <p:txBody>
          <a:bodyPr/>
          <a:lstStyle/>
          <a:p>
            <a:pPr>
              <a:buFont typeface="Wingdings" charset="0"/>
              <a:buNone/>
              <a:defRPr/>
            </a:pPr>
            <a:r>
              <a:rPr lang="en-US" u="sng" dirty="0">
                <a:solidFill>
                  <a:srgbClr val="FF0000"/>
                </a:solidFill>
                <a:cs typeface="+mn-cs"/>
              </a:rPr>
              <a:t>Q:</a:t>
            </a:r>
            <a:r>
              <a:rPr lang="en-US" dirty="0">
                <a:cs typeface="+mn-cs"/>
              </a:rPr>
              <a:t> how to set TCP timeout value?</a:t>
            </a:r>
          </a:p>
          <a:p>
            <a:pPr>
              <a:lnSpc>
                <a:spcPct val="90000"/>
              </a:lnSpc>
              <a:defRPr/>
            </a:pPr>
            <a:r>
              <a:rPr lang="en-US" sz="2400" dirty="0"/>
              <a:t>longer than RTT</a:t>
            </a:r>
          </a:p>
          <a:p>
            <a:pPr lvl="1">
              <a:lnSpc>
                <a:spcPct val="90000"/>
              </a:lnSpc>
              <a:defRPr/>
            </a:pPr>
            <a:r>
              <a:rPr lang="en-US" sz="2000" dirty="0"/>
              <a:t>but RTT varies</a:t>
            </a:r>
          </a:p>
          <a:p>
            <a:pPr>
              <a:lnSpc>
                <a:spcPct val="90000"/>
              </a:lnSpc>
              <a:defRPr/>
            </a:pPr>
            <a:r>
              <a:rPr lang="en-US" sz="2400" i="1" dirty="0"/>
              <a:t>too short:</a:t>
            </a:r>
            <a:r>
              <a:rPr lang="en-US" sz="2400" dirty="0"/>
              <a:t> premature timeout, unnecessary retransmissions</a:t>
            </a:r>
          </a:p>
          <a:p>
            <a:pPr>
              <a:lnSpc>
                <a:spcPct val="90000"/>
              </a:lnSpc>
              <a:defRPr/>
            </a:pPr>
            <a:r>
              <a:rPr lang="en-US" sz="2400" i="1" dirty="0"/>
              <a:t>too long:</a:t>
            </a:r>
            <a:r>
              <a:rPr lang="en-US" sz="2400" dirty="0"/>
              <a:t> slow reaction to segment loss</a:t>
            </a:r>
          </a:p>
        </p:txBody>
      </p:sp>
      <p:sp>
        <p:nvSpPr>
          <p:cNvPr id="64519" name="Rectangle 1028"/>
          <p:cNvSpPr>
            <a:spLocks noGrp="1" noChangeArrowheads="1"/>
          </p:cNvSpPr>
          <p:nvPr>
            <p:ph type="body" sz="half" idx="2"/>
          </p:nvPr>
        </p:nvSpPr>
        <p:spPr>
          <a:xfrm>
            <a:off x="6170614" y="1485900"/>
            <a:ext cx="4059237" cy="4648200"/>
          </a:xfrm>
        </p:spPr>
        <p:txBody>
          <a:bodyPr/>
          <a:lstStyle/>
          <a:p>
            <a:pPr>
              <a:buFont typeface="Wingdings" pitchFamily="2" charset="2"/>
              <a:buNone/>
              <a:defRPr/>
            </a:pPr>
            <a:r>
              <a:rPr lang="en-US" altLang="en-US" sz="2400" u="sng">
                <a:solidFill>
                  <a:srgbClr val="FF0000"/>
                </a:solidFill>
                <a:latin typeface="Gill Sans MT" pitchFamily="34" charset="0"/>
              </a:rPr>
              <a:t>Q:</a:t>
            </a:r>
            <a:r>
              <a:rPr lang="en-US" altLang="en-US" sz="2400">
                <a:latin typeface="Gill Sans MT" pitchFamily="34" charset="0"/>
              </a:rPr>
              <a:t> how to estimate RTT?</a:t>
            </a:r>
          </a:p>
          <a:p>
            <a:pPr>
              <a:defRPr/>
            </a:pPr>
            <a:r>
              <a:rPr lang="en-US" altLang="en-US" sz="2000" b="1">
                <a:solidFill>
                  <a:srgbClr val="000099"/>
                </a:solidFill>
                <a:latin typeface="Courier New" pitchFamily="49" charset="0"/>
              </a:rPr>
              <a:t>SampleRTT</a:t>
            </a:r>
            <a:r>
              <a:rPr lang="en-US" altLang="en-US" sz="2000">
                <a:solidFill>
                  <a:srgbClr val="000099"/>
                </a:solidFill>
                <a:latin typeface="Gill Sans MT" pitchFamily="34" charset="0"/>
              </a:rPr>
              <a:t>:</a:t>
            </a:r>
            <a:r>
              <a:rPr lang="en-US" altLang="en-US" sz="2000">
                <a:latin typeface="Gill Sans MT" pitchFamily="34" charset="0"/>
              </a:rPr>
              <a:t> measured time from segment transmission until ACK receipt</a:t>
            </a:r>
          </a:p>
          <a:p>
            <a:pPr lvl="1">
              <a:defRPr/>
            </a:pPr>
            <a:r>
              <a:rPr lang="en-US" altLang="en-US" sz="2000">
                <a:latin typeface="Gill Sans MT" pitchFamily="34" charset="0"/>
              </a:rPr>
              <a:t>ignore retransmissions</a:t>
            </a:r>
          </a:p>
          <a:p>
            <a:pPr>
              <a:defRPr/>
            </a:pPr>
            <a:r>
              <a:rPr lang="en-US" altLang="en-US" sz="2000" b="1">
                <a:latin typeface="Courier New" pitchFamily="49" charset="0"/>
              </a:rPr>
              <a:t>SampleRTT</a:t>
            </a:r>
            <a:r>
              <a:rPr lang="en-US" altLang="en-US" sz="2000">
                <a:latin typeface="Gill Sans MT" pitchFamily="34" charset="0"/>
              </a:rPr>
              <a:t> will vary, want estimated RTT </a:t>
            </a:r>
            <a:r>
              <a:rPr lang="ja-JP" altLang="en-US" sz="2000">
                <a:latin typeface="Gill Sans MT" pitchFamily="34" charset="0"/>
              </a:rPr>
              <a:t>“</a:t>
            </a:r>
            <a:r>
              <a:rPr lang="en-US" altLang="ja-JP" sz="2000">
                <a:latin typeface="Gill Sans MT" pitchFamily="34" charset="0"/>
              </a:rPr>
              <a:t>smoother</a:t>
            </a:r>
            <a:r>
              <a:rPr lang="ja-JP" altLang="en-US" sz="2000">
                <a:latin typeface="Gill Sans MT" pitchFamily="34" charset="0"/>
              </a:rPr>
              <a:t>”</a:t>
            </a:r>
            <a:endParaRPr lang="en-US" altLang="ja-JP" sz="2400">
              <a:latin typeface="Gill Sans MT" pitchFamily="34" charset="0"/>
            </a:endParaRPr>
          </a:p>
          <a:p>
            <a:pPr lvl="1">
              <a:defRPr/>
            </a:pPr>
            <a:r>
              <a:rPr lang="en-US" altLang="en-US" sz="2000">
                <a:latin typeface="Gill Sans MT" pitchFamily="34" charset="0"/>
              </a:rPr>
              <a:t>average several </a:t>
            </a:r>
            <a:r>
              <a:rPr lang="en-US" altLang="en-US" sz="2000" i="1">
                <a:latin typeface="Gill Sans MT" pitchFamily="34" charset="0"/>
              </a:rPr>
              <a:t>recent</a:t>
            </a:r>
            <a:r>
              <a:rPr lang="en-US" altLang="en-US" sz="2000">
                <a:latin typeface="Gill Sans MT" pitchFamily="34" charset="0"/>
              </a:rPr>
              <a:t> measurements, not just current </a:t>
            </a:r>
            <a:r>
              <a:rPr lang="en-US" altLang="en-US" sz="2000" b="1">
                <a:latin typeface="Courier New" pitchFamily="49" charset="0"/>
              </a:rPr>
              <a:t>SampleRTT</a:t>
            </a:r>
            <a:endParaRPr lang="en-US" altLang="en-US" sz="2000">
              <a:latin typeface="Gill Sans MT" pitchFamily="34" charset="0"/>
            </a:endParaRPr>
          </a:p>
        </p:txBody>
      </p:sp>
    </p:spTree>
    <p:extLst>
      <p:ext uri="{BB962C8B-B14F-4D97-AF65-F5344CB8AC3E}">
        <p14:creationId xmlns:p14="http://schemas.microsoft.com/office/powerpoint/2010/main" val="36031003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47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470">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2470">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2470">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4519">
                                            <p:txEl>
                                              <p:pRg st="0" end="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64519">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4519">
                                            <p:txEl>
                                              <p:pRg st="2" end="2"/>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4519">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45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09" name="Group 14"/>
          <p:cNvGrpSpPr>
            <a:grpSpLocks/>
          </p:cNvGrpSpPr>
          <p:nvPr/>
        </p:nvGrpSpPr>
        <p:grpSpPr bwMode="auto">
          <a:xfrm>
            <a:off x="3232151" y="2193925"/>
            <a:ext cx="6272213" cy="4292600"/>
            <a:chOff x="782" y="1865"/>
            <a:chExt cx="3951" cy="2704"/>
          </a:xfrm>
        </p:grpSpPr>
        <p:pic>
          <p:nvPicPr>
            <p:cNvPr id="6157"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 y="1865"/>
              <a:ext cx="3951" cy="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8" name="Rectangle 13"/>
            <p:cNvSpPr>
              <a:spLocks noChangeArrowheads="1"/>
            </p:cNvSpPr>
            <p:nvPr/>
          </p:nvSpPr>
          <p:spPr bwMode="auto">
            <a:xfrm>
              <a:off x="2070" y="1926"/>
              <a:ext cx="1404" cy="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fr-FR" altLang="en-US" sz="2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6147" name="Text Box 3"/>
          <p:cNvSpPr txBox="1">
            <a:spLocks noChangeArrowheads="1"/>
          </p:cNvSpPr>
          <p:nvPr/>
        </p:nvSpPr>
        <p:spPr bwMode="auto">
          <a:xfrm>
            <a:off x="2057401" y="990601"/>
            <a:ext cx="7515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EstimatedRTT = (1- </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sym typeface="Symbol" panose="05050102010706020507" pitchFamily="18" charset="2"/>
              </a:rPr>
              <a:t></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)*EstimatedRTT + </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sym typeface="Symbol" panose="05050102010706020507" pitchFamily="18" charset="2"/>
              </a:rPr>
              <a:t></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*SampleRTT</a:t>
            </a:r>
          </a:p>
        </p:txBody>
      </p:sp>
      <p:sp>
        <p:nvSpPr>
          <p:cNvPr id="17411" name="Rectangle 4"/>
          <p:cNvSpPr>
            <a:spLocks noChangeArrowheads="1"/>
          </p:cNvSpPr>
          <p:nvPr/>
        </p:nvSpPr>
        <p:spPr bwMode="auto">
          <a:xfrm>
            <a:off x="2687638" y="1465264"/>
            <a:ext cx="7067550"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75000"/>
              </a:lnSpc>
              <a:spcBef>
                <a:spcPct val="20000"/>
              </a:spcBef>
              <a:spcAft>
                <a:spcPts val="0"/>
              </a:spcAft>
              <a:buClr>
                <a:srgbClr val="000099"/>
              </a:buClr>
              <a:buSzPct val="65000"/>
              <a:buFont typeface="Wingdings" panose="05000000000000000000" pitchFamily="2" charset="2"/>
              <a:buChar char="v"/>
              <a:tabLst/>
              <a:defRPr/>
            </a:pPr>
            <a:r>
              <a:rPr kumimoji="0" lang="en-US" altLang="en-US" sz="2400" b="0" i="0" u="none" strike="noStrike" kern="1200" cap="none" spc="0" normalizeH="0" baseline="0" noProof="0">
                <a:ln>
                  <a:noFill/>
                </a:ln>
                <a:solidFill>
                  <a:prstClr val="black"/>
                </a:solidFill>
                <a:effectLst/>
                <a:uLnTx/>
                <a:uFillTx/>
                <a:latin typeface="Gill Sans MT" panose="020B0502020104020203" pitchFamily="34" charset="0"/>
                <a:ea typeface="ＭＳ Ｐゴシック" panose="020B0600070205080204" pitchFamily="34" charset="-128"/>
                <a:cs typeface="+mn-cs"/>
              </a:rPr>
              <a:t>exponential weighted moving average</a:t>
            </a:r>
          </a:p>
          <a:p>
            <a:pPr marL="342900" marR="0" lvl="0" indent="-342900" algn="l" defTabSz="914400" rtl="0" eaLnBrk="1" fontAlgn="auto" latinLnBrk="0" hangingPunct="1">
              <a:lnSpc>
                <a:spcPct val="75000"/>
              </a:lnSpc>
              <a:spcBef>
                <a:spcPct val="20000"/>
              </a:spcBef>
              <a:spcAft>
                <a:spcPts val="0"/>
              </a:spcAft>
              <a:buClr>
                <a:srgbClr val="000099"/>
              </a:buClr>
              <a:buSzPct val="65000"/>
              <a:buFont typeface="Wingdings" panose="05000000000000000000" pitchFamily="2" charset="2"/>
              <a:buChar char="v"/>
              <a:tabLst/>
              <a:defRPr/>
            </a:pPr>
            <a:r>
              <a:rPr kumimoji="0" lang="en-US" altLang="en-US" sz="2400" b="0" i="0" u="none" strike="noStrike" kern="1200" cap="none" spc="0" normalizeH="0" baseline="0" noProof="0">
                <a:ln>
                  <a:noFill/>
                </a:ln>
                <a:solidFill>
                  <a:prstClr val="black"/>
                </a:solidFill>
                <a:effectLst/>
                <a:uLnTx/>
                <a:uFillTx/>
                <a:latin typeface="Gill Sans MT" panose="020B0502020104020203" pitchFamily="34" charset="0"/>
                <a:ea typeface="ＭＳ Ｐゴシック" panose="020B0600070205080204" pitchFamily="34" charset="-128"/>
                <a:cs typeface="+mn-cs"/>
              </a:rPr>
              <a:t>influence of past sample decreases exponentially fast</a:t>
            </a:r>
          </a:p>
          <a:p>
            <a:pPr marL="342900" marR="0" lvl="0" indent="-342900" algn="l" defTabSz="914400" rtl="0" eaLnBrk="1" fontAlgn="auto" latinLnBrk="0" hangingPunct="1">
              <a:lnSpc>
                <a:spcPct val="75000"/>
              </a:lnSpc>
              <a:spcBef>
                <a:spcPct val="20000"/>
              </a:spcBef>
              <a:spcAft>
                <a:spcPts val="0"/>
              </a:spcAft>
              <a:buClr>
                <a:srgbClr val="000099"/>
              </a:buClr>
              <a:buSzPct val="65000"/>
              <a:buFont typeface="Wingdings" panose="05000000000000000000" pitchFamily="2" charset="2"/>
              <a:buChar char="v"/>
              <a:tabLst/>
              <a:defRPr/>
            </a:pPr>
            <a:r>
              <a:rPr kumimoji="0" lang="en-US" altLang="en-US" sz="2400" b="0" i="0" u="none" strike="noStrike" kern="1200" cap="none" spc="0" normalizeH="0" baseline="0" noProof="0">
                <a:ln>
                  <a:noFill/>
                </a:ln>
                <a:solidFill>
                  <a:prstClr val="black"/>
                </a:solidFill>
                <a:effectLst/>
                <a:uLnTx/>
                <a:uFillTx/>
                <a:latin typeface="Gill Sans MT" panose="020B0502020104020203" pitchFamily="34" charset="0"/>
                <a:ea typeface="ＭＳ Ｐゴシック" panose="020B0600070205080204" pitchFamily="34" charset="-128"/>
                <a:cs typeface="+mn-cs"/>
              </a:rPr>
              <a:t>typical value: </a:t>
            </a:r>
            <a:r>
              <a:rPr kumimoji="0" lang="en-US" altLang="en-US" sz="24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sym typeface="Symbol" panose="05050102010706020507" pitchFamily="18" charset="2"/>
              </a:rPr>
              <a:t> =</a:t>
            </a:r>
            <a:r>
              <a:rPr kumimoji="0" lang="en-US" altLang="en-US" sz="2400" b="0" i="0" u="none" strike="noStrike" kern="1200" cap="none" spc="0" normalizeH="0" baseline="0" noProof="0">
                <a:ln>
                  <a:noFill/>
                </a:ln>
                <a:solidFill>
                  <a:prstClr val="black"/>
                </a:solidFill>
                <a:effectLst/>
                <a:uLnTx/>
                <a:uFillTx/>
                <a:latin typeface="Gill Sans MT" panose="020B0502020104020203" pitchFamily="34" charset="0"/>
                <a:ea typeface="ＭＳ Ｐゴシック" panose="020B0600070205080204" pitchFamily="34" charset="-128"/>
                <a:cs typeface="+mn-cs"/>
              </a:rPr>
              <a:t> 0.125</a:t>
            </a:r>
          </a:p>
        </p:txBody>
      </p:sp>
      <p:sp>
        <p:nvSpPr>
          <p:cNvPr id="63496" name="Rectangle 11"/>
          <p:cNvSpPr>
            <a:spLocks noGrp="1" noChangeArrowheads="1"/>
          </p:cNvSpPr>
          <p:nvPr>
            <p:ph type="title"/>
          </p:nvPr>
        </p:nvSpPr>
        <p:spPr>
          <a:xfrm>
            <a:off x="2066925" y="233363"/>
            <a:ext cx="7772400" cy="920750"/>
          </a:xfrm>
        </p:spPr>
        <p:txBody>
          <a:bodyPr/>
          <a:lstStyle/>
          <a:p>
            <a:pPr>
              <a:defRPr/>
            </a:pPr>
            <a:r>
              <a:rPr lang="en-US">
                <a:cs typeface="+mj-cs"/>
              </a:rPr>
              <a:t>TCP round trip time, timeout</a:t>
            </a:r>
          </a:p>
        </p:txBody>
      </p:sp>
      <p:sp>
        <p:nvSpPr>
          <p:cNvPr id="17414" name="Text Box 18"/>
          <p:cNvSpPr txBox="1">
            <a:spLocks noChangeArrowheads="1"/>
          </p:cNvSpPr>
          <p:nvPr/>
        </p:nvSpPr>
        <p:spPr bwMode="auto">
          <a:xfrm rot="10800000">
            <a:off x="3054808" y="3162952"/>
            <a:ext cx="430887" cy="17497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rPr>
              <a:t>RTT (milliseconds)</a:t>
            </a:r>
          </a:p>
        </p:txBody>
      </p:sp>
      <p:sp>
        <p:nvSpPr>
          <p:cNvPr id="17415" name="Text Box 19"/>
          <p:cNvSpPr txBox="1">
            <a:spLocks noChangeArrowheads="1"/>
          </p:cNvSpPr>
          <p:nvPr/>
        </p:nvSpPr>
        <p:spPr bwMode="auto">
          <a:xfrm>
            <a:off x="3789363" y="2797175"/>
            <a:ext cx="3867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RTT:</a:t>
            </a:r>
            <a:r>
              <a:rPr kumimoji="0" lang="en-US" altLang="en-US" sz="1400" b="0" i="0" u="none" strike="noStrike" kern="1200" cap="none" spc="0" normalizeH="0" baseline="0" noProof="0">
                <a:ln>
                  <a:noFill/>
                </a:ln>
                <a:solidFill>
                  <a:prstClr val="white"/>
                </a:solidFill>
                <a:effectLst/>
                <a:uLnTx/>
                <a:uFillTx/>
                <a:latin typeface="Arial" panose="020B0604020202020204" pitchFamily="34" charset="0"/>
                <a:ea typeface="ＭＳ Ｐゴシック" panose="020B0600070205080204" pitchFamily="34" charset="-128"/>
                <a:cs typeface="+mn-cs"/>
              </a:rPr>
              <a:t> </a:t>
            </a: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gaia.cs.umass.edu</a:t>
            </a:r>
            <a:r>
              <a:rPr kumimoji="0" lang="en-US" altLang="en-US" sz="1400" b="0" i="0" u="none" strike="noStrike" kern="1200" cap="none" spc="0" normalizeH="0" baseline="0" noProof="0">
                <a:ln>
                  <a:noFill/>
                </a:ln>
                <a:solidFill>
                  <a:prstClr val="white"/>
                </a:solidFill>
                <a:effectLst/>
                <a:uLnTx/>
                <a:uFillTx/>
                <a:latin typeface="Arial" panose="020B0604020202020204" pitchFamily="34" charset="0"/>
                <a:ea typeface="ＭＳ Ｐゴシック" panose="020B0600070205080204" pitchFamily="34" charset="-128"/>
                <a:cs typeface="+mn-cs"/>
              </a:rPr>
              <a:t> </a:t>
            </a: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to</a:t>
            </a:r>
            <a:r>
              <a:rPr kumimoji="0" lang="en-US" altLang="en-US" sz="1400" b="0" i="0" u="none" strike="noStrike" kern="1200" cap="none" spc="0" normalizeH="0" baseline="0" noProof="0">
                <a:ln>
                  <a:noFill/>
                </a:ln>
                <a:solidFill>
                  <a:prstClr val="white"/>
                </a:solidFill>
                <a:effectLst/>
                <a:uLnTx/>
                <a:uFillTx/>
                <a:latin typeface="Arial" panose="020B0604020202020204" pitchFamily="34" charset="0"/>
                <a:ea typeface="ＭＳ Ｐゴシック" panose="020B0600070205080204" pitchFamily="34" charset="-128"/>
                <a:cs typeface="+mn-cs"/>
              </a:rPr>
              <a:t> </a:t>
            </a: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fantasia.eurecom.fr</a:t>
            </a:r>
          </a:p>
        </p:txBody>
      </p:sp>
      <p:sp>
        <p:nvSpPr>
          <p:cNvPr id="17416" name="Text Box 20"/>
          <p:cNvSpPr txBox="1">
            <a:spLocks noChangeArrowheads="1"/>
          </p:cNvSpPr>
          <p:nvPr/>
        </p:nvSpPr>
        <p:spPr bwMode="auto">
          <a:xfrm>
            <a:off x="7745413" y="4859338"/>
            <a:ext cx="1181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rPr>
              <a:t>sampleRTT</a:t>
            </a:r>
          </a:p>
        </p:txBody>
      </p:sp>
      <p:sp>
        <p:nvSpPr>
          <p:cNvPr id="17417" name="Text Box 21"/>
          <p:cNvSpPr txBox="1">
            <a:spLocks noChangeArrowheads="1"/>
          </p:cNvSpPr>
          <p:nvPr/>
        </p:nvSpPr>
        <p:spPr bwMode="auto">
          <a:xfrm>
            <a:off x="7739064" y="5176838"/>
            <a:ext cx="1431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rPr>
              <a:t>EstimatedRTT</a:t>
            </a:r>
          </a:p>
        </p:txBody>
      </p:sp>
      <p:sp>
        <p:nvSpPr>
          <p:cNvPr id="17418" name="AutoShape 22"/>
          <p:cNvSpPr>
            <a:spLocks noChangeArrowheads="1"/>
          </p:cNvSpPr>
          <p:nvPr/>
        </p:nvSpPr>
        <p:spPr bwMode="auto">
          <a:xfrm>
            <a:off x="7529514" y="4972051"/>
            <a:ext cx="147637" cy="142875"/>
          </a:xfrm>
          <a:prstGeom prst="diamond">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fr-FR" altLang="en-US" sz="2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7419" name="AutoShape 23"/>
          <p:cNvSpPr>
            <a:spLocks noChangeArrowheads="1"/>
          </p:cNvSpPr>
          <p:nvPr/>
        </p:nvSpPr>
        <p:spPr bwMode="auto">
          <a:xfrm rot="2776382">
            <a:off x="7535070" y="5261770"/>
            <a:ext cx="147637" cy="142875"/>
          </a:xfrm>
          <a:prstGeom prst="diamond">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fr-FR" altLang="en-US" sz="2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7310799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0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4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4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4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17414" grpId="0" animBg="1"/>
      <p:bldP spid="17415" grpId="0"/>
      <p:bldP spid="17416" grpId="0"/>
      <p:bldP spid="17417" grpId="0"/>
      <p:bldP spid="17418" grpId="0" animBg="1"/>
      <p:bldP spid="174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5"/>
          <p:cNvSpPr>
            <a:spLocks noGrp="1" noChangeArrowheads="1"/>
          </p:cNvSpPr>
          <p:nvPr>
            <p:ph type="body" sz="half" idx="1"/>
          </p:nvPr>
        </p:nvSpPr>
        <p:spPr>
          <a:xfrm>
            <a:off x="2079625" y="1595439"/>
            <a:ext cx="7918450" cy="1495425"/>
          </a:xfrm>
        </p:spPr>
        <p:txBody>
          <a:bodyPr/>
          <a:lstStyle/>
          <a:p>
            <a:pPr>
              <a:lnSpc>
                <a:spcPct val="90000"/>
              </a:lnSpc>
              <a:defRPr/>
            </a:pPr>
            <a:r>
              <a:rPr lang="en-US" altLang="en-US" dirty="0">
                <a:solidFill>
                  <a:srgbClr val="000099"/>
                </a:solidFill>
                <a:latin typeface="Gill Sans MT" pitchFamily="34" charset="0"/>
              </a:rPr>
              <a:t>timeout interval:</a:t>
            </a:r>
            <a:r>
              <a:rPr lang="en-US" altLang="en-US" sz="2400" b="1" dirty="0">
                <a:latin typeface="Courier New" pitchFamily="49" charset="0"/>
              </a:rPr>
              <a:t> </a:t>
            </a:r>
            <a:r>
              <a:rPr lang="en-US" altLang="en-US" sz="2400" b="1" dirty="0" err="1">
                <a:latin typeface="Courier New" pitchFamily="49" charset="0"/>
              </a:rPr>
              <a:t>EstimatedRTT</a:t>
            </a:r>
            <a:r>
              <a:rPr lang="en-US" altLang="en-US" sz="2400" dirty="0">
                <a:latin typeface="Gill Sans MT" pitchFamily="34" charset="0"/>
              </a:rPr>
              <a:t> plus </a:t>
            </a:r>
            <a:r>
              <a:rPr lang="ja-JP" altLang="en-US" sz="2400" dirty="0">
                <a:latin typeface="Gill Sans MT" pitchFamily="34" charset="0"/>
              </a:rPr>
              <a:t>“</a:t>
            </a:r>
            <a:r>
              <a:rPr lang="en-US" altLang="ja-JP" sz="2400" dirty="0">
                <a:latin typeface="Gill Sans MT" pitchFamily="34" charset="0"/>
              </a:rPr>
              <a:t>safety margin</a:t>
            </a:r>
            <a:r>
              <a:rPr lang="ja-JP" altLang="en-US" sz="2400" dirty="0">
                <a:latin typeface="Gill Sans MT" pitchFamily="34" charset="0"/>
              </a:rPr>
              <a:t>”</a:t>
            </a:r>
            <a:endParaRPr lang="en-US" altLang="ja-JP" sz="2400" dirty="0">
              <a:latin typeface="Gill Sans MT" pitchFamily="34" charset="0"/>
            </a:endParaRPr>
          </a:p>
          <a:p>
            <a:pPr lvl="1">
              <a:lnSpc>
                <a:spcPct val="90000"/>
              </a:lnSpc>
              <a:defRPr/>
            </a:pPr>
            <a:r>
              <a:rPr lang="en-US" altLang="en-US" sz="2000" dirty="0">
                <a:latin typeface="Gill Sans MT" pitchFamily="34" charset="0"/>
              </a:rPr>
              <a:t>large variation in </a:t>
            </a:r>
            <a:r>
              <a:rPr lang="en-US" altLang="en-US" sz="2000" b="1" dirty="0" err="1">
                <a:latin typeface="Courier New" pitchFamily="49" charset="0"/>
              </a:rPr>
              <a:t>EstimatedRTT</a:t>
            </a:r>
            <a:r>
              <a:rPr lang="en-US" altLang="en-US" sz="2000" b="1" dirty="0">
                <a:latin typeface="Courier New" pitchFamily="49" charset="0"/>
              </a:rPr>
              <a:t> -&gt;</a:t>
            </a:r>
            <a:r>
              <a:rPr lang="en-US" altLang="en-US" sz="2000" dirty="0">
                <a:latin typeface="Gill Sans MT" pitchFamily="34" charset="0"/>
              </a:rPr>
              <a:t> larger safety margin</a:t>
            </a:r>
          </a:p>
          <a:p>
            <a:pPr>
              <a:lnSpc>
                <a:spcPct val="90000"/>
              </a:lnSpc>
              <a:spcBef>
                <a:spcPct val="35000"/>
              </a:spcBef>
              <a:defRPr/>
            </a:pPr>
            <a:r>
              <a:rPr lang="en-US" altLang="en-US" sz="2400" dirty="0">
                <a:latin typeface="Gill Sans MT" pitchFamily="34" charset="0"/>
              </a:rPr>
              <a:t>estimate </a:t>
            </a:r>
            <a:r>
              <a:rPr lang="en-US" altLang="en-US" sz="2400" dirty="0" err="1">
                <a:latin typeface="Gill Sans MT" pitchFamily="34" charset="0"/>
              </a:rPr>
              <a:t>SampleRTT</a:t>
            </a:r>
            <a:r>
              <a:rPr lang="en-US" altLang="en-US" sz="2400" dirty="0">
                <a:latin typeface="Gill Sans MT" pitchFamily="34" charset="0"/>
              </a:rPr>
              <a:t> deviation from </a:t>
            </a:r>
            <a:r>
              <a:rPr lang="en-US" altLang="en-US" sz="2400" dirty="0" err="1">
                <a:latin typeface="Gill Sans MT" pitchFamily="34" charset="0"/>
              </a:rPr>
              <a:t>EstimatedRTT</a:t>
            </a:r>
            <a:r>
              <a:rPr lang="en-US" altLang="en-US" sz="2400" dirty="0">
                <a:latin typeface="Gill Sans MT" pitchFamily="34" charset="0"/>
              </a:rPr>
              <a:t>: </a:t>
            </a:r>
          </a:p>
        </p:txBody>
      </p:sp>
      <p:sp>
        <p:nvSpPr>
          <p:cNvPr id="37892" name="Text Box 7"/>
          <p:cNvSpPr txBox="1">
            <a:spLocks noChangeArrowheads="1"/>
          </p:cNvSpPr>
          <p:nvPr/>
        </p:nvSpPr>
        <p:spPr bwMode="auto">
          <a:xfrm>
            <a:off x="2693989" y="2871789"/>
            <a:ext cx="69754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DevRTT = (1-</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sym typeface="Symbol" panose="05050102010706020507" pitchFamily="18" charset="2"/>
              </a:rPr>
              <a:t></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)*DevRTT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             </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sym typeface="Symbol" panose="05050102010706020507" pitchFamily="18" charset="2"/>
              </a:rPr>
              <a:t></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*|SampleRTT-EstimatedRTT|</a:t>
            </a:r>
          </a:p>
        </p:txBody>
      </p:sp>
      <p:sp>
        <p:nvSpPr>
          <p:cNvPr id="64519" name="Rectangle 11"/>
          <p:cNvSpPr>
            <a:spLocks noGrp="1" noChangeArrowheads="1"/>
          </p:cNvSpPr>
          <p:nvPr>
            <p:ph type="title"/>
          </p:nvPr>
        </p:nvSpPr>
        <p:spPr>
          <a:xfrm>
            <a:off x="2066925" y="233363"/>
            <a:ext cx="7772400" cy="920750"/>
          </a:xfrm>
        </p:spPr>
        <p:txBody>
          <a:bodyPr/>
          <a:lstStyle/>
          <a:p>
            <a:pPr>
              <a:defRPr/>
            </a:pPr>
            <a:r>
              <a:rPr lang="en-US" dirty="0">
                <a:cs typeface="+mj-cs"/>
              </a:rPr>
              <a:t>TCP round trip time, timeout</a:t>
            </a:r>
          </a:p>
        </p:txBody>
      </p:sp>
      <p:sp>
        <p:nvSpPr>
          <p:cNvPr id="37895" name="Text Box 12"/>
          <p:cNvSpPr txBox="1">
            <a:spLocks noChangeArrowheads="1"/>
          </p:cNvSpPr>
          <p:nvPr/>
        </p:nvSpPr>
        <p:spPr bwMode="auto">
          <a:xfrm>
            <a:off x="4608514" y="3592514"/>
            <a:ext cx="3386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(typically, </a:t>
            </a:r>
            <a:r>
              <a:rPr kumimoji="0" lang="en-US" altLang="en-US" sz="20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sym typeface="Symbol" panose="05050102010706020507" pitchFamily="18" charset="2"/>
              </a:rPr>
              <a:t> = 0.25)</a:t>
            </a:r>
          </a:p>
        </p:txBody>
      </p:sp>
      <p:sp>
        <p:nvSpPr>
          <p:cNvPr id="37896" name="Rectangle 13"/>
          <p:cNvSpPr>
            <a:spLocks noChangeArrowheads="1"/>
          </p:cNvSpPr>
          <p:nvPr/>
        </p:nvSpPr>
        <p:spPr bwMode="auto">
          <a:xfrm>
            <a:off x="2089150" y="4368800"/>
            <a:ext cx="791845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prstClr val="black"/>
                </a:solidFill>
                <a:effectLst/>
                <a:uLnTx/>
                <a:uFillTx/>
                <a:latin typeface="Courier New" panose="02070309020205020404" pitchFamily="49" charset="0"/>
                <a:ea typeface="ＭＳ Ｐゴシック" panose="020B0600070205080204" pitchFamily="34" charset="-128"/>
                <a:cs typeface="+mn-cs"/>
              </a:rPr>
              <a:t>TimeoutInterval = EstimatedRTT + 4*DevRTT</a:t>
            </a:r>
          </a:p>
        </p:txBody>
      </p:sp>
      <p:sp>
        <p:nvSpPr>
          <p:cNvPr id="37897" name="Text Box 14"/>
          <p:cNvSpPr txBox="1">
            <a:spLocks noChangeArrowheads="1"/>
          </p:cNvSpPr>
          <p:nvPr/>
        </p:nvSpPr>
        <p:spPr bwMode="auto">
          <a:xfrm>
            <a:off x="5534025" y="5122864"/>
            <a:ext cx="18113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estimated RTT</a:t>
            </a:r>
          </a:p>
        </p:txBody>
      </p:sp>
      <p:sp>
        <p:nvSpPr>
          <p:cNvPr id="37898" name="Text Box 16"/>
          <p:cNvSpPr txBox="1">
            <a:spLocks noChangeArrowheads="1"/>
          </p:cNvSpPr>
          <p:nvPr/>
        </p:nvSpPr>
        <p:spPr bwMode="auto">
          <a:xfrm>
            <a:off x="7966076" y="5141913"/>
            <a:ext cx="19801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r>
              <a:rPr kumimoji="0" lang="en-US" altLang="ja-JP"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safety margin</a:t>
            </a: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endParaRPr kumimoji="0" lang="en-US"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endParaRPr>
          </a:p>
        </p:txBody>
      </p:sp>
      <p:sp>
        <p:nvSpPr>
          <p:cNvPr id="37899" name="Line 17"/>
          <p:cNvSpPr>
            <a:spLocks noChangeShapeType="1"/>
          </p:cNvSpPr>
          <p:nvPr/>
        </p:nvSpPr>
        <p:spPr bwMode="auto">
          <a:xfrm flipV="1">
            <a:off x="6330950" y="4762500"/>
            <a:ext cx="0" cy="446088"/>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900" name="Line 19"/>
          <p:cNvSpPr>
            <a:spLocks noChangeShapeType="1"/>
          </p:cNvSpPr>
          <p:nvPr/>
        </p:nvSpPr>
        <p:spPr bwMode="auto">
          <a:xfrm flipV="1">
            <a:off x="8902700" y="4768850"/>
            <a:ext cx="0" cy="446088"/>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7901" name="Picture 20" descr="alarm_clock_ring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5164" y="4773614"/>
            <a:ext cx="7524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4538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6564">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89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89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78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8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89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89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790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9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p:bldP spid="37895" grpId="0"/>
      <p:bldP spid="37896" grpId="0"/>
      <p:bldP spid="37897" grpId="0"/>
      <p:bldP spid="3789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5"/>
          <p:cNvSpPr>
            <a:spLocks noGrp="1"/>
          </p:cNvSpPr>
          <p:nvPr>
            <p:ph type="ftr" sz="quarter" idx="429496729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MS PGothic" charset="0"/>
                <a:cs typeface="MS PGothic" charset="0"/>
              </a:defRPr>
            </a:lvl1pPr>
            <a:lvl2pPr marL="742950" indent="-285750">
              <a:defRPr sz="1600">
                <a:solidFill>
                  <a:schemeClr val="tx1"/>
                </a:solidFill>
                <a:latin typeface="Tahoma" charset="0"/>
                <a:ea typeface="MS PGothic" charset="0"/>
                <a:cs typeface="MS PGothic" charset="0"/>
              </a:defRPr>
            </a:lvl2pPr>
            <a:lvl3pPr marL="1143000" indent="-228600">
              <a:defRPr sz="1600">
                <a:solidFill>
                  <a:schemeClr val="tx1"/>
                </a:solidFill>
                <a:latin typeface="Tahoma" charset="0"/>
                <a:ea typeface="MS PGothic" charset="0"/>
                <a:cs typeface="MS PGothic" charset="0"/>
              </a:defRPr>
            </a:lvl3pPr>
            <a:lvl4pPr marL="1600200" indent="-228600">
              <a:defRPr sz="1600">
                <a:solidFill>
                  <a:schemeClr val="tx1"/>
                </a:solidFill>
                <a:latin typeface="Tahoma" charset="0"/>
                <a:ea typeface="MS PGothic" charset="0"/>
                <a:cs typeface="MS PGothic" charset="0"/>
              </a:defRPr>
            </a:lvl4pPr>
            <a:lvl5pPr marL="2057400" indent="-228600">
              <a:defRPr sz="1600">
                <a:solidFill>
                  <a:schemeClr val="tx1"/>
                </a:solidFill>
                <a:latin typeface="Tahoma" charset="0"/>
                <a:ea typeface="MS PGothic" charset="0"/>
                <a:cs typeface="MS PGothic" charset="0"/>
              </a:defRPr>
            </a:lvl5pPr>
            <a:lvl6pPr marL="25146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6pPr>
            <a:lvl7pPr marL="29718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7pPr>
            <a:lvl8pPr marL="34290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8pPr>
            <a:lvl9pPr marL="38862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9pPr>
          </a:lstStyle>
          <a:p>
            <a:pPr>
              <a:defRPr/>
            </a:pPr>
            <a:r>
              <a:rPr lang="en-US" sz="1100"/>
              <a:t>Transport</a:t>
            </a:r>
            <a:r>
              <a:rPr lang="en-US" sz="1200"/>
              <a:t> </a:t>
            </a:r>
            <a:r>
              <a:rPr lang="en-US" sz="1100"/>
              <a:t>Layer</a:t>
            </a:r>
          </a:p>
        </p:txBody>
      </p:sp>
      <p:sp>
        <p:nvSpPr>
          <p:cNvPr id="68611" name="Slide Number Placeholder 6"/>
          <p:cNvSpPr>
            <a:spLocks noGrp="1"/>
          </p:cNvSpPr>
          <p:nvPr>
            <p:ph type="sldNum" sz="quarter" idx="429496729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defRPr/>
            </a:pPr>
            <a:r>
              <a:rPr lang="en-US" altLang="en-US" sz="1100">
                <a:latin typeface="Tahoma" panose="020B0604030504040204" pitchFamily="34" charset="0"/>
              </a:rPr>
              <a:t>3-</a:t>
            </a:r>
            <a:fld id="{096CC60D-A7D7-41C6-ABC0-6931EE4D11E8}" type="slidenum">
              <a:rPr lang="en-US" altLang="en-US" sz="1100">
                <a:latin typeface="Tahoma" panose="020B0604030504040204" pitchFamily="34" charset="0"/>
              </a:rPr>
              <a:pPr eaLnBrk="1" hangingPunct="1">
                <a:spcBef>
                  <a:spcPct val="0"/>
                </a:spcBef>
                <a:buFontTx/>
                <a:buNone/>
                <a:defRPr/>
              </a:pPr>
              <a:t>20</a:t>
            </a:fld>
            <a:endParaRPr lang="en-US" altLang="en-US" sz="1100">
              <a:latin typeface="Tahoma" panose="020B0604030504040204" pitchFamily="34" charset="0"/>
            </a:endParaRPr>
          </a:p>
        </p:txBody>
      </p:sp>
      <p:sp>
        <p:nvSpPr>
          <p:cNvPr id="66564" name="Rectangle 2"/>
          <p:cNvSpPr>
            <a:spLocks noGrp="1" noChangeArrowheads="1"/>
          </p:cNvSpPr>
          <p:nvPr>
            <p:ph type="title"/>
          </p:nvPr>
        </p:nvSpPr>
        <p:spPr>
          <a:xfrm>
            <a:off x="2057400" y="173038"/>
            <a:ext cx="7772400" cy="1143000"/>
          </a:xfrm>
        </p:spPr>
        <p:txBody>
          <a:bodyPr/>
          <a:lstStyle/>
          <a:p>
            <a:pPr>
              <a:defRPr/>
            </a:pPr>
            <a:r>
              <a:rPr lang="en-US" sz="3200" dirty="0"/>
              <a:t>TCP reliable data transfer</a:t>
            </a:r>
          </a:p>
        </p:txBody>
      </p:sp>
      <p:sp>
        <p:nvSpPr>
          <p:cNvPr id="68613" name="Rectangle 3"/>
          <p:cNvSpPr>
            <a:spLocks noGrp="1" noChangeArrowheads="1"/>
          </p:cNvSpPr>
          <p:nvPr>
            <p:ph type="body" sz="half" idx="1"/>
          </p:nvPr>
        </p:nvSpPr>
        <p:spPr>
          <a:xfrm>
            <a:off x="2057400" y="1500188"/>
            <a:ext cx="4070350" cy="4648200"/>
          </a:xfrm>
        </p:spPr>
        <p:txBody>
          <a:bodyPr/>
          <a:lstStyle/>
          <a:p>
            <a:pPr>
              <a:defRPr/>
            </a:pPr>
            <a:r>
              <a:rPr lang="en-US" altLang="en-US" sz="2400">
                <a:latin typeface="Gill Sans MT" pitchFamily="34" charset="0"/>
              </a:rPr>
              <a:t>TCP creates rdt service on top of IP</a:t>
            </a:r>
            <a:r>
              <a:rPr lang="ja-JP" altLang="en-US" sz="2400">
                <a:latin typeface="Gill Sans MT" pitchFamily="34" charset="0"/>
              </a:rPr>
              <a:t>’</a:t>
            </a:r>
            <a:r>
              <a:rPr lang="en-US" altLang="ja-JP" sz="2400">
                <a:latin typeface="Gill Sans MT" pitchFamily="34" charset="0"/>
              </a:rPr>
              <a:t>s unreliable service</a:t>
            </a:r>
          </a:p>
          <a:p>
            <a:pPr lvl="1">
              <a:defRPr/>
            </a:pPr>
            <a:r>
              <a:rPr lang="en-US" altLang="en-US" sz="2000">
                <a:latin typeface="Gill Sans MT" pitchFamily="34" charset="0"/>
              </a:rPr>
              <a:t>pipelined segments</a:t>
            </a:r>
          </a:p>
          <a:p>
            <a:pPr lvl="1">
              <a:defRPr/>
            </a:pPr>
            <a:r>
              <a:rPr lang="en-US" altLang="en-US" sz="2000">
                <a:latin typeface="Gill Sans MT" pitchFamily="34" charset="0"/>
              </a:rPr>
              <a:t>cumulative acks</a:t>
            </a:r>
          </a:p>
          <a:p>
            <a:pPr lvl="1">
              <a:defRPr/>
            </a:pPr>
            <a:r>
              <a:rPr lang="en-US" altLang="en-US" sz="2000">
                <a:latin typeface="Gill Sans MT" pitchFamily="34" charset="0"/>
              </a:rPr>
              <a:t>single retransmission timer</a:t>
            </a:r>
          </a:p>
          <a:p>
            <a:pPr>
              <a:defRPr/>
            </a:pPr>
            <a:r>
              <a:rPr lang="en-US" altLang="en-US" sz="2400">
                <a:latin typeface="Gill Sans MT" pitchFamily="34" charset="0"/>
              </a:rPr>
              <a:t>Retransmissions triggered by:</a:t>
            </a:r>
          </a:p>
          <a:p>
            <a:pPr lvl="1">
              <a:defRPr/>
            </a:pPr>
            <a:r>
              <a:rPr lang="en-US" altLang="en-US" sz="2000">
                <a:latin typeface="Gill Sans MT" pitchFamily="34" charset="0"/>
              </a:rPr>
              <a:t>timeout events</a:t>
            </a:r>
          </a:p>
          <a:p>
            <a:pPr lvl="1">
              <a:defRPr/>
            </a:pPr>
            <a:r>
              <a:rPr lang="en-US" altLang="en-US" sz="2000">
                <a:latin typeface="Gill Sans MT" pitchFamily="34" charset="0"/>
              </a:rPr>
              <a:t>duplicate acks</a:t>
            </a:r>
          </a:p>
          <a:p>
            <a:pPr>
              <a:defRPr/>
            </a:pPr>
            <a:endParaRPr lang="en-US" altLang="en-US" sz="2400">
              <a:latin typeface="Gill Sans MT" pitchFamily="34" charset="0"/>
            </a:endParaRPr>
          </a:p>
          <a:p>
            <a:pPr>
              <a:defRPr/>
            </a:pPr>
            <a:endParaRPr lang="en-US" altLang="en-US" sz="2400">
              <a:latin typeface="Gill Sans MT" pitchFamily="34" charset="0"/>
            </a:endParaRPr>
          </a:p>
        </p:txBody>
      </p:sp>
      <p:sp>
        <p:nvSpPr>
          <p:cNvPr id="68614" name="Rectangle 4"/>
          <p:cNvSpPr>
            <a:spLocks noGrp="1" noChangeArrowheads="1"/>
          </p:cNvSpPr>
          <p:nvPr>
            <p:ph type="body" sz="half" idx="2"/>
          </p:nvPr>
        </p:nvSpPr>
        <p:spPr>
          <a:xfrm>
            <a:off x="6178551" y="2911476"/>
            <a:ext cx="3933825" cy="2119313"/>
          </a:xfrm>
        </p:spPr>
        <p:txBody>
          <a:bodyPr/>
          <a:lstStyle/>
          <a:p>
            <a:pPr>
              <a:buFont typeface="Wingdings" pitchFamily="2" charset="2"/>
              <a:buNone/>
              <a:defRPr/>
            </a:pPr>
            <a:r>
              <a:rPr lang="en-US" altLang="en-US" sz="2400">
                <a:latin typeface="Gill Sans MT" pitchFamily="34" charset="0"/>
              </a:rPr>
              <a:t>let</a:t>
            </a:r>
            <a:r>
              <a:rPr lang="ja-JP" altLang="en-US" sz="2400">
                <a:latin typeface="Gill Sans MT" pitchFamily="34" charset="0"/>
              </a:rPr>
              <a:t>’</a:t>
            </a:r>
            <a:r>
              <a:rPr lang="en-US" altLang="ja-JP" sz="2400">
                <a:latin typeface="Gill Sans MT" pitchFamily="34" charset="0"/>
              </a:rPr>
              <a:t>s initially consider simplified TCP sender</a:t>
            </a:r>
          </a:p>
        </p:txBody>
      </p:sp>
      <p:pic>
        <p:nvPicPr>
          <p:cNvPr id="8199" name="Picture 5" descr="underline_base"/>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0913" y="996950"/>
            <a:ext cx="5942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59950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61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61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8613">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86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Sender </a:t>
            </a:r>
            <a:r>
              <a:rPr lang="en-US" sz="3600" dirty="0"/>
              <a:t>(simplified)</a:t>
            </a:r>
            <a:endParaRPr lang="en-US" sz="4400" b="0" dirty="0"/>
          </a:p>
        </p:txBody>
      </p:sp>
      <p:sp>
        <p:nvSpPr>
          <p:cNvPr id="6" name="Rectangle 3">
            <a:extLst>
              <a:ext uri="{FF2B5EF4-FFF2-40B4-BE49-F238E27FC236}">
                <a16:creationId xmlns:a16="http://schemas.microsoft.com/office/drawing/2014/main" id="{93E50F9F-34A2-434D-9CCF-7D058EEE958D}"/>
              </a:ext>
            </a:extLst>
          </p:cNvPr>
          <p:cNvSpPr txBox="1">
            <a:spLocks noChangeArrowheads="1"/>
          </p:cNvSpPr>
          <p:nvPr/>
        </p:nvSpPr>
        <p:spPr>
          <a:xfrm>
            <a:off x="798690" y="1384386"/>
            <a:ext cx="4953000"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event: data received from application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create segment with seq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seq # is byte-stream number of first data byte in  segment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start timer if not already running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think of timer as for oldest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segment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expiration interval: </a:t>
            </a:r>
            <a:r>
              <a:rPr kumimoji="0" lang="en-US" sz="2400" b="1" i="0" u="none" strike="noStrike" kern="1200" cap="none" spc="0" normalizeH="0" baseline="0" noProof="0" dirty="0" err="1">
                <a:ln>
                  <a:noFill/>
                </a:ln>
                <a:solidFill>
                  <a:prstClr val="black"/>
                </a:solidFill>
                <a:effectLst/>
                <a:uLnTx/>
                <a:uFillTx/>
                <a:latin typeface="Courier New" charset="0"/>
                <a:ea typeface="+mn-ea"/>
                <a:cs typeface="+mn-cs"/>
              </a:rPr>
              <a:t>TimeOutInterval</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4">
            <a:extLst>
              <a:ext uri="{FF2B5EF4-FFF2-40B4-BE49-F238E27FC236}">
                <a16:creationId xmlns:a16="http://schemas.microsoft.com/office/drawing/2014/main" id="{DA35D0F5-641B-DD43-98AE-2CF2FD980706}"/>
              </a:ext>
            </a:extLst>
          </p:cNvPr>
          <p:cNvSpPr txBox="1">
            <a:spLocks noChangeArrowheads="1"/>
          </p:cNvSpPr>
          <p:nvPr/>
        </p:nvSpPr>
        <p:spPr>
          <a:xfrm>
            <a:off x="6728208" y="1446144"/>
            <a:ext cx="3810000" cy="1943100"/>
          </a:xfrm>
          <a:prstGeom prst="rect">
            <a:avLst/>
          </a:prstGeom>
        </p:spPr>
        <p:txBody>
          <a:bodyPr vert="horz" lIns="91440" tIns="45720" rIns="91440" bIns="4572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000" b="0" i="1" u="none" strike="noStrike" kern="1200" cap="none" spc="0" normalizeH="0" baseline="0" noProof="0" dirty="0">
                <a:ln>
                  <a:noFill/>
                </a:ln>
                <a:solidFill>
                  <a:srgbClr val="CC0000"/>
                </a:solidFill>
                <a:effectLst/>
                <a:uLnTx/>
                <a:uFillTx/>
                <a:latin typeface="Calibri" panose="020F0502020204030204"/>
                <a:ea typeface="+mn-ea"/>
                <a:cs typeface="+mn-cs"/>
              </a:rPr>
              <a:t>event: timeout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retransmit segment that caused timeout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restart timer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8" name="Rectangle 4">
            <a:extLst>
              <a:ext uri="{FF2B5EF4-FFF2-40B4-BE49-F238E27FC236}">
                <a16:creationId xmlns:a16="http://schemas.microsoft.com/office/drawing/2014/main" id="{7626FEA2-2ED1-6640-83D4-E13C73302CE0}"/>
              </a:ext>
            </a:extLst>
          </p:cNvPr>
          <p:cNvSpPr txBox="1">
            <a:spLocks noChangeArrowheads="1"/>
          </p:cNvSpPr>
          <p:nvPr/>
        </p:nvSpPr>
        <p:spPr>
          <a:xfrm>
            <a:off x="6728208" y="3392552"/>
            <a:ext cx="4920453" cy="319377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event: ACK received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if ACK acknowledges previously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segments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update what is known to be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ACKed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start timer if there are  still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segments</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lide Number Placeholder 2">
            <a:extLst>
              <a:ext uri="{FF2B5EF4-FFF2-40B4-BE49-F238E27FC236}">
                <a16:creationId xmlns:a16="http://schemas.microsoft.com/office/drawing/2014/main" id="{F7A5BD9A-E49F-7E4D-A1AC-729448A7B15E}"/>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21</a:t>
            </a:fld>
            <a:endParaRPr lang="en-US" dirty="0"/>
          </a:p>
        </p:txBody>
      </p:sp>
    </p:spTree>
    <p:extLst>
      <p:ext uri="{BB962C8B-B14F-4D97-AF65-F5344CB8AC3E}">
        <p14:creationId xmlns:p14="http://schemas.microsoft.com/office/powerpoint/2010/main" val="422074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Oval 7"/>
          <p:cNvSpPr>
            <a:spLocks noChangeArrowheads="1"/>
          </p:cNvSpPr>
          <p:nvPr/>
        </p:nvSpPr>
        <p:spPr bwMode="auto">
          <a:xfrm>
            <a:off x="4421188" y="2730500"/>
            <a:ext cx="1071562" cy="971550"/>
          </a:xfrm>
          <a:prstGeom prst="ellipse">
            <a:avLst/>
          </a:pr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0244" name="Oval 6"/>
          <p:cNvSpPr>
            <a:spLocks noChangeArrowheads="1"/>
          </p:cNvSpPr>
          <p:nvPr/>
        </p:nvSpPr>
        <p:spPr bwMode="auto">
          <a:xfrm>
            <a:off x="4346576" y="2778125"/>
            <a:ext cx="1071563" cy="971550"/>
          </a:xfrm>
          <a:prstGeom prst="ellipse">
            <a:avLst/>
          </a:prstGeom>
          <a:solidFill>
            <a:schemeClr val="bg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68615" name="Rectangle 2"/>
          <p:cNvSpPr>
            <a:spLocks noGrp="1" noChangeArrowheads="1"/>
          </p:cNvSpPr>
          <p:nvPr>
            <p:ph type="title"/>
          </p:nvPr>
        </p:nvSpPr>
        <p:spPr>
          <a:xfrm>
            <a:off x="1898650" y="187326"/>
            <a:ext cx="7734300" cy="898525"/>
          </a:xfrm>
        </p:spPr>
        <p:txBody>
          <a:bodyPr/>
          <a:lstStyle/>
          <a:p>
            <a:pPr>
              <a:defRPr/>
            </a:pPr>
            <a:r>
              <a:rPr lang="en-US">
                <a:cs typeface="+mj-cs"/>
              </a:rPr>
              <a:t>TCP sender </a:t>
            </a:r>
            <a:r>
              <a:rPr lang="en-US" sz="3200"/>
              <a:t>(simplified)</a:t>
            </a:r>
            <a:endParaRPr lang="en-US">
              <a:cs typeface="+mj-cs"/>
            </a:endParaRPr>
          </a:p>
        </p:txBody>
      </p:sp>
      <p:sp>
        <p:nvSpPr>
          <p:cNvPr id="10246" name="Text Box 5"/>
          <p:cNvSpPr txBox="1">
            <a:spLocks noChangeArrowheads="1"/>
          </p:cNvSpPr>
          <p:nvPr/>
        </p:nvSpPr>
        <p:spPr bwMode="auto">
          <a:xfrm>
            <a:off x="4503738" y="2781300"/>
            <a:ext cx="7429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t>wait</a:t>
            </a:r>
          </a:p>
          <a:p>
            <a:pPr eaLnBrk="1" hangingPunct="1">
              <a:spcBef>
                <a:spcPct val="0"/>
              </a:spcBef>
              <a:buFontTx/>
              <a:buNone/>
            </a:pPr>
            <a:r>
              <a:rPr lang="en-US" altLang="en-US" sz="1800"/>
              <a:t>for </a:t>
            </a:r>
          </a:p>
          <a:p>
            <a:pPr eaLnBrk="1" hangingPunct="1">
              <a:spcBef>
                <a:spcPct val="0"/>
              </a:spcBef>
              <a:buFontTx/>
              <a:buNone/>
            </a:pPr>
            <a:r>
              <a:rPr lang="en-US" altLang="en-US" sz="1800"/>
              <a:t>event</a:t>
            </a:r>
          </a:p>
        </p:txBody>
      </p:sp>
      <p:sp>
        <p:nvSpPr>
          <p:cNvPr id="10247" name="Line 8"/>
          <p:cNvSpPr>
            <a:spLocks noChangeShapeType="1"/>
          </p:cNvSpPr>
          <p:nvPr/>
        </p:nvSpPr>
        <p:spPr bwMode="auto">
          <a:xfrm>
            <a:off x="3379788" y="2247901"/>
            <a:ext cx="1071562" cy="688975"/>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248" name="Text Box 9"/>
          <p:cNvSpPr txBox="1">
            <a:spLocks noChangeArrowheads="1"/>
          </p:cNvSpPr>
          <p:nvPr/>
        </p:nvSpPr>
        <p:spPr bwMode="auto">
          <a:xfrm>
            <a:off x="1838325" y="2874963"/>
            <a:ext cx="25699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NextSeqNum = InitialSeqNum</a:t>
            </a:r>
          </a:p>
          <a:p>
            <a:pPr eaLnBrk="1" hangingPunct="1">
              <a:spcBef>
                <a:spcPct val="0"/>
              </a:spcBef>
              <a:buFontTx/>
              <a:buNone/>
            </a:pPr>
            <a:r>
              <a:rPr lang="en-US" altLang="en-US" sz="1400"/>
              <a:t>SendBase = InitialSeqNum</a:t>
            </a:r>
          </a:p>
        </p:txBody>
      </p:sp>
      <p:sp>
        <p:nvSpPr>
          <p:cNvPr id="10249" name="Line 10"/>
          <p:cNvSpPr>
            <a:spLocks noChangeShapeType="1"/>
          </p:cNvSpPr>
          <p:nvPr/>
        </p:nvSpPr>
        <p:spPr bwMode="auto">
          <a:xfrm>
            <a:off x="1941514" y="2889250"/>
            <a:ext cx="2179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50" name="Text Box 11"/>
          <p:cNvSpPr txBox="1">
            <a:spLocks noChangeArrowheads="1"/>
          </p:cNvSpPr>
          <p:nvPr/>
        </p:nvSpPr>
        <p:spPr bwMode="auto">
          <a:xfrm>
            <a:off x="2811463" y="2571751"/>
            <a:ext cx="341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Symbol" panose="05050102010706020507" pitchFamily="18" charset="2"/>
              </a:rPr>
              <a:t>L</a:t>
            </a:r>
          </a:p>
        </p:txBody>
      </p:sp>
      <p:grpSp>
        <p:nvGrpSpPr>
          <p:cNvPr id="10251" name="Group 23"/>
          <p:cNvGrpSpPr>
            <a:grpSpLocks/>
          </p:cNvGrpSpPr>
          <p:nvPr/>
        </p:nvGrpSpPr>
        <p:grpSpPr bwMode="auto">
          <a:xfrm>
            <a:off x="6129339" y="1333501"/>
            <a:ext cx="4251325" cy="1928813"/>
            <a:chOff x="3003" y="1263"/>
            <a:chExt cx="2678" cy="1215"/>
          </a:xfrm>
        </p:grpSpPr>
        <p:sp>
          <p:nvSpPr>
            <p:cNvPr id="10263" name="Text Box 12"/>
            <p:cNvSpPr txBox="1">
              <a:spLocks noChangeArrowheads="1"/>
            </p:cNvSpPr>
            <p:nvPr/>
          </p:nvSpPr>
          <p:spPr bwMode="auto">
            <a:xfrm>
              <a:off x="3019" y="1456"/>
              <a:ext cx="2662" cy="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lnSpc>
                  <a:spcPct val="105000"/>
                </a:lnSpc>
                <a:spcBef>
                  <a:spcPct val="0"/>
                </a:spcBef>
                <a:buFontTx/>
                <a:buNone/>
              </a:pPr>
              <a:r>
                <a:rPr lang="en-US" altLang="en-US" sz="1600">
                  <a:latin typeface="Tahoma" panose="020B0604030504040204" pitchFamily="34" charset="0"/>
                </a:rPr>
                <a:t>create segment, seq. #: NextSeqNum</a:t>
              </a:r>
            </a:p>
            <a:p>
              <a:pPr eaLnBrk="1" hangingPunct="1">
                <a:lnSpc>
                  <a:spcPct val="105000"/>
                </a:lnSpc>
                <a:spcBef>
                  <a:spcPct val="0"/>
                </a:spcBef>
                <a:buFontTx/>
                <a:buNone/>
              </a:pPr>
              <a:r>
                <a:rPr lang="en-US" altLang="en-US" sz="1600">
                  <a:latin typeface="Tahoma" panose="020B0604030504040204" pitchFamily="34" charset="0"/>
                </a:rPr>
                <a:t>pass segment to IP (i.e., </a:t>
              </a:r>
              <a:r>
                <a:rPr lang="ja-JP" altLang="en-US" sz="1600">
                  <a:latin typeface="Tahoma" panose="020B0604030504040204" pitchFamily="34" charset="0"/>
                </a:rPr>
                <a:t>“</a:t>
              </a:r>
              <a:r>
                <a:rPr lang="en-US" altLang="ja-JP" sz="1600">
                  <a:latin typeface="Tahoma" panose="020B0604030504040204" pitchFamily="34" charset="0"/>
                </a:rPr>
                <a:t>send</a:t>
              </a:r>
              <a:r>
                <a:rPr lang="ja-JP" altLang="en-US" sz="1600">
                  <a:latin typeface="Tahoma" panose="020B0604030504040204" pitchFamily="34" charset="0"/>
                </a:rPr>
                <a:t>”</a:t>
              </a:r>
              <a:r>
                <a:rPr lang="en-US" altLang="ja-JP" sz="1600">
                  <a:latin typeface="Tahoma" panose="020B0604030504040204" pitchFamily="34" charset="0"/>
                </a:rPr>
                <a:t>)</a:t>
              </a:r>
            </a:p>
            <a:p>
              <a:pPr eaLnBrk="1" hangingPunct="1">
                <a:lnSpc>
                  <a:spcPct val="105000"/>
                </a:lnSpc>
                <a:spcBef>
                  <a:spcPct val="0"/>
                </a:spcBef>
                <a:buFontTx/>
                <a:buNone/>
              </a:pPr>
              <a:r>
                <a:rPr lang="en-US" altLang="en-US" sz="1600">
                  <a:latin typeface="Tahoma" panose="020B0604030504040204" pitchFamily="34" charset="0"/>
                </a:rPr>
                <a:t>NextSeqNum = NextSeqNum + length(data) </a:t>
              </a:r>
            </a:p>
            <a:p>
              <a:pPr eaLnBrk="1" hangingPunct="1">
                <a:lnSpc>
                  <a:spcPct val="105000"/>
                </a:lnSpc>
                <a:spcBef>
                  <a:spcPct val="0"/>
                </a:spcBef>
                <a:buFontTx/>
                <a:buNone/>
              </a:pPr>
              <a:r>
                <a:rPr lang="en-US" altLang="en-US" sz="1600">
                  <a:latin typeface="Tahoma" panose="020B0604030504040204" pitchFamily="34" charset="0"/>
                </a:rPr>
                <a:t>if (timer currently not running)</a:t>
              </a:r>
            </a:p>
            <a:p>
              <a:pPr eaLnBrk="1" hangingPunct="1">
                <a:lnSpc>
                  <a:spcPct val="105000"/>
                </a:lnSpc>
                <a:spcBef>
                  <a:spcPct val="0"/>
                </a:spcBef>
                <a:buFontTx/>
                <a:buNone/>
              </a:pPr>
              <a:r>
                <a:rPr lang="en-US" altLang="en-US" sz="1600">
                  <a:latin typeface="Tahoma" panose="020B0604030504040204" pitchFamily="34" charset="0"/>
                </a:rPr>
                <a:t>    start timer</a:t>
              </a:r>
            </a:p>
            <a:p>
              <a:pPr eaLnBrk="1" hangingPunct="1">
                <a:spcBef>
                  <a:spcPct val="0"/>
                </a:spcBef>
                <a:buFontTx/>
                <a:buNone/>
              </a:pPr>
              <a:r>
                <a:rPr lang="en-US" altLang="en-US" sz="1600">
                  <a:latin typeface="Tahoma" panose="020B0604030504040204" pitchFamily="34" charset="0"/>
                </a:rPr>
                <a:t>                 </a:t>
              </a:r>
            </a:p>
          </p:txBody>
        </p:sp>
        <p:sp>
          <p:nvSpPr>
            <p:cNvPr id="10264" name="Text Box 13"/>
            <p:cNvSpPr txBox="1">
              <a:spLocks noChangeArrowheads="1"/>
            </p:cNvSpPr>
            <p:nvPr/>
          </p:nvSpPr>
          <p:spPr bwMode="auto">
            <a:xfrm>
              <a:off x="3003" y="1263"/>
              <a:ext cx="220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data received from application above</a:t>
              </a:r>
            </a:p>
          </p:txBody>
        </p:sp>
        <p:sp>
          <p:nvSpPr>
            <p:cNvPr id="10265" name="Line 15"/>
            <p:cNvSpPr>
              <a:spLocks noChangeShapeType="1"/>
            </p:cNvSpPr>
            <p:nvPr/>
          </p:nvSpPr>
          <p:spPr bwMode="auto">
            <a:xfrm>
              <a:off x="3081" y="1490"/>
              <a:ext cx="17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0252" name="Group 20"/>
          <p:cNvGrpSpPr>
            <a:grpSpLocks/>
          </p:cNvGrpSpPr>
          <p:nvPr/>
        </p:nvGrpSpPr>
        <p:grpSpPr bwMode="auto">
          <a:xfrm>
            <a:off x="6329364" y="3406776"/>
            <a:ext cx="3298825" cy="1147763"/>
            <a:chOff x="1270" y="3518"/>
            <a:chExt cx="2078" cy="723"/>
          </a:xfrm>
        </p:grpSpPr>
        <p:sp>
          <p:nvSpPr>
            <p:cNvPr id="10260" name="Text Box 16"/>
            <p:cNvSpPr txBox="1">
              <a:spLocks noChangeArrowheads="1"/>
            </p:cNvSpPr>
            <p:nvPr/>
          </p:nvSpPr>
          <p:spPr bwMode="auto">
            <a:xfrm>
              <a:off x="1275" y="3721"/>
              <a:ext cx="2073"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retransmit not-yet-acked segment         	with smallest seq. #</a:t>
              </a:r>
            </a:p>
            <a:p>
              <a:pPr eaLnBrk="1" hangingPunct="1">
                <a:spcBef>
                  <a:spcPct val="0"/>
                </a:spcBef>
                <a:buFontTx/>
                <a:buNone/>
              </a:pPr>
              <a:r>
                <a:rPr lang="en-US" altLang="en-US" sz="1600">
                  <a:latin typeface="Tahoma" panose="020B0604030504040204" pitchFamily="34" charset="0"/>
                </a:rPr>
                <a:t>start timer</a:t>
              </a:r>
            </a:p>
          </p:txBody>
        </p:sp>
        <p:sp>
          <p:nvSpPr>
            <p:cNvPr id="10261" name="Text Box 17"/>
            <p:cNvSpPr txBox="1">
              <a:spLocks noChangeArrowheads="1"/>
            </p:cNvSpPr>
            <p:nvPr/>
          </p:nvSpPr>
          <p:spPr bwMode="auto">
            <a:xfrm>
              <a:off x="1270" y="3518"/>
              <a:ext cx="54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timeout</a:t>
              </a:r>
            </a:p>
          </p:txBody>
        </p:sp>
        <p:sp>
          <p:nvSpPr>
            <p:cNvPr id="10262" name="Line 18"/>
            <p:cNvSpPr>
              <a:spLocks noChangeShapeType="1"/>
            </p:cNvSpPr>
            <p:nvPr/>
          </p:nvSpPr>
          <p:spPr bwMode="auto">
            <a:xfrm>
              <a:off x="1342" y="3741"/>
              <a:ext cx="188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0253" name="Group 24"/>
          <p:cNvGrpSpPr>
            <a:grpSpLocks/>
          </p:cNvGrpSpPr>
          <p:nvPr/>
        </p:nvGrpSpPr>
        <p:grpSpPr bwMode="auto">
          <a:xfrm>
            <a:off x="2476501" y="4513263"/>
            <a:ext cx="4735513" cy="1947862"/>
            <a:chOff x="678" y="2592"/>
            <a:chExt cx="2983" cy="1227"/>
          </a:xfrm>
        </p:grpSpPr>
        <p:sp>
          <p:nvSpPr>
            <p:cNvPr id="10257" name="Text Box 3"/>
            <p:cNvSpPr txBox="1">
              <a:spLocks noChangeArrowheads="1"/>
            </p:cNvSpPr>
            <p:nvPr/>
          </p:nvSpPr>
          <p:spPr bwMode="auto">
            <a:xfrm>
              <a:off x="678" y="2830"/>
              <a:ext cx="2983"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t>if (y &gt; SendBase) { </a:t>
              </a:r>
            </a:p>
            <a:p>
              <a:pPr eaLnBrk="1" hangingPunct="1">
                <a:spcBef>
                  <a:spcPct val="0"/>
                </a:spcBef>
                <a:buFontTx/>
                <a:buNone/>
              </a:pPr>
              <a:r>
                <a:rPr lang="en-US" altLang="en-US" sz="1600"/>
                <a:t>    SendBase = y </a:t>
              </a:r>
            </a:p>
            <a:p>
              <a:pPr eaLnBrk="1" hangingPunct="1">
                <a:spcBef>
                  <a:spcPct val="0"/>
                </a:spcBef>
                <a:buFontTx/>
                <a:buNone/>
              </a:pPr>
              <a:r>
                <a:rPr lang="en-US" altLang="en-US" sz="1600"/>
                <a:t>    /* SendBase–1: last cumulatively ACKed byte */</a:t>
              </a:r>
            </a:p>
            <a:p>
              <a:pPr eaLnBrk="1" hangingPunct="1">
                <a:spcBef>
                  <a:spcPct val="0"/>
                </a:spcBef>
                <a:buFontTx/>
                <a:buNone/>
              </a:pPr>
              <a:r>
                <a:rPr lang="en-US" altLang="en-US" sz="1600"/>
                <a:t>    if (there are currently not-yet-acked segments)</a:t>
              </a:r>
            </a:p>
            <a:p>
              <a:pPr eaLnBrk="1" hangingPunct="1">
                <a:spcBef>
                  <a:spcPct val="0"/>
                </a:spcBef>
                <a:buFontTx/>
                <a:buNone/>
              </a:pPr>
              <a:r>
                <a:rPr lang="en-US" altLang="en-US" sz="1600"/>
                <a:t>         start timer </a:t>
              </a:r>
            </a:p>
            <a:p>
              <a:pPr eaLnBrk="1" hangingPunct="1">
                <a:spcBef>
                  <a:spcPct val="0"/>
                </a:spcBef>
                <a:buFontTx/>
                <a:buNone/>
              </a:pPr>
              <a:r>
                <a:rPr lang="en-US" altLang="en-US" sz="1600"/>
                <a:t>     } </a:t>
              </a:r>
            </a:p>
          </p:txBody>
        </p:sp>
        <p:sp>
          <p:nvSpPr>
            <p:cNvPr id="10258" name="Text Box 21"/>
            <p:cNvSpPr txBox="1">
              <a:spLocks noChangeArrowheads="1"/>
            </p:cNvSpPr>
            <p:nvPr/>
          </p:nvSpPr>
          <p:spPr bwMode="auto">
            <a:xfrm>
              <a:off x="705" y="2592"/>
              <a:ext cx="22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ACK received, with ACK field value y </a:t>
              </a:r>
            </a:p>
          </p:txBody>
        </p:sp>
        <p:sp>
          <p:nvSpPr>
            <p:cNvPr id="10259" name="Line 22"/>
            <p:cNvSpPr>
              <a:spLocks noChangeShapeType="1"/>
            </p:cNvSpPr>
            <p:nvPr/>
          </p:nvSpPr>
          <p:spPr bwMode="auto">
            <a:xfrm>
              <a:off x="748" y="2815"/>
              <a:ext cx="20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0254" name="Freeform 26"/>
          <p:cNvSpPr>
            <a:spLocks/>
          </p:cNvSpPr>
          <p:nvPr/>
        </p:nvSpPr>
        <p:spPr bwMode="auto">
          <a:xfrm>
            <a:off x="5173664" y="1644650"/>
            <a:ext cx="1254125" cy="1258888"/>
          </a:xfrm>
          <a:custGeom>
            <a:avLst/>
            <a:gdLst>
              <a:gd name="T0" fmla="*/ 2147483646 w 1052"/>
              <a:gd name="T1" fmla="*/ 2147483646 h 990"/>
              <a:gd name="T2" fmla="*/ 2147483646 w 1052"/>
              <a:gd name="T3" fmla="*/ 2147483646 h 990"/>
              <a:gd name="T4" fmla="*/ 2147483646 w 1052"/>
              <a:gd name="T5" fmla="*/ 2147483646 h 990"/>
              <a:gd name="T6" fmla="*/ 0 60000 65536"/>
              <a:gd name="T7" fmla="*/ 0 60000 65536"/>
              <a:gd name="T8" fmla="*/ 0 60000 65536"/>
              <a:gd name="T9" fmla="*/ 0 w 1052"/>
              <a:gd name="T10" fmla="*/ 0 h 990"/>
              <a:gd name="T11" fmla="*/ 1052 w 1052"/>
              <a:gd name="T12" fmla="*/ 990 h 990"/>
            </a:gdLst>
            <a:ahLst/>
            <a:cxnLst>
              <a:cxn ang="T6">
                <a:pos x="T0" y="T1"/>
              </a:cxn>
              <a:cxn ang="T7">
                <a:pos x="T2" y="T3"/>
              </a:cxn>
              <a:cxn ang="T8">
                <a:pos x="T4" y="T5"/>
              </a:cxn>
            </a:cxnLst>
            <a:rect l="T9" t="T10" r="T11" b="T12"/>
            <a:pathLst>
              <a:path w="1052" h="990">
                <a:moveTo>
                  <a:pt x="26" y="825"/>
                </a:moveTo>
                <a:cubicBezTo>
                  <a:pt x="0" y="569"/>
                  <a:pt x="98" y="0"/>
                  <a:pt x="575" y="386"/>
                </a:cubicBezTo>
                <a:cubicBezTo>
                  <a:pt x="1052" y="772"/>
                  <a:pt x="404" y="968"/>
                  <a:pt x="208" y="990"/>
                </a:cubicBez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10255" name="Freeform 27"/>
          <p:cNvSpPr>
            <a:spLocks/>
          </p:cNvSpPr>
          <p:nvPr/>
        </p:nvSpPr>
        <p:spPr bwMode="auto">
          <a:xfrm rot="4468137">
            <a:off x="5496720" y="3117058"/>
            <a:ext cx="1254125" cy="1258887"/>
          </a:xfrm>
          <a:custGeom>
            <a:avLst/>
            <a:gdLst>
              <a:gd name="T0" fmla="*/ 2147483646 w 1052"/>
              <a:gd name="T1" fmla="*/ 2147483646 h 990"/>
              <a:gd name="T2" fmla="*/ 2147483646 w 1052"/>
              <a:gd name="T3" fmla="*/ 2147483646 h 990"/>
              <a:gd name="T4" fmla="*/ 2147483646 w 1052"/>
              <a:gd name="T5" fmla="*/ 2147483646 h 990"/>
              <a:gd name="T6" fmla="*/ 0 60000 65536"/>
              <a:gd name="T7" fmla="*/ 0 60000 65536"/>
              <a:gd name="T8" fmla="*/ 0 60000 65536"/>
              <a:gd name="T9" fmla="*/ 0 w 1052"/>
              <a:gd name="T10" fmla="*/ 0 h 990"/>
              <a:gd name="T11" fmla="*/ 1052 w 1052"/>
              <a:gd name="T12" fmla="*/ 990 h 990"/>
            </a:gdLst>
            <a:ahLst/>
            <a:cxnLst>
              <a:cxn ang="T6">
                <a:pos x="T0" y="T1"/>
              </a:cxn>
              <a:cxn ang="T7">
                <a:pos x="T2" y="T3"/>
              </a:cxn>
              <a:cxn ang="T8">
                <a:pos x="T4" y="T5"/>
              </a:cxn>
            </a:cxnLst>
            <a:rect l="T9" t="T10" r="T11" b="T12"/>
            <a:pathLst>
              <a:path w="1052" h="990">
                <a:moveTo>
                  <a:pt x="26" y="825"/>
                </a:moveTo>
                <a:cubicBezTo>
                  <a:pt x="0" y="569"/>
                  <a:pt x="98" y="0"/>
                  <a:pt x="575" y="386"/>
                </a:cubicBezTo>
                <a:cubicBezTo>
                  <a:pt x="1052" y="772"/>
                  <a:pt x="404" y="968"/>
                  <a:pt x="208" y="990"/>
                </a:cubicBez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10256" name="Freeform 28"/>
          <p:cNvSpPr>
            <a:spLocks/>
          </p:cNvSpPr>
          <p:nvPr/>
        </p:nvSpPr>
        <p:spPr bwMode="auto">
          <a:xfrm rot="10674503">
            <a:off x="3438526" y="3616325"/>
            <a:ext cx="1254125" cy="1258888"/>
          </a:xfrm>
          <a:custGeom>
            <a:avLst/>
            <a:gdLst>
              <a:gd name="T0" fmla="*/ 2147483646 w 1052"/>
              <a:gd name="T1" fmla="*/ 2147483646 h 990"/>
              <a:gd name="T2" fmla="*/ 2147483646 w 1052"/>
              <a:gd name="T3" fmla="*/ 2147483646 h 990"/>
              <a:gd name="T4" fmla="*/ 2147483646 w 1052"/>
              <a:gd name="T5" fmla="*/ 2147483646 h 990"/>
              <a:gd name="T6" fmla="*/ 0 60000 65536"/>
              <a:gd name="T7" fmla="*/ 0 60000 65536"/>
              <a:gd name="T8" fmla="*/ 0 60000 65536"/>
              <a:gd name="T9" fmla="*/ 0 w 1052"/>
              <a:gd name="T10" fmla="*/ 0 h 990"/>
              <a:gd name="T11" fmla="*/ 1052 w 1052"/>
              <a:gd name="T12" fmla="*/ 990 h 990"/>
            </a:gdLst>
            <a:ahLst/>
            <a:cxnLst>
              <a:cxn ang="T6">
                <a:pos x="T0" y="T1"/>
              </a:cxn>
              <a:cxn ang="T7">
                <a:pos x="T2" y="T3"/>
              </a:cxn>
              <a:cxn ang="T8">
                <a:pos x="T4" y="T5"/>
              </a:cxn>
            </a:cxnLst>
            <a:rect l="T9" t="T10" r="T11" b="T12"/>
            <a:pathLst>
              <a:path w="1052" h="990">
                <a:moveTo>
                  <a:pt x="26" y="825"/>
                </a:moveTo>
                <a:cubicBezTo>
                  <a:pt x="0" y="569"/>
                  <a:pt x="98" y="0"/>
                  <a:pt x="575" y="386"/>
                </a:cubicBezTo>
                <a:cubicBezTo>
                  <a:pt x="1052" y="772"/>
                  <a:pt x="404" y="968"/>
                  <a:pt x="208" y="990"/>
                </a:cubicBez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Tree>
    <p:extLst>
      <p:ext uri="{BB962C8B-B14F-4D97-AF65-F5344CB8AC3E}">
        <p14:creationId xmlns:p14="http://schemas.microsoft.com/office/powerpoint/2010/main" val="3156638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7"/>
          <p:cNvSpPr>
            <a:spLocks noGrp="1" noChangeArrowheads="1"/>
          </p:cNvSpPr>
          <p:nvPr>
            <p:ph type="title"/>
          </p:nvPr>
        </p:nvSpPr>
        <p:spPr>
          <a:xfrm>
            <a:off x="2000250" y="238126"/>
            <a:ext cx="7772400" cy="904875"/>
          </a:xfrm>
        </p:spPr>
        <p:txBody>
          <a:bodyPr/>
          <a:lstStyle/>
          <a:p>
            <a:pPr>
              <a:defRPr/>
            </a:pPr>
            <a:r>
              <a:rPr lang="en-US" sz="4000"/>
              <a:t>TCP: retransmission scenarios</a:t>
            </a:r>
            <a:endParaRPr lang="en-US">
              <a:cs typeface="+mj-cs"/>
            </a:endParaRPr>
          </a:p>
        </p:txBody>
      </p:sp>
      <p:sp>
        <p:nvSpPr>
          <p:cNvPr id="11267" name="Text Box 105"/>
          <p:cNvSpPr txBox="1">
            <a:spLocks noChangeArrowheads="1"/>
          </p:cNvSpPr>
          <p:nvPr/>
        </p:nvSpPr>
        <p:spPr bwMode="auto">
          <a:xfrm>
            <a:off x="2806701" y="5946776"/>
            <a:ext cx="19224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ahoma" panose="020B0604030504040204" pitchFamily="34" charset="0"/>
              </a:rPr>
              <a:t>lost ACK scenario</a:t>
            </a:r>
            <a:endParaRPr lang="en-US" altLang="en-US" sz="1000">
              <a:latin typeface="Tahoma" panose="020B0604030504040204" pitchFamily="34" charset="0"/>
            </a:endParaRPr>
          </a:p>
        </p:txBody>
      </p:sp>
      <p:sp>
        <p:nvSpPr>
          <p:cNvPr id="11268" name="Line 99"/>
          <p:cNvSpPr>
            <a:spLocks noChangeShapeType="1"/>
          </p:cNvSpPr>
          <p:nvPr/>
        </p:nvSpPr>
        <p:spPr bwMode="auto">
          <a:xfrm>
            <a:off x="2589214" y="4184651"/>
            <a:ext cx="2351087" cy="506413"/>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69" name="Line 100"/>
          <p:cNvSpPr>
            <a:spLocks noChangeShapeType="1"/>
          </p:cNvSpPr>
          <p:nvPr/>
        </p:nvSpPr>
        <p:spPr bwMode="auto">
          <a:xfrm>
            <a:off x="2601914" y="2416175"/>
            <a:ext cx="2346325" cy="5715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0" name="Line 104"/>
          <p:cNvSpPr>
            <a:spLocks noChangeShapeType="1"/>
          </p:cNvSpPr>
          <p:nvPr/>
        </p:nvSpPr>
        <p:spPr bwMode="auto">
          <a:xfrm flipH="1">
            <a:off x="3638551" y="3078164"/>
            <a:ext cx="1273175" cy="42703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71" name="Text Box 107"/>
          <p:cNvSpPr txBox="1">
            <a:spLocks noChangeArrowheads="1"/>
          </p:cNvSpPr>
          <p:nvPr/>
        </p:nvSpPr>
        <p:spPr bwMode="auto">
          <a:xfrm>
            <a:off x="4540251" y="1257300"/>
            <a:ext cx="7731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Host B</a:t>
            </a:r>
          </a:p>
        </p:txBody>
      </p:sp>
      <p:sp>
        <p:nvSpPr>
          <p:cNvPr id="11272" name="Text Box 111"/>
          <p:cNvSpPr txBox="1">
            <a:spLocks noChangeArrowheads="1"/>
          </p:cNvSpPr>
          <p:nvPr/>
        </p:nvSpPr>
        <p:spPr bwMode="auto">
          <a:xfrm>
            <a:off x="2206625" y="1274763"/>
            <a:ext cx="776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Host A</a:t>
            </a:r>
          </a:p>
        </p:txBody>
      </p:sp>
      <p:sp>
        <p:nvSpPr>
          <p:cNvPr id="11273" name="Rectangle 112"/>
          <p:cNvSpPr>
            <a:spLocks noChangeArrowheads="1"/>
          </p:cNvSpPr>
          <p:nvPr/>
        </p:nvSpPr>
        <p:spPr bwMode="auto">
          <a:xfrm>
            <a:off x="3305175" y="2497139"/>
            <a:ext cx="869950" cy="401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1274" name="Text Box 113"/>
          <p:cNvSpPr txBox="1">
            <a:spLocks noChangeArrowheads="1"/>
          </p:cNvSpPr>
          <p:nvPr/>
        </p:nvSpPr>
        <p:spPr bwMode="auto">
          <a:xfrm>
            <a:off x="2746376" y="2549526"/>
            <a:ext cx="21066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Seq=92, 8 bytes of data</a:t>
            </a:r>
          </a:p>
        </p:txBody>
      </p:sp>
      <p:sp>
        <p:nvSpPr>
          <p:cNvPr id="11275" name="Rectangle 114"/>
          <p:cNvSpPr>
            <a:spLocks noChangeArrowheads="1"/>
          </p:cNvSpPr>
          <p:nvPr/>
        </p:nvSpPr>
        <p:spPr bwMode="auto">
          <a:xfrm>
            <a:off x="3873501" y="3163888"/>
            <a:ext cx="747713" cy="246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1276" name="Text Box 115"/>
          <p:cNvSpPr txBox="1">
            <a:spLocks noChangeArrowheads="1"/>
          </p:cNvSpPr>
          <p:nvPr/>
        </p:nvSpPr>
        <p:spPr bwMode="auto">
          <a:xfrm>
            <a:off x="3794126" y="3119438"/>
            <a:ext cx="949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ACK=100</a:t>
            </a:r>
            <a:endParaRPr lang="en-US" altLang="en-US" sz="1000">
              <a:latin typeface="Times New Roman" panose="02020603050405020304" pitchFamily="18" charset="0"/>
            </a:endParaRPr>
          </a:p>
        </p:txBody>
      </p:sp>
      <p:sp>
        <p:nvSpPr>
          <p:cNvPr id="11277" name="Line 118"/>
          <p:cNvSpPr>
            <a:spLocks noChangeShapeType="1"/>
          </p:cNvSpPr>
          <p:nvPr/>
        </p:nvSpPr>
        <p:spPr bwMode="auto">
          <a:xfrm>
            <a:off x="2581275" y="2174875"/>
            <a:ext cx="0" cy="352583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278" name="Line 119"/>
          <p:cNvSpPr>
            <a:spLocks noChangeShapeType="1"/>
          </p:cNvSpPr>
          <p:nvPr/>
        </p:nvSpPr>
        <p:spPr bwMode="auto">
          <a:xfrm>
            <a:off x="5008563" y="2170114"/>
            <a:ext cx="0" cy="353853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279" name="Rectangle 122"/>
          <p:cNvSpPr>
            <a:spLocks noChangeArrowheads="1"/>
          </p:cNvSpPr>
          <p:nvPr/>
        </p:nvSpPr>
        <p:spPr bwMode="auto">
          <a:xfrm>
            <a:off x="3198813" y="4178301"/>
            <a:ext cx="989012" cy="430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1280" name="Text Box 123"/>
          <p:cNvSpPr txBox="1">
            <a:spLocks noChangeArrowheads="1"/>
          </p:cNvSpPr>
          <p:nvPr/>
        </p:nvSpPr>
        <p:spPr bwMode="auto">
          <a:xfrm>
            <a:off x="2735264" y="4259264"/>
            <a:ext cx="21066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Seq=92, 8 bytes of data</a:t>
            </a:r>
          </a:p>
        </p:txBody>
      </p:sp>
      <p:sp>
        <p:nvSpPr>
          <p:cNvPr id="11281" name="Text Box 124"/>
          <p:cNvSpPr txBox="1">
            <a:spLocks noChangeArrowheads="1"/>
          </p:cNvSpPr>
          <p:nvPr/>
        </p:nvSpPr>
        <p:spPr bwMode="auto">
          <a:xfrm>
            <a:off x="3427414" y="3309939"/>
            <a:ext cx="35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b="1">
                <a:solidFill>
                  <a:srgbClr val="FF0000"/>
                </a:solidFill>
                <a:latin typeface="Tahoma" panose="020B0604030504040204" pitchFamily="34" charset="0"/>
              </a:rPr>
              <a:t>X</a:t>
            </a:r>
          </a:p>
        </p:txBody>
      </p:sp>
      <p:sp>
        <p:nvSpPr>
          <p:cNvPr id="11282" name="Text Box 126"/>
          <p:cNvSpPr txBox="1">
            <a:spLocks noChangeArrowheads="1"/>
          </p:cNvSpPr>
          <p:nvPr/>
        </p:nvSpPr>
        <p:spPr bwMode="auto">
          <a:xfrm rot="10800000">
            <a:off x="2206596" y="2960820"/>
            <a:ext cx="400110" cy="69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timeout</a:t>
            </a:r>
          </a:p>
        </p:txBody>
      </p:sp>
      <p:sp>
        <p:nvSpPr>
          <p:cNvPr id="11283" name="Line 127"/>
          <p:cNvSpPr>
            <a:spLocks noChangeShapeType="1"/>
          </p:cNvSpPr>
          <p:nvPr/>
        </p:nvSpPr>
        <p:spPr bwMode="auto">
          <a:xfrm flipH="1">
            <a:off x="2578100" y="4776789"/>
            <a:ext cx="2338388" cy="78263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84" name="Rectangle 128"/>
          <p:cNvSpPr>
            <a:spLocks noChangeArrowheads="1"/>
          </p:cNvSpPr>
          <p:nvPr/>
        </p:nvSpPr>
        <p:spPr bwMode="auto">
          <a:xfrm>
            <a:off x="3411538" y="5033963"/>
            <a:ext cx="747712" cy="246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9237" name="Text Box 129"/>
          <p:cNvSpPr txBox="1">
            <a:spLocks noChangeArrowheads="1"/>
          </p:cNvSpPr>
          <p:nvPr/>
        </p:nvSpPr>
        <p:spPr bwMode="auto">
          <a:xfrm>
            <a:off x="3332164" y="4989513"/>
            <a:ext cx="949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ACK=100</a:t>
            </a:r>
            <a:endParaRPr lang="en-US" altLang="en-US" sz="1000">
              <a:latin typeface="Times New Roman" panose="02020603050405020304" pitchFamily="18" charset="0"/>
            </a:endParaRPr>
          </a:p>
        </p:txBody>
      </p:sp>
      <p:grpSp>
        <p:nvGrpSpPr>
          <p:cNvPr id="11286" name="Group 134"/>
          <p:cNvGrpSpPr>
            <a:grpSpLocks/>
          </p:cNvGrpSpPr>
          <p:nvPr/>
        </p:nvGrpSpPr>
        <p:grpSpPr bwMode="auto">
          <a:xfrm>
            <a:off x="2349501" y="2420938"/>
            <a:ext cx="104775" cy="508000"/>
            <a:chOff x="3099" y="1749"/>
            <a:chExt cx="66" cy="320"/>
          </a:xfrm>
        </p:grpSpPr>
        <p:sp>
          <p:nvSpPr>
            <p:cNvPr id="11340" name="Line 132"/>
            <p:cNvSpPr>
              <a:spLocks noChangeShapeType="1"/>
            </p:cNvSpPr>
            <p:nvPr/>
          </p:nvSpPr>
          <p:spPr bwMode="auto">
            <a:xfrm flipV="1">
              <a:off x="3129" y="1749"/>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341" name="Line 133"/>
            <p:cNvSpPr>
              <a:spLocks noChangeShapeType="1"/>
            </p:cNvSpPr>
            <p:nvPr/>
          </p:nvSpPr>
          <p:spPr bwMode="auto">
            <a:xfrm>
              <a:off x="3099" y="1752"/>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1287" name="Group 135"/>
          <p:cNvGrpSpPr>
            <a:grpSpLocks/>
          </p:cNvGrpSpPr>
          <p:nvPr/>
        </p:nvGrpSpPr>
        <p:grpSpPr bwMode="auto">
          <a:xfrm rot="10800000">
            <a:off x="2344739" y="3663950"/>
            <a:ext cx="104775" cy="508000"/>
            <a:chOff x="3099" y="1749"/>
            <a:chExt cx="66" cy="320"/>
          </a:xfrm>
        </p:grpSpPr>
        <p:sp>
          <p:nvSpPr>
            <p:cNvPr id="11338" name="Line 136"/>
            <p:cNvSpPr>
              <a:spLocks noChangeShapeType="1"/>
            </p:cNvSpPr>
            <p:nvPr/>
          </p:nvSpPr>
          <p:spPr bwMode="auto">
            <a:xfrm flipV="1">
              <a:off x="3132" y="1752"/>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339" name="Line 137"/>
            <p:cNvSpPr>
              <a:spLocks noChangeShapeType="1"/>
            </p:cNvSpPr>
            <p:nvPr/>
          </p:nvSpPr>
          <p:spPr bwMode="auto">
            <a:xfrm>
              <a:off x="3102" y="1755"/>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9481" name="Text Box 172"/>
          <p:cNvSpPr txBox="1">
            <a:spLocks noChangeArrowheads="1"/>
          </p:cNvSpPr>
          <p:nvPr/>
        </p:nvSpPr>
        <p:spPr bwMode="auto">
          <a:xfrm>
            <a:off x="7469189" y="5953126"/>
            <a:ext cx="2073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ahoma" panose="020B0604030504040204" pitchFamily="34" charset="0"/>
              </a:rPr>
              <a:t>premature timeout</a:t>
            </a:r>
            <a:endParaRPr lang="en-US" altLang="en-US" sz="1000">
              <a:latin typeface="Tahoma" panose="020B0604030504040204" pitchFamily="34" charset="0"/>
            </a:endParaRPr>
          </a:p>
        </p:txBody>
      </p:sp>
      <p:sp>
        <p:nvSpPr>
          <p:cNvPr id="19482" name="Line 173"/>
          <p:cNvSpPr>
            <a:spLocks noChangeShapeType="1"/>
          </p:cNvSpPr>
          <p:nvPr/>
        </p:nvSpPr>
        <p:spPr bwMode="auto">
          <a:xfrm>
            <a:off x="7305676" y="4191001"/>
            <a:ext cx="2441575" cy="665163"/>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83" name="Line 174"/>
          <p:cNvSpPr>
            <a:spLocks noChangeShapeType="1"/>
          </p:cNvSpPr>
          <p:nvPr/>
        </p:nvSpPr>
        <p:spPr bwMode="auto">
          <a:xfrm>
            <a:off x="7339014" y="2422525"/>
            <a:ext cx="2346325" cy="5715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84" name="Line 175"/>
          <p:cNvSpPr>
            <a:spLocks noChangeShapeType="1"/>
          </p:cNvSpPr>
          <p:nvPr/>
        </p:nvSpPr>
        <p:spPr bwMode="auto">
          <a:xfrm flipH="1">
            <a:off x="7313613" y="3084514"/>
            <a:ext cx="2335212" cy="158908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85" name="Text Box 177"/>
          <p:cNvSpPr txBox="1">
            <a:spLocks noChangeArrowheads="1"/>
          </p:cNvSpPr>
          <p:nvPr/>
        </p:nvSpPr>
        <p:spPr bwMode="auto">
          <a:xfrm>
            <a:off x="9277351" y="1263650"/>
            <a:ext cx="7731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Host B</a:t>
            </a:r>
          </a:p>
        </p:txBody>
      </p:sp>
      <p:sp>
        <p:nvSpPr>
          <p:cNvPr id="19486" name="Text Box 181"/>
          <p:cNvSpPr txBox="1">
            <a:spLocks noChangeArrowheads="1"/>
          </p:cNvSpPr>
          <p:nvPr/>
        </p:nvSpPr>
        <p:spPr bwMode="auto">
          <a:xfrm>
            <a:off x="6943725" y="1281113"/>
            <a:ext cx="776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Host A</a:t>
            </a:r>
          </a:p>
        </p:txBody>
      </p:sp>
      <p:sp>
        <p:nvSpPr>
          <p:cNvPr id="19487" name="Rectangle 182"/>
          <p:cNvSpPr>
            <a:spLocks noChangeArrowheads="1"/>
          </p:cNvSpPr>
          <p:nvPr/>
        </p:nvSpPr>
        <p:spPr bwMode="auto">
          <a:xfrm>
            <a:off x="8042275" y="2503489"/>
            <a:ext cx="869950" cy="401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9488" name="Text Box 183"/>
          <p:cNvSpPr txBox="1">
            <a:spLocks noChangeArrowheads="1"/>
          </p:cNvSpPr>
          <p:nvPr/>
        </p:nvSpPr>
        <p:spPr bwMode="auto">
          <a:xfrm>
            <a:off x="7483476" y="2555876"/>
            <a:ext cx="21066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Seq=92, 8 bytes of data</a:t>
            </a:r>
          </a:p>
        </p:txBody>
      </p:sp>
      <p:grpSp>
        <p:nvGrpSpPr>
          <p:cNvPr id="19489" name="Group 202"/>
          <p:cNvGrpSpPr>
            <a:grpSpLocks/>
          </p:cNvGrpSpPr>
          <p:nvPr/>
        </p:nvGrpSpPr>
        <p:grpSpPr bwMode="auto">
          <a:xfrm>
            <a:off x="8215314" y="3576638"/>
            <a:ext cx="949325" cy="304800"/>
            <a:chOff x="4215" y="2253"/>
            <a:chExt cx="598" cy="192"/>
          </a:xfrm>
        </p:grpSpPr>
        <p:sp>
          <p:nvSpPr>
            <p:cNvPr id="11336" name="Rectangle 184"/>
            <p:cNvSpPr>
              <a:spLocks noChangeArrowheads="1"/>
            </p:cNvSpPr>
            <p:nvPr/>
          </p:nvSpPr>
          <p:spPr bwMode="auto">
            <a:xfrm>
              <a:off x="4265" y="2274"/>
              <a:ext cx="471" cy="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1337" name="Text Box 185"/>
            <p:cNvSpPr txBox="1">
              <a:spLocks noChangeArrowheads="1"/>
            </p:cNvSpPr>
            <p:nvPr/>
          </p:nvSpPr>
          <p:spPr bwMode="auto">
            <a:xfrm>
              <a:off x="4215" y="2253"/>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ACK=100</a:t>
              </a:r>
              <a:endParaRPr lang="en-US" altLang="en-US" sz="1000">
                <a:latin typeface="Times New Roman" panose="02020603050405020304" pitchFamily="18" charset="0"/>
              </a:endParaRPr>
            </a:p>
          </p:txBody>
        </p:sp>
      </p:grpSp>
      <p:sp>
        <p:nvSpPr>
          <p:cNvPr id="19490" name="Line 186"/>
          <p:cNvSpPr>
            <a:spLocks noChangeShapeType="1"/>
          </p:cNvSpPr>
          <p:nvPr/>
        </p:nvSpPr>
        <p:spPr bwMode="auto">
          <a:xfrm>
            <a:off x="7318375" y="2181225"/>
            <a:ext cx="0" cy="352583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9491" name="Line 187"/>
          <p:cNvSpPr>
            <a:spLocks noChangeShapeType="1"/>
          </p:cNvSpPr>
          <p:nvPr/>
        </p:nvSpPr>
        <p:spPr bwMode="auto">
          <a:xfrm>
            <a:off x="9723438" y="2176464"/>
            <a:ext cx="0" cy="353853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9492" name="Rectangle 188"/>
          <p:cNvSpPr>
            <a:spLocks noChangeArrowheads="1"/>
          </p:cNvSpPr>
          <p:nvPr/>
        </p:nvSpPr>
        <p:spPr bwMode="auto">
          <a:xfrm>
            <a:off x="8331201" y="4308475"/>
            <a:ext cx="1057275" cy="50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9493" name="Text Box 189"/>
          <p:cNvSpPr txBox="1">
            <a:spLocks noChangeArrowheads="1"/>
          </p:cNvSpPr>
          <p:nvPr/>
        </p:nvSpPr>
        <p:spPr bwMode="auto">
          <a:xfrm>
            <a:off x="8251825" y="4341813"/>
            <a:ext cx="12230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Seq=92,  8</a:t>
            </a:r>
          </a:p>
          <a:p>
            <a:pPr eaLnBrk="1" hangingPunct="1">
              <a:spcBef>
                <a:spcPct val="0"/>
              </a:spcBef>
              <a:buFontTx/>
              <a:buNone/>
            </a:pPr>
            <a:r>
              <a:rPr lang="en-US" altLang="en-US" sz="1400">
                <a:latin typeface="Tahoma" panose="020B0604030504040204" pitchFamily="34" charset="0"/>
              </a:rPr>
              <a:t>bytes of data</a:t>
            </a:r>
          </a:p>
        </p:txBody>
      </p:sp>
      <p:sp>
        <p:nvSpPr>
          <p:cNvPr id="19494" name="Text Box 191"/>
          <p:cNvSpPr txBox="1">
            <a:spLocks noChangeArrowheads="1"/>
          </p:cNvSpPr>
          <p:nvPr/>
        </p:nvSpPr>
        <p:spPr bwMode="auto">
          <a:xfrm rot="10800000">
            <a:off x="6943696" y="2967170"/>
            <a:ext cx="400110" cy="69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timeout</a:t>
            </a:r>
          </a:p>
        </p:txBody>
      </p:sp>
      <p:sp>
        <p:nvSpPr>
          <p:cNvPr id="19495" name="Line 192"/>
          <p:cNvSpPr>
            <a:spLocks noChangeShapeType="1"/>
          </p:cNvSpPr>
          <p:nvPr/>
        </p:nvSpPr>
        <p:spPr bwMode="auto">
          <a:xfrm flipH="1">
            <a:off x="7337425" y="4894264"/>
            <a:ext cx="2338388" cy="78263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96" name="Rectangle 193"/>
          <p:cNvSpPr>
            <a:spLocks noChangeArrowheads="1"/>
          </p:cNvSpPr>
          <p:nvPr/>
        </p:nvSpPr>
        <p:spPr bwMode="auto">
          <a:xfrm>
            <a:off x="8170863" y="5151438"/>
            <a:ext cx="747712" cy="246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9497" name="Text Box 194"/>
          <p:cNvSpPr txBox="1">
            <a:spLocks noChangeArrowheads="1"/>
          </p:cNvSpPr>
          <p:nvPr/>
        </p:nvSpPr>
        <p:spPr bwMode="auto">
          <a:xfrm>
            <a:off x="8091489" y="5106988"/>
            <a:ext cx="949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ACK=120</a:t>
            </a:r>
            <a:endParaRPr lang="en-US" altLang="en-US" sz="1000">
              <a:latin typeface="Times New Roman" panose="02020603050405020304" pitchFamily="18" charset="0"/>
            </a:endParaRPr>
          </a:p>
        </p:txBody>
      </p:sp>
      <p:grpSp>
        <p:nvGrpSpPr>
          <p:cNvPr id="19498" name="Group 195"/>
          <p:cNvGrpSpPr>
            <a:grpSpLocks/>
          </p:cNvGrpSpPr>
          <p:nvPr/>
        </p:nvGrpSpPr>
        <p:grpSpPr bwMode="auto">
          <a:xfrm>
            <a:off x="7086601" y="2427288"/>
            <a:ext cx="104775" cy="508000"/>
            <a:chOff x="3099" y="1749"/>
            <a:chExt cx="66" cy="320"/>
          </a:xfrm>
        </p:grpSpPr>
        <p:sp>
          <p:nvSpPr>
            <p:cNvPr id="11334" name="Line 196"/>
            <p:cNvSpPr>
              <a:spLocks noChangeShapeType="1"/>
            </p:cNvSpPr>
            <p:nvPr/>
          </p:nvSpPr>
          <p:spPr bwMode="auto">
            <a:xfrm flipV="1">
              <a:off x="3129" y="1749"/>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335" name="Line 197"/>
            <p:cNvSpPr>
              <a:spLocks noChangeShapeType="1"/>
            </p:cNvSpPr>
            <p:nvPr/>
          </p:nvSpPr>
          <p:spPr bwMode="auto">
            <a:xfrm>
              <a:off x="3099" y="1752"/>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9499" name="Group 198"/>
          <p:cNvGrpSpPr>
            <a:grpSpLocks/>
          </p:cNvGrpSpPr>
          <p:nvPr/>
        </p:nvGrpSpPr>
        <p:grpSpPr bwMode="auto">
          <a:xfrm rot="10800000">
            <a:off x="7081839" y="3670300"/>
            <a:ext cx="104775" cy="508000"/>
            <a:chOff x="3099" y="1749"/>
            <a:chExt cx="66" cy="320"/>
          </a:xfrm>
        </p:grpSpPr>
        <p:sp>
          <p:nvSpPr>
            <p:cNvPr id="11332" name="Line 199"/>
            <p:cNvSpPr>
              <a:spLocks noChangeShapeType="1"/>
            </p:cNvSpPr>
            <p:nvPr/>
          </p:nvSpPr>
          <p:spPr bwMode="auto">
            <a:xfrm flipV="1">
              <a:off x="3133" y="1752"/>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333" name="Line 200"/>
            <p:cNvSpPr>
              <a:spLocks noChangeShapeType="1"/>
            </p:cNvSpPr>
            <p:nvPr/>
          </p:nvSpPr>
          <p:spPr bwMode="auto">
            <a:xfrm>
              <a:off x="3103" y="1755"/>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9500" name="Group 206"/>
          <p:cNvGrpSpPr>
            <a:grpSpLocks/>
          </p:cNvGrpSpPr>
          <p:nvPr/>
        </p:nvGrpSpPr>
        <p:grpSpPr bwMode="auto">
          <a:xfrm>
            <a:off x="7324726" y="2808288"/>
            <a:ext cx="2346325" cy="571500"/>
            <a:chOff x="3759" y="1622"/>
            <a:chExt cx="1478" cy="360"/>
          </a:xfrm>
        </p:grpSpPr>
        <p:sp>
          <p:nvSpPr>
            <p:cNvPr id="11329" name="Line 203"/>
            <p:cNvSpPr>
              <a:spLocks noChangeShapeType="1"/>
            </p:cNvSpPr>
            <p:nvPr/>
          </p:nvSpPr>
          <p:spPr bwMode="auto">
            <a:xfrm>
              <a:off x="3759" y="1622"/>
              <a:ext cx="1478" cy="36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330" name="Rectangle 204"/>
            <p:cNvSpPr>
              <a:spLocks noChangeArrowheads="1"/>
            </p:cNvSpPr>
            <p:nvPr/>
          </p:nvSpPr>
          <p:spPr bwMode="auto">
            <a:xfrm>
              <a:off x="4202" y="1673"/>
              <a:ext cx="548" cy="25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1331" name="Text Box 205"/>
            <p:cNvSpPr txBox="1">
              <a:spLocks noChangeArrowheads="1"/>
            </p:cNvSpPr>
            <p:nvPr/>
          </p:nvSpPr>
          <p:spPr bwMode="auto">
            <a:xfrm>
              <a:off x="3790" y="1706"/>
              <a:ext cx="1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Seq=100, 20 bytes of data</a:t>
              </a:r>
            </a:p>
          </p:txBody>
        </p:sp>
      </p:grpSp>
      <p:sp>
        <p:nvSpPr>
          <p:cNvPr id="19501" name="Line 207"/>
          <p:cNvSpPr>
            <a:spLocks noChangeShapeType="1"/>
          </p:cNvSpPr>
          <p:nvPr/>
        </p:nvSpPr>
        <p:spPr bwMode="auto">
          <a:xfrm flipH="1">
            <a:off x="7318376" y="3440114"/>
            <a:ext cx="2335213" cy="158908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9502" name="Group 208"/>
          <p:cNvGrpSpPr>
            <a:grpSpLocks/>
          </p:cNvGrpSpPr>
          <p:nvPr/>
        </p:nvGrpSpPr>
        <p:grpSpPr bwMode="auto">
          <a:xfrm>
            <a:off x="8455026" y="3852863"/>
            <a:ext cx="949325" cy="304800"/>
            <a:chOff x="4215" y="2253"/>
            <a:chExt cx="598" cy="192"/>
          </a:xfrm>
        </p:grpSpPr>
        <p:sp>
          <p:nvSpPr>
            <p:cNvPr id="11327" name="Rectangle 209"/>
            <p:cNvSpPr>
              <a:spLocks noChangeArrowheads="1"/>
            </p:cNvSpPr>
            <p:nvPr/>
          </p:nvSpPr>
          <p:spPr bwMode="auto">
            <a:xfrm>
              <a:off x="4265" y="2274"/>
              <a:ext cx="471" cy="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1328" name="Text Box 210"/>
            <p:cNvSpPr txBox="1">
              <a:spLocks noChangeArrowheads="1"/>
            </p:cNvSpPr>
            <p:nvPr/>
          </p:nvSpPr>
          <p:spPr bwMode="auto">
            <a:xfrm>
              <a:off x="4215" y="2253"/>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ACK=120</a:t>
              </a:r>
              <a:endParaRPr lang="en-US" altLang="en-US" sz="1000">
                <a:latin typeface="Times New Roman" panose="02020603050405020304" pitchFamily="18" charset="0"/>
              </a:endParaRPr>
            </a:p>
          </p:txBody>
        </p:sp>
      </p:grpSp>
      <p:sp>
        <p:nvSpPr>
          <p:cNvPr id="19503" name="Text Box 211"/>
          <p:cNvSpPr txBox="1">
            <a:spLocks noChangeArrowheads="1"/>
          </p:cNvSpPr>
          <p:nvPr/>
        </p:nvSpPr>
        <p:spPr bwMode="auto">
          <a:xfrm>
            <a:off x="5951538" y="4495800"/>
            <a:ext cx="13636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SendBase=100</a:t>
            </a:r>
          </a:p>
        </p:txBody>
      </p:sp>
      <p:sp>
        <p:nvSpPr>
          <p:cNvPr id="19504" name="Text Box 212"/>
          <p:cNvSpPr txBox="1">
            <a:spLocks noChangeArrowheads="1"/>
          </p:cNvSpPr>
          <p:nvPr/>
        </p:nvSpPr>
        <p:spPr bwMode="auto">
          <a:xfrm>
            <a:off x="5970588" y="4837113"/>
            <a:ext cx="13636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SendBase=120</a:t>
            </a:r>
          </a:p>
        </p:txBody>
      </p:sp>
      <p:sp>
        <p:nvSpPr>
          <p:cNvPr id="19505" name="Text Box 213"/>
          <p:cNvSpPr txBox="1">
            <a:spLocks noChangeArrowheads="1"/>
          </p:cNvSpPr>
          <p:nvPr/>
        </p:nvSpPr>
        <p:spPr bwMode="auto">
          <a:xfrm>
            <a:off x="5989638" y="5511800"/>
            <a:ext cx="13636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SendBase=120</a:t>
            </a:r>
          </a:p>
        </p:txBody>
      </p:sp>
      <p:sp>
        <p:nvSpPr>
          <p:cNvPr id="19506" name="Text Box 214"/>
          <p:cNvSpPr txBox="1">
            <a:spLocks noChangeArrowheads="1"/>
          </p:cNvSpPr>
          <p:nvPr/>
        </p:nvSpPr>
        <p:spPr bwMode="auto">
          <a:xfrm>
            <a:off x="6016626" y="2266950"/>
            <a:ext cx="1266825"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SendBase=92</a:t>
            </a:r>
          </a:p>
        </p:txBody>
      </p:sp>
      <p:pic>
        <p:nvPicPr>
          <p:cNvPr id="11314" name="Picture 218"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8" y="912814"/>
            <a:ext cx="63992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508" name="Group 219"/>
          <p:cNvGrpSpPr>
            <a:grpSpLocks/>
          </p:cNvGrpSpPr>
          <p:nvPr/>
        </p:nvGrpSpPr>
        <p:grpSpPr bwMode="auto">
          <a:xfrm>
            <a:off x="6896100" y="1543050"/>
            <a:ext cx="630238" cy="533400"/>
            <a:chOff x="-44" y="1473"/>
            <a:chExt cx="981" cy="1105"/>
          </a:xfrm>
        </p:grpSpPr>
        <p:pic>
          <p:nvPicPr>
            <p:cNvPr id="11325" name="Picture 220"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26" name="Freeform 221"/>
            <p:cNvSpPr>
              <a:spLocks/>
            </p:cNvSpPr>
            <p:nvPr/>
          </p:nvSpPr>
          <p:spPr bwMode="auto">
            <a:xfrm flipH="1">
              <a:off x="374" y="1579"/>
              <a:ext cx="477" cy="506"/>
            </a:xfrm>
            <a:custGeom>
              <a:avLst/>
              <a:gdLst>
                <a:gd name="T0" fmla="*/ 0 w 356"/>
                <a:gd name="T1" fmla="*/ 0 h 368"/>
                <a:gd name="T2" fmla="*/ 139825 w 356"/>
                <a:gd name="T3" fmla="*/ 11340 h 368"/>
                <a:gd name="T4" fmla="*/ 165873 w 356"/>
                <a:gd name="T5" fmla="*/ 236254 h 368"/>
                <a:gd name="T6" fmla="*/ 36556 w 356"/>
                <a:gd name="T7" fmla="*/ 29546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grpSp>
      <p:grpSp>
        <p:nvGrpSpPr>
          <p:cNvPr id="19509" name="Group 225"/>
          <p:cNvGrpSpPr>
            <a:grpSpLocks/>
          </p:cNvGrpSpPr>
          <p:nvPr/>
        </p:nvGrpSpPr>
        <p:grpSpPr bwMode="auto">
          <a:xfrm flipH="1">
            <a:off x="9463089" y="1549400"/>
            <a:ext cx="631825" cy="622300"/>
            <a:chOff x="-44" y="1473"/>
            <a:chExt cx="981" cy="1105"/>
          </a:xfrm>
        </p:grpSpPr>
        <p:pic>
          <p:nvPicPr>
            <p:cNvPr id="11323" name="Picture 226"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24" name="Freeform 227"/>
            <p:cNvSpPr>
              <a:spLocks/>
            </p:cNvSpPr>
            <p:nvPr/>
          </p:nvSpPr>
          <p:spPr bwMode="auto">
            <a:xfrm flipH="1">
              <a:off x="374" y="1579"/>
              <a:ext cx="477" cy="506"/>
            </a:xfrm>
            <a:custGeom>
              <a:avLst/>
              <a:gdLst>
                <a:gd name="T0" fmla="*/ 0 w 356"/>
                <a:gd name="T1" fmla="*/ 0 h 368"/>
                <a:gd name="T2" fmla="*/ 139825 w 356"/>
                <a:gd name="T3" fmla="*/ 11340 h 368"/>
                <a:gd name="T4" fmla="*/ 165873 w 356"/>
                <a:gd name="T5" fmla="*/ 236254 h 368"/>
                <a:gd name="T6" fmla="*/ 36556 w 356"/>
                <a:gd name="T7" fmla="*/ 29546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grpSp>
      <p:grpSp>
        <p:nvGrpSpPr>
          <p:cNvPr id="11317" name="Group 228"/>
          <p:cNvGrpSpPr>
            <a:grpSpLocks/>
          </p:cNvGrpSpPr>
          <p:nvPr/>
        </p:nvGrpSpPr>
        <p:grpSpPr bwMode="auto">
          <a:xfrm>
            <a:off x="2171700" y="1547813"/>
            <a:ext cx="630238" cy="533400"/>
            <a:chOff x="-44" y="1473"/>
            <a:chExt cx="981" cy="1105"/>
          </a:xfrm>
        </p:grpSpPr>
        <p:pic>
          <p:nvPicPr>
            <p:cNvPr id="11321" name="Picture 229"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22" name="Freeform 230"/>
            <p:cNvSpPr>
              <a:spLocks/>
            </p:cNvSpPr>
            <p:nvPr/>
          </p:nvSpPr>
          <p:spPr bwMode="auto">
            <a:xfrm flipH="1">
              <a:off x="374" y="1579"/>
              <a:ext cx="477" cy="506"/>
            </a:xfrm>
            <a:custGeom>
              <a:avLst/>
              <a:gdLst>
                <a:gd name="T0" fmla="*/ 0 w 356"/>
                <a:gd name="T1" fmla="*/ 0 h 368"/>
                <a:gd name="T2" fmla="*/ 139825 w 356"/>
                <a:gd name="T3" fmla="*/ 11340 h 368"/>
                <a:gd name="T4" fmla="*/ 165873 w 356"/>
                <a:gd name="T5" fmla="*/ 236254 h 368"/>
                <a:gd name="T6" fmla="*/ 36556 w 356"/>
                <a:gd name="T7" fmla="*/ 29546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grpSp>
      <p:grpSp>
        <p:nvGrpSpPr>
          <p:cNvPr id="11318" name="Group 231"/>
          <p:cNvGrpSpPr>
            <a:grpSpLocks/>
          </p:cNvGrpSpPr>
          <p:nvPr/>
        </p:nvGrpSpPr>
        <p:grpSpPr bwMode="auto">
          <a:xfrm flipH="1">
            <a:off x="4749801" y="1531939"/>
            <a:ext cx="709613" cy="600075"/>
            <a:chOff x="-44" y="1473"/>
            <a:chExt cx="981" cy="1105"/>
          </a:xfrm>
        </p:grpSpPr>
        <p:pic>
          <p:nvPicPr>
            <p:cNvPr id="11319" name="Picture 232"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20" name="Freeform 233"/>
            <p:cNvSpPr>
              <a:spLocks/>
            </p:cNvSpPr>
            <p:nvPr/>
          </p:nvSpPr>
          <p:spPr bwMode="auto">
            <a:xfrm flipH="1">
              <a:off x="374" y="1579"/>
              <a:ext cx="477" cy="506"/>
            </a:xfrm>
            <a:custGeom>
              <a:avLst/>
              <a:gdLst>
                <a:gd name="T0" fmla="*/ 0 w 356"/>
                <a:gd name="T1" fmla="*/ 0 h 368"/>
                <a:gd name="T2" fmla="*/ 139825 w 356"/>
                <a:gd name="T3" fmla="*/ 11340 h 368"/>
                <a:gd name="T4" fmla="*/ 165873 w 356"/>
                <a:gd name="T5" fmla="*/ 236254 h 368"/>
                <a:gd name="T6" fmla="*/ 36556 w 356"/>
                <a:gd name="T7" fmla="*/ 29546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grpSp>
    </p:spTree>
    <p:extLst>
      <p:ext uri="{BB962C8B-B14F-4D97-AF65-F5344CB8AC3E}">
        <p14:creationId xmlns:p14="http://schemas.microsoft.com/office/powerpoint/2010/main" val="231792849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3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923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948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48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48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48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48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48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48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48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49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49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49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49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49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49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49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49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49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50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950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950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950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950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5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9506"/>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949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950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950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94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7" grpId="0"/>
      <p:bldP spid="9237" grpId="1"/>
      <p:bldP spid="19481" grpId="0"/>
      <p:bldP spid="19485" grpId="0"/>
      <p:bldP spid="19486" grpId="0"/>
      <p:bldP spid="19487" grpId="0" animBg="1"/>
      <p:bldP spid="19488" grpId="0"/>
      <p:bldP spid="19492" grpId="0" animBg="1"/>
      <p:bldP spid="19493" grpId="0"/>
      <p:bldP spid="19494" grpId="0"/>
      <p:bldP spid="19496" grpId="0" animBg="1"/>
      <p:bldP spid="19497" grpId="0"/>
      <p:bldP spid="19503" grpId="0"/>
      <p:bldP spid="19504" grpId="0"/>
      <p:bldP spid="19505" grpId="0"/>
      <p:bldP spid="1950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p:cNvSpPr>
            <a:spLocks noGrp="1"/>
          </p:cNvSpPr>
          <p:nvPr>
            <p:ph type="ftr" sz="quarter" idx="429496729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charset="0"/>
                <a:ea typeface="MS PGothic" charset="0"/>
                <a:cs typeface="MS PGothic" charset="0"/>
              </a:defRPr>
            </a:lvl1pPr>
            <a:lvl2pPr marL="742950" indent="-285750">
              <a:defRPr sz="1600">
                <a:solidFill>
                  <a:schemeClr val="tx1"/>
                </a:solidFill>
                <a:latin typeface="Tahoma" charset="0"/>
                <a:ea typeface="MS PGothic" charset="0"/>
                <a:cs typeface="MS PGothic" charset="0"/>
              </a:defRPr>
            </a:lvl2pPr>
            <a:lvl3pPr marL="1143000" indent="-228600">
              <a:defRPr sz="1600">
                <a:solidFill>
                  <a:schemeClr val="tx1"/>
                </a:solidFill>
                <a:latin typeface="Tahoma" charset="0"/>
                <a:ea typeface="MS PGothic" charset="0"/>
                <a:cs typeface="MS PGothic" charset="0"/>
              </a:defRPr>
            </a:lvl3pPr>
            <a:lvl4pPr marL="1600200" indent="-228600">
              <a:defRPr sz="1600">
                <a:solidFill>
                  <a:schemeClr val="tx1"/>
                </a:solidFill>
                <a:latin typeface="Tahoma" charset="0"/>
                <a:ea typeface="MS PGothic" charset="0"/>
                <a:cs typeface="MS PGothic" charset="0"/>
              </a:defRPr>
            </a:lvl4pPr>
            <a:lvl5pPr marL="2057400" indent="-228600">
              <a:defRPr sz="1600">
                <a:solidFill>
                  <a:schemeClr val="tx1"/>
                </a:solidFill>
                <a:latin typeface="Tahoma" charset="0"/>
                <a:ea typeface="MS PGothic" charset="0"/>
                <a:cs typeface="MS PGothic" charset="0"/>
              </a:defRPr>
            </a:lvl5pPr>
            <a:lvl6pPr marL="25146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6pPr>
            <a:lvl7pPr marL="29718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7pPr>
            <a:lvl8pPr marL="34290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8pPr>
            <a:lvl9pPr marL="3886200" indent="-228600" algn="ctr" eaLnBrk="0" fontAlgn="base" hangingPunct="0">
              <a:spcBef>
                <a:spcPct val="0"/>
              </a:spcBef>
              <a:spcAft>
                <a:spcPct val="0"/>
              </a:spcAft>
              <a:defRPr sz="1600">
                <a:solidFill>
                  <a:schemeClr val="tx1"/>
                </a:solidFill>
                <a:latin typeface="Tahoma" charset="0"/>
                <a:ea typeface="MS PGothic" charset="0"/>
                <a:cs typeface="MS PGothic" charset="0"/>
              </a:defRPr>
            </a:lvl9pPr>
          </a:lstStyle>
          <a:p>
            <a:pPr>
              <a:defRPr/>
            </a:pPr>
            <a:r>
              <a:rPr lang="en-US" sz="1200"/>
              <a:t>Transport</a:t>
            </a:r>
            <a:r>
              <a:rPr lang="en-US" sz="1400"/>
              <a:t> </a:t>
            </a:r>
            <a:r>
              <a:rPr lang="en-US" sz="1200"/>
              <a:t>Layer</a:t>
            </a:r>
          </a:p>
        </p:txBody>
      </p:sp>
      <p:sp>
        <p:nvSpPr>
          <p:cNvPr id="72707" name="Slide Number Placeholder 4"/>
          <p:cNvSpPr>
            <a:spLocks noGrp="1"/>
          </p:cNvSpPr>
          <p:nvPr>
            <p:ph type="sldNum" sz="quarter" idx="429496729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defRPr/>
            </a:pPr>
            <a:r>
              <a:rPr lang="en-US" altLang="en-US" sz="1200">
                <a:latin typeface="Tahoma" panose="020B0604030504040204" pitchFamily="34" charset="0"/>
              </a:rPr>
              <a:t>3-</a:t>
            </a:r>
            <a:fld id="{4A56FDD5-AD2D-49D7-8772-EFFB69AFE17B}" type="slidenum">
              <a:rPr lang="en-US" altLang="en-US" sz="1200">
                <a:latin typeface="Tahoma" panose="020B0604030504040204" pitchFamily="34" charset="0"/>
              </a:rPr>
              <a:pPr eaLnBrk="1" hangingPunct="1">
                <a:spcBef>
                  <a:spcPct val="0"/>
                </a:spcBef>
                <a:buFontTx/>
                <a:buNone/>
                <a:defRPr/>
              </a:pPr>
              <a:t>24</a:t>
            </a:fld>
            <a:endParaRPr lang="en-US" altLang="en-US" sz="1200">
              <a:latin typeface="Tahoma" panose="020B0604030504040204" pitchFamily="34" charset="0"/>
            </a:endParaRPr>
          </a:p>
        </p:txBody>
      </p:sp>
      <p:sp>
        <p:nvSpPr>
          <p:cNvPr id="70660" name="Rectangle 2"/>
          <p:cNvSpPr>
            <a:spLocks noGrp="1" noChangeArrowheads="1"/>
          </p:cNvSpPr>
          <p:nvPr>
            <p:ph type="title"/>
          </p:nvPr>
        </p:nvSpPr>
        <p:spPr>
          <a:xfrm>
            <a:off x="2000250" y="238126"/>
            <a:ext cx="7772400" cy="904875"/>
          </a:xfrm>
        </p:spPr>
        <p:txBody>
          <a:bodyPr/>
          <a:lstStyle/>
          <a:p>
            <a:pPr>
              <a:defRPr/>
            </a:pPr>
            <a:r>
              <a:rPr lang="en-US" sz="4000"/>
              <a:t>TCP: retransmission scenarios</a:t>
            </a:r>
            <a:endParaRPr lang="en-US">
              <a:cs typeface="+mj-cs"/>
            </a:endParaRPr>
          </a:p>
        </p:txBody>
      </p:sp>
      <p:sp>
        <p:nvSpPr>
          <p:cNvPr id="13317" name="Text Box 22"/>
          <p:cNvSpPr txBox="1">
            <a:spLocks noChangeArrowheads="1"/>
          </p:cNvSpPr>
          <p:nvPr/>
        </p:nvSpPr>
        <p:spPr bwMode="auto">
          <a:xfrm>
            <a:off x="3482976" y="3468689"/>
            <a:ext cx="35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b="1">
                <a:solidFill>
                  <a:srgbClr val="FF0000"/>
                </a:solidFill>
                <a:latin typeface="Tahoma" panose="020B0604030504040204" pitchFamily="34" charset="0"/>
              </a:rPr>
              <a:t>X</a:t>
            </a:r>
          </a:p>
        </p:txBody>
      </p:sp>
      <p:sp>
        <p:nvSpPr>
          <p:cNvPr id="13318" name="Text Box 34"/>
          <p:cNvSpPr txBox="1">
            <a:spLocks noChangeArrowheads="1"/>
          </p:cNvSpPr>
          <p:nvPr/>
        </p:nvSpPr>
        <p:spPr bwMode="auto">
          <a:xfrm>
            <a:off x="3163888" y="5975351"/>
            <a:ext cx="17510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ahoma" panose="020B0604030504040204" pitchFamily="34" charset="0"/>
              </a:rPr>
              <a:t>cumulative ACK</a:t>
            </a:r>
            <a:endParaRPr lang="en-US" altLang="en-US" sz="1000">
              <a:latin typeface="Tahoma" panose="020B0604030504040204" pitchFamily="34" charset="0"/>
            </a:endParaRPr>
          </a:p>
        </p:txBody>
      </p:sp>
      <p:sp>
        <p:nvSpPr>
          <p:cNvPr id="13319" name="Line 35"/>
          <p:cNvSpPr>
            <a:spLocks noChangeShapeType="1"/>
          </p:cNvSpPr>
          <p:nvPr/>
        </p:nvSpPr>
        <p:spPr bwMode="auto">
          <a:xfrm>
            <a:off x="2892426" y="4540251"/>
            <a:ext cx="2441575" cy="665163"/>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0" name="Line 36"/>
          <p:cNvSpPr>
            <a:spLocks noChangeShapeType="1"/>
          </p:cNvSpPr>
          <p:nvPr/>
        </p:nvSpPr>
        <p:spPr bwMode="auto">
          <a:xfrm>
            <a:off x="2868614" y="2444750"/>
            <a:ext cx="2346325" cy="5715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1" name="Line 37"/>
          <p:cNvSpPr>
            <a:spLocks noChangeShapeType="1"/>
          </p:cNvSpPr>
          <p:nvPr/>
        </p:nvSpPr>
        <p:spPr bwMode="auto">
          <a:xfrm flipH="1">
            <a:off x="3746501" y="3106739"/>
            <a:ext cx="1431925" cy="57308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2" name="Text Box 39"/>
          <p:cNvSpPr txBox="1">
            <a:spLocks noChangeArrowheads="1"/>
          </p:cNvSpPr>
          <p:nvPr/>
        </p:nvSpPr>
        <p:spPr bwMode="auto">
          <a:xfrm>
            <a:off x="4794251" y="1273175"/>
            <a:ext cx="7731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Host B</a:t>
            </a:r>
          </a:p>
        </p:txBody>
      </p:sp>
      <p:sp>
        <p:nvSpPr>
          <p:cNvPr id="13323" name="Text Box 43"/>
          <p:cNvSpPr txBox="1">
            <a:spLocks noChangeArrowheads="1"/>
          </p:cNvSpPr>
          <p:nvPr/>
        </p:nvSpPr>
        <p:spPr bwMode="auto">
          <a:xfrm>
            <a:off x="2473325" y="1303338"/>
            <a:ext cx="776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Tahoma" panose="020B0604030504040204" pitchFamily="34" charset="0"/>
              </a:rPr>
              <a:t>Host A</a:t>
            </a:r>
          </a:p>
        </p:txBody>
      </p:sp>
      <p:sp>
        <p:nvSpPr>
          <p:cNvPr id="13324" name="Rectangle 44"/>
          <p:cNvSpPr>
            <a:spLocks noChangeArrowheads="1"/>
          </p:cNvSpPr>
          <p:nvPr/>
        </p:nvSpPr>
        <p:spPr bwMode="auto">
          <a:xfrm>
            <a:off x="3571875" y="2525714"/>
            <a:ext cx="869950" cy="401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3325" name="Text Box 45"/>
          <p:cNvSpPr txBox="1">
            <a:spLocks noChangeArrowheads="1"/>
          </p:cNvSpPr>
          <p:nvPr/>
        </p:nvSpPr>
        <p:spPr bwMode="auto">
          <a:xfrm>
            <a:off x="3013076" y="2578101"/>
            <a:ext cx="21066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Seq=92, 8 bytes of data</a:t>
            </a:r>
          </a:p>
        </p:txBody>
      </p:sp>
      <p:grpSp>
        <p:nvGrpSpPr>
          <p:cNvPr id="13326" name="Group 46"/>
          <p:cNvGrpSpPr>
            <a:grpSpLocks/>
          </p:cNvGrpSpPr>
          <p:nvPr/>
        </p:nvGrpSpPr>
        <p:grpSpPr bwMode="auto">
          <a:xfrm>
            <a:off x="3768726" y="3306763"/>
            <a:ext cx="949325" cy="304800"/>
            <a:chOff x="4215" y="2253"/>
            <a:chExt cx="598" cy="192"/>
          </a:xfrm>
        </p:grpSpPr>
        <p:sp>
          <p:nvSpPr>
            <p:cNvPr id="13355" name="Rectangle 47"/>
            <p:cNvSpPr>
              <a:spLocks noChangeArrowheads="1"/>
            </p:cNvSpPr>
            <p:nvPr/>
          </p:nvSpPr>
          <p:spPr bwMode="auto">
            <a:xfrm>
              <a:off x="4265" y="2274"/>
              <a:ext cx="471" cy="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3356" name="Text Box 48"/>
            <p:cNvSpPr txBox="1">
              <a:spLocks noChangeArrowheads="1"/>
            </p:cNvSpPr>
            <p:nvPr/>
          </p:nvSpPr>
          <p:spPr bwMode="auto">
            <a:xfrm>
              <a:off x="4215" y="2253"/>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ACK=100</a:t>
              </a:r>
              <a:endParaRPr lang="en-US" altLang="en-US" sz="1000">
                <a:latin typeface="Times New Roman" panose="02020603050405020304" pitchFamily="18" charset="0"/>
              </a:endParaRPr>
            </a:p>
          </p:txBody>
        </p:sp>
      </p:grpSp>
      <p:sp>
        <p:nvSpPr>
          <p:cNvPr id="13327" name="Line 49"/>
          <p:cNvSpPr>
            <a:spLocks noChangeShapeType="1"/>
          </p:cNvSpPr>
          <p:nvPr/>
        </p:nvSpPr>
        <p:spPr bwMode="auto">
          <a:xfrm>
            <a:off x="2847975" y="2203450"/>
            <a:ext cx="0" cy="3525838"/>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3328" name="Line 50"/>
          <p:cNvSpPr>
            <a:spLocks noChangeShapeType="1"/>
          </p:cNvSpPr>
          <p:nvPr/>
        </p:nvSpPr>
        <p:spPr bwMode="auto">
          <a:xfrm>
            <a:off x="5253038" y="2198689"/>
            <a:ext cx="0" cy="353853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3329" name="Rectangle 51"/>
          <p:cNvSpPr>
            <a:spLocks noChangeArrowheads="1"/>
          </p:cNvSpPr>
          <p:nvPr/>
        </p:nvSpPr>
        <p:spPr bwMode="auto">
          <a:xfrm>
            <a:off x="3589338" y="4613275"/>
            <a:ext cx="933450" cy="50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0258" name="Text Box 52"/>
          <p:cNvSpPr txBox="1">
            <a:spLocks noChangeArrowheads="1"/>
          </p:cNvSpPr>
          <p:nvPr/>
        </p:nvSpPr>
        <p:spPr bwMode="auto">
          <a:xfrm>
            <a:off x="2863851" y="4700588"/>
            <a:ext cx="2652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Seq=120,  15 bytes of data</a:t>
            </a:r>
          </a:p>
        </p:txBody>
      </p:sp>
      <p:sp>
        <p:nvSpPr>
          <p:cNvPr id="13331" name="Rectangle 55"/>
          <p:cNvSpPr>
            <a:spLocks noChangeArrowheads="1"/>
          </p:cNvSpPr>
          <p:nvPr/>
        </p:nvSpPr>
        <p:spPr bwMode="auto">
          <a:xfrm>
            <a:off x="3700463" y="5173663"/>
            <a:ext cx="747712" cy="246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grpSp>
        <p:nvGrpSpPr>
          <p:cNvPr id="13332" name="Group 75"/>
          <p:cNvGrpSpPr>
            <a:grpSpLocks/>
          </p:cNvGrpSpPr>
          <p:nvPr/>
        </p:nvGrpSpPr>
        <p:grpSpPr bwMode="auto">
          <a:xfrm>
            <a:off x="2471738" y="2449513"/>
            <a:ext cx="400050" cy="2406650"/>
            <a:chOff x="3413" y="1529"/>
            <a:chExt cx="252" cy="1103"/>
          </a:xfrm>
        </p:grpSpPr>
        <p:sp>
          <p:nvSpPr>
            <p:cNvPr id="13348" name="Text Box 53"/>
            <p:cNvSpPr txBox="1">
              <a:spLocks noChangeArrowheads="1"/>
            </p:cNvSpPr>
            <p:nvPr/>
          </p:nvSpPr>
          <p:spPr bwMode="auto">
            <a:xfrm rot="10800000">
              <a:off x="3413" y="1930"/>
              <a:ext cx="252"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timeout</a:t>
              </a:r>
            </a:p>
          </p:txBody>
        </p:sp>
        <p:grpSp>
          <p:nvGrpSpPr>
            <p:cNvPr id="13349" name="Group 57"/>
            <p:cNvGrpSpPr>
              <a:grpSpLocks/>
            </p:cNvGrpSpPr>
            <p:nvPr/>
          </p:nvGrpSpPr>
          <p:grpSpPr bwMode="auto">
            <a:xfrm>
              <a:off x="3504" y="1529"/>
              <a:ext cx="66" cy="320"/>
              <a:chOff x="3099" y="1749"/>
              <a:chExt cx="66" cy="320"/>
            </a:xfrm>
          </p:grpSpPr>
          <p:sp>
            <p:nvSpPr>
              <p:cNvPr id="13353" name="Line 58"/>
              <p:cNvSpPr>
                <a:spLocks noChangeShapeType="1"/>
              </p:cNvSpPr>
              <p:nvPr/>
            </p:nvSpPr>
            <p:spPr bwMode="auto">
              <a:xfrm flipV="1">
                <a:off x="3129" y="1749"/>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54" name="Line 59"/>
              <p:cNvSpPr>
                <a:spLocks noChangeShapeType="1"/>
              </p:cNvSpPr>
              <p:nvPr/>
            </p:nvSpPr>
            <p:spPr bwMode="auto">
              <a:xfrm>
                <a:off x="3099" y="1752"/>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3350" name="Group 60"/>
            <p:cNvGrpSpPr>
              <a:grpSpLocks/>
            </p:cNvGrpSpPr>
            <p:nvPr/>
          </p:nvGrpSpPr>
          <p:grpSpPr bwMode="auto">
            <a:xfrm rot="10800000">
              <a:off x="3501" y="2312"/>
              <a:ext cx="66" cy="320"/>
              <a:chOff x="3099" y="1749"/>
              <a:chExt cx="66" cy="320"/>
            </a:xfrm>
          </p:grpSpPr>
          <p:sp>
            <p:nvSpPr>
              <p:cNvPr id="13351" name="Line 61"/>
              <p:cNvSpPr>
                <a:spLocks noChangeShapeType="1"/>
              </p:cNvSpPr>
              <p:nvPr/>
            </p:nvSpPr>
            <p:spPr bwMode="auto">
              <a:xfrm flipV="1">
                <a:off x="3132" y="1750"/>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52" name="Line 62"/>
              <p:cNvSpPr>
                <a:spLocks noChangeShapeType="1"/>
              </p:cNvSpPr>
              <p:nvPr/>
            </p:nvSpPr>
            <p:spPr bwMode="auto">
              <a:xfrm>
                <a:off x="3102" y="1755"/>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grpSp>
        <p:nvGrpSpPr>
          <p:cNvPr id="13333" name="Group 63"/>
          <p:cNvGrpSpPr>
            <a:grpSpLocks/>
          </p:cNvGrpSpPr>
          <p:nvPr/>
        </p:nvGrpSpPr>
        <p:grpSpPr bwMode="auto">
          <a:xfrm>
            <a:off x="2854326" y="2830513"/>
            <a:ext cx="2346325" cy="571500"/>
            <a:chOff x="3759" y="1622"/>
            <a:chExt cx="1478" cy="360"/>
          </a:xfrm>
        </p:grpSpPr>
        <p:sp>
          <p:nvSpPr>
            <p:cNvPr id="13345" name="Line 64"/>
            <p:cNvSpPr>
              <a:spLocks noChangeShapeType="1"/>
            </p:cNvSpPr>
            <p:nvPr/>
          </p:nvSpPr>
          <p:spPr bwMode="auto">
            <a:xfrm>
              <a:off x="3759" y="1622"/>
              <a:ext cx="1478" cy="36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46" name="Rectangle 65"/>
            <p:cNvSpPr>
              <a:spLocks noChangeArrowheads="1"/>
            </p:cNvSpPr>
            <p:nvPr/>
          </p:nvSpPr>
          <p:spPr bwMode="auto">
            <a:xfrm>
              <a:off x="4202" y="1673"/>
              <a:ext cx="548" cy="25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3347" name="Text Box 66"/>
            <p:cNvSpPr txBox="1">
              <a:spLocks noChangeArrowheads="1"/>
            </p:cNvSpPr>
            <p:nvPr/>
          </p:nvSpPr>
          <p:spPr bwMode="auto">
            <a:xfrm>
              <a:off x="3790" y="1706"/>
              <a:ext cx="1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latin typeface="Tahoma" panose="020B0604030504040204" pitchFamily="34" charset="0"/>
                </a:rPr>
                <a:t>Seq=100, 20 bytes of data</a:t>
              </a:r>
            </a:p>
          </p:txBody>
        </p:sp>
      </p:grpSp>
      <p:sp>
        <p:nvSpPr>
          <p:cNvPr id="13334" name="Line 67"/>
          <p:cNvSpPr>
            <a:spLocks noChangeShapeType="1"/>
          </p:cNvSpPr>
          <p:nvPr/>
        </p:nvSpPr>
        <p:spPr bwMode="auto">
          <a:xfrm flipH="1">
            <a:off x="2859088" y="3462339"/>
            <a:ext cx="2324100" cy="102552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3335" name="Group 68"/>
          <p:cNvGrpSpPr>
            <a:grpSpLocks/>
          </p:cNvGrpSpPr>
          <p:nvPr/>
        </p:nvGrpSpPr>
        <p:grpSpPr bwMode="auto">
          <a:xfrm>
            <a:off x="3502026" y="3863975"/>
            <a:ext cx="949325" cy="304800"/>
            <a:chOff x="4215" y="2253"/>
            <a:chExt cx="598" cy="192"/>
          </a:xfrm>
        </p:grpSpPr>
        <p:sp>
          <p:nvSpPr>
            <p:cNvPr id="13343" name="Rectangle 69"/>
            <p:cNvSpPr>
              <a:spLocks noChangeArrowheads="1"/>
            </p:cNvSpPr>
            <p:nvPr/>
          </p:nvSpPr>
          <p:spPr bwMode="auto">
            <a:xfrm>
              <a:off x="4265" y="2274"/>
              <a:ext cx="471" cy="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3344" name="Text Box 70"/>
            <p:cNvSpPr txBox="1">
              <a:spLocks noChangeArrowheads="1"/>
            </p:cNvSpPr>
            <p:nvPr/>
          </p:nvSpPr>
          <p:spPr bwMode="auto">
            <a:xfrm>
              <a:off x="4215" y="2253"/>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ACK=120</a:t>
              </a:r>
              <a:endParaRPr lang="en-US" altLang="en-US" sz="1000">
                <a:latin typeface="Times New Roman" panose="02020603050405020304" pitchFamily="18" charset="0"/>
              </a:endParaRPr>
            </a:p>
          </p:txBody>
        </p:sp>
      </p:grpSp>
      <p:pic>
        <p:nvPicPr>
          <p:cNvPr id="13336" name="Picture 77"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8" y="912814"/>
            <a:ext cx="6399212"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337" name="Group 84"/>
          <p:cNvGrpSpPr>
            <a:grpSpLocks/>
          </p:cNvGrpSpPr>
          <p:nvPr/>
        </p:nvGrpSpPr>
        <p:grpSpPr bwMode="auto">
          <a:xfrm>
            <a:off x="2427289" y="1565275"/>
            <a:ext cx="630237" cy="533400"/>
            <a:chOff x="-44" y="1473"/>
            <a:chExt cx="981" cy="1105"/>
          </a:xfrm>
        </p:grpSpPr>
        <p:pic>
          <p:nvPicPr>
            <p:cNvPr id="13341" name="Picture 85"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42" name="Freeform 86"/>
            <p:cNvSpPr>
              <a:spLocks/>
            </p:cNvSpPr>
            <p:nvPr/>
          </p:nvSpPr>
          <p:spPr bwMode="auto">
            <a:xfrm flipH="1">
              <a:off x="374" y="1579"/>
              <a:ext cx="477" cy="506"/>
            </a:xfrm>
            <a:custGeom>
              <a:avLst/>
              <a:gdLst>
                <a:gd name="T0" fmla="*/ 0 w 356"/>
                <a:gd name="T1" fmla="*/ 0 h 368"/>
                <a:gd name="T2" fmla="*/ 139825 w 356"/>
                <a:gd name="T3" fmla="*/ 11340 h 368"/>
                <a:gd name="T4" fmla="*/ 165873 w 356"/>
                <a:gd name="T5" fmla="*/ 236254 h 368"/>
                <a:gd name="T6" fmla="*/ 36556 w 356"/>
                <a:gd name="T7" fmla="*/ 29546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grpSp>
      <p:grpSp>
        <p:nvGrpSpPr>
          <p:cNvPr id="13338" name="Group 87"/>
          <p:cNvGrpSpPr>
            <a:grpSpLocks/>
          </p:cNvGrpSpPr>
          <p:nvPr/>
        </p:nvGrpSpPr>
        <p:grpSpPr bwMode="auto">
          <a:xfrm flipH="1">
            <a:off x="5005389" y="1560513"/>
            <a:ext cx="674687" cy="590550"/>
            <a:chOff x="-44" y="1473"/>
            <a:chExt cx="981" cy="1105"/>
          </a:xfrm>
        </p:grpSpPr>
        <p:pic>
          <p:nvPicPr>
            <p:cNvPr id="13339" name="Picture 88"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40" name="Freeform 89"/>
            <p:cNvSpPr>
              <a:spLocks/>
            </p:cNvSpPr>
            <p:nvPr/>
          </p:nvSpPr>
          <p:spPr bwMode="auto">
            <a:xfrm flipH="1">
              <a:off x="374" y="1579"/>
              <a:ext cx="477" cy="506"/>
            </a:xfrm>
            <a:custGeom>
              <a:avLst/>
              <a:gdLst>
                <a:gd name="T0" fmla="*/ 0 w 356"/>
                <a:gd name="T1" fmla="*/ 0 h 368"/>
                <a:gd name="T2" fmla="*/ 139825 w 356"/>
                <a:gd name="T3" fmla="*/ 11340 h 368"/>
                <a:gd name="T4" fmla="*/ 165873 w 356"/>
                <a:gd name="T5" fmla="*/ 236254 h 368"/>
                <a:gd name="T6" fmla="*/ 36556 w 356"/>
                <a:gd name="T7" fmla="*/ 29546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en-US"/>
            </a:p>
          </p:txBody>
        </p:sp>
      </p:grpSp>
    </p:spTree>
    <p:extLst>
      <p:ext uri="{BB962C8B-B14F-4D97-AF65-F5344CB8AC3E}">
        <p14:creationId xmlns:p14="http://schemas.microsoft.com/office/powerpoint/2010/main" val="4570523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58"/>
                                        </p:tgtEl>
                                        <p:attrNameLst>
                                          <p:attrName>style.visibility</p:attrName>
                                        </p:attrNameLst>
                                      </p:cBhvr>
                                      <p:to>
                                        <p:strVal val="visible"/>
                                      </p:to>
                                    </p:set>
                                    <p:animEffect transition="in" filter="fade">
                                      <p:cBhvr>
                                        <p:cTn id="7" dur="500"/>
                                        <p:tgtEl>
                                          <p:spTgt spid="10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defRPr/>
            </a:pPr>
            <a:r>
              <a:rPr lang="fr-FR" altLang="en-US" sz="3200"/>
              <a:t>Modified TCP – Doubling Timeout Interval</a:t>
            </a:r>
          </a:p>
        </p:txBody>
      </p:sp>
      <p:sp>
        <p:nvSpPr>
          <p:cNvPr id="3" name="Espace réservé du contenu 2"/>
          <p:cNvSpPr>
            <a:spLocks noGrp="1"/>
          </p:cNvSpPr>
          <p:nvPr>
            <p:ph idx="1"/>
          </p:nvPr>
        </p:nvSpPr>
        <p:spPr/>
        <p:txBody>
          <a:bodyPr/>
          <a:lstStyle/>
          <a:p>
            <a:pPr>
              <a:defRPr/>
            </a:pPr>
            <a:r>
              <a:rPr lang="fr-FR" sz="2400" dirty="0" err="1"/>
              <a:t>Whenever</a:t>
            </a:r>
            <a:r>
              <a:rPr lang="fr-FR" sz="2400" dirty="0"/>
              <a:t> the timeout </a:t>
            </a:r>
            <a:r>
              <a:rPr lang="fr-FR" sz="2400" dirty="0" err="1"/>
              <a:t>event</a:t>
            </a:r>
            <a:r>
              <a:rPr lang="fr-FR" sz="2400" dirty="0"/>
              <a:t> </a:t>
            </a:r>
            <a:r>
              <a:rPr lang="fr-FR" sz="2400" dirty="0" err="1"/>
              <a:t>occurs</a:t>
            </a:r>
            <a:r>
              <a:rPr lang="fr-FR" sz="2400" dirty="0"/>
              <a:t> </a:t>
            </a:r>
            <a:r>
              <a:rPr lang="fr-FR" sz="2400" dirty="0" err="1"/>
              <a:t>it</a:t>
            </a:r>
            <a:r>
              <a:rPr lang="fr-FR" sz="2400" dirty="0"/>
              <a:t> sets the </a:t>
            </a:r>
            <a:r>
              <a:rPr lang="fr-FR" sz="2400" dirty="0" err="1"/>
              <a:t>next</a:t>
            </a:r>
            <a:r>
              <a:rPr lang="fr-FR" sz="2400" dirty="0"/>
              <a:t> timeout </a:t>
            </a:r>
            <a:r>
              <a:rPr lang="fr-FR" sz="2400" dirty="0" err="1"/>
              <a:t>interval</a:t>
            </a:r>
            <a:r>
              <a:rPr lang="fr-FR" sz="2400" dirty="0"/>
              <a:t> to </a:t>
            </a:r>
            <a:r>
              <a:rPr lang="fr-FR" sz="2400" dirty="0" err="1"/>
              <a:t>twice</a:t>
            </a:r>
            <a:r>
              <a:rPr lang="fr-FR" sz="2400" dirty="0"/>
              <a:t> the </a:t>
            </a:r>
            <a:r>
              <a:rPr lang="fr-FR" sz="2400" dirty="0" err="1"/>
              <a:t>previous</a:t>
            </a:r>
            <a:r>
              <a:rPr lang="fr-FR" sz="2400" dirty="0"/>
              <a:t> value, </a:t>
            </a:r>
          </a:p>
          <a:p>
            <a:pPr lvl="1">
              <a:defRPr/>
            </a:pPr>
            <a:r>
              <a:rPr lang="fr-FR" sz="2000" dirty="0" err="1"/>
              <a:t>rather</a:t>
            </a:r>
            <a:r>
              <a:rPr lang="fr-FR" sz="2000" dirty="0"/>
              <a:t> </a:t>
            </a:r>
            <a:r>
              <a:rPr lang="fr-FR" sz="2000" dirty="0" err="1"/>
              <a:t>than</a:t>
            </a:r>
            <a:r>
              <a:rPr lang="fr-FR" sz="2000" dirty="0"/>
              <a:t> </a:t>
            </a:r>
            <a:r>
              <a:rPr lang="fr-FR" sz="2000" dirty="0" err="1"/>
              <a:t>deriving</a:t>
            </a:r>
            <a:r>
              <a:rPr lang="fr-FR" sz="2000" dirty="0"/>
              <a:t> </a:t>
            </a:r>
            <a:r>
              <a:rPr lang="fr-FR" sz="2000" dirty="0" err="1"/>
              <a:t>it</a:t>
            </a:r>
            <a:r>
              <a:rPr lang="fr-FR" sz="2000" dirty="0"/>
              <a:t> </a:t>
            </a:r>
            <a:r>
              <a:rPr lang="fr-FR" sz="2000" dirty="0" err="1"/>
              <a:t>from</a:t>
            </a:r>
            <a:r>
              <a:rPr lang="fr-FR" sz="2000" dirty="0"/>
              <a:t> the last </a:t>
            </a:r>
            <a:r>
              <a:rPr lang="fr-FR" sz="2000" dirty="0" err="1"/>
              <a:t>EstimatedRTT</a:t>
            </a:r>
            <a:r>
              <a:rPr lang="fr-FR" sz="2000" dirty="0"/>
              <a:t> and </a:t>
            </a:r>
            <a:r>
              <a:rPr lang="fr-FR" sz="2000" dirty="0" err="1"/>
              <a:t>DevRTT</a:t>
            </a:r>
            <a:endParaRPr lang="fr-FR" sz="2000" dirty="0"/>
          </a:p>
          <a:p>
            <a:pPr lvl="1">
              <a:defRPr/>
            </a:pPr>
            <a:r>
              <a:rPr lang="fr-FR" sz="2000" dirty="0" err="1"/>
              <a:t>However</a:t>
            </a:r>
            <a:r>
              <a:rPr lang="fr-FR" sz="2000" dirty="0"/>
              <a:t>, in case of </a:t>
            </a:r>
            <a:r>
              <a:rPr lang="fr-FR" sz="2000" dirty="0" err="1"/>
              <a:t>other</a:t>
            </a:r>
            <a:r>
              <a:rPr lang="fr-FR" sz="2000" dirty="0"/>
              <a:t> </a:t>
            </a:r>
            <a:r>
              <a:rPr lang="fr-FR" sz="2000" dirty="0" err="1"/>
              <a:t>two</a:t>
            </a:r>
            <a:r>
              <a:rPr lang="fr-FR" sz="2000" dirty="0"/>
              <a:t> </a:t>
            </a:r>
            <a:r>
              <a:rPr lang="fr-FR" sz="2000" dirty="0" err="1"/>
              <a:t>events</a:t>
            </a:r>
            <a:r>
              <a:rPr lang="fr-FR" sz="2000" dirty="0"/>
              <a:t> (</a:t>
            </a:r>
            <a:r>
              <a:rPr lang="fr-FR" sz="2000" dirty="0" err="1"/>
              <a:t>app</a:t>
            </a:r>
            <a:r>
              <a:rPr lang="fr-FR" sz="2000" dirty="0"/>
              <a:t> data </a:t>
            </a:r>
            <a:r>
              <a:rPr lang="fr-FR" sz="2000" dirty="0" err="1"/>
              <a:t>received</a:t>
            </a:r>
            <a:r>
              <a:rPr lang="fr-FR" sz="2000" dirty="0"/>
              <a:t> or ACK </a:t>
            </a:r>
            <a:r>
              <a:rPr lang="fr-FR" sz="2000" dirty="0" err="1"/>
              <a:t>received</a:t>
            </a:r>
            <a:r>
              <a:rPr lang="fr-FR" sz="2000" dirty="0"/>
              <a:t>), </a:t>
            </a:r>
            <a:r>
              <a:rPr lang="fr-FR" sz="2000" dirty="0" err="1"/>
              <a:t>it</a:t>
            </a:r>
            <a:r>
              <a:rPr lang="fr-FR" sz="2000" dirty="0"/>
              <a:t> </a:t>
            </a:r>
            <a:r>
              <a:rPr lang="fr-FR" sz="2000" dirty="0" err="1"/>
              <a:t>is</a:t>
            </a:r>
            <a:r>
              <a:rPr lang="fr-FR" sz="2000" dirty="0"/>
              <a:t> </a:t>
            </a:r>
            <a:r>
              <a:rPr lang="fr-FR" sz="2000" dirty="0" err="1"/>
              <a:t>derived</a:t>
            </a:r>
            <a:r>
              <a:rPr lang="fr-FR" sz="2000" dirty="0"/>
              <a:t>. </a:t>
            </a:r>
          </a:p>
          <a:p>
            <a:pPr lvl="1">
              <a:defRPr/>
            </a:pPr>
            <a:endParaRPr lang="fr-FR" sz="2000" dirty="0"/>
          </a:p>
          <a:p>
            <a:pPr lvl="1">
              <a:defRPr/>
            </a:pPr>
            <a:endParaRPr lang="fr-FR" sz="2000" dirty="0"/>
          </a:p>
          <a:p>
            <a:pPr>
              <a:defRPr/>
            </a:pPr>
            <a:r>
              <a:rPr lang="fr-FR" sz="2400" dirty="0"/>
              <a:t>It </a:t>
            </a:r>
            <a:r>
              <a:rPr lang="fr-FR" sz="2400" dirty="0" err="1"/>
              <a:t>also</a:t>
            </a:r>
            <a:r>
              <a:rPr lang="fr-FR" sz="2400" dirty="0"/>
              <a:t> </a:t>
            </a:r>
            <a:r>
              <a:rPr lang="fr-FR" sz="2400" dirty="0" err="1"/>
              <a:t>provides</a:t>
            </a:r>
            <a:r>
              <a:rPr lang="fr-FR" sz="2400" dirty="0"/>
              <a:t> a </a:t>
            </a:r>
            <a:r>
              <a:rPr lang="fr-FR" sz="2400" dirty="0" err="1"/>
              <a:t>limited</a:t>
            </a:r>
            <a:r>
              <a:rPr lang="fr-FR" sz="2400" dirty="0"/>
              <a:t> </a:t>
            </a:r>
            <a:r>
              <a:rPr lang="fr-FR" sz="2400" dirty="0" err="1"/>
              <a:t>form</a:t>
            </a:r>
            <a:r>
              <a:rPr lang="fr-FR" sz="2400" dirty="0"/>
              <a:t> of congestion control. </a:t>
            </a:r>
          </a:p>
          <a:p>
            <a:pPr lvl="1">
              <a:defRPr/>
            </a:pPr>
            <a:r>
              <a:rPr lang="fr-FR" sz="2000" dirty="0" err="1"/>
              <a:t>Timer</a:t>
            </a:r>
            <a:r>
              <a:rPr lang="fr-FR" sz="2000" dirty="0"/>
              <a:t> expiration due to congestion</a:t>
            </a:r>
          </a:p>
          <a:p>
            <a:pPr lvl="1">
              <a:defRPr/>
            </a:pPr>
            <a:r>
              <a:rPr lang="fr-FR" sz="2000" dirty="0"/>
              <a:t>It </a:t>
            </a:r>
            <a:r>
              <a:rPr lang="fr-FR" sz="2000" dirty="0" err="1"/>
              <a:t>is</a:t>
            </a:r>
            <a:r>
              <a:rPr lang="fr-FR" sz="2000" dirty="0"/>
              <a:t> </a:t>
            </a:r>
            <a:r>
              <a:rPr lang="fr-FR" sz="2000" dirty="0" err="1"/>
              <a:t>better</a:t>
            </a:r>
            <a:r>
              <a:rPr lang="fr-FR" sz="2000" dirty="0"/>
              <a:t> to </a:t>
            </a:r>
            <a:r>
              <a:rPr lang="fr-FR" sz="2000" dirty="0" err="1"/>
              <a:t>wait</a:t>
            </a:r>
            <a:r>
              <a:rPr lang="fr-FR" sz="2000" dirty="0"/>
              <a:t> </a:t>
            </a:r>
            <a:r>
              <a:rPr lang="fr-FR" sz="2000" dirty="0" err="1"/>
              <a:t>rather</a:t>
            </a:r>
            <a:r>
              <a:rPr lang="fr-FR" sz="2000" dirty="0"/>
              <a:t> </a:t>
            </a:r>
            <a:r>
              <a:rPr lang="fr-FR" sz="2000" dirty="0" err="1"/>
              <a:t>than</a:t>
            </a:r>
            <a:r>
              <a:rPr lang="fr-FR" sz="2000" dirty="0"/>
              <a:t> </a:t>
            </a:r>
            <a:r>
              <a:rPr lang="fr-FR" sz="2000" dirty="0" err="1"/>
              <a:t>keep</a:t>
            </a:r>
            <a:r>
              <a:rPr lang="fr-FR" sz="2000" dirty="0"/>
              <a:t> </a:t>
            </a:r>
            <a:r>
              <a:rPr lang="fr-FR" sz="2000" dirty="0" err="1"/>
              <a:t>sending</a:t>
            </a:r>
            <a:endParaRPr lang="fr-FR" sz="2000" dirty="0"/>
          </a:p>
          <a:p>
            <a:pPr>
              <a:defRPr/>
            </a:pPr>
            <a:endParaRPr lang="fr-FR" sz="2400" dirty="0"/>
          </a:p>
        </p:txBody>
      </p:sp>
    </p:spTree>
    <p:extLst>
      <p:ext uri="{BB962C8B-B14F-4D97-AF65-F5344CB8AC3E}">
        <p14:creationId xmlns:p14="http://schemas.microsoft.com/office/powerpoint/2010/main" val="41606572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defRPr/>
            </a:pPr>
            <a:r>
              <a:rPr lang="fr-FR" altLang="en-US" sz="3200"/>
              <a:t>Modified TCP – Fast Retransmit </a:t>
            </a:r>
          </a:p>
        </p:txBody>
      </p:sp>
      <p:sp>
        <p:nvSpPr>
          <p:cNvPr id="3" name="Espace réservé du contenu 2"/>
          <p:cNvSpPr>
            <a:spLocks noGrp="1"/>
          </p:cNvSpPr>
          <p:nvPr>
            <p:ph idx="1"/>
          </p:nvPr>
        </p:nvSpPr>
        <p:spPr/>
        <p:txBody>
          <a:bodyPr/>
          <a:lstStyle/>
          <a:p>
            <a:pPr>
              <a:defRPr/>
            </a:pPr>
            <a:r>
              <a:rPr lang="fr-FR" sz="2400" dirty="0"/>
              <a:t>Timeout-</a:t>
            </a:r>
            <a:r>
              <a:rPr lang="fr-FR" sz="2400" dirty="0" err="1"/>
              <a:t>triggered</a:t>
            </a:r>
            <a:r>
              <a:rPr lang="fr-FR" sz="2400" dirty="0"/>
              <a:t> retransmissions </a:t>
            </a:r>
            <a:r>
              <a:rPr lang="fr-FR" sz="2400" dirty="0" err="1"/>
              <a:t>can</a:t>
            </a:r>
            <a:r>
              <a:rPr lang="fr-FR" sz="2400" dirty="0"/>
              <a:t> </a:t>
            </a:r>
            <a:r>
              <a:rPr lang="fr-FR" sz="2400" dirty="0" err="1"/>
              <a:t>take</a:t>
            </a:r>
            <a:r>
              <a:rPr lang="fr-FR" sz="2400" dirty="0"/>
              <a:t> long</a:t>
            </a:r>
          </a:p>
          <a:p>
            <a:pPr>
              <a:defRPr/>
            </a:pPr>
            <a:r>
              <a:rPr lang="fr-FR" sz="2400" dirty="0"/>
              <a:t>Duplicate </a:t>
            </a:r>
            <a:r>
              <a:rPr lang="fr-FR" sz="2400" dirty="0" err="1"/>
              <a:t>ACKs</a:t>
            </a:r>
            <a:r>
              <a:rPr lang="fr-FR" sz="2400" dirty="0"/>
              <a:t> </a:t>
            </a:r>
            <a:r>
              <a:rPr lang="fr-FR" sz="2400" dirty="0" err="1"/>
              <a:t>can</a:t>
            </a:r>
            <a:r>
              <a:rPr lang="fr-FR" sz="2400" dirty="0"/>
              <a:t> help </a:t>
            </a:r>
            <a:r>
              <a:rPr lang="fr-FR" sz="2400" dirty="0" err="1"/>
              <a:t>sender</a:t>
            </a:r>
            <a:r>
              <a:rPr lang="fr-FR" sz="2400" dirty="0"/>
              <a:t> to </a:t>
            </a:r>
            <a:r>
              <a:rPr lang="fr-FR" sz="2400" dirty="0" err="1"/>
              <a:t>detect</a:t>
            </a:r>
            <a:r>
              <a:rPr lang="fr-FR" sz="2400" dirty="0"/>
              <a:t> </a:t>
            </a:r>
            <a:r>
              <a:rPr lang="fr-FR" sz="2400" dirty="0" err="1"/>
              <a:t>packet</a:t>
            </a:r>
            <a:r>
              <a:rPr lang="fr-FR" sz="2400" dirty="0"/>
              <a:t> </a:t>
            </a:r>
            <a:r>
              <a:rPr lang="fr-FR" sz="2400" dirty="0" err="1"/>
              <a:t>loss</a:t>
            </a:r>
            <a:endParaRPr lang="fr-FR" sz="2400" dirty="0"/>
          </a:p>
          <a:p>
            <a:pPr>
              <a:defRPr/>
            </a:pPr>
            <a:endParaRPr lang="fr-FR" sz="2400" dirty="0"/>
          </a:p>
          <a:p>
            <a:pPr>
              <a:defRPr/>
            </a:pPr>
            <a:r>
              <a:rPr lang="fr-FR" sz="2400" dirty="0"/>
              <a:t> A </a:t>
            </a:r>
            <a:r>
              <a:rPr lang="fr-FR" sz="2400" b="1" dirty="0"/>
              <a:t>duplicate ACK </a:t>
            </a:r>
            <a:r>
              <a:rPr lang="fr-FR" sz="2400" dirty="0" err="1"/>
              <a:t>is</a:t>
            </a:r>
            <a:r>
              <a:rPr lang="fr-FR" sz="2400" dirty="0"/>
              <a:t> an ACK </a:t>
            </a:r>
            <a:r>
              <a:rPr lang="fr-FR" sz="2400" dirty="0" err="1"/>
              <a:t>that</a:t>
            </a:r>
            <a:r>
              <a:rPr lang="fr-FR" sz="2400" dirty="0"/>
              <a:t> </a:t>
            </a:r>
            <a:r>
              <a:rPr lang="fr-FR" sz="2400" dirty="0" err="1"/>
              <a:t>reacknowledges</a:t>
            </a:r>
            <a:r>
              <a:rPr lang="fr-FR" sz="2400" dirty="0"/>
              <a:t> a segment for </a:t>
            </a:r>
            <a:r>
              <a:rPr lang="fr-FR" sz="2400" dirty="0" err="1"/>
              <a:t>which</a:t>
            </a:r>
            <a:r>
              <a:rPr lang="fr-FR" sz="2400" dirty="0"/>
              <a:t> the </a:t>
            </a:r>
            <a:r>
              <a:rPr lang="fr-FR" sz="2400" dirty="0" err="1"/>
              <a:t>sender</a:t>
            </a:r>
            <a:r>
              <a:rPr lang="fr-FR" sz="2400" dirty="0"/>
              <a:t> has </a:t>
            </a:r>
            <a:r>
              <a:rPr lang="fr-FR" sz="2400" dirty="0" err="1"/>
              <a:t>already</a:t>
            </a:r>
            <a:r>
              <a:rPr lang="fr-FR" sz="2400" dirty="0"/>
              <a:t> </a:t>
            </a:r>
            <a:r>
              <a:rPr lang="fr-FR" sz="2400" dirty="0" err="1"/>
              <a:t>received</a:t>
            </a:r>
            <a:r>
              <a:rPr lang="fr-FR" sz="2400" dirty="0"/>
              <a:t> an </a:t>
            </a:r>
            <a:r>
              <a:rPr lang="fr-FR" sz="2400" dirty="0" err="1"/>
              <a:t>earlier</a:t>
            </a:r>
            <a:r>
              <a:rPr lang="fr-FR" sz="2400" dirty="0"/>
              <a:t> </a:t>
            </a:r>
            <a:r>
              <a:rPr lang="fr-FR" sz="2400" dirty="0" err="1"/>
              <a:t>acknowledgment</a:t>
            </a:r>
            <a:r>
              <a:rPr lang="fr-FR" sz="2400" dirty="0"/>
              <a:t>. </a:t>
            </a:r>
          </a:p>
          <a:p>
            <a:pPr>
              <a:defRPr/>
            </a:pPr>
            <a:endParaRPr lang="fr-FR" sz="2400" dirty="0"/>
          </a:p>
          <a:p>
            <a:pPr>
              <a:defRPr/>
            </a:pPr>
            <a:r>
              <a:rPr lang="fr-FR" sz="2400" dirty="0" err="1"/>
              <a:t>When</a:t>
            </a:r>
            <a:r>
              <a:rPr lang="fr-FR" sz="2400" dirty="0"/>
              <a:t> </a:t>
            </a:r>
            <a:r>
              <a:rPr lang="fr-FR" sz="2400" dirty="0" err="1"/>
              <a:t>it</a:t>
            </a:r>
            <a:r>
              <a:rPr lang="fr-FR" sz="2400" dirty="0"/>
              <a:t> </a:t>
            </a:r>
            <a:r>
              <a:rPr lang="fr-FR" sz="2400" dirty="0" err="1"/>
              <a:t>is</a:t>
            </a:r>
            <a:r>
              <a:rPr lang="fr-FR" sz="2400" dirty="0"/>
              <a:t> sent/</a:t>
            </a:r>
            <a:r>
              <a:rPr lang="fr-FR" sz="2400" dirty="0" err="1"/>
              <a:t>received</a:t>
            </a:r>
            <a:r>
              <a:rPr lang="fr-FR" sz="2400" dirty="0"/>
              <a:t>? </a:t>
            </a:r>
          </a:p>
          <a:p>
            <a:pPr>
              <a:defRPr/>
            </a:pPr>
            <a:endParaRPr lang="fr-FR" sz="2400" dirty="0"/>
          </a:p>
        </p:txBody>
      </p:sp>
    </p:spTree>
    <p:extLst>
      <p:ext uri="{BB962C8B-B14F-4D97-AF65-F5344CB8AC3E}">
        <p14:creationId xmlns:p14="http://schemas.microsoft.com/office/powerpoint/2010/main" val="20499538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fast retransmit</a:t>
            </a:r>
            <a:endParaRPr lang="en-US" sz="4400" b="0" dirty="0"/>
          </a:p>
        </p:txBody>
      </p:sp>
      <p:sp>
        <p:nvSpPr>
          <p:cNvPr id="62" name="Line 10">
            <a:extLst>
              <a:ext uri="{FF2B5EF4-FFF2-40B4-BE49-F238E27FC236}">
                <a16:creationId xmlns:a16="http://schemas.microsoft.com/office/drawing/2014/main" id="{D5DBB1B8-3A7B-2149-A7A5-727E44799BF4}"/>
              </a:ext>
            </a:extLst>
          </p:cNvPr>
          <p:cNvSpPr>
            <a:spLocks noChangeShapeType="1"/>
          </p:cNvSpPr>
          <p:nvPr/>
        </p:nvSpPr>
        <p:spPr bwMode="auto">
          <a:xfrm flipH="1">
            <a:off x="7137251" y="1928015"/>
            <a:ext cx="0" cy="4413474"/>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3" name="Line 11">
            <a:extLst>
              <a:ext uri="{FF2B5EF4-FFF2-40B4-BE49-F238E27FC236}">
                <a16:creationId xmlns:a16="http://schemas.microsoft.com/office/drawing/2014/main" id="{689C7DF6-5B6C-F34C-B350-3B553A4C7C71}"/>
              </a:ext>
            </a:extLst>
          </p:cNvPr>
          <p:cNvSpPr>
            <a:spLocks noChangeShapeType="1"/>
          </p:cNvSpPr>
          <p:nvPr/>
        </p:nvSpPr>
        <p:spPr bwMode="auto">
          <a:xfrm>
            <a:off x="10614518" y="2016469"/>
            <a:ext cx="14666" cy="43250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4" name="Text Box 34">
            <a:extLst>
              <a:ext uri="{FF2B5EF4-FFF2-40B4-BE49-F238E27FC236}">
                <a16:creationId xmlns:a16="http://schemas.microsoft.com/office/drawing/2014/main" id="{7F373F6A-C03C-9348-95D5-6812428E4AB9}"/>
              </a:ext>
            </a:extLst>
          </p:cNvPr>
          <p:cNvSpPr txBox="1">
            <a:spLocks noChangeArrowheads="1"/>
          </p:cNvSpPr>
          <p:nvPr/>
        </p:nvSpPr>
        <p:spPr bwMode="auto">
          <a:xfrm>
            <a:off x="9960336" y="1045159"/>
            <a:ext cx="1069083" cy="39067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75" name="Text Box 38">
            <a:extLst>
              <a:ext uri="{FF2B5EF4-FFF2-40B4-BE49-F238E27FC236}">
                <a16:creationId xmlns:a16="http://schemas.microsoft.com/office/drawing/2014/main" id="{DAC7237E-4C51-2843-8070-FFEA26334B0E}"/>
              </a:ext>
            </a:extLst>
          </p:cNvPr>
          <p:cNvSpPr txBox="1">
            <a:spLocks noChangeArrowheads="1"/>
          </p:cNvSpPr>
          <p:nvPr/>
        </p:nvSpPr>
        <p:spPr bwMode="auto">
          <a:xfrm>
            <a:off x="6733327" y="1065430"/>
            <a:ext cx="1073474" cy="39067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grpSp>
        <p:nvGrpSpPr>
          <p:cNvPr id="80" name="Group 78">
            <a:extLst>
              <a:ext uri="{FF2B5EF4-FFF2-40B4-BE49-F238E27FC236}">
                <a16:creationId xmlns:a16="http://schemas.microsoft.com/office/drawing/2014/main" id="{BFB3AB37-E716-1346-A8BA-2EFF122E1DFB}"/>
              </a:ext>
            </a:extLst>
          </p:cNvPr>
          <p:cNvGrpSpPr>
            <a:grpSpLocks/>
          </p:cNvGrpSpPr>
          <p:nvPr/>
        </p:nvGrpSpPr>
        <p:grpSpPr bwMode="auto">
          <a:xfrm>
            <a:off x="6606003" y="2250502"/>
            <a:ext cx="548811" cy="4090987"/>
            <a:chOff x="397" y="868"/>
            <a:chExt cx="250" cy="2220"/>
          </a:xfrm>
        </p:grpSpPr>
        <p:sp>
          <p:nvSpPr>
            <p:cNvPr id="81" name="Text Box 50">
              <a:extLst>
                <a:ext uri="{FF2B5EF4-FFF2-40B4-BE49-F238E27FC236}">
                  <a16:creationId xmlns:a16="http://schemas.microsoft.com/office/drawing/2014/main" id="{20D2BEC4-83BC-594C-9709-4963DF5C652E}"/>
                </a:ext>
              </a:extLst>
            </p:cNvPr>
            <p:cNvSpPr txBox="1">
              <a:spLocks noChangeArrowheads="1"/>
            </p:cNvSpPr>
            <p:nvPr/>
          </p:nvSpPr>
          <p:spPr bwMode="auto">
            <a:xfrm rot="10800000">
              <a:off x="397" y="1778"/>
              <a:ext cx="250" cy="4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timeout</a:t>
              </a:r>
            </a:p>
          </p:txBody>
        </p:sp>
        <p:grpSp>
          <p:nvGrpSpPr>
            <p:cNvPr id="82" name="Group 51">
              <a:extLst>
                <a:ext uri="{FF2B5EF4-FFF2-40B4-BE49-F238E27FC236}">
                  <a16:creationId xmlns:a16="http://schemas.microsoft.com/office/drawing/2014/main" id="{EDCC85C1-CBD8-CF48-BE14-AB550ACC9CD9}"/>
                </a:ext>
              </a:extLst>
            </p:cNvPr>
            <p:cNvGrpSpPr>
              <a:grpSpLocks/>
            </p:cNvGrpSpPr>
            <p:nvPr/>
          </p:nvGrpSpPr>
          <p:grpSpPr bwMode="auto">
            <a:xfrm>
              <a:off x="488" y="868"/>
              <a:ext cx="66" cy="893"/>
              <a:chOff x="3099" y="1749"/>
              <a:chExt cx="66" cy="320"/>
            </a:xfrm>
          </p:grpSpPr>
          <p:sp>
            <p:nvSpPr>
              <p:cNvPr id="86" name="Line 52">
                <a:extLst>
                  <a:ext uri="{FF2B5EF4-FFF2-40B4-BE49-F238E27FC236}">
                    <a16:creationId xmlns:a16="http://schemas.microsoft.com/office/drawing/2014/main" id="{F5C3CCA7-42E1-5E4B-B134-3ADAAE25F478}"/>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7" name="Line 53">
                <a:extLst>
                  <a:ext uri="{FF2B5EF4-FFF2-40B4-BE49-F238E27FC236}">
                    <a16:creationId xmlns:a16="http://schemas.microsoft.com/office/drawing/2014/main" id="{8E5A8D16-FBBC-D14E-8BAD-251BDDCBBDB1}"/>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83" name="Group 54">
              <a:extLst>
                <a:ext uri="{FF2B5EF4-FFF2-40B4-BE49-F238E27FC236}">
                  <a16:creationId xmlns:a16="http://schemas.microsoft.com/office/drawing/2014/main" id="{21D50596-28D4-5A43-9FB1-7BBC7387FCE9}"/>
                </a:ext>
              </a:extLst>
            </p:cNvPr>
            <p:cNvGrpSpPr>
              <a:grpSpLocks/>
            </p:cNvGrpSpPr>
            <p:nvPr/>
          </p:nvGrpSpPr>
          <p:grpSpPr bwMode="auto">
            <a:xfrm rot="10800000">
              <a:off x="485" y="2224"/>
              <a:ext cx="66" cy="864"/>
              <a:chOff x="3099" y="1749"/>
              <a:chExt cx="66" cy="320"/>
            </a:xfrm>
          </p:grpSpPr>
          <p:sp>
            <p:nvSpPr>
              <p:cNvPr id="84" name="Line 55">
                <a:extLst>
                  <a:ext uri="{FF2B5EF4-FFF2-40B4-BE49-F238E27FC236}">
                    <a16:creationId xmlns:a16="http://schemas.microsoft.com/office/drawing/2014/main" id="{80D32A34-44D9-C043-A214-A031ADF68922}"/>
                  </a:ext>
                </a:extLst>
              </p:cNvPr>
              <p:cNvSpPr>
                <a:spLocks noChangeShapeType="1"/>
              </p:cNvSpPr>
              <p:nvPr/>
            </p:nvSpPr>
            <p:spPr bwMode="auto">
              <a:xfrm flipV="1">
                <a:off x="3132"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5" name="Line 56">
                <a:extLst>
                  <a:ext uri="{FF2B5EF4-FFF2-40B4-BE49-F238E27FC236}">
                    <a16:creationId xmlns:a16="http://schemas.microsoft.com/office/drawing/2014/main" id="{AE50FFCD-888F-5F49-95EA-1422F4F92DA1}"/>
                  </a:ext>
                </a:extLst>
              </p:cNvPr>
              <p:cNvSpPr>
                <a:spLocks noChangeShapeType="1"/>
              </p:cNvSpPr>
              <p:nvPr/>
            </p:nvSpPr>
            <p:spPr bwMode="auto">
              <a:xfrm>
                <a:off x="3106"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5" name="Group 4">
            <a:extLst>
              <a:ext uri="{FF2B5EF4-FFF2-40B4-BE49-F238E27FC236}">
                <a16:creationId xmlns:a16="http://schemas.microsoft.com/office/drawing/2014/main" id="{DFEC346A-D192-A745-962D-2F7187BE2EBA}"/>
              </a:ext>
            </a:extLst>
          </p:cNvPr>
          <p:cNvGrpSpPr/>
          <p:nvPr/>
        </p:nvGrpSpPr>
        <p:grpSpPr>
          <a:xfrm>
            <a:off x="7013299" y="3003106"/>
            <a:ext cx="3612455" cy="2092660"/>
            <a:chOff x="7013299" y="3003106"/>
            <a:chExt cx="3612455" cy="2092660"/>
          </a:xfrm>
        </p:grpSpPr>
        <p:sp>
          <p:nvSpPr>
            <p:cNvPr id="64" name="Line 12">
              <a:extLst>
                <a:ext uri="{FF2B5EF4-FFF2-40B4-BE49-F238E27FC236}">
                  <a16:creationId xmlns:a16="http://schemas.microsoft.com/office/drawing/2014/main" id="{95AEFD21-3019-6045-8B8C-F134C817BFAE}"/>
                </a:ext>
              </a:extLst>
            </p:cNvPr>
            <p:cNvSpPr>
              <a:spLocks noChangeShapeType="1"/>
            </p:cNvSpPr>
            <p:nvPr/>
          </p:nvSpPr>
          <p:spPr bwMode="auto">
            <a:xfrm flipH="1">
              <a:off x="7124339" y="3003106"/>
              <a:ext cx="3483853" cy="939821"/>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8" name="Line 17">
              <a:extLst>
                <a:ext uri="{FF2B5EF4-FFF2-40B4-BE49-F238E27FC236}">
                  <a16:creationId xmlns:a16="http://schemas.microsoft.com/office/drawing/2014/main"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9" name="Line 18">
              <a:extLst>
                <a:ext uri="{FF2B5EF4-FFF2-40B4-BE49-F238E27FC236}">
                  <a16:creationId xmlns:a16="http://schemas.microsoft.com/office/drawing/2014/main"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0"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9" name="Text Box 43">
              <a:extLst>
                <a:ext uri="{FF2B5EF4-FFF2-40B4-BE49-F238E27FC236}">
                  <a16:creationId xmlns:a16="http://schemas.microsoft.com/office/drawing/2014/main" id="{239E35BD-73CE-0B47-977F-0F2E0F1170FF}"/>
                </a:ext>
              </a:extLst>
            </p:cNvPr>
            <p:cNvSpPr txBox="1">
              <a:spLocks noChangeArrowheads="1"/>
            </p:cNvSpPr>
            <p:nvPr/>
          </p:nvSpPr>
          <p:spPr bwMode="auto">
            <a:xfrm rot="20736981">
              <a:off x="7013299" y="3540991"/>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0" name="Text Box 67">
              <a:extLst>
                <a:ext uri="{FF2B5EF4-FFF2-40B4-BE49-F238E27FC236}">
                  <a16:creationId xmlns:a16="http://schemas.microsoft.com/office/drawing/2014/main" id="{0D263B80-AF59-D348-84FD-932DC45167E5}"/>
                </a:ext>
              </a:extLst>
            </p:cNvPr>
            <p:cNvSpPr txBox="1">
              <a:spLocks noChangeArrowheads="1"/>
            </p:cNvSpPr>
            <p:nvPr/>
          </p:nvSpPr>
          <p:spPr bwMode="auto">
            <a:xfrm rot="20635106">
              <a:off x="7025762" y="4030047"/>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3" name="Text Box 74">
              <a:extLst>
                <a:ext uri="{FF2B5EF4-FFF2-40B4-BE49-F238E27FC236}">
                  <a16:creationId xmlns:a16="http://schemas.microsoft.com/office/drawing/2014/main" id="{8EFF23A0-366A-E64A-A6E3-90FD7CB3D7C0}"/>
                </a:ext>
              </a:extLst>
            </p:cNvPr>
            <p:cNvSpPr txBox="1">
              <a:spLocks noChangeArrowheads="1"/>
            </p:cNvSpPr>
            <p:nvPr/>
          </p:nvSpPr>
          <p:spPr bwMode="auto">
            <a:xfrm rot="20657108">
              <a:off x="7017491" y="4400415"/>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6" name="Text Box 77">
              <a:extLst>
                <a:ext uri="{FF2B5EF4-FFF2-40B4-BE49-F238E27FC236}">
                  <a16:creationId xmlns:a16="http://schemas.microsoft.com/office/drawing/2014/main" id="{589E2F0E-5EA2-944C-B543-F8CCDFFE3457}"/>
                </a:ext>
              </a:extLst>
            </p:cNvPr>
            <p:cNvSpPr txBox="1">
              <a:spLocks noChangeArrowheads="1"/>
            </p:cNvSpPr>
            <p:nvPr/>
          </p:nvSpPr>
          <p:spPr bwMode="auto">
            <a:xfrm rot="20628354">
              <a:off x="7020313" y="4687228"/>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97" name="Rectangle 84">
            <a:extLst>
              <a:ext uri="{FF2B5EF4-FFF2-40B4-BE49-F238E27FC236}">
                <a16:creationId xmlns:a16="http://schemas.microsoft.com/office/drawing/2014/main" id="{DDC13008-E549-D946-9386-1DAF70895444}"/>
              </a:ext>
            </a:extLst>
          </p:cNvPr>
          <p:cNvSpPr>
            <a:spLocks noChangeArrowheads="1"/>
          </p:cNvSpPr>
          <p:nvPr/>
        </p:nvSpPr>
        <p:spPr bwMode="auto">
          <a:xfrm>
            <a:off x="7435805" y="2563776"/>
            <a:ext cx="1047131" cy="26167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 name="Group 3">
            <a:extLst>
              <a:ext uri="{FF2B5EF4-FFF2-40B4-BE49-F238E27FC236}">
                <a16:creationId xmlns:a16="http://schemas.microsoft.com/office/drawing/2014/main" id="{A410A887-ABC6-3C43-BE7B-AF0C2FBB6C93}"/>
              </a:ext>
            </a:extLst>
          </p:cNvPr>
          <p:cNvGrpSpPr/>
          <p:nvPr/>
        </p:nvGrpSpPr>
        <p:grpSpPr>
          <a:xfrm>
            <a:off x="7137252" y="2219051"/>
            <a:ext cx="3503609" cy="1809741"/>
            <a:chOff x="7137252" y="2219051"/>
            <a:chExt cx="3503609" cy="1809741"/>
          </a:xfrm>
        </p:grpSpPr>
        <p:sp>
          <p:nvSpPr>
            <p:cNvPr id="60" name="Line 3">
              <a:extLst>
                <a:ext uri="{FF2B5EF4-FFF2-40B4-BE49-F238E27FC236}">
                  <a16:creationId xmlns:a16="http://schemas.microsoft.com/office/drawing/2014/main" id="{2DDEC3DE-B6A8-CB4A-8854-325CA53758C5}"/>
                </a:ext>
              </a:extLst>
            </p:cNvPr>
            <p:cNvSpPr>
              <a:spLocks noChangeShapeType="1"/>
            </p:cNvSpPr>
            <p:nvPr/>
          </p:nvSpPr>
          <p:spPr bwMode="auto">
            <a:xfrm>
              <a:off x="7137252" y="2281830"/>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1" name="Line 9">
              <a:extLst>
                <a:ext uri="{FF2B5EF4-FFF2-40B4-BE49-F238E27FC236}">
                  <a16:creationId xmlns:a16="http://schemas.microsoft.com/office/drawing/2014/main" id="{7443982D-7E67-3541-8BDB-FB3F54B4C262}"/>
                </a:ext>
              </a:extLst>
            </p:cNvPr>
            <p:cNvSpPr>
              <a:spLocks noChangeShapeType="1"/>
            </p:cNvSpPr>
            <p:nvPr/>
          </p:nvSpPr>
          <p:spPr bwMode="auto">
            <a:xfrm>
              <a:off x="7137252" y="2547191"/>
              <a:ext cx="2430134" cy="48096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5" name="Line 14">
              <a:extLst>
                <a:ext uri="{FF2B5EF4-FFF2-40B4-BE49-F238E27FC236}">
                  <a16:creationId xmlns:a16="http://schemas.microsoft.com/office/drawing/2014/main" id="{45E4DCDF-3370-7840-AFF3-2F4DBC2FB6CD}"/>
                </a:ext>
              </a:extLst>
            </p:cNvPr>
            <p:cNvSpPr>
              <a:spLocks noChangeShapeType="1"/>
            </p:cNvSpPr>
            <p:nvPr/>
          </p:nvSpPr>
          <p:spPr bwMode="auto">
            <a:xfrm>
              <a:off x="7137252" y="2812553"/>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6" name="Line 15">
              <a:extLst>
                <a:ext uri="{FF2B5EF4-FFF2-40B4-BE49-F238E27FC236}">
                  <a16:creationId xmlns:a16="http://schemas.microsoft.com/office/drawing/2014/main" id="{99432412-7F47-DD4A-A770-DACE51980B08}"/>
                </a:ext>
              </a:extLst>
            </p:cNvPr>
            <p:cNvSpPr>
              <a:spLocks noChangeShapeType="1"/>
            </p:cNvSpPr>
            <p:nvPr/>
          </p:nvSpPr>
          <p:spPr bwMode="auto">
            <a:xfrm>
              <a:off x="7137252" y="3343275"/>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7" name="Line 16">
              <a:extLst>
                <a:ext uri="{FF2B5EF4-FFF2-40B4-BE49-F238E27FC236}">
                  <a16:creationId xmlns:a16="http://schemas.microsoft.com/office/drawing/2014/main" id="{D5993C48-F14C-2044-846C-9FEC391300A9}"/>
                </a:ext>
              </a:extLst>
            </p:cNvPr>
            <p:cNvSpPr>
              <a:spLocks noChangeShapeType="1"/>
            </p:cNvSpPr>
            <p:nvPr/>
          </p:nvSpPr>
          <p:spPr bwMode="auto">
            <a:xfrm>
              <a:off x="7137252" y="3077914"/>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1" name="Text Box 20">
              <a:extLst>
                <a:ext uri="{FF2B5EF4-FFF2-40B4-BE49-F238E27FC236}">
                  <a16:creationId xmlns:a16="http://schemas.microsoft.com/office/drawing/2014/main" id="{E876EFCF-EFAF-7745-82C0-69510059A681}"/>
                </a:ext>
              </a:extLst>
            </p:cNvPr>
            <p:cNvSpPr txBox="1">
              <a:spLocks noChangeArrowheads="1"/>
            </p:cNvSpPr>
            <p:nvPr/>
          </p:nvSpPr>
          <p:spPr bwMode="auto">
            <a:xfrm>
              <a:off x="9451039" y="2740684"/>
              <a:ext cx="390753" cy="53072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Arial" charset="0"/>
                  <a:ea typeface="ＭＳ Ｐゴシック" charset="0"/>
                  <a:cs typeface="+mn-cs"/>
                </a:rPr>
                <a:t>X</a:t>
              </a:r>
              <a:endParaRPr kumimoji="0" lang="en-US" sz="1000" b="0" i="0" u="none" strike="noStrike" kern="1200" cap="none" spc="0" normalizeH="0" baseline="0" noProof="0">
                <a:ln>
                  <a:noFill/>
                </a:ln>
                <a:solidFill>
                  <a:srgbClr val="000000"/>
                </a:solidFill>
                <a:effectLst/>
                <a:uLnTx/>
                <a:uFillTx/>
                <a:latin typeface="Times New Roman" charset="0"/>
                <a:ea typeface="ＭＳ Ｐゴシック" charset="0"/>
                <a:cs typeface="+mn-cs"/>
              </a:endParaRPr>
            </a:p>
          </p:txBody>
        </p:sp>
        <p:sp>
          <p:nvSpPr>
            <p:cNvPr id="76" name="Text Box 40">
              <a:extLst>
                <a:ext uri="{FF2B5EF4-FFF2-40B4-BE49-F238E27FC236}">
                  <a16:creationId xmlns:a16="http://schemas.microsoft.com/office/drawing/2014/main" id="{9B99FD84-14B7-6845-8B4C-03596E083BDE}"/>
                </a:ext>
              </a:extLst>
            </p:cNvPr>
            <p:cNvSpPr txBox="1">
              <a:spLocks noChangeArrowheads="1"/>
            </p:cNvSpPr>
            <p:nvPr/>
          </p:nvSpPr>
          <p:spPr bwMode="auto">
            <a:xfrm rot="584648">
              <a:off x="7273253" y="2219051"/>
              <a:ext cx="2122193" cy="307777"/>
            </a:xfrm>
            <a:prstGeom prst="rect">
              <a:avLst/>
            </a:prstGeom>
            <a:no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98" name="Text Box 83">
              <a:extLst>
                <a:ext uri="{FF2B5EF4-FFF2-40B4-BE49-F238E27FC236}">
                  <a16:creationId xmlns:a16="http://schemas.microsoft.com/office/drawing/2014/main" id="{677E8A81-661D-AA46-A7ED-6BC634EAB244}"/>
                </a:ext>
              </a:extLst>
            </p:cNvPr>
            <p:cNvSpPr txBox="1">
              <a:spLocks noChangeArrowheads="1"/>
            </p:cNvSpPr>
            <p:nvPr/>
          </p:nvSpPr>
          <p:spPr bwMode="auto">
            <a:xfrm rot="665764">
              <a:off x="7287508" y="2545419"/>
              <a:ext cx="2313691" cy="307777"/>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8" name="Group 7">
            <a:extLst>
              <a:ext uri="{FF2B5EF4-FFF2-40B4-BE49-F238E27FC236}">
                <a16:creationId xmlns:a16="http://schemas.microsoft.com/office/drawing/2014/main" id="{13A0E61A-342C-6348-8A8F-CA25838E85CE}"/>
              </a:ext>
            </a:extLst>
          </p:cNvPr>
          <p:cNvGrpSpPr/>
          <p:nvPr/>
        </p:nvGrpSpPr>
        <p:grpSpPr>
          <a:xfrm>
            <a:off x="6842436" y="5132585"/>
            <a:ext cx="3833549" cy="696610"/>
            <a:chOff x="6842436" y="5132585"/>
            <a:chExt cx="3833549" cy="696610"/>
          </a:xfrm>
        </p:grpSpPr>
        <p:sp>
          <p:nvSpPr>
            <p:cNvPr id="72" name="Line 24">
              <a:extLst>
                <a:ext uri="{FF2B5EF4-FFF2-40B4-BE49-F238E27FC236}">
                  <a16:creationId xmlns:a16="http://schemas.microsoft.com/office/drawing/2014/main" id="{A22F562A-B278-CF40-B0A2-08D7E895698A}"/>
                </a:ext>
              </a:extLst>
            </p:cNvPr>
            <p:cNvSpPr>
              <a:spLocks noChangeShapeType="1"/>
            </p:cNvSpPr>
            <p:nvPr/>
          </p:nvSpPr>
          <p:spPr bwMode="auto">
            <a:xfrm>
              <a:off x="7172376" y="5143678"/>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99" name="Rectangle 85">
              <a:extLst>
                <a:ext uri="{FF2B5EF4-FFF2-40B4-BE49-F238E27FC236}">
                  <a16:creationId xmlns:a16="http://schemas.microsoft.com/office/drawing/2014/main" id="{C18ABD18-73AE-1540-89A2-73F2330E4BCD}"/>
                </a:ext>
              </a:extLst>
            </p:cNvPr>
            <p:cNvSpPr>
              <a:spLocks noChangeArrowheads="1"/>
            </p:cNvSpPr>
            <p:nvPr/>
          </p:nvSpPr>
          <p:spPr bwMode="auto">
            <a:xfrm>
              <a:off x="7408171" y="5224724"/>
              <a:ext cx="1047131" cy="26167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00" name="Text Box 86">
              <a:extLst>
                <a:ext uri="{FF2B5EF4-FFF2-40B4-BE49-F238E27FC236}">
                  <a16:creationId xmlns:a16="http://schemas.microsoft.com/office/drawing/2014/main" id="{DDF60828-DFE2-734F-A384-4D3CA07DDADD}"/>
                </a:ext>
              </a:extLst>
            </p:cNvPr>
            <p:cNvSpPr txBox="1">
              <a:spLocks noChangeArrowheads="1"/>
            </p:cNvSpPr>
            <p:nvPr/>
          </p:nvSpPr>
          <p:spPr bwMode="auto">
            <a:xfrm>
              <a:off x="6842436" y="5132585"/>
              <a:ext cx="3154565" cy="35381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101" name="Group 93">
            <a:extLst>
              <a:ext uri="{FF2B5EF4-FFF2-40B4-BE49-F238E27FC236}">
                <a16:creationId xmlns:a16="http://schemas.microsoft.com/office/drawing/2014/main" id="{90980625-BCFD-F546-BD95-6CC80FC48859}"/>
              </a:ext>
            </a:extLst>
          </p:cNvPr>
          <p:cNvGrpSpPr>
            <a:grpSpLocks/>
          </p:cNvGrpSpPr>
          <p:nvPr/>
        </p:nvGrpSpPr>
        <p:grpSpPr bwMode="auto">
          <a:xfrm>
            <a:off x="6608198" y="1343690"/>
            <a:ext cx="810044" cy="619176"/>
            <a:chOff x="-44" y="1473"/>
            <a:chExt cx="981" cy="1105"/>
          </a:xfrm>
        </p:grpSpPr>
        <p:pic>
          <p:nvPicPr>
            <p:cNvPr id="102" name="Picture 94" descr="desktop_computer_stylized_medium">
              <a:extLst>
                <a:ext uri="{FF2B5EF4-FFF2-40B4-BE49-F238E27FC236}">
                  <a16:creationId xmlns:a16="http://schemas.microsoft.com/office/drawing/2014/main"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95">
              <a:extLst>
                <a:ext uri="{FF2B5EF4-FFF2-40B4-BE49-F238E27FC236}">
                  <a16:creationId xmlns:a16="http://schemas.microsoft.com/office/drawing/2014/main"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4" name="Group 96">
            <a:extLst>
              <a:ext uri="{FF2B5EF4-FFF2-40B4-BE49-F238E27FC236}">
                <a16:creationId xmlns:a16="http://schemas.microsoft.com/office/drawing/2014/main" id="{30D13886-717C-5C49-84EB-DD7C28AC75E9}"/>
              </a:ext>
            </a:extLst>
          </p:cNvPr>
          <p:cNvGrpSpPr>
            <a:grpSpLocks/>
          </p:cNvGrpSpPr>
          <p:nvPr/>
        </p:nvGrpSpPr>
        <p:grpSpPr bwMode="auto">
          <a:xfrm flipH="1">
            <a:off x="10328620" y="1375018"/>
            <a:ext cx="749093" cy="672617"/>
            <a:chOff x="-44" y="1473"/>
            <a:chExt cx="981" cy="1105"/>
          </a:xfrm>
        </p:grpSpPr>
        <p:pic>
          <p:nvPicPr>
            <p:cNvPr id="105" name="Picture 97" descr="desktop_computer_stylized_medium">
              <a:extLst>
                <a:ext uri="{FF2B5EF4-FFF2-40B4-BE49-F238E27FC236}">
                  <a16:creationId xmlns:a16="http://schemas.microsoft.com/office/drawing/2014/main" id="{5EB3C43B-1013-9A41-8AA9-8D6C5A281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98">
              <a:extLst>
                <a:ext uri="{FF2B5EF4-FFF2-40B4-BE49-F238E27FC236}">
                  <a16:creationId xmlns:a16="http://schemas.microsoft.com/office/drawing/2014/main"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id="{96BABFE7-C970-8E4B-A16C-A7D788B9DA23}"/>
              </a:ext>
            </a:extLst>
          </p:cNvPr>
          <p:cNvGrpSpPr/>
          <p:nvPr/>
        </p:nvGrpSpPr>
        <p:grpSpPr>
          <a:xfrm>
            <a:off x="1803400" y="4591050"/>
            <a:ext cx="5319534" cy="1606314"/>
            <a:chOff x="1803400" y="4591050"/>
            <a:chExt cx="5319534" cy="1606314"/>
          </a:xfrm>
        </p:grpSpPr>
        <p:pic>
          <p:nvPicPr>
            <p:cNvPr id="52" name="Picture 2" descr="Image result for light bulb icon">
              <a:extLst>
                <a:ext uri="{FF2B5EF4-FFF2-40B4-BE49-F238E27FC236}">
                  <a16:creationId xmlns:a16="http://schemas.microsoft.com/office/drawing/2014/main" id="{F30DA35F-A671-6D4D-9DD4-D0D5E13E1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400" y="4591050"/>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3" name="Text Box 29">
              <a:extLst>
                <a:ext uri="{FF2B5EF4-FFF2-40B4-BE49-F238E27FC236}">
                  <a16:creationId xmlns:a16="http://schemas.microsoft.com/office/drawing/2014/main" id="{34AAC8DC-F059-7445-99BF-80AECC3E6614}"/>
                </a:ext>
              </a:extLst>
            </p:cNvPr>
            <p:cNvSpPr txBox="1">
              <a:spLocks noChangeArrowheads="1"/>
            </p:cNvSpPr>
            <p:nvPr/>
          </p:nvSpPr>
          <p:spPr bwMode="auto">
            <a:xfrm>
              <a:off x="2235200" y="4775436"/>
              <a:ext cx="4145527" cy="142192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a:ea typeface="ＭＳ Ｐゴシック" charset="0"/>
                  <a:cs typeface="+mn-cs"/>
                </a:rPr>
                <a:t>Receipt of three duplicate ACKs indicates 3 segments received after a missing segment – lost segment is likely. So retransmit!</a:t>
              </a:r>
              <a:endParaRPr kumimoji="0" lang="en-US" sz="11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cxnSp>
          <p:nvCxnSpPr>
            <p:cNvPr id="6" name="Straight Connector 5">
              <a:extLst>
                <a:ext uri="{FF2B5EF4-FFF2-40B4-BE49-F238E27FC236}">
                  <a16:creationId xmlns:a16="http://schemas.microsoft.com/office/drawing/2014/main" id="{CD551B68-D8DE-9043-B6CA-9F2F28DD2CA6}"/>
                </a:ext>
              </a:extLst>
            </p:cNvPr>
            <p:cNvCxnSpPr>
              <a:cxnSpLocks/>
            </p:cNvCxnSpPr>
            <p:nvPr/>
          </p:nvCxnSpPr>
          <p:spPr>
            <a:xfrm>
              <a:off x="6359939" y="5143678"/>
              <a:ext cx="762995"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34962C80-D280-E449-81BD-84D3E53124DD}"/>
              </a:ext>
            </a:extLst>
          </p:cNvPr>
          <p:cNvGrpSpPr/>
          <p:nvPr/>
        </p:nvGrpSpPr>
        <p:grpSpPr>
          <a:xfrm>
            <a:off x="790711" y="1227535"/>
            <a:ext cx="5214977" cy="2878929"/>
            <a:chOff x="7089911" y="1681505"/>
            <a:chExt cx="5214977" cy="2878929"/>
          </a:xfrm>
        </p:grpSpPr>
        <p:sp>
          <p:nvSpPr>
            <p:cNvPr id="58" name="Rectangle 5">
              <a:extLst>
                <a:ext uri="{FF2B5EF4-FFF2-40B4-BE49-F238E27FC236}">
                  <a16:creationId xmlns:a16="http://schemas.microsoft.com/office/drawing/2014/main" id="{F5C10379-FA54-C34D-B355-F07F5DA409A8}"/>
                </a:ext>
              </a:extLst>
            </p:cNvPr>
            <p:cNvSpPr>
              <a:spLocks noChangeArrowheads="1"/>
            </p:cNvSpPr>
            <p:nvPr/>
          </p:nvSpPr>
          <p:spPr bwMode="auto">
            <a:xfrm>
              <a:off x="7360355" y="2207758"/>
              <a:ext cx="4809067" cy="226377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463550" indent="-23812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sender receives 3 additional ACKs for same data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triple duplicate ACKs”),</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resend </a:t>
              </a:r>
              <a:r>
                <a:rPr kumimoji="0" lang="en-US" altLang="ja-JP"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segment with smallest seq #</a:t>
              </a:r>
            </a:p>
            <a:p>
              <a:pPr marL="463550" marR="0" lvl="1" indent="-23812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likely that </a:t>
              </a:r>
              <a:r>
                <a:rPr kumimoji="0" lang="en-US" altLang="en-US" sz="24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segment lost, so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wait for timeout</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9" name="Rectangle 6">
              <a:extLst>
                <a:ext uri="{FF2B5EF4-FFF2-40B4-BE49-F238E27FC236}">
                  <a16:creationId xmlns:a16="http://schemas.microsoft.com/office/drawing/2014/main" id="{8A365B45-4FD3-5C46-85AD-12CD5EA2110A}"/>
                </a:ext>
              </a:extLst>
            </p:cNvPr>
            <p:cNvSpPr>
              <a:spLocks noChangeArrowheads="1"/>
            </p:cNvSpPr>
            <p:nvPr/>
          </p:nvSpPr>
          <p:spPr bwMode="auto">
            <a:xfrm>
              <a:off x="7089911" y="1910106"/>
              <a:ext cx="5214977" cy="2650328"/>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7" name="Text Box 7">
              <a:extLst>
                <a:ext uri="{FF2B5EF4-FFF2-40B4-BE49-F238E27FC236}">
                  <a16:creationId xmlns:a16="http://schemas.microsoft.com/office/drawing/2014/main" id="{F5EE31CA-1C9B-9E4F-8E15-A0B0919A3B54}"/>
                </a:ext>
              </a:extLst>
            </p:cNvPr>
            <p:cNvSpPr txBox="1">
              <a:spLocks noChangeArrowheads="1"/>
            </p:cNvSpPr>
            <p:nvPr/>
          </p:nvSpPr>
          <p:spPr bwMode="auto">
            <a:xfrm>
              <a:off x="7348953" y="1681505"/>
              <a:ext cx="2773363" cy="4572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srgbClr val="CC0000"/>
                  </a:solidFill>
                  <a:effectLst/>
                  <a:uLnTx/>
                  <a:uFillTx/>
                  <a:latin typeface="Tahoma" charset="0"/>
                  <a:ea typeface="ＭＳ Ｐゴシック" charset="0"/>
                  <a:cs typeface="+mn-cs"/>
                </a:rPr>
                <a:t>TCP fast retransmit</a:t>
              </a:r>
            </a:p>
          </p:txBody>
        </p:sp>
      </p:grpSp>
      <p:sp>
        <p:nvSpPr>
          <p:cNvPr id="53" name="Slide Number Placeholder 2">
            <a:extLst>
              <a:ext uri="{FF2B5EF4-FFF2-40B4-BE49-F238E27FC236}">
                <a16:creationId xmlns:a16="http://schemas.microsoft.com/office/drawing/2014/main" id="{16A9B416-8E8B-FD4A-BF46-FBBC16EEB4F4}"/>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27</a:t>
            </a:fld>
            <a:endParaRPr lang="en-US" dirty="0"/>
          </a:p>
        </p:txBody>
      </p:sp>
    </p:spTree>
    <p:extLst>
      <p:ext uri="{BB962C8B-B14F-4D97-AF65-F5344CB8AC3E}">
        <p14:creationId xmlns:p14="http://schemas.microsoft.com/office/powerpoint/2010/main" val="119661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Receiver: ACK generation </a:t>
            </a:r>
            <a:r>
              <a:rPr lang="en-US" sz="2400" b="0" dirty="0"/>
              <a:t>[RFC 5681]</a:t>
            </a:r>
            <a:endParaRPr lang="en-US" sz="4400" b="0" dirty="0"/>
          </a:p>
        </p:txBody>
      </p:sp>
      <p:sp>
        <p:nvSpPr>
          <p:cNvPr id="43" name="Text Box 3">
            <a:extLst>
              <a:ext uri="{FF2B5EF4-FFF2-40B4-BE49-F238E27FC236}">
                <a16:creationId xmlns:a16="http://schemas.microsoft.com/office/drawing/2014/main" id="{0C54E9E4-D2A0-C64E-B652-DCC0E63DDD71}"/>
              </a:ext>
            </a:extLst>
          </p:cNvPr>
          <p:cNvSpPr txBox="1">
            <a:spLocks noChangeArrowheads="1"/>
          </p:cNvSpPr>
          <p:nvPr/>
        </p:nvSpPr>
        <p:spPr bwMode="auto">
          <a:xfrm>
            <a:off x="2143953" y="1439289"/>
            <a:ext cx="3496406" cy="50644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Event at receiver</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in-order segment with</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All data up to</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already </a:t>
            </a:r>
            <a:r>
              <a:rPr kumimoji="0" lang="en-US" sz="2000" b="0" i="0"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ACKed</a:t>
            </a: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in-order segment with</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One other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segment has ACK pending</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out-of-order segment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higher-than-expect seq. #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Gap detected</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segment that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partially or completely fills gap</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4" name="Text Box 4">
            <a:extLst>
              <a:ext uri="{FF2B5EF4-FFF2-40B4-BE49-F238E27FC236}">
                <a16:creationId xmlns:a16="http://schemas.microsoft.com/office/drawing/2014/main" id="{7D1A8937-7497-E947-B481-036DB6905786}"/>
              </a:ext>
            </a:extLst>
          </p:cNvPr>
          <p:cNvSpPr txBox="1">
            <a:spLocks noChangeArrowheads="1"/>
          </p:cNvSpPr>
          <p:nvPr/>
        </p:nvSpPr>
        <p:spPr bwMode="auto">
          <a:xfrm>
            <a:off x="5906328" y="1429764"/>
            <a:ext cx="4189545" cy="50644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TCP receiver action</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delayed ACK. Wait up to 500ms</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for next segment. If no next segment,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 ACK</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immediately send single cumulative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ACK, </a:t>
            </a:r>
            <a:r>
              <a:rPr kumimoji="0" lang="en-US" sz="2000" b="0" i="0"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ACKing</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both in-order segments </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immediately send </a:t>
            </a:r>
            <a:r>
              <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duplicate ACK</a:t>
            </a:r>
            <a:r>
              <a:rPr kumimoji="0" lang="en-US" sz="20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indicating seq. # of next expected byte</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 send ACK, provided that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segment starts at lower end of gap</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5" name="Line 9">
            <a:extLst>
              <a:ext uri="{FF2B5EF4-FFF2-40B4-BE49-F238E27FC236}">
                <a16:creationId xmlns:a16="http://schemas.microsoft.com/office/drawing/2014/main" id="{B5C333E2-4347-8B41-A67B-31280E7B23CD}"/>
              </a:ext>
            </a:extLst>
          </p:cNvPr>
          <p:cNvSpPr>
            <a:spLocks noChangeShapeType="1"/>
          </p:cNvSpPr>
          <p:nvPr/>
        </p:nvSpPr>
        <p:spPr bwMode="auto">
          <a:xfrm>
            <a:off x="5715828" y="1590101"/>
            <a:ext cx="0" cy="4352925"/>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6" name="Line 11">
            <a:extLst>
              <a:ext uri="{FF2B5EF4-FFF2-40B4-BE49-F238E27FC236}">
                <a16:creationId xmlns:a16="http://schemas.microsoft.com/office/drawing/2014/main" id="{A3C87D27-55A1-0740-A388-14FABFDCAECD}"/>
              </a:ext>
            </a:extLst>
          </p:cNvPr>
          <p:cNvSpPr>
            <a:spLocks noChangeShapeType="1"/>
          </p:cNvSpPr>
          <p:nvPr/>
        </p:nvSpPr>
        <p:spPr bwMode="auto">
          <a:xfrm>
            <a:off x="2159828" y="2029839"/>
            <a:ext cx="7494588"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7" name="Line 12">
            <a:extLst>
              <a:ext uri="{FF2B5EF4-FFF2-40B4-BE49-F238E27FC236}">
                <a16:creationId xmlns:a16="http://schemas.microsoft.com/office/drawing/2014/main" id="{BAEE28BF-45B4-7B4F-8643-BEFCF1817DB3}"/>
              </a:ext>
            </a:extLst>
          </p:cNvPr>
          <p:cNvSpPr>
            <a:spLocks noChangeShapeType="1"/>
          </p:cNvSpPr>
          <p:nvPr/>
        </p:nvSpPr>
        <p:spPr bwMode="auto">
          <a:xfrm>
            <a:off x="2143953" y="3083939"/>
            <a:ext cx="7494588"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8" name="Line 13">
            <a:extLst>
              <a:ext uri="{FF2B5EF4-FFF2-40B4-BE49-F238E27FC236}">
                <a16:creationId xmlns:a16="http://schemas.microsoft.com/office/drawing/2014/main" id="{497F621D-E3C3-D549-BCDE-B1C658BA2FF8}"/>
              </a:ext>
            </a:extLst>
          </p:cNvPr>
          <p:cNvSpPr>
            <a:spLocks noChangeShapeType="1"/>
          </p:cNvSpPr>
          <p:nvPr/>
        </p:nvSpPr>
        <p:spPr bwMode="auto">
          <a:xfrm>
            <a:off x="2161416" y="4182489"/>
            <a:ext cx="7494587"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9" name="Line 14">
            <a:extLst>
              <a:ext uri="{FF2B5EF4-FFF2-40B4-BE49-F238E27FC236}">
                <a16:creationId xmlns:a16="http://schemas.microsoft.com/office/drawing/2014/main" id="{B5CA7B9A-CEFE-9440-989C-72777EDC3F97}"/>
              </a:ext>
            </a:extLst>
          </p:cNvPr>
          <p:cNvSpPr>
            <a:spLocks noChangeShapeType="1"/>
          </p:cNvSpPr>
          <p:nvPr/>
        </p:nvSpPr>
        <p:spPr bwMode="auto">
          <a:xfrm>
            <a:off x="2155066" y="5271514"/>
            <a:ext cx="7494587"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 name="Rectangle 3">
            <a:extLst>
              <a:ext uri="{FF2B5EF4-FFF2-40B4-BE49-F238E27FC236}">
                <a16:creationId xmlns:a16="http://schemas.microsoft.com/office/drawing/2014/main" id="{446007AE-16BF-5641-9533-FDFCED5467B7}"/>
              </a:ext>
            </a:extLst>
          </p:cNvPr>
          <p:cNvSpPr/>
          <p:nvPr/>
        </p:nvSpPr>
        <p:spPr>
          <a:xfrm>
            <a:off x="2141951" y="2079321"/>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4788DE70-9425-C941-B687-5CDA29AFB818}"/>
              </a:ext>
            </a:extLst>
          </p:cNvPr>
          <p:cNvSpPr/>
          <p:nvPr/>
        </p:nvSpPr>
        <p:spPr>
          <a:xfrm>
            <a:off x="2097693" y="3158647"/>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A265DF2-3FEE-3D4C-9E18-1D8A86817D23}"/>
              </a:ext>
            </a:extLst>
          </p:cNvPr>
          <p:cNvSpPr/>
          <p:nvPr/>
        </p:nvSpPr>
        <p:spPr>
          <a:xfrm>
            <a:off x="2196231" y="4237973"/>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03861685-9E67-3541-901D-AC152EC9F9C7}"/>
              </a:ext>
            </a:extLst>
          </p:cNvPr>
          <p:cNvSpPr/>
          <p:nvPr/>
        </p:nvSpPr>
        <p:spPr>
          <a:xfrm>
            <a:off x="2215855" y="5340264"/>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Slide Number Placeholder 2">
            <a:extLst>
              <a:ext uri="{FF2B5EF4-FFF2-40B4-BE49-F238E27FC236}">
                <a16:creationId xmlns:a16="http://schemas.microsoft.com/office/drawing/2014/main" id="{340791B0-4154-D14E-9DBD-0157764BBAE9}"/>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28</a:t>
            </a:fld>
            <a:endParaRPr lang="en-US" dirty="0"/>
          </a:p>
        </p:txBody>
      </p:sp>
    </p:spTree>
    <p:extLst>
      <p:ext uri="{BB962C8B-B14F-4D97-AF65-F5344CB8AC3E}">
        <p14:creationId xmlns:p14="http://schemas.microsoft.com/office/powerpoint/2010/main" val="1771317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4859F-C2A3-F4C0-2B73-6AD6071F8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3F0A69-04AA-1D15-1CF2-02E9F0DDE9E1}"/>
              </a:ext>
            </a:extLst>
          </p:cNvPr>
          <p:cNvSpPr>
            <a:spLocks noGrp="1"/>
          </p:cNvSpPr>
          <p:nvPr>
            <p:ph type="title"/>
          </p:nvPr>
        </p:nvSpPr>
        <p:spPr>
          <a:xfrm>
            <a:off x="798690" y="289325"/>
            <a:ext cx="11393310" cy="894622"/>
          </a:xfrm>
        </p:spPr>
        <p:txBody>
          <a:bodyPr>
            <a:normAutofit/>
          </a:bodyPr>
          <a:lstStyle/>
          <a:p>
            <a:r>
              <a:rPr lang="en-US" sz="4800" dirty="0"/>
              <a:t>TCP Receiver: ACK generation </a:t>
            </a:r>
            <a:r>
              <a:rPr lang="en-US" sz="2400" b="0" dirty="0"/>
              <a:t>[RFC 5681]</a:t>
            </a:r>
            <a:endParaRPr lang="en-US" sz="4400" b="0" dirty="0"/>
          </a:p>
        </p:txBody>
      </p:sp>
      <p:sp>
        <p:nvSpPr>
          <p:cNvPr id="43" name="Text Box 3">
            <a:extLst>
              <a:ext uri="{FF2B5EF4-FFF2-40B4-BE49-F238E27FC236}">
                <a16:creationId xmlns:a16="http://schemas.microsoft.com/office/drawing/2014/main" id="{892A90F5-8A17-8295-9491-98DA99493FC6}"/>
              </a:ext>
            </a:extLst>
          </p:cNvPr>
          <p:cNvSpPr txBox="1">
            <a:spLocks noChangeArrowheads="1"/>
          </p:cNvSpPr>
          <p:nvPr/>
        </p:nvSpPr>
        <p:spPr bwMode="auto">
          <a:xfrm>
            <a:off x="2143953" y="1439289"/>
            <a:ext cx="3496406" cy="50644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Event at receiver</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in-order segment with</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All data up to</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already </a:t>
            </a:r>
            <a:r>
              <a:rPr kumimoji="0" lang="en-US" sz="2000" b="0" i="0"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ACKed</a:t>
            </a: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in-order segment with</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One other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segment has ACK pending</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out-of-order segment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higher-than-expect seq. #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Gap detected</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segment that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partially or completely fills gap</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4" name="Text Box 4">
            <a:extLst>
              <a:ext uri="{FF2B5EF4-FFF2-40B4-BE49-F238E27FC236}">
                <a16:creationId xmlns:a16="http://schemas.microsoft.com/office/drawing/2014/main" id="{E5B259EF-2612-DFF7-D6A2-CC478423186E}"/>
              </a:ext>
            </a:extLst>
          </p:cNvPr>
          <p:cNvSpPr txBox="1">
            <a:spLocks noChangeArrowheads="1"/>
          </p:cNvSpPr>
          <p:nvPr/>
        </p:nvSpPr>
        <p:spPr bwMode="auto">
          <a:xfrm>
            <a:off x="5906328" y="1429764"/>
            <a:ext cx="4189545" cy="50644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TCP receiver action</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delayed ACK. Wait up to 500ms</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for next segment. If no next segment,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 ACK</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immediately send single cumulative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ACK, </a:t>
            </a:r>
            <a:r>
              <a:rPr kumimoji="0" lang="en-US" sz="2000" b="0" i="0"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ACKing</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both in-order segments </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immediately send </a:t>
            </a:r>
            <a:r>
              <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duplicate ACK</a:t>
            </a:r>
            <a:r>
              <a:rPr kumimoji="0" lang="en-US" sz="20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indicating seq. # of next expected byte</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 send ACK, provided that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segment starts at lower end of gap</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5" name="Line 9">
            <a:extLst>
              <a:ext uri="{FF2B5EF4-FFF2-40B4-BE49-F238E27FC236}">
                <a16:creationId xmlns:a16="http://schemas.microsoft.com/office/drawing/2014/main" id="{1D6D7190-41F4-56DC-48D7-62C188FB58C1}"/>
              </a:ext>
            </a:extLst>
          </p:cNvPr>
          <p:cNvSpPr>
            <a:spLocks noChangeShapeType="1"/>
          </p:cNvSpPr>
          <p:nvPr/>
        </p:nvSpPr>
        <p:spPr bwMode="auto">
          <a:xfrm>
            <a:off x="5715828" y="1590101"/>
            <a:ext cx="0" cy="4352925"/>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6" name="Line 11">
            <a:extLst>
              <a:ext uri="{FF2B5EF4-FFF2-40B4-BE49-F238E27FC236}">
                <a16:creationId xmlns:a16="http://schemas.microsoft.com/office/drawing/2014/main" id="{C8EA64E3-A327-77EB-3B09-97F152FA01FF}"/>
              </a:ext>
            </a:extLst>
          </p:cNvPr>
          <p:cNvSpPr>
            <a:spLocks noChangeShapeType="1"/>
          </p:cNvSpPr>
          <p:nvPr/>
        </p:nvSpPr>
        <p:spPr bwMode="auto">
          <a:xfrm>
            <a:off x="2159828" y="2029839"/>
            <a:ext cx="7494588"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7" name="Line 12">
            <a:extLst>
              <a:ext uri="{FF2B5EF4-FFF2-40B4-BE49-F238E27FC236}">
                <a16:creationId xmlns:a16="http://schemas.microsoft.com/office/drawing/2014/main" id="{D1C8F264-27F8-90CE-D9FF-D5780AE4A092}"/>
              </a:ext>
            </a:extLst>
          </p:cNvPr>
          <p:cNvSpPr>
            <a:spLocks noChangeShapeType="1"/>
          </p:cNvSpPr>
          <p:nvPr/>
        </p:nvSpPr>
        <p:spPr bwMode="auto">
          <a:xfrm>
            <a:off x="2143953" y="3083939"/>
            <a:ext cx="7494588"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8" name="Line 13">
            <a:extLst>
              <a:ext uri="{FF2B5EF4-FFF2-40B4-BE49-F238E27FC236}">
                <a16:creationId xmlns:a16="http://schemas.microsoft.com/office/drawing/2014/main" id="{7B3F19BE-C122-DC7B-3BFD-448E27012BDC}"/>
              </a:ext>
            </a:extLst>
          </p:cNvPr>
          <p:cNvSpPr>
            <a:spLocks noChangeShapeType="1"/>
          </p:cNvSpPr>
          <p:nvPr/>
        </p:nvSpPr>
        <p:spPr bwMode="auto">
          <a:xfrm>
            <a:off x="2161416" y="4182489"/>
            <a:ext cx="7494587"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9" name="Line 14">
            <a:extLst>
              <a:ext uri="{FF2B5EF4-FFF2-40B4-BE49-F238E27FC236}">
                <a16:creationId xmlns:a16="http://schemas.microsoft.com/office/drawing/2014/main" id="{6B299849-989A-1A82-2A8B-3C28C9B28903}"/>
              </a:ext>
            </a:extLst>
          </p:cNvPr>
          <p:cNvSpPr>
            <a:spLocks noChangeShapeType="1"/>
          </p:cNvSpPr>
          <p:nvPr/>
        </p:nvSpPr>
        <p:spPr bwMode="auto">
          <a:xfrm>
            <a:off x="2155066" y="5271514"/>
            <a:ext cx="7494587"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 name="Rectangle 3">
            <a:extLst>
              <a:ext uri="{FF2B5EF4-FFF2-40B4-BE49-F238E27FC236}">
                <a16:creationId xmlns:a16="http://schemas.microsoft.com/office/drawing/2014/main" id="{F99BBDB9-5F2D-26B7-341C-A83A764E37A1}"/>
              </a:ext>
            </a:extLst>
          </p:cNvPr>
          <p:cNvSpPr/>
          <p:nvPr/>
        </p:nvSpPr>
        <p:spPr>
          <a:xfrm>
            <a:off x="-5836788" y="2079321"/>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EED22160-49F7-7735-D112-E02243EB6ECA}"/>
              </a:ext>
            </a:extLst>
          </p:cNvPr>
          <p:cNvSpPr/>
          <p:nvPr/>
        </p:nvSpPr>
        <p:spPr>
          <a:xfrm>
            <a:off x="10929501" y="3158647"/>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A26C4BBE-5EB6-54F8-3608-C92F584EFE30}"/>
              </a:ext>
            </a:extLst>
          </p:cNvPr>
          <p:cNvSpPr/>
          <p:nvPr/>
        </p:nvSpPr>
        <p:spPr>
          <a:xfrm>
            <a:off x="-5854665" y="4237973"/>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50718A14-E623-35B3-0B66-E27548BBF43A}"/>
              </a:ext>
            </a:extLst>
          </p:cNvPr>
          <p:cNvSpPr/>
          <p:nvPr/>
        </p:nvSpPr>
        <p:spPr>
          <a:xfrm>
            <a:off x="11169583" y="5340264"/>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Slide Number Placeholder 2">
            <a:extLst>
              <a:ext uri="{FF2B5EF4-FFF2-40B4-BE49-F238E27FC236}">
                <a16:creationId xmlns:a16="http://schemas.microsoft.com/office/drawing/2014/main" id="{8628729F-0194-87F1-8DE2-4C58CFDED7FB}"/>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29</a:t>
            </a:fld>
            <a:endParaRPr lang="en-US" dirty="0"/>
          </a:p>
        </p:txBody>
      </p:sp>
    </p:spTree>
    <p:extLst>
      <p:ext uri="{BB962C8B-B14F-4D97-AF65-F5344CB8AC3E}">
        <p14:creationId xmlns:p14="http://schemas.microsoft.com/office/powerpoint/2010/main" val="1094626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flow control</a:t>
            </a:r>
            <a:endParaRPr lang="en-US" sz="4400" b="0" dirty="0"/>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7848422" y="1084921"/>
            <a:ext cx="2524125" cy="3854450"/>
          </a:xfrm>
          <a:prstGeom prst="rect">
            <a:avLst/>
          </a:prstGeom>
          <a:solidFill>
            <a:srgbClr val="0000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10289997" y="1078571"/>
            <a:ext cx="581025" cy="42068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7762697" y="1186521"/>
            <a:ext cx="2533650" cy="3814762"/>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8302447" y="1243671"/>
            <a:ext cx="137795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8070672" y="2312058"/>
            <a:ext cx="1795463" cy="688975"/>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35" y="2368"/>
              <a:ext cx="995"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TCP socket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8238947" y="3335996"/>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8745360" y="336483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TCP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8246885" y="4321833"/>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8731699" y="435497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7756347" y="4071008"/>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7769047" y="2219983"/>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8745360" y="2104096"/>
            <a:ext cx="533400" cy="206375"/>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7549972" y="5823520"/>
            <a:ext cx="2714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8790777" y="5419835"/>
            <a:ext cx="0" cy="34925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10285235" y="4996521"/>
            <a:ext cx="0" cy="463550"/>
          </a:xfrm>
          <a:prstGeom prst="line">
            <a:avLst/>
          </a:prstGeom>
          <a:noFill/>
          <a:ln w="19050">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10523360" y="4590121"/>
            <a:ext cx="869950" cy="906462"/>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712555" y="1437021"/>
            <a:ext cx="3850826"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sng"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What happens if network layer delivers data faster than application layer removes data from socket buffers?</a:t>
            </a:r>
          </a:p>
        </p:txBody>
      </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7764475" y="5006696"/>
            <a:ext cx="0" cy="463550"/>
          </a:xfrm>
          <a:prstGeom prst="line">
            <a:avLst/>
          </a:prstGeom>
          <a:noFill/>
          <a:ln w="1905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2" name="Group 11">
            <a:extLst>
              <a:ext uri="{FF2B5EF4-FFF2-40B4-BE49-F238E27FC236}">
                <a16:creationId xmlns:a16="http://schemas.microsoft.com/office/drawing/2014/main" id="{C820FA96-992D-4547-BB82-D80AD6340B76}"/>
              </a:ext>
            </a:extLst>
          </p:cNvPr>
          <p:cNvGrpSpPr/>
          <p:nvPr/>
        </p:nvGrpSpPr>
        <p:grpSpPr>
          <a:xfrm>
            <a:off x="5189688" y="2806352"/>
            <a:ext cx="4533734" cy="2971623"/>
            <a:chOff x="5189688" y="2806352"/>
            <a:chExt cx="4533734" cy="2971623"/>
          </a:xfrm>
        </p:grpSpPr>
        <p:grpSp>
          <p:nvGrpSpPr>
            <p:cNvPr id="7" name="Group 6">
              <a:extLst>
                <a:ext uri="{FF2B5EF4-FFF2-40B4-BE49-F238E27FC236}">
                  <a16:creationId xmlns:a16="http://schemas.microsoft.com/office/drawing/2014/main" id="{90136498-1DCA-8245-9AEB-79D923D0965C}"/>
                </a:ext>
              </a:extLst>
            </p:cNvPr>
            <p:cNvGrpSpPr/>
            <p:nvPr/>
          </p:nvGrpSpPr>
          <p:grpSpPr>
            <a:xfrm>
              <a:off x="5189688" y="3080408"/>
              <a:ext cx="3750934" cy="2697567"/>
              <a:chOff x="4633274" y="3577949"/>
              <a:chExt cx="3750934" cy="2697567"/>
            </a:xfrm>
          </p:grpSpPr>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7655546" y="4619349"/>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7344839" y="5551212"/>
                <a:ext cx="1039369" cy="214398"/>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7647608" y="3577949"/>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7" name="Text Box 106">
                <a:extLst>
                  <a:ext uri="{FF2B5EF4-FFF2-40B4-BE49-F238E27FC236}">
                    <a16:creationId xmlns:a16="http://schemas.microsoft.com/office/drawing/2014/main" id="{60423099-6913-6449-94EA-C3C8BD4E23A1}"/>
                  </a:ext>
                </a:extLst>
              </p:cNvPr>
              <p:cNvSpPr txBox="1">
                <a:spLocks noChangeArrowheads="1"/>
              </p:cNvSpPr>
              <p:nvPr/>
            </p:nvSpPr>
            <p:spPr bwMode="auto">
              <a:xfrm>
                <a:off x="4633274" y="4192806"/>
                <a:ext cx="2332549" cy="10895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Network layer delivering IP datagram payload into TCP socket buffers</a:t>
                </a:r>
              </a:p>
            </p:txBody>
          </p:sp>
          <p:sp>
            <p:nvSpPr>
              <p:cNvPr id="168" name="Line 108">
                <a:extLst>
                  <a:ext uri="{FF2B5EF4-FFF2-40B4-BE49-F238E27FC236}">
                    <a16:creationId xmlns:a16="http://schemas.microsoft.com/office/drawing/2014/main" id="{526C2D0A-E0A9-564E-8CDF-3A8B49E5D882}"/>
                  </a:ext>
                </a:extLst>
              </p:cNvPr>
              <p:cNvSpPr>
                <a:spLocks noChangeShapeType="1"/>
              </p:cNvSpPr>
              <p:nvPr/>
            </p:nvSpPr>
            <p:spPr bwMode="auto">
              <a:xfrm>
                <a:off x="6906339" y="4724124"/>
                <a:ext cx="522908" cy="0"/>
              </a:xfrm>
              <a:prstGeom prst="line">
                <a:avLst/>
              </a:prstGeom>
              <a:noFill/>
              <a:ln w="1905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7074521" y="5970716"/>
                <a:ext cx="11334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from sender</a:t>
                </a:r>
              </a:p>
            </p:txBody>
          </p:sp>
        </p:grpSp>
        <p:sp>
          <p:nvSpPr>
            <p:cNvPr id="6" name="Curved Down Arrow 5">
              <a:extLst>
                <a:ext uri="{FF2B5EF4-FFF2-40B4-BE49-F238E27FC236}">
                  <a16:creationId xmlns:a16="http://schemas.microsoft.com/office/drawing/2014/main" id="{1FE7EE57-FED3-864B-8F06-9CC2C77BF0DE}"/>
                </a:ext>
              </a:extLst>
            </p:cNvPr>
            <p:cNvSpPr/>
            <p:nvPr/>
          </p:nvSpPr>
          <p:spPr>
            <a:xfrm>
              <a:off x="8312727" y="2806352"/>
              <a:ext cx="1410695" cy="271814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3" name="Group 12">
            <a:extLst>
              <a:ext uri="{FF2B5EF4-FFF2-40B4-BE49-F238E27FC236}">
                <a16:creationId xmlns:a16="http://schemas.microsoft.com/office/drawing/2014/main" id="{061072C8-D06D-0540-97C3-C1DE8C5A0444}"/>
              </a:ext>
            </a:extLst>
          </p:cNvPr>
          <p:cNvGrpSpPr/>
          <p:nvPr/>
        </p:nvGrpSpPr>
        <p:grpSpPr>
          <a:xfrm>
            <a:off x="4989152" y="1607125"/>
            <a:ext cx="4984933" cy="885919"/>
            <a:chOff x="4989152" y="1607125"/>
            <a:chExt cx="4984933" cy="885919"/>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40230"/>
              <a:chOff x="4432738" y="2150355"/>
              <a:chExt cx="4984933" cy="840230"/>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1" cy="840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8" name="Slide Number Placeholder 2">
            <a:extLst>
              <a:ext uri="{FF2B5EF4-FFF2-40B4-BE49-F238E27FC236}">
                <a16:creationId xmlns:a16="http://schemas.microsoft.com/office/drawing/2014/main" id="{70507C61-599D-8346-AECE-C0A356026EDC}"/>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30</a:t>
            </a:fld>
            <a:endParaRPr lang="en-US" dirty="0"/>
          </a:p>
        </p:txBody>
      </p:sp>
    </p:spTree>
    <p:extLst>
      <p:ext uri="{BB962C8B-B14F-4D97-AF65-F5344CB8AC3E}">
        <p14:creationId xmlns:p14="http://schemas.microsoft.com/office/powerpoint/2010/main" val="1447634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flow control</a:t>
            </a:r>
            <a:endParaRPr lang="en-US" sz="4400" b="0" dirty="0"/>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7848422" y="1084921"/>
            <a:ext cx="2524125" cy="3854450"/>
          </a:xfrm>
          <a:prstGeom prst="rect">
            <a:avLst/>
          </a:prstGeom>
          <a:solidFill>
            <a:srgbClr val="0000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10289997" y="1078571"/>
            <a:ext cx="581025" cy="42068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7762697" y="1186521"/>
            <a:ext cx="2533650" cy="3814762"/>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8302447" y="1243671"/>
            <a:ext cx="137795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8070672" y="2312058"/>
            <a:ext cx="1795463" cy="688975"/>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35" y="2368"/>
              <a:ext cx="995"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TCP socket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8238947" y="3335996"/>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8745360" y="336483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TCP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8246885" y="4321833"/>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8731699" y="435497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7756347" y="4071008"/>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7769047" y="2219983"/>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8745360" y="2104096"/>
            <a:ext cx="533400" cy="206375"/>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7549972" y="5823520"/>
            <a:ext cx="2714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8790777" y="5419835"/>
            <a:ext cx="0" cy="34925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10285235" y="4996521"/>
            <a:ext cx="0" cy="463550"/>
          </a:xfrm>
          <a:prstGeom prst="line">
            <a:avLst/>
          </a:prstGeom>
          <a:noFill/>
          <a:ln w="19050">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10523360" y="4590121"/>
            <a:ext cx="869950" cy="906462"/>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712555" y="1437021"/>
            <a:ext cx="3850826"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sng"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What happens if network layer delivers data faster than application layer removes data from socket buffers?</a:t>
            </a:r>
          </a:p>
        </p:txBody>
      </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7764475" y="5006696"/>
            <a:ext cx="0" cy="463550"/>
          </a:xfrm>
          <a:prstGeom prst="line">
            <a:avLst/>
          </a:prstGeom>
          <a:noFill/>
          <a:ln w="1905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2" name="Group 11">
            <a:extLst>
              <a:ext uri="{FF2B5EF4-FFF2-40B4-BE49-F238E27FC236}">
                <a16:creationId xmlns:a16="http://schemas.microsoft.com/office/drawing/2014/main" id="{C820FA96-992D-4547-BB82-D80AD6340B76}"/>
              </a:ext>
            </a:extLst>
          </p:cNvPr>
          <p:cNvGrpSpPr/>
          <p:nvPr/>
        </p:nvGrpSpPr>
        <p:grpSpPr>
          <a:xfrm>
            <a:off x="5189688" y="2806352"/>
            <a:ext cx="4533734" cy="2971623"/>
            <a:chOff x="5189688" y="2806352"/>
            <a:chExt cx="4533734" cy="2971623"/>
          </a:xfrm>
        </p:grpSpPr>
        <p:grpSp>
          <p:nvGrpSpPr>
            <p:cNvPr id="7" name="Group 6">
              <a:extLst>
                <a:ext uri="{FF2B5EF4-FFF2-40B4-BE49-F238E27FC236}">
                  <a16:creationId xmlns:a16="http://schemas.microsoft.com/office/drawing/2014/main" id="{90136498-1DCA-8245-9AEB-79D923D0965C}"/>
                </a:ext>
              </a:extLst>
            </p:cNvPr>
            <p:cNvGrpSpPr/>
            <p:nvPr/>
          </p:nvGrpSpPr>
          <p:grpSpPr>
            <a:xfrm>
              <a:off x="5189688" y="3080408"/>
              <a:ext cx="3750934" cy="2697567"/>
              <a:chOff x="4633274" y="3577949"/>
              <a:chExt cx="3750934" cy="2697567"/>
            </a:xfrm>
          </p:grpSpPr>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7655546" y="4619349"/>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7344839" y="5551212"/>
                <a:ext cx="1039369" cy="214398"/>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7647608" y="3577949"/>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7" name="Text Box 106">
                <a:extLst>
                  <a:ext uri="{FF2B5EF4-FFF2-40B4-BE49-F238E27FC236}">
                    <a16:creationId xmlns:a16="http://schemas.microsoft.com/office/drawing/2014/main" id="{60423099-6913-6449-94EA-C3C8BD4E23A1}"/>
                  </a:ext>
                </a:extLst>
              </p:cNvPr>
              <p:cNvSpPr txBox="1">
                <a:spLocks noChangeArrowheads="1"/>
              </p:cNvSpPr>
              <p:nvPr/>
            </p:nvSpPr>
            <p:spPr bwMode="auto">
              <a:xfrm>
                <a:off x="4633274" y="4192806"/>
                <a:ext cx="2332549" cy="10895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Network layer delivering IP datagram payload into TCP socket buffers</a:t>
                </a:r>
              </a:p>
            </p:txBody>
          </p:sp>
          <p:sp>
            <p:nvSpPr>
              <p:cNvPr id="168" name="Line 108">
                <a:extLst>
                  <a:ext uri="{FF2B5EF4-FFF2-40B4-BE49-F238E27FC236}">
                    <a16:creationId xmlns:a16="http://schemas.microsoft.com/office/drawing/2014/main" id="{526C2D0A-E0A9-564E-8CDF-3A8B49E5D882}"/>
                  </a:ext>
                </a:extLst>
              </p:cNvPr>
              <p:cNvSpPr>
                <a:spLocks noChangeShapeType="1"/>
              </p:cNvSpPr>
              <p:nvPr/>
            </p:nvSpPr>
            <p:spPr bwMode="auto">
              <a:xfrm>
                <a:off x="6906339" y="4724124"/>
                <a:ext cx="522908" cy="0"/>
              </a:xfrm>
              <a:prstGeom prst="line">
                <a:avLst/>
              </a:prstGeom>
              <a:noFill/>
              <a:ln w="1905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7074521" y="5970716"/>
                <a:ext cx="11334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from sender</a:t>
                </a:r>
              </a:p>
            </p:txBody>
          </p:sp>
        </p:grpSp>
        <p:sp>
          <p:nvSpPr>
            <p:cNvPr id="6" name="Curved Down Arrow 5">
              <a:extLst>
                <a:ext uri="{FF2B5EF4-FFF2-40B4-BE49-F238E27FC236}">
                  <a16:creationId xmlns:a16="http://schemas.microsoft.com/office/drawing/2014/main" id="{1FE7EE57-FED3-864B-8F06-9CC2C77BF0DE}"/>
                </a:ext>
              </a:extLst>
            </p:cNvPr>
            <p:cNvSpPr/>
            <p:nvPr/>
          </p:nvSpPr>
          <p:spPr>
            <a:xfrm>
              <a:off x="8312727" y="2806352"/>
              <a:ext cx="1410695" cy="271814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3" name="Group 12">
            <a:extLst>
              <a:ext uri="{FF2B5EF4-FFF2-40B4-BE49-F238E27FC236}">
                <a16:creationId xmlns:a16="http://schemas.microsoft.com/office/drawing/2014/main" id="{061072C8-D06D-0540-97C3-C1DE8C5A0444}"/>
              </a:ext>
            </a:extLst>
          </p:cNvPr>
          <p:cNvGrpSpPr/>
          <p:nvPr/>
        </p:nvGrpSpPr>
        <p:grpSpPr>
          <a:xfrm>
            <a:off x="4989152" y="1607125"/>
            <a:ext cx="4984933" cy="885919"/>
            <a:chOff x="4989152" y="1607125"/>
            <a:chExt cx="4984933" cy="885919"/>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40230"/>
              <a:chOff x="4432738" y="2150355"/>
              <a:chExt cx="4984933" cy="840230"/>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1" cy="840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1026" name="Picture 2" descr="Drinking from the Firehose: How VividCortex Compresses its Metrics">
            <a:extLst>
              <a:ext uri="{FF2B5EF4-FFF2-40B4-BE49-F238E27FC236}">
                <a16:creationId xmlns:a16="http://schemas.microsoft.com/office/drawing/2014/main" id="{4F457921-03BB-884A-B43A-C231DAB769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7754" y="4484079"/>
            <a:ext cx="3018692" cy="18112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rinking From the Information Firehose">
            <a:extLst>
              <a:ext uri="{FF2B5EF4-FFF2-40B4-BE49-F238E27FC236}">
                <a16:creationId xmlns:a16="http://schemas.microsoft.com/office/drawing/2014/main" id="{CC4ECDA6-EF5F-7940-8430-C0BB879305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223" y="3300222"/>
            <a:ext cx="2699594" cy="1781732"/>
          </a:xfrm>
          <a:prstGeom prst="rect">
            <a:avLst/>
          </a:prstGeom>
          <a:noFill/>
          <a:extLst>
            <a:ext uri="{909E8E84-426E-40DD-AFC4-6F175D3DCCD1}">
              <a14:hiddenFill xmlns:a14="http://schemas.microsoft.com/office/drawing/2010/main">
                <a:solidFill>
                  <a:srgbClr val="FFFFFF"/>
                </a:solidFill>
              </a14:hiddenFill>
            </a:ext>
          </a:extLst>
        </p:spPr>
      </p:pic>
      <p:sp>
        <p:nvSpPr>
          <p:cNvPr id="50" name="Slide Number Placeholder 2">
            <a:extLst>
              <a:ext uri="{FF2B5EF4-FFF2-40B4-BE49-F238E27FC236}">
                <a16:creationId xmlns:a16="http://schemas.microsoft.com/office/drawing/2014/main" id="{48F7A259-99DD-7041-B802-66CCB4B0EB0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31</a:t>
            </a:fld>
            <a:endParaRPr lang="en-US" dirty="0"/>
          </a:p>
        </p:txBody>
      </p:sp>
    </p:spTree>
    <p:extLst>
      <p:ext uri="{BB962C8B-B14F-4D97-AF65-F5344CB8AC3E}">
        <p14:creationId xmlns:p14="http://schemas.microsoft.com/office/powerpoint/2010/main" val="473837047"/>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flow control</a:t>
            </a:r>
            <a:endParaRPr lang="en-US" sz="4400" b="0" dirty="0"/>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7848422" y="1084921"/>
            <a:ext cx="2524125" cy="3854450"/>
          </a:xfrm>
          <a:prstGeom prst="rect">
            <a:avLst/>
          </a:prstGeom>
          <a:solidFill>
            <a:srgbClr val="0000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10289997" y="1078571"/>
            <a:ext cx="581025" cy="42068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7762697" y="1186521"/>
            <a:ext cx="2533650" cy="3814762"/>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8302447" y="1243671"/>
            <a:ext cx="137795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8070672" y="2312058"/>
            <a:ext cx="1795463" cy="688975"/>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35" y="2368"/>
              <a:ext cx="995"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TCP socket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8238947" y="3335996"/>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8745360" y="336483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TCP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8246885" y="4321833"/>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8731699" y="435497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7756347" y="4071008"/>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7769047" y="2219983"/>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8745360" y="2104096"/>
            <a:ext cx="533400" cy="206375"/>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7549972" y="5823520"/>
            <a:ext cx="2714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8790777" y="5419835"/>
            <a:ext cx="0" cy="34925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10285235" y="4996521"/>
            <a:ext cx="0" cy="463550"/>
          </a:xfrm>
          <a:prstGeom prst="line">
            <a:avLst/>
          </a:prstGeom>
          <a:noFill/>
          <a:ln w="19050">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10523360" y="4590121"/>
            <a:ext cx="869950" cy="906462"/>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712555" y="1437021"/>
            <a:ext cx="3850826"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sng"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What happens if network layer delivers data faster than application layer removes data from socket buffers?</a:t>
            </a:r>
          </a:p>
        </p:txBody>
      </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7764475" y="5006696"/>
            <a:ext cx="0" cy="463550"/>
          </a:xfrm>
          <a:prstGeom prst="line">
            <a:avLst/>
          </a:prstGeom>
          <a:noFill/>
          <a:ln w="1905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8211960" y="4121808"/>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7901253" y="5053671"/>
            <a:ext cx="1039369" cy="214398"/>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8204022" y="3080408"/>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7630935" y="5473175"/>
            <a:ext cx="11334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from sender</a:t>
            </a:r>
          </a:p>
        </p:txBody>
      </p:sp>
      <p:sp>
        <p:nvSpPr>
          <p:cNvPr id="6" name="Curved Down Arrow 5">
            <a:extLst>
              <a:ext uri="{FF2B5EF4-FFF2-40B4-BE49-F238E27FC236}">
                <a16:creationId xmlns:a16="http://schemas.microsoft.com/office/drawing/2014/main" id="{1FE7EE57-FED3-864B-8F06-9CC2C77BF0DE}"/>
              </a:ext>
            </a:extLst>
          </p:cNvPr>
          <p:cNvSpPr/>
          <p:nvPr/>
        </p:nvSpPr>
        <p:spPr>
          <a:xfrm>
            <a:off x="8312727" y="2806352"/>
            <a:ext cx="1410695" cy="271814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3" name="Group 12">
            <a:extLst>
              <a:ext uri="{FF2B5EF4-FFF2-40B4-BE49-F238E27FC236}">
                <a16:creationId xmlns:a16="http://schemas.microsoft.com/office/drawing/2014/main" id="{061072C8-D06D-0540-97C3-C1DE8C5A0444}"/>
              </a:ext>
            </a:extLst>
          </p:cNvPr>
          <p:cNvGrpSpPr/>
          <p:nvPr/>
        </p:nvGrpSpPr>
        <p:grpSpPr>
          <a:xfrm>
            <a:off x="4989152" y="1607125"/>
            <a:ext cx="4984933" cy="885919"/>
            <a:chOff x="4989152" y="1607125"/>
            <a:chExt cx="4984933" cy="885919"/>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40230"/>
              <a:chOff x="4432738" y="2150355"/>
              <a:chExt cx="4984933" cy="840230"/>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1" cy="840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4" name="Group 53">
            <a:extLst>
              <a:ext uri="{FF2B5EF4-FFF2-40B4-BE49-F238E27FC236}">
                <a16:creationId xmlns:a16="http://schemas.microsoft.com/office/drawing/2014/main" id="{FB367096-84FB-0C47-BA14-5CD76A63BC39}"/>
              </a:ext>
            </a:extLst>
          </p:cNvPr>
          <p:cNvGrpSpPr/>
          <p:nvPr/>
        </p:nvGrpSpPr>
        <p:grpSpPr>
          <a:xfrm>
            <a:off x="1111171" y="3426107"/>
            <a:ext cx="5034986" cy="2800562"/>
            <a:chOff x="4343173" y="1560062"/>
            <a:chExt cx="9034622" cy="4921250"/>
          </a:xfrm>
        </p:grpSpPr>
        <p:sp>
          <p:nvSpPr>
            <p:cNvPr id="55" name="Rectangle 4">
              <a:extLst>
                <a:ext uri="{FF2B5EF4-FFF2-40B4-BE49-F238E27FC236}">
                  <a16:creationId xmlns:a16="http://schemas.microsoft.com/office/drawing/2014/main" id="{887BE98B-9B7E-9D41-AEF0-CA93BB1C9316}"/>
                </a:ext>
              </a:extLst>
            </p:cNvPr>
            <p:cNvSpPr>
              <a:spLocks noChangeArrowheads="1"/>
            </p:cNvSpPr>
            <p:nvPr/>
          </p:nvSpPr>
          <p:spPr bwMode="auto">
            <a:xfrm>
              <a:off x="4432073" y="1560062"/>
              <a:ext cx="3951287" cy="4824412"/>
            </a:xfrm>
            <a:prstGeom prst="rect">
              <a:avLst/>
            </a:prstGeom>
            <a:solidFill>
              <a:srgbClr val="000099"/>
            </a:solidFill>
            <a:ln>
              <a:noFill/>
            </a:ln>
            <a:effectLst/>
            <a:extLst>
              <a:ext uri="{91240B29-F687-4f45-9708-019B960494DF}">
                <a14:hiddenLine xmlns:a14="http://schemas.microsoft.com/office/drawing/2010/main" xmlns="" w="1905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57" name="Rectangle 5">
              <a:extLst>
                <a:ext uri="{FF2B5EF4-FFF2-40B4-BE49-F238E27FC236}">
                  <a16:creationId xmlns:a16="http://schemas.microsoft.com/office/drawing/2014/main" id="{6DD2E62C-E2CB-C147-9685-E568D5425264}"/>
                </a:ext>
              </a:extLst>
            </p:cNvPr>
            <p:cNvSpPr>
              <a:spLocks noChangeArrowheads="1"/>
            </p:cNvSpPr>
            <p:nvPr/>
          </p:nvSpPr>
          <p:spPr bwMode="auto">
            <a:xfrm>
              <a:off x="4346348" y="1675949"/>
              <a:ext cx="3951287" cy="4805363"/>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8" name="Line 8">
              <a:extLst>
                <a:ext uri="{FF2B5EF4-FFF2-40B4-BE49-F238E27FC236}">
                  <a16:creationId xmlns:a16="http://schemas.microsoft.com/office/drawing/2014/main" id="{6E5293FD-6A44-CD45-9C2D-E6EC13F48E0D}"/>
                </a:ext>
              </a:extLst>
            </p:cNvPr>
            <p:cNvSpPr>
              <a:spLocks noChangeShapeType="1"/>
            </p:cNvSpPr>
            <p:nvPr/>
          </p:nvSpPr>
          <p:spPr bwMode="auto">
            <a:xfrm>
              <a:off x="4349523" y="2050599"/>
              <a:ext cx="3946525" cy="4763"/>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 name="Line 9">
              <a:extLst>
                <a:ext uri="{FF2B5EF4-FFF2-40B4-BE49-F238E27FC236}">
                  <a16:creationId xmlns:a16="http://schemas.microsoft.com/office/drawing/2014/main" id="{D5FD85FC-35E3-CC42-86B2-4CBE4FF7A22C}"/>
                </a:ext>
              </a:extLst>
            </p:cNvPr>
            <p:cNvSpPr>
              <a:spLocks noChangeShapeType="1"/>
            </p:cNvSpPr>
            <p:nvPr/>
          </p:nvSpPr>
          <p:spPr bwMode="auto">
            <a:xfrm flipV="1">
              <a:off x="4343173" y="2430012"/>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0" name="Line 16">
              <a:extLst>
                <a:ext uri="{FF2B5EF4-FFF2-40B4-BE49-F238E27FC236}">
                  <a16:creationId xmlns:a16="http://schemas.microsoft.com/office/drawing/2014/main" id="{1F09DA56-95A7-9740-9266-702F4D667899}"/>
                </a:ext>
              </a:extLst>
            </p:cNvPr>
            <p:cNvSpPr>
              <a:spLocks noChangeShapeType="1"/>
            </p:cNvSpPr>
            <p:nvPr/>
          </p:nvSpPr>
          <p:spPr bwMode="auto">
            <a:xfrm flipV="1">
              <a:off x="4352698" y="2811012"/>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1" name="Line 18">
              <a:extLst>
                <a:ext uri="{FF2B5EF4-FFF2-40B4-BE49-F238E27FC236}">
                  <a16:creationId xmlns:a16="http://schemas.microsoft.com/office/drawing/2014/main" id="{3173FF56-BD9B-654B-92B6-4B36C86F420A}"/>
                </a:ext>
              </a:extLst>
            </p:cNvPr>
            <p:cNvSpPr>
              <a:spLocks noChangeShapeType="1"/>
            </p:cNvSpPr>
            <p:nvPr/>
          </p:nvSpPr>
          <p:spPr bwMode="auto">
            <a:xfrm flipV="1">
              <a:off x="4347935" y="3206299"/>
              <a:ext cx="3951288"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2" name="Line 19">
              <a:extLst>
                <a:ext uri="{FF2B5EF4-FFF2-40B4-BE49-F238E27FC236}">
                  <a16:creationId xmlns:a16="http://schemas.microsoft.com/office/drawing/2014/main" id="{84202EA3-2833-F04E-AA3C-8BB8999BFBC1}"/>
                </a:ext>
              </a:extLst>
            </p:cNvPr>
            <p:cNvSpPr>
              <a:spLocks noChangeShapeType="1"/>
            </p:cNvSpPr>
            <p:nvPr/>
          </p:nvSpPr>
          <p:spPr bwMode="auto">
            <a:xfrm flipV="1">
              <a:off x="4343173" y="3596824"/>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3" name="Line 20">
              <a:extLst>
                <a:ext uri="{FF2B5EF4-FFF2-40B4-BE49-F238E27FC236}">
                  <a16:creationId xmlns:a16="http://schemas.microsoft.com/office/drawing/2014/main" id="{B5EE22BF-1DD2-B74E-9710-050E4C365A6C}"/>
                </a:ext>
              </a:extLst>
            </p:cNvPr>
            <p:cNvSpPr>
              <a:spLocks noChangeShapeType="1"/>
            </p:cNvSpPr>
            <p:nvPr/>
          </p:nvSpPr>
          <p:spPr bwMode="auto">
            <a:xfrm flipV="1">
              <a:off x="4343173" y="4158799"/>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4" name="Line 21">
              <a:extLst>
                <a:ext uri="{FF2B5EF4-FFF2-40B4-BE49-F238E27FC236}">
                  <a16:creationId xmlns:a16="http://schemas.microsoft.com/office/drawing/2014/main" id="{E3D5975A-D204-D047-91DC-FE8A65BBCCE9}"/>
                </a:ext>
              </a:extLst>
            </p:cNvPr>
            <p:cNvSpPr>
              <a:spLocks noChangeShapeType="1"/>
            </p:cNvSpPr>
            <p:nvPr/>
          </p:nvSpPr>
          <p:spPr bwMode="auto">
            <a:xfrm flipH="1" flipV="1">
              <a:off x="6303735" y="2814187"/>
              <a:ext cx="4763" cy="777875"/>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65" name="Group 64">
              <a:extLst>
                <a:ext uri="{FF2B5EF4-FFF2-40B4-BE49-F238E27FC236}">
                  <a16:creationId xmlns:a16="http://schemas.microsoft.com/office/drawing/2014/main" id="{067C1EE2-2B96-F74C-A327-2DFC2DFC62BA}"/>
                </a:ext>
              </a:extLst>
            </p:cNvPr>
            <p:cNvGrpSpPr/>
            <p:nvPr/>
          </p:nvGrpSpPr>
          <p:grpSpPr>
            <a:xfrm>
              <a:off x="6113100" y="2788385"/>
              <a:ext cx="7264695" cy="1048460"/>
              <a:chOff x="6113100" y="2788385"/>
              <a:chExt cx="7264695" cy="1048460"/>
            </a:xfrm>
          </p:grpSpPr>
          <p:sp>
            <p:nvSpPr>
              <p:cNvPr id="67" name="Text Box 22">
                <a:extLst>
                  <a:ext uri="{FF2B5EF4-FFF2-40B4-BE49-F238E27FC236}">
                    <a16:creationId xmlns:a16="http://schemas.microsoft.com/office/drawing/2014/main" id="{2E8A978C-B58F-724E-97B2-2FB3E91F6385}"/>
                  </a:ext>
                </a:extLst>
              </p:cNvPr>
              <p:cNvSpPr txBox="1">
                <a:spLocks noChangeArrowheads="1"/>
              </p:cNvSpPr>
              <p:nvPr/>
            </p:nvSpPr>
            <p:spPr bwMode="auto">
              <a:xfrm>
                <a:off x="6113100" y="2788385"/>
                <a:ext cx="2293763" cy="5247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charset="0"/>
                    <a:ea typeface="ＭＳ Ｐゴシック" charset="0"/>
                    <a:cs typeface="+mn-cs"/>
                  </a:rPr>
                  <a:t>receive window</a:t>
                </a:r>
              </a:p>
            </p:txBody>
          </p:sp>
          <p:sp>
            <p:nvSpPr>
              <p:cNvPr id="68" name="Text Box 49">
                <a:extLst>
                  <a:ext uri="{FF2B5EF4-FFF2-40B4-BE49-F238E27FC236}">
                    <a16:creationId xmlns:a16="http://schemas.microsoft.com/office/drawing/2014/main" id="{4311B6E6-847F-7C42-98B1-9875A91D17B3}"/>
                  </a:ext>
                </a:extLst>
              </p:cNvPr>
              <p:cNvSpPr txBox="1">
                <a:spLocks noChangeArrowheads="1"/>
              </p:cNvSpPr>
              <p:nvPr/>
            </p:nvSpPr>
            <p:spPr bwMode="auto">
              <a:xfrm>
                <a:off x="8724899" y="2847114"/>
                <a:ext cx="4652896" cy="9897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flow control: </a:t>
                </a:r>
                <a:r>
                  <a:rPr kumimoji="0" lang="en-US" sz="16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bytes receiver willing to accept</a:t>
                </a:r>
                <a:endPar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69" name="Line 53">
                <a:extLst>
                  <a:ext uri="{FF2B5EF4-FFF2-40B4-BE49-F238E27FC236}">
                    <a16:creationId xmlns:a16="http://schemas.microsoft.com/office/drawing/2014/main" id="{1B19FC7E-F3A0-3F49-A0E5-0BD2B4FBCBD0}"/>
                  </a:ext>
                </a:extLst>
              </p:cNvPr>
              <p:cNvSpPr>
                <a:spLocks noChangeShapeType="1"/>
              </p:cNvSpPr>
              <p:nvPr/>
            </p:nvSpPr>
            <p:spPr bwMode="auto">
              <a:xfrm flipH="1">
                <a:off x="8142852" y="3044701"/>
                <a:ext cx="582048" cy="0"/>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66" name="Line 10">
              <a:extLst>
                <a:ext uri="{FF2B5EF4-FFF2-40B4-BE49-F238E27FC236}">
                  <a16:creationId xmlns:a16="http://schemas.microsoft.com/office/drawing/2014/main" id="{C66942C1-B5F2-CD48-AEFD-79309840AF0C}"/>
                </a:ext>
              </a:extLst>
            </p:cNvPr>
            <p:cNvSpPr>
              <a:spLocks noChangeShapeType="1"/>
            </p:cNvSpPr>
            <p:nvPr/>
          </p:nvSpPr>
          <p:spPr bwMode="auto">
            <a:xfrm flipH="1" flipV="1">
              <a:off x="6289447" y="1679374"/>
              <a:ext cx="1761" cy="365184"/>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70" name="Slide Number Placeholder 2">
            <a:extLst>
              <a:ext uri="{FF2B5EF4-FFF2-40B4-BE49-F238E27FC236}">
                <a16:creationId xmlns:a16="http://schemas.microsoft.com/office/drawing/2014/main" id="{3A4399FC-22AC-CD4F-9984-791C62C984F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32</a:t>
            </a:fld>
            <a:endParaRPr lang="en-US" dirty="0"/>
          </a:p>
        </p:txBody>
      </p:sp>
    </p:spTree>
    <p:extLst>
      <p:ext uri="{BB962C8B-B14F-4D97-AF65-F5344CB8AC3E}">
        <p14:creationId xmlns:p14="http://schemas.microsoft.com/office/powerpoint/2010/main" val="859008616"/>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flow control</a:t>
            </a:r>
            <a:endParaRPr lang="en-US" sz="4400" b="0" dirty="0"/>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7848422" y="1084921"/>
            <a:ext cx="2524125" cy="3854450"/>
          </a:xfrm>
          <a:prstGeom prst="rect">
            <a:avLst/>
          </a:prstGeom>
          <a:solidFill>
            <a:srgbClr val="0000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10289997" y="1078571"/>
            <a:ext cx="581025" cy="42068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7762697" y="1186521"/>
            <a:ext cx="2533650" cy="3814762"/>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8302447" y="1243671"/>
            <a:ext cx="137795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8070672" y="2312058"/>
            <a:ext cx="1795463" cy="688975"/>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35" y="2368"/>
              <a:ext cx="995"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TCP socket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8238947" y="3335996"/>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8745360" y="336483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TCP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8246885" y="4321833"/>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8731699" y="435497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7756347" y="4071008"/>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7769047" y="2219983"/>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8745360" y="2104096"/>
            <a:ext cx="533400" cy="206375"/>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7549972" y="5823520"/>
            <a:ext cx="2714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8790777" y="5419835"/>
            <a:ext cx="0" cy="34925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10285235" y="4996521"/>
            <a:ext cx="0" cy="463550"/>
          </a:xfrm>
          <a:prstGeom prst="line">
            <a:avLst/>
          </a:prstGeom>
          <a:noFill/>
          <a:ln w="19050">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10523360" y="4590121"/>
            <a:ext cx="869950" cy="906462"/>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712555" y="1437021"/>
            <a:ext cx="3850826"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sng"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What happens if network layer delivers data faster than application layer removes data from socket buffers?</a:t>
            </a:r>
          </a:p>
        </p:txBody>
      </p:sp>
      <p:grpSp>
        <p:nvGrpSpPr>
          <p:cNvPr id="10" name="Group 9">
            <a:extLst>
              <a:ext uri="{FF2B5EF4-FFF2-40B4-BE49-F238E27FC236}">
                <a16:creationId xmlns:a16="http://schemas.microsoft.com/office/drawing/2014/main" id="{9B4B0832-7295-6748-A6EB-5D9B0607F222}"/>
              </a:ext>
            </a:extLst>
          </p:cNvPr>
          <p:cNvGrpSpPr/>
          <p:nvPr/>
        </p:nvGrpSpPr>
        <p:grpSpPr>
          <a:xfrm>
            <a:off x="756989" y="3535828"/>
            <a:ext cx="4164772" cy="1950572"/>
            <a:chOff x="363537" y="4127499"/>
            <a:chExt cx="4164772" cy="1950572"/>
          </a:xfrm>
        </p:grpSpPr>
        <p:sp>
          <p:nvSpPr>
            <p:cNvPr id="179" name="Rectangle 110">
              <a:extLst>
                <a:ext uri="{FF2B5EF4-FFF2-40B4-BE49-F238E27FC236}">
                  <a16:creationId xmlns:a16="http://schemas.microsoft.com/office/drawing/2014/main" id="{71EEDA6C-9700-F540-8450-88D0CF387D8C}"/>
                </a:ext>
              </a:extLst>
            </p:cNvPr>
            <p:cNvSpPr>
              <a:spLocks noChangeArrowheads="1"/>
            </p:cNvSpPr>
            <p:nvPr/>
          </p:nvSpPr>
          <p:spPr bwMode="auto">
            <a:xfrm>
              <a:off x="363537" y="4397375"/>
              <a:ext cx="4134671" cy="1680696"/>
            </a:xfrm>
            <a:prstGeom prst="rect">
              <a:avLst/>
            </a:prstGeom>
            <a:solidFill>
              <a:srgbClr val="FFFFFF"/>
            </a:solidFill>
            <a:ln w="28575">
              <a:solidFill>
                <a:srgbClr val="CC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180" name="Text Box 111">
              <a:extLst>
                <a:ext uri="{FF2B5EF4-FFF2-40B4-BE49-F238E27FC236}">
                  <a16:creationId xmlns:a16="http://schemas.microsoft.com/office/drawing/2014/main" id="{8C96D4BC-6609-824B-A9B9-24E2A66F66C2}"/>
                </a:ext>
              </a:extLst>
            </p:cNvPr>
            <p:cNvSpPr txBox="1">
              <a:spLocks noChangeArrowheads="1"/>
            </p:cNvSpPr>
            <p:nvPr/>
          </p:nvSpPr>
          <p:spPr bwMode="auto">
            <a:xfrm>
              <a:off x="455613" y="4549775"/>
              <a:ext cx="4072696" cy="142192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controls sender, so sender won’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overflow receiver’s buffer by transmitting too much, too fast</a:t>
              </a:r>
              <a:endParaRPr kumimoji="0" lang="en-US" altLang="en-US" sz="105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181" name="Group 112">
              <a:extLst>
                <a:ext uri="{FF2B5EF4-FFF2-40B4-BE49-F238E27FC236}">
                  <a16:creationId xmlns:a16="http://schemas.microsoft.com/office/drawing/2014/main" id="{6B4EAE2E-56DA-864E-99A1-E535BFD3AF51}"/>
                </a:ext>
              </a:extLst>
            </p:cNvPr>
            <p:cNvGrpSpPr>
              <a:grpSpLocks/>
            </p:cNvGrpSpPr>
            <p:nvPr/>
          </p:nvGrpSpPr>
          <p:grpSpPr bwMode="auto">
            <a:xfrm>
              <a:off x="551438" y="4127499"/>
              <a:ext cx="2003542" cy="523875"/>
              <a:chOff x="3327" y="230"/>
              <a:chExt cx="1176" cy="330"/>
            </a:xfrm>
          </p:grpSpPr>
          <p:sp>
            <p:nvSpPr>
              <p:cNvPr id="183" name="Rectangle 113">
                <a:extLst>
                  <a:ext uri="{FF2B5EF4-FFF2-40B4-BE49-F238E27FC236}">
                    <a16:creationId xmlns:a16="http://schemas.microsoft.com/office/drawing/2014/main" id="{364B36BC-850A-C443-AFE1-8C4A92F8CA4E}"/>
                  </a:ext>
                </a:extLst>
              </p:cNvPr>
              <p:cNvSpPr>
                <a:spLocks noChangeArrowheads="1"/>
              </p:cNvSpPr>
              <p:nvPr/>
            </p:nvSpPr>
            <p:spPr bwMode="auto">
              <a:xfrm>
                <a:off x="3369" y="323"/>
                <a:ext cx="1134" cy="222"/>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184" name="Text Box 114">
                <a:extLst>
                  <a:ext uri="{FF2B5EF4-FFF2-40B4-BE49-F238E27FC236}">
                    <a16:creationId xmlns:a16="http://schemas.microsoft.com/office/drawing/2014/main" id="{4A67984A-D193-3248-9AD8-3DC1586083A2}"/>
                  </a:ext>
                </a:extLst>
              </p:cNvPr>
              <p:cNvSpPr txBox="1">
                <a:spLocks noChangeArrowheads="1"/>
              </p:cNvSpPr>
              <p:nvPr/>
            </p:nvSpPr>
            <p:spPr bwMode="auto">
              <a:xfrm>
                <a:off x="3327" y="230"/>
                <a:ext cx="1136" cy="33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flow control</a:t>
                </a:r>
              </a:p>
            </p:txBody>
          </p:sp>
        </p:grpSp>
      </p:gr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7764475" y="5006696"/>
            <a:ext cx="0" cy="463550"/>
          </a:xfrm>
          <a:prstGeom prst="line">
            <a:avLst/>
          </a:prstGeom>
          <a:noFill/>
          <a:ln w="1905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2" name="Group 11">
            <a:extLst>
              <a:ext uri="{FF2B5EF4-FFF2-40B4-BE49-F238E27FC236}">
                <a16:creationId xmlns:a16="http://schemas.microsoft.com/office/drawing/2014/main" id="{C820FA96-992D-4547-BB82-D80AD6340B76}"/>
              </a:ext>
            </a:extLst>
          </p:cNvPr>
          <p:cNvGrpSpPr/>
          <p:nvPr/>
        </p:nvGrpSpPr>
        <p:grpSpPr>
          <a:xfrm>
            <a:off x="7630935" y="2806352"/>
            <a:ext cx="2092487" cy="2971623"/>
            <a:chOff x="7630935" y="2806352"/>
            <a:chExt cx="2092487" cy="2971623"/>
          </a:xfrm>
        </p:grpSpPr>
        <p:grpSp>
          <p:nvGrpSpPr>
            <p:cNvPr id="7" name="Group 6">
              <a:extLst>
                <a:ext uri="{FF2B5EF4-FFF2-40B4-BE49-F238E27FC236}">
                  <a16:creationId xmlns:a16="http://schemas.microsoft.com/office/drawing/2014/main" id="{90136498-1DCA-8245-9AEB-79D923D0965C}"/>
                </a:ext>
              </a:extLst>
            </p:cNvPr>
            <p:cNvGrpSpPr/>
            <p:nvPr/>
          </p:nvGrpSpPr>
          <p:grpSpPr>
            <a:xfrm>
              <a:off x="7630935" y="3080408"/>
              <a:ext cx="1309687" cy="2697567"/>
              <a:chOff x="7074521" y="3577949"/>
              <a:chExt cx="1309687" cy="2697567"/>
            </a:xfrm>
          </p:grpSpPr>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7655546" y="4619349"/>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7344839" y="5551212"/>
                <a:ext cx="1039369" cy="214398"/>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7647608" y="3577949"/>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7074521" y="5970716"/>
                <a:ext cx="11334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from sender</a:t>
                </a:r>
              </a:p>
            </p:txBody>
          </p:sp>
        </p:grpSp>
        <p:sp>
          <p:nvSpPr>
            <p:cNvPr id="6" name="Curved Down Arrow 5">
              <a:extLst>
                <a:ext uri="{FF2B5EF4-FFF2-40B4-BE49-F238E27FC236}">
                  <a16:creationId xmlns:a16="http://schemas.microsoft.com/office/drawing/2014/main" id="{1FE7EE57-FED3-864B-8F06-9CC2C77BF0DE}"/>
                </a:ext>
              </a:extLst>
            </p:cNvPr>
            <p:cNvSpPr/>
            <p:nvPr/>
          </p:nvSpPr>
          <p:spPr>
            <a:xfrm>
              <a:off x="8312727" y="2806352"/>
              <a:ext cx="1410695" cy="271814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3" name="Group 12">
            <a:extLst>
              <a:ext uri="{FF2B5EF4-FFF2-40B4-BE49-F238E27FC236}">
                <a16:creationId xmlns:a16="http://schemas.microsoft.com/office/drawing/2014/main" id="{061072C8-D06D-0540-97C3-C1DE8C5A0444}"/>
              </a:ext>
            </a:extLst>
          </p:cNvPr>
          <p:cNvGrpSpPr/>
          <p:nvPr/>
        </p:nvGrpSpPr>
        <p:grpSpPr>
          <a:xfrm>
            <a:off x="4989152" y="1607125"/>
            <a:ext cx="4984933" cy="885919"/>
            <a:chOff x="4989152" y="1607125"/>
            <a:chExt cx="4984933" cy="885919"/>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40230"/>
              <a:chOff x="4432738" y="2150355"/>
              <a:chExt cx="4984933" cy="840230"/>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1" cy="840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2" name="Slide Number Placeholder 2">
            <a:extLst>
              <a:ext uri="{FF2B5EF4-FFF2-40B4-BE49-F238E27FC236}">
                <a16:creationId xmlns:a16="http://schemas.microsoft.com/office/drawing/2014/main" id="{6AC88DD4-8D5E-1A4B-AF04-AF0A9B96E26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33</a:t>
            </a:fld>
            <a:endParaRPr lang="en-US" dirty="0"/>
          </a:p>
        </p:txBody>
      </p:sp>
    </p:spTree>
    <p:extLst>
      <p:ext uri="{BB962C8B-B14F-4D97-AF65-F5344CB8AC3E}">
        <p14:creationId xmlns:p14="http://schemas.microsoft.com/office/powerpoint/2010/main" val="3329041873"/>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flow control</a:t>
            </a:r>
            <a:endParaRPr lang="en-US" sz="4400" b="0" dirty="0"/>
          </a:p>
        </p:txBody>
      </p:sp>
      <p:sp>
        <p:nvSpPr>
          <p:cNvPr id="54" name="Rectangle 75">
            <a:extLst>
              <a:ext uri="{FF2B5EF4-FFF2-40B4-BE49-F238E27FC236}">
                <a16:creationId xmlns:a16="http://schemas.microsoft.com/office/drawing/2014/main" id="{78F7B284-6B74-F548-982C-C01C5F7D3D99}"/>
              </a:ext>
            </a:extLst>
          </p:cNvPr>
          <p:cNvSpPr txBox="1">
            <a:spLocks noChangeArrowheads="1"/>
          </p:cNvSpPr>
          <p:nvPr/>
        </p:nvSpPr>
        <p:spPr>
          <a:xfrm>
            <a:off x="668940" y="1485900"/>
            <a:ext cx="5826405" cy="4906963"/>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TCP receiver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advertises” free buffer space in </a:t>
            </a:r>
            <a:r>
              <a:rPr kumimoji="0" lang="en-US" altLang="ja-JP" sz="2800" b="1" i="0" u="none" strike="noStrike" kern="1200" cap="none" spc="0" normalizeH="0" baseline="0" noProof="0" dirty="0" err="1">
                <a:ln>
                  <a:noFill/>
                </a:ln>
                <a:solidFill>
                  <a:prstClr val="black"/>
                </a:solidFill>
                <a:effectLst/>
                <a:uLnTx/>
                <a:uFillTx/>
                <a:latin typeface="Courier New" panose="02070309020205020404" pitchFamily="49" charset="0"/>
                <a:ea typeface="ＭＳ Ｐゴシック" panose="020B0600070205080204" pitchFamily="34" charset="-128"/>
                <a:cs typeface="+mn-cs"/>
              </a:rPr>
              <a:t>rwnd</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field in TCP header</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altLang="en-US" sz="2400" b="1" i="0" u="none" strike="noStrike" kern="1200" cap="none" spc="0" normalizeH="0" baseline="0" noProof="0" dirty="0" err="1">
                <a:ln>
                  <a:noFill/>
                </a:ln>
                <a:solidFill>
                  <a:prstClr val="black"/>
                </a:solidFill>
                <a:effectLst/>
                <a:uLnTx/>
                <a:uFillTx/>
                <a:latin typeface="Courier New" panose="02070309020205020404" pitchFamily="49" charset="0"/>
                <a:ea typeface="ＭＳ Ｐゴシック" panose="020B0600070205080204" pitchFamily="34" charset="-128"/>
                <a:cs typeface="+mn-cs"/>
              </a:rPr>
              <a:t>RcvBuffer</a:t>
            </a:r>
            <a:r>
              <a:rPr kumimoji="0" lang="en-US" altLang="en-US" sz="24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size set via socket options (typical default is 4096 bytes)</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many operating systems </a:t>
            </a:r>
            <a:r>
              <a:rPr kumimoji="0" lang="en-US" altLang="en-US" sz="24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autoadjust</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400" b="1" i="0" u="none" strike="noStrike" kern="1200" cap="none" spc="0" normalizeH="0" baseline="0" noProof="0" dirty="0" err="1">
                <a:ln>
                  <a:noFill/>
                </a:ln>
                <a:solidFill>
                  <a:prstClr val="black"/>
                </a:solidFill>
                <a:effectLst/>
                <a:uLnTx/>
                <a:uFillTx/>
                <a:latin typeface="Courier New" panose="02070309020205020404" pitchFamily="49" charset="0"/>
                <a:ea typeface="ＭＳ Ｐゴシック" panose="020B0600070205080204" pitchFamily="34" charset="-128"/>
                <a:cs typeface="+mn-cs"/>
              </a:rPr>
              <a:t>RcvBuffer</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limits amount of </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in-flight”) data to be received </a:t>
            </a:r>
            <a:r>
              <a:rPr kumimoji="0" lang="en-US" altLang="ja-JP" sz="2800" b="1" i="0" u="none" strike="noStrike" kern="1200" cap="none" spc="0" normalizeH="0" baseline="0" noProof="0" dirty="0" err="1">
                <a:ln>
                  <a:noFill/>
                </a:ln>
                <a:solidFill>
                  <a:prstClr val="black"/>
                </a:solidFill>
                <a:effectLst/>
                <a:uLnTx/>
                <a:uFillTx/>
                <a:latin typeface="Courier New" panose="02070309020205020404" pitchFamily="49" charset="0"/>
                <a:ea typeface="ＭＳ Ｐゴシック" panose="020B0600070205080204" pitchFamily="34" charset="-128"/>
                <a:cs typeface="+mn-cs"/>
              </a:rPr>
              <a:t>rwnd</a:t>
            </a:r>
            <a:endParaRPr kumimoji="0" lang="en-US" altLang="ja-JP" sz="2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guarantees receive buffer will not overflow</a:t>
            </a:r>
          </a:p>
        </p:txBody>
      </p:sp>
      <p:grpSp>
        <p:nvGrpSpPr>
          <p:cNvPr id="81" name="Group 72">
            <a:extLst>
              <a:ext uri="{FF2B5EF4-FFF2-40B4-BE49-F238E27FC236}">
                <a16:creationId xmlns:a16="http://schemas.microsoft.com/office/drawing/2014/main" id="{BCF10484-C4F0-2146-A1F6-01CD23E18EAF}"/>
              </a:ext>
            </a:extLst>
          </p:cNvPr>
          <p:cNvGrpSpPr>
            <a:grpSpLocks/>
          </p:cNvGrpSpPr>
          <p:nvPr/>
        </p:nvGrpSpPr>
        <p:grpSpPr bwMode="auto">
          <a:xfrm>
            <a:off x="8147517" y="2351087"/>
            <a:ext cx="2578100" cy="2155825"/>
            <a:chOff x="512" y="1294"/>
            <a:chExt cx="1888" cy="1358"/>
          </a:xfrm>
        </p:grpSpPr>
        <p:grpSp>
          <p:nvGrpSpPr>
            <p:cNvPr id="82" name="Group 17">
              <a:extLst>
                <a:ext uri="{FF2B5EF4-FFF2-40B4-BE49-F238E27FC236}">
                  <a16:creationId xmlns:a16="http://schemas.microsoft.com/office/drawing/2014/main" id="{1B215862-92BC-FD44-8231-FAC4460EC932}"/>
                </a:ext>
              </a:extLst>
            </p:cNvPr>
            <p:cNvGrpSpPr>
              <a:grpSpLocks/>
            </p:cNvGrpSpPr>
            <p:nvPr/>
          </p:nvGrpSpPr>
          <p:grpSpPr bwMode="auto">
            <a:xfrm>
              <a:off x="1232" y="1410"/>
              <a:ext cx="336" cy="130"/>
              <a:chOff x="2003" y="1816"/>
              <a:chExt cx="336" cy="130"/>
            </a:xfrm>
          </p:grpSpPr>
          <p:sp>
            <p:nvSpPr>
              <p:cNvPr id="91" name="Rectangle 18">
                <a:extLst>
                  <a:ext uri="{FF2B5EF4-FFF2-40B4-BE49-F238E27FC236}">
                    <a16:creationId xmlns:a16="http://schemas.microsoft.com/office/drawing/2014/main" id="{9F916805-82BB-7244-99A5-5F0A5D165046}"/>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92" name="Rectangle 19">
                <a:extLst>
                  <a:ext uri="{FF2B5EF4-FFF2-40B4-BE49-F238E27FC236}">
                    <a16:creationId xmlns:a16="http://schemas.microsoft.com/office/drawing/2014/main" id="{4DA550D0-215D-334C-AB2B-CF8748123D33}"/>
                  </a:ext>
                </a:extLst>
              </p:cNvPr>
              <p:cNvSpPr>
                <a:spLocks noChangeArrowheads="1"/>
              </p:cNvSpPr>
              <p:nvPr/>
            </p:nvSpPr>
            <p:spPr bwMode="auto">
              <a:xfrm>
                <a:off x="2105" y="1833"/>
                <a:ext cx="108"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93" name="Rectangle 20">
                <a:extLst>
                  <a:ext uri="{FF2B5EF4-FFF2-40B4-BE49-F238E27FC236}">
                    <a16:creationId xmlns:a16="http://schemas.microsoft.com/office/drawing/2014/main" id="{B48A6578-4F82-8A4E-B684-CD32D31F82B1}"/>
                  </a:ext>
                </a:extLst>
              </p:cNvPr>
              <p:cNvSpPr>
                <a:spLocks noChangeArrowheads="1"/>
              </p:cNvSpPr>
              <p:nvPr/>
            </p:nvSpPr>
            <p:spPr bwMode="auto">
              <a:xfrm>
                <a:off x="2228" y="1891"/>
                <a:ext cx="28"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94" name="Rectangle 21">
                <a:extLst>
                  <a:ext uri="{FF2B5EF4-FFF2-40B4-BE49-F238E27FC236}">
                    <a16:creationId xmlns:a16="http://schemas.microsoft.com/office/drawing/2014/main" id="{FE3C8549-958F-8C49-9BB2-21BE77A5A384}"/>
                  </a:ext>
                </a:extLst>
              </p:cNvPr>
              <p:cNvSpPr>
                <a:spLocks noChangeArrowheads="1"/>
              </p:cNvSpPr>
              <p:nvPr/>
            </p:nvSpPr>
            <p:spPr bwMode="auto">
              <a:xfrm>
                <a:off x="2056" y="189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83" name="Rectangle 52">
              <a:extLst>
                <a:ext uri="{FF2B5EF4-FFF2-40B4-BE49-F238E27FC236}">
                  <a16:creationId xmlns:a16="http://schemas.microsoft.com/office/drawing/2014/main" id="{4EAEE0E4-1542-A044-B98C-0D8E8528492B}"/>
                </a:ext>
              </a:extLst>
            </p:cNvPr>
            <p:cNvSpPr>
              <a:spLocks noChangeArrowheads="1"/>
            </p:cNvSpPr>
            <p:nvPr/>
          </p:nvSpPr>
          <p:spPr bwMode="auto">
            <a:xfrm>
              <a:off x="526" y="1522"/>
              <a:ext cx="1871" cy="896"/>
            </a:xfrm>
            <a:prstGeom prst="rect">
              <a:avLst/>
            </a:prstGeom>
            <a:solidFill>
              <a:srgbClr val="0000A8"/>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4" name="Line 53">
              <a:extLst>
                <a:ext uri="{FF2B5EF4-FFF2-40B4-BE49-F238E27FC236}">
                  <a16:creationId xmlns:a16="http://schemas.microsoft.com/office/drawing/2014/main" id="{1BF4AFA5-7079-8E48-98E5-F01131B6DC42}"/>
                </a:ext>
              </a:extLst>
            </p:cNvPr>
            <p:cNvSpPr>
              <a:spLocks noChangeShapeType="1"/>
            </p:cNvSpPr>
            <p:nvPr/>
          </p:nvSpPr>
          <p:spPr bwMode="auto">
            <a:xfrm>
              <a:off x="512" y="1863"/>
              <a:ext cx="188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5" name="AutoShape 54">
              <a:extLst>
                <a:ext uri="{FF2B5EF4-FFF2-40B4-BE49-F238E27FC236}">
                  <a16:creationId xmlns:a16="http://schemas.microsoft.com/office/drawing/2014/main" id="{01CE49A7-7FEA-2F41-B96C-9C13B374840D}"/>
                </a:ext>
              </a:extLst>
            </p:cNvPr>
            <p:cNvSpPr>
              <a:spLocks noChangeArrowheads="1"/>
            </p:cNvSpPr>
            <p:nvPr/>
          </p:nvSpPr>
          <p:spPr bwMode="auto">
            <a:xfrm>
              <a:off x="1310" y="1294"/>
              <a:ext cx="157" cy="288"/>
            </a:xfrm>
            <a:prstGeom prst="upArrow">
              <a:avLst>
                <a:gd name="adj1" fmla="val 50000"/>
                <a:gd name="adj2" fmla="val 45860"/>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6" name="Rectangle 55" descr="Dark upward diagonal">
              <a:extLst>
                <a:ext uri="{FF2B5EF4-FFF2-40B4-BE49-F238E27FC236}">
                  <a16:creationId xmlns:a16="http://schemas.microsoft.com/office/drawing/2014/main" id="{E7DBF90D-63AF-CA4B-B765-CCAF65A7F80D}"/>
                </a:ext>
              </a:extLst>
            </p:cNvPr>
            <p:cNvSpPr>
              <a:spLocks noChangeArrowheads="1"/>
            </p:cNvSpPr>
            <p:nvPr/>
          </p:nvSpPr>
          <p:spPr bwMode="auto">
            <a:xfrm>
              <a:off x="534" y="1856"/>
              <a:ext cx="1848" cy="555"/>
            </a:xfrm>
            <a:prstGeom prst="rect">
              <a:avLst/>
            </a:prstGeom>
            <a:solidFill>
              <a:schemeClr val="bg1">
                <a:lumMod val="9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7" name="AutoShape 56">
              <a:extLst>
                <a:ext uri="{FF2B5EF4-FFF2-40B4-BE49-F238E27FC236}">
                  <a16:creationId xmlns:a16="http://schemas.microsoft.com/office/drawing/2014/main" id="{E85EDD4B-2EB2-CF4B-A7E7-5DB87DD8E261}"/>
                </a:ext>
              </a:extLst>
            </p:cNvPr>
            <p:cNvSpPr>
              <a:spLocks noChangeArrowheads="1"/>
            </p:cNvSpPr>
            <p:nvPr/>
          </p:nvSpPr>
          <p:spPr bwMode="auto">
            <a:xfrm>
              <a:off x="1312" y="2364"/>
              <a:ext cx="157" cy="288"/>
            </a:xfrm>
            <a:prstGeom prst="upArrow">
              <a:avLst>
                <a:gd name="adj1" fmla="val 50000"/>
                <a:gd name="adj2" fmla="val 45860"/>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8" name="Text Box 57">
              <a:extLst>
                <a:ext uri="{FF2B5EF4-FFF2-40B4-BE49-F238E27FC236}">
                  <a16:creationId xmlns:a16="http://schemas.microsoft.com/office/drawing/2014/main" id="{18AF2730-2703-2A49-8B1B-CCB541608D5B}"/>
                </a:ext>
              </a:extLst>
            </p:cNvPr>
            <p:cNvSpPr txBox="1">
              <a:spLocks noChangeArrowheads="1"/>
            </p:cNvSpPr>
            <p:nvPr/>
          </p:nvSpPr>
          <p:spPr bwMode="auto">
            <a:xfrm>
              <a:off x="814" y="1568"/>
              <a:ext cx="1243"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Tahoma" charset="0"/>
                  <a:ea typeface="ＭＳ Ｐゴシック" charset="0"/>
                  <a:cs typeface="+mn-cs"/>
                </a:rPr>
                <a:t>buffered data</a:t>
              </a:r>
            </a:p>
          </p:txBody>
        </p:sp>
        <p:sp>
          <p:nvSpPr>
            <p:cNvPr id="89" name="Line 58">
              <a:extLst>
                <a:ext uri="{FF2B5EF4-FFF2-40B4-BE49-F238E27FC236}">
                  <a16:creationId xmlns:a16="http://schemas.microsoft.com/office/drawing/2014/main" id="{3E425F76-602D-884F-B462-CE3703890F46}"/>
                </a:ext>
              </a:extLst>
            </p:cNvPr>
            <p:cNvSpPr>
              <a:spLocks noChangeShapeType="1"/>
            </p:cNvSpPr>
            <p:nvPr/>
          </p:nvSpPr>
          <p:spPr bwMode="auto">
            <a:xfrm>
              <a:off x="522" y="1857"/>
              <a:ext cx="1878" cy="7"/>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90" name="Text Box 59">
              <a:extLst>
                <a:ext uri="{FF2B5EF4-FFF2-40B4-BE49-F238E27FC236}">
                  <a16:creationId xmlns:a16="http://schemas.microsoft.com/office/drawing/2014/main" id="{FAA57939-600A-5644-BD7E-58580D1D7997}"/>
                </a:ext>
              </a:extLst>
            </p:cNvPr>
            <p:cNvSpPr txBox="1">
              <a:spLocks noChangeArrowheads="1"/>
            </p:cNvSpPr>
            <p:nvPr/>
          </p:nvSpPr>
          <p:spPr bwMode="auto">
            <a:xfrm>
              <a:off x="653" y="2020"/>
              <a:ext cx="1529"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free buffer space</a:t>
              </a:r>
            </a:p>
          </p:txBody>
        </p:sp>
      </p:grpSp>
      <p:sp>
        <p:nvSpPr>
          <p:cNvPr id="95" name="Text Box 62">
            <a:extLst>
              <a:ext uri="{FF2B5EF4-FFF2-40B4-BE49-F238E27FC236}">
                <a16:creationId xmlns:a16="http://schemas.microsoft.com/office/drawing/2014/main" id="{AEFCE47F-E93D-AF44-B3F4-73BB671A7DAA}"/>
              </a:ext>
            </a:extLst>
          </p:cNvPr>
          <p:cNvSpPr txBox="1">
            <a:spLocks noChangeArrowheads="1"/>
          </p:cNvSpPr>
          <p:nvPr/>
        </p:nvSpPr>
        <p:spPr bwMode="auto">
          <a:xfrm>
            <a:off x="7260104" y="3495674"/>
            <a:ext cx="67310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ourier New" charset="0"/>
                <a:ea typeface="ＭＳ Ｐゴシック" charset="0"/>
                <a:cs typeface="+mn-cs"/>
              </a:rPr>
              <a:t>rwnd</a:t>
            </a:r>
          </a:p>
        </p:txBody>
      </p:sp>
      <p:sp>
        <p:nvSpPr>
          <p:cNvPr id="96" name="Line 64">
            <a:extLst>
              <a:ext uri="{FF2B5EF4-FFF2-40B4-BE49-F238E27FC236}">
                <a16:creationId xmlns:a16="http://schemas.microsoft.com/office/drawing/2014/main" id="{16902A7E-A0A9-CA44-AA34-DA532E0008E8}"/>
              </a:ext>
            </a:extLst>
          </p:cNvPr>
          <p:cNvSpPr>
            <a:spLocks noChangeShapeType="1"/>
          </p:cNvSpPr>
          <p:nvPr/>
        </p:nvSpPr>
        <p:spPr bwMode="auto">
          <a:xfrm>
            <a:off x="7771279" y="3228974"/>
            <a:ext cx="0" cy="322263"/>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97" name="Line 65">
            <a:extLst>
              <a:ext uri="{FF2B5EF4-FFF2-40B4-BE49-F238E27FC236}">
                <a16:creationId xmlns:a16="http://schemas.microsoft.com/office/drawing/2014/main" id="{D648F6B1-0A50-8C4D-A7D2-3CF747C8BABF}"/>
              </a:ext>
            </a:extLst>
          </p:cNvPr>
          <p:cNvSpPr>
            <a:spLocks noChangeShapeType="1"/>
          </p:cNvSpPr>
          <p:nvPr/>
        </p:nvSpPr>
        <p:spPr bwMode="auto">
          <a:xfrm flipV="1">
            <a:off x="7771279" y="3754437"/>
            <a:ext cx="0" cy="322262"/>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98" name="Line 66">
            <a:extLst>
              <a:ext uri="{FF2B5EF4-FFF2-40B4-BE49-F238E27FC236}">
                <a16:creationId xmlns:a16="http://schemas.microsoft.com/office/drawing/2014/main" id="{6D1EA1AA-F1A0-E74F-8EB6-323F135BBE4A}"/>
              </a:ext>
            </a:extLst>
          </p:cNvPr>
          <p:cNvSpPr>
            <a:spLocks noChangeShapeType="1"/>
          </p:cNvSpPr>
          <p:nvPr/>
        </p:nvSpPr>
        <p:spPr bwMode="auto">
          <a:xfrm>
            <a:off x="7617292" y="4086224"/>
            <a:ext cx="4762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99" name="Line 67">
            <a:extLst>
              <a:ext uri="{FF2B5EF4-FFF2-40B4-BE49-F238E27FC236}">
                <a16:creationId xmlns:a16="http://schemas.microsoft.com/office/drawing/2014/main" id="{1C85352E-17C9-D549-A2BD-57A09913F048}"/>
              </a:ext>
            </a:extLst>
          </p:cNvPr>
          <p:cNvSpPr>
            <a:spLocks noChangeShapeType="1"/>
          </p:cNvSpPr>
          <p:nvPr/>
        </p:nvSpPr>
        <p:spPr bwMode="auto">
          <a:xfrm>
            <a:off x="7666504" y="3217862"/>
            <a:ext cx="1968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00" name="Line 68">
            <a:extLst>
              <a:ext uri="{FF2B5EF4-FFF2-40B4-BE49-F238E27FC236}">
                <a16:creationId xmlns:a16="http://schemas.microsoft.com/office/drawing/2014/main" id="{EBC9AE0D-2B04-2645-9476-0B3051DF9276}"/>
              </a:ext>
            </a:extLst>
          </p:cNvPr>
          <p:cNvSpPr>
            <a:spLocks noChangeShapeType="1"/>
          </p:cNvSpPr>
          <p:nvPr/>
        </p:nvSpPr>
        <p:spPr bwMode="auto">
          <a:xfrm>
            <a:off x="7639517" y="2692399"/>
            <a:ext cx="4762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01" name="Line 69">
            <a:extLst>
              <a:ext uri="{FF2B5EF4-FFF2-40B4-BE49-F238E27FC236}">
                <a16:creationId xmlns:a16="http://schemas.microsoft.com/office/drawing/2014/main" id="{C0332117-A4C3-844D-8A08-8B0B485AD2EA}"/>
              </a:ext>
            </a:extLst>
          </p:cNvPr>
          <p:cNvSpPr>
            <a:spLocks noChangeShapeType="1"/>
          </p:cNvSpPr>
          <p:nvPr/>
        </p:nvSpPr>
        <p:spPr bwMode="auto">
          <a:xfrm>
            <a:off x="8028454" y="2697162"/>
            <a:ext cx="0" cy="177800"/>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02" name="Line 70">
            <a:extLst>
              <a:ext uri="{FF2B5EF4-FFF2-40B4-BE49-F238E27FC236}">
                <a16:creationId xmlns:a16="http://schemas.microsoft.com/office/drawing/2014/main" id="{838B5881-D7D0-554D-93A9-E8D16418B8D3}"/>
              </a:ext>
            </a:extLst>
          </p:cNvPr>
          <p:cNvSpPr>
            <a:spLocks noChangeShapeType="1"/>
          </p:cNvSpPr>
          <p:nvPr/>
        </p:nvSpPr>
        <p:spPr bwMode="auto">
          <a:xfrm flipH="1">
            <a:off x="8026867" y="3121024"/>
            <a:ext cx="0" cy="95408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03" name="Text Box 71">
            <a:extLst>
              <a:ext uri="{FF2B5EF4-FFF2-40B4-BE49-F238E27FC236}">
                <a16:creationId xmlns:a16="http://schemas.microsoft.com/office/drawing/2014/main" id="{76399630-36A1-DE42-B526-233291123DB6}"/>
              </a:ext>
            </a:extLst>
          </p:cNvPr>
          <p:cNvSpPr txBox="1">
            <a:spLocks noChangeArrowheads="1"/>
          </p:cNvSpPr>
          <p:nvPr/>
        </p:nvSpPr>
        <p:spPr bwMode="auto">
          <a:xfrm>
            <a:off x="6874342" y="2857499"/>
            <a:ext cx="1284287"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ourier New" charset="0"/>
                <a:ea typeface="ＭＳ Ｐゴシック" charset="0"/>
                <a:cs typeface="+mn-cs"/>
              </a:rPr>
              <a:t>RcvBuffer</a:t>
            </a:r>
          </a:p>
        </p:txBody>
      </p:sp>
      <p:sp>
        <p:nvSpPr>
          <p:cNvPr id="104" name="Text Box 73">
            <a:extLst>
              <a:ext uri="{FF2B5EF4-FFF2-40B4-BE49-F238E27FC236}">
                <a16:creationId xmlns:a16="http://schemas.microsoft.com/office/drawing/2014/main" id="{B6E3B689-E8B2-BF4B-86DF-927AF5D4F690}"/>
              </a:ext>
            </a:extLst>
          </p:cNvPr>
          <p:cNvSpPr txBox="1">
            <a:spLocks noChangeArrowheads="1"/>
          </p:cNvSpPr>
          <p:nvPr/>
        </p:nvSpPr>
        <p:spPr bwMode="auto">
          <a:xfrm>
            <a:off x="8152610" y="4486274"/>
            <a:ext cx="252505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TCP segment payloads</a:t>
            </a:r>
          </a:p>
        </p:txBody>
      </p:sp>
      <p:sp>
        <p:nvSpPr>
          <p:cNvPr id="105" name="Text Box 74">
            <a:extLst>
              <a:ext uri="{FF2B5EF4-FFF2-40B4-BE49-F238E27FC236}">
                <a16:creationId xmlns:a16="http://schemas.microsoft.com/office/drawing/2014/main" id="{91F2C3EF-EE52-4542-BF6E-028621EA7670}"/>
              </a:ext>
            </a:extLst>
          </p:cNvPr>
          <p:cNvSpPr txBox="1">
            <a:spLocks noChangeArrowheads="1"/>
          </p:cNvSpPr>
          <p:nvPr/>
        </p:nvSpPr>
        <p:spPr bwMode="auto">
          <a:xfrm>
            <a:off x="8203635" y="1985962"/>
            <a:ext cx="247856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to application process</a:t>
            </a:r>
          </a:p>
        </p:txBody>
      </p:sp>
      <p:sp>
        <p:nvSpPr>
          <p:cNvPr id="106" name="Text Box 76">
            <a:extLst>
              <a:ext uri="{FF2B5EF4-FFF2-40B4-BE49-F238E27FC236}">
                <a16:creationId xmlns:a16="http://schemas.microsoft.com/office/drawing/2014/main" id="{0CF681A2-AC47-5344-AE94-24FC5FD82425}"/>
              </a:ext>
            </a:extLst>
          </p:cNvPr>
          <p:cNvSpPr txBox="1">
            <a:spLocks noChangeArrowheads="1"/>
          </p:cNvSpPr>
          <p:nvPr/>
        </p:nvSpPr>
        <p:spPr bwMode="auto">
          <a:xfrm>
            <a:off x="7554658" y="5138737"/>
            <a:ext cx="356379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TCP receiver-side buffering</a:t>
            </a:r>
          </a:p>
        </p:txBody>
      </p:sp>
      <p:sp>
        <p:nvSpPr>
          <p:cNvPr id="30" name="Slide Number Placeholder 2">
            <a:extLst>
              <a:ext uri="{FF2B5EF4-FFF2-40B4-BE49-F238E27FC236}">
                <a16:creationId xmlns:a16="http://schemas.microsoft.com/office/drawing/2014/main" id="{FD800B74-F67D-AF4D-AABB-EE14B6FEBDC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34</a:t>
            </a:fld>
            <a:endParaRPr lang="en-US" dirty="0"/>
          </a:p>
        </p:txBody>
      </p:sp>
    </p:spTree>
    <p:extLst>
      <p:ext uri="{BB962C8B-B14F-4D97-AF65-F5344CB8AC3E}">
        <p14:creationId xmlns:p14="http://schemas.microsoft.com/office/powerpoint/2010/main" val="4217487287"/>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flow control</a:t>
            </a:r>
            <a:endParaRPr lang="en-US" sz="4400" b="0" dirty="0"/>
          </a:p>
        </p:txBody>
      </p:sp>
      <p:sp>
        <p:nvSpPr>
          <p:cNvPr id="54" name="Rectangle 75">
            <a:extLst>
              <a:ext uri="{FF2B5EF4-FFF2-40B4-BE49-F238E27FC236}">
                <a16:creationId xmlns:a16="http://schemas.microsoft.com/office/drawing/2014/main" id="{78F7B284-6B74-F548-982C-C01C5F7D3D99}"/>
              </a:ext>
            </a:extLst>
          </p:cNvPr>
          <p:cNvSpPr txBox="1">
            <a:spLocks noChangeArrowheads="1"/>
          </p:cNvSpPr>
          <p:nvPr/>
        </p:nvSpPr>
        <p:spPr>
          <a:xfrm>
            <a:off x="668940" y="1485900"/>
            <a:ext cx="5826405" cy="4906963"/>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TCP receiver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advertises” free buffer space in </a:t>
            </a:r>
            <a:r>
              <a:rPr kumimoji="0" lang="en-US" altLang="ja-JP" sz="2800" b="1" i="0" u="none" strike="noStrike" kern="1200" cap="none" spc="0" normalizeH="0" baseline="0" noProof="0" dirty="0" err="1">
                <a:ln>
                  <a:noFill/>
                </a:ln>
                <a:solidFill>
                  <a:prstClr val="black"/>
                </a:solidFill>
                <a:effectLst/>
                <a:uLnTx/>
                <a:uFillTx/>
                <a:latin typeface="Courier New" panose="02070309020205020404" pitchFamily="49" charset="0"/>
                <a:ea typeface="ＭＳ Ｐゴシック" panose="020B0600070205080204" pitchFamily="34" charset="-128"/>
                <a:cs typeface="+mn-cs"/>
              </a:rPr>
              <a:t>rwnd</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field in TCP header</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altLang="en-US" sz="2400" b="1" i="0" u="none" strike="noStrike" kern="1200" cap="none" spc="0" normalizeH="0" baseline="0" noProof="0" dirty="0" err="1">
                <a:ln>
                  <a:noFill/>
                </a:ln>
                <a:solidFill>
                  <a:prstClr val="black"/>
                </a:solidFill>
                <a:effectLst/>
                <a:uLnTx/>
                <a:uFillTx/>
                <a:latin typeface="Courier New" panose="02070309020205020404" pitchFamily="49" charset="0"/>
                <a:ea typeface="ＭＳ Ｐゴシック" panose="020B0600070205080204" pitchFamily="34" charset="-128"/>
                <a:cs typeface="+mn-cs"/>
              </a:rPr>
              <a:t>RcvBuffer</a:t>
            </a:r>
            <a:r>
              <a:rPr kumimoji="0" lang="en-US" altLang="en-US" sz="24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size set via socket options (typical default is 4096 bytes)</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many operating systems </a:t>
            </a:r>
            <a:r>
              <a:rPr kumimoji="0" lang="en-US" altLang="en-US" sz="24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autoadjust</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400" b="1" i="0" u="none" strike="noStrike" kern="1200" cap="none" spc="0" normalizeH="0" baseline="0" noProof="0" dirty="0" err="1">
                <a:ln>
                  <a:noFill/>
                </a:ln>
                <a:solidFill>
                  <a:prstClr val="black"/>
                </a:solidFill>
                <a:effectLst/>
                <a:uLnTx/>
                <a:uFillTx/>
                <a:latin typeface="Courier New" panose="02070309020205020404" pitchFamily="49" charset="0"/>
                <a:ea typeface="ＭＳ Ｐゴシック" panose="020B0600070205080204" pitchFamily="34" charset="-128"/>
                <a:cs typeface="+mn-cs"/>
              </a:rPr>
              <a:t>RcvBuffer</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limits amount of </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in-flight”) data to be received </a:t>
            </a:r>
            <a:r>
              <a:rPr kumimoji="0" lang="en-US" altLang="ja-JP" sz="2800" b="1" i="0" u="none" strike="noStrike" kern="1200" cap="none" spc="0" normalizeH="0" baseline="0" noProof="0" dirty="0" err="1">
                <a:ln>
                  <a:noFill/>
                </a:ln>
                <a:solidFill>
                  <a:prstClr val="black"/>
                </a:solidFill>
                <a:effectLst/>
                <a:uLnTx/>
                <a:uFillTx/>
                <a:latin typeface="Courier New" panose="02070309020205020404" pitchFamily="49" charset="0"/>
                <a:ea typeface="ＭＳ Ｐゴシック" panose="020B0600070205080204" pitchFamily="34" charset="-128"/>
                <a:cs typeface="+mn-cs"/>
              </a:rPr>
              <a:t>rwnd</a:t>
            </a:r>
            <a:endParaRPr kumimoji="0" lang="en-US" altLang="ja-JP" sz="2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guarantees receive buffer will not overflow</a:t>
            </a:r>
          </a:p>
        </p:txBody>
      </p:sp>
      <p:grpSp>
        <p:nvGrpSpPr>
          <p:cNvPr id="4" name="Group 3">
            <a:extLst>
              <a:ext uri="{FF2B5EF4-FFF2-40B4-BE49-F238E27FC236}">
                <a16:creationId xmlns:a16="http://schemas.microsoft.com/office/drawing/2014/main" id="{65ED315A-00AA-7C4A-8164-7D6F6F0CAA0E}"/>
              </a:ext>
            </a:extLst>
          </p:cNvPr>
          <p:cNvGrpSpPr/>
          <p:nvPr/>
        </p:nvGrpSpPr>
        <p:grpSpPr>
          <a:xfrm>
            <a:off x="7363745" y="1068614"/>
            <a:ext cx="4349284" cy="5165818"/>
            <a:chOff x="7334716" y="821871"/>
            <a:chExt cx="4349284" cy="5165818"/>
          </a:xfrm>
        </p:grpSpPr>
        <p:sp>
          <p:nvSpPr>
            <p:cNvPr id="43" name="Text Box 49">
              <a:extLst>
                <a:ext uri="{FF2B5EF4-FFF2-40B4-BE49-F238E27FC236}">
                  <a16:creationId xmlns:a16="http://schemas.microsoft.com/office/drawing/2014/main" id="{4942189D-75C7-5146-A769-620DCCD5AD2C}"/>
                </a:ext>
              </a:extLst>
            </p:cNvPr>
            <p:cNvSpPr txBox="1">
              <a:spLocks noChangeArrowheads="1"/>
            </p:cNvSpPr>
            <p:nvPr/>
          </p:nvSpPr>
          <p:spPr bwMode="auto">
            <a:xfrm>
              <a:off x="7334716" y="821871"/>
              <a:ext cx="4349284" cy="3416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flow control: </a:t>
              </a:r>
              <a:r>
                <a:rPr kumimoji="0" lang="en-US" sz="16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bytes receiver willing to accept</a:t>
              </a:r>
              <a:endPar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3" name="Group 2">
              <a:extLst>
                <a:ext uri="{FF2B5EF4-FFF2-40B4-BE49-F238E27FC236}">
                  <a16:creationId xmlns:a16="http://schemas.microsoft.com/office/drawing/2014/main" id="{013C6F91-8B0A-654D-A104-22DAAE940A5C}"/>
                </a:ext>
              </a:extLst>
            </p:cNvPr>
            <p:cNvGrpSpPr/>
            <p:nvPr/>
          </p:nvGrpSpPr>
          <p:grpSpPr>
            <a:xfrm>
              <a:off x="7490842" y="1445945"/>
              <a:ext cx="3173211" cy="4078555"/>
              <a:chOff x="7157014" y="1873079"/>
              <a:chExt cx="2251592" cy="2800562"/>
            </a:xfrm>
          </p:grpSpPr>
          <p:sp>
            <p:nvSpPr>
              <p:cNvPr id="31" name="Rectangle 4">
                <a:extLst>
                  <a:ext uri="{FF2B5EF4-FFF2-40B4-BE49-F238E27FC236}">
                    <a16:creationId xmlns:a16="http://schemas.microsoft.com/office/drawing/2014/main" id="{F26D3C4D-BBC1-F742-A1E0-D6E34A9B3149}"/>
                  </a:ext>
                </a:extLst>
              </p:cNvPr>
              <p:cNvSpPr>
                <a:spLocks noChangeArrowheads="1"/>
              </p:cNvSpPr>
              <p:nvPr/>
            </p:nvSpPr>
            <p:spPr bwMode="auto">
              <a:xfrm>
                <a:off x="7206558" y="1873079"/>
                <a:ext cx="2202048" cy="2745454"/>
              </a:xfrm>
              <a:prstGeom prst="rect">
                <a:avLst/>
              </a:prstGeom>
              <a:solidFill>
                <a:srgbClr val="000099"/>
              </a:solidFill>
              <a:ln>
                <a:noFill/>
              </a:ln>
              <a:effectLst/>
              <a:extLst>
                <a:ext uri="{91240B29-F687-4f45-9708-019B960494DF}">
                  <a14:hiddenLine xmlns:a14="http://schemas.microsoft.com/office/drawing/2010/main" xmlns="" w="1905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2" name="Rectangle 5">
                <a:extLst>
                  <a:ext uri="{FF2B5EF4-FFF2-40B4-BE49-F238E27FC236}">
                    <a16:creationId xmlns:a16="http://schemas.microsoft.com/office/drawing/2014/main" id="{EDEADB29-BFA2-B047-B027-A9139A42EC40}"/>
                  </a:ext>
                </a:extLst>
              </p:cNvPr>
              <p:cNvSpPr>
                <a:spLocks noChangeArrowheads="1"/>
              </p:cNvSpPr>
              <p:nvPr/>
            </p:nvSpPr>
            <p:spPr bwMode="auto">
              <a:xfrm>
                <a:off x="7158783" y="1939027"/>
                <a:ext cx="2202048" cy="2734614"/>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33" name="Line 8">
                <a:extLst>
                  <a:ext uri="{FF2B5EF4-FFF2-40B4-BE49-F238E27FC236}">
                    <a16:creationId xmlns:a16="http://schemas.microsoft.com/office/drawing/2014/main" id="{D6DDC5BF-A1E6-C24B-9CE3-F65B498DEB30}"/>
                  </a:ext>
                </a:extLst>
              </p:cNvPr>
              <p:cNvSpPr>
                <a:spLocks noChangeShapeType="1"/>
              </p:cNvSpPr>
              <p:nvPr/>
            </p:nvSpPr>
            <p:spPr bwMode="auto">
              <a:xfrm>
                <a:off x="7160553" y="2152232"/>
                <a:ext cx="2199395" cy="2711"/>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 name="Line 9">
                <a:extLst>
                  <a:ext uri="{FF2B5EF4-FFF2-40B4-BE49-F238E27FC236}">
                    <a16:creationId xmlns:a16="http://schemas.microsoft.com/office/drawing/2014/main" id="{D073AA58-CCB9-1143-BD54-AECB66E97A27}"/>
                  </a:ext>
                </a:extLst>
              </p:cNvPr>
              <p:cNvSpPr>
                <a:spLocks noChangeShapeType="1"/>
              </p:cNvSpPr>
              <p:nvPr/>
            </p:nvSpPr>
            <p:spPr bwMode="auto">
              <a:xfrm flipV="1">
                <a:off x="7157014" y="2368146"/>
                <a:ext cx="2202048"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5" name="Line 16">
                <a:extLst>
                  <a:ext uri="{FF2B5EF4-FFF2-40B4-BE49-F238E27FC236}">
                    <a16:creationId xmlns:a16="http://schemas.microsoft.com/office/drawing/2014/main" id="{3BCF6F65-DFAE-C544-BAEE-68B6416C49EB}"/>
                  </a:ext>
                </a:extLst>
              </p:cNvPr>
              <p:cNvSpPr>
                <a:spLocks noChangeShapeType="1"/>
              </p:cNvSpPr>
              <p:nvPr/>
            </p:nvSpPr>
            <p:spPr bwMode="auto">
              <a:xfrm flipV="1">
                <a:off x="7162322" y="2584964"/>
                <a:ext cx="2202048"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6" name="Line 18">
                <a:extLst>
                  <a:ext uri="{FF2B5EF4-FFF2-40B4-BE49-F238E27FC236}">
                    <a16:creationId xmlns:a16="http://schemas.microsoft.com/office/drawing/2014/main" id="{73D40423-B9BC-B445-A204-77B62C8A65F0}"/>
                  </a:ext>
                </a:extLst>
              </p:cNvPr>
              <p:cNvSpPr>
                <a:spLocks noChangeShapeType="1"/>
              </p:cNvSpPr>
              <p:nvPr/>
            </p:nvSpPr>
            <p:spPr bwMode="auto">
              <a:xfrm flipV="1">
                <a:off x="7159668" y="2809912"/>
                <a:ext cx="2202049"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7" name="Line 19">
                <a:extLst>
                  <a:ext uri="{FF2B5EF4-FFF2-40B4-BE49-F238E27FC236}">
                    <a16:creationId xmlns:a16="http://schemas.microsoft.com/office/drawing/2014/main" id="{9E50A3C5-1DEF-C346-9F9A-A93A3289A502}"/>
                  </a:ext>
                </a:extLst>
              </p:cNvPr>
              <p:cNvSpPr>
                <a:spLocks noChangeShapeType="1"/>
              </p:cNvSpPr>
              <p:nvPr/>
            </p:nvSpPr>
            <p:spPr bwMode="auto">
              <a:xfrm flipV="1">
                <a:off x="7157014" y="3032150"/>
                <a:ext cx="2202048"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8" name="Line 20">
                <a:extLst>
                  <a:ext uri="{FF2B5EF4-FFF2-40B4-BE49-F238E27FC236}">
                    <a16:creationId xmlns:a16="http://schemas.microsoft.com/office/drawing/2014/main" id="{548B775C-D85F-5847-B406-FA9F2CBD5940}"/>
                  </a:ext>
                </a:extLst>
              </p:cNvPr>
              <p:cNvSpPr>
                <a:spLocks noChangeShapeType="1"/>
              </p:cNvSpPr>
              <p:nvPr/>
            </p:nvSpPr>
            <p:spPr bwMode="auto">
              <a:xfrm flipV="1">
                <a:off x="7157014" y="3351956"/>
                <a:ext cx="2202048"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9" name="Line 21">
                <a:extLst>
                  <a:ext uri="{FF2B5EF4-FFF2-40B4-BE49-F238E27FC236}">
                    <a16:creationId xmlns:a16="http://schemas.microsoft.com/office/drawing/2014/main" id="{5295938A-7AD9-3A43-B065-16AE7DE46620}"/>
                  </a:ext>
                </a:extLst>
              </p:cNvPr>
              <p:cNvSpPr>
                <a:spLocks noChangeShapeType="1"/>
              </p:cNvSpPr>
              <p:nvPr/>
            </p:nvSpPr>
            <p:spPr bwMode="auto">
              <a:xfrm flipH="1" flipV="1">
                <a:off x="8249633" y="2586771"/>
                <a:ext cx="2654" cy="442669"/>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2" name="Text Box 22">
                <a:extLst>
                  <a:ext uri="{FF2B5EF4-FFF2-40B4-BE49-F238E27FC236}">
                    <a16:creationId xmlns:a16="http://schemas.microsoft.com/office/drawing/2014/main" id="{DBAB1210-0C8C-574D-9755-E0E40D1D8E2B}"/>
                  </a:ext>
                </a:extLst>
              </p:cNvPr>
              <p:cNvSpPr txBox="1">
                <a:spLocks noChangeArrowheads="1"/>
              </p:cNvSpPr>
              <p:nvPr/>
            </p:nvSpPr>
            <p:spPr bwMode="auto">
              <a:xfrm>
                <a:off x="8220544" y="2572087"/>
                <a:ext cx="1124010" cy="23247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receive window</a:t>
                </a:r>
              </a:p>
            </p:txBody>
          </p:sp>
          <p:sp>
            <p:nvSpPr>
              <p:cNvPr id="41" name="Line 10">
                <a:extLst>
                  <a:ext uri="{FF2B5EF4-FFF2-40B4-BE49-F238E27FC236}">
                    <a16:creationId xmlns:a16="http://schemas.microsoft.com/office/drawing/2014/main" id="{A5EAF221-945B-9044-8647-B161BDC6D143}"/>
                  </a:ext>
                </a:extLst>
              </p:cNvPr>
              <p:cNvSpPr>
                <a:spLocks noChangeShapeType="1"/>
              </p:cNvSpPr>
              <p:nvPr/>
            </p:nvSpPr>
            <p:spPr bwMode="auto">
              <a:xfrm flipH="1" flipV="1">
                <a:off x="8241671" y="1940977"/>
                <a:ext cx="981" cy="207817"/>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4" name="Line 53">
              <a:extLst>
                <a:ext uri="{FF2B5EF4-FFF2-40B4-BE49-F238E27FC236}">
                  <a16:creationId xmlns:a16="http://schemas.microsoft.com/office/drawing/2014/main" id="{1BBBD060-CF26-F24A-BA7E-49EE7DADEE01}"/>
                </a:ext>
              </a:extLst>
            </p:cNvPr>
            <p:cNvSpPr>
              <a:spLocks noChangeShapeType="1"/>
            </p:cNvSpPr>
            <p:nvPr/>
          </p:nvSpPr>
          <p:spPr bwMode="auto">
            <a:xfrm flipH="1" flipV="1">
              <a:off x="7968285" y="1150408"/>
              <a:ext cx="1233771" cy="1404106"/>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46" name="Text Box 49">
              <a:extLst>
                <a:ext uri="{FF2B5EF4-FFF2-40B4-BE49-F238E27FC236}">
                  <a16:creationId xmlns:a16="http://schemas.microsoft.com/office/drawing/2014/main" id="{FBFCD652-9EB9-FE4F-BB9F-A9277C4DE74F}"/>
                </a:ext>
              </a:extLst>
            </p:cNvPr>
            <p:cNvSpPr txBox="1">
              <a:spLocks noChangeArrowheads="1"/>
            </p:cNvSpPr>
            <p:nvPr/>
          </p:nvSpPr>
          <p:spPr bwMode="auto">
            <a:xfrm>
              <a:off x="8125744" y="5646057"/>
              <a:ext cx="2310027" cy="3416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TCP segment format</a:t>
              </a:r>
            </a:p>
          </p:txBody>
        </p:sp>
      </p:grpSp>
      <p:sp>
        <p:nvSpPr>
          <p:cNvPr id="20" name="Slide Number Placeholder 2">
            <a:extLst>
              <a:ext uri="{FF2B5EF4-FFF2-40B4-BE49-F238E27FC236}">
                <a16:creationId xmlns:a16="http://schemas.microsoft.com/office/drawing/2014/main" id="{73A53F5E-537D-1E40-85EE-92D8692A70E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35</a:t>
            </a:fld>
            <a:endParaRPr lang="en-US" dirty="0"/>
          </a:p>
        </p:txBody>
      </p:sp>
    </p:spTree>
    <p:extLst>
      <p:ext uri="{BB962C8B-B14F-4D97-AF65-F5344CB8AC3E}">
        <p14:creationId xmlns:p14="http://schemas.microsoft.com/office/powerpoint/2010/main" val="3774413299"/>
      </p:ext>
    </p:extLst>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connection management</a:t>
            </a:r>
            <a:endParaRPr lang="en-US" sz="4400" b="0" dirty="0"/>
          </a:p>
        </p:txBody>
      </p:sp>
      <p:sp>
        <p:nvSpPr>
          <p:cNvPr id="31" name="Rectangle 5">
            <a:extLst>
              <a:ext uri="{FF2B5EF4-FFF2-40B4-BE49-F238E27FC236}">
                <a16:creationId xmlns:a16="http://schemas.microsoft.com/office/drawing/2014/main" id="{9C578410-CCAC-A940-BEC5-74269A538606}"/>
              </a:ext>
            </a:extLst>
          </p:cNvPr>
          <p:cNvSpPr txBox="1">
            <a:spLocks noChangeArrowheads="1"/>
          </p:cNvSpPr>
          <p:nvPr/>
        </p:nvSpPr>
        <p:spPr>
          <a:xfrm>
            <a:off x="785243" y="1329399"/>
            <a:ext cx="11329310" cy="21875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before exchanging data, sender/receiver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handshake”:</a:t>
            </a:r>
          </a:p>
          <a:p>
            <a:pPr marL="352425" marR="0" lvl="0" indent="-222250"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agree to establish connection (each knowing the other willing to establish connection)</a:t>
            </a:r>
          </a:p>
          <a:p>
            <a:pPr marL="352425" marR="0" lvl="0" indent="-222250"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agree on connection parameters (e.g., starting seq #s)</a:t>
            </a:r>
          </a:p>
        </p:txBody>
      </p:sp>
      <p:sp>
        <p:nvSpPr>
          <p:cNvPr id="129" name="Rectangle 62">
            <a:extLst>
              <a:ext uri="{FF2B5EF4-FFF2-40B4-BE49-F238E27FC236}">
                <a16:creationId xmlns:a16="http://schemas.microsoft.com/office/drawing/2014/main" id="{C5E2ED2D-96E6-7640-B8B9-2E97B87686AF}"/>
              </a:ext>
            </a:extLst>
          </p:cNvPr>
          <p:cNvSpPr>
            <a:spLocks noChangeArrowheads="1"/>
          </p:cNvSpPr>
          <p:nvPr/>
        </p:nvSpPr>
        <p:spPr bwMode="auto">
          <a:xfrm>
            <a:off x="3138677" y="2935290"/>
            <a:ext cx="2279650" cy="2414588"/>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0" name="Rectangle 45">
            <a:extLst>
              <a:ext uri="{FF2B5EF4-FFF2-40B4-BE49-F238E27FC236}">
                <a16:creationId xmlns:a16="http://schemas.microsoft.com/office/drawing/2014/main" id="{E1C433CA-144F-FE40-9939-574216DE0F50}"/>
              </a:ext>
            </a:extLst>
          </p:cNvPr>
          <p:cNvSpPr>
            <a:spLocks noChangeArrowheads="1"/>
          </p:cNvSpPr>
          <p:nvPr/>
        </p:nvSpPr>
        <p:spPr bwMode="auto">
          <a:xfrm>
            <a:off x="3098989" y="2989265"/>
            <a:ext cx="2270125" cy="24717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Line 55">
            <a:extLst>
              <a:ext uri="{FF2B5EF4-FFF2-40B4-BE49-F238E27FC236}">
                <a16:creationId xmlns:a16="http://schemas.microsoft.com/office/drawing/2014/main" id="{B5AF7973-E361-6A42-9B3B-A8AD0E9C7140}"/>
              </a:ext>
            </a:extLst>
          </p:cNvPr>
          <p:cNvSpPr>
            <a:spLocks noChangeShapeType="1"/>
          </p:cNvSpPr>
          <p:nvPr/>
        </p:nvSpPr>
        <p:spPr bwMode="auto">
          <a:xfrm>
            <a:off x="3098989" y="3430590"/>
            <a:ext cx="227012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2" name="Text Box 6">
            <a:extLst>
              <a:ext uri="{FF2B5EF4-FFF2-40B4-BE49-F238E27FC236}">
                <a16:creationId xmlns:a16="http://schemas.microsoft.com/office/drawing/2014/main" id="{F4060720-F3C5-A543-A168-90183A3F78EB}"/>
              </a:ext>
            </a:extLst>
          </p:cNvPr>
          <p:cNvSpPr txBox="1">
            <a:spLocks noChangeArrowheads="1"/>
          </p:cNvSpPr>
          <p:nvPr/>
        </p:nvSpPr>
        <p:spPr bwMode="auto">
          <a:xfrm>
            <a:off x="3113277" y="3543303"/>
            <a:ext cx="2335212" cy="1581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230188">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connection state: ESTAB</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connection variables:</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seq # client-to-server</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         server-to-client</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000000"/>
                </a:solidFill>
                <a:effectLst/>
                <a:uLnTx/>
                <a:uFillTx/>
                <a:latin typeface="Courier New" charset="0"/>
                <a:ea typeface="ＭＳ Ｐゴシック" charset="0"/>
                <a:cs typeface="+mn-cs"/>
              </a:rPr>
              <a:t>rcvBuffer</a:t>
            </a: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 size</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   at server,client </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           </a:t>
            </a:r>
          </a:p>
        </p:txBody>
      </p:sp>
      <p:grpSp>
        <p:nvGrpSpPr>
          <p:cNvPr id="133" name="Group 46">
            <a:extLst>
              <a:ext uri="{FF2B5EF4-FFF2-40B4-BE49-F238E27FC236}">
                <a16:creationId xmlns:a16="http://schemas.microsoft.com/office/drawing/2014/main" id="{B33AB7A5-CCC5-254C-8A3A-759B759D5041}"/>
              </a:ext>
            </a:extLst>
          </p:cNvPr>
          <p:cNvGrpSpPr>
            <a:grpSpLocks/>
          </p:cNvGrpSpPr>
          <p:nvPr/>
        </p:nvGrpSpPr>
        <p:grpSpPr bwMode="auto">
          <a:xfrm>
            <a:off x="3979492" y="3344865"/>
            <a:ext cx="438150" cy="206375"/>
            <a:chOff x="344" y="1846"/>
            <a:chExt cx="336" cy="130"/>
          </a:xfrm>
        </p:grpSpPr>
        <p:sp>
          <p:nvSpPr>
            <p:cNvPr id="134" name="Rectangle 47">
              <a:extLst>
                <a:ext uri="{FF2B5EF4-FFF2-40B4-BE49-F238E27FC236}">
                  <a16:creationId xmlns:a16="http://schemas.microsoft.com/office/drawing/2014/main" id="{6C823A22-D6EB-C649-B7E4-0B164EE814C3}"/>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5" name="Rectangle 48">
              <a:extLst>
                <a:ext uri="{FF2B5EF4-FFF2-40B4-BE49-F238E27FC236}">
                  <a16:creationId xmlns:a16="http://schemas.microsoft.com/office/drawing/2014/main" id="{A8BB07C4-6AD0-A344-8975-A5BF33372416}"/>
                </a:ext>
              </a:extLst>
            </p:cNvPr>
            <p:cNvSpPr>
              <a:spLocks noChangeArrowheads="1"/>
            </p:cNvSpPr>
            <p:nvPr/>
          </p:nvSpPr>
          <p:spPr bwMode="auto">
            <a:xfrm>
              <a:off x="454" y="1863"/>
              <a:ext cx="112"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Rectangle 49">
              <a:extLst>
                <a:ext uri="{FF2B5EF4-FFF2-40B4-BE49-F238E27FC236}">
                  <a16:creationId xmlns:a16="http://schemas.microsoft.com/office/drawing/2014/main" id="{2CA09AF3-81EA-B643-82AA-454FD210EE48}"/>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Rectangle 50">
              <a:extLst>
                <a:ext uri="{FF2B5EF4-FFF2-40B4-BE49-F238E27FC236}">
                  <a16:creationId xmlns:a16="http://schemas.microsoft.com/office/drawing/2014/main" id="{467634F2-41DA-0748-9C1A-D08864A76A2F}"/>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8" name="Text Box 54">
            <a:extLst>
              <a:ext uri="{FF2B5EF4-FFF2-40B4-BE49-F238E27FC236}">
                <a16:creationId xmlns:a16="http://schemas.microsoft.com/office/drawing/2014/main" id="{A9AEB3C4-6978-5E48-B717-A659B5C3B9DD}"/>
              </a:ext>
            </a:extLst>
          </p:cNvPr>
          <p:cNvSpPr txBox="1">
            <a:spLocks noChangeArrowheads="1"/>
          </p:cNvSpPr>
          <p:nvPr/>
        </p:nvSpPr>
        <p:spPr bwMode="auto">
          <a:xfrm>
            <a:off x="3617081" y="3006443"/>
            <a:ext cx="114617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application</a:t>
            </a:r>
          </a:p>
        </p:txBody>
      </p:sp>
      <p:sp>
        <p:nvSpPr>
          <p:cNvPr id="139" name="Line 56">
            <a:extLst>
              <a:ext uri="{FF2B5EF4-FFF2-40B4-BE49-F238E27FC236}">
                <a16:creationId xmlns:a16="http://schemas.microsoft.com/office/drawing/2014/main" id="{D326D2D6-0DA1-914C-9073-3ECFE526F8CC}"/>
              </a:ext>
            </a:extLst>
          </p:cNvPr>
          <p:cNvSpPr>
            <a:spLocks noChangeShapeType="1"/>
          </p:cNvSpPr>
          <p:nvPr/>
        </p:nvSpPr>
        <p:spPr bwMode="auto">
          <a:xfrm>
            <a:off x="3105339" y="4926015"/>
            <a:ext cx="2268538"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Text Box 57">
            <a:extLst>
              <a:ext uri="{FF2B5EF4-FFF2-40B4-BE49-F238E27FC236}">
                <a16:creationId xmlns:a16="http://schemas.microsoft.com/office/drawing/2014/main" id="{E4C0EAD6-0908-3C42-9A10-A6AAF94515B4}"/>
              </a:ext>
            </a:extLst>
          </p:cNvPr>
          <p:cNvSpPr txBox="1">
            <a:spLocks noChangeArrowheads="1"/>
          </p:cNvSpPr>
          <p:nvPr/>
        </p:nvSpPr>
        <p:spPr bwMode="auto">
          <a:xfrm>
            <a:off x="3623658" y="5021176"/>
            <a:ext cx="9080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network</a:t>
            </a:r>
          </a:p>
        </p:txBody>
      </p:sp>
      <p:sp>
        <p:nvSpPr>
          <p:cNvPr id="141" name="Rectangle 58">
            <a:extLst>
              <a:ext uri="{FF2B5EF4-FFF2-40B4-BE49-F238E27FC236}">
                <a16:creationId xmlns:a16="http://schemas.microsoft.com/office/drawing/2014/main" id="{1CB6C439-3E38-7043-B2E4-E0EA4F390BE5}"/>
              </a:ext>
            </a:extLst>
          </p:cNvPr>
          <p:cNvSpPr>
            <a:spLocks noChangeArrowheads="1"/>
          </p:cNvSpPr>
          <p:nvPr/>
        </p:nvSpPr>
        <p:spPr bwMode="auto">
          <a:xfrm>
            <a:off x="3070414" y="5348290"/>
            <a:ext cx="2335213" cy="1809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Line 59">
            <a:extLst>
              <a:ext uri="{FF2B5EF4-FFF2-40B4-BE49-F238E27FC236}">
                <a16:creationId xmlns:a16="http://schemas.microsoft.com/office/drawing/2014/main" id="{D8BBE84F-BCD3-BB4A-9FD3-757AFB3C13AA}"/>
              </a:ext>
            </a:extLst>
          </p:cNvPr>
          <p:cNvSpPr>
            <a:spLocks noChangeShapeType="1"/>
          </p:cNvSpPr>
          <p:nvPr/>
        </p:nvSpPr>
        <p:spPr bwMode="auto">
          <a:xfrm>
            <a:off x="3098989" y="5337178"/>
            <a:ext cx="0" cy="236537"/>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3" name="Line 60">
            <a:extLst>
              <a:ext uri="{FF2B5EF4-FFF2-40B4-BE49-F238E27FC236}">
                <a16:creationId xmlns:a16="http://schemas.microsoft.com/office/drawing/2014/main" id="{F862C10B-983A-F94D-A269-24CE747FC5AA}"/>
              </a:ext>
            </a:extLst>
          </p:cNvPr>
          <p:cNvSpPr>
            <a:spLocks noChangeShapeType="1"/>
          </p:cNvSpPr>
          <p:nvPr/>
        </p:nvSpPr>
        <p:spPr bwMode="auto">
          <a:xfrm>
            <a:off x="5362764" y="5308603"/>
            <a:ext cx="0" cy="236537"/>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Freeform 8">
            <a:extLst>
              <a:ext uri="{FF2B5EF4-FFF2-40B4-BE49-F238E27FC236}">
                <a16:creationId xmlns:a16="http://schemas.microsoft.com/office/drawing/2014/main" id="{DF364C08-2C0C-EE4E-8664-EDA4833FE296}"/>
              </a:ext>
            </a:extLst>
          </p:cNvPr>
          <p:cNvSpPr>
            <a:spLocks/>
          </p:cNvSpPr>
          <p:nvPr/>
        </p:nvSpPr>
        <p:spPr bwMode="auto">
          <a:xfrm flipH="1">
            <a:off x="2625914" y="2992440"/>
            <a:ext cx="468313" cy="249078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63">
            <a:extLst>
              <a:ext uri="{FF2B5EF4-FFF2-40B4-BE49-F238E27FC236}">
                <a16:creationId xmlns:a16="http://schemas.microsoft.com/office/drawing/2014/main" id="{0F4E1AF7-DE3A-2541-818F-C54CEC430AE0}"/>
              </a:ext>
            </a:extLst>
          </p:cNvPr>
          <p:cNvSpPr>
            <a:spLocks noChangeArrowheads="1"/>
          </p:cNvSpPr>
          <p:nvPr/>
        </p:nvSpPr>
        <p:spPr bwMode="auto">
          <a:xfrm>
            <a:off x="7440802" y="2941640"/>
            <a:ext cx="2279650" cy="2414588"/>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6" name="Rectangle 64">
            <a:extLst>
              <a:ext uri="{FF2B5EF4-FFF2-40B4-BE49-F238E27FC236}">
                <a16:creationId xmlns:a16="http://schemas.microsoft.com/office/drawing/2014/main" id="{5B961E58-331E-B748-A80F-3B7778F1C486}"/>
              </a:ext>
            </a:extLst>
          </p:cNvPr>
          <p:cNvSpPr>
            <a:spLocks noChangeArrowheads="1"/>
          </p:cNvSpPr>
          <p:nvPr/>
        </p:nvSpPr>
        <p:spPr bwMode="auto">
          <a:xfrm>
            <a:off x="7401114" y="2995615"/>
            <a:ext cx="2270125" cy="24717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7" name="Line 65">
            <a:extLst>
              <a:ext uri="{FF2B5EF4-FFF2-40B4-BE49-F238E27FC236}">
                <a16:creationId xmlns:a16="http://schemas.microsoft.com/office/drawing/2014/main" id="{83696C28-A57C-AC46-B97E-048E3D615664}"/>
              </a:ext>
            </a:extLst>
          </p:cNvPr>
          <p:cNvSpPr>
            <a:spLocks noChangeShapeType="1"/>
          </p:cNvSpPr>
          <p:nvPr/>
        </p:nvSpPr>
        <p:spPr bwMode="auto">
          <a:xfrm>
            <a:off x="7401114" y="3436940"/>
            <a:ext cx="227012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Text Box 66">
            <a:extLst>
              <a:ext uri="{FF2B5EF4-FFF2-40B4-BE49-F238E27FC236}">
                <a16:creationId xmlns:a16="http://schemas.microsoft.com/office/drawing/2014/main" id="{3C17C23B-2BF5-5B4E-BB33-288C1922406B}"/>
              </a:ext>
            </a:extLst>
          </p:cNvPr>
          <p:cNvSpPr txBox="1">
            <a:spLocks noChangeArrowheads="1"/>
          </p:cNvSpPr>
          <p:nvPr/>
        </p:nvSpPr>
        <p:spPr bwMode="auto">
          <a:xfrm>
            <a:off x="7415402" y="3549653"/>
            <a:ext cx="2335212" cy="1581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230188">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connection state: ESTAB</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connection Variables:</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seq # client-to-server</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          server-to-client</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000000"/>
                </a:solidFill>
                <a:effectLst/>
                <a:uLnTx/>
                <a:uFillTx/>
                <a:latin typeface="Courier New" charset="0"/>
                <a:ea typeface="ＭＳ Ｐゴシック" charset="0"/>
                <a:cs typeface="+mn-cs"/>
              </a:rPr>
              <a:t>rcvBuffer</a:t>
            </a: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 size</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   at server,client </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           </a:t>
            </a:r>
          </a:p>
        </p:txBody>
      </p:sp>
      <p:grpSp>
        <p:nvGrpSpPr>
          <p:cNvPr id="149" name="Group 67">
            <a:extLst>
              <a:ext uri="{FF2B5EF4-FFF2-40B4-BE49-F238E27FC236}">
                <a16:creationId xmlns:a16="http://schemas.microsoft.com/office/drawing/2014/main" id="{A3675259-9C7A-1740-AEED-A90AD2D0AE87}"/>
              </a:ext>
            </a:extLst>
          </p:cNvPr>
          <p:cNvGrpSpPr>
            <a:grpSpLocks/>
          </p:cNvGrpSpPr>
          <p:nvPr/>
        </p:nvGrpSpPr>
        <p:grpSpPr bwMode="auto">
          <a:xfrm>
            <a:off x="8308511" y="3351215"/>
            <a:ext cx="438150" cy="206375"/>
            <a:chOff x="344" y="1846"/>
            <a:chExt cx="336" cy="130"/>
          </a:xfrm>
        </p:grpSpPr>
        <p:sp>
          <p:nvSpPr>
            <p:cNvPr id="150" name="Rectangle 68">
              <a:extLst>
                <a:ext uri="{FF2B5EF4-FFF2-40B4-BE49-F238E27FC236}">
                  <a16:creationId xmlns:a16="http://schemas.microsoft.com/office/drawing/2014/main" id="{4B4BD261-01C7-494F-8D01-68B19AA4B9AC}"/>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1" name="Rectangle 69">
              <a:extLst>
                <a:ext uri="{FF2B5EF4-FFF2-40B4-BE49-F238E27FC236}">
                  <a16:creationId xmlns:a16="http://schemas.microsoft.com/office/drawing/2014/main" id="{4E7628F3-86B5-E44C-8195-D9FF1BBA53D4}"/>
                </a:ext>
              </a:extLst>
            </p:cNvPr>
            <p:cNvSpPr>
              <a:spLocks noChangeArrowheads="1"/>
            </p:cNvSpPr>
            <p:nvPr/>
          </p:nvSpPr>
          <p:spPr bwMode="auto">
            <a:xfrm>
              <a:off x="454" y="1863"/>
              <a:ext cx="112"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2" name="Rectangle 70">
              <a:extLst>
                <a:ext uri="{FF2B5EF4-FFF2-40B4-BE49-F238E27FC236}">
                  <a16:creationId xmlns:a16="http://schemas.microsoft.com/office/drawing/2014/main" id="{BE5565DB-C659-5048-B6BD-16420D5CE92C}"/>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3" name="Rectangle 71">
              <a:extLst>
                <a:ext uri="{FF2B5EF4-FFF2-40B4-BE49-F238E27FC236}">
                  <a16:creationId xmlns:a16="http://schemas.microsoft.com/office/drawing/2014/main" id="{720A74F5-E1C3-FF45-B800-884CFBB24D0A}"/>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54" name="Text Box 72">
            <a:extLst>
              <a:ext uri="{FF2B5EF4-FFF2-40B4-BE49-F238E27FC236}">
                <a16:creationId xmlns:a16="http://schemas.microsoft.com/office/drawing/2014/main" id="{48C5FBCA-1883-5B46-BC6B-BD218B24C18D}"/>
              </a:ext>
            </a:extLst>
          </p:cNvPr>
          <p:cNvSpPr txBox="1">
            <a:spLocks noChangeArrowheads="1"/>
          </p:cNvSpPr>
          <p:nvPr/>
        </p:nvSpPr>
        <p:spPr bwMode="auto">
          <a:xfrm>
            <a:off x="7943246" y="3024051"/>
            <a:ext cx="114617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application</a:t>
            </a:r>
          </a:p>
        </p:txBody>
      </p:sp>
      <p:sp>
        <p:nvSpPr>
          <p:cNvPr id="155" name="Line 73">
            <a:extLst>
              <a:ext uri="{FF2B5EF4-FFF2-40B4-BE49-F238E27FC236}">
                <a16:creationId xmlns:a16="http://schemas.microsoft.com/office/drawing/2014/main" id="{C7D010E1-FDC8-B843-B502-33120A86EB14}"/>
              </a:ext>
            </a:extLst>
          </p:cNvPr>
          <p:cNvSpPr>
            <a:spLocks noChangeShapeType="1"/>
          </p:cNvSpPr>
          <p:nvPr/>
        </p:nvSpPr>
        <p:spPr bwMode="auto">
          <a:xfrm>
            <a:off x="7407464" y="4932365"/>
            <a:ext cx="2268538"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6" name="Text Box 74">
            <a:extLst>
              <a:ext uri="{FF2B5EF4-FFF2-40B4-BE49-F238E27FC236}">
                <a16:creationId xmlns:a16="http://schemas.microsoft.com/office/drawing/2014/main" id="{46053DCC-44E5-2C43-B37B-8DA921C733B2}"/>
              </a:ext>
            </a:extLst>
          </p:cNvPr>
          <p:cNvSpPr txBox="1">
            <a:spLocks noChangeArrowheads="1"/>
          </p:cNvSpPr>
          <p:nvPr/>
        </p:nvSpPr>
        <p:spPr bwMode="auto">
          <a:xfrm>
            <a:off x="8070953" y="5013813"/>
            <a:ext cx="9080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network</a:t>
            </a:r>
          </a:p>
        </p:txBody>
      </p:sp>
      <p:sp>
        <p:nvSpPr>
          <p:cNvPr id="157" name="Rectangle 75">
            <a:extLst>
              <a:ext uri="{FF2B5EF4-FFF2-40B4-BE49-F238E27FC236}">
                <a16:creationId xmlns:a16="http://schemas.microsoft.com/office/drawing/2014/main" id="{2794759F-1BDF-124F-8990-F97B9E3FFDCA}"/>
              </a:ext>
            </a:extLst>
          </p:cNvPr>
          <p:cNvSpPr>
            <a:spLocks noChangeArrowheads="1"/>
          </p:cNvSpPr>
          <p:nvPr/>
        </p:nvSpPr>
        <p:spPr bwMode="auto">
          <a:xfrm>
            <a:off x="7372539" y="5354640"/>
            <a:ext cx="2335213" cy="1809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8" name="Line 76">
            <a:extLst>
              <a:ext uri="{FF2B5EF4-FFF2-40B4-BE49-F238E27FC236}">
                <a16:creationId xmlns:a16="http://schemas.microsoft.com/office/drawing/2014/main" id="{AA62258B-6959-8646-9E2E-9B0097512BD1}"/>
              </a:ext>
            </a:extLst>
          </p:cNvPr>
          <p:cNvSpPr>
            <a:spLocks noChangeShapeType="1"/>
          </p:cNvSpPr>
          <p:nvPr/>
        </p:nvSpPr>
        <p:spPr bwMode="auto">
          <a:xfrm>
            <a:off x="7401114" y="5343528"/>
            <a:ext cx="0" cy="236537"/>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9" name="Line 77">
            <a:extLst>
              <a:ext uri="{FF2B5EF4-FFF2-40B4-BE49-F238E27FC236}">
                <a16:creationId xmlns:a16="http://schemas.microsoft.com/office/drawing/2014/main" id="{B39909BE-5B6C-6F46-8749-CE29AEAB2CB2}"/>
              </a:ext>
            </a:extLst>
          </p:cNvPr>
          <p:cNvSpPr>
            <a:spLocks noChangeShapeType="1"/>
          </p:cNvSpPr>
          <p:nvPr/>
        </p:nvSpPr>
        <p:spPr bwMode="auto">
          <a:xfrm>
            <a:off x="9664889" y="5314953"/>
            <a:ext cx="0" cy="236537"/>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0" name="Freeform 78">
            <a:extLst>
              <a:ext uri="{FF2B5EF4-FFF2-40B4-BE49-F238E27FC236}">
                <a16:creationId xmlns:a16="http://schemas.microsoft.com/office/drawing/2014/main" id="{830D21F8-79F0-0E4D-A9EF-3C8300C80D17}"/>
              </a:ext>
            </a:extLst>
          </p:cNvPr>
          <p:cNvSpPr>
            <a:spLocks/>
          </p:cNvSpPr>
          <p:nvPr/>
        </p:nvSpPr>
        <p:spPr bwMode="auto">
          <a:xfrm>
            <a:off x="9682352" y="2932115"/>
            <a:ext cx="468312" cy="249078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1" name="Text Box 83">
            <a:extLst>
              <a:ext uri="{FF2B5EF4-FFF2-40B4-BE49-F238E27FC236}">
                <a16:creationId xmlns:a16="http://schemas.microsoft.com/office/drawing/2014/main" id="{E97571FE-EF31-0544-985B-906D8CF8F351}"/>
              </a:ext>
            </a:extLst>
          </p:cNvPr>
          <p:cNvSpPr txBox="1">
            <a:spLocks noChangeArrowheads="1"/>
          </p:cNvSpPr>
          <p:nvPr/>
        </p:nvSpPr>
        <p:spPr bwMode="auto">
          <a:xfrm>
            <a:off x="996046" y="5759648"/>
            <a:ext cx="5633357"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marL="231775" indent="-23177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231775" marR="0" lvl="0" indent="-231775"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Socket </a:t>
            </a: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clientSocket</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   </a:t>
            </a:r>
          </a:p>
          <a:p>
            <a:pPr marL="231775" marR="0" lvl="0" indent="-231775"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a:t>
            </a: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newSocket</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a:t>
            </a: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hostname","port</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number");</a:t>
            </a:r>
          </a:p>
        </p:txBody>
      </p:sp>
      <p:sp>
        <p:nvSpPr>
          <p:cNvPr id="162" name="Text Box 85">
            <a:extLst>
              <a:ext uri="{FF2B5EF4-FFF2-40B4-BE49-F238E27FC236}">
                <a16:creationId xmlns:a16="http://schemas.microsoft.com/office/drawing/2014/main" id="{C80EBC7F-DBC0-BD40-9507-82100813B9B7}"/>
              </a:ext>
            </a:extLst>
          </p:cNvPr>
          <p:cNvSpPr txBox="1">
            <a:spLocks noChangeArrowheads="1"/>
          </p:cNvSpPr>
          <p:nvPr/>
        </p:nvSpPr>
        <p:spPr bwMode="auto">
          <a:xfrm>
            <a:off x="7021795" y="5773144"/>
            <a:ext cx="4159599"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marL="231775" indent="-23177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231775" marR="0" lvl="0" indent="-231775"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Socket </a:t>
            </a: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connectionSocket</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 </a:t>
            </a: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welcomeSocket.accept</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a:t>
            </a:r>
          </a:p>
        </p:txBody>
      </p:sp>
      <p:grpSp>
        <p:nvGrpSpPr>
          <p:cNvPr id="163" name="Group 89">
            <a:extLst>
              <a:ext uri="{FF2B5EF4-FFF2-40B4-BE49-F238E27FC236}">
                <a16:creationId xmlns:a16="http://schemas.microsoft.com/office/drawing/2014/main" id="{DB71F8E2-0EB4-2A4E-B4C5-3DC2955DEDE8}"/>
              </a:ext>
            </a:extLst>
          </p:cNvPr>
          <p:cNvGrpSpPr>
            <a:grpSpLocks/>
          </p:cNvGrpSpPr>
          <p:nvPr/>
        </p:nvGrpSpPr>
        <p:grpSpPr bwMode="auto">
          <a:xfrm>
            <a:off x="2149664" y="5024440"/>
            <a:ext cx="698500" cy="612775"/>
            <a:chOff x="-44" y="1473"/>
            <a:chExt cx="981" cy="1105"/>
          </a:xfrm>
        </p:grpSpPr>
        <p:pic>
          <p:nvPicPr>
            <p:cNvPr id="164" name="Picture 90" descr="desktop_computer_stylized_medium">
              <a:extLst>
                <a:ext uri="{FF2B5EF4-FFF2-40B4-BE49-F238E27FC236}">
                  <a16:creationId xmlns:a16="http://schemas.microsoft.com/office/drawing/2014/main" id="{C631DB34-DA41-694E-BA26-57FDF68E68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 name="Freeform 91">
              <a:extLst>
                <a:ext uri="{FF2B5EF4-FFF2-40B4-BE49-F238E27FC236}">
                  <a16:creationId xmlns:a16="http://schemas.microsoft.com/office/drawing/2014/main" id="{BEF55614-0BD4-8249-9822-CEE59DA9A93D}"/>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6" name="Group 92">
            <a:extLst>
              <a:ext uri="{FF2B5EF4-FFF2-40B4-BE49-F238E27FC236}">
                <a16:creationId xmlns:a16="http://schemas.microsoft.com/office/drawing/2014/main" id="{F06A1B16-A85F-394E-802F-0E5CD7D943D6}"/>
              </a:ext>
            </a:extLst>
          </p:cNvPr>
          <p:cNvGrpSpPr>
            <a:grpSpLocks/>
          </p:cNvGrpSpPr>
          <p:nvPr/>
        </p:nvGrpSpPr>
        <p:grpSpPr bwMode="auto">
          <a:xfrm>
            <a:off x="9964927" y="4922840"/>
            <a:ext cx="415925" cy="627063"/>
            <a:chOff x="4140" y="429"/>
            <a:chExt cx="1425" cy="2396"/>
          </a:xfrm>
        </p:grpSpPr>
        <p:sp>
          <p:nvSpPr>
            <p:cNvPr id="167" name="Freeform 93">
              <a:extLst>
                <a:ext uri="{FF2B5EF4-FFF2-40B4-BE49-F238E27FC236}">
                  <a16:creationId xmlns:a16="http://schemas.microsoft.com/office/drawing/2014/main" id="{0B18D7B8-4C19-6A48-9356-0BDC63F4B19E}"/>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Rectangle 94">
              <a:extLst>
                <a:ext uri="{FF2B5EF4-FFF2-40B4-BE49-F238E27FC236}">
                  <a16:creationId xmlns:a16="http://schemas.microsoft.com/office/drawing/2014/main" id="{83F51854-758D-F348-B0AE-4C8BBF01B327}"/>
                </a:ext>
              </a:extLst>
            </p:cNvPr>
            <p:cNvSpPr>
              <a:spLocks noChangeArrowheads="1"/>
            </p:cNvSpPr>
            <p:nvPr/>
          </p:nvSpPr>
          <p:spPr bwMode="auto">
            <a:xfrm>
              <a:off x="4205" y="429"/>
              <a:ext cx="1050" cy="2287"/>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9" name="Freeform 95">
              <a:extLst>
                <a:ext uri="{FF2B5EF4-FFF2-40B4-BE49-F238E27FC236}">
                  <a16:creationId xmlns:a16="http://schemas.microsoft.com/office/drawing/2014/main" id="{BCB6E605-7A9B-CA4D-855C-288812DAAB0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Freeform 96">
              <a:extLst>
                <a:ext uri="{FF2B5EF4-FFF2-40B4-BE49-F238E27FC236}">
                  <a16:creationId xmlns:a16="http://schemas.microsoft.com/office/drawing/2014/main" id="{010D7A25-5C86-B443-B0F4-6A6735092E3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1" name="Rectangle 97">
              <a:extLst>
                <a:ext uri="{FF2B5EF4-FFF2-40B4-BE49-F238E27FC236}">
                  <a16:creationId xmlns:a16="http://schemas.microsoft.com/office/drawing/2014/main" id="{6B6FDD4A-AD55-9345-AF53-BC625746DD19}"/>
                </a:ext>
              </a:extLst>
            </p:cNvPr>
            <p:cNvSpPr>
              <a:spLocks noChangeArrowheads="1"/>
            </p:cNvSpPr>
            <p:nvPr/>
          </p:nvSpPr>
          <p:spPr bwMode="auto">
            <a:xfrm>
              <a:off x="4211" y="696"/>
              <a:ext cx="598" cy="4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72" name="Group 98">
              <a:extLst>
                <a:ext uri="{FF2B5EF4-FFF2-40B4-BE49-F238E27FC236}">
                  <a16:creationId xmlns:a16="http://schemas.microsoft.com/office/drawing/2014/main" id="{A97FBBEC-0302-FA4C-A3B9-B0FD424712B4}"/>
                </a:ext>
              </a:extLst>
            </p:cNvPr>
            <p:cNvGrpSpPr>
              <a:grpSpLocks/>
            </p:cNvGrpSpPr>
            <p:nvPr/>
          </p:nvGrpSpPr>
          <p:grpSpPr bwMode="auto">
            <a:xfrm>
              <a:off x="4749" y="668"/>
              <a:ext cx="581" cy="145"/>
              <a:chOff x="614" y="2568"/>
              <a:chExt cx="725" cy="139"/>
            </a:xfrm>
          </p:grpSpPr>
          <p:sp>
            <p:nvSpPr>
              <p:cNvPr id="197" name="AutoShape 99">
                <a:extLst>
                  <a:ext uri="{FF2B5EF4-FFF2-40B4-BE49-F238E27FC236}">
                    <a16:creationId xmlns:a16="http://schemas.microsoft.com/office/drawing/2014/main" id="{C21CB491-D46B-EE41-AA0F-DE79A218D55A}"/>
                  </a:ext>
                </a:extLst>
              </p:cNvPr>
              <p:cNvSpPr>
                <a:spLocks noChangeArrowheads="1"/>
              </p:cNvSpPr>
              <p:nvPr/>
            </p:nvSpPr>
            <p:spPr bwMode="auto">
              <a:xfrm>
                <a:off x="614" y="2566"/>
                <a:ext cx="726"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AutoShape 100">
                <a:extLst>
                  <a:ext uri="{FF2B5EF4-FFF2-40B4-BE49-F238E27FC236}">
                    <a16:creationId xmlns:a16="http://schemas.microsoft.com/office/drawing/2014/main" id="{1FC5D9EE-EAE0-7E4E-B85F-6FC8DE4DEE26}"/>
                  </a:ext>
                </a:extLst>
              </p:cNvPr>
              <p:cNvSpPr>
                <a:spLocks noChangeArrowheads="1"/>
              </p:cNvSpPr>
              <p:nvPr/>
            </p:nvSpPr>
            <p:spPr bwMode="auto">
              <a:xfrm>
                <a:off x="628" y="2583"/>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73" name="Rectangle 101">
              <a:extLst>
                <a:ext uri="{FF2B5EF4-FFF2-40B4-BE49-F238E27FC236}">
                  <a16:creationId xmlns:a16="http://schemas.microsoft.com/office/drawing/2014/main" id="{8F3C4297-FFD3-D843-98B6-43C61A7317BF}"/>
                </a:ext>
              </a:extLst>
            </p:cNvPr>
            <p:cNvSpPr>
              <a:spLocks noChangeArrowheads="1"/>
            </p:cNvSpPr>
            <p:nvPr/>
          </p:nvSpPr>
          <p:spPr bwMode="auto">
            <a:xfrm>
              <a:off x="4222" y="1017"/>
              <a:ext cx="598"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74" name="Group 102">
              <a:extLst>
                <a:ext uri="{FF2B5EF4-FFF2-40B4-BE49-F238E27FC236}">
                  <a16:creationId xmlns:a16="http://schemas.microsoft.com/office/drawing/2014/main" id="{21DC2796-CCBB-6A4F-838F-49A2C67C0E64}"/>
                </a:ext>
              </a:extLst>
            </p:cNvPr>
            <p:cNvGrpSpPr>
              <a:grpSpLocks/>
            </p:cNvGrpSpPr>
            <p:nvPr/>
          </p:nvGrpSpPr>
          <p:grpSpPr bwMode="auto">
            <a:xfrm>
              <a:off x="4747" y="994"/>
              <a:ext cx="581" cy="134"/>
              <a:chOff x="614" y="2568"/>
              <a:chExt cx="725" cy="139"/>
            </a:xfrm>
          </p:grpSpPr>
          <p:sp>
            <p:nvSpPr>
              <p:cNvPr id="195" name="AutoShape 103">
                <a:extLst>
                  <a:ext uri="{FF2B5EF4-FFF2-40B4-BE49-F238E27FC236}">
                    <a16:creationId xmlns:a16="http://schemas.microsoft.com/office/drawing/2014/main" id="{969D7B41-0DC1-4440-AFDE-248D9CDB66EB}"/>
                  </a:ext>
                </a:extLst>
              </p:cNvPr>
              <p:cNvSpPr>
                <a:spLocks noChangeArrowheads="1"/>
              </p:cNvSpPr>
              <p:nvPr/>
            </p:nvSpPr>
            <p:spPr bwMode="auto">
              <a:xfrm>
                <a:off x="617" y="2567"/>
                <a:ext cx="719"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6" name="AutoShape 104">
                <a:extLst>
                  <a:ext uri="{FF2B5EF4-FFF2-40B4-BE49-F238E27FC236}">
                    <a16:creationId xmlns:a16="http://schemas.microsoft.com/office/drawing/2014/main" id="{B3EC6575-CF4C-6246-8181-ED39D289D214}"/>
                  </a:ext>
                </a:extLst>
              </p:cNvPr>
              <p:cNvSpPr>
                <a:spLocks noChangeArrowheads="1"/>
              </p:cNvSpPr>
              <p:nvPr/>
            </p:nvSpPr>
            <p:spPr bwMode="auto">
              <a:xfrm>
                <a:off x="630" y="2586"/>
                <a:ext cx="67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75" name="Rectangle 105">
              <a:extLst>
                <a:ext uri="{FF2B5EF4-FFF2-40B4-BE49-F238E27FC236}">
                  <a16:creationId xmlns:a16="http://schemas.microsoft.com/office/drawing/2014/main" id="{E4C8EF29-9693-8843-BE99-DFF7EF55F859}"/>
                </a:ext>
              </a:extLst>
            </p:cNvPr>
            <p:cNvSpPr>
              <a:spLocks noChangeArrowheads="1"/>
            </p:cNvSpPr>
            <p:nvPr/>
          </p:nvSpPr>
          <p:spPr bwMode="auto">
            <a:xfrm>
              <a:off x="4216" y="1357"/>
              <a:ext cx="598"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6" name="Rectangle 106">
              <a:extLst>
                <a:ext uri="{FF2B5EF4-FFF2-40B4-BE49-F238E27FC236}">
                  <a16:creationId xmlns:a16="http://schemas.microsoft.com/office/drawing/2014/main" id="{444A4DA4-95C5-7247-8CDB-5D7AF6D3A816}"/>
                </a:ext>
              </a:extLst>
            </p:cNvPr>
            <p:cNvSpPr>
              <a:spLocks noChangeArrowheads="1"/>
            </p:cNvSpPr>
            <p:nvPr/>
          </p:nvSpPr>
          <p:spPr bwMode="auto">
            <a:xfrm>
              <a:off x="4227" y="1654"/>
              <a:ext cx="598"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77" name="Group 107">
              <a:extLst>
                <a:ext uri="{FF2B5EF4-FFF2-40B4-BE49-F238E27FC236}">
                  <a16:creationId xmlns:a16="http://schemas.microsoft.com/office/drawing/2014/main" id="{E95F09FB-35B3-984D-8B07-8ED352E49862}"/>
                </a:ext>
              </a:extLst>
            </p:cNvPr>
            <p:cNvGrpSpPr>
              <a:grpSpLocks/>
            </p:cNvGrpSpPr>
            <p:nvPr/>
          </p:nvGrpSpPr>
          <p:grpSpPr bwMode="auto">
            <a:xfrm>
              <a:off x="4735" y="1627"/>
              <a:ext cx="582" cy="151"/>
              <a:chOff x="614" y="2568"/>
              <a:chExt cx="725" cy="139"/>
            </a:xfrm>
          </p:grpSpPr>
          <p:sp>
            <p:nvSpPr>
              <p:cNvPr id="193" name="AutoShape 108">
                <a:extLst>
                  <a:ext uri="{FF2B5EF4-FFF2-40B4-BE49-F238E27FC236}">
                    <a16:creationId xmlns:a16="http://schemas.microsoft.com/office/drawing/2014/main" id="{0D8F2BD6-B00B-A145-9FAD-DEBB9A14C761}"/>
                  </a:ext>
                </a:extLst>
              </p:cNvPr>
              <p:cNvSpPr>
                <a:spLocks noChangeArrowheads="1"/>
              </p:cNvSpPr>
              <p:nvPr/>
            </p:nvSpPr>
            <p:spPr bwMode="auto">
              <a:xfrm>
                <a:off x="611" y="2576"/>
                <a:ext cx="725" cy="123"/>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4" name="AutoShape 109">
                <a:extLst>
                  <a:ext uri="{FF2B5EF4-FFF2-40B4-BE49-F238E27FC236}">
                    <a16:creationId xmlns:a16="http://schemas.microsoft.com/office/drawing/2014/main" id="{FBEB72B8-9464-2649-9EA1-03257A809BD1}"/>
                  </a:ext>
                </a:extLst>
              </p:cNvPr>
              <p:cNvSpPr>
                <a:spLocks noChangeArrowheads="1"/>
              </p:cNvSpPr>
              <p:nvPr/>
            </p:nvSpPr>
            <p:spPr bwMode="auto">
              <a:xfrm>
                <a:off x="625" y="2588"/>
                <a:ext cx="691"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78" name="Freeform 110">
              <a:extLst>
                <a:ext uri="{FF2B5EF4-FFF2-40B4-BE49-F238E27FC236}">
                  <a16:creationId xmlns:a16="http://schemas.microsoft.com/office/drawing/2014/main" id="{69825DF1-2B01-DB4D-AD1A-63C84CD16387}"/>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9" name="Group 111">
              <a:extLst>
                <a:ext uri="{FF2B5EF4-FFF2-40B4-BE49-F238E27FC236}">
                  <a16:creationId xmlns:a16="http://schemas.microsoft.com/office/drawing/2014/main" id="{77E8896E-C175-9440-8F1C-C0DAB898AF9D}"/>
                </a:ext>
              </a:extLst>
            </p:cNvPr>
            <p:cNvGrpSpPr>
              <a:grpSpLocks/>
            </p:cNvGrpSpPr>
            <p:nvPr/>
          </p:nvGrpSpPr>
          <p:grpSpPr bwMode="auto">
            <a:xfrm>
              <a:off x="4739" y="1327"/>
              <a:ext cx="582" cy="139"/>
              <a:chOff x="614" y="2568"/>
              <a:chExt cx="725" cy="139"/>
            </a:xfrm>
          </p:grpSpPr>
          <p:sp>
            <p:nvSpPr>
              <p:cNvPr id="191" name="AutoShape 112">
                <a:extLst>
                  <a:ext uri="{FF2B5EF4-FFF2-40B4-BE49-F238E27FC236}">
                    <a16:creationId xmlns:a16="http://schemas.microsoft.com/office/drawing/2014/main" id="{207BBBCB-E17B-0743-A1A2-C4D7DD812519}"/>
                  </a:ext>
                </a:extLst>
              </p:cNvPr>
              <p:cNvSpPr>
                <a:spLocks noChangeArrowheads="1"/>
              </p:cNvSpPr>
              <p:nvPr/>
            </p:nvSpPr>
            <p:spPr bwMode="auto">
              <a:xfrm>
                <a:off x="613" y="2568"/>
                <a:ext cx="725"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2" name="AutoShape 113">
                <a:extLst>
                  <a:ext uri="{FF2B5EF4-FFF2-40B4-BE49-F238E27FC236}">
                    <a16:creationId xmlns:a16="http://schemas.microsoft.com/office/drawing/2014/main" id="{28DD6B35-219B-6B45-BF21-71B299ABB40C}"/>
                  </a:ext>
                </a:extLst>
              </p:cNvPr>
              <p:cNvSpPr>
                <a:spLocks noChangeArrowheads="1"/>
              </p:cNvSpPr>
              <p:nvPr/>
            </p:nvSpPr>
            <p:spPr bwMode="auto">
              <a:xfrm>
                <a:off x="627" y="2586"/>
                <a:ext cx="691"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0" name="Rectangle 114">
              <a:extLst>
                <a:ext uri="{FF2B5EF4-FFF2-40B4-BE49-F238E27FC236}">
                  <a16:creationId xmlns:a16="http://schemas.microsoft.com/office/drawing/2014/main" id="{CD269004-8DB5-4549-A4AF-499B61683FB8}"/>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1" name="Freeform 115">
              <a:extLst>
                <a:ext uri="{FF2B5EF4-FFF2-40B4-BE49-F238E27FC236}">
                  <a16:creationId xmlns:a16="http://schemas.microsoft.com/office/drawing/2014/main" id="{8AAFEB73-B442-224B-96A6-63129BA97E1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Freeform 116">
              <a:extLst>
                <a:ext uri="{FF2B5EF4-FFF2-40B4-BE49-F238E27FC236}">
                  <a16:creationId xmlns:a16="http://schemas.microsoft.com/office/drawing/2014/main" id="{E0880A41-79A8-9248-8678-A4C1ACE4B8B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Oval 117">
              <a:extLst>
                <a:ext uri="{FF2B5EF4-FFF2-40B4-BE49-F238E27FC236}">
                  <a16:creationId xmlns:a16="http://schemas.microsoft.com/office/drawing/2014/main" id="{11D25FBB-2A67-A949-8638-6A82B88E1AEE}"/>
                </a:ext>
              </a:extLst>
            </p:cNvPr>
            <p:cNvSpPr>
              <a:spLocks noChangeArrowheads="1"/>
            </p:cNvSpPr>
            <p:nvPr/>
          </p:nvSpPr>
          <p:spPr bwMode="auto">
            <a:xfrm>
              <a:off x="5516" y="2613"/>
              <a:ext cx="49"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4" name="Freeform 118">
              <a:extLst>
                <a:ext uri="{FF2B5EF4-FFF2-40B4-BE49-F238E27FC236}">
                  <a16:creationId xmlns:a16="http://schemas.microsoft.com/office/drawing/2014/main" id="{9FEB11C7-9DF6-A746-9A7F-CE68217C13B7}"/>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AutoShape 119">
              <a:extLst>
                <a:ext uri="{FF2B5EF4-FFF2-40B4-BE49-F238E27FC236}">
                  <a16:creationId xmlns:a16="http://schemas.microsoft.com/office/drawing/2014/main" id="{D279A648-2B84-1346-BF0F-DB65CFB075C7}"/>
                </a:ext>
              </a:extLst>
            </p:cNvPr>
            <p:cNvSpPr>
              <a:spLocks noChangeArrowheads="1"/>
            </p:cNvSpPr>
            <p:nvPr/>
          </p:nvSpPr>
          <p:spPr bwMode="auto">
            <a:xfrm>
              <a:off x="4140" y="2679"/>
              <a:ext cx="1197"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6" name="AutoShape 120">
              <a:extLst>
                <a:ext uri="{FF2B5EF4-FFF2-40B4-BE49-F238E27FC236}">
                  <a16:creationId xmlns:a16="http://schemas.microsoft.com/office/drawing/2014/main" id="{0EDBF10F-D10C-CA46-A0A9-1ACE621AD066}"/>
                </a:ext>
              </a:extLst>
            </p:cNvPr>
            <p:cNvSpPr>
              <a:spLocks noChangeArrowheads="1"/>
            </p:cNvSpPr>
            <p:nvPr/>
          </p:nvSpPr>
          <p:spPr bwMode="auto">
            <a:xfrm>
              <a:off x="4205" y="2710"/>
              <a:ext cx="1071"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7" name="Oval 121">
              <a:extLst>
                <a:ext uri="{FF2B5EF4-FFF2-40B4-BE49-F238E27FC236}">
                  <a16:creationId xmlns:a16="http://schemas.microsoft.com/office/drawing/2014/main" id="{E4E41E31-C9C4-AF4E-A419-E8421CCEF424}"/>
                </a:ext>
              </a:extLst>
            </p:cNvPr>
            <p:cNvSpPr>
              <a:spLocks noChangeArrowheads="1"/>
            </p:cNvSpPr>
            <p:nvPr/>
          </p:nvSpPr>
          <p:spPr bwMode="auto">
            <a:xfrm>
              <a:off x="4309"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8" name="Oval 122">
              <a:extLst>
                <a:ext uri="{FF2B5EF4-FFF2-40B4-BE49-F238E27FC236}">
                  <a16:creationId xmlns:a16="http://schemas.microsoft.com/office/drawing/2014/main" id="{2C59CE5F-437A-C441-8354-6530041056CC}"/>
                </a:ext>
              </a:extLst>
            </p:cNvPr>
            <p:cNvSpPr>
              <a:spLocks noChangeArrowheads="1"/>
            </p:cNvSpPr>
            <p:nvPr/>
          </p:nvSpPr>
          <p:spPr bwMode="auto">
            <a:xfrm>
              <a:off x="4488"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89" name="Oval 123">
              <a:extLst>
                <a:ext uri="{FF2B5EF4-FFF2-40B4-BE49-F238E27FC236}">
                  <a16:creationId xmlns:a16="http://schemas.microsoft.com/office/drawing/2014/main" id="{E077C775-39FA-824B-8701-FA02EBEDC5FF}"/>
                </a:ext>
              </a:extLst>
            </p:cNvPr>
            <p:cNvSpPr>
              <a:spLocks noChangeArrowheads="1"/>
            </p:cNvSpPr>
            <p:nvPr/>
          </p:nvSpPr>
          <p:spPr bwMode="auto">
            <a:xfrm>
              <a:off x="4662"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Rectangle 124">
              <a:extLst>
                <a:ext uri="{FF2B5EF4-FFF2-40B4-BE49-F238E27FC236}">
                  <a16:creationId xmlns:a16="http://schemas.microsoft.com/office/drawing/2014/main" id="{858DFD8B-E1AF-0646-911F-639730691009}"/>
                </a:ext>
              </a:extLst>
            </p:cNvPr>
            <p:cNvSpPr>
              <a:spLocks noChangeArrowheads="1"/>
            </p:cNvSpPr>
            <p:nvPr/>
          </p:nvSpPr>
          <p:spPr bwMode="auto">
            <a:xfrm>
              <a:off x="5065" y="1836"/>
              <a:ext cx="82"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74" name="Slide Number Placeholder 2">
            <a:extLst>
              <a:ext uri="{FF2B5EF4-FFF2-40B4-BE49-F238E27FC236}">
                <a16:creationId xmlns:a16="http://schemas.microsoft.com/office/drawing/2014/main" id="{2804BB5E-F6B2-BA48-BFC5-59C8B165BD2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36</a:t>
            </a:fld>
            <a:endParaRPr lang="en-US" dirty="0"/>
          </a:p>
        </p:txBody>
      </p:sp>
    </p:spTree>
    <p:extLst>
      <p:ext uri="{BB962C8B-B14F-4D97-AF65-F5344CB8AC3E}">
        <p14:creationId xmlns:p14="http://schemas.microsoft.com/office/powerpoint/2010/main" val="2492069188"/>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Agreeing to establish a connection</a:t>
            </a:r>
            <a:endParaRPr lang="en-US" sz="4400" b="0" dirty="0"/>
          </a:p>
        </p:txBody>
      </p:sp>
      <p:sp>
        <p:nvSpPr>
          <p:cNvPr id="211" name="Rectangle 63">
            <a:extLst>
              <a:ext uri="{FF2B5EF4-FFF2-40B4-BE49-F238E27FC236}">
                <a16:creationId xmlns:a16="http://schemas.microsoft.com/office/drawing/2014/main" id="{1C578050-76D7-774F-8B1E-4F455216E94E}"/>
              </a:ext>
            </a:extLst>
          </p:cNvPr>
          <p:cNvSpPr txBox="1">
            <a:spLocks noChangeArrowheads="1"/>
          </p:cNvSpPr>
          <p:nvPr/>
        </p:nvSpPr>
        <p:spPr bwMode="auto">
          <a:xfrm>
            <a:off x="5960737" y="2295084"/>
            <a:ext cx="5523920" cy="35768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en-US" sz="3200" b="0" i="1"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Q:</a:t>
            </a:r>
            <a:r>
              <a:rPr kumimoji="0" lang="en-US" altLang="en-US" sz="32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 will 2-way handshake always work in network?</a:t>
            </a:r>
          </a:p>
          <a:p>
            <a:pPr marL="346075" marR="0" lvl="0" indent="-2794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variable delays</a:t>
            </a:r>
          </a:p>
          <a:p>
            <a:pPr marL="346075" marR="0" lvl="0" indent="-2794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retransmitted messages (e.g. </a:t>
            </a:r>
            <a:r>
              <a:rPr kumimoji="0" lang="en-US" altLang="en-US" sz="2800" b="0" i="0" u="none" strike="noStrike" kern="0" cap="none" spc="0" normalizeH="0" baseline="0" noProof="0" dirty="0" err="1">
                <a:ln>
                  <a:noFill/>
                </a:ln>
                <a:solidFill>
                  <a:prstClr val="black"/>
                </a:solidFill>
                <a:effectLst/>
                <a:uLnTx/>
                <a:uFillTx/>
                <a:latin typeface="Calibri" panose="020F0502020204030204"/>
                <a:ea typeface="ＭＳ Ｐゴシック" panose="020B0600070205080204" pitchFamily="34" charset="-128"/>
              </a:rPr>
              <a:t>req_conn</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(x)) due to message loss</a:t>
            </a:r>
          </a:p>
          <a:p>
            <a:pPr marL="346075" marR="0" lvl="0" indent="-2794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message reordering</a:t>
            </a:r>
          </a:p>
          <a:p>
            <a:pPr marL="346075" marR="0" lvl="0" indent="-2794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c</a:t>
            </a:r>
            <a:r>
              <a:rPr kumimoji="0" lang="en-US" altLang="en-US" sz="2800" b="0" i="0" u="none" strike="noStrike" kern="0" cap="none" spc="0" normalizeH="0" baseline="0" noProof="0" dirty="0" err="1">
                <a:ln>
                  <a:noFill/>
                </a:ln>
                <a:solidFill>
                  <a:prstClr val="black"/>
                </a:solidFill>
                <a:effectLst/>
                <a:uLnTx/>
                <a:uFillTx/>
                <a:latin typeface="Calibri" panose="020F0502020204030204"/>
                <a:ea typeface="ＭＳ Ｐゴシック" panose="020B0600070205080204" pitchFamily="34" charset="-128"/>
              </a:rPr>
              <a:t>an’</a:t>
            </a:r>
            <a:r>
              <a:rPr kumimoji="0" lang="en-US" altLang="ja-JP" sz="2800" b="0" i="0" u="none" strike="noStrike" kern="0" cap="none" spc="0" normalizeH="0" baseline="0" noProof="0" dirty="0" err="1">
                <a:ln>
                  <a:noFill/>
                </a:ln>
                <a:solidFill>
                  <a:prstClr val="black"/>
                </a:solidFill>
                <a:effectLst/>
                <a:uLnTx/>
                <a:uFillTx/>
                <a:latin typeface="Calibri" panose="020F0502020204030204"/>
                <a:ea typeface="ＭＳ Ｐゴシック" panose="020B0600070205080204" pitchFamily="34" charset="-128"/>
              </a:rPr>
              <a:t>t</a:t>
            </a:r>
            <a:r>
              <a:rPr kumimoji="0" lang="en-US" altLang="ja-JP"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 “see” other side</a:t>
            </a:r>
            <a:endPar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endParaRPr>
          </a:p>
        </p:txBody>
      </p:sp>
      <p:pic>
        <p:nvPicPr>
          <p:cNvPr id="212" name="Picture 62" descr="Alice">
            <a:extLst>
              <a:ext uri="{FF2B5EF4-FFF2-40B4-BE49-F238E27FC236}">
                <a16:creationId xmlns:a16="http://schemas.microsoft.com/office/drawing/2014/main" id="{15DE982A-54F5-BC41-BC95-48D876587A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2408" y="2031271"/>
            <a:ext cx="685440" cy="681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3" name="Picture 63" descr="Bob">
            <a:extLst>
              <a:ext uri="{FF2B5EF4-FFF2-40B4-BE49-F238E27FC236}">
                <a16:creationId xmlns:a16="http://schemas.microsoft.com/office/drawing/2014/main" id="{178ED826-4BC2-684F-9F28-0736092503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2300" y="2069246"/>
            <a:ext cx="839663" cy="690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 name="Text Box 49">
            <a:extLst>
              <a:ext uri="{FF2B5EF4-FFF2-40B4-BE49-F238E27FC236}">
                <a16:creationId xmlns:a16="http://schemas.microsoft.com/office/drawing/2014/main" id="{F0A75C95-49D9-D049-B8FA-C8954515AFD3}"/>
              </a:ext>
            </a:extLst>
          </p:cNvPr>
          <p:cNvSpPr txBox="1">
            <a:spLocks noChangeArrowheads="1"/>
          </p:cNvSpPr>
          <p:nvPr/>
        </p:nvSpPr>
        <p:spPr bwMode="auto">
          <a:xfrm>
            <a:off x="979913" y="1354621"/>
            <a:ext cx="3207929"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2-way handshake:</a:t>
            </a:r>
          </a:p>
        </p:txBody>
      </p:sp>
      <p:sp>
        <p:nvSpPr>
          <p:cNvPr id="215" name="Line 50">
            <a:extLst>
              <a:ext uri="{FF2B5EF4-FFF2-40B4-BE49-F238E27FC236}">
                <a16:creationId xmlns:a16="http://schemas.microsoft.com/office/drawing/2014/main" id="{2B6C64FC-1BFF-2745-8864-00793CCCA3F1}"/>
              </a:ext>
            </a:extLst>
          </p:cNvPr>
          <p:cNvSpPr>
            <a:spLocks noChangeShapeType="1"/>
          </p:cNvSpPr>
          <p:nvPr/>
        </p:nvSpPr>
        <p:spPr bwMode="auto">
          <a:xfrm>
            <a:off x="2210097" y="2827024"/>
            <a:ext cx="1996343" cy="343504"/>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16" name="Line 51">
            <a:extLst>
              <a:ext uri="{FF2B5EF4-FFF2-40B4-BE49-F238E27FC236}">
                <a16:creationId xmlns:a16="http://schemas.microsoft.com/office/drawing/2014/main" id="{662E0AA8-2544-0243-A461-A97BB5D9F891}"/>
              </a:ext>
            </a:extLst>
          </p:cNvPr>
          <p:cNvSpPr>
            <a:spLocks noChangeShapeType="1"/>
          </p:cNvSpPr>
          <p:nvPr/>
        </p:nvSpPr>
        <p:spPr bwMode="auto">
          <a:xfrm>
            <a:off x="2150121" y="2737265"/>
            <a:ext cx="0" cy="1191042"/>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17" name="Line 53">
            <a:extLst>
              <a:ext uri="{FF2B5EF4-FFF2-40B4-BE49-F238E27FC236}">
                <a16:creationId xmlns:a16="http://schemas.microsoft.com/office/drawing/2014/main" id="{61703F8D-DE60-7647-AB88-B625C4E037AF}"/>
              </a:ext>
            </a:extLst>
          </p:cNvPr>
          <p:cNvSpPr>
            <a:spLocks noChangeShapeType="1"/>
          </p:cNvSpPr>
          <p:nvPr/>
        </p:nvSpPr>
        <p:spPr bwMode="auto">
          <a:xfrm>
            <a:off x="4215008" y="2766610"/>
            <a:ext cx="0" cy="1191042"/>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18" name="Line 54">
            <a:extLst>
              <a:ext uri="{FF2B5EF4-FFF2-40B4-BE49-F238E27FC236}">
                <a16:creationId xmlns:a16="http://schemas.microsoft.com/office/drawing/2014/main" id="{DE642691-1B6A-B64E-88A0-E9C02593B397}"/>
              </a:ext>
            </a:extLst>
          </p:cNvPr>
          <p:cNvSpPr>
            <a:spLocks noChangeShapeType="1"/>
          </p:cNvSpPr>
          <p:nvPr/>
        </p:nvSpPr>
        <p:spPr bwMode="auto">
          <a:xfrm flipH="1">
            <a:off x="2145837" y="3258561"/>
            <a:ext cx="1996343" cy="343504"/>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19" name="Rectangle 56">
            <a:extLst>
              <a:ext uri="{FF2B5EF4-FFF2-40B4-BE49-F238E27FC236}">
                <a16:creationId xmlns:a16="http://schemas.microsoft.com/office/drawing/2014/main" id="{AB601B94-B2EC-5F44-8BA3-961BC7EAD4D6}"/>
              </a:ext>
            </a:extLst>
          </p:cNvPr>
          <p:cNvSpPr>
            <a:spLocks noChangeArrowheads="1"/>
          </p:cNvSpPr>
          <p:nvPr/>
        </p:nvSpPr>
        <p:spPr bwMode="auto">
          <a:xfrm>
            <a:off x="2531397" y="2811490"/>
            <a:ext cx="1201662" cy="35558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20" name="Text Box 55">
            <a:extLst>
              <a:ext uri="{FF2B5EF4-FFF2-40B4-BE49-F238E27FC236}">
                <a16:creationId xmlns:a16="http://schemas.microsoft.com/office/drawing/2014/main" id="{51E91065-A73A-7D43-92CF-648D7E78E17F}"/>
              </a:ext>
            </a:extLst>
          </p:cNvPr>
          <p:cNvSpPr txBox="1">
            <a:spLocks noChangeArrowheads="1"/>
          </p:cNvSpPr>
          <p:nvPr/>
        </p:nvSpPr>
        <p:spPr bwMode="auto">
          <a:xfrm>
            <a:off x="2589217" y="2787324"/>
            <a:ext cx="1116010" cy="40011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Let’</a:t>
            </a:r>
            <a:r>
              <a:rPr kumimoji="0" lang="en-US" altLang="ja-JP"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 talk</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21" name="Rectangle 57">
            <a:extLst>
              <a:ext uri="{FF2B5EF4-FFF2-40B4-BE49-F238E27FC236}">
                <a16:creationId xmlns:a16="http://schemas.microsoft.com/office/drawing/2014/main" id="{2004BA2B-FE8D-D147-B254-220BD421C2B5}"/>
              </a:ext>
            </a:extLst>
          </p:cNvPr>
          <p:cNvSpPr>
            <a:spLocks noChangeArrowheads="1"/>
          </p:cNvSpPr>
          <p:nvPr/>
        </p:nvSpPr>
        <p:spPr bwMode="auto">
          <a:xfrm>
            <a:off x="2878401" y="3272370"/>
            <a:ext cx="593334" cy="35558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22" name="Text Box 58">
            <a:extLst>
              <a:ext uri="{FF2B5EF4-FFF2-40B4-BE49-F238E27FC236}">
                <a16:creationId xmlns:a16="http://schemas.microsoft.com/office/drawing/2014/main" id="{45CBCA7D-6EF9-B544-8A1D-83FC7ADA336D}"/>
              </a:ext>
            </a:extLst>
          </p:cNvPr>
          <p:cNvSpPr txBox="1">
            <a:spLocks noChangeArrowheads="1"/>
          </p:cNvSpPr>
          <p:nvPr/>
        </p:nvSpPr>
        <p:spPr bwMode="auto">
          <a:xfrm>
            <a:off x="2915186" y="3248204"/>
            <a:ext cx="487634" cy="40011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OK</a:t>
            </a:r>
          </a:p>
        </p:txBody>
      </p:sp>
      <p:sp>
        <p:nvSpPr>
          <p:cNvPr id="223" name="Text Box 60">
            <a:extLst>
              <a:ext uri="{FF2B5EF4-FFF2-40B4-BE49-F238E27FC236}">
                <a16:creationId xmlns:a16="http://schemas.microsoft.com/office/drawing/2014/main" id="{9105DBEA-03C4-1045-B9A8-39AA7B1F3CAB}"/>
              </a:ext>
            </a:extLst>
          </p:cNvPr>
          <p:cNvSpPr txBox="1">
            <a:spLocks noChangeArrowheads="1"/>
          </p:cNvSpPr>
          <p:nvPr/>
        </p:nvSpPr>
        <p:spPr bwMode="auto">
          <a:xfrm>
            <a:off x="4320992" y="3066959"/>
            <a:ext cx="84189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CC0000"/>
                </a:solidFill>
                <a:effectLst/>
                <a:uLnTx/>
                <a:uFillTx/>
                <a:latin typeface="Calibri" panose="020F0502020204030204"/>
                <a:ea typeface="ＭＳ Ｐゴシック" charset="0"/>
                <a:cs typeface="+mn-cs"/>
              </a:rPr>
              <a:t>ESTAB</a:t>
            </a:r>
          </a:p>
        </p:txBody>
      </p:sp>
      <p:sp>
        <p:nvSpPr>
          <p:cNvPr id="224" name="Text Box 61">
            <a:extLst>
              <a:ext uri="{FF2B5EF4-FFF2-40B4-BE49-F238E27FC236}">
                <a16:creationId xmlns:a16="http://schemas.microsoft.com/office/drawing/2014/main" id="{D3DDB3E1-DD0C-7242-BD98-892C99B0A0FC}"/>
              </a:ext>
            </a:extLst>
          </p:cNvPr>
          <p:cNvSpPr txBox="1">
            <a:spLocks noChangeArrowheads="1"/>
          </p:cNvSpPr>
          <p:nvPr/>
        </p:nvSpPr>
        <p:spPr bwMode="auto">
          <a:xfrm>
            <a:off x="1092998" y="3429450"/>
            <a:ext cx="84189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CC0000"/>
                </a:solidFill>
                <a:effectLst/>
                <a:uLnTx/>
                <a:uFillTx/>
                <a:latin typeface="Calibri" panose="020F0502020204030204"/>
                <a:ea typeface="ＭＳ Ｐゴシック" charset="0"/>
                <a:cs typeface="+mn-cs"/>
              </a:rPr>
              <a:t>ESTAB</a:t>
            </a:r>
          </a:p>
        </p:txBody>
      </p:sp>
      <p:sp>
        <p:nvSpPr>
          <p:cNvPr id="225" name="Oval 66">
            <a:extLst>
              <a:ext uri="{FF2B5EF4-FFF2-40B4-BE49-F238E27FC236}">
                <a16:creationId xmlns:a16="http://schemas.microsoft.com/office/drawing/2014/main" id="{7A085CF1-13C2-7E45-BD13-7FBE5EC96389}"/>
              </a:ext>
            </a:extLst>
          </p:cNvPr>
          <p:cNvSpPr>
            <a:spLocks noChangeArrowheads="1"/>
          </p:cNvSpPr>
          <p:nvPr/>
        </p:nvSpPr>
        <p:spPr bwMode="auto">
          <a:xfrm>
            <a:off x="2088004" y="3557185"/>
            <a:ext cx="122093" cy="96664"/>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CC0000"/>
              </a:solidFill>
              <a:effectLst/>
              <a:uLnTx/>
              <a:uFillTx/>
              <a:latin typeface="Calibri" panose="020F0502020204030204"/>
              <a:ea typeface="ＭＳ Ｐゴシック" charset="0"/>
              <a:cs typeface="+mn-cs"/>
            </a:endParaRPr>
          </a:p>
        </p:txBody>
      </p:sp>
      <p:sp>
        <p:nvSpPr>
          <p:cNvPr id="226" name="Oval 67">
            <a:extLst>
              <a:ext uri="{FF2B5EF4-FFF2-40B4-BE49-F238E27FC236}">
                <a16:creationId xmlns:a16="http://schemas.microsoft.com/office/drawing/2014/main" id="{5F8DFD39-4C67-544E-BDB6-995B73F0032B}"/>
              </a:ext>
            </a:extLst>
          </p:cNvPr>
          <p:cNvSpPr>
            <a:spLocks noChangeArrowheads="1"/>
          </p:cNvSpPr>
          <p:nvPr/>
        </p:nvSpPr>
        <p:spPr bwMode="auto">
          <a:xfrm>
            <a:off x="4150748" y="3184337"/>
            <a:ext cx="122095" cy="96664"/>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CC0000"/>
              </a:solidFill>
              <a:effectLst/>
              <a:uLnTx/>
              <a:uFillTx/>
              <a:latin typeface="Calibri" panose="020F0502020204030204"/>
              <a:ea typeface="ＭＳ Ｐゴシック" charset="0"/>
              <a:cs typeface="+mn-cs"/>
            </a:endParaRPr>
          </a:p>
        </p:txBody>
      </p:sp>
      <p:sp>
        <p:nvSpPr>
          <p:cNvPr id="227" name="Text Box 72">
            <a:extLst>
              <a:ext uri="{FF2B5EF4-FFF2-40B4-BE49-F238E27FC236}">
                <a16:creationId xmlns:a16="http://schemas.microsoft.com/office/drawing/2014/main" id="{DB384BF1-67A8-D941-979F-3D776AAC77D8}"/>
              </a:ext>
            </a:extLst>
          </p:cNvPr>
          <p:cNvSpPr txBox="1">
            <a:spLocks noChangeArrowheads="1"/>
          </p:cNvSpPr>
          <p:nvPr/>
        </p:nvSpPr>
        <p:spPr bwMode="auto">
          <a:xfrm>
            <a:off x="973490" y="4953638"/>
            <a:ext cx="1095235"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choose x</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28" name="Line 73">
            <a:extLst>
              <a:ext uri="{FF2B5EF4-FFF2-40B4-BE49-F238E27FC236}">
                <a16:creationId xmlns:a16="http://schemas.microsoft.com/office/drawing/2014/main" id="{F4A5217C-A64A-BC43-8BDA-A9CC2AE187E7}"/>
              </a:ext>
            </a:extLst>
          </p:cNvPr>
          <p:cNvSpPr>
            <a:spLocks noChangeShapeType="1"/>
          </p:cNvSpPr>
          <p:nvPr/>
        </p:nvSpPr>
        <p:spPr bwMode="auto">
          <a:xfrm>
            <a:off x="2248653" y="5141789"/>
            <a:ext cx="1996343" cy="34350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29" name="Line 74">
            <a:extLst>
              <a:ext uri="{FF2B5EF4-FFF2-40B4-BE49-F238E27FC236}">
                <a16:creationId xmlns:a16="http://schemas.microsoft.com/office/drawing/2014/main" id="{5DF0EBDC-C356-0F40-8E4B-0D4CDB884913}"/>
              </a:ext>
            </a:extLst>
          </p:cNvPr>
          <p:cNvSpPr>
            <a:spLocks noChangeShapeType="1"/>
          </p:cNvSpPr>
          <p:nvPr/>
        </p:nvSpPr>
        <p:spPr bwMode="auto">
          <a:xfrm>
            <a:off x="2188677" y="5052029"/>
            <a:ext cx="0" cy="1191042"/>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30" name="Line 75">
            <a:extLst>
              <a:ext uri="{FF2B5EF4-FFF2-40B4-BE49-F238E27FC236}">
                <a16:creationId xmlns:a16="http://schemas.microsoft.com/office/drawing/2014/main" id="{06DA6EB7-8FDC-114C-A158-24F848F8929E}"/>
              </a:ext>
            </a:extLst>
          </p:cNvPr>
          <p:cNvSpPr>
            <a:spLocks noChangeShapeType="1"/>
          </p:cNvSpPr>
          <p:nvPr/>
        </p:nvSpPr>
        <p:spPr bwMode="auto">
          <a:xfrm>
            <a:off x="4253564" y="5081373"/>
            <a:ext cx="0" cy="1191042"/>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31" name="Line 76">
            <a:extLst>
              <a:ext uri="{FF2B5EF4-FFF2-40B4-BE49-F238E27FC236}">
                <a16:creationId xmlns:a16="http://schemas.microsoft.com/office/drawing/2014/main" id="{6E751C46-6DAD-2049-8052-C6ECA9B99101}"/>
              </a:ext>
            </a:extLst>
          </p:cNvPr>
          <p:cNvSpPr>
            <a:spLocks noChangeShapeType="1"/>
          </p:cNvSpPr>
          <p:nvPr/>
        </p:nvSpPr>
        <p:spPr bwMode="auto">
          <a:xfrm flipH="1">
            <a:off x="2184393" y="5573326"/>
            <a:ext cx="1996343" cy="34350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32" name="Rectangle 77">
            <a:extLst>
              <a:ext uri="{FF2B5EF4-FFF2-40B4-BE49-F238E27FC236}">
                <a16:creationId xmlns:a16="http://schemas.microsoft.com/office/drawing/2014/main" id="{05CA4AE2-2F93-D544-A582-D6138CBE65B1}"/>
              </a:ext>
            </a:extLst>
          </p:cNvPr>
          <p:cNvSpPr>
            <a:spLocks noChangeArrowheads="1"/>
          </p:cNvSpPr>
          <p:nvPr/>
        </p:nvSpPr>
        <p:spPr bwMode="auto">
          <a:xfrm>
            <a:off x="2677053" y="5126253"/>
            <a:ext cx="1049579" cy="35558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33" name="Text Box 78">
            <a:extLst>
              <a:ext uri="{FF2B5EF4-FFF2-40B4-BE49-F238E27FC236}">
                <a16:creationId xmlns:a16="http://schemas.microsoft.com/office/drawing/2014/main" id="{DF22492C-21D4-FC46-996B-E22F99143FEC}"/>
              </a:ext>
            </a:extLst>
          </p:cNvPr>
          <p:cNvSpPr txBox="1">
            <a:spLocks noChangeArrowheads="1"/>
          </p:cNvSpPr>
          <p:nvPr/>
        </p:nvSpPr>
        <p:spPr bwMode="auto">
          <a:xfrm>
            <a:off x="2502290" y="5090004"/>
            <a:ext cx="1446230" cy="40011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req_conn(x)</a:t>
            </a:r>
          </a:p>
        </p:txBody>
      </p:sp>
      <p:sp>
        <p:nvSpPr>
          <p:cNvPr id="234" name="Rectangle 79">
            <a:extLst>
              <a:ext uri="{FF2B5EF4-FFF2-40B4-BE49-F238E27FC236}">
                <a16:creationId xmlns:a16="http://schemas.microsoft.com/office/drawing/2014/main" id="{EB35072C-E8DC-1D43-88F2-D6CC06A96B2B}"/>
              </a:ext>
            </a:extLst>
          </p:cNvPr>
          <p:cNvSpPr>
            <a:spLocks noChangeArrowheads="1"/>
          </p:cNvSpPr>
          <p:nvPr/>
        </p:nvSpPr>
        <p:spPr bwMode="auto">
          <a:xfrm>
            <a:off x="2916957" y="5587135"/>
            <a:ext cx="593334" cy="35558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35" name="Text Box 81">
            <a:extLst>
              <a:ext uri="{FF2B5EF4-FFF2-40B4-BE49-F238E27FC236}">
                <a16:creationId xmlns:a16="http://schemas.microsoft.com/office/drawing/2014/main" id="{41E79C30-5AC2-7B42-AF35-87394C87DCF6}"/>
              </a:ext>
            </a:extLst>
          </p:cNvPr>
          <p:cNvSpPr txBox="1">
            <a:spLocks noChangeArrowheads="1"/>
          </p:cNvSpPr>
          <p:nvPr/>
        </p:nvSpPr>
        <p:spPr bwMode="auto">
          <a:xfrm>
            <a:off x="4359546" y="5381723"/>
            <a:ext cx="84189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CC0000"/>
                </a:solidFill>
                <a:effectLst/>
                <a:uLnTx/>
                <a:uFillTx/>
                <a:latin typeface="Calibri" panose="020F0502020204030204"/>
                <a:ea typeface="ＭＳ Ｐゴシック" charset="0"/>
                <a:cs typeface="+mn-cs"/>
              </a:rPr>
              <a:t>ESTAB</a:t>
            </a:r>
          </a:p>
        </p:txBody>
      </p:sp>
      <p:sp>
        <p:nvSpPr>
          <p:cNvPr id="236" name="Text Box 82">
            <a:extLst>
              <a:ext uri="{FF2B5EF4-FFF2-40B4-BE49-F238E27FC236}">
                <a16:creationId xmlns:a16="http://schemas.microsoft.com/office/drawing/2014/main" id="{15937B6C-DE9E-BB41-AF3C-AFA9046B2368}"/>
              </a:ext>
            </a:extLst>
          </p:cNvPr>
          <p:cNvSpPr txBox="1">
            <a:spLocks noChangeArrowheads="1"/>
          </p:cNvSpPr>
          <p:nvPr/>
        </p:nvSpPr>
        <p:spPr bwMode="auto">
          <a:xfrm>
            <a:off x="1131555" y="5744214"/>
            <a:ext cx="84189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CC0000"/>
                </a:solidFill>
                <a:effectLst/>
                <a:uLnTx/>
                <a:uFillTx/>
                <a:latin typeface="Calibri" panose="020F0502020204030204"/>
                <a:ea typeface="ＭＳ Ｐゴシック" charset="0"/>
                <a:cs typeface="+mn-cs"/>
              </a:rPr>
              <a:t>ESTAB</a:t>
            </a:r>
          </a:p>
        </p:txBody>
      </p:sp>
      <p:sp>
        <p:nvSpPr>
          <p:cNvPr id="237" name="Oval 83">
            <a:extLst>
              <a:ext uri="{FF2B5EF4-FFF2-40B4-BE49-F238E27FC236}">
                <a16:creationId xmlns:a16="http://schemas.microsoft.com/office/drawing/2014/main" id="{60CAB79E-F562-A147-B2B6-BCD35B4CE79B}"/>
              </a:ext>
            </a:extLst>
          </p:cNvPr>
          <p:cNvSpPr>
            <a:spLocks noChangeArrowheads="1"/>
          </p:cNvSpPr>
          <p:nvPr/>
        </p:nvSpPr>
        <p:spPr bwMode="auto">
          <a:xfrm>
            <a:off x="2126560" y="5871949"/>
            <a:ext cx="122093" cy="96664"/>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CC0000"/>
              </a:solidFill>
              <a:effectLst/>
              <a:uLnTx/>
              <a:uFillTx/>
              <a:latin typeface="Calibri" panose="020F0502020204030204"/>
              <a:ea typeface="ＭＳ Ｐゴシック" charset="0"/>
              <a:cs typeface="+mn-cs"/>
            </a:endParaRPr>
          </a:p>
        </p:txBody>
      </p:sp>
      <p:sp>
        <p:nvSpPr>
          <p:cNvPr id="238" name="Oval 84">
            <a:extLst>
              <a:ext uri="{FF2B5EF4-FFF2-40B4-BE49-F238E27FC236}">
                <a16:creationId xmlns:a16="http://schemas.microsoft.com/office/drawing/2014/main" id="{AB867DAA-A20D-7E4E-8866-E4B15C4B0299}"/>
              </a:ext>
            </a:extLst>
          </p:cNvPr>
          <p:cNvSpPr>
            <a:spLocks noChangeArrowheads="1"/>
          </p:cNvSpPr>
          <p:nvPr/>
        </p:nvSpPr>
        <p:spPr bwMode="auto">
          <a:xfrm>
            <a:off x="4189304" y="5499101"/>
            <a:ext cx="122095" cy="96664"/>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CC0000"/>
              </a:solidFill>
              <a:effectLst/>
              <a:uLnTx/>
              <a:uFillTx/>
              <a:latin typeface="Calibri" panose="020F0502020204030204"/>
              <a:ea typeface="ＭＳ Ｐゴシック" charset="0"/>
              <a:cs typeface="+mn-cs"/>
            </a:endParaRPr>
          </a:p>
        </p:txBody>
      </p:sp>
      <p:sp>
        <p:nvSpPr>
          <p:cNvPr id="239" name="Rectangle 86">
            <a:extLst>
              <a:ext uri="{FF2B5EF4-FFF2-40B4-BE49-F238E27FC236}">
                <a16:creationId xmlns:a16="http://schemas.microsoft.com/office/drawing/2014/main" id="{0E9D55EE-8F12-D242-B60A-BF7C0AE861A3}"/>
              </a:ext>
            </a:extLst>
          </p:cNvPr>
          <p:cNvSpPr>
            <a:spLocks noChangeArrowheads="1"/>
          </p:cNvSpPr>
          <p:nvPr/>
        </p:nvSpPr>
        <p:spPr bwMode="auto">
          <a:xfrm>
            <a:off x="2514261" y="5594040"/>
            <a:ext cx="1445850" cy="28308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40" name="Text Box 85">
            <a:extLst>
              <a:ext uri="{FF2B5EF4-FFF2-40B4-BE49-F238E27FC236}">
                <a16:creationId xmlns:a16="http://schemas.microsoft.com/office/drawing/2014/main" id="{98A973F5-A6AE-4941-BAAF-D9632C720884}"/>
              </a:ext>
            </a:extLst>
          </p:cNvPr>
          <p:cNvSpPr txBox="1">
            <a:spLocks noChangeArrowheads="1"/>
          </p:cNvSpPr>
          <p:nvPr/>
        </p:nvSpPr>
        <p:spPr bwMode="auto">
          <a:xfrm>
            <a:off x="2500404" y="5552612"/>
            <a:ext cx="1435008" cy="40011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acc_conn(x)</a:t>
            </a:r>
          </a:p>
        </p:txBody>
      </p:sp>
      <p:grpSp>
        <p:nvGrpSpPr>
          <p:cNvPr id="241" name="Group 92">
            <a:extLst>
              <a:ext uri="{FF2B5EF4-FFF2-40B4-BE49-F238E27FC236}">
                <a16:creationId xmlns:a16="http://schemas.microsoft.com/office/drawing/2014/main" id="{A1DEBE31-8A7C-FA42-BF21-534E9F956FD1}"/>
              </a:ext>
            </a:extLst>
          </p:cNvPr>
          <p:cNvGrpSpPr>
            <a:grpSpLocks/>
          </p:cNvGrpSpPr>
          <p:nvPr/>
        </p:nvGrpSpPr>
        <p:grpSpPr bwMode="auto">
          <a:xfrm>
            <a:off x="1696017" y="4472044"/>
            <a:ext cx="775403" cy="566176"/>
            <a:chOff x="-44" y="1473"/>
            <a:chExt cx="981" cy="1105"/>
          </a:xfrm>
        </p:grpSpPr>
        <p:pic>
          <p:nvPicPr>
            <p:cNvPr id="242" name="Picture 93" descr="desktop_computer_stylized_medium">
              <a:extLst>
                <a:ext uri="{FF2B5EF4-FFF2-40B4-BE49-F238E27FC236}">
                  <a16:creationId xmlns:a16="http://schemas.microsoft.com/office/drawing/2014/main" id="{D4855CC7-B0C0-0C40-99B3-064E94398C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 name="Freeform 94">
              <a:extLst>
                <a:ext uri="{FF2B5EF4-FFF2-40B4-BE49-F238E27FC236}">
                  <a16:creationId xmlns:a16="http://schemas.microsoft.com/office/drawing/2014/main" id="{E45A3676-D1D0-F747-9A77-79DCC58FFC6C}"/>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244" name="Group 95">
            <a:extLst>
              <a:ext uri="{FF2B5EF4-FFF2-40B4-BE49-F238E27FC236}">
                <a16:creationId xmlns:a16="http://schemas.microsoft.com/office/drawing/2014/main" id="{30DE6A89-1D8F-B54B-9DDE-549AD2FC2274}"/>
              </a:ext>
            </a:extLst>
          </p:cNvPr>
          <p:cNvGrpSpPr>
            <a:grpSpLocks/>
          </p:cNvGrpSpPr>
          <p:nvPr/>
        </p:nvGrpSpPr>
        <p:grpSpPr bwMode="auto">
          <a:xfrm>
            <a:off x="4073636" y="4451330"/>
            <a:ext cx="318750" cy="557545"/>
            <a:chOff x="4140" y="429"/>
            <a:chExt cx="1425" cy="2396"/>
          </a:xfrm>
        </p:grpSpPr>
        <p:sp>
          <p:nvSpPr>
            <p:cNvPr id="245" name="Freeform 96">
              <a:extLst>
                <a:ext uri="{FF2B5EF4-FFF2-40B4-BE49-F238E27FC236}">
                  <a16:creationId xmlns:a16="http://schemas.microsoft.com/office/drawing/2014/main" id="{B71F5390-5611-A549-8A76-3052ABA7D19A}"/>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46" name="Rectangle 97">
              <a:extLst>
                <a:ext uri="{FF2B5EF4-FFF2-40B4-BE49-F238E27FC236}">
                  <a16:creationId xmlns:a16="http://schemas.microsoft.com/office/drawing/2014/main" id="{A1B57D5C-B8BE-CC48-A959-8D0CB8D18EA1}"/>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47" name="Freeform 98">
              <a:extLst>
                <a:ext uri="{FF2B5EF4-FFF2-40B4-BE49-F238E27FC236}">
                  <a16:creationId xmlns:a16="http://schemas.microsoft.com/office/drawing/2014/main" id="{F022A685-2E50-194F-BC85-D97F7CAFFCF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48" name="Freeform 99">
              <a:extLst>
                <a:ext uri="{FF2B5EF4-FFF2-40B4-BE49-F238E27FC236}">
                  <a16:creationId xmlns:a16="http://schemas.microsoft.com/office/drawing/2014/main" id="{67381A9D-9DB7-0A4E-B993-95AAAF4CCB9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49" name="Rectangle 100">
              <a:extLst>
                <a:ext uri="{FF2B5EF4-FFF2-40B4-BE49-F238E27FC236}">
                  <a16:creationId xmlns:a16="http://schemas.microsoft.com/office/drawing/2014/main" id="{B178CA92-6419-B94D-82C2-001A4C53E7AC}"/>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nvGrpSpPr>
            <p:cNvPr id="250" name="Group 101">
              <a:extLst>
                <a:ext uri="{FF2B5EF4-FFF2-40B4-BE49-F238E27FC236}">
                  <a16:creationId xmlns:a16="http://schemas.microsoft.com/office/drawing/2014/main" id="{2DDA5E0E-93B0-FC4E-AA1E-3A161BEB6179}"/>
                </a:ext>
              </a:extLst>
            </p:cNvPr>
            <p:cNvGrpSpPr>
              <a:grpSpLocks/>
            </p:cNvGrpSpPr>
            <p:nvPr/>
          </p:nvGrpSpPr>
          <p:grpSpPr bwMode="auto">
            <a:xfrm>
              <a:off x="4749" y="668"/>
              <a:ext cx="581" cy="145"/>
              <a:chOff x="614" y="2568"/>
              <a:chExt cx="725" cy="139"/>
            </a:xfrm>
          </p:grpSpPr>
          <p:sp>
            <p:nvSpPr>
              <p:cNvPr id="275" name="AutoShape 102">
                <a:extLst>
                  <a:ext uri="{FF2B5EF4-FFF2-40B4-BE49-F238E27FC236}">
                    <a16:creationId xmlns:a16="http://schemas.microsoft.com/office/drawing/2014/main" id="{1245BCF6-EEF2-F34C-92E3-2CA1C2C948EF}"/>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76" name="AutoShape 103">
                <a:extLst>
                  <a:ext uri="{FF2B5EF4-FFF2-40B4-BE49-F238E27FC236}">
                    <a16:creationId xmlns:a16="http://schemas.microsoft.com/office/drawing/2014/main" id="{1067DCBA-D400-0642-B68F-AE171164BAE3}"/>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sp>
          <p:nvSpPr>
            <p:cNvPr id="251" name="Rectangle 104">
              <a:extLst>
                <a:ext uri="{FF2B5EF4-FFF2-40B4-BE49-F238E27FC236}">
                  <a16:creationId xmlns:a16="http://schemas.microsoft.com/office/drawing/2014/main" id="{CEE13654-E51E-634B-B3A8-1909C6DC88FB}"/>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nvGrpSpPr>
            <p:cNvPr id="252" name="Group 105">
              <a:extLst>
                <a:ext uri="{FF2B5EF4-FFF2-40B4-BE49-F238E27FC236}">
                  <a16:creationId xmlns:a16="http://schemas.microsoft.com/office/drawing/2014/main" id="{3DE4D6D2-40C1-6843-BB18-76EFFF97C7B0}"/>
                </a:ext>
              </a:extLst>
            </p:cNvPr>
            <p:cNvGrpSpPr>
              <a:grpSpLocks/>
            </p:cNvGrpSpPr>
            <p:nvPr/>
          </p:nvGrpSpPr>
          <p:grpSpPr bwMode="auto">
            <a:xfrm>
              <a:off x="4747" y="994"/>
              <a:ext cx="581" cy="134"/>
              <a:chOff x="614" y="2568"/>
              <a:chExt cx="725" cy="139"/>
            </a:xfrm>
          </p:grpSpPr>
          <p:sp>
            <p:nvSpPr>
              <p:cNvPr id="273" name="AutoShape 106">
                <a:extLst>
                  <a:ext uri="{FF2B5EF4-FFF2-40B4-BE49-F238E27FC236}">
                    <a16:creationId xmlns:a16="http://schemas.microsoft.com/office/drawing/2014/main" id="{2685B222-9BE5-0D43-A3B3-6021358AE35E}"/>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74" name="AutoShape 107">
                <a:extLst>
                  <a:ext uri="{FF2B5EF4-FFF2-40B4-BE49-F238E27FC236}">
                    <a16:creationId xmlns:a16="http://schemas.microsoft.com/office/drawing/2014/main" id="{00F72E45-552A-534D-A233-34AE532CCE10}"/>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sp>
          <p:nvSpPr>
            <p:cNvPr id="253" name="Rectangle 108">
              <a:extLst>
                <a:ext uri="{FF2B5EF4-FFF2-40B4-BE49-F238E27FC236}">
                  <a16:creationId xmlns:a16="http://schemas.microsoft.com/office/drawing/2014/main" id="{3DF4CAF9-06A6-F849-9FCD-1AEC85C1CF94}"/>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54" name="Rectangle 109">
              <a:extLst>
                <a:ext uri="{FF2B5EF4-FFF2-40B4-BE49-F238E27FC236}">
                  <a16:creationId xmlns:a16="http://schemas.microsoft.com/office/drawing/2014/main" id="{148B444B-183C-764F-B7FB-60CA4703B6DB}"/>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nvGrpSpPr>
            <p:cNvPr id="255" name="Group 110">
              <a:extLst>
                <a:ext uri="{FF2B5EF4-FFF2-40B4-BE49-F238E27FC236}">
                  <a16:creationId xmlns:a16="http://schemas.microsoft.com/office/drawing/2014/main" id="{39959419-6C63-ED42-9E1F-394A82CD6225}"/>
                </a:ext>
              </a:extLst>
            </p:cNvPr>
            <p:cNvGrpSpPr>
              <a:grpSpLocks/>
            </p:cNvGrpSpPr>
            <p:nvPr/>
          </p:nvGrpSpPr>
          <p:grpSpPr bwMode="auto">
            <a:xfrm>
              <a:off x="4735" y="1627"/>
              <a:ext cx="582" cy="151"/>
              <a:chOff x="614" y="2568"/>
              <a:chExt cx="725" cy="139"/>
            </a:xfrm>
          </p:grpSpPr>
          <p:sp>
            <p:nvSpPr>
              <p:cNvPr id="271" name="AutoShape 111">
                <a:extLst>
                  <a:ext uri="{FF2B5EF4-FFF2-40B4-BE49-F238E27FC236}">
                    <a16:creationId xmlns:a16="http://schemas.microsoft.com/office/drawing/2014/main" id="{A34CF4FA-FD1C-5145-835F-119FE044DC34}"/>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72" name="AutoShape 112">
                <a:extLst>
                  <a:ext uri="{FF2B5EF4-FFF2-40B4-BE49-F238E27FC236}">
                    <a16:creationId xmlns:a16="http://schemas.microsoft.com/office/drawing/2014/main" id="{59A59735-AA02-0146-A5A5-87EEABC8E283}"/>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sp>
          <p:nvSpPr>
            <p:cNvPr id="256" name="Freeform 113">
              <a:extLst>
                <a:ext uri="{FF2B5EF4-FFF2-40B4-BE49-F238E27FC236}">
                  <a16:creationId xmlns:a16="http://schemas.microsoft.com/office/drawing/2014/main" id="{FDFF2545-90A4-DA4C-82D7-3315F0B6C88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257" name="Group 114">
              <a:extLst>
                <a:ext uri="{FF2B5EF4-FFF2-40B4-BE49-F238E27FC236}">
                  <a16:creationId xmlns:a16="http://schemas.microsoft.com/office/drawing/2014/main" id="{05A30CF6-38EC-774A-B2D7-6BC1988EFCEE}"/>
                </a:ext>
              </a:extLst>
            </p:cNvPr>
            <p:cNvGrpSpPr>
              <a:grpSpLocks/>
            </p:cNvGrpSpPr>
            <p:nvPr/>
          </p:nvGrpSpPr>
          <p:grpSpPr bwMode="auto">
            <a:xfrm>
              <a:off x="4739" y="1327"/>
              <a:ext cx="582" cy="139"/>
              <a:chOff x="614" y="2568"/>
              <a:chExt cx="725" cy="139"/>
            </a:xfrm>
          </p:grpSpPr>
          <p:sp>
            <p:nvSpPr>
              <p:cNvPr id="269" name="AutoShape 115">
                <a:extLst>
                  <a:ext uri="{FF2B5EF4-FFF2-40B4-BE49-F238E27FC236}">
                    <a16:creationId xmlns:a16="http://schemas.microsoft.com/office/drawing/2014/main" id="{82E4336A-2972-5248-BA09-8141B5778E54}"/>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70" name="AutoShape 116">
                <a:extLst>
                  <a:ext uri="{FF2B5EF4-FFF2-40B4-BE49-F238E27FC236}">
                    <a16:creationId xmlns:a16="http://schemas.microsoft.com/office/drawing/2014/main" id="{AD1D49DB-E480-5641-AC7E-56E3D66E7135}"/>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sp>
          <p:nvSpPr>
            <p:cNvPr id="258" name="Rectangle 117">
              <a:extLst>
                <a:ext uri="{FF2B5EF4-FFF2-40B4-BE49-F238E27FC236}">
                  <a16:creationId xmlns:a16="http://schemas.microsoft.com/office/drawing/2014/main" id="{0B98AE39-2021-6E44-A2F5-79952D91407E}"/>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59" name="Freeform 118">
              <a:extLst>
                <a:ext uri="{FF2B5EF4-FFF2-40B4-BE49-F238E27FC236}">
                  <a16:creationId xmlns:a16="http://schemas.microsoft.com/office/drawing/2014/main" id="{E786E227-0635-1B4C-B935-93B9B2090B2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60" name="Freeform 119">
              <a:extLst>
                <a:ext uri="{FF2B5EF4-FFF2-40B4-BE49-F238E27FC236}">
                  <a16:creationId xmlns:a16="http://schemas.microsoft.com/office/drawing/2014/main" id="{FB8A87AF-D14D-3042-95ED-47109B79894D}"/>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61" name="Oval 120">
              <a:extLst>
                <a:ext uri="{FF2B5EF4-FFF2-40B4-BE49-F238E27FC236}">
                  <a16:creationId xmlns:a16="http://schemas.microsoft.com/office/drawing/2014/main" id="{2E438A96-E553-D34A-BF0C-432436BD21D5}"/>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62" name="Freeform 121">
              <a:extLst>
                <a:ext uri="{FF2B5EF4-FFF2-40B4-BE49-F238E27FC236}">
                  <a16:creationId xmlns:a16="http://schemas.microsoft.com/office/drawing/2014/main" id="{C7F13FD9-6F22-2742-B6C1-05E03B039F7D}"/>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63" name="AutoShape 122">
              <a:extLst>
                <a:ext uri="{FF2B5EF4-FFF2-40B4-BE49-F238E27FC236}">
                  <a16:creationId xmlns:a16="http://schemas.microsoft.com/office/drawing/2014/main" id="{348EE68C-CA73-834E-B867-CD1C84FAC89A}"/>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64" name="AutoShape 123">
              <a:extLst>
                <a:ext uri="{FF2B5EF4-FFF2-40B4-BE49-F238E27FC236}">
                  <a16:creationId xmlns:a16="http://schemas.microsoft.com/office/drawing/2014/main" id="{1204051C-8ED9-7648-9B46-C01EFEE9DB1E}"/>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65" name="Oval 124">
              <a:extLst>
                <a:ext uri="{FF2B5EF4-FFF2-40B4-BE49-F238E27FC236}">
                  <a16:creationId xmlns:a16="http://schemas.microsoft.com/office/drawing/2014/main" id="{E60C883F-574D-2748-ABCD-0B7DB3EE983E}"/>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66" name="Oval 125">
              <a:extLst>
                <a:ext uri="{FF2B5EF4-FFF2-40B4-BE49-F238E27FC236}">
                  <a16:creationId xmlns:a16="http://schemas.microsoft.com/office/drawing/2014/main" id="{FB94FD42-6202-F644-B3BA-267D89970B38}"/>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endParaRPr>
            </a:p>
          </p:txBody>
        </p:sp>
        <p:sp>
          <p:nvSpPr>
            <p:cNvPr id="267" name="Oval 126">
              <a:extLst>
                <a:ext uri="{FF2B5EF4-FFF2-40B4-BE49-F238E27FC236}">
                  <a16:creationId xmlns:a16="http://schemas.microsoft.com/office/drawing/2014/main" id="{FD6A9A5E-7B0B-0C4F-B512-765209079139}"/>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68" name="Rectangle 127">
              <a:extLst>
                <a:ext uri="{FF2B5EF4-FFF2-40B4-BE49-F238E27FC236}">
                  <a16:creationId xmlns:a16="http://schemas.microsoft.com/office/drawing/2014/main" id="{1A503147-D0ED-D94A-8360-5E7F4D3ED8FD}"/>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sp>
        <p:nvSpPr>
          <p:cNvPr id="69" name="Slide Number Placeholder 2">
            <a:extLst>
              <a:ext uri="{FF2B5EF4-FFF2-40B4-BE49-F238E27FC236}">
                <a16:creationId xmlns:a16="http://schemas.microsoft.com/office/drawing/2014/main" id="{173A9DD9-82B1-6E42-88A8-6C0B706AA49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37</a:t>
            </a:fld>
            <a:endParaRPr lang="en-US" dirty="0"/>
          </a:p>
        </p:txBody>
      </p:sp>
    </p:spTree>
    <p:extLst>
      <p:ext uri="{BB962C8B-B14F-4D97-AF65-F5344CB8AC3E}">
        <p14:creationId xmlns:p14="http://schemas.microsoft.com/office/powerpoint/2010/main" val="4505620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dissolve">
                                      <p:cBhvr>
                                        <p:cTn id="7" dur="5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2-way handshake scenarios</a:t>
            </a:r>
          </a:p>
        </p:txBody>
      </p:sp>
      <p:grpSp>
        <p:nvGrpSpPr>
          <p:cNvPr id="423" name="Group 422">
            <a:extLst>
              <a:ext uri="{FF2B5EF4-FFF2-40B4-BE49-F238E27FC236}">
                <a16:creationId xmlns:a16="http://schemas.microsoft.com/office/drawing/2014/main" id="{D692DA0E-1EF2-F448-A9D8-1C3ACE390DD1}"/>
              </a:ext>
            </a:extLst>
          </p:cNvPr>
          <p:cNvGrpSpPr/>
          <p:nvPr/>
        </p:nvGrpSpPr>
        <p:grpSpPr>
          <a:xfrm>
            <a:off x="435655" y="1435139"/>
            <a:ext cx="3855401" cy="3186116"/>
            <a:chOff x="435655" y="1990325"/>
            <a:chExt cx="3855401" cy="3186116"/>
          </a:xfrm>
        </p:grpSpPr>
        <p:sp>
          <p:nvSpPr>
            <p:cNvPr id="424" name="Line 25">
              <a:extLst>
                <a:ext uri="{FF2B5EF4-FFF2-40B4-BE49-F238E27FC236}">
                  <a16:creationId xmlns:a16="http://schemas.microsoft.com/office/drawing/2014/main" id="{91E4D71D-79FA-CA4A-B78E-8C1871D4733B}"/>
                </a:ext>
              </a:extLst>
            </p:cNvPr>
            <p:cNvSpPr>
              <a:spLocks noChangeShapeType="1"/>
            </p:cNvSpPr>
            <p:nvPr/>
          </p:nvSpPr>
          <p:spPr bwMode="auto">
            <a:xfrm flipH="1">
              <a:off x="1461180" y="2545950"/>
              <a:ext cx="1588" cy="2470150"/>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425" name="Line 39">
              <a:extLst>
                <a:ext uri="{FF2B5EF4-FFF2-40B4-BE49-F238E27FC236}">
                  <a16:creationId xmlns:a16="http://schemas.microsoft.com/office/drawing/2014/main" id="{3CE8A2F3-443B-CB42-96FD-D8DF221502CB}"/>
                </a:ext>
              </a:extLst>
            </p:cNvPr>
            <p:cNvSpPr>
              <a:spLocks noChangeShapeType="1"/>
            </p:cNvSpPr>
            <p:nvPr/>
          </p:nvSpPr>
          <p:spPr bwMode="auto">
            <a:xfrm flipH="1">
              <a:off x="2991529" y="2618975"/>
              <a:ext cx="0" cy="2524525"/>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426" name="Group 93">
              <a:extLst>
                <a:ext uri="{FF2B5EF4-FFF2-40B4-BE49-F238E27FC236}">
                  <a16:creationId xmlns:a16="http://schemas.microsoft.com/office/drawing/2014/main" id="{773C4FC2-EAD6-0D4F-85E4-043FD6EDCD22}"/>
                </a:ext>
              </a:extLst>
            </p:cNvPr>
            <p:cNvGrpSpPr>
              <a:grpSpLocks/>
            </p:cNvGrpSpPr>
            <p:nvPr/>
          </p:nvGrpSpPr>
          <p:grpSpPr bwMode="auto">
            <a:xfrm>
              <a:off x="1386567" y="4700191"/>
              <a:ext cx="2405063" cy="476250"/>
              <a:chOff x="1097" y="2807"/>
              <a:chExt cx="1515" cy="300"/>
            </a:xfrm>
          </p:grpSpPr>
          <p:sp>
            <p:nvSpPr>
              <p:cNvPr id="488" name="Line 40">
                <a:extLst>
                  <a:ext uri="{FF2B5EF4-FFF2-40B4-BE49-F238E27FC236}">
                    <a16:creationId xmlns:a16="http://schemas.microsoft.com/office/drawing/2014/main" id="{111704BC-1B6B-2944-9D57-698BFD5CC308}"/>
                  </a:ext>
                </a:extLst>
              </p:cNvPr>
              <p:cNvSpPr>
                <a:spLocks noChangeShapeType="1"/>
              </p:cNvSpPr>
              <p:nvPr/>
            </p:nvSpPr>
            <p:spPr bwMode="auto">
              <a:xfrm>
                <a:off x="1097" y="2964"/>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9" name="Text Box 85">
                <a:extLst>
                  <a:ext uri="{FF2B5EF4-FFF2-40B4-BE49-F238E27FC236}">
                    <a16:creationId xmlns:a16="http://schemas.microsoft.com/office/drawing/2014/main" id="{190D3E08-8ADE-534C-9FC3-5199F6792D9B}"/>
                  </a:ext>
                </a:extLst>
              </p:cNvPr>
              <p:cNvSpPr txBox="1">
                <a:spLocks noChangeArrowheads="1"/>
              </p:cNvSpPr>
              <p:nvPr/>
            </p:nvSpPr>
            <p:spPr bwMode="auto">
              <a:xfrm>
                <a:off x="1269" y="2807"/>
                <a:ext cx="706" cy="3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connection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x completes</a:t>
                </a:r>
              </a:p>
            </p:txBody>
          </p:sp>
        </p:grpSp>
        <p:grpSp>
          <p:nvGrpSpPr>
            <p:cNvPr id="427" name="Group 102">
              <a:extLst>
                <a:ext uri="{FF2B5EF4-FFF2-40B4-BE49-F238E27FC236}">
                  <a16:creationId xmlns:a16="http://schemas.microsoft.com/office/drawing/2014/main" id="{0D5744FA-4339-D545-9B57-B45E093F571A}"/>
                </a:ext>
              </a:extLst>
            </p:cNvPr>
            <p:cNvGrpSpPr>
              <a:grpSpLocks/>
            </p:cNvGrpSpPr>
            <p:nvPr/>
          </p:nvGrpSpPr>
          <p:grpSpPr bwMode="auto">
            <a:xfrm>
              <a:off x="435655" y="1990325"/>
              <a:ext cx="3389313" cy="2136775"/>
              <a:chOff x="484" y="1100"/>
              <a:chExt cx="2135" cy="1346"/>
            </a:xfrm>
          </p:grpSpPr>
          <p:sp>
            <p:nvSpPr>
              <p:cNvPr id="439" name="Text Box 103">
                <a:extLst>
                  <a:ext uri="{FF2B5EF4-FFF2-40B4-BE49-F238E27FC236}">
                    <a16:creationId xmlns:a16="http://schemas.microsoft.com/office/drawing/2014/main" id="{384A1174-EF45-3D47-B451-2B62A2717579}"/>
                  </a:ext>
                </a:extLst>
              </p:cNvPr>
              <p:cNvSpPr txBox="1">
                <a:spLocks noChangeArrowheads="1"/>
              </p:cNvSpPr>
              <p:nvPr/>
            </p:nvSpPr>
            <p:spPr bwMode="auto">
              <a:xfrm>
                <a:off x="484" y="1393"/>
                <a:ext cx="613"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choose x</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0" name="Line 104">
                <a:extLst>
                  <a:ext uri="{FF2B5EF4-FFF2-40B4-BE49-F238E27FC236}">
                    <a16:creationId xmlns:a16="http://schemas.microsoft.com/office/drawing/2014/main" id="{01799853-A3A5-894C-8B0B-3CBEE6379CDD}"/>
                  </a:ext>
                </a:extLst>
              </p:cNvPr>
              <p:cNvSpPr>
                <a:spLocks noChangeShapeType="1"/>
              </p:cNvSpPr>
              <p:nvPr/>
            </p:nvSpPr>
            <p:spPr bwMode="auto">
              <a:xfrm>
                <a:off x="1159" y="1516"/>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1" name="Line 105">
                <a:extLst>
                  <a:ext uri="{FF2B5EF4-FFF2-40B4-BE49-F238E27FC236}">
                    <a16:creationId xmlns:a16="http://schemas.microsoft.com/office/drawing/2014/main" id="{E4D37334-2302-C946-AD71-897255F798F8}"/>
                  </a:ext>
                </a:extLst>
              </p:cNvPr>
              <p:cNvSpPr>
                <a:spLocks noChangeShapeType="1"/>
              </p:cNvSpPr>
              <p:nvPr/>
            </p:nvSpPr>
            <p:spPr bwMode="auto">
              <a:xfrm flipH="1">
                <a:off x="1121" y="1739"/>
                <a:ext cx="990" cy="60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2" name="Rectangle 106">
                <a:extLst>
                  <a:ext uri="{FF2B5EF4-FFF2-40B4-BE49-F238E27FC236}">
                    <a16:creationId xmlns:a16="http://schemas.microsoft.com/office/drawing/2014/main" id="{A9F291AF-7263-964C-9C39-E6D9DD79FF9B}"/>
                  </a:ext>
                </a:extLst>
              </p:cNvPr>
              <p:cNvSpPr>
                <a:spLocks noChangeArrowheads="1"/>
              </p:cNvSpPr>
              <p:nvPr/>
            </p:nvSpPr>
            <p:spPr bwMode="auto">
              <a:xfrm>
                <a:off x="1359" y="1507"/>
                <a:ext cx="490"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3" name="Text Box 107">
                <a:extLst>
                  <a:ext uri="{FF2B5EF4-FFF2-40B4-BE49-F238E27FC236}">
                    <a16:creationId xmlns:a16="http://schemas.microsoft.com/office/drawing/2014/main" id="{8256400A-AA91-2B45-8FD6-9FEEAEE48C35}"/>
                  </a:ext>
                </a:extLst>
              </p:cNvPr>
              <p:cNvSpPr txBox="1">
                <a:spLocks noChangeArrowheads="1"/>
              </p:cNvSpPr>
              <p:nvPr/>
            </p:nvSpPr>
            <p:spPr bwMode="auto">
              <a:xfrm>
                <a:off x="1214" y="1486"/>
                <a:ext cx="802"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req_conn(x)</a:t>
                </a:r>
              </a:p>
            </p:txBody>
          </p:sp>
          <p:sp>
            <p:nvSpPr>
              <p:cNvPr id="444" name="Rectangle 108">
                <a:extLst>
                  <a:ext uri="{FF2B5EF4-FFF2-40B4-BE49-F238E27FC236}">
                    <a16:creationId xmlns:a16="http://schemas.microsoft.com/office/drawing/2014/main" id="{8F206717-52E2-FB4D-B242-30E9BF426AE1}"/>
                  </a:ext>
                </a:extLst>
              </p:cNvPr>
              <p:cNvSpPr>
                <a:spLocks noChangeArrowheads="1"/>
              </p:cNvSpPr>
              <p:nvPr/>
            </p:nvSpPr>
            <p:spPr bwMode="auto">
              <a:xfrm>
                <a:off x="1471" y="1774"/>
                <a:ext cx="277"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45" name="Text Box 109">
                <a:extLst>
                  <a:ext uri="{FF2B5EF4-FFF2-40B4-BE49-F238E27FC236}">
                    <a16:creationId xmlns:a16="http://schemas.microsoft.com/office/drawing/2014/main" id="{9F6C9D6F-A1F8-8544-BE47-BCDA73F1EC12}"/>
                  </a:ext>
                </a:extLst>
              </p:cNvPr>
              <p:cNvSpPr txBox="1">
                <a:spLocks noChangeArrowheads="1"/>
              </p:cNvSpPr>
              <p:nvPr/>
            </p:nvSpPr>
            <p:spPr bwMode="auto">
              <a:xfrm>
                <a:off x="2133" y="1649"/>
                <a:ext cx="4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rPr>
                  <a:t>ESTAB</a:t>
                </a:r>
              </a:p>
            </p:txBody>
          </p:sp>
          <p:sp>
            <p:nvSpPr>
              <p:cNvPr id="446" name="Text Box 110">
                <a:extLst>
                  <a:ext uri="{FF2B5EF4-FFF2-40B4-BE49-F238E27FC236}">
                    <a16:creationId xmlns:a16="http://schemas.microsoft.com/office/drawing/2014/main" id="{5194F166-9430-4242-89A4-5D091B008960}"/>
                  </a:ext>
                </a:extLst>
              </p:cNvPr>
              <p:cNvSpPr txBox="1">
                <a:spLocks noChangeArrowheads="1"/>
              </p:cNvSpPr>
              <p:nvPr/>
            </p:nvSpPr>
            <p:spPr bwMode="auto">
              <a:xfrm>
                <a:off x="583" y="2234"/>
                <a:ext cx="4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rPr>
                  <a:t>ESTAB</a:t>
                </a:r>
              </a:p>
            </p:txBody>
          </p:sp>
          <p:sp>
            <p:nvSpPr>
              <p:cNvPr id="447" name="Oval 111">
                <a:extLst>
                  <a:ext uri="{FF2B5EF4-FFF2-40B4-BE49-F238E27FC236}">
                    <a16:creationId xmlns:a16="http://schemas.microsoft.com/office/drawing/2014/main" id="{64F10CAD-3D48-3B4D-AE41-2AEA0DB2E4A3}"/>
                  </a:ext>
                </a:extLst>
              </p:cNvPr>
              <p:cNvSpPr>
                <a:spLocks noChangeArrowheads="1"/>
              </p:cNvSpPr>
              <p:nvPr/>
            </p:nvSpPr>
            <p:spPr bwMode="auto">
              <a:xfrm>
                <a:off x="1095" y="2298"/>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448" name="Oval 112">
                <a:extLst>
                  <a:ext uri="{FF2B5EF4-FFF2-40B4-BE49-F238E27FC236}">
                    <a16:creationId xmlns:a16="http://schemas.microsoft.com/office/drawing/2014/main" id="{98F68D03-FCEB-0F41-A286-A0FEC1FAEA51}"/>
                  </a:ext>
                </a:extLst>
              </p:cNvPr>
              <p:cNvSpPr>
                <a:spLocks noChangeArrowheads="1"/>
              </p:cNvSpPr>
              <p:nvPr/>
            </p:nvSpPr>
            <p:spPr bwMode="auto">
              <a:xfrm>
                <a:off x="2065" y="1723"/>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grpSp>
            <p:nvGrpSpPr>
              <p:cNvPr id="449" name="Group 113">
                <a:extLst>
                  <a:ext uri="{FF2B5EF4-FFF2-40B4-BE49-F238E27FC236}">
                    <a16:creationId xmlns:a16="http://schemas.microsoft.com/office/drawing/2014/main" id="{E535B351-6B01-AE49-8479-F8762FC2AA2E}"/>
                  </a:ext>
                </a:extLst>
              </p:cNvPr>
              <p:cNvGrpSpPr>
                <a:grpSpLocks/>
              </p:cNvGrpSpPr>
              <p:nvPr/>
            </p:nvGrpSpPr>
            <p:grpSpPr bwMode="auto">
              <a:xfrm>
                <a:off x="1277" y="1861"/>
                <a:ext cx="803" cy="212"/>
                <a:chOff x="1065" y="2085"/>
                <a:chExt cx="803" cy="212"/>
              </a:xfrm>
            </p:grpSpPr>
            <p:sp>
              <p:nvSpPr>
                <p:cNvPr id="486" name="Rectangle 114">
                  <a:extLst>
                    <a:ext uri="{FF2B5EF4-FFF2-40B4-BE49-F238E27FC236}">
                      <a16:creationId xmlns:a16="http://schemas.microsoft.com/office/drawing/2014/main" id="{3ABD9392-9290-6043-AF0A-164F1B0F7B39}"/>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7" name="Text Box 115">
                  <a:extLst>
                    <a:ext uri="{FF2B5EF4-FFF2-40B4-BE49-F238E27FC236}">
                      <a16:creationId xmlns:a16="http://schemas.microsoft.com/office/drawing/2014/main" id="{E01A5D11-E159-0C40-9DBC-E064BEC5774C}"/>
                    </a:ext>
                  </a:extLst>
                </p:cNvPr>
                <p:cNvSpPr txBox="1">
                  <a:spLocks noChangeArrowheads="1"/>
                </p:cNvSpPr>
                <p:nvPr/>
              </p:nvSpPr>
              <p:spPr bwMode="auto">
                <a:xfrm>
                  <a:off x="1065" y="2085"/>
                  <a:ext cx="803"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acc_conn(x)</a:t>
                  </a:r>
                </a:p>
              </p:txBody>
            </p:sp>
          </p:grpSp>
          <p:grpSp>
            <p:nvGrpSpPr>
              <p:cNvPr id="450" name="Group 116">
                <a:extLst>
                  <a:ext uri="{FF2B5EF4-FFF2-40B4-BE49-F238E27FC236}">
                    <a16:creationId xmlns:a16="http://schemas.microsoft.com/office/drawing/2014/main" id="{3E3A49BF-0E39-8D4D-A2D0-63CBFDDD6FAF}"/>
                  </a:ext>
                </a:extLst>
              </p:cNvPr>
              <p:cNvGrpSpPr>
                <a:grpSpLocks/>
              </p:cNvGrpSpPr>
              <p:nvPr/>
            </p:nvGrpSpPr>
            <p:grpSpPr bwMode="auto">
              <a:xfrm>
                <a:off x="834" y="1112"/>
                <a:ext cx="391" cy="307"/>
                <a:chOff x="-44" y="1473"/>
                <a:chExt cx="981" cy="1105"/>
              </a:xfrm>
            </p:grpSpPr>
            <p:pic>
              <p:nvPicPr>
                <p:cNvPr id="484" name="Picture 117" descr="desktop_computer_stylized_medium">
                  <a:extLst>
                    <a:ext uri="{FF2B5EF4-FFF2-40B4-BE49-F238E27FC236}">
                      <a16:creationId xmlns:a16="http://schemas.microsoft.com/office/drawing/2014/main" id="{68652FF9-3BA5-AD41-98E0-A222D63A41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5" name="Freeform 118">
                  <a:extLst>
                    <a:ext uri="{FF2B5EF4-FFF2-40B4-BE49-F238E27FC236}">
                      <a16:creationId xmlns:a16="http://schemas.microsoft.com/office/drawing/2014/main" id="{73D50490-21D8-7746-B97E-C2FE25CBD7B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451" name="Group 119">
                <a:extLst>
                  <a:ext uri="{FF2B5EF4-FFF2-40B4-BE49-F238E27FC236}">
                    <a16:creationId xmlns:a16="http://schemas.microsoft.com/office/drawing/2014/main" id="{6E788993-C5DA-164F-9258-0CB775450A30}"/>
                  </a:ext>
                </a:extLst>
              </p:cNvPr>
              <p:cNvGrpSpPr>
                <a:grpSpLocks/>
              </p:cNvGrpSpPr>
              <p:nvPr/>
            </p:nvGrpSpPr>
            <p:grpSpPr bwMode="auto">
              <a:xfrm>
                <a:off x="1973" y="1100"/>
                <a:ext cx="212" cy="323"/>
                <a:chOff x="4140" y="429"/>
                <a:chExt cx="1425" cy="2396"/>
              </a:xfrm>
            </p:grpSpPr>
            <p:sp>
              <p:nvSpPr>
                <p:cNvPr id="452" name="Freeform 120">
                  <a:extLst>
                    <a:ext uri="{FF2B5EF4-FFF2-40B4-BE49-F238E27FC236}">
                      <a16:creationId xmlns:a16="http://schemas.microsoft.com/office/drawing/2014/main" id="{12CC2128-75E5-114A-937D-4B672A89AA2E}"/>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53" name="Rectangle 121">
                  <a:extLst>
                    <a:ext uri="{FF2B5EF4-FFF2-40B4-BE49-F238E27FC236}">
                      <a16:creationId xmlns:a16="http://schemas.microsoft.com/office/drawing/2014/main" id="{F5C3491A-CD29-114C-A378-A2E414822C3C}"/>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54" name="Freeform 122">
                  <a:extLst>
                    <a:ext uri="{FF2B5EF4-FFF2-40B4-BE49-F238E27FC236}">
                      <a16:creationId xmlns:a16="http://schemas.microsoft.com/office/drawing/2014/main" id="{1FAF7C96-26AF-BC4C-8EE5-52686FB51F57}"/>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55" name="Freeform 123">
                  <a:extLst>
                    <a:ext uri="{FF2B5EF4-FFF2-40B4-BE49-F238E27FC236}">
                      <a16:creationId xmlns:a16="http://schemas.microsoft.com/office/drawing/2014/main" id="{F24EFDC4-D2B3-7440-A83B-52220A26C979}"/>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56" name="Rectangle 124">
                  <a:extLst>
                    <a:ext uri="{FF2B5EF4-FFF2-40B4-BE49-F238E27FC236}">
                      <a16:creationId xmlns:a16="http://schemas.microsoft.com/office/drawing/2014/main" id="{C738D1B1-14C3-F143-9286-716F3B0BC8CB}"/>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57" name="Group 125">
                  <a:extLst>
                    <a:ext uri="{FF2B5EF4-FFF2-40B4-BE49-F238E27FC236}">
                      <a16:creationId xmlns:a16="http://schemas.microsoft.com/office/drawing/2014/main" id="{1C9F2DD0-76F5-9945-A4A2-BFF420651D30}"/>
                    </a:ext>
                  </a:extLst>
                </p:cNvPr>
                <p:cNvGrpSpPr>
                  <a:grpSpLocks/>
                </p:cNvGrpSpPr>
                <p:nvPr/>
              </p:nvGrpSpPr>
              <p:grpSpPr bwMode="auto">
                <a:xfrm>
                  <a:off x="4749" y="668"/>
                  <a:ext cx="581" cy="145"/>
                  <a:chOff x="614" y="2568"/>
                  <a:chExt cx="725" cy="139"/>
                </a:xfrm>
              </p:grpSpPr>
              <p:sp>
                <p:nvSpPr>
                  <p:cNvPr id="482" name="AutoShape 126">
                    <a:extLst>
                      <a:ext uri="{FF2B5EF4-FFF2-40B4-BE49-F238E27FC236}">
                        <a16:creationId xmlns:a16="http://schemas.microsoft.com/office/drawing/2014/main" id="{C09A9BC4-E4D4-9740-8415-C18557F484B7}"/>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3" name="AutoShape 127">
                    <a:extLst>
                      <a:ext uri="{FF2B5EF4-FFF2-40B4-BE49-F238E27FC236}">
                        <a16:creationId xmlns:a16="http://schemas.microsoft.com/office/drawing/2014/main" id="{F3D70C92-E5D6-2E4F-8DCA-B1904F759DA4}"/>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58" name="Rectangle 128">
                  <a:extLst>
                    <a:ext uri="{FF2B5EF4-FFF2-40B4-BE49-F238E27FC236}">
                      <a16:creationId xmlns:a16="http://schemas.microsoft.com/office/drawing/2014/main" id="{722160C6-98E8-2849-92F6-C0477CF41C15}"/>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59" name="Group 129">
                  <a:extLst>
                    <a:ext uri="{FF2B5EF4-FFF2-40B4-BE49-F238E27FC236}">
                      <a16:creationId xmlns:a16="http://schemas.microsoft.com/office/drawing/2014/main" id="{5CF614C1-2FA4-194F-99CB-B59EBAA69627}"/>
                    </a:ext>
                  </a:extLst>
                </p:cNvPr>
                <p:cNvGrpSpPr>
                  <a:grpSpLocks/>
                </p:cNvGrpSpPr>
                <p:nvPr/>
              </p:nvGrpSpPr>
              <p:grpSpPr bwMode="auto">
                <a:xfrm>
                  <a:off x="4747" y="994"/>
                  <a:ext cx="581" cy="134"/>
                  <a:chOff x="614" y="2568"/>
                  <a:chExt cx="725" cy="139"/>
                </a:xfrm>
              </p:grpSpPr>
              <p:sp>
                <p:nvSpPr>
                  <p:cNvPr id="480" name="AutoShape 130">
                    <a:extLst>
                      <a:ext uri="{FF2B5EF4-FFF2-40B4-BE49-F238E27FC236}">
                        <a16:creationId xmlns:a16="http://schemas.microsoft.com/office/drawing/2014/main" id="{2DFF64EB-D097-2043-B088-40E31FBCA144}"/>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81" name="AutoShape 131">
                    <a:extLst>
                      <a:ext uri="{FF2B5EF4-FFF2-40B4-BE49-F238E27FC236}">
                        <a16:creationId xmlns:a16="http://schemas.microsoft.com/office/drawing/2014/main" id="{DF72C84E-59FE-844F-8A5B-E79C5EEA947F}"/>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60" name="Rectangle 132">
                  <a:extLst>
                    <a:ext uri="{FF2B5EF4-FFF2-40B4-BE49-F238E27FC236}">
                      <a16:creationId xmlns:a16="http://schemas.microsoft.com/office/drawing/2014/main" id="{0D34B495-F619-5744-92CE-02150CAEF02F}"/>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61" name="Rectangle 133">
                  <a:extLst>
                    <a:ext uri="{FF2B5EF4-FFF2-40B4-BE49-F238E27FC236}">
                      <a16:creationId xmlns:a16="http://schemas.microsoft.com/office/drawing/2014/main" id="{B289AC45-5AE1-8144-A213-D8D732FD9762}"/>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62" name="Group 134">
                  <a:extLst>
                    <a:ext uri="{FF2B5EF4-FFF2-40B4-BE49-F238E27FC236}">
                      <a16:creationId xmlns:a16="http://schemas.microsoft.com/office/drawing/2014/main" id="{1749D736-5D93-C94F-BEFF-83BA3C60704D}"/>
                    </a:ext>
                  </a:extLst>
                </p:cNvPr>
                <p:cNvGrpSpPr>
                  <a:grpSpLocks/>
                </p:cNvGrpSpPr>
                <p:nvPr/>
              </p:nvGrpSpPr>
              <p:grpSpPr bwMode="auto">
                <a:xfrm>
                  <a:off x="4735" y="1627"/>
                  <a:ext cx="582" cy="151"/>
                  <a:chOff x="614" y="2568"/>
                  <a:chExt cx="725" cy="139"/>
                </a:xfrm>
              </p:grpSpPr>
              <p:sp>
                <p:nvSpPr>
                  <p:cNvPr id="478" name="AutoShape 135">
                    <a:extLst>
                      <a:ext uri="{FF2B5EF4-FFF2-40B4-BE49-F238E27FC236}">
                        <a16:creationId xmlns:a16="http://schemas.microsoft.com/office/drawing/2014/main" id="{A0C2743E-C87A-D14C-85B5-A8F79F7531D4}"/>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79" name="AutoShape 136">
                    <a:extLst>
                      <a:ext uri="{FF2B5EF4-FFF2-40B4-BE49-F238E27FC236}">
                        <a16:creationId xmlns:a16="http://schemas.microsoft.com/office/drawing/2014/main" id="{9BD6DBA0-FC1C-254E-9398-6CCD7340CADE}"/>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63" name="Freeform 137">
                  <a:extLst>
                    <a:ext uri="{FF2B5EF4-FFF2-40B4-BE49-F238E27FC236}">
                      <a16:creationId xmlns:a16="http://schemas.microsoft.com/office/drawing/2014/main" id="{5440E4EF-7DC8-C948-8355-65BC2A778B02}"/>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64" name="Group 138">
                  <a:extLst>
                    <a:ext uri="{FF2B5EF4-FFF2-40B4-BE49-F238E27FC236}">
                      <a16:creationId xmlns:a16="http://schemas.microsoft.com/office/drawing/2014/main" id="{5E633347-2A45-9548-B218-3565A9B3D215}"/>
                    </a:ext>
                  </a:extLst>
                </p:cNvPr>
                <p:cNvGrpSpPr>
                  <a:grpSpLocks/>
                </p:cNvGrpSpPr>
                <p:nvPr/>
              </p:nvGrpSpPr>
              <p:grpSpPr bwMode="auto">
                <a:xfrm>
                  <a:off x="4739" y="1327"/>
                  <a:ext cx="582" cy="139"/>
                  <a:chOff x="614" y="2568"/>
                  <a:chExt cx="725" cy="139"/>
                </a:xfrm>
              </p:grpSpPr>
              <p:sp>
                <p:nvSpPr>
                  <p:cNvPr id="476" name="AutoShape 139">
                    <a:extLst>
                      <a:ext uri="{FF2B5EF4-FFF2-40B4-BE49-F238E27FC236}">
                        <a16:creationId xmlns:a16="http://schemas.microsoft.com/office/drawing/2014/main" id="{0F545573-C3F3-7D4F-8E2E-057960582DC3}"/>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77" name="AutoShape 140">
                    <a:extLst>
                      <a:ext uri="{FF2B5EF4-FFF2-40B4-BE49-F238E27FC236}">
                        <a16:creationId xmlns:a16="http://schemas.microsoft.com/office/drawing/2014/main" id="{2B38E4F6-9B20-FE41-8688-9F827513A800}"/>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65" name="Rectangle 141">
                  <a:extLst>
                    <a:ext uri="{FF2B5EF4-FFF2-40B4-BE49-F238E27FC236}">
                      <a16:creationId xmlns:a16="http://schemas.microsoft.com/office/drawing/2014/main" id="{0ADB7777-054A-3B42-99E1-AA3880CEBF49}"/>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66" name="Freeform 142">
                  <a:extLst>
                    <a:ext uri="{FF2B5EF4-FFF2-40B4-BE49-F238E27FC236}">
                      <a16:creationId xmlns:a16="http://schemas.microsoft.com/office/drawing/2014/main" id="{851EFEA0-9F99-9D45-BDD9-05781330AA68}"/>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67" name="Freeform 143">
                  <a:extLst>
                    <a:ext uri="{FF2B5EF4-FFF2-40B4-BE49-F238E27FC236}">
                      <a16:creationId xmlns:a16="http://schemas.microsoft.com/office/drawing/2014/main" id="{D46DD2F0-137E-7246-8429-922D11398E36}"/>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68" name="Oval 144">
                  <a:extLst>
                    <a:ext uri="{FF2B5EF4-FFF2-40B4-BE49-F238E27FC236}">
                      <a16:creationId xmlns:a16="http://schemas.microsoft.com/office/drawing/2014/main" id="{6D2FDB16-DD50-754D-B173-29B81535A1D0}"/>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69" name="Freeform 145">
                  <a:extLst>
                    <a:ext uri="{FF2B5EF4-FFF2-40B4-BE49-F238E27FC236}">
                      <a16:creationId xmlns:a16="http://schemas.microsoft.com/office/drawing/2014/main" id="{7D62A206-5CA0-E947-82FC-8F081AA926B0}"/>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70" name="AutoShape 146">
                  <a:extLst>
                    <a:ext uri="{FF2B5EF4-FFF2-40B4-BE49-F238E27FC236}">
                      <a16:creationId xmlns:a16="http://schemas.microsoft.com/office/drawing/2014/main" id="{FD0F85B5-11E0-7445-9862-BC483A492BC8}"/>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71" name="AutoShape 147">
                  <a:extLst>
                    <a:ext uri="{FF2B5EF4-FFF2-40B4-BE49-F238E27FC236}">
                      <a16:creationId xmlns:a16="http://schemas.microsoft.com/office/drawing/2014/main" id="{67E0531B-2E65-AF43-9DB9-355885A8BFB3}"/>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72" name="Oval 148">
                  <a:extLst>
                    <a:ext uri="{FF2B5EF4-FFF2-40B4-BE49-F238E27FC236}">
                      <a16:creationId xmlns:a16="http://schemas.microsoft.com/office/drawing/2014/main" id="{64B5B35B-452E-FD4C-ACFF-7D475CD7D3D3}"/>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73" name="Oval 149">
                  <a:extLst>
                    <a:ext uri="{FF2B5EF4-FFF2-40B4-BE49-F238E27FC236}">
                      <a16:creationId xmlns:a16="http://schemas.microsoft.com/office/drawing/2014/main" id="{A4534FEA-4A8B-8A42-8930-71A153E19C7E}"/>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474" name="Oval 150">
                  <a:extLst>
                    <a:ext uri="{FF2B5EF4-FFF2-40B4-BE49-F238E27FC236}">
                      <a16:creationId xmlns:a16="http://schemas.microsoft.com/office/drawing/2014/main" id="{D6E50F70-5ED2-3344-A7D3-F9408B324055}"/>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75" name="Rectangle 151">
                  <a:extLst>
                    <a:ext uri="{FF2B5EF4-FFF2-40B4-BE49-F238E27FC236}">
                      <a16:creationId xmlns:a16="http://schemas.microsoft.com/office/drawing/2014/main" id="{7B699B0E-7FA7-A24C-814D-12D1D823F816}"/>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sp>
          <p:nvSpPr>
            <p:cNvPr id="428" name="Oval 159">
              <a:extLst>
                <a:ext uri="{FF2B5EF4-FFF2-40B4-BE49-F238E27FC236}">
                  <a16:creationId xmlns:a16="http://schemas.microsoft.com/office/drawing/2014/main" id="{8AE68307-4F03-0042-965E-5D84FCC3C3EB}"/>
                </a:ext>
              </a:extLst>
            </p:cNvPr>
            <p:cNvSpPr>
              <a:spLocks noChangeArrowheads="1"/>
            </p:cNvSpPr>
            <p:nvPr/>
          </p:nvSpPr>
          <p:spPr bwMode="auto">
            <a:xfrm>
              <a:off x="1416094" y="3893738"/>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429" name="Line 169">
              <a:extLst>
                <a:ext uri="{FF2B5EF4-FFF2-40B4-BE49-F238E27FC236}">
                  <a16:creationId xmlns:a16="http://schemas.microsoft.com/office/drawing/2014/main" id="{28EC4C67-0BE3-D54D-926D-9B81AED1C0D5}"/>
                </a:ext>
              </a:extLst>
            </p:cNvPr>
            <p:cNvSpPr>
              <a:spLocks noChangeShapeType="1"/>
            </p:cNvSpPr>
            <p:nvPr/>
          </p:nvSpPr>
          <p:spPr bwMode="auto">
            <a:xfrm>
              <a:off x="1511344" y="3966763"/>
              <a:ext cx="1479550" cy="3159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30" name="Rectangle 170">
              <a:extLst>
                <a:ext uri="{FF2B5EF4-FFF2-40B4-BE49-F238E27FC236}">
                  <a16:creationId xmlns:a16="http://schemas.microsoft.com/office/drawing/2014/main" id="{B8AFD2C9-C151-F748-8B96-E389535E32BE}"/>
                </a:ext>
              </a:extLst>
            </p:cNvPr>
            <p:cNvSpPr>
              <a:spLocks noChangeArrowheads="1"/>
            </p:cNvSpPr>
            <p:nvPr/>
          </p:nvSpPr>
          <p:spPr bwMode="auto">
            <a:xfrm>
              <a:off x="1828844" y="3952476"/>
              <a:ext cx="777875"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31" name="Text Box 171">
              <a:extLst>
                <a:ext uri="{FF2B5EF4-FFF2-40B4-BE49-F238E27FC236}">
                  <a16:creationId xmlns:a16="http://schemas.microsoft.com/office/drawing/2014/main" id="{E48C6C06-1970-9949-B718-68B9AD5B435E}"/>
                </a:ext>
              </a:extLst>
            </p:cNvPr>
            <p:cNvSpPr txBox="1">
              <a:spLocks noChangeArrowheads="1"/>
            </p:cNvSpPr>
            <p:nvPr/>
          </p:nvSpPr>
          <p:spPr bwMode="auto">
            <a:xfrm>
              <a:off x="1689144" y="3919138"/>
              <a:ext cx="1092200" cy="3365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data(x+1)</a:t>
              </a:r>
            </a:p>
          </p:txBody>
        </p:sp>
        <p:sp>
          <p:nvSpPr>
            <p:cNvPr id="432" name="Oval 172">
              <a:extLst>
                <a:ext uri="{FF2B5EF4-FFF2-40B4-BE49-F238E27FC236}">
                  <a16:creationId xmlns:a16="http://schemas.microsoft.com/office/drawing/2014/main" id="{C551802D-96E3-F942-A271-44B93EF7D61C}"/>
                </a:ext>
              </a:extLst>
            </p:cNvPr>
            <p:cNvSpPr>
              <a:spLocks noChangeArrowheads="1"/>
            </p:cNvSpPr>
            <p:nvPr/>
          </p:nvSpPr>
          <p:spPr bwMode="auto">
            <a:xfrm>
              <a:off x="2960731" y="4250926"/>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433" name="Text Box 173">
              <a:extLst>
                <a:ext uri="{FF2B5EF4-FFF2-40B4-BE49-F238E27FC236}">
                  <a16:creationId xmlns:a16="http://schemas.microsoft.com/office/drawing/2014/main" id="{D76C6664-0DFF-6847-8C91-9630B8CABF4C}"/>
                </a:ext>
              </a:extLst>
            </p:cNvPr>
            <p:cNvSpPr txBox="1">
              <a:spLocks noChangeArrowheads="1"/>
            </p:cNvSpPr>
            <p:nvPr/>
          </p:nvSpPr>
          <p:spPr bwMode="auto">
            <a:xfrm>
              <a:off x="3119481" y="4011213"/>
              <a:ext cx="1171575" cy="50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accept</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data(x+1)</a:t>
              </a:r>
            </a:p>
          </p:txBody>
        </p:sp>
        <p:grpSp>
          <p:nvGrpSpPr>
            <p:cNvPr id="434" name="Group 433">
              <a:extLst>
                <a:ext uri="{FF2B5EF4-FFF2-40B4-BE49-F238E27FC236}">
                  <a16:creationId xmlns:a16="http://schemas.microsoft.com/office/drawing/2014/main" id="{7800DC3B-8637-C445-B46C-B1F234EAAAF7}"/>
                </a:ext>
              </a:extLst>
            </p:cNvPr>
            <p:cNvGrpSpPr/>
            <p:nvPr/>
          </p:nvGrpSpPr>
          <p:grpSpPr>
            <a:xfrm flipH="1">
              <a:off x="1449388" y="4279047"/>
              <a:ext cx="1539875" cy="390924"/>
              <a:chOff x="796245" y="5993547"/>
              <a:chExt cx="1539875" cy="390924"/>
            </a:xfrm>
          </p:grpSpPr>
          <p:sp>
            <p:nvSpPr>
              <p:cNvPr id="436" name="Line 169">
                <a:extLst>
                  <a:ext uri="{FF2B5EF4-FFF2-40B4-BE49-F238E27FC236}">
                    <a16:creationId xmlns:a16="http://schemas.microsoft.com/office/drawing/2014/main" id="{DF8AED72-CC03-D141-BF1D-CDBAD8CFF041}"/>
                  </a:ext>
                </a:extLst>
              </p:cNvPr>
              <p:cNvSpPr>
                <a:spLocks noChangeShapeType="1"/>
              </p:cNvSpPr>
              <p:nvPr/>
            </p:nvSpPr>
            <p:spPr bwMode="auto">
              <a:xfrm>
                <a:off x="796245" y="6007834"/>
                <a:ext cx="1479550" cy="3159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37" name="Rectangle 170">
                <a:extLst>
                  <a:ext uri="{FF2B5EF4-FFF2-40B4-BE49-F238E27FC236}">
                    <a16:creationId xmlns:a16="http://schemas.microsoft.com/office/drawing/2014/main" id="{629240BC-A74F-6E49-91FA-059AA1C94494}"/>
                  </a:ext>
                </a:extLst>
              </p:cNvPr>
              <p:cNvSpPr>
                <a:spLocks noChangeArrowheads="1"/>
              </p:cNvSpPr>
              <p:nvPr/>
            </p:nvSpPr>
            <p:spPr bwMode="auto">
              <a:xfrm>
                <a:off x="1113745" y="5993547"/>
                <a:ext cx="859292" cy="39092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38" name="Oval 172">
                <a:extLst>
                  <a:ext uri="{FF2B5EF4-FFF2-40B4-BE49-F238E27FC236}">
                    <a16:creationId xmlns:a16="http://schemas.microsoft.com/office/drawing/2014/main" id="{A155E5ED-674B-0544-A028-085A5AD95F12}"/>
                  </a:ext>
                </a:extLst>
              </p:cNvPr>
              <p:cNvSpPr>
                <a:spLocks noChangeArrowheads="1"/>
              </p:cNvSpPr>
              <p:nvPr/>
            </p:nvSpPr>
            <p:spPr bwMode="auto">
              <a:xfrm>
                <a:off x="2245632" y="6291997"/>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grpSp>
        <p:sp>
          <p:nvSpPr>
            <p:cNvPr id="435" name="Text Box 171">
              <a:extLst>
                <a:ext uri="{FF2B5EF4-FFF2-40B4-BE49-F238E27FC236}">
                  <a16:creationId xmlns:a16="http://schemas.microsoft.com/office/drawing/2014/main" id="{F73380DB-6861-6B4E-B8D4-43FE3C783476}"/>
                </a:ext>
              </a:extLst>
            </p:cNvPr>
            <p:cNvSpPr txBox="1">
              <a:spLocks noChangeArrowheads="1"/>
            </p:cNvSpPr>
            <p:nvPr/>
          </p:nvSpPr>
          <p:spPr bwMode="auto">
            <a:xfrm>
              <a:off x="1735694" y="4283529"/>
              <a:ext cx="1071127" cy="33855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ACK(x+1)</a:t>
              </a:r>
            </a:p>
          </p:txBody>
        </p:sp>
      </p:grpSp>
      <p:grpSp>
        <p:nvGrpSpPr>
          <p:cNvPr id="9" name="Group 8">
            <a:extLst>
              <a:ext uri="{FF2B5EF4-FFF2-40B4-BE49-F238E27FC236}">
                <a16:creationId xmlns:a16="http://schemas.microsoft.com/office/drawing/2014/main" id="{A4CB8012-D87E-F547-97B0-03323A38506E}"/>
              </a:ext>
            </a:extLst>
          </p:cNvPr>
          <p:cNvGrpSpPr/>
          <p:nvPr/>
        </p:nvGrpSpPr>
        <p:grpSpPr>
          <a:xfrm>
            <a:off x="1273629" y="5146706"/>
            <a:ext cx="1773114" cy="1003723"/>
            <a:chOff x="1273629" y="5146706"/>
            <a:chExt cx="1773114" cy="1003723"/>
          </a:xfrm>
        </p:grpSpPr>
        <p:sp>
          <p:nvSpPr>
            <p:cNvPr id="4" name="TextBox 3">
              <a:extLst>
                <a:ext uri="{FF2B5EF4-FFF2-40B4-BE49-F238E27FC236}">
                  <a16:creationId xmlns:a16="http://schemas.microsoft.com/office/drawing/2014/main" id="{BDFF0F55-D08F-1344-9B87-5BCA4686A75C}"/>
                </a:ext>
              </a:extLst>
            </p:cNvPr>
            <p:cNvSpPr txBox="1"/>
            <p:nvPr/>
          </p:nvSpPr>
          <p:spPr>
            <a:xfrm>
              <a:off x="1273629" y="5146706"/>
              <a:ext cx="177311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No problem!</a:t>
              </a:r>
            </a:p>
          </p:txBody>
        </p:sp>
        <p:pic>
          <p:nvPicPr>
            <p:cNvPr id="6" name="Picture 5" descr="A picture containing drawing&#10;&#10;Description automatically generated">
              <a:extLst>
                <a:ext uri="{FF2B5EF4-FFF2-40B4-BE49-F238E27FC236}">
                  <a16:creationId xmlns:a16="http://schemas.microsoft.com/office/drawing/2014/main" id="{4F95E370-82E9-0D41-AB1B-B42B590C4566}"/>
                </a:ext>
              </a:extLst>
            </p:cNvPr>
            <p:cNvPicPr>
              <a:picLocks noChangeAspect="1"/>
            </p:cNvPicPr>
            <p:nvPr/>
          </p:nvPicPr>
          <p:blipFill>
            <a:blip r:embed="rId4"/>
            <a:stretch>
              <a:fillRect/>
            </a:stretch>
          </p:blipFill>
          <p:spPr>
            <a:xfrm>
              <a:off x="1812470" y="5524500"/>
              <a:ext cx="625929" cy="625929"/>
            </a:xfrm>
            <a:prstGeom prst="rect">
              <a:avLst/>
            </a:prstGeom>
          </p:spPr>
        </p:pic>
      </p:grpSp>
      <p:sp>
        <p:nvSpPr>
          <p:cNvPr id="73" name="Slide Number Placeholder 2">
            <a:extLst>
              <a:ext uri="{FF2B5EF4-FFF2-40B4-BE49-F238E27FC236}">
                <a16:creationId xmlns:a16="http://schemas.microsoft.com/office/drawing/2014/main" id="{26201937-A24A-454E-B97D-9D841DC2449E}"/>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38</a:t>
            </a:fld>
            <a:endParaRPr lang="en-US" dirty="0"/>
          </a:p>
        </p:txBody>
      </p:sp>
    </p:spTree>
    <p:extLst>
      <p:ext uri="{BB962C8B-B14F-4D97-AF65-F5344CB8AC3E}">
        <p14:creationId xmlns:p14="http://schemas.microsoft.com/office/powerpoint/2010/main" val="71547846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par>
                                <p:cTn id="8" presetID="9" presetClass="exit" presetSubtype="0" fill="hold" nodeType="withEffect">
                                  <p:stCondLst>
                                    <p:cond delay="0"/>
                                  </p:stCondLst>
                                  <p:childTnLst>
                                    <p:animEffect transition="out" filter="dissolve">
                                      <p:cBhvr>
                                        <p:cTn id="9" dur="500"/>
                                        <p:tgtEl>
                                          <p:spTgt spid="423"/>
                                        </p:tgtEl>
                                      </p:cBhvr>
                                    </p:animEffect>
                                    <p:set>
                                      <p:cBhvr>
                                        <p:cTn id="10" dur="1" fill="hold">
                                          <p:stCondLst>
                                            <p:cond delay="499"/>
                                          </p:stCondLst>
                                        </p:cTn>
                                        <p:tgtEl>
                                          <p:spTgt spid="423"/>
                                        </p:tgtEl>
                                        <p:attrNameLst>
                                          <p:attrName>style.visibility</p:attrName>
                                        </p:attrNameLst>
                                      </p:cBhvr>
                                      <p:to>
                                        <p:strVal val="hidden"/>
                                      </p:to>
                                    </p:set>
                                  </p:childTnLst>
                                </p:cTn>
                              </p:par>
                              <p:par>
                                <p:cTn id="11" presetID="9" presetClass="exit" presetSubtype="0" fill="hold" nodeType="withEffect">
                                  <p:stCondLst>
                                    <p:cond delay="0"/>
                                  </p:stCondLst>
                                  <p:childTnLst>
                                    <p:animEffect transition="out" filter="dissolv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2-way handshake scenarios</a:t>
            </a:r>
          </a:p>
        </p:txBody>
      </p:sp>
      <p:grpSp>
        <p:nvGrpSpPr>
          <p:cNvPr id="3" name="Group 2">
            <a:extLst>
              <a:ext uri="{FF2B5EF4-FFF2-40B4-BE49-F238E27FC236}">
                <a16:creationId xmlns:a16="http://schemas.microsoft.com/office/drawing/2014/main" id="{9CAAA66F-65EC-E34C-8D40-259E21717735}"/>
              </a:ext>
            </a:extLst>
          </p:cNvPr>
          <p:cNvGrpSpPr/>
          <p:nvPr/>
        </p:nvGrpSpPr>
        <p:grpSpPr>
          <a:xfrm>
            <a:off x="5262108" y="1983508"/>
            <a:ext cx="1530350" cy="4033838"/>
            <a:chOff x="5276623" y="2475192"/>
            <a:chExt cx="1530350" cy="4033838"/>
          </a:xfrm>
        </p:grpSpPr>
        <p:sp>
          <p:nvSpPr>
            <p:cNvPr id="279" name="Line 25">
              <a:extLst>
                <a:ext uri="{FF2B5EF4-FFF2-40B4-BE49-F238E27FC236}">
                  <a16:creationId xmlns:a16="http://schemas.microsoft.com/office/drawing/2014/main" id="{BC6653C1-9562-C643-B0CA-B2050012CB3F}"/>
                </a:ext>
              </a:extLst>
            </p:cNvPr>
            <p:cNvSpPr>
              <a:spLocks noChangeShapeType="1"/>
            </p:cNvSpPr>
            <p:nvPr/>
          </p:nvSpPr>
          <p:spPr bwMode="auto">
            <a:xfrm flipH="1">
              <a:off x="5276623" y="2475192"/>
              <a:ext cx="1588" cy="2470150"/>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0" name="Line 39">
              <a:extLst>
                <a:ext uri="{FF2B5EF4-FFF2-40B4-BE49-F238E27FC236}">
                  <a16:creationId xmlns:a16="http://schemas.microsoft.com/office/drawing/2014/main" id="{315091FE-FBA3-1544-BB24-018D1D00254A}"/>
                </a:ext>
              </a:extLst>
            </p:cNvPr>
            <p:cNvSpPr>
              <a:spLocks noChangeShapeType="1"/>
            </p:cNvSpPr>
            <p:nvPr/>
          </p:nvSpPr>
          <p:spPr bwMode="auto">
            <a:xfrm flipH="1">
              <a:off x="6805386" y="2548217"/>
              <a:ext cx="1587" cy="3960813"/>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7" name="Group 6">
            <a:extLst>
              <a:ext uri="{FF2B5EF4-FFF2-40B4-BE49-F238E27FC236}">
                <a16:creationId xmlns:a16="http://schemas.microsoft.com/office/drawing/2014/main" id="{D58C52DC-C8FA-4944-8CC4-85815AC982E1}"/>
              </a:ext>
            </a:extLst>
          </p:cNvPr>
          <p:cNvGrpSpPr/>
          <p:nvPr/>
        </p:nvGrpSpPr>
        <p:grpSpPr>
          <a:xfrm>
            <a:off x="6768421" y="5356225"/>
            <a:ext cx="847724" cy="336550"/>
            <a:chOff x="11151735" y="5148718"/>
            <a:chExt cx="847724" cy="336550"/>
          </a:xfrm>
        </p:grpSpPr>
        <p:sp>
          <p:nvSpPr>
            <p:cNvPr id="284" name="Text Box 44">
              <a:extLst>
                <a:ext uri="{FF2B5EF4-FFF2-40B4-BE49-F238E27FC236}">
                  <a16:creationId xmlns:a16="http://schemas.microsoft.com/office/drawing/2014/main" id="{44C9896B-08D9-DD4F-A1D1-E6EE31E997B0}"/>
                </a:ext>
              </a:extLst>
            </p:cNvPr>
            <p:cNvSpPr txBox="1">
              <a:spLocks noChangeArrowheads="1"/>
            </p:cNvSpPr>
            <p:nvPr/>
          </p:nvSpPr>
          <p:spPr bwMode="auto">
            <a:xfrm>
              <a:off x="11227935" y="5148718"/>
              <a:ext cx="771524"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rPr>
                <a:t>ESTAB</a:t>
              </a:r>
            </a:p>
          </p:txBody>
        </p:sp>
        <p:sp>
          <p:nvSpPr>
            <p:cNvPr id="285" name="Oval 45">
              <a:extLst>
                <a:ext uri="{FF2B5EF4-FFF2-40B4-BE49-F238E27FC236}">
                  <a16:creationId xmlns:a16="http://schemas.microsoft.com/office/drawing/2014/main" id="{523A6BAB-2B5B-8B48-B14C-CD5B3206CAA2}"/>
                </a:ext>
              </a:extLst>
            </p:cNvPr>
            <p:cNvSpPr>
              <a:spLocks noChangeArrowheads="1"/>
            </p:cNvSpPr>
            <p:nvPr/>
          </p:nvSpPr>
          <p:spPr bwMode="auto">
            <a:xfrm>
              <a:off x="11151735" y="5275718"/>
              <a:ext cx="90487"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grpSp>
      <p:grpSp>
        <p:nvGrpSpPr>
          <p:cNvPr id="5" name="Group 4">
            <a:extLst>
              <a:ext uri="{FF2B5EF4-FFF2-40B4-BE49-F238E27FC236}">
                <a16:creationId xmlns:a16="http://schemas.microsoft.com/office/drawing/2014/main" id="{BF5066A4-7FFD-3447-A085-E135DC48118A}"/>
              </a:ext>
            </a:extLst>
          </p:cNvPr>
          <p:cNvGrpSpPr/>
          <p:nvPr/>
        </p:nvGrpSpPr>
        <p:grpSpPr>
          <a:xfrm>
            <a:off x="3998688" y="2674935"/>
            <a:ext cx="2841623" cy="2849565"/>
            <a:chOff x="8352974" y="2492829"/>
            <a:chExt cx="2841623" cy="2849565"/>
          </a:xfrm>
        </p:grpSpPr>
        <p:sp>
          <p:nvSpPr>
            <p:cNvPr id="282" name="Text Box 42">
              <a:extLst>
                <a:ext uri="{FF2B5EF4-FFF2-40B4-BE49-F238E27FC236}">
                  <a16:creationId xmlns:a16="http://schemas.microsoft.com/office/drawing/2014/main" id="{8B0E3738-2A2C-C540-B07D-16F35D1B7460}"/>
                </a:ext>
              </a:extLst>
            </p:cNvPr>
            <p:cNvSpPr txBox="1">
              <a:spLocks noChangeArrowheads="1"/>
            </p:cNvSpPr>
            <p:nvPr/>
          </p:nvSpPr>
          <p:spPr bwMode="auto">
            <a:xfrm>
              <a:off x="8352974" y="2492829"/>
              <a:ext cx="1273174" cy="752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retransmit</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req_conn(x)</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3" name="Freeform 43">
              <a:extLst>
                <a:ext uri="{FF2B5EF4-FFF2-40B4-BE49-F238E27FC236}">
                  <a16:creationId xmlns:a16="http://schemas.microsoft.com/office/drawing/2014/main" id="{528F5849-C9BA-364B-BBF1-086991584A75}"/>
                </a:ext>
              </a:extLst>
            </p:cNvPr>
            <p:cNvSpPr>
              <a:spLocks/>
            </p:cNvSpPr>
            <p:nvPr/>
          </p:nvSpPr>
          <p:spPr bwMode="auto">
            <a:xfrm>
              <a:off x="9667423" y="2783342"/>
              <a:ext cx="1527174" cy="2559052"/>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86" name="Group 46">
              <a:extLst>
                <a:ext uri="{FF2B5EF4-FFF2-40B4-BE49-F238E27FC236}">
                  <a16:creationId xmlns:a16="http://schemas.microsoft.com/office/drawing/2014/main" id="{3F65A0FD-93D7-FE4A-976F-9F9685E790A3}"/>
                </a:ext>
              </a:extLst>
            </p:cNvPr>
            <p:cNvGrpSpPr>
              <a:grpSpLocks/>
            </p:cNvGrpSpPr>
            <p:nvPr/>
          </p:nvGrpSpPr>
          <p:grpSpPr bwMode="auto">
            <a:xfrm>
              <a:off x="9764261" y="3386592"/>
              <a:ext cx="1273174" cy="336550"/>
              <a:chOff x="1065" y="2085"/>
              <a:chExt cx="802" cy="212"/>
            </a:xfrm>
          </p:grpSpPr>
          <p:sp>
            <p:nvSpPr>
              <p:cNvPr id="288" name="Rectangle 47">
                <a:extLst>
                  <a:ext uri="{FF2B5EF4-FFF2-40B4-BE49-F238E27FC236}">
                    <a16:creationId xmlns:a16="http://schemas.microsoft.com/office/drawing/2014/main" id="{528CC805-3663-4846-BF33-966C0CEBEFDC}"/>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9" name="Text Box 48">
                <a:extLst>
                  <a:ext uri="{FF2B5EF4-FFF2-40B4-BE49-F238E27FC236}">
                    <a16:creationId xmlns:a16="http://schemas.microsoft.com/office/drawing/2014/main" id="{37D76C29-568C-6D4B-A1D0-D37EBE61CD72}"/>
                  </a:ext>
                </a:extLst>
              </p:cNvPr>
              <p:cNvSpPr txBox="1">
                <a:spLocks noChangeArrowheads="1"/>
              </p:cNvSpPr>
              <p:nvPr/>
            </p:nvSpPr>
            <p:spPr bwMode="auto">
              <a:xfrm>
                <a:off x="1065" y="2085"/>
                <a:ext cx="802"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req_conn(x)</a:t>
                </a:r>
              </a:p>
            </p:txBody>
          </p:sp>
        </p:grpSp>
      </p:grpSp>
      <p:grpSp>
        <p:nvGrpSpPr>
          <p:cNvPr id="290" name="Group 93">
            <a:extLst>
              <a:ext uri="{FF2B5EF4-FFF2-40B4-BE49-F238E27FC236}">
                <a16:creationId xmlns:a16="http://schemas.microsoft.com/office/drawing/2014/main" id="{86B69F27-A994-CA47-985C-04430FA1972B}"/>
              </a:ext>
            </a:extLst>
          </p:cNvPr>
          <p:cNvGrpSpPr>
            <a:grpSpLocks/>
          </p:cNvGrpSpPr>
          <p:nvPr/>
        </p:nvGrpSpPr>
        <p:grpSpPr bwMode="auto">
          <a:xfrm>
            <a:off x="4105048" y="4123231"/>
            <a:ext cx="3830638" cy="715962"/>
            <a:chOff x="406" y="2807"/>
            <a:chExt cx="2413" cy="451"/>
          </a:xfrm>
        </p:grpSpPr>
        <p:sp>
          <p:nvSpPr>
            <p:cNvPr id="291" name="Line 40">
              <a:extLst>
                <a:ext uri="{FF2B5EF4-FFF2-40B4-BE49-F238E27FC236}">
                  <a16:creationId xmlns:a16="http://schemas.microsoft.com/office/drawing/2014/main" id="{C5AE8131-69E2-444B-8BC2-5C71A372218D}"/>
                </a:ext>
              </a:extLst>
            </p:cNvPr>
            <p:cNvSpPr>
              <a:spLocks noChangeShapeType="1"/>
            </p:cNvSpPr>
            <p:nvPr/>
          </p:nvSpPr>
          <p:spPr bwMode="auto">
            <a:xfrm>
              <a:off x="1097" y="2964"/>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92" name="Text Box 83">
              <a:extLst>
                <a:ext uri="{FF2B5EF4-FFF2-40B4-BE49-F238E27FC236}">
                  <a16:creationId xmlns:a16="http://schemas.microsoft.com/office/drawing/2014/main" id="{8DBECFE4-76F0-AB4E-B789-A21C0EFCB611}"/>
                </a:ext>
              </a:extLst>
            </p:cNvPr>
            <p:cNvSpPr txBox="1">
              <a:spLocks noChangeArrowheads="1"/>
            </p:cNvSpPr>
            <p:nvPr/>
          </p:nvSpPr>
          <p:spPr bwMode="auto">
            <a:xfrm>
              <a:off x="406" y="2937"/>
              <a:ext cx="738"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client terminates</a:t>
              </a:r>
            </a:p>
          </p:txBody>
        </p:sp>
        <p:sp>
          <p:nvSpPr>
            <p:cNvPr id="293" name="Text Box 84">
              <a:extLst>
                <a:ext uri="{FF2B5EF4-FFF2-40B4-BE49-F238E27FC236}">
                  <a16:creationId xmlns:a16="http://schemas.microsoft.com/office/drawing/2014/main" id="{01770E8E-591E-3449-B45B-86CFA7116170}"/>
                </a:ext>
              </a:extLst>
            </p:cNvPr>
            <p:cNvSpPr txBox="1">
              <a:spLocks noChangeArrowheads="1"/>
            </p:cNvSpPr>
            <p:nvPr/>
          </p:nvSpPr>
          <p:spPr bwMode="auto">
            <a:xfrm>
              <a:off x="2081" y="2938"/>
              <a:ext cx="738"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server</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forgets x</a:t>
              </a:r>
            </a:p>
          </p:txBody>
        </p:sp>
        <p:sp>
          <p:nvSpPr>
            <p:cNvPr id="294" name="Text Box 85">
              <a:extLst>
                <a:ext uri="{FF2B5EF4-FFF2-40B4-BE49-F238E27FC236}">
                  <a16:creationId xmlns:a16="http://schemas.microsoft.com/office/drawing/2014/main" id="{6398E97B-6925-E144-A17A-19BDFF67AF27}"/>
                </a:ext>
              </a:extLst>
            </p:cNvPr>
            <p:cNvSpPr txBox="1">
              <a:spLocks noChangeArrowheads="1"/>
            </p:cNvSpPr>
            <p:nvPr/>
          </p:nvSpPr>
          <p:spPr bwMode="auto">
            <a:xfrm>
              <a:off x="1269" y="2807"/>
              <a:ext cx="706" cy="3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connection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x completes</a:t>
              </a:r>
            </a:p>
          </p:txBody>
        </p:sp>
      </p:grpSp>
      <p:grpSp>
        <p:nvGrpSpPr>
          <p:cNvPr id="12" name="Group 11">
            <a:extLst>
              <a:ext uri="{FF2B5EF4-FFF2-40B4-BE49-F238E27FC236}">
                <a16:creationId xmlns:a16="http://schemas.microsoft.com/office/drawing/2014/main" id="{09A60973-A80A-204A-B7D6-FB475901ED33}"/>
              </a:ext>
            </a:extLst>
          </p:cNvPr>
          <p:cNvGrpSpPr/>
          <p:nvPr/>
        </p:nvGrpSpPr>
        <p:grpSpPr>
          <a:xfrm>
            <a:off x="4222070" y="1980106"/>
            <a:ext cx="3389313" cy="1671637"/>
            <a:chOff x="7865155" y="1602735"/>
            <a:chExt cx="3389313" cy="1671637"/>
          </a:xfrm>
        </p:grpSpPr>
        <p:sp>
          <p:nvSpPr>
            <p:cNvPr id="308" name="Text Box 103">
              <a:extLst>
                <a:ext uri="{FF2B5EF4-FFF2-40B4-BE49-F238E27FC236}">
                  <a16:creationId xmlns:a16="http://schemas.microsoft.com/office/drawing/2014/main" id="{27DD0EE7-74A0-A142-919B-D9D3C93523C2}"/>
                </a:ext>
              </a:extLst>
            </p:cNvPr>
            <p:cNvSpPr txBox="1">
              <a:spLocks noChangeArrowheads="1"/>
            </p:cNvSpPr>
            <p:nvPr/>
          </p:nvSpPr>
          <p:spPr bwMode="auto">
            <a:xfrm>
              <a:off x="7865155" y="1602735"/>
              <a:ext cx="973138" cy="581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choose x</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9" name="Line 104">
              <a:extLst>
                <a:ext uri="{FF2B5EF4-FFF2-40B4-BE49-F238E27FC236}">
                  <a16:creationId xmlns:a16="http://schemas.microsoft.com/office/drawing/2014/main" id="{1CA9B668-6F05-1A48-9C2A-8D882F798CE6}"/>
                </a:ext>
              </a:extLst>
            </p:cNvPr>
            <p:cNvSpPr>
              <a:spLocks noChangeShapeType="1"/>
            </p:cNvSpPr>
            <p:nvPr/>
          </p:nvSpPr>
          <p:spPr bwMode="auto">
            <a:xfrm>
              <a:off x="8936718" y="1797997"/>
              <a:ext cx="1479550" cy="3159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0" name="Line 105">
              <a:extLst>
                <a:ext uri="{FF2B5EF4-FFF2-40B4-BE49-F238E27FC236}">
                  <a16:creationId xmlns:a16="http://schemas.microsoft.com/office/drawing/2014/main" id="{419290E8-9A2F-1349-8BDC-8DFEA6A57E20}"/>
                </a:ext>
              </a:extLst>
            </p:cNvPr>
            <p:cNvSpPr>
              <a:spLocks noChangeShapeType="1"/>
            </p:cNvSpPr>
            <p:nvPr/>
          </p:nvSpPr>
          <p:spPr bwMode="auto">
            <a:xfrm flipH="1">
              <a:off x="8876393" y="2152010"/>
              <a:ext cx="1571625" cy="95567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1" name="Rectangle 106">
              <a:extLst>
                <a:ext uri="{FF2B5EF4-FFF2-40B4-BE49-F238E27FC236}">
                  <a16:creationId xmlns:a16="http://schemas.microsoft.com/office/drawing/2014/main" id="{6E5822A0-BC34-8444-893D-1967BA1DAE48}"/>
                </a:ext>
              </a:extLst>
            </p:cNvPr>
            <p:cNvSpPr>
              <a:spLocks noChangeArrowheads="1"/>
            </p:cNvSpPr>
            <p:nvPr/>
          </p:nvSpPr>
          <p:spPr bwMode="auto">
            <a:xfrm>
              <a:off x="9254218" y="1783710"/>
              <a:ext cx="777875"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2"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9024030" y="1750372"/>
              <a:ext cx="1273175" cy="3365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req_conn(x)</a:t>
              </a:r>
            </a:p>
          </p:txBody>
        </p:sp>
        <p:sp>
          <p:nvSpPr>
            <p:cNvPr id="313" name="Rectangle 108">
              <a:extLst>
                <a:ext uri="{FF2B5EF4-FFF2-40B4-BE49-F238E27FC236}">
                  <a16:creationId xmlns:a16="http://schemas.microsoft.com/office/drawing/2014/main" id="{0F092120-BA14-CA43-B320-651262EF6262}"/>
                </a:ext>
              </a:extLst>
            </p:cNvPr>
            <p:cNvSpPr>
              <a:spLocks noChangeArrowheads="1"/>
            </p:cNvSpPr>
            <p:nvPr/>
          </p:nvSpPr>
          <p:spPr bwMode="auto">
            <a:xfrm>
              <a:off x="9432018" y="2207572"/>
              <a:ext cx="439738"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4" name="Text Box 109">
              <a:extLst>
                <a:ext uri="{FF2B5EF4-FFF2-40B4-BE49-F238E27FC236}">
                  <a16:creationId xmlns:a16="http://schemas.microsoft.com/office/drawing/2014/main" id="{FE4B1615-8188-B146-9BEC-B285BF25D9D6}"/>
                </a:ext>
              </a:extLst>
            </p:cNvPr>
            <p:cNvSpPr txBox="1">
              <a:spLocks noChangeArrowheads="1"/>
            </p:cNvSpPr>
            <p:nvPr/>
          </p:nvSpPr>
          <p:spPr bwMode="auto">
            <a:xfrm>
              <a:off x="10482943" y="2009135"/>
              <a:ext cx="7715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rPr>
                <a:t>ESTAB</a:t>
              </a:r>
            </a:p>
          </p:txBody>
        </p:sp>
        <p:sp>
          <p:nvSpPr>
            <p:cNvPr id="315" name="Text Box 110">
              <a:extLst>
                <a:ext uri="{FF2B5EF4-FFF2-40B4-BE49-F238E27FC236}">
                  <a16:creationId xmlns:a16="http://schemas.microsoft.com/office/drawing/2014/main" id="{8653D286-5C97-A747-BA85-93954395E4EE}"/>
                </a:ext>
              </a:extLst>
            </p:cNvPr>
            <p:cNvSpPr txBox="1">
              <a:spLocks noChangeArrowheads="1"/>
            </p:cNvSpPr>
            <p:nvPr/>
          </p:nvSpPr>
          <p:spPr bwMode="auto">
            <a:xfrm>
              <a:off x="8022318" y="2937822"/>
              <a:ext cx="7715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rPr>
                <a:t>ESTAB</a:t>
              </a:r>
            </a:p>
          </p:txBody>
        </p:sp>
        <p:sp>
          <p:nvSpPr>
            <p:cNvPr id="316" name="Oval 111">
              <a:extLst>
                <a:ext uri="{FF2B5EF4-FFF2-40B4-BE49-F238E27FC236}">
                  <a16:creationId xmlns:a16="http://schemas.microsoft.com/office/drawing/2014/main" id="{300C99E0-DB04-CE43-BF80-AA9266EE3E52}"/>
                </a:ext>
              </a:extLst>
            </p:cNvPr>
            <p:cNvSpPr>
              <a:spLocks noChangeArrowheads="1"/>
            </p:cNvSpPr>
            <p:nvPr/>
          </p:nvSpPr>
          <p:spPr bwMode="auto">
            <a:xfrm>
              <a:off x="8835118" y="3039422"/>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317" name="Oval 112">
              <a:extLst>
                <a:ext uri="{FF2B5EF4-FFF2-40B4-BE49-F238E27FC236}">
                  <a16:creationId xmlns:a16="http://schemas.microsoft.com/office/drawing/2014/main" id="{55BCC378-2E90-C548-84E6-682C16C047D2}"/>
                </a:ext>
              </a:extLst>
            </p:cNvPr>
            <p:cNvSpPr>
              <a:spLocks noChangeArrowheads="1"/>
            </p:cNvSpPr>
            <p:nvPr/>
          </p:nvSpPr>
          <p:spPr bwMode="auto">
            <a:xfrm>
              <a:off x="10374993" y="2126610"/>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grpSp>
          <p:nvGrpSpPr>
            <p:cNvPr id="318" name="Group 113">
              <a:extLst>
                <a:ext uri="{FF2B5EF4-FFF2-40B4-BE49-F238E27FC236}">
                  <a16:creationId xmlns:a16="http://schemas.microsoft.com/office/drawing/2014/main" id="{204BAA52-89B1-794F-88E6-9C5622E551C2}"/>
                </a:ext>
              </a:extLst>
            </p:cNvPr>
            <p:cNvGrpSpPr>
              <a:grpSpLocks/>
            </p:cNvGrpSpPr>
            <p:nvPr/>
          </p:nvGrpSpPr>
          <p:grpSpPr bwMode="auto">
            <a:xfrm>
              <a:off x="9124043" y="2345685"/>
              <a:ext cx="1274763" cy="336550"/>
              <a:chOff x="1065" y="2085"/>
              <a:chExt cx="803" cy="212"/>
            </a:xfrm>
          </p:grpSpPr>
          <p:sp>
            <p:nvSpPr>
              <p:cNvPr id="355" name="Rectangle 114">
                <a:extLst>
                  <a:ext uri="{FF2B5EF4-FFF2-40B4-BE49-F238E27FC236}">
                    <a16:creationId xmlns:a16="http://schemas.microsoft.com/office/drawing/2014/main" id="{C6D2B144-2FD8-974E-9CC8-AFFFEB746855}"/>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56" name="Text Box 115">
                <a:extLst>
                  <a:ext uri="{FF2B5EF4-FFF2-40B4-BE49-F238E27FC236}">
                    <a16:creationId xmlns:a16="http://schemas.microsoft.com/office/drawing/2014/main" id="{96800BB5-6D1C-0B46-BD61-1B42671EE796}"/>
                  </a:ext>
                </a:extLst>
              </p:cNvPr>
              <p:cNvSpPr txBox="1">
                <a:spLocks noChangeArrowheads="1"/>
              </p:cNvSpPr>
              <p:nvPr/>
            </p:nvSpPr>
            <p:spPr bwMode="auto">
              <a:xfrm>
                <a:off x="1065" y="2085"/>
                <a:ext cx="803"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err="1">
                    <a:ln>
                      <a:noFill/>
                    </a:ln>
                    <a:solidFill>
                      <a:srgbClr val="000000"/>
                    </a:solidFill>
                    <a:effectLst/>
                    <a:uLnTx/>
                    <a:uFillTx/>
                    <a:latin typeface="Tahoma" charset="0"/>
                    <a:ea typeface="ＭＳ Ｐゴシック" charset="0"/>
                    <a:cs typeface="+mn-cs"/>
                  </a:rPr>
                  <a:t>acc_conn</a:t>
                </a: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(x)</a:t>
                </a:r>
              </a:p>
            </p:txBody>
          </p:sp>
        </p:grpSp>
      </p:grpSp>
      <p:grpSp>
        <p:nvGrpSpPr>
          <p:cNvPr id="319" name="Group 116">
            <a:extLst>
              <a:ext uri="{FF2B5EF4-FFF2-40B4-BE49-F238E27FC236}">
                <a16:creationId xmlns:a16="http://schemas.microsoft.com/office/drawing/2014/main" id="{80C83854-C77F-BA47-9721-52914A496B51}"/>
              </a:ext>
            </a:extLst>
          </p:cNvPr>
          <p:cNvGrpSpPr>
            <a:grpSpLocks/>
          </p:cNvGrpSpPr>
          <p:nvPr/>
        </p:nvGrpSpPr>
        <p:grpSpPr bwMode="auto">
          <a:xfrm>
            <a:off x="4879295" y="1432418"/>
            <a:ext cx="620713" cy="487363"/>
            <a:chOff x="-44" y="1473"/>
            <a:chExt cx="981" cy="1105"/>
          </a:xfrm>
        </p:grpSpPr>
        <p:pic>
          <p:nvPicPr>
            <p:cNvPr id="353" name="Picture 117" descr="desktop_computer_stylized_medium">
              <a:extLst>
                <a:ext uri="{FF2B5EF4-FFF2-40B4-BE49-F238E27FC236}">
                  <a16:creationId xmlns:a16="http://schemas.microsoft.com/office/drawing/2014/main" id="{FE9AA7D5-5E43-A948-A974-AB4C6A0118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4" name="Freeform 118">
              <a:extLst>
                <a:ext uri="{FF2B5EF4-FFF2-40B4-BE49-F238E27FC236}">
                  <a16:creationId xmlns:a16="http://schemas.microsoft.com/office/drawing/2014/main" id="{E2235674-3CC8-FA49-8410-24EA9726B2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20" name="Group 119">
            <a:extLst>
              <a:ext uri="{FF2B5EF4-FFF2-40B4-BE49-F238E27FC236}">
                <a16:creationId xmlns:a16="http://schemas.microsoft.com/office/drawing/2014/main" id="{20AAAB4F-DE43-4840-934B-1D6561325F75}"/>
              </a:ext>
            </a:extLst>
          </p:cNvPr>
          <p:cNvGrpSpPr>
            <a:grpSpLocks/>
          </p:cNvGrpSpPr>
          <p:nvPr/>
        </p:nvGrpSpPr>
        <p:grpSpPr bwMode="auto">
          <a:xfrm>
            <a:off x="6687458" y="1413368"/>
            <a:ext cx="336550" cy="512763"/>
            <a:chOff x="4140" y="429"/>
            <a:chExt cx="1425" cy="2396"/>
          </a:xfrm>
        </p:grpSpPr>
        <p:sp>
          <p:nvSpPr>
            <p:cNvPr id="321" name="Freeform 120">
              <a:extLst>
                <a:ext uri="{FF2B5EF4-FFF2-40B4-BE49-F238E27FC236}">
                  <a16:creationId xmlns:a16="http://schemas.microsoft.com/office/drawing/2014/main" id="{5DB74304-D404-914A-B276-40CA04FC1311}"/>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2" name="Rectangle 121">
              <a:extLst>
                <a:ext uri="{FF2B5EF4-FFF2-40B4-BE49-F238E27FC236}">
                  <a16:creationId xmlns:a16="http://schemas.microsoft.com/office/drawing/2014/main" id="{4478CCC0-71C5-0742-833B-39071606459A}"/>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3" name="Freeform 122">
              <a:extLst>
                <a:ext uri="{FF2B5EF4-FFF2-40B4-BE49-F238E27FC236}">
                  <a16:creationId xmlns:a16="http://schemas.microsoft.com/office/drawing/2014/main" id="{773F3087-0AEC-3244-AE9B-B906345E8CA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4" name="Freeform 123">
              <a:extLst>
                <a:ext uri="{FF2B5EF4-FFF2-40B4-BE49-F238E27FC236}">
                  <a16:creationId xmlns:a16="http://schemas.microsoft.com/office/drawing/2014/main" id="{6D261F9A-FEF5-2C48-A572-F9AEEE61C84B}"/>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5" name="Rectangle 124">
              <a:extLst>
                <a:ext uri="{FF2B5EF4-FFF2-40B4-BE49-F238E27FC236}">
                  <a16:creationId xmlns:a16="http://schemas.microsoft.com/office/drawing/2014/main" id="{D7A88CB8-3019-0847-8D63-FB56841E8488}"/>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26" name="Group 125">
              <a:extLst>
                <a:ext uri="{FF2B5EF4-FFF2-40B4-BE49-F238E27FC236}">
                  <a16:creationId xmlns:a16="http://schemas.microsoft.com/office/drawing/2014/main" id="{92427F18-D9EB-5F4E-A265-DCBE0DDFDD70}"/>
                </a:ext>
              </a:extLst>
            </p:cNvPr>
            <p:cNvGrpSpPr>
              <a:grpSpLocks/>
            </p:cNvGrpSpPr>
            <p:nvPr/>
          </p:nvGrpSpPr>
          <p:grpSpPr bwMode="auto">
            <a:xfrm>
              <a:off x="4749" y="668"/>
              <a:ext cx="581" cy="145"/>
              <a:chOff x="614" y="2568"/>
              <a:chExt cx="725" cy="139"/>
            </a:xfrm>
          </p:grpSpPr>
          <p:sp>
            <p:nvSpPr>
              <p:cNvPr id="351" name="AutoShape 126">
                <a:extLst>
                  <a:ext uri="{FF2B5EF4-FFF2-40B4-BE49-F238E27FC236}">
                    <a16:creationId xmlns:a16="http://schemas.microsoft.com/office/drawing/2014/main" id="{49297CCC-774B-1443-8147-999AEBDA5FE6}"/>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52" name="AutoShape 127">
                <a:extLst>
                  <a:ext uri="{FF2B5EF4-FFF2-40B4-BE49-F238E27FC236}">
                    <a16:creationId xmlns:a16="http://schemas.microsoft.com/office/drawing/2014/main" id="{99AA7B97-011A-844B-9C5E-49EF3FECA59C}"/>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27" name="Rectangle 128">
              <a:extLst>
                <a:ext uri="{FF2B5EF4-FFF2-40B4-BE49-F238E27FC236}">
                  <a16:creationId xmlns:a16="http://schemas.microsoft.com/office/drawing/2014/main" id="{0DE915D7-115F-0148-8246-F07CA43F2DF0}"/>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28" name="Group 129">
              <a:extLst>
                <a:ext uri="{FF2B5EF4-FFF2-40B4-BE49-F238E27FC236}">
                  <a16:creationId xmlns:a16="http://schemas.microsoft.com/office/drawing/2014/main" id="{1168EC4F-26EA-454C-A186-35A18483C0EB}"/>
                </a:ext>
              </a:extLst>
            </p:cNvPr>
            <p:cNvGrpSpPr>
              <a:grpSpLocks/>
            </p:cNvGrpSpPr>
            <p:nvPr/>
          </p:nvGrpSpPr>
          <p:grpSpPr bwMode="auto">
            <a:xfrm>
              <a:off x="4747" y="994"/>
              <a:ext cx="581" cy="134"/>
              <a:chOff x="614" y="2568"/>
              <a:chExt cx="725" cy="139"/>
            </a:xfrm>
          </p:grpSpPr>
          <p:sp>
            <p:nvSpPr>
              <p:cNvPr id="349" name="AutoShape 130">
                <a:extLst>
                  <a:ext uri="{FF2B5EF4-FFF2-40B4-BE49-F238E27FC236}">
                    <a16:creationId xmlns:a16="http://schemas.microsoft.com/office/drawing/2014/main" id="{30DEF7E1-5206-E14C-8F6E-C221B89557E7}"/>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50" name="AutoShape 131">
                <a:extLst>
                  <a:ext uri="{FF2B5EF4-FFF2-40B4-BE49-F238E27FC236}">
                    <a16:creationId xmlns:a16="http://schemas.microsoft.com/office/drawing/2014/main" id="{6DBD6BDF-F229-9945-8578-CEC44256CF60}"/>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29" name="Rectangle 132">
              <a:extLst>
                <a:ext uri="{FF2B5EF4-FFF2-40B4-BE49-F238E27FC236}">
                  <a16:creationId xmlns:a16="http://schemas.microsoft.com/office/drawing/2014/main" id="{0A0EEFD7-8203-2740-ABF0-C767B83C1EBD}"/>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30" name="Rectangle 133">
              <a:extLst>
                <a:ext uri="{FF2B5EF4-FFF2-40B4-BE49-F238E27FC236}">
                  <a16:creationId xmlns:a16="http://schemas.microsoft.com/office/drawing/2014/main" id="{9B3363E9-032E-DE45-B7D5-07B9FA6590E9}"/>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31" name="Group 134">
              <a:extLst>
                <a:ext uri="{FF2B5EF4-FFF2-40B4-BE49-F238E27FC236}">
                  <a16:creationId xmlns:a16="http://schemas.microsoft.com/office/drawing/2014/main" id="{64432C7D-9E6A-6E4E-965D-954C702C6B6E}"/>
                </a:ext>
              </a:extLst>
            </p:cNvPr>
            <p:cNvGrpSpPr>
              <a:grpSpLocks/>
            </p:cNvGrpSpPr>
            <p:nvPr/>
          </p:nvGrpSpPr>
          <p:grpSpPr bwMode="auto">
            <a:xfrm>
              <a:off x="4735" y="1627"/>
              <a:ext cx="582" cy="151"/>
              <a:chOff x="614" y="2568"/>
              <a:chExt cx="725" cy="139"/>
            </a:xfrm>
          </p:grpSpPr>
          <p:sp>
            <p:nvSpPr>
              <p:cNvPr id="347" name="AutoShape 135">
                <a:extLst>
                  <a:ext uri="{FF2B5EF4-FFF2-40B4-BE49-F238E27FC236}">
                    <a16:creationId xmlns:a16="http://schemas.microsoft.com/office/drawing/2014/main" id="{B32D344B-D91B-954B-BD35-1984E9213AA1}"/>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8" name="AutoShape 136">
                <a:extLst>
                  <a:ext uri="{FF2B5EF4-FFF2-40B4-BE49-F238E27FC236}">
                    <a16:creationId xmlns:a16="http://schemas.microsoft.com/office/drawing/2014/main" id="{47067A3E-2B26-F04B-A35D-FE7A4A410313}"/>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32" name="Freeform 137">
              <a:extLst>
                <a:ext uri="{FF2B5EF4-FFF2-40B4-BE49-F238E27FC236}">
                  <a16:creationId xmlns:a16="http://schemas.microsoft.com/office/drawing/2014/main" id="{D7735CF1-1F30-4F47-AC44-432430394B3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33" name="Group 138">
              <a:extLst>
                <a:ext uri="{FF2B5EF4-FFF2-40B4-BE49-F238E27FC236}">
                  <a16:creationId xmlns:a16="http://schemas.microsoft.com/office/drawing/2014/main" id="{FB78B141-B15E-674E-8F3F-8329CF49818C}"/>
                </a:ext>
              </a:extLst>
            </p:cNvPr>
            <p:cNvGrpSpPr>
              <a:grpSpLocks/>
            </p:cNvGrpSpPr>
            <p:nvPr/>
          </p:nvGrpSpPr>
          <p:grpSpPr bwMode="auto">
            <a:xfrm>
              <a:off x="4739" y="1327"/>
              <a:ext cx="582" cy="139"/>
              <a:chOff x="614" y="2568"/>
              <a:chExt cx="725" cy="139"/>
            </a:xfrm>
          </p:grpSpPr>
          <p:sp>
            <p:nvSpPr>
              <p:cNvPr id="345" name="AutoShape 139">
                <a:extLst>
                  <a:ext uri="{FF2B5EF4-FFF2-40B4-BE49-F238E27FC236}">
                    <a16:creationId xmlns:a16="http://schemas.microsoft.com/office/drawing/2014/main" id="{2FE8954C-766A-0743-AFEA-BE850F02F6A5}"/>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6" name="AutoShape 140">
                <a:extLst>
                  <a:ext uri="{FF2B5EF4-FFF2-40B4-BE49-F238E27FC236}">
                    <a16:creationId xmlns:a16="http://schemas.microsoft.com/office/drawing/2014/main" id="{B0838D8D-F17D-6642-84C3-0A7A06DB11E7}"/>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34" name="Rectangle 141">
              <a:extLst>
                <a:ext uri="{FF2B5EF4-FFF2-40B4-BE49-F238E27FC236}">
                  <a16:creationId xmlns:a16="http://schemas.microsoft.com/office/drawing/2014/main" id="{201450E4-426D-034A-898C-EA0F1878F2BD}"/>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35" name="Freeform 142">
              <a:extLst>
                <a:ext uri="{FF2B5EF4-FFF2-40B4-BE49-F238E27FC236}">
                  <a16:creationId xmlns:a16="http://schemas.microsoft.com/office/drawing/2014/main" id="{BEF832CC-F889-B740-96DA-EC8898E429EA}"/>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6" name="Freeform 143">
              <a:extLst>
                <a:ext uri="{FF2B5EF4-FFF2-40B4-BE49-F238E27FC236}">
                  <a16:creationId xmlns:a16="http://schemas.microsoft.com/office/drawing/2014/main" id="{62398C75-46A0-3745-982E-EFC495B47581}"/>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7" name="Oval 144">
              <a:extLst>
                <a:ext uri="{FF2B5EF4-FFF2-40B4-BE49-F238E27FC236}">
                  <a16:creationId xmlns:a16="http://schemas.microsoft.com/office/drawing/2014/main" id="{352FBF24-62B2-6F49-AC68-A67E46BEF583}"/>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38" name="Freeform 145">
              <a:extLst>
                <a:ext uri="{FF2B5EF4-FFF2-40B4-BE49-F238E27FC236}">
                  <a16:creationId xmlns:a16="http://schemas.microsoft.com/office/drawing/2014/main" id="{689E20C5-4EA8-8A4D-86CB-905743CC96AF}"/>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9" name="AutoShape 146">
              <a:extLst>
                <a:ext uri="{FF2B5EF4-FFF2-40B4-BE49-F238E27FC236}">
                  <a16:creationId xmlns:a16="http://schemas.microsoft.com/office/drawing/2014/main" id="{EEA954D3-56B0-3541-93CF-131CC960367A}"/>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0" name="AutoShape 147">
              <a:extLst>
                <a:ext uri="{FF2B5EF4-FFF2-40B4-BE49-F238E27FC236}">
                  <a16:creationId xmlns:a16="http://schemas.microsoft.com/office/drawing/2014/main" id="{D041028B-4F78-C84C-BFED-1142E17FC058}"/>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1" name="Oval 148">
              <a:extLst>
                <a:ext uri="{FF2B5EF4-FFF2-40B4-BE49-F238E27FC236}">
                  <a16:creationId xmlns:a16="http://schemas.microsoft.com/office/drawing/2014/main" id="{1DB124EA-65C6-2944-95EA-9CF5A05FD43E}"/>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2" name="Oval 149">
              <a:extLst>
                <a:ext uri="{FF2B5EF4-FFF2-40B4-BE49-F238E27FC236}">
                  <a16:creationId xmlns:a16="http://schemas.microsoft.com/office/drawing/2014/main" id="{F9B231BC-3EE3-C645-A89F-95E350FAA4A6}"/>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343" name="Oval 150">
              <a:extLst>
                <a:ext uri="{FF2B5EF4-FFF2-40B4-BE49-F238E27FC236}">
                  <a16:creationId xmlns:a16="http://schemas.microsoft.com/office/drawing/2014/main" id="{01CC1925-74AE-594F-AD3D-173726AFBB10}"/>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4" name="Rectangle 151">
              <a:extLst>
                <a:ext uri="{FF2B5EF4-FFF2-40B4-BE49-F238E27FC236}">
                  <a16:creationId xmlns:a16="http://schemas.microsoft.com/office/drawing/2014/main" id="{92B6BE0B-71DF-9742-BE8C-BEF3D8A9EF2F}"/>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3" name="Group 12">
            <a:extLst>
              <a:ext uri="{FF2B5EF4-FFF2-40B4-BE49-F238E27FC236}">
                <a16:creationId xmlns:a16="http://schemas.microsoft.com/office/drawing/2014/main" id="{DE38AD7C-A8B1-2B4B-BE71-513FFA7EFB6C}"/>
              </a:ext>
            </a:extLst>
          </p:cNvPr>
          <p:cNvGrpSpPr/>
          <p:nvPr/>
        </p:nvGrpSpPr>
        <p:grpSpPr>
          <a:xfrm>
            <a:off x="4917394" y="5539014"/>
            <a:ext cx="1889805" cy="662028"/>
            <a:chOff x="9620023" y="2667000"/>
            <a:chExt cx="1889805" cy="662028"/>
          </a:xfrm>
        </p:grpSpPr>
        <p:sp>
          <p:nvSpPr>
            <p:cNvPr id="225" name="Line 105">
              <a:extLst>
                <a:ext uri="{FF2B5EF4-FFF2-40B4-BE49-F238E27FC236}">
                  <a16:creationId xmlns:a16="http://schemas.microsoft.com/office/drawing/2014/main" id="{6EE235BA-E9E9-3149-AB4E-BB5E5B9184E9}"/>
                </a:ext>
              </a:extLst>
            </p:cNvPr>
            <p:cNvSpPr>
              <a:spLocks noChangeShapeType="1"/>
            </p:cNvSpPr>
            <p:nvPr/>
          </p:nvSpPr>
          <p:spPr bwMode="auto">
            <a:xfrm flipH="1">
              <a:off x="9620023" y="2667000"/>
              <a:ext cx="1889805" cy="662028"/>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8" name="Rectangle 108">
              <a:extLst>
                <a:ext uri="{FF2B5EF4-FFF2-40B4-BE49-F238E27FC236}">
                  <a16:creationId xmlns:a16="http://schemas.microsoft.com/office/drawing/2014/main" id="{34867620-5404-3840-9CB7-CC051B16076F}"/>
                </a:ext>
              </a:extLst>
            </p:cNvPr>
            <p:cNvSpPr>
              <a:spLocks noChangeArrowheads="1"/>
            </p:cNvSpPr>
            <p:nvPr/>
          </p:nvSpPr>
          <p:spPr bwMode="auto">
            <a:xfrm>
              <a:off x="10132106" y="2824428"/>
              <a:ext cx="855208" cy="39774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113">
              <a:extLst>
                <a:ext uri="{FF2B5EF4-FFF2-40B4-BE49-F238E27FC236}">
                  <a16:creationId xmlns:a16="http://schemas.microsoft.com/office/drawing/2014/main" id="{FF53EAD9-E51E-C047-8717-0A017ED29429}"/>
                </a:ext>
              </a:extLst>
            </p:cNvPr>
            <p:cNvGrpSpPr>
              <a:grpSpLocks/>
            </p:cNvGrpSpPr>
            <p:nvPr/>
          </p:nvGrpSpPr>
          <p:grpSpPr bwMode="auto">
            <a:xfrm>
              <a:off x="9998301" y="2802885"/>
              <a:ext cx="1274763" cy="336550"/>
              <a:chOff x="1065" y="2085"/>
              <a:chExt cx="803" cy="212"/>
            </a:xfrm>
          </p:grpSpPr>
          <p:sp>
            <p:nvSpPr>
              <p:cNvPr id="234" name="Rectangle 114">
                <a:extLst>
                  <a:ext uri="{FF2B5EF4-FFF2-40B4-BE49-F238E27FC236}">
                    <a16:creationId xmlns:a16="http://schemas.microsoft.com/office/drawing/2014/main" id="{49C5CA13-D3E8-AD41-9B46-F0CAA1288DCE}"/>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5" name="Text Box 115">
                <a:extLst>
                  <a:ext uri="{FF2B5EF4-FFF2-40B4-BE49-F238E27FC236}">
                    <a16:creationId xmlns:a16="http://schemas.microsoft.com/office/drawing/2014/main" id="{D4E6AFA2-674D-4C4B-889C-819675572F06}"/>
                  </a:ext>
                </a:extLst>
              </p:cNvPr>
              <p:cNvSpPr txBox="1">
                <a:spLocks noChangeArrowheads="1"/>
              </p:cNvSpPr>
              <p:nvPr/>
            </p:nvSpPr>
            <p:spPr bwMode="auto">
              <a:xfrm>
                <a:off x="1065" y="2085"/>
                <a:ext cx="803"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err="1">
                    <a:ln>
                      <a:noFill/>
                    </a:ln>
                    <a:solidFill>
                      <a:srgbClr val="000000"/>
                    </a:solidFill>
                    <a:effectLst/>
                    <a:uLnTx/>
                    <a:uFillTx/>
                    <a:latin typeface="Tahoma" charset="0"/>
                    <a:ea typeface="ＭＳ Ｐゴシック" charset="0"/>
                    <a:cs typeface="+mn-cs"/>
                  </a:rPr>
                  <a:t>acc_conn</a:t>
                </a: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(x)</a:t>
                </a:r>
              </a:p>
            </p:txBody>
          </p:sp>
        </p:grpSp>
      </p:grpSp>
      <p:grpSp>
        <p:nvGrpSpPr>
          <p:cNvPr id="15" name="Group 14">
            <a:extLst>
              <a:ext uri="{FF2B5EF4-FFF2-40B4-BE49-F238E27FC236}">
                <a16:creationId xmlns:a16="http://schemas.microsoft.com/office/drawing/2014/main" id="{D5CE827D-884B-C243-811A-BA57B03C1272}"/>
              </a:ext>
            </a:extLst>
          </p:cNvPr>
          <p:cNvGrpSpPr/>
          <p:nvPr/>
        </p:nvGrpSpPr>
        <p:grpSpPr>
          <a:xfrm>
            <a:off x="4080329" y="5732236"/>
            <a:ext cx="4134756" cy="1082222"/>
            <a:chOff x="3673928" y="5775778"/>
            <a:chExt cx="4134756" cy="1082222"/>
          </a:xfrm>
        </p:grpSpPr>
        <p:sp>
          <p:nvSpPr>
            <p:cNvPr id="14" name="Rectangle 13">
              <a:extLst>
                <a:ext uri="{FF2B5EF4-FFF2-40B4-BE49-F238E27FC236}">
                  <a16:creationId xmlns:a16="http://schemas.microsoft.com/office/drawing/2014/main" id="{014466EA-38BF-AC46-AFFE-C98EDEE60F29}"/>
                </a:ext>
              </a:extLst>
            </p:cNvPr>
            <p:cNvSpPr/>
            <p:nvPr/>
          </p:nvSpPr>
          <p:spPr>
            <a:xfrm>
              <a:off x="4020455" y="5775778"/>
              <a:ext cx="3788229" cy="1082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1" name="Group 10">
              <a:extLst>
                <a:ext uri="{FF2B5EF4-FFF2-40B4-BE49-F238E27FC236}">
                  <a16:creationId xmlns:a16="http://schemas.microsoft.com/office/drawing/2014/main" id="{0FEA675F-95EB-944F-978C-22DF4F8A54DC}"/>
                </a:ext>
              </a:extLst>
            </p:cNvPr>
            <p:cNvGrpSpPr/>
            <p:nvPr/>
          </p:nvGrpSpPr>
          <p:grpSpPr>
            <a:xfrm>
              <a:off x="3673928" y="5804239"/>
              <a:ext cx="3829958" cy="830263"/>
              <a:chOff x="4588327" y="5819777"/>
              <a:chExt cx="3829958" cy="830263"/>
            </a:xfrm>
            <a:noFill/>
          </p:grpSpPr>
          <p:sp>
            <p:nvSpPr>
              <p:cNvPr id="287" name="Text Box 49">
                <a:extLst>
                  <a:ext uri="{FF2B5EF4-FFF2-40B4-BE49-F238E27FC236}">
                    <a16:creationId xmlns:a16="http://schemas.microsoft.com/office/drawing/2014/main" id="{132D608A-D3A5-E54F-AEEE-E1F1B0718AC0}"/>
                  </a:ext>
                </a:extLst>
              </p:cNvPr>
              <p:cNvSpPr txBox="1">
                <a:spLocks noChangeArrowheads="1"/>
              </p:cNvSpPr>
              <p:nvPr/>
            </p:nvSpPr>
            <p:spPr bwMode="auto">
              <a:xfrm>
                <a:off x="5202012" y="5819777"/>
                <a:ext cx="3216273" cy="830263"/>
              </a:xfrm>
              <a:prstGeom prst="rect">
                <a:avLst/>
              </a:prstGeom>
              <a:gr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a:ea typeface="ＭＳ Ｐゴシック" charset="0"/>
                    <a:cs typeface="+mn-cs"/>
                  </a:rPr>
                  <a:t>Problem: half open connection! (no client)</a:t>
                </a:r>
              </a:p>
            </p:txBody>
          </p:sp>
          <p:pic>
            <p:nvPicPr>
              <p:cNvPr id="8" name="Picture 7" descr="A picture containing drawing&#10;&#10;Description automatically generated">
                <a:extLst>
                  <a:ext uri="{FF2B5EF4-FFF2-40B4-BE49-F238E27FC236}">
                    <a16:creationId xmlns:a16="http://schemas.microsoft.com/office/drawing/2014/main" id="{5EAF06CF-36BA-E34A-83CF-1DFB966A8512}"/>
                  </a:ext>
                </a:extLst>
              </p:cNvPr>
              <p:cNvPicPr>
                <a:picLocks noChangeAspect="1"/>
              </p:cNvPicPr>
              <p:nvPr/>
            </p:nvPicPr>
            <p:blipFill>
              <a:blip r:embed="rId4"/>
              <a:stretch>
                <a:fillRect/>
              </a:stretch>
            </p:blipFill>
            <p:spPr>
              <a:xfrm>
                <a:off x="4588327" y="5916386"/>
                <a:ext cx="636815" cy="636815"/>
              </a:xfrm>
              <a:prstGeom prst="rect">
                <a:avLst/>
              </a:prstGeom>
              <a:grpFill/>
            </p:spPr>
          </p:pic>
        </p:grpSp>
      </p:grpSp>
      <p:sp>
        <p:nvSpPr>
          <p:cNvPr id="81" name="Slide Number Placeholder 2">
            <a:extLst>
              <a:ext uri="{FF2B5EF4-FFF2-40B4-BE49-F238E27FC236}">
                <a16:creationId xmlns:a16="http://schemas.microsoft.com/office/drawing/2014/main" id="{C5180A9E-4EA2-5A45-B935-0F6B15CE622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39</a:t>
            </a:fld>
            <a:endParaRPr lang="en-US" dirty="0"/>
          </a:p>
        </p:txBody>
      </p:sp>
    </p:spTree>
    <p:extLst>
      <p:ext uri="{BB962C8B-B14F-4D97-AF65-F5344CB8AC3E}">
        <p14:creationId xmlns:p14="http://schemas.microsoft.com/office/powerpoint/2010/main" val="161969347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2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0"/>
                                        </p:tgtEl>
                                        <p:attrNameLst>
                                          <p:attrName>style.visibility</p:attrName>
                                        </p:attrNameLst>
                                      </p:cBhvr>
                                      <p:to>
                                        <p:strVal val="visible"/>
                                      </p:to>
                                    </p:set>
                                    <p:animEffect transition="in" filter="dissolve">
                                      <p:cBhvr>
                                        <p:cTn id="12" dur="500"/>
                                        <p:tgtEl>
                                          <p:spTgt spid="29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righ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dissolv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2-way handshake scenarios</a:t>
            </a:r>
          </a:p>
        </p:txBody>
      </p:sp>
      <p:grpSp>
        <p:nvGrpSpPr>
          <p:cNvPr id="357" name="Group 152">
            <a:extLst>
              <a:ext uri="{FF2B5EF4-FFF2-40B4-BE49-F238E27FC236}">
                <a16:creationId xmlns:a16="http://schemas.microsoft.com/office/drawing/2014/main" id="{9C2006BA-AA2D-8544-A70F-118097C53265}"/>
              </a:ext>
            </a:extLst>
          </p:cNvPr>
          <p:cNvGrpSpPr>
            <a:grpSpLocks/>
          </p:cNvGrpSpPr>
          <p:nvPr/>
        </p:nvGrpSpPr>
        <p:grpSpPr bwMode="auto">
          <a:xfrm>
            <a:off x="8173174" y="1342839"/>
            <a:ext cx="3933825" cy="4568825"/>
            <a:chOff x="3150" y="1107"/>
            <a:chExt cx="2478" cy="2878"/>
          </a:xfrm>
        </p:grpSpPr>
        <p:sp>
          <p:nvSpPr>
            <p:cNvPr id="358" name="Line 153">
              <a:extLst>
                <a:ext uri="{FF2B5EF4-FFF2-40B4-BE49-F238E27FC236}">
                  <a16:creationId xmlns:a16="http://schemas.microsoft.com/office/drawing/2014/main" id="{C056962F-C2E4-4D43-8591-63C2094689E9}"/>
                </a:ext>
              </a:extLst>
            </p:cNvPr>
            <p:cNvSpPr>
              <a:spLocks noChangeShapeType="1"/>
            </p:cNvSpPr>
            <p:nvPr/>
          </p:nvSpPr>
          <p:spPr bwMode="auto">
            <a:xfrm flipH="1">
              <a:off x="4822" y="1490"/>
              <a:ext cx="1" cy="2495"/>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59" name="Text Box 154">
              <a:extLst>
                <a:ext uri="{FF2B5EF4-FFF2-40B4-BE49-F238E27FC236}">
                  <a16:creationId xmlns:a16="http://schemas.microsoft.com/office/drawing/2014/main" id="{CDA652F2-819F-6848-A5C9-8D9B66F9680B}"/>
                </a:ext>
              </a:extLst>
            </p:cNvPr>
            <p:cNvSpPr txBox="1">
              <a:spLocks noChangeArrowheads="1"/>
            </p:cNvSpPr>
            <p:nvPr/>
          </p:nvSpPr>
          <p:spPr bwMode="auto">
            <a:xfrm>
              <a:off x="3150" y="2983"/>
              <a:ext cx="738"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client terminates</a:t>
              </a:r>
            </a:p>
          </p:txBody>
        </p:sp>
        <p:sp>
          <p:nvSpPr>
            <p:cNvPr id="360" name="Line 155">
              <a:extLst>
                <a:ext uri="{FF2B5EF4-FFF2-40B4-BE49-F238E27FC236}">
                  <a16:creationId xmlns:a16="http://schemas.microsoft.com/office/drawing/2014/main" id="{666153C5-2212-0042-ABC5-919CF540FFF1}"/>
                </a:ext>
              </a:extLst>
            </p:cNvPr>
            <p:cNvSpPr>
              <a:spLocks noChangeShapeType="1"/>
            </p:cNvSpPr>
            <p:nvPr/>
          </p:nvSpPr>
          <p:spPr bwMode="auto">
            <a:xfrm flipH="1">
              <a:off x="3845" y="1451"/>
              <a:ext cx="15" cy="1549"/>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61" name="Line 156">
              <a:extLst>
                <a:ext uri="{FF2B5EF4-FFF2-40B4-BE49-F238E27FC236}">
                  <a16:creationId xmlns:a16="http://schemas.microsoft.com/office/drawing/2014/main" id="{16ACB45E-8A1D-F74A-9C70-18C251DD28E3}"/>
                </a:ext>
              </a:extLst>
            </p:cNvPr>
            <p:cNvSpPr>
              <a:spLocks noChangeShapeType="1"/>
            </p:cNvSpPr>
            <p:nvPr/>
          </p:nvSpPr>
          <p:spPr bwMode="auto">
            <a:xfrm flipH="1">
              <a:off x="3850" y="1726"/>
              <a:ext cx="990" cy="60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62" name="Rectangle 157">
              <a:extLst>
                <a:ext uri="{FF2B5EF4-FFF2-40B4-BE49-F238E27FC236}">
                  <a16:creationId xmlns:a16="http://schemas.microsoft.com/office/drawing/2014/main" id="{7479C1A9-07F7-CD4C-A137-D663CAEFD43C}"/>
                </a:ext>
              </a:extLst>
            </p:cNvPr>
            <p:cNvSpPr>
              <a:spLocks noChangeArrowheads="1"/>
            </p:cNvSpPr>
            <p:nvPr/>
          </p:nvSpPr>
          <p:spPr bwMode="auto">
            <a:xfrm>
              <a:off x="4200" y="1761"/>
              <a:ext cx="277"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63" name="Text Box 158">
              <a:extLst>
                <a:ext uri="{FF2B5EF4-FFF2-40B4-BE49-F238E27FC236}">
                  <a16:creationId xmlns:a16="http://schemas.microsoft.com/office/drawing/2014/main" id="{07E98DEC-15BD-8E44-8C66-72860ACC5678}"/>
                </a:ext>
              </a:extLst>
            </p:cNvPr>
            <p:cNvSpPr txBox="1">
              <a:spLocks noChangeArrowheads="1"/>
            </p:cNvSpPr>
            <p:nvPr/>
          </p:nvSpPr>
          <p:spPr bwMode="auto">
            <a:xfrm>
              <a:off x="3312" y="2221"/>
              <a:ext cx="4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rPr>
                <a:t>ESTAB</a:t>
              </a:r>
            </a:p>
          </p:txBody>
        </p:sp>
        <p:sp>
          <p:nvSpPr>
            <p:cNvPr id="364" name="Oval 159">
              <a:extLst>
                <a:ext uri="{FF2B5EF4-FFF2-40B4-BE49-F238E27FC236}">
                  <a16:creationId xmlns:a16="http://schemas.microsoft.com/office/drawing/2014/main" id="{C387CC00-D294-7442-8EAF-0E4792392432}"/>
                </a:ext>
              </a:extLst>
            </p:cNvPr>
            <p:cNvSpPr>
              <a:spLocks noChangeArrowheads="1"/>
            </p:cNvSpPr>
            <p:nvPr/>
          </p:nvSpPr>
          <p:spPr bwMode="auto">
            <a:xfrm>
              <a:off x="3817" y="2299"/>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365" name="Text Box 160">
              <a:extLst>
                <a:ext uri="{FF2B5EF4-FFF2-40B4-BE49-F238E27FC236}">
                  <a16:creationId xmlns:a16="http://schemas.microsoft.com/office/drawing/2014/main" id="{A3029202-6E45-6F46-B68F-696E31F63852}"/>
                </a:ext>
              </a:extLst>
            </p:cNvPr>
            <p:cNvSpPr txBox="1">
              <a:spLocks noChangeArrowheads="1"/>
            </p:cNvSpPr>
            <p:nvPr/>
          </p:nvSpPr>
          <p:spPr bwMode="auto">
            <a:xfrm>
              <a:off x="3213" y="1380"/>
              <a:ext cx="613"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choose x</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66" name="Line 161">
              <a:extLst>
                <a:ext uri="{FF2B5EF4-FFF2-40B4-BE49-F238E27FC236}">
                  <a16:creationId xmlns:a16="http://schemas.microsoft.com/office/drawing/2014/main" id="{0FC46209-BD0B-0445-AF05-C8310A8E862F}"/>
                </a:ext>
              </a:extLst>
            </p:cNvPr>
            <p:cNvSpPr>
              <a:spLocks noChangeShapeType="1"/>
            </p:cNvSpPr>
            <p:nvPr/>
          </p:nvSpPr>
          <p:spPr bwMode="auto">
            <a:xfrm>
              <a:off x="3888" y="1503"/>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67" name="Rectangle 162">
              <a:extLst>
                <a:ext uri="{FF2B5EF4-FFF2-40B4-BE49-F238E27FC236}">
                  <a16:creationId xmlns:a16="http://schemas.microsoft.com/office/drawing/2014/main" id="{636932A4-EF38-E141-9BEF-C806F12D9ABB}"/>
                </a:ext>
              </a:extLst>
            </p:cNvPr>
            <p:cNvSpPr>
              <a:spLocks noChangeArrowheads="1"/>
            </p:cNvSpPr>
            <p:nvPr/>
          </p:nvSpPr>
          <p:spPr bwMode="auto">
            <a:xfrm>
              <a:off x="4088" y="1494"/>
              <a:ext cx="490"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68" name="Text Box 163">
              <a:extLst>
                <a:ext uri="{FF2B5EF4-FFF2-40B4-BE49-F238E27FC236}">
                  <a16:creationId xmlns:a16="http://schemas.microsoft.com/office/drawing/2014/main" id="{09C7E230-4405-9E40-BEB3-C33FFEF6366D}"/>
                </a:ext>
              </a:extLst>
            </p:cNvPr>
            <p:cNvSpPr txBox="1">
              <a:spLocks noChangeArrowheads="1"/>
            </p:cNvSpPr>
            <p:nvPr/>
          </p:nvSpPr>
          <p:spPr bwMode="auto">
            <a:xfrm>
              <a:off x="3943" y="1473"/>
              <a:ext cx="802"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req_conn(x)</a:t>
              </a:r>
            </a:p>
          </p:txBody>
        </p:sp>
        <p:sp>
          <p:nvSpPr>
            <p:cNvPr id="369" name="Text Box 164">
              <a:extLst>
                <a:ext uri="{FF2B5EF4-FFF2-40B4-BE49-F238E27FC236}">
                  <a16:creationId xmlns:a16="http://schemas.microsoft.com/office/drawing/2014/main" id="{8AEE0E4A-F8B4-9A4D-85F5-6FF0942C65C4}"/>
                </a:ext>
              </a:extLst>
            </p:cNvPr>
            <p:cNvSpPr txBox="1">
              <a:spLocks noChangeArrowheads="1"/>
            </p:cNvSpPr>
            <p:nvPr/>
          </p:nvSpPr>
          <p:spPr bwMode="auto">
            <a:xfrm>
              <a:off x="4862" y="1636"/>
              <a:ext cx="4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rPr>
                <a:t>ESTAB</a:t>
              </a:r>
            </a:p>
          </p:txBody>
        </p:sp>
        <p:sp>
          <p:nvSpPr>
            <p:cNvPr id="370" name="Oval 165">
              <a:extLst>
                <a:ext uri="{FF2B5EF4-FFF2-40B4-BE49-F238E27FC236}">
                  <a16:creationId xmlns:a16="http://schemas.microsoft.com/office/drawing/2014/main" id="{837C2516-1B6F-784E-B717-4861DCB88C9F}"/>
                </a:ext>
              </a:extLst>
            </p:cNvPr>
            <p:cNvSpPr>
              <a:spLocks noChangeArrowheads="1"/>
            </p:cNvSpPr>
            <p:nvPr/>
          </p:nvSpPr>
          <p:spPr bwMode="auto">
            <a:xfrm>
              <a:off x="4794" y="1710"/>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grpSp>
          <p:nvGrpSpPr>
            <p:cNvPr id="371" name="Group 166">
              <a:extLst>
                <a:ext uri="{FF2B5EF4-FFF2-40B4-BE49-F238E27FC236}">
                  <a16:creationId xmlns:a16="http://schemas.microsoft.com/office/drawing/2014/main" id="{A1A4C995-57EF-2B44-9A2B-4B574A973474}"/>
                </a:ext>
              </a:extLst>
            </p:cNvPr>
            <p:cNvGrpSpPr>
              <a:grpSpLocks/>
            </p:cNvGrpSpPr>
            <p:nvPr/>
          </p:nvGrpSpPr>
          <p:grpSpPr bwMode="auto">
            <a:xfrm>
              <a:off x="4006" y="1848"/>
              <a:ext cx="803" cy="212"/>
              <a:chOff x="1065" y="2085"/>
              <a:chExt cx="803" cy="212"/>
            </a:xfrm>
          </p:grpSpPr>
          <p:sp>
            <p:nvSpPr>
              <p:cNvPr id="417" name="Rectangle 167">
                <a:extLst>
                  <a:ext uri="{FF2B5EF4-FFF2-40B4-BE49-F238E27FC236}">
                    <a16:creationId xmlns:a16="http://schemas.microsoft.com/office/drawing/2014/main" id="{5B3B9AC0-C168-2542-9619-9FFE0FFD6E75}"/>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18" name="Text Box 168">
                <a:extLst>
                  <a:ext uri="{FF2B5EF4-FFF2-40B4-BE49-F238E27FC236}">
                    <a16:creationId xmlns:a16="http://schemas.microsoft.com/office/drawing/2014/main" id="{FAF5722C-69B4-6B44-95D4-000562ACFDF9}"/>
                  </a:ext>
                </a:extLst>
              </p:cNvPr>
              <p:cNvSpPr txBox="1">
                <a:spLocks noChangeArrowheads="1"/>
              </p:cNvSpPr>
              <p:nvPr/>
            </p:nvSpPr>
            <p:spPr bwMode="auto">
              <a:xfrm>
                <a:off x="1065" y="2085"/>
                <a:ext cx="803"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acc_conn(x)</a:t>
                </a:r>
              </a:p>
            </p:txBody>
          </p:sp>
        </p:grpSp>
        <p:sp>
          <p:nvSpPr>
            <p:cNvPr id="372" name="Line 169">
              <a:extLst>
                <a:ext uri="{FF2B5EF4-FFF2-40B4-BE49-F238E27FC236}">
                  <a16:creationId xmlns:a16="http://schemas.microsoft.com/office/drawing/2014/main" id="{73E51126-71B9-DA4D-B01B-7072D4E22BDC}"/>
                </a:ext>
              </a:extLst>
            </p:cNvPr>
            <p:cNvSpPr>
              <a:spLocks noChangeShapeType="1"/>
            </p:cNvSpPr>
            <p:nvPr/>
          </p:nvSpPr>
          <p:spPr bwMode="auto">
            <a:xfrm>
              <a:off x="3877" y="2345"/>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73" name="Rectangle 170">
              <a:extLst>
                <a:ext uri="{FF2B5EF4-FFF2-40B4-BE49-F238E27FC236}">
                  <a16:creationId xmlns:a16="http://schemas.microsoft.com/office/drawing/2014/main" id="{8B70B875-EE96-E044-B8D9-41CF1BBB693D}"/>
                </a:ext>
              </a:extLst>
            </p:cNvPr>
            <p:cNvSpPr>
              <a:spLocks noChangeArrowheads="1"/>
            </p:cNvSpPr>
            <p:nvPr/>
          </p:nvSpPr>
          <p:spPr bwMode="auto">
            <a:xfrm>
              <a:off x="4077" y="2336"/>
              <a:ext cx="490"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74" name="Text Box 171">
              <a:extLst>
                <a:ext uri="{FF2B5EF4-FFF2-40B4-BE49-F238E27FC236}">
                  <a16:creationId xmlns:a16="http://schemas.microsoft.com/office/drawing/2014/main" id="{069C4711-758D-CF4A-A407-6F22C98DCF70}"/>
                </a:ext>
              </a:extLst>
            </p:cNvPr>
            <p:cNvSpPr txBox="1">
              <a:spLocks noChangeArrowheads="1"/>
            </p:cNvSpPr>
            <p:nvPr/>
          </p:nvSpPr>
          <p:spPr bwMode="auto">
            <a:xfrm>
              <a:off x="3989" y="2315"/>
              <a:ext cx="688"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data(x+1)</a:t>
              </a:r>
            </a:p>
          </p:txBody>
        </p:sp>
        <p:sp>
          <p:nvSpPr>
            <p:cNvPr id="375" name="Oval 172">
              <a:extLst>
                <a:ext uri="{FF2B5EF4-FFF2-40B4-BE49-F238E27FC236}">
                  <a16:creationId xmlns:a16="http://schemas.microsoft.com/office/drawing/2014/main" id="{B63CF324-44AD-D941-BFE9-6823A7212A48}"/>
                </a:ext>
              </a:extLst>
            </p:cNvPr>
            <p:cNvSpPr>
              <a:spLocks noChangeArrowheads="1"/>
            </p:cNvSpPr>
            <p:nvPr/>
          </p:nvSpPr>
          <p:spPr bwMode="auto">
            <a:xfrm>
              <a:off x="4790" y="2524"/>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376" name="Text Box 173">
              <a:extLst>
                <a:ext uri="{FF2B5EF4-FFF2-40B4-BE49-F238E27FC236}">
                  <a16:creationId xmlns:a16="http://schemas.microsoft.com/office/drawing/2014/main" id="{21C7DDF1-6000-FA4F-8259-FD106EBA0F67}"/>
                </a:ext>
              </a:extLst>
            </p:cNvPr>
            <p:cNvSpPr txBox="1">
              <a:spLocks noChangeArrowheads="1"/>
            </p:cNvSpPr>
            <p:nvPr/>
          </p:nvSpPr>
          <p:spPr bwMode="auto">
            <a:xfrm>
              <a:off x="4890" y="2373"/>
              <a:ext cx="738"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accept</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data(x+1)</a:t>
              </a:r>
            </a:p>
          </p:txBody>
        </p:sp>
        <p:grpSp>
          <p:nvGrpSpPr>
            <p:cNvPr id="377" name="Group 174">
              <a:extLst>
                <a:ext uri="{FF2B5EF4-FFF2-40B4-BE49-F238E27FC236}">
                  <a16:creationId xmlns:a16="http://schemas.microsoft.com/office/drawing/2014/main" id="{67E235CF-E2F0-4A4C-B6BE-CB6AC0D0B6B1}"/>
                </a:ext>
              </a:extLst>
            </p:cNvPr>
            <p:cNvGrpSpPr>
              <a:grpSpLocks/>
            </p:cNvGrpSpPr>
            <p:nvPr/>
          </p:nvGrpSpPr>
          <p:grpSpPr bwMode="auto">
            <a:xfrm>
              <a:off x="3826" y="2803"/>
              <a:ext cx="1515" cy="300"/>
              <a:chOff x="3818" y="2796"/>
              <a:chExt cx="1515" cy="300"/>
            </a:xfrm>
          </p:grpSpPr>
          <p:sp>
            <p:nvSpPr>
              <p:cNvPr id="415" name="Line 175">
                <a:extLst>
                  <a:ext uri="{FF2B5EF4-FFF2-40B4-BE49-F238E27FC236}">
                    <a16:creationId xmlns:a16="http://schemas.microsoft.com/office/drawing/2014/main" id="{BC5ADDF2-7CBC-484B-8D57-A55A75E1FA1C}"/>
                  </a:ext>
                </a:extLst>
              </p:cNvPr>
              <p:cNvSpPr>
                <a:spLocks noChangeShapeType="1"/>
              </p:cNvSpPr>
              <p:nvPr/>
            </p:nvSpPr>
            <p:spPr bwMode="auto">
              <a:xfrm>
                <a:off x="3818" y="2951"/>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16" name="Text Box 176">
                <a:extLst>
                  <a:ext uri="{FF2B5EF4-FFF2-40B4-BE49-F238E27FC236}">
                    <a16:creationId xmlns:a16="http://schemas.microsoft.com/office/drawing/2014/main" id="{4DB46F2E-E4BE-194B-8D43-E5E134B15493}"/>
                  </a:ext>
                </a:extLst>
              </p:cNvPr>
              <p:cNvSpPr txBox="1">
                <a:spLocks noChangeArrowheads="1"/>
              </p:cNvSpPr>
              <p:nvPr/>
            </p:nvSpPr>
            <p:spPr bwMode="auto">
              <a:xfrm>
                <a:off x="3989" y="2796"/>
                <a:ext cx="706" cy="3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connection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x completes</a:t>
                </a:r>
              </a:p>
            </p:txBody>
          </p:sp>
        </p:grpSp>
        <p:sp>
          <p:nvSpPr>
            <p:cNvPr id="378" name="Text Box 177">
              <a:extLst>
                <a:ext uri="{FF2B5EF4-FFF2-40B4-BE49-F238E27FC236}">
                  <a16:creationId xmlns:a16="http://schemas.microsoft.com/office/drawing/2014/main" id="{1C719B44-FA92-594B-8E17-4A5C23A8F44E}"/>
                </a:ext>
              </a:extLst>
            </p:cNvPr>
            <p:cNvSpPr txBox="1">
              <a:spLocks noChangeArrowheads="1"/>
            </p:cNvSpPr>
            <p:nvPr/>
          </p:nvSpPr>
          <p:spPr bwMode="auto">
            <a:xfrm>
              <a:off x="4830" y="2962"/>
              <a:ext cx="738"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server</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forgets x</a:t>
              </a:r>
            </a:p>
          </p:txBody>
        </p:sp>
        <p:grpSp>
          <p:nvGrpSpPr>
            <p:cNvPr id="379" name="Group 178">
              <a:extLst>
                <a:ext uri="{FF2B5EF4-FFF2-40B4-BE49-F238E27FC236}">
                  <a16:creationId xmlns:a16="http://schemas.microsoft.com/office/drawing/2014/main" id="{EC86099C-C8AD-6846-8AE7-34CA041B869C}"/>
                </a:ext>
              </a:extLst>
            </p:cNvPr>
            <p:cNvGrpSpPr>
              <a:grpSpLocks/>
            </p:cNvGrpSpPr>
            <p:nvPr/>
          </p:nvGrpSpPr>
          <p:grpSpPr bwMode="auto">
            <a:xfrm>
              <a:off x="3570" y="1119"/>
              <a:ext cx="391" cy="307"/>
              <a:chOff x="-44" y="1473"/>
              <a:chExt cx="981" cy="1105"/>
            </a:xfrm>
          </p:grpSpPr>
          <p:pic>
            <p:nvPicPr>
              <p:cNvPr id="413" name="Picture 179" descr="desktop_computer_stylized_medium">
                <a:extLst>
                  <a:ext uri="{FF2B5EF4-FFF2-40B4-BE49-F238E27FC236}">
                    <a16:creationId xmlns:a16="http://schemas.microsoft.com/office/drawing/2014/main" id="{F1C9C236-427D-834B-8DAC-99F53A4376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4" name="Freeform 180">
                <a:extLst>
                  <a:ext uri="{FF2B5EF4-FFF2-40B4-BE49-F238E27FC236}">
                    <a16:creationId xmlns:a16="http://schemas.microsoft.com/office/drawing/2014/main" id="{77EA5CD5-1868-AB46-B031-A7892A487F0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80" name="Group 181">
              <a:extLst>
                <a:ext uri="{FF2B5EF4-FFF2-40B4-BE49-F238E27FC236}">
                  <a16:creationId xmlns:a16="http://schemas.microsoft.com/office/drawing/2014/main" id="{D3F68FA6-F7DF-A146-A605-ABBDC8F8EFF8}"/>
                </a:ext>
              </a:extLst>
            </p:cNvPr>
            <p:cNvGrpSpPr>
              <a:grpSpLocks/>
            </p:cNvGrpSpPr>
            <p:nvPr/>
          </p:nvGrpSpPr>
          <p:grpSpPr bwMode="auto">
            <a:xfrm>
              <a:off x="4709" y="1107"/>
              <a:ext cx="212" cy="323"/>
              <a:chOff x="4140" y="429"/>
              <a:chExt cx="1425" cy="2396"/>
            </a:xfrm>
          </p:grpSpPr>
          <p:sp>
            <p:nvSpPr>
              <p:cNvPr id="381" name="Freeform 182">
                <a:extLst>
                  <a:ext uri="{FF2B5EF4-FFF2-40B4-BE49-F238E27FC236}">
                    <a16:creationId xmlns:a16="http://schemas.microsoft.com/office/drawing/2014/main" id="{1D2E36D3-F983-B54A-87F8-4B0FB1D0A97A}"/>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2" name="Rectangle 183">
                <a:extLst>
                  <a:ext uri="{FF2B5EF4-FFF2-40B4-BE49-F238E27FC236}">
                    <a16:creationId xmlns:a16="http://schemas.microsoft.com/office/drawing/2014/main" id="{86762413-0C19-5E4F-AA7E-12F7BBEF4FE0}"/>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83" name="Freeform 184">
                <a:extLst>
                  <a:ext uri="{FF2B5EF4-FFF2-40B4-BE49-F238E27FC236}">
                    <a16:creationId xmlns:a16="http://schemas.microsoft.com/office/drawing/2014/main" id="{9ABD2B3D-5A73-0E4B-91D1-78596AD0A854}"/>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4" name="Freeform 185">
                <a:extLst>
                  <a:ext uri="{FF2B5EF4-FFF2-40B4-BE49-F238E27FC236}">
                    <a16:creationId xmlns:a16="http://schemas.microsoft.com/office/drawing/2014/main" id="{CAECD6F3-58BC-F24D-9434-643EDC4E7A8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5" name="Rectangle 186">
                <a:extLst>
                  <a:ext uri="{FF2B5EF4-FFF2-40B4-BE49-F238E27FC236}">
                    <a16:creationId xmlns:a16="http://schemas.microsoft.com/office/drawing/2014/main" id="{D640048A-92E5-F240-B20B-73B8FE8B2413}"/>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86" name="Group 187">
                <a:extLst>
                  <a:ext uri="{FF2B5EF4-FFF2-40B4-BE49-F238E27FC236}">
                    <a16:creationId xmlns:a16="http://schemas.microsoft.com/office/drawing/2014/main" id="{55FC97C6-B1FB-854D-94BE-E7BED8E1DC83}"/>
                  </a:ext>
                </a:extLst>
              </p:cNvPr>
              <p:cNvGrpSpPr>
                <a:grpSpLocks/>
              </p:cNvGrpSpPr>
              <p:nvPr/>
            </p:nvGrpSpPr>
            <p:grpSpPr bwMode="auto">
              <a:xfrm>
                <a:off x="4749" y="668"/>
                <a:ext cx="581" cy="145"/>
                <a:chOff x="614" y="2568"/>
                <a:chExt cx="725" cy="139"/>
              </a:xfrm>
            </p:grpSpPr>
            <p:sp>
              <p:nvSpPr>
                <p:cNvPr id="411" name="AutoShape 188">
                  <a:extLst>
                    <a:ext uri="{FF2B5EF4-FFF2-40B4-BE49-F238E27FC236}">
                      <a16:creationId xmlns:a16="http://schemas.microsoft.com/office/drawing/2014/main" id="{E2DCD474-0D76-1D47-938B-0347B4119D35}"/>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12" name="AutoShape 189">
                  <a:extLst>
                    <a:ext uri="{FF2B5EF4-FFF2-40B4-BE49-F238E27FC236}">
                      <a16:creationId xmlns:a16="http://schemas.microsoft.com/office/drawing/2014/main" id="{ADC0CDA4-3ACC-784D-AFDA-1C6EA9C5411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87" name="Rectangle 190">
                <a:extLst>
                  <a:ext uri="{FF2B5EF4-FFF2-40B4-BE49-F238E27FC236}">
                    <a16:creationId xmlns:a16="http://schemas.microsoft.com/office/drawing/2014/main" id="{AEEFE7D3-0B38-EE42-AA94-340CFCA0C0A3}"/>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88" name="Group 191">
                <a:extLst>
                  <a:ext uri="{FF2B5EF4-FFF2-40B4-BE49-F238E27FC236}">
                    <a16:creationId xmlns:a16="http://schemas.microsoft.com/office/drawing/2014/main" id="{3BFA70F3-4887-4A45-A0B0-300E77757667}"/>
                  </a:ext>
                </a:extLst>
              </p:cNvPr>
              <p:cNvGrpSpPr>
                <a:grpSpLocks/>
              </p:cNvGrpSpPr>
              <p:nvPr/>
            </p:nvGrpSpPr>
            <p:grpSpPr bwMode="auto">
              <a:xfrm>
                <a:off x="4747" y="994"/>
                <a:ext cx="581" cy="134"/>
                <a:chOff x="614" y="2568"/>
                <a:chExt cx="725" cy="139"/>
              </a:xfrm>
            </p:grpSpPr>
            <p:sp>
              <p:nvSpPr>
                <p:cNvPr id="409" name="AutoShape 192">
                  <a:extLst>
                    <a:ext uri="{FF2B5EF4-FFF2-40B4-BE49-F238E27FC236}">
                      <a16:creationId xmlns:a16="http://schemas.microsoft.com/office/drawing/2014/main" id="{14B933DF-A76C-E94B-9362-3D28B4CBFFB6}"/>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10" name="AutoShape 193">
                  <a:extLst>
                    <a:ext uri="{FF2B5EF4-FFF2-40B4-BE49-F238E27FC236}">
                      <a16:creationId xmlns:a16="http://schemas.microsoft.com/office/drawing/2014/main" id="{D1EC9173-2D5E-F641-9324-62AF5244C467}"/>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89" name="Rectangle 194">
                <a:extLst>
                  <a:ext uri="{FF2B5EF4-FFF2-40B4-BE49-F238E27FC236}">
                    <a16:creationId xmlns:a16="http://schemas.microsoft.com/office/drawing/2014/main" id="{B180E0D5-32AA-5A4A-92D4-28F216DC536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90" name="Rectangle 195">
                <a:extLst>
                  <a:ext uri="{FF2B5EF4-FFF2-40B4-BE49-F238E27FC236}">
                    <a16:creationId xmlns:a16="http://schemas.microsoft.com/office/drawing/2014/main" id="{A3E70690-FEFF-2446-B890-3315B37B0B0D}"/>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91" name="Group 196">
                <a:extLst>
                  <a:ext uri="{FF2B5EF4-FFF2-40B4-BE49-F238E27FC236}">
                    <a16:creationId xmlns:a16="http://schemas.microsoft.com/office/drawing/2014/main" id="{4184D53B-C370-5248-82BB-5D96E5BF521A}"/>
                  </a:ext>
                </a:extLst>
              </p:cNvPr>
              <p:cNvGrpSpPr>
                <a:grpSpLocks/>
              </p:cNvGrpSpPr>
              <p:nvPr/>
            </p:nvGrpSpPr>
            <p:grpSpPr bwMode="auto">
              <a:xfrm>
                <a:off x="4735" y="1627"/>
                <a:ext cx="582" cy="151"/>
                <a:chOff x="614" y="2568"/>
                <a:chExt cx="725" cy="139"/>
              </a:xfrm>
            </p:grpSpPr>
            <p:sp>
              <p:nvSpPr>
                <p:cNvPr id="407" name="AutoShape 197">
                  <a:extLst>
                    <a:ext uri="{FF2B5EF4-FFF2-40B4-BE49-F238E27FC236}">
                      <a16:creationId xmlns:a16="http://schemas.microsoft.com/office/drawing/2014/main" id="{66CD18C8-97C8-AD49-8806-45F2C3FA3A20}"/>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08" name="AutoShape 198">
                  <a:extLst>
                    <a:ext uri="{FF2B5EF4-FFF2-40B4-BE49-F238E27FC236}">
                      <a16:creationId xmlns:a16="http://schemas.microsoft.com/office/drawing/2014/main" id="{E4596270-7ACC-5941-82EB-426AAF88315D}"/>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92" name="Freeform 199">
                <a:extLst>
                  <a:ext uri="{FF2B5EF4-FFF2-40B4-BE49-F238E27FC236}">
                    <a16:creationId xmlns:a16="http://schemas.microsoft.com/office/drawing/2014/main" id="{8D520046-573E-1549-A1AD-345D7B8191CB}"/>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93" name="Group 200">
                <a:extLst>
                  <a:ext uri="{FF2B5EF4-FFF2-40B4-BE49-F238E27FC236}">
                    <a16:creationId xmlns:a16="http://schemas.microsoft.com/office/drawing/2014/main" id="{CBDA9A7E-0A7F-D64B-867D-2FC72D58322A}"/>
                  </a:ext>
                </a:extLst>
              </p:cNvPr>
              <p:cNvGrpSpPr>
                <a:grpSpLocks/>
              </p:cNvGrpSpPr>
              <p:nvPr/>
            </p:nvGrpSpPr>
            <p:grpSpPr bwMode="auto">
              <a:xfrm>
                <a:off x="4739" y="1327"/>
                <a:ext cx="582" cy="139"/>
                <a:chOff x="614" y="2568"/>
                <a:chExt cx="725" cy="139"/>
              </a:xfrm>
            </p:grpSpPr>
            <p:sp>
              <p:nvSpPr>
                <p:cNvPr id="405" name="AutoShape 201">
                  <a:extLst>
                    <a:ext uri="{FF2B5EF4-FFF2-40B4-BE49-F238E27FC236}">
                      <a16:creationId xmlns:a16="http://schemas.microsoft.com/office/drawing/2014/main" id="{F7CB7A1E-7741-E24C-AFB5-5F057AFD0C52}"/>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06" name="AutoShape 202">
                  <a:extLst>
                    <a:ext uri="{FF2B5EF4-FFF2-40B4-BE49-F238E27FC236}">
                      <a16:creationId xmlns:a16="http://schemas.microsoft.com/office/drawing/2014/main" id="{93BC514D-19E5-DF47-87E9-7BF859D24356}"/>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94" name="Rectangle 203">
                <a:extLst>
                  <a:ext uri="{FF2B5EF4-FFF2-40B4-BE49-F238E27FC236}">
                    <a16:creationId xmlns:a16="http://schemas.microsoft.com/office/drawing/2014/main" id="{992A2C09-2187-A749-9718-F045A2349EA9}"/>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95" name="Freeform 204">
                <a:extLst>
                  <a:ext uri="{FF2B5EF4-FFF2-40B4-BE49-F238E27FC236}">
                    <a16:creationId xmlns:a16="http://schemas.microsoft.com/office/drawing/2014/main" id="{D473F289-DF79-1D4B-BA3A-57AFA552A24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96" name="Freeform 205">
                <a:extLst>
                  <a:ext uri="{FF2B5EF4-FFF2-40B4-BE49-F238E27FC236}">
                    <a16:creationId xmlns:a16="http://schemas.microsoft.com/office/drawing/2014/main" id="{55F98009-7662-6D40-889B-2D6F20DE3EAB}"/>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97" name="Oval 206">
                <a:extLst>
                  <a:ext uri="{FF2B5EF4-FFF2-40B4-BE49-F238E27FC236}">
                    <a16:creationId xmlns:a16="http://schemas.microsoft.com/office/drawing/2014/main" id="{8C0E348C-3A61-F54D-B6E7-8EEC0C479961}"/>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98" name="Freeform 207">
                <a:extLst>
                  <a:ext uri="{FF2B5EF4-FFF2-40B4-BE49-F238E27FC236}">
                    <a16:creationId xmlns:a16="http://schemas.microsoft.com/office/drawing/2014/main" id="{06CDC36B-C766-0244-ABF7-3336A9C2E7B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99" name="AutoShape 208">
                <a:extLst>
                  <a:ext uri="{FF2B5EF4-FFF2-40B4-BE49-F238E27FC236}">
                    <a16:creationId xmlns:a16="http://schemas.microsoft.com/office/drawing/2014/main" id="{E47AE9BE-71F7-0C40-BB36-B6201EAE727F}"/>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00" name="AutoShape 209">
                <a:extLst>
                  <a:ext uri="{FF2B5EF4-FFF2-40B4-BE49-F238E27FC236}">
                    <a16:creationId xmlns:a16="http://schemas.microsoft.com/office/drawing/2014/main" id="{6DDF70D2-966F-0443-BFEC-34DC981AB2D8}"/>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01" name="Oval 210">
                <a:extLst>
                  <a:ext uri="{FF2B5EF4-FFF2-40B4-BE49-F238E27FC236}">
                    <a16:creationId xmlns:a16="http://schemas.microsoft.com/office/drawing/2014/main" id="{DFF00D08-0F51-F044-8429-6F3D5CC28DB2}"/>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02" name="Oval 211">
                <a:extLst>
                  <a:ext uri="{FF2B5EF4-FFF2-40B4-BE49-F238E27FC236}">
                    <a16:creationId xmlns:a16="http://schemas.microsoft.com/office/drawing/2014/main" id="{BBFCC1D5-E5D6-FB46-9D8C-E8CE8BFE2270}"/>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403" name="Oval 212">
                <a:extLst>
                  <a:ext uri="{FF2B5EF4-FFF2-40B4-BE49-F238E27FC236}">
                    <a16:creationId xmlns:a16="http://schemas.microsoft.com/office/drawing/2014/main" id="{F4244C1D-3E80-C847-BD71-A4309DAB13CE}"/>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04" name="Rectangle 213">
                <a:extLst>
                  <a:ext uri="{FF2B5EF4-FFF2-40B4-BE49-F238E27FC236}">
                    <a16:creationId xmlns:a16="http://schemas.microsoft.com/office/drawing/2014/main" id="{F13C27D5-275D-5C47-9B76-D6F9DDED6AD3}"/>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10" name="Group 9">
            <a:extLst>
              <a:ext uri="{FF2B5EF4-FFF2-40B4-BE49-F238E27FC236}">
                <a16:creationId xmlns:a16="http://schemas.microsoft.com/office/drawing/2014/main" id="{3BB0CBF7-361A-5548-A01C-90FF3005AB01}"/>
              </a:ext>
            </a:extLst>
          </p:cNvPr>
          <p:cNvGrpSpPr/>
          <p:nvPr/>
        </p:nvGrpSpPr>
        <p:grpSpPr>
          <a:xfrm>
            <a:off x="9120415" y="5983461"/>
            <a:ext cx="3548742" cy="830997"/>
            <a:chOff x="8757558" y="5903267"/>
            <a:chExt cx="3548742" cy="830997"/>
          </a:xfrm>
        </p:grpSpPr>
        <p:sp>
          <p:nvSpPr>
            <p:cNvPr id="491" name="TextBox 490">
              <a:extLst>
                <a:ext uri="{FF2B5EF4-FFF2-40B4-BE49-F238E27FC236}">
                  <a16:creationId xmlns:a16="http://schemas.microsoft.com/office/drawing/2014/main" id="{9C02D14E-840C-344B-9763-DE44A289373C}"/>
                </a:ext>
              </a:extLst>
            </p:cNvPr>
            <p:cNvSpPr txBox="1"/>
            <p:nvPr/>
          </p:nvSpPr>
          <p:spPr>
            <a:xfrm>
              <a:off x="9372601" y="5903267"/>
              <a:ext cx="293369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Problem: dup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accepted!</a:t>
              </a:r>
            </a:p>
          </p:txBody>
        </p:sp>
        <p:pic>
          <p:nvPicPr>
            <p:cNvPr id="492" name="Picture 491" descr="A picture containing drawing&#10;&#10;Description automatically generated">
              <a:extLst>
                <a:ext uri="{FF2B5EF4-FFF2-40B4-BE49-F238E27FC236}">
                  <a16:creationId xmlns:a16="http://schemas.microsoft.com/office/drawing/2014/main" id="{44630E30-AB86-2744-AC77-B540735E14B7}"/>
                </a:ext>
              </a:extLst>
            </p:cNvPr>
            <p:cNvPicPr>
              <a:picLocks noChangeAspect="1"/>
            </p:cNvPicPr>
            <p:nvPr/>
          </p:nvPicPr>
          <p:blipFill>
            <a:blip r:embed="rId4"/>
            <a:stretch>
              <a:fillRect/>
            </a:stretch>
          </p:blipFill>
          <p:spPr>
            <a:xfrm>
              <a:off x="8757558" y="6003472"/>
              <a:ext cx="636815" cy="636815"/>
            </a:xfrm>
            <a:prstGeom prst="rect">
              <a:avLst/>
            </a:prstGeom>
          </p:spPr>
        </p:pic>
      </p:grpSp>
      <p:grpSp>
        <p:nvGrpSpPr>
          <p:cNvPr id="13" name="Group 12">
            <a:extLst>
              <a:ext uri="{FF2B5EF4-FFF2-40B4-BE49-F238E27FC236}">
                <a16:creationId xmlns:a16="http://schemas.microsoft.com/office/drawing/2014/main" id="{FF4B12AC-451D-994B-8F10-E450C0737005}"/>
              </a:ext>
            </a:extLst>
          </p:cNvPr>
          <p:cNvGrpSpPr/>
          <p:nvPr/>
        </p:nvGrpSpPr>
        <p:grpSpPr>
          <a:xfrm>
            <a:off x="8091532" y="3683267"/>
            <a:ext cx="3997325" cy="2365375"/>
            <a:chOff x="3185703" y="3422010"/>
            <a:chExt cx="3997325" cy="2365375"/>
          </a:xfrm>
        </p:grpSpPr>
        <p:sp>
          <p:nvSpPr>
            <p:cNvPr id="302" name="Freeform 86">
              <a:extLst>
                <a:ext uri="{FF2B5EF4-FFF2-40B4-BE49-F238E27FC236}">
                  <a16:creationId xmlns:a16="http://schemas.microsoft.com/office/drawing/2014/main" id="{38A816A8-A2A7-7540-BCC4-F843FEC5A429}"/>
                </a:ext>
              </a:extLst>
            </p:cNvPr>
            <p:cNvSpPr>
              <a:spLocks/>
            </p:cNvSpPr>
            <p:nvPr/>
          </p:nvSpPr>
          <p:spPr bwMode="auto">
            <a:xfrm>
              <a:off x="4431891" y="3661722"/>
              <a:ext cx="1501775" cy="1897063"/>
            </a:xfrm>
            <a:custGeom>
              <a:avLst/>
              <a:gdLst>
                <a:gd name="T0" fmla="*/ 0 w 946"/>
                <a:gd name="T1" fmla="*/ 15 h 1195"/>
                <a:gd name="T2" fmla="*/ 199 w 946"/>
                <a:gd name="T3" fmla="*/ 164 h 1195"/>
                <a:gd name="T4" fmla="*/ 320 w 946"/>
                <a:gd name="T5" fmla="*/ 960 h 1195"/>
                <a:gd name="T6" fmla="*/ 946 w 946"/>
                <a:gd name="T7" fmla="*/ 1138 h 11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6" h="1195">
                  <a:moveTo>
                    <a:pt x="0" y="15"/>
                  </a:moveTo>
                  <a:cubicBezTo>
                    <a:pt x="32" y="40"/>
                    <a:pt x="114" y="0"/>
                    <a:pt x="199" y="164"/>
                  </a:cubicBezTo>
                  <a:cubicBezTo>
                    <a:pt x="284" y="328"/>
                    <a:pt x="195" y="798"/>
                    <a:pt x="320" y="960"/>
                  </a:cubicBezTo>
                  <a:cubicBezTo>
                    <a:pt x="477" y="1195"/>
                    <a:pt x="816" y="1101"/>
                    <a:pt x="946" y="1138"/>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3" name="Rectangle 88">
              <a:extLst>
                <a:ext uri="{FF2B5EF4-FFF2-40B4-BE49-F238E27FC236}">
                  <a16:creationId xmlns:a16="http://schemas.microsoft.com/office/drawing/2014/main" id="{2B3E4B53-E066-C34C-A204-C42E865280B3}"/>
                </a:ext>
              </a:extLst>
            </p:cNvPr>
            <p:cNvSpPr>
              <a:spLocks noChangeArrowheads="1"/>
            </p:cNvSpPr>
            <p:nvPr/>
          </p:nvSpPr>
          <p:spPr bwMode="auto">
            <a:xfrm>
              <a:off x="4782728" y="5196835"/>
              <a:ext cx="711200" cy="2825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04" name="Text Box 87">
              <a:extLst>
                <a:ext uri="{FF2B5EF4-FFF2-40B4-BE49-F238E27FC236}">
                  <a16:creationId xmlns:a16="http://schemas.microsoft.com/office/drawing/2014/main" id="{3D13DFEA-C794-CD4D-B546-BEBC15495B31}"/>
                </a:ext>
              </a:extLst>
            </p:cNvPr>
            <p:cNvSpPr txBox="1">
              <a:spLocks noChangeArrowheads="1"/>
            </p:cNvSpPr>
            <p:nvPr/>
          </p:nvSpPr>
          <p:spPr bwMode="auto">
            <a:xfrm>
              <a:off x="4468403" y="5152385"/>
              <a:ext cx="1092200" cy="3365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data(x+1)</a:t>
              </a:r>
            </a:p>
          </p:txBody>
        </p:sp>
        <p:sp>
          <p:nvSpPr>
            <p:cNvPr id="305" name="Text Box 89">
              <a:extLst>
                <a:ext uri="{FF2B5EF4-FFF2-40B4-BE49-F238E27FC236}">
                  <a16:creationId xmlns:a16="http://schemas.microsoft.com/office/drawing/2014/main" id="{5708E844-9ADD-5141-AEAF-930791B6807E}"/>
                </a:ext>
              </a:extLst>
            </p:cNvPr>
            <p:cNvSpPr txBox="1">
              <a:spLocks noChangeArrowheads="1"/>
            </p:cNvSpPr>
            <p:nvPr/>
          </p:nvSpPr>
          <p:spPr bwMode="auto">
            <a:xfrm>
              <a:off x="3185703" y="3422010"/>
              <a:ext cx="1273175" cy="752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retransmit</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data(x+1)</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6" name="Text Box 90">
              <a:extLst>
                <a:ext uri="{FF2B5EF4-FFF2-40B4-BE49-F238E27FC236}">
                  <a16:creationId xmlns:a16="http://schemas.microsoft.com/office/drawing/2014/main" id="{32C37D16-8B61-D246-B162-8D0E36A5BA9F}"/>
                </a:ext>
              </a:extLst>
            </p:cNvPr>
            <p:cNvSpPr txBox="1">
              <a:spLocks noChangeArrowheads="1"/>
            </p:cNvSpPr>
            <p:nvPr/>
          </p:nvSpPr>
          <p:spPr bwMode="auto">
            <a:xfrm>
              <a:off x="6011453" y="5279385"/>
              <a:ext cx="1171575" cy="50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accept</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data(x+1)</a:t>
              </a:r>
            </a:p>
          </p:txBody>
        </p:sp>
      </p:grpSp>
      <p:grpSp>
        <p:nvGrpSpPr>
          <p:cNvPr id="12" name="Group 11">
            <a:extLst>
              <a:ext uri="{FF2B5EF4-FFF2-40B4-BE49-F238E27FC236}">
                <a16:creationId xmlns:a16="http://schemas.microsoft.com/office/drawing/2014/main" id="{2FBF50D0-D345-1348-8991-01B659F7A8D4}"/>
              </a:ext>
            </a:extLst>
          </p:cNvPr>
          <p:cNvGrpSpPr/>
          <p:nvPr/>
        </p:nvGrpSpPr>
        <p:grpSpPr>
          <a:xfrm>
            <a:off x="7997186" y="2493962"/>
            <a:ext cx="3646488" cy="2992438"/>
            <a:chOff x="3134903" y="2369497"/>
            <a:chExt cx="3646488" cy="2992438"/>
          </a:xfrm>
        </p:grpSpPr>
        <p:grpSp>
          <p:nvGrpSpPr>
            <p:cNvPr id="7" name="Group 6">
              <a:extLst>
                <a:ext uri="{FF2B5EF4-FFF2-40B4-BE49-F238E27FC236}">
                  <a16:creationId xmlns:a16="http://schemas.microsoft.com/office/drawing/2014/main" id="{6190F2C1-0C5D-3A42-A359-9CD3AF8C99E1}"/>
                </a:ext>
              </a:extLst>
            </p:cNvPr>
            <p:cNvGrpSpPr/>
            <p:nvPr/>
          </p:nvGrpSpPr>
          <p:grpSpPr>
            <a:xfrm>
              <a:off x="3134903" y="2369497"/>
              <a:ext cx="3646488" cy="2992438"/>
              <a:chOff x="3134903" y="2369497"/>
              <a:chExt cx="3646488" cy="2992438"/>
            </a:xfrm>
          </p:grpSpPr>
          <p:grpSp>
            <p:nvGrpSpPr>
              <p:cNvPr id="5" name="Group 4">
                <a:extLst>
                  <a:ext uri="{FF2B5EF4-FFF2-40B4-BE49-F238E27FC236}">
                    <a16:creationId xmlns:a16="http://schemas.microsoft.com/office/drawing/2014/main" id="{56EB4120-1B3C-1046-99F5-B25161010680}"/>
                  </a:ext>
                </a:extLst>
              </p:cNvPr>
              <p:cNvGrpSpPr/>
              <p:nvPr/>
            </p:nvGrpSpPr>
            <p:grpSpPr>
              <a:xfrm>
                <a:off x="3134903" y="2369497"/>
                <a:ext cx="3646488" cy="2992438"/>
                <a:chOff x="3134903" y="2369497"/>
                <a:chExt cx="3646488" cy="2992438"/>
              </a:xfrm>
            </p:grpSpPr>
            <p:sp>
              <p:nvSpPr>
                <p:cNvPr id="296" name="Text Box 69">
                  <a:extLst>
                    <a:ext uri="{FF2B5EF4-FFF2-40B4-BE49-F238E27FC236}">
                      <a16:creationId xmlns:a16="http://schemas.microsoft.com/office/drawing/2014/main" id="{EE39D5A5-75E8-1642-A928-9D7249ADC116}"/>
                    </a:ext>
                  </a:extLst>
                </p:cNvPr>
                <p:cNvSpPr txBox="1">
                  <a:spLocks noChangeArrowheads="1"/>
                </p:cNvSpPr>
                <p:nvPr/>
              </p:nvSpPr>
              <p:spPr bwMode="auto">
                <a:xfrm>
                  <a:off x="3134903" y="2369497"/>
                  <a:ext cx="1273175" cy="752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retransmit</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req_conn(x)</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97" name="Freeform 70">
                  <a:extLst>
                    <a:ext uri="{FF2B5EF4-FFF2-40B4-BE49-F238E27FC236}">
                      <a16:creationId xmlns:a16="http://schemas.microsoft.com/office/drawing/2014/main" id="{87666E37-BAB8-714B-BDF4-51ADC162FD6B}"/>
                    </a:ext>
                  </a:extLst>
                </p:cNvPr>
                <p:cNvSpPr>
                  <a:spLocks/>
                </p:cNvSpPr>
                <p:nvPr/>
              </p:nvSpPr>
              <p:spPr bwMode="auto">
                <a:xfrm>
                  <a:off x="4449353" y="2671122"/>
                  <a:ext cx="1527175" cy="2559050"/>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8" name="Text Box 71">
                  <a:extLst>
                    <a:ext uri="{FF2B5EF4-FFF2-40B4-BE49-F238E27FC236}">
                      <a16:creationId xmlns:a16="http://schemas.microsoft.com/office/drawing/2014/main" id="{B25E41D2-C0CA-EB48-880B-B13A1DD07596}"/>
                    </a:ext>
                  </a:extLst>
                </p:cNvPr>
                <p:cNvSpPr txBox="1">
                  <a:spLocks noChangeArrowheads="1"/>
                </p:cNvSpPr>
                <p:nvPr/>
              </p:nvSpPr>
              <p:spPr bwMode="auto">
                <a:xfrm>
                  <a:off x="6009866" y="5025385"/>
                  <a:ext cx="7715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rPr>
                    <a:t>ESTAB</a:t>
                  </a:r>
                </a:p>
              </p:txBody>
            </p:sp>
          </p:grpSp>
          <p:sp>
            <p:nvSpPr>
              <p:cNvPr id="299" name="Oval 72">
                <a:extLst>
                  <a:ext uri="{FF2B5EF4-FFF2-40B4-BE49-F238E27FC236}">
                    <a16:creationId xmlns:a16="http://schemas.microsoft.com/office/drawing/2014/main" id="{64BE47B6-AB1B-DB4F-891D-6475A8808F8F}"/>
                  </a:ext>
                </a:extLst>
              </p:cNvPr>
              <p:cNvSpPr>
                <a:spLocks noChangeArrowheads="1"/>
              </p:cNvSpPr>
              <p:nvPr/>
            </p:nvSpPr>
            <p:spPr bwMode="auto">
              <a:xfrm>
                <a:off x="5933666" y="5152385"/>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grpSp>
        <p:sp>
          <p:nvSpPr>
            <p:cNvPr id="300" name="Rectangle 74">
              <a:extLst>
                <a:ext uri="{FF2B5EF4-FFF2-40B4-BE49-F238E27FC236}">
                  <a16:creationId xmlns:a16="http://schemas.microsoft.com/office/drawing/2014/main" id="{27FAA0CE-40E3-9343-AB09-AE069D66FDA9}"/>
                </a:ext>
              </a:extLst>
            </p:cNvPr>
            <p:cNvSpPr>
              <a:spLocks noChangeArrowheads="1"/>
            </p:cNvSpPr>
            <p:nvPr/>
          </p:nvSpPr>
          <p:spPr bwMode="auto">
            <a:xfrm>
              <a:off x="4660491" y="4725570"/>
              <a:ext cx="1071563" cy="26035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01" name="Text Box 75">
              <a:extLst>
                <a:ext uri="{FF2B5EF4-FFF2-40B4-BE49-F238E27FC236}">
                  <a16:creationId xmlns:a16="http://schemas.microsoft.com/office/drawing/2014/main" id="{DDB36B2F-A920-A540-B13F-3450D027F31C}"/>
                </a:ext>
              </a:extLst>
            </p:cNvPr>
            <p:cNvSpPr txBox="1">
              <a:spLocks noChangeArrowheads="1"/>
            </p:cNvSpPr>
            <p:nvPr/>
          </p:nvSpPr>
          <p:spPr bwMode="auto">
            <a:xfrm>
              <a:off x="4768441" y="4650731"/>
              <a:ext cx="1273175" cy="3365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err="1">
                  <a:ln>
                    <a:noFill/>
                  </a:ln>
                  <a:solidFill>
                    <a:srgbClr val="000000"/>
                  </a:solidFill>
                  <a:effectLst/>
                  <a:uLnTx/>
                  <a:uFillTx/>
                  <a:latin typeface="Tahoma" charset="0"/>
                  <a:ea typeface="ＭＳ Ｐゴシック" charset="0"/>
                  <a:cs typeface="+mn-cs"/>
                </a:rPr>
                <a:t>req_conn</a:t>
              </a: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(x)</a:t>
              </a:r>
            </a:p>
          </p:txBody>
        </p:sp>
      </p:grpSp>
      <p:sp>
        <p:nvSpPr>
          <p:cNvPr id="14" name="Freeform 13">
            <a:extLst>
              <a:ext uri="{FF2B5EF4-FFF2-40B4-BE49-F238E27FC236}">
                <a16:creationId xmlns:a16="http://schemas.microsoft.com/office/drawing/2014/main" id="{1777275B-B883-3D44-8A7B-6DD2718917C4}"/>
              </a:ext>
            </a:extLst>
          </p:cNvPr>
          <p:cNvSpPr/>
          <p:nvPr/>
        </p:nvSpPr>
        <p:spPr>
          <a:xfrm>
            <a:off x="7997371" y="1857830"/>
            <a:ext cx="4194629" cy="3062514"/>
          </a:xfrm>
          <a:custGeom>
            <a:avLst/>
            <a:gdLst>
              <a:gd name="connsiteX0" fmla="*/ 0 w 3889829"/>
              <a:gd name="connsiteY0" fmla="*/ 0 h 3106057"/>
              <a:gd name="connsiteX1" fmla="*/ 1016000 w 3889829"/>
              <a:gd name="connsiteY1" fmla="*/ 29029 h 3106057"/>
              <a:gd name="connsiteX2" fmla="*/ 1611086 w 3889829"/>
              <a:gd name="connsiteY2" fmla="*/ 58057 h 3106057"/>
              <a:gd name="connsiteX3" fmla="*/ 2989943 w 3889829"/>
              <a:gd name="connsiteY3" fmla="*/ 101600 h 3106057"/>
              <a:gd name="connsiteX4" fmla="*/ 3889829 w 3889829"/>
              <a:gd name="connsiteY4" fmla="*/ 87086 h 3106057"/>
              <a:gd name="connsiteX5" fmla="*/ 3860800 w 3889829"/>
              <a:gd name="connsiteY5" fmla="*/ 3091543 h 3106057"/>
              <a:gd name="connsiteX6" fmla="*/ 3468915 w 3889829"/>
              <a:gd name="connsiteY6" fmla="*/ 2540000 h 3106057"/>
              <a:gd name="connsiteX7" fmla="*/ 3265715 w 3889829"/>
              <a:gd name="connsiteY7" fmla="*/ 2510971 h 3106057"/>
              <a:gd name="connsiteX8" fmla="*/ 2481943 w 3889829"/>
              <a:gd name="connsiteY8" fmla="*/ 2540000 h 3106057"/>
              <a:gd name="connsiteX9" fmla="*/ 1190172 w 3889829"/>
              <a:gd name="connsiteY9" fmla="*/ 2931886 h 3106057"/>
              <a:gd name="connsiteX10" fmla="*/ 435429 w 3889829"/>
              <a:gd name="connsiteY10" fmla="*/ 3106057 h 3106057"/>
              <a:gd name="connsiteX11" fmla="*/ 29029 w 3889829"/>
              <a:gd name="connsiteY11" fmla="*/ 3062514 h 3106057"/>
              <a:gd name="connsiteX12" fmla="*/ 0 w 3889829"/>
              <a:gd name="connsiteY12" fmla="*/ 0 h 3106057"/>
              <a:gd name="connsiteX0" fmla="*/ 0 w 3889829"/>
              <a:gd name="connsiteY0" fmla="*/ 0 h 3106057"/>
              <a:gd name="connsiteX1" fmla="*/ 1016000 w 3889829"/>
              <a:gd name="connsiteY1" fmla="*/ 29029 h 3106057"/>
              <a:gd name="connsiteX2" fmla="*/ 1611086 w 3889829"/>
              <a:gd name="connsiteY2" fmla="*/ 58057 h 3106057"/>
              <a:gd name="connsiteX3" fmla="*/ 2989943 w 3889829"/>
              <a:gd name="connsiteY3" fmla="*/ 101600 h 3106057"/>
              <a:gd name="connsiteX4" fmla="*/ 3889829 w 3889829"/>
              <a:gd name="connsiteY4" fmla="*/ 87086 h 3106057"/>
              <a:gd name="connsiteX5" fmla="*/ 3860800 w 3889829"/>
              <a:gd name="connsiteY5" fmla="*/ 3091543 h 3106057"/>
              <a:gd name="connsiteX6" fmla="*/ 3468915 w 3889829"/>
              <a:gd name="connsiteY6" fmla="*/ 2540000 h 3106057"/>
              <a:gd name="connsiteX7" fmla="*/ 3265715 w 3889829"/>
              <a:gd name="connsiteY7" fmla="*/ 2510971 h 3106057"/>
              <a:gd name="connsiteX8" fmla="*/ 2598057 w 3889829"/>
              <a:gd name="connsiteY8" fmla="*/ 2525486 h 3106057"/>
              <a:gd name="connsiteX9" fmla="*/ 1190172 w 3889829"/>
              <a:gd name="connsiteY9" fmla="*/ 2931886 h 3106057"/>
              <a:gd name="connsiteX10" fmla="*/ 435429 w 3889829"/>
              <a:gd name="connsiteY10" fmla="*/ 3106057 h 3106057"/>
              <a:gd name="connsiteX11" fmla="*/ 29029 w 3889829"/>
              <a:gd name="connsiteY11" fmla="*/ 3062514 h 3106057"/>
              <a:gd name="connsiteX12" fmla="*/ 0 w 3889829"/>
              <a:gd name="connsiteY12" fmla="*/ 0 h 3106057"/>
              <a:gd name="connsiteX0" fmla="*/ 0 w 3889829"/>
              <a:gd name="connsiteY0" fmla="*/ 0 h 3106057"/>
              <a:gd name="connsiteX1" fmla="*/ 1016000 w 3889829"/>
              <a:gd name="connsiteY1" fmla="*/ 29029 h 3106057"/>
              <a:gd name="connsiteX2" fmla="*/ 1611086 w 3889829"/>
              <a:gd name="connsiteY2" fmla="*/ 58057 h 3106057"/>
              <a:gd name="connsiteX3" fmla="*/ 2989943 w 3889829"/>
              <a:gd name="connsiteY3" fmla="*/ 101600 h 3106057"/>
              <a:gd name="connsiteX4" fmla="*/ 3889829 w 3889829"/>
              <a:gd name="connsiteY4" fmla="*/ 87086 h 3106057"/>
              <a:gd name="connsiteX5" fmla="*/ 3860800 w 3889829"/>
              <a:gd name="connsiteY5" fmla="*/ 3091543 h 3106057"/>
              <a:gd name="connsiteX6" fmla="*/ 3468915 w 3889829"/>
              <a:gd name="connsiteY6" fmla="*/ 2540000 h 3106057"/>
              <a:gd name="connsiteX7" fmla="*/ 3265715 w 3889829"/>
              <a:gd name="connsiteY7" fmla="*/ 2510971 h 3106057"/>
              <a:gd name="connsiteX8" fmla="*/ 2598057 w 3889829"/>
              <a:gd name="connsiteY8" fmla="*/ 2525486 h 3106057"/>
              <a:gd name="connsiteX9" fmla="*/ 2249715 w 3889829"/>
              <a:gd name="connsiteY9" fmla="*/ 2801257 h 3106057"/>
              <a:gd name="connsiteX10" fmla="*/ 435429 w 3889829"/>
              <a:gd name="connsiteY10" fmla="*/ 3106057 h 3106057"/>
              <a:gd name="connsiteX11" fmla="*/ 29029 w 3889829"/>
              <a:gd name="connsiteY11" fmla="*/ 3062514 h 3106057"/>
              <a:gd name="connsiteX12" fmla="*/ 0 w 3889829"/>
              <a:gd name="connsiteY12" fmla="*/ 0 h 3106057"/>
              <a:gd name="connsiteX0" fmla="*/ 0 w 3889829"/>
              <a:gd name="connsiteY0" fmla="*/ 0 h 3106057"/>
              <a:gd name="connsiteX1" fmla="*/ 1016000 w 3889829"/>
              <a:gd name="connsiteY1" fmla="*/ 29029 h 3106057"/>
              <a:gd name="connsiteX2" fmla="*/ 1611086 w 3889829"/>
              <a:gd name="connsiteY2" fmla="*/ 58057 h 3106057"/>
              <a:gd name="connsiteX3" fmla="*/ 2989943 w 3889829"/>
              <a:gd name="connsiteY3" fmla="*/ 101600 h 3106057"/>
              <a:gd name="connsiteX4" fmla="*/ 3889829 w 3889829"/>
              <a:gd name="connsiteY4" fmla="*/ 87086 h 3106057"/>
              <a:gd name="connsiteX5" fmla="*/ 3860800 w 3889829"/>
              <a:gd name="connsiteY5" fmla="*/ 3091543 h 3106057"/>
              <a:gd name="connsiteX6" fmla="*/ 3468915 w 3889829"/>
              <a:gd name="connsiteY6" fmla="*/ 2540000 h 3106057"/>
              <a:gd name="connsiteX7" fmla="*/ 3265715 w 3889829"/>
              <a:gd name="connsiteY7" fmla="*/ 2510971 h 3106057"/>
              <a:gd name="connsiteX8" fmla="*/ 2598057 w 3889829"/>
              <a:gd name="connsiteY8" fmla="*/ 2525486 h 3106057"/>
              <a:gd name="connsiteX9" fmla="*/ 2235201 w 3889829"/>
              <a:gd name="connsiteY9" fmla="*/ 2801257 h 3106057"/>
              <a:gd name="connsiteX10" fmla="*/ 435429 w 3889829"/>
              <a:gd name="connsiteY10" fmla="*/ 3106057 h 3106057"/>
              <a:gd name="connsiteX11" fmla="*/ 29029 w 3889829"/>
              <a:gd name="connsiteY11" fmla="*/ 3062514 h 3106057"/>
              <a:gd name="connsiteX12" fmla="*/ 0 w 3889829"/>
              <a:gd name="connsiteY12" fmla="*/ 0 h 3106057"/>
              <a:gd name="connsiteX0" fmla="*/ 0 w 3889829"/>
              <a:gd name="connsiteY0" fmla="*/ 0 h 3091543"/>
              <a:gd name="connsiteX1" fmla="*/ 1016000 w 3889829"/>
              <a:gd name="connsiteY1" fmla="*/ 29029 h 3091543"/>
              <a:gd name="connsiteX2" fmla="*/ 1611086 w 3889829"/>
              <a:gd name="connsiteY2" fmla="*/ 58057 h 3091543"/>
              <a:gd name="connsiteX3" fmla="*/ 2989943 w 3889829"/>
              <a:gd name="connsiteY3" fmla="*/ 101600 h 3091543"/>
              <a:gd name="connsiteX4" fmla="*/ 3889829 w 3889829"/>
              <a:gd name="connsiteY4" fmla="*/ 87086 h 3091543"/>
              <a:gd name="connsiteX5" fmla="*/ 3860800 w 3889829"/>
              <a:gd name="connsiteY5" fmla="*/ 3091543 h 3091543"/>
              <a:gd name="connsiteX6" fmla="*/ 3468915 w 3889829"/>
              <a:gd name="connsiteY6" fmla="*/ 2540000 h 3091543"/>
              <a:gd name="connsiteX7" fmla="*/ 3265715 w 3889829"/>
              <a:gd name="connsiteY7" fmla="*/ 2510971 h 3091543"/>
              <a:gd name="connsiteX8" fmla="*/ 2598057 w 3889829"/>
              <a:gd name="connsiteY8" fmla="*/ 2525486 h 3091543"/>
              <a:gd name="connsiteX9" fmla="*/ 2235201 w 3889829"/>
              <a:gd name="connsiteY9" fmla="*/ 2801257 h 3091543"/>
              <a:gd name="connsiteX10" fmla="*/ 1088572 w 3889829"/>
              <a:gd name="connsiteY10" fmla="*/ 3033485 h 3091543"/>
              <a:gd name="connsiteX11" fmla="*/ 29029 w 3889829"/>
              <a:gd name="connsiteY11" fmla="*/ 3062514 h 3091543"/>
              <a:gd name="connsiteX12" fmla="*/ 0 w 3889829"/>
              <a:gd name="connsiteY12" fmla="*/ 0 h 3091543"/>
              <a:gd name="connsiteX0" fmla="*/ 0 w 4209143"/>
              <a:gd name="connsiteY0" fmla="*/ 14514 h 3062514"/>
              <a:gd name="connsiteX1" fmla="*/ 1335314 w 4209143"/>
              <a:gd name="connsiteY1" fmla="*/ 0 h 3062514"/>
              <a:gd name="connsiteX2" fmla="*/ 1930400 w 4209143"/>
              <a:gd name="connsiteY2" fmla="*/ 29028 h 3062514"/>
              <a:gd name="connsiteX3" fmla="*/ 3309257 w 4209143"/>
              <a:gd name="connsiteY3" fmla="*/ 72571 h 3062514"/>
              <a:gd name="connsiteX4" fmla="*/ 4209143 w 4209143"/>
              <a:gd name="connsiteY4" fmla="*/ 58057 h 3062514"/>
              <a:gd name="connsiteX5" fmla="*/ 4180114 w 4209143"/>
              <a:gd name="connsiteY5" fmla="*/ 3062514 h 3062514"/>
              <a:gd name="connsiteX6" fmla="*/ 3788229 w 4209143"/>
              <a:gd name="connsiteY6" fmla="*/ 2510971 h 3062514"/>
              <a:gd name="connsiteX7" fmla="*/ 3585029 w 4209143"/>
              <a:gd name="connsiteY7" fmla="*/ 2481942 h 3062514"/>
              <a:gd name="connsiteX8" fmla="*/ 2917371 w 4209143"/>
              <a:gd name="connsiteY8" fmla="*/ 2496457 h 3062514"/>
              <a:gd name="connsiteX9" fmla="*/ 2554515 w 4209143"/>
              <a:gd name="connsiteY9" fmla="*/ 2772228 h 3062514"/>
              <a:gd name="connsiteX10" fmla="*/ 1407886 w 4209143"/>
              <a:gd name="connsiteY10" fmla="*/ 3004456 h 3062514"/>
              <a:gd name="connsiteX11" fmla="*/ 348343 w 4209143"/>
              <a:gd name="connsiteY11" fmla="*/ 3033485 h 3062514"/>
              <a:gd name="connsiteX12" fmla="*/ 0 w 4209143"/>
              <a:gd name="connsiteY12" fmla="*/ 14514 h 3062514"/>
              <a:gd name="connsiteX0" fmla="*/ 0 w 4194629"/>
              <a:gd name="connsiteY0" fmla="*/ 29028 h 3062514"/>
              <a:gd name="connsiteX1" fmla="*/ 1320800 w 4194629"/>
              <a:gd name="connsiteY1" fmla="*/ 0 h 3062514"/>
              <a:gd name="connsiteX2" fmla="*/ 1915886 w 4194629"/>
              <a:gd name="connsiteY2" fmla="*/ 29028 h 3062514"/>
              <a:gd name="connsiteX3" fmla="*/ 3294743 w 4194629"/>
              <a:gd name="connsiteY3" fmla="*/ 72571 h 3062514"/>
              <a:gd name="connsiteX4" fmla="*/ 4194629 w 4194629"/>
              <a:gd name="connsiteY4" fmla="*/ 58057 h 3062514"/>
              <a:gd name="connsiteX5" fmla="*/ 4165600 w 4194629"/>
              <a:gd name="connsiteY5" fmla="*/ 3062514 h 3062514"/>
              <a:gd name="connsiteX6" fmla="*/ 3773715 w 4194629"/>
              <a:gd name="connsiteY6" fmla="*/ 2510971 h 3062514"/>
              <a:gd name="connsiteX7" fmla="*/ 3570515 w 4194629"/>
              <a:gd name="connsiteY7" fmla="*/ 2481942 h 3062514"/>
              <a:gd name="connsiteX8" fmla="*/ 2902857 w 4194629"/>
              <a:gd name="connsiteY8" fmla="*/ 2496457 h 3062514"/>
              <a:gd name="connsiteX9" fmla="*/ 2540001 w 4194629"/>
              <a:gd name="connsiteY9" fmla="*/ 2772228 h 3062514"/>
              <a:gd name="connsiteX10" fmla="*/ 1393372 w 4194629"/>
              <a:gd name="connsiteY10" fmla="*/ 3004456 h 3062514"/>
              <a:gd name="connsiteX11" fmla="*/ 333829 w 4194629"/>
              <a:gd name="connsiteY11" fmla="*/ 3033485 h 3062514"/>
              <a:gd name="connsiteX12" fmla="*/ 0 w 4194629"/>
              <a:gd name="connsiteY12" fmla="*/ 29028 h 3062514"/>
              <a:gd name="connsiteX0" fmla="*/ 0 w 4194629"/>
              <a:gd name="connsiteY0" fmla="*/ 29028 h 3062514"/>
              <a:gd name="connsiteX1" fmla="*/ 1320800 w 4194629"/>
              <a:gd name="connsiteY1" fmla="*/ 0 h 3062514"/>
              <a:gd name="connsiteX2" fmla="*/ 1915886 w 4194629"/>
              <a:gd name="connsiteY2" fmla="*/ 29028 h 3062514"/>
              <a:gd name="connsiteX3" fmla="*/ 3294743 w 4194629"/>
              <a:gd name="connsiteY3" fmla="*/ 72571 h 3062514"/>
              <a:gd name="connsiteX4" fmla="*/ 4194629 w 4194629"/>
              <a:gd name="connsiteY4" fmla="*/ 58057 h 3062514"/>
              <a:gd name="connsiteX5" fmla="*/ 4165600 w 4194629"/>
              <a:gd name="connsiteY5" fmla="*/ 3062514 h 3062514"/>
              <a:gd name="connsiteX6" fmla="*/ 3773715 w 4194629"/>
              <a:gd name="connsiteY6" fmla="*/ 2510971 h 3062514"/>
              <a:gd name="connsiteX7" fmla="*/ 3570515 w 4194629"/>
              <a:gd name="connsiteY7" fmla="*/ 2481942 h 3062514"/>
              <a:gd name="connsiteX8" fmla="*/ 2902857 w 4194629"/>
              <a:gd name="connsiteY8" fmla="*/ 2496457 h 3062514"/>
              <a:gd name="connsiteX9" fmla="*/ 2540001 w 4194629"/>
              <a:gd name="connsiteY9" fmla="*/ 2772228 h 3062514"/>
              <a:gd name="connsiteX10" fmla="*/ 1393372 w 4194629"/>
              <a:gd name="connsiteY10" fmla="*/ 3004456 h 3062514"/>
              <a:gd name="connsiteX11" fmla="*/ 101600 w 4194629"/>
              <a:gd name="connsiteY11" fmla="*/ 3033485 h 3062514"/>
              <a:gd name="connsiteX12" fmla="*/ 0 w 4194629"/>
              <a:gd name="connsiteY12" fmla="*/ 29028 h 3062514"/>
              <a:gd name="connsiteX0" fmla="*/ 0 w 4194629"/>
              <a:gd name="connsiteY0" fmla="*/ 29028 h 3062514"/>
              <a:gd name="connsiteX1" fmla="*/ 1320800 w 4194629"/>
              <a:gd name="connsiteY1" fmla="*/ 0 h 3062514"/>
              <a:gd name="connsiteX2" fmla="*/ 1915886 w 4194629"/>
              <a:gd name="connsiteY2" fmla="*/ 29028 h 3062514"/>
              <a:gd name="connsiteX3" fmla="*/ 3294743 w 4194629"/>
              <a:gd name="connsiteY3" fmla="*/ 72571 h 3062514"/>
              <a:gd name="connsiteX4" fmla="*/ 4194629 w 4194629"/>
              <a:gd name="connsiteY4" fmla="*/ 58057 h 3062514"/>
              <a:gd name="connsiteX5" fmla="*/ 4165600 w 4194629"/>
              <a:gd name="connsiteY5" fmla="*/ 3062514 h 3062514"/>
              <a:gd name="connsiteX6" fmla="*/ 3773715 w 4194629"/>
              <a:gd name="connsiteY6" fmla="*/ 2510971 h 3062514"/>
              <a:gd name="connsiteX7" fmla="*/ 3570515 w 4194629"/>
              <a:gd name="connsiteY7" fmla="*/ 2481942 h 3062514"/>
              <a:gd name="connsiteX8" fmla="*/ 2902857 w 4194629"/>
              <a:gd name="connsiteY8" fmla="*/ 2496457 h 3062514"/>
              <a:gd name="connsiteX9" fmla="*/ 2540001 w 4194629"/>
              <a:gd name="connsiteY9" fmla="*/ 2772228 h 3062514"/>
              <a:gd name="connsiteX10" fmla="*/ 1393372 w 4194629"/>
              <a:gd name="connsiteY10" fmla="*/ 3004456 h 3062514"/>
              <a:gd name="connsiteX11" fmla="*/ 29028 w 4194629"/>
              <a:gd name="connsiteY11" fmla="*/ 3033485 h 3062514"/>
              <a:gd name="connsiteX12" fmla="*/ 0 w 4194629"/>
              <a:gd name="connsiteY12" fmla="*/ 29028 h 306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94629" h="3062514">
                <a:moveTo>
                  <a:pt x="0" y="29028"/>
                </a:moveTo>
                <a:lnTo>
                  <a:pt x="1320800" y="0"/>
                </a:lnTo>
                <a:lnTo>
                  <a:pt x="1915886" y="29028"/>
                </a:lnTo>
                <a:lnTo>
                  <a:pt x="3294743" y="72571"/>
                </a:lnTo>
                <a:lnTo>
                  <a:pt x="4194629" y="58057"/>
                </a:lnTo>
                <a:lnTo>
                  <a:pt x="4165600" y="3062514"/>
                </a:lnTo>
                <a:lnTo>
                  <a:pt x="3773715" y="2510971"/>
                </a:lnTo>
                <a:lnTo>
                  <a:pt x="3570515" y="2481942"/>
                </a:lnTo>
                <a:lnTo>
                  <a:pt x="2902857" y="2496457"/>
                </a:lnTo>
                <a:lnTo>
                  <a:pt x="2540001" y="2772228"/>
                </a:lnTo>
                <a:lnTo>
                  <a:pt x="1393372" y="3004456"/>
                </a:lnTo>
                <a:lnTo>
                  <a:pt x="29028" y="3033485"/>
                </a:lnTo>
                <a:lnTo>
                  <a:pt x="0" y="29028"/>
                </a:lnTo>
                <a:close/>
              </a:path>
            </a:pathLst>
          </a:cu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61066714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dissolv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dissolv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3-way handshake</a:t>
            </a:r>
            <a:endParaRPr lang="en-US" sz="4400" b="0" dirty="0"/>
          </a:p>
        </p:txBody>
      </p:sp>
      <p:sp>
        <p:nvSpPr>
          <p:cNvPr id="215" name="Line 5">
            <a:extLst>
              <a:ext uri="{FF2B5EF4-FFF2-40B4-BE49-F238E27FC236}">
                <a16:creationId xmlns:a16="http://schemas.microsoft.com/office/drawing/2014/main" id="{977A2B4A-655D-5443-8A4F-92884511787E}"/>
              </a:ext>
            </a:extLst>
          </p:cNvPr>
          <p:cNvSpPr>
            <a:spLocks noChangeShapeType="1"/>
          </p:cNvSpPr>
          <p:nvPr/>
        </p:nvSpPr>
        <p:spPr bwMode="auto">
          <a:xfrm flipH="1">
            <a:off x="4796631" y="3078661"/>
            <a:ext cx="1588" cy="2470150"/>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216" name="Group 102">
            <a:extLst>
              <a:ext uri="{FF2B5EF4-FFF2-40B4-BE49-F238E27FC236}">
                <a16:creationId xmlns:a16="http://schemas.microsoft.com/office/drawing/2014/main" id="{1F3D6A6C-5FEE-8646-8A80-04AC9F3BFF74}"/>
              </a:ext>
            </a:extLst>
          </p:cNvPr>
          <p:cNvGrpSpPr>
            <a:grpSpLocks/>
          </p:cNvGrpSpPr>
          <p:nvPr/>
        </p:nvGrpSpPr>
        <p:grpSpPr bwMode="auto">
          <a:xfrm>
            <a:off x="2810669" y="3005636"/>
            <a:ext cx="4494212" cy="955675"/>
            <a:chOff x="810" y="1363"/>
            <a:chExt cx="2831" cy="602"/>
          </a:xfrm>
        </p:grpSpPr>
        <p:sp>
          <p:nvSpPr>
            <p:cNvPr id="217" name="Line 10">
              <a:extLst>
                <a:ext uri="{FF2B5EF4-FFF2-40B4-BE49-F238E27FC236}">
                  <a16:creationId xmlns:a16="http://schemas.microsoft.com/office/drawing/2014/main" id="{EE87312F-9111-3748-8D8C-BFB220C5EE37}"/>
                </a:ext>
              </a:extLst>
            </p:cNvPr>
            <p:cNvSpPr>
              <a:spLocks noChangeShapeType="1"/>
            </p:cNvSpPr>
            <p:nvPr/>
          </p:nvSpPr>
          <p:spPr bwMode="auto">
            <a:xfrm>
              <a:off x="2062" y="1502"/>
              <a:ext cx="1579" cy="46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8" name="Rectangle 12">
              <a:extLst>
                <a:ext uri="{FF2B5EF4-FFF2-40B4-BE49-F238E27FC236}">
                  <a16:creationId xmlns:a16="http://schemas.microsoft.com/office/drawing/2014/main" id="{F50F8FCD-3A00-574F-A159-92B207C593BD}"/>
                </a:ext>
              </a:extLst>
            </p:cNvPr>
            <p:cNvSpPr>
              <a:spLocks noChangeArrowheads="1"/>
            </p:cNvSpPr>
            <p:nvPr/>
          </p:nvSpPr>
          <p:spPr bwMode="auto">
            <a:xfrm>
              <a:off x="2518" y="1565"/>
              <a:ext cx="590" cy="27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9" name="Text Box 13">
              <a:extLst>
                <a:ext uri="{FF2B5EF4-FFF2-40B4-BE49-F238E27FC236}">
                  <a16:creationId xmlns:a16="http://schemas.microsoft.com/office/drawing/2014/main" id="{24E8EE1C-DBA9-8F4D-82EE-29CEECDFAAD7}"/>
                </a:ext>
              </a:extLst>
            </p:cNvPr>
            <p:cNvSpPr txBox="1">
              <a:spLocks noChangeArrowheads="1"/>
            </p:cNvSpPr>
            <p:nvPr/>
          </p:nvSpPr>
          <p:spPr bwMode="auto">
            <a:xfrm>
              <a:off x="2310" y="1624"/>
              <a:ext cx="1096"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SYNbit=1, Seq=x</a:t>
              </a:r>
            </a:p>
          </p:txBody>
        </p:sp>
        <p:sp>
          <p:nvSpPr>
            <p:cNvPr id="220" name="Text Box 21">
              <a:extLst>
                <a:ext uri="{FF2B5EF4-FFF2-40B4-BE49-F238E27FC236}">
                  <a16:creationId xmlns:a16="http://schemas.microsoft.com/office/drawing/2014/main" id="{8343DEBF-07A5-D746-BE48-88F38BD40754}"/>
                </a:ext>
              </a:extLst>
            </p:cNvPr>
            <p:cNvSpPr txBox="1">
              <a:spLocks noChangeArrowheads="1"/>
            </p:cNvSpPr>
            <p:nvPr/>
          </p:nvSpPr>
          <p:spPr bwMode="auto">
            <a:xfrm>
              <a:off x="810" y="1363"/>
              <a:ext cx="1230" cy="3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choose init seq num, x</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send TCP SYN msg</a:t>
              </a:r>
            </a:p>
          </p:txBody>
        </p:sp>
      </p:grpSp>
      <p:sp>
        <p:nvSpPr>
          <p:cNvPr id="221" name="Line 22">
            <a:extLst>
              <a:ext uri="{FF2B5EF4-FFF2-40B4-BE49-F238E27FC236}">
                <a16:creationId xmlns:a16="http://schemas.microsoft.com/office/drawing/2014/main" id="{2FC7049F-93A3-A84A-9D90-B3F4B6E3F6E9}"/>
              </a:ext>
            </a:extLst>
          </p:cNvPr>
          <p:cNvSpPr>
            <a:spLocks noChangeShapeType="1"/>
          </p:cNvSpPr>
          <p:nvPr/>
        </p:nvSpPr>
        <p:spPr bwMode="auto">
          <a:xfrm flipH="1">
            <a:off x="7385844" y="3148511"/>
            <a:ext cx="1587" cy="3417888"/>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22" name="Text Box 92">
            <a:extLst>
              <a:ext uri="{FF2B5EF4-FFF2-40B4-BE49-F238E27FC236}">
                <a16:creationId xmlns:a16="http://schemas.microsoft.com/office/drawing/2014/main" id="{8192AE36-3CEB-7940-A712-3437D9AE1C17}"/>
              </a:ext>
            </a:extLst>
          </p:cNvPr>
          <p:cNvSpPr txBox="1">
            <a:spLocks noChangeArrowheads="1"/>
          </p:cNvSpPr>
          <p:nvPr/>
        </p:nvSpPr>
        <p:spPr bwMode="auto">
          <a:xfrm>
            <a:off x="9571831" y="5986961"/>
            <a:ext cx="7715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rPr>
              <a:t>ESTAB</a:t>
            </a:r>
          </a:p>
        </p:txBody>
      </p:sp>
      <p:grpSp>
        <p:nvGrpSpPr>
          <p:cNvPr id="223" name="Group 109">
            <a:extLst>
              <a:ext uri="{FF2B5EF4-FFF2-40B4-BE49-F238E27FC236}">
                <a16:creationId xmlns:a16="http://schemas.microsoft.com/office/drawing/2014/main" id="{9180F1A8-9EF0-3C49-80B2-6C9528088F36}"/>
              </a:ext>
            </a:extLst>
          </p:cNvPr>
          <p:cNvGrpSpPr>
            <a:grpSpLocks/>
          </p:cNvGrpSpPr>
          <p:nvPr/>
        </p:nvGrpSpPr>
        <p:grpSpPr bwMode="auto">
          <a:xfrm>
            <a:off x="4795044" y="3675561"/>
            <a:ext cx="4519612" cy="1425575"/>
            <a:chOff x="2060" y="1785"/>
            <a:chExt cx="2847" cy="898"/>
          </a:xfrm>
        </p:grpSpPr>
        <p:sp>
          <p:nvSpPr>
            <p:cNvPr id="224" name="Line 11">
              <a:extLst>
                <a:ext uri="{FF2B5EF4-FFF2-40B4-BE49-F238E27FC236}">
                  <a16:creationId xmlns:a16="http://schemas.microsoft.com/office/drawing/2014/main" id="{660BD729-B466-584F-9DAC-1C1358024968}"/>
                </a:ext>
              </a:extLst>
            </p:cNvPr>
            <p:cNvSpPr>
              <a:spLocks noChangeShapeType="1"/>
            </p:cNvSpPr>
            <p:nvPr/>
          </p:nvSpPr>
          <p:spPr bwMode="auto">
            <a:xfrm flipH="1">
              <a:off x="2060" y="2031"/>
              <a:ext cx="1580" cy="65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Rectangle 14">
              <a:extLst>
                <a:ext uri="{FF2B5EF4-FFF2-40B4-BE49-F238E27FC236}">
                  <a16:creationId xmlns:a16="http://schemas.microsoft.com/office/drawing/2014/main" id="{36832487-CAD9-A047-9D5F-96D1B02D3E65}"/>
                </a:ext>
              </a:extLst>
            </p:cNvPr>
            <p:cNvSpPr>
              <a:spLocks noChangeArrowheads="1"/>
            </p:cNvSpPr>
            <p:nvPr/>
          </p:nvSpPr>
          <p:spPr bwMode="auto">
            <a:xfrm>
              <a:off x="2381" y="2206"/>
              <a:ext cx="896" cy="32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6" name="Text Box 83">
              <a:extLst>
                <a:ext uri="{FF2B5EF4-FFF2-40B4-BE49-F238E27FC236}">
                  <a16:creationId xmlns:a16="http://schemas.microsoft.com/office/drawing/2014/main" id="{393E04DD-B089-D14F-BFBB-76E878EC5F6F}"/>
                </a:ext>
              </a:extLst>
            </p:cNvPr>
            <p:cNvSpPr txBox="1">
              <a:spLocks noChangeArrowheads="1"/>
            </p:cNvSpPr>
            <p:nvPr/>
          </p:nvSpPr>
          <p:spPr bwMode="auto">
            <a:xfrm>
              <a:off x="2159" y="2169"/>
              <a:ext cx="1534" cy="36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SYNbit=1, Seq=y</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ACKbit=1; ACKnum=x+1</a:t>
              </a:r>
            </a:p>
          </p:txBody>
        </p:sp>
        <p:sp>
          <p:nvSpPr>
            <p:cNvPr id="227" name="Text Box 93">
              <a:extLst>
                <a:ext uri="{FF2B5EF4-FFF2-40B4-BE49-F238E27FC236}">
                  <a16:creationId xmlns:a16="http://schemas.microsoft.com/office/drawing/2014/main" id="{D2107B90-790F-D84D-8A95-4CD5BE8D772A}"/>
                </a:ext>
              </a:extLst>
            </p:cNvPr>
            <p:cNvSpPr txBox="1">
              <a:spLocks noChangeArrowheads="1"/>
            </p:cNvSpPr>
            <p:nvPr/>
          </p:nvSpPr>
          <p:spPr bwMode="auto">
            <a:xfrm>
              <a:off x="3676" y="1785"/>
              <a:ext cx="1231" cy="42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choose init seq num, y</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send TCP SYNACK</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msg, acking SYN</a:t>
              </a:r>
            </a:p>
          </p:txBody>
        </p:sp>
      </p:grpSp>
      <p:grpSp>
        <p:nvGrpSpPr>
          <p:cNvPr id="228" name="Group 110">
            <a:extLst>
              <a:ext uri="{FF2B5EF4-FFF2-40B4-BE49-F238E27FC236}">
                <a16:creationId xmlns:a16="http://schemas.microsoft.com/office/drawing/2014/main" id="{92A8D17F-88B5-E34B-ADF1-D1D5F4C6CACA}"/>
              </a:ext>
            </a:extLst>
          </p:cNvPr>
          <p:cNvGrpSpPr>
            <a:grpSpLocks/>
          </p:cNvGrpSpPr>
          <p:nvPr/>
        </p:nvGrpSpPr>
        <p:grpSpPr bwMode="auto">
          <a:xfrm>
            <a:off x="2512219" y="4774111"/>
            <a:ext cx="6630987" cy="1373188"/>
            <a:chOff x="622" y="2477"/>
            <a:chExt cx="4177" cy="865"/>
          </a:xfrm>
        </p:grpSpPr>
        <p:sp>
          <p:nvSpPr>
            <p:cNvPr id="229" name="Line 84">
              <a:extLst>
                <a:ext uri="{FF2B5EF4-FFF2-40B4-BE49-F238E27FC236}">
                  <a16:creationId xmlns:a16="http://schemas.microsoft.com/office/drawing/2014/main" id="{31D580AA-9CAF-1544-A3DB-06757FBBB395}"/>
                </a:ext>
              </a:extLst>
            </p:cNvPr>
            <p:cNvSpPr>
              <a:spLocks noChangeShapeType="1"/>
            </p:cNvSpPr>
            <p:nvPr/>
          </p:nvSpPr>
          <p:spPr bwMode="auto">
            <a:xfrm>
              <a:off x="2073" y="2728"/>
              <a:ext cx="1579" cy="46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0" name="Rectangle 89">
              <a:extLst>
                <a:ext uri="{FF2B5EF4-FFF2-40B4-BE49-F238E27FC236}">
                  <a16:creationId xmlns:a16="http://schemas.microsoft.com/office/drawing/2014/main" id="{60D16AD1-FAFA-6248-BB4D-76643C40A64C}"/>
                </a:ext>
              </a:extLst>
            </p:cNvPr>
            <p:cNvSpPr>
              <a:spLocks noChangeArrowheads="1"/>
            </p:cNvSpPr>
            <p:nvPr/>
          </p:nvSpPr>
          <p:spPr bwMode="auto">
            <a:xfrm>
              <a:off x="2486" y="2806"/>
              <a:ext cx="775" cy="27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1" name="Text Box 90">
              <a:extLst>
                <a:ext uri="{FF2B5EF4-FFF2-40B4-BE49-F238E27FC236}">
                  <a16:creationId xmlns:a16="http://schemas.microsoft.com/office/drawing/2014/main" id="{D8F9F960-0A9B-F045-8B04-6F4D63130318}"/>
                </a:ext>
              </a:extLst>
            </p:cNvPr>
            <p:cNvSpPr txBox="1">
              <a:spLocks noChangeArrowheads="1"/>
            </p:cNvSpPr>
            <p:nvPr/>
          </p:nvSpPr>
          <p:spPr bwMode="auto">
            <a:xfrm>
              <a:off x="2092" y="2852"/>
              <a:ext cx="1529"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ACKbit=1, ACKnum=y+1</a:t>
              </a:r>
            </a:p>
          </p:txBody>
        </p:sp>
        <p:sp>
          <p:nvSpPr>
            <p:cNvPr id="232" name="Text Box 94">
              <a:extLst>
                <a:ext uri="{FF2B5EF4-FFF2-40B4-BE49-F238E27FC236}">
                  <a16:creationId xmlns:a16="http://schemas.microsoft.com/office/drawing/2014/main" id="{B9046815-BDD2-9143-979C-D64169C26C55}"/>
                </a:ext>
              </a:extLst>
            </p:cNvPr>
            <p:cNvSpPr txBox="1">
              <a:spLocks noChangeArrowheads="1"/>
            </p:cNvSpPr>
            <p:nvPr/>
          </p:nvSpPr>
          <p:spPr bwMode="auto">
            <a:xfrm>
              <a:off x="622" y="2477"/>
              <a:ext cx="1422" cy="66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received SYNACK(x) </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indicates server is live;</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 ACK for SYNACK;</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this segment may contain </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client-to-server data</a:t>
              </a:r>
            </a:p>
          </p:txBody>
        </p:sp>
        <p:sp>
          <p:nvSpPr>
            <p:cNvPr id="233" name="Text Box 95">
              <a:extLst>
                <a:ext uri="{FF2B5EF4-FFF2-40B4-BE49-F238E27FC236}">
                  <a16:creationId xmlns:a16="http://schemas.microsoft.com/office/drawing/2014/main" id="{ADF0930B-F723-4446-8C5B-8996D59396E2}"/>
                </a:ext>
              </a:extLst>
            </p:cNvPr>
            <p:cNvSpPr txBox="1">
              <a:spLocks noChangeArrowheads="1"/>
            </p:cNvSpPr>
            <p:nvPr/>
          </p:nvSpPr>
          <p:spPr bwMode="auto">
            <a:xfrm>
              <a:off x="3640" y="3042"/>
              <a:ext cx="1159" cy="3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received ACK(y)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indicates client is live</a:t>
              </a:r>
            </a:p>
          </p:txBody>
        </p:sp>
      </p:grpSp>
      <p:grpSp>
        <p:nvGrpSpPr>
          <p:cNvPr id="234" name="Group 105">
            <a:extLst>
              <a:ext uri="{FF2B5EF4-FFF2-40B4-BE49-F238E27FC236}">
                <a16:creationId xmlns:a16="http://schemas.microsoft.com/office/drawing/2014/main" id="{45AA77DF-71CD-2E48-9AEE-EC1E8FB1B1C5}"/>
              </a:ext>
            </a:extLst>
          </p:cNvPr>
          <p:cNvGrpSpPr>
            <a:grpSpLocks/>
          </p:cNvGrpSpPr>
          <p:nvPr/>
        </p:nvGrpSpPr>
        <p:grpSpPr bwMode="auto">
          <a:xfrm>
            <a:off x="1813719" y="3043736"/>
            <a:ext cx="1030287" cy="700088"/>
            <a:chOff x="182" y="1387"/>
            <a:chExt cx="649" cy="441"/>
          </a:xfrm>
        </p:grpSpPr>
        <p:sp>
          <p:nvSpPr>
            <p:cNvPr id="235" name="Text Box 91">
              <a:extLst>
                <a:ext uri="{FF2B5EF4-FFF2-40B4-BE49-F238E27FC236}">
                  <a16:creationId xmlns:a16="http://schemas.microsoft.com/office/drawing/2014/main" id="{B93FA479-02A5-4C43-B059-3F1D0BB052E8}"/>
                </a:ext>
              </a:extLst>
            </p:cNvPr>
            <p:cNvSpPr txBox="1">
              <a:spLocks noChangeArrowheads="1"/>
            </p:cNvSpPr>
            <p:nvPr/>
          </p:nvSpPr>
          <p:spPr bwMode="auto">
            <a:xfrm>
              <a:off x="182" y="1616"/>
              <a:ext cx="649"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SYNSENT</a:t>
              </a:r>
            </a:p>
          </p:txBody>
        </p:sp>
        <p:sp>
          <p:nvSpPr>
            <p:cNvPr id="236" name="Line 103">
              <a:extLst>
                <a:ext uri="{FF2B5EF4-FFF2-40B4-BE49-F238E27FC236}">
                  <a16:creationId xmlns:a16="http://schemas.microsoft.com/office/drawing/2014/main" id="{C569F88B-55D7-1F45-9FD5-8D995E4C94A5}"/>
                </a:ext>
              </a:extLst>
            </p:cNvPr>
            <p:cNvSpPr>
              <a:spLocks noChangeShapeType="1"/>
            </p:cNvSpPr>
            <p:nvPr/>
          </p:nvSpPr>
          <p:spPr bwMode="auto">
            <a:xfrm>
              <a:off x="462" y="1387"/>
              <a:ext cx="0" cy="27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37" name="Group 111">
            <a:extLst>
              <a:ext uri="{FF2B5EF4-FFF2-40B4-BE49-F238E27FC236}">
                <a16:creationId xmlns:a16="http://schemas.microsoft.com/office/drawing/2014/main" id="{FBD3641B-4567-B84B-B0A9-51F31757E64D}"/>
              </a:ext>
            </a:extLst>
          </p:cNvPr>
          <p:cNvGrpSpPr>
            <a:grpSpLocks/>
          </p:cNvGrpSpPr>
          <p:nvPr/>
        </p:nvGrpSpPr>
        <p:grpSpPr bwMode="auto">
          <a:xfrm>
            <a:off x="1815306" y="3704136"/>
            <a:ext cx="771525" cy="1622425"/>
            <a:chOff x="183" y="1803"/>
            <a:chExt cx="486" cy="1022"/>
          </a:xfrm>
        </p:grpSpPr>
        <p:sp>
          <p:nvSpPr>
            <p:cNvPr id="238" name="Text Box 16">
              <a:extLst>
                <a:ext uri="{FF2B5EF4-FFF2-40B4-BE49-F238E27FC236}">
                  <a16:creationId xmlns:a16="http://schemas.microsoft.com/office/drawing/2014/main" id="{46A42911-E4FA-6E45-98D3-9BA61AF39351}"/>
                </a:ext>
              </a:extLst>
            </p:cNvPr>
            <p:cNvSpPr txBox="1">
              <a:spLocks noChangeArrowheads="1"/>
            </p:cNvSpPr>
            <p:nvPr/>
          </p:nvSpPr>
          <p:spPr bwMode="auto">
            <a:xfrm>
              <a:off x="183" y="2613"/>
              <a:ext cx="4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Tahoma" charset="0"/>
                  <a:ea typeface="ＭＳ Ｐゴシック" charset="0"/>
                  <a:cs typeface="+mn-cs"/>
                </a:rPr>
                <a:t>ESTAB</a:t>
              </a:r>
            </a:p>
          </p:txBody>
        </p:sp>
        <p:sp>
          <p:nvSpPr>
            <p:cNvPr id="239" name="Line 104">
              <a:extLst>
                <a:ext uri="{FF2B5EF4-FFF2-40B4-BE49-F238E27FC236}">
                  <a16:creationId xmlns:a16="http://schemas.microsoft.com/office/drawing/2014/main" id="{B764515C-528C-5B41-979E-CEB5F77FD9DC}"/>
                </a:ext>
              </a:extLst>
            </p:cNvPr>
            <p:cNvSpPr>
              <a:spLocks noChangeShapeType="1"/>
            </p:cNvSpPr>
            <p:nvPr/>
          </p:nvSpPr>
          <p:spPr bwMode="auto">
            <a:xfrm>
              <a:off x="465" y="1803"/>
              <a:ext cx="0" cy="79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40" name="Group 108">
            <a:extLst>
              <a:ext uri="{FF2B5EF4-FFF2-40B4-BE49-F238E27FC236}">
                <a16:creationId xmlns:a16="http://schemas.microsoft.com/office/drawing/2014/main" id="{E9975853-CA29-F64E-9978-90818E85074F}"/>
              </a:ext>
            </a:extLst>
          </p:cNvPr>
          <p:cNvGrpSpPr>
            <a:grpSpLocks/>
          </p:cNvGrpSpPr>
          <p:nvPr/>
        </p:nvGrpSpPr>
        <p:grpSpPr bwMode="auto">
          <a:xfrm>
            <a:off x="9268619" y="3099299"/>
            <a:ext cx="1119187" cy="1192212"/>
            <a:chOff x="4878" y="1422"/>
            <a:chExt cx="705" cy="751"/>
          </a:xfrm>
        </p:grpSpPr>
        <p:sp>
          <p:nvSpPr>
            <p:cNvPr id="241" name="Text Box 99">
              <a:extLst>
                <a:ext uri="{FF2B5EF4-FFF2-40B4-BE49-F238E27FC236}">
                  <a16:creationId xmlns:a16="http://schemas.microsoft.com/office/drawing/2014/main" id="{8F08BD14-4FFB-B243-AC1A-68FE85BE4E11}"/>
                </a:ext>
              </a:extLst>
            </p:cNvPr>
            <p:cNvSpPr txBox="1">
              <a:spLocks noChangeArrowheads="1"/>
            </p:cNvSpPr>
            <p:nvPr/>
          </p:nvSpPr>
          <p:spPr bwMode="auto">
            <a:xfrm>
              <a:off x="4878" y="1961"/>
              <a:ext cx="705"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SYN RCVD</a:t>
              </a:r>
            </a:p>
          </p:txBody>
        </p:sp>
        <p:sp>
          <p:nvSpPr>
            <p:cNvPr id="242" name="Line 106">
              <a:extLst>
                <a:ext uri="{FF2B5EF4-FFF2-40B4-BE49-F238E27FC236}">
                  <a16:creationId xmlns:a16="http://schemas.microsoft.com/office/drawing/2014/main" id="{0D6BD76C-B84A-F940-AC88-70ACC69EC6F4}"/>
                </a:ext>
              </a:extLst>
            </p:cNvPr>
            <p:cNvSpPr>
              <a:spLocks noChangeShapeType="1"/>
            </p:cNvSpPr>
            <p:nvPr/>
          </p:nvSpPr>
          <p:spPr bwMode="auto">
            <a:xfrm>
              <a:off x="5339" y="1422"/>
              <a:ext cx="0" cy="569"/>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43" name="Line 107">
            <a:extLst>
              <a:ext uri="{FF2B5EF4-FFF2-40B4-BE49-F238E27FC236}">
                <a16:creationId xmlns:a16="http://schemas.microsoft.com/office/drawing/2014/main" id="{28C3410E-FF26-2849-8647-5DA1E34B6C9E}"/>
              </a:ext>
            </a:extLst>
          </p:cNvPr>
          <p:cNvSpPr>
            <a:spLocks noChangeShapeType="1"/>
          </p:cNvSpPr>
          <p:nvPr/>
        </p:nvSpPr>
        <p:spPr bwMode="auto">
          <a:xfrm>
            <a:off x="9982994" y="4301036"/>
            <a:ext cx="0" cy="170497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5" name="Text Box 114">
            <a:extLst>
              <a:ext uri="{FF2B5EF4-FFF2-40B4-BE49-F238E27FC236}">
                <a16:creationId xmlns:a16="http://schemas.microsoft.com/office/drawing/2014/main" id="{A27DEC11-2958-674C-B587-49A38C649582}"/>
              </a:ext>
            </a:extLst>
          </p:cNvPr>
          <p:cNvSpPr txBox="1">
            <a:spLocks noChangeArrowheads="1"/>
          </p:cNvSpPr>
          <p:nvPr/>
        </p:nvSpPr>
        <p:spPr bwMode="auto">
          <a:xfrm>
            <a:off x="1395197" y="1675748"/>
            <a:ext cx="1839030" cy="7694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dirty="0">
                <a:ln>
                  <a:noFill/>
                </a:ln>
                <a:solidFill>
                  <a:srgbClr val="000099"/>
                </a:solidFill>
                <a:effectLst/>
                <a:uLnTx/>
                <a:uFillTx/>
                <a:latin typeface="Calibri"/>
                <a:ea typeface="ＭＳ Ｐゴシック" charset="0"/>
                <a:cs typeface="+mn-cs"/>
              </a:rPr>
              <a:t>C</a:t>
            </a:r>
            <a:r>
              <a:rPr kumimoji="0" lang="en-US" sz="2800" b="0" i="0" u="none" strike="noStrike" kern="0" cap="none" spc="0" normalizeH="0" baseline="0" noProof="0" dirty="0" err="1">
                <a:ln>
                  <a:noFill/>
                </a:ln>
                <a:solidFill>
                  <a:srgbClr val="000099"/>
                </a:solidFill>
                <a:effectLst/>
                <a:uLnTx/>
                <a:uFillTx/>
                <a:latin typeface="Calibri"/>
                <a:ea typeface="ＭＳ Ｐゴシック" charset="0"/>
                <a:cs typeface="+mn-cs"/>
              </a:rPr>
              <a:t>lient</a:t>
            </a:r>
            <a:r>
              <a:rPr kumimoji="0" lang="en-US" sz="2800" b="0" i="0" u="none" strike="noStrike" kern="0" cap="none" spc="0" normalizeH="0" baseline="0" noProof="0" dirty="0">
                <a:ln>
                  <a:noFill/>
                </a:ln>
                <a:solidFill>
                  <a:srgbClr val="000099"/>
                </a:solidFill>
                <a:effectLst/>
                <a:uLnTx/>
                <a:uFillTx/>
                <a:latin typeface="Calibri"/>
                <a:ea typeface="ＭＳ Ｐゴシック" charset="0"/>
                <a:cs typeface="+mn-cs"/>
              </a:rPr>
              <a:t> state</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1" u="none" strike="noStrike" kern="0" cap="none" spc="0" normalizeH="0" baseline="0" noProof="0" dirty="0">
              <a:ln>
                <a:noFill/>
              </a:ln>
              <a:solidFill>
                <a:srgbClr val="000099"/>
              </a:solidFill>
              <a:effectLst/>
              <a:uLnTx/>
              <a:uFillTx/>
              <a:latin typeface="Tahoma" charset="0"/>
              <a:ea typeface="ＭＳ Ｐゴシック" charset="0"/>
              <a:cs typeface="+mn-cs"/>
            </a:endParaRPr>
          </a:p>
        </p:txBody>
      </p:sp>
      <p:sp>
        <p:nvSpPr>
          <p:cNvPr id="246" name="Text Box 115">
            <a:extLst>
              <a:ext uri="{FF2B5EF4-FFF2-40B4-BE49-F238E27FC236}">
                <a16:creationId xmlns:a16="http://schemas.microsoft.com/office/drawing/2014/main" id="{052EAC19-09BF-FD44-ADF4-7A708D2CC77C}"/>
              </a:ext>
            </a:extLst>
          </p:cNvPr>
          <p:cNvSpPr txBox="1">
            <a:spLocks noChangeArrowheads="1"/>
          </p:cNvSpPr>
          <p:nvPr/>
        </p:nvSpPr>
        <p:spPr bwMode="auto">
          <a:xfrm>
            <a:off x="1807368" y="2389622"/>
            <a:ext cx="84296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LISTEN</a:t>
            </a:r>
          </a:p>
        </p:txBody>
      </p:sp>
      <p:sp>
        <p:nvSpPr>
          <p:cNvPr id="247" name="Text Box 116">
            <a:extLst>
              <a:ext uri="{FF2B5EF4-FFF2-40B4-BE49-F238E27FC236}">
                <a16:creationId xmlns:a16="http://schemas.microsoft.com/office/drawing/2014/main" id="{27C21C28-5638-8F4A-8A80-DBD146AD39D1}"/>
              </a:ext>
            </a:extLst>
          </p:cNvPr>
          <p:cNvSpPr txBox="1">
            <a:spLocks noChangeArrowheads="1"/>
          </p:cNvSpPr>
          <p:nvPr/>
        </p:nvSpPr>
        <p:spPr bwMode="auto">
          <a:xfrm>
            <a:off x="8905645" y="1081958"/>
            <a:ext cx="1930400" cy="7694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dirty="0">
                <a:ln>
                  <a:noFill/>
                </a:ln>
                <a:solidFill>
                  <a:srgbClr val="000099"/>
                </a:solidFill>
                <a:effectLst/>
                <a:uLnTx/>
                <a:uFillTx/>
                <a:latin typeface="Calibri"/>
                <a:ea typeface="ＭＳ Ｐゴシック" charset="0"/>
                <a:cs typeface="+mn-cs"/>
              </a:rPr>
              <a:t>S</a:t>
            </a:r>
            <a:r>
              <a:rPr kumimoji="0" lang="en-US" sz="2800" b="0" i="0" u="none" strike="noStrike" kern="0" cap="none" spc="0" normalizeH="0" baseline="0" noProof="0" dirty="0" err="1">
                <a:ln>
                  <a:noFill/>
                </a:ln>
                <a:solidFill>
                  <a:srgbClr val="000099"/>
                </a:solidFill>
                <a:effectLst/>
                <a:uLnTx/>
                <a:uFillTx/>
                <a:latin typeface="Calibri"/>
                <a:ea typeface="ＭＳ Ｐゴシック" charset="0"/>
                <a:cs typeface="+mn-cs"/>
              </a:rPr>
              <a:t>erver</a:t>
            </a:r>
            <a:r>
              <a:rPr kumimoji="0" lang="en-US" sz="2800" b="0" i="0" u="none" strike="noStrike" kern="0" cap="none" spc="0" normalizeH="0" baseline="0" noProof="0" dirty="0">
                <a:ln>
                  <a:noFill/>
                </a:ln>
                <a:solidFill>
                  <a:srgbClr val="000099"/>
                </a:solidFill>
                <a:effectLst/>
                <a:uLnTx/>
                <a:uFillTx/>
                <a:latin typeface="Calibri"/>
                <a:ea typeface="ＭＳ Ｐゴシック" charset="0"/>
                <a:cs typeface="+mn-cs"/>
              </a:rPr>
              <a:t> state</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1" u="none" strike="noStrike" kern="0" cap="none" spc="0" normalizeH="0" baseline="0" noProof="0" dirty="0">
              <a:ln>
                <a:noFill/>
              </a:ln>
              <a:solidFill>
                <a:srgbClr val="000099"/>
              </a:solidFill>
              <a:effectLst/>
              <a:uLnTx/>
              <a:uFillTx/>
              <a:latin typeface="Tahoma" charset="0"/>
              <a:ea typeface="ＭＳ Ｐゴシック" charset="0"/>
              <a:cs typeface="+mn-cs"/>
            </a:endParaRPr>
          </a:p>
        </p:txBody>
      </p:sp>
      <p:sp>
        <p:nvSpPr>
          <p:cNvPr id="248" name="Text Box 117">
            <a:extLst>
              <a:ext uri="{FF2B5EF4-FFF2-40B4-BE49-F238E27FC236}">
                <a16:creationId xmlns:a16="http://schemas.microsoft.com/office/drawing/2014/main" id="{2B920772-7698-6844-B114-A453A028C206}"/>
              </a:ext>
            </a:extLst>
          </p:cNvPr>
          <p:cNvSpPr txBox="1">
            <a:spLocks noChangeArrowheads="1"/>
          </p:cNvSpPr>
          <p:nvPr/>
        </p:nvSpPr>
        <p:spPr bwMode="auto">
          <a:xfrm>
            <a:off x="9511504" y="2632510"/>
            <a:ext cx="84296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LISTEN</a:t>
            </a:r>
          </a:p>
        </p:txBody>
      </p:sp>
      <p:grpSp>
        <p:nvGrpSpPr>
          <p:cNvPr id="249" name="Group 118">
            <a:extLst>
              <a:ext uri="{FF2B5EF4-FFF2-40B4-BE49-F238E27FC236}">
                <a16:creationId xmlns:a16="http://schemas.microsoft.com/office/drawing/2014/main" id="{EE14688C-F1C2-7F41-8726-D165159240FD}"/>
              </a:ext>
            </a:extLst>
          </p:cNvPr>
          <p:cNvGrpSpPr>
            <a:grpSpLocks/>
          </p:cNvGrpSpPr>
          <p:nvPr/>
        </p:nvGrpSpPr>
        <p:grpSpPr bwMode="auto">
          <a:xfrm>
            <a:off x="4464473" y="2492809"/>
            <a:ext cx="642937" cy="600075"/>
            <a:chOff x="-44" y="1473"/>
            <a:chExt cx="981" cy="1105"/>
          </a:xfrm>
        </p:grpSpPr>
        <p:pic>
          <p:nvPicPr>
            <p:cNvPr id="424" name="Picture 119" descr="desktop_computer_stylized_medium">
              <a:extLst>
                <a:ext uri="{FF2B5EF4-FFF2-40B4-BE49-F238E27FC236}">
                  <a16:creationId xmlns:a16="http://schemas.microsoft.com/office/drawing/2014/main" id="{1C11CA15-FEC8-A341-80F1-CFA1FA9F14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5" name="Freeform 120">
              <a:extLst>
                <a:ext uri="{FF2B5EF4-FFF2-40B4-BE49-F238E27FC236}">
                  <a16:creationId xmlns:a16="http://schemas.microsoft.com/office/drawing/2014/main" id="{8CCBA09D-3C96-6544-9960-AA2F6CD2F41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50" name="Group 121">
            <a:extLst>
              <a:ext uri="{FF2B5EF4-FFF2-40B4-BE49-F238E27FC236}">
                <a16:creationId xmlns:a16="http://schemas.microsoft.com/office/drawing/2014/main" id="{DC61BD1A-A71F-CF4B-B53E-5ECC0609FEB5}"/>
              </a:ext>
            </a:extLst>
          </p:cNvPr>
          <p:cNvGrpSpPr>
            <a:grpSpLocks/>
          </p:cNvGrpSpPr>
          <p:nvPr/>
        </p:nvGrpSpPr>
        <p:grpSpPr bwMode="auto">
          <a:xfrm>
            <a:off x="7221809" y="2580121"/>
            <a:ext cx="336550" cy="512763"/>
            <a:chOff x="4140" y="429"/>
            <a:chExt cx="1425" cy="2396"/>
          </a:xfrm>
        </p:grpSpPr>
        <p:sp>
          <p:nvSpPr>
            <p:cNvPr id="251" name="Freeform 122">
              <a:extLst>
                <a:ext uri="{FF2B5EF4-FFF2-40B4-BE49-F238E27FC236}">
                  <a16:creationId xmlns:a16="http://schemas.microsoft.com/office/drawing/2014/main" id="{0CD95998-3FB2-FF44-94A2-CC491B713340}"/>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2" name="Rectangle 123">
              <a:extLst>
                <a:ext uri="{FF2B5EF4-FFF2-40B4-BE49-F238E27FC236}">
                  <a16:creationId xmlns:a16="http://schemas.microsoft.com/office/drawing/2014/main" id="{BF76EB82-B4E1-B149-BE06-EFCD582E8676}"/>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3" name="Freeform 124">
              <a:extLst>
                <a:ext uri="{FF2B5EF4-FFF2-40B4-BE49-F238E27FC236}">
                  <a16:creationId xmlns:a16="http://schemas.microsoft.com/office/drawing/2014/main" id="{338FE797-056A-6E48-9B03-4B0253D638F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4" name="Freeform 125">
              <a:extLst>
                <a:ext uri="{FF2B5EF4-FFF2-40B4-BE49-F238E27FC236}">
                  <a16:creationId xmlns:a16="http://schemas.microsoft.com/office/drawing/2014/main" id="{8D12AA45-CFED-084A-B74C-A299F8140712}"/>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5" name="Rectangle 126">
              <a:extLst>
                <a:ext uri="{FF2B5EF4-FFF2-40B4-BE49-F238E27FC236}">
                  <a16:creationId xmlns:a16="http://schemas.microsoft.com/office/drawing/2014/main" id="{56E176FE-7110-C043-AC64-4C5F3D2E4792}"/>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56" name="Group 127">
              <a:extLst>
                <a:ext uri="{FF2B5EF4-FFF2-40B4-BE49-F238E27FC236}">
                  <a16:creationId xmlns:a16="http://schemas.microsoft.com/office/drawing/2014/main" id="{A3707B54-2470-3A4A-B09A-A776F4E8539D}"/>
                </a:ext>
              </a:extLst>
            </p:cNvPr>
            <p:cNvGrpSpPr>
              <a:grpSpLocks/>
            </p:cNvGrpSpPr>
            <p:nvPr/>
          </p:nvGrpSpPr>
          <p:grpSpPr bwMode="auto">
            <a:xfrm>
              <a:off x="4749" y="668"/>
              <a:ext cx="581" cy="145"/>
              <a:chOff x="614" y="2568"/>
              <a:chExt cx="725" cy="139"/>
            </a:xfrm>
          </p:grpSpPr>
          <p:sp>
            <p:nvSpPr>
              <p:cNvPr id="422" name="AutoShape 128">
                <a:extLst>
                  <a:ext uri="{FF2B5EF4-FFF2-40B4-BE49-F238E27FC236}">
                    <a16:creationId xmlns:a16="http://schemas.microsoft.com/office/drawing/2014/main" id="{C32686E6-B534-4B48-85B4-322123C24741}"/>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23" name="AutoShape 129">
                <a:extLst>
                  <a:ext uri="{FF2B5EF4-FFF2-40B4-BE49-F238E27FC236}">
                    <a16:creationId xmlns:a16="http://schemas.microsoft.com/office/drawing/2014/main" id="{5846C4C5-19DD-E040-A465-B55F5E21A75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57" name="Rectangle 130">
              <a:extLst>
                <a:ext uri="{FF2B5EF4-FFF2-40B4-BE49-F238E27FC236}">
                  <a16:creationId xmlns:a16="http://schemas.microsoft.com/office/drawing/2014/main" id="{E24E2E97-8AA8-D94D-B792-C58D1DB2D334}"/>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58" name="Group 131">
              <a:extLst>
                <a:ext uri="{FF2B5EF4-FFF2-40B4-BE49-F238E27FC236}">
                  <a16:creationId xmlns:a16="http://schemas.microsoft.com/office/drawing/2014/main" id="{01958DE7-9158-5C4A-975E-7090A73BD88C}"/>
                </a:ext>
              </a:extLst>
            </p:cNvPr>
            <p:cNvGrpSpPr>
              <a:grpSpLocks/>
            </p:cNvGrpSpPr>
            <p:nvPr/>
          </p:nvGrpSpPr>
          <p:grpSpPr bwMode="auto">
            <a:xfrm>
              <a:off x="4747" y="994"/>
              <a:ext cx="581" cy="134"/>
              <a:chOff x="614" y="2568"/>
              <a:chExt cx="725" cy="139"/>
            </a:xfrm>
          </p:grpSpPr>
          <p:sp>
            <p:nvSpPr>
              <p:cNvPr id="420" name="AutoShape 132">
                <a:extLst>
                  <a:ext uri="{FF2B5EF4-FFF2-40B4-BE49-F238E27FC236}">
                    <a16:creationId xmlns:a16="http://schemas.microsoft.com/office/drawing/2014/main" id="{0097250A-579E-714A-BB43-1775F7C45B3C}"/>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21" name="AutoShape 133">
                <a:extLst>
                  <a:ext uri="{FF2B5EF4-FFF2-40B4-BE49-F238E27FC236}">
                    <a16:creationId xmlns:a16="http://schemas.microsoft.com/office/drawing/2014/main" id="{011ECBC9-4E9D-9949-BBD3-4E72A731A813}"/>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59" name="Rectangle 134">
              <a:extLst>
                <a:ext uri="{FF2B5EF4-FFF2-40B4-BE49-F238E27FC236}">
                  <a16:creationId xmlns:a16="http://schemas.microsoft.com/office/drawing/2014/main" id="{52385C15-71CF-0646-85DA-481C87C2251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0" name="Rectangle 135">
              <a:extLst>
                <a:ext uri="{FF2B5EF4-FFF2-40B4-BE49-F238E27FC236}">
                  <a16:creationId xmlns:a16="http://schemas.microsoft.com/office/drawing/2014/main" id="{E9AFAD7D-A0FD-3344-8D9C-D21DB7BED2D3}"/>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61" name="Group 136">
              <a:extLst>
                <a:ext uri="{FF2B5EF4-FFF2-40B4-BE49-F238E27FC236}">
                  <a16:creationId xmlns:a16="http://schemas.microsoft.com/office/drawing/2014/main" id="{36701E94-39B0-BB4E-B8F9-B11ED62531B0}"/>
                </a:ext>
              </a:extLst>
            </p:cNvPr>
            <p:cNvGrpSpPr>
              <a:grpSpLocks/>
            </p:cNvGrpSpPr>
            <p:nvPr/>
          </p:nvGrpSpPr>
          <p:grpSpPr bwMode="auto">
            <a:xfrm>
              <a:off x="4735" y="1627"/>
              <a:ext cx="582" cy="151"/>
              <a:chOff x="614" y="2568"/>
              <a:chExt cx="725" cy="139"/>
            </a:xfrm>
          </p:grpSpPr>
          <p:sp>
            <p:nvSpPr>
              <p:cNvPr id="277" name="AutoShape 137">
                <a:extLst>
                  <a:ext uri="{FF2B5EF4-FFF2-40B4-BE49-F238E27FC236}">
                    <a16:creationId xmlns:a16="http://schemas.microsoft.com/office/drawing/2014/main" id="{2535A487-3992-6B4F-9D85-E297BC39036D}"/>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19" name="AutoShape 138">
                <a:extLst>
                  <a:ext uri="{FF2B5EF4-FFF2-40B4-BE49-F238E27FC236}">
                    <a16:creationId xmlns:a16="http://schemas.microsoft.com/office/drawing/2014/main" id="{C55E1D44-7480-0442-A9DA-330FF7250538}"/>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62" name="Freeform 139">
              <a:extLst>
                <a:ext uri="{FF2B5EF4-FFF2-40B4-BE49-F238E27FC236}">
                  <a16:creationId xmlns:a16="http://schemas.microsoft.com/office/drawing/2014/main" id="{56DA20E3-D49F-444E-8D21-F715762F02D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63" name="Group 140">
              <a:extLst>
                <a:ext uri="{FF2B5EF4-FFF2-40B4-BE49-F238E27FC236}">
                  <a16:creationId xmlns:a16="http://schemas.microsoft.com/office/drawing/2014/main" id="{350DC23D-91BA-0F49-A121-0BB6DA6FFB97}"/>
                </a:ext>
              </a:extLst>
            </p:cNvPr>
            <p:cNvGrpSpPr>
              <a:grpSpLocks/>
            </p:cNvGrpSpPr>
            <p:nvPr/>
          </p:nvGrpSpPr>
          <p:grpSpPr bwMode="auto">
            <a:xfrm>
              <a:off x="4739" y="1327"/>
              <a:ext cx="582" cy="139"/>
              <a:chOff x="614" y="2568"/>
              <a:chExt cx="725" cy="139"/>
            </a:xfrm>
          </p:grpSpPr>
          <p:sp>
            <p:nvSpPr>
              <p:cNvPr id="275" name="AutoShape 141">
                <a:extLst>
                  <a:ext uri="{FF2B5EF4-FFF2-40B4-BE49-F238E27FC236}">
                    <a16:creationId xmlns:a16="http://schemas.microsoft.com/office/drawing/2014/main" id="{B6F4CD24-7945-E141-8AE5-B72F07D79D0A}"/>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6" name="AutoShape 142">
                <a:extLst>
                  <a:ext uri="{FF2B5EF4-FFF2-40B4-BE49-F238E27FC236}">
                    <a16:creationId xmlns:a16="http://schemas.microsoft.com/office/drawing/2014/main" id="{A13F2C2E-8E50-C242-BBFA-276B4503978A}"/>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64" name="Rectangle 143">
              <a:extLst>
                <a:ext uri="{FF2B5EF4-FFF2-40B4-BE49-F238E27FC236}">
                  <a16:creationId xmlns:a16="http://schemas.microsoft.com/office/drawing/2014/main" id="{C95C6BF7-C7DF-FB4E-BCA1-1C5F3CF4748B}"/>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5" name="Freeform 144">
              <a:extLst>
                <a:ext uri="{FF2B5EF4-FFF2-40B4-BE49-F238E27FC236}">
                  <a16:creationId xmlns:a16="http://schemas.microsoft.com/office/drawing/2014/main" id="{E716E123-C485-CC44-A743-C9D7E94AF6B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6" name="Freeform 145">
              <a:extLst>
                <a:ext uri="{FF2B5EF4-FFF2-40B4-BE49-F238E27FC236}">
                  <a16:creationId xmlns:a16="http://schemas.microsoft.com/office/drawing/2014/main" id="{8B36D081-D3B9-D34B-91B2-079B05D0914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7" name="Oval 146">
              <a:extLst>
                <a:ext uri="{FF2B5EF4-FFF2-40B4-BE49-F238E27FC236}">
                  <a16:creationId xmlns:a16="http://schemas.microsoft.com/office/drawing/2014/main" id="{B32C0505-6B5E-5B45-9C22-ABAD0452C43F}"/>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8" name="Freeform 147">
              <a:extLst>
                <a:ext uri="{FF2B5EF4-FFF2-40B4-BE49-F238E27FC236}">
                  <a16:creationId xmlns:a16="http://schemas.microsoft.com/office/drawing/2014/main" id="{30177E53-587A-9B45-9ECD-611B7CEB1E04}"/>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9" name="AutoShape 148">
              <a:extLst>
                <a:ext uri="{FF2B5EF4-FFF2-40B4-BE49-F238E27FC236}">
                  <a16:creationId xmlns:a16="http://schemas.microsoft.com/office/drawing/2014/main" id="{0DA2D2A9-124E-EB41-86B5-909A794DF763}"/>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0" name="AutoShape 149">
              <a:extLst>
                <a:ext uri="{FF2B5EF4-FFF2-40B4-BE49-F238E27FC236}">
                  <a16:creationId xmlns:a16="http://schemas.microsoft.com/office/drawing/2014/main" id="{CA5FFC73-D7D9-D240-94B8-900F51AC0C7D}"/>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1" name="Oval 150">
              <a:extLst>
                <a:ext uri="{FF2B5EF4-FFF2-40B4-BE49-F238E27FC236}">
                  <a16:creationId xmlns:a16="http://schemas.microsoft.com/office/drawing/2014/main" id="{EFC35150-3347-7042-80EB-A8781A361256}"/>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2" name="Oval 151">
              <a:extLst>
                <a:ext uri="{FF2B5EF4-FFF2-40B4-BE49-F238E27FC236}">
                  <a16:creationId xmlns:a16="http://schemas.microsoft.com/office/drawing/2014/main" id="{EA2EA724-2820-AE47-8D84-09E997A6DDAA}"/>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73" name="Oval 152">
              <a:extLst>
                <a:ext uri="{FF2B5EF4-FFF2-40B4-BE49-F238E27FC236}">
                  <a16:creationId xmlns:a16="http://schemas.microsoft.com/office/drawing/2014/main" id="{27B270D9-EE2B-924F-8F2A-27B9EB6ABE98}"/>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4" name="Rectangle 153">
              <a:extLst>
                <a:ext uri="{FF2B5EF4-FFF2-40B4-BE49-F238E27FC236}">
                  <a16:creationId xmlns:a16="http://schemas.microsoft.com/office/drawing/2014/main" id="{689F1C5E-1D85-0243-9E5E-0ABE340F97D1}"/>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74" name="Text Box 13">
            <a:extLst>
              <a:ext uri="{FF2B5EF4-FFF2-40B4-BE49-F238E27FC236}">
                <a16:creationId xmlns:a16="http://schemas.microsoft.com/office/drawing/2014/main" id="{5C657586-8C26-7645-A308-A162DA1C735B}"/>
              </a:ext>
            </a:extLst>
          </p:cNvPr>
          <p:cNvSpPr txBox="1">
            <a:spLocks noChangeArrowheads="1"/>
          </p:cNvSpPr>
          <p:nvPr/>
        </p:nvSpPr>
        <p:spPr bwMode="auto">
          <a:xfrm>
            <a:off x="374662" y="2181018"/>
            <a:ext cx="4209864" cy="261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1200" b="0" i="0" u="none" strike="noStrike" kern="1200" cap="none" spc="0" normalizeH="0" baseline="0" noProof="0" dirty="0" err="1">
                <a:ln>
                  <a:noFill/>
                </a:ln>
                <a:solidFill>
                  <a:prstClr val="black"/>
                </a:solidFill>
                <a:effectLst/>
                <a:uLnTx/>
                <a:uFillTx/>
                <a:latin typeface="Courier Std" panose="02070409020205020404" pitchFamily="49" charset="77"/>
                <a:ea typeface="ＭＳ Ｐゴシック" panose="020B0600070205080204" pitchFamily="34" charset="-128"/>
                <a:cs typeface="+mn-cs"/>
              </a:rPr>
              <a:t>clientSocket</a:t>
            </a: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 = socket(AF_INET, SOCK_STREAM)</a:t>
            </a:r>
          </a:p>
        </p:txBody>
      </p:sp>
      <p:sp>
        <p:nvSpPr>
          <p:cNvPr id="75" name="Text Box 5">
            <a:extLst>
              <a:ext uri="{FF2B5EF4-FFF2-40B4-BE49-F238E27FC236}">
                <a16:creationId xmlns:a16="http://schemas.microsoft.com/office/drawing/2014/main" id="{1D57F3DF-BFA3-284D-8B9A-ADD3873D3BB3}"/>
              </a:ext>
            </a:extLst>
          </p:cNvPr>
          <p:cNvSpPr txBox="1">
            <a:spLocks noChangeArrowheads="1"/>
          </p:cNvSpPr>
          <p:nvPr/>
        </p:nvSpPr>
        <p:spPr bwMode="auto">
          <a:xfrm>
            <a:off x="7821898" y="1651172"/>
            <a:ext cx="4461478"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err="1">
                <a:ln>
                  <a:noFill/>
                </a:ln>
                <a:solidFill>
                  <a:prstClr val="black"/>
                </a:solidFill>
                <a:effectLst/>
                <a:uLnTx/>
                <a:uFillTx/>
                <a:latin typeface="Courier Std" panose="02070409020205020404" pitchFamily="49" charset="77"/>
                <a:ea typeface="ＭＳ Ｐゴシック" panose="020B0600070205080204" pitchFamily="34" charset="-128"/>
                <a:cs typeface="+mn-cs"/>
              </a:rPr>
              <a:t>serverSocket</a:t>
            </a: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 = socket(AF_INET,SOCK_STREAM)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err="1">
                <a:ln>
                  <a:noFill/>
                </a:ln>
                <a:solidFill>
                  <a:prstClr val="black"/>
                </a:solidFill>
                <a:effectLst/>
                <a:uLnTx/>
                <a:uFillTx/>
                <a:latin typeface="Courier Std" panose="02070409020205020404" pitchFamily="49" charset="77"/>
                <a:ea typeface="ＭＳ Ｐゴシック" panose="020B0600070205080204" pitchFamily="34" charset="-128"/>
                <a:cs typeface="+mn-cs"/>
              </a:rPr>
              <a:t>serverSocket.bind</a:t>
            </a: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a:t>
            </a:r>
            <a:r>
              <a:rPr kumimoji="0" lang="en-US" altLang="en-US" sz="1200" b="0" i="0" u="none" strike="noStrike" kern="1200" cap="none" spc="0" normalizeH="0" baseline="0" noProof="0" dirty="0" err="1">
                <a:ln>
                  <a:noFill/>
                </a:ln>
                <a:solidFill>
                  <a:prstClr val="black"/>
                </a:solidFill>
                <a:effectLst/>
                <a:uLnTx/>
                <a:uFillTx/>
                <a:latin typeface="Courier Std" panose="02070409020205020404" pitchFamily="49" charset="77"/>
                <a:ea typeface="ＭＳ Ｐゴシック" panose="020B0600070205080204" pitchFamily="34" charset="-128"/>
                <a:cs typeface="+mn-cs"/>
              </a:rPr>
              <a:t>serverPort</a:t>
            </a: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err="1">
                <a:ln>
                  <a:noFill/>
                </a:ln>
                <a:solidFill>
                  <a:prstClr val="black"/>
                </a:solidFill>
                <a:effectLst/>
                <a:uLnTx/>
                <a:uFillTx/>
                <a:latin typeface="Courier Std" panose="02070409020205020404" pitchFamily="49" charset="77"/>
                <a:ea typeface="ＭＳ Ｐゴシック" panose="020B0600070205080204" pitchFamily="34" charset="-128"/>
                <a:cs typeface="+mn-cs"/>
              </a:rPr>
              <a:t>serverSocket.listen</a:t>
            </a: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err="1">
                <a:ln>
                  <a:noFill/>
                </a:ln>
                <a:solidFill>
                  <a:prstClr val="black"/>
                </a:solidFill>
                <a:effectLst/>
                <a:uLnTx/>
                <a:uFillTx/>
                <a:latin typeface="Courier Std" panose="02070409020205020404" pitchFamily="49" charset="77"/>
                <a:ea typeface="ＭＳ Ｐゴシック" panose="020B0600070205080204" pitchFamily="34" charset="-128"/>
                <a:cs typeface="+mn-cs"/>
              </a:rPr>
              <a:t>connectionSocket</a:t>
            </a: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 </a:t>
            </a:r>
            <a:r>
              <a:rPr kumimoji="0" lang="en-US" altLang="en-US" sz="1200" b="0" i="0" u="none" strike="noStrike" kern="1200" cap="none" spc="0" normalizeH="0" baseline="0" noProof="0" dirty="0" err="1">
                <a:ln>
                  <a:noFill/>
                </a:ln>
                <a:solidFill>
                  <a:prstClr val="black"/>
                </a:solidFill>
                <a:effectLst/>
                <a:uLnTx/>
                <a:uFillTx/>
                <a:latin typeface="Courier Std" panose="02070409020205020404" pitchFamily="49" charset="77"/>
                <a:ea typeface="ＭＳ Ｐゴシック" panose="020B0600070205080204" pitchFamily="34" charset="-128"/>
                <a:cs typeface="+mn-cs"/>
              </a:rPr>
              <a:t>addr</a:t>
            </a: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 = </a:t>
            </a:r>
            <a:r>
              <a:rPr kumimoji="0" lang="en-US" altLang="en-US" sz="1200" b="0" i="0" u="none" strike="noStrike" kern="1200" cap="none" spc="0" normalizeH="0" baseline="0" noProof="0" dirty="0" err="1">
                <a:ln>
                  <a:noFill/>
                </a:ln>
                <a:solidFill>
                  <a:prstClr val="black"/>
                </a:solidFill>
                <a:effectLst/>
                <a:uLnTx/>
                <a:uFillTx/>
                <a:latin typeface="Courier Std" panose="02070409020205020404" pitchFamily="49" charset="77"/>
                <a:ea typeface="ＭＳ Ｐゴシック" panose="020B0600070205080204" pitchFamily="34" charset="-128"/>
                <a:cs typeface="+mn-cs"/>
              </a:rPr>
              <a:t>serverSocket.accept</a:t>
            </a: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77" name="Text Box 13">
            <a:extLst>
              <a:ext uri="{FF2B5EF4-FFF2-40B4-BE49-F238E27FC236}">
                <a16:creationId xmlns:a16="http://schemas.microsoft.com/office/drawing/2014/main" id="{85BB3488-0F19-2446-9F3D-0FF3F2E5F4DB}"/>
              </a:ext>
            </a:extLst>
          </p:cNvPr>
          <p:cNvSpPr txBox="1">
            <a:spLocks noChangeArrowheads="1"/>
          </p:cNvSpPr>
          <p:nvPr/>
        </p:nvSpPr>
        <p:spPr bwMode="auto">
          <a:xfrm>
            <a:off x="276543" y="2694832"/>
            <a:ext cx="4433244" cy="263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1200" b="0" i="0" u="none" strike="noStrike" kern="1200" cap="none" spc="0" normalizeH="0" baseline="0" noProof="0" dirty="0" err="1">
                <a:ln>
                  <a:noFill/>
                </a:ln>
                <a:solidFill>
                  <a:prstClr val="black"/>
                </a:solidFill>
                <a:effectLst/>
                <a:uLnTx/>
                <a:uFillTx/>
                <a:latin typeface="Courier Std" panose="02070409020205020404" pitchFamily="49" charset="77"/>
                <a:ea typeface="ＭＳ Ｐゴシック" panose="020B0600070205080204" pitchFamily="34" charset="-128"/>
                <a:cs typeface="+mn-cs"/>
              </a:rPr>
              <a:t>clientSocket.connect</a:t>
            </a: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a:t>
            </a:r>
            <a:r>
              <a:rPr kumimoji="0" lang="en-US" altLang="en-US" sz="1200" b="0" i="0" u="none" strike="noStrike" kern="1200" cap="none" spc="0" normalizeH="0" baseline="0" noProof="0" dirty="0" err="1">
                <a:ln>
                  <a:noFill/>
                </a:ln>
                <a:solidFill>
                  <a:prstClr val="black"/>
                </a:solidFill>
                <a:effectLst/>
                <a:uLnTx/>
                <a:uFillTx/>
                <a:latin typeface="Courier Std" panose="02070409020205020404" pitchFamily="49" charset="77"/>
                <a:ea typeface="ＭＳ Ｐゴシック" panose="020B0600070205080204" pitchFamily="34" charset="-128"/>
                <a:cs typeface="+mn-cs"/>
              </a:rPr>
              <a:t>serverName,serverPort</a:t>
            </a: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a:t>
            </a:r>
          </a:p>
        </p:txBody>
      </p:sp>
      <p:sp>
        <p:nvSpPr>
          <p:cNvPr id="76" name="Slide Number Placeholder 2">
            <a:extLst>
              <a:ext uri="{FF2B5EF4-FFF2-40B4-BE49-F238E27FC236}">
                <a16:creationId xmlns:a16="http://schemas.microsoft.com/office/drawing/2014/main" id="{86E89225-4B9A-C747-8672-752709ED8105}"/>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41</a:t>
            </a:fld>
            <a:endParaRPr lang="en-US" dirty="0"/>
          </a:p>
        </p:txBody>
      </p:sp>
    </p:spTree>
    <p:extLst>
      <p:ext uri="{BB962C8B-B14F-4D97-AF65-F5344CB8AC3E}">
        <p14:creationId xmlns:p14="http://schemas.microsoft.com/office/powerpoint/2010/main" val="104233165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6"/>
                                        </p:tgtEl>
                                        <p:attrNameLst>
                                          <p:attrName>style.visibility</p:attrName>
                                        </p:attrNameLst>
                                      </p:cBhvr>
                                      <p:to>
                                        <p:strVal val="visible"/>
                                      </p:to>
                                    </p:set>
                                    <p:animEffect transition="in" filter="wipe(left)">
                                      <p:cBhvr>
                                        <p:cTn id="7" dur="500"/>
                                        <p:tgtEl>
                                          <p:spTgt spid="216"/>
                                        </p:tgtEl>
                                      </p:cBhvr>
                                    </p:animEffect>
                                  </p:childTnLst>
                                </p:cTn>
                              </p:par>
                              <p:par>
                                <p:cTn id="8" presetID="22" presetClass="entr" presetSubtype="1" fill="hold" nodeType="withEffect">
                                  <p:stCondLst>
                                    <p:cond delay="0"/>
                                  </p:stCondLst>
                                  <p:childTnLst>
                                    <p:set>
                                      <p:cBhvr>
                                        <p:cTn id="9" dur="1" fill="hold">
                                          <p:stCondLst>
                                            <p:cond delay="0"/>
                                          </p:stCondLst>
                                        </p:cTn>
                                        <p:tgtEl>
                                          <p:spTgt spid="234"/>
                                        </p:tgtEl>
                                        <p:attrNameLst>
                                          <p:attrName>style.visibility</p:attrName>
                                        </p:attrNameLst>
                                      </p:cBhvr>
                                      <p:to>
                                        <p:strVal val="visible"/>
                                      </p:to>
                                    </p:set>
                                    <p:animEffect transition="in" filter="wipe(up)">
                                      <p:cBhvr>
                                        <p:cTn id="10" dur="500"/>
                                        <p:tgtEl>
                                          <p:spTgt spid="23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7"/>
                                        </p:tgtEl>
                                        <p:attrNameLst>
                                          <p:attrName>style.visibility</p:attrName>
                                        </p:attrNameLst>
                                      </p:cBhvr>
                                      <p:to>
                                        <p:strVal val="visible"/>
                                      </p:to>
                                    </p:set>
                                    <p:animEffect transition="in" filter="dissolve">
                                      <p:cBhvr>
                                        <p:cTn id="13" dur="500"/>
                                        <p:tgtEl>
                                          <p:spTgt spid="7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240"/>
                                        </p:tgtEl>
                                        <p:attrNameLst>
                                          <p:attrName>style.visibility</p:attrName>
                                        </p:attrNameLst>
                                      </p:cBhvr>
                                      <p:to>
                                        <p:strVal val="visible"/>
                                      </p:to>
                                    </p:set>
                                    <p:animEffect transition="in" filter="wipe(up)">
                                      <p:cBhvr>
                                        <p:cTn id="18" dur="500"/>
                                        <p:tgtEl>
                                          <p:spTgt spid="240"/>
                                        </p:tgtEl>
                                      </p:cBhvr>
                                    </p:animEffect>
                                  </p:childTnLst>
                                </p:cTn>
                              </p:par>
                              <p:par>
                                <p:cTn id="19" presetID="22" presetClass="entr" presetSubtype="2" fill="hold" nodeType="withEffect">
                                  <p:stCondLst>
                                    <p:cond delay="0"/>
                                  </p:stCondLst>
                                  <p:childTnLst>
                                    <p:set>
                                      <p:cBhvr>
                                        <p:cTn id="20" dur="1" fill="hold">
                                          <p:stCondLst>
                                            <p:cond delay="0"/>
                                          </p:stCondLst>
                                        </p:cTn>
                                        <p:tgtEl>
                                          <p:spTgt spid="223"/>
                                        </p:tgtEl>
                                        <p:attrNameLst>
                                          <p:attrName>style.visibility</p:attrName>
                                        </p:attrNameLst>
                                      </p:cBhvr>
                                      <p:to>
                                        <p:strVal val="visible"/>
                                      </p:to>
                                    </p:set>
                                    <p:animEffect transition="in" filter="wipe(right)">
                                      <p:cBhvr>
                                        <p:cTn id="21" dur="500"/>
                                        <p:tgtEl>
                                          <p:spTgt spid="22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28"/>
                                        </p:tgtEl>
                                        <p:attrNameLst>
                                          <p:attrName>style.visibility</p:attrName>
                                        </p:attrNameLst>
                                      </p:cBhvr>
                                      <p:to>
                                        <p:strVal val="visible"/>
                                      </p:to>
                                    </p:set>
                                    <p:animEffect transition="in" filter="wipe(left)">
                                      <p:cBhvr>
                                        <p:cTn id="26" dur="500"/>
                                        <p:tgtEl>
                                          <p:spTgt spid="228"/>
                                        </p:tgtEl>
                                      </p:cBhvr>
                                    </p:animEffect>
                                  </p:childTnLst>
                                </p:cTn>
                              </p:par>
                              <p:par>
                                <p:cTn id="27" presetID="22" presetClass="entr" presetSubtype="1" fill="hold" nodeType="withEffect">
                                  <p:stCondLst>
                                    <p:cond delay="0"/>
                                  </p:stCondLst>
                                  <p:childTnLst>
                                    <p:set>
                                      <p:cBhvr>
                                        <p:cTn id="28" dur="1" fill="hold">
                                          <p:stCondLst>
                                            <p:cond delay="0"/>
                                          </p:stCondLst>
                                        </p:cTn>
                                        <p:tgtEl>
                                          <p:spTgt spid="237"/>
                                        </p:tgtEl>
                                        <p:attrNameLst>
                                          <p:attrName>style.visibility</p:attrName>
                                        </p:attrNameLst>
                                      </p:cBhvr>
                                      <p:to>
                                        <p:strVal val="visible"/>
                                      </p:to>
                                    </p:set>
                                    <p:animEffect transition="in" filter="wipe(up)">
                                      <p:cBhvr>
                                        <p:cTn id="29" dur="500"/>
                                        <p:tgtEl>
                                          <p:spTgt spid="237"/>
                                        </p:tgtEl>
                                      </p:cBhvr>
                                    </p:animEffect>
                                  </p:childTnLst>
                                </p:cTn>
                              </p:par>
                            </p:childTnLst>
                          </p:cTn>
                        </p:par>
                        <p:par>
                          <p:cTn id="30" fill="hold">
                            <p:stCondLst>
                              <p:cond delay="500"/>
                            </p:stCondLst>
                            <p:childTnLst>
                              <p:par>
                                <p:cTn id="31" presetID="22" presetClass="entr" presetSubtype="1" fill="hold" grpId="0" nodeType="afterEffect">
                                  <p:stCondLst>
                                    <p:cond delay="0"/>
                                  </p:stCondLst>
                                  <p:childTnLst>
                                    <p:set>
                                      <p:cBhvr>
                                        <p:cTn id="32" dur="1" fill="hold">
                                          <p:stCondLst>
                                            <p:cond delay="0"/>
                                          </p:stCondLst>
                                        </p:cTn>
                                        <p:tgtEl>
                                          <p:spTgt spid="222"/>
                                        </p:tgtEl>
                                        <p:attrNameLst>
                                          <p:attrName>style.visibility</p:attrName>
                                        </p:attrNameLst>
                                      </p:cBhvr>
                                      <p:to>
                                        <p:strVal val="visible"/>
                                      </p:to>
                                    </p:set>
                                    <p:animEffect transition="in" filter="wipe(up)">
                                      <p:cBhvr>
                                        <p:cTn id="33" dur="500"/>
                                        <p:tgtEl>
                                          <p:spTgt spid="222"/>
                                        </p:tgtEl>
                                      </p:cBhvr>
                                    </p:animEffect>
                                  </p:childTnLst>
                                </p:cTn>
                              </p:par>
                              <p:par>
                                <p:cTn id="34" presetID="22" presetClass="entr" presetSubtype="1" fill="hold" nodeType="withEffect">
                                  <p:stCondLst>
                                    <p:cond delay="0"/>
                                  </p:stCondLst>
                                  <p:childTnLst>
                                    <p:set>
                                      <p:cBhvr>
                                        <p:cTn id="35" dur="1" fill="hold">
                                          <p:stCondLst>
                                            <p:cond delay="0"/>
                                          </p:stCondLst>
                                        </p:cTn>
                                        <p:tgtEl>
                                          <p:spTgt spid="243"/>
                                        </p:tgtEl>
                                        <p:attrNameLst>
                                          <p:attrName>style.visibility</p:attrName>
                                        </p:attrNameLst>
                                      </p:cBhvr>
                                      <p:to>
                                        <p:strVal val="visible"/>
                                      </p:to>
                                    </p:set>
                                    <p:animEffect transition="in" filter="wipe(up)">
                                      <p:cBhvr>
                                        <p:cTn id="36" dur="5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 grpId="0"/>
      <p:bldP spid="7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A human 3-way handshake protocol</a:t>
            </a:r>
            <a:endParaRPr lang="en-US" sz="4400" b="0" dirty="0"/>
          </a:p>
        </p:txBody>
      </p:sp>
      <p:pic>
        <p:nvPicPr>
          <p:cNvPr id="4" name="Picture 3" descr="A pile of snow&#10;&#10;Description automatically generated">
            <a:extLst>
              <a:ext uri="{FF2B5EF4-FFF2-40B4-BE49-F238E27FC236}">
                <a16:creationId xmlns:a16="http://schemas.microsoft.com/office/drawing/2014/main" id="{E63D2048-06F6-874E-A18A-05CFDA61C6A2}"/>
              </a:ext>
            </a:extLst>
          </p:cNvPr>
          <p:cNvPicPr>
            <a:picLocks noChangeAspect="1"/>
          </p:cNvPicPr>
          <p:nvPr/>
        </p:nvPicPr>
        <p:blipFill>
          <a:blip r:embed="rId3"/>
          <a:stretch>
            <a:fillRect/>
          </a:stretch>
        </p:blipFill>
        <p:spPr>
          <a:xfrm>
            <a:off x="1750251" y="1530219"/>
            <a:ext cx="8358252" cy="5472528"/>
          </a:xfrm>
          <a:prstGeom prst="rect">
            <a:avLst/>
          </a:prstGeom>
        </p:spPr>
      </p:pic>
      <p:grpSp>
        <p:nvGrpSpPr>
          <p:cNvPr id="9" name="Group 8">
            <a:extLst>
              <a:ext uri="{FF2B5EF4-FFF2-40B4-BE49-F238E27FC236}">
                <a16:creationId xmlns:a16="http://schemas.microsoft.com/office/drawing/2014/main" id="{3F1282CE-CF66-EE4E-B4A8-587BD1E81F39}"/>
              </a:ext>
            </a:extLst>
          </p:cNvPr>
          <p:cNvGrpSpPr/>
          <p:nvPr/>
        </p:nvGrpSpPr>
        <p:grpSpPr>
          <a:xfrm>
            <a:off x="6538586" y="2065751"/>
            <a:ext cx="1730667" cy="612648"/>
            <a:chOff x="6538586" y="2065751"/>
            <a:chExt cx="1730667" cy="612648"/>
          </a:xfrm>
        </p:grpSpPr>
        <p:sp>
          <p:nvSpPr>
            <p:cNvPr id="5" name="Rounded Rectangular Callout 4">
              <a:extLst>
                <a:ext uri="{FF2B5EF4-FFF2-40B4-BE49-F238E27FC236}">
                  <a16:creationId xmlns:a16="http://schemas.microsoft.com/office/drawing/2014/main" id="{3CAF74F1-7DAE-DA49-A56B-F6F58EAC0B3D}"/>
                </a:ext>
              </a:extLst>
            </p:cNvPr>
            <p:cNvSpPr/>
            <p:nvPr/>
          </p:nvSpPr>
          <p:spPr>
            <a:xfrm>
              <a:off x="6551111" y="2065751"/>
              <a:ext cx="1672748" cy="612648"/>
            </a:xfrm>
            <a:prstGeom prst="wedgeRoundRectCallout">
              <a:avLst>
                <a:gd name="adj1" fmla="val 54830"/>
                <a:gd name="adj2" fmla="val 429311"/>
                <a:gd name="adj3" fmla="val 16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1EBBA823-6C58-6A44-A2FF-F652E9B2671F}"/>
                </a:ext>
              </a:extLst>
            </p:cNvPr>
            <p:cNvSpPr txBox="1"/>
            <p:nvPr/>
          </p:nvSpPr>
          <p:spPr>
            <a:xfrm>
              <a:off x="6538586" y="2153433"/>
              <a:ext cx="173066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1. On belay?</a:t>
              </a:r>
            </a:p>
          </p:txBody>
        </p:sp>
      </p:grpSp>
      <p:sp>
        <p:nvSpPr>
          <p:cNvPr id="7" name="Rectangle 6">
            <a:extLst>
              <a:ext uri="{FF2B5EF4-FFF2-40B4-BE49-F238E27FC236}">
                <a16:creationId xmlns:a16="http://schemas.microsoft.com/office/drawing/2014/main" id="{CB827F8F-A1CF-B74C-ACC4-ECEAAE61D0B0}"/>
              </a:ext>
            </a:extLst>
          </p:cNvPr>
          <p:cNvSpPr/>
          <p:nvPr/>
        </p:nvSpPr>
        <p:spPr>
          <a:xfrm>
            <a:off x="1640908" y="5812076"/>
            <a:ext cx="10459233" cy="12776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0" name="Group 9">
            <a:extLst>
              <a:ext uri="{FF2B5EF4-FFF2-40B4-BE49-F238E27FC236}">
                <a16:creationId xmlns:a16="http://schemas.microsoft.com/office/drawing/2014/main" id="{305210F9-A841-2C44-B9F0-E355CF305198}"/>
              </a:ext>
            </a:extLst>
          </p:cNvPr>
          <p:cNvGrpSpPr/>
          <p:nvPr/>
        </p:nvGrpSpPr>
        <p:grpSpPr>
          <a:xfrm>
            <a:off x="5814165" y="3280776"/>
            <a:ext cx="1672748" cy="612648"/>
            <a:chOff x="5814165" y="3280776"/>
            <a:chExt cx="1672748" cy="612648"/>
          </a:xfrm>
        </p:grpSpPr>
        <p:sp>
          <p:nvSpPr>
            <p:cNvPr id="78" name="Rounded Rectangular Callout 77">
              <a:extLst>
                <a:ext uri="{FF2B5EF4-FFF2-40B4-BE49-F238E27FC236}">
                  <a16:creationId xmlns:a16="http://schemas.microsoft.com/office/drawing/2014/main" id="{C4B444F3-2C14-474E-8B61-1E282DE03385}"/>
                </a:ext>
              </a:extLst>
            </p:cNvPr>
            <p:cNvSpPr/>
            <p:nvPr/>
          </p:nvSpPr>
          <p:spPr>
            <a:xfrm>
              <a:off x="5814165" y="3280776"/>
              <a:ext cx="1672748" cy="612648"/>
            </a:xfrm>
            <a:prstGeom prst="wedgeRoundRectCallout">
              <a:avLst>
                <a:gd name="adj1" fmla="val -120395"/>
                <a:gd name="adj2" fmla="val -120679"/>
                <a:gd name="adj3" fmla="val 16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9" name="TextBox 78">
              <a:extLst>
                <a:ext uri="{FF2B5EF4-FFF2-40B4-BE49-F238E27FC236}">
                  <a16:creationId xmlns:a16="http://schemas.microsoft.com/office/drawing/2014/main" id="{7B59616D-98BC-2340-969B-E8EFA3D4DA5A}"/>
                </a:ext>
              </a:extLst>
            </p:cNvPr>
            <p:cNvSpPr txBox="1"/>
            <p:nvPr/>
          </p:nvSpPr>
          <p:spPr>
            <a:xfrm>
              <a:off x="5826690" y="3332968"/>
              <a:ext cx="162807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2. Belay on.</a:t>
              </a:r>
            </a:p>
          </p:txBody>
        </p:sp>
      </p:grpSp>
      <p:grpSp>
        <p:nvGrpSpPr>
          <p:cNvPr id="11" name="Group 10">
            <a:extLst>
              <a:ext uri="{FF2B5EF4-FFF2-40B4-BE49-F238E27FC236}">
                <a16:creationId xmlns:a16="http://schemas.microsoft.com/office/drawing/2014/main" id="{E943AF12-B0EB-4F44-91E7-681492934EEA}"/>
              </a:ext>
            </a:extLst>
          </p:cNvPr>
          <p:cNvGrpSpPr/>
          <p:nvPr/>
        </p:nvGrpSpPr>
        <p:grpSpPr>
          <a:xfrm>
            <a:off x="8321457" y="3646119"/>
            <a:ext cx="1695712" cy="612648"/>
            <a:chOff x="8321457" y="3646119"/>
            <a:chExt cx="1695712" cy="612648"/>
          </a:xfrm>
        </p:grpSpPr>
        <p:sp>
          <p:nvSpPr>
            <p:cNvPr id="80" name="Rounded Rectangular Callout 79">
              <a:extLst>
                <a:ext uri="{FF2B5EF4-FFF2-40B4-BE49-F238E27FC236}">
                  <a16:creationId xmlns:a16="http://schemas.microsoft.com/office/drawing/2014/main" id="{8B23EB90-C1E0-D44A-8B27-62175510872C}"/>
                </a:ext>
              </a:extLst>
            </p:cNvPr>
            <p:cNvSpPr/>
            <p:nvPr/>
          </p:nvSpPr>
          <p:spPr>
            <a:xfrm>
              <a:off x="8344421" y="3646119"/>
              <a:ext cx="1672748" cy="612648"/>
            </a:xfrm>
            <a:prstGeom prst="wedgeRoundRectCallout">
              <a:avLst>
                <a:gd name="adj1" fmla="val -44764"/>
                <a:gd name="adj2" fmla="val 169650"/>
                <a:gd name="adj3" fmla="val 16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1" name="TextBox 80">
              <a:extLst>
                <a:ext uri="{FF2B5EF4-FFF2-40B4-BE49-F238E27FC236}">
                  <a16:creationId xmlns:a16="http://schemas.microsoft.com/office/drawing/2014/main" id="{35F183B7-733D-694A-B964-309D0B0097B1}"/>
                </a:ext>
              </a:extLst>
            </p:cNvPr>
            <p:cNvSpPr txBox="1"/>
            <p:nvPr/>
          </p:nvSpPr>
          <p:spPr>
            <a:xfrm>
              <a:off x="8321457" y="3710836"/>
              <a:ext cx="165141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3. Climbing.</a:t>
              </a:r>
            </a:p>
          </p:txBody>
        </p:sp>
      </p:grpSp>
      <p:sp>
        <p:nvSpPr>
          <p:cNvPr id="14" name="Slide Number Placeholder 2">
            <a:extLst>
              <a:ext uri="{FF2B5EF4-FFF2-40B4-BE49-F238E27FC236}">
                <a16:creationId xmlns:a16="http://schemas.microsoft.com/office/drawing/2014/main" id="{41298F7A-0643-9F47-8207-6B139EFB88BE}"/>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42</a:t>
            </a:fld>
            <a:endParaRPr lang="en-US" dirty="0"/>
          </a:p>
        </p:txBody>
      </p:sp>
    </p:spTree>
    <p:extLst>
      <p:ext uri="{BB962C8B-B14F-4D97-AF65-F5344CB8AC3E}">
        <p14:creationId xmlns:p14="http://schemas.microsoft.com/office/powerpoint/2010/main" val="51864185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Closing a TCP connection</a:t>
            </a:r>
            <a:endParaRPr lang="en-US" sz="4400" b="0" dirty="0"/>
          </a:p>
        </p:txBody>
      </p:sp>
      <p:sp>
        <p:nvSpPr>
          <p:cNvPr id="47" name="Rectangle 47">
            <a:extLst>
              <a:ext uri="{FF2B5EF4-FFF2-40B4-BE49-F238E27FC236}">
                <a16:creationId xmlns:a16="http://schemas.microsoft.com/office/drawing/2014/main" id="{B20BADCC-1032-9A48-BC43-B4E1275E4EDF}"/>
              </a:ext>
            </a:extLst>
          </p:cNvPr>
          <p:cNvSpPr txBox="1">
            <a:spLocks noChangeArrowheads="1"/>
          </p:cNvSpPr>
          <p:nvPr/>
        </p:nvSpPr>
        <p:spPr>
          <a:xfrm>
            <a:off x="798690" y="1441263"/>
            <a:ext cx="9698318" cy="41862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client, server each close their side of connection</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send TCP segment with FIN bit = 1</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respond to received FIN with ACK</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on receiving FIN, ACK can be combined with own FIN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simultaneous FIN exchanges can be handled</a:t>
            </a:r>
          </a:p>
        </p:txBody>
      </p:sp>
      <p:sp>
        <p:nvSpPr>
          <p:cNvPr id="4" name="Slide Number Placeholder 2">
            <a:extLst>
              <a:ext uri="{FF2B5EF4-FFF2-40B4-BE49-F238E27FC236}">
                <a16:creationId xmlns:a16="http://schemas.microsoft.com/office/drawing/2014/main" id="{E5549B3B-271C-C14B-9302-4D2CE7B4105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43</a:t>
            </a:fld>
            <a:endParaRPr lang="en-US" dirty="0"/>
          </a:p>
        </p:txBody>
      </p:sp>
    </p:spTree>
    <p:extLst>
      <p:ext uri="{BB962C8B-B14F-4D97-AF65-F5344CB8AC3E}">
        <p14:creationId xmlns:p14="http://schemas.microsoft.com/office/powerpoint/2010/main" val="2657671931"/>
      </p:ext>
    </p:extLst>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9036</TotalTime>
  <Words>5414</Words>
  <Application>Microsoft Office PowerPoint</Application>
  <PresentationFormat>Widescreen</PresentationFormat>
  <Paragraphs>805</Paragraphs>
  <Slides>43</Slides>
  <Notes>31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5" baseType="lpstr">
      <vt:lpstr>Arial</vt:lpstr>
      <vt:lpstr>Arial Narrow</vt:lpstr>
      <vt:lpstr>Calibri</vt:lpstr>
      <vt:lpstr>Courier New</vt:lpstr>
      <vt:lpstr>Courier Std</vt:lpstr>
      <vt:lpstr>Gill Sans MT</vt:lpstr>
      <vt:lpstr>Symbol</vt:lpstr>
      <vt:lpstr>Tahoma</vt:lpstr>
      <vt:lpstr>Times New Roman</vt:lpstr>
      <vt:lpstr>Wingdings</vt:lpstr>
      <vt:lpstr>Office Theme</vt:lpstr>
      <vt:lpstr>Clip</vt:lpstr>
      <vt:lpstr>Chapter 3: roadmap</vt:lpstr>
      <vt:lpstr>TCP: overview  RFCs: 793,1122, 2018, 5681, 7323</vt:lpstr>
      <vt:lpstr>TCP connection </vt:lpstr>
      <vt:lpstr>TCP Send/Receive buffers</vt:lpstr>
      <vt:lpstr>TCP segment structure</vt:lpstr>
      <vt:lpstr>TCP sequence numbers, ACKs</vt:lpstr>
      <vt:lpstr>Sequence Numbers </vt:lpstr>
      <vt:lpstr>An example</vt:lpstr>
      <vt:lpstr>TCP Sequence Numbers </vt:lpstr>
      <vt:lpstr>Full duplex</vt:lpstr>
      <vt:lpstr>Acknowledgment numbers </vt:lpstr>
      <vt:lpstr>An example</vt:lpstr>
      <vt:lpstr>Another example</vt:lpstr>
      <vt:lpstr>Out of order segments</vt:lpstr>
      <vt:lpstr>The seg/ack numbers base</vt:lpstr>
      <vt:lpstr>TCP sequence numbers, ACKs</vt:lpstr>
      <vt:lpstr>TCP round trip time, timeout</vt:lpstr>
      <vt:lpstr>TCP round trip time, timeout</vt:lpstr>
      <vt:lpstr>TCP round trip time, timeout</vt:lpstr>
      <vt:lpstr>TCP reliable data transfer</vt:lpstr>
      <vt:lpstr>TCP Sender (simplified)</vt:lpstr>
      <vt:lpstr>TCP sender (simplified)</vt:lpstr>
      <vt:lpstr>TCP: retransmission scenarios</vt:lpstr>
      <vt:lpstr>TCP: retransmission scenarios</vt:lpstr>
      <vt:lpstr>Modified TCP – Doubling Timeout Interval</vt:lpstr>
      <vt:lpstr>Modified TCP – Fast Retransmit </vt:lpstr>
      <vt:lpstr>TCP fast retransmit</vt:lpstr>
      <vt:lpstr>TCP Receiver: ACK generation [RFC 5681]</vt:lpstr>
      <vt:lpstr>TCP Receiver: ACK generation [RFC 5681]</vt:lpstr>
      <vt:lpstr>TCP flow control</vt:lpstr>
      <vt:lpstr>TCP flow control</vt:lpstr>
      <vt:lpstr>TCP flow control</vt:lpstr>
      <vt:lpstr>TCP flow control</vt:lpstr>
      <vt:lpstr>TCP flow control</vt:lpstr>
      <vt:lpstr>TCP flow control</vt:lpstr>
      <vt:lpstr>TCP connection management</vt:lpstr>
      <vt:lpstr>Agreeing to establish a connection</vt:lpstr>
      <vt:lpstr>2-way handshake scenarios</vt:lpstr>
      <vt:lpstr>2-way handshake scenarios</vt:lpstr>
      <vt:lpstr>2-way handshake scenarios</vt:lpstr>
      <vt:lpstr>TCP 3-way handshake</vt:lpstr>
      <vt:lpstr>A human 3-way handshake protocol</vt:lpstr>
      <vt:lpstr>Closing a TCP connection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Moiz Ansari</cp:lastModifiedBy>
  <cp:revision>415</cp:revision>
  <dcterms:created xsi:type="dcterms:W3CDTF">2020-01-18T07:24:59Z</dcterms:created>
  <dcterms:modified xsi:type="dcterms:W3CDTF">2025-10-28T17:38:21Z</dcterms:modified>
</cp:coreProperties>
</file>