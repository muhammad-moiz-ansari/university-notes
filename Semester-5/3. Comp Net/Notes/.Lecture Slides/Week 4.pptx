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1245" r:id="rId2"/>
    <p:sldId id="1222" r:id="rId3"/>
    <p:sldId id="1223" r:id="rId4"/>
    <p:sldId id="1224" r:id="rId5"/>
    <p:sldId id="1225" r:id="rId6"/>
    <p:sldId id="1226" r:id="rId7"/>
    <p:sldId id="1227" r:id="rId8"/>
    <p:sldId id="1228" r:id="rId9"/>
    <p:sldId id="1229" r:id="rId10"/>
    <p:sldId id="1230" r:id="rId11"/>
    <p:sldId id="1231" r:id="rId12"/>
    <p:sldId id="1232" r:id="rId13"/>
    <p:sldId id="1233" r:id="rId14"/>
    <p:sldId id="1234" r:id="rId15"/>
    <p:sldId id="1235" r:id="rId16"/>
    <p:sldId id="1236" r:id="rId17"/>
    <p:sldId id="1237" r:id="rId18"/>
    <p:sldId id="1238" r:id="rId19"/>
    <p:sldId id="1050" r:id="rId20"/>
    <p:sldId id="1112" r:id="rId21"/>
    <p:sldId id="1113" r:id="rId22"/>
    <p:sldId id="1212" r:id="rId23"/>
    <p:sldId id="1114" r:id="rId24"/>
    <p:sldId id="1115" r:id="rId25"/>
    <p:sldId id="1213" r:id="rId26"/>
    <p:sldId id="1116" r:id="rId27"/>
    <p:sldId id="1125" r:id="rId28"/>
    <p:sldId id="1117" r:id="rId29"/>
    <p:sldId id="1118" r:id="rId30"/>
    <p:sldId id="1120" r:id="rId31"/>
    <p:sldId id="1121" r:id="rId32"/>
    <p:sldId id="1122" r:id="rId33"/>
    <p:sldId id="1123" r:id="rId34"/>
    <p:sldId id="1119" r:id="rId35"/>
    <p:sldId id="1124" r:id="rId36"/>
    <p:sldId id="1214" r:id="rId37"/>
    <p:sldId id="1215" r:id="rId38"/>
    <p:sldId id="1216" r:id="rId39"/>
    <p:sldId id="1217" r:id="rId40"/>
    <p:sldId id="1218" r:id="rId41"/>
    <p:sldId id="1219" r:id="rId42"/>
    <p:sldId id="1220" r:id="rId43"/>
    <p:sldId id="1221" r:id="rId44"/>
    <p:sldId id="1239" r:id="rId45"/>
    <p:sldId id="1240" r:id="rId46"/>
    <p:sldId id="1241" r:id="rId47"/>
    <p:sldId id="1242" r:id="rId48"/>
    <p:sldId id="1243" r:id="rId49"/>
    <p:sldId id="1244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1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25E7D9-F1B6-594B-9156-A5FBEEF7CF06}" type="datetimeFigureOut">
              <a:rPr lang="en-US" smtClean="0"/>
              <a:t>9/2/25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124430-4E68-8F49-A56E-80635789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323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82F80-9C0E-3A44-4040-4469EFCC2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CD72BA-03C2-351A-2D21-16F1633D2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B74CC1-DBFE-C409-7893-D39E462082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046A7-415C-1150-4D65-857A420537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972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>
              <a:latin typeface="Times New Roman" panose="02020603050405020304" pitchFamily="18" charset="0"/>
            </a:endParaRP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6CCEB4-C9A2-42AB-A4B3-9FF9C37D729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556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>
              <a:latin typeface="Times New Roman" panose="02020603050405020304" pitchFamily="18" charset="0"/>
            </a:endParaRP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1B7ECF-B1E4-49A6-BE43-B898AC3858C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254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>
              <a:latin typeface="Times New Roman" panose="02020603050405020304" pitchFamily="18" charset="0"/>
            </a:endParaRP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14A48B-FCC5-4649-A73E-AE1785BF4B4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882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>
              <a:latin typeface="Times New Roman" panose="02020603050405020304" pitchFamily="18" charset="0"/>
            </a:endParaRP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A2EFAD-19F3-4286-9044-1FA786F3495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8249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>
              <a:latin typeface="Times New Roman" panose="02020603050405020304" pitchFamily="18" charset="0"/>
            </a:endParaRP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ABF8996-EBB6-4D01-AFB3-1E27E2892C0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302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>
              <a:latin typeface="Times New Roman" panose="02020603050405020304" pitchFamily="18" charset="0"/>
            </a:endParaRP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5F7047C-5237-4D3F-8E68-AE1FEFFB3FA8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0964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>
              <a:latin typeface="Times New Roman" panose="02020603050405020304" pitchFamily="18" charset="0"/>
            </a:endParaRP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8E61D2-4AAD-4113-8FB1-5E12B7A0CB5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69580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>
              <a:latin typeface="Times New Roman" panose="02020603050405020304" pitchFamily="18" charset="0"/>
            </a:endParaRP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396D88-C77D-48AF-90FE-55CAB57A16BD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4521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>
              <a:latin typeface="Times New Roman" panose="02020603050405020304" pitchFamily="18" charset="0"/>
            </a:endParaRP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DDA1C53-B2CA-4568-8907-4912A0BA176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727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>
              <a:latin typeface="Times New Roman" panose="02020603050405020304" pitchFamily="18" charset="0"/>
            </a:endParaRP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248170-1DE1-4EFB-A7A4-520537E0D08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0149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>
              <a:latin typeface="Times New Roman" panose="02020603050405020304" pitchFamily="18" charset="0"/>
            </a:endParaRP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393BD68-5CEF-431E-A12A-585B6997294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2925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>
              <a:latin typeface="Times New Roman" panose="02020603050405020304" pitchFamily="18" charset="0"/>
            </a:endParaRP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EEC4FE-53E5-4C19-8100-49BD7591C76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783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>
              <a:latin typeface="Times New Roman" panose="02020603050405020304" pitchFamily="18" charset="0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DCCBB9D-C2FB-46FF-946F-9B8A1FE8C50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3657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>
              <a:latin typeface="Times New Roman" panose="02020603050405020304" pitchFamily="18" charset="0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CFFD028-F788-4093-A81D-6082B645949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6855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786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09283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34744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16873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28087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90903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62322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99442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87163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43021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66473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62498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99483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94470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66391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47499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532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D1617-2DF3-F63C-B165-D9E5B3722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2F5566-A1DF-E496-890E-609860BE9A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C55F9-DE03-D19C-21EB-9C5420839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6AF4-5F2F-C142-A3BC-A917F5550A27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AFCB9-267B-C902-9C28-74CFA6384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E4755-9502-333C-E3BE-8D0AD998A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154D1-CCAA-C640-A8DA-2A489CFCEC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27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464A0-0825-A604-3717-08BC8E3D0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4B254-947B-806B-145A-D11770007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1D777-7515-9464-1BA4-1DDAFEC67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6AF4-5F2F-C142-A3BC-A917F5550A27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D6764-1C17-8519-623C-6573B29E6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2BE46-37FC-F1E7-B72F-DE3985B96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154D1-CCAA-C640-A8DA-2A489CFCEC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51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73A8-849C-A8BF-CD85-C02E87E90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D9FA1F-7AED-B4C4-67B1-563CDBB03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2368A-6429-CB7E-875F-74157CC2E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6AF4-5F2F-C142-A3BC-A917F5550A27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77339-E92A-5217-1EB6-8F1BB24E9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4AC9E-CFD7-4850-5AAA-FE58DB27E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154D1-CCAA-C640-A8DA-2A489CFCEC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953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165AB-FBA5-7269-D4C7-9895260FC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516F9-014D-9FE1-F1D2-2B5BCACE31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E5F9F-E83C-BAA5-DCBF-D95CE1D2B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31B48-69A3-71ED-C41D-BB663B244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6AF4-5F2F-C142-A3BC-A917F5550A27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A5C9C-7D44-8732-4D7A-A0CFBC0DD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223136-EA62-B09A-085C-3B159EF51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154D1-CCAA-C640-A8DA-2A489CFCEC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044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C886B-E444-4192-5A30-6D1FEBB9F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F7D83-CA69-81FA-23BC-E0630427C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98AAE2-3034-E90C-2EB6-F40CA0A92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FF8E15-9DDA-6AF2-3EEF-0249C7504A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6780F6-B954-95B2-30D7-3B17888936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C31259-B08C-1595-D327-8F57E8921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6AF4-5F2F-C142-A3BC-A917F5550A27}" type="datetimeFigureOut">
              <a:rPr lang="en-US" smtClean="0"/>
              <a:t>9/2/25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92A587-24A1-10DD-67DD-21F0D1DD8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289531-05DD-EB2C-C37F-88D3EC231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154D1-CCAA-C640-A8DA-2A489CFCEC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88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BE896-2305-3A8C-408B-A8B1BD163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8EC064-B4E4-0B98-E4D7-F8552B930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6AF4-5F2F-C142-A3BC-A917F5550A27}" type="datetimeFigureOut">
              <a:rPr lang="en-US" smtClean="0"/>
              <a:t>9/2/25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05236-7011-2BE4-D95A-58D8FAC93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8E6ECB-634E-AC56-86CE-F0029D6C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154D1-CCAA-C640-A8DA-2A489CFCEC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164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AE0A1B-C9A0-5159-CFF9-E99AB7BF8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6AF4-5F2F-C142-A3BC-A917F5550A27}" type="datetimeFigureOut">
              <a:rPr lang="en-US" smtClean="0"/>
              <a:t>9/2/25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3879A5-90C4-B531-939B-D82A4A0CA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713C14-3E0A-6C77-1B3D-43C4C611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154D1-CCAA-C640-A8DA-2A489CFCEC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401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23EB9-B24E-2866-F478-D10135E64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1CE02-92FC-3853-F8E0-B3872E0E4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7E4F32-622C-F683-356B-46D97D6075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069DCA-0F8E-719A-EF6C-150B28BA6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6AF4-5F2F-C142-A3BC-A917F5550A27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A9EF8-9C93-21A6-D4D4-CE263A116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D9D45-5367-606F-B810-90544C74B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154D1-CCAA-C640-A8DA-2A489CFCEC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909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CE15D-6567-A241-FA37-72629E64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2E4497-428D-7E3D-557B-7885DD0CB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D42831-97C2-25F1-D49B-A266B31EC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6F6AC-0646-C3FE-4EF3-969D4E76F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6AF4-5F2F-C142-A3BC-A917F5550A27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33ECF-D195-C5AA-0ABF-D36F25DE3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06590-0577-87FB-6A1D-5324F192B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154D1-CCAA-C640-A8DA-2A489CFCEC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238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156E4-6276-8138-02EB-07ADAF291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85BCB-5FB8-0E7D-B3B8-2432F5939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2E76D-36EF-3225-E547-00F22A1F2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6AF4-5F2F-C142-A3BC-A917F5550A27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574B6-EE92-5868-C6D7-A94F37AB6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BC495-AD89-C7BB-0F42-40050DBFB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154D1-CCAA-C640-A8DA-2A489CFCEC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845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9F1FA2-13AA-9E5B-0668-9C22483E98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02078F-26F1-6873-C2D9-9685B9B53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7F8BB-92DA-3AFC-F3A1-B9D0C80AD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6AF4-5F2F-C142-A3BC-A917F5550A27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4201C-22F8-C704-BA47-6F5F0E0AE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2F814-8438-CBF0-02F3-C93D66A5A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154D1-CCAA-C640-A8DA-2A489CFCEC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254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4716B8-D869-F8B4-4F03-FAD2FDEB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92CE7-09D5-96FE-E1DA-9396C68BF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B455D-8662-A349-1366-5419C19657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716AF4-5F2F-C142-A3BC-A917F5550A27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901BC-75C7-2EFA-48A4-0F119D223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88956-DD48-056B-E0CF-151AD43CAD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9154D1-CCAA-C640-A8DA-2A489CFCEC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189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20F01-9633-8490-64A8-06FEE706D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D9ABB3A-A44E-606A-24C2-62BF42336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Application Layer: Overview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0C50F6B-105A-D893-710B-6D161F185105}"/>
              </a:ext>
            </a:extLst>
          </p:cNvPr>
          <p:cNvSpPr txBox="1">
            <a:spLocks/>
          </p:cNvSpPr>
          <p:nvPr/>
        </p:nvSpPr>
        <p:spPr>
          <a:xfrm>
            <a:off x="809242" y="1870563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Principles of network applications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 and HTTP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FTP, E-mail, SMTP, IMAP</a:t>
            </a:r>
          </a:p>
          <a:p>
            <a:pPr marL="401638" indent="-401638">
              <a:buClr>
                <a:srgbClr val="0000A8"/>
              </a:buClr>
              <a:defRPr/>
            </a:pPr>
            <a:r>
              <a:rPr lang="en-US" sz="3200" dirty="0">
                <a:solidFill>
                  <a:schemeClr val="bg2">
                    <a:lumMod val="9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Domain Name System DNS</a:t>
            </a:r>
          </a:p>
          <a:p>
            <a:endParaRPr lang="en-US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6AAF741D-8BDC-39B6-9D27-38910A239D6E}"/>
              </a:ext>
            </a:extLst>
          </p:cNvPr>
          <p:cNvSpPr txBox="1">
            <a:spLocks noChangeArrowheads="1"/>
          </p:cNvSpPr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</p:spPr>
        <p:txBody>
          <a:bodyPr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9250" indent="-349250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socket programming with UDP and TCP</a:t>
            </a:r>
          </a:p>
          <a:p>
            <a:pPr>
              <a:buFont typeface="Wingdings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8164D2-0E49-16A1-405D-FD7916B11F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7" name="Picture 6" descr="Kurose&amp;Ross 8th edition photo">
            <a:extLst>
              <a:ext uri="{FF2B5EF4-FFF2-40B4-BE49-F238E27FC236}">
                <a16:creationId xmlns:a16="http://schemas.microsoft.com/office/drawing/2014/main" id="{96EF5EC7-EE9F-6A80-F983-66D46EF55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391" y="4125913"/>
            <a:ext cx="3087757" cy="231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512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3315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4C67AF2F-CC5B-4B11-BBDA-E5C69D82B24F}" type="slidenum"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2</a:t>
            </a:fld>
            <a:endParaRPr lang="en-US" altLang="en-US" sz="11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13316" name="Picture 4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338" y="835025"/>
            <a:ext cx="6399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Freeform 46"/>
          <p:cNvSpPr>
            <a:spLocks/>
          </p:cNvSpPr>
          <p:nvPr/>
        </p:nvSpPr>
        <p:spPr bwMode="auto">
          <a:xfrm>
            <a:off x="7685089" y="2220914"/>
            <a:ext cx="1100137" cy="282575"/>
          </a:xfrm>
          <a:custGeom>
            <a:avLst/>
            <a:gdLst>
              <a:gd name="T0" fmla="*/ 0 w 693"/>
              <a:gd name="T1" fmla="*/ 2147483646 h 178"/>
              <a:gd name="T2" fmla="*/ 2147483646 w 693"/>
              <a:gd name="T3" fmla="*/ 0 h 178"/>
              <a:gd name="T4" fmla="*/ 2147483646 w 693"/>
              <a:gd name="T5" fmla="*/ 0 h 178"/>
              <a:gd name="T6" fmla="*/ 2147483646 w 693"/>
              <a:gd name="T7" fmla="*/ 2147483646 h 178"/>
              <a:gd name="T8" fmla="*/ 0 w 693"/>
              <a:gd name="T9" fmla="*/ 2147483646 h 1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93"/>
              <a:gd name="T16" fmla="*/ 0 h 178"/>
              <a:gd name="T17" fmla="*/ 693 w 693"/>
              <a:gd name="T18" fmla="*/ 178 h 1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93" h="178">
                <a:moveTo>
                  <a:pt x="0" y="116"/>
                </a:moveTo>
                <a:lnTo>
                  <a:pt x="247" y="0"/>
                </a:lnTo>
                <a:lnTo>
                  <a:pt x="693" y="0"/>
                </a:lnTo>
                <a:lnTo>
                  <a:pt x="137" y="178"/>
                </a:lnTo>
                <a:lnTo>
                  <a:pt x="0" y="116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3318" name="Freeform 43"/>
          <p:cNvSpPr>
            <a:spLocks/>
          </p:cNvSpPr>
          <p:nvPr/>
        </p:nvSpPr>
        <p:spPr bwMode="auto">
          <a:xfrm>
            <a:off x="4125913" y="2220914"/>
            <a:ext cx="1784350" cy="282575"/>
          </a:xfrm>
          <a:custGeom>
            <a:avLst/>
            <a:gdLst>
              <a:gd name="T0" fmla="*/ 0 w 1124"/>
              <a:gd name="T1" fmla="*/ 2147483646 h 178"/>
              <a:gd name="T2" fmla="*/ 2147483646 w 1124"/>
              <a:gd name="T3" fmla="*/ 2147483646 h 178"/>
              <a:gd name="T4" fmla="*/ 2147483646 w 1124"/>
              <a:gd name="T5" fmla="*/ 0 h 178"/>
              <a:gd name="T6" fmla="*/ 2147483646 w 1124"/>
              <a:gd name="T7" fmla="*/ 2147483646 h 178"/>
              <a:gd name="T8" fmla="*/ 0 w 1124"/>
              <a:gd name="T9" fmla="*/ 2147483646 h 1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24"/>
              <a:gd name="T16" fmla="*/ 0 h 178"/>
              <a:gd name="T17" fmla="*/ 1124 w 1124"/>
              <a:gd name="T18" fmla="*/ 178 h 1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24" h="178">
                <a:moveTo>
                  <a:pt x="0" y="178"/>
                </a:moveTo>
                <a:lnTo>
                  <a:pt x="41" y="7"/>
                </a:lnTo>
                <a:lnTo>
                  <a:pt x="1124" y="0"/>
                </a:lnTo>
                <a:lnTo>
                  <a:pt x="247" y="171"/>
                </a:lnTo>
                <a:lnTo>
                  <a:pt x="0" y="178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3319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06376"/>
            <a:ext cx="7772400" cy="860425"/>
          </a:xfrm>
        </p:spPr>
        <p:txBody>
          <a:bodyPr/>
          <a:lstStyle/>
          <a:p>
            <a:r>
              <a:rPr lang="en-US" altLang="en-US">
                <a:latin typeface="Gill Sans MT" panose="020B0502020104020203" pitchFamily="34" charset="0"/>
              </a:rPr>
              <a:t>FTP: the file transfer protocol</a:t>
            </a:r>
            <a:endParaRPr lang="en-US" altLang="en-US" sz="3200">
              <a:latin typeface="Gill Sans MT" panose="020B0502020104020203" pitchFamily="34" charset="0"/>
            </a:endParaRPr>
          </a:p>
        </p:txBody>
      </p:sp>
      <p:sp>
        <p:nvSpPr>
          <p:cNvPr id="13320" name="Text Box 16"/>
          <p:cNvSpPr txBox="1">
            <a:spLocks noChangeArrowheads="1"/>
          </p:cNvSpPr>
          <p:nvPr/>
        </p:nvSpPr>
        <p:spPr bwMode="auto">
          <a:xfrm>
            <a:off x="6169026" y="1255714"/>
            <a:ext cx="17129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>
                <a:solidFill>
                  <a:srgbClr val="CC0000"/>
                </a:solidFill>
                <a:cs typeface="Arial" panose="020B0604020202020204" pitchFamily="34" charset="0"/>
              </a:rPr>
              <a:t>file transfer</a:t>
            </a:r>
          </a:p>
        </p:txBody>
      </p:sp>
      <p:grpSp>
        <p:nvGrpSpPr>
          <p:cNvPr id="13321" name="Group 17"/>
          <p:cNvGrpSpPr>
            <a:grpSpLocks/>
          </p:cNvGrpSpPr>
          <p:nvPr/>
        </p:nvGrpSpPr>
        <p:grpSpPr bwMode="auto">
          <a:xfrm>
            <a:off x="8086725" y="1411289"/>
            <a:ext cx="704850" cy="828675"/>
            <a:chOff x="3930" y="1386"/>
            <a:chExt cx="444" cy="522"/>
          </a:xfrm>
        </p:grpSpPr>
        <p:sp>
          <p:nvSpPr>
            <p:cNvPr id="13375" name="Rectangle 18"/>
            <p:cNvSpPr>
              <a:spLocks noChangeArrowheads="1"/>
            </p:cNvSpPr>
            <p:nvPr/>
          </p:nvSpPr>
          <p:spPr bwMode="auto">
            <a:xfrm>
              <a:off x="3930" y="1386"/>
              <a:ext cx="444" cy="522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3376" name="Text Box 19"/>
            <p:cNvSpPr txBox="1">
              <a:spLocks noChangeArrowheads="1"/>
            </p:cNvSpPr>
            <p:nvPr/>
          </p:nvSpPr>
          <p:spPr bwMode="auto">
            <a:xfrm>
              <a:off x="3934" y="1463"/>
              <a:ext cx="43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FTP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server</a:t>
              </a:r>
              <a:endParaRPr lang="en-US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3322" name="Group 20"/>
          <p:cNvGrpSpPr>
            <a:grpSpLocks/>
          </p:cNvGrpSpPr>
          <p:nvPr/>
        </p:nvGrpSpPr>
        <p:grpSpPr bwMode="auto">
          <a:xfrm>
            <a:off x="4106863" y="1401763"/>
            <a:ext cx="1789112" cy="838200"/>
            <a:chOff x="1645" y="1326"/>
            <a:chExt cx="1127" cy="528"/>
          </a:xfrm>
        </p:grpSpPr>
        <p:sp>
          <p:nvSpPr>
            <p:cNvPr id="13371" name="Rectangle 21"/>
            <p:cNvSpPr>
              <a:spLocks noChangeArrowheads="1"/>
            </p:cNvSpPr>
            <p:nvPr/>
          </p:nvSpPr>
          <p:spPr bwMode="auto">
            <a:xfrm>
              <a:off x="2328" y="1326"/>
              <a:ext cx="444" cy="522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3372" name="Rectangle 22"/>
            <p:cNvSpPr>
              <a:spLocks noChangeArrowheads="1"/>
            </p:cNvSpPr>
            <p:nvPr/>
          </p:nvSpPr>
          <p:spPr bwMode="auto">
            <a:xfrm>
              <a:off x="1704" y="1332"/>
              <a:ext cx="606" cy="52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3373" name="Text Box 23"/>
            <p:cNvSpPr txBox="1">
              <a:spLocks noChangeArrowheads="1"/>
            </p:cNvSpPr>
            <p:nvPr/>
          </p:nvSpPr>
          <p:spPr bwMode="auto">
            <a:xfrm>
              <a:off x="1645" y="1343"/>
              <a:ext cx="738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FTP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user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interface</a:t>
              </a:r>
              <a:endParaRPr lang="en-US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374" name="Text Box 24"/>
            <p:cNvSpPr txBox="1">
              <a:spLocks noChangeArrowheads="1"/>
            </p:cNvSpPr>
            <p:nvPr/>
          </p:nvSpPr>
          <p:spPr bwMode="auto">
            <a:xfrm>
              <a:off x="2357" y="1403"/>
              <a:ext cx="38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FTP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client</a:t>
              </a:r>
              <a:endParaRPr lang="en-US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13323" name="Text Box 32"/>
          <p:cNvSpPr txBox="1">
            <a:spLocks noChangeArrowheads="1"/>
          </p:cNvSpPr>
          <p:nvPr/>
        </p:nvSpPr>
        <p:spPr bwMode="auto">
          <a:xfrm>
            <a:off x="5405439" y="2522539"/>
            <a:ext cx="10763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</a:rPr>
              <a:t>local file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</a:rPr>
              <a:t>system</a:t>
            </a:r>
            <a:endParaRPr lang="en-US" altLang="en-US" sz="20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3324" name="Line 33"/>
          <p:cNvSpPr>
            <a:spLocks noChangeShapeType="1"/>
          </p:cNvSpPr>
          <p:nvPr/>
        </p:nvSpPr>
        <p:spPr bwMode="auto">
          <a:xfrm>
            <a:off x="4743450" y="2239963"/>
            <a:ext cx="32385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3325" name="Line 34"/>
          <p:cNvSpPr>
            <a:spLocks noChangeShapeType="1"/>
          </p:cNvSpPr>
          <p:nvPr/>
        </p:nvSpPr>
        <p:spPr bwMode="auto">
          <a:xfrm flipH="1">
            <a:off x="5238751" y="2230438"/>
            <a:ext cx="333375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3326" name="Text Box 41"/>
          <p:cNvSpPr txBox="1">
            <a:spLocks noChangeArrowheads="1"/>
          </p:cNvSpPr>
          <p:nvPr/>
        </p:nvSpPr>
        <p:spPr bwMode="auto">
          <a:xfrm>
            <a:off x="8685214" y="2333626"/>
            <a:ext cx="14573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</a:rPr>
              <a:t>remote file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</a:rPr>
              <a:t>system</a:t>
            </a:r>
            <a:endParaRPr lang="en-US" altLang="en-US" sz="20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3327" name="Line 42"/>
          <p:cNvSpPr>
            <a:spLocks noChangeShapeType="1"/>
          </p:cNvSpPr>
          <p:nvPr/>
        </p:nvSpPr>
        <p:spPr bwMode="auto">
          <a:xfrm>
            <a:off x="8439150" y="2239964"/>
            <a:ext cx="0" cy="428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13328" name="Picture 43" descr="Ali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4664" y="1454150"/>
            <a:ext cx="561975" cy="69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9" name="Text Box 44"/>
          <p:cNvSpPr txBox="1">
            <a:spLocks noChangeArrowheads="1"/>
          </p:cNvSpPr>
          <p:nvPr/>
        </p:nvSpPr>
        <p:spPr bwMode="auto">
          <a:xfrm>
            <a:off x="2903538" y="2162176"/>
            <a:ext cx="971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</a:rPr>
              <a:t>user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</a:rPr>
              <a:t>at host</a:t>
            </a:r>
            <a:endParaRPr lang="en-US" altLang="en-US" sz="20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3330" name="Line 45"/>
          <p:cNvSpPr>
            <a:spLocks noChangeShapeType="1"/>
          </p:cNvSpPr>
          <p:nvPr/>
        </p:nvSpPr>
        <p:spPr bwMode="auto">
          <a:xfrm>
            <a:off x="3552826" y="1849438"/>
            <a:ext cx="581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3331" name="AutoShape 327"/>
          <p:cNvSpPr>
            <a:spLocks noChangeArrowheads="1"/>
          </p:cNvSpPr>
          <p:nvPr/>
        </p:nvSpPr>
        <p:spPr bwMode="auto">
          <a:xfrm>
            <a:off x="4857751" y="2673351"/>
            <a:ext cx="569913" cy="428625"/>
          </a:xfrm>
          <a:prstGeom prst="can">
            <a:avLst>
              <a:gd name="adj" fmla="val 20218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endParaRPr lang="fr-FR" altLang="en-US" sz="20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3332" name="AutoShape 327"/>
          <p:cNvSpPr>
            <a:spLocks noChangeArrowheads="1"/>
          </p:cNvSpPr>
          <p:nvPr/>
        </p:nvSpPr>
        <p:spPr bwMode="auto">
          <a:xfrm>
            <a:off x="8189913" y="2628901"/>
            <a:ext cx="569912" cy="428625"/>
          </a:xfrm>
          <a:prstGeom prst="can">
            <a:avLst>
              <a:gd name="adj" fmla="val 20218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endParaRPr lang="fr-FR" altLang="en-US" sz="20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3333" name="Rectangle 3"/>
          <p:cNvSpPr>
            <a:spLocks noChangeArrowheads="1"/>
          </p:cNvSpPr>
          <p:nvPr/>
        </p:nvSpPr>
        <p:spPr bwMode="auto">
          <a:xfrm>
            <a:off x="2268538" y="3751264"/>
            <a:ext cx="801370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</a:pPr>
            <a:r>
              <a:rPr lang="en-US" altLang="en-US" sz="2400">
                <a:solidFill>
                  <a:srgbClr val="00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transfer file to/from remote host</a:t>
            </a:r>
          </a:p>
          <a:p>
            <a:pPr fontAlgn="base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</a:pPr>
            <a:r>
              <a:rPr lang="en-US" altLang="en-US" sz="2400">
                <a:solidFill>
                  <a:srgbClr val="00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client/server model</a:t>
            </a:r>
          </a:p>
          <a:p>
            <a:pPr lvl="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en-US" sz="2000" i="1">
                <a:solidFill>
                  <a:srgbClr val="CC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client:</a:t>
            </a:r>
            <a:r>
              <a:rPr lang="en-US" altLang="en-US" sz="2000">
                <a:solidFill>
                  <a:srgbClr val="00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 side that initiates transfer (either to/from remote)</a:t>
            </a:r>
          </a:p>
          <a:p>
            <a:pPr lvl="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en-US" sz="2000" i="1">
                <a:solidFill>
                  <a:srgbClr val="CC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server:</a:t>
            </a:r>
            <a:r>
              <a:rPr lang="en-US" altLang="en-US" sz="2000">
                <a:solidFill>
                  <a:srgbClr val="00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 remote host</a:t>
            </a:r>
          </a:p>
          <a:p>
            <a:pPr fontAlgn="base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</a:pPr>
            <a:r>
              <a:rPr lang="en-US" altLang="en-US" sz="2400">
                <a:solidFill>
                  <a:srgbClr val="00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ftp: RFC 959</a:t>
            </a:r>
          </a:p>
          <a:p>
            <a:pPr fontAlgn="base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</a:pPr>
            <a:r>
              <a:rPr lang="en-US" altLang="en-US" sz="2400">
                <a:solidFill>
                  <a:srgbClr val="00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ftp server: port 21</a:t>
            </a:r>
          </a:p>
        </p:txBody>
      </p:sp>
      <p:sp>
        <p:nvSpPr>
          <p:cNvPr id="13334" name="Line 49"/>
          <p:cNvSpPr>
            <a:spLocks noChangeShapeType="1"/>
          </p:cNvSpPr>
          <p:nvPr/>
        </p:nvSpPr>
        <p:spPr bwMode="auto">
          <a:xfrm>
            <a:off x="5889626" y="1714500"/>
            <a:ext cx="218757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pSp>
        <p:nvGrpSpPr>
          <p:cNvPr id="13335" name="Group 51"/>
          <p:cNvGrpSpPr>
            <a:grpSpLocks/>
          </p:cNvGrpSpPr>
          <p:nvPr/>
        </p:nvGrpSpPr>
        <p:grpSpPr bwMode="auto">
          <a:xfrm>
            <a:off x="7532688" y="2327275"/>
            <a:ext cx="476250" cy="749300"/>
            <a:chOff x="4140" y="429"/>
            <a:chExt cx="1425" cy="2396"/>
          </a:xfrm>
        </p:grpSpPr>
        <p:sp>
          <p:nvSpPr>
            <p:cNvPr id="13339" name="Freeform 52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9 h 2742"/>
                <a:gd name="T6" fmla="*/ 0 w 354"/>
                <a:gd name="T7" fmla="*/ 10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3340" name="Rectangle 53"/>
            <p:cNvSpPr>
              <a:spLocks noChangeArrowheads="1"/>
            </p:cNvSpPr>
            <p:nvPr/>
          </p:nvSpPr>
          <p:spPr bwMode="auto">
            <a:xfrm>
              <a:off x="4207" y="429"/>
              <a:ext cx="1045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341" name="Freeform 54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3342" name="Freeform 55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3343" name="Rectangle 56"/>
            <p:cNvSpPr>
              <a:spLocks noChangeArrowheads="1"/>
            </p:cNvSpPr>
            <p:nvPr/>
          </p:nvSpPr>
          <p:spPr bwMode="auto">
            <a:xfrm>
              <a:off x="4211" y="693"/>
              <a:ext cx="599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13344" name="Group 57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3369" name="AutoShape 58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41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3370" name="AutoShape 59"/>
              <p:cNvSpPr>
                <a:spLocks noChangeArrowheads="1"/>
              </p:cNvSpPr>
              <p:nvPr/>
            </p:nvSpPr>
            <p:spPr bwMode="auto">
              <a:xfrm>
                <a:off x="631" y="2582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3345" name="Rectangle 60"/>
            <p:cNvSpPr>
              <a:spLocks noChangeArrowheads="1"/>
            </p:cNvSpPr>
            <p:nvPr/>
          </p:nvSpPr>
          <p:spPr bwMode="auto">
            <a:xfrm>
              <a:off x="4226" y="1018"/>
              <a:ext cx="594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13346" name="Group 61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3367" name="AutoShape 62"/>
              <p:cNvSpPr>
                <a:spLocks noChangeArrowheads="1"/>
              </p:cNvSpPr>
              <p:nvPr/>
            </p:nvSpPr>
            <p:spPr bwMode="auto">
              <a:xfrm>
                <a:off x="615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3368" name="AutoShape 63"/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88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3347" name="Rectangle 64"/>
            <p:cNvSpPr>
              <a:spLocks noChangeArrowheads="1"/>
            </p:cNvSpPr>
            <p:nvPr/>
          </p:nvSpPr>
          <p:spPr bwMode="auto">
            <a:xfrm>
              <a:off x="4216" y="1358"/>
              <a:ext cx="599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348" name="Rectangle 65"/>
            <p:cNvSpPr>
              <a:spLocks noChangeArrowheads="1"/>
            </p:cNvSpPr>
            <p:nvPr/>
          </p:nvSpPr>
          <p:spPr bwMode="auto">
            <a:xfrm>
              <a:off x="4230" y="1657"/>
              <a:ext cx="594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13349" name="Group 66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3365" name="AutoShape 67"/>
              <p:cNvSpPr>
                <a:spLocks noChangeArrowheads="1"/>
              </p:cNvSpPr>
              <p:nvPr/>
            </p:nvSpPr>
            <p:spPr bwMode="auto">
              <a:xfrm>
                <a:off x="612" y="2568"/>
                <a:ext cx="728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3366" name="AutoShape 68"/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3350" name="Freeform 69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grpSp>
          <p:nvGrpSpPr>
            <p:cNvPr id="13351" name="Group 70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3363" name="AutoShape 71"/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3364" name="AutoShape 72"/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3352" name="Rectangle 73"/>
            <p:cNvSpPr>
              <a:spLocks noChangeArrowheads="1"/>
            </p:cNvSpPr>
            <p:nvPr/>
          </p:nvSpPr>
          <p:spPr bwMode="auto">
            <a:xfrm>
              <a:off x="5252" y="429"/>
              <a:ext cx="67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353" name="Freeform 74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3354" name="Freeform 75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3 h 288"/>
                <a:gd name="T4" fmla="*/ 2 w 304"/>
                <a:gd name="T5" fmla="*/ 3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3355" name="Oval 76"/>
            <p:cNvSpPr>
              <a:spLocks noChangeArrowheads="1"/>
            </p:cNvSpPr>
            <p:nvPr/>
          </p:nvSpPr>
          <p:spPr bwMode="auto">
            <a:xfrm>
              <a:off x="5518" y="2612"/>
              <a:ext cx="48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356" name="Freeform 77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3357" name="AutoShape 78"/>
            <p:cNvSpPr>
              <a:spLocks noChangeArrowheads="1"/>
            </p:cNvSpPr>
            <p:nvPr/>
          </p:nvSpPr>
          <p:spPr bwMode="auto">
            <a:xfrm>
              <a:off x="4140" y="2678"/>
              <a:ext cx="1197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358" name="AutoShape 79"/>
            <p:cNvSpPr>
              <a:spLocks noChangeArrowheads="1"/>
            </p:cNvSpPr>
            <p:nvPr/>
          </p:nvSpPr>
          <p:spPr bwMode="auto">
            <a:xfrm>
              <a:off x="4207" y="2713"/>
              <a:ext cx="1069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359" name="Oval 80"/>
            <p:cNvSpPr>
              <a:spLocks noChangeArrowheads="1"/>
            </p:cNvSpPr>
            <p:nvPr/>
          </p:nvSpPr>
          <p:spPr bwMode="auto">
            <a:xfrm>
              <a:off x="4306" y="2383"/>
              <a:ext cx="162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360" name="Oval 81"/>
            <p:cNvSpPr>
              <a:spLocks noChangeArrowheads="1"/>
            </p:cNvSpPr>
            <p:nvPr/>
          </p:nvSpPr>
          <p:spPr bwMode="auto">
            <a:xfrm>
              <a:off x="4487" y="2383"/>
              <a:ext cx="162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16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361" name="Oval 82"/>
            <p:cNvSpPr>
              <a:spLocks noChangeArrowheads="1"/>
            </p:cNvSpPr>
            <p:nvPr/>
          </p:nvSpPr>
          <p:spPr bwMode="auto">
            <a:xfrm>
              <a:off x="4663" y="2383"/>
              <a:ext cx="157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362" name="Rectangle 83"/>
            <p:cNvSpPr>
              <a:spLocks noChangeArrowheads="1"/>
            </p:cNvSpPr>
            <p:nvPr/>
          </p:nvSpPr>
          <p:spPr bwMode="auto">
            <a:xfrm>
              <a:off x="5062" y="1835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3336" name="Group 84"/>
          <p:cNvGrpSpPr>
            <a:grpSpLocks/>
          </p:cNvGrpSpPr>
          <p:nvPr/>
        </p:nvGrpSpPr>
        <p:grpSpPr bwMode="auto">
          <a:xfrm>
            <a:off x="3744913" y="2352676"/>
            <a:ext cx="830262" cy="849313"/>
            <a:chOff x="-44" y="1473"/>
            <a:chExt cx="981" cy="1105"/>
          </a:xfrm>
        </p:grpSpPr>
        <p:pic>
          <p:nvPicPr>
            <p:cNvPr id="13337" name="Picture 85" descr="desktop_computer_stylized_medium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38" name="Freeform 8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607767 w 356"/>
                <a:gd name="T3" fmla="*/ 273937 h 368"/>
                <a:gd name="T4" fmla="*/ 3093555 w 356"/>
                <a:gd name="T5" fmla="*/ 5706969 h 368"/>
                <a:gd name="T6" fmla="*/ 681775 w 356"/>
                <a:gd name="T7" fmla="*/ 713733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7284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168900" y="6248400"/>
            <a:ext cx="2895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5363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0B10268F-A35C-4403-8E5F-6E7E69F77C52}" type="slidenum"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3</a:t>
            </a:fld>
            <a:endParaRPr lang="en-US" altLang="en-US" sz="11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>
          <a:xfrm>
            <a:off x="1860550" y="163513"/>
            <a:ext cx="7772400" cy="925512"/>
          </a:xfrm>
        </p:spPr>
        <p:txBody>
          <a:bodyPr/>
          <a:lstStyle/>
          <a:p>
            <a:r>
              <a:rPr lang="en-US" altLang="en-US" sz="2800">
                <a:latin typeface="Gill Sans MT" panose="020B0502020104020203" pitchFamily="34" charset="0"/>
              </a:rPr>
              <a:t>FTP: separate control, data connections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143001"/>
            <a:ext cx="4318000" cy="4964113"/>
          </a:xfrm>
        </p:spPr>
        <p:txBody>
          <a:bodyPr>
            <a:normAutofit lnSpcReduction="10000"/>
          </a:bodyPr>
          <a:lstStyle/>
          <a:p>
            <a:r>
              <a:rPr lang="en-US" altLang="en-US" sz="2000">
                <a:latin typeface="Gill Sans MT" panose="020B0502020104020203" pitchFamily="34" charset="0"/>
              </a:rPr>
              <a:t>FTP client contacts FTP server at port 21, using TCP </a:t>
            </a:r>
          </a:p>
          <a:p>
            <a:r>
              <a:rPr lang="en-US" altLang="en-US" sz="2000">
                <a:latin typeface="Gill Sans MT" panose="020B0502020104020203" pitchFamily="34" charset="0"/>
              </a:rPr>
              <a:t>client authorized over control connection</a:t>
            </a:r>
          </a:p>
          <a:p>
            <a:r>
              <a:rPr lang="en-US" altLang="en-US" sz="2000">
                <a:latin typeface="Gill Sans MT" panose="020B0502020104020203" pitchFamily="34" charset="0"/>
              </a:rPr>
              <a:t>client browses remote directory, sends commands over control connection (</a:t>
            </a:r>
            <a:r>
              <a:rPr lang="en-US" altLang="en-US" sz="2000" b="1">
                <a:latin typeface="Gill Sans MT" panose="020B0502020104020203" pitchFamily="34" charset="0"/>
              </a:rPr>
              <a:t>username and password,</a:t>
            </a:r>
            <a:r>
              <a:rPr lang="en-GB" altLang="en-US" sz="2000" b="1">
                <a:latin typeface="Gill Sans MT" panose="020B0502020104020203" pitchFamily="34" charset="0"/>
              </a:rPr>
              <a:t> commands to</a:t>
            </a:r>
          </a:p>
          <a:p>
            <a:r>
              <a:rPr lang="en-GB" altLang="en-US" sz="2000" b="1">
                <a:latin typeface="Gill Sans MT" panose="020B0502020104020203" pitchFamily="34" charset="0"/>
              </a:rPr>
              <a:t>change remote directory, and commands to “put” and “get” files</a:t>
            </a:r>
            <a:r>
              <a:rPr lang="en-GB" altLang="en-US" sz="2000">
                <a:latin typeface="Gill Sans MT" panose="020B0502020104020203" pitchFamily="34" charset="0"/>
              </a:rPr>
              <a:t>)</a:t>
            </a:r>
            <a:endParaRPr lang="en-US" altLang="en-US" sz="2000">
              <a:latin typeface="Gill Sans MT" panose="020B0502020104020203" pitchFamily="34" charset="0"/>
            </a:endParaRPr>
          </a:p>
          <a:p>
            <a:r>
              <a:rPr lang="en-US" altLang="en-US" sz="2000">
                <a:latin typeface="Gill Sans MT" panose="020B0502020104020203" pitchFamily="34" charset="0"/>
              </a:rPr>
              <a:t>when server receives file transfer command, </a:t>
            </a:r>
            <a:r>
              <a:rPr lang="en-US" altLang="en-US" sz="2000" i="1">
                <a:solidFill>
                  <a:srgbClr val="CC0000"/>
                </a:solidFill>
                <a:latin typeface="Gill Sans MT" panose="020B0502020104020203" pitchFamily="34" charset="0"/>
              </a:rPr>
              <a:t>server</a:t>
            </a:r>
            <a:r>
              <a:rPr lang="en-US" altLang="en-US" sz="2000">
                <a:latin typeface="Gill Sans MT" panose="020B0502020104020203" pitchFamily="34" charset="0"/>
              </a:rPr>
              <a:t> opens </a:t>
            </a:r>
            <a:r>
              <a:rPr lang="en-US" altLang="en-US" sz="2000" i="1">
                <a:latin typeface="Gill Sans MT" panose="020B0502020104020203" pitchFamily="34" charset="0"/>
              </a:rPr>
              <a:t>2</a:t>
            </a:r>
            <a:r>
              <a:rPr lang="en-US" altLang="en-US" sz="2000" i="1" baseline="30000">
                <a:latin typeface="Gill Sans MT" panose="020B0502020104020203" pitchFamily="34" charset="0"/>
              </a:rPr>
              <a:t>nd</a:t>
            </a:r>
            <a:r>
              <a:rPr lang="en-US" altLang="en-US" sz="2000" i="1">
                <a:latin typeface="Gill Sans MT" panose="020B0502020104020203" pitchFamily="34" charset="0"/>
              </a:rPr>
              <a:t> </a:t>
            </a:r>
            <a:r>
              <a:rPr lang="en-US" altLang="en-US" sz="2000">
                <a:latin typeface="Gill Sans MT" panose="020B0502020104020203" pitchFamily="34" charset="0"/>
              </a:rPr>
              <a:t>TCP data connection (for file) </a:t>
            </a:r>
            <a:r>
              <a:rPr lang="en-US" altLang="en-US" sz="2000" i="1">
                <a:latin typeface="Gill Sans MT" panose="020B0502020104020203" pitchFamily="34" charset="0"/>
              </a:rPr>
              <a:t>to </a:t>
            </a:r>
            <a:r>
              <a:rPr lang="en-US" altLang="en-US" sz="2000">
                <a:latin typeface="Gill Sans MT" panose="020B0502020104020203" pitchFamily="34" charset="0"/>
              </a:rPr>
              <a:t>client</a:t>
            </a:r>
          </a:p>
          <a:p>
            <a:r>
              <a:rPr lang="en-US" altLang="en-US" sz="2000">
                <a:latin typeface="Gill Sans MT" panose="020B0502020104020203" pitchFamily="34" charset="0"/>
              </a:rPr>
              <a:t>after transferring one file, server closes data connection</a:t>
            </a:r>
          </a:p>
        </p:txBody>
      </p:sp>
      <p:sp>
        <p:nvSpPr>
          <p:cNvPr id="15366" name="Text Box 15"/>
          <p:cNvSpPr txBox="1">
            <a:spLocks noChangeArrowheads="1"/>
          </p:cNvSpPr>
          <p:nvPr/>
        </p:nvSpPr>
        <p:spPr bwMode="auto">
          <a:xfrm>
            <a:off x="6389689" y="2533650"/>
            <a:ext cx="663575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>
                <a:solidFill>
                  <a:srgbClr val="000000"/>
                </a:solidFill>
                <a:cs typeface="Arial" panose="020B0604020202020204" pitchFamily="34" charset="0"/>
              </a:rPr>
              <a:t>FTP</a:t>
            </a:r>
          </a:p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>
                <a:solidFill>
                  <a:srgbClr val="000000"/>
                </a:solidFill>
                <a:cs typeface="Arial" panose="020B0604020202020204" pitchFamily="34" charset="0"/>
              </a:rPr>
              <a:t>client</a:t>
            </a:r>
          </a:p>
        </p:txBody>
      </p:sp>
      <p:sp>
        <p:nvSpPr>
          <p:cNvPr id="15367" name="Text Box 16"/>
          <p:cNvSpPr txBox="1">
            <a:spLocks noChangeArrowheads="1"/>
          </p:cNvSpPr>
          <p:nvPr/>
        </p:nvSpPr>
        <p:spPr bwMode="auto">
          <a:xfrm>
            <a:off x="9412288" y="2543175"/>
            <a:ext cx="75565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>
                <a:solidFill>
                  <a:srgbClr val="000000"/>
                </a:solidFill>
                <a:cs typeface="Arial" panose="020B0604020202020204" pitchFamily="34" charset="0"/>
              </a:rPr>
              <a:t>FTP</a:t>
            </a:r>
          </a:p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>
                <a:solidFill>
                  <a:srgbClr val="000000"/>
                </a:solidFill>
                <a:cs typeface="Arial" panose="020B0604020202020204" pitchFamily="34" charset="0"/>
              </a:rPr>
              <a:t>server</a:t>
            </a:r>
          </a:p>
        </p:txBody>
      </p:sp>
      <p:sp>
        <p:nvSpPr>
          <p:cNvPr id="15368" name="Line 17"/>
          <p:cNvSpPr>
            <a:spLocks noChangeShapeType="1"/>
          </p:cNvSpPr>
          <p:nvPr/>
        </p:nvSpPr>
        <p:spPr bwMode="auto">
          <a:xfrm>
            <a:off x="7032626" y="2011363"/>
            <a:ext cx="25622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5369" name="Line 18"/>
          <p:cNvSpPr>
            <a:spLocks noChangeShapeType="1"/>
          </p:cNvSpPr>
          <p:nvPr/>
        </p:nvSpPr>
        <p:spPr bwMode="auto">
          <a:xfrm flipV="1">
            <a:off x="7051676" y="2325689"/>
            <a:ext cx="2562225" cy="95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5370" name="Text Box 19"/>
          <p:cNvSpPr txBox="1">
            <a:spLocks noChangeArrowheads="1"/>
          </p:cNvSpPr>
          <p:nvPr/>
        </p:nvSpPr>
        <p:spPr bwMode="auto">
          <a:xfrm>
            <a:off x="7104064" y="1473200"/>
            <a:ext cx="24098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i="1">
                <a:solidFill>
                  <a:srgbClr val="CC0000"/>
                </a:solidFill>
                <a:cs typeface="Arial" panose="020B0604020202020204" pitchFamily="34" charset="0"/>
              </a:rPr>
              <a:t>TCP control connection,</a:t>
            </a:r>
          </a:p>
          <a:p>
            <a:pPr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i="1">
                <a:solidFill>
                  <a:srgbClr val="CC0000"/>
                </a:solidFill>
                <a:cs typeface="Arial" panose="020B0604020202020204" pitchFamily="34" charset="0"/>
              </a:rPr>
              <a:t>server port 21</a:t>
            </a:r>
            <a:endParaRPr lang="en-US" altLang="en-US" sz="2000" i="1">
              <a:solidFill>
                <a:srgbClr val="CC0000"/>
              </a:solidFill>
              <a:cs typeface="Arial" panose="020B0604020202020204" pitchFamily="34" charset="0"/>
            </a:endParaRPr>
          </a:p>
        </p:txBody>
      </p:sp>
      <p:sp>
        <p:nvSpPr>
          <p:cNvPr id="15371" name="Text Box 20"/>
          <p:cNvSpPr txBox="1">
            <a:spLocks noChangeArrowheads="1"/>
          </p:cNvSpPr>
          <p:nvPr/>
        </p:nvSpPr>
        <p:spPr bwMode="auto">
          <a:xfrm>
            <a:off x="7078664" y="2400300"/>
            <a:ext cx="24098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i="1">
                <a:solidFill>
                  <a:srgbClr val="CC0000"/>
                </a:solidFill>
                <a:cs typeface="Arial" panose="020B0604020202020204" pitchFamily="34" charset="0"/>
              </a:rPr>
              <a:t>TCP data connection,</a:t>
            </a:r>
          </a:p>
          <a:p>
            <a:pPr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i="1">
                <a:solidFill>
                  <a:srgbClr val="CC0000"/>
                </a:solidFill>
                <a:cs typeface="Arial" panose="020B0604020202020204" pitchFamily="34" charset="0"/>
              </a:rPr>
              <a:t>server port 20</a:t>
            </a:r>
            <a:endParaRPr lang="en-US" altLang="en-US" sz="2000" i="1">
              <a:solidFill>
                <a:srgbClr val="CC0000"/>
              </a:solidFill>
              <a:cs typeface="Arial" panose="020B0604020202020204" pitchFamily="34" charset="0"/>
            </a:endParaRPr>
          </a:p>
        </p:txBody>
      </p:sp>
      <p:sp>
        <p:nvSpPr>
          <p:cNvPr id="214037" name="Rectangle 21"/>
          <p:cNvSpPr>
            <a:spLocks noChangeArrowheads="1"/>
          </p:cNvSpPr>
          <p:nvPr/>
        </p:nvSpPr>
        <p:spPr bwMode="auto">
          <a:xfrm>
            <a:off x="6227764" y="3425826"/>
            <a:ext cx="4440237" cy="293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sz="2000">
                <a:solidFill>
                  <a:srgbClr val="00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server opens another TCP data connection to transfer another file</a:t>
            </a:r>
          </a:p>
          <a:p>
            <a:pPr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sz="2000">
                <a:solidFill>
                  <a:srgbClr val="00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control connection: </a:t>
            </a:r>
            <a:r>
              <a:rPr lang="ja-JP" altLang="en-US" sz="2000" i="1">
                <a:solidFill>
                  <a:srgbClr val="CC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“</a:t>
            </a:r>
            <a:r>
              <a:rPr lang="en-US" altLang="ja-JP" sz="2000" i="1">
                <a:solidFill>
                  <a:srgbClr val="CC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out of band</a:t>
            </a:r>
            <a:r>
              <a:rPr lang="ja-JP" altLang="en-US" sz="2000" i="1">
                <a:solidFill>
                  <a:srgbClr val="CC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”</a:t>
            </a:r>
            <a:endParaRPr lang="en-US" altLang="ja-JP" sz="2000" i="1">
              <a:solidFill>
                <a:srgbClr val="CC0000"/>
              </a:solidFill>
              <a:latin typeface="Gill Sans MT" panose="020B0502020104020203" pitchFamily="34" charset="0"/>
              <a:cs typeface="Arial" panose="020B0604020202020204" pitchFamily="34" charset="0"/>
            </a:endParaRPr>
          </a:p>
          <a:p>
            <a:pPr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sz="2000">
                <a:solidFill>
                  <a:srgbClr val="00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FTP server maintains </a:t>
            </a:r>
            <a:r>
              <a:rPr lang="ja-JP" altLang="en-US" sz="2000">
                <a:solidFill>
                  <a:srgbClr val="00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“</a:t>
            </a:r>
            <a:r>
              <a:rPr lang="en-US" altLang="ja-JP" sz="2000">
                <a:solidFill>
                  <a:srgbClr val="00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state</a:t>
            </a:r>
            <a:r>
              <a:rPr lang="ja-JP" altLang="en-US" sz="2000">
                <a:solidFill>
                  <a:srgbClr val="00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”</a:t>
            </a:r>
            <a:r>
              <a:rPr lang="en-US" altLang="ja-JP" sz="2000">
                <a:solidFill>
                  <a:srgbClr val="00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: current directory, earlier authentication</a:t>
            </a:r>
            <a:endParaRPr lang="en-US" altLang="ja-JP" sz="2000">
              <a:solidFill>
                <a:srgbClr val="FF0000"/>
              </a:solidFill>
              <a:latin typeface="Gill Sans MT" panose="020B0502020104020203" pitchFamily="34" charset="0"/>
              <a:cs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sz="2000">
                <a:solidFill>
                  <a:srgbClr val="FF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HTTP </a:t>
            </a:r>
            <a:r>
              <a:rPr lang="en-US" altLang="en-US" sz="1600">
                <a:solidFill>
                  <a:srgbClr val="00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“in-band” sends request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sz="1600">
                <a:solidFill>
                  <a:srgbClr val="00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and response header lines into the same TCP connection that carries the transferred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sz="1600">
                <a:solidFill>
                  <a:srgbClr val="000000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file itself</a:t>
            </a:r>
          </a:p>
        </p:txBody>
      </p:sp>
      <p:pic>
        <p:nvPicPr>
          <p:cNvPr id="15373" name="Picture 2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714" y="868364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74" name="Line 23"/>
          <p:cNvSpPr>
            <a:spLocks noChangeShapeType="1"/>
          </p:cNvSpPr>
          <p:nvPr/>
        </p:nvSpPr>
        <p:spPr bwMode="auto">
          <a:xfrm>
            <a:off x="7250114" y="2697164"/>
            <a:ext cx="3905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pSp>
        <p:nvGrpSpPr>
          <p:cNvPr id="15375" name="Group 32"/>
          <p:cNvGrpSpPr>
            <a:grpSpLocks/>
          </p:cNvGrpSpPr>
          <p:nvPr/>
        </p:nvGrpSpPr>
        <p:grpSpPr bwMode="auto">
          <a:xfrm>
            <a:off x="9653588" y="1674813"/>
            <a:ext cx="444500" cy="728662"/>
            <a:chOff x="4140" y="429"/>
            <a:chExt cx="1425" cy="2396"/>
          </a:xfrm>
        </p:grpSpPr>
        <p:sp>
          <p:nvSpPr>
            <p:cNvPr id="15379" name="Freeform 33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9 h 2742"/>
                <a:gd name="T6" fmla="*/ 0 w 354"/>
                <a:gd name="T7" fmla="*/ 10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5380" name="Rectangle 34"/>
            <p:cNvSpPr>
              <a:spLocks noChangeArrowheads="1"/>
            </p:cNvSpPr>
            <p:nvPr/>
          </p:nvSpPr>
          <p:spPr bwMode="auto">
            <a:xfrm>
              <a:off x="4206" y="429"/>
              <a:ext cx="1048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381" name="Freeform 35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5382" name="Freeform 36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5383" name="Rectangle 37"/>
            <p:cNvSpPr>
              <a:spLocks noChangeArrowheads="1"/>
            </p:cNvSpPr>
            <p:nvPr/>
          </p:nvSpPr>
          <p:spPr bwMode="auto">
            <a:xfrm>
              <a:off x="4211" y="695"/>
              <a:ext cx="595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15384" name="Group 38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5409" name="AutoShape 39"/>
              <p:cNvSpPr>
                <a:spLocks noChangeArrowheads="1"/>
              </p:cNvSpPr>
              <p:nvPr/>
            </p:nvSpPr>
            <p:spPr bwMode="auto">
              <a:xfrm>
                <a:off x="616" y="2569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5410" name="AutoShape 40"/>
              <p:cNvSpPr>
                <a:spLocks noChangeArrowheads="1"/>
              </p:cNvSpPr>
              <p:nvPr/>
            </p:nvSpPr>
            <p:spPr bwMode="auto">
              <a:xfrm>
                <a:off x="635" y="2584"/>
                <a:ext cx="686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5385" name="Rectangle 41"/>
            <p:cNvSpPr>
              <a:spLocks noChangeArrowheads="1"/>
            </p:cNvSpPr>
            <p:nvPr/>
          </p:nvSpPr>
          <p:spPr bwMode="auto">
            <a:xfrm>
              <a:off x="4227" y="1019"/>
              <a:ext cx="595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15386" name="Group 42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5407" name="AutoShape 43"/>
              <p:cNvSpPr>
                <a:spLocks noChangeArrowheads="1"/>
              </p:cNvSpPr>
              <p:nvPr/>
            </p:nvSpPr>
            <p:spPr bwMode="auto">
              <a:xfrm>
                <a:off x="612" y="2567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5408" name="AutoShape 44"/>
              <p:cNvSpPr>
                <a:spLocks noChangeArrowheads="1"/>
              </p:cNvSpPr>
              <p:nvPr/>
            </p:nvSpPr>
            <p:spPr bwMode="auto">
              <a:xfrm>
                <a:off x="631" y="2583"/>
                <a:ext cx="68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5387" name="Rectangle 45"/>
            <p:cNvSpPr>
              <a:spLocks noChangeArrowheads="1"/>
            </p:cNvSpPr>
            <p:nvPr/>
          </p:nvSpPr>
          <p:spPr bwMode="auto">
            <a:xfrm>
              <a:off x="4216" y="1358"/>
              <a:ext cx="595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388" name="Rectangle 46"/>
            <p:cNvSpPr>
              <a:spLocks noChangeArrowheads="1"/>
            </p:cNvSpPr>
            <p:nvPr/>
          </p:nvSpPr>
          <p:spPr bwMode="auto">
            <a:xfrm>
              <a:off x="4227" y="1656"/>
              <a:ext cx="595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15389" name="Group 47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5405" name="AutoShape 48"/>
              <p:cNvSpPr>
                <a:spLocks noChangeArrowheads="1"/>
              </p:cNvSpPr>
              <p:nvPr/>
            </p:nvSpPr>
            <p:spPr bwMode="auto">
              <a:xfrm>
                <a:off x="615" y="2570"/>
                <a:ext cx="723" cy="13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5406" name="AutoShape 49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5390" name="Freeform 50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grpSp>
          <p:nvGrpSpPr>
            <p:cNvPr id="15391" name="Group 51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5403" name="AutoShape 52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5404" name="AutoShape 53"/>
              <p:cNvSpPr>
                <a:spLocks noChangeArrowheads="1"/>
              </p:cNvSpPr>
              <p:nvPr/>
            </p:nvSpPr>
            <p:spPr bwMode="auto">
              <a:xfrm>
                <a:off x="635" y="2584"/>
                <a:ext cx="68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5392" name="Rectangle 54"/>
            <p:cNvSpPr>
              <a:spLocks noChangeArrowheads="1"/>
            </p:cNvSpPr>
            <p:nvPr/>
          </p:nvSpPr>
          <p:spPr bwMode="auto">
            <a:xfrm>
              <a:off x="5249" y="429"/>
              <a:ext cx="66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393" name="Freeform 55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5394" name="Freeform 56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3 h 288"/>
                <a:gd name="T4" fmla="*/ 2 w 304"/>
                <a:gd name="T5" fmla="*/ 3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5395" name="Oval 57"/>
            <p:cNvSpPr>
              <a:spLocks noChangeArrowheads="1"/>
            </p:cNvSpPr>
            <p:nvPr/>
          </p:nvSpPr>
          <p:spPr bwMode="auto">
            <a:xfrm>
              <a:off x="5519" y="2611"/>
              <a:ext cx="46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396" name="Freeform 58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5397" name="AutoShape 59"/>
            <p:cNvSpPr>
              <a:spLocks noChangeArrowheads="1"/>
            </p:cNvSpPr>
            <p:nvPr/>
          </p:nvSpPr>
          <p:spPr bwMode="auto">
            <a:xfrm>
              <a:off x="4140" y="2679"/>
              <a:ext cx="1201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398" name="AutoShape 60"/>
            <p:cNvSpPr>
              <a:spLocks noChangeArrowheads="1"/>
            </p:cNvSpPr>
            <p:nvPr/>
          </p:nvSpPr>
          <p:spPr bwMode="auto">
            <a:xfrm>
              <a:off x="4206" y="2710"/>
              <a:ext cx="1069" cy="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399" name="Oval 61"/>
            <p:cNvSpPr>
              <a:spLocks noChangeArrowheads="1"/>
            </p:cNvSpPr>
            <p:nvPr/>
          </p:nvSpPr>
          <p:spPr bwMode="auto">
            <a:xfrm>
              <a:off x="4308" y="2381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400" name="Oval 62"/>
            <p:cNvSpPr>
              <a:spLocks noChangeArrowheads="1"/>
            </p:cNvSpPr>
            <p:nvPr/>
          </p:nvSpPr>
          <p:spPr bwMode="auto">
            <a:xfrm>
              <a:off x="4486" y="2387"/>
              <a:ext cx="158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16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401" name="Oval 63"/>
            <p:cNvSpPr>
              <a:spLocks noChangeArrowheads="1"/>
            </p:cNvSpPr>
            <p:nvPr/>
          </p:nvSpPr>
          <p:spPr bwMode="auto">
            <a:xfrm>
              <a:off x="4664" y="2381"/>
              <a:ext cx="158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402" name="Rectangle 64"/>
            <p:cNvSpPr>
              <a:spLocks noChangeArrowheads="1"/>
            </p:cNvSpPr>
            <p:nvPr/>
          </p:nvSpPr>
          <p:spPr bwMode="auto">
            <a:xfrm>
              <a:off x="5061" y="1833"/>
              <a:ext cx="87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5376" name="Group 65"/>
          <p:cNvGrpSpPr>
            <a:grpSpLocks/>
          </p:cNvGrpSpPr>
          <p:nvPr/>
        </p:nvGrpSpPr>
        <p:grpSpPr bwMode="auto">
          <a:xfrm>
            <a:off x="6180139" y="1665288"/>
            <a:ext cx="873125" cy="893762"/>
            <a:chOff x="-44" y="1473"/>
            <a:chExt cx="981" cy="1105"/>
          </a:xfrm>
        </p:grpSpPr>
        <p:pic>
          <p:nvPicPr>
            <p:cNvPr id="15377" name="Picture 66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78" name="Freeform 67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607767 w 356"/>
                <a:gd name="T3" fmla="*/ 273937 h 368"/>
                <a:gd name="T4" fmla="*/ 3093555 w 356"/>
                <a:gd name="T5" fmla="*/ 5706969 h 368"/>
                <a:gd name="T6" fmla="*/ 681775 w 356"/>
                <a:gd name="T7" fmla="*/ 713733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4484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3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7411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E22B6E01-9BEB-4E2C-A54E-57B5855C0D51}" type="slidenum"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4</a:t>
            </a:fld>
            <a:endParaRPr lang="en-US" altLang="en-US" sz="11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17412" name="Picture 11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988" y="892175"/>
            <a:ext cx="5942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>
          <a:xfrm>
            <a:off x="1860550" y="271463"/>
            <a:ext cx="7772400" cy="817562"/>
          </a:xfrm>
        </p:spPr>
        <p:txBody>
          <a:bodyPr/>
          <a:lstStyle/>
          <a:p>
            <a:r>
              <a:rPr lang="en-US" altLang="en-US">
                <a:latin typeface="Gill Sans MT" panose="020B0502020104020203" pitchFamily="34" charset="0"/>
              </a:rPr>
              <a:t>FTP commands, responses</a:t>
            </a:r>
            <a:endParaRPr lang="en-US" altLang="en-US" sz="3200">
              <a:latin typeface="Gill Sans MT" panose="020B0502020104020203" pitchFamily="34" charset="0"/>
            </a:endParaRPr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57400" y="1333500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i="1">
                <a:solidFill>
                  <a:srgbClr val="CC0000"/>
                </a:solidFill>
                <a:latin typeface="Gill Sans MT" panose="020B0502020104020203" pitchFamily="34" charset="0"/>
              </a:rPr>
              <a:t>sample commands:</a:t>
            </a:r>
            <a:endParaRPr lang="en-US" altLang="en-US" sz="2000" i="1">
              <a:solidFill>
                <a:srgbClr val="CC0000"/>
              </a:solidFill>
              <a:latin typeface="Gill Sans MT" panose="020B0502020104020203" pitchFamily="34" charset="0"/>
            </a:endParaRPr>
          </a:p>
          <a:p>
            <a:r>
              <a:rPr lang="en-US" altLang="en-US" sz="2000">
                <a:latin typeface="Gill Sans MT" panose="020B0502020104020203" pitchFamily="34" charset="0"/>
              </a:rPr>
              <a:t>sent as ASCII text over control channel</a:t>
            </a:r>
            <a:endParaRPr lang="en-US" altLang="en-US" sz="2400">
              <a:latin typeface="Gill Sans MT" panose="020B0502020104020203" pitchFamily="34" charset="0"/>
            </a:endParaRPr>
          </a:p>
          <a:p>
            <a:r>
              <a:rPr lang="en-US" altLang="en-US" sz="2000" b="1">
                <a:latin typeface="Courier New" panose="02070309020205020404" pitchFamily="49" charset="0"/>
              </a:rPr>
              <a:t>USER </a:t>
            </a:r>
            <a:r>
              <a:rPr lang="en-US" altLang="en-US" sz="2000" b="1" i="1">
                <a:latin typeface="Courier New" panose="02070309020205020404" pitchFamily="49" charset="0"/>
              </a:rPr>
              <a:t>username</a:t>
            </a:r>
            <a:endParaRPr lang="en-US" altLang="en-US" sz="2400" i="1">
              <a:latin typeface="Gill Sans MT" panose="020B0502020104020203" pitchFamily="34" charset="0"/>
            </a:endParaRPr>
          </a:p>
          <a:p>
            <a:r>
              <a:rPr lang="en-US" altLang="en-US" sz="2000" b="1">
                <a:latin typeface="Courier New" panose="02070309020205020404" pitchFamily="49" charset="0"/>
              </a:rPr>
              <a:t>PASS </a:t>
            </a:r>
            <a:r>
              <a:rPr lang="en-US" altLang="en-US" sz="2000" b="1" i="1">
                <a:latin typeface="Courier New" panose="02070309020205020404" pitchFamily="49" charset="0"/>
              </a:rPr>
              <a:t>password</a:t>
            </a:r>
            <a:endParaRPr lang="en-US" altLang="en-US" sz="2400" i="1">
              <a:latin typeface="Gill Sans MT" panose="020B0502020104020203" pitchFamily="34" charset="0"/>
            </a:endParaRPr>
          </a:p>
          <a:p>
            <a:r>
              <a:rPr lang="en-US" altLang="en-US" sz="2000" b="1">
                <a:latin typeface="Courier New" panose="02070309020205020404" pitchFamily="49" charset="0"/>
              </a:rPr>
              <a:t>LIST</a:t>
            </a:r>
            <a:r>
              <a:rPr lang="en-US" altLang="en-US" sz="2400">
                <a:latin typeface="Gill Sans MT" panose="020B0502020104020203" pitchFamily="34" charset="0"/>
              </a:rPr>
              <a:t> </a:t>
            </a:r>
            <a:r>
              <a:rPr lang="en-US" altLang="en-US" sz="2000">
                <a:latin typeface="Gill Sans MT" panose="020B0502020104020203" pitchFamily="34" charset="0"/>
              </a:rPr>
              <a:t>return list of file in current directory</a:t>
            </a:r>
            <a:endParaRPr lang="en-US" altLang="en-US" sz="2400">
              <a:latin typeface="Gill Sans MT" panose="020B0502020104020203" pitchFamily="34" charset="0"/>
            </a:endParaRPr>
          </a:p>
          <a:p>
            <a:r>
              <a:rPr lang="en-US" altLang="en-US" sz="2000" b="1">
                <a:latin typeface="Courier New" panose="02070309020205020404" pitchFamily="49" charset="0"/>
              </a:rPr>
              <a:t>RETR filename</a:t>
            </a:r>
            <a:r>
              <a:rPr lang="en-US" altLang="en-US" sz="2400">
                <a:latin typeface="Gill Sans MT" panose="020B0502020104020203" pitchFamily="34" charset="0"/>
              </a:rPr>
              <a:t> </a:t>
            </a:r>
            <a:r>
              <a:rPr lang="en-US" altLang="en-US" sz="2000">
                <a:latin typeface="Gill Sans MT" panose="020B0502020104020203" pitchFamily="34" charset="0"/>
              </a:rPr>
              <a:t>retrieves (gets) file</a:t>
            </a:r>
            <a:endParaRPr lang="en-US" altLang="en-US" sz="2400">
              <a:latin typeface="Gill Sans MT" panose="020B0502020104020203" pitchFamily="34" charset="0"/>
            </a:endParaRPr>
          </a:p>
          <a:p>
            <a:r>
              <a:rPr lang="en-US" altLang="en-US" sz="2000" b="1">
                <a:latin typeface="Courier New" panose="02070309020205020404" pitchFamily="49" charset="0"/>
              </a:rPr>
              <a:t>STOR filename</a:t>
            </a:r>
            <a:r>
              <a:rPr lang="en-US" altLang="en-US" sz="2400">
                <a:latin typeface="Gill Sans MT" panose="020B0502020104020203" pitchFamily="34" charset="0"/>
              </a:rPr>
              <a:t> </a:t>
            </a:r>
            <a:r>
              <a:rPr lang="en-US" altLang="en-US" sz="2000">
                <a:latin typeface="Gill Sans MT" panose="020B0502020104020203" pitchFamily="34" charset="0"/>
              </a:rPr>
              <a:t>stores (puts) file onto remote host</a:t>
            </a:r>
          </a:p>
        </p:txBody>
      </p:sp>
      <p:sp>
        <p:nvSpPr>
          <p:cNvPr id="17415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375400" y="1333500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i="1">
                <a:solidFill>
                  <a:srgbClr val="CC0000"/>
                </a:solidFill>
                <a:latin typeface="Gill Sans MT" panose="020B0502020104020203" pitchFamily="34" charset="0"/>
              </a:rPr>
              <a:t>sample return codes</a:t>
            </a:r>
          </a:p>
          <a:p>
            <a:r>
              <a:rPr lang="en-US" altLang="en-US" sz="2000">
                <a:latin typeface="Gill Sans MT" panose="020B0502020104020203" pitchFamily="34" charset="0"/>
              </a:rPr>
              <a:t>status code and phrase (as in HTTP)</a:t>
            </a:r>
            <a:endParaRPr lang="en-US" altLang="en-US" sz="2400">
              <a:latin typeface="Gill Sans MT" panose="020B0502020104020203" pitchFamily="34" charset="0"/>
            </a:endParaRPr>
          </a:p>
          <a:p>
            <a:r>
              <a:rPr lang="en-US" altLang="en-US" sz="2000" b="1">
                <a:latin typeface="Courier New" panose="02070309020205020404" pitchFamily="49" charset="0"/>
              </a:rPr>
              <a:t>331 Username OK, password required</a:t>
            </a:r>
          </a:p>
          <a:p>
            <a:r>
              <a:rPr lang="en-US" altLang="en-US" sz="2000" b="1">
                <a:latin typeface="Courier New" panose="02070309020205020404" pitchFamily="49" charset="0"/>
              </a:rPr>
              <a:t>125 data connection already open; transfer starting</a:t>
            </a:r>
          </a:p>
          <a:p>
            <a:r>
              <a:rPr lang="en-US" altLang="en-US" sz="2000" b="1">
                <a:latin typeface="Courier New" panose="02070309020205020404" pitchFamily="49" charset="0"/>
              </a:rPr>
              <a:t>425 Can</a:t>
            </a:r>
            <a:r>
              <a:rPr lang="ja-JP" altLang="en-US" sz="2000" b="1">
                <a:latin typeface="Courier New" panose="02070309020205020404" pitchFamily="49" charset="0"/>
              </a:rPr>
              <a:t>’</a:t>
            </a:r>
            <a:r>
              <a:rPr lang="en-US" altLang="ja-JP" sz="2000" b="1">
                <a:latin typeface="Courier New" panose="02070309020205020404" pitchFamily="49" charset="0"/>
              </a:rPr>
              <a:t>t open data connection</a:t>
            </a:r>
          </a:p>
          <a:p>
            <a:r>
              <a:rPr lang="en-US" altLang="en-US" sz="2000" b="1">
                <a:latin typeface="Courier New" panose="02070309020205020404" pitchFamily="49" charset="0"/>
              </a:rPr>
              <a:t>452 Error writing file</a:t>
            </a:r>
            <a:endParaRPr lang="en-US" altLang="en-US" sz="240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740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9459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84E8F68F-24F7-4D0E-AFE5-0D549DEC26C3}" type="slidenum"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5</a:t>
            </a:fld>
            <a:endParaRPr lang="en-US" altLang="en-US" sz="11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>
          <a:xfrm>
            <a:off x="1990725" y="301625"/>
            <a:ext cx="7772400" cy="869950"/>
          </a:xfrm>
        </p:spPr>
        <p:txBody>
          <a:bodyPr/>
          <a:lstStyle/>
          <a:p>
            <a:r>
              <a:rPr lang="en-US" altLang="en-US">
                <a:latin typeface="Gill Sans MT" panose="020B0502020104020203" pitchFamily="34" charset="0"/>
              </a:rPr>
              <a:t>Electronic mail</a:t>
            </a:r>
            <a:endParaRPr lang="en-US" altLang="en-US" sz="3200">
              <a:latin typeface="Gill Sans MT" panose="020B0502020104020203" pitchFamily="34" charset="0"/>
            </a:endParaRP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68514" y="1366838"/>
            <a:ext cx="3933825" cy="487680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i="1">
                <a:solidFill>
                  <a:srgbClr val="CC0000"/>
                </a:solidFill>
                <a:latin typeface="Gill Sans MT" panose="020B0502020104020203" pitchFamily="34" charset="0"/>
              </a:rPr>
              <a:t>Three major components:</a:t>
            </a:r>
            <a:r>
              <a:rPr lang="en-US" altLang="en-US" sz="2400">
                <a:solidFill>
                  <a:srgbClr val="CC0000"/>
                </a:solidFill>
                <a:latin typeface="Gill Sans MT" panose="020B0502020104020203" pitchFamily="34" charset="0"/>
              </a:rPr>
              <a:t> </a:t>
            </a:r>
          </a:p>
          <a:p>
            <a:r>
              <a:rPr lang="en-US" altLang="en-US" sz="2000">
                <a:latin typeface="Gill Sans MT" panose="020B0502020104020203" pitchFamily="34" charset="0"/>
              </a:rPr>
              <a:t>user agents </a:t>
            </a:r>
          </a:p>
          <a:p>
            <a:r>
              <a:rPr lang="en-US" altLang="en-US" sz="2000">
                <a:latin typeface="Gill Sans MT" panose="020B0502020104020203" pitchFamily="34" charset="0"/>
              </a:rPr>
              <a:t>mail servers </a:t>
            </a:r>
          </a:p>
          <a:p>
            <a:pPr>
              <a:spcAft>
                <a:spcPct val="75000"/>
              </a:spcAft>
            </a:pPr>
            <a:r>
              <a:rPr lang="en-US" altLang="en-US" sz="2000">
                <a:latin typeface="Gill Sans MT" panose="020B0502020104020203" pitchFamily="34" charset="0"/>
              </a:rPr>
              <a:t>simple mail transfer protocol: SMTP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rgbClr val="CC0000"/>
                </a:solidFill>
                <a:latin typeface="Gill Sans MT" panose="020B0502020104020203" pitchFamily="34" charset="0"/>
              </a:rPr>
              <a:t>User Agent</a:t>
            </a:r>
          </a:p>
          <a:p>
            <a:r>
              <a:rPr lang="en-US" altLang="en-US" sz="2000">
                <a:latin typeface="Gill Sans MT" panose="020B0502020104020203" pitchFamily="34" charset="0"/>
              </a:rPr>
              <a:t>a.k.a. </a:t>
            </a:r>
            <a:r>
              <a:rPr lang="ja-JP" altLang="en-US" sz="2000">
                <a:latin typeface="Gill Sans MT" panose="020B0502020104020203" pitchFamily="34" charset="0"/>
              </a:rPr>
              <a:t>“</a:t>
            </a:r>
            <a:r>
              <a:rPr lang="en-US" altLang="ja-JP" sz="2000">
                <a:latin typeface="Gill Sans MT" panose="020B0502020104020203" pitchFamily="34" charset="0"/>
              </a:rPr>
              <a:t>mail reader</a:t>
            </a:r>
            <a:r>
              <a:rPr lang="ja-JP" altLang="en-US" sz="2000">
                <a:latin typeface="Gill Sans MT" panose="020B0502020104020203" pitchFamily="34" charset="0"/>
              </a:rPr>
              <a:t>”</a:t>
            </a:r>
            <a:endParaRPr lang="en-US" altLang="ja-JP" sz="2000">
              <a:latin typeface="Gill Sans MT" panose="020B0502020104020203" pitchFamily="34" charset="0"/>
            </a:endParaRPr>
          </a:p>
          <a:p>
            <a:r>
              <a:rPr lang="en-US" altLang="en-US" sz="2000">
                <a:latin typeface="Gill Sans MT" panose="020B0502020104020203" pitchFamily="34" charset="0"/>
              </a:rPr>
              <a:t>composing, editing, reading mail messages</a:t>
            </a:r>
          </a:p>
          <a:p>
            <a:r>
              <a:rPr lang="en-US" altLang="en-US" sz="2000">
                <a:latin typeface="Gill Sans MT" panose="020B0502020104020203" pitchFamily="34" charset="0"/>
              </a:rPr>
              <a:t>e.g., Outlook, Thunderbird, iPhone mail client</a:t>
            </a:r>
          </a:p>
          <a:p>
            <a:r>
              <a:rPr lang="en-US" altLang="en-US" sz="2000">
                <a:latin typeface="Gill Sans MT" panose="020B0502020104020203" pitchFamily="34" charset="0"/>
              </a:rPr>
              <a:t>outgoing, incoming messages stored on server</a:t>
            </a:r>
          </a:p>
        </p:txBody>
      </p:sp>
      <p:sp>
        <p:nvSpPr>
          <p:cNvPr id="19462" name="Rectangle 280"/>
          <p:cNvSpPr>
            <a:spLocks noChangeArrowheads="1"/>
          </p:cNvSpPr>
          <p:nvPr/>
        </p:nvSpPr>
        <p:spPr bwMode="auto">
          <a:xfrm>
            <a:off x="8486775" y="628651"/>
            <a:ext cx="1828800" cy="9810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endParaRPr lang="fr-FR" altLang="en-US" sz="20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grpSp>
        <p:nvGrpSpPr>
          <p:cNvPr id="19463" name="Group 279"/>
          <p:cNvGrpSpPr>
            <a:grpSpLocks/>
          </p:cNvGrpSpPr>
          <p:nvPr/>
        </p:nvGrpSpPr>
        <p:grpSpPr bwMode="auto">
          <a:xfrm>
            <a:off x="8583614" y="576263"/>
            <a:ext cx="1736725" cy="927100"/>
            <a:chOff x="4458" y="3335"/>
            <a:chExt cx="1094" cy="584"/>
          </a:xfrm>
        </p:grpSpPr>
        <p:sp>
          <p:nvSpPr>
            <p:cNvPr id="19661" name="Text Box 263"/>
            <p:cNvSpPr txBox="1">
              <a:spLocks noChangeArrowheads="1"/>
            </p:cNvSpPr>
            <p:nvPr/>
          </p:nvSpPr>
          <p:spPr bwMode="auto">
            <a:xfrm>
              <a:off x="4722" y="3725"/>
              <a:ext cx="757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user mailbox</a:t>
              </a:r>
              <a:endParaRPr lang="en-US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19662" name="Group 278"/>
            <p:cNvGrpSpPr>
              <a:grpSpLocks/>
            </p:cNvGrpSpPr>
            <p:nvPr/>
          </p:nvGrpSpPr>
          <p:grpSpPr bwMode="auto"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19665" name="Rectangle 264"/>
              <p:cNvSpPr>
                <a:spLocks noChangeArrowheads="1"/>
              </p:cNvSpPr>
              <p:nvPr/>
            </p:nvSpPr>
            <p:spPr bwMode="auto"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66" name="Line 265"/>
              <p:cNvSpPr>
                <a:spLocks noChangeShapeType="1"/>
              </p:cNvSpPr>
              <p:nvPr/>
            </p:nvSpPr>
            <p:spPr bwMode="auto">
              <a:xfrm>
                <a:off x="4363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67" name="Line 266"/>
              <p:cNvSpPr>
                <a:spLocks noChangeShapeType="1"/>
              </p:cNvSpPr>
              <p:nvPr/>
            </p:nvSpPr>
            <p:spPr bwMode="auto">
              <a:xfrm flipH="1">
                <a:off x="4472" y="3471"/>
                <a:ext cx="6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68" name="Line 267"/>
              <p:cNvSpPr>
                <a:spLocks noChangeShapeType="1"/>
              </p:cNvSpPr>
              <p:nvPr/>
            </p:nvSpPr>
            <p:spPr bwMode="auto">
              <a:xfrm>
                <a:off x="4527" y="347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69" name="Line 268"/>
              <p:cNvSpPr>
                <a:spLocks noChangeShapeType="1"/>
              </p:cNvSpPr>
              <p:nvPr/>
            </p:nvSpPr>
            <p:spPr bwMode="auto">
              <a:xfrm>
                <a:off x="4584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70" name="Line 269"/>
              <p:cNvSpPr>
                <a:spLocks noChangeShapeType="1"/>
              </p:cNvSpPr>
              <p:nvPr/>
            </p:nvSpPr>
            <p:spPr bwMode="auto">
              <a:xfrm>
                <a:off x="4645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71" name="Line 270"/>
              <p:cNvSpPr>
                <a:spLocks noChangeShapeType="1"/>
              </p:cNvSpPr>
              <p:nvPr/>
            </p:nvSpPr>
            <p:spPr bwMode="auto">
              <a:xfrm>
                <a:off x="4701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72" name="Line 271"/>
              <p:cNvSpPr>
                <a:spLocks noChangeShapeType="1"/>
              </p:cNvSpPr>
              <p:nvPr/>
            </p:nvSpPr>
            <p:spPr bwMode="auto">
              <a:xfrm>
                <a:off x="4416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19663" name="Rectangle 272"/>
            <p:cNvSpPr>
              <a:spLocks noChangeArrowheads="1"/>
            </p:cNvSpPr>
            <p:nvPr/>
          </p:nvSpPr>
          <p:spPr bwMode="auto"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9664" name="Text Box 277"/>
            <p:cNvSpPr txBox="1">
              <a:spLocks noChangeArrowheads="1"/>
            </p:cNvSpPr>
            <p:nvPr/>
          </p:nvSpPr>
          <p:spPr bwMode="auto">
            <a:xfrm>
              <a:off x="4630" y="3335"/>
              <a:ext cx="92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outgoing </a:t>
              </a:r>
            </a:p>
            <a:p>
              <a:pPr algn="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message queue</a:t>
              </a:r>
              <a:endParaRPr lang="en-US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pic>
        <p:nvPicPr>
          <p:cNvPr id="19464" name="Picture 23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513" y="947738"/>
            <a:ext cx="319405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465" name="Group 454"/>
          <p:cNvGrpSpPr>
            <a:grpSpLocks/>
          </p:cNvGrpSpPr>
          <p:nvPr/>
        </p:nvGrpSpPr>
        <p:grpSpPr bwMode="auto">
          <a:xfrm>
            <a:off x="6221414" y="1346201"/>
            <a:ext cx="4283075" cy="5178425"/>
            <a:chOff x="2983" y="886"/>
            <a:chExt cx="2674" cy="3224"/>
          </a:xfrm>
        </p:grpSpPr>
        <p:grpSp>
          <p:nvGrpSpPr>
            <p:cNvPr id="19466" name="Group 389"/>
            <p:cNvGrpSpPr>
              <a:grpSpLocks/>
            </p:cNvGrpSpPr>
            <p:nvPr/>
          </p:nvGrpSpPr>
          <p:grpSpPr bwMode="auto">
            <a:xfrm>
              <a:off x="4346" y="1756"/>
              <a:ext cx="301" cy="451"/>
              <a:chOff x="4140" y="429"/>
              <a:chExt cx="1425" cy="2396"/>
            </a:xfrm>
          </p:grpSpPr>
          <p:sp>
            <p:nvSpPr>
              <p:cNvPr id="19629" name="Freeform 390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9 h 2742"/>
                  <a:gd name="T6" fmla="*/ 0 w 354"/>
                  <a:gd name="T7" fmla="*/ 10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30" name="Rectangle 391"/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31" name="Freeform 392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32" name="Freeform 393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33" name="Rectangle 394"/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19634" name="Group 395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9659" name="AutoShape 396"/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60" name="AutoShape 397"/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9635" name="Rectangle 398"/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19636" name="Group 399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9657" name="AutoShape 400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58" name="AutoShape 401"/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9637" name="Rectangle 402"/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38" name="Rectangle 403"/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19639" name="Group 404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9655" name="AutoShape 405"/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56" name="AutoShape 406"/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9640" name="Freeform 407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grpSp>
            <p:nvGrpSpPr>
              <p:cNvPr id="19641" name="Group 408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9653" name="AutoShape 409"/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54" name="AutoShape 410"/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9642" name="Rectangle 411"/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43" name="Freeform 412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44" name="Freeform 413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3 h 288"/>
                  <a:gd name="T4" fmla="*/ 2 w 304"/>
                  <a:gd name="T5" fmla="*/ 3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45" name="Oval 414"/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46" name="Freeform 415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47" name="AutoShape 416"/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48" name="AutoShape 417"/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49" name="Oval 418"/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50" name="Oval 419"/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160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51" name="Oval 420"/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52" name="Rectangle 421"/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9467" name="Group 356"/>
            <p:cNvGrpSpPr>
              <a:grpSpLocks/>
            </p:cNvGrpSpPr>
            <p:nvPr/>
          </p:nvGrpSpPr>
          <p:grpSpPr bwMode="auto">
            <a:xfrm>
              <a:off x="3091" y="2634"/>
              <a:ext cx="301" cy="451"/>
              <a:chOff x="4140" y="429"/>
              <a:chExt cx="1425" cy="2396"/>
            </a:xfrm>
          </p:grpSpPr>
          <p:sp>
            <p:nvSpPr>
              <p:cNvPr id="19597" name="Freeform 357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9 h 2742"/>
                  <a:gd name="T6" fmla="*/ 0 w 354"/>
                  <a:gd name="T7" fmla="*/ 10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98" name="Rectangle 358"/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99" name="Freeform 359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00" name="Freeform 360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01" name="Rectangle 361"/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19602" name="Group 362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9627" name="AutoShape 363"/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28" name="AutoShape 364"/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9603" name="Rectangle 365"/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19604" name="Group 366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9625" name="AutoShape 36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26" name="AutoShape 368"/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9605" name="Rectangle 369"/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06" name="Rectangle 370"/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19607" name="Group 371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9623" name="AutoShape 372"/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24" name="AutoShape 373"/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9608" name="Freeform 374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grpSp>
            <p:nvGrpSpPr>
              <p:cNvPr id="19609" name="Group 375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9621" name="AutoShape 376"/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22" name="AutoShape 377"/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9610" name="Rectangle 378"/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11" name="Freeform 379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12" name="Freeform 380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3 h 288"/>
                  <a:gd name="T4" fmla="*/ 2 w 304"/>
                  <a:gd name="T5" fmla="*/ 3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13" name="Oval 381"/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14" name="Freeform 382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615" name="AutoShape 383"/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16" name="AutoShape 384"/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17" name="Oval 385"/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18" name="Oval 386"/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160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19" name="Oval 387"/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620" name="Rectangle 388"/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9468" name="Group 320"/>
            <p:cNvGrpSpPr>
              <a:grpSpLocks/>
            </p:cNvGrpSpPr>
            <p:nvPr/>
          </p:nvGrpSpPr>
          <p:grpSpPr bwMode="auto">
            <a:xfrm>
              <a:off x="3105" y="1159"/>
              <a:ext cx="301" cy="451"/>
              <a:chOff x="4140" y="429"/>
              <a:chExt cx="1425" cy="2396"/>
            </a:xfrm>
          </p:grpSpPr>
          <p:sp>
            <p:nvSpPr>
              <p:cNvPr id="19565" name="Freeform 321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9 h 2742"/>
                  <a:gd name="T6" fmla="*/ 0 w 354"/>
                  <a:gd name="T7" fmla="*/ 10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66" name="Rectangle 322"/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67" name="Freeform 323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68" name="Freeform 324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69" name="Rectangle 325"/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19570" name="Group 326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9595" name="AutoShape 327"/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596" name="AutoShape 328"/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9571" name="Rectangle 329"/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19572" name="Group 330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9593" name="AutoShape 331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594" name="AutoShape 332"/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9573" name="Rectangle 333"/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74" name="Rectangle 334"/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19575" name="Group 335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9591" name="AutoShape 336"/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592" name="AutoShape 337"/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9576" name="Freeform 338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grpSp>
            <p:nvGrpSpPr>
              <p:cNvPr id="19577" name="Group 339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9589" name="AutoShape 340"/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590" name="AutoShape 341"/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fr-FR" altLang="en-US" sz="2400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9578" name="Rectangle 342"/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79" name="Freeform 343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80" name="Freeform 344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3 h 288"/>
                  <a:gd name="T4" fmla="*/ 2 w 304"/>
                  <a:gd name="T5" fmla="*/ 3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81" name="Oval 345"/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82" name="Freeform 346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83" name="AutoShape 347"/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84" name="AutoShape 348"/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85" name="Oval 349"/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86" name="Oval 350"/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160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87" name="Oval 351"/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88" name="Rectangle 352"/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9469" name="Line 9"/>
            <p:cNvSpPr>
              <a:spLocks noChangeShapeType="1"/>
            </p:cNvSpPr>
            <p:nvPr/>
          </p:nvSpPr>
          <p:spPr bwMode="auto">
            <a:xfrm>
              <a:off x="3734" y="1642"/>
              <a:ext cx="708" cy="49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grpSp>
          <p:nvGrpSpPr>
            <p:cNvPr id="19470" name="Group 19"/>
            <p:cNvGrpSpPr>
              <a:grpSpLocks/>
            </p:cNvGrpSpPr>
            <p:nvPr/>
          </p:nvGrpSpPr>
          <p:grpSpPr bwMode="auto">
            <a:xfrm>
              <a:off x="4466" y="1881"/>
              <a:ext cx="510" cy="661"/>
              <a:chOff x="4296" y="2627"/>
              <a:chExt cx="510" cy="661"/>
            </a:xfrm>
          </p:grpSpPr>
          <p:sp>
            <p:nvSpPr>
              <p:cNvPr id="19550" name="Rectangle 20"/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51" name="Text Box 21"/>
              <p:cNvSpPr txBox="1">
                <a:spLocks noChangeArrowheads="1"/>
              </p:cNvSpPr>
              <p:nvPr/>
            </p:nvSpPr>
            <p:spPr bwMode="auto">
              <a:xfrm>
                <a:off x="4326" y="2627"/>
                <a:ext cx="428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mail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server</a:t>
                </a:r>
                <a:endParaRPr lang="en-US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52" name="Rectangle 22"/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53" name="Line 23"/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54" name="Line 24"/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55" name="Line 25"/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56" name="Line 26"/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57" name="Line 27"/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58" name="Line 28"/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59" name="Line 29"/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60" name="Rectangle 30"/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61" name="Rectangle 31"/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62" name="Rectangle 32"/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63" name="Rectangle 33"/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64" name="Rectangle 34"/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9471" name="Group 60"/>
            <p:cNvGrpSpPr>
              <a:grpSpLocks/>
            </p:cNvGrpSpPr>
            <p:nvPr/>
          </p:nvGrpSpPr>
          <p:grpSpPr bwMode="auto">
            <a:xfrm>
              <a:off x="3206" y="2763"/>
              <a:ext cx="510" cy="661"/>
              <a:chOff x="4296" y="2627"/>
              <a:chExt cx="510" cy="661"/>
            </a:xfrm>
          </p:grpSpPr>
          <p:sp>
            <p:nvSpPr>
              <p:cNvPr id="19535" name="Rectangle 61"/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36" name="Text Box 62"/>
              <p:cNvSpPr txBox="1">
                <a:spLocks noChangeArrowheads="1"/>
              </p:cNvSpPr>
              <p:nvPr/>
            </p:nvSpPr>
            <p:spPr bwMode="auto">
              <a:xfrm>
                <a:off x="4326" y="2627"/>
                <a:ext cx="428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mail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server</a:t>
                </a:r>
                <a:endParaRPr lang="en-US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37" name="Rectangle 63"/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38" name="Line 64"/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39" name="Line 65"/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40" name="Line 66"/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41" name="Line 67"/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42" name="Line 68"/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43" name="Line 69"/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44" name="Line 70"/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45" name="Rectangle 71"/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46" name="Rectangle 72"/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47" name="Rectangle 73"/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48" name="Rectangle 74"/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49" name="Rectangle 75"/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9472" name="Group 96"/>
            <p:cNvGrpSpPr>
              <a:grpSpLocks/>
            </p:cNvGrpSpPr>
            <p:nvPr/>
          </p:nvGrpSpPr>
          <p:grpSpPr bwMode="auto">
            <a:xfrm>
              <a:off x="3206" y="1347"/>
              <a:ext cx="510" cy="661"/>
              <a:chOff x="4296" y="2627"/>
              <a:chExt cx="510" cy="661"/>
            </a:xfrm>
          </p:grpSpPr>
          <p:sp>
            <p:nvSpPr>
              <p:cNvPr id="19520" name="Rectangle 97"/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21" name="Text Box 98"/>
              <p:cNvSpPr txBox="1">
                <a:spLocks noChangeArrowheads="1"/>
              </p:cNvSpPr>
              <p:nvPr/>
            </p:nvSpPr>
            <p:spPr bwMode="auto">
              <a:xfrm>
                <a:off x="4326" y="2627"/>
                <a:ext cx="428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mail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server</a:t>
                </a:r>
                <a:endParaRPr lang="en-US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22" name="Rectangle 99"/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23" name="Line 100"/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24" name="Line 101"/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25" name="Line 102"/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26" name="Line 103"/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27" name="Line 104"/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28" name="Line 105"/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29" name="Line 106"/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530" name="Rectangle 107"/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31" name="Rectangle 108"/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32" name="Rectangle 109"/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33" name="Rectangle 110"/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34" name="Rectangle 111"/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9473" name="Line 117"/>
            <p:cNvSpPr>
              <a:spLocks noChangeShapeType="1"/>
            </p:cNvSpPr>
            <p:nvPr/>
          </p:nvSpPr>
          <p:spPr bwMode="auto">
            <a:xfrm flipV="1">
              <a:off x="3734" y="2350"/>
              <a:ext cx="708" cy="684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9474" name="Line 118"/>
            <p:cNvSpPr>
              <a:spLocks noChangeShapeType="1"/>
            </p:cNvSpPr>
            <p:nvPr/>
          </p:nvSpPr>
          <p:spPr bwMode="auto">
            <a:xfrm flipH="1" flipV="1">
              <a:off x="3266" y="2020"/>
              <a:ext cx="0" cy="78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grpSp>
          <p:nvGrpSpPr>
            <p:cNvPr id="19475" name="Group 119"/>
            <p:cNvGrpSpPr>
              <a:grpSpLocks/>
            </p:cNvGrpSpPr>
            <p:nvPr/>
          </p:nvGrpSpPr>
          <p:grpSpPr bwMode="auto">
            <a:xfrm>
              <a:off x="3841" y="2535"/>
              <a:ext cx="557" cy="249"/>
              <a:chOff x="3791" y="2537"/>
              <a:chExt cx="557" cy="249"/>
            </a:xfrm>
          </p:grpSpPr>
          <p:sp>
            <p:nvSpPr>
              <p:cNvPr id="19518" name="Rectangle 120"/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19" name="Text Box 121"/>
              <p:cNvSpPr txBox="1">
                <a:spLocks noChangeArrowheads="1"/>
              </p:cNvSpPr>
              <p:nvPr/>
            </p:nvSpPr>
            <p:spPr bwMode="auto">
              <a:xfrm>
                <a:off x="3791" y="2537"/>
                <a:ext cx="557" cy="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2000">
                    <a:solidFill>
                      <a:srgbClr val="CC0000"/>
                    </a:solidFill>
                    <a:cs typeface="Arial" panose="020B0604020202020204" pitchFamily="34" charset="0"/>
                  </a:rPr>
                  <a:t>SMTP</a:t>
                </a:r>
              </a:p>
            </p:txBody>
          </p:sp>
        </p:grpSp>
        <p:grpSp>
          <p:nvGrpSpPr>
            <p:cNvPr id="19476" name="Group 122"/>
            <p:cNvGrpSpPr>
              <a:grpSpLocks/>
            </p:cNvGrpSpPr>
            <p:nvPr/>
          </p:nvGrpSpPr>
          <p:grpSpPr bwMode="auto">
            <a:xfrm>
              <a:off x="3817" y="1743"/>
              <a:ext cx="557" cy="249"/>
              <a:chOff x="3791" y="2537"/>
              <a:chExt cx="557" cy="249"/>
            </a:xfrm>
          </p:grpSpPr>
          <p:sp>
            <p:nvSpPr>
              <p:cNvPr id="19516" name="Rectangle 123"/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17" name="Text Box 124"/>
              <p:cNvSpPr txBox="1">
                <a:spLocks noChangeArrowheads="1"/>
              </p:cNvSpPr>
              <p:nvPr/>
            </p:nvSpPr>
            <p:spPr bwMode="auto">
              <a:xfrm>
                <a:off x="3791" y="2537"/>
                <a:ext cx="557" cy="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2000">
                    <a:solidFill>
                      <a:srgbClr val="CC0000"/>
                    </a:solidFill>
                    <a:cs typeface="Arial" panose="020B0604020202020204" pitchFamily="34" charset="0"/>
                  </a:rPr>
                  <a:t>SMTP</a:t>
                </a:r>
              </a:p>
            </p:txBody>
          </p:sp>
        </p:grpSp>
        <p:grpSp>
          <p:nvGrpSpPr>
            <p:cNvPr id="19477" name="Group 125"/>
            <p:cNvGrpSpPr>
              <a:grpSpLocks/>
            </p:cNvGrpSpPr>
            <p:nvPr/>
          </p:nvGrpSpPr>
          <p:grpSpPr bwMode="auto">
            <a:xfrm>
              <a:off x="2983" y="2193"/>
              <a:ext cx="557" cy="249"/>
              <a:chOff x="3791" y="2537"/>
              <a:chExt cx="557" cy="249"/>
            </a:xfrm>
          </p:grpSpPr>
          <p:sp>
            <p:nvSpPr>
              <p:cNvPr id="19514" name="Rectangle 126"/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15" name="Text Box 127"/>
              <p:cNvSpPr txBox="1">
                <a:spLocks noChangeArrowheads="1"/>
              </p:cNvSpPr>
              <p:nvPr/>
            </p:nvSpPr>
            <p:spPr bwMode="auto">
              <a:xfrm>
                <a:off x="3791" y="2537"/>
                <a:ext cx="557" cy="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2000">
                    <a:solidFill>
                      <a:srgbClr val="CC0000"/>
                    </a:solidFill>
                    <a:cs typeface="Arial" panose="020B0604020202020204" pitchFamily="34" charset="0"/>
                  </a:rPr>
                  <a:t>SMTP</a:t>
                </a:r>
              </a:p>
            </p:txBody>
          </p:sp>
        </p:grpSp>
        <p:grpSp>
          <p:nvGrpSpPr>
            <p:cNvPr id="19478" name="Group 423"/>
            <p:cNvGrpSpPr>
              <a:grpSpLocks/>
            </p:cNvGrpSpPr>
            <p:nvPr/>
          </p:nvGrpSpPr>
          <p:grpSpPr bwMode="auto">
            <a:xfrm>
              <a:off x="3601" y="886"/>
              <a:ext cx="561" cy="664"/>
              <a:chOff x="3588" y="550"/>
              <a:chExt cx="561" cy="664"/>
            </a:xfrm>
          </p:grpSpPr>
          <p:grpSp>
            <p:nvGrpSpPr>
              <p:cNvPr id="19509" name="Group 353"/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19512" name="Picture 354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9513" name="Freeform 355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607767 w 356"/>
                    <a:gd name="T3" fmla="*/ 273937 h 368"/>
                    <a:gd name="T4" fmla="*/ 3093555 w 356"/>
                    <a:gd name="T5" fmla="*/ 5706969 h 368"/>
                    <a:gd name="T6" fmla="*/ 681775 w 356"/>
                    <a:gd name="T7" fmla="*/ 7137332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800">
                    <a:solidFill>
                      <a:srgbClr val="00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endParaRPr>
                </a:p>
              </p:txBody>
            </p:sp>
          </p:grpSp>
          <p:sp>
            <p:nvSpPr>
              <p:cNvPr id="19510" name="Rectangle 115"/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11" name="Text Box 116"/>
              <p:cNvSpPr txBox="1">
                <a:spLocks noChangeArrowheads="1"/>
              </p:cNvSpPr>
              <p:nvPr/>
            </p:nvSpPr>
            <p:spPr bwMode="auto">
              <a:xfrm>
                <a:off x="3594" y="550"/>
                <a:ext cx="396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user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agent</a:t>
                </a:r>
                <a:endParaRPr lang="en-US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9479" name="Group 424"/>
            <p:cNvGrpSpPr>
              <a:grpSpLocks/>
            </p:cNvGrpSpPr>
            <p:nvPr/>
          </p:nvGrpSpPr>
          <p:grpSpPr bwMode="auto">
            <a:xfrm>
              <a:off x="4884" y="1400"/>
              <a:ext cx="561" cy="664"/>
              <a:chOff x="3588" y="550"/>
              <a:chExt cx="561" cy="664"/>
            </a:xfrm>
          </p:grpSpPr>
          <p:grpSp>
            <p:nvGrpSpPr>
              <p:cNvPr id="19504" name="Group 425"/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19507" name="Picture 426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9508" name="Freeform 427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607767 w 356"/>
                    <a:gd name="T3" fmla="*/ 273937 h 368"/>
                    <a:gd name="T4" fmla="*/ 3093555 w 356"/>
                    <a:gd name="T5" fmla="*/ 5706969 h 368"/>
                    <a:gd name="T6" fmla="*/ 681775 w 356"/>
                    <a:gd name="T7" fmla="*/ 7137332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800">
                    <a:solidFill>
                      <a:srgbClr val="00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endParaRPr>
                </a:p>
              </p:txBody>
            </p:sp>
          </p:grpSp>
          <p:sp>
            <p:nvSpPr>
              <p:cNvPr id="19505" name="Rectangle 115"/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06" name="Text Box 116"/>
              <p:cNvSpPr txBox="1">
                <a:spLocks noChangeArrowheads="1"/>
              </p:cNvSpPr>
              <p:nvPr/>
            </p:nvSpPr>
            <p:spPr bwMode="auto">
              <a:xfrm>
                <a:off x="3594" y="550"/>
                <a:ext cx="396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user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agent</a:t>
                </a:r>
                <a:endParaRPr lang="en-US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9480" name="Group 430"/>
            <p:cNvGrpSpPr>
              <a:grpSpLocks/>
            </p:cNvGrpSpPr>
            <p:nvPr/>
          </p:nvGrpSpPr>
          <p:grpSpPr bwMode="auto">
            <a:xfrm>
              <a:off x="5096" y="1880"/>
              <a:ext cx="561" cy="664"/>
              <a:chOff x="3588" y="550"/>
              <a:chExt cx="561" cy="664"/>
            </a:xfrm>
          </p:grpSpPr>
          <p:grpSp>
            <p:nvGrpSpPr>
              <p:cNvPr id="19499" name="Group 431"/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19502" name="Picture 432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9503" name="Freeform 433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607767 w 356"/>
                    <a:gd name="T3" fmla="*/ 273937 h 368"/>
                    <a:gd name="T4" fmla="*/ 3093555 w 356"/>
                    <a:gd name="T5" fmla="*/ 5706969 h 368"/>
                    <a:gd name="T6" fmla="*/ 681775 w 356"/>
                    <a:gd name="T7" fmla="*/ 7137332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800">
                    <a:solidFill>
                      <a:srgbClr val="00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endParaRPr>
                </a:p>
              </p:txBody>
            </p:sp>
          </p:grpSp>
          <p:sp>
            <p:nvSpPr>
              <p:cNvPr id="19500" name="Rectangle 115"/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501" name="Text Box 116"/>
              <p:cNvSpPr txBox="1">
                <a:spLocks noChangeArrowheads="1"/>
              </p:cNvSpPr>
              <p:nvPr/>
            </p:nvSpPr>
            <p:spPr bwMode="auto">
              <a:xfrm>
                <a:off x="3594" y="550"/>
                <a:ext cx="396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user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agent</a:t>
                </a:r>
                <a:endParaRPr lang="en-US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9481" name="Group 436"/>
            <p:cNvGrpSpPr>
              <a:grpSpLocks/>
            </p:cNvGrpSpPr>
            <p:nvPr/>
          </p:nvGrpSpPr>
          <p:grpSpPr bwMode="auto">
            <a:xfrm>
              <a:off x="5013" y="2540"/>
              <a:ext cx="561" cy="664"/>
              <a:chOff x="3588" y="550"/>
              <a:chExt cx="561" cy="664"/>
            </a:xfrm>
          </p:grpSpPr>
          <p:grpSp>
            <p:nvGrpSpPr>
              <p:cNvPr id="19494" name="Group 437"/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19497" name="Picture 438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9498" name="Freeform 439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607767 w 356"/>
                    <a:gd name="T3" fmla="*/ 273937 h 368"/>
                    <a:gd name="T4" fmla="*/ 3093555 w 356"/>
                    <a:gd name="T5" fmla="*/ 5706969 h 368"/>
                    <a:gd name="T6" fmla="*/ 681775 w 356"/>
                    <a:gd name="T7" fmla="*/ 7137332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800">
                    <a:solidFill>
                      <a:srgbClr val="00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endParaRPr>
                </a:p>
              </p:txBody>
            </p:sp>
          </p:grpSp>
          <p:sp>
            <p:nvSpPr>
              <p:cNvPr id="19495" name="Rectangle 115"/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496" name="Text Box 116"/>
              <p:cNvSpPr txBox="1">
                <a:spLocks noChangeArrowheads="1"/>
              </p:cNvSpPr>
              <p:nvPr/>
            </p:nvSpPr>
            <p:spPr bwMode="auto">
              <a:xfrm>
                <a:off x="3594" y="550"/>
                <a:ext cx="396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user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agent</a:t>
                </a:r>
                <a:endParaRPr lang="en-US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9482" name="Group 442"/>
            <p:cNvGrpSpPr>
              <a:grpSpLocks/>
            </p:cNvGrpSpPr>
            <p:nvPr/>
          </p:nvGrpSpPr>
          <p:grpSpPr bwMode="auto">
            <a:xfrm>
              <a:off x="3368" y="3446"/>
              <a:ext cx="561" cy="664"/>
              <a:chOff x="3588" y="550"/>
              <a:chExt cx="561" cy="664"/>
            </a:xfrm>
          </p:grpSpPr>
          <p:grpSp>
            <p:nvGrpSpPr>
              <p:cNvPr id="19489" name="Group 443"/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19492" name="Picture 444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9493" name="Freeform 445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607767 w 356"/>
                    <a:gd name="T3" fmla="*/ 273937 h 368"/>
                    <a:gd name="T4" fmla="*/ 3093555 w 356"/>
                    <a:gd name="T5" fmla="*/ 5706969 h 368"/>
                    <a:gd name="T6" fmla="*/ 681775 w 356"/>
                    <a:gd name="T7" fmla="*/ 7137332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800">
                    <a:solidFill>
                      <a:srgbClr val="00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endParaRPr>
                </a:p>
              </p:txBody>
            </p:sp>
          </p:grpSp>
          <p:sp>
            <p:nvSpPr>
              <p:cNvPr id="19490" name="Rectangle 115"/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491" name="Text Box 116"/>
              <p:cNvSpPr txBox="1">
                <a:spLocks noChangeArrowheads="1"/>
              </p:cNvSpPr>
              <p:nvPr/>
            </p:nvSpPr>
            <p:spPr bwMode="auto">
              <a:xfrm>
                <a:off x="3594" y="550"/>
                <a:ext cx="396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user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agent</a:t>
                </a:r>
                <a:endParaRPr lang="en-US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9483" name="Group 448"/>
            <p:cNvGrpSpPr>
              <a:grpSpLocks/>
            </p:cNvGrpSpPr>
            <p:nvPr/>
          </p:nvGrpSpPr>
          <p:grpSpPr bwMode="auto">
            <a:xfrm>
              <a:off x="3827" y="3056"/>
              <a:ext cx="561" cy="664"/>
              <a:chOff x="3588" y="550"/>
              <a:chExt cx="561" cy="664"/>
            </a:xfrm>
          </p:grpSpPr>
          <p:grpSp>
            <p:nvGrpSpPr>
              <p:cNvPr id="19484" name="Group 449"/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19487" name="Picture 4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9488" name="Freeform 4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607767 w 356"/>
                    <a:gd name="T3" fmla="*/ 273937 h 368"/>
                    <a:gd name="T4" fmla="*/ 3093555 w 356"/>
                    <a:gd name="T5" fmla="*/ 5706969 h 368"/>
                    <a:gd name="T6" fmla="*/ 681775 w 356"/>
                    <a:gd name="T7" fmla="*/ 7137332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800">
                    <a:solidFill>
                      <a:srgbClr val="00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endParaRPr>
                </a:p>
              </p:txBody>
            </p:sp>
          </p:grpSp>
          <p:sp>
            <p:nvSpPr>
              <p:cNvPr id="19485" name="Rectangle 115"/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486" name="Text Box 116"/>
              <p:cNvSpPr txBox="1">
                <a:spLocks noChangeArrowheads="1"/>
              </p:cNvSpPr>
              <p:nvPr/>
            </p:nvSpPr>
            <p:spPr bwMode="auto">
              <a:xfrm>
                <a:off x="3594" y="550"/>
                <a:ext cx="396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user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cs typeface="Arial" panose="020B0604020202020204" pitchFamily="34" charset="0"/>
                  </a:rPr>
                  <a:t>agent</a:t>
                </a:r>
                <a:endParaRPr lang="en-US" altLang="en-US" sz="20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40112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1507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2E4BF657-E986-416F-AF2D-8196585D0B86}" type="slidenum"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6</a:t>
            </a:fld>
            <a:endParaRPr lang="en-US" altLang="en-US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0238" y="222250"/>
            <a:ext cx="7772400" cy="882650"/>
          </a:xfrm>
        </p:spPr>
        <p:txBody>
          <a:bodyPr/>
          <a:lstStyle/>
          <a:p>
            <a:r>
              <a:rPr lang="en-US" altLang="en-US" sz="4000">
                <a:latin typeface="Gill Sans MT" panose="020B0502020104020203" pitchFamily="34" charset="0"/>
              </a:rPr>
              <a:t>Electronic mail: mail servers</a:t>
            </a:r>
            <a:endParaRPr lang="en-US" altLang="en-US">
              <a:latin typeface="Gill Sans MT" panose="020B0502020104020203" pitchFamily="34" charset="0"/>
            </a:endParaRPr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1" y="1398588"/>
            <a:ext cx="3933825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  <a:latin typeface="Gill Sans MT" panose="020B0502020104020203" pitchFamily="34" charset="0"/>
              </a:rPr>
              <a:t>mail servers:</a:t>
            </a:r>
          </a:p>
          <a:p>
            <a:r>
              <a:rPr lang="en-US" altLang="en-US" sz="2400" i="1">
                <a:solidFill>
                  <a:srgbClr val="CC0000"/>
                </a:solidFill>
                <a:latin typeface="Gill Sans MT" panose="020B0502020104020203" pitchFamily="34" charset="0"/>
              </a:rPr>
              <a:t>mailbox</a:t>
            </a:r>
            <a:r>
              <a:rPr lang="en-US" altLang="en-US" sz="2400">
                <a:latin typeface="Gill Sans MT" panose="020B0502020104020203" pitchFamily="34" charset="0"/>
              </a:rPr>
              <a:t> contains incoming messages for user</a:t>
            </a:r>
          </a:p>
          <a:p>
            <a:r>
              <a:rPr lang="en-US" altLang="en-US" sz="2400" i="1">
                <a:solidFill>
                  <a:srgbClr val="CC0000"/>
                </a:solidFill>
                <a:latin typeface="Gill Sans MT" panose="020B0502020104020203" pitchFamily="34" charset="0"/>
              </a:rPr>
              <a:t>message queue</a:t>
            </a:r>
            <a:r>
              <a:rPr lang="en-US" altLang="en-US" sz="2400">
                <a:latin typeface="Gill Sans MT" panose="020B0502020104020203" pitchFamily="34" charset="0"/>
              </a:rPr>
              <a:t> of outgoing (to be sent) mail messages</a:t>
            </a:r>
          </a:p>
          <a:p>
            <a:r>
              <a:rPr lang="en-US" altLang="en-US" sz="2400" i="1">
                <a:solidFill>
                  <a:srgbClr val="CC0000"/>
                </a:solidFill>
                <a:latin typeface="Gill Sans MT" panose="020B0502020104020203" pitchFamily="34" charset="0"/>
              </a:rPr>
              <a:t>SMTP protocol</a:t>
            </a:r>
            <a:r>
              <a:rPr lang="en-US" altLang="en-US" sz="2400">
                <a:latin typeface="Gill Sans MT" panose="020B0502020104020203" pitchFamily="34" charset="0"/>
              </a:rPr>
              <a:t> between mail servers to send email messages</a:t>
            </a:r>
          </a:p>
          <a:p>
            <a:pPr lvl="1"/>
            <a:r>
              <a:rPr lang="en-US" altLang="en-US">
                <a:latin typeface="Gill Sans MT" panose="020B0502020104020203" pitchFamily="34" charset="0"/>
              </a:rPr>
              <a:t>client: sending mail server</a:t>
            </a:r>
          </a:p>
          <a:p>
            <a:pPr lvl="1"/>
            <a:r>
              <a:rPr lang="ja-JP" altLang="en-US">
                <a:latin typeface="Gill Sans MT" panose="020B0502020104020203" pitchFamily="34" charset="0"/>
              </a:rPr>
              <a:t>“</a:t>
            </a:r>
            <a:r>
              <a:rPr lang="en-US" altLang="ja-JP">
                <a:latin typeface="Gill Sans MT" panose="020B0502020104020203" pitchFamily="34" charset="0"/>
              </a:rPr>
              <a:t>server</a:t>
            </a:r>
            <a:r>
              <a:rPr lang="ja-JP" altLang="en-US">
                <a:latin typeface="Gill Sans MT" panose="020B0502020104020203" pitchFamily="34" charset="0"/>
              </a:rPr>
              <a:t>”</a:t>
            </a:r>
            <a:r>
              <a:rPr lang="en-US" altLang="ja-JP">
                <a:latin typeface="Gill Sans MT" panose="020B0502020104020203" pitchFamily="34" charset="0"/>
              </a:rPr>
              <a:t>: receiving mail server</a:t>
            </a:r>
            <a:endParaRPr lang="en-US" altLang="en-US">
              <a:latin typeface="Gill Sans MT" panose="020B0502020104020203" pitchFamily="34" charset="0"/>
            </a:endParaRPr>
          </a:p>
        </p:txBody>
      </p:sp>
      <p:pic>
        <p:nvPicPr>
          <p:cNvPr id="21510" name="Picture 15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188" y="882650"/>
            <a:ext cx="5942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1511" name="Group 271"/>
          <p:cNvGrpSpPr>
            <a:grpSpLocks/>
          </p:cNvGrpSpPr>
          <p:nvPr/>
        </p:nvGrpSpPr>
        <p:grpSpPr bwMode="auto">
          <a:xfrm>
            <a:off x="8423275" y="2787651"/>
            <a:ext cx="477838" cy="715963"/>
            <a:chOff x="4140" y="429"/>
            <a:chExt cx="1425" cy="2396"/>
          </a:xfrm>
        </p:grpSpPr>
        <p:sp>
          <p:nvSpPr>
            <p:cNvPr id="21674" name="Freeform 272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9 h 2742"/>
                <a:gd name="T6" fmla="*/ 0 w 354"/>
                <a:gd name="T7" fmla="*/ 10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75" name="Rectangle 273"/>
            <p:cNvSpPr>
              <a:spLocks noChangeArrowheads="1"/>
            </p:cNvSpPr>
            <p:nvPr/>
          </p:nvSpPr>
          <p:spPr bwMode="auto">
            <a:xfrm>
              <a:off x="4206" y="429"/>
              <a:ext cx="104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76" name="Freeform 274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77" name="Freeform 275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78" name="Rectangle 276"/>
            <p:cNvSpPr>
              <a:spLocks noChangeArrowheads="1"/>
            </p:cNvSpPr>
            <p:nvPr/>
          </p:nvSpPr>
          <p:spPr bwMode="auto">
            <a:xfrm>
              <a:off x="4211" y="695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1679" name="Group 277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1704" name="AutoShape 278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1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705" name="AutoShape 279"/>
              <p:cNvSpPr>
                <a:spLocks noChangeArrowheads="1"/>
              </p:cNvSpPr>
              <p:nvPr/>
            </p:nvSpPr>
            <p:spPr bwMode="auto">
              <a:xfrm>
                <a:off x="634" y="2583"/>
                <a:ext cx="68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680" name="Rectangle 280"/>
            <p:cNvSpPr>
              <a:spLocks noChangeArrowheads="1"/>
            </p:cNvSpPr>
            <p:nvPr/>
          </p:nvSpPr>
          <p:spPr bwMode="auto">
            <a:xfrm>
              <a:off x="4225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1681" name="Group 281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1702" name="AutoShape 282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703" name="AutoShape 283"/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682" name="Rectangle 284"/>
            <p:cNvSpPr>
              <a:spLocks noChangeArrowheads="1"/>
            </p:cNvSpPr>
            <p:nvPr/>
          </p:nvSpPr>
          <p:spPr bwMode="auto">
            <a:xfrm>
              <a:off x="4216" y="135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83" name="Rectangle 285"/>
            <p:cNvSpPr>
              <a:spLocks noChangeArrowheads="1"/>
            </p:cNvSpPr>
            <p:nvPr/>
          </p:nvSpPr>
          <p:spPr bwMode="auto">
            <a:xfrm>
              <a:off x="4230" y="1656"/>
              <a:ext cx="592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1684" name="Group 286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1700" name="AutoShape 287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701" name="AutoShape 288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90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685" name="Freeform 289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grpSp>
          <p:nvGrpSpPr>
            <p:cNvPr id="21686" name="Group 290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1698" name="AutoShape 291"/>
              <p:cNvSpPr>
                <a:spLocks noChangeArrowheads="1"/>
              </p:cNvSpPr>
              <p:nvPr/>
            </p:nvSpPr>
            <p:spPr bwMode="auto">
              <a:xfrm>
                <a:off x="629" y="2568"/>
                <a:ext cx="70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699" name="AutoShape 292"/>
              <p:cNvSpPr>
                <a:spLocks noChangeArrowheads="1"/>
              </p:cNvSpPr>
              <p:nvPr/>
            </p:nvSpPr>
            <p:spPr bwMode="auto">
              <a:xfrm>
                <a:off x="634" y="2584"/>
                <a:ext cx="67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687" name="Rectangle 293"/>
            <p:cNvSpPr>
              <a:spLocks noChangeArrowheads="1"/>
            </p:cNvSpPr>
            <p:nvPr/>
          </p:nvSpPr>
          <p:spPr bwMode="auto">
            <a:xfrm>
              <a:off x="5248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88" name="Freeform 294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89" name="Freeform 295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3 h 288"/>
                <a:gd name="T4" fmla="*/ 2 w 304"/>
                <a:gd name="T5" fmla="*/ 3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90" name="Oval 296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91" name="Freeform 297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92" name="AutoShape 298"/>
            <p:cNvSpPr>
              <a:spLocks noChangeArrowheads="1"/>
            </p:cNvSpPr>
            <p:nvPr/>
          </p:nvSpPr>
          <p:spPr bwMode="auto">
            <a:xfrm>
              <a:off x="4140" y="2676"/>
              <a:ext cx="1198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93" name="AutoShape 299"/>
            <p:cNvSpPr>
              <a:spLocks noChangeArrowheads="1"/>
            </p:cNvSpPr>
            <p:nvPr/>
          </p:nvSpPr>
          <p:spPr bwMode="auto">
            <a:xfrm>
              <a:off x="4206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94" name="Oval 300"/>
            <p:cNvSpPr>
              <a:spLocks noChangeArrowheads="1"/>
            </p:cNvSpPr>
            <p:nvPr/>
          </p:nvSpPr>
          <p:spPr bwMode="auto">
            <a:xfrm>
              <a:off x="4306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95" name="Oval 301"/>
            <p:cNvSpPr>
              <a:spLocks noChangeArrowheads="1"/>
            </p:cNvSpPr>
            <p:nvPr/>
          </p:nvSpPr>
          <p:spPr bwMode="auto">
            <a:xfrm>
              <a:off x="4486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18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96" name="Oval 302"/>
            <p:cNvSpPr>
              <a:spLocks noChangeArrowheads="1"/>
            </p:cNvSpPr>
            <p:nvPr/>
          </p:nvSpPr>
          <p:spPr bwMode="auto">
            <a:xfrm>
              <a:off x="4661" y="2379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97" name="Rectangle 303"/>
            <p:cNvSpPr>
              <a:spLocks noChangeArrowheads="1"/>
            </p:cNvSpPr>
            <p:nvPr/>
          </p:nvSpPr>
          <p:spPr bwMode="auto">
            <a:xfrm>
              <a:off x="5063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1512" name="Group 304"/>
          <p:cNvGrpSpPr>
            <a:grpSpLocks/>
          </p:cNvGrpSpPr>
          <p:nvPr/>
        </p:nvGrpSpPr>
        <p:grpSpPr bwMode="auto">
          <a:xfrm>
            <a:off x="6430964" y="4181476"/>
            <a:ext cx="477837" cy="715963"/>
            <a:chOff x="4140" y="429"/>
            <a:chExt cx="1425" cy="2396"/>
          </a:xfrm>
        </p:grpSpPr>
        <p:sp>
          <p:nvSpPr>
            <p:cNvPr id="21642" name="Freeform 305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9 h 2742"/>
                <a:gd name="T6" fmla="*/ 0 w 354"/>
                <a:gd name="T7" fmla="*/ 10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43" name="Rectangle 306"/>
            <p:cNvSpPr>
              <a:spLocks noChangeArrowheads="1"/>
            </p:cNvSpPr>
            <p:nvPr/>
          </p:nvSpPr>
          <p:spPr bwMode="auto">
            <a:xfrm>
              <a:off x="4206" y="429"/>
              <a:ext cx="104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44" name="Freeform 307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45" name="Freeform 308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46" name="Rectangle 309"/>
            <p:cNvSpPr>
              <a:spLocks noChangeArrowheads="1"/>
            </p:cNvSpPr>
            <p:nvPr/>
          </p:nvSpPr>
          <p:spPr bwMode="auto">
            <a:xfrm>
              <a:off x="4211" y="695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1647" name="Group 310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1672" name="AutoShape 311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1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673" name="AutoShape 312"/>
              <p:cNvSpPr>
                <a:spLocks noChangeArrowheads="1"/>
              </p:cNvSpPr>
              <p:nvPr/>
            </p:nvSpPr>
            <p:spPr bwMode="auto">
              <a:xfrm>
                <a:off x="634" y="2583"/>
                <a:ext cx="68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648" name="Rectangle 313"/>
            <p:cNvSpPr>
              <a:spLocks noChangeArrowheads="1"/>
            </p:cNvSpPr>
            <p:nvPr/>
          </p:nvSpPr>
          <p:spPr bwMode="auto">
            <a:xfrm>
              <a:off x="4225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1649" name="Group 314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1670" name="AutoShape 315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671" name="AutoShape 316"/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650" name="Rectangle 317"/>
            <p:cNvSpPr>
              <a:spLocks noChangeArrowheads="1"/>
            </p:cNvSpPr>
            <p:nvPr/>
          </p:nvSpPr>
          <p:spPr bwMode="auto">
            <a:xfrm>
              <a:off x="4216" y="135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51" name="Rectangle 318"/>
            <p:cNvSpPr>
              <a:spLocks noChangeArrowheads="1"/>
            </p:cNvSpPr>
            <p:nvPr/>
          </p:nvSpPr>
          <p:spPr bwMode="auto">
            <a:xfrm>
              <a:off x="4230" y="1656"/>
              <a:ext cx="592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1652" name="Group 319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1668" name="AutoShape 320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669" name="AutoShape 321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90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653" name="Freeform 322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grpSp>
          <p:nvGrpSpPr>
            <p:cNvPr id="21654" name="Group 323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1666" name="AutoShape 324"/>
              <p:cNvSpPr>
                <a:spLocks noChangeArrowheads="1"/>
              </p:cNvSpPr>
              <p:nvPr/>
            </p:nvSpPr>
            <p:spPr bwMode="auto">
              <a:xfrm>
                <a:off x="629" y="2568"/>
                <a:ext cx="70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667" name="AutoShape 325"/>
              <p:cNvSpPr>
                <a:spLocks noChangeArrowheads="1"/>
              </p:cNvSpPr>
              <p:nvPr/>
            </p:nvSpPr>
            <p:spPr bwMode="auto">
              <a:xfrm>
                <a:off x="634" y="2584"/>
                <a:ext cx="67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655" name="Rectangle 326"/>
            <p:cNvSpPr>
              <a:spLocks noChangeArrowheads="1"/>
            </p:cNvSpPr>
            <p:nvPr/>
          </p:nvSpPr>
          <p:spPr bwMode="auto">
            <a:xfrm>
              <a:off x="5248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56" name="Freeform 327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57" name="Freeform 328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3 h 288"/>
                <a:gd name="T4" fmla="*/ 2 w 304"/>
                <a:gd name="T5" fmla="*/ 3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58" name="Oval 329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59" name="Freeform 330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60" name="AutoShape 331"/>
            <p:cNvSpPr>
              <a:spLocks noChangeArrowheads="1"/>
            </p:cNvSpPr>
            <p:nvPr/>
          </p:nvSpPr>
          <p:spPr bwMode="auto">
            <a:xfrm>
              <a:off x="4140" y="2676"/>
              <a:ext cx="1198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61" name="AutoShape 332"/>
            <p:cNvSpPr>
              <a:spLocks noChangeArrowheads="1"/>
            </p:cNvSpPr>
            <p:nvPr/>
          </p:nvSpPr>
          <p:spPr bwMode="auto">
            <a:xfrm>
              <a:off x="4206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62" name="Oval 333"/>
            <p:cNvSpPr>
              <a:spLocks noChangeArrowheads="1"/>
            </p:cNvSpPr>
            <p:nvPr/>
          </p:nvSpPr>
          <p:spPr bwMode="auto">
            <a:xfrm>
              <a:off x="4306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63" name="Oval 334"/>
            <p:cNvSpPr>
              <a:spLocks noChangeArrowheads="1"/>
            </p:cNvSpPr>
            <p:nvPr/>
          </p:nvSpPr>
          <p:spPr bwMode="auto">
            <a:xfrm>
              <a:off x="4486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18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64" name="Oval 335"/>
            <p:cNvSpPr>
              <a:spLocks noChangeArrowheads="1"/>
            </p:cNvSpPr>
            <p:nvPr/>
          </p:nvSpPr>
          <p:spPr bwMode="auto">
            <a:xfrm>
              <a:off x="4661" y="2379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65" name="Rectangle 336"/>
            <p:cNvSpPr>
              <a:spLocks noChangeArrowheads="1"/>
            </p:cNvSpPr>
            <p:nvPr/>
          </p:nvSpPr>
          <p:spPr bwMode="auto">
            <a:xfrm>
              <a:off x="5063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1513" name="Group 337"/>
          <p:cNvGrpSpPr>
            <a:grpSpLocks/>
          </p:cNvGrpSpPr>
          <p:nvPr/>
        </p:nvGrpSpPr>
        <p:grpSpPr bwMode="auto">
          <a:xfrm>
            <a:off x="6453189" y="1839913"/>
            <a:ext cx="477837" cy="715962"/>
            <a:chOff x="4140" y="429"/>
            <a:chExt cx="1425" cy="2396"/>
          </a:xfrm>
        </p:grpSpPr>
        <p:sp>
          <p:nvSpPr>
            <p:cNvPr id="21610" name="Freeform 33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9 h 2742"/>
                <a:gd name="T6" fmla="*/ 0 w 354"/>
                <a:gd name="T7" fmla="*/ 10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11" name="Rectangle 339"/>
            <p:cNvSpPr>
              <a:spLocks noChangeArrowheads="1"/>
            </p:cNvSpPr>
            <p:nvPr/>
          </p:nvSpPr>
          <p:spPr bwMode="auto">
            <a:xfrm>
              <a:off x="4206" y="429"/>
              <a:ext cx="104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12" name="Freeform 34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13" name="Freeform 34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14" name="Rectangle 342"/>
            <p:cNvSpPr>
              <a:spLocks noChangeArrowheads="1"/>
            </p:cNvSpPr>
            <p:nvPr/>
          </p:nvSpPr>
          <p:spPr bwMode="auto">
            <a:xfrm>
              <a:off x="4211" y="695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1615" name="Group 34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1640" name="AutoShape 344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1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641" name="AutoShape 345"/>
              <p:cNvSpPr>
                <a:spLocks noChangeArrowheads="1"/>
              </p:cNvSpPr>
              <p:nvPr/>
            </p:nvSpPr>
            <p:spPr bwMode="auto">
              <a:xfrm>
                <a:off x="634" y="2583"/>
                <a:ext cx="68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616" name="Rectangle 346"/>
            <p:cNvSpPr>
              <a:spLocks noChangeArrowheads="1"/>
            </p:cNvSpPr>
            <p:nvPr/>
          </p:nvSpPr>
          <p:spPr bwMode="auto">
            <a:xfrm>
              <a:off x="4225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1617" name="Group 34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1638" name="AutoShape 348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639" name="AutoShape 349"/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618" name="Rectangle 350"/>
            <p:cNvSpPr>
              <a:spLocks noChangeArrowheads="1"/>
            </p:cNvSpPr>
            <p:nvPr/>
          </p:nvSpPr>
          <p:spPr bwMode="auto">
            <a:xfrm>
              <a:off x="4216" y="135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19" name="Rectangle 351"/>
            <p:cNvSpPr>
              <a:spLocks noChangeArrowheads="1"/>
            </p:cNvSpPr>
            <p:nvPr/>
          </p:nvSpPr>
          <p:spPr bwMode="auto">
            <a:xfrm>
              <a:off x="4230" y="1656"/>
              <a:ext cx="592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1620" name="Group 35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1636" name="AutoShape 353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637" name="AutoShape 354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90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621" name="Freeform 35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grpSp>
          <p:nvGrpSpPr>
            <p:cNvPr id="21622" name="Group 35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1634" name="AutoShape 357"/>
              <p:cNvSpPr>
                <a:spLocks noChangeArrowheads="1"/>
              </p:cNvSpPr>
              <p:nvPr/>
            </p:nvSpPr>
            <p:spPr bwMode="auto">
              <a:xfrm>
                <a:off x="629" y="2568"/>
                <a:ext cx="70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635" name="AutoShape 358"/>
              <p:cNvSpPr>
                <a:spLocks noChangeArrowheads="1"/>
              </p:cNvSpPr>
              <p:nvPr/>
            </p:nvSpPr>
            <p:spPr bwMode="auto">
              <a:xfrm>
                <a:off x="634" y="2584"/>
                <a:ext cx="67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623" name="Rectangle 359"/>
            <p:cNvSpPr>
              <a:spLocks noChangeArrowheads="1"/>
            </p:cNvSpPr>
            <p:nvPr/>
          </p:nvSpPr>
          <p:spPr bwMode="auto">
            <a:xfrm>
              <a:off x="5248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24" name="Freeform 36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25" name="Freeform 36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3 h 288"/>
                <a:gd name="T4" fmla="*/ 2 w 304"/>
                <a:gd name="T5" fmla="*/ 3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26" name="Oval 362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27" name="Freeform 36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28" name="AutoShape 364"/>
            <p:cNvSpPr>
              <a:spLocks noChangeArrowheads="1"/>
            </p:cNvSpPr>
            <p:nvPr/>
          </p:nvSpPr>
          <p:spPr bwMode="auto">
            <a:xfrm>
              <a:off x="4140" y="2676"/>
              <a:ext cx="1198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29" name="AutoShape 365"/>
            <p:cNvSpPr>
              <a:spLocks noChangeArrowheads="1"/>
            </p:cNvSpPr>
            <p:nvPr/>
          </p:nvSpPr>
          <p:spPr bwMode="auto">
            <a:xfrm>
              <a:off x="4206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30" name="Oval 366"/>
            <p:cNvSpPr>
              <a:spLocks noChangeArrowheads="1"/>
            </p:cNvSpPr>
            <p:nvPr/>
          </p:nvSpPr>
          <p:spPr bwMode="auto">
            <a:xfrm>
              <a:off x="4306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31" name="Oval 367"/>
            <p:cNvSpPr>
              <a:spLocks noChangeArrowheads="1"/>
            </p:cNvSpPr>
            <p:nvPr/>
          </p:nvSpPr>
          <p:spPr bwMode="auto">
            <a:xfrm>
              <a:off x="4486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18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32" name="Oval 368"/>
            <p:cNvSpPr>
              <a:spLocks noChangeArrowheads="1"/>
            </p:cNvSpPr>
            <p:nvPr/>
          </p:nvSpPr>
          <p:spPr bwMode="auto">
            <a:xfrm>
              <a:off x="4661" y="2379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33" name="Rectangle 369"/>
            <p:cNvSpPr>
              <a:spLocks noChangeArrowheads="1"/>
            </p:cNvSpPr>
            <p:nvPr/>
          </p:nvSpPr>
          <p:spPr bwMode="auto">
            <a:xfrm>
              <a:off x="5063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21514" name="Line 9"/>
          <p:cNvSpPr>
            <a:spLocks noChangeShapeType="1"/>
          </p:cNvSpPr>
          <p:nvPr/>
        </p:nvSpPr>
        <p:spPr bwMode="auto">
          <a:xfrm>
            <a:off x="7451725" y="2606676"/>
            <a:ext cx="1123950" cy="7905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pSp>
        <p:nvGrpSpPr>
          <p:cNvPr id="21515" name="Group 19"/>
          <p:cNvGrpSpPr>
            <a:grpSpLocks/>
          </p:cNvGrpSpPr>
          <p:nvPr/>
        </p:nvGrpSpPr>
        <p:grpSpPr bwMode="auto">
          <a:xfrm>
            <a:off x="8613776" y="2986089"/>
            <a:ext cx="809625" cy="1049337"/>
            <a:chOff x="4296" y="2627"/>
            <a:chExt cx="510" cy="661"/>
          </a:xfrm>
        </p:grpSpPr>
        <p:sp>
          <p:nvSpPr>
            <p:cNvPr id="21595" name="Rectangle 20"/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96" name="Text Box 21"/>
            <p:cNvSpPr txBox="1">
              <a:spLocks noChangeArrowheads="1"/>
            </p:cNvSpPr>
            <p:nvPr/>
          </p:nvSpPr>
          <p:spPr bwMode="auto"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mail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server</a:t>
              </a:r>
              <a:endParaRPr lang="en-US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97" name="Rectangle 22"/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98" name="Line 23"/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599" name="Line 24"/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00" name="Line 25"/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01" name="Line 26"/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02" name="Line 27"/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03" name="Line 28"/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04" name="Line 29"/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605" name="Rectangle 30"/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06" name="Rectangle 31"/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07" name="Rectangle 32"/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08" name="Rectangle 33"/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609" name="Rectangle 34"/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1516" name="Group 60"/>
          <p:cNvGrpSpPr>
            <a:grpSpLocks/>
          </p:cNvGrpSpPr>
          <p:nvPr/>
        </p:nvGrpSpPr>
        <p:grpSpPr bwMode="auto">
          <a:xfrm>
            <a:off x="6613526" y="4386264"/>
            <a:ext cx="809625" cy="1049337"/>
            <a:chOff x="4296" y="2627"/>
            <a:chExt cx="510" cy="661"/>
          </a:xfrm>
        </p:grpSpPr>
        <p:sp>
          <p:nvSpPr>
            <p:cNvPr id="21580" name="Rectangle 61"/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81" name="Text Box 62"/>
            <p:cNvSpPr txBox="1">
              <a:spLocks noChangeArrowheads="1"/>
            </p:cNvSpPr>
            <p:nvPr/>
          </p:nvSpPr>
          <p:spPr bwMode="auto"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mail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server</a:t>
              </a:r>
              <a:endParaRPr lang="en-US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82" name="Rectangle 63"/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83" name="Line 64"/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584" name="Line 65"/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585" name="Line 66"/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586" name="Line 67"/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587" name="Line 68"/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588" name="Line 69"/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589" name="Line 70"/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590" name="Rectangle 71"/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91" name="Rectangle 72"/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92" name="Rectangle 73"/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93" name="Rectangle 74"/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94" name="Rectangle 75"/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1517" name="Group 96"/>
          <p:cNvGrpSpPr>
            <a:grpSpLocks/>
          </p:cNvGrpSpPr>
          <p:nvPr/>
        </p:nvGrpSpPr>
        <p:grpSpPr bwMode="auto">
          <a:xfrm>
            <a:off x="6613526" y="2138364"/>
            <a:ext cx="809625" cy="1049337"/>
            <a:chOff x="4296" y="2627"/>
            <a:chExt cx="510" cy="661"/>
          </a:xfrm>
        </p:grpSpPr>
        <p:sp>
          <p:nvSpPr>
            <p:cNvPr id="21565" name="Rectangle 97"/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66" name="Text Box 98"/>
            <p:cNvSpPr txBox="1">
              <a:spLocks noChangeArrowheads="1"/>
            </p:cNvSpPr>
            <p:nvPr/>
          </p:nvSpPr>
          <p:spPr bwMode="auto"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mail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server</a:t>
              </a:r>
              <a:endParaRPr lang="en-US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67" name="Rectangle 99"/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68" name="Line 100"/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569" name="Line 101"/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570" name="Line 102"/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571" name="Line 103"/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572" name="Line 104"/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573" name="Line 105"/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574" name="Line 106"/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1575" name="Rectangle 107"/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76" name="Rectangle 108"/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77" name="Rectangle 109"/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78" name="Rectangle 110"/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79" name="Rectangle 111"/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21518" name="Line 117"/>
          <p:cNvSpPr>
            <a:spLocks noChangeShapeType="1"/>
          </p:cNvSpPr>
          <p:nvPr/>
        </p:nvSpPr>
        <p:spPr bwMode="auto">
          <a:xfrm flipV="1">
            <a:off x="7451725" y="3730625"/>
            <a:ext cx="1123950" cy="10858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1519" name="Line 118"/>
          <p:cNvSpPr>
            <a:spLocks noChangeShapeType="1"/>
          </p:cNvSpPr>
          <p:nvPr/>
        </p:nvSpPr>
        <p:spPr bwMode="auto">
          <a:xfrm flipH="1" flipV="1">
            <a:off x="6708775" y="3206751"/>
            <a:ext cx="0" cy="12477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pSp>
        <p:nvGrpSpPr>
          <p:cNvPr id="21520" name="Group 119"/>
          <p:cNvGrpSpPr>
            <a:grpSpLocks/>
          </p:cNvGrpSpPr>
          <p:nvPr/>
        </p:nvGrpSpPr>
        <p:grpSpPr bwMode="auto">
          <a:xfrm>
            <a:off x="7548564" y="4024313"/>
            <a:ext cx="1031875" cy="457200"/>
            <a:chOff x="3745" y="2537"/>
            <a:chExt cx="650" cy="288"/>
          </a:xfrm>
        </p:grpSpPr>
        <p:sp>
          <p:nvSpPr>
            <p:cNvPr id="21563" name="Rectangle 120"/>
            <p:cNvSpPr>
              <a:spLocks noChangeArrowheads="1"/>
            </p:cNvSpPr>
            <p:nvPr/>
          </p:nvSpPr>
          <p:spPr bwMode="auto">
            <a:xfrm>
              <a:off x="3798" y="2580"/>
              <a:ext cx="540" cy="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64" name="Text Box 121"/>
            <p:cNvSpPr txBox="1">
              <a:spLocks noChangeArrowheads="1"/>
            </p:cNvSpPr>
            <p:nvPr/>
          </p:nvSpPr>
          <p:spPr bwMode="auto">
            <a:xfrm>
              <a:off x="3745" y="2537"/>
              <a:ext cx="65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2400">
                  <a:solidFill>
                    <a:srgbClr val="CC0000"/>
                  </a:solidFill>
                  <a:cs typeface="Arial" panose="020B0604020202020204" pitchFamily="34" charset="0"/>
                </a:rPr>
                <a:t>SMTP</a:t>
              </a:r>
            </a:p>
          </p:txBody>
        </p:sp>
      </p:grpSp>
      <p:grpSp>
        <p:nvGrpSpPr>
          <p:cNvPr id="21521" name="Group 122"/>
          <p:cNvGrpSpPr>
            <a:grpSpLocks/>
          </p:cNvGrpSpPr>
          <p:nvPr/>
        </p:nvGrpSpPr>
        <p:grpSpPr bwMode="auto">
          <a:xfrm>
            <a:off x="7510464" y="2767013"/>
            <a:ext cx="1031875" cy="457200"/>
            <a:chOff x="3745" y="2537"/>
            <a:chExt cx="650" cy="288"/>
          </a:xfrm>
        </p:grpSpPr>
        <p:sp>
          <p:nvSpPr>
            <p:cNvPr id="21561" name="Rectangle 123"/>
            <p:cNvSpPr>
              <a:spLocks noChangeArrowheads="1"/>
            </p:cNvSpPr>
            <p:nvPr/>
          </p:nvSpPr>
          <p:spPr bwMode="auto">
            <a:xfrm>
              <a:off x="3798" y="2580"/>
              <a:ext cx="540" cy="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62" name="Text Box 124"/>
            <p:cNvSpPr txBox="1">
              <a:spLocks noChangeArrowheads="1"/>
            </p:cNvSpPr>
            <p:nvPr/>
          </p:nvSpPr>
          <p:spPr bwMode="auto">
            <a:xfrm>
              <a:off x="3745" y="2537"/>
              <a:ext cx="65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2400">
                  <a:solidFill>
                    <a:srgbClr val="CC0000"/>
                  </a:solidFill>
                  <a:cs typeface="Arial" panose="020B0604020202020204" pitchFamily="34" charset="0"/>
                </a:rPr>
                <a:t>SMTP</a:t>
              </a:r>
            </a:p>
          </p:txBody>
        </p:sp>
      </p:grpSp>
      <p:grpSp>
        <p:nvGrpSpPr>
          <p:cNvPr id="21522" name="Group 125"/>
          <p:cNvGrpSpPr>
            <a:grpSpLocks/>
          </p:cNvGrpSpPr>
          <p:nvPr/>
        </p:nvGrpSpPr>
        <p:grpSpPr bwMode="auto">
          <a:xfrm>
            <a:off x="6186489" y="3481388"/>
            <a:ext cx="1031875" cy="457200"/>
            <a:chOff x="3745" y="2537"/>
            <a:chExt cx="650" cy="288"/>
          </a:xfrm>
        </p:grpSpPr>
        <p:sp>
          <p:nvSpPr>
            <p:cNvPr id="21559" name="Rectangle 126"/>
            <p:cNvSpPr>
              <a:spLocks noChangeArrowheads="1"/>
            </p:cNvSpPr>
            <p:nvPr/>
          </p:nvSpPr>
          <p:spPr bwMode="auto">
            <a:xfrm>
              <a:off x="3798" y="2580"/>
              <a:ext cx="540" cy="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60" name="Text Box 127"/>
            <p:cNvSpPr txBox="1">
              <a:spLocks noChangeArrowheads="1"/>
            </p:cNvSpPr>
            <p:nvPr/>
          </p:nvSpPr>
          <p:spPr bwMode="auto">
            <a:xfrm>
              <a:off x="3745" y="2537"/>
              <a:ext cx="65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2400">
                  <a:solidFill>
                    <a:srgbClr val="CC0000"/>
                  </a:solidFill>
                  <a:cs typeface="Arial" panose="020B0604020202020204" pitchFamily="34" charset="0"/>
                </a:rPr>
                <a:t>SMTP</a:t>
              </a:r>
            </a:p>
          </p:txBody>
        </p:sp>
      </p:grpSp>
      <p:grpSp>
        <p:nvGrpSpPr>
          <p:cNvPr id="21523" name="Group 430"/>
          <p:cNvGrpSpPr>
            <a:grpSpLocks/>
          </p:cNvGrpSpPr>
          <p:nvPr/>
        </p:nvGrpSpPr>
        <p:grpSpPr bwMode="auto">
          <a:xfrm>
            <a:off x="7218363" y="1406525"/>
            <a:ext cx="912812" cy="1054100"/>
            <a:chOff x="3574" y="550"/>
            <a:chExt cx="575" cy="664"/>
          </a:xfrm>
        </p:grpSpPr>
        <p:grpSp>
          <p:nvGrpSpPr>
            <p:cNvPr id="21554" name="Group 431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21557" name="Picture 432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558" name="Freeform 433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607767 w 356"/>
                  <a:gd name="T3" fmla="*/ 273937 h 368"/>
                  <a:gd name="T4" fmla="*/ 3093555 w 356"/>
                  <a:gd name="T5" fmla="*/ 5706969 h 368"/>
                  <a:gd name="T6" fmla="*/ 681775 w 356"/>
                  <a:gd name="T7" fmla="*/ 7137332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21555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56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user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agent</a:t>
              </a:r>
              <a:endParaRPr lang="en-US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1524" name="Group 436"/>
          <p:cNvGrpSpPr>
            <a:grpSpLocks/>
          </p:cNvGrpSpPr>
          <p:nvPr/>
        </p:nvGrpSpPr>
        <p:grpSpPr bwMode="auto">
          <a:xfrm>
            <a:off x="9255126" y="2222500"/>
            <a:ext cx="912813" cy="1054100"/>
            <a:chOff x="3574" y="550"/>
            <a:chExt cx="575" cy="664"/>
          </a:xfrm>
        </p:grpSpPr>
        <p:grpSp>
          <p:nvGrpSpPr>
            <p:cNvPr id="21549" name="Group 437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21552" name="Picture 43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553" name="Freeform 439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607767 w 356"/>
                  <a:gd name="T3" fmla="*/ 273937 h 368"/>
                  <a:gd name="T4" fmla="*/ 3093555 w 356"/>
                  <a:gd name="T5" fmla="*/ 5706969 h 368"/>
                  <a:gd name="T6" fmla="*/ 681775 w 356"/>
                  <a:gd name="T7" fmla="*/ 7137332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21550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51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user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agent</a:t>
              </a:r>
              <a:endParaRPr lang="en-US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1525" name="Group 442"/>
          <p:cNvGrpSpPr>
            <a:grpSpLocks/>
          </p:cNvGrpSpPr>
          <p:nvPr/>
        </p:nvGrpSpPr>
        <p:grpSpPr bwMode="auto">
          <a:xfrm>
            <a:off x="9591676" y="2984500"/>
            <a:ext cx="912813" cy="1054100"/>
            <a:chOff x="3574" y="550"/>
            <a:chExt cx="575" cy="664"/>
          </a:xfrm>
        </p:grpSpPr>
        <p:grpSp>
          <p:nvGrpSpPr>
            <p:cNvPr id="21544" name="Group 443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21547" name="Picture 44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548" name="Freeform 445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607767 w 356"/>
                  <a:gd name="T3" fmla="*/ 273937 h 368"/>
                  <a:gd name="T4" fmla="*/ 3093555 w 356"/>
                  <a:gd name="T5" fmla="*/ 5706969 h 368"/>
                  <a:gd name="T6" fmla="*/ 681775 w 356"/>
                  <a:gd name="T7" fmla="*/ 7137332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21545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46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user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agent</a:t>
              </a:r>
              <a:endParaRPr lang="en-US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1526" name="Group 448"/>
          <p:cNvGrpSpPr>
            <a:grpSpLocks/>
          </p:cNvGrpSpPr>
          <p:nvPr/>
        </p:nvGrpSpPr>
        <p:grpSpPr bwMode="auto">
          <a:xfrm>
            <a:off x="9459913" y="4032250"/>
            <a:ext cx="912812" cy="1054100"/>
            <a:chOff x="3574" y="550"/>
            <a:chExt cx="575" cy="664"/>
          </a:xfrm>
        </p:grpSpPr>
        <p:grpSp>
          <p:nvGrpSpPr>
            <p:cNvPr id="21539" name="Group 449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21542" name="Picture 45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543" name="Freeform 451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607767 w 356"/>
                  <a:gd name="T3" fmla="*/ 273937 h 368"/>
                  <a:gd name="T4" fmla="*/ 3093555 w 356"/>
                  <a:gd name="T5" fmla="*/ 5706969 h 368"/>
                  <a:gd name="T6" fmla="*/ 681775 w 356"/>
                  <a:gd name="T7" fmla="*/ 7137332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21540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41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user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agent</a:t>
              </a:r>
              <a:endParaRPr lang="en-US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1527" name="Group 454"/>
          <p:cNvGrpSpPr>
            <a:grpSpLocks/>
          </p:cNvGrpSpPr>
          <p:nvPr/>
        </p:nvGrpSpPr>
        <p:grpSpPr bwMode="auto">
          <a:xfrm>
            <a:off x="6848476" y="5470525"/>
            <a:ext cx="912813" cy="1054100"/>
            <a:chOff x="3574" y="550"/>
            <a:chExt cx="575" cy="664"/>
          </a:xfrm>
        </p:grpSpPr>
        <p:grpSp>
          <p:nvGrpSpPr>
            <p:cNvPr id="21534" name="Group 455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21537" name="Picture 456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538" name="Freeform 457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607767 w 356"/>
                  <a:gd name="T3" fmla="*/ 273937 h 368"/>
                  <a:gd name="T4" fmla="*/ 3093555 w 356"/>
                  <a:gd name="T5" fmla="*/ 5706969 h 368"/>
                  <a:gd name="T6" fmla="*/ 681775 w 356"/>
                  <a:gd name="T7" fmla="*/ 7137332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21535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36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user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agent</a:t>
              </a:r>
              <a:endParaRPr lang="en-US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1528" name="Group 460"/>
          <p:cNvGrpSpPr>
            <a:grpSpLocks/>
          </p:cNvGrpSpPr>
          <p:nvPr/>
        </p:nvGrpSpPr>
        <p:grpSpPr bwMode="auto">
          <a:xfrm>
            <a:off x="7577138" y="4851400"/>
            <a:ext cx="912812" cy="1054100"/>
            <a:chOff x="3574" y="550"/>
            <a:chExt cx="575" cy="664"/>
          </a:xfrm>
        </p:grpSpPr>
        <p:grpSp>
          <p:nvGrpSpPr>
            <p:cNvPr id="21529" name="Group 461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21532" name="Picture 462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533" name="Freeform 463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607767 w 356"/>
                  <a:gd name="T3" fmla="*/ 273937 h 368"/>
                  <a:gd name="T4" fmla="*/ 3093555 w 356"/>
                  <a:gd name="T5" fmla="*/ 5706969 h 368"/>
                  <a:gd name="T6" fmla="*/ 681775 w 356"/>
                  <a:gd name="T7" fmla="*/ 7137332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21530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531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user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agent</a:t>
              </a:r>
              <a:endParaRPr lang="en-US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7259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3555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1DA31766-459C-4C13-96E7-F6B8AEE7EBE4}" type="slidenum"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7</a:t>
            </a:fld>
            <a:endParaRPr lang="en-US" altLang="en-US" sz="11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23556" name="Picture 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176" y="942975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>
          <a:xfrm>
            <a:off x="1990725" y="234950"/>
            <a:ext cx="7772400" cy="958850"/>
          </a:xfrm>
        </p:spPr>
        <p:txBody>
          <a:bodyPr/>
          <a:lstStyle/>
          <a:p>
            <a:r>
              <a:rPr lang="en-US" altLang="en-US">
                <a:latin typeface="Gill Sans MT" panose="020B0502020104020203" pitchFamily="34" charset="0"/>
              </a:rPr>
              <a:t>Electronic Mail: SMTP </a:t>
            </a:r>
            <a:r>
              <a:rPr lang="en-US" altLang="en-US" sz="3200">
                <a:latin typeface="Gill Sans MT" panose="020B0502020104020203" pitchFamily="34" charset="0"/>
              </a:rPr>
              <a:t>[RFC 2821]</a:t>
            </a:r>
          </a:p>
        </p:txBody>
      </p:sp>
      <p:sp>
        <p:nvSpPr>
          <p:cNvPr id="2355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12964" y="1422400"/>
            <a:ext cx="7629525" cy="4648200"/>
          </a:xfrm>
        </p:spPr>
        <p:txBody>
          <a:bodyPr/>
          <a:lstStyle/>
          <a:p>
            <a:r>
              <a:rPr lang="en-US" altLang="en-US" sz="2400">
                <a:latin typeface="Gill Sans MT" panose="020B0502020104020203" pitchFamily="34" charset="0"/>
              </a:rPr>
              <a:t>uses TCP to reliably transfer email message from client to server, port 25</a:t>
            </a:r>
          </a:p>
          <a:p>
            <a:r>
              <a:rPr lang="en-US" altLang="en-US" sz="2400">
                <a:latin typeface="Gill Sans MT" panose="020B0502020104020203" pitchFamily="34" charset="0"/>
              </a:rPr>
              <a:t>direct transfer: sending server to receiving server</a:t>
            </a:r>
          </a:p>
          <a:p>
            <a:r>
              <a:rPr lang="en-US" altLang="en-US" sz="2400">
                <a:latin typeface="Gill Sans MT" panose="020B0502020104020203" pitchFamily="34" charset="0"/>
              </a:rPr>
              <a:t>three phases of transfer</a:t>
            </a:r>
          </a:p>
          <a:p>
            <a:pPr lvl="1"/>
            <a:r>
              <a:rPr lang="en-US" altLang="en-US" sz="2000">
                <a:latin typeface="Gill Sans MT" panose="020B0502020104020203" pitchFamily="34" charset="0"/>
              </a:rPr>
              <a:t>handshaking (greeting)</a:t>
            </a:r>
          </a:p>
          <a:p>
            <a:pPr lvl="1"/>
            <a:r>
              <a:rPr lang="en-US" altLang="en-US" sz="2000">
                <a:latin typeface="Gill Sans MT" panose="020B0502020104020203" pitchFamily="34" charset="0"/>
              </a:rPr>
              <a:t>transfer of messages</a:t>
            </a:r>
          </a:p>
          <a:p>
            <a:pPr lvl="1"/>
            <a:r>
              <a:rPr lang="en-US" altLang="en-US" sz="2000">
                <a:latin typeface="Gill Sans MT" panose="020B0502020104020203" pitchFamily="34" charset="0"/>
              </a:rPr>
              <a:t>closure</a:t>
            </a:r>
          </a:p>
          <a:p>
            <a:r>
              <a:rPr lang="en-US" altLang="en-US" sz="2400">
                <a:latin typeface="Gill Sans MT" panose="020B0502020104020203" pitchFamily="34" charset="0"/>
              </a:rPr>
              <a:t>command/response interaction (like </a:t>
            </a:r>
            <a:r>
              <a:rPr lang="en-US" altLang="en-US" sz="2000">
                <a:latin typeface="Gill Sans MT" panose="020B0502020104020203" pitchFamily="34" charset="0"/>
              </a:rPr>
              <a:t>HTTP, FTP</a:t>
            </a:r>
            <a:r>
              <a:rPr lang="en-US" altLang="en-US" sz="2400">
                <a:latin typeface="Gill Sans MT" panose="020B0502020104020203" pitchFamily="34" charset="0"/>
              </a:rPr>
              <a:t>)</a:t>
            </a:r>
            <a:endParaRPr lang="en-US" altLang="en-US" sz="2400">
              <a:solidFill>
                <a:schemeClr val="accent2"/>
              </a:solidFill>
              <a:latin typeface="Gill Sans MT" panose="020B0502020104020203" pitchFamily="34" charset="0"/>
            </a:endParaRPr>
          </a:p>
          <a:p>
            <a:pPr lvl="1"/>
            <a:r>
              <a:rPr lang="en-US" altLang="en-US" sz="2000">
                <a:solidFill>
                  <a:srgbClr val="000099"/>
                </a:solidFill>
                <a:latin typeface="Gill Sans MT" panose="020B0502020104020203" pitchFamily="34" charset="0"/>
              </a:rPr>
              <a:t>commands:</a:t>
            </a:r>
            <a:r>
              <a:rPr lang="en-US" altLang="en-US" sz="2000">
                <a:latin typeface="Gill Sans MT" panose="020B0502020104020203" pitchFamily="34" charset="0"/>
              </a:rPr>
              <a:t> ASCII text</a:t>
            </a:r>
          </a:p>
          <a:p>
            <a:pPr lvl="1"/>
            <a:r>
              <a:rPr lang="en-US" altLang="en-US" sz="2000">
                <a:solidFill>
                  <a:srgbClr val="000099"/>
                </a:solidFill>
                <a:latin typeface="Gill Sans MT" panose="020B0502020104020203" pitchFamily="34" charset="0"/>
              </a:rPr>
              <a:t>response:</a:t>
            </a:r>
            <a:r>
              <a:rPr lang="en-US" altLang="en-US" sz="2000">
                <a:latin typeface="Gill Sans MT" panose="020B0502020104020203" pitchFamily="34" charset="0"/>
              </a:rPr>
              <a:t> status code and phrase</a:t>
            </a:r>
          </a:p>
          <a:p>
            <a:r>
              <a:rPr lang="en-US" altLang="en-US" sz="2400">
                <a:latin typeface="Gill Sans MT" panose="020B0502020104020203" pitchFamily="34" charset="0"/>
              </a:rPr>
              <a:t>messages must be in 7-bit ASCI</a:t>
            </a:r>
            <a:endParaRPr lang="en-US" altLang="en-US">
              <a:latin typeface="Gill Sans MT" panose="020B0502020104020203" pitchFamily="34" charset="0"/>
            </a:endParaRPr>
          </a:p>
          <a:p>
            <a:pPr lvl="1"/>
            <a:endParaRPr lang="en-US" altLang="en-US" sz="180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412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5603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7B774A2E-C435-4A10-9065-38F71AFA51CD}" type="slidenum"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8</a:t>
            </a:fld>
            <a:endParaRPr lang="en-US" altLang="en-US" sz="11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25604" name="Group 163"/>
          <p:cNvGrpSpPr>
            <a:grpSpLocks/>
          </p:cNvGrpSpPr>
          <p:nvPr/>
        </p:nvGrpSpPr>
        <p:grpSpPr bwMode="auto">
          <a:xfrm>
            <a:off x="2689225" y="4881563"/>
            <a:ext cx="890588" cy="1054100"/>
            <a:chOff x="3588" y="550"/>
            <a:chExt cx="561" cy="664"/>
          </a:xfrm>
        </p:grpSpPr>
        <p:grpSp>
          <p:nvGrpSpPr>
            <p:cNvPr id="25726" name="Group 164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25729" name="Picture 16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730" name="Freeform 16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607767 w 356"/>
                  <a:gd name="T3" fmla="*/ 273937 h 368"/>
                  <a:gd name="T4" fmla="*/ 3093555 w 356"/>
                  <a:gd name="T5" fmla="*/ 5706969 h 368"/>
                  <a:gd name="T6" fmla="*/ 681775 w 356"/>
                  <a:gd name="T7" fmla="*/ 7137332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25727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728" name="Text Box 116"/>
            <p:cNvSpPr txBox="1">
              <a:spLocks noChangeArrowheads="1"/>
            </p:cNvSpPr>
            <p:nvPr/>
          </p:nvSpPr>
          <p:spPr bwMode="auto">
            <a:xfrm>
              <a:off x="3592" y="550"/>
              <a:ext cx="39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user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agent</a:t>
              </a:r>
              <a:endParaRPr lang="en-US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5605" name="Group 130"/>
          <p:cNvGrpSpPr>
            <a:grpSpLocks/>
          </p:cNvGrpSpPr>
          <p:nvPr/>
        </p:nvGrpSpPr>
        <p:grpSpPr bwMode="auto">
          <a:xfrm>
            <a:off x="6376989" y="4613275"/>
            <a:ext cx="511175" cy="693738"/>
            <a:chOff x="4140" y="429"/>
            <a:chExt cx="1425" cy="2396"/>
          </a:xfrm>
        </p:grpSpPr>
        <p:sp>
          <p:nvSpPr>
            <p:cNvPr id="25694" name="Freeform 131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9 h 2742"/>
                <a:gd name="T6" fmla="*/ 0 w 354"/>
                <a:gd name="T7" fmla="*/ 10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95" name="Rectangle 132"/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96" name="Freeform 133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97" name="Freeform 134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98" name="Rectangle 135"/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5699" name="Group 136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724" name="AutoShape 137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5725" name="AutoShape 138"/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5700" name="Rectangle 139"/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5701" name="Group 140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722" name="AutoShape 141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5723" name="AutoShape 142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5702" name="Rectangle 143"/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703" name="Rectangle 144"/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5704" name="Group 145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720" name="AutoShape 146"/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5721" name="AutoShape 147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5705" name="Freeform 148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grpSp>
          <p:nvGrpSpPr>
            <p:cNvPr id="25706" name="Group 149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718" name="AutoShape 150"/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5719" name="AutoShape 151"/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5707" name="Rectangle 152"/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708" name="Freeform 153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709" name="Freeform 154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3 h 288"/>
                <a:gd name="T4" fmla="*/ 2 w 304"/>
                <a:gd name="T5" fmla="*/ 3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710" name="Oval 155"/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711" name="Freeform 156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712" name="AutoShape 157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713" name="AutoShape 158"/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714" name="Oval 159"/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715" name="Oval 160"/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16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716" name="Oval 161"/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717" name="Rectangle 162"/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5606" name="Group 97"/>
          <p:cNvGrpSpPr>
            <a:grpSpLocks/>
          </p:cNvGrpSpPr>
          <p:nvPr/>
        </p:nvGrpSpPr>
        <p:grpSpPr bwMode="auto">
          <a:xfrm>
            <a:off x="4198939" y="4668839"/>
            <a:ext cx="511175" cy="693737"/>
            <a:chOff x="4140" y="429"/>
            <a:chExt cx="1425" cy="2396"/>
          </a:xfrm>
        </p:grpSpPr>
        <p:sp>
          <p:nvSpPr>
            <p:cNvPr id="25662" name="Freeform 9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9 h 2742"/>
                <a:gd name="T6" fmla="*/ 0 w 354"/>
                <a:gd name="T7" fmla="*/ 10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63" name="Rectangle 99"/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64" name="Freeform 10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65" name="Freeform 10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66" name="Rectangle 102"/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5667" name="Group 10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692" name="AutoShape 104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5693" name="AutoShape 105"/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5668" name="Rectangle 106"/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5669" name="Group 10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690" name="AutoShape 108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5691" name="AutoShape 109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5670" name="Rectangle 110"/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71" name="Rectangle 111"/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5672" name="Group 11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688" name="AutoShape 113"/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5689" name="AutoShape 114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5673" name="Freeform 11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grpSp>
          <p:nvGrpSpPr>
            <p:cNvPr id="25674" name="Group 11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686" name="AutoShape 117"/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5687" name="AutoShape 118"/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5675" name="Rectangle 119"/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76" name="Freeform 12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77" name="Freeform 12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3 h 288"/>
                <a:gd name="T4" fmla="*/ 2 w 304"/>
                <a:gd name="T5" fmla="*/ 3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78" name="Oval 122"/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79" name="Freeform 12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80" name="AutoShape 124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81" name="AutoShape 125"/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82" name="Oval 126"/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83" name="Oval 127"/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16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84" name="Oval 128"/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85" name="Rectangle 129"/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pic>
        <p:nvPicPr>
          <p:cNvPr id="25607" name="Picture 83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8201" y="801689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8" name="Rectangle 2"/>
          <p:cNvSpPr>
            <a:spLocks noGrp="1" noChangeArrowheads="1"/>
          </p:cNvSpPr>
          <p:nvPr>
            <p:ph type="title"/>
          </p:nvPr>
        </p:nvSpPr>
        <p:spPr>
          <a:xfrm>
            <a:off x="1968500" y="22225"/>
            <a:ext cx="8235950" cy="1143000"/>
          </a:xfrm>
        </p:spPr>
        <p:txBody>
          <a:bodyPr>
            <a:normAutofit fontScale="90000"/>
          </a:bodyPr>
          <a:lstStyle/>
          <a:p>
            <a:r>
              <a:rPr lang="en-US" altLang="en-US">
                <a:latin typeface="Gill Sans MT" panose="020B0502020104020203" pitchFamily="34" charset="0"/>
              </a:rPr>
              <a:t>Scenario: Alice sends message to Bob</a:t>
            </a:r>
            <a:endParaRPr lang="en-US" altLang="en-US" sz="3200">
              <a:latin typeface="Gill Sans MT" panose="020B0502020104020203" pitchFamily="34" charset="0"/>
            </a:endParaRPr>
          </a:p>
        </p:txBody>
      </p:sp>
      <p:sp>
        <p:nvSpPr>
          <p:cNvPr id="2560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57400" y="1371600"/>
            <a:ext cx="3810000" cy="32194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latin typeface="Gill Sans MT" panose="020B0502020104020203" pitchFamily="34" charset="0"/>
              </a:rPr>
              <a:t>1) Alice uses UA to compose message </a:t>
            </a:r>
            <a:r>
              <a:rPr lang="ja-JP" altLang="en-US" sz="2000">
                <a:latin typeface="Gill Sans MT" panose="020B0502020104020203" pitchFamily="34" charset="0"/>
              </a:rPr>
              <a:t>“</a:t>
            </a:r>
            <a:r>
              <a:rPr lang="en-US" altLang="ja-JP" sz="2000">
                <a:latin typeface="Gill Sans MT" panose="020B0502020104020203" pitchFamily="34" charset="0"/>
              </a:rPr>
              <a:t>to</a:t>
            </a:r>
            <a:r>
              <a:rPr lang="ja-JP" altLang="en-US" sz="2000">
                <a:latin typeface="Gill Sans MT" panose="020B0502020104020203" pitchFamily="34" charset="0"/>
              </a:rPr>
              <a:t>”</a:t>
            </a:r>
            <a:r>
              <a:rPr lang="en-US" altLang="ja-JP" sz="2000">
                <a:latin typeface="Gill Sans MT" panose="020B0502020104020203" pitchFamily="34" charset="0"/>
              </a:rPr>
              <a:t> </a:t>
            </a:r>
            <a:r>
              <a:rPr lang="en-US" altLang="ja-JP" sz="2000">
                <a:latin typeface="Courier New" panose="02070309020205020404" pitchFamily="49" charset="0"/>
              </a:rPr>
              <a:t>bob@someschool.edu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latin typeface="Gill Sans MT" panose="020B0502020104020203" pitchFamily="34" charset="0"/>
              </a:rPr>
              <a:t>2) Alice</a:t>
            </a:r>
            <a:r>
              <a:rPr lang="ja-JP" altLang="en-US" sz="2000">
                <a:latin typeface="Gill Sans MT" panose="020B0502020104020203" pitchFamily="34" charset="0"/>
              </a:rPr>
              <a:t>’</a:t>
            </a:r>
            <a:r>
              <a:rPr lang="en-US" altLang="ja-JP" sz="2000">
                <a:latin typeface="Gill Sans MT" panose="020B0502020104020203" pitchFamily="34" charset="0"/>
              </a:rPr>
              <a:t>s UA sends message to her mail server; message placed in message queue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latin typeface="Gill Sans MT" panose="020B0502020104020203" pitchFamily="34" charset="0"/>
              </a:rPr>
              <a:t>3) client side of SMTP opens TCP connection with Bob</a:t>
            </a:r>
            <a:r>
              <a:rPr lang="ja-JP" altLang="en-US" sz="2000">
                <a:latin typeface="Gill Sans MT" panose="020B0502020104020203" pitchFamily="34" charset="0"/>
              </a:rPr>
              <a:t>’</a:t>
            </a:r>
            <a:r>
              <a:rPr lang="en-US" altLang="ja-JP" sz="2000">
                <a:latin typeface="Gill Sans MT" panose="020B0502020104020203" pitchFamily="34" charset="0"/>
              </a:rPr>
              <a:t>s mail server</a:t>
            </a:r>
            <a:endParaRPr lang="en-US" altLang="en-US" sz="2000">
              <a:latin typeface="Gill Sans MT" panose="020B0502020104020203" pitchFamily="34" charset="0"/>
            </a:endParaRPr>
          </a:p>
        </p:txBody>
      </p:sp>
      <p:sp>
        <p:nvSpPr>
          <p:cNvPr id="2561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032500" y="1335088"/>
            <a:ext cx="3810000" cy="326866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latin typeface="Gill Sans MT" panose="020B0502020104020203" pitchFamily="34" charset="0"/>
              </a:rPr>
              <a:t>4) SMTP client sends Alice</a:t>
            </a:r>
            <a:r>
              <a:rPr lang="ja-JP" altLang="en-US" sz="2000">
                <a:latin typeface="Gill Sans MT" panose="020B0502020104020203" pitchFamily="34" charset="0"/>
              </a:rPr>
              <a:t>’</a:t>
            </a:r>
            <a:r>
              <a:rPr lang="en-US" altLang="ja-JP" sz="2000">
                <a:latin typeface="Gill Sans MT" panose="020B0502020104020203" pitchFamily="34" charset="0"/>
              </a:rPr>
              <a:t>s message over the TCP connection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latin typeface="Gill Sans MT" panose="020B0502020104020203" pitchFamily="34" charset="0"/>
              </a:rPr>
              <a:t>5) Bob</a:t>
            </a:r>
            <a:r>
              <a:rPr lang="ja-JP" altLang="en-US" sz="2000">
                <a:latin typeface="Gill Sans MT" panose="020B0502020104020203" pitchFamily="34" charset="0"/>
              </a:rPr>
              <a:t>’</a:t>
            </a:r>
            <a:r>
              <a:rPr lang="en-US" altLang="ja-JP" sz="2000">
                <a:latin typeface="Gill Sans MT" panose="020B0502020104020203" pitchFamily="34" charset="0"/>
              </a:rPr>
              <a:t>s mail server places the message in Bob</a:t>
            </a:r>
            <a:r>
              <a:rPr lang="ja-JP" altLang="en-US" sz="2000">
                <a:latin typeface="Gill Sans MT" panose="020B0502020104020203" pitchFamily="34" charset="0"/>
              </a:rPr>
              <a:t>’</a:t>
            </a:r>
            <a:r>
              <a:rPr lang="en-US" altLang="ja-JP" sz="2000">
                <a:latin typeface="Gill Sans MT" panose="020B0502020104020203" pitchFamily="34" charset="0"/>
              </a:rPr>
              <a:t>s mailbox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latin typeface="Gill Sans MT" panose="020B0502020104020203" pitchFamily="34" charset="0"/>
              </a:rPr>
              <a:t>6) Bob invokes his user agent to read message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000">
              <a:latin typeface="Gill Sans MT" panose="020B0502020104020203" pitchFamily="34" charset="0"/>
            </a:endParaRPr>
          </a:p>
        </p:txBody>
      </p:sp>
      <p:grpSp>
        <p:nvGrpSpPr>
          <p:cNvPr id="25611" name="Group 20"/>
          <p:cNvGrpSpPr>
            <a:grpSpLocks/>
          </p:cNvGrpSpPr>
          <p:nvPr/>
        </p:nvGrpSpPr>
        <p:grpSpPr bwMode="auto">
          <a:xfrm>
            <a:off x="4332289" y="4956175"/>
            <a:ext cx="809625" cy="1049338"/>
            <a:chOff x="4296" y="2627"/>
            <a:chExt cx="510" cy="661"/>
          </a:xfrm>
        </p:grpSpPr>
        <p:sp>
          <p:nvSpPr>
            <p:cNvPr id="25647" name="Rectangle 21"/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48" name="Text Box 22"/>
            <p:cNvSpPr txBox="1">
              <a:spLocks noChangeArrowheads="1"/>
            </p:cNvSpPr>
            <p:nvPr/>
          </p:nvSpPr>
          <p:spPr bwMode="auto">
            <a:xfrm>
              <a:off x="4324" y="2627"/>
              <a:ext cx="43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mail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server</a:t>
              </a:r>
              <a:endParaRPr lang="en-US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49" name="Rectangle 23"/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50" name="Line 24"/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51" name="Line 25"/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52" name="Line 26"/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53" name="Line 27"/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54" name="Line 28"/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55" name="Line 29"/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56" name="Line 30"/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57" name="Rectangle 31"/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58" name="Rectangle 32"/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59" name="Rectangle 33"/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60" name="Rectangle 34"/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61" name="Rectangle 35"/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pic>
        <p:nvPicPr>
          <p:cNvPr id="25612" name="Picture 36" descr="Alic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226" y="5121275"/>
            <a:ext cx="561975" cy="69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13" name="Picture 37" descr="Bob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7039" y="5026026"/>
            <a:ext cx="6762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614" name="Group 48"/>
          <p:cNvGrpSpPr>
            <a:grpSpLocks/>
          </p:cNvGrpSpPr>
          <p:nvPr/>
        </p:nvGrpSpPr>
        <p:grpSpPr bwMode="auto">
          <a:xfrm>
            <a:off x="6523039" y="4902200"/>
            <a:ext cx="809625" cy="1049338"/>
            <a:chOff x="4296" y="2627"/>
            <a:chExt cx="510" cy="661"/>
          </a:xfrm>
        </p:grpSpPr>
        <p:sp>
          <p:nvSpPr>
            <p:cNvPr id="25632" name="Rectangle 49"/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33" name="Text Box 50"/>
            <p:cNvSpPr txBox="1">
              <a:spLocks noChangeArrowheads="1"/>
            </p:cNvSpPr>
            <p:nvPr/>
          </p:nvSpPr>
          <p:spPr bwMode="auto">
            <a:xfrm>
              <a:off x="4324" y="2627"/>
              <a:ext cx="43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mail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server</a:t>
              </a:r>
              <a:endParaRPr lang="en-US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34" name="Rectangle 51"/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35" name="Line 52"/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36" name="Line 53"/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37" name="Line 54"/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38" name="Line 55"/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39" name="Line 56"/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40" name="Line 57"/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41" name="Line 58"/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5642" name="Rectangle 59"/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43" name="Rectangle 60"/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44" name="Rectangle 61"/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45" name="Rectangle 62"/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46" name="Rectangle 63"/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25615" name="Line 69"/>
          <p:cNvSpPr>
            <a:spLocks noChangeShapeType="1"/>
          </p:cNvSpPr>
          <p:nvPr/>
        </p:nvSpPr>
        <p:spPr bwMode="auto">
          <a:xfrm>
            <a:off x="3452814" y="5494338"/>
            <a:ext cx="892175" cy="14605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5616" name="Line 70"/>
          <p:cNvSpPr>
            <a:spLocks noChangeShapeType="1"/>
          </p:cNvSpPr>
          <p:nvPr/>
        </p:nvSpPr>
        <p:spPr bwMode="auto">
          <a:xfrm>
            <a:off x="5138739" y="5629276"/>
            <a:ext cx="1379537" cy="219075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5617" name="Line 71"/>
          <p:cNvSpPr>
            <a:spLocks noChangeShapeType="1"/>
          </p:cNvSpPr>
          <p:nvPr/>
        </p:nvSpPr>
        <p:spPr bwMode="auto">
          <a:xfrm flipV="1">
            <a:off x="7369176" y="5408614"/>
            <a:ext cx="1027113" cy="427037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5618" name="Oval 72"/>
          <p:cNvSpPr>
            <a:spLocks noChangeArrowheads="1"/>
          </p:cNvSpPr>
          <p:nvPr/>
        </p:nvSpPr>
        <p:spPr bwMode="auto">
          <a:xfrm>
            <a:off x="2582863" y="4943476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</a:rPr>
              <a:t>1</a:t>
            </a:r>
            <a:endParaRPr lang="en-US" altLang="en-US" sz="20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25619" name="Oval 74"/>
          <p:cNvSpPr>
            <a:spLocks noChangeArrowheads="1"/>
          </p:cNvSpPr>
          <p:nvPr/>
        </p:nvSpPr>
        <p:spPr bwMode="auto">
          <a:xfrm>
            <a:off x="3692525" y="5438776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</a:rPr>
              <a:t>2</a:t>
            </a:r>
            <a:endParaRPr lang="en-US" altLang="en-US" sz="20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25620" name="Oval 75"/>
          <p:cNvSpPr>
            <a:spLocks noChangeArrowheads="1"/>
          </p:cNvSpPr>
          <p:nvPr/>
        </p:nvSpPr>
        <p:spPr bwMode="auto">
          <a:xfrm>
            <a:off x="4564063" y="5518151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</a:rPr>
              <a:t>3</a:t>
            </a:r>
            <a:endParaRPr lang="en-US" altLang="en-US" sz="20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25621" name="Oval 76"/>
          <p:cNvSpPr>
            <a:spLocks noChangeArrowheads="1"/>
          </p:cNvSpPr>
          <p:nvPr/>
        </p:nvSpPr>
        <p:spPr bwMode="auto">
          <a:xfrm>
            <a:off x="5675313" y="5603876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</a:rPr>
              <a:t>4</a:t>
            </a:r>
            <a:endParaRPr lang="en-US" altLang="en-US" sz="20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25622" name="Oval 77"/>
          <p:cNvSpPr>
            <a:spLocks noChangeArrowheads="1"/>
          </p:cNvSpPr>
          <p:nvPr/>
        </p:nvSpPr>
        <p:spPr bwMode="auto">
          <a:xfrm>
            <a:off x="6780213" y="5935664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</a:rPr>
              <a:t>5</a:t>
            </a:r>
            <a:endParaRPr lang="en-US" altLang="en-US" sz="20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25623" name="Oval 78"/>
          <p:cNvSpPr>
            <a:spLocks noChangeArrowheads="1"/>
          </p:cNvSpPr>
          <p:nvPr/>
        </p:nvSpPr>
        <p:spPr bwMode="auto">
          <a:xfrm>
            <a:off x="7702550" y="5505451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</a:rPr>
              <a:t>6</a:t>
            </a:r>
            <a:endParaRPr lang="en-US" altLang="en-US" sz="20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25624" name="Text Box 95"/>
          <p:cNvSpPr txBox="1">
            <a:spLocks noChangeArrowheads="1"/>
          </p:cNvSpPr>
          <p:nvPr/>
        </p:nvSpPr>
        <p:spPr bwMode="auto">
          <a:xfrm>
            <a:off x="3848100" y="6069014"/>
            <a:ext cx="16843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</a:rPr>
              <a:t>Alice</a:t>
            </a:r>
            <a:r>
              <a:rPr lang="ja-JP" altLang="en-US" sz="1400">
                <a:solidFill>
                  <a:srgbClr val="000000"/>
                </a:solidFill>
                <a:cs typeface="Arial" panose="020B0604020202020204" pitchFamily="34" charset="0"/>
              </a:rPr>
              <a:t>’</a:t>
            </a:r>
            <a:r>
              <a:rPr lang="en-US" altLang="ja-JP" sz="1400">
                <a:solidFill>
                  <a:srgbClr val="000000"/>
                </a:solidFill>
                <a:cs typeface="Arial" panose="020B0604020202020204" pitchFamily="34" charset="0"/>
              </a:rPr>
              <a:t>s mail server</a:t>
            </a:r>
            <a:endParaRPr lang="en-US" altLang="en-US" sz="14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25625" name="Text Box 96"/>
          <p:cNvSpPr txBox="1">
            <a:spLocks noChangeArrowheads="1"/>
          </p:cNvSpPr>
          <p:nvPr/>
        </p:nvSpPr>
        <p:spPr bwMode="auto">
          <a:xfrm>
            <a:off x="6122989" y="6132514"/>
            <a:ext cx="16208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</a:rPr>
              <a:t>Bob</a:t>
            </a:r>
            <a:r>
              <a:rPr lang="ja-JP" altLang="en-US" sz="1400">
                <a:solidFill>
                  <a:srgbClr val="000000"/>
                </a:solidFill>
                <a:cs typeface="Arial" panose="020B0604020202020204" pitchFamily="34" charset="0"/>
              </a:rPr>
              <a:t>’</a:t>
            </a:r>
            <a:r>
              <a:rPr lang="en-US" altLang="ja-JP" sz="1400">
                <a:solidFill>
                  <a:srgbClr val="000000"/>
                </a:solidFill>
                <a:cs typeface="Arial" panose="020B0604020202020204" pitchFamily="34" charset="0"/>
              </a:rPr>
              <a:t>s mail server</a:t>
            </a:r>
            <a:endParaRPr lang="en-US" altLang="en-US" sz="14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grpSp>
        <p:nvGrpSpPr>
          <p:cNvPr id="25626" name="Group 169"/>
          <p:cNvGrpSpPr>
            <a:grpSpLocks/>
          </p:cNvGrpSpPr>
          <p:nvPr/>
        </p:nvGrpSpPr>
        <p:grpSpPr bwMode="auto">
          <a:xfrm>
            <a:off x="8218489" y="4808538"/>
            <a:ext cx="890587" cy="1054100"/>
            <a:chOff x="3588" y="550"/>
            <a:chExt cx="561" cy="664"/>
          </a:xfrm>
        </p:grpSpPr>
        <p:grpSp>
          <p:nvGrpSpPr>
            <p:cNvPr id="25627" name="Group 170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25630" name="Picture 17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631" name="Freeform 172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607767 w 356"/>
                  <a:gd name="T3" fmla="*/ 273937 h 368"/>
                  <a:gd name="T4" fmla="*/ 3093555 w 356"/>
                  <a:gd name="T5" fmla="*/ 5706969 h 368"/>
                  <a:gd name="T6" fmla="*/ 681775 w 356"/>
                  <a:gd name="T7" fmla="*/ 7137332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25628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629" name="Text Box 116"/>
            <p:cNvSpPr txBox="1">
              <a:spLocks noChangeArrowheads="1"/>
            </p:cNvSpPr>
            <p:nvPr/>
          </p:nvSpPr>
          <p:spPr bwMode="auto">
            <a:xfrm>
              <a:off x="3592" y="550"/>
              <a:ext cx="39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user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400">
                  <a:solidFill>
                    <a:srgbClr val="000000"/>
                  </a:solidFill>
                  <a:cs typeface="Arial" panose="020B0604020202020204" pitchFamily="34" charset="0"/>
                </a:rPr>
                <a:t>agent</a:t>
              </a:r>
              <a:endParaRPr lang="en-US" altLang="en-US" sz="20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0399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4648200" y="6245225"/>
            <a:ext cx="2895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fld id="{92EC36A3-D704-4DE6-9848-1E087279943A}" type="slidenum">
              <a:rPr lang="en-US" altLang="en-US" sz="1400">
                <a:solidFill>
                  <a:srgbClr val="000000"/>
                </a:solidFill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t>9</a:t>
            </a:fld>
            <a:endParaRPr lang="en-US" altLang="en-US" sz="1400">
              <a:solidFill>
                <a:srgbClr val="000000"/>
              </a:solidFill>
            </a:endParaRPr>
          </a:p>
        </p:txBody>
      </p:sp>
      <p:pic>
        <p:nvPicPr>
          <p:cNvPr id="27651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2133600"/>
            <a:ext cx="8689975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1" y="2890838"/>
            <a:ext cx="1471613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950" y="3581401"/>
            <a:ext cx="374650" cy="32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1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1" y="3581401"/>
            <a:ext cx="2093913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3581401"/>
            <a:ext cx="37465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1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1" y="2833688"/>
            <a:ext cx="159067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Rectangle 2"/>
          <p:cNvSpPr txBox="1">
            <a:spLocks noChangeArrowheads="1"/>
          </p:cNvSpPr>
          <p:nvPr/>
        </p:nvSpPr>
        <p:spPr>
          <a:xfrm>
            <a:off x="1724025" y="381000"/>
            <a:ext cx="8235950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en-US" kern="0">
                <a:solidFill>
                  <a:srgbClr val="000000"/>
                </a:solidFill>
                <a:latin typeface="Gill Sans MT" pitchFamily="34" charset="0"/>
                <a:ea typeface="ＭＳ Ｐゴシック"/>
              </a:rPr>
              <a:t>Scenario: Alice sends message to Bob</a:t>
            </a:r>
            <a:endParaRPr lang="en-US" altLang="en-US" sz="3200" kern="0" dirty="0">
              <a:solidFill>
                <a:srgbClr val="000000"/>
              </a:solidFill>
              <a:latin typeface="Gill Sans MT" pitchFamily="34" charset="0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851214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50">
                <a:solidFill>
                  <a:srgbClr val="000000"/>
                </a:solidFill>
                <a:latin typeface="Tahoma" charset="0"/>
              </a:rPr>
              <a:t>Application Layer</a:t>
            </a:r>
          </a:p>
        </p:txBody>
      </p:sp>
      <p:sp>
        <p:nvSpPr>
          <p:cNvPr id="28675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85BD2A60-49EE-431A-8F3C-AD280E8DD2C1}" type="slidenum">
              <a:rPr lang="en-US" altLang="en-US" sz="1000">
                <a:solidFill>
                  <a:srgbClr val="000000"/>
                </a:solidFill>
                <a:latin typeface="Tahoma" panose="020B060403050404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10</a:t>
            </a:fld>
            <a:endParaRPr lang="en-US" altLang="en-US" sz="10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28676" name="Picture 1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638" y="854075"/>
            <a:ext cx="54848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201614"/>
            <a:ext cx="7772400" cy="903287"/>
          </a:xfrm>
        </p:spPr>
        <p:txBody>
          <a:bodyPr/>
          <a:lstStyle/>
          <a:p>
            <a:r>
              <a:rPr lang="en-US" altLang="en-US" sz="3200">
                <a:latin typeface="Gill Sans MT" panose="020B0502020104020203" pitchFamily="34" charset="0"/>
              </a:rPr>
              <a:t>Sample SMTP interaction</a:t>
            </a:r>
            <a:endParaRPr lang="en-US" altLang="en-US" sz="2800">
              <a:latin typeface="Gill Sans MT" panose="020B0502020104020203" pitchFamily="34" charset="0"/>
            </a:endParaRPr>
          </a:p>
        </p:txBody>
      </p:sp>
      <p:sp>
        <p:nvSpPr>
          <p:cNvPr id="28678" name="Rectangle 3"/>
          <p:cNvSpPr>
            <a:spLocks noChangeArrowheads="1"/>
          </p:cNvSpPr>
          <p:nvPr/>
        </p:nvSpPr>
        <p:spPr bwMode="auto">
          <a:xfrm>
            <a:off x="1524000" y="1273176"/>
            <a:ext cx="8956298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S: 220 hamburger.edu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C: HELO crepes.fr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S: 250  Hello crepes.fr, pleased to meet you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C: MAIL FROM: &lt;alice@crepes.fr&gt;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S: 250 alice@crepes.fr... Sender ok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C: RCPT TO: &lt;bob@hamburger.edu&gt;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S: 250 bob@hamburger.edu ... Recipient ok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C: DATA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S: 354 Enter mail, end with "." on a line by itself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C: Do you like ketchup?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C: How about pickles?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C: .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S: 250 Message accepted for delivery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C: QUIT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S: 221 hamburger.edu closing connection</a:t>
            </a:r>
            <a:endParaRPr lang="en-US" altLang="en-US" sz="20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995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http://www.tcpipguide.com/free/diagrams/smtpmai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1" y="762000"/>
            <a:ext cx="6162675" cy="539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Rectangle 2"/>
          <p:cNvSpPr>
            <a:spLocks noChangeArrowheads="1"/>
          </p:cNvSpPr>
          <p:nvPr/>
        </p:nvSpPr>
        <p:spPr bwMode="auto">
          <a:xfrm>
            <a:off x="3424238" y="6172200"/>
            <a:ext cx="49530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>
                <a:solidFill>
                  <a:srgbClr val="000000"/>
                </a:solidFill>
              </a:rPr>
              <a:t>http://www.tcpipguide.com/free/t_SMTPMailTransactionProcess-3.htm</a:t>
            </a:r>
          </a:p>
        </p:txBody>
      </p:sp>
    </p:spTree>
    <p:extLst>
      <p:ext uri="{BB962C8B-B14F-4D97-AF65-F5344CB8AC3E}">
        <p14:creationId xmlns:p14="http://schemas.microsoft.com/office/powerpoint/2010/main" val="1168195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31747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BFBCA993-1EB3-44EA-9042-C22BB8A35B20}" type="slidenum"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12</a:t>
            </a:fld>
            <a:endParaRPr lang="en-US" altLang="en-US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31748" name="Picture 11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601" y="1030289"/>
            <a:ext cx="6399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>
          <a:xfrm>
            <a:off x="1897063" y="414339"/>
            <a:ext cx="7772400" cy="884237"/>
          </a:xfrm>
        </p:spPr>
        <p:txBody>
          <a:bodyPr>
            <a:normAutofit fontScale="90000"/>
          </a:bodyPr>
          <a:lstStyle/>
          <a:p>
            <a:r>
              <a:rPr lang="en-US" altLang="en-US">
                <a:latin typeface="Gill Sans MT" panose="020B0502020104020203" pitchFamily="34" charset="0"/>
              </a:rPr>
              <a:t>Try SMTP interaction for yourself:</a:t>
            </a:r>
          </a:p>
        </p:txBody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22488" y="1579563"/>
            <a:ext cx="7772400" cy="4648200"/>
          </a:xfrm>
        </p:spPr>
        <p:txBody>
          <a:bodyPr/>
          <a:lstStyle/>
          <a:p>
            <a:r>
              <a:rPr lang="en-US" altLang="en-US" sz="2400" b="1">
                <a:latin typeface="Courier New" panose="02070309020205020404" pitchFamily="49" charset="0"/>
              </a:rPr>
              <a:t>telnet servername 25</a:t>
            </a:r>
            <a:endParaRPr lang="en-US" altLang="en-US" sz="2400">
              <a:latin typeface="Gill Sans MT" panose="020B0502020104020203" pitchFamily="34" charset="0"/>
            </a:endParaRPr>
          </a:p>
          <a:p>
            <a:r>
              <a:rPr lang="en-US" altLang="en-US" sz="2400">
                <a:latin typeface="Gill Sans MT" panose="020B0502020104020203" pitchFamily="34" charset="0"/>
              </a:rPr>
              <a:t>see 220 reply from server</a:t>
            </a:r>
          </a:p>
          <a:p>
            <a:r>
              <a:rPr lang="en-US" altLang="en-US" sz="2400">
                <a:latin typeface="Gill Sans MT" panose="020B0502020104020203" pitchFamily="34" charset="0"/>
              </a:rPr>
              <a:t>enter HELO, MAIL FROM, RCPT TO, DATA, QUIT commands</a:t>
            </a:r>
            <a:r>
              <a:rPr lang="en-US" altLang="en-US">
                <a:latin typeface="Gill Sans MT" panose="020B0502020104020203" pitchFamily="34" charset="0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400">
              <a:latin typeface="Gill Sans MT" panose="020B0502020104020203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>
                <a:latin typeface="Gill Sans MT" panose="020B0502020104020203" pitchFamily="34" charset="0"/>
              </a:rPr>
              <a:t>above lets you send email without using email client (reader)</a:t>
            </a:r>
            <a:endParaRPr lang="en-US" altLang="en-US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623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33795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B1424FDD-CC4F-426C-9C34-C21C72CCE2F8}" type="slidenum"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13</a:t>
            </a:fld>
            <a:endParaRPr lang="en-US" altLang="en-US" sz="11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161925"/>
            <a:ext cx="7772400" cy="1143000"/>
          </a:xfrm>
        </p:spPr>
        <p:txBody>
          <a:bodyPr/>
          <a:lstStyle/>
          <a:p>
            <a:r>
              <a:rPr lang="en-US" altLang="en-US" sz="3200">
                <a:latin typeface="Gill Sans MT" panose="020B0502020104020203" pitchFamily="34" charset="0"/>
              </a:rPr>
              <a:t>SMTP: final words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25650" y="1555750"/>
            <a:ext cx="3810000" cy="4648200"/>
          </a:xfrm>
        </p:spPr>
        <p:txBody>
          <a:bodyPr/>
          <a:lstStyle/>
          <a:p>
            <a:r>
              <a:rPr lang="en-US" altLang="en-US" sz="2000">
                <a:latin typeface="Gill Sans MT" panose="020B0502020104020203" pitchFamily="34" charset="0"/>
              </a:rPr>
              <a:t>SMTP uses persistent connections</a:t>
            </a:r>
          </a:p>
          <a:p>
            <a:r>
              <a:rPr lang="en-US" altLang="en-US" sz="2000">
                <a:latin typeface="Gill Sans MT" panose="020B0502020104020203" pitchFamily="34" charset="0"/>
              </a:rPr>
              <a:t>SMTP requires message (header &amp; body) to be in 7-bit ASCII</a:t>
            </a:r>
          </a:p>
        </p:txBody>
      </p:sp>
      <p:sp>
        <p:nvSpPr>
          <p:cNvPr id="3379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019800" y="1511300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i="1">
                <a:solidFill>
                  <a:srgbClr val="CC0000"/>
                </a:solidFill>
                <a:latin typeface="Gill Sans MT" panose="020B0502020104020203" pitchFamily="34" charset="0"/>
              </a:rPr>
              <a:t>comparison with HTTP:</a:t>
            </a:r>
          </a:p>
          <a:p>
            <a:pPr>
              <a:spcBef>
                <a:spcPct val="50000"/>
              </a:spcBef>
            </a:pPr>
            <a:r>
              <a:rPr lang="en-US" altLang="en-US" sz="2000">
                <a:latin typeface="Gill Sans MT" panose="020B0502020104020203" pitchFamily="34" charset="0"/>
              </a:rPr>
              <a:t>HTTP: pull</a:t>
            </a:r>
          </a:p>
          <a:p>
            <a:pPr>
              <a:spcAft>
                <a:spcPct val="50000"/>
              </a:spcAft>
            </a:pPr>
            <a:r>
              <a:rPr lang="en-US" altLang="en-US" sz="2000">
                <a:latin typeface="Gill Sans MT" panose="020B0502020104020203" pitchFamily="34" charset="0"/>
              </a:rPr>
              <a:t>SMTP: push</a:t>
            </a:r>
          </a:p>
          <a:p>
            <a:pPr>
              <a:spcAft>
                <a:spcPct val="50000"/>
              </a:spcAft>
            </a:pPr>
            <a:r>
              <a:rPr lang="en-US" altLang="en-US" sz="2000">
                <a:latin typeface="Gill Sans MT" panose="020B0502020104020203" pitchFamily="34" charset="0"/>
              </a:rPr>
              <a:t>both have ASCII command/response interaction, status codes</a:t>
            </a:r>
          </a:p>
          <a:p>
            <a:r>
              <a:rPr lang="en-US" altLang="en-US" sz="2000">
                <a:latin typeface="Gill Sans MT" panose="020B0502020104020203" pitchFamily="34" charset="0"/>
              </a:rPr>
              <a:t>HTTP: each object encapsulated in its own response msg</a:t>
            </a:r>
          </a:p>
          <a:p>
            <a:r>
              <a:rPr lang="en-US" altLang="en-US" sz="2000">
                <a:latin typeface="Gill Sans MT" panose="020B0502020104020203" pitchFamily="34" charset="0"/>
              </a:rPr>
              <a:t>SMTP: multiple objects sent in multipart msg</a:t>
            </a:r>
          </a:p>
        </p:txBody>
      </p:sp>
      <p:pic>
        <p:nvPicPr>
          <p:cNvPr id="33799" name="Picture 1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951" y="96837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4514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35843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FEA97EDF-85D5-42EE-B34B-EDFD88F91E05}" type="slidenum">
              <a:rPr lang="en-US" altLang="en-US" sz="1100">
                <a:solidFill>
                  <a:srgbClr val="000000"/>
                </a:solidFill>
                <a:latin typeface="Tahoma" panose="020B060403050404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14</a:t>
            </a:fld>
            <a:endParaRPr lang="en-US" altLang="en-US" sz="11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117475"/>
            <a:ext cx="7772400" cy="1143000"/>
          </a:xfrm>
        </p:spPr>
        <p:txBody>
          <a:bodyPr/>
          <a:lstStyle/>
          <a:p>
            <a:r>
              <a:rPr lang="en-US" altLang="en-US">
                <a:latin typeface="Gill Sans MT" panose="020B0502020104020203" pitchFamily="34" charset="0"/>
              </a:rPr>
              <a:t>Mail message format</a:t>
            </a:r>
            <a:endParaRPr lang="en-US" altLang="en-US" sz="3200">
              <a:latin typeface="Gill Sans MT" panose="020B0502020104020203" pitchFamily="34" charset="0"/>
            </a:endParaRPr>
          </a:p>
        </p:txBody>
      </p:sp>
      <p:sp>
        <p:nvSpPr>
          <p:cNvPr id="3584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57400" y="1611313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latin typeface="Gill Sans MT" panose="020B0502020104020203" pitchFamily="34" charset="0"/>
              </a:rPr>
              <a:t>SMTP: protocol for exchanging email msgs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latin typeface="Gill Sans MT" panose="020B0502020104020203" pitchFamily="34" charset="0"/>
              </a:rPr>
              <a:t>RFC 822: standard for text message format:</a:t>
            </a:r>
          </a:p>
          <a:p>
            <a:r>
              <a:rPr lang="en-US" altLang="en-US" sz="2000">
                <a:latin typeface="Gill Sans MT" panose="020B0502020104020203" pitchFamily="34" charset="0"/>
              </a:rPr>
              <a:t>header lines, e.g.,</a:t>
            </a:r>
          </a:p>
          <a:p>
            <a:pPr lvl="1"/>
            <a:r>
              <a:rPr lang="en-US" altLang="en-US" sz="1800">
                <a:latin typeface="Gill Sans MT" panose="020B0502020104020203" pitchFamily="34" charset="0"/>
              </a:rPr>
              <a:t>To:</a:t>
            </a:r>
          </a:p>
          <a:p>
            <a:pPr lvl="1"/>
            <a:r>
              <a:rPr lang="en-US" altLang="en-US" sz="1800">
                <a:latin typeface="Gill Sans MT" panose="020B0502020104020203" pitchFamily="34" charset="0"/>
              </a:rPr>
              <a:t>From:</a:t>
            </a:r>
          </a:p>
          <a:p>
            <a:pPr lvl="1"/>
            <a:r>
              <a:rPr lang="en-US" altLang="en-US" sz="1800">
                <a:latin typeface="Gill Sans MT" panose="020B0502020104020203" pitchFamily="34" charset="0"/>
              </a:rPr>
              <a:t>Subject:</a:t>
            </a:r>
          </a:p>
          <a:p>
            <a:r>
              <a:rPr lang="en-US" altLang="en-US" sz="2000">
                <a:latin typeface="Gill Sans MT" panose="020B0502020104020203" pitchFamily="34" charset="0"/>
              </a:rPr>
              <a:t>Body: the </a:t>
            </a:r>
            <a:r>
              <a:rPr lang="ja-JP" altLang="en-US" sz="2000">
                <a:latin typeface="Gill Sans MT" panose="020B0502020104020203" pitchFamily="34" charset="0"/>
              </a:rPr>
              <a:t>“</a:t>
            </a:r>
            <a:r>
              <a:rPr lang="en-US" altLang="ja-JP" sz="2000">
                <a:latin typeface="Gill Sans MT" panose="020B0502020104020203" pitchFamily="34" charset="0"/>
              </a:rPr>
              <a:t>message</a:t>
            </a:r>
            <a:r>
              <a:rPr lang="ja-JP" altLang="en-US" sz="2000">
                <a:latin typeface="Gill Sans MT" panose="020B0502020104020203" pitchFamily="34" charset="0"/>
              </a:rPr>
              <a:t>”</a:t>
            </a:r>
            <a:r>
              <a:rPr lang="en-US" altLang="ja-JP" sz="2000">
                <a:latin typeface="Gill Sans MT" panose="020B0502020104020203" pitchFamily="34" charset="0"/>
              </a:rPr>
              <a:t> </a:t>
            </a:r>
          </a:p>
          <a:p>
            <a:pPr lvl="1"/>
            <a:r>
              <a:rPr lang="en-US" altLang="en-US" sz="1800">
                <a:latin typeface="Gill Sans MT" panose="020B0502020104020203" pitchFamily="34" charset="0"/>
              </a:rPr>
              <a:t>ASCII characters only</a:t>
            </a:r>
          </a:p>
        </p:txBody>
      </p:sp>
      <p:sp>
        <p:nvSpPr>
          <p:cNvPr id="35846" name="Rectangle 5"/>
          <p:cNvSpPr>
            <a:spLocks noChangeArrowheads="1"/>
          </p:cNvSpPr>
          <p:nvPr/>
        </p:nvSpPr>
        <p:spPr bwMode="auto">
          <a:xfrm>
            <a:off x="6502400" y="1892300"/>
            <a:ext cx="28321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>
                <a:solidFill>
                  <a:srgbClr val="FFFFFF"/>
                </a:solidFill>
                <a:cs typeface="Arial" panose="020B0604020202020204" pitchFamily="34" charset="0"/>
              </a:rPr>
              <a:t>header</a:t>
            </a:r>
          </a:p>
        </p:txBody>
      </p:sp>
      <p:sp>
        <p:nvSpPr>
          <p:cNvPr id="35847" name="Rectangle 7"/>
          <p:cNvSpPr>
            <a:spLocks noChangeArrowheads="1"/>
          </p:cNvSpPr>
          <p:nvPr/>
        </p:nvSpPr>
        <p:spPr bwMode="auto">
          <a:xfrm>
            <a:off x="6502400" y="2705100"/>
            <a:ext cx="2832100" cy="17399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>
                <a:solidFill>
                  <a:srgbClr val="FFFFFF"/>
                </a:solidFill>
                <a:cs typeface="Arial" panose="020B0604020202020204" pitchFamily="34" charset="0"/>
              </a:rPr>
              <a:t>body</a:t>
            </a:r>
          </a:p>
        </p:txBody>
      </p:sp>
      <p:sp>
        <p:nvSpPr>
          <p:cNvPr id="35848" name="Rectangle 9"/>
          <p:cNvSpPr>
            <a:spLocks noChangeArrowheads="1"/>
          </p:cNvSpPr>
          <p:nvPr/>
        </p:nvSpPr>
        <p:spPr bwMode="auto">
          <a:xfrm>
            <a:off x="6299200" y="1778000"/>
            <a:ext cx="3238500" cy="3073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endParaRPr lang="fr-FR" altLang="en-US" sz="20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35849" name="Line 10"/>
          <p:cNvSpPr>
            <a:spLocks noChangeShapeType="1"/>
          </p:cNvSpPr>
          <p:nvPr/>
        </p:nvSpPr>
        <p:spPr bwMode="auto">
          <a:xfrm flipV="1">
            <a:off x="4686300" y="2159000"/>
            <a:ext cx="1765300" cy="1016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5850" name="Line 11"/>
          <p:cNvSpPr>
            <a:spLocks noChangeShapeType="1"/>
          </p:cNvSpPr>
          <p:nvPr/>
        </p:nvSpPr>
        <p:spPr bwMode="auto">
          <a:xfrm flipV="1">
            <a:off x="4533900" y="3327400"/>
            <a:ext cx="1905000" cy="1879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5851" name="Text Box 13"/>
          <p:cNvSpPr txBox="1">
            <a:spLocks noChangeArrowheads="1"/>
          </p:cNvSpPr>
          <p:nvPr/>
        </p:nvSpPr>
        <p:spPr bwMode="auto">
          <a:xfrm>
            <a:off x="9691688" y="2112963"/>
            <a:ext cx="7350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>
                <a:solidFill>
                  <a:srgbClr val="000000"/>
                </a:solidFill>
                <a:cs typeface="Arial" panose="020B0604020202020204" pitchFamily="34" charset="0"/>
              </a:rPr>
              <a:t>blank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>
                <a:solidFill>
                  <a:srgbClr val="000000"/>
                </a:solidFill>
                <a:cs typeface="Arial" panose="020B0604020202020204" pitchFamily="34" charset="0"/>
              </a:rPr>
              <a:t>line</a:t>
            </a:r>
          </a:p>
        </p:txBody>
      </p:sp>
      <p:sp>
        <p:nvSpPr>
          <p:cNvPr id="35852" name="Line 14"/>
          <p:cNvSpPr>
            <a:spLocks noChangeShapeType="1"/>
          </p:cNvSpPr>
          <p:nvPr/>
        </p:nvSpPr>
        <p:spPr bwMode="auto">
          <a:xfrm flipH="1">
            <a:off x="8775700" y="2552700"/>
            <a:ext cx="9652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35853" name="Picture 1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951" y="912814"/>
            <a:ext cx="4570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3325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37891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3C195045-2ED7-4A68-907F-BE9A96C2B200}" type="slidenum"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15</a:t>
            </a:fld>
            <a:endParaRPr lang="en-US" altLang="en-US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37892" name="Group 133"/>
          <p:cNvGrpSpPr>
            <a:grpSpLocks/>
          </p:cNvGrpSpPr>
          <p:nvPr/>
        </p:nvGrpSpPr>
        <p:grpSpPr bwMode="auto">
          <a:xfrm>
            <a:off x="4486276" y="1577975"/>
            <a:ext cx="511175" cy="693738"/>
            <a:chOff x="4140" y="429"/>
            <a:chExt cx="1425" cy="2396"/>
          </a:xfrm>
        </p:grpSpPr>
        <p:sp>
          <p:nvSpPr>
            <p:cNvPr id="37984" name="Freeform 134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9 h 2742"/>
                <a:gd name="T6" fmla="*/ 0 w 354"/>
                <a:gd name="T7" fmla="*/ 10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85" name="Rectangle 135"/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986" name="Freeform 136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87" name="Freeform 137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88" name="Rectangle 138"/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37989" name="Group 139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8014" name="AutoShape 140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38015" name="AutoShape 141"/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990" name="Rectangle 142"/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37991" name="Group 143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8012" name="AutoShape 144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38013" name="AutoShape 145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992" name="Rectangle 146"/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993" name="Rectangle 147"/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37994" name="Group 148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8010" name="AutoShape 149"/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38011" name="AutoShape 150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995" name="Freeform 151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grpSp>
          <p:nvGrpSpPr>
            <p:cNvPr id="37996" name="Group 152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8008" name="AutoShape 153"/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38009" name="AutoShape 154"/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997" name="Rectangle 155"/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998" name="Freeform 156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99" name="Freeform 157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3 h 288"/>
                <a:gd name="T4" fmla="*/ 2 w 304"/>
                <a:gd name="T5" fmla="*/ 3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8000" name="Oval 158"/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8001" name="Freeform 159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8002" name="AutoShape 160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8003" name="AutoShape 161"/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8004" name="Oval 162"/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8005" name="Oval 163"/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18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8006" name="Oval 164"/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8007" name="Rectangle 165"/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7893" name="Group 100"/>
          <p:cNvGrpSpPr>
            <a:grpSpLocks/>
          </p:cNvGrpSpPr>
          <p:nvPr/>
        </p:nvGrpSpPr>
        <p:grpSpPr bwMode="auto">
          <a:xfrm>
            <a:off x="6172201" y="1587500"/>
            <a:ext cx="511175" cy="693738"/>
            <a:chOff x="4140" y="429"/>
            <a:chExt cx="1425" cy="2396"/>
          </a:xfrm>
        </p:grpSpPr>
        <p:sp>
          <p:nvSpPr>
            <p:cNvPr id="37952" name="Freeform 101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9 h 2742"/>
                <a:gd name="T6" fmla="*/ 0 w 354"/>
                <a:gd name="T7" fmla="*/ 10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53" name="Rectangle 102"/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954" name="Freeform 103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55" name="Freeform 104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56" name="Rectangle 105"/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37957" name="Group 106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7982" name="AutoShape 107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37983" name="AutoShape 108"/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958" name="Rectangle 109"/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37959" name="Group 110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7980" name="AutoShape 111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37981" name="AutoShape 112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960" name="Rectangle 113"/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961" name="Rectangle 114"/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37962" name="Group 115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7978" name="AutoShape 116"/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37979" name="AutoShape 117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963" name="Freeform 118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grpSp>
          <p:nvGrpSpPr>
            <p:cNvPr id="37964" name="Group 119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7976" name="AutoShape 120"/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37977" name="AutoShape 121"/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8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965" name="Rectangle 122"/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966" name="Freeform 123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67" name="Freeform 124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3 h 288"/>
                <a:gd name="T4" fmla="*/ 2 w 304"/>
                <a:gd name="T5" fmla="*/ 3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68" name="Oval 125"/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969" name="Freeform 126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70" name="AutoShape 127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971" name="AutoShape 128"/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972" name="Oval 129"/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973" name="Oval 130"/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18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974" name="Oval 131"/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975" name="Rectangle 132"/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8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pic>
        <p:nvPicPr>
          <p:cNvPr id="37894" name="Picture 9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526" y="963614"/>
            <a:ext cx="5027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5" name="Rectangle 2"/>
          <p:cNvSpPr>
            <a:spLocks noGrp="1" noChangeArrowheads="1"/>
          </p:cNvSpPr>
          <p:nvPr>
            <p:ph type="title"/>
          </p:nvPr>
        </p:nvSpPr>
        <p:spPr>
          <a:xfrm>
            <a:off x="2024063" y="255588"/>
            <a:ext cx="7772400" cy="893762"/>
          </a:xfrm>
        </p:spPr>
        <p:txBody>
          <a:bodyPr/>
          <a:lstStyle/>
          <a:p>
            <a:r>
              <a:rPr lang="en-US" altLang="en-US">
                <a:latin typeface="Gill Sans MT" panose="020B0502020104020203" pitchFamily="34" charset="0"/>
              </a:rPr>
              <a:t>Mail access protocols</a:t>
            </a:r>
          </a:p>
        </p:txBody>
      </p:sp>
      <p:sp>
        <p:nvSpPr>
          <p:cNvPr id="3789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05026" y="3230563"/>
            <a:ext cx="7381875" cy="220980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2400">
                <a:solidFill>
                  <a:srgbClr val="CC0000"/>
                </a:solidFill>
                <a:latin typeface="Gill Sans MT" panose="020B0502020104020203" pitchFamily="34" charset="0"/>
              </a:rPr>
              <a:t>SMTP:</a:t>
            </a:r>
            <a:r>
              <a:rPr lang="en-US" altLang="en-US" sz="2400">
                <a:latin typeface="Gill Sans MT" panose="020B0502020104020203" pitchFamily="34" charset="0"/>
              </a:rPr>
              <a:t> delivery/storage to receiver</a:t>
            </a:r>
            <a:r>
              <a:rPr lang="ja-JP" altLang="en-US" sz="2400">
                <a:latin typeface="Gill Sans MT" panose="020B0502020104020203" pitchFamily="34" charset="0"/>
              </a:rPr>
              <a:t>’</a:t>
            </a:r>
            <a:r>
              <a:rPr lang="en-US" altLang="ja-JP" sz="2400">
                <a:latin typeface="Gill Sans MT" panose="020B0502020104020203" pitchFamily="34" charset="0"/>
              </a:rPr>
              <a:t>s server</a:t>
            </a:r>
          </a:p>
          <a:p>
            <a:r>
              <a:rPr lang="en-US" altLang="en-US" sz="2400">
                <a:latin typeface="Gill Sans MT" panose="020B0502020104020203" pitchFamily="34" charset="0"/>
              </a:rPr>
              <a:t>mail access protocol: retrieval from server</a:t>
            </a:r>
          </a:p>
          <a:p>
            <a:pPr lvl="1"/>
            <a:r>
              <a:rPr lang="en-US" altLang="en-US" sz="2200">
                <a:solidFill>
                  <a:srgbClr val="CC0000"/>
                </a:solidFill>
                <a:latin typeface="Gill Sans MT" panose="020B0502020104020203" pitchFamily="34" charset="0"/>
              </a:rPr>
              <a:t>POP:</a:t>
            </a:r>
            <a:r>
              <a:rPr lang="en-US" altLang="en-US" sz="2200">
                <a:latin typeface="Gill Sans MT" panose="020B0502020104020203" pitchFamily="34" charset="0"/>
              </a:rPr>
              <a:t> Post Office Protocol [RFC 1939]: authorization, download </a:t>
            </a:r>
          </a:p>
          <a:p>
            <a:pPr lvl="1"/>
            <a:r>
              <a:rPr lang="en-US" altLang="en-US" sz="2200">
                <a:solidFill>
                  <a:srgbClr val="CC0000"/>
                </a:solidFill>
                <a:latin typeface="Gill Sans MT" panose="020B0502020104020203" pitchFamily="34" charset="0"/>
              </a:rPr>
              <a:t>IMAP:</a:t>
            </a:r>
            <a:r>
              <a:rPr lang="en-US" altLang="en-US" sz="2200">
                <a:latin typeface="Gill Sans MT" panose="020B0502020104020203" pitchFamily="34" charset="0"/>
              </a:rPr>
              <a:t> Internet Mail Access Protocol [RFC 1730]: more features, including manipulation of stored msgs on server</a:t>
            </a:r>
          </a:p>
          <a:p>
            <a:pPr lvl="1"/>
            <a:r>
              <a:rPr lang="en-US" altLang="en-US" sz="2200">
                <a:solidFill>
                  <a:srgbClr val="CC0000"/>
                </a:solidFill>
                <a:latin typeface="Gill Sans MT" panose="020B0502020104020203" pitchFamily="34" charset="0"/>
              </a:rPr>
              <a:t>HTTP:</a:t>
            </a:r>
            <a:r>
              <a:rPr lang="en-US" altLang="en-US" sz="2200">
                <a:latin typeface="Gill Sans MT" panose="020B0502020104020203" pitchFamily="34" charset="0"/>
              </a:rPr>
              <a:t> gmail, Hotmail, Yahoo! Mail, etc.</a:t>
            </a:r>
          </a:p>
          <a:p>
            <a:pPr lvl="1"/>
            <a:endParaRPr lang="en-US" altLang="en-US" sz="2200">
              <a:latin typeface="Gill Sans MT" panose="020B0502020104020203" pitchFamily="34" charset="0"/>
            </a:endParaRPr>
          </a:p>
        </p:txBody>
      </p:sp>
      <p:grpSp>
        <p:nvGrpSpPr>
          <p:cNvPr id="37897" name="Group 158"/>
          <p:cNvGrpSpPr>
            <a:grpSpLocks/>
          </p:cNvGrpSpPr>
          <p:nvPr/>
        </p:nvGrpSpPr>
        <p:grpSpPr bwMode="auto">
          <a:xfrm>
            <a:off x="4286250" y="1987551"/>
            <a:ext cx="1506538" cy="1133476"/>
            <a:chOff x="1774" y="1206"/>
            <a:chExt cx="949" cy="714"/>
          </a:xfrm>
        </p:grpSpPr>
        <p:sp>
          <p:nvSpPr>
            <p:cNvPr id="37936" name="Text Box 95"/>
            <p:cNvSpPr txBox="1">
              <a:spLocks noChangeArrowheads="1"/>
            </p:cNvSpPr>
            <p:nvPr/>
          </p:nvSpPr>
          <p:spPr bwMode="auto">
            <a:xfrm>
              <a:off x="1774" y="1583"/>
              <a:ext cx="949" cy="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sender</a:t>
              </a:r>
              <a:r>
                <a:rPr lang="ja-JP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’</a:t>
              </a:r>
              <a:r>
                <a:rPr lang="en-US" altLang="ja-JP" sz="1600">
                  <a:solidFill>
                    <a:srgbClr val="000000"/>
                  </a:solidFill>
                  <a:cs typeface="Arial" panose="020B0604020202020204" pitchFamily="34" charset="0"/>
                </a:rPr>
                <a:t>s mail </a:t>
              </a:r>
            </a:p>
            <a:p>
              <a:pPr algn="ctr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server</a:t>
              </a:r>
              <a:endParaRPr lang="en-US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37937" name="Group 157"/>
            <p:cNvGrpSpPr>
              <a:grpSpLocks/>
            </p:cNvGrpSpPr>
            <p:nvPr/>
          </p:nvGrpSpPr>
          <p:grpSpPr bwMode="auto">
            <a:xfrm>
              <a:off x="1992" y="1206"/>
              <a:ext cx="510" cy="354"/>
              <a:chOff x="2070" y="2004"/>
              <a:chExt cx="510" cy="354"/>
            </a:xfrm>
          </p:grpSpPr>
          <p:sp>
            <p:nvSpPr>
              <p:cNvPr id="37938" name="Rectangle 94"/>
              <p:cNvSpPr>
                <a:spLocks noChangeArrowheads="1"/>
              </p:cNvSpPr>
              <p:nvPr/>
            </p:nvSpPr>
            <p:spPr bwMode="auto">
              <a:xfrm>
                <a:off x="2070" y="2004"/>
                <a:ext cx="510" cy="354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939" name="Rectangle 96"/>
              <p:cNvSpPr>
                <a:spLocks noChangeArrowheads="1"/>
              </p:cNvSpPr>
              <p:nvPr/>
            </p:nvSpPr>
            <p:spPr bwMode="auto">
              <a:xfrm>
                <a:off x="2094" y="207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940" name="Line 97"/>
              <p:cNvSpPr>
                <a:spLocks noChangeShapeType="1"/>
              </p:cNvSpPr>
              <p:nvPr/>
            </p:nvSpPr>
            <p:spPr bwMode="auto">
              <a:xfrm>
                <a:off x="2143" y="210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37941" name="Line 98"/>
              <p:cNvSpPr>
                <a:spLocks noChangeShapeType="1"/>
              </p:cNvSpPr>
              <p:nvPr/>
            </p:nvSpPr>
            <p:spPr bwMode="auto">
              <a:xfrm>
                <a:off x="2252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37942" name="Line 99"/>
              <p:cNvSpPr>
                <a:spLocks noChangeShapeType="1"/>
              </p:cNvSpPr>
              <p:nvPr/>
            </p:nvSpPr>
            <p:spPr bwMode="auto">
              <a:xfrm>
                <a:off x="2307" y="210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37943" name="Line 100"/>
              <p:cNvSpPr>
                <a:spLocks noChangeShapeType="1"/>
              </p:cNvSpPr>
              <p:nvPr/>
            </p:nvSpPr>
            <p:spPr bwMode="auto">
              <a:xfrm>
                <a:off x="2364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37944" name="Line 101"/>
              <p:cNvSpPr>
                <a:spLocks noChangeShapeType="1"/>
              </p:cNvSpPr>
              <p:nvPr/>
            </p:nvSpPr>
            <p:spPr bwMode="auto">
              <a:xfrm>
                <a:off x="2425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37945" name="Line 102"/>
              <p:cNvSpPr>
                <a:spLocks noChangeShapeType="1"/>
              </p:cNvSpPr>
              <p:nvPr/>
            </p:nvSpPr>
            <p:spPr bwMode="auto">
              <a:xfrm>
                <a:off x="2481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37946" name="Line 103"/>
              <p:cNvSpPr>
                <a:spLocks noChangeShapeType="1"/>
              </p:cNvSpPr>
              <p:nvPr/>
            </p:nvSpPr>
            <p:spPr bwMode="auto">
              <a:xfrm>
                <a:off x="2196" y="210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37947" name="Rectangle 104"/>
              <p:cNvSpPr>
                <a:spLocks noChangeArrowheads="1"/>
              </p:cNvSpPr>
              <p:nvPr/>
            </p:nvSpPr>
            <p:spPr bwMode="auto">
              <a:xfrm>
                <a:off x="2102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948" name="Rectangle 105"/>
              <p:cNvSpPr>
                <a:spLocks noChangeArrowheads="1"/>
              </p:cNvSpPr>
              <p:nvPr/>
            </p:nvSpPr>
            <p:spPr bwMode="auto">
              <a:xfrm>
                <a:off x="2188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949" name="Rectangle 106"/>
              <p:cNvSpPr>
                <a:spLocks noChangeArrowheads="1"/>
              </p:cNvSpPr>
              <p:nvPr/>
            </p:nvSpPr>
            <p:spPr bwMode="auto">
              <a:xfrm>
                <a:off x="2274" y="224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950" name="Rectangle 107"/>
              <p:cNvSpPr>
                <a:spLocks noChangeArrowheads="1"/>
              </p:cNvSpPr>
              <p:nvPr/>
            </p:nvSpPr>
            <p:spPr bwMode="auto">
              <a:xfrm>
                <a:off x="2371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951" name="Rectangle 108"/>
              <p:cNvSpPr>
                <a:spLocks noChangeArrowheads="1"/>
              </p:cNvSpPr>
              <p:nvPr/>
            </p:nvSpPr>
            <p:spPr bwMode="auto">
              <a:xfrm>
                <a:off x="2467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fr-FR" altLang="en-US" sz="2400">
                  <a:solidFill>
                    <a:srgbClr val="000000"/>
                  </a:solidFill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7898" name="Text Box 121"/>
          <p:cNvSpPr txBox="1">
            <a:spLocks noChangeArrowheads="1"/>
          </p:cNvSpPr>
          <p:nvPr/>
        </p:nvSpPr>
        <p:spPr bwMode="auto">
          <a:xfrm>
            <a:off x="3544889" y="1466851"/>
            <a:ext cx="890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>
                <a:solidFill>
                  <a:srgbClr val="CC0000"/>
                </a:solidFill>
                <a:cs typeface="Arial" panose="020B0604020202020204" pitchFamily="34" charset="0"/>
              </a:rPr>
              <a:t>SMTP</a:t>
            </a:r>
          </a:p>
        </p:txBody>
      </p:sp>
      <p:sp>
        <p:nvSpPr>
          <p:cNvPr id="37899" name="Rectangle 153"/>
          <p:cNvSpPr>
            <a:spLocks noChangeArrowheads="1"/>
          </p:cNvSpPr>
          <p:nvPr/>
        </p:nvSpPr>
        <p:spPr bwMode="auto">
          <a:xfrm>
            <a:off x="5305425" y="1457325"/>
            <a:ext cx="857250" cy="304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endParaRPr lang="fr-FR" altLang="en-US" sz="2400">
              <a:solidFill>
                <a:srgbClr val="000000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37900" name="Text Box 154"/>
          <p:cNvSpPr txBox="1">
            <a:spLocks noChangeArrowheads="1"/>
          </p:cNvSpPr>
          <p:nvPr/>
        </p:nvSpPr>
        <p:spPr bwMode="auto">
          <a:xfrm>
            <a:off x="5146675" y="1477964"/>
            <a:ext cx="890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>
                <a:solidFill>
                  <a:srgbClr val="CC0000"/>
                </a:solidFill>
                <a:cs typeface="Arial" panose="020B0604020202020204" pitchFamily="34" charset="0"/>
              </a:rPr>
              <a:t>SMTP</a:t>
            </a:r>
          </a:p>
        </p:txBody>
      </p:sp>
      <p:sp>
        <p:nvSpPr>
          <p:cNvPr id="37901" name="Text Box 156"/>
          <p:cNvSpPr txBox="1">
            <a:spLocks noChangeArrowheads="1"/>
          </p:cNvSpPr>
          <p:nvPr/>
        </p:nvSpPr>
        <p:spPr bwMode="auto">
          <a:xfrm>
            <a:off x="7008813" y="1308100"/>
            <a:ext cx="15113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i="1">
                <a:solidFill>
                  <a:srgbClr val="CC0000"/>
                </a:solidFill>
                <a:cs typeface="Arial" panose="020B0604020202020204" pitchFamily="34" charset="0"/>
              </a:rPr>
              <a:t>mail access</a:t>
            </a:r>
          </a:p>
          <a:p>
            <a:pPr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i="1">
                <a:solidFill>
                  <a:srgbClr val="CC0000"/>
                </a:solidFill>
                <a:cs typeface="Arial" panose="020B0604020202020204" pitchFamily="34" charset="0"/>
              </a:rPr>
              <a:t>protocol</a:t>
            </a:r>
            <a:endParaRPr lang="en-US" altLang="en-US" sz="1800">
              <a:solidFill>
                <a:srgbClr val="CC0000"/>
              </a:solidFill>
              <a:cs typeface="Arial" panose="020B0604020202020204" pitchFamily="34" charset="0"/>
            </a:endParaRPr>
          </a:p>
        </p:txBody>
      </p:sp>
      <p:sp>
        <p:nvSpPr>
          <p:cNvPr id="37902" name="Text Box 160"/>
          <p:cNvSpPr txBox="1">
            <a:spLocks noChangeArrowheads="1"/>
          </p:cNvSpPr>
          <p:nvPr/>
        </p:nvSpPr>
        <p:spPr bwMode="auto">
          <a:xfrm>
            <a:off x="5860251" y="2598739"/>
            <a:ext cx="1609736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>
                <a:solidFill>
                  <a:srgbClr val="000000"/>
                </a:solidFill>
                <a:cs typeface="Arial" panose="020B0604020202020204" pitchFamily="34" charset="0"/>
              </a:rPr>
              <a:t>receiver</a:t>
            </a:r>
            <a:r>
              <a:rPr lang="ja-JP" altLang="en-US" sz="1600">
                <a:solidFill>
                  <a:srgbClr val="000000"/>
                </a:solidFill>
                <a:cs typeface="Arial" panose="020B0604020202020204" pitchFamily="34" charset="0"/>
              </a:rPr>
              <a:t>’</a:t>
            </a:r>
            <a:r>
              <a:rPr lang="en-US" altLang="ja-JP" sz="1600">
                <a:solidFill>
                  <a:srgbClr val="000000"/>
                </a:solidFill>
                <a:cs typeface="Arial" panose="020B0604020202020204" pitchFamily="34" charset="0"/>
              </a:rPr>
              <a:t>s mail </a:t>
            </a:r>
          </a:p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>
                <a:solidFill>
                  <a:srgbClr val="000000"/>
                </a:solidFill>
                <a:cs typeface="Arial" panose="020B0604020202020204" pitchFamily="34" charset="0"/>
              </a:rPr>
              <a:t>server</a:t>
            </a:r>
            <a:endParaRPr lang="en-US" altLang="en-US" sz="24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grpSp>
        <p:nvGrpSpPr>
          <p:cNvPr id="37903" name="Group 161"/>
          <p:cNvGrpSpPr>
            <a:grpSpLocks/>
          </p:cNvGrpSpPr>
          <p:nvPr/>
        </p:nvGrpSpPr>
        <p:grpSpPr bwMode="auto">
          <a:xfrm>
            <a:off x="6324601" y="2000251"/>
            <a:ext cx="809625" cy="561975"/>
            <a:chOff x="2070" y="2004"/>
            <a:chExt cx="510" cy="354"/>
          </a:xfrm>
        </p:grpSpPr>
        <p:sp>
          <p:nvSpPr>
            <p:cNvPr id="37922" name="Rectangle 162"/>
            <p:cNvSpPr>
              <a:spLocks noChangeArrowheads="1"/>
            </p:cNvSpPr>
            <p:nvPr/>
          </p:nvSpPr>
          <p:spPr bwMode="auto">
            <a:xfrm>
              <a:off x="2070" y="2004"/>
              <a:ext cx="510" cy="354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37923" name="Rectangle 163"/>
            <p:cNvSpPr>
              <a:spLocks noChangeArrowheads="1"/>
            </p:cNvSpPr>
            <p:nvPr/>
          </p:nvSpPr>
          <p:spPr bwMode="auto">
            <a:xfrm>
              <a:off x="2094" y="207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37924" name="Line 164"/>
            <p:cNvSpPr>
              <a:spLocks noChangeShapeType="1"/>
            </p:cNvSpPr>
            <p:nvPr/>
          </p:nvSpPr>
          <p:spPr bwMode="auto">
            <a:xfrm>
              <a:off x="2143" y="210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25" name="Line 165"/>
            <p:cNvSpPr>
              <a:spLocks noChangeShapeType="1"/>
            </p:cNvSpPr>
            <p:nvPr/>
          </p:nvSpPr>
          <p:spPr bwMode="auto">
            <a:xfrm>
              <a:off x="2252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26" name="Line 166"/>
            <p:cNvSpPr>
              <a:spLocks noChangeShapeType="1"/>
            </p:cNvSpPr>
            <p:nvPr/>
          </p:nvSpPr>
          <p:spPr bwMode="auto">
            <a:xfrm>
              <a:off x="2307" y="210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27" name="Line 167"/>
            <p:cNvSpPr>
              <a:spLocks noChangeShapeType="1"/>
            </p:cNvSpPr>
            <p:nvPr/>
          </p:nvSpPr>
          <p:spPr bwMode="auto">
            <a:xfrm>
              <a:off x="2364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28" name="Line 168"/>
            <p:cNvSpPr>
              <a:spLocks noChangeShapeType="1"/>
            </p:cNvSpPr>
            <p:nvPr/>
          </p:nvSpPr>
          <p:spPr bwMode="auto">
            <a:xfrm>
              <a:off x="2425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29" name="Line 169"/>
            <p:cNvSpPr>
              <a:spLocks noChangeShapeType="1"/>
            </p:cNvSpPr>
            <p:nvPr/>
          </p:nvSpPr>
          <p:spPr bwMode="auto">
            <a:xfrm>
              <a:off x="2481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30" name="Line 170"/>
            <p:cNvSpPr>
              <a:spLocks noChangeShapeType="1"/>
            </p:cNvSpPr>
            <p:nvPr/>
          </p:nvSpPr>
          <p:spPr bwMode="auto">
            <a:xfrm>
              <a:off x="2196" y="210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31" name="Rectangle 171"/>
            <p:cNvSpPr>
              <a:spLocks noChangeArrowheads="1"/>
            </p:cNvSpPr>
            <p:nvPr/>
          </p:nvSpPr>
          <p:spPr bwMode="auto">
            <a:xfrm>
              <a:off x="2102" y="224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37932" name="Rectangle 172"/>
            <p:cNvSpPr>
              <a:spLocks noChangeArrowheads="1"/>
            </p:cNvSpPr>
            <p:nvPr/>
          </p:nvSpPr>
          <p:spPr bwMode="auto">
            <a:xfrm>
              <a:off x="2188" y="224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37933" name="Rectangle 173"/>
            <p:cNvSpPr>
              <a:spLocks noChangeArrowheads="1"/>
            </p:cNvSpPr>
            <p:nvPr/>
          </p:nvSpPr>
          <p:spPr bwMode="auto">
            <a:xfrm>
              <a:off x="2274" y="224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37934" name="Rectangle 174"/>
            <p:cNvSpPr>
              <a:spLocks noChangeArrowheads="1"/>
            </p:cNvSpPr>
            <p:nvPr/>
          </p:nvSpPr>
          <p:spPr bwMode="auto">
            <a:xfrm>
              <a:off x="2371" y="224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37935" name="Rectangle 175"/>
            <p:cNvSpPr>
              <a:spLocks noChangeArrowheads="1"/>
            </p:cNvSpPr>
            <p:nvPr/>
          </p:nvSpPr>
          <p:spPr bwMode="auto">
            <a:xfrm>
              <a:off x="2467" y="224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</p:grpSp>
      <p:pic>
        <p:nvPicPr>
          <p:cNvPr id="37904" name="Picture 176" descr="Ali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1" y="1557339"/>
            <a:ext cx="561975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05" name="Picture 179" descr="Bob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7701" y="1571626"/>
            <a:ext cx="6762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906" name="Line 94"/>
          <p:cNvSpPr>
            <a:spLocks noChangeShapeType="1"/>
          </p:cNvSpPr>
          <p:nvPr/>
        </p:nvSpPr>
        <p:spPr bwMode="auto">
          <a:xfrm>
            <a:off x="3527425" y="1905000"/>
            <a:ext cx="903288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7907" name="Line 95"/>
          <p:cNvSpPr>
            <a:spLocks noChangeShapeType="1"/>
          </p:cNvSpPr>
          <p:nvPr/>
        </p:nvSpPr>
        <p:spPr bwMode="auto">
          <a:xfrm>
            <a:off x="5157789" y="1901825"/>
            <a:ext cx="903287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7908" name="Line 96"/>
          <p:cNvSpPr>
            <a:spLocks noChangeShapeType="1"/>
          </p:cNvSpPr>
          <p:nvPr/>
        </p:nvSpPr>
        <p:spPr bwMode="auto">
          <a:xfrm>
            <a:off x="6777039" y="1898650"/>
            <a:ext cx="1697037" cy="1588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7909" name="Text Box 156"/>
          <p:cNvSpPr txBox="1">
            <a:spLocks noChangeArrowheads="1"/>
          </p:cNvSpPr>
          <p:nvPr/>
        </p:nvSpPr>
        <p:spPr bwMode="auto">
          <a:xfrm>
            <a:off x="7234239" y="1927225"/>
            <a:ext cx="1311275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i="1">
                <a:solidFill>
                  <a:srgbClr val="CC0000"/>
                </a:solidFill>
                <a:cs typeface="Arial" panose="020B0604020202020204" pitchFamily="34" charset="0"/>
              </a:rPr>
              <a:t>(e.g., </a:t>
            </a:r>
            <a:r>
              <a:rPr lang="en-US" altLang="en-US" sz="1600" i="1">
                <a:solidFill>
                  <a:srgbClr val="CC0000"/>
                </a:solidFill>
                <a:cs typeface="Arial" panose="020B0604020202020204" pitchFamily="34" charset="0"/>
              </a:rPr>
              <a:t>POP, </a:t>
            </a:r>
          </a:p>
          <a:p>
            <a:pPr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i="1">
                <a:solidFill>
                  <a:srgbClr val="CC0000"/>
                </a:solidFill>
                <a:cs typeface="Arial" panose="020B0604020202020204" pitchFamily="34" charset="0"/>
              </a:rPr>
              <a:t>         IMAP</a:t>
            </a:r>
            <a:r>
              <a:rPr lang="en-US" altLang="en-US" sz="1800" i="1">
                <a:solidFill>
                  <a:srgbClr val="CC0000"/>
                </a:solidFill>
                <a:cs typeface="Arial" panose="020B0604020202020204" pitchFamily="34" charset="0"/>
              </a:rPr>
              <a:t>)</a:t>
            </a:r>
          </a:p>
        </p:txBody>
      </p:sp>
      <p:grpSp>
        <p:nvGrpSpPr>
          <p:cNvPr id="37910" name="Group 166"/>
          <p:cNvGrpSpPr>
            <a:grpSpLocks/>
          </p:cNvGrpSpPr>
          <p:nvPr/>
        </p:nvGrpSpPr>
        <p:grpSpPr bwMode="auto">
          <a:xfrm>
            <a:off x="2590801" y="1419225"/>
            <a:ext cx="912813" cy="1054100"/>
            <a:chOff x="3574" y="550"/>
            <a:chExt cx="575" cy="664"/>
          </a:xfrm>
        </p:grpSpPr>
        <p:grpSp>
          <p:nvGrpSpPr>
            <p:cNvPr id="37917" name="Group 167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37920" name="Picture 16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921" name="Freeform 169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607767 w 356"/>
                  <a:gd name="T3" fmla="*/ 273937 h 368"/>
                  <a:gd name="T4" fmla="*/ 3093555 w 356"/>
                  <a:gd name="T5" fmla="*/ 5706969 h 368"/>
                  <a:gd name="T6" fmla="*/ 681775 w 356"/>
                  <a:gd name="T7" fmla="*/ 7137332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37918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919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user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agent</a:t>
              </a:r>
              <a:endParaRPr lang="en-US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7911" name="Group 172"/>
          <p:cNvGrpSpPr>
            <a:grpSpLocks/>
          </p:cNvGrpSpPr>
          <p:nvPr/>
        </p:nvGrpSpPr>
        <p:grpSpPr bwMode="auto">
          <a:xfrm>
            <a:off x="8491538" y="1422400"/>
            <a:ext cx="912812" cy="1054100"/>
            <a:chOff x="3574" y="550"/>
            <a:chExt cx="575" cy="664"/>
          </a:xfrm>
        </p:grpSpPr>
        <p:grpSp>
          <p:nvGrpSpPr>
            <p:cNvPr id="37912" name="Group 173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37915" name="Picture 17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916" name="Freeform 175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607767 w 356"/>
                  <a:gd name="T3" fmla="*/ 273937 h 368"/>
                  <a:gd name="T4" fmla="*/ 3093555 w 356"/>
                  <a:gd name="T5" fmla="*/ 5706969 h 368"/>
                  <a:gd name="T6" fmla="*/ 681775 w 356"/>
                  <a:gd name="T7" fmla="*/ 7137332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37913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endParaRPr lang="fr-FR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914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user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1600">
                  <a:solidFill>
                    <a:srgbClr val="000000"/>
                  </a:solidFill>
                  <a:cs typeface="Arial" panose="020B0604020202020204" pitchFamily="34" charset="0"/>
                </a:rPr>
                <a:t>agent</a:t>
              </a:r>
              <a:endParaRPr lang="en-US" altLang="en-US" sz="240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68187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39939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488D1FE2-F7F5-481C-8CE3-B7A47CA6FB55}" type="slidenum"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16</a:t>
            </a:fld>
            <a:endParaRPr lang="en-US" altLang="en-US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39940" name="Picture 1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4" y="858838"/>
            <a:ext cx="3317875" cy="16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>
          <a:xfrm>
            <a:off x="1927225" y="131764"/>
            <a:ext cx="7772400" cy="968375"/>
          </a:xfrm>
        </p:spPr>
        <p:txBody>
          <a:bodyPr/>
          <a:lstStyle/>
          <a:p>
            <a:r>
              <a:rPr lang="en-US" altLang="en-US" sz="4000">
                <a:latin typeface="Gill Sans MT" panose="020B0502020104020203" pitchFamily="34" charset="0"/>
              </a:rPr>
              <a:t>POP3 protocol</a:t>
            </a:r>
            <a:endParaRPr lang="en-US" altLang="en-US">
              <a:latin typeface="Gill Sans MT" panose="020B0502020104020203" pitchFamily="34" charset="0"/>
            </a:endParaRPr>
          </a:p>
        </p:txBody>
      </p:sp>
      <p:sp>
        <p:nvSpPr>
          <p:cNvPr id="3994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19301" y="1438275"/>
            <a:ext cx="3971925" cy="464820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rgbClr val="CC0000"/>
                </a:solidFill>
                <a:latin typeface="Gill Sans MT" panose="020B0502020104020203" pitchFamily="34" charset="0"/>
              </a:rPr>
              <a:t>authorization phase</a:t>
            </a:r>
          </a:p>
          <a:p>
            <a:r>
              <a:rPr lang="en-US" altLang="en-US" sz="2000">
                <a:latin typeface="Gill Sans MT" panose="020B0502020104020203" pitchFamily="34" charset="0"/>
              </a:rPr>
              <a:t>client commands: </a:t>
            </a:r>
          </a:p>
          <a:p>
            <a:pPr lvl="1"/>
            <a:r>
              <a:rPr lang="en-US" altLang="en-US" sz="2000" b="1">
                <a:latin typeface="Courier New" panose="02070309020205020404" pitchFamily="49" charset="0"/>
              </a:rPr>
              <a:t>user:</a:t>
            </a:r>
            <a:r>
              <a:rPr lang="en-US" altLang="en-US" sz="2000">
                <a:latin typeface="Gill Sans MT" panose="020B0502020104020203" pitchFamily="34" charset="0"/>
              </a:rPr>
              <a:t> declare username</a:t>
            </a:r>
          </a:p>
          <a:p>
            <a:pPr lvl="1"/>
            <a:r>
              <a:rPr lang="en-US" altLang="en-US" sz="2000" b="1">
                <a:latin typeface="Courier New" panose="02070309020205020404" pitchFamily="49" charset="0"/>
              </a:rPr>
              <a:t>pass:</a:t>
            </a:r>
            <a:r>
              <a:rPr lang="en-US" altLang="en-US" sz="2000">
                <a:latin typeface="Gill Sans MT" panose="020B0502020104020203" pitchFamily="34" charset="0"/>
              </a:rPr>
              <a:t> password</a:t>
            </a:r>
          </a:p>
          <a:p>
            <a:r>
              <a:rPr lang="en-US" altLang="en-US" sz="2000">
                <a:latin typeface="Gill Sans MT" panose="020B0502020104020203" pitchFamily="34" charset="0"/>
              </a:rPr>
              <a:t>server responses</a:t>
            </a:r>
          </a:p>
          <a:p>
            <a:pPr lvl="1"/>
            <a:r>
              <a:rPr lang="en-US" altLang="en-US" sz="2000" b="1">
                <a:latin typeface="Courier New" panose="02070309020205020404" pitchFamily="49" charset="0"/>
              </a:rPr>
              <a:t>+OK</a:t>
            </a:r>
          </a:p>
          <a:p>
            <a:pPr lvl="1"/>
            <a:r>
              <a:rPr lang="en-US" altLang="en-US" sz="2000" b="1">
                <a:latin typeface="Courier New" panose="02070309020205020404" pitchFamily="49" charset="0"/>
              </a:rPr>
              <a:t>-ERR</a:t>
            </a:r>
            <a:endParaRPr lang="en-US" altLang="en-US" sz="1800">
              <a:latin typeface="Gill Sans MT" panose="020B0502020104020203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rgbClr val="CC0000"/>
                </a:solidFill>
                <a:latin typeface="Gill Sans MT" panose="020B0502020104020203" pitchFamily="34" charset="0"/>
              </a:rPr>
              <a:t>transaction phase,</a:t>
            </a:r>
            <a:r>
              <a:rPr lang="en-US" altLang="en-US" sz="2400">
                <a:solidFill>
                  <a:srgbClr val="FF0000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sz="2400">
                <a:solidFill>
                  <a:schemeClr val="tx2"/>
                </a:solidFill>
                <a:latin typeface="Gill Sans MT" panose="020B0502020104020203" pitchFamily="34" charset="0"/>
              </a:rPr>
              <a:t>client:</a:t>
            </a:r>
            <a:endParaRPr lang="en-US" altLang="en-US" sz="2400">
              <a:latin typeface="Gill Sans MT" panose="020B0502020104020203" pitchFamily="34" charset="0"/>
            </a:endParaRPr>
          </a:p>
          <a:p>
            <a:r>
              <a:rPr lang="en-US" altLang="en-US" sz="2000" b="1">
                <a:latin typeface="Courier New" panose="02070309020205020404" pitchFamily="49" charset="0"/>
              </a:rPr>
              <a:t>list:</a:t>
            </a:r>
            <a:r>
              <a:rPr lang="en-US" altLang="en-US" sz="2000">
                <a:latin typeface="Gill Sans MT" panose="020B0502020104020203" pitchFamily="34" charset="0"/>
              </a:rPr>
              <a:t> list message numbers</a:t>
            </a:r>
          </a:p>
          <a:p>
            <a:r>
              <a:rPr lang="en-US" altLang="en-US" sz="2000" b="1">
                <a:latin typeface="Courier New" panose="02070309020205020404" pitchFamily="49" charset="0"/>
              </a:rPr>
              <a:t>retr:</a:t>
            </a:r>
            <a:r>
              <a:rPr lang="en-US" altLang="en-US" sz="2000">
                <a:latin typeface="Gill Sans MT" panose="020B0502020104020203" pitchFamily="34" charset="0"/>
              </a:rPr>
              <a:t> retrieve message by number</a:t>
            </a:r>
          </a:p>
          <a:p>
            <a:r>
              <a:rPr lang="en-US" altLang="en-US" sz="2000" b="1">
                <a:latin typeface="Courier New" panose="02070309020205020404" pitchFamily="49" charset="0"/>
              </a:rPr>
              <a:t>dele:</a:t>
            </a:r>
            <a:r>
              <a:rPr lang="en-US" altLang="en-US" sz="2000">
                <a:latin typeface="Gill Sans MT" panose="020B0502020104020203" pitchFamily="34" charset="0"/>
              </a:rPr>
              <a:t> delete</a:t>
            </a:r>
          </a:p>
          <a:p>
            <a:r>
              <a:rPr lang="en-US" altLang="en-US" sz="2000" b="1">
                <a:latin typeface="Courier New" panose="02070309020205020404" pitchFamily="49" charset="0"/>
              </a:rPr>
              <a:t>quit</a:t>
            </a:r>
            <a:endParaRPr lang="en-US" altLang="en-US" sz="2000">
              <a:latin typeface="Gill Sans MT" panose="020B0502020104020203" pitchFamily="34" charset="0"/>
            </a:endParaRPr>
          </a:p>
        </p:txBody>
      </p:sp>
      <p:sp>
        <p:nvSpPr>
          <p:cNvPr id="39943" name="Text Box 7"/>
          <p:cNvSpPr txBox="1">
            <a:spLocks noChangeArrowheads="1"/>
          </p:cNvSpPr>
          <p:nvPr/>
        </p:nvSpPr>
        <p:spPr bwMode="auto">
          <a:xfrm>
            <a:off x="5864225" y="2309814"/>
            <a:ext cx="4268788" cy="402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        </a:t>
            </a: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C: list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S: 1 498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S: 2 912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S: .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C: retr 1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S: &lt;message 1 contents&gt;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S: .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C: dele 1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C: retr 2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S: &lt;message 1 contents&gt;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S: .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C: dele 2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C: quit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S: +OK 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POP3 server signing off</a:t>
            </a: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</p:txBody>
      </p:sp>
      <p:sp>
        <p:nvSpPr>
          <p:cNvPr id="39944" name="Text Box 10"/>
          <p:cNvSpPr txBox="1">
            <a:spLocks noChangeArrowheads="1"/>
          </p:cNvSpPr>
          <p:nvPr/>
        </p:nvSpPr>
        <p:spPr bwMode="auto">
          <a:xfrm>
            <a:off x="6513513" y="590550"/>
            <a:ext cx="398145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S: +OK POP3 server ready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C: user bob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S: +OK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C: pass hungry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S: +OK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user successfully logged on</a:t>
            </a: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9945" name="Freeform 11"/>
          <p:cNvSpPr>
            <a:spLocks/>
          </p:cNvSpPr>
          <p:nvPr/>
        </p:nvSpPr>
        <p:spPr bwMode="auto">
          <a:xfrm>
            <a:off x="6496051" y="847726"/>
            <a:ext cx="371475" cy="1457325"/>
          </a:xfrm>
          <a:custGeom>
            <a:avLst/>
            <a:gdLst>
              <a:gd name="T0" fmla="*/ 2147483646 w 234"/>
              <a:gd name="T1" fmla="*/ 0 h 918"/>
              <a:gd name="T2" fmla="*/ 0 w 234"/>
              <a:gd name="T3" fmla="*/ 0 h 918"/>
              <a:gd name="T4" fmla="*/ 0 w 234"/>
              <a:gd name="T5" fmla="*/ 2147483646 h 918"/>
              <a:gd name="T6" fmla="*/ 2147483646 w 234"/>
              <a:gd name="T7" fmla="*/ 2147483646 h 918"/>
              <a:gd name="T8" fmla="*/ 0 60000 65536"/>
              <a:gd name="T9" fmla="*/ 0 60000 65536"/>
              <a:gd name="T10" fmla="*/ 0 60000 65536"/>
              <a:gd name="T11" fmla="*/ 0 60000 65536"/>
              <a:gd name="T12" fmla="*/ 0 w 234"/>
              <a:gd name="T13" fmla="*/ 0 h 918"/>
              <a:gd name="T14" fmla="*/ 234 w 234"/>
              <a:gd name="T15" fmla="*/ 918 h 91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34" h="918">
                <a:moveTo>
                  <a:pt x="234" y="0"/>
                </a:moveTo>
                <a:lnTo>
                  <a:pt x="0" y="0"/>
                </a:lnTo>
                <a:lnTo>
                  <a:pt x="0" y="918"/>
                </a:lnTo>
                <a:lnTo>
                  <a:pt x="228" y="918"/>
                </a:lnTo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9946" name="Line 13"/>
          <p:cNvSpPr>
            <a:spLocks noChangeShapeType="1"/>
          </p:cNvSpPr>
          <p:nvPr/>
        </p:nvSpPr>
        <p:spPr bwMode="auto">
          <a:xfrm flipV="1">
            <a:off x="5010151" y="1449389"/>
            <a:ext cx="1400175" cy="23812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9947" name="Freeform 14"/>
          <p:cNvSpPr>
            <a:spLocks/>
          </p:cNvSpPr>
          <p:nvPr/>
        </p:nvSpPr>
        <p:spPr bwMode="auto">
          <a:xfrm>
            <a:off x="6497639" y="2428876"/>
            <a:ext cx="371475" cy="3895725"/>
          </a:xfrm>
          <a:custGeom>
            <a:avLst/>
            <a:gdLst>
              <a:gd name="T0" fmla="*/ 2147483646 w 234"/>
              <a:gd name="T1" fmla="*/ 0 h 918"/>
              <a:gd name="T2" fmla="*/ 0 w 234"/>
              <a:gd name="T3" fmla="*/ 0 h 918"/>
              <a:gd name="T4" fmla="*/ 0 w 234"/>
              <a:gd name="T5" fmla="*/ 2147483646 h 918"/>
              <a:gd name="T6" fmla="*/ 2147483646 w 234"/>
              <a:gd name="T7" fmla="*/ 2147483646 h 918"/>
              <a:gd name="T8" fmla="*/ 0 60000 65536"/>
              <a:gd name="T9" fmla="*/ 0 60000 65536"/>
              <a:gd name="T10" fmla="*/ 0 60000 65536"/>
              <a:gd name="T11" fmla="*/ 0 60000 65536"/>
              <a:gd name="T12" fmla="*/ 0 w 234"/>
              <a:gd name="T13" fmla="*/ 0 h 918"/>
              <a:gd name="T14" fmla="*/ 234 w 234"/>
              <a:gd name="T15" fmla="*/ 918 h 91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34" h="918">
                <a:moveTo>
                  <a:pt x="234" y="0"/>
                </a:moveTo>
                <a:lnTo>
                  <a:pt x="0" y="0"/>
                </a:lnTo>
                <a:lnTo>
                  <a:pt x="0" y="918"/>
                </a:lnTo>
                <a:lnTo>
                  <a:pt x="228" y="918"/>
                </a:lnTo>
              </a:path>
            </a:pathLst>
          </a:cu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9948" name="Line 15"/>
          <p:cNvSpPr>
            <a:spLocks noChangeShapeType="1"/>
          </p:cNvSpPr>
          <p:nvPr/>
        </p:nvSpPr>
        <p:spPr bwMode="auto">
          <a:xfrm flipV="1">
            <a:off x="4676775" y="3941763"/>
            <a:ext cx="1733550" cy="32385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31316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 descr="http://www.tcpipguide.com/free/diagrams/poptran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533400"/>
            <a:ext cx="5276850" cy="576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24455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43011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67CDBDE1-F3B1-4FC8-85B1-EBAA8FD572CE}" type="slidenum"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18</a:t>
            </a:fld>
            <a:endParaRPr lang="en-US" altLang="en-US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43012" name="Picture 11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6" y="957264"/>
            <a:ext cx="5942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93689"/>
            <a:ext cx="7772400" cy="795337"/>
          </a:xfrm>
        </p:spPr>
        <p:txBody>
          <a:bodyPr/>
          <a:lstStyle/>
          <a:p>
            <a:r>
              <a:rPr lang="en-US" altLang="en-US">
                <a:latin typeface="Gill Sans MT" panose="020B0502020104020203" pitchFamily="34" charset="0"/>
              </a:rPr>
              <a:t>POP3 (more) and IMAP</a:t>
            </a:r>
          </a:p>
        </p:txBody>
      </p:sp>
      <p:sp>
        <p:nvSpPr>
          <p:cNvPr id="4301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44700" y="1343025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rgbClr val="CC0000"/>
                </a:solidFill>
                <a:latin typeface="Gill Sans MT" panose="020B0502020104020203" pitchFamily="34" charset="0"/>
              </a:rPr>
              <a:t>more about POP3</a:t>
            </a:r>
          </a:p>
          <a:p>
            <a:r>
              <a:rPr lang="en-US" altLang="en-US" sz="2400">
                <a:latin typeface="Gill Sans MT" panose="020B0502020104020203" pitchFamily="34" charset="0"/>
              </a:rPr>
              <a:t>previous example uses POP3 </a:t>
            </a:r>
            <a:r>
              <a:rPr lang="ja-JP" altLang="en-US" sz="2400">
                <a:latin typeface="Gill Sans MT" panose="020B0502020104020203" pitchFamily="34" charset="0"/>
              </a:rPr>
              <a:t>“</a:t>
            </a:r>
            <a:r>
              <a:rPr lang="en-US" altLang="ja-JP" sz="2400">
                <a:latin typeface="Gill Sans MT" panose="020B0502020104020203" pitchFamily="34" charset="0"/>
              </a:rPr>
              <a:t>download and delete</a:t>
            </a:r>
            <a:r>
              <a:rPr lang="ja-JP" altLang="en-US" sz="2400">
                <a:latin typeface="Gill Sans MT" panose="020B0502020104020203" pitchFamily="34" charset="0"/>
              </a:rPr>
              <a:t>”</a:t>
            </a:r>
            <a:r>
              <a:rPr lang="en-US" altLang="ja-JP" sz="2400">
                <a:latin typeface="Gill Sans MT" panose="020B0502020104020203" pitchFamily="34" charset="0"/>
              </a:rPr>
              <a:t> mode</a:t>
            </a:r>
          </a:p>
          <a:p>
            <a:pPr lvl="1"/>
            <a:r>
              <a:rPr lang="en-US" altLang="en-US">
                <a:latin typeface="Gill Sans MT" panose="020B0502020104020203" pitchFamily="34" charset="0"/>
              </a:rPr>
              <a:t>Bob cannot re-read e-mail if he changes client</a:t>
            </a:r>
          </a:p>
          <a:p>
            <a:r>
              <a:rPr lang="en-US" altLang="en-US" sz="2400">
                <a:latin typeface="Gill Sans MT" panose="020B0502020104020203" pitchFamily="34" charset="0"/>
              </a:rPr>
              <a:t>POP3 </a:t>
            </a:r>
            <a:r>
              <a:rPr lang="ja-JP" altLang="en-US" sz="2400">
                <a:latin typeface="Gill Sans MT" panose="020B0502020104020203" pitchFamily="34" charset="0"/>
              </a:rPr>
              <a:t>“</a:t>
            </a:r>
            <a:r>
              <a:rPr lang="en-US" altLang="ja-JP" sz="2400">
                <a:latin typeface="Gill Sans MT" panose="020B0502020104020203" pitchFamily="34" charset="0"/>
              </a:rPr>
              <a:t>download-and-keep</a:t>
            </a:r>
            <a:r>
              <a:rPr lang="ja-JP" altLang="en-US" sz="2400">
                <a:latin typeface="Gill Sans MT" panose="020B0502020104020203" pitchFamily="34" charset="0"/>
              </a:rPr>
              <a:t>”</a:t>
            </a:r>
            <a:r>
              <a:rPr lang="en-US" altLang="ja-JP" sz="2400">
                <a:latin typeface="Gill Sans MT" panose="020B0502020104020203" pitchFamily="34" charset="0"/>
              </a:rPr>
              <a:t>: copies of messages on different clients</a:t>
            </a:r>
          </a:p>
          <a:p>
            <a:r>
              <a:rPr lang="en-US" altLang="en-US" sz="2400">
                <a:latin typeface="Gill Sans MT" panose="020B0502020104020203" pitchFamily="34" charset="0"/>
              </a:rPr>
              <a:t>POP3 is stateless across sessions</a:t>
            </a:r>
          </a:p>
        </p:txBody>
      </p:sp>
      <p:sp>
        <p:nvSpPr>
          <p:cNvPr id="43015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007100" y="1381125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rgbClr val="CC0000"/>
                </a:solidFill>
                <a:latin typeface="Gill Sans MT" panose="020B0502020104020203" pitchFamily="34" charset="0"/>
              </a:rPr>
              <a:t>IMAP</a:t>
            </a:r>
          </a:p>
          <a:p>
            <a:r>
              <a:rPr lang="en-US" altLang="en-US" sz="2400">
                <a:latin typeface="Gill Sans MT" panose="020B0502020104020203" pitchFamily="34" charset="0"/>
              </a:rPr>
              <a:t>keeps all messages in one place: at server</a:t>
            </a:r>
          </a:p>
          <a:p>
            <a:r>
              <a:rPr lang="en-US" altLang="en-US" sz="2400">
                <a:latin typeface="Gill Sans MT" panose="020B0502020104020203" pitchFamily="34" charset="0"/>
              </a:rPr>
              <a:t>allows user to organize messages in folders</a:t>
            </a:r>
          </a:p>
          <a:p>
            <a:r>
              <a:rPr lang="en-US" altLang="en-US" sz="2400">
                <a:latin typeface="Gill Sans MT" panose="020B0502020104020203" pitchFamily="34" charset="0"/>
              </a:rPr>
              <a:t>keeps user state across sessions:</a:t>
            </a:r>
          </a:p>
          <a:p>
            <a:pPr lvl="1"/>
            <a:r>
              <a:rPr lang="en-US" altLang="en-US">
                <a:latin typeface="Gill Sans MT" panose="020B0502020104020203" pitchFamily="34" charset="0"/>
              </a:rPr>
              <a:t>names of folders and mappings between message IDs and folder name</a:t>
            </a:r>
          </a:p>
        </p:txBody>
      </p:sp>
    </p:spTree>
    <p:extLst>
      <p:ext uri="{BB962C8B-B14F-4D97-AF65-F5344CB8AC3E}">
        <p14:creationId xmlns:p14="http://schemas.microsoft.com/office/powerpoint/2010/main" val="8895454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Application Layer: Overview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809242" y="1870563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Principles of network applications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 and HTTP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E-mail, SMTP, IMAP</a:t>
            </a:r>
          </a:p>
          <a:p>
            <a:pPr marL="401638" indent="-401638">
              <a:buClr>
                <a:srgbClr val="0000A8"/>
              </a:buClr>
              <a:defRPr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The Domain Name System DNS</a:t>
            </a:r>
          </a:p>
          <a:p>
            <a:endParaRPr lang="en-US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5FE695BD-369F-8C4A-ACAD-42671E1C0719}"/>
              </a:ext>
            </a:extLst>
          </p:cNvPr>
          <p:cNvSpPr txBox="1">
            <a:spLocks noChangeArrowheads="1"/>
          </p:cNvSpPr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</p:spPr>
        <p:txBody>
          <a:bodyPr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9250" indent="-349250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P2P applications</a:t>
            </a:r>
          </a:p>
          <a:p>
            <a:pPr marL="349250" indent="-349250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video streaming and content distribution networks</a:t>
            </a:r>
          </a:p>
          <a:p>
            <a:pPr marL="349250" indent="-349250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socket programming with UDP and TCP</a:t>
            </a:r>
          </a:p>
          <a:p>
            <a:pPr>
              <a:buFont typeface="Wingdings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7" name="Picture 6" descr="Kurose&amp;Ross 8th edition photo">
            <a:extLst>
              <a:ext uri="{FF2B5EF4-FFF2-40B4-BE49-F238E27FC236}">
                <a16:creationId xmlns:a16="http://schemas.microsoft.com/office/drawing/2014/main" id="{0FE4D197-C068-7641-A580-436689983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391" y="4125913"/>
            <a:ext cx="3087757" cy="231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648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DNS: Domain Name System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127" name="Rectangle 3">
            <a:extLst>
              <a:ext uri="{FF2B5EF4-FFF2-40B4-BE49-F238E27FC236}">
                <a16:creationId xmlns:a16="http://schemas.microsoft.com/office/drawing/2014/main" id="{35F7BF1A-0385-C246-9EE3-5E4E54C86490}"/>
              </a:ext>
            </a:extLst>
          </p:cNvPr>
          <p:cNvSpPr txBox="1">
            <a:spLocks noChangeArrowheads="1"/>
          </p:cNvSpPr>
          <p:nvPr/>
        </p:nvSpPr>
        <p:spPr>
          <a:xfrm>
            <a:off x="753721" y="1340962"/>
            <a:ext cx="4901973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many identifiers: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SSN, name, passport #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Internet hosts, routers: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IP address (32 bit) - used for addressing datagrams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“name”, e.g., </a:t>
            </a:r>
            <a:r>
              <a:rPr kumimoji="0" lang="en-US" altLang="ja-JP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cs.umass.edu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- used by humans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how to map between IP address and name, and vice versa ?</a:t>
            </a:r>
          </a:p>
        </p:txBody>
      </p:sp>
      <p:sp>
        <p:nvSpPr>
          <p:cNvPr id="128" name="Rectangle 4">
            <a:extLst>
              <a:ext uri="{FF2B5EF4-FFF2-40B4-BE49-F238E27FC236}">
                <a16:creationId xmlns:a16="http://schemas.microsoft.com/office/drawing/2014/main" id="{3851BC29-45CA-8744-BD4D-21254F83A516}"/>
              </a:ext>
            </a:extLst>
          </p:cNvPr>
          <p:cNvSpPr txBox="1">
            <a:spLocks noChangeArrowheads="1"/>
          </p:cNvSpPr>
          <p:nvPr/>
        </p:nvSpPr>
        <p:spPr>
          <a:xfrm>
            <a:off x="5592033" y="1281002"/>
            <a:ext cx="6088112" cy="50069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Domain Name System (DNS):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distributed database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implemented in hierarchy of many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name servers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application-layer protocol: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hosts, DNS servers communicate to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resolve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names (address/name translation)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note: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core Internet function,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implemented as application-layer protocol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complexity at network’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“edge”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49189B4D-1C2B-F245-A96D-9F110BA47D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272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DNS: services, structure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4A8BD0F-3C0D-E143-B2CB-EB155AB75267}"/>
              </a:ext>
            </a:extLst>
          </p:cNvPr>
          <p:cNvSpPr txBox="1">
            <a:spLocks noChangeArrowheads="1"/>
          </p:cNvSpPr>
          <p:nvPr/>
        </p:nvSpPr>
        <p:spPr>
          <a:xfrm>
            <a:off x="6618515" y="1271135"/>
            <a:ext cx="4978400" cy="22637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Q: Why not centralize DNS?</a:t>
            </a:r>
          </a:p>
          <a:p>
            <a:pPr marL="58261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single point of failure</a:t>
            </a:r>
          </a:p>
          <a:p>
            <a:pPr marL="58261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traffic volume</a:t>
            </a:r>
          </a:p>
          <a:p>
            <a:pPr marL="58261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distant centralized database</a:t>
            </a:r>
          </a:p>
          <a:p>
            <a:pPr marL="58261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maintenance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7F0F378-5315-734B-B54E-DEAB8A692F94}"/>
              </a:ext>
            </a:extLst>
          </p:cNvPr>
          <p:cNvSpPr txBox="1">
            <a:spLocks noChangeArrowheads="1"/>
          </p:cNvSpPr>
          <p:nvPr/>
        </p:nvSpPr>
        <p:spPr>
          <a:xfrm>
            <a:off x="731837" y="1300163"/>
            <a:ext cx="5808663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 services: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hostname-to-IP-address translation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aliasing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canonical, alias names</a:t>
            </a:r>
          </a:p>
          <a:p>
            <a:pPr marL="46037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mail server aliasing</a:t>
            </a:r>
          </a:p>
          <a:p>
            <a:pPr marL="46037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load distribution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replicated Web servers: many IP addresses correspond to one name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53ABE19B-9E03-F747-BF91-159D30C79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7862" y="3709428"/>
            <a:ext cx="4956937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6075" marR="0" lvl="0" indent="-3317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A: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doesn‘t</a:t>
            </a:r>
            <a:r>
              <a:rPr kumimoji="0" lang="en-US" altLang="ja-JP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scale!</a:t>
            </a:r>
          </a:p>
          <a:p>
            <a:pPr marL="466725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Comcast DNS servers alone: 600B DNS queries/day</a:t>
            </a:r>
          </a:p>
          <a:p>
            <a:pPr marL="466725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Akamai DNS servers alone: 2.2T DNS queries/day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8C5D9A65-B07F-4447-BD43-21050C29FF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097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091" y="306258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Thinking about the DNS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7F0F378-5315-734B-B54E-DEAB8A692F94}"/>
              </a:ext>
            </a:extLst>
          </p:cNvPr>
          <p:cNvSpPr txBox="1">
            <a:spLocks noChangeArrowheads="1"/>
          </p:cNvSpPr>
          <p:nvPr/>
        </p:nvSpPr>
        <p:spPr>
          <a:xfrm>
            <a:off x="731837" y="1300163"/>
            <a:ext cx="6338434" cy="105357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humongous distributed database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</a:t>
            </a:r>
          </a:p>
          <a:p>
            <a:pPr marL="350838" marR="0" lvl="0" indent="-23495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>
                <a:tab pos="49213" algn="l"/>
              </a:tabLst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~ billion records, each simple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D59926F4-E2F6-1848-9764-95A9708A0595}"/>
              </a:ext>
            </a:extLst>
          </p:cNvPr>
          <p:cNvSpPr txBox="1">
            <a:spLocks noChangeArrowheads="1"/>
          </p:cNvSpPr>
          <p:nvPr/>
        </p:nvSpPr>
        <p:spPr>
          <a:xfrm>
            <a:off x="716718" y="2281087"/>
            <a:ext cx="5971949" cy="2307847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handles many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trillions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of queries/day:</a:t>
            </a:r>
          </a:p>
          <a:p>
            <a:pPr marL="350838" marR="0" lvl="0" indent="-21748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many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more reads than writes</a:t>
            </a:r>
          </a:p>
          <a:p>
            <a:pPr marL="350838" marR="0" lvl="0" indent="-21748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performance matters: 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almost every Internet transaction interacts with DNS - msecs count!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E3BA487B-2F58-E448-B437-CA4351F78A23}"/>
              </a:ext>
            </a:extLst>
          </p:cNvPr>
          <p:cNvSpPr txBox="1">
            <a:spLocks noChangeArrowheads="1"/>
          </p:cNvSpPr>
          <p:nvPr/>
        </p:nvSpPr>
        <p:spPr>
          <a:xfrm>
            <a:off x="716717" y="4432300"/>
            <a:ext cx="7038749" cy="1358901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organizationally, physically decentralized: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millions of different organizations responsible for their records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E516052B-584F-8049-894E-365DF65A8B5A}"/>
              </a:ext>
            </a:extLst>
          </p:cNvPr>
          <p:cNvSpPr txBox="1">
            <a:spLocks noChangeArrowheads="1"/>
          </p:cNvSpPr>
          <p:nvPr/>
        </p:nvSpPr>
        <p:spPr>
          <a:xfrm>
            <a:off x="750584" y="5871634"/>
            <a:ext cx="7038749" cy="56303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“bulletproof”: reliability, security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1026" name="Picture 2" descr="SEC Says That It's Not Easy Determining Whether Teva Whistleblowers Are  Deserving Of A Bounty - FCPA Professor">
            <a:extLst>
              <a:ext uri="{FF2B5EF4-FFF2-40B4-BE49-F238E27FC236}">
                <a16:creationId xmlns:a16="http://schemas.microsoft.com/office/drawing/2014/main" id="{C4E09384-BA5E-E74E-8F77-28797AFC9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7866" y="4143022"/>
            <a:ext cx="2937933" cy="2448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0A6AE1E9-B3D7-7642-9CCD-3E2A0C33B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91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2" grpId="0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DNS: a distributed, hierarchical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d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atabase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30" name="Rectangle 22">
            <a:extLst>
              <a:ext uri="{FF2B5EF4-FFF2-40B4-BE49-F238E27FC236}">
                <a16:creationId xmlns:a16="http://schemas.microsoft.com/office/drawing/2014/main" id="{A444882F-E18F-DD45-9D52-E80EEEA5B2C4}"/>
              </a:ext>
            </a:extLst>
          </p:cNvPr>
          <p:cNvSpPr txBox="1">
            <a:spLocks noChangeArrowheads="1"/>
          </p:cNvSpPr>
          <p:nvPr/>
        </p:nvSpPr>
        <p:spPr>
          <a:xfrm>
            <a:off x="478971" y="4398565"/>
            <a:ext cx="11713029" cy="21336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 wants IP address for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www.amazon.com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; 1</a:t>
            </a:r>
            <a:r>
              <a:rPr kumimoji="0" lang="en-US" altLang="en-US" sz="2800" b="0" i="0" u="none" strike="noStrike" kern="1200" cap="none" spc="0" normalizeH="0" baseline="3000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approximation: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 queries root server to find .com DNS server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 queries .com DNS server to get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amazon.com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 server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 queries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amazon.com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 server to get  IP address for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www.amazon.com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6A00663-77DA-9B4C-A51A-04EBC6FBCCA0}"/>
              </a:ext>
            </a:extLst>
          </p:cNvPr>
          <p:cNvGrpSpPr/>
          <p:nvPr/>
        </p:nvGrpSpPr>
        <p:grpSpPr>
          <a:xfrm>
            <a:off x="1321991" y="1815164"/>
            <a:ext cx="10791292" cy="1046691"/>
            <a:chOff x="1321991" y="1815164"/>
            <a:chExt cx="10791292" cy="1046691"/>
          </a:xfrm>
        </p:grpSpPr>
        <p:sp>
          <p:nvSpPr>
            <p:cNvPr id="12" name="Text Box 4">
              <a:extLst>
                <a:ext uri="{FF2B5EF4-FFF2-40B4-BE49-F238E27FC236}">
                  <a16:creationId xmlns:a16="http://schemas.microsoft.com/office/drawing/2014/main" id="{8DB0E7C3-8033-5949-9183-2915D95A75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1991" y="2431570"/>
              <a:ext cx="2057411" cy="368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.com DNS servers</a:t>
              </a:r>
            </a:p>
          </p:txBody>
        </p:sp>
        <p:sp>
          <p:nvSpPr>
            <p:cNvPr id="13" name="Text Box 5">
              <a:extLst>
                <a:ext uri="{FF2B5EF4-FFF2-40B4-BE49-F238E27FC236}">
                  <a16:creationId xmlns:a16="http://schemas.microsoft.com/office/drawing/2014/main" id="{2E5F716F-8E9B-6F4D-879A-CC62D69D9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9789" y="2432961"/>
              <a:ext cx="1954541" cy="368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.org DNS servers</a:t>
              </a:r>
            </a:p>
          </p:txBody>
        </p:sp>
        <p:sp>
          <p:nvSpPr>
            <p:cNvPr id="14" name="Text Box 6">
              <a:extLst>
                <a:ext uri="{FF2B5EF4-FFF2-40B4-BE49-F238E27FC236}">
                  <a16:creationId xmlns:a16="http://schemas.microsoft.com/office/drawing/2014/main" id="{67230760-6F08-C443-A901-7D6991E095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6026" y="2432961"/>
              <a:ext cx="2005231" cy="368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</a:t>
              </a:r>
              <a:r>
                <a:rPr kumimoji="0" lang="en-US" alt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edu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DNS servers</a:t>
              </a:r>
            </a:p>
          </p:txBody>
        </p:sp>
        <p:sp>
          <p:nvSpPr>
            <p:cNvPr id="15" name="Line 7">
              <a:extLst>
                <a:ext uri="{FF2B5EF4-FFF2-40B4-BE49-F238E27FC236}">
                  <a16:creationId xmlns:a16="http://schemas.microsoft.com/office/drawing/2014/main" id="{BA67319E-9089-5D4D-83FF-3AE2DB5B13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38547" y="1831861"/>
              <a:ext cx="2075302" cy="6011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Line 8">
              <a:extLst>
                <a:ext uri="{FF2B5EF4-FFF2-40B4-BE49-F238E27FC236}">
                  <a16:creationId xmlns:a16="http://schemas.microsoft.com/office/drawing/2014/main" id="{64A53551-2118-9045-B6B4-1F713C8B8A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1588" y="1815164"/>
              <a:ext cx="0" cy="6164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Line 9">
              <a:extLst>
                <a:ext uri="{FF2B5EF4-FFF2-40B4-BE49-F238E27FC236}">
                  <a16:creationId xmlns:a16="http://schemas.microsoft.com/office/drawing/2014/main" id="{B45A6D89-577E-7C44-A516-DED5E6DB81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7908" y="1831861"/>
              <a:ext cx="2146864" cy="6011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Text Box 29">
              <a:extLst>
                <a:ext uri="{FF2B5EF4-FFF2-40B4-BE49-F238E27FC236}">
                  <a16:creationId xmlns:a16="http://schemas.microsoft.com/office/drawing/2014/main" id="{B9DABBB2-671A-2742-937B-8D9DEE87BF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6204" y="1934852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9" name="Text Box 30">
              <a:extLst>
                <a:ext uri="{FF2B5EF4-FFF2-40B4-BE49-F238E27FC236}">
                  <a16:creationId xmlns:a16="http://schemas.microsoft.com/office/drawing/2014/main" id="{F8EBAC0E-17AF-6147-BA8E-98BDF7436D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5966" y="1923399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7834A79-77AF-0047-9901-2474CA5CB805}"/>
                </a:ext>
              </a:extLst>
            </p:cNvPr>
            <p:cNvSpPr txBox="1"/>
            <p:nvPr/>
          </p:nvSpPr>
          <p:spPr>
            <a:xfrm>
              <a:off x="9724296" y="2400190"/>
              <a:ext cx="23889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Top Level Domain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A62B1BD-DD42-D845-9BBE-BE085C24631D}"/>
              </a:ext>
            </a:extLst>
          </p:cNvPr>
          <p:cNvGrpSpPr/>
          <p:nvPr/>
        </p:nvGrpSpPr>
        <p:grpSpPr>
          <a:xfrm>
            <a:off x="3874373" y="1407648"/>
            <a:ext cx="7294880" cy="461665"/>
            <a:chOff x="3874373" y="1407648"/>
            <a:chExt cx="7294880" cy="461665"/>
          </a:xfrm>
        </p:grpSpPr>
        <p:sp>
          <p:nvSpPr>
            <p:cNvPr id="11" name="Text Box 2">
              <a:extLst>
                <a:ext uri="{FF2B5EF4-FFF2-40B4-BE49-F238E27FC236}">
                  <a16:creationId xmlns:a16="http://schemas.microsoft.com/office/drawing/2014/main" id="{10CE294D-681E-A241-BD53-A34355A364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4373" y="1432519"/>
              <a:ext cx="2064866" cy="367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Root DNS Servers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06AE851-5852-CE4F-8F0F-42EF70A401C4}"/>
                </a:ext>
              </a:extLst>
            </p:cNvPr>
            <p:cNvSpPr txBox="1"/>
            <p:nvPr/>
          </p:nvSpPr>
          <p:spPr>
            <a:xfrm>
              <a:off x="10397760" y="1407648"/>
              <a:ext cx="7714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Root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C7CCAC6-2E30-B94C-ABE6-16301CFD8E18}"/>
              </a:ext>
            </a:extLst>
          </p:cNvPr>
          <p:cNvGrpSpPr/>
          <p:nvPr/>
        </p:nvGrpSpPr>
        <p:grpSpPr>
          <a:xfrm>
            <a:off x="877709" y="2766905"/>
            <a:ext cx="10877911" cy="1053317"/>
            <a:chOff x="877709" y="2766905"/>
            <a:chExt cx="10877911" cy="1053317"/>
          </a:xfrm>
        </p:grpSpPr>
        <p:sp>
          <p:nvSpPr>
            <p:cNvPr id="18" name="Text Box 10">
              <a:extLst>
                <a:ext uri="{FF2B5EF4-FFF2-40B4-BE49-F238E27FC236}">
                  <a16:creationId xmlns:a16="http://schemas.microsoft.com/office/drawing/2014/main" id="{48A982BB-AB47-3F43-B500-136E591676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1887" y="3150942"/>
              <a:ext cx="1478951" cy="641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nyu.edu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 servers</a:t>
              </a:r>
            </a:p>
          </p:txBody>
        </p:sp>
        <p:sp>
          <p:nvSpPr>
            <p:cNvPr id="19" name="Text Box 11">
              <a:extLst>
                <a:ext uri="{FF2B5EF4-FFF2-40B4-BE49-F238E27FC236}">
                  <a16:creationId xmlns:a16="http://schemas.microsoft.com/office/drawing/2014/main" id="{2B6BDDC7-E847-3847-933D-4C32FCB6E8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3272" y="3150942"/>
              <a:ext cx="1478951" cy="641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umass.edu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 servers</a:t>
              </a:r>
            </a:p>
          </p:txBody>
        </p:sp>
        <p:sp>
          <p:nvSpPr>
            <p:cNvPr id="20" name="Line 12">
              <a:extLst>
                <a:ext uri="{FF2B5EF4-FFF2-40B4-BE49-F238E27FC236}">
                  <a16:creationId xmlns:a16="http://schemas.microsoft.com/office/drawing/2014/main" id="{320DE5FB-B16F-134F-A6AE-3A733BA85D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74130" y="2766905"/>
              <a:ext cx="559079" cy="4202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Line 13">
              <a:extLst>
                <a:ext uri="{FF2B5EF4-FFF2-40B4-BE49-F238E27FC236}">
                  <a16:creationId xmlns:a16="http://schemas.microsoft.com/office/drawing/2014/main" id="{083E8C6B-45A7-4E4F-BE58-4778B3424F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2582" y="2766905"/>
              <a:ext cx="500935" cy="4202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Text Box 14">
              <a:extLst>
                <a:ext uri="{FF2B5EF4-FFF2-40B4-BE49-F238E27FC236}">
                  <a16:creationId xmlns:a16="http://schemas.microsoft.com/office/drawing/2014/main" id="{36B8F6F2-4690-8E4C-937E-0E9481B1C3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7709" y="3173205"/>
              <a:ext cx="1505787" cy="647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yahoo.com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 servers</a:t>
              </a:r>
            </a:p>
          </p:txBody>
        </p:sp>
        <p:sp>
          <p:nvSpPr>
            <p:cNvPr id="23" name="Text Box 15">
              <a:extLst>
                <a:ext uri="{FF2B5EF4-FFF2-40B4-BE49-F238E27FC236}">
                  <a16:creationId xmlns:a16="http://schemas.microsoft.com/office/drawing/2014/main" id="{550F9EB0-5008-3D46-90EE-C86931D200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4875" y="3150942"/>
              <a:ext cx="1492369" cy="641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amazon.com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 servers</a:t>
              </a:r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369E9B65-3B7C-454D-AB1F-5B2406B160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66383" y="2773863"/>
              <a:ext cx="369738" cy="4132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Line 17">
              <a:extLst>
                <a:ext uri="{FF2B5EF4-FFF2-40B4-BE49-F238E27FC236}">
                  <a16:creationId xmlns:a16="http://schemas.microsoft.com/office/drawing/2014/main" id="{D471AC56-09F2-7C4D-B61A-6CCAD59D7C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8547" y="2773863"/>
              <a:ext cx="429373" cy="4257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Text Box 18">
              <a:extLst>
                <a:ext uri="{FF2B5EF4-FFF2-40B4-BE49-F238E27FC236}">
                  <a16:creationId xmlns:a16="http://schemas.microsoft.com/office/drawing/2014/main" id="{1C077A09-1FCB-034D-952A-AD8C28E51F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2691" y="3132853"/>
              <a:ext cx="1480442" cy="641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pbs.org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 servers</a:t>
              </a:r>
            </a:p>
          </p:txBody>
        </p:sp>
        <p:sp>
          <p:nvSpPr>
            <p:cNvPr id="27" name="Line 19">
              <a:extLst>
                <a:ext uri="{FF2B5EF4-FFF2-40B4-BE49-F238E27FC236}">
                  <a16:creationId xmlns:a16="http://schemas.microsoft.com/office/drawing/2014/main" id="{C40276EB-9757-DA42-B8CE-16A23EEE13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4570" y="2766905"/>
              <a:ext cx="0" cy="4174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0556E67-E222-8D43-B71A-156691CCA0D4}"/>
                </a:ext>
              </a:extLst>
            </p:cNvPr>
            <p:cNvSpPr txBox="1"/>
            <p:nvPr/>
          </p:nvSpPr>
          <p:spPr>
            <a:xfrm>
              <a:off x="9919925" y="3273362"/>
              <a:ext cx="183569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Authoritative</a:t>
              </a:r>
            </a:p>
          </p:txBody>
        </p:sp>
        <p:sp>
          <p:nvSpPr>
            <p:cNvPr id="33" name="Text Box 30">
              <a:extLst>
                <a:ext uri="{FF2B5EF4-FFF2-40B4-BE49-F238E27FC236}">
                  <a16:creationId xmlns:a16="http://schemas.microsoft.com/office/drawing/2014/main" id="{F5BAA8E7-838D-494A-81C4-58D94A012B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2568" y="2785396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34" name="Text Box 30">
              <a:extLst>
                <a:ext uri="{FF2B5EF4-FFF2-40B4-BE49-F238E27FC236}">
                  <a16:creationId xmlns:a16="http://schemas.microsoft.com/office/drawing/2014/main" id="{2AD59D99-9460-DA4B-AF7A-451CBE5B39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0793" y="2776330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35" name="Text Box 30">
              <a:extLst>
                <a:ext uri="{FF2B5EF4-FFF2-40B4-BE49-F238E27FC236}">
                  <a16:creationId xmlns:a16="http://schemas.microsoft.com/office/drawing/2014/main" id="{2B85C740-28F8-0449-B6AC-74E6864619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0346" y="2768742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36" name="Text Box 30">
              <a:extLst>
                <a:ext uri="{FF2B5EF4-FFF2-40B4-BE49-F238E27FC236}">
                  <a16:creationId xmlns:a16="http://schemas.microsoft.com/office/drawing/2014/main" id="{D033AF36-F2BE-7F41-93BB-422A537DEE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7758" y="2777057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</p:grpSp>
      <p:sp>
        <p:nvSpPr>
          <p:cNvPr id="37" name="Slide Number Placeholder 2">
            <a:extLst>
              <a:ext uri="{FF2B5EF4-FFF2-40B4-BE49-F238E27FC236}">
                <a16:creationId xmlns:a16="http://schemas.microsoft.com/office/drawing/2014/main" id="{E1EB010C-42C7-6E42-AA6D-C225E874A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529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C02A27-60D0-5B4D-BD6E-00C279F7F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464" y="1529543"/>
            <a:ext cx="7122656" cy="215200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62E018F-A8B8-D04F-AA86-E98C6072C4D6}"/>
              </a:ext>
            </a:extLst>
          </p:cNvPr>
          <p:cNvSpPr/>
          <p:nvPr/>
        </p:nvSpPr>
        <p:spPr>
          <a:xfrm>
            <a:off x="6940647" y="1546167"/>
            <a:ext cx="2646699" cy="379307"/>
          </a:xfrm>
          <a:prstGeom prst="rect">
            <a:avLst/>
          </a:prstGeom>
          <a:solidFill>
            <a:srgbClr val="FBBFC7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DNS: root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n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ame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ervers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C4E20309-5EA1-134A-A365-0B330A5879DC}"/>
              </a:ext>
            </a:extLst>
          </p:cNvPr>
          <p:cNvSpPr txBox="1">
            <a:spLocks noChangeArrowheads="1"/>
          </p:cNvSpPr>
          <p:nvPr/>
        </p:nvSpPr>
        <p:spPr>
          <a:xfrm>
            <a:off x="651717" y="1432390"/>
            <a:ext cx="5444283" cy="245518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marR="0" lvl="0" indent="-2889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official, contact-of-last-resort by name servers that can not resolve name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AE8EED64-A600-EB43-865F-526592344F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6898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DNS: root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n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ame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ervers</a:t>
            </a:r>
            <a:endParaRPr lang="en-US" sz="4400" dirty="0"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7EF7A5-82F4-A842-BA4B-88DB1EA46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900" y="2856025"/>
            <a:ext cx="6261100" cy="3200400"/>
          </a:xfrm>
          <a:prstGeom prst="rect">
            <a:avLst/>
          </a:prstGeom>
        </p:spPr>
      </p:pic>
      <p:sp>
        <p:nvSpPr>
          <p:cNvPr id="31" name="Rectangle 3">
            <a:extLst>
              <a:ext uri="{FF2B5EF4-FFF2-40B4-BE49-F238E27FC236}">
                <a16:creationId xmlns:a16="http://schemas.microsoft.com/office/drawing/2014/main" id="{C4E20309-5EA1-134A-A365-0B330A5879DC}"/>
              </a:ext>
            </a:extLst>
          </p:cNvPr>
          <p:cNvSpPr txBox="1">
            <a:spLocks noChangeArrowheads="1"/>
          </p:cNvSpPr>
          <p:nvPr/>
        </p:nvSpPr>
        <p:spPr>
          <a:xfrm>
            <a:off x="651717" y="1432390"/>
            <a:ext cx="5444283" cy="245518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marR="0" lvl="0" indent="-2889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official, contact-of-last-resort by name servers that can not resolve name</a:t>
            </a:r>
          </a:p>
          <a:p>
            <a:pPr marL="403225" marR="0" lvl="0" indent="-2889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incredibly important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Internet function</a:t>
            </a:r>
          </a:p>
          <a:p>
            <a:pPr marL="635000" marR="0" lvl="1" indent="-3175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Internet couldn’t function without it!</a:t>
            </a:r>
          </a:p>
          <a:p>
            <a:pPr marL="635000" marR="0" lvl="1" indent="-3175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dirty="0">
                <a:solidFill>
                  <a:srgbClr val="00B0F0"/>
                </a:solidFill>
                <a:latin typeface="Calibri" panose="020F0502020204030204"/>
                <a:ea typeface="ＭＳ Ｐゴシック" panose="020B0600070205080204" pitchFamily="34" charset="-128"/>
              </a:rPr>
              <a:t>Remember Facebook outage a couple of days ago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635000" marR="0" lvl="1" indent="-3175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DNSSEC – provides security (authentication, message integrity)</a:t>
            </a:r>
          </a:p>
          <a:p>
            <a:pPr marL="403225" marR="0" lvl="0" indent="-2889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ICANN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(Internet Corporation for Assigned Names and Numbers)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manages root DNS domain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20">
            <a:extLst>
              <a:ext uri="{FF2B5EF4-FFF2-40B4-BE49-F238E27FC236}">
                <a16:creationId xmlns:a16="http://schemas.microsoft.com/office/drawing/2014/main" id="{8ADC63BB-C973-3942-8EC6-3C13E2B38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3186" y="1752600"/>
            <a:ext cx="5142916" cy="1198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13 logical root name “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servers” worldwide each “server” replicated many times (~200 servers in US)</a:t>
            </a:r>
            <a:endParaRPr kumimoji="0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srgbClr val="0000A3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1527D7C4-251C-EC46-94F4-43E46D2825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147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uiExpand="1" build="p"/>
      <p:bldP spid="3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Top-Level Domain, and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uthoritative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ervers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00E43FE-C520-D344-A4CF-6105B63E22D6}"/>
              </a:ext>
            </a:extLst>
          </p:cNvPr>
          <p:cNvSpPr txBox="1">
            <a:spLocks noChangeArrowheads="1"/>
          </p:cNvSpPr>
          <p:nvPr/>
        </p:nvSpPr>
        <p:spPr>
          <a:xfrm>
            <a:off x="832558" y="1286218"/>
            <a:ext cx="10868375" cy="203271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Top-Level Domain (TLD) servers:</a:t>
            </a:r>
          </a:p>
          <a:p>
            <a:pPr marL="460375" marR="0" lvl="1" indent="-28733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responsible for .com, .org,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.net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, .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edu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, .aero, .jobs, .museums, and all top-level country domains, e.g.: .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cn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, .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uk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, .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fr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, .ca, .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jp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460375" marR="0" lvl="1" indent="-28733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 Solutions: authoritative registry for .com,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.net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TLD</a:t>
            </a:r>
          </a:p>
          <a:p>
            <a:pPr marL="460375" marR="0" lvl="1" indent="-28733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Educause: .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edu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TLD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D24547E-6033-E341-B415-9EEF0C28B3B1}"/>
              </a:ext>
            </a:extLst>
          </p:cNvPr>
          <p:cNvSpPr txBox="1">
            <a:spLocks noChangeArrowheads="1"/>
          </p:cNvSpPr>
          <p:nvPr/>
        </p:nvSpPr>
        <p:spPr>
          <a:xfrm>
            <a:off x="714024" y="4503552"/>
            <a:ext cx="10868375" cy="182951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authoritative DNS servers: </a:t>
            </a:r>
          </a:p>
          <a:p>
            <a:pPr marL="460375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organization’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 own DNS server(s), providing authoritative hostname to IP mappings for organization’s named hosts </a:t>
            </a:r>
          </a:p>
          <a:p>
            <a:pPr marL="460375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can be maintained by organization or service provider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26F0AB-9C7D-C946-94B2-B58E3B095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332" y="3122476"/>
            <a:ext cx="5317067" cy="160647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6353F64-060B-1F4E-AD0A-5FBB20E02BE4}"/>
              </a:ext>
            </a:extLst>
          </p:cNvPr>
          <p:cNvGrpSpPr/>
          <p:nvPr/>
        </p:nvGrpSpPr>
        <p:grpSpPr>
          <a:xfrm>
            <a:off x="4419600" y="1744133"/>
            <a:ext cx="6959600" cy="2235200"/>
            <a:chOff x="4419600" y="1744133"/>
            <a:chExt cx="6959600" cy="22352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C93592B-610F-B041-9201-B6C557DB96B0}"/>
                </a:ext>
              </a:extLst>
            </p:cNvPr>
            <p:cNvSpPr/>
            <p:nvPr/>
          </p:nvSpPr>
          <p:spPr>
            <a:xfrm>
              <a:off x="6366933" y="3742267"/>
              <a:ext cx="5012267" cy="237066"/>
            </a:xfrm>
            <a:prstGeom prst="rect">
              <a:avLst/>
            </a:prstGeom>
            <a:solidFill>
              <a:srgbClr val="FBBFC7">
                <a:alpha val="4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259AE09-DC39-F54E-8B9C-A94C202C2543}"/>
                </a:ext>
              </a:extLst>
            </p:cNvPr>
            <p:cNvCxnSpPr/>
            <p:nvPr/>
          </p:nvCxnSpPr>
          <p:spPr>
            <a:xfrm>
              <a:off x="4419600" y="1744133"/>
              <a:ext cx="1998133" cy="1998133"/>
            </a:xfrm>
            <a:prstGeom prst="line">
              <a:avLst/>
            </a:prstGeom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01D7C10-72B2-BE47-9B8C-600F740CAFCE}"/>
              </a:ext>
            </a:extLst>
          </p:cNvPr>
          <p:cNvGrpSpPr/>
          <p:nvPr/>
        </p:nvGrpSpPr>
        <p:grpSpPr>
          <a:xfrm>
            <a:off x="5249333" y="4233333"/>
            <a:ext cx="6265334" cy="575734"/>
            <a:chOff x="5249333" y="4233333"/>
            <a:chExt cx="6265334" cy="57573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B251AA5-C4FF-7E4A-BCEA-7D8B252E12F3}"/>
                </a:ext>
              </a:extLst>
            </p:cNvPr>
            <p:cNvSpPr/>
            <p:nvPr/>
          </p:nvSpPr>
          <p:spPr>
            <a:xfrm>
              <a:off x="6248400" y="4233333"/>
              <a:ext cx="5266267" cy="372534"/>
            </a:xfrm>
            <a:prstGeom prst="rect">
              <a:avLst/>
            </a:prstGeom>
            <a:solidFill>
              <a:srgbClr val="FBBFC7">
                <a:alpha val="4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91835C5-DBDE-9A48-8554-EF6EB2FAD7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9333" y="4267199"/>
              <a:ext cx="999068" cy="541868"/>
            </a:xfrm>
            <a:prstGeom prst="line">
              <a:avLst/>
            </a:prstGeom>
            <a:ln w="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363187FC-BBBC-984E-BB71-64F11F5AB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635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Local DNS name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ervers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BB20960-3674-7943-92CD-05431EA8487B}"/>
              </a:ext>
            </a:extLst>
          </p:cNvPr>
          <p:cNvSpPr txBox="1">
            <a:spLocks noChangeArrowheads="1"/>
          </p:cNvSpPr>
          <p:nvPr/>
        </p:nvSpPr>
        <p:spPr>
          <a:xfrm>
            <a:off x="798691" y="1489418"/>
            <a:ext cx="10983578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936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when host makes DNS query, it is sent to its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local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DNS server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Local DNS server returns reply, answering:</a:t>
            </a:r>
          </a:p>
          <a:p>
            <a:pPr marL="1143000" marR="0" lvl="2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from its local cache of recent name-to-address translation pairs (possibly out of date!)</a:t>
            </a:r>
          </a:p>
          <a:p>
            <a:pPr marL="1143000" marR="0" lvl="2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forwarding request into DNS hierarchy for resolution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each ISP has local DNS name server; to find yours: </a:t>
            </a:r>
          </a:p>
          <a:p>
            <a:pPr marL="1143000" marR="0" lvl="2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MacOS: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%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scutil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 --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dns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" pitchFamily="2" charset="0"/>
              <a:ea typeface="+mn-ea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Windows: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&gt;ipconfig /all</a:t>
            </a:r>
          </a:p>
          <a:p>
            <a:pPr marL="352425" marR="0" lvl="0" indent="-2936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local DNS server doesn’t strictly belong to hierarchy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D9D88440-FC58-A548-AA80-854235DE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990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 name resolution: iterated query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5" name="Rectangle 67">
            <a:extLst>
              <a:ext uri="{FF2B5EF4-FFF2-40B4-BE49-F238E27FC236}">
                <a16:creationId xmlns:a16="http://schemas.microsoft.com/office/drawing/2014/main" id="{B2D75AD3-AD5C-7747-A9C2-6EF45A12CB21}"/>
              </a:ext>
            </a:extLst>
          </p:cNvPr>
          <p:cNvSpPr txBox="1">
            <a:spLocks noChangeArrowheads="1"/>
          </p:cNvSpPr>
          <p:nvPr/>
        </p:nvSpPr>
        <p:spPr>
          <a:xfrm>
            <a:off x="684201" y="1617338"/>
            <a:ext cx="5664200" cy="106113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Example: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at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engineering.nyu.edu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wants IP address for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gaia.cs.umass.edu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Rectangle 69">
            <a:extLst>
              <a:ext uri="{FF2B5EF4-FFF2-40B4-BE49-F238E27FC236}">
                <a16:creationId xmlns:a16="http://schemas.microsoft.com/office/drawing/2014/main" id="{EB73751A-16ED-6643-8E9C-1B1DDF5D8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433" y="2824122"/>
            <a:ext cx="4093780" cy="261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Iterated query:</a:t>
            </a:r>
          </a:p>
          <a:p>
            <a:pPr marL="342900" marR="0" lvl="0" indent="-28575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contacted server replies with name of server to contact</a:t>
            </a:r>
          </a:p>
          <a:p>
            <a:pPr marL="342900" marR="0" lvl="0" indent="-28575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“I don’t know this name, but ask this server”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1" name="Text Box 5">
            <a:extLst>
              <a:ext uri="{FF2B5EF4-FFF2-40B4-BE49-F238E27FC236}">
                <a16:creationId xmlns:a16="http://schemas.microsoft.com/office/drawing/2014/main" id="{5980C4D7-7160-6843-9829-B4A4351B5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226" y="3848735"/>
            <a:ext cx="185499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requesting host at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engineering.nyu</a:t>
            </a:r>
            <a:r>
              <a:rPr kumimoji="0" lang="en-US" altLang="en-US" sz="1400" b="0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.</a:t>
            </a:r>
            <a:r>
              <a:rPr kumimoji="0" lang="en-US" altLang="en-US" sz="1400" b="0" i="1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edu</a:t>
            </a:r>
            <a:endParaRPr kumimoji="0" lang="en-US" altLang="en-US" sz="1400" b="0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2" name="Text Box 6">
            <a:extLst>
              <a:ext uri="{FF2B5EF4-FFF2-40B4-BE49-F238E27FC236}">
                <a16:creationId xmlns:a16="http://schemas.microsoft.com/office/drawing/2014/main" id="{0572A6CE-4DDA-D648-8802-F03C444E2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2058" y="4237785"/>
            <a:ext cx="1878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gaia.cs.umass.edu</a:t>
            </a:r>
            <a:endParaRPr kumimoji="0" lang="en-US" altLang="en-US" sz="16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3" name="Text Box 17">
            <a:extLst>
              <a:ext uri="{FF2B5EF4-FFF2-40B4-BE49-F238E27FC236}">
                <a16:creationId xmlns:a16="http://schemas.microsoft.com/office/drawing/2014/main" id="{82144ED5-2C8E-184D-A863-C3B672AB3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896" y="1322438"/>
            <a:ext cx="20113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root DNS server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4" name="Line 18">
            <a:extLst>
              <a:ext uri="{FF2B5EF4-FFF2-40B4-BE49-F238E27FC236}">
                <a16:creationId xmlns:a16="http://schemas.microsoft.com/office/drawing/2014/main" id="{0055E9E5-6DE8-1543-9989-1B8A533D40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89235" y="3275781"/>
            <a:ext cx="1196994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5" name="Line 19">
            <a:extLst>
              <a:ext uri="{FF2B5EF4-FFF2-40B4-BE49-F238E27FC236}">
                <a16:creationId xmlns:a16="http://schemas.microsoft.com/office/drawing/2014/main" id="{5959B616-2817-F149-AD5A-71429EF235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68785" y="2005693"/>
            <a:ext cx="914400" cy="9715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Line 20">
            <a:extLst>
              <a:ext uri="{FF2B5EF4-FFF2-40B4-BE49-F238E27FC236}">
                <a16:creationId xmlns:a16="http://schemas.microsoft.com/office/drawing/2014/main" id="{6EF73249-815F-C548-BC5E-38E4ACE60E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54535" y="3167743"/>
            <a:ext cx="1485900" cy="95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7" name="Line 21">
            <a:extLst>
              <a:ext uri="{FF2B5EF4-FFF2-40B4-BE49-F238E27FC236}">
                <a16:creationId xmlns:a16="http://schemas.microsoft.com/office/drawing/2014/main" id="{CEC0960C-844E-6F44-83D5-7DC0B1F8A21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254535" y="3339193"/>
            <a:ext cx="14192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8" name="Line 22">
            <a:extLst>
              <a:ext uri="{FF2B5EF4-FFF2-40B4-BE49-F238E27FC236}">
                <a16:creationId xmlns:a16="http://schemas.microsoft.com/office/drawing/2014/main" id="{1CAC12BF-7C29-F640-93E6-9DF1650DE0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78335" y="2234293"/>
            <a:ext cx="733425" cy="7620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9" name="Line 23">
            <a:extLst>
              <a:ext uri="{FF2B5EF4-FFF2-40B4-BE49-F238E27FC236}">
                <a16:creationId xmlns:a16="http://schemas.microsoft.com/office/drawing/2014/main" id="{349E5526-4318-4744-A470-D0A69AD70F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81511" y="3439703"/>
            <a:ext cx="1319232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0" name="Group 24">
            <a:extLst>
              <a:ext uri="{FF2B5EF4-FFF2-40B4-BE49-F238E27FC236}">
                <a16:creationId xmlns:a16="http://schemas.microsoft.com/office/drawing/2014/main" id="{25257205-98B6-614F-8BDC-3E790117BE54}"/>
              </a:ext>
            </a:extLst>
          </p:cNvPr>
          <p:cNvGrpSpPr>
            <a:grpSpLocks/>
          </p:cNvGrpSpPr>
          <p:nvPr/>
        </p:nvGrpSpPr>
        <p:grpSpPr bwMode="auto">
          <a:xfrm>
            <a:off x="6759111" y="3847199"/>
            <a:ext cx="1876425" cy="554038"/>
            <a:chOff x="2838" y="2132"/>
            <a:chExt cx="1182" cy="349"/>
          </a:xfrm>
        </p:grpSpPr>
        <p:sp>
          <p:nvSpPr>
            <p:cNvPr id="181" name="Rectangle 25">
              <a:extLst>
                <a:ext uri="{FF2B5EF4-FFF2-40B4-BE49-F238E27FC236}">
                  <a16:creationId xmlns:a16="http://schemas.microsoft.com/office/drawing/2014/main" id="{D65FCF25-F405-B748-88E8-10A3D8396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8" y="2178"/>
              <a:ext cx="1182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2" name="Text Box 26">
              <a:extLst>
                <a:ext uri="{FF2B5EF4-FFF2-40B4-BE49-F238E27FC236}">
                  <a16:creationId xmlns:a16="http://schemas.microsoft.com/office/drawing/2014/main" id="{E1FF55F2-CAA3-F740-9BE9-AB0BAF4EF8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7" y="2132"/>
              <a:ext cx="1085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local DNS server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0" cap="none" spc="0" normalizeH="0" baseline="0" noProof="0" dirty="0" err="1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dns.nyu.edu</a:t>
              </a:r>
              <a:endParaRPr kumimoji="0" lang="en-US" altLang="en-US" sz="1400" b="0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83" name="Text Box 27">
            <a:extLst>
              <a:ext uri="{FF2B5EF4-FFF2-40B4-BE49-F238E27FC236}">
                <a16:creationId xmlns:a16="http://schemas.microsoft.com/office/drawing/2014/main" id="{89A9D659-504E-DE4E-B6CF-35E06A82E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9499" y="288670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4" name="Text Box 28">
            <a:extLst>
              <a:ext uri="{FF2B5EF4-FFF2-40B4-BE49-F238E27FC236}">
                <a16:creationId xmlns:a16="http://schemas.microsoft.com/office/drawing/2014/main" id="{72F042CE-6C6C-7040-AA88-05028C243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8485" y="222318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5" name="Text Box 29">
            <a:extLst>
              <a:ext uri="{FF2B5EF4-FFF2-40B4-BE49-F238E27FC236}">
                <a16:creationId xmlns:a16="http://schemas.microsoft.com/office/drawing/2014/main" id="{E4355CE5-EFAB-8E4F-AA84-68513D8FC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6635" y="246130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6" name="Text Box 30">
            <a:extLst>
              <a:ext uri="{FF2B5EF4-FFF2-40B4-BE49-F238E27FC236}">
                <a16:creationId xmlns:a16="http://schemas.microsoft.com/office/drawing/2014/main" id="{61F544AA-6B92-714B-84C9-4070F63CA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0960" y="287088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4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7" name="Text Box 31">
            <a:extLst>
              <a:ext uri="{FF2B5EF4-FFF2-40B4-BE49-F238E27FC236}">
                <a16:creationId xmlns:a16="http://schemas.microsoft.com/office/drawing/2014/main" id="{30095F9A-09A7-2540-B6C0-0D32BAB45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1123" y="335824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5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8" name="Text Box 32">
            <a:extLst>
              <a:ext uri="{FF2B5EF4-FFF2-40B4-BE49-F238E27FC236}">
                <a16:creationId xmlns:a16="http://schemas.microsoft.com/office/drawing/2014/main" id="{AB8F7B88-B6E0-EF40-999E-00C192F32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8023" y="439805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6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9" name="Text Box 60">
            <a:extLst>
              <a:ext uri="{FF2B5EF4-FFF2-40B4-BE49-F238E27FC236}">
                <a16:creationId xmlns:a16="http://schemas.microsoft.com/office/drawing/2014/main" id="{9260634C-BE01-F74D-BF1A-744B534DD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1285" y="5214030"/>
            <a:ext cx="23971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authoritative DNS server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dns.cs.umass.edu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0" name="Text Box 61">
            <a:extLst>
              <a:ext uri="{FF2B5EF4-FFF2-40B4-BE49-F238E27FC236}">
                <a16:creationId xmlns:a16="http://schemas.microsoft.com/office/drawing/2014/main" id="{6085ED00-1F5E-0643-A173-419315EE3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0960" y="442821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7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1" name="Text Box 62">
            <a:extLst>
              <a:ext uri="{FF2B5EF4-FFF2-40B4-BE49-F238E27FC236}">
                <a16:creationId xmlns:a16="http://schemas.microsoft.com/office/drawing/2014/main" id="{31298658-8B21-7440-B171-ED6F192C9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0022" y="3470502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8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2" name="Line 63">
            <a:extLst>
              <a:ext uri="{FF2B5EF4-FFF2-40B4-BE49-F238E27FC236}">
                <a16:creationId xmlns:a16="http://schemas.microsoft.com/office/drawing/2014/main" id="{10C66233-6CC9-374E-8305-B82B34B37643}"/>
              </a:ext>
            </a:extLst>
          </p:cNvPr>
          <p:cNvSpPr>
            <a:spLocks noChangeShapeType="1"/>
          </p:cNvSpPr>
          <p:nvPr/>
        </p:nvSpPr>
        <p:spPr bwMode="auto">
          <a:xfrm>
            <a:off x="8187860" y="3499530"/>
            <a:ext cx="1493838" cy="13144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3" name="Line 64">
            <a:extLst>
              <a:ext uri="{FF2B5EF4-FFF2-40B4-BE49-F238E27FC236}">
                <a16:creationId xmlns:a16="http://schemas.microsoft.com/office/drawing/2014/main" id="{BAF9BA4A-0868-F849-BA68-582D117DCF0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48173" y="3624943"/>
            <a:ext cx="1493837" cy="13017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4" name="Text Box 65">
            <a:extLst>
              <a:ext uri="{FF2B5EF4-FFF2-40B4-BE49-F238E27FC236}">
                <a16:creationId xmlns:a16="http://schemas.microsoft.com/office/drawing/2014/main" id="{8797BCED-3D71-5A4B-8881-BCE8144E8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4583" y="2608490"/>
            <a:ext cx="20113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TLD DNS server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95" name="Group 86">
            <a:extLst>
              <a:ext uri="{FF2B5EF4-FFF2-40B4-BE49-F238E27FC236}">
                <a16:creationId xmlns:a16="http://schemas.microsoft.com/office/drawing/2014/main" id="{75CA10E2-E46A-8244-A966-A51F3D99FE1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659797" y="4619665"/>
            <a:ext cx="787391" cy="614055"/>
            <a:chOff x="-44" y="1473"/>
            <a:chExt cx="981" cy="1105"/>
          </a:xfrm>
        </p:grpSpPr>
        <p:pic>
          <p:nvPicPr>
            <p:cNvPr id="196" name="Picture 87" descr="desktop_computer_stylized_medium">
              <a:extLst>
                <a:ext uri="{FF2B5EF4-FFF2-40B4-BE49-F238E27FC236}">
                  <a16:creationId xmlns:a16="http://schemas.microsoft.com/office/drawing/2014/main" id="{71723812-15F4-5248-BF42-895CB471AE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7" name="Freeform 88">
              <a:extLst>
                <a:ext uri="{FF2B5EF4-FFF2-40B4-BE49-F238E27FC236}">
                  <a16:creationId xmlns:a16="http://schemas.microsoft.com/office/drawing/2014/main" id="{4B3596A6-2AD0-DC45-8E8C-2A75454E7B1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98" name="Group 89">
            <a:extLst>
              <a:ext uri="{FF2B5EF4-FFF2-40B4-BE49-F238E27FC236}">
                <a16:creationId xmlns:a16="http://schemas.microsoft.com/office/drawing/2014/main" id="{06C72D69-BC87-104E-99A1-1FE2BBFDF3AB}"/>
              </a:ext>
            </a:extLst>
          </p:cNvPr>
          <p:cNvGrpSpPr>
            <a:grpSpLocks/>
          </p:cNvGrpSpPr>
          <p:nvPr/>
        </p:nvGrpSpPr>
        <p:grpSpPr bwMode="auto">
          <a:xfrm>
            <a:off x="5483417" y="3053085"/>
            <a:ext cx="883580" cy="766310"/>
            <a:chOff x="-44" y="1473"/>
            <a:chExt cx="981" cy="1105"/>
          </a:xfrm>
        </p:grpSpPr>
        <p:pic>
          <p:nvPicPr>
            <p:cNvPr id="199" name="Picture 90" descr="desktop_computer_stylized_medium">
              <a:extLst>
                <a:ext uri="{FF2B5EF4-FFF2-40B4-BE49-F238E27FC236}">
                  <a16:creationId xmlns:a16="http://schemas.microsoft.com/office/drawing/2014/main" id="{8EECB2CE-1B4C-2746-A9F6-C35C4B9609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0" name="Freeform 91">
              <a:extLst>
                <a:ext uri="{FF2B5EF4-FFF2-40B4-BE49-F238E27FC236}">
                  <a16:creationId xmlns:a16="http://schemas.microsoft.com/office/drawing/2014/main" id="{D65AC841-4780-A94B-9F97-1107EEE46B3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01" name="Group 125">
            <a:extLst>
              <a:ext uri="{FF2B5EF4-FFF2-40B4-BE49-F238E27FC236}">
                <a16:creationId xmlns:a16="http://schemas.microsoft.com/office/drawing/2014/main" id="{724CF7FE-3214-0741-AD8D-7483973CF725}"/>
              </a:ext>
            </a:extLst>
          </p:cNvPr>
          <p:cNvGrpSpPr>
            <a:grpSpLocks/>
          </p:cNvGrpSpPr>
          <p:nvPr/>
        </p:nvGrpSpPr>
        <p:grpSpPr bwMode="auto">
          <a:xfrm>
            <a:off x="9794410" y="4528230"/>
            <a:ext cx="390525" cy="641350"/>
            <a:chOff x="4140" y="429"/>
            <a:chExt cx="1425" cy="2396"/>
          </a:xfrm>
        </p:grpSpPr>
        <p:sp>
          <p:nvSpPr>
            <p:cNvPr id="202" name="Freeform 126">
              <a:extLst>
                <a:ext uri="{FF2B5EF4-FFF2-40B4-BE49-F238E27FC236}">
                  <a16:creationId xmlns:a16="http://schemas.microsoft.com/office/drawing/2014/main" id="{430EC70E-0BF7-F44C-8DEF-C9A33626D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3" name="Rectangle 127">
              <a:extLst>
                <a:ext uri="{FF2B5EF4-FFF2-40B4-BE49-F238E27FC236}">
                  <a16:creationId xmlns:a16="http://schemas.microsoft.com/office/drawing/2014/main" id="{6C288CD0-9AED-1548-9DEF-7CF8E72A0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4" name="Freeform 128">
              <a:extLst>
                <a:ext uri="{FF2B5EF4-FFF2-40B4-BE49-F238E27FC236}">
                  <a16:creationId xmlns:a16="http://schemas.microsoft.com/office/drawing/2014/main" id="{08551039-74E8-F44D-8449-133AF9BF8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5" name="Freeform 129">
              <a:extLst>
                <a:ext uri="{FF2B5EF4-FFF2-40B4-BE49-F238E27FC236}">
                  <a16:creationId xmlns:a16="http://schemas.microsoft.com/office/drawing/2014/main" id="{D41FFC6C-D9E1-E74F-BF15-4894E774B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6" name="Rectangle 130">
              <a:extLst>
                <a:ext uri="{FF2B5EF4-FFF2-40B4-BE49-F238E27FC236}">
                  <a16:creationId xmlns:a16="http://schemas.microsoft.com/office/drawing/2014/main" id="{4AA5429D-F727-884E-96D1-EA63944E5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07" name="Group 131">
              <a:extLst>
                <a:ext uri="{FF2B5EF4-FFF2-40B4-BE49-F238E27FC236}">
                  <a16:creationId xmlns:a16="http://schemas.microsoft.com/office/drawing/2014/main" id="{9CE31B7B-945E-6B44-B446-849D24418C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2" name="AutoShape 132">
                <a:extLst>
                  <a:ext uri="{FF2B5EF4-FFF2-40B4-BE49-F238E27FC236}">
                    <a16:creationId xmlns:a16="http://schemas.microsoft.com/office/drawing/2014/main" id="{FA2F0F31-D516-1C43-8236-266B26AEF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3" name="AutoShape 133">
                <a:extLst>
                  <a:ext uri="{FF2B5EF4-FFF2-40B4-BE49-F238E27FC236}">
                    <a16:creationId xmlns:a16="http://schemas.microsoft.com/office/drawing/2014/main" id="{6EC2A0FB-C35E-CF41-B938-33BF0264E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08" name="Rectangle 134">
              <a:extLst>
                <a:ext uri="{FF2B5EF4-FFF2-40B4-BE49-F238E27FC236}">
                  <a16:creationId xmlns:a16="http://schemas.microsoft.com/office/drawing/2014/main" id="{9298A98E-EDE0-4B4A-9352-BE6FAE720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09" name="Group 135">
              <a:extLst>
                <a:ext uri="{FF2B5EF4-FFF2-40B4-BE49-F238E27FC236}">
                  <a16:creationId xmlns:a16="http://schemas.microsoft.com/office/drawing/2014/main" id="{C311DEB1-8226-3E48-8DA5-613E18CFA3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0" name="AutoShape 136">
                <a:extLst>
                  <a:ext uri="{FF2B5EF4-FFF2-40B4-BE49-F238E27FC236}">
                    <a16:creationId xmlns:a16="http://schemas.microsoft.com/office/drawing/2014/main" id="{E45D0285-F719-874E-AD50-E3F2882775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1" name="AutoShape 137">
                <a:extLst>
                  <a:ext uri="{FF2B5EF4-FFF2-40B4-BE49-F238E27FC236}">
                    <a16:creationId xmlns:a16="http://schemas.microsoft.com/office/drawing/2014/main" id="{BE16FE12-6196-EF46-A169-0C2675EA51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0" name="Rectangle 138">
              <a:extLst>
                <a:ext uri="{FF2B5EF4-FFF2-40B4-BE49-F238E27FC236}">
                  <a16:creationId xmlns:a16="http://schemas.microsoft.com/office/drawing/2014/main" id="{A7531C2D-AF11-3642-9C87-3B93BEDD6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1" name="Rectangle 139">
              <a:extLst>
                <a:ext uri="{FF2B5EF4-FFF2-40B4-BE49-F238E27FC236}">
                  <a16:creationId xmlns:a16="http://schemas.microsoft.com/office/drawing/2014/main" id="{06C1B7AC-1454-714B-A50F-7F9B42D77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2" name="Group 140">
              <a:extLst>
                <a:ext uri="{FF2B5EF4-FFF2-40B4-BE49-F238E27FC236}">
                  <a16:creationId xmlns:a16="http://schemas.microsoft.com/office/drawing/2014/main" id="{86C62EBF-E65E-4D4B-884D-BA39C6A8B2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8" name="AutoShape 141">
                <a:extLst>
                  <a:ext uri="{FF2B5EF4-FFF2-40B4-BE49-F238E27FC236}">
                    <a16:creationId xmlns:a16="http://schemas.microsoft.com/office/drawing/2014/main" id="{A3E87978-B7EB-E644-B3A8-D8FDCF7E8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9" name="AutoShape 142">
                <a:extLst>
                  <a:ext uri="{FF2B5EF4-FFF2-40B4-BE49-F238E27FC236}">
                    <a16:creationId xmlns:a16="http://schemas.microsoft.com/office/drawing/2014/main" id="{91E0D4CD-2CBB-DD47-8147-BE3E03C965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3" name="Freeform 143">
              <a:extLst>
                <a:ext uri="{FF2B5EF4-FFF2-40B4-BE49-F238E27FC236}">
                  <a16:creationId xmlns:a16="http://schemas.microsoft.com/office/drawing/2014/main" id="{0D682965-15A3-3541-A789-479A47800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4" name="Group 144">
              <a:extLst>
                <a:ext uri="{FF2B5EF4-FFF2-40B4-BE49-F238E27FC236}">
                  <a16:creationId xmlns:a16="http://schemas.microsoft.com/office/drawing/2014/main" id="{0C8D690A-21E1-4146-83A5-7245CAEA83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6" name="AutoShape 145">
                <a:extLst>
                  <a:ext uri="{FF2B5EF4-FFF2-40B4-BE49-F238E27FC236}">
                    <a16:creationId xmlns:a16="http://schemas.microsoft.com/office/drawing/2014/main" id="{7C15E592-E347-A846-AC9F-C18905A617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7" name="AutoShape 146">
                <a:extLst>
                  <a:ext uri="{FF2B5EF4-FFF2-40B4-BE49-F238E27FC236}">
                    <a16:creationId xmlns:a16="http://schemas.microsoft.com/office/drawing/2014/main" id="{3D0AF765-217C-594C-B21E-869B0884A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5" name="Rectangle 147">
              <a:extLst>
                <a:ext uri="{FF2B5EF4-FFF2-40B4-BE49-F238E27FC236}">
                  <a16:creationId xmlns:a16="http://schemas.microsoft.com/office/drawing/2014/main" id="{4C635A33-8E8F-7D44-92DB-F6F09BFD8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6" name="Freeform 148">
              <a:extLst>
                <a:ext uri="{FF2B5EF4-FFF2-40B4-BE49-F238E27FC236}">
                  <a16:creationId xmlns:a16="http://schemas.microsoft.com/office/drawing/2014/main" id="{4B503159-D00F-C640-B18B-72CCC4B30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7" name="Freeform 149">
              <a:extLst>
                <a:ext uri="{FF2B5EF4-FFF2-40B4-BE49-F238E27FC236}">
                  <a16:creationId xmlns:a16="http://schemas.microsoft.com/office/drawing/2014/main" id="{83A278D9-086C-BE47-BA0D-A1CB49B9D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8" name="Oval 150">
              <a:extLst>
                <a:ext uri="{FF2B5EF4-FFF2-40B4-BE49-F238E27FC236}">
                  <a16:creationId xmlns:a16="http://schemas.microsoft.com/office/drawing/2014/main" id="{71B59C46-33D8-EC4A-A0CA-4AF6B7EE7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9" name="Freeform 151">
              <a:extLst>
                <a:ext uri="{FF2B5EF4-FFF2-40B4-BE49-F238E27FC236}">
                  <a16:creationId xmlns:a16="http://schemas.microsoft.com/office/drawing/2014/main" id="{3C577FAB-12B4-CA48-B90D-D923F7168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0" name="AutoShape 152">
              <a:extLst>
                <a:ext uri="{FF2B5EF4-FFF2-40B4-BE49-F238E27FC236}">
                  <a16:creationId xmlns:a16="http://schemas.microsoft.com/office/drawing/2014/main" id="{0744BC6B-A26A-7E49-A677-B90EDB08F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1" name="AutoShape 153">
              <a:extLst>
                <a:ext uri="{FF2B5EF4-FFF2-40B4-BE49-F238E27FC236}">
                  <a16:creationId xmlns:a16="http://schemas.microsoft.com/office/drawing/2014/main" id="{574AC8BD-9D1C-FB42-BD21-1A786B862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2" name="Oval 154">
              <a:extLst>
                <a:ext uri="{FF2B5EF4-FFF2-40B4-BE49-F238E27FC236}">
                  <a16:creationId xmlns:a16="http://schemas.microsoft.com/office/drawing/2014/main" id="{5AFE8D2C-0569-3047-AB73-8A9B37AF1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3" name="Oval 155">
              <a:extLst>
                <a:ext uri="{FF2B5EF4-FFF2-40B4-BE49-F238E27FC236}">
                  <a16:creationId xmlns:a16="http://schemas.microsoft.com/office/drawing/2014/main" id="{83B0123B-44CF-B845-B272-496DEB238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4" name="Oval 156">
              <a:extLst>
                <a:ext uri="{FF2B5EF4-FFF2-40B4-BE49-F238E27FC236}">
                  <a16:creationId xmlns:a16="http://schemas.microsoft.com/office/drawing/2014/main" id="{FF7ABF78-07FF-FD40-9233-2EC92E7CB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5" name="Rectangle 157">
              <a:extLst>
                <a:ext uri="{FF2B5EF4-FFF2-40B4-BE49-F238E27FC236}">
                  <a16:creationId xmlns:a16="http://schemas.microsoft.com/office/drawing/2014/main" id="{D41F5C27-E8BB-6440-8D30-59C3961E0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34" name="Group 158">
            <a:extLst>
              <a:ext uri="{FF2B5EF4-FFF2-40B4-BE49-F238E27FC236}">
                <a16:creationId xmlns:a16="http://schemas.microsoft.com/office/drawing/2014/main" id="{AEB56919-E56B-7E4E-A7D7-98A288C3B252}"/>
              </a:ext>
            </a:extLst>
          </p:cNvPr>
          <p:cNvGrpSpPr>
            <a:grpSpLocks/>
          </p:cNvGrpSpPr>
          <p:nvPr/>
        </p:nvGrpSpPr>
        <p:grpSpPr bwMode="auto">
          <a:xfrm>
            <a:off x="7790985" y="3015343"/>
            <a:ext cx="390525" cy="641350"/>
            <a:chOff x="4140" y="429"/>
            <a:chExt cx="1425" cy="2396"/>
          </a:xfrm>
        </p:grpSpPr>
        <p:sp>
          <p:nvSpPr>
            <p:cNvPr id="235" name="Freeform 159">
              <a:extLst>
                <a:ext uri="{FF2B5EF4-FFF2-40B4-BE49-F238E27FC236}">
                  <a16:creationId xmlns:a16="http://schemas.microsoft.com/office/drawing/2014/main" id="{86964676-09BA-2F4D-8E07-76EACFD1A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6" name="Rectangle 160">
              <a:extLst>
                <a:ext uri="{FF2B5EF4-FFF2-40B4-BE49-F238E27FC236}">
                  <a16:creationId xmlns:a16="http://schemas.microsoft.com/office/drawing/2014/main" id="{FFAAD933-7081-1940-82D8-3553DCB08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7" name="Freeform 161">
              <a:extLst>
                <a:ext uri="{FF2B5EF4-FFF2-40B4-BE49-F238E27FC236}">
                  <a16:creationId xmlns:a16="http://schemas.microsoft.com/office/drawing/2014/main" id="{D61BDCB9-8C30-1C44-A8F2-0EC386728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" name="Freeform 162">
              <a:extLst>
                <a:ext uri="{FF2B5EF4-FFF2-40B4-BE49-F238E27FC236}">
                  <a16:creationId xmlns:a16="http://schemas.microsoft.com/office/drawing/2014/main" id="{3E122E01-84B9-6E48-861A-BEEBD7F67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Rectangle 163">
              <a:extLst>
                <a:ext uri="{FF2B5EF4-FFF2-40B4-BE49-F238E27FC236}">
                  <a16:creationId xmlns:a16="http://schemas.microsoft.com/office/drawing/2014/main" id="{3AD89C6E-5869-C84E-94DF-DD5388863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0" name="Group 164">
              <a:extLst>
                <a:ext uri="{FF2B5EF4-FFF2-40B4-BE49-F238E27FC236}">
                  <a16:creationId xmlns:a16="http://schemas.microsoft.com/office/drawing/2014/main" id="{919F3CC7-4090-E54D-9BA9-E092A8C810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5" name="AutoShape 165">
                <a:extLst>
                  <a:ext uri="{FF2B5EF4-FFF2-40B4-BE49-F238E27FC236}">
                    <a16:creationId xmlns:a16="http://schemas.microsoft.com/office/drawing/2014/main" id="{EAE6002E-6A1D-0B48-BA81-7D9DEC7045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6" name="AutoShape 166">
                <a:extLst>
                  <a:ext uri="{FF2B5EF4-FFF2-40B4-BE49-F238E27FC236}">
                    <a16:creationId xmlns:a16="http://schemas.microsoft.com/office/drawing/2014/main" id="{CAA5444A-9857-9149-867E-5562C085E1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1" name="Rectangle 167">
              <a:extLst>
                <a:ext uri="{FF2B5EF4-FFF2-40B4-BE49-F238E27FC236}">
                  <a16:creationId xmlns:a16="http://schemas.microsoft.com/office/drawing/2014/main" id="{93E34643-2646-D44C-9D6D-91A5B1C18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2" name="Group 168">
              <a:extLst>
                <a:ext uri="{FF2B5EF4-FFF2-40B4-BE49-F238E27FC236}">
                  <a16:creationId xmlns:a16="http://schemas.microsoft.com/office/drawing/2014/main" id="{652E8D93-E5DE-A34F-9D29-89AB07D056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63" name="AutoShape 169">
                <a:extLst>
                  <a:ext uri="{FF2B5EF4-FFF2-40B4-BE49-F238E27FC236}">
                    <a16:creationId xmlns:a16="http://schemas.microsoft.com/office/drawing/2014/main" id="{AA26172B-FDFE-3D4E-9541-B9BC052C1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4" name="AutoShape 170">
                <a:extLst>
                  <a:ext uri="{FF2B5EF4-FFF2-40B4-BE49-F238E27FC236}">
                    <a16:creationId xmlns:a16="http://schemas.microsoft.com/office/drawing/2014/main" id="{521BB6A8-6D33-7E40-B79B-A911E9D1C5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3" name="Rectangle 171">
              <a:extLst>
                <a:ext uri="{FF2B5EF4-FFF2-40B4-BE49-F238E27FC236}">
                  <a16:creationId xmlns:a16="http://schemas.microsoft.com/office/drawing/2014/main" id="{FF73D9CC-AAAC-D341-85A2-89BC26B91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4" name="Rectangle 172">
              <a:extLst>
                <a:ext uri="{FF2B5EF4-FFF2-40B4-BE49-F238E27FC236}">
                  <a16:creationId xmlns:a16="http://schemas.microsoft.com/office/drawing/2014/main" id="{B810EEDB-015F-FD45-9174-E980EC5FA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5" name="Group 173">
              <a:extLst>
                <a:ext uri="{FF2B5EF4-FFF2-40B4-BE49-F238E27FC236}">
                  <a16:creationId xmlns:a16="http://schemas.microsoft.com/office/drawing/2014/main" id="{2E72AE40-DCC2-4948-AD2E-564A2B8A82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61" name="AutoShape 174">
                <a:extLst>
                  <a:ext uri="{FF2B5EF4-FFF2-40B4-BE49-F238E27FC236}">
                    <a16:creationId xmlns:a16="http://schemas.microsoft.com/office/drawing/2014/main" id="{D9D1958B-0DAA-074E-A39D-ABDA1EA5B0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2" name="AutoShape 175">
                <a:extLst>
                  <a:ext uri="{FF2B5EF4-FFF2-40B4-BE49-F238E27FC236}">
                    <a16:creationId xmlns:a16="http://schemas.microsoft.com/office/drawing/2014/main" id="{8EFD2DEF-75B3-4B4C-BB17-5FDA1DFD91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6" name="Freeform 176">
              <a:extLst>
                <a:ext uri="{FF2B5EF4-FFF2-40B4-BE49-F238E27FC236}">
                  <a16:creationId xmlns:a16="http://schemas.microsoft.com/office/drawing/2014/main" id="{A52917D9-2F4F-8A4E-A096-B778F3B976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7" name="Group 177">
              <a:extLst>
                <a:ext uri="{FF2B5EF4-FFF2-40B4-BE49-F238E27FC236}">
                  <a16:creationId xmlns:a16="http://schemas.microsoft.com/office/drawing/2014/main" id="{8476C934-1025-054C-BF2F-A686380677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9" name="AutoShape 178">
                <a:extLst>
                  <a:ext uri="{FF2B5EF4-FFF2-40B4-BE49-F238E27FC236}">
                    <a16:creationId xmlns:a16="http://schemas.microsoft.com/office/drawing/2014/main" id="{8DF96225-9AB2-AB48-9090-A03A165D9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0" name="AutoShape 179">
                <a:extLst>
                  <a:ext uri="{FF2B5EF4-FFF2-40B4-BE49-F238E27FC236}">
                    <a16:creationId xmlns:a16="http://schemas.microsoft.com/office/drawing/2014/main" id="{B48F8DCA-7FC5-4D49-89FD-957B141759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8" name="Rectangle 180">
              <a:extLst>
                <a:ext uri="{FF2B5EF4-FFF2-40B4-BE49-F238E27FC236}">
                  <a16:creationId xmlns:a16="http://schemas.microsoft.com/office/drawing/2014/main" id="{82DD01ED-CC62-8E44-B4AF-5AB162B45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Freeform 181">
              <a:extLst>
                <a:ext uri="{FF2B5EF4-FFF2-40B4-BE49-F238E27FC236}">
                  <a16:creationId xmlns:a16="http://schemas.microsoft.com/office/drawing/2014/main" id="{02E0A0DA-75BD-A54E-BFBE-1053BAA47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0" name="Freeform 182">
              <a:extLst>
                <a:ext uri="{FF2B5EF4-FFF2-40B4-BE49-F238E27FC236}">
                  <a16:creationId xmlns:a16="http://schemas.microsoft.com/office/drawing/2014/main" id="{553CF65B-1E90-FF47-BBE8-B5344DE42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1" name="Oval 183">
              <a:extLst>
                <a:ext uri="{FF2B5EF4-FFF2-40B4-BE49-F238E27FC236}">
                  <a16:creationId xmlns:a16="http://schemas.microsoft.com/office/drawing/2014/main" id="{1CFB15AC-59D4-2B42-9567-80D6F30EC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2" name="Freeform 184">
              <a:extLst>
                <a:ext uri="{FF2B5EF4-FFF2-40B4-BE49-F238E27FC236}">
                  <a16:creationId xmlns:a16="http://schemas.microsoft.com/office/drawing/2014/main" id="{377D0A48-37B0-984B-9D70-F4CA7EE8A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3" name="AutoShape 185">
              <a:extLst>
                <a:ext uri="{FF2B5EF4-FFF2-40B4-BE49-F238E27FC236}">
                  <a16:creationId xmlns:a16="http://schemas.microsoft.com/office/drawing/2014/main" id="{1DF08F1A-8088-4349-B9B6-80E5278DD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4" name="AutoShape 186">
              <a:extLst>
                <a:ext uri="{FF2B5EF4-FFF2-40B4-BE49-F238E27FC236}">
                  <a16:creationId xmlns:a16="http://schemas.microsoft.com/office/drawing/2014/main" id="{AB1FF07F-165E-5C42-A46F-20C492B2A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5" name="Oval 187">
              <a:extLst>
                <a:ext uri="{FF2B5EF4-FFF2-40B4-BE49-F238E27FC236}">
                  <a16:creationId xmlns:a16="http://schemas.microsoft.com/office/drawing/2014/main" id="{246533F9-312A-7949-B6A5-04845D405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6" name="Oval 188">
              <a:extLst>
                <a:ext uri="{FF2B5EF4-FFF2-40B4-BE49-F238E27FC236}">
                  <a16:creationId xmlns:a16="http://schemas.microsoft.com/office/drawing/2014/main" id="{97B4BE6D-9A58-6C4D-98DB-90F92956E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57" name="Oval 189">
              <a:extLst>
                <a:ext uri="{FF2B5EF4-FFF2-40B4-BE49-F238E27FC236}">
                  <a16:creationId xmlns:a16="http://schemas.microsoft.com/office/drawing/2014/main" id="{B4E35ECA-82AF-A74F-9E87-BC1C1318F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Rectangle 190">
              <a:extLst>
                <a:ext uri="{FF2B5EF4-FFF2-40B4-BE49-F238E27FC236}">
                  <a16:creationId xmlns:a16="http://schemas.microsoft.com/office/drawing/2014/main" id="{32338498-7D1E-F249-A1B6-782EAA13A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7" name="Group 224">
            <a:extLst>
              <a:ext uri="{FF2B5EF4-FFF2-40B4-BE49-F238E27FC236}">
                <a16:creationId xmlns:a16="http://schemas.microsoft.com/office/drawing/2014/main" id="{3B18C9CF-4DB3-9A45-9F2E-A9E7637C3843}"/>
              </a:ext>
            </a:extLst>
          </p:cNvPr>
          <p:cNvGrpSpPr>
            <a:grpSpLocks/>
          </p:cNvGrpSpPr>
          <p:nvPr/>
        </p:nvGrpSpPr>
        <p:grpSpPr bwMode="auto">
          <a:xfrm>
            <a:off x="8945098" y="1753280"/>
            <a:ext cx="390525" cy="641350"/>
            <a:chOff x="4140" y="429"/>
            <a:chExt cx="1425" cy="2396"/>
          </a:xfrm>
        </p:grpSpPr>
        <p:sp>
          <p:nvSpPr>
            <p:cNvPr id="268" name="Freeform 225">
              <a:extLst>
                <a:ext uri="{FF2B5EF4-FFF2-40B4-BE49-F238E27FC236}">
                  <a16:creationId xmlns:a16="http://schemas.microsoft.com/office/drawing/2014/main" id="{8DE393E4-949F-5A47-87BC-37206D62F2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9" name="Rectangle 226">
              <a:extLst>
                <a:ext uri="{FF2B5EF4-FFF2-40B4-BE49-F238E27FC236}">
                  <a16:creationId xmlns:a16="http://schemas.microsoft.com/office/drawing/2014/main" id="{45AACD86-831C-7245-8042-0EAB26DDB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0" name="Freeform 227">
              <a:extLst>
                <a:ext uri="{FF2B5EF4-FFF2-40B4-BE49-F238E27FC236}">
                  <a16:creationId xmlns:a16="http://schemas.microsoft.com/office/drawing/2014/main" id="{641EE52D-59FB-874A-8BE7-992D8AB38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1" name="Freeform 228">
              <a:extLst>
                <a:ext uri="{FF2B5EF4-FFF2-40B4-BE49-F238E27FC236}">
                  <a16:creationId xmlns:a16="http://schemas.microsoft.com/office/drawing/2014/main" id="{745C23B7-E3E7-3244-8E92-2A519BCE4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2" name="Rectangle 229">
              <a:extLst>
                <a:ext uri="{FF2B5EF4-FFF2-40B4-BE49-F238E27FC236}">
                  <a16:creationId xmlns:a16="http://schemas.microsoft.com/office/drawing/2014/main" id="{53F1BA0D-FC18-8F40-B02C-5E5456D41E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3" name="Group 230">
              <a:extLst>
                <a:ext uri="{FF2B5EF4-FFF2-40B4-BE49-F238E27FC236}">
                  <a16:creationId xmlns:a16="http://schemas.microsoft.com/office/drawing/2014/main" id="{3BF69572-674D-F94F-AF3E-6360341D09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98" name="AutoShape 231">
                <a:extLst>
                  <a:ext uri="{FF2B5EF4-FFF2-40B4-BE49-F238E27FC236}">
                    <a16:creationId xmlns:a16="http://schemas.microsoft.com/office/drawing/2014/main" id="{7A3AB9B6-ED54-E640-B88B-6349E66AE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9" name="AutoShape 232">
                <a:extLst>
                  <a:ext uri="{FF2B5EF4-FFF2-40B4-BE49-F238E27FC236}">
                    <a16:creationId xmlns:a16="http://schemas.microsoft.com/office/drawing/2014/main" id="{41885595-164B-5A49-B50B-F202B13B92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4" name="Rectangle 233">
              <a:extLst>
                <a:ext uri="{FF2B5EF4-FFF2-40B4-BE49-F238E27FC236}">
                  <a16:creationId xmlns:a16="http://schemas.microsoft.com/office/drawing/2014/main" id="{1DC47301-CD25-F742-824D-B95A7C78B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5" name="Group 234">
              <a:extLst>
                <a:ext uri="{FF2B5EF4-FFF2-40B4-BE49-F238E27FC236}">
                  <a16:creationId xmlns:a16="http://schemas.microsoft.com/office/drawing/2014/main" id="{ABA534FC-B51E-B545-893B-AA2D360102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96" name="AutoShape 235">
                <a:extLst>
                  <a:ext uri="{FF2B5EF4-FFF2-40B4-BE49-F238E27FC236}">
                    <a16:creationId xmlns:a16="http://schemas.microsoft.com/office/drawing/2014/main" id="{BF3259EE-323A-7B46-BA99-522FF89692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7" name="AutoShape 236">
                <a:extLst>
                  <a:ext uri="{FF2B5EF4-FFF2-40B4-BE49-F238E27FC236}">
                    <a16:creationId xmlns:a16="http://schemas.microsoft.com/office/drawing/2014/main" id="{773E2C4B-E371-8849-89F1-CB3467DA22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6" name="Rectangle 237">
              <a:extLst>
                <a:ext uri="{FF2B5EF4-FFF2-40B4-BE49-F238E27FC236}">
                  <a16:creationId xmlns:a16="http://schemas.microsoft.com/office/drawing/2014/main" id="{65673162-6BD4-FA45-AD7B-65DCCB503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Rectangle 238">
              <a:extLst>
                <a:ext uri="{FF2B5EF4-FFF2-40B4-BE49-F238E27FC236}">
                  <a16:creationId xmlns:a16="http://schemas.microsoft.com/office/drawing/2014/main" id="{EB910949-1BF1-2E43-B251-2F5F6D2BC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8" name="Group 239">
              <a:extLst>
                <a:ext uri="{FF2B5EF4-FFF2-40B4-BE49-F238E27FC236}">
                  <a16:creationId xmlns:a16="http://schemas.microsoft.com/office/drawing/2014/main" id="{4ABA0E07-42B3-1C4B-A798-B21B741191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94" name="AutoShape 240">
                <a:extLst>
                  <a:ext uri="{FF2B5EF4-FFF2-40B4-BE49-F238E27FC236}">
                    <a16:creationId xmlns:a16="http://schemas.microsoft.com/office/drawing/2014/main" id="{833C6885-DF73-A44C-AF35-71696A344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5" name="AutoShape 241">
                <a:extLst>
                  <a:ext uri="{FF2B5EF4-FFF2-40B4-BE49-F238E27FC236}">
                    <a16:creationId xmlns:a16="http://schemas.microsoft.com/office/drawing/2014/main" id="{00053469-6811-F146-9041-0E9ADB93CF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9" name="Freeform 242">
              <a:extLst>
                <a:ext uri="{FF2B5EF4-FFF2-40B4-BE49-F238E27FC236}">
                  <a16:creationId xmlns:a16="http://schemas.microsoft.com/office/drawing/2014/main" id="{E93D621E-BD5E-4F41-B292-1FF1D9FD9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80" name="Group 243">
              <a:extLst>
                <a:ext uri="{FF2B5EF4-FFF2-40B4-BE49-F238E27FC236}">
                  <a16:creationId xmlns:a16="http://schemas.microsoft.com/office/drawing/2014/main" id="{D2A4152B-1063-5545-AFB4-C764C9E38D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92" name="AutoShape 244">
                <a:extLst>
                  <a:ext uri="{FF2B5EF4-FFF2-40B4-BE49-F238E27FC236}">
                    <a16:creationId xmlns:a16="http://schemas.microsoft.com/office/drawing/2014/main" id="{91B44A19-99F5-3246-B452-E6974C3882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3" name="AutoShape 245">
                <a:extLst>
                  <a:ext uri="{FF2B5EF4-FFF2-40B4-BE49-F238E27FC236}">
                    <a16:creationId xmlns:a16="http://schemas.microsoft.com/office/drawing/2014/main" id="{CE7C0896-4736-8044-B538-F09471477D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81" name="Rectangle 246">
              <a:extLst>
                <a:ext uri="{FF2B5EF4-FFF2-40B4-BE49-F238E27FC236}">
                  <a16:creationId xmlns:a16="http://schemas.microsoft.com/office/drawing/2014/main" id="{1D6C13B5-BF0F-554A-9CE4-3F075F937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2" name="Freeform 247">
              <a:extLst>
                <a:ext uri="{FF2B5EF4-FFF2-40B4-BE49-F238E27FC236}">
                  <a16:creationId xmlns:a16="http://schemas.microsoft.com/office/drawing/2014/main" id="{0F3FBF0A-EAF4-094D-A874-245423181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3" name="Freeform 248">
              <a:extLst>
                <a:ext uri="{FF2B5EF4-FFF2-40B4-BE49-F238E27FC236}">
                  <a16:creationId xmlns:a16="http://schemas.microsoft.com/office/drawing/2014/main" id="{EC002925-BD09-784A-9BB4-2AD299FA2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4" name="Oval 249">
              <a:extLst>
                <a:ext uri="{FF2B5EF4-FFF2-40B4-BE49-F238E27FC236}">
                  <a16:creationId xmlns:a16="http://schemas.microsoft.com/office/drawing/2014/main" id="{21E73907-A81B-E540-A734-D855A8052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5" name="Freeform 250">
              <a:extLst>
                <a:ext uri="{FF2B5EF4-FFF2-40B4-BE49-F238E27FC236}">
                  <a16:creationId xmlns:a16="http://schemas.microsoft.com/office/drawing/2014/main" id="{7B38A468-42E7-2245-BA7B-6136A4486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6" name="AutoShape 251">
              <a:extLst>
                <a:ext uri="{FF2B5EF4-FFF2-40B4-BE49-F238E27FC236}">
                  <a16:creationId xmlns:a16="http://schemas.microsoft.com/office/drawing/2014/main" id="{F798831B-76D3-634B-A1D7-73487DB6F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7" name="AutoShape 252">
              <a:extLst>
                <a:ext uri="{FF2B5EF4-FFF2-40B4-BE49-F238E27FC236}">
                  <a16:creationId xmlns:a16="http://schemas.microsoft.com/office/drawing/2014/main" id="{93B2ADD1-628A-5B4D-960D-449954DF9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8" name="Oval 253">
              <a:extLst>
                <a:ext uri="{FF2B5EF4-FFF2-40B4-BE49-F238E27FC236}">
                  <a16:creationId xmlns:a16="http://schemas.microsoft.com/office/drawing/2014/main" id="{359740D7-3452-8745-AD4F-78F1EAE69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9" name="Oval 254">
              <a:extLst>
                <a:ext uri="{FF2B5EF4-FFF2-40B4-BE49-F238E27FC236}">
                  <a16:creationId xmlns:a16="http://schemas.microsoft.com/office/drawing/2014/main" id="{6953048C-3B45-C945-95BD-05D0D95F9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90" name="Oval 255">
              <a:extLst>
                <a:ext uri="{FF2B5EF4-FFF2-40B4-BE49-F238E27FC236}">
                  <a16:creationId xmlns:a16="http://schemas.microsoft.com/office/drawing/2014/main" id="{FCF3244C-B9E8-DF49-A3D0-C0D2140BA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1" name="Rectangle 256">
              <a:extLst>
                <a:ext uri="{FF2B5EF4-FFF2-40B4-BE49-F238E27FC236}">
                  <a16:creationId xmlns:a16="http://schemas.microsoft.com/office/drawing/2014/main" id="{66CCCCC0-CA45-934C-8FFC-B89439DE4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00" name="Group 257">
            <a:extLst>
              <a:ext uri="{FF2B5EF4-FFF2-40B4-BE49-F238E27FC236}">
                <a16:creationId xmlns:a16="http://schemas.microsoft.com/office/drawing/2014/main" id="{6D88D42C-B784-1546-97B0-1AA7D6A27EC3}"/>
              </a:ext>
            </a:extLst>
          </p:cNvPr>
          <p:cNvGrpSpPr>
            <a:grpSpLocks/>
          </p:cNvGrpSpPr>
          <p:nvPr/>
        </p:nvGrpSpPr>
        <p:grpSpPr bwMode="auto">
          <a:xfrm>
            <a:off x="9761073" y="3005818"/>
            <a:ext cx="390525" cy="641350"/>
            <a:chOff x="4140" y="429"/>
            <a:chExt cx="1425" cy="2396"/>
          </a:xfrm>
        </p:grpSpPr>
        <p:sp>
          <p:nvSpPr>
            <p:cNvPr id="301" name="Freeform 258">
              <a:extLst>
                <a:ext uri="{FF2B5EF4-FFF2-40B4-BE49-F238E27FC236}">
                  <a16:creationId xmlns:a16="http://schemas.microsoft.com/office/drawing/2014/main" id="{702EC307-F8E6-434D-B445-B2F47A942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259">
              <a:extLst>
                <a:ext uri="{FF2B5EF4-FFF2-40B4-BE49-F238E27FC236}">
                  <a16:creationId xmlns:a16="http://schemas.microsoft.com/office/drawing/2014/main" id="{07437252-B53D-9D40-813F-304E5CD00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3" name="Freeform 260">
              <a:extLst>
                <a:ext uri="{FF2B5EF4-FFF2-40B4-BE49-F238E27FC236}">
                  <a16:creationId xmlns:a16="http://schemas.microsoft.com/office/drawing/2014/main" id="{EC373583-A9BD-FC4E-A47E-4602AA39D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4" name="Freeform 261">
              <a:extLst>
                <a:ext uri="{FF2B5EF4-FFF2-40B4-BE49-F238E27FC236}">
                  <a16:creationId xmlns:a16="http://schemas.microsoft.com/office/drawing/2014/main" id="{D1E0B0A0-C834-9D4D-9DDD-D4222C181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5" name="Rectangle 262">
              <a:extLst>
                <a:ext uri="{FF2B5EF4-FFF2-40B4-BE49-F238E27FC236}">
                  <a16:creationId xmlns:a16="http://schemas.microsoft.com/office/drawing/2014/main" id="{B2DA4C56-6E4F-4F46-A99C-698FAADDB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6" name="Group 263">
              <a:extLst>
                <a:ext uri="{FF2B5EF4-FFF2-40B4-BE49-F238E27FC236}">
                  <a16:creationId xmlns:a16="http://schemas.microsoft.com/office/drawing/2014/main" id="{0476FEFE-2DC6-2148-99D9-A5C054B12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31" name="AutoShape 264">
                <a:extLst>
                  <a:ext uri="{FF2B5EF4-FFF2-40B4-BE49-F238E27FC236}">
                    <a16:creationId xmlns:a16="http://schemas.microsoft.com/office/drawing/2014/main" id="{81145D7E-D3D7-0D4C-A411-943EBD5AA0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2" name="AutoShape 265">
                <a:extLst>
                  <a:ext uri="{FF2B5EF4-FFF2-40B4-BE49-F238E27FC236}">
                    <a16:creationId xmlns:a16="http://schemas.microsoft.com/office/drawing/2014/main" id="{67891F44-03D3-CF47-86FB-FB0C31AF65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7" name="Rectangle 266">
              <a:extLst>
                <a:ext uri="{FF2B5EF4-FFF2-40B4-BE49-F238E27FC236}">
                  <a16:creationId xmlns:a16="http://schemas.microsoft.com/office/drawing/2014/main" id="{1D029B33-0C7B-864F-B801-978A4B8FD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8" name="Group 267">
              <a:extLst>
                <a:ext uri="{FF2B5EF4-FFF2-40B4-BE49-F238E27FC236}">
                  <a16:creationId xmlns:a16="http://schemas.microsoft.com/office/drawing/2014/main" id="{8A3352FE-9285-9E4C-BF29-D635003DF9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9" name="AutoShape 268">
                <a:extLst>
                  <a:ext uri="{FF2B5EF4-FFF2-40B4-BE49-F238E27FC236}">
                    <a16:creationId xmlns:a16="http://schemas.microsoft.com/office/drawing/2014/main" id="{CC6637ED-E66A-004E-AE38-F32E55EC54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0" name="AutoShape 269">
                <a:extLst>
                  <a:ext uri="{FF2B5EF4-FFF2-40B4-BE49-F238E27FC236}">
                    <a16:creationId xmlns:a16="http://schemas.microsoft.com/office/drawing/2014/main" id="{99FAA76E-7386-FC45-ACF1-30D129724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9" name="Rectangle 270">
              <a:extLst>
                <a:ext uri="{FF2B5EF4-FFF2-40B4-BE49-F238E27FC236}">
                  <a16:creationId xmlns:a16="http://schemas.microsoft.com/office/drawing/2014/main" id="{AFCC8C61-44F6-2242-8855-E7238EE55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Rectangle 271">
              <a:extLst>
                <a:ext uri="{FF2B5EF4-FFF2-40B4-BE49-F238E27FC236}">
                  <a16:creationId xmlns:a16="http://schemas.microsoft.com/office/drawing/2014/main" id="{5F416F68-F5C3-E047-86DD-2B69313C9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1" name="Group 272">
              <a:extLst>
                <a:ext uri="{FF2B5EF4-FFF2-40B4-BE49-F238E27FC236}">
                  <a16:creationId xmlns:a16="http://schemas.microsoft.com/office/drawing/2014/main" id="{63D616E2-37F9-FA41-93A3-EC867A9C9D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27" name="AutoShape 273">
                <a:extLst>
                  <a:ext uri="{FF2B5EF4-FFF2-40B4-BE49-F238E27FC236}">
                    <a16:creationId xmlns:a16="http://schemas.microsoft.com/office/drawing/2014/main" id="{666D6CE3-43E0-B641-9B47-80DA04FB01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8" name="AutoShape 274">
                <a:extLst>
                  <a:ext uri="{FF2B5EF4-FFF2-40B4-BE49-F238E27FC236}">
                    <a16:creationId xmlns:a16="http://schemas.microsoft.com/office/drawing/2014/main" id="{D94D4D24-3A62-4346-A4B0-AF4901D561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12" name="Freeform 275">
              <a:extLst>
                <a:ext uri="{FF2B5EF4-FFF2-40B4-BE49-F238E27FC236}">
                  <a16:creationId xmlns:a16="http://schemas.microsoft.com/office/drawing/2014/main" id="{5502E20D-D3F9-1445-AE1A-C5A9B7BBB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3" name="Group 276">
              <a:extLst>
                <a:ext uri="{FF2B5EF4-FFF2-40B4-BE49-F238E27FC236}">
                  <a16:creationId xmlns:a16="http://schemas.microsoft.com/office/drawing/2014/main" id="{88289607-2CB3-6846-972E-267A38967E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25" name="AutoShape 277">
                <a:extLst>
                  <a:ext uri="{FF2B5EF4-FFF2-40B4-BE49-F238E27FC236}">
                    <a16:creationId xmlns:a16="http://schemas.microsoft.com/office/drawing/2014/main" id="{4D384432-D7DC-704B-9036-8E7B3A2934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6" name="AutoShape 278">
                <a:extLst>
                  <a:ext uri="{FF2B5EF4-FFF2-40B4-BE49-F238E27FC236}">
                    <a16:creationId xmlns:a16="http://schemas.microsoft.com/office/drawing/2014/main" id="{D9C2A3A1-5244-A14A-8274-DFC1383E58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14" name="Rectangle 279">
              <a:extLst>
                <a:ext uri="{FF2B5EF4-FFF2-40B4-BE49-F238E27FC236}">
                  <a16:creationId xmlns:a16="http://schemas.microsoft.com/office/drawing/2014/main" id="{B1F8DD2B-C939-2C43-B20B-2B1AD74D4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5" name="Freeform 280">
              <a:extLst>
                <a:ext uri="{FF2B5EF4-FFF2-40B4-BE49-F238E27FC236}">
                  <a16:creationId xmlns:a16="http://schemas.microsoft.com/office/drawing/2014/main" id="{F16DC7B2-4515-5543-B12A-6165D6E2E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Freeform 281">
              <a:extLst>
                <a:ext uri="{FF2B5EF4-FFF2-40B4-BE49-F238E27FC236}">
                  <a16:creationId xmlns:a16="http://schemas.microsoft.com/office/drawing/2014/main" id="{004AE2FC-7231-E64A-BEBE-ADCA412A0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7" name="Oval 282">
              <a:extLst>
                <a:ext uri="{FF2B5EF4-FFF2-40B4-BE49-F238E27FC236}">
                  <a16:creationId xmlns:a16="http://schemas.microsoft.com/office/drawing/2014/main" id="{5A6BAD53-D0CF-DF42-803B-A591FE492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8" name="Freeform 283">
              <a:extLst>
                <a:ext uri="{FF2B5EF4-FFF2-40B4-BE49-F238E27FC236}">
                  <a16:creationId xmlns:a16="http://schemas.microsoft.com/office/drawing/2014/main" id="{37D6350E-473C-2F48-8443-85DB0303D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9" name="AutoShape 284">
              <a:extLst>
                <a:ext uri="{FF2B5EF4-FFF2-40B4-BE49-F238E27FC236}">
                  <a16:creationId xmlns:a16="http://schemas.microsoft.com/office/drawing/2014/main" id="{BC07E322-3708-CF4A-90EA-569EBA34D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AutoShape 285">
              <a:extLst>
                <a:ext uri="{FF2B5EF4-FFF2-40B4-BE49-F238E27FC236}">
                  <a16:creationId xmlns:a16="http://schemas.microsoft.com/office/drawing/2014/main" id="{13CC96E0-B269-1C41-8B8A-26D7B49CC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1" name="Oval 286">
              <a:extLst>
                <a:ext uri="{FF2B5EF4-FFF2-40B4-BE49-F238E27FC236}">
                  <a16:creationId xmlns:a16="http://schemas.microsoft.com/office/drawing/2014/main" id="{B778BB94-7A1A-2A49-A8EF-9BB086F52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Oval 287">
              <a:extLst>
                <a:ext uri="{FF2B5EF4-FFF2-40B4-BE49-F238E27FC236}">
                  <a16:creationId xmlns:a16="http://schemas.microsoft.com/office/drawing/2014/main" id="{F501B229-B7EF-6B41-9F50-357DBD633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23" name="Oval 288">
              <a:extLst>
                <a:ext uri="{FF2B5EF4-FFF2-40B4-BE49-F238E27FC236}">
                  <a16:creationId xmlns:a16="http://schemas.microsoft.com/office/drawing/2014/main" id="{B00DA42E-62A3-B349-A633-497D45856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4" name="Rectangle 289">
              <a:extLst>
                <a:ext uri="{FF2B5EF4-FFF2-40B4-BE49-F238E27FC236}">
                  <a16:creationId xmlns:a16="http://schemas.microsoft.com/office/drawing/2014/main" id="{238D91CD-38E8-4C4C-BE90-4508D42E5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67" name="Slide Number Placeholder 2">
            <a:extLst>
              <a:ext uri="{FF2B5EF4-FFF2-40B4-BE49-F238E27FC236}">
                <a16:creationId xmlns:a16="http://schemas.microsoft.com/office/drawing/2014/main" id="{0480BCEF-F94C-E34B-B55C-97CE664B5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331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3" grpId="0"/>
      <p:bldP spid="184" grpId="0"/>
      <p:bldP spid="185" grpId="0"/>
      <p:bldP spid="186" grpId="0"/>
      <p:bldP spid="187" grpId="0"/>
      <p:bldP spid="188" grpId="0"/>
      <p:bldP spid="190" grpId="0"/>
      <p:bldP spid="19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 name resolution: recursive query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171" name="Text Box 5">
            <a:extLst>
              <a:ext uri="{FF2B5EF4-FFF2-40B4-BE49-F238E27FC236}">
                <a16:creationId xmlns:a16="http://schemas.microsoft.com/office/drawing/2014/main" id="{5980C4D7-7160-6843-9829-B4A4351B5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8154" y="3848735"/>
            <a:ext cx="181652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requesting host at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engineering.nyu.edu</a:t>
            </a:r>
            <a:endParaRPr kumimoji="0" lang="en-US" altLang="en-US" sz="1400" b="0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2" name="Text Box 6">
            <a:extLst>
              <a:ext uri="{FF2B5EF4-FFF2-40B4-BE49-F238E27FC236}">
                <a16:creationId xmlns:a16="http://schemas.microsoft.com/office/drawing/2014/main" id="{0572A6CE-4DDA-D648-8802-F03C444E2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9161" y="4208147"/>
            <a:ext cx="1878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gaia.cs.umass.edu</a:t>
            </a:r>
            <a:endParaRPr kumimoji="0" lang="en-US" altLang="en-US" sz="16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3" name="Text Box 17">
            <a:extLst>
              <a:ext uri="{FF2B5EF4-FFF2-40B4-BE49-F238E27FC236}">
                <a16:creationId xmlns:a16="http://schemas.microsoft.com/office/drawing/2014/main" id="{82144ED5-2C8E-184D-A863-C3B672AB3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588" y="1322438"/>
            <a:ext cx="20113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root DNS server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4" name="Line 18">
            <a:extLst>
              <a:ext uri="{FF2B5EF4-FFF2-40B4-BE49-F238E27FC236}">
                <a16:creationId xmlns:a16="http://schemas.microsoft.com/office/drawing/2014/main" id="{0055E9E5-6DE8-1543-9989-1B8A533D40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04927" y="3275781"/>
            <a:ext cx="1196994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5" name="Line 19">
            <a:extLst>
              <a:ext uri="{FF2B5EF4-FFF2-40B4-BE49-F238E27FC236}">
                <a16:creationId xmlns:a16="http://schemas.microsoft.com/office/drawing/2014/main" id="{5959B616-2817-F149-AD5A-71429EF235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84477" y="2005693"/>
            <a:ext cx="914400" cy="9715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Line 20">
            <a:extLst>
              <a:ext uri="{FF2B5EF4-FFF2-40B4-BE49-F238E27FC236}">
                <a16:creationId xmlns:a16="http://schemas.microsoft.com/office/drawing/2014/main" id="{6EF73249-815F-C548-BC5E-38E4ACE60E79}"/>
              </a:ext>
            </a:extLst>
          </p:cNvPr>
          <p:cNvSpPr>
            <a:spLocks noChangeShapeType="1"/>
          </p:cNvSpPr>
          <p:nvPr/>
        </p:nvSpPr>
        <p:spPr bwMode="auto">
          <a:xfrm>
            <a:off x="9672062" y="3760198"/>
            <a:ext cx="2427" cy="702311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7" name="Line 21">
            <a:extLst>
              <a:ext uri="{FF2B5EF4-FFF2-40B4-BE49-F238E27FC236}">
                <a16:creationId xmlns:a16="http://schemas.microsoft.com/office/drawing/2014/main" id="{CEC0960C-844E-6F44-83D5-7DC0B1F8A21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491701" y="3747010"/>
            <a:ext cx="2427" cy="734919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8" name="Line 22">
            <a:extLst>
              <a:ext uri="{FF2B5EF4-FFF2-40B4-BE49-F238E27FC236}">
                <a16:creationId xmlns:a16="http://schemas.microsoft.com/office/drawing/2014/main" id="{1CAC12BF-7C29-F640-93E6-9DF1650DE0DF}"/>
              </a:ext>
            </a:extLst>
          </p:cNvPr>
          <p:cNvSpPr>
            <a:spLocks noChangeShapeType="1"/>
          </p:cNvSpPr>
          <p:nvPr/>
        </p:nvSpPr>
        <p:spPr bwMode="auto">
          <a:xfrm>
            <a:off x="9038381" y="2075731"/>
            <a:ext cx="405154" cy="841218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9" name="Line 23">
            <a:extLst>
              <a:ext uri="{FF2B5EF4-FFF2-40B4-BE49-F238E27FC236}">
                <a16:creationId xmlns:a16="http://schemas.microsoft.com/office/drawing/2014/main" id="{349E5526-4318-4744-A470-D0A69AD70F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97203" y="3439703"/>
            <a:ext cx="1319232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0" name="Group 24">
            <a:extLst>
              <a:ext uri="{FF2B5EF4-FFF2-40B4-BE49-F238E27FC236}">
                <a16:creationId xmlns:a16="http://schemas.microsoft.com/office/drawing/2014/main" id="{25257205-98B6-614F-8BDC-3E790117BE54}"/>
              </a:ext>
            </a:extLst>
          </p:cNvPr>
          <p:cNvGrpSpPr>
            <a:grpSpLocks/>
          </p:cNvGrpSpPr>
          <p:nvPr/>
        </p:nvGrpSpPr>
        <p:grpSpPr bwMode="auto">
          <a:xfrm>
            <a:off x="6374803" y="3847199"/>
            <a:ext cx="1876425" cy="554038"/>
            <a:chOff x="2838" y="2132"/>
            <a:chExt cx="1182" cy="349"/>
          </a:xfrm>
        </p:grpSpPr>
        <p:sp>
          <p:nvSpPr>
            <p:cNvPr id="181" name="Rectangle 25">
              <a:extLst>
                <a:ext uri="{FF2B5EF4-FFF2-40B4-BE49-F238E27FC236}">
                  <a16:creationId xmlns:a16="http://schemas.microsoft.com/office/drawing/2014/main" id="{D65FCF25-F405-B748-88E8-10A3D8396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8" y="2178"/>
              <a:ext cx="1182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2" name="Text Box 26">
              <a:extLst>
                <a:ext uri="{FF2B5EF4-FFF2-40B4-BE49-F238E27FC236}">
                  <a16:creationId xmlns:a16="http://schemas.microsoft.com/office/drawing/2014/main" id="{E1FF55F2-CAA3-F740-9BE9-AB0BAF4EF8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7" y="2132"/>
              <a:ext cx="1085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local DNS server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0" cap="none" spc="0" normalizeH="0" baseline="0" noProof="0" dirty="0" err="1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</a:t>
              </a:r>
              <a:r>
                <a:rPr kumimoji="0" lang="en-US" alt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</a:t>
              </a:r>
              <a:r>
                <a:rPr kumimoji="0" lang="en-US" altLang="en-US" sz="1400" b="0" i="1" u="none" strike="noStrike" kern="0" cap="none" spc="0" normalizeH="0" baseline="0" noProof="0" dirty="0" err="1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nyu</a:t>
              </a:r>
              <a:r>
                <a:rPr kumimoji="0" lang="en-US" alt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</a:t>
              </a:r>
              <a:r>
                <a:rPr kumimoji="0" lang="en-US" altLang="en-US" sz="1400" b="0" i="1" u="none" strike="noStrike" kern="0" cap="none" spc="0" normalizeH="0" baseline="0" noProof="0" dirty="0" err="1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edu</a:t>
              </a:r>
              <a:endParaRPr kumimoji="0" lang="en-US" altLang="en-US" sz="1400" b="0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83" name="Text Box 27">
            <a:extLst>
              <a:ext uri="{FF2B5EF4-FFF2-40B4-BE49-F238E27FC236}">
                <a16:creationId xmlns:a16="http://schemas.microsoft.com/office/drawing/2014/main" id="{89A9D659-504E-DE4E-B6CF-35E06A82E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5191" y="288670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4" name="Text Box 28">
            <a:extLst>
              <a:ext uri="{FF2B5EF4-FFF2-40B4-BE49-F238E27FC236}">
                <a16:creationId xmlns:a16="http://schemas.microsoft.com/office/drawing/2014/main" id="{72F042CE-6C6C-7040-AA88-05028C243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4177" y="222318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5" name="Text Box 29">
            <a:extLst>
              <a:ext uri="{FF2B5EF4-FFF2-40B4-BE49-F238E27FC236}">
                <a16:creationId xmlns:a16="http://schemas.microsoft.com/office/drawing/2014/main" id="{E4355CE5-EFAB-8E4F-AA84-68513D8FC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965" y="2130702"/>
            <a:ext cx="11965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6" name="Text Box 30">
            <a:extLst>
              <a:ext uri="{FF2B5EF4-FFF2-40B4-BE49-F238E27FC236}">
                <a16:creationId xmlns:a16="http://schemas.microsoft.com/office/drawing/2014/main" id="{61F544AA-6B92-714B-84C9-4070F63CA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1511" y="3917024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4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7" name="Text Box 31">
            <a:extLst>
              <a:ext uri="{FF2B5EF4-FFF2-40B4-BE49-F238E27FC236}">
                <a16:creationId xmlns:a16="http://schemas.microsoft.com/office/drawing/2014/main" id="{30095F9A-09A7-2540-B6C0-0D32BAB45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0827" y="3968637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5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8" name="Text Box 32">
            <a:extLst>
              <a:ext uri="{FF2B5EF4-FFF2-40B4-BE49-F238E27FC236}">
                <a16:creationId xmlns:a16="http://schemas.microsoft.com/office/drawing/2014/main" id="{AB8F7B88-B6E0-EF40-999E-00C192F32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4934" y="268526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6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9" name="Text Box 60">
            <a:extLst>
              <a:ext uri="{FF2B5EF4-FFF2-40B4-BE49-F238E27FC236}">
                <a16:creationId xmlns:a16="http://schemas.microsoft.com/office/drawing/2014/main" id="{9260634C-BE01-F74D-BF1A-744B534DD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6977" y="5214030"/>
            <a:ext cx="23971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authoritative DNS server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dns.cs.umass.edu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0" name="Text Box 61">
            <a:extLst>
              <a:ext uri="{FF2B5EF4-FFF2-40B4-BE49-F238E27FC236}">
                <a16:creationId xmlns:a16="http://schemas.microsoft.com/office/drawing/2014/main" id="{6085ED00-1F5E-0643-A173-419315EE3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2727" y="2626662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7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1" name="Text Box 62">
            <a:extLst>
              <a:ext uri="{FF2B5EF4-FFF2-40B4-BE49-F238E27FC236}">
                <a16:creationId xmlns:a16="http://schemas.microsoft.com/office/drawing/2014/main" id="{31298658-8B21-7440-B171-ED6F192C9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5714" y="3470502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8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2" name="Line 63">
            <a:extLst>
              <a:ext uri="{FF2B5EF4-FFF2-40B4-BE49-F238E27FC236}">
                <a16:creationId xmlns:a16="http://schemas.microsoft.com/office/drawing/2014/main" id="{10C66233-6CC9-374E-8305-B82B34B3764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981775" y="2427554"/>
            <a:ext cx="344289" cy="6454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3" name="Line 64">
            <a:extLst>
              <a:ext uri="{FF2B5EF4-FFF2-40B4-BE49-F238E27FC236}">
                <a16:creationId xmlns:a16="http://schemas.microsoft.com/office/drawing/2014/main" id="{BAF9BA4A-0868-F849-BA68-582D117DCF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92268" y="2275514"/>
            <a:ext cx="710991" cy="774754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4" name="Text Box 65">
            <a:extLst>
              <a:ext uri="{FF2B5EF4-FFF2-40B4-BE49-F238E27FC236}">
                <a16:creationId xmlns:a16="http://schemas.microsoft.com/office/drawing/2014/main" id="{8797BCED-3D71-5A4B-8881-BCE8144E8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2504" y="2971557"/>
            <a:ext cx="20113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TLD DNS server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95" name="Group 86">
            <a:extLst>
              <a:ext uri="{FF2B5EF4-FFF2-40B4-BE49-F238E27FC236}">
                <a16:creationId xmlns:a16="http://schemas.microsoft.com/office/drawing/2014/main" id="{75CA10E2-E46A-8244-A966-A51F3D99FE1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526900" y="4590027"/>
            <a:ext cx="787391" cy="614055"/>
            <a:chOff x="-44" y="1473"/>
            <a:chExt cx="981" cy="1105"/>
          </a:xfrm>
        </p:grpSpPr>
        <p:pic>
          <p:nvPicPr>
            <p:cNvPr id="196" name="Picture 87" descr="desktop_computer_stylized_medium">
              <a:extLst>
                <a:ext uri="{FF2B5EF4-FFF2-40B4-BE49-F238E27FC236}">
                  <a16:creationId xmlns:a16="http://schemas.microsoft.com/office/drawing/2014/main" id="{71723812-15F4-5248-BF42-895CB471AE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7" name="Freeform 88">
              <a:extLst>
                <a:ext uri="{FF2B5EF4-FFF2-40B4-BE49-F238E27FC236}">
                  <a16:creationId xmlns:a16="http://schemas.microsoft.com/office/drawing/2014/main" id="{4B3596A6-2AD0-DC45-8E8C-2A75454E7B1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98" name="Group 89">
            <a:extLst>
              <a:ext uri="{FF2B5EF4-FFF2-40B4-BE49-F238E27FC236}">
                <a16:creationId xmlns:a16="http://schemas.microsoft.com/office/drawing/2014/main" id="{06C72D69-BC87-104E-99A1-1FE2BBFDF3AB}"/>
              </a:ext>
            </a:extLst>
          </p:cNvPr>
          <p:cNvGrpSpPr>
            <a:grpSpLocks/>
          </p:cNvGrpSpPr>
          <p:nvPr/>
        </p:nvGrpSpPr>
        <p:grpSpPr bwMode="auto">
          <a:xfrm>
            <a:off x="5099109" y="3053085"/>
            <a:ext cx="883580" cy="766310"/>
            <a:chOff x="-44" y="1473"/>
            <a:chExt cx="981" cy="1105"/>
          </a:xfrm>
        </p:grpSpPr>
        <p:pic>
          <p:nvPicPr>
            <p:cNvPr id="199" name="Picture 90" descr="desktop_computer_stylized_medium">
              <a:extLst>
                <a:ext uri="{FF2B5EF4-FFF2-40B4-BE49-F238E27FC236}">
                  <a16:creationId xmlns:a16="http://schemas.microsoft.com/office/drawing/2014/main" id="{8EECB2CE-1B4C-2746-A9F6-C35C4B9609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0" name="Freeform 91">
              <a:extLst>
                <a:ext uri="{FF2B5EF4-FFF2-40B4-BE49-F238E27FC236}">
                  <a16:creationId xmlns:a16="http://schemas.microsoft.com/office/drawing/2014/main" id="{D65AC841-4780-A94B-9F97-1107EEE46B3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01" name="Group 125">
            <a:extLst>
              <a:ext uri="{FF2B5EF4-FFF2-40B4-BE49-F238E27FC236}">
                <a16:creationId xmlns:a16="http://schemas.microsoft.com/office/drawing/2014/main" id="{724CF7FE-3214-0741-AD8D-7483973CF725}"/>
              </a:ext>
            </a:extLst>
          </p:cNvPr>
          <p:cNvGrpSpPr>
            <a:grpSpLocks/>
          </p:cNvGrpSpPr>
          <p:nvPr/>
        </p:nvGrpSpPr>
        <p:grpSpPr bwMode="auto">
          <a:xfrm>
            <a:off x="9410102" y="4528230"/>
            <a:ext cx="390525" cy="641350"/>
            <a:chOff x="4140" y="429"/>
            <a:chExt cx="1425" cy="2396"/>
          </a:xfrm>
        </p:grpSpPr>
        <p:sp>
          <p:nvSpPr>
            <p:cNvPr id="202" name="Freeform 126">
              <a:extLst>
                <a:ext uri="{FF2B5EF4-FFF2-40B4-BE49-F238E27FC236}">
                  <a16:creationId xmlns:a16="http://schemas.microsoft.com/office/drawing/2014/main" id="{430EC70E-0BF7-F44C-8DEF-C9A33626D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3" name="Rectangle 127">
              <a:extLst>
                <a:ext uri="{FF2B5EF4-FFF2-40B4-BE49-F238E27FC236}">
                  <a16:creationId xmlns:a16="http://schemas.microsoft.com/office/drawing/2014/main" id="{6C288CD0-9AED-1548-9DEF-7CF8E72A0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4" name="Freeform 128">
              <a:extLst>
                <a:ext uri="{FF2B5EF4-FFF2-40B4-BE49-F238E27FC236}">
                  <a16:creationId xmlns:a16="http://schemas.microsoft.com/office/drawing/2014/main" id="{08551039-74E8-F44D-8449-133AF9BF8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5" name="Freeform 129">
              <a:extLst>
                <a:ext uri="{FF2B5EF4-FFF2-40B4-BE49-F238E27FC236}">
                  <a16:creationId xmlns:a16="http://schemas.microsoft.com/office/drawing/2014/main" id="{D41FFC6C-D9E1-E74F-BF15-4894E774B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6" name="Rectangle 130">
              <a:extLst>
                <a:ext uri="{FF2B5EF4-FFF2-40B4-BE49-F238E27FC236}">
                  <a16:creationId xmlns:a16="http://schemas.microsoft.com/office/drawing/2014/main" id="{4AA5429D-F727-884E-96D1-EA63944E5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07" name="Group 131">
              <a:extLst>
                <a:ext uri="{FF2B5EF4-FFF2-40B4-BE49-F238E27FC236}">
                  <a16:creationId xmlns:a16="http://schemas.microsoft.com/office/drawing/2014/main" id="{9CE31B7B-945E-6B44-B446-849D24418C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2" name="AutoShape 132">
                <a:extLst>
                  <a:ext uri="{FF2B5EF4-FFF2-40B4-BE49-F238E27FC236}">
                    <a16:creationId xmlns:a16="http://schemas.microsoft.com/office/drawing/2014/main" id="{FA2F0F31-D516-1C43-8236-266B26AEF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3" name="AutoShape 133">
                <a:extLst>
                  <a:ext uri="{FF2B5EF4-FFF2-40B4-BE49-F238E27FC236}">
                    <a16:creationId xmlns:a16="http://schemas.microsoft.com/office/drawing/2014/main" id="{6EC2A0FB-C35E-CF41-B938-33BF0264E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08" name="Rectangle 134">
              <a:extLst>
                <a:ext uri="{FF2B5EF4-FFF2-40B4-BE49-F238E27FC236}">
                  <a16:creationId xmlns:a16="http://schemas.microsoft.com/office/drawing/2014/main" id="{9298A98E-EDE0-4B4A-9352-BE6FAE720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09" name="Group 135">
              <a:extLst>
                <a:ext uri="{FF2B5EF4-FFF2-40B4-BE49-F238E27FC236}">
                  <a16:creationId xmlns:a16="http://schemas.microsoft.com/office/drawing/2014/main" id="{C311DEB1-8226-3E48-8DA5-613E18CFA3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0" name="AutoShape 136">
                <a:extLst>
                  <a:ext uri="{FF2B5EF4-FFF2-40B4-BE49-F238E27FC236}">
                    <a16:creationId xmlns:a16="http://schemas.microsoft.com/office/drawing/2014/main" id="{E45D0285-F719-874E-AD50-E3F2882775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1" name="AutoShape 137">
                <a:extLst>
                  <a:ext uri="{FF2B5EF4-FFF2-40B4-BE49-F238E27FC236}">
                    <a16:creationId xmlns:a16="http://schemas.microsoft.com/office/drawing/2014/main" id="{BE16FE12-6196-EF46-A169-0C2675EA51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0" name="Rectangle 138">
              <a:extLst>
                <a:ext uri="{FF2B5EF4-FFF2-40B4-BE49-F238E27FC236}">
                  <a16:creationId xmlns:a16="http://schemas.microsoft.com/office/drawing/2014/main" id="{A7531C2D-AF11-3642-9C87-3B93BEDD6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1" name="Rectangle 139">
              <a:extLst>
                <a:ext uri="{FF2B5EF4-FFF2-40B4-BE49-F238E27FC236}">
                  <a16:creationId xmlns:a16="http://schemas.microsoft.com/office/drawing/2014/main" id="{06C1B7AC-1454-714B-A50F-7F9B42D77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2" name="Group 140">
              <a:extLst>
                <a:ext uri="{FF2B5EF4-FFF2-40B4-BE49-F238E27FC236}">
                  <a16:creationId xmlns:a16="http://schemas.microsoft.com/office/drawing/2014/main" id="{86C62EBF-E65E-4D4B-884D-BA39C6A8B2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8" name="AutoShape 141">
                <a:extLst>
                  <a:ext uri="{FF2B5EF4-FFF2-40B4-BE49-F238E27FC236}">
                    <a16:creationId xmlns:a16="http://schemas.microsoft.com/office/drawing/2014/main" id="{A3E87978-B7EB-E644-B3A8-D8FDCF7E8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9" name="AutoShape 142">
                <a:extLst>
                  <a:ext uri="{FF2B5EF4-FFF2-40B4-BE49-F238E27FC236}">
                    <a16:creationId xmlns:a16="http://schemas.microsoft.com/office/drawing/2014/main" id="{91E0D4CD-2CBB-DD47-8147-BE3E03C965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3" name="Freeform 143">
              <a:extLst>
                <a:ext uri="{FF2B5EF4-FFF2-40B4-BE49-F238E27FC236}">
                  <a16:creationId xmlns:a16="http://schemas.microsoft.com/office/drawing/2014/main" id="{0D682965-15A3-3541-A789-479A47800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4" name="Group 144">
              <a:extLst>
                <a:ext uri="{FF2B5EF4-FFF2-40B4-BE49-F238E27FC236}">
                  <a16:creationId xmlns:a16="http://schemas.microsoft.com/office/drawing/2014/main" id="{0C8D690A-21E1-4146-83A5-7245CAEA83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6" name="AutoShape 145">
                <a:extLst>
                  <a:ext uri="{FF2B5EF4-FFF2-40B4-BE49-F238E27FC236}">
                    <a16:creationId xmlns:a16="http://schemas.microsoft.com/office/drawing/2014/main" id="{7C15E592-E347-A846-AC9F-C18905A617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7" name="AutoShape 146">
                <a:extLst>
                  <a:ext uri="{FF2B5EF4-FFF2-40B4-BE49-F238E27FC236}">
                    <a16:creationId xmlns:a16="http://schemas.microsoft.com/office/drawing/2014/main" id="{3D0AF765-217C-594C-B21E-869B0884A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5" name="Rectangle 147">
              <a:extLst>
                <a:ext uri="{FF2B5EF4-FFF2-40B4-BE49-F238E27FC236}">
                  <a16:creationId xmlns:a16="http://schemas.microsoft.com/office/drawing/2014/main" id="{4C635A33-8E8F-7D44-92DB-F6F09BFD8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6" name="Freeform 148">
              <a:extLst>
                <a:ext uri="{FF2B5EF4-FFF2-40B4-BE49-F238E27FC236}">
                  <a16:creationId xmlns:a16="http://schemas.microsoft.com/office/drawing/2014/main" id="{4B503159-D00F-C640-B18B-72CCC4B30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7" name="Freeform 149">
              <a:extLst>
                <a:ext uri="{FF2B5EF4-FFF2-40B4-BE49-F238E27FC236}">
                  <a16:creationId xmlns:a16="http://schemas.microsoft.com/office/drawing/2014/main" id="{83A278D9-086C-BE47-BA0D-A1CB49B9D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8" name="Oval 150">
              <a:extLst>
                <a:ext uri="{FF2B5EF4-FFF2-40B4-BE49-F238E27FC236}">
                  <a16:creationId xmlns:a16="http://schemas.microsoft.com/office/drawing/2014/main" id="{71B59C46-33D8-EC4A-A0CA-4AF6B7EE7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9" name="Freeform 151">
              <a:extLst>
                <a:ext uri="{FF2B5EF4-FFF2-40B4-BE49-F238E27FC236}">
                  <a16:creationId xmlns:a16="http://schemas.microsoft.com/office/drawing/2014/main" id="{3C577FAB-12B4-CA48-B90D-D923F7168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0" name="AutoShape 152">
              <a:extLst>
                <a:ext uri="{FF2B5EF4-FFF2-40B4-BE49-F238E27FC236}">
                  <a16:creationId xmlns:a16="http://schemas.microsoft.com/office/drawing/2014/main" id="{0744BC6B-A26A-7E49-A677-B90EDB08F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1" name="AutoShape 153">
              <a:extLst>
                <a:ext uri="{FF2B5EF4-FFF2-40B4-BE49-F238E27FC236}">
                  <a16:creationId xmlns:a16="http://schemas.microsoft.com/office/drawing/2014/main" id="{574AC8BD-9D1C-FB42-BD21-1A786B862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2" name="Oval 154">
              <a:extLst>
                <a:ext uri="{FF2B5EF4-FFF2-40B4-BE49-F238E27FC236}">
                  <a16:creationId xmlns:a16="http://schemas.microsoft.com/office/drawing/2014/main" id="{5AFE8D2C-0569-3047-AB73-8A9B37AF1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3" name="Oval 155">
              <a:extLst>
                <a:ext uri="{FF2B5EF4-FFF2-40B4-BE49-F238E27FC236}">
                  <a16:creationId xmlns:a16="http://schemas.microsoft.com/office/drawing/2014/main" id="{83B0123B-44CF-B845-B272-496DEB238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4" name="Oval 156">
              <a:extLst>
                <a:ext uri="{FF2B5EF4-FFF2-40B4-BE49-F238E27FC236}">
                  <a16:creationId xmlns:a16="http://schemas.microsoft.com/office/drawing/2014/main" id="{FF7ABF78-07FF-FD40-9233-2EC92E7CB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5" name="Rectangle 157">
              <a:extLst>
                <a:ext uri="{FF2B5EF4-FFF2-40B4-BE49-F238E27FC236}">
                  <a16:creationId xmlns:a16="http://schemas.microsoft.com/office/drawing/2014/main" id="{D41F5C27-E8BB-6440-8D30-59C3961E0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34" name="Group 158">
            <a:extLst>
              <a:ext uri="{FF2B5EF4-FFF2-40B4-BE49-F238E27FC236}">
                <a16:creationId xmlns:a16="http://schemas.microsoft.com/office/drawing/2014/main" id="{AEB56919-E56B-7E4E-A7D7-98A288C3B252}"/>
              </a:ext>
            </a:extLst>
          </p:cNvPr>
          <p:cNvGrpSpPr>
            <a:grpSpLocks/>
          </p:cNvGrpSpPr>
          <p:nvPr/>
        </p:nvGrpSpPr>
        <p:grpSpPr bwMode="auto">
          <a:xfrm>
            <a:off x="7406677" y="3015343"/>
            <a:ext cx="390525" cy="641350"/>
            <a:chOff x="4140" y="429"/>
            <a:chExt cx="1425" cy="2396"/>
          </a:xfrm>
        </p:grpSpPr>
        <p:sp>
          <p:nvSpPr>
            <p:cNvPr id="235" name="Freeform 159">
              <a:extLst>
                <a:ext uri="{FF2B5EF4-FFF2-40B4-BE49-F238E27FC236}">
                  <a16:creationId xmlns:a16="http://schemas.microsoft.com/office/drawing/2014/main" id="{86964676-09BA-2F4D-8E07-76EACFD1A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6" name="Rectangle 160">
              <a:extLst>
                <a:ext uri="{FF2B5EF4-FFF2-40B4-BE49-F238E27FC236}">
                  <a16:creationId xmlns:a16="http://schemas.microsoft.com/office/drawing/2014/main" id="{FFAAD933-7081-1940-82D8-3553DCB08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7" name="Freeform 161">
              <a:extLst>
                <a:ext uri="{FF2B5EF4-FFF2-40B4-BE49-F238E27FC236}">
                  <a16:creationId xmlns:a16="http://schemas.microsoft.com/office/drawing/2014/main" id="{D61BDCB9-8C30-1C44-A8F2-0EC386728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" name="Freeform 162">
              <a:extLst>
                <a:ext uri="{FF2B5EF4-FFF2-40B4-BE49-F238E27FC236}">
                  <a16:creationId xmlns:a16="http://schemas.microsoft.com/office/drawing/2014/main" id="{3E122E01-84B9-6E48-861A-BEEBD7F67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Rectangle 163">
              <a:extLst>
                <a:ext uri="{FF2B5EF4-FFF2-40B4-BE49-F238E27FC236}">
                  <a16:creationId xmlns:a16="http://schemas.microsoft.com/office/drawing/2014/main" id="{3AD89C6E-5869-C84E-94DF-DD5388863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0" name="Group 164">
              <a:extLst>
                <a:ext uri="{FF2B5EF4-FFF2-40B4-BE49-F238E27FC236}">
                  <a16:creationId xmlns:a16="http://schemas.microsoft.com/office/drawing/2014/main" id="{919F3CC7-4090-E54D-9BA9-E092A8C810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5" name="AutoShape 165">
                <a:extLst>
                  <a:ext uri="{FF2B5EF4-FFF2-40B4-BE49-F238E27FC236}">
                    <a16:creationId xmlns:a16="http://schemas.microsoft.com/office/drawing/2014/main" id="{EAE6002E-6A1D-0B48-BA81-7D9DEC7045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6" name="AutoShape 166">
                <a:extLst>
                  <a:ext uri="{FF2B5EF4-FFF2-40B4-BE49-F238E27FC236}">
                    <a16:creationId xmlns:a16="http://schemas.microsoft.com/office/drawing/2014/main" id="{CAA5444A-9857-9149-867E-5562C085E1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1" name="Rectangle 167">
              <a:extLst>
                <a:ext uri="{FF2B5EF4-FFF2-40B4-BE49-F238E27FC236}">
                  <a16:creationId xmlns:a16="http://schemas.microsoft.com/office/drawing/2014/main" id="{93E34643-2646-D44C-9D6D-91A5B1C18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2" name="Group 168">
              <a:extLst>
                <a:ext uri="{FF2B5EF4-FFF2-40B4-BE49-F238E27FC236}">
                  <a16:creationId xmlns:a16="http://schemas.microsoft.com/office/drawing/2014/main" id="{652E8D93-E5DE-A34F-9D29-89AB07D056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63" name="AutoShape 169">
                <a:extLst>
                  <a:ext uri="{FF2B5EF4-FFF2-40B4-BE49-F238E27FC236}">
                    <a16:creationId xmlns:a16="http://schemas.microsoft.com/office/drawing/2014/main" id="{AA26172B-FDFE-3D4E-9541-B9BC052C1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4" name="AutoShape 170">
                <a:extLst>
                  <a:ext uri="{FF2B5EF4-FFF2-40B4-BE49-F238E27FC236}">
                    <a16:creationId xmlns:a16="http://schemas.microsoft.com/office/drawing/2014/main" id="{521BB6A8-6D33-7E40-B79B-A911E9D1C5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3" name="Rectangle 171">
              <a:extLst>
                <a:ext uri="{FF2B5EF4-FFF2-40B4-BE49-F238E27FC236}">
                  <a16:creationId xmlns:a16="http://schemas.microsoft.com/office/drawing/2014/main" id="{FF73D9CC-AAAC-D341-85A2-89BC26B91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4" name="Rectangle 172">
              <a:extLst>
                <a:ext uri="{FF2B5EF4-FFF2-40B4-BE49-F238E27FC236}">
                  <a16:creationId xmlns:a16="http://schemas.microsoft.com/office/drawing/2014/main" id="{B810EEDB-015F-FD45-9174-E980EC5FA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5" name="Group 173">
              <a:extLst>
                <a:ext uri="{FF2B5EF4-FFF2-40B4-BE49-F238E27FC236}">
                  <a16:creationId xmlns:a16="http://schemas.microsoft.com/office/drawing/2014/main" id="{2E72AE40-DCC2-4948-AD2E-564A2B8A82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61" name="AutoShape 174">
                <a:extLst>
                  <a:ext uri="{FF2B5EF4-FFF2-40B4-BE49-F238E27FC236}">
                    <a16:creationId xmlns:a16="http://schemas.microsoft.com/office/drawing/2014/main" id="{D9D1958B-0DAA-074E-A39D-ABDA1EA5B0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2" name="AutoShape 175">
                <a:extLst>
                  <a:ext uri="{FF2B5EF4-FFF2-40B4-BE49-F238E27FC236}">
                    <a16:creationId xmlns:a16="http://schemas.microsoft.com/office/drawing/2014/main" id="{8EFD2DEF-75B3-4B4C-BB17-5FDA1DFD91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6" name="Freeform 176">
              <a:extLst>
                <a:ext uri="{FF2B5EF4-FFF2-40B4-BE49-F238E27FC236}">
                  <a16:creationId xmlns:a16="http://schemas.microsoft.com/office/drawing/2014/main" id="{A52917D9-2F4F-8A4E-A096-B778F3B976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7" name="Group 177">
              <a:extLst>
                <a:ext uri="{FF2B5EF4-FFF2-40B4-BE49-F238E27FC236}">
                  <a16:creationId xmlns:a16="http://schemas.microsoft.com/office/drawing/2014/main" id="{8476C934-1025-054C-BF2F-A686380677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9" name="AutoShape 178">
                <a:extLst>
                  <a:ext uri="{FF2B5EF4-FFF2-40B4-BE49-F238E27FC236}">
                    <a16:creationId xmlns:a16="http://schemas.microsoft.com/office/drawing/2014/main" id="{8DF96225-9AB2-AB48-9090-A03A165D9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0" name="AutoShape 179">
                <a:extLst>
                  <a:ext uri="{FF2B5EF4-FFF2-40B4-BE49-F238E27FC236}">
                    <a16:creationId xmlns:a16="http://schemas.microsoft.com/office/drawing/2014/main" id="{B48F8DCA-7FC5-4D49-89FD-957B141759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8" name="Rectangle 180">
              <a:extLst>
                <a:ext uri="{FF2B5EF4-FFF2-40B4-BE49-F238E27FC236}">
                  <a16:creationId xmlns:a16="http://schemas.microsoft.com/office/drawing/2014/main" id="{82DD01ED-CC62-8E44-B4AF-5AB162B45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Freeform 181">
              <a:extLst>
                <a:ext uri="{FF2B5EF4-FFF2-40B4-BE49-F238E27FC236}">
                  <a16:creationId xmlns:a16="http://schemas.microsoft.com/office/drawing/2014/main" id="{02E0A0DA-75BD-A54E-BFBE-1053BAA47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0" name="Freeform 182">
              <a:extLst>
                <a:ext uri="{FF2B5EF4-FFF2-40B4-BE49-F238E27FC236}">
                  <a16:creationId xmlns:a16="http://schemas.microsoft.com/office/drawing/2014/main" id="{553CF65B-1E90-FF47-BBE8-B5344DE42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1" name="Oval 183">
              <a:extLst>
                <a:ext uri="{FF2B5EF4-FFF2-40B4-BE49-F238E27FC236}">
                  <a16:creationId xmlns:a16="http://schemas.microsoft.com/office/drawing/2014/main" id="{1CFB15AC-59D4-2B42-9567-80D6F30EC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2" name="Freeform 184">
              <a:extLst>
                <a:ext uri="{FF2B5EF4-FFF2-40B4-BE49-F238E27FC236}">
                  <a16:creationId xmlns:a16="http://schemas.microsoft.com/office/drawing/2014/main" id="{377D0A48-37B0-984B-9D70-F4CA7EE8A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3" name="AutoShape 185">
              <a:extLst>
                <a:ext uri="{FF2B5EF4-FFF2-40B4-BE49-F238E27FC236}">
                  <a16:creationId xmlns:a16="http://schemas.microsoft.com/office/drawing/2014/main" id="{1DF08F1A-8088-4349-B9B6-80E5278DD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4" name="AutoShape 186">
              <a:extLst>
                <a:ext uri="{FF2B5EF4-FFF2-40B4-BE49-F238E27FC236}">
                  <a16:creationId xmlns:a16="http://schemas.microsoft.com/office/drawing/2014/main" id="{AB1FF07F-165E-5C42-A46F-20C492B2A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5" name="Oval 187">
              <a:extLst>
                <a:ext uri="{FF2B5EF4-FFF2-40B4-BE49-F238E27FC236}">
                  <a16:creationId xmlns:a16="http://schemas.microsoft.com/office/drawing/2014/main" id="{246533F9-312A-7949-B6A5-04845D405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6" name="Oval 188">
              <a:extLst>
                <a:ext uri="{FF2B5EF4-FFF2-40B4-BE49-F238E27FC236}">
                  <a16:creationId xmlns:a16="http://schemas.microsoft.com/office/drawing/2014/main" id="{97B4BE6D-9A58-6C4D-98DB-90F92956E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57" name="Oval 189">
              <a:extLst>
                <a:ext uri="{FF2B5EF4-FFF2-40B4-BE49-F238E27FC236}">
                  <a16:creationId xmlns:a16="http://schemas.microsoft.com/office/drawing/2014/main" id="{B4E35ECA-82AF-A74F-9E87-BC1C1318F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Rectangle 190">
              <a:extLst>
                <a:ext uri="{FF2B5EF4-FFF2-40B4-BE49-F238E27FC236}">
                  <a16:creationId xmlns:a16="http://schemas.microsoft.com/office/drawing/2014/main" id="{32338498-7D1E-F249-A1B6-782EAA13A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7" name="Group 224">
            <a:extLst>
              <a:ext uri="{FF2B5EF4-FFF2-40B4-BE49-F238E27FC236}">
                <a16:creationId xmlns:a16="http://schemas.microsoft.com/office/drawing/2014/main" id="{3B18C9CF-4DB3-9A45-9F2E-A9E7637C3843}"/>
              </a:ext>
            </a:extLst>
          </p:cNvPr>
          <p:cNvGrpSpPr>
            <a:grpSpLocks/>
          </p:cNvGrpSpPr>
          <p:nvPr/>
        </p:nvGrpSpPr>
        <p:grpSpPr bwMode="auto">
          <a:xfrm>
            <a:off x="8560790" y="1753280"/>
            <a:ext cx="390525" cy="641350"/>
            <a:chOff x="4140" y="429"/>
            <a:chExt cx="1425" cy="2396"/>
          </a:xfrm>
        </p:grpSpPr>
        <p:sp>
          <p:nvSpPr>
            <p:cNvPr id="268" name="Freeform 225">
              <a:extLst>
                <a:ext uri="{FF2B5EF4-FFF2-40B4-BE49-F238E27FC236}">
                  <a16:creationId xmlns:a16="http://schemas.microsoft.com/office/drawing/2014/main" id="{8DE393E4-949F-5A47-87BC-37206D62F2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9" name="Rectangle 226">
              <a:extLst>
                <a:ext uri="{FF2B5EF4-FFF2-40B4-BE49-F238E27FC236}">
                  <a16:creationId xmlns:a16="http://schemas.microsoft.com/office/drawing/2014/main" id="{45AACD86-831C-7245-8042-0EAB26DDB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0" name="Freeform 227">
              <a:extLst>
                <a:ext uri="{FF2B5EF4-FFF2-40B4-BE49-F238E27FC236}">
                  <a16:creationId xmlns:a16="http://schemas.microsoft.com/office/drawing/2014/main" id="{641EE52D-59FB-874A-8BE7-992D8AB38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1" name="Freeform 228">
              <a:extLst>
                <a:ext uri="{FF2B5EF4-FFF2-40B4-BE49-F238E27FC236}">
                  <a16:creationId xmlns:a16="http://schemas.microsoft.com/office/drawing/2014/main" id="{745C23B7-E3E7-3244-8E92-2A519BCE4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2" name="Rectangle 229">
              <a:extLst>
                <a:ext uri="{FF2B5EF4-FFF2-40B4-BE49-F238E27FC236}">
                  <a16:creationId xmlns:a16="http://schemas.microsoft.com/office/drawing/2014/main" id="{53F1BA0D-FC18-8F40-B02C-5E5456D41E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3" name="Group 230">
              <a:extLst>
                <a:ext uri="{FF2B5EF4-FFF2-40B4-BE49-F238E27FC236}">
                  <a16:creationId xmlns:a16="http://schemas.microsoft.com/office/drawing/2014/main" id="{3BF69572-674D-F94F-AF3E-6360341D09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98" name="AutoShape 231">
                <a:extLst>
                  <a:ext uri="{FF2B5EF4-FFF2-40B4-BE49-F238E27FC236}">
                    <a16:creationId xmlns:a16="http://schemas.microsoft.com/office/drawing/2014/main" id="{7A3AB9B6-ED54-E640-B88B-6349E66AE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9" name="AutoShape 232">
                <a:extLst>
                  <a:ext uri="{FF2B5EF4-FFF2-40B4-BE49-F238E27FC236}">
                    <a16:creationId xmlns:a16="http://schemas.microsoft.com/office/drawing/2014/main" id="{41885595-164B-5A49-B50B-F202B13B92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4" name="Rectangle 233">
              <a:extLst>
                <a:ext uri="{FF2B5EF4-FFF2-40B4-BE49-F238E27FC236}">
                  <a16:creationId xmlns:a16="http://schemas.microsoft.com/office/drawing/2014/main" id="{1DC47301-CD25-F742-824D-B95A7C78B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5" name="Group 234">
              <a:extLst>
                <a:ext uri="{FF2B5EF4-FFF2-40B4-BE49-F238E27FC236}">
                  <a16:creationId xmlns:a16="http://schemas.microsoft.com/office/drawing/2014/main" id="{ABA534FC-B51E-B545-893B-AA2D360102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96" name="AutoShape 235">
                <a:extLst>
                  <a:ext uri="{FF2B5EF4-FFF2-40B4-BE49-F238E27FC236}">
                    <a16:creationId xmlns:a16="http://schemas.microsoft.com/office/drawing/2014/main" id="{BF3259EE-323A-7B46-BA99-522FF89692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7" name="AutoShape 236">
                <a:extLst>
                  <a:ext uri="{FF2B5EF4-FFF2-40B4-BE49-F238E27FC236}">
                    <a16:creationId xmlns:a16="http://schemas.microsoft.com/office/drawing/2014/main" id="{773E2C4B-E371-8849-89F1-CB3467DA22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6" name="Rectangle 237">
              <a:extLst>
                <a:ext uri="{FF2B5EF4-FFF2-40B4-BE49-F238E27FC236}">
                  <a16:creationId xmlns:a16="http://schemas.microsoft.com/office/drawing/2014/main" id="{65673162-6BD4-FA45-AD7B-65DCCB503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Rectangle 238">
              <a:extLst>
                <a:ext uri="{FF2B5EF4-FFF2-40B4-BE49-F238E27FC236}">
                  <a16:creationId xmlns:a16="http://schemas.microsoft.com/office/drawing/2014/main" id="{EB910949-1BF1-2E43-B251-2F5F6D2BC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8" name="Group 239">
              <a:extLst>
                <a:ext uri="{FF2B5EF4-FFF2-40B4-BE49-F238E27FC236}">
                  <a16:creationId xmlns:a16="http://schemas.microsoft.com/office/drawing/2014/main" id="{4ABA0E07-42B3-1C4B-A798-B21B741191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94" name="AutoShape 240">
                <a:extLst>
                  <a:ext uri="{FF2B5EF4-FFF2-40B4-BE49-F238E27FC236}">
                    <a16:creationId xmlns:a16="http://schemas.microsoft.com/office/drawing/2014/main" id="{833C6885-DF73-A44C-AF35-71696A344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5" name="AutoShape 241">
                <a:extLst>
                  <a:ext uri="{FF2B5EF4-FFF2-40B4-BE49-F238E27FC236}">
                    <a16:creationId xmlns:a16="http://schemas.microsoft.com/office/drawing/2014/main" id="{00053469-6811-F146-9041-0E9ADB93CF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9" name="Freeform 242">
              <a:extLst>
                <a:ext uri="{FF2B5EF4-FFF2-40B4-BE49-F238E27FC236}">
                  <a16:creationId xmlns:a16="http://schemas.microsoft.com/office/drawing/2014/main" id="{E93D621E-BD5E-4F41-B292-1FF1D9FD9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80" name="Group 243">
              <a:extLst>
                <a:ext uri="{FF2B5EF4-FFF2-40B4-BE49-F238E27FC236}">
                  <a16:creationId xmlns:a16="http://schemas.microsoft.com/office/drawing/2014/main" id="{D2A4152B-1063-5545-AFB4-C764C9E38D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92" name="AutoShape 244">
                <a:extLst>
                  <a:ext uri="{FF2B5EF4-FFF2-40B4-BE49-F238E27FC236}">
                    <a16:creationId xmlns:a16="http://schemas.microsoft.com/office/drawing/2014/main" id="{91B44A19-99F5-3246-B452-E6974C3882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3" name="AutoShape 245">
                <a:extLst>
                  <a:ext uri="{FF2B5EF4-FFF2-40B4-BE49-F238E27FC236}">
                    <a16:creationId xmlns:a16="http://schemas.microsoft.com/office/drawing/2014/main" id="{CE7C0896-4736-8044-B538-F09471477D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81" name="Rectangle 246">
              <a:extLst>
                <a:ext uri="{FF2B5EF4-FFF2-40B4-BE49-F238E27FC236}">
                  <a16:creationId xmlns:a16="http://schemas.microsoft.com/office/drawing/2014/main" id="{1D6C13B5-BF0F-554A-9CE4-3F075F937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2" name="Freeform 247">
              <a:extLst>
                <a:ext uri="{FF2B5EF4-FFF2-40B4-BE49-F238E27FC236}">
                  <a16:creationId xmlns:a16="http://schemas.microsoft.com/office/drawing/2014/main" id="{0F3FBF0A-EAF4-094D-A874-245423181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3" name="Freeform 248">
              <a:extLst>
                <a:ext uri="{FF2B5EF4-FFF2-40B4-BE49-F238E27FC236}">
                  <a16:creationId xmlns:a16="http://schemas.microsoft.com/office/drawing/2014/main" id="{EC002925-BD09-784A-9BB4-2AD299FA2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4" name="Oval 249">
              <a:extLst>
                <a:ext uri="{FF2B5EF4-FFF2-40B4-BE49-F238E27FC236}">
                  <a16:creationId xmlns:a16="http://schemas.microsoft.com/office/drawing/2014/main" id="{21E73907-A81B-E540-A734-D855A8052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5" name="Freeform 250">
              <a:extLst>
                <a:ext uri="{FF2B5EF4-FFF2-40B4-BE49-F238E27FC236}">
                  <a16:creationId xmlns:a16="http://schemas.microsoft.com/office/drawing/2014/main" id="{7B38A468-42E7-2245-BA7B-6136A4486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6" name="AutoShape 251">
              <a:extLst>
                <a:ext uri="{FF2B5EF4-FFF2-40B4-BE49-F238E27FC236}">
                  <a16:creationId xmlns:a16="http://schemas.microsoft.com/office/drawing/2014/main" id="{F798831B-76D3-634B-A1D7-73487DB6F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7" name="AutoShape 252">
              <a:extLst>
                <a:ext uri="{FF2B5EF4-FFF2-40B4-BE49-F238E27FC236}">
                  <a16:creationId xmlns:a16="http://schemas.microsoft.com/office/drawing/2014/main" id="{93B2ADD1-628A-5B4D-960D-449954DF9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8" name="Oval 253">
              <a:extLst>
                <a:ext uri="{FF2B5EF4-FFF2-40B4-BE49-F238E27FC236}">
                  <a16:creationId xmlns:a16="http://schemas.microsoft.com/office/drawing/2014/main" id="{359740D7-3452-8745-AD4F-78F1EAE69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9" name="Oval 254">
              <a:extLst>
                <a:ext uri="{FF2B5EF4-FFF2-40B4-BE49-F238E27FC236}">
                  <a16:creationId xmlns:a16="http://schemas.microsoft.com/office/drawing/2014/main" id="{6953048C-3B45-C945-95BD-05D0D95F9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90" name="Oval 255">
              <a:extLst>
                <a:ext uri="{FF2B5EF4-FFF2-40B4-BE49-F238E27FC236}">
                  <a16:creationId xmlns:a16="http://schemas.microsoft.com/office/drawing/2014/main" id="{FCF3244C-B9E8-DF49-A3D0-C0D2140BA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1" name="Rectangle 256">
              <a:extLst>
                <a:ext uri="{FF2B5EF4-FFF2-40B4-BE49-F238E27FC236}">
                  <a16:creationId xmlns:a16="http://schemas.microsoft.com/office/drawing/2014/main" id="{66CCCCC0-CA45-934C-8FFC-B89439DE4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00" name="Group 257">
            <a:extLst>
              <a:ext uri="{FF2B5EF4-FFF2-40B4-BE49-F238E27FC236}">
                <a16:creationId xmlns:a16="http://schemas.microsoft.com/office/drawing/2014/main" id="{6D88D42C-B784-1546-97B0-1AA7D6A27EC3}"/>
              </a:ext>
            </a:extLst>
          </p:cNvPr>
          <p:cNvGrpSpPr>
            <a:grpSpLocks/>
          </p:cNvGrpSpPr>
          <p:nvPr/>
        </p:nvGrpSpPr>
        <p:grpSpPr bwMode="auto">
          <a:xfrm>
            <a:off x="9376765" y="3005818"/>
            <a:ext cx="390525" cy="641350"/>
            <a:chOff x="4140" y="429"/>
            <a:chExt cx="1425" cy="2396"/>
          </a:xfrm>
        </p:grpSpPr>
        <p:sp>
          <p:nvSpPr>
            <p:cNvPr id="301" name="Freeform 258">
              <a:extLst>
                <a:ext uri="{FF2B5EF4-FFF2-40B4-BE49-F238E27FC236}">
                  <a16:creationId xmlns:a16="http://schemas.microsoft.com/office/drawing/2014/main" id="{702EC307-F8E6-434D-B445-B2F47A942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259">
              <a:extLst>
                <a:ext uri="{FF2B5EF4-FFF2-40B4-BE49-F238E27FC236}">
                  <a16:creationId xmlns:a16="http://schemas.microsoft.com/office/drawing/2014/main" id="{07437252-B53D-9D40-813F-304E5CD00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3" name="Freeform 260">
              <a:extLst>
                <a:ext uri="{FF2B5EF4-FFF2-40B4-BE49-F238E27FC236}">
                  <a16:creationId xmlns:a16="http://schemas.microsoft.com/office/drawing/2014/main" id="{EC373583-A9BD-FC4E-A47E-4602AA39D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4" name="Freeform 261">
              <a:extLst>
                <a:ext uri="{FF2B5EF4-FFF2-40B4-BE49-F238E27FC236}">
                  <a16:creationId xmlns:a16="http://schemas.microsoft.com/office/drawing/2014/main" id="{D1E0B0A0-C834-9D4D-9DDD-D4222C181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5" name="Rectangle 262">
              <a:extLst>
                <a:ext uri="{FF2B5EF4-FFF2-40B4-BE49-F238E27FC236}">
                  <a16:creationId xmlns:a16="http://schemas.microsoft.com/office/drawing/2014/main" id="{B2DA4C56-6E4F-4F46-A99C-698FAADDB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6" name="Group 263">
              <a:extLst>
                <a:ext uri="{FF2B5EF4-FFF2-40B4-BE49-F238E27FC236}">
                  <a16:creationId xmlns:a16="http://schemas.microsoft.com/office/drawing/2014/main" id="{0476FEFE-2DC6-2148-99D9-A5C054B12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31" name="AutoShape 264">
                <a:extLst>
                  <a:ext uri="{FF2B5EF4-FFF2-40B4-BE49-F238E27FC236}">
                    <a16:creationId xmlns:a16="http://schemas.microsoft.com/office/drawing/2014/main" id="{81145D7E-D3D7-0D4C-A411-943EBD5AA0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2" name="AutoShape 265">
                <a:extLst>
                  <a:ext uri="{FF2B5EF4-FFF2-40B4-BE49-F238E27FC236}">
                    <a16:creationId xmlns:a16="http://schemas.microsoft.com/office/drawing/2014/main" id="{67891F44-03D3-CF47-86FB-FB0C31AF65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7" name="Rectangle 266">
              <a:extLst>
                <a:ext uri="{FF2B5EF4-FFF2-40B4-BE49-F238E27FC236}">
                  <a16:creationId xmlns:a16="http://schemas.microsoft.com/office/drawing/2014/main" id="{1D029B33-0C7B-864F-B801-978A4B8FD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8" name="Group 267">
              <a:extLst>
                <a:ext uri="{FF2B5EF4-FFF2-40B4-BE49-F238E27FC236}">
                  <a16:creationId xmlns:a16="http://schemas.microsoft.com/office/drawing/2014/main" id="{8A3352FE-9285-9E4C-BF29-D635003DF9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9" name="AutoShape 268">
                <a:extLst>
                  <a:ext uri="{FF2B5EF4-FFF2-40B4-BE49-F238E27FC236}">
                    <a16:creationId xmlns:a16="http://schemas.microsoft.com/office/drawing/2014/main" id="{CC6637ED-E66A-004E-AE38-F32E55EC54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0" name="AutoShape 269">
                <a:extLst>
                  <a:ext uri="{FF2B5EF4-FFF2-40B4-BE49-F238E27FC236}">
                    <a16:creationId xmlns:a16="http://schemas.microsoft.com/office/drawing/2014/main" id="{99FAA76E-7386-FC45-ACF1-30D129724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9" name="Rectangle 270">
              <a:extLst>
                <a:ext uri="{FF2B5EF4-FFF2-40B4-BE49-F238E27FC236}">
                  <a16:creationId xmlns:a16="http://schemas.microsoft.com/office/drawing/2014/main" id="{AFCC8C61-44F6-2242-8855-E7238EE55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Rectangle 271">
              <a:extLst>
                <a:ext uri="{FF2B5EF4-FFF2-40B4-BE49-F238E27FC236}">
                  <a16:creationId xmlns:a16="http://schemas.microsoft.com/office/drawing/2014/main" id="{5F416F68-F5C3-E047-86DD-2B69313C9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1" name="Group 272">
              <a:extLst>
                <a:ext uri="{FF2B5EF4-FFF2-40B4-BE49-F238E27FC236}">
                  <a16:creationId xmlns:a16="http://schemas.microsoft.com/office/drawing/2014/main" id="{63D616E2-37F9-FA41-93A3-EC867A9C9D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27" name="AutoShape 273">
                <a:extLst>
                  <a:ext uri="{FF2B5EF4-FFF2-40B4-BE49-F238E27FC236}">
                    <a16:creationId xmlns:a16="http://schemas.microsoft.com/office/drawing/2014/main" id="{666D6CE3-43E0-B641-9B47-80DA04FB01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8" name="AutoShape 274">
                <a:extLst>
                  <a:ext uri="{FF2B5EF4-FFF2-40B4-BE49-F238E27FC236}">
                    <a16:creationId xmlns:a16="http://schemas.microsoft.com/office/drawing/2014/main" id="{D94D4D24-3A62-4346-A4B0-AF4901D561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12" name="Freeform 275">
              <a:extLst>
                <a:ext uri="{FF2B5EF4-FFF2-40B4-BE49-F238E27FC236}">
                  <a16:creationId xmlns:a16="http://schemas.microsoft.com/office/drawing/2014/main" id="{5502E20D-D3F9-1445-AE1A-C5A9B7BBB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3" name="Group 276">
              <a:extLst>
                <a:ext uri="{FF2B5EF4-FFF2-40B4-BE49-F238E27FC236}">
                  <a16:creationId xmlns:a16="http://schemas.microsoft.com/office/drawing/2014/main" id="{88289607-2CB3-6846-972E-267A38967E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25" name="AutoShape 277">
                <a:extLst>
                  <a:ext uri="{FF2B5EF4-FFF2-40B4-BE49-F238E27FC236}">
                    <a16:creationId xmlns:a16="http://schemas.microsoft.com/office/drawing/2014/main" id="{4D384432-D7DC-704B-9036-8E7B3A2934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6" name="AutoShape 278">
                <a:extLst>
                  <a:ext uri="{FF2B5EF4-FFF2-40B4-BE49-F238E27FC236}">
                    <a16:creationId xmlns:a16="http://schemas.microsoft.com/office/drawing/2014/main" id="{D9C2A3A1-5244-A14A-8274-DFC1383E58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14" name="Rectangle 279">
              <a:extLst>
                <a:ext uri="{FF2B5EF4-FFF2-40B4-BE49-F238E27FC236}">
                  <a16:creationId xmlns:a16="http://schemas.microsoft.com/office/drawing/2014/main" id="{B1F8DD2B-C939-2C43-B20B-2B1AD74D4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5" name="Freeform 280">
              <a:extLst>
                <a:ext uri="{FF2B5EF4-FFF2-40B4-BE49-F238E27FC236}">
                  <a16:creationId xmlns:a16="http://schemas.microsoft.com/office/drawing/2014/main" id="{F16DC7B2-4515-5543-B12A-6165D6E2E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Freeform 281">
              <a:extLst>
                <a:ext uri="{FF2B5EF4-FFF2-40B4-BE49-F238E27FC236}">
                  <a16:creationId xmlns:a16="http://schemas.microsoft.com/office/drawing/2014/main" id="{004AE2FC-7231-E64A-BEBE-ADCA412A0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7" name="Oval 282">
              <a:extLst>
                <a:ext uri="{FF2B5EF4-FFF2-40B4-BE49-F238E27FC236}">
                  <a16:creationId xmlns:a16="http://schemas.microsoft.com/office/drawing/2014/main" id="{5A6BAD53-D0CF-DF42-803B-A591FE492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8" name="Freeform 283">
              <a:extLst>
                <a:ext uri="{FF2B5EF4-FFF2-40B4-BE49-F238E27FC236}">
                  <a16:creationId xmlns:a16="http://schemas.microsoft.com/office/drawing/2014/main" id="{37D6350E-473C-2F48-8443-85DB0303D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9" name="AutoShape 284">
              <a:extLst>
                <a:ext uri="{FF2B5EF4-FFF2-40B4-BE49-F238E27FC236}">
                  <a16:creationId xmlns:a16="http://schemas.microsoft.com/office/drawing/2014/main" id="{BC07E322-3708-CF4A-90EA-569EBA34D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AutoShape 285">
              <a:extLst>
                <a:ext uri="{FF2B5EF4-FFF2-40B4-BE49-F238E27FC236}">
                  <a16:creationId xmlns:a16="http://schemas.microsoft.com/office/drawing/2014/main" id="{13CC96E0-B269-1C41-8B8A-26D7B49CC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1" name="Oval 286">
              <a:extLst>
                <a:ext uri="{FF2B5EF4-FFF2-40B4-BE49-F238E27FC236}">
                  <a16:creationId xmlns:a16="http://schemas.microsoft.com/office/drawing/2014/main" id="{B778BB94-7A1A-2A49-A8EF-9BB086F52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Oval 287">
              <a:extLst>
                <a:ext uri="{FF2B5EF4-FFF2-40B4-BE49-F238E27FC236}">
                  <a16:creationId xmlns:a16="http://schemas.microsoft.com/office/drawing/2014/main" id="{F501B229-B7EF-6B41-9F50-357DBD633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23" name="Oval 288">
              <a:extLst>
                <a:ext uri="{FF2B5EF4-FFF2-40B4-BE49-F238E27FC236}">
                  <a16:creationId xmlns:a16="http://schemas.microsoft.com/office/drawing/2014/main" id="{B00DA42E-62A3-B349-A633-497D45856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4" name="Rectangle 289">
              <a:extLst>
                <a:ext uri="{FF2B5EF4-FFF2-40B4-BE49-F238E27FC236}">
                  <a16:creationId xmlns:a16="http://schemas.microsoft.com/office/drawing/2014/main" id="{238D91CD-38E8-4C4C-BE90-4508D42E5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68" name="Rectangle 67">
            <a:extLst>
              <a:ext uri="{FF2B5EF4-FFF2-40B4-BE49-F238E27FC236}">
                <a16:creationId xmlns:a16="http://schemas.microsoft.com/office/drawing/2014/main" id="{7033F479-89A5-0143-B345-2FFB1A7A7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552" y="2790656"/>
            <a:ext cx="3704869" cy="3241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Recursive query:</a:t>
            </a:r>
          </a:p>
          <a:p>
            <a:pPr marL="403225" marR="0" lvl="0" indent="-288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puts burden of name resolution on contacted name server</a:t>
            </a:r>
          </a:p>
          <a:p>
            <a:pPr marL="403225" marR="0" lvl="0" indent="-288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heavy load at upper levels of hierarchy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?</a:t>
            </a:r>
          </a:p>
        </p:txBody>
      </p:sp>
      <p:sp>
        <p:nvSpPr>
          <p:cNvPr id="167" name="Rectangle 67">
            <a:extLst>
              <a:ext uri="{FF2B5EF4-FFF2-40B4-BE49-F238E27FC236}">
                <a16:creationId xmlns:a16="http://schemas.microsoft.com/office/drawing/2014/main" id="{FC920AB6-C679-FB4D-8FB0-F8831E569238}"/>
              </a:ext>
            </a:extLst>
          </p:cNvPr>
          <p:cNvSpPr txBox="1">
            <a:spLocks noChangeArrowheads="1"/>
          </p:cNvSpPr>
          <p:nvPr/>
        </p:nvSpPr>
        <p:spPr>
          <a:xfrm>
            <a:off x="684201" y="1617338"/>
            <a:ext cx="5664200" cy="106113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Example: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at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engineering.nyu.edu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wants IP address for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gaia.cs.umass.edu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9" name="Slide Number Placeholder 2">
            <a:extLst>
              <a:ext uri="{FF2B5EF4-FFF2-40B4-BE49-F238E27FC236}">
                <a16:creationId xmlns:a16="http://schemas.microsoft.com/office/drawing/2014/main" id="{A8961CBE-FE41-8D44-9128-97B15DEF4B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024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" grpId="0"/>
      <p:bldP spid="184" grpId="0"/>
      <p:bldP spid="185" grpId="0"/>
      <p:bldP spid="186" grpId="0"/>
      <p:bldP spid="187" grpId="0"/>
      <p:bldP spid="188" grpId="0"/>
      <p:bldP spid="190" grpId="0"/>
      <p:bldP spid="191" grpId="0"/>
      <p:bldP spid="16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267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 records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D08588B2-F267-5D46-821D-D0D5A216E8F9}"/>
              </a:ext>
            </a:extLst>
          </p:cNvPr>
          <p:cNvSpPr txBox="1">
            <a:spLocks noChangeArrowheads="1"/>
          </p:cNvSpPr>
          <p:nvPr/>
        </p:nvSpPr>
        <p:spPr>
          <a:xfrm>
            <a:off x="1347787" y="1358900"/>
            <a:ext cx="9574213" cy="5143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distributed database storing resource records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(RR)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3AF614AE-5EFE-CD4F-98FF-6CA8EFEA6A47}"/>
              </a:ext>
            </a:extLst>
          </p:cNvPr>
          <p:cNvSpPr txBox="1">
            <a:spLocks noChangeArrowheads="1"/>
          </p:cNvSpPr>
          <p:nvPr/>
        </p:nvSpPr>
        <p:spPr>
          <a:xfrm>
            <a:off x="1080534" y="4388077"/>
            <a:ext cx="4547961" cy="19050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type=NS</a:t>
            </a:r>
          </a:p>
          <a:p>
            <a:pPr marL="346075" marR="0" lvl="1" indent="-28892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name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is domain (e.g.,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foo.com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)</a:t>
            </a:r>
          </a:p>
          <a:p>
            <a:pPr marL="346075" marR="0" lvl="1" indent="-28892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value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is hostname of authoritative name server for this domain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" name="Text Box 6">
            <a:extLst>
              <a:ext uri="{FF2B5EF4-FFF2-40B4-BE49-F238E27FC236}">
                <a16:creationId xmlns:a16="http://schemas.microsoft.com/office/drawing/2014/main" id="{D7409DB2-6342-834D-ABB2-A1B3DA3A9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9064" y="1860128"/>
            <a:ext cx="63325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RR format: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name, value, type,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ttl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)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5FF3C084-C8BC-1946-AC92-BACA78ED2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7384" y="2774950"/>
            <a:ext cx="3810000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type=A</a:t>
            </a:r>
          </a:p>
          <a:p>
            <a:pPr marL="403225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name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is hostname</a:t>
            </a:r>
          </a:p>
          <a:p>
            <a:pPr marL="403225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value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is IP address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ZapfDingbats" charset="2"/>
              <a:buChar char="r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133ECBD3-7BA2-AC4D-ADED-9C9DE52EA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718" y="2797175"/>
            <a:ext cx="6176282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type=CNAME</a:t>
            </a:r>
          </a:p>
          <a:p>
            <a:pPr marL="403225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name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is alias name for some “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canonical” (the real) name</a:t>
            </a:r>
          </a:p>
          <a:p>
            <a:pPr marL="403225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20000"/>
              <a:buFont typeface="Wingdings" pitchFamily="2" charset="2"/>
              <a:buChar char="§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www.ibm.com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is really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servereast.backup2.ibm.com</a:t>
            </a:r>
          </a:p>
          <a:p>
            <a:pPr marL="403225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value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is canonical name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ZapfDingbats" charset="2"/>
              <a:buChar char="r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B62233DC-6662-1844-8E5F-FDE264813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718" y="4968875"/>
            <a:ext cx="5287866" cy="130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type=MX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value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is name of SMTP mail server associated with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name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ZapfDingbats" charset="2"/>
              <a:buChar char="r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34497C-A235-8C46-8A1B-FDC4DB9ACC31}"/>
              </a:ext>
            </a:extLst>
          </p:cNvPr>
          <p:cNvSpPr/>
          <p:nvPr/>
        </p:nvSpPr>
        <p:spPr>
          <a:xfrm>
            <a:off x="1358900" y="1270000"/>
            <a:ext cx="9690100" cy="11557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E3AF190D-9153-4849-8D73-82E2FC3A4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211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8" grpId="0"/>
      <p:bldP spid="1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C9A6680-5220-C94B-B54B-8246CBDC5236}"/>
              </a:ext>
            </a:extLst>
          </p:cNvPr>
          <p:cNvGrpSpPr/>
          <p:nvPr/>
        </p:nvGrpSpPr>
        <p:grpSpPr>
          <a:xfrm>
            <a:off x="6272212" y="1937764"/>
            <a:ext cx="3671888" cy="4505326"/>
            <a:chOff x="6272212" y="1937764"/>
            <a:chExt cx="3671888" cy="4505326"/>
          </a:xfrm>
        </p:grpSpPr>
        <p:sp>
          <p:nvSpPr>
            <p:cNvPr id="20" name="Rectangle 12">
              <a:extLst>
                <a:ext uri="{FF2B5EF4-FFF2-40B4-BE49-F238E27FC236}">
                  <a16:creationId xmlns:a16="http://schemas.microsoft.com/office/drawing/2014/main" id="{99BE727C-D65D-1B40-96AC-483DEC4F5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7612" y="2339402"/>
              <a:ext cx="3614738" cy="41036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sx="101000" sy="101000" algn="bl" rotWithShape="0">
                <a:srgbClr val="0000A3">
                  <a:alpha val="40000"/>
                </a:srgbClr>
              </a:outerShdw>
            </a:effec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" name="Line 13">
              <a:extLst>
                <a:ext uri="{FF2B5EF4-FFF2-40B4-BE49-F238E27FC236}">
                  <a16:creationId xmlns:a16="http://schemas.microsoft.com/office/drawing/2014/main" id="{D3137C12-F806-3641-A910-12D839D308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57668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Line 14">
              <a:extLst>
                <a:ext uri="{FF2B5EF4-FFF2-40B4-BE49-F238E27FC236}">
                  <a16:creationId xmlns:a16="http://schemas.microsoft.com/office/drawing/2014/main" id="{EDBF86F0-1464-CB44-8885-0806AB78A6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7612" y="50810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Line 15">
              <a:extLst>
                <a:ext uri="{FF2B5EF4-FFF2-40B4-BE49-F238E27FC236}">
                  <a16:creationId xmlns:a16="http://schemas.microsoft.com/office/drawing/2014/main" id="{B63A2FA5-43E4-954D-9AB5-1D874BF6FD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43952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AAF4D57F-AE3F-9647-BE59-19E830D1D2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372052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Line 17">
              <a:extLst>
                <a:ext uri="{FF2B5EF4-FFF2-40B4-BE49-F238E27FC236}">
                  <a16:creationId xmlns:a16="http://schemas.microsoft.com/office/drawing/2014/main" id="{679A37C6-A060-1A4E-9044-88577B96F0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4912" y="326332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Line 18">
              <a:extLst>
                <a:ext uri="{FF2B5EF4-FFF2-40B4-BE49-F238E27FC236}">
                  <a16:creationId xmlns:a16="http://schemas.microsoft.com/office/drawing/2014/main" id="{673541D1-57E3-2945-9429-F011927643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2212" y="281247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Line 19">
              <a:extLst>
                <a:ext uri="{FF2B5EF4-FFF2-40B4-BE49-F238E27FC236}">
                  <a16:creationId xmlns:a16="http://schemas.microsoft.com/office/drawing/2014/main" id="{54CFADCD-AE37-1644-BF88-67FE47DB3E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4187" y="2350514"/>
              <a:ext cx="3175" cy="13604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Text Box 20">
              <a:extLst>
                <a:ext uri="{FF2B5EF4-FFF2-40B4-BE49-F238E27FC236}">
                  <a16:creationId xmlns:a16="http://schemas.microsoft.com/office/drawing/2014/main" id="{3D1A7AB7-6B0B-CF47-A475-00A1549B5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2087" y="2410839"/>
              <a:ext cx="13112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identification</a:t>
              </a:r>
            </a:p>
          </p:txBody>
        </p:sp>
        <p:sp>
          <p:nvSpPr>
            <p:cNvPr id="29" name="Text Box 21">
              <a:extLst>
                <a:ext uri="{FF2B5EF4-FFF2-40B4-BE49-F238E27FC236}">
                  <a16:creationId xmlns:a16="http://schemas.microsoft.com/office/drawing/2014/main" id="{F6CD8852-97C9-AA40-BE0D-939C3F2037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66162" y="2410839"/>
              <a:ext cx="6127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flags</a:t>
              </a:r>
            </a:p>
          </p:txBody>
        </p:sp>
        <p:sp>
          <p:nvSpPr>
            <p:cNvPr id="30" name="Text Box 22">
              <a:extLst>
                <a:ext uri="{FF2B5EF4-FFF2-40B4-BE49-F238E27FC236}">
                  <a16:creationId xmlns:a16="http://schemas.microsoft.com/office/drawing/2014/main" id="{8E843694-5A82-3146-BF88-2166E2F008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3837" y="2868039"/>
              <a:ext cx="12223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questions</a:t>
              </a:r>
            </a:p>
          </p:txBody>
        </p:sp>
        <p:sp>
          <p:nvSpPr>
            <p:cNvPr id="31" name="Text Box 23">
              <a:extLst>
                <a:ext uri="{FF2B5EF4-FFF2-40B4-BE49-F238E27FC236}">
                  <a16:creationId xmlns:a16="http://schemas.microsoft.com/office/drawing/2014/main" id="{647BB3F6-ABB6-7745-BEE2-09BC405C08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57950" y="3879277"/>
              <a:ext cx="32781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questions (variable # of questions)</a:t>
              </a:r>
            </a:p>
          </p:txBody>
        </p:sp>
        <p:sp>
          <p:nvSpPr>
            <p:cNvPr id="32" name="Text Box 26">
              <a:extLst>
                <a:ext uri="{FF2B5EF4-FFF2-40B4-BE49-F238E27FC236}">
                  <a16:creationId xmlns:a16="http://schemas.microsoft.com/office/drawing/2014/main" id="{43C35098-F1D5-F844-AD59-9E1AB2E6B0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7687" y="3323652"/>
              <a:ext cx="16716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additional RRs</a:t>
              </a:r>
            </a:p>
          </p:txBody>
        </p:sp>
        <p:sp>
          <p:nvSpPr>
            <p:cNvPr id="33" name="Text Box 27">
              <a:extLst>
                <a:ext uri="{FF2B5EF4-FFF2-40B4-BE49-F238E27FC236}">
                  <a16:creationId xmlns:a16="http://schemas.microsoft.com/office/drawing/2014/main" id="{C77DED5D-F85E-BD49-A1EA-E279AC50D9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5087" y="3325239"/>
              <a:ext cx="15843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authority RRs</a:t>
              </a:r>
            </a:p>
          </p:txBody>
        </p:sp>
        <p:sp>
          <p:nvSpPr>
            <p:cNvPr id="34" name="Text Box 28">
              <a:extLst>
                <a:ext uri="{FF2B5EF4-FFF2-40B4-BE49-F238E27FC236}">
                  <a16:creationId xmlns:a16="http://schemas.microsoft.com/office/drawing/2014/main" id="{570DB478-D786-3F43-96D9-4A3EFE52D1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6112" y="2877564"/>
              <a:ext cx="14589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answer RRs</a:t>
              </a:r>
            </a:p>
          </p:txBody>
        </p:sp>
        <p:sp>
          <p:nvSpPr>
            <p:cNvPr id="35" name="Text Box 30">
              <a:extLst>
                <a:ext uri="{FF2B5EF4-FFF2-40B4-BE49-F238E27FC236}">
                  <a16:creationId xmlns:a16="http://schemas.microsoft.com/office/drawing/2014/main" id="{EC9CAD9A-2ACC-E841-964A-C51614A31D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5925" y="4563489"/>
              <a:ext cx="26908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answers (variable # of RRs)</a:t>
              </a:r>
            </a:p>
          </p:txBody>
        </p:sp>
        <p:sp>
          <p:nvSpPr>
            <p:cNvPr id="36" name="Text Box 31">
              <a:extLst>
                <a:ext uri="{FF2B5EF4-FFF2-40B4-BE49-F238E27FC236}">
                  <a16:creationId xmlns:a16="http://schemas.microsoft.com/office/drawing/2014/main" id="{C50AEEC2-E934-374F-AD10-414E9A36FC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6087" y="5249289"/>
              <a:ext cx="27146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authority (variable # of RRs)</a:t>
              </a:r>
            </a:p>
          </p:txBody>
        </p:sp>
        <p:sp>
          <p:nvSpPr>
            <p:cNvPr id="37" name="Text Box 32">
              <a:extLst>
                <a:ext uri="{FF2B5EF4-FFF2-40B4-BE49-F238E27FC236}">
                  <a16:creationId xmlns:a16="http://schemas.microsoft.com/office/drawing/2014/main" id="{0F454706-890A-194D-A8B9-1F027F5A53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2875" y="5916039"/>
              <a:ext cx="31861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additional info (variable # of RRs)</a:t>
              </a:r>
            </a:p>
          </p:txBody>
        </p:sp>
        <p:grpSp>
          <p:nvGrpSpPr>
            <p:cNvPr id="40" name="Group 60">
              <a:extLst>
                <a:ext uri="{FF2B5EF4-FFF2-40B4-BE49-F238E27FC236}">
                  <a16:creationId xmlns:a16="http://schemas.microsoft.com/office/drawing/2014/main" id="{B20DF2CE-5427-7642-BC04-9D36B08A46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02375" y="1937764"/>
              <a:ext cx="1747837" cy="274638"/>
              <a:chOff x="2691" y="1194"/>
              <a:chExt cx="1101" cy="173"/>
            </a:xfrm>
          </p:grpSpPr>
          <p:sp>
            <p:nvSpPr>
              <p:cNvPr id="41" name="Text Box 57">
                <a:extLst>
                  <a:ext uri="{FF2B5EF4-FFF2-40B4-BE49-F238E27FC236}">
                    <a16:creationId xmlns:a16="http://schemas.microsoft.com/office/drawing/2014/main" id="{4CC1EC8B-ED8A-534D-B8AB-0E3E394818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2 bytes</a:t>
                </a:r>
              </a:p>
            </p:txBody>
          </p:sp>
          <p:sp>
            <p:nvSpPr>
              <p:cNvPr id="42" name="Line 58">
                <a:extLst>
                  <a:ext uri="{FF2B5EF4-FFF2-40B4-BE49-F238E27FC236}">
                    <a16:creationId xmlns:a16="http://schemas.microsoft.com/office/drawing/2014/main" id="{FD720698-F5B3-5C47-A102-5E4786459A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5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Line 59">
                <a:extLst>
                  <a:ext uri="{FF2B5EF4-FFF2-40B4-BE49-F238E27FC236}">
                    <a16:creationId xmlns:a16="http://schemas.microsoft.com/office/drawing/2014/main" id="{5FE43354-E99E-6549-837E-529B4A967B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91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4" name="Group 61">
              <a:extLst>
                <a:ext uri="{FF2B5EF4-FFF2-40B4-BE49-F238E27FC236}">
                  <a16:creationId xmlns:a16="http://schemas.microsoft.com/office/drawing/2014/main" id="{7B6CBFB9-B999-324E-91C4-CB7BCE5D86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77200" y="1937764"/>
              <a:ext cx="1747837" cy="274638"/>
              <a:chOff x="2691" y="1194"/>
              <a:chExt cx="1101" cy="173"/>
            </a:xfrm>
          </p:grpSpPr>
          <p:sp>
            <p:nvSpPr>
              <p:cNvPr id="45" name="Text Box 62">
                <a:extLst>
                  <a:ext uri="{FF2B5EF4-FFF2-40B4-BE49-F238E27FC236}">
                    <a16:creationId xmlns:a16="http://schemas.microsoft.com/office/drawing/2014/main" id="{E2F0F997-6116-0C45-BA9F-CBA730A159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2 bytes</a:t>
                </a:r>
              </a:p>
            </p:txBody>
          </p:sp>
          <p:sp>
            <p:nvSpPr>
              <p:cNvPr id="46" name="Line 63">
                <a:extLst>
                  <a:ext uri="{FF2B5EF4-FFF2-40B4-BE49-F238E27FC236}">
                    <a16:creationId xmlns:a16="http://schemas.microsoft.com/office/drawing/2014/main" id="{17A912FD-E8A8-8442-8F53-5994F27165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5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Line 64">
                <a:extLst>
                  <a:ext uri="{FF2B5EF4-FFF2-40B4-BE49-F238E27FC236}">
                    <a16:creationId xmlns:a16="http://schemas.microsoft.com/office/drawing/2014/main" id="{07B7A39C-E852-2B4C-941E-0B488FF8CD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91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267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DNS protocol messages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D167590-D12C-F842-94F3-26CF0F3023F4}"/>
              </a:ext>
            </a:extLst>
          </p:cNvPr>
          <p:cNvSpPr txBox="1">
            <a:spLocks noChangeArrowheads="1"/>
          </p:cNvSpPr>
          <p:nvPr/>
        </p:nvSpPr>
        <p:spPr>
          <a:xfrm>
            <a:off x="693057" y="1391557"/>
            <a:ext cx="10393362" cy="5143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query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and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reply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messages, both have same 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format: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F978C79B-5602-8E43-829C-44002A5A2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7887" y="2394964"/>
            <a:ext cx="4688114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ZapfDingbat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message header:</a:t>
            </a:r>
          </a:p>
          <a:p>
            <a:pPr marL="227013" marR="0" lvl="0" indent="-2270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identification: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 16 bit # for query, reply to query uses same #</a:t>
            </a:r>
          </a:p>
          <a:p>
            <a:pPr marL="227013" marR="0" lvl="0" indent="-2270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flags:</a:t>
            </a:r>
          </a:p>
          <a:p>
            <a:pPr marL="460375" marR="0" lvl="1" indent="-2301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query or reply</a:t>
            </a:r>
          </a:p>
          <a:p>
            <a:pPr marL="460375" marR="0" lvl="1" indent="-2301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recursion desired </a:t>
            </a:r>
          </a:p>
          <a:p>
            <a:pPr marL="460375" marR="0" lvl="1" indent="-2301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recursion available</a:t>
            </a:r>
          </a:p>
          <a:p>
            <a:pPr marL="460375" marR="0" lvl="1" indent="-2301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reply is authoritative</a:t>
            </a:r>
          </a:p>
        </p:txBody>
      </p:sp>
      <p:sp>
        <p:nvSpPr>
          <p:cNvPr id="38" name="Line 34">
            <a:extLst>
              <a:ext uri="{FF2B5EF4-FFF2-40B4-BE49-F238E27FC236}">
                <a16:creationId xmlns:a16="http://schemas.microsoft.com/office/drawing/2014/main" id="{03A0FB20-73AE-C645-8115-85F6EEA5B5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10672" y="2610864"/>
            <a:ext cx="2902854" cy="295274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Line 35">
            <a:extLst>
              <a:ext uri="{FF2B5EF4-FFF2-40B4-BE49-F238E27FC236}">
                <a16:creationId xmlns:a16="http://schemas.microsoft.com/office/drawing/2014/main" id="{1A55A89B-1CD7-B54F-863D-E99720E03B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52675" y="2590227"/>
            <a:ext cx="6383337" cy="1208088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lide Number Placeholder 2">
            <a:extLst>
              <a:ext uri="{FF2B5EF4-FFF2-40B4-BE49-F238E27FC236}">
                <a16:creationId xmlns:a16="http://schemas.microsoft.com/office/drawing/2014/main" id="{B83050FC-315F-2544-B90A-1FF8E08E69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822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F3A966D3-2C53-7043-9726-8E5764BD36FD}"/>
              </a:ext>
            </a:extLst>
          </p:cNvPr>
          <p:cNvGrpSpPr/>
          <p:nvPr/>
        </p:nvGrpSpPr>
        <p:grpSpPr>
          <a:xfrm>
            <a:off x="6272212" y="1937764"/>
            <a:ext cx="3671888" cy="4505326"/>
            <a:chOff x="6272212" y="1937764"/>
            <a:chExt cx="3671888" cy="4505326"/>
          </a:xfrm>
        </p:grpSpPr>
        <p:sp>
          <p:nvSpPr>
            <p:cNvPr id="58" name="Rectangle 12">
              <a:extLst>
                <a:ext uri="{FF2B5EF4-FFF2-40B4-BE49-F238E27FC236}">
                  <a16:creationId xmlns:a16="http://schemas.microsoft.com/office/drawing/2014/main" id="{D3568E88-5955-424B-B8F5-A21359D5E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7612" y="2339402"/>
              <a:ext cx="3614738" cy="41036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sx="101000" sy="101000" algn="bl" rotWithShape="0">
                <a:srgbClr val="0000A3">
                  <a:alpha val="40000"/>
                </a:srgbClr>
              </a:outerShdw>
            </a:effec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9" name="Line 13">
              <a:extLst>
                <a:ext uri="{FF2B5EF4-FFF2-40B4-BE49-F238E27FC236}">
                  <a16:creationId xmlns:a16="http://schemas.microsoft.com/office/drawing/2014/main" id="{F1DAA21C-2CC0-F041-B1F7-E511608807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57668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Line 14">
              <a:extLst>
                <a:ext uri="{FF2B5EF4-FFF2-40B4-BE49-F238E27FC236}">
                  <a16:creationId xmlns:a16="http://schemas.microsoft.com/office/drawing/2014/main" id="{507E3301-3AAB-0340-A7F1-6C57515086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7612" y="50810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Line 15">
              <a:extLst>
                <a:ext uri="{FF2B5EF4-FFF2-40B4-BE49-F238E27FC236}">
                  <a16:creationId xmlns:a16="http://schemas.microsoft.com/office/drawing/2014/main" id="{C84DEA63-7944-AC4C-88AD-6817D39540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43952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Line 16">
              <a:extLst>
                <a:ext uri="{FF2B5EF4-FFF2-40B4-BE49-F238E27FC236}">
                  <a16:creationId xmlns:a16="http://schemas.microsoft.com/office/drawing/2014/main" id="{DC9B8E6D-9F7D-004C-98A3-75DEEEBD9A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372052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Line 17">
              <a:extLst>
                <a:ext uri="{FF2B5EF4-FFF2-40B4-BE49-F238E27FC236}">
                  <a16:creationId xmlns:a16="http://schemas.microsoft.com/office/drawing/2014/main" id="{306014BE-BC39-824E-9F78-D660CD2675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4912" y="326332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Line 18">
              <a:extLst>
                <a:ext uri="{FF2B5EF4-FFF2-40B4-BE49-F238E27FC236}">
                  <a16:creationId xmlns:a16="http://schemas.microsoft.com/office/drawing/2014/main" id="{A42C2C1E-84BD-9743-97E0-09CF9FCFF2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2212" y="281247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Line 19">
              <a:extLst>
                <a:ext uri="{FF2B5EF4-FFF2-40B4-BE49-F238E27FC236}">
                  <a16:creationId xmlns:a16="http://schemas.microsoft.com/office/drawing/2014/main" id="{A5708C43-6E7B-824A-980E-C5EB81FC21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4187" y="2350514"/>
              <a:ext cx="3175" cy="13604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Text Box 20">
              <a:extLst>
                <a:ext uri="{FF2B5EF4-FFF2-40B4-BE49-F238E27FC236}">
                  <a16:creationId xmlns:a16="http://schemas.microsoft.com/office/drawing/2014/main" id="{B5DFDF92-2319-2549-A363-2E65C12911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2087" y="2410839"/>
              <a:ext cx="13112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identification</a:t>
              </a:r>
            </a:p>
          </p:txBody>
        </p:sp>
        <p:sp>
          <p:nvSpPr>
            <p:cNvPr id="67" name="Text Box 21">
              <a:extLst>
                <a:ext uri="{FF2B5EF4-FFF2-40B4-BE49-F238E27FC236}">
                  <a16:creationId xmlns:a16="http://schemas.microsoft.com/office/drawing/2014/main" id="{D4E993B8-AE34-384B-8C59-1B56BB128D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66162" y="2410839"/>
              <a:ext cx="6127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flags</a:t>
              </a:r>
            </a:p>
          </p:txBody>
        </p:sp>
        <p:sp>
          <p:nvSpPr>
            <p:cNvPr id="68" name="Text Box 22">
              <a:extLst>
                <a:ext uri="{FF2B5EF4-FFF2-40B4-BE49-F238E27FC236}">
                  <a16:creationId xmlns:a16="http://schemas.microsoft.com/office/drawing/2014/main" id="{B3DF818C-F6C8-E14D-A46C-FD30630746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3837" y="2868039"/>
              <a:ext cx="12223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questions</a:t>
              </a:r>
            </a:p>
          </p:txBody>
        </p:sp>
        <p:sp>
          <p:nvSpPr>
            <p:cNvPr id="69" name="Text Box 23">
              <a:extLst>
                <a:ext uri="{FF2B5EF4-FFF2-40B4-BE49-F238E27FC236}">
                  <a16:creationId xmlns:a16="http://schemas.microsoft.com/office/drawing/2014/main" id="{9A6A9AC2-926A-8B4E-81B0-9CE0DD3BB5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57950" y="3879277"/>
              <a:ext cx="32781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questions (variable # of questions)</a:t>
              </a:r>
            </a:p>
          </p:txBody>
        </p:sp>
        <p:sp>
          <p:nvSpPr>
            <p:cNvPr id="70" name="Text Box 26">
              <a:extLst>
                <a:ext uri="{FF2B5EF4-FFF2-40B4-BE49-F238E27FC236}">
                  <a16:creationId xmlns:a16="http://schemas.microsoft.com/office/drawing/2014/main" id="{C9071FBC-5A74-7341-A63F-649340BD84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7687" y="3323652"/>
              <a:ext cx="16716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additional RRs</a:t>
              </a:r>
            </a:p>
          </p:txBody>
        </p:sp>
        <p:sp>
          <p:nvSpPr>
            <p:cNvPr id="71" name="Text Box 27">
              <a:extLst>
                <a:ext uri="{FF2B5EF4-FFF2-40B4-BE49-F238E27FC236}">
                  <a16:creationId xmlns:a16="http://schemas.microsoft.com/office/drawing/2014/main" id="{9513342D-3D82-2446-A7D3-28EDD5EAEE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5087" y="3325239"/>
              <a:ext cx="15843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authority RRs</a:t>
              </a:r>
            </a:p>
          </p:txBody>
        </p:sp>
        <p:sp>
          <p:nvSpPr>
            <p:cNvPr id="72" name="Text Box 28">
              <a:extLst>
                <a:ext uri="{FF2B5EF4-FFF2-40B4-BE49-F238E27FC236}">
                  <a16:creationId xmlns:a16="http://schemas.microsoft.com/office/drawing/2014/main" id="{83ED9871-C6FF-8644-98E4-EEE7A5BD02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6112" y="2877564"/>
              <a:ext cx="14589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answer RRs</a:t>
              </a:r>
            </a:p>
          </p:txBody>
        </p:sp>
        <p:sp>
          <p:nvSpPr>
            <p:cNvPr id="73" name="Text Box 30">
              <a:extLst>
                <a:ext uri="{FF2B5EF4-FFF2-40B4-BE49-F238E27FC236}">
                  <a16:creationId xmlns:a16="http://schemas.microsoft.com/office/drawing/2014/main" id="{646FFA4C-D2F4-804F-BB10-D2E1E711F5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5925" y="4563489"/>
              <a:ext cx="26908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answers (variable # of RRs)</a:t>
              </a:r>
            </a:p>
          </p:txBody>
        </p:sp>
        <p:sp>
          <p:nvSpPr>
            <p:cNvPr id="74" name="Text Box 31">
              <a:extLst>
                <a:ext uri="{FF2B5EF4-FFF2-40B4-BE49-F238E27FC236}">
                  <a16:creationId xmlns:a16="http://schemas.microsoft.com/office/drawing/2014/main" id="{F169C7FC-D0F8-9546-93C0-00F4E6E4B0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6087" y="5249289"/>
              <a:ext cx="27146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authority (variable # of RRs)</a:t>
              </a:r>
            </a:p>
          </p:txBody>
        </p:sp>
        <p:sp>
          <p:nvSpPr>
            <p:cNvPr id="75" name="Text Box 32">
              <a:extLst>
                <a:ext uri="{FF2B5EF4-FFF2-40B4-BE49-F238E27FC236}">
                  <a16:creationId xmlns:a16="http://schemas.microsoft.com/office/drawing/2014/main" id="{2A810C4D-9EF9-0B42-8366-C238D3FBAE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2875" y="5916039"/>
              <a:ext cx="31861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additional info (variable # of RRs)</a:t>
              </a:r>
            </a:p>
          </p:txBody>
        </p:sp>
        <p:grpSp>
          <p:nvGrpSpPr>
            <p:cNvPr id="76" name="Group 60">
              <a:extLst>
                <a:ext uri="{FF2B5EF4-FFF2-40B4-BE49-F238E27FC236}">
                  <a16:creationId xmlns:a16="http://schemas.microsoft.com/office/drawing/2014/main" id="{8BF3E406-CCE3-D64E-8AB4-D91149714F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02375" y="1937764"/>
              <a:ext cx="1747837" cy="274638"/>
              <a:chOff x="2691" y="1194"/>
              <a:chExt cx="1101" cy="173"/>
            </a:xfrm>
          </p:grpSpPr>
          <p:sp>
            <p:nvSpPr>
              <p:cNvPr id="81" name="Text Box 57">
                <a:extLst>
                  <a:ext uri="{FF2B5EF4-FFF2-40B4-BE49-F238E27FC236}">
                    <a16:creationId xmlns:a16="http://schemas.microsoft.com/office/drawing/2014/main" id="{C33F9937-2680-5C4C-811E-5F9E3D43BD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2 bytes</a:t>
                </a:r>
              </a:p>
            </p:txBody>
          </p:sp>
          <p:sp>
            <p:nvSpPr>
              <p:cNvPr id="82" name="Line 58">
                <a:extLst>
                  <a:ext uri="{FF2B5EF4-FFF2-40B4-BE49-F238E27FC236}">
                    <a16:creationId xmlns:a16="http://schemas.microsoft.com/office/drawing/2014/main" id="{B39B871F-A818-1B4E-A225-DA01D5EDAC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5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3" name="Line 59">
                <a:extLst>
                  <a:ext uri="{FF2B5EF4-FFF2-40B4-BE49-F238E27FC236}">
                    <a16:creationId xmlns:a16="http://schemas.microsoft.com/office/drawing/2014/main" id="{3CB8F9AE-D625-1D4A-8625-28F8772B9B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91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7" name="Group 61">
              <a:extLst>
                <a:ext uri="{FF2B5EF4-FFF2-40B4-BE49-F238E27FC236}">
                  <a16:creationId xmlns:a16="http://schemas.microsoft.com/office/drawing/2014/main" id="{711AFC78-9A4A-CD41-A49D-623142A481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77200" y="1937764"/>
              <a:ext cx="1747837" cy="274638"/>
              <a:chOff x="2691" y="1194"/>
              <a:chExt cx="1101" cy="173"/>
            </a:xfrm>
          </p:grpSpPr>
          <p:sp>
            <p:nvSpPr>
              <p:cNvPr id="78" name="Text Box 62">
                <a:extLst>
                  <a:ext uri="{FF2B5EF4-FFF2-40B4-BE49-F238E27FC236}">
                    <a16:creationId xmlns:a16="http://schemas.microsoft.com/office/drawing/2014/main" id="{D2686047-8DDE-AA4D-88A8-9F0670CBD0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2 bytes</a:t>
                </a:r>
              </a:p>
            </p:txBody>
          </p:sp>
          <p:sp>
            <p:nvSpPr>
              <p:cNvPr id="79" name="Line 63">
                <a:extLst>
                  <a:ext uri="{FF2B5EF4-FFF2-40B4-BE49-F238E27FC236}">
                    <a16:creationId xmlns:a16="http://schemas.microsoft.com/office/drawing/2014/main" id="{A93491FC-3FC2-BA4A-B5FC-8BFED42708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5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" name="Line 64">
                <a:extLst>
                  <a:ext uri="{FF2B5EF4-FFF2-40B4-BE49-F238E27FC236}">
                    <a16:creationId xmlns:a16="http://schemas.microsoft.com/office/drawing/2014/main" id="{B4EF32F5-CEE0-064C-98D1-0B2AED9C53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91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" name="Rectangle 3">
            <a:extLst>
              <a:ext uri="{FF2B5EF4-FFF2-40B4-BE49-F238E27FC236}">
                <a16:creationId xmlns:a16="http://schemas.microsoft.com/office/drawing/2014/main" id="{CD167590-D12C-F842-94F3-26CF0F3023F4}"/>
              </a:ext>
            </a:extLst>
          </p:cNvPr>
          <p:cNvSpPr txBox="1">
            <a:spLocks noChangeArrowheads="1"/>
          </p:cNvSpPr>
          <p:nvPr/>
        </p:nvSpPr>
        <p:spPr>
          <a:xfrm>
            <a:off x="693057" y="1391557"/>
            <a:ext cx="10393362" cy="5143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query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and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reply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messages, both have same 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format: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8" name="Text Box 4">
            <a:extLst>
              <a:ext uri="{FF2B5EF4-FFF2-40B4-BE49-F238E27FC236}">
                <a16:creationId xmlns:a16="http://schemas.microsoft.com/office/drawing/2014/main" id="{95042E94-C8A0-BE46-8EB4-39429E2BF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795" y="3882482"/>
            <a:ext cx="3970338" cy="409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name, type fields for a query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9" name="Text Box 5">
            <a:extLst>
              <a:ext uri="{FF2B5EF4-FFF2-40B4-BE49-F238E27FC236}">
                <a16:creationId xmlns:a16="http://schemas.microsoft.com/office/drawing/2014/main" id="{4E613433-F917-A147-AF5A-4DF4F76E7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138" y="4604794"/>
            <a:ext cx="4003170" cy="409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RRs in response to query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0" name="Text Box 6">
            <a:extLst>
              <a:ext uri="{FF2B5EF4-FFF2-40B4-BE49-F238E27FC236}">
                <a16:creationId xmlns:a16="http://schemas.microsoft.com/office/drawing/2014/main" id="{3FD623A6-A024-6347-B591-DAC5D82FD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715" y="5271771"/>
            <a:ext cx="4801281" cy="409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records for authoritative servers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1" name="Text Box 7">
            <a:extLst>
              <a:ext uri="{FF2B5EF4-FFF2-40B4-BE49-F238E27FC236}">
                <a16:creationId xmlns:a16="http://schemas.microsoft.com/office/drawing/2014/main" id="{4B8555F6-7100-944F-9974-2E826BBBD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371" y="5790401"/>
            <a:ext cx="4614409" cy="722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additional “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helpful”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info that may be used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2" name="Line 37">
            <a:extLst>
              <a:ext uri="{FF2B5EF4-FFF2-40B4-BE49-F238E27FC236}">
                <a16:creationId xmlns:a16="http://schemas.microsoft.com/office/drawing/2014/main" id="{F803F024-9C8E-164E-BC96-48776D3FA4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0475" y="6126704"/>
            <a:ext cx="1371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Line 38">
            <a:extLst>
              <a:ext uri="{FF2B5EF4-FFF2-40B4-BE49-F238E27FC236}">
                <a16:creationId xmlns:a16="http://schemas.microsoft.com/office/drawing/2014/main" id="{316EAAA0-F793-2043-BFB7-87E6DFAFF7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8413" y="5467891"/>
            <a:ext cx="1371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Line 39">
            <a:extLst>
              <a:ext uri="{FF2B5EF4-FFF2-40B4-BE49-F238E27FC236}">
                <a16:creationId xmlns:a16="http://schemas.microsoft.com/office/drawing/2014/main" id="{408447E0-07FB-1341-9B44-D1DA4C6774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86350" y="4809079"/>
            <a:ext cx="1371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Line 40">
            <a:extLst>
              <a:ext uri="{FF2B5EF4-FFF2-40B4-BE49-F238E27FC236}">
                <a16:creationId xmlns:a16="http://schemas.microsoft.com/office/drawing/2014/main" id="{F708B0A3-0C69-D745-B00F-2DDF2924D4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2063" y="4083591"/>
            <a:ext cx="1371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Title 1">
            <a:extLst>
              <a:ext uri="{FF2B5EF4-FFF2-40B4-BE49-F238E27FC236}">
                <a16:creationId xmlns:a16="http://schemas.microsoft.com/office/drawing/2014/main" id="{95E186ED-4245-C448-9822-1199EA93D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267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DNS protocol messages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39" name="Slide Number Placeholder 2">
            <a:extLst>
              <a:ext uri="{FF2B5EF4-FFF2-40B4-BE49-F238E27FC236}">
                <a16:creationId xmlns:a16="http://schemas.microsoft.com/office/drawing/2014/main" id="{C19D16D8-DC06-E546-AA51-6069613B4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310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50" grpId="0"/>
      <p:bldP spid="51" grpId="0"/>
      <p:bldP spid="52" grpId="0" animBg="1"/>
      <p:bldP spid="53" grpId="0" animBg="1"/>
      <p:bldP spid="54" grpId="0" animBg="1"/>
      <p:bldP spid="5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267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Getting your info into the DNS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56" name="Rectangle 4">
            <a:extLst>
              <a:ext uri="{FF2B5EF4-FFF2-40B4-BE49-F238E27FC236}">
                <a16:creationId xmlns:a16="http://schemas.microsoft.com/office/drawing/2014/main" id="{3216383A-5EC1-7E47-A0BE-F48A801236CE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404537"/>
            <a:ext cx="10253340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example: new startup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 Utopia”</a:t>
            </a:r>
          </a:p>
          <a:p>
            <a:pPr marL="352425" marR="0" lvl="0" indent="-295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register name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networkuptopia.com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at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 registrar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(e.g., Network Solutions)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provide names, IP addresses of authoritative name server (primary and secondary)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registrar inserts NS, A RRs into .com TLD server: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46355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 (</a:t>
            </a:r>
            <a:r>
              <a:rPr kumimoji="0" lang="en-US" alt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networkutopia.com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, dns1.networkutopia.com, NS)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 (dns1.networkutopia.com, 212.212.212.1, A)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ourier" pitchFamily="2" charset="0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95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create authoritative server locally with IP address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212.212.212.1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695325" marR="0" lvl="1" indent="-2952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type A record for www.networkuptopia.com</a:t>
            </a:r>
          </a:p>
          <a:p>
            <a:pPr marL="695325" marR="0" lvl="1" indent="-2952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type MX record for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networkutopia.com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7792EB6E-923E-9C45-A570-23DE9782A5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035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Caching DNS Information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167" name="Rectangle 3">
            <a:extLst>
              <a:ext uri="{FF2B5EF4-FFF2-40B4-BE49-F238E27FC236}">
                <a16:creationId xmlns:a16="http://schemas.microsoft.com/office/drawing/2014/main" id="{796C1A8B-325B-1A4B-BF89-EF3A65965833}"/>
              </a:ext>
            </a:extLst>
          </p:cNvPr>
          <p:cNvSpPr txBox="1">
            <a:spLocks noChangeArrowheads="1"/>
          </p:cNvSpPr>
          <p:nvPr/>
        </p:nvSpPr>
        <p:spPr>
          <a:xfrm>
            <a:off x="952952" y="1446555"/>
            <a:ext cx="10515600" cy="473392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95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once (any) name server learns mapping, it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caches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mapping, and i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mmediately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returns a cached mapping in response to a query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caching improves response time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cache entries timeout (disappear) after some time (TTL)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TLD servers typically cached in local name servers</a:t>
            </a:r>
          </a:p>
          <a:p>
            <a:pPr marL="352425" marR="0" lvl="0" indent="-295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cached entries may be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out-of-date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if named host changes IP address, may not be known Internet-wide until all TTLs expire!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best-effort name-to-address translation!</a:t>
            </a: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AF23161C-A7AE-1A48-A402-4FD497E92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491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267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DNS security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1829ECA-BDD6-AD44-8D36-9BB88442CDAB}"/>
              </a:ext>
            </a:extLst>
          </p:cNvPr>
          <p:cNvSpPr txBox="1">
            <a:spLocks/>
          </p:cNvSpPr>
          <p:nvPr/>
        </p:nvSpPr>
        <p:spPr>
          <a:xfrm>
            <a:off x="838200" y="1526094"/>
            <a:ext cx="5025571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2228B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DDoS attacks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bombard root servers with traffic</a:t>
            </a:r>
          </a:p>
          <a:p>
            <a:pPr marL="574675" marR="0" lvl="1" indent="-2270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not successful to date</a:t>
            </a:r>
          </a:p>
          <a:p>
            <a:pPr marL="574675" marR="0" lvl="1" indent="-2270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traffic filtering</a:t>
            </a:r>
          </a:p>
          <a:p>
            <a:pPr marL="574675" marR="0" lvl="1" indent="-2270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local DNS servers cache IPs of TLD servers, allowing root server bypass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bombard TLD servers</a:t>
            </a:r>
          </a:p>
          <a:p>
            <a:pPr marL="574675" marR="0" lvl="1" indent="-2270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potentially more dangerous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Comic Sans MS" panose="030F0902030302020204" pitchFamily="66" charset="0"/>
              <a:buAutoNum type="arabicPeriod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A84F48D-B139-BA49-B127-5134E112078B}"/>
              </a:ext>
            </a:extLst>
          </p:cNvPr>
          <p:cNvSpPr txBox="1">
            <a:spLocks/>
          </p:cNvSpPr>
          <p:nvPr/>
        </p:nvSpPr>
        <p:spPr bwMode="auto">
          <a:xfrm>
            <a:off x="6096000" y="1526094"/>
            <a:ext cx="4760686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14288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2D2DB9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2D2DB9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poofing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2D2DB9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attacks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intercept DNS queries, returning bogus replies</a:t>
            </a:r>
          </a:p>
          <a:p>
            <a:pPr marL="74295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DNS cache poisoning</a:t>
            </a:r>
          </a:p>
          <a:p>
            <a:pPr marL="74295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RFC 4033: DNSSEC authentication services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CEE8551A-CF21-2D4C-B81F-11CF85B7E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268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DNS walkthrough</a:t>
            </a:r>
          </a:p>
        </p:txBody>
      </p:sp>
      <p:pic>
        <p:nvPicPr>
          <p:cNvPr id="3379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939" y="1447800"/>
            <a:ext cx="8904287" cy="471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30867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DNS walkthrough</a:t>
            </a:r>
          </a:p>
        </p:txBody>
      </p:sp>
      <p:pic>
        <p:nvPicPr>
          <p:cNvPr id="3481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446214"/>
            <a:ext cx="8147050" cy="486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91032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DNS walkthrough</a:t>
            </a:r>
          </a:p>
        </p:txBody>
      </p:sp>
      <p:pic>
        <p:nvPicPr>
          <p:cNvPr id="3584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524001"/>
            <a:ext cx="8177213" cy="455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04429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DNS walkthrough</a:t>
            </a:r>
          </a:p>
        </p:txBody>
      </p:sp>
      <p:pic>
        <p:nvPicPr>
          <p:cNvPr id="3686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7018" y="1288901"/>
            <a:ext cx="7899546" cy="4973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37911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DNS walkthrough</a:t>
            </a:r>
          </a:p>
        </p:txBody>
      </p:sp>
      <p:pic>
        <p:nvPicPr>
          <p:cNvPr id="3789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1" y="1752601"/>
            <a:ext cx="7121525" cy="389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61874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DNS walkthrough</a:t>
            </a:r>
          </a:p>
        </p:txBody>
      </p:sp>
      <p:pic>
        <p:nvPicPr>
          <p:cNvPr id="389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600200"/>
            <a:ext cx="774065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85684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DNS walkthrough</a:t>
            </a:r>
          </a:p>
        </p:txBody>
      </p:sp>
      <p:pic>
        <p:nvPicPr>
          <p:cNvPr id="3993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1" y="1676401"/>
            <a:ext cx="6894513" cy="433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50531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DNS walkthrough</a:t>
            </a:r>
          </a:p>
        </p:txBody>
      </p:sp>
      <p:pic>
        <p:nvPicPr>
          <p:cNvPr id="4096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905000"/>
            <a:ext cx="7583488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40334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DNS walkthrough</a:t>
            </a:r>
          </a:p>
        </p:txBody>
      </p:sp>
      <p:pic>
        <p:nvPicPr>
          <p:cNvPr id="4198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057400"/>
            <a:ext cx="719455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65864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DNS walkthrough</a:t>
            </a:r>
          </a:p>
        </p:txBody>
      </p:sp>
      <p:pic>
        <p:nvPicPr>
          <p:cNvPr id="430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968500"/>
            <a:ext cx="7905750" cy="379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76931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DNS walkthrough</a:t>
            </a:r>
          </a:p>
        </p:txBody>
      </p:sp>
      <p:pic>
        <p:nvPicPr>
          <p:cNvPr id="4403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143001"/>
            <a:ext cx="7410450" cy="431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7538" y="5389563"/>
            <a:ext cx="5029200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61174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DNS walkthrough</a:t>
            </a:r>
          </a:p>
        </p:txBody>
      </p:sp>
      <p:pic>
        <p:nvPicPr>
          <p:cNvPr id="4505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600201"/>
            <a:ext cx="6116638" cy="421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82678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DNS walkthrough</a:t>
            </a:r>
          </a:p>
        </p:txBody>
      </p:sp>
      <p:pic>
        <p:nvPicPr>
          <p:cNvPr id="4608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524000"/>
            <a:ext cx="7850188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41469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DNS walkthrough</a:t>
            </a:r>
          </a:p>
        </p:txBody>
      </p:sp>
      <p:pic>
        <p:nvPicPr>
          <p:cNvPr id="4710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1" y="1447800"/>
            <a:ext cx="8029575" cy="472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9519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2827</Words>
  <Application>Microsoft Macintosh PowerPoint</Application>
  <PresentationFormat>Widescreen</PresentationFormat>
  <Paragraphs>589</Paragraphs>
  <Slides>49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63" baseType="lpstr">
      <vt:lpstr>ＭＳ Ｐゴシック</vt:lpstr>
      <vt:lpstr>Aptos</vt:lpstr>
      <vt:lpstr>Aptos Display</vt:lpstr>
      <vt:lpstr>Arial</vt:lpstr>
      <vt:lpstr>Calibri</vt:lpstr>
      <vt:lpstr>Comic Sans MS</vt:lpstr>
      <vt:lpstr>Courier</vt:lpstr>
      <vt:lpstr>Courier New</vt:lpstr>
      <vt:lpstr>Gill Sans MT</vt:lpstr>
      <vt:lpstr>Tahoma</vt:lpstr>
      <vt:lpstr>Times New Roman</vt:lpstr>
      <vt:lpstr>Wingdings</vt:lpstr>
      <vt:lpstr>ZapfDingbats</vt:lpstr>
      <vt:lpstr>Office Theme</vt:lpstr>
      <vt:lpstr>Application Layer: Overview</vt:lpstr>
      <vt:lpstr>FTP: the file transfer protocol</vt:lpstr>
      <vt:lpstr>FTP: separate control, data connections</vt:lpstr>
      <vt:lpstr>FTP commands, responses</vt:lpstr>
      <vt:lpstr>Electronic mail</vt:lpstr>
      <vt:lpstr>Electronic mail: mail servers</vt:lpstr>
      <vt:lpstr>Electronic Mail: SMTP [RFC 2821]</vt:lpstr>
      <vt:lpstr>Scenario: Alice sends message to Bob</vt:lpstr>
      <vt:lpstr>PowerPoint Presentation</vt:lpstr>
      <vt:lpstr>Sample SMTP interaction</vt:lpstr>
      <vt:lpstr>PowerPoint Presentation</vt:lpstr>
      <vt:lpstr>Try SMTP interaction for yourself:</vt:lpstr>
      <vt:lpstr>SMTP: final words</vt:lpstr>
      <vt:lpstr>Mail message format</vt:lpstr>
      <vt:lpstr>Mail access protocols</vt:lpstr>
      <vt:lpstr>POP3 protocol</vt:lpstr>
      <vt:lpstr>PowerPoint Presentation</vt:lpstr>
      <vt:lpstr>POP3 (more) and IMAP</vt:lpstr>
      <vt:lpstr>Application Layer: Overview</vt:lpstr>
      <vt:lpstr>DNS: Domain Name System</vt:lpstr>
      <vt:lpstr>DNS: services, structure</vt:lpstr>
      <vt:lpstr>Thinking about the DNS</vt:lpstr>
      <vt:lpstr>DNS: a distributed, hierarchical database</vt:lpstr>
      <vt:lpstr>DNS: root name servers</vt:lpstr>
      <vt:lpstr>DNS: root name servers</vt:lpstr>
      <vt:lpstr>Top-Level Domain, and authoritative servers</vt:lpstr>
      <vt:lpstr>Local DNS name servers</vt:lpstr>
      <vt:lpstr>DNS name resolution: iterated query</vt:lpstr>
      <vt:lpstr>DNS name resolution: recursive query</vt:lpstr>
      <vt:lpstr>DNS records</vt:lpstr>
      <vt:lpstr>DNS protocol messages</vt:lpstr>
      <vt:lpstr>DNS protocol messages</vt:lpstr>
      <vt:lpstr>Getting your info into the DNS</vt:lpstr>
      <vt:lpstr>Caching DNS Information</vt:lpstr>
      <vt:lpstr>DNS security</vt:lpstr>
      <vt:lpstr>DNS walkthrough</vt:lpstr>
      <vt:lpstr>DNS walkthrough</vt:lpstr>
      <vt:lpstr>DNS walkthrough</vt:lpstr>
      <vt:lpstr>DNS walkthrough</vt:lpstr>
      <vt:lpstr>DNS walkthrough</vt:lpstr>
      <vt:lpstr>DNS walkthrough</vt:lpstr>
      <vt:lpstr>DNS walkthrough</vt:lpstr>
      <vt:lpstr>DNS walkthrough</vt:lpstr>
      <vt:lpstr>DNS walkthrough</vt:lpstr>
      <vt:lpstr>DNS walkthrough</vt:lpstr>
      <vt:lpstr>DNS walkthrough</vt:lpstr>
      <vt:lpstr>DNS walkthrough</vt:lpstr>
      <vt:lpstr>DNS walkthrough</vt:lpstr>
      <vt:lpstr>DNS walkthrough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Zeeshan</dc:creator>
  <cp:lastModifiedBy>Ali Zeeshan</cp:lastModifiedBy>
  <cp:revision>1</cp:revision>
  <dcterms:created xsi:type="dcterms:W3CDTF">2025-09-02T04:31:40Z</dcterms:created>
  <dcterms:modified xsi:type="dcterms:W3CDTF">2025-09-02T04:34:40Z</dcterms:modified>
</cp:coreProperties>
</file>