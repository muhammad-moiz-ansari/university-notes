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960" r:id="rId2"/>
    <p:sldId id="956" r:id="rId3"/>
    <p:sldId id="964" r:id="rId4"/>
    <p:sldId id="1047" r:id="rId5"/>
    <p:sldId id="1048" r:id="rId6"/>
    <p:sldId id="1153" r:id="rId7"/>
    <p:sldId id="1154" r:id="rId8"/>
    <p:sldId id="1086" r:id="rId9"/>
    <p:sldId id="1049" r:id="rId10"/>
    <p:sldId id="1041" r:id="rId11"/>
    <p:sldId id="1155" r:id="rId12"/>
    <p:sldId id="1156" r:id="rId13"/>
    <p:sldId id="1157" r:id="rId14"/>
    <p:sldId id="1158" r:id="rId15"/>
    <p:sldId id="1159" r:id="rId16"/>
    <p:sldId id="1050" r:id="rId17"/>
    <p:sldId id="1051" r:id="rId18"/>
    <p:sldId id="1052" r:id="rId19"/>
    <p:sldId id="1053" r:id="rId20"/>
    <p:sldId id="1054" r:id="rId21"/>
    <p:sldId id="1055" r:id="rId22"/>
    <p:sldId id="1161" r:id="rId23"/>
    <p:sldId id="1162" r:id="rId24"/>
    <p:sldId id="1163" r:id="rId25"/>
    <p:sldId id="1164" r:id="rId26"/>
    <p:sldId id="1165" r:id="rId27"/>
    <p:sldId id="1166" r:id="rId28"/>
    <p:sldId id="1167" r:id="rId29"/>
    <p:sldId id="1168" r:id="rId30"/>
    <p:sldId id="1169" r:id="rId31"/>
    <p:sldId id="1170" r:id="rId32"/>
    <p:sldId id="1171" r:id="rId33"/>
    <p:sldId id="1160" r:id="rId34"/>
    <p:sldId id="1172" r:id="rId35"/>
    <p:sldId id="117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F3C0D-8E37-4983-8A3D-DBBA1F30532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CF282-C1A7-4B91-B3AD-A600522AC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54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added new  8</a:t>
            </a:r>
            <a:r>
              <a:rPr lang="en-US" baseline="30000" dirty="0"/>
              <a:t>th</a:t>
            </a:r>
            <a:r>
              <a:rPr lang="en-US" dirty="0"/>
              <a:t> edition material on QUIC, CUBIC, delay-based congestion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3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3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logical communication , we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that from an application’s perspective, it is as if the hosts running the processes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 directly connected; in reality, the hosts may be on opposite sides of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planet, connected via numerous routers and a wide range of link types. Application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 use the logical communication provided by the transport layer to send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to each other, free from the worry of the details of the physical infrastructure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carry these messages.</a:t>
            </a:r>
          </a:p>
          <a:p>
            <a:endParaRPr lang="en-US" dirty="0"/>
          </a:p>
          <a:p>
            <a:r>
              <a:rPr lang="en-US" dirty="0"/>
              <a:t>Let’s look at each of these three (logical communications, actions,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214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336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928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19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354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87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8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1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182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717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435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01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282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333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462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143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59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794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175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992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RFC – </a:t>
            </a:r>
            <a:r>
              <a:rPr lang="en-US"/>
              <a:t>it’s only 2.5 pages!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093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690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155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5069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5720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004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230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1426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748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341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430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4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EBCA-0EE2-960C-D51F-AD3B721FA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96539-C168-9830-6A85-14313E85E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A310C-A0A6-AF29-F071-8F662CD9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FDFE-1B90-737F-ABEC-8D6A3B64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FCB9A-6A1D-36AA-B2B5-A6821E55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8FFA-E5AE-3A5E-0830-DF493E31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22A0-D89E-E7D8-9E39-C2E5CD4EF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C766-AAF7-0F68-573A-57B9B30E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4850E-14A7-F5D0-B2BD-0BBD1FD1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302FC-72A7-2B75-5E0F-D4F3F2CD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A843-D788-4B91-7A3F-CF1D59D5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4135A-2009-C572-DEBE-C9F3A1BF3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67BD2-D0B5-B549-FE42-857669D5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80757-D8AB-CC63-1E2A-2C76D401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1B68B-3E15-88DF-FD32-047BD850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3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4408-4188-B0B9-EE33-636A92DE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50825-1ECD-8D08-442E-37D13D5B6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96D77-85F1-1746-9A89-5E4DE9A0B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23A2E-D0DC-21E5-9D76-3042D458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D7CE5-0D98-C6D2-CB47-4964D0CF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43CE7-1B7E-5146-047C-BDB2F664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3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D8B5-1B87-FDD5-2339-45494ECF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866CB-078D-5060-1AA4-B2D24F683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41611-4932-1454-B070-DB8CAF18E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5744E-C6EA-C981-7441-1CDBB8750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4EEB4-829E-C4C1-5703-CE8C86000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88826-1628-6EF3-4DB0-28DF3027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0C343-2738-B526-7233-29AED93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D3EFC-CF0C-7BBB-87BF-12049BD1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8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9664-8EFC-0295-3FD9-75C09190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B4498-409E-DAEC-E3C9-886F4739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0C67C-35EC-85A0-BD6D-34084CAF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52581-353E-24D5-D4A5-48F06841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7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06723-CC58-8793-C7FE-E4FE8F33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B0CCF-C091-3017-202C-A60A7E94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7DBF9-98AC-57B4-0198-CBCFA8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63E4-32E0-4BBE-DE64-DE793994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B885-E77E-781E-4BC2-B9B6A52B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19B94-9B4A-BF1D-04E1-B029B67D2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148AB-52AD-C8F2-135D-EB96B408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516B7-649E-C114-520C-9ED8980F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CEDE9-C658-C2AA-1ED6-36002FDA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7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D2EB-A43D-8547-E5F7-0EDC9CE9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2C81D-87C8-699D-3543-108383EC6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DCFC5-40B6-0A33-C69C-0E2903AB4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1BF69-0B91-A4AA-11B1-658850AD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03E04-FD54-D503-FA96-02E355042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87EC4-6F12-8AA7-BE43-1777F14F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5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2CC4-ABBC-5126-491A-98772F2A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13607-AA24-F8B7-2DA1-BC9C040FA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B6739-1022-F32A-28B7-FC2D8863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E254E-7F7E-B120-C0CB-64A148FB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B95D2-88D7-E55D-F429-4CD44C62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17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889AB7-A6F6-F34C-19C3-F5BD723EC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D3A71-9334-F997-D8A0-3B445AAFF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911E4-76CF-26A2-7703-45E40528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2B5E-D32D-41E7-5A06-CF8AC55E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D0F8-8851-FF1D-9330-EEF64175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9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FF15D-778B-E755-2668-14A6E31F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C7522-2C46-D397-D674-0899A4D61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7530F-39EB-39AB-141F-E13A21ED5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D4F60-45F7-4A14-A72D-64A7385354F8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94BDF-EEFF-56B2-1A0D-BE42FB1C2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B41B-DFF0-A644-2E8F-513856FA7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0F0C4-38F3-46F3-8787-74905C092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21" y="2031546"/>
            <a:ext cx="505261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3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Transport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B45F3-5B52-354C-801C-007B1F521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537" y="968098"/>
            <a:ext cx="3803327" cy="475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overview</a:t>
            </a:r>
            <a:endParaRPr lang="en-US" sz="4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2ACD2-5E28-0840-A1E8-F9AB901FE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1763" y="1253331"/>
            <a:ext cx="4842088" cy="4351338"/>
          </a:xfrm>
        </p:spPr>
        <p:txBody>
          <a:bodyPr>
            <a:noAutofit/>
          </a:bodyPr>
          <a:lstStyle/>
          <a:p>
            <a:pPr marL="11113" indent="0">
              <a:buNone/>
            </a:pPr>
            <a:r>
              <a:rPr lang="en-US" altLang="en-US" sz="32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goal:</a:t>
            </a:r>
            <a: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00050" indent="-285750">
              <a:buFont typeface="Wingdings" charset="2"/>
              <a:buChar char="§"/>
              <a:defRPr/>
            </a:pPr>
            <a:r>
              <a:rPr lang="en-US" sz="3200" dirty="0"/>
              <a:t>understand principles behind transport layer services: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multiplexing, demultiplexing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reliable data transfer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flow control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congestion control</a:t>
            </a:r>
            <a:endParaRPr lang="en-US" sz="3200" dirty="0"/>
          </a:p>
          <a:p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68416" y="1815962"/>
            <a:ext cx="5994400" cy="4799013"/>
          </a:xfrm>
        </p:spPr>
        <p:txBody>
          <a:bodyPr>
            <a:normAutofit/>
          </a:bodyPr>
          <a:lstStyle/>
          <a:p>
            <a:pPr marL="457200" indent="-285750">
              <a:buFont typeface="Wingdings" charset="2"/>
              <a:buChar char="§"/>
              <a:defRPr/>
            </a:pPr>
            <a:r>
              <a:rPr lang="en-US" sz="3200" dirty="0"/>
              <a:t>learn about Internet transport layer protocols: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UDP: connectionless transport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TCP: connection-oriented reliable transport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TCP congestion control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084F46-D79C-3048-9B21-CEBC66650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9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</a:pPr>
            <a:r>
              <a:rPr lang="en-US" altLang="en-US" sz="3200" dirty="0"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Connection-oriented transport: TCP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Principles of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4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services and protocols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1DCC24-3FE7-E745-BC17-3886FB241095}"/>
              </a:ext>
            </a:extLst>
          </p:cNvPr>
          <p:cNvSpPr txBox="1">
            <a:spLocks noChangeArrowheads="1"/>
          </p:cNvSpPr>
          <p:nvPr/>
        </p:nvSpPr>
        <p:spPr>
          <a:xfrm>
            <a:off x="681218" y="1443831"/>
            <a:ext cx="5815703" cy="1621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 communication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between application processes running on different hosts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6406266" y="1372497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1C97D-3768-4242-9FE4-DEE44A32C22B}"/>
              </a:ext>
            </a:extLst>
          </p:cNvPr>
          <p:cNvGrpSpPr/>
          <p:nvPr/>
        </p:nvGrpSpPr>
        <p:grpSpPr>
          <a:xfrm>
            <a:off x="7680324" y="1137866"/>
            <a:ext cx="3489213" cy="4926975"/>
            <a:chOff x="7680324" y="1137866"/>
            <a:chExt cx="3489213" cy="4926975"/>
          </a:xfrm>
        </p:grpSpPr>
        <p:sp>
          <p:nvSpPr>
            <p:cNvPr id="463" name="Freeform 917">
              <a:extLst>
                <a:ext uri="{FF2B5EF4-FFF2-40B4-BE49-F238E27FC236}">
                  <a16:creationId xmlns:a16="http://schemas.microsoft.com/office/drawing/2014/main" id="{ADACC4C8-123A-0642-ADC2-DC6E1D927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5845" y="1190714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" name="Freeform 917">
              <a:extLst>
                <a:ext uri="{FF2B5EF4-FFF2-40B4-BE49-F238E27FC236}">
                  <a16:creationId xmlns:a16="http://schemas.microsoft.com/office/drawing/2014/main" id="{831FA212-BCFB-1F40-96A0-1C871E9E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4523" y="4775289"/>
              <a:ext cx="304800" cy="942975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D244DE-F453-1349-B665-A1EA38EE658E}"/>
                </a:ext>
              </a:extLst>
            </p:cNvPr>
            <p:cNvGrpSpPr/>
            <p:nvPr/>
          </p:nvGrpSpPr>
          <p:grpSpPr>
            <a:xfrm>
              <a:off x="7680324" y="1137866"/>
              <a:ext cx="3489213" cy="4926975"/>
              <a:chOff x="7680324" y="1137866"/>
              <a:chExt cx="3489213" cy="4926975"/>
            </a:xfrm>
          </p:grpSpPr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D57ABF6C-635D-8547-9D46-7AFB160876AA}"/>
                  </a:ext>
                </a:extLst>
              </p:cNvPr>
              <p:cNvSpPr/>
              <p:nvPr/>
            </p:nvSpPr>
            <p:spPr>
              <a:xfrm>
                <a:off x="7680324" y="1814171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2895CDC0-6EA0-564A-AFB6-E1E735A44F41}"/>
                  </a:ext>
                </a:extLst>
              </p:cNvPr>
              <p:cNvSpPr/>
              <p:nvPr/>
            </p:nvSpPr>
            <p:spPr>
              <a:xfrm>
                <a:off x="9823450" y="5554772"/>
                <a:ext cx="612303" cy="51006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CFEE881-E73C-8C4D-A5ED-9848E08F428B}"/>
                  </a:ext>
                </a:extLst>
              </p:cNvPr>
              <p:cNvGrpSpPr/>
              <p:nvPr/>
            </p:nvGrpSpPr>
            <p:grpSpPr>
              <a:xfrm>
                <a:off x="10288915" y="4742972"/>
                <a:ext cx="880622" cy="861812"/>
                <a:chOff x="10288915" y="4742972"/>
                <a:chExt cx="880622" cy="861812"/>
              </a:xfrm>
            </p:grpSpPr>
            <p:grpSp>
              <p:nvGrpSpPr>
                <p:cNvPr id="323" name="Group 950">
                  <a:extLst>
                    <a:ext uri="{FF2B5EF4-FFF2-40B4-BE49-F238E27FC236}">
                      <a16:creationId xmlns:a16="http://schemas.microsoft.com/office/drawing/2014/main" id="{BF16D25A-05F2-BD48-8851-FCCC3771B7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288915" y="5273951"/>
                  <a:ext cx="177192" cy="330833"/>
                  <a:chOff x="4140" y="429"/>
                  <a:chExt cx="1425" cy="2396"/>
                </a:xfrm>
              </p:grpSpPr>
              <p:sp>
                <p:nvSpPr>
                  <p:cNvPr id="324" name="Freeform 951">
                    <a:extLst>
                      <a:ext uri="{FF2B5EF4-FFF2-40B4-BE49-F238E27FC236}">
                        <a16:creationId xmlns:a16="http://schemas.microsoft.com/office/drawing/2014/main" id="{72C50429-8235-E440-B0F8-ADCFAC7485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5" name="Rectangle 952">
                    <a:extLst>
                      <a:ext uri="{FF2B5EF4-FFF2-40B4-BE49-F238E27FC236}">
                        <a16:creationId xmlns:a16="http://schemas.microsoft.com/office/drawing/2014/main" id="{C8289D20-20EF-CE4A-B82D-CC6F98B220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6" name="Freeform 953">
                    <a:extLst>
                      <a:ext uri="{FF2B5EF4-FFF2-40B4-BE49-F238E27FC236}">
                        <a16:creationId xmlns:a16="http://schemas.microsoft.com/office/drawing/2014/main" id="{512EE24C-2BC1-5A45-B541-28FAD55222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7" name="Freeform 954">
                    <a:extLst>
                      <a:ext uri="{FF2B5EF4-FFF2-40B4-BE49-F238E27FC236}">
                        <a16:creationId xmlns:a16="http://schemas.microsoft.com/office/drawing/2014/main" id="{CC26DF50-FD02-994D-80F7-4CD21CC31F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8" name="Rectangle 955">
                    <a:extLst>
                      <a:ext uri="{FF2B5EF4-FFF2-40B4-BE49-F238E27FC236}">
                        <a16:creationId xmlns:a16="http://schemas.microsoft.com/office/drawing/2014/main" id="{12D5F885-EEB6-EA49-8F16-8E65F7B568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29" name="Group 956">
                    <a:extLst>
                      <a:ext uri="{FF2B5EF4-FFF2-40B4-BE49-F238E27FC236}">
                        <a16:creationId xmlns:a16="http://schemas.microsoft.com/office/drawing/2014/main" id="{4819CF1A-CAA2-2445-BACA-6333C67700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354" name="AutoShape 957">
                      <a:extLst>
                        <a:ext uri="{FF2B5EF4-FFF2-40B4-BE49-F238E27FC236}">
                          <a16:creationId xmlns:a16="http://schemas.microsoft.com/office/drawing/2014/main" id="{F403CAA7-7575-5B45-9B26-74060E67ED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5" name="AutoShape 958">
                      <a:extLst>
                        <a:ext uri="{FF2B5EF4-FFF2-40B4-BE49-F238E27FC236}">
                          <a16:creationId xmlns:a16="http://schemas.microsoft.com/office/drawing/2014/main" id="{E7C03107-B3D4-E74B-8026-51FC5FB4C9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0" name="Rectangle 959">
                    <a:extLst>
                      <a:ext uri="{FF2B5EF4-FFF2-40B4-BE49-F238E27FC236}">
                        <a16:creationId xmlns:a16="http://schemas.microsoft.com/office/drawing/2014/main" id="{8C82FD14-8B3E-4C45-BA2F-1D536922BB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31" name="Group 960">
                    <a:extLst>
                      <a:ext uri="{FF2B5EF4-FFF2-40B4-BE49-F238E27FC236}">
                        <a16:creationId xmlns:a16="http://schemas.microsoft.com/office/drawing/2014/main" id="{848EC42A-6B0F-D74E-99AF-9287D4319D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352" name="AutoShape 961">
                      <a:extLst>
                        <a:ext uri="{FF2B5EF4-FFF2-40B4-BE49-F238E27FC236}">
                          <a16:creationId xmlns:a16="http://schemas.microsoft.com/office/drawing/2014/main" id="{5837F05C-C8FD-5D48-B46A-FAF46F8F6D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3" name="AutoShape 962">
                      <a:extLst>
                        <a:ext uri="{FF2B5EF4-FFF2-40B4-BE49-F238E27FC236}">
                          <a16:creationId xmlns:a16="http://schemas.microsoft.com/office/drawing/2014/main" id="{85884ACD-1556-C049-9208-BBD38D4BCBC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2" name="Rectangle 963">
                    <a:extLst>
                      <a:ext uri="{FF2B5EF4-FFF2-40B4-BE49-F238E27FC236}">
                        <a16:creationId xmlns:a16="http://schemas.microsoft.com/office/drawing/2014/main" id="{BB3BDCEC-6ABC-7E44-B9C4-70680B6560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3" name="Rectangle 964">
                    <a:extLst>
                      <a:ext uri="{FF2B5EF4-FFF2-40B4-BE49-F238E27FC236}">
                        <a16:creationId xmlns:a16="http://schemas.microsoft.com/office/drawing/2014/main" id="{BF659529-BF75-D64D-A398-3F5F02E8D6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34" name="Group 965">
                    <a:extLst>
                      <a:ext uri="{FF2B5EF4-FFF2-40B4-BE49-F238E27FC236}">
                        <a16:creationId xmlns:a16="http://schemas.microsoft.com/office/drawing/2014/main" id="{08EED94E-296E-6944-AB01-4E0F74CF60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350" name="AutoShape 966">
                      <a:extLst>
                        <a:ext uri="{FF2B5EF4-FFF2-40B4-BE49-F238E27FC236}">
                          <a16:creationId xmlns:a16="http://schemas.microsoft.com/office/drawing/2014/main" id="{E45BC691-EDAB-5043-B974-6931BF4A1A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1" name="AutoShape 967">
                      <a:extLst>
                        <a:ext uri="{FF2B5EF4-FFF2-40B4-BE49-F238E27FC236}">
                          <a16:creationId xmlns:a16="http://schemas.microsoft.com/office/drawing/2014/main" id="{BC4BCC73-0226-7344-A90F-A319311EB0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5" name="Freeform 968">
                    <a:extLst>
                      <a:ext uri="{FF2B5EF4-FFF2-40B4-BE49-F238E27FC236}">
                        <a16:creationId xmlns:a16="http://schemas.microsoft.com/office/drawing/2014/main" id="{4D3CB3E6-04E9-DD42-A1E2-B9CFDE5F40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36" name="Group 969">
                    <a:extLst>
                      <a:ext uri="{FF2B5EF4-FFF2-40B4-BE49-F238E27FC236}">
                        <a16:creationId xmlns:a16="http://schemas.microsoft.com/office/drawing/2014/main" id="{D3A85C8F-5C9D-004C-BED1-826FD6B7538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348" name="AutoShape 970">
                      <a:extLst>
                        <a:ext uri="{FF2B5EF4-FFF2-40B4-BE49-F238E27FC236}">
                          <a16:creationId xmlns:a16="http://schemas.microsoft.com/office/drawing/2014/main" id="{61DC189F-D857-CE49-9706-A99AFD0741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49" name="AutoShape 971">
                      <a:extLst>
                        <a:ext uri="{FF2B5EF4-FFF2-40B4-BE49-F238E27FC236}">
                          <a16:creationId xmlns:a16="http://schemas.microsoft.com/office/drawing/2014/main" id="{8FED6611-7057-CD45-9474-CA215533CF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lnSpc>
                          <a:spcPct val="85000"/>
                        </a:lnSpc>
                        <a:spcBef>
                          <a:spcPts val="1675"/>
                        </a:spcBef>
                        <a:buClr>
                          <a:srgbClr val="000090"/>
                        </a:buClr>
                        <a:buSzPct val="100000"/>
                        <a:buFont typeface="Wingdings" panose="05000000000000000000" pitchFamily="2" charset="2"/>
                        <a:buChar char="§"/>
                        <a:defRPr sz="28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MS PGothic" panose="020B0600070205080204" pitchFamily="34" charset="-128"/>
                          <a:cs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85000"/>
                        </a:lnSpc>
                        <a:spcBef>
                          <a:spcPts val="1438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0"/>
                        </a:buClr>
                        <a:buFont typeface="Wingdings" panose="05000000000000000000" pitchFamily="2" charset="2"/>
                        <a:buChar char="§"/>
                        <a:defRPr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Comic Sans MS" panose="030F0702030302020204" pitchFamily="66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337" name="Rectangle 972">
                    <a:extLst>
                      <a:ext uri="{FF2B5EF4-FFF2-40B4-BE49-F238E27FC236}">
                        <a16:creationId xmlns:a16="http://schemas.microsoft.com/office/drawing/2014/main" id="{043E3E2C-723D-CA49-8604-B8FA4FD292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8" name="Freeform 973">
                    <a:extLst>
                      <a:ext uri="{FF2B5EF4-FFF2-40B4-BE49-F238E27FC236}">
                        <a16:creationId xmlns:a16="http://schemas.microsoft.com/office/drawing/2014/main" id="{A7D59DBF-B240-2743-8F05-CD66521792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9" name="Freeform 974">
                    <a:extLst>
                      <a:ext uri="{FF2B5EF4-FFF2-40B4-BE49-F238E27FC236}">
                        <a16:creationId xmlns:a16="http://schemas.microsoft.com/office/drawing/2014/main" id="{782758E0-5FA1-2541-8957-4820DA2644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0" name="Oval 975">
                    <a:extLst>
                      <a:ext uri="{FF2B5EF4-FFF2-40B4-BE49-F238E27FC236}">
                        <a16:creationId xmlns:a16="http://schemas.microsoft.com/office/drawing/2014/main" id="{E43434A9-1771-1841-B10D-00C68B13FB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1" name="Freeform 976">
                    <a:extLst>
                      <a:ext uri="{FF2B5EF4-FFF2-40B4-BE49-F238E27FC236}">
                        <a16:creationId xmlns:a16="http://schemas.microsoft.com/office/drawing/2014/main" id="{7F3BC29B-77D4-0345-BC99-5EBDE51786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2" name="AutoShape 977">
                    <a:extLst>
                      <a:ext uri="{FF2B5EF4-FFF2-40B4-BE49-F238E27FC236}">
                        <a16:creationId xmlns:a16="http://schemas.microsoft.com/office/drawing/2014/main" id="{AB8C4D5D-D558-0E48-B735-10A1700F94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3" name="AutoShape 978">
                    <a:extLst>
                      <a:ext uri="{FF2B5EF4-FFF2-40B4-BE49-F238E27FC236}">
                        <a16:creationId xmlns:a16="http://schemas.microsoft.com/office/drawing/2014/main" id="{A52E34C3-2A4E-6E43-AEAD-80E9029E9F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4" name="Oval 979">
                    <a:extLst>
                      <a:ext uri="{FF2B5EF4-FFF2-40B4-BE49-F238E27FC236}">
                        <a16:creationId xmlns:a16="http://schemas.microsoft.com/office/drawing/2014/main" id="{CF996EB8-B8AF-1645-81FB-5C4480FC1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Oval 980">
                    <a:extLst>
                      <a:ext uri="{FF2B5EF4-FFF2-40B4-BE49-F238E27FC236}">
                        <a16:creationId xmlns:a16="http://schemas.microsoft.com/office/drawing/2014/main" id="{6ABBF416-3D25-A54A-B9CB-9BC7B8D8B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6" name="Oval 981">
                    <a:extLst>
                      <a:ext uri="{FF2B5EF4-FFF2-40B4-BE49-F238E27FC236}">
                        <a16:creationId xmlns:a16="http://schemas.microsoft.com/office/drawing/2014/main" id="{BEBFB614-43B9-5A4B-8E5D-794244BE12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7" name="Rectangle 982">
                    <a:extLst>
                      <a:ext uri="{FF2B5EF4-FFF2-40B4-BE49-F238E27FC236}">
                        <a16:creationId xmlns:a16="http://schemas.microsoft.com/office/drawing/2014/main" id="{C5CE1C8E-4047-8540-B7FB-EBAB3DBC64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65" name="Rectangle 227">
                  <a:extLst>
                    <a:ext uri="{FF2B5EF4-FFF2-40B4-BE49-F238E27FC236}">
                      <a16:creationId xmlns:a16="http://schemas.microsoft.com/office/drawing/2014/main" id="{DDE0D48B-5AA6-5340-937B-33FE1BA44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52186" y="4753064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6" name="Rectangle 228">
                  <a:extLst>
                    <a:ext uri="{FF2B5EF4-FFF2-40B4-BE49-F238E27FC236}">
                      <a16:creationId xmlns:a16="http://schemas.microsoft.com/office/drawing/2014/main" id="{AEBD2839-8A70-0849-9413-EA386C5B0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8848" y="4776877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7" name="Rectangle 229">
                  <a:extLst>
                    <a:ext uri="{FF2B5EF4-FFF2-40B4-BE49-F238E27FC236}">
                      <a16:creationId xmlns:a16="http://schemas.microsoft.com/office/drawing/2014/main" id="{66D99AF7-74D7-B440-A1E0-2DC5D0A5E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5991" y="4930726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8" name="Text Box 230">
                  <a:extLst>
                    <a:ext uri="{FF2B5EF4-FFF2-40B4-BE49-F238E27FC236}">
                      <a16:creationId xmlns:a16="http://schemas.microsoft.com/office/drawing/2014/main" id="{0C785C80-53AC-EA4E-992A-05BE1EFF5E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55149" y="4742972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application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transport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 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9" name="Line 231">
                  <a:extLst>
                    <a:ext uri="{FF2B5EF4-FFF2-40B4-BE49-F238E27FC236}">
                      <a16:creationId xmlns:a16="http://schemas.microsoft.com/office/drawing/2014/main" id="{444422FC-4C08-2E49-AD0C-394B62D1B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18848" y="5119777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Line 232">
                  <a:extLst>
                    <a:ext uri="{FF2B5EF4-FFF2-40B4-BE49-F238E27FC236}">
                      <a16:creationId xmlns:a16="http://schemas.microsoft.com/office/drawing/2014/main" id="{D3DF9882-BA24-4148-9227-6803DB03F9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257889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Line 233">
                  <a:extLst>
                    <a:ext uri="{FF2B5EF4-FFF2-40B4-BE49-F238E27FC236}">
                      <a16:creationId xmlns:a16="http://schemas.microsoft.com/office/drawing/2014/main" id="{238E9799-3D8B-F54E-BFBB-FE1237FADF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428373" y="5396002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7610FF-4F61-2C4A-A861-FC0ED9C69928}"/>
                  </a:ext>
                </a:extLst>
              </p:cNvPr>
              <p:cNvGrpSpPr/>
              <p:nvPr/>
            </p:nvGrpSpPr>
            <p:grpSpPr>
              <a:xfrm>
                <a:off x="8252702" y="1137866"/>
                <a:ext cx="814388" cy="854075"/>
                <a:chOff x="9791027" y="656358"/>
                <a:chExt cx="814388" cy="854075"/>
              </a:xfrm>
            </p:grpSpPr>
            <p:sp>
              <p:nvSpPr>
                <p:cNvPr id="519" name="Rectangle 227">
                  <a:extLst>
                    <a:ext uri="{FF2B5EF4-FFF2-40B4-BE49-F238E27FC236}">
                      <a16:creationId xmlns:a16="http://schemas.microsoft.com/office/drawing/2014/main" id="{B61510CE-247E-1E43-BA4A-EC188AFE0C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88064" y="666450"/>
                  <a:ext cx="676276" cy="776288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Rectangle 228">
                  <a:extLst>
                    <a:ext uri="{FF2B5EF4-FFF2-40B4-BE49-F238E27FC236}">
                      <a16:creationId xmlns:a16="http://schemas.microsoft.com/office/drawing/2014/main" id="{4174338D-3A0E-9747-819D-0C19F4DF4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54726" y="690263"/>
                  <a:ext cx="690563" cy="80010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1" name="Rectangle 229">
                  <a:extLst>
                    <a:ext uri="{FF2B5EF4-FFF2-40B4-BE49-F238E27FC236}">
                      <a16:creationId xmlns:a16="http://schemas.microsoft.com/office/drawing/2014/main" id="{621AE13C-4ABC-334F-8206-4D5E08465C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61869" y="844112"/>
                  <a:ext cx="676276" cy="186668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2" name="Text Box 230">
                  <a:extLst>
                    <a:ext uri="{FF2B5EF4-FFF2-40B4-BE49-F238E27FC236}">
                      <a16:creationId xmlns:a16="http://schemas.microsoft.com/office/drawing/2014/main" id="{CA38D367-F86F-AB43-B21E-1EEE691D3D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791027" y="656358"/>
                  <a:ext cx="814388" cy="8540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application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transport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 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3" name="Line 231">
                  <a:extLst>
                    <a:ext uri="{FF2B5EF4-FFF2-40B4-BE49-F238E27FC236}">
                      <a16:creationId xmlns:a16="http://schemas.microsoft.com/office/drawing/2014/main" id="{A3474A7D-75ED-1D4F-BB1C-5BA4ECFE6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54726" y="1033163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4" name="Line 232">
                  <a:extLst>
                    <a:ext uri="{FF2B5EF4-FFF2-40B4-BE49-F238E27FC236}">
                      <a16:creationId xmlns:a16="http://schemas.microsoft.com/office/drawing/2014/main" id="{79D6BFCD-0081-1543-8A02-CDC78B944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171275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5" name="Line 233">
                  <a:extLst>
                    <a:ext uri="{FF2B5EF4-FFF2-40B4-BE49-F238E27FC236}">
                      <a16:creationId xmlns:a16="http://schemas.microsoft.com/office/drawing/2014/main" id="{539E5FFB-197B-6F44-A1D2-C9A93359AB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4251" y="1309388"/>
                  <a:ext cx="690563" cy="476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8" name="Up-Down Arrow 557">
                <a:extLst>
                  <a:ext uri="{FF2B5EF4-FFF2-40B4-BE49-F238E27FC236}">
                    <a16:creationId xmlns:a16="http://schemas.microsoft.com/office/drawing/2014/main" id="{1F1264FF-C88C-CF4E-85AF-1CB82BE0554E}"/>
                  </a:ext>
                </a:extLst>
              </p:cNvPr>
              <p:cNvSpPr/>
              <p:nvPr/>
            </p:nvSpPr>
            <p:spPr>
              <a:xfrm rot="19889198">
                <a:off x="9544123" y="1270072"/>
                <a:ext cx="626354" cy="3838406"/>
              </a:xfrm>
              <a:prstGeom prst="upDownArrow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BDB4ECF5-2BA8-034C-9E12-98E6A9A3E77D}"/>
                  </a:ext>
                </a:extLst>
              </p:cNvPr>
              <p:cNvSpPr txBox="1"/>
              <p:nvPr/>
            </p:nvSpPr>
            <p:spPr>
              <a:xfrm rot="3706861">
                <a:off x="8640694" y="3103268"/>
                <a:ext cx="2550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logical end-end transport</a:t>
                </a:r>
              </a:p>
            </p:txBody>
          </p:sp>
        </p:grpSp>
      </p:grpSp>
      <p:sp>
        <p:nvSpPr>
          <p:cNvPr id="517" name="Rectangle 3">
            <a:extLst>
              <a:ext uri="{FF2B5EF4-FFF2-40B4-BE49-F238E27FC236}">
                <a16:creationId xmlns:a16="http://schemas.microsoft.com/office/drawing/2014/main" id="{5DD1F129-FF75-B647-8A9A-42B6C0C7E416}"/>
              </a:ext>
            </a:extLst>
          </p:cNvPr>
          <p:cNvSpPr txBox="1">
            <a:spLocks noChangeArrowheads="1"/>
          </p:cNvSpPr>
          <p:nvPr/>
        </p:nvSpPr>
        <p:spPr>
          <a:xfrm>
            <a:off x="684691" y="2787535"/>
            <a:ext cx="5815703" cy="232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protocols actions in end systems: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sender: breaks application messages into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passes to  network layer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receiver: reassembles segments into messages, passes to application layer</a:t>
            </a:r>
          </a:p>
        </p:txBody>
      </p:sp>
      <p:sp>
        <p:nvSpPr>
          <p:cNvPr id="518" name="Rectangle 3">
            <a:extLst>
              <a:ext uri="{FF2B5EF4-FFF2-40B4-BE49-F238E27FC236}">
                <a16:creationId xmlns:a16="http://schemas.microsoft.com/office/drawing/2014/main" id="{C3EBA7FC-18E1-7D43-9310-976F49009C6C}"/>
              </a:ext>
            </a:extLst>
          </p:cNvPr>
          <p:cNvSpPr txBox="1">
            <a:spLocks noChangeArrowheads="1"/>
          </p:cNvSpPr>
          <p:nvPr/>
        </p:nvSpPr>
        <p:spPr>
          <a:xfrm>
            <a:off x="681217" y="5165099"/>
            <a:ext cx="5815703" cy="1448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transport protocols available to Internet applications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TCP, UDP</a:t>
            </a:r>
          </a:p>
        </p:txBody>
      </p:sp>
      <p:sp>
        <p:nvSpPr>
          <p:cNvPr id="526" name="Slide Number Placeholder 2">
            <a:extLst>
              <a:ext uri="{FF2B5EF4-FFF2-40B4-BE49-F238E27FC236}">
                <a16:creationId xmlns:a16="http://schemas.microsoft.com/office/drawing/2014/main" id="{58250C2D-03C7-2C42-9317-E77099EDA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6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" grpId="0" animBg="1"/>
      <p:bldP spid="517" grpId="0"/>
      <p:bldP spid="5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vs. network layer services and protocols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CEA1E0-276F-284D-BD4E-42C8F1EBF3F6}"/>
              </a:ext>
            </a:extLst>
          </p:cNvPr>
          <p:cNvGrpSpPr/>
          <p:nvPr/>
        </p:nvGrpSpPr>
        <p:grpSpPr>
          <a:xfrm>
            <a:off x="6278709" y="1094882"/>
            <a:ext cx="5468536" cy="5077175"/>
            <a:chOff x="6430780" y="1365914"/>
            <a:chExt cx="5468536" cy="5077175"/>
          </a:xfrm>
        </p:grpSpPr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C47118FD-7A98-6943-B3A3-B578E5FB9F06}"/>
                </a:ext>
              </a:extLst>
            </p:cNvPr>
            <p:cNvSpPr/>
            <p:nvPr/>
          </p:nvSpPr>
          <p:spPr>
            <a:xfrm>
              <a:off x="6539916" y="1365914"/>
              <a:ext cx="5359400" cy="4954628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8" name="Rectangle 7">
              <a:extLst>
                <a:ext uri="{FF2B5EF4-FFF2-40B4-BE49-F238E27FC236}">
                  <a16:creationId xmlns:a16="http://schemas.microsoft.com/office/drawing/2014/main" id="{9123CC0F-084C-694A-973E-DDF8B74DB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780" y="1910777"/>
              <a:ext cx="5230917" cy="440976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26" name="Text Box 11">
              <a:extLst>
                <a:ext uri="{FF2B5EF4-FFF2-40B4-BE49-F238E27FC236}">
                  <a16:creationId xmlns:a16="http://schemas.microsoft.com/office/drawing/2014/main" id="{8933385F-1349-114E-8950-59CB886F3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4167" y="1686939"/>
              <a:ext cx="3025187" cy="4456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ct val="45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household analogy:</a:t>
              </a:r>
              <a:endPara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27" name="Rectangle 4">
              <a:extLst>
                <a:ext uri="{FF2B5EF4-FFF2-40B4-BE49-F238E27FC236}">
                  <a16:creationId xmlns:a16="http://schemas.microsoft.com/office/drawing/2014/main" id="{D8394745-F660-7141-9DD3-60B497C3EB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39915" y="2193352"/>
              <a:ext cx="4916773" cy="4249737"/>
            </a:xfrm>
            <a:prstGeom prst="rect">
              <a:avLst/>
            </a:prstGeom>
            <a:extLst>
              <a:ext uri="{91240B29-F687-4f45-9708-019B960494DF}">
                <a14:hiddenLine xmlns="" xmlns:a14="http://schemas.microsoft.com/office/drawing/2010/main" w="19050" cmpd="sng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3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12 kids in Ann’</a:t>
              </a:r>
              <a:r>
                <a:rPr kumimoji="0" lang="en-US" altLang="ja-JP" sz="3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 house sending letters to 12 kids in Bill’s house:</a:t>
              </a:r>
              <a:endParaRPr kumimoji="0" lang="en-US" altLang="ja-JP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hosts = houses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processes = kids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app messages = letters in envelopes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transport protocol = Ann and Bill who </a:t>
              </a:r>
              <a:r>
                <a:rPr kumimoji="0" lang="en-US" alt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demux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to in-house siblings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network-layer protocol = postal service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7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CFAA90E-01F6-9442-8C29-5980D20B9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54" y="1415907"/>
            <a:ext cx="3622416" cy="50351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49E7E9-FAA1-6B4E-871E-EA23858B60C6}"/>
              </a:ext>
            </a:extLst>
          </p:cNvPr>
          <p:cNvSpPr/>
          <p:nvPr/>
        </p:nvSpPr>
        <p:spPr>
          <a:xfrm>
            <a:off x="6387844" y="4452079"/>
            <a:ext cx="5121782" cy="1364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D98765B-6EC7-864F-8A48-2FBCD821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Transport vs. network layer services and protocols</a:t>
            </a:r>
            <a:endParaRPr lang="en-US" dirty="0"/>
          </a:p>
        </p:txBody>
      </p:sp>
      <p:sp>
        <p:nvSpPr>
          <p:cNvPr id="517" name="Rectangle 3">
            <a:extLst>
              <a:ext uri="{FF2B5EF4-FFF2-40B4-BE49-F238E27FC236}">
                <a16:creationId xmlns:a16="http://schemas.microsoft.com/office/drawing/2014/main" id="{5055A8EA-25BB-5D41-BECF-4117E4AC2670}"/>
              </a:ext>
            </a:extLst>
          </p:cNvPr>
          <p:cNvSpPr txBox="1">
            <a:spLocks noChangeArrowheads="1"/>
          </p:cNvSpPr>
          <p:nvPr/>
        </p:nvSpPr>
        <p:spPr>
          <a:xfrm>
            <a:off x="702363" y="1523857"/>
            <a:ext cx="5230917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logical communication between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logical communication between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relies on, enhances, network layer services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B3154C-E2F2-B640-9101-FD641275409F}"/>
              </a:ext>
            </a:extLst>
          </p:cNvPr>
          <p:cNvGrpSpPr/>
          <p:nvPr/>
        </p:nvGrpSpPr>
        <p:grpSpPr>
          <a:xfrm>
            <a:off x="6278709" y="1094882"/>
            <a:ext cx="5468536" cy="5077175"/>
            <a:chOff x="6430780" y="1365914"/>
            <a:chExt cx="5468536" cy="507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4A5E17-837C-DE48-93F3-00B93CF1AE37}"/>
                </a:ext>
              </a:extLst>
            </p:cNvPr>
            <p:cNvSpPr/>
            <p:nvPr/>
          </p:nvSpPr>
          <p:spPr>
            <a:xfrm>
              <a:off x="6539916" y="1365914"/>
              <a:ext cx="5359400" cy="4954628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C856713D-7747-664B-A733-CBE345A08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780" y="1910777"/>
              <a:ext cx="5230917" cy="440976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83681804-D37D-9E4B-A91F-556F18A79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4167" y="1686939"/>
              <a:ext cx="3025187" cy="4456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ct val="45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household analogy:</a:t>
              </a:r>
              <a:endPara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2B981950-019B-6940-9B4D-39B4F993673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539915" y="2193352"/>
              <a:ext cx="4916773" cy="4249737"/>
            </a:xfrm>
            <a:prstGeom prst="rect">
              <a:avLst/>
            </a:prstGeom>
            <a:extLst>
              <a:ext uri="{91240B29-F687-4f45-9708-019B960494DF}">
                <a14:hiddenLine xmlns="" xmlns:a14="http://schemas.microsoft.com/office/drawing/2010/main" w="19050" cmpd="sng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3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12 kids in Ann’</a:t>
              </a:r>
              <a:r>
                <a:rPr kumimoji="0" lang="en-US" altLang="ja-JP" sz="3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 house sending letters to 12 kids in Bill’s house:</a:t>
              </a:r>
              <a:endParaRPr kumimoji="0" lang="en-US" altLang="ja-JP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hosts = houses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processes = kids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app messages = letters in envelopes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transport protocol = Ann and Bill who </a:t>
              </a:r>
              <a:r>
                <a:rPr kumimoji="0" lang="en-US" alt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demux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to in-house siblings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network-layer protocol = postal service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7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E19E6-C8F3-AD4D-8133-B75677CF81D5}"/>
              </a:ext>
            </a:extLst>
          </p:cNvPr>
          <p:cNvSpPr/>
          <p:nvPr/>
        </p:nvSpPr>
        <p:spPr>
          <a:xfrm>
            <a:off x="6387844" y="4463368"/>
            <a:ext cx="5059089" cy="1364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F55E6C29-4D3E-9C46-8DC6-206D0A0BA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55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Sender: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071146" y="2078287"/>
            <a:ext cx="2415414" cy="336947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app.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88186" y="2990916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determines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creates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passes segment to IP</a:t>
            </a: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270781" y="1644192"/>
            <a:ext cx="3715697" cy="405207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T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8549491" y="2999047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T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app. msg</a:t>
                </a:r>
              </a:p>
            </p:txBody>
          </p:sp>
        </p:grpSp>
      </p:grp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id="{684D6C37-F877-7142-9DC9-7032BA756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00065 0.1013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0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0.00052 0.0930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65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9306 C -0.00013 0.14931 -0.00091 0.20347 -0.00169 0.26181 L -0.11432 0.32593 L -0.43333 0.31991 C -0.47513 0.3044 -0.51719 0.27778 -0.55846 0.26366 " pathEditMode="relative" rAng="0" ptsTypes="AAAAA">
                                      <p:cBhvr>
                                        <p:cTn id="5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43" y="1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91" grpId="0"/>
      <p:bldP spid="94" grpId="0"/>
      <p:bldP spid="95" grpId="0"/>
      <p:bldP spid="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29" name="Text Box 26">
            <a:extLst>
              <a:ext uri="{FF2B5EF4-FFF2-40B4-BE49-F238E27FC236}">
                <a16:creationId xmlns:a16="http://schemas.microsoft.com/office/drawing/2014/main" id="{BF5BF946-F5E7-1544-AF56-E534E43C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2527" y="2993828"/>
            <a:ext cx="1401811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043548" y="2078287"/>
            <a:ext cx="2443011" cy="336947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82B22EF0-AE16-E34A-9DFF-15D46D51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359" y="3086580"/>
            <a:ext cx="1535315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425009" y="1191386"/>
            <a:ext cx="3666301" cy="445990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84" name="Group 149">
            <a:extLst>
              <a:ext uri="{FF2B5EF4-FFF2-40B4-BE49-F238E27FC236}">
                <a16:creationId xmlns:a16="http://schemas.microsoft.com/office/drawing/2014/main" id="{63E54651-4A95-3749-9095-CA7015203D88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85" name="Rectangle 73">
              <a:extLst>
                <a:ext uri="{FF2B5EF4-FFF2-40B4-BE49-F238E27FC236}">
                  <a16:creationId xmlns:a16="http://schemas.microsoft.com/office/drawing/2014/main" id="{280DAB38-0E9E-F34F-8F9A-9367D3F32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Rectangle 74">
              <a:extLst>
                <a:ext uri="{FF2B5EF4-FFF2-40B4-BE49-F238E27FC236}">
                  <a16:creationId xmlns:a16="http://schemas.microsoft.com/office/drawing/2014/main" id="{B4B3D106-96DD-1043-A6B0-160355FE6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Rectangle 75">
              <a:extLst>
                <a:ext uri="{FF2B5EF4-FFF2-40B4-BE49-F238E27FC236}">
                  <a16:creationId xmlns:a16="http://schemas.microsoft.com/office/drawing/2014/main" id="{C5BB7FFA-9E81-524A-AFF4-0278B5CB8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Rectangle 129">
              <a:extLst>
                <a:ext uri="{FF2B5EF4-FFF2-40B4-BE49-F238E27FC236}">
                  <a16:creationId xmlns:a16="http://schemas.microsoft.com/office/drawing/2014/main" id="{25DAD60B-59D9-D343-8677-62E63FE48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5F1D59D2-8EB3-004A-9300-4BC4758C645B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Receiver: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0695A34D-8B86-1543-9A29-0310FB2B9383}"/>
              </a:ext>
            </a:extLst>
          </p:cNvPr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1656D58-2006-444D-9DF3-929C2C3A9462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EC242EC-76E3-8842-966A-909D1964B0B8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app.  msg</a:t>
              </a: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146FAE95-BF64-744E-B6D7-85AE3120C980}"/>
              </a:ext>
            </a:extLst>
          </p:cNvPr>
          <p:cNvSpPr txBox="1"/>
          <p:nvPr/>
        </p:nvSpPr>
        <p:spPr>
          <a:xfrm>
            <a:off x="4391041" y="3125909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extracts application-layer message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845376D-0F8D-7E40-9089-6FAE4370FEA0}"/>
              </a:ext>
            </a:extLst>
          </p:cNvPr>
          <p:cNvSpPr txBox="1"/>
          <p:nvPr/>
        </p:nvSpPr>
        <p:spPr>
          <a:xfrm>
            <a:off x="4389103" y="2734423"/>
            <a:ext cx="3825456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header values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BFC24B6-C127-6F4C-BCDC-A8E792032914}"/>
              </a:ext>
            </a:extLst>
          </p:cNvPr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segment from IP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8B83E4F-9A85-E449-9928-9D59A14EC074}"/>
              </a:ext>
            </a:extLst>
          </p:cNvPr>
          <p:cNvGrpSpPr/>
          <p:nvPr/>
        </p:nvGrpSpPr>
        <p:grpSpPr>
          <a:xfrm>
            <a:off x="1745737" y="4814948"/>
            <a:ext cx="1818022" cy="369332"/>
            <a:chOff x="7863122" y="5632673"/>
            <a:chExt cx="1818022" cy="369332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FD92661A-D54F-D249-95ED-0FF27E685E68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FB9B2F8-7A2C-4D4A-9815-0AC06BE1D516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1C19CB13-59AD-3E40-AC4C-CF25CFC27E46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T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69964EF5-DAF4-5A49-B8EB-E8A5D01CEAE7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1663F7BA-0DF3-D94B-9C74-3E86A6732DD0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FB939F0-C8E1-9645-8997-AFBC0BF0005F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app. msg</a:t>
                </a:r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192B5ECF-BCF6-FB4F-96CB-B48F1BD83E0B}"/>
              </a:ext>
            </a:extLst>
          </p:cNvPr>
          <p:cNvSpPr txBox="1"/>
          <p:nvPr/>
        </p:nvSpPr>
        <p:spPr>
          <a:xfrm>
            <a:off x="4395862" y="3809729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demultiplexes message up to application via socket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282913C-E44E-4C40-ADB1-A9BB2BFBFFD7}"/>
              </a:ext>
            </a:extLst>
          </p:cNvPr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Slide Number Placeholder 2">
            <a:extLst>
              <a:ext uri="{FF2B5EF4-FFF2-40B4-BE49-F238E27FC236}">
                <a16:creationId xmlns:a16="http://schemas.microsoft.com/office/drawing/2014/main" id="{00325223-4816-0640-A30C-AB4803E0C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0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0.00039 -0.249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" y="-128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0013 -0.1076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  <p:bldP spid="194" grpId="0"/>
      <p:bldP spid="195" grpId="0"/>
      <p:bldP spid="203" grpId="0"/>
      <p:bldP spid="204" grpId="0" animBg="1"/>
      <p:bldP spid="20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11" y="25934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cs typeface="Calibri" panose="020F0502020204030204" pitchFamily="34" charset="0"/>
              </a:rPr>
              <a:t>Two principal Internet transport protocols</a:t>
            </a:r>
            <a:endParaRPr lang="en-US" sz="48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4FAF1075-A726-A74C-A102-E55EF304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5228A-100C-D643-BB8E-545E51741FBA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188F4C-A928-8F4F-9205-FD6C4D77CC8D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C39A38-643E-1841-84E4-48B68DB2ED03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79EF77B-B7F5-D441-A37D-7AC14D43B519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62" name="Line 428">
                <a:extLst>
                  <a:ext uri="{FF2B5EF4-FFF2-40B4-BE49-F238E27FC236}">
                    <a16:creationId xmlns:a16="http://schemas.microsoft.com/office/drawing/2014/main" id="{16F1973E-A8F0-6E4E-9510-49D75998F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0">
                <a:extLst>
                  <a:ext uri="{FF2B5EF4-FFF2-40B4-BE49-F238E27FC236}">
                    <a16:creationId xmlns:a16="http://schemas.microsoft.com/office/drawing/2014/main" id="{CAB72423-2D43-1046-869C-9EDAEA5E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31">
                <a:extLst>
                  <a:ext uri="{FF2B5EF4-FFF2-40B4-BE49-F238E27FC236}">
                    <a16:creationId xmlns:a16="http://schemas.microsoft.com/office/drawing/2014/main" id="{99BD1088-D56F-3A42-8E44-483A32BEDA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32">
                <a:extLst>
                  <a:ext uri="{FF2B5EF4-FFF2-40B4-BE49-F238E27FC236}">
                    <a16:creationId xmlns:a16="http://schemas.microsoft.com/office/drawing/2014/main" id="{8A75CF99-7455-B74F-8BAD-3AD43E03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33">
                <a:extLst>
                  <a:ext uri="{FF2B5EF4-FFF2-40B4-BE49-F238E27FC236}">
                    <a16:creationId xmlns:a16="http://schemas.microsoft.com/office/drawing/2014/main" id="{FC542B29-675E-3D46-80C8-75565CBAE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35">
                <a:extLst>
                  <a:ext uri="{FF2B5EF4-FFF2-40B4-BE49-F238E27FC236}">
                    <a16:creationId xmlns:a16="http://schemas.microsoft.com/office/drawing/2014/main" id="{2B974C3D-5280-D849-8D04-7FDDEF66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36">
                <a:extLst>
                  <a:ext uri="{FF2B5EF4-FFF2-40B4-BE49-F238E27FC236}">
                    <a16:creationId xmlns:a16="http://schemas.microsoft.com/office/drawing/2014/main" id="{05391238-AE6D-D14C-8C1F-CD07E4032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39">
                <a:extLst>
                  <a:ext uri="{FF2B5EF4-FFF2-40B4-BE49-F238E27FC236}">
                    <a16:creationId xmlns:a16="http://schemas.microsoft.com/office/drawing/2014/main" id="{F0B33890-F38E-9948-851E-64C7E965F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Line 440">
                <a:extLst>
                  <a:ext uri="{FF2B5EF4-FFF2-40B4-BE49-F238E27FC236}">
                    <a16:creationId xmlns:a16="http://schemas.microsoft.com/office/drawing/2014/main" id="{A6F6A7F9-E45C-124D-AC6C-F4101DAE4B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Line 441">
                <a:extLst>
                  <a:ext uri="{FF2B5EF4-FFF2-40B4-BE49-F238E27FC236}">
                    <a16:creationId xmlns:a16="http://schemas.microsoft.com/office/drawing/2014/main" id="{AD8346D7-6C40-1348-A196-CC99EDB76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Line 443">
                <a:extLst>
                  <a:ext uri="{FF2B5EF4-FFF2-40B4-BE49-F238E27FC236}">
                    <a16:creationId xmlns:a16="http://schemas.microsoft.com/office/drawing/2014/main" id="{E2DA8AD7-F617-354E-B5AE-47F97541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Line 449">
                <a:extLst>
                  <a:ext uri="{FF2B5EF4-FFF2-40B4-BE49-F238E27FC236}">
                    <a16:creationId xmlns:a16="http://schemas.microsoft.com/office/drawing/2014/main" id="{E873DD89-2DB7-304C-ADED-170F1F4E1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Line 428">
                <a:extLst>
                  <a:ext uri="{FF2B5EF4-FFF2-40B4-BE49-F238E27FC236}">
                    <a16:creationId xmlns:a16="http://schemas.microsoft.com/office/drawing/2014/main" id="{56AC483A-3972-5540-9E9F-AE1FE2566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Line 440">
                <a:extLst>
                  <a:ext uri="{FF2B5EF4-FFF2-40B4-BE49-F238E27FC236}">
                    <a16:creationId xmlns:a16="http://schemas.microsoft.com/office/drawing/2014/main" id="{B0224379-0B0C-1343-B0E2-E62DFA482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DFBDA95-16CE-D146-A4C5-C45EDEC8D34E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282E722-916E-234E-AC0B-E2B36A0049E1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691F242-AF67-1B42-8D8E-F09C1EB27D39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E49F46-6C78-A640-A53B-1F2DCAE49B5E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1454C82-BE7E-874F-AA28-09F795395B3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2F00AE0-2163-514F-B52E-CFE0592CCF0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E38317B-7455-F04C-9FB3-A4716917158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8CD097C-75DA-B84B-B03E-371F3044C3BB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Line 541">
                <a:extLst>
                  <a:ext uri="{FF2B5EF4-FFF2-40B4-BE49-F238E27FC236}">
                    <a16:creationId xmlns:a16="http://schemas.microsoft.com/office/drawing/2014/main" id="{3EE4D6D5-1F58-604E-926E-B12AF198F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Line 424">
                <a:extLst>
                  <a:ext uri="{FF2B5EF4-FFF2-40B4-BE49-F238E27FC236}">
                    <a16:creationId xmlns:a16="http://schemas.microsoft.com/office/drawing/2014/main" id="{69D11C97-9A2A-6F4A-BEC2-192440539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8" name="Picture 778" descr="antenna_radiation_stylized">
              <a:extLst>
                <a:ext uri="{FF2B5EF4-FFF2-40B4-BE49-F238E27FC236}">
                  <a16:creationId xmlns:a16="http://schemas.microsoft.com/office/drawing/2014/main" id="{AE641E33-5C90-9C48-B6C0-B2DA38E6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781" descr="antenna_radiation_stylized">
              <a:extLst>
                <a:ext uri="{FF2B5EF4-FFF2-40B4-BE49-F238E27FC236}">
                  <a16:creationId xmlns:a16="http://schemas.microsoft.com/office/drawing/2014/main" id="{58D0D77F-41BF-B141-99CC-744477020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799" descr="cell_tower_radiation copy">
              <a:extLst>
                <a:ext uri="{FF2B5EF4-FFF2-40B4-BE49-F238E27FC236}">
                  <a16:creationId xmlns:a16="http://schemas.microsoft.com/office/drawing/2014/main" id="{B93FCB1A-5588-5743-82CC-8E52ADEAD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Oval 800">
              <a:extLst>
                <a:ext uri="{FF2B5EF4-FFF2-40B4-BE49-F238E27FC236}">
                  <a16:creationId xmlns:a16="http://schemas.microsoft.com/office/drawing/2014/main" id="{029C7FDD-ABE9-EB40-A1C5-64FF9B2F9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27C4B55-0BAE-0949-8777-F3099C171813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EC32CAA-AFF2-A34D-8E74-D6E2F030879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1675819-8BAA-AB4F-BBAA-A405C6E76216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3F9E373-4875-744C-970D-E5EB77A5E3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FFDA189D-222C-1443-856D-7A608CA88C9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42BB264-137D-E643-AE9B-8AA6D9E21B0C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786FF02A-1562-3745-ABB9-0D40C7DEF61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EC12CCB-8331-9F49-BF6A-94DF11B7CB1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47118FD-7A98-6943-B3A3-B578E5FB9F06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49" name="Oval 448">
            <a:extLst>
              <a:ext uri="{FF2B5EF4-FFF2-40B4-BE49-F238E27FC236}">
                <a16:creationId xmlns:a16="http://schemas.microsoft.com/office/drawing/2014/main" id="{D57ABF6C-635D-8547-9D46-7AFB160876AA}"/>
              </a:ext>
            </a:extLst>
          </p:cNvPr>
          <p:cNvSpPr/>
          <p:nvPr/>
        </p:nvSpPr>
        <p:spPr>
          <a:xfrm>
            <a:off x="7680324" y="1814171"/>
            <a:ext cx="612303" cy="51006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2895CDC0-6EA0-564A-AFB6-E1E735A44F41}"/>
              </a:ext>
            </a:extLst>
          </p:cNvPr>
          <p:cNvSpPr/>
          <p:nvPr/>
        </p:nvSpPr>
        <p:spPr>
          <a:xfrm>
            <a:off x="9823450" y="5554772"/>
            <a:ext cx="612303" cy="51006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Freeform 917">
            <a:extLst>
              <a:ext uri="{FF2B5EF4-FFF2-40B4-BE49-F238E27FC236}">
                <a16:creationId xmlns:a16="http://schemas.microsoft.com/office/drawing/2014/main" id="{ADACC4C8-123A-0642-ADC2-DC6E1D927429}"/>
              </a:ext>
            </a:extLst>
          </p:cNvPr>
          <p:cNvSpPr>
            <a:spLocks/>
          </p:cNvSpPr>
          <p:nvPr/>
        </p:nvSpPr>
        <p:spPr bwMode="auto">
          <a:xfrm>
            <a:off x="8005845" y="1190714"/>
            <a:ext cx="304800" cy="94297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FEE881-E73C-8C4D-A5ED-9848E08F428B}"/>
              </a:ext>
            </a:extLst>
          </p:cNvPr>
          <p:cNvGrpSpPr/>
          <p:nvPr/>
        </p:nvGrpSpPr>
        <p:grpSpPr>
          <a:xfrm>
            <a:off x="10288915" y="4742972"/>
            <a:ext cx="880622" cy="861812"/>
            <a:chOff x="10288915" y="4742972"/>
            <a:chExt cx="880622" cy="861812"/>
          </a:xfrm>
        </p:grpSpPr>
        <p:grpSp>
          <p:nvGrpSpPr>
            <p:cNvPr id="323" name="Group 950">
              <a:extLst>
                <a:ext uri="{FF2B5EF4-FFF2-40B4-BE49-F238E27FC236}">
                  <a16:creationId xmlns:a16="http://schemas.microsoft.com/office/drawing/2014/main" id="{BF16D25A-05F2-BD48-8851-FCCC3771B7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88915" y="5273951"/>
              <a:ext cx="177192" cy="330833"/>
              <a:chOff x="4140" y="429"/>
              <a:chExt cx="1425" cy="2396"/>
            </a:xfrm>
          </p:grpSpPr>
          <p:sp>
            <p:nvSpPr>
              <p:cNvPr id="324" name="Freeform 951">
                <a:extLst>
                  <a:ext uri="{FF2B5EF4-FFF2-40B4-BE49-F238E27FC236}">
                    <a16:creationId xmlns:a16="http://schemas.microsoft.com/office/drawing/2014/main" id="{72C50429-8235-E440-B0F8-ADCFAC748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5" name="Rectangle 952">
                <a:extLst>
                  <a:ext uri="{FF2B5EF4-FFF2-40B4-BE49-F238E27FC236}">
                    <a16:creationId xmlns:a16="http://schemas.microsoft.com/office/drawing/2014/main" id="{C8289D20-20EF-CE4A-B82D-CC6F98B22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26" name="Freeform 953">
                <a:extLst>
                  <a:ext uri="{FF2B5EF4-FFF2-40B4-BE49-F238E27FC236}">
                    <a16:creationId xmlns:a16="http://schemas.microsoft.com/office/drawing/2014/main" id="{512EE24C-2BC1-5A45-B541-28FAD5522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7" name="Freeform 954">
                <a:extLst>
                  <a:ext uri="{FF2B5EF4-FFF2-40B4-BE49-F238E27FC236}">
                    <a16:creationId xmlns:a16="http://schemas.microsoft.com/office/drawing/2014/main" id="{CC26DF50-FD02-994D-80F7-4CD21CC31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8" name="Rectangle 955">
                <a:extLst>
                  <a:ext uri="{FF2B5EF4-FFF2-40B4-BE49-F238E27FC236}">
                    <a16:creationId xmlns:a16="http://schemas.microsoft.com/office/drawing/2014/main" id="{12D5F885-EEB6-EA49-8F16-8E65F7B56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329" name="Group 956">
                <a:extLst>
                  <a:ext uri="{FF2B5EF4-FFF2-40B4-BE49-F238E27FC236}">
                    <a16:creationId xmlns:a16="http://schemas.microsoft.com/office/drawing/2014/main" id="{4819CF1A-CAA2-2445-BACA-6333C6770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54" name="AutoShape 957">
                  <a:extLst>
                    <a:ext uri="{FF2B5EF4-FFF2-40B4-BE49-F238E27FC236}">
                      <a16:creationId xmlns:a16="http://schemas.microsoft.com/office/drawing/2014/main" id="{F403CAA7-7575-5B45-9B26-74060E67ED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5" name="AutoShape 958">
                  <a:extLst>
                    <a:ext uri="{FF2B5EF4-FFF2-40B4-BE49-F238E27FC236}">
                      <a16:creationId xmlns:a16="http://schemas.microsoft.com/office/drawing/2014/main" id="{E7C03107-B3D4-E74B-8026-51FC5FB4C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0" name="Rectangle 959">
                <a:extLst>
                  <a:ext uri="{FF2B5EF4-FFF2-40B4-BE49-F238E27FC236}">
                    <a16:creationId xmlns:a16="http://schemas.microsoft.com/office/drawing/2014/main" id="{8C82FD14-8B3E-4C45-BA2F-1D536922B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331" name="Group 960">
                <a:extLst>
                  <a:ext uri="{FF2B5EF4-FFF2-40B4-BE49-F238E27FC236}">
                    <a16:creationId xmlns:a16="http://schemas.microsoft.com/office/drawing/2014/main" id="{848EC42A-6B0F-D74E-99AF-9287D4319D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52" name="AutoShape 961">
                  <a:extLst>
                    <a:ext uri="{FF2B5EF4-FFF2-40B4-BE49-F238E27FC236}">
                      <a16:creationId xmlns:a16="http://schemas.microsoft.com/office/drawing/2014/main" id="{5837F05C-C8FD-5D48-B46A-FAF46F8F6D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3" name="AutoShape 962">
                  <a:extLst>
                    <a:ext uri="{FF2B5EF4-FFF2-40B4-BE49-F238E27FC236}">
                      <a16:creationId xmlns:a16="http://schemas.microsoft.com/office/drawing/2014/main" id="{85884ACD-1556-C049-9208-BBD38D4BCB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2" name="Rectangle 963">
                <a:extLst>
                  <a:ext uri="{FF2B5EF4-FFF2-40B4-BE49-F238E27FC236}">
                    <a16:creationId xmlns:a16="http://schemas.microsoft.com/office/drawing/2014/main" id="{BB3BDCEC-6ABC-7E44-B9C4-70680B656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33" name="Rectangle 964">
                <a:extLst>
                  <a:ext uri="{FF2B5EF4-FFF2-40B4-BE49-F238E27FC236}">
                    <a16:creationId xmlns:a16="http://schemas.microsoft.com/office/drawing/2014/main" id="{BF659529-BF75-D64D-A398-3F5F02E8D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334" name="Group 965">
                <a:extLst>
                  <a:ext uri="{FF2B5EF4-FFF2-40B4-BE49-F238E27FC236}">
                    <a16:creationId xmlns:a16="http://schemas.microsoft.com/office/drawing/2014/main" id="{08EED94E-296E-6944-AB01-4E0F74CF60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50" name="AutoShape 966">
                  <a:extLst>
                    <a:ext uri="{FF2B5EF4-FFF2-40B4-BE49-F238E27FC236}">
                      <a16:creationId xmlns:a16="http://schemas.microsoft.com/office/drawing/2014/main" id="{E45BC691-EDAB-5043-B974-6931BF4A1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1" name="AutoShape 967">
                  <a:extLst>
                    <a:ext uri="{FF2B5EF4-FFF2-40B4-BE49-F238E27FC236}">
                      <a16:creationId xmlns:a16="http://schemas.microsoft.com/office/drawing/2014/main" id="{BC4BCC73-0226-7344-A90F-A319311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5" name="Freeform 968">
                <a:extLst>
                  <a:ext uri="{FF2B5EF4-FFF2-40B4-BE49-F238E27FC236}">
                    <a16:creationId xmlns:a16="http://schemas.microsoft.com/office/drawing/2014/main" id="{4D3CB3E6-04E9-DD42-A1E2-B9CFDE5F4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6" name="Group 969">
                <a:extLst>
                  <a:ext uri="{FF2B5EF4-FFF2-40B4-BE49-F238E27FC236}">
                    <a16:creationId xmlns:a16="http://schemas.microsoft.com/office/drawing/2014/main" id="{D3A85C8F-5C9D-004C-BED1-826FD6B753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48" name="AutoShape 970">
                  <a:extLst>
                    <a:ext uri="{FF2B5EF4-FFF2-40B4-BE49-F238E27FC236}">
                      <a16:creationId xmlns:a16="http://schemas.microsoft.com/office/drawing/2014/main" id="{61DC189F-D857-CE49-9706-A99AFD0741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9" name="AutoShape 971">
                  <a:extLst>
                    <a:ext uri="{FF2B5EF4-FFF2-40B4-BE49-F238E27FC236}">
                      <a16:creationId xmlns:a16="http://schemas.microsoft.com/office/drawing/2014/main" id="{8FED6611-7057-CD45-9474-CA215533C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7" name="Rectangle 972">
                <a:extLst>
                  <a:ext uri="{FF2B5EF4-FFF2-40B4-BE49-F238E27FC236}">
                    <a16:creationId xmlns:a16="http://schemas.microsoft.com/office/drawing/2014/main" id="{043E3E2C-723D-CA49-8604-B8FA4FD29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38" name="Freeform 973">
                <a:extLst>
                  <a:ext uri="{FF2B5EF4-FFF2-40B4-BE49-F238E27FC236}">
                    <a16:creationId xmlns:a16="http://schemas.microsoft.com/office/drawing/2014/main" id="{A7D59DBF-B240-2743-8F05-CD665217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9" name="Freeform 974">
                <a:extLst>
                  <a:ext uri="{FF2B5EF4-FFF2-40B4-BE49-F238E27FC236}">
                    <a16:creationId xmlns:a16="http://schemas.microsoft.com/office/drawing/2014/main" id="{782758E0-5FA1-2541-8957-4820DA2644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0" name="Oval 975">
                <a:extLst>
                  <a:ext uri="{FF2B5EF4-FFF2-40B4-BE49-F238E27FC236}">
                    <a16:creationId xmlns:a16="http://schemas.microsoft.com/office/drawing/2014/main" id="{E43434A9-1771-1841-B10D-00C68B13F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1" name="Freeform 976">
                <a:extLst>
                  <a:ext uri="{FF2B5EF4-FFF2-40B4-BE49-F238E27FC236}">
                    <a16:creationId xmlns:a16="http://schemas.microsoft.com/office/drawing/2014/main" id="{7F3BC29B-77D4-0345-BC99-5EBDE5178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2" name="AutoShape 977">
                <a:extLst>
                  <a:ext uri="{FF2B5EF4-FFF2-40B4-BE49-F238E27FC236}">
                    <a16:creationId xmlns:a16="http://schemas.microsoft.com/office/drawing/2014/main" id="{AB8C4D5D-D558-0E48-B735-10A1700F9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3" name="AutoShape 978">
                <a:extLst>
                  <a:ext uri="{FF2B5EF4-FFF2-40B4-BE49-F238E27FC236}">
                    <a16:creationId xmlns:a16="http://schemas.microsoft.com/office/drawing/2014/main" id="{A52E34C3-2A4E-6E43-AEAD-80E9029E9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4" name="Oval 979">
                <a:extLst>
                  <a:ext uri="{FF2B5EF4-FFF2-40B4-BE49-F238E27FC236}">
                    <a16:creationId xmlns:a16="http://schemas.microsoft.com/office/drawing/2014/main" id="{CF996EB8-B8AF-1645-81FB-5C4480FC1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5" name="Oval 980">
                <a:extLst>
                  <a:ext uri="{FF2B5EF4-FFF2-40B4-BE49-F238E27FC236}">
                    <a16:creationId xmlns:a16="http://schemas.microsoft.com/office/drawing/2014/main" id="{6ABBF416-3D25-A54A-B9CB-9BC7B8D8B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6" name="Oval 981">
                <a:extLst>
                  <a:ext uri="{FF2B5EF4-FFF2-40B4-BE49-F238E27FC236}">
                    <a16:creationId xmlns:a16="http://schemas.microsoft.com/office/drawing/2014/main" id="{BEBFB614-43B9-5A4B-8E5D-794244BE1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7" name="Rectangle 982">
                <a:extLst>
                  <a:ext uri="{FF2B5EF4-FFF2-40B4-BE49-F238E27FC236}">
                    <a16:creationId xmlns:a16="http://schemas.microsoft.com/office/drawing/2014/main" id="{C5CE1C8E-4047-8540-B7FB-EBAB3DBC6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5" name="Rectangle 227">
              <a:extLst>
                <a:ext uri="{FF2B5EF4-FFF2-40B4-BE49-F238E27FC236}">
                  <a16:creationId xmlns:a16="http://schemas.microsoft.com/office/drawing/2014/main" id="{DDE0D48B-5AA6-5340-937B-33FE1BA44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2186" y="4753064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6" name="Rectangle 228">
              <a:extLst>
                <a:ext uri="{FF2B5EF4-FFF2-40B4-BE49-F238E27FC236}">
                  <a16:creationId xmlns:a16="http://schemas.microsoft.com/office/drawing/2014/main" id="{AEBD2839-8A70-0849-9413-EA386C5B0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8848" y="4776877"/>
              <a:ext cx="690563" cy="800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7" name="Rectangle 229">
              <a:extLst>
                <a:ext uri="{FF2B5EF4-FFF2-40B4-BE49-F238E27FC236}">
                  <a16:creationId xmlns:a16="http://schemas.microsoft.com/office/drawing/2014/main" id="{66D99AF7-74D7-B440-A1E0-2DC5D0A5E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5991" y="4930726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8" name="Text Box 230">
              <a:extLst>
                <a:ext uri="{FF2B5EF4-FFF2-40B4-BE49-F238E27FC236}">
                  <a16:creationId xmlns:a16="http://schemas.microsoft.com/office/drawing/2014/main" id="{0C785C80-53AC-EA4E-992A-05BE1EFF5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5149" y="4742972"/>
              <a:ext cx="814388" cy="85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9" name="Line 231">
              <a:extLst>
                <a:ext uri="{FF2B5EF4-FFF2-40B4-BE49-F238E27FC236}">
                  <a16:creationId xmlns:a16="http://schemas.microsoft.com/office/drawing/2014/main" id="{444422FC-4C08-2E49-AD0C-394B62D1B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18848" y="5119777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" name="Line 232">
              <a:extLst>
                <a:ext uri="{FF2B5EF4-FFF2-40B4-BE49-F238E27FC236}">
                  <a16:creationId xmlns:a16="http://schemas.microsoft.com/office/drawing/2014/main" id="{D3DF9882-BA24-4148-9227-6803DB03F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8373" y="5257889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" name="Line 233">
              <a:extLst>
                <a:ext uri="{FF2B5EF4-FFF2-40B4-BE49-F238E27FC236}">
                  <a16:creationId xmlns:a16="http://schemas.microsoft.com/office/drawing/2014/main" id="{238E9799-3D8B-F54E-BFBB-FE1237FAD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8373" y="5396002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2" name="Freeform 917">
            <a:extLst>
              <a:ext uri="{FF2B5EF4-FFF2-40B4-BE49-F238E27FC236}">
                <a16:creationId xmlns:a16="http://schemas.microsoft.com/office/drawing/2014/main" id="{831FA212-BCFB-1F40-96A0-1C871E9EF3AB}"/>
              </a:ext>
            </a:extLst>
          </p:cNvPr>
          <p:cNvSpPr>
            <a:spLocks/>
          </p:cNvSpPr>
          <p:nvPr/>
        </p:nvSpPr>
        <p:spPr bwMode="auto">
          <a:xfrm>
            <a:off x="10104523" y="4775289"/>
            <a:ext cx="304800" cy="94297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7610FF-4F61-2C4A-A861-FC0ED9C69928}"/>
              </a:ext>
            </a:extLst>
          </p:cNvPr>
          <p:cNvGrpSpPr/>
          <p:nvPr/>
        </p:nvGrpSpPr>
        <p:grpSpPr>
          <a:xfrm>
            <a:off x="8252702" y="1137866"/>
            <a:ext cx="814388" cy="854075"/>
            <a:chOff x="9791027" y="656358"/>
            <a:chExt cx="814388" cy="854075"/>
          </a:xfrm>
        </p:grpSpPr>
        <p:sp>
          <p:nvSpPr>
            <p:cNvPr id="519" name="Rectangle 227">
              <a:extLst>
                <a:ext uri="{FF2B5EF4-FFF2-40B4-BE49-F238E27FC236}">
                  <a16:creationId xmlns:a16="http://schemas.microsoft.com/office/drawing/2014/main" id="{B61510CE-247E-1E43-BA4A-EC188AFE0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064" y="666450"/>
              <a:ext cx="676276" cy="776288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Rectangle 228">
              <a:extLst>
                <a:ext uri="{FF2B5EF4-FFF2-40B4-BE49-F238E27FC236}">
                  <a16:creationId xmlns:a16="http://schemas.microsoft.com/office/drawing/2014/main" id="{4174338D-3A0E-9747-819D-0C19F4DF4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4726" y="690263"/>
              <a:ext cx="690563" cy="8001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Rectangle 229">
              <a:extLst>
                <a:ext uri="{FF2B5EF4-FFF2-40B4-BE49-F238E27FC236}">
                  <a16:creationId xmlns:a16="http://schemas.microsoft.com/office/drawing/2014/main" id="{621AE13C-4ABC-334F-8206-4D5E0846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869" y="844112"/>
              <a:ext cx="676276" cy="186668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Text Box 230">
              <a:extLst>
                <a:ext uri="{FF2B5EF4-FFF2-40B4-BE49-F238E27FC236}">
                  <a16:creationId xmlns:a16="http://schemas.microsoft.com/office/drawing/2014/main" id="{CA38D367-F86F-AB43-B21E-1EEE691D3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1027" y="656358"/>
              <a:ext cx="814388" cy="85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1">
              <a:extLst>
                <a:ext uri="{FF2B5EF4-FFF2-40B4-BE49-F238E27FC236}">
                  <a16:creationId xmlns:a16="http://schemas.microsoft.com/office/drawing/2014/main" id="{A3474A7D-75ED-1D4F-BB1C-5BA4ECFE6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4726" y="1033163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4" name="Line 232">
              <a:extLst>
                <a:ext uri="{FF2B5EF4-FFF2-40B4-BE49-F238E27FC236}">
                  <a16:creationId xmlns:a16="http://schemas.microsoft.com/office/drawing/2014/main" id="{79D6BFCD-0081-1543-8A02-CDC78B944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4251" y="1171275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5" name="Line 233">
              <a:extLst>
                <a:ext uri="{FF2B5EF4-FFF2-40B4-BE49-F238E27FC236}">
                  <a16:creationId xmlns:a16="http://schemas.microsoft.com/office/drawing/2014/main" id="{539E5FFB-197B-6F44-A1D2-C9A93359A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4251" y="1309388"/>
              <a:ext cx="690563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58" name="Up-Down Arrow 557">
            <a:extLst>
              <a:ext uri="{FF2B5EF4-FFF2-40B4-BE49-F238E27FC236}">
                <a16:creationId xmlns:a16="http://schemas.microsoft.com/office/drawing/2014/main" id="{1F1264FF-C88C-CF4E-85AF-1CB82BE0554E}"/>
              </a:ext>
            </a:extLst>
          </p:cNvPr>
          <p:cNvSpPr/>
          <p:nvPr/>
        </p:nvSpPr>
        <p:spPr>
          <a:xfrm rot="19889198">
            <a:off x="9544123" y="1270072"/>
            <a:ext cx="626354" cy="3838406"/>
          </a:xfrm>
          <a:prstGeom prst="up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BDB4ECF5-2BA8-034C-9E12-98E6A9A3E77D}"/>
              </a:ext>
            </a:extLst>
          </p:cNvPr>
          <p:cNvSpPr txBox="1"/>
          <p:nvPr/>
        </p:nvSpPr>
        <p:spPr>
          <a:xfrm rot="3706861">
            <a:off x="8640694" y="3103268"/>
            <a:ext cx="255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logical end-end transport</a:t>
            </a:r>
          </a:p>
        </p:txBody>
      </p:sp>
      <p:sp>
        <p:nvSpPr>
          <p:cNvPr id="517" name="Rectangle 3">
            <a:extLst>
              <a:ext uri="{FF2B5EF4-FFF2-40B4-BE49-F238E27FC236}">
                <a16:creationId xmlns:a16="http://schemas.microsoft.com/office/drawing/2014/main" id="{6893AA1C-B5CC-D446-9A4F-4636B0A87E22}"/>
              </a:ext>
            </a:extLst>
          </p:cNvPr>
          <p:cNvSpPr txBox="1">
            <a:spLocks noChangeArrowheads="1"/>
          </p:cNvSpPr>
          <p:nvPr/>
        </p:nvSpPr>
        <p:spPr>
          <a:xfrm>
            <a:off x="736738" y="1365914"/>
            <a:ext cx="6288757" cy="5114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D0004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Transmission Control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reliable, in-order delivery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 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 setup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D0004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Datagram Protocol</a:t>
            </a:r>
          </a:p>
          <a:p>
            <a:pPr marL="747713" marR="0" lvl="1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unreliable, unordered delivery</a:t>
            </a:r>
          </a:p>
          <a:p>
            <a:pPr marL="747713" marR="0" lvl="1" indent="-2746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no-frills extension of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best-effort” IP</a:t>
            </a: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services not available: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delay guarantees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bandwidth guarantees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8" name="Slide Number Placeholder 2">
            <a:extLst>
              <a:ext uri="{FF2B5EF4-FFF2-40B4-BE49-F238E27FC236}">
                <a16:creationId xmlns:a16="http://schemas.microsoft.com/office/drawing/2014/main" id="{5EAB89B4-AD20-DC49-B545-2C57C5923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2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rgbClr val="010086"/>
              </a:buClr>
            </a:pPr>
            <a:r>
              <a:rPr lang="en-US" altLang="en-US" sz="3200" dirty="0"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0B21A-FE22-1F4F-81B8-C7DE0CD99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56B19-18BF-2345-8627-5E54E4C0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FFEBBBB-2623-A645-BE22-49AB28379D36}"/>
              </a:ext>
            </a:extLst>
          </p:cNvPr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6AB7BA-7EC8-0044-B495-B5FBC9F37B18}"/>
              </a:ext>
            </a:extLst>
          </p:cNvPr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 msg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Slide Number Placeholder 2">
            <a:extLst>
              <a:ext uri="{FF2B5EF4-FFF2-40B4-BE49-F238E27FC236}">
                <a16:creationId xmlns:a16="http://schemas.microsoft.com/office/drawing/2014/main" id="{065CB0E2-E88A-814E-8D57-5A55C91A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532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BCE33F-AF9C-9244-A84E-ABFE39D35FDD}"/>
              </a:ext>
            </a:extLst>
          </p:cNvPr>
          <p:cNvGrpSpPr/>
          <p:nvPr/>
        </p:nvGrpSpPr>
        <p:grpSpPr>
          <a:xfrm>
            <a:off x="5528837" y="2685375"/>
            <a:ext cx="1404036" cy="384588"/>
            <a:chOff x="8597346" y="692270"/>
            <a:chExt cx="1404036" cy="384588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181679B-461D-F54E-B35C-1F26F43C0389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C8C24D3-DD36-2249-9CAB-AD499E2FCA24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E8010F-AACF-1444-9E25-B05D5044AA5A}"/>
                </a:ext>
              </a:extLst>
            </p:cNvPr>
            <p:cNvSpPr txBox="1"/>
            <p:nvPr/>
          </p:nvSpPr>
          <p:spPr>
            <a:xfrm>
              <a:off x="8597346" y="692270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4FFEBBBB-2623-A645-BE22-49AB28379D36}"/>
              </a:ext>
            </a:extLst>
          </p:cNvPr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6AB7BA-7EC8-0044-B495-B5FBC9F37B18}"/>
              </a:ext>
            </a:extLst>
          </p:cNvPr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 msg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44E6E3-ED5F-EA46-A3F3-2FC71EED50CF}"/>
              </a:ext>
            </a:extLst>
          </p:cNvPr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Slide Number Placeholder 2">
            <a:extLst>
              <a:ext uri="{FF2B5EF4-FFF2-40B4-BE49-F238E27FC236}">
                <a16:creationId xmlns:a16="http://schemas.microsoft.com/office/drawing/2014/main" id="{3651FB73-A1BA-B148-9B5B-B80094A91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25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BCE33F-AF9C-9244-A84E-ABFE39D35FDD}"/>
              </a:ext>
            </a:extLst>
          </p:cNvPr>
          <p:cNvGrpSpPr/>
          <p:nvPr/>
        </p:nvGrpSpPr>
        <p:grpSpPr>
          <a:xfrm>
            <a:off x="5525255" y="2683797"/>
            <a:ext cx="1407618" cy="386166"/>
            <a:chOff x="8593764" y="690692"/>
            <a:chExt cx="1407618" cy="38616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181679B-461D-F54E-B35C-1F26F43C0389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C8C24D3-DD36-2249-9CAB-AD499E2FCA24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E8010F-AACF-1444-9E25-B05D5044AA5A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B18E3F3-40BD-0C49-8324-41152F4086DF}"/>
              </a:ext>
            </a:extLst>
          </p:cNvPr>
          <p:cNvGrpSpPr/>
          <p:nvPr/>
        </p:nvGrpSpPr>
        <p:grpSpPr>
          <a:xfrm>
            <a:off x="5272320" y="3145339"/>
            <a:ext cx="1651423" cy="389371"/>
            <a:chOff x="8349959" y="687487"/>
            <a:chExt cx="1651423" cy="38937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BFCB17-7AF9-A04A-B142-3A8A74A0F13F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7480891-1114-0843-9D86-8F8D5F0BD098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180BA86-1AC2-8249-A8BF-24B0BD4B001D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5880B3B-4ADE-F941-961B-5B939CD2E4D3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4FFEBBBB-2623-A645-BE22-49AB28379D36}"/>
              </a:ext>
            </a:extLst>
          </p:cNvPr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6AB7BA-7EC8-0044-B495-B5FBC9F37B18}"/>
              </a:ext>
            </a:extLst>
          </p:cNvPr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 msg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44E6E3-ED5F-EA46-A3F3-2FC71EED50CF}"/>
              </a:ext>
            </a:extLst>
          </p:cNvPr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F974F9-F1CB-EB4F-9996-B0CAF21D948C}"/>
              </a:ext>
            </a:extLst>
          </p:cNvPr>
          <p:cNvSpPr/>
          <p:nvPr/>
        </p:nvSpPr>
        <p:spPr>
          <a:xfrm>
            <a:off x="5474955" y="2744519"/>
            <a:ext cx="1478052" cy="2842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Slide Number Placeholder 2">
            <a:extLst>
              <a:ext uri="{FF2B5EF4-FFF2-40B4-BE49-F238E27FC236}">
                <a16:creationId xmlns:a16="http://schemas.microsoft.com/office/drawing/2014/main" id="{763B7DCD-B52F-3E47-BEBE-99834B403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5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B18E3F3-40BD-0C49-8324-41152F4086DF}"/>
              </a:ext>
            </a:extLst>
          </p:cNvPr>
          <p:cNvGrpSpPr/>
          <p:nvPr/>
        </p:nvGrpSpPr>
        <p:grpSpPr>
          <a:xfrm>
            <a:off x="4107096" y="5561831"/>
            <a:ext cx="1651423" cy="389371"/>
            <a:chOff x="8349959" y="687487"/>
            <a:chExt cx="1651423" cy="38937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BFCB17-7AF9-A04A-B142-3A8A74A0F13F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7480891-1114-0843-9D86-8F8D5F0BD098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180BA86-1AC2-8249-A8BF-24B0BD4B001D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5880B3B-4ADE-F941-961B-5B939CD2E4D3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B834CFE-E231-7940-A2C6-E5A762AAF408}"/>
              </a:ext>
            </a:extLst>
          </p:cNvPr>
          <p:cNvCxnSpPr/>
          <p:nvPr/>
        </p:nvCxnSpPr>
        <p:spPr>
          <a:xfrm flipH="1">
            <a:off x="3701909" y="5774614"/>
            <a:ext cx="3002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Slide Number Placeholder 2">
            <a:extLst>
              <a:ext uri="{FF2B5EF4-FFF2-40B4-BE49-F238E27FC236}">
                <a16:creationId xmlns:a16="http://schemas.microsoft.com/office/drawing/2014/main" id="{9D27FD24-CD71-B149-A674-58F712CA9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38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721857" cy="344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  <a:r>
                <a:rPr kumimoji="0" lang="en-US" sz="2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0EE723F-4512-B04F-A1A8-CFC321B8BC75}"/>
                </a:ext>
              </a:extLst>
            </p:cNvPr>
            <p:cNvSpPr txBox="1"/>
            <p:nvPr/>
          </p:nvSpPr>
          <p:spPr>
            <a:xfrm>
              <a:off x="8196770" y="3636485"/>
              <a:ext cx="721857" cy="344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  <a:r>
                <a:rPr kumimoji="0" lang="en-US" sz="2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9704593" y="3018504"/>
            <a:ext cx="0" cy="232960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6146230" y="5329338"/>
            <a:ext cx="355836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28">
            <a:extLst>
              <a:ext uri="{FF2B5EF4-FFF2-40B4-BE49-F238E27FC236}">
                <a16:creationId xmlns:a16="http://schemas.microsoft.com/office/drawing/2014/main" id="{C9683072-CF4E-DB4A-85E4-079345D6F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190" y="1924156"/>
            <a:ext cx="1049472" cy="530701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P-client</a:t>
            </a:r>
            <a:r>
              <a:rPr kumimoji="0" lang="en-US" sz="16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</a:t>
            </a:r>
          </a:p>
        </p:txBody>
      </p:sp>
      <p:sp>
        <p:nvSpPr>
          <p:cNvPr id="108" name="Oval 128">
            <a:extLst>
              <a:ext uri="{FF2B5EF4-FFF2-40B4-BE49-F238E27FC236}">
                <a16:creationId xmlns:a16="http://schemas.microsoft.com/office/drawing/2014/main" id="{12C63F66-A046-B04C-ABF5-DE764DC4A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177" y="1951196"/>
            <a:ext cx="1049472" cy="530701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P-client</a:t>
            </a:r>
            <a:r>
              <a:rPr kumimoji="0" lang="en-US" sz="16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2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06AE4EB-B6F7-D647-8126-954E43EA0CD4}"/>
              </a:ext>
            </a:extLst>
          </p:cNvPr>
          <p:cNvSpPr/>
          <p:nvPr/>
        </p:nvSpPr>
        <p:spPr>
          <a:xfrm>
            <a:off x="6149438" y="2346690"/>
            <a:ext cx="163654" cy="3001414"/>
          </a:xfrm>
          <a:custGeom>
            <a:avLst/>
            <a:gdLst>
              <a:gd name="connsiteX0" fmla="*/ 0 w 237994"/>
              <a:gd name="connsiteY0" fmla="*/ 3006247 h 3006247"/>
              <a:gd name="connsiteX1" fmla="*/ 0 w 237994"/>
              <a:gd name="connsiteY1" fmla="*/ 125260 h 3006247"/>
              <a:gd name="connsiteX2" fmla="*/ 125260 w 237994"/>
              <a:gd name="connsiteY2" fmla="*/ 0 h 3006247"/>
              <a:gd name="connsiteX3" fmla="*/ 237994 w 237994"/>
              <a:gd name="connsiteY3" fmla="*/ 0 h 3006247"/>
              <a:gd name="connsiteX4" fmla="*/ 237994 w 237994"/>
              <a:gd name="connsiteY4" fmla="*/ 0 h 3006247"/>
              <a:gd name="connsiteX0" fmla="*/ 0 w 237994"/>
              <a:gd name="connsiteY0" fmla="*/ 3006247 h 3006247"/>
              <a:gd name="connsiteX1" fmla="*/ 0 w 237994"/>
              <a:gd name="connsiteY1" fmla="*/ 125260 h 3006247"/>
              <a:gd name="connsiteX2" fmla="*/ 125260 w 237994"/>
              <a:gd name="connsiteY2" fmla="*/ 0 h 3006247"/>
              <a:gd name="connsiteX3" fmla="*/ 237994 w 237994"/>
              <a:gd name="connsiteY3" fmla="*/ 0 h 3006247"/>
              <a:gd name="connsiteX0" fmla="*/ 0 w 125260"/>
              <a:gd name="connsiteY0" fmla="*/ 3006247 h 3006247"/>
              <a:gd name="connsiteX1" fmla="*/ 0 w 125260"/>
              <a:gd name="connsiteY1" fmla="*/ 125260 h 3006247"/>
              <a:gd name="connsiteX2" fmla="*/ 125260 w 125260"/>
              <a:gd name="connsiteY2" fmla="*/ 0 h 300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60" h="3006247">
                <a:moveTo>
                  <a:pt x="0" y="3006247"/>
                </a:moveTo>
                <a:lnTo>
                  <a:pt x="0" y="125260"/>
                </a:lnTo>
                <a:lnTo>
                  <a:pt x="125260" y="0"/>
                </a:lnTo>
              </a:path>
            </a:pathLst>
          </a:custGeom>
          <a:noFill/>
          <a:ln w="34925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26C1DF51-2C5A-3042-AF2B-8FAC17544498}"/>
              </a:ext>
            </a:extLst>
          </p:cNvPr>
          <p:cNvSpPr/>
          <p:nvPr/>
        </p:nvSpPr>
        <p:spPr>
          <a:xfrm flipH="1">
            <a:off x="5797083" y="2342230"/>
            <a:ext cx="163654" cy="3099711"/>
          </a:xfrm>
          <a:custGeom>
            <a:avLst/>
            <a:gdLst>
              <a:gd name="connsiteX0" fmla="*/ 0 w 237994"/>
              <a:gd name="connsiteY0" fmla="*/ 3006247 h 3006247"/>
              <a:gd name="connsiteX1" fmla="*/ 0 w 237994"/>
              <a:gd name="connsiteY1" fmla="*/ 125260 h 3006247"/>
              <a:gd name="connsiteX2" fmla="*/ 125260 w 237994"/>
              <a:gd name="connsiteY2" fmla="*/ 0 h 3006247"/>
              <a:gd name="connsiteX3" fmla="*/ 237994 w 237994"/>
              <a:gd name="connsiteY3" fmla="*/ 0 h 3006247"/>
              <a:gd name="connsiteX4" fmla="*/ 237994 w 237994"/>
              <a:gd name="connsiteY4" fmla="*/ 0 h 3006247"/>
              <a:gd name="connsiteX0" fmla="*/ 0 w 237994"/>
              <a:gd name="connsiteY0" fmla="*/ 3006247 h 3006247"/>
              <a:gd name="connsiteX1" fmla="*/ 0 w 237994"/>
              <a:gd name="connsiteY1" fmla="*/ 125260 h 3006247"/>
              <a:gd name="connsiteX2" fmla="*/ 125260 w 237994"/>
              <a:gd name="connsiteY2" fmla="*/ 0 h 3006247"/>
              <a:gd name="connsiteX3" fmla="*/ 237994 w 237994"/>
              <a:gd name="connsiteY3" fmla="*/ 0 h 3006247"/>
              <a:gd name="connsiteX0" fmla="*/ 0 w 125260"/>
              <a:gd name="connsiteY0" fmla="*/ 3006247 h 3006247"/>
              <a:gd name="connsiteX1" fmla="*/ 0 w 125260"/>
              <a:gd name="connsiteY1" fmla="*/ 125260 h 3006247"/>
              <a:gd name="connsiteX2" fmla="*/ 125260 w 125260"/>
              <a:gd name="connsiteY2" fmla="*/ 0 h 300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60" h="3006247">
                <a:moveTo>
                  <a:pt x="0" y="3006247"/>
                </a:moveTo>
                <a:lnTo>
                  <a:pt x="0" y="125260"/>
                </a:lnTo>
                <a:lnTo>
                  <a:pt x="125260" y="0"/>
                </a:ln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F7169CD-8DF9-644A-84B2-14B8ED6F997C}"/>
              </a:ext>
            </a:extLst>
          </p:cNvPr>
          <p:cNvCxnSpPr>
            <a:cxnSpLocks/>
          </p:cNvCxnSpPr>
          <p:nvPr/>
        </p:nvCxnSpPr>
        <p:spPr>
          <a:xfrm>
            <a:off x="3218929" y="3094306"/>
            <a:ext cx="0" cy="232960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1322F59-E51A-0245-A327-5845569D47A8}"/>
              </a:ext>
            </a:extLst>
          </p:cNvPr>
          <p:cNvCxnSpPr>
            <a:cxnSpLocks/>
          </p:cNvCxnSpPr>
          <p:nvPr/>
        </p:nvCxnSpPr>
        <p:spPr>
          <a:xfrm>
            <a:off x="3189176" y="5423906"/>
            <a:ext cx="2771561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Picture 8" descr="Image result for blue question mark icon">
            <a:extLst>
              <a:ext uri="{FF2B5EF4-FFF2-40B4-BE49-F238E27FC236}">
                <a16:creationId xmlns:a16="http://schemas.microsoft.com/office/drawing/2014/main" id="{9970C4B0-3E2B-3247-8288-8E8606068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255" y="752589"/>
            <a:ext cx="1624375" cy="16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FBAF143A-4EAF-324F-A6C2-31B9E7C42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76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Multiplexing/demultiplexing</a:t>
            </a:r>
          </a:p>
        </p:txBody>
      </p:sp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5108431" y="3572744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768" y="4498257"/>
            <a:ext cx="895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368" y="4096619"/>
            <a:ext cx="755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7016607" y="1655043"/>
            <a:ext cx="4836313" cy="1639889"/>
            <a:chOff x="7016607" y="1655043"/>
            <a:chExt cx="4836313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2970" y="1655043"/>
              <a:ext cx="4679950" cy="1639889"/>
              <a:chOff x="2899" y="903"/>
              <a:chExt cx="2948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use header info to deliver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received segments to correct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9" y="903"/>
                <a:ext cx="2553" cy="348"/>
                <a:chOff x="905" y="3594"/>
                <a:chExt cx="2049" cy="348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5" y="3594"/>
                  <a:ext cx="2049" cy="33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demultiplexing at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9823306" y="4171232"/>
            <a:ext cx="533400" cy="206375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118" y="362354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193" y="3677519"/>
            <a:ext cx="1473200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7543" y="4447457"/>
            <a:ext cx="146050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981" y="442999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131" y="476495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806" y="36441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53348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50491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47506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718" y="40188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5956" y="507610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2781" y="537455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868" y="40188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6468918" y="4377607"/>
            <a:ext cx="412750" cy="158750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5767243" y="4369669"/>
            <a:ext cx="412750" cy="158750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306" y="399343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0206" y="404740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731" y="480781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6868" y="479035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7668" y="512849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381" y="543805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381" y="572380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793" y="40378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343" y="569523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393" y="54094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6868" y="511420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756" y="4379194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9166081" y="4025182"/>
            <a:ext cx="581025" cy="20383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976418" y="4045819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318" y="400136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218" y="4055344"/>
            <a:ext cx="12731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4743" y="481575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881" y="479829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681" y="513643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393" y="544599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393" y="573174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806" y="40458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356" y="57031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406" y="54174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881" y="512214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768" y="43871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3962256" y="4725269"/>
            <a:ext cx="412750" cy="158750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8302481" y="4723682"/>
            <a:ext cx="412750" cy="158750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6349856" y="4425232"/>
            <a:ext cx="2173287" cy="1989137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6468918" y="4456982"/>
            <a:ext cx="1984375" cy="1876425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9018" y="453635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060931" y="4663331"/>
            <a:ext cx="555332" cy="71510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5311630" y="3275882"/>
            <a:ext cx="688975" cy="1435100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6211743" y="3239369"/>
            <a:ext cx="1047750" cy="1441450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2511281" y="5555532"/>
            <a:ext cx="800100" cy="828675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93106" y="5469807"/>
            <a:ext cx="788987" cy="782637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5083031" y="5055469"/>
            <a:ext cx="358775" cy="704850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1183088" y="1563001"/>
            <a:ext cx="4826032" cy="1719654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handle data from multiple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multiplexing at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4198793" y="4458569"/>
            <a:ext cx="1962150" cy="1897063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4135293" y="4433169"/>
            <a:ext cx="2160588" cy="1989138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450940" y="4321755"/>
            <a:ext cx="3748969" cy="11488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9" name="Slide Number Placeholder 2">
            <a:extLst>
              <a:ext uri="{FF2B5EF4-FFF2-40B4-BE49-F238E27FC236}">
                <a16:creationId xmlns:a16="http://schemas.microsoft.com/office/drawing/2014/main" id="{1BB112E7-9179-7C48-99F0-38E45F5BC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0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How demultiplexing </a:t>
            </a:r>
            <a:r>
              <a:rPr lang="en-US" dirty="0"/>
              <a:t>w</a:t>
            </a:r>
            <a:r>
              <a:rPr lang="en-US" sz="4400" dirty="0"/>
              <a:t>orks</a:t>
            </a:r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0F916DA5-15D2-0A42-8C9B-01DCE4B19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799" y="1565761"/>
            <a:ext cx="5703304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receives IP datagrams</a:t>
            </a:r>
          </a:p>
          <a:p>
            <a:pPr marL="687388" marR="0" lvl="1" indent="-2301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each datagram has source IP address, destination IP address</a:t>
            </a:r>
          </a:p>
          <a:p>
            <a:pPr marL="687388" marR="0" lvl="1" indent="-2301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each datagram carries one transport-layer segment</a:t>
            </a:r>
          </a:p>
          <a:p>
            <a:pPr marL="687388" marR="0" lvl="1" indent="-2301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each segment has source, destination port number 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uses </a:t>
            </a: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IP addresses &amp; port numbers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to direct segment to appropriate socket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543216" y="1704452"/>
            <a:ext cx="3414712" cy="4121150"/>
            <a:chOff x="7543216" y="1704452"/>
            <a:chExt cx="3414712" cy="4121150"/>
          </a:xfrm>
        </p:grpSpPr>
        <p:sp>
          <p:nvSpPr>
            <p:cNvPr id="275" name="Rectangle 75">
              <a:extLst>
                <a:ext uri="{FF2B5EF4-FFF2-40B4-BE49-F238E27FC236}">
                  <a16:creationId xmlns:a16="http://schemas.microsoft.com/office/drawing/2014/main" id="{FCCA66F1-5923-DC45-83A7-1942BA80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703" y="2048939"/>
              <a:ext cx="3324225" cy="3200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Rectangle 65">
              <a:extLst>
                <a:ext uri="{FF2B5EF4-FFF2-40B4-BE49-F238E27FC236}">
                  <a16:creationId xmlns:a16="http://schemas.microsoft.com/office/drawing/2014/main" id="{325B2818-1D14-0544-87D5-B34939698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7503" y="2144189"/>
              <a:ext cx="3324225" cy="3200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63">
              <a:extLst>
                <a:ext uri="{FF2B5EF4-FFF2-40B4-BE49-F238E27FC236}">
                  <a16:creationId xmlns:a16="http://schemas.microsoft.com/office/drawing/2014/main" id="{0308811F-F83C-684C-9A70-7056E7030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7191" y="2156889"/>
              <a:ext cx="15636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port #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9" name="Text Box 64">
              <a:extLst>
                <a:ext uri="{FF2B5EF4-FFF2-40B4-BE49-F238E27FC236}">
                  <a16:creationId xmlns:a16="http://schemas.microsoft.com/office/drawing/2014/main" id="{DFDB1254-258A-D74F-9312-2F08048EE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3128" y="2156889"/>
              <a:ext cx="132873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port #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Line 66">
              <a:extLst>
                <a:ext uri="{FF2B5EF4-FFF2-40B4-BE49-F238E27FC236}">
                  <a16:creationId xmlns:a16="http://schemas.microsoft.com/office/drawing/2014/main" id="{7758F487-6FB2-F34B-84F0-976833827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7978" y="2544239"/>
              <a:ext cx="33289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1" name="Line 68">
              <a:extLst>
                <a:ext uri="{FF2B5EF4-FFF2-40B4-BE49-F238E27FC236}">
                  <a16:creationId xmlns:a16="http://schemas.microsoft.com/office/drawing/2014/main" id="{A9895192-7D02-2F4C-B006-EAE3FEF5F7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503" y="3534839"/>
              <a:ext cx="33242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2" name="Line 69">
              <a:extLst>
                <a:ext uri="{FF2B5EF4-FFF2-40B4-BE49-F238E27FC236}">
                  <a16:creationId xmlns:a16="http://schemas.microsoft.com/office/drawing/2014/main" id="{7ABA37B1-9C1B-8F43-9F10-44126FAB2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95803" y="2144189"/>
              <a:ext cx="0" cy="395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3" name="Text Box 70">
              <a:extLst>
                <a:ext uri="{FF2B5EF4-FFF2-40B4-BE49-F238E27FC236}">
                  <a16:creationId xmlns:a16="http://schemas.microsoft.com/office/drawing/2014/main" id="{B3C9350B-DCA6-5E4A-91AA-5C2AD14EC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0191" y="1704452"/>
              <a:ext cx="8636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4" name="Line 71">
              <a:extLst>
                <a:ext uri="{FF2B5EF4-FFF2-40B4-BE49-F238E27FC236}">
                  <a16:creationId xmlns:a16="http://schemas.microsoft.com/office/drawing/2014/main" id="{D16D54C4-5717-9E46-AA93-1E6BB3430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53003" y="1910827"/>
              <a:ext cx="1200150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Line 72">
              <a:extLst>
                <a:ext uri="{FF2B5EF4-FFF2-40B4-BE49-F238E27FC236}">
                  <a16:creationId xmlns:a16="http://schemas.microsoft.com/office/drawing/2014/main" id="{332269D9-54A4-6446-BBAD-BD3F06A73E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543216" y="1920352"/>
              <a:ext cx="1128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6" name="Text Box 73">
              <a:extLst>
                <a:ext uri="{FF2B5EF4-FFF2-40B4-BE49-F238E27FC236}">
                  <a16:creationId xmlns:a16="http://schemas.microsoft.com/office/drawing/2014/main" id="{8F7D97AE-E89E-684A-9571-5959DA8E3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266" y="3865039"/>
              <a:ext cx="1389062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(payload)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7" name="Text Box 74">
              <a:extLst>
                <a:ext uri="{FF2B5EF4-FFF2-40B4-BE49-F238E27FC236}">
                  <a16:creationId xmlns:a16="http://schemas.microsoft.com/office/drawing/2014/main" id="{A5362E3E-8643-6A43-A4FE-BD56FF4F0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7091" y="2898252"/>
              <a:ext cx="229076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other header fields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8" name="Text Box 76">
              <a:extLst>
                <a:ext uri="{FF2B5EF4-FFF2-40B4-BE49-F238E27FC236}">
                  <a16:creationId xmlns:a16="http://schemas.microsoft.com/office/drawing/2014/main" id="{2FE71CF3-191A-C44F-839C-1CF4D7DFF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0228" y="5428727"/>
              <a:ext cx="3060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TCP/UDP segment format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Oval 3"/>
          <p:cNvSpPr/>
          <p:nvPr/>
        </p:nvSpPr>
        <p:spPr>
          <a:xfrm>
            <a:off x="7299923" y="1976355"/>
            <a:ext cx="2083205" cy="689091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014727" y="1985006"/>
            <a:ext cx="2083205" cy="689091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CB301DF9-007E-7F42-9982-6FB05291D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4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Connectionless demultiplexing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E258CE6-39AA-994E-A005-93DEFB62A3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89" y="1523600"/>
            <a:ext cx="5254159" cy="2113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marR="0" lvl="0" indent="-2905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creating socket, must specify </a:t>
            </a:r>
            <a:r>
              <a:rPr kumimoji="0" lang="en-US" sz="3500" b="0" i="1" u="none" strike="noStrike" kern="1200" cap="none" spc="0" normalizeH="0" baseline="0" noProof="0" dirty="0">
                <a:ln>
                  <a:noFill/>
                </a:ln>
                <a:solidFill>
                  <a:srgbClr val="CD000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host-local </a:t>
            </a: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 #:</a:t>
            </a:r>
          </a:p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</a:t>
            </a:r>
          </a:p>
          <a:p>
            <a:pPr marL="347663" marR="0" lvl="0" indent="-2905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DatagramSocket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mySocket1        = new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DatagramSocket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12534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);</a:t>
            </a:r>
          </a:p>
          <a:p>
            <a:pPr marL="347663" marR="0" lvl="0" indent="-2905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05">
            <a:extLst>
              <a:ext uri="{FF2B5EF4-FFF2-40B4-BE49-F238E27FC236}">
                <a16:creationId xmlns:a16="http://schemas.microsoft.com/office/drawing/2014/main" id="{86EE0BD4-F2E4-AA4C-ABE7-69DA3D493545}"/>
              </a:ext>
            </a:extLst>
          </p:cNvPr>
          <p:cNvSpPr txBox="1">
            <a:spLocks noChangeArrowheads="1"/>
          </p:cNvSpPr>
          <p:nvPr/>
        </p:nvSpPr>
        <p:spPr>
          <a:xfrm>
            <a:off x="6774662" y="1514612"/>
            <a:ext cx="4894407" cy="23685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receiving host receives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checks destination port # in segment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directs UDP segment to socket with that port #</a:t>
            </a:r>
          </a:p>
        </p:txBody>
      </p:sp>
      <p:sp>
        <p:nvSpPr>
          <p:cNvPr id="20" name="Rectangle 108">
            <a:extLst>
              <a:ext uri="{FF2B5EF4-FFF2-40B4-BE49-F238E27FC236}">
                <a16:creationId xmlns:a16="http://schemas.microsoft.com/office/drawing/2014/main" id="{D64D1D76-B139-F94A-A00F-C768B665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807" y="3328506"/>
            <a:ext cx="5227637" cy="2751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7663" marR="0" lvl="0" indent="-29051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when creating datagram to send into UDP socket, must specify</a:t>
            </a:r>
          </a:p>
          <a:p>
            <a:pPr marL="858838" marR="0" lvl="1" indent="-23971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destination IP address</a:t>
            </a:r>
          </a:p>
          <a:p>
            <a:pPr marL="858838" marR="0" lvl="1" indent="-23971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destination port #</a:t>
            </a:r>
          </a:p>
        </p:txBody>
      </p:sp>
      <p:sp>
        <p:nvSpPr>
          <p:cNvPr id="21" name="Rectangle 111">
            <a:extLst>
              <a:ext uri="{FF2B5EF4-FFF2-40B4-BE49-F238E27FC236}">
                <a16:creationId xmlns:a16="http://schemas.microsoft.com/office/drawing/2014/main" id="{1D23ED05-24C1-E24F-9A5D-E84D26B52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002" y="4420787"/>
            <a:ext cx="5188153" cy="2336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IP/UDP datagrams with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same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dest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. port #,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but different source IP addresses and/or source port numbers will be directed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same socket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at receiving host</a:t>
            </a:r>
          </a:p>
        </p:txBody>
      </p:sp>
      <p:sp>
        <p:nvSpPr>
          <p:cNvPr id="23" name="AutoShape 113">
            <a:extLst>
              <a:ext uri="{FF2B5EF4-FFF2-40B4-BE49-F238E27FC236}">
                <a16:creationId xmlns:a16="http://schemas.microsoft.com/office/drawing/2014/main" id="{AE0FE900-8538-8F4F-BD27-2C9A09F232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62884" y="3896801"/>
            <a:ext cx="560388" cy="311150"/>
          </a:xfrm>
          <a:prstGeom prst="rightArrow">
            <a:avLst>
              <a:gd name="adj1" fmla="val 50000"/>
              <a:gd name="adj2" fmla="val 4502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32E731-A5B9-B44F-853B-A87FFA65AAE0}"/>
              </a:ext>
            </a:extLst>
          </p:cNvPr>
          <p:cNvSpPr/>
          <p:nvPr/>
        </p:nvSpPr>
        <p:spPr>
          <a:xfrm>
            <a:off x="4202130" y="2887038"/>
            <a:ext cx="1909314" cy="9961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86F80CC4-FDCF-FF42-8BB3-8A9B1A2B5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93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 animBg="1"/>
      <p:bldP spid="4" grpId="0" animBg="1"/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Connectionless demultiplexing: an example</a:t>
            </a:r>
          </a:p>
        </p:txBody>
      </p:sp>
      <p:sp>
        <p:nvSpPr>
          <p:cNvPr id="138" name="Rectangle 44">
            <a:extLst>
              <a:ext uri="{FF2B5EF4-FFF2-40B4-BE49-F238E27FC236}">
                <a16:creationId xmlns:a16="http://schemas.microsoft.com/office/drawing/2014/main" id="{E4FB09F6-4D90-9944-956D-25B59CB77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8987" y="1387147"/>
            <a:ext cx="4217987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173038" marR="0" lvl="0" indent="-1730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DatagramSocket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serverSocket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new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DatagramSocket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charset="0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(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6428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);</a:t>
            </a:r>
          </a:p>
          <a:p>
            <a:pPr marL="173038" marR="0" lvl="0" indent="-1730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39" name="Freeform 89">
            <a:extLst>
              <a:ext uri="{FF2B5EF4-FFF2-40B4-BE49-F238E27FC236}">
                <a16:creationId xmlns:a16="http://schemas.microsoft.com/office/drawing/2014/main" id="{28FDDD2F-FD14-B643-A369-43EE4030BEDB}"/>
              </a:ext>
            </a:extLst>
          </p:cNvPr>
          <p:cNvSpPr>
            <a:spLocks/>
          </p:cNvSpPr>
          <p:nvPr/>
        </p:nvSpPr>
        <p:spPr bwMode="auto">
          <a:xfrm>
            <a:off x="4799806" y="2502914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0" name="Freeform 97">
            <a:extLst>
              <a:ext uri="{FF2B5EF4-FFF2-40B4-BE49-F238E27FC236}">
                <a16:creationId xmlns:a16="http://schemas.microsoft.com/office/drawing/2014/main" id="{64DF8D3E-75B9-8F40-BCD6-78530C047B4F}"/>
              </a:ext>
            </a:extLst>
          </p:cNvPr>
          <p:cNvSpPr>
            <a:spLocks/>
          </p:cNvSpPr>
          <p:nvPr/>
        </p:nvSpPr>
        <p:spPr bwMode="auto">
          <a:xfrm>
            <a:off x="2015331" y="2807714"/>
            <a:ext cx="460375" cy="2193925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17E6F561-D2E2-784F-818C-D83319DE8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156" y="2774376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F331F96E-BFA3-B949-B96F-DCA5E9AF3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056" y="2828351"/>
            <a:ext cx="12731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2EFF90D8-8133-E042-BB15-B540A8DAE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1581" y="35887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53A1C5C8-02A4-B440-B555-BBEB69595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718" y="3571301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1E8AAE6-A7CD-924F-8779-9257D875B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9518" y="390943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CA7EEA54-B56E-2B48-9F82-BCDEC7D39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5231" y="4219001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3328B79-CBD4-B041-B159-E3286EADB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5231" y="4504751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3062900D-4135-244C-9B1F-EE7CC03B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643" y="2818826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F09CC3DB-2FE1-524D-8CDC-16023843D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193" y="4476176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11BEC4C2-90AF-3642-B6AA-A63B2A81D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243" y="4190426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0727B177-EE8F-9E43-B808-DF3EFBDC0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718" y="3895151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110">
            <a:extLst>
              <a:ext uri="{FF2B5EF4-FFF2-40B4-BE49-F238E27FC236}">
                <a16:creationId xmlns:a16="http://schemas.microsoft.com/office/drawing/2014/main" id="{4FA9CEB5-639E-E640-8612-6A0B009F2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606" y="3104576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P3</a:t>
            </a:r>
          </a:p>
        </p:txBody>
      </p:sp>
      <p:grpSp>
        <p:nvGrpSpPr>
          <p:cNvPr id="153" name="Group 111">
            <a:extLst>
              <a:ext uri="{FF2B5EF4-FFF2-40B4-BE49-F238E27FC236}">
                <a16:creationId xmlns:a16="http://schemas.microsoft.com/office/drawing/2014/main" id="{2D14C00E-16C9-D747-9CCE-229E757B8227}"/>
              </a:ext>
            </a:extLst>
          </p:cNvPr>
          <p:cNvGrpSpPr>
            <a:grpSpLocks/>
          </p:cNvGrpSpPr>
          <p:nvPr/>
        </p:nvGrpSpPr>
        <p:grpSpPr bwMode="auto">
          <a:xfrm>
            <a:off x="2786856" y="3428426"/>
            <a:ext cx="620712" cy="228600"/>
            <a:chOff x="1287" y="2524"/>
            <a:chExt cx="260" cy="100"/>
          </a:xfrm>
        </p:grpSpPr>
        <p:sp>
          <p:nvSpPr>
            <p:cNvPr id="154" name="Rectangle 112">
              <a:extLst>
                <a:ext uri="{FF2B5EF4-FFF2-40B4-BE49-F238E27FC236}">
                  <a16:creationId xmlns:a16="http://schemas.microsoft.com/office/drawing/2014/main" id="{3540F8E1-1FDC-E24A-98FB-7869060F6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13">
              <a:extLst>
                <a:ext uri="{FF2B5EF4-FFF2-40B4-BE49-F238E27FC236}">
                  <a16:creationId xmlns:a16="http://schemas.microsoft.com/office/drawing/2014/main" id="{054ED091-B9B7-3540-A7FD-87F3C3C14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Rectangle 114">
              <a:extLst>
                <a:ext uri="{FF2B5EF4-FFF2-40B4-BE49-F238E27FC236}">
                  <a16:creationId xmlns:a16="http://schemas.microsoft.com/office/drawing/2014/main" id="{380957E5-07F4-134E-B56E-1EC9D1C8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Rectangle 115">
              <a:extLst>
                <a:ext uri="{FF2B5EF4-FFF2-40B4-BE49-F238E27FC236}">
                  <a16:creationId xmlns:a16="http://schemas.microsoft.com/office/drawing/2014/main" id="{35B79E71-94E3-544D-ADB2-B31B6EA8E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58" name="Rectangle 23">
            <a:extLst>
              <a:ext uri="{FF2B5EF4-FFF2-40B4-BE49-F238E27FC236}">
                <a16:creationId xmlns:a16="http://schemas.microsoft.com/office/drawing/2014/main" id="{4CF23822-9D9B-0E42-93CC-6BA8EA893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493" y="254101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Rectangle 24">
            <a:extLst>
              <a:ext uri="{FF2B5EF4-FFF2-40B4-BE49-F238E27FC236}">
                <a16:creationId xmlns:a16="http://schemas.microsoft.com/office/drawing/2014/main" id="{043A00F1-55AA-3943-A4DB-B6F911EC9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568" y="2594989"/>
            <a:ext cx="1473200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25">
            <a:extLst>
              <a:ext uri="{FF2B5EF4-FFF2-40B4-BE49-F238E27FC236}">
                <a16:creationId xmlns:a16="http://schemas.microsoft.com/office/drawing/2014/main" id="{97882FBC-8DAC-564D-B4C8-8B618C94E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8918" y="3364926"/>
            <a:ext cx="146050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26">
            <a:extLst>
              <a:ext uri="{FF2B5EF4-FFF2-40B4-BE49-F238E27FC236}">
                <a16:creationId xmlns:a16="http://schemas.microsoft.com/office/drawing/2014/main" id="{6533FADA-08A6-274F-99DA-B76CD1318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0356" y="3347464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62" name="Line 27">
            <a:extLst>
              <a:ext uri="{FF2B5EF4-FFF2-40B4-BE49-F238E27FC236}">
                <a16:creationId xmlns:a16="http://schemas.microsoft.com/office/drawing/2014/main" id="{59739078-AC3B-BB43-A01C-5156C6AC1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0506" y="3682426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26">
            <a:extLst>
              <a:ext uri="{FF2B5EF4-FFF2-40B4-BE49-F238E27FC236}">
                <a16:creationId xmlns:a16="http://schemas.microsoft.com/office/drawing/2014/main" id="{78720604-E3E1-AA4C-8564-8B884DC18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181" y="2561651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64" name="Text Box 26">
            <a:extLst>
              <a:ext uri="{FF2B5EF4-FFF2-40B4-BE49-F238E27FC236}">
                <a16:creationId xmlns:a16="http://schemas.microsoft.com/office/drawing/2014/main" id="{0FE55F8B-E56B-8B4C-8A35-D5894CB5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006" y="4252339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65" name="Text Box 26">
            <a:extLst>
              <a:ext uri="{FF2B5EF4-FFF2-40B4-BE49-F238E27FC236}">
                <a16:creationId xmlns:a16="http://schemas.microsoft.com/office/drawing/2014/main" id="{3CBEC5FD-FC48-0B44-A978-2775A463A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006" y="3966589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66" name="Text Box 26">
            <a:extLst>
              <a:ext uri="{FF2B5EF4-FFF2-40B4-BE49-F238E27FC236}">
                <a16:creationId xmlns:a16="http://schemas.microsoft.com/office/drawing/2014/main" id="{36939330-E1D8-DD43-8326-8E30CD151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006" y="3668139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67" name="Line 27">
            <a:extLst>
              <a:ext uri="{FF2B5EF4-FFF2-40B4-BE49-F238E27FC236}">
                <a16:creationId xmlns:a16="http://schemas.microsoft.com/office/drawing/2014/main" id="{8F676BB3-CB93-FC44-95E3-71A593E11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7331" y="3993576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Line 27">
            <a:extLst>
              <a:ext uri="{FF2B5EF4-FFF2-40B4-BE49-F238E27FC236}">
                <a16:creationId xmlns:a16="http://schemas.microsoft.com/office/drawing/2014/main" id="{3257C166-E64A-3645-B552-FD16B4D71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4156" y="4292026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Oval 128">
            <a:extLst>
              <a:ext uri="{FF2B5EF4-FFF2-40B4-BE49-F238E27FC236}">
                <a16:creationId xmlns:a16="http://schemas.microsoft.com/office/drawing/2014/main" id="{65AB5E7C-E09E-3141-92D4-FB563873B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668" y="2901376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P1</a:t>
            </a:r>
          </a:p>
        </p:txBody>
      </p:sp>
      <p:grpSp>
        <p:nvGrpSpPr>
          <p:cNvPr id="170" name="Group 134">
            <a:extLst>
              <a:ext uri="{FF2B5EF4-FFF2-40B4-BE49-F238E27FC236}">
                <a16:creationId xmlns:a16="http://schemas.microsoft.com/office/drawing/2014/main" id="{00BF5763-3E40-E147-ACE8-5ED526226DDB}"/>
              </a:ext>
            </a:extLst>
          </p:cNvPr>
          <p:cNvGrpSpPr>
            <a:grpSpLocks/>
          </p:cNvGrpSpPr>
          <p:nvPr/>
        </p:nvGrpSpPr>
        <p:grpSpPr bwMode="auto">
          <a:xfrm>
            <a:off x="5603081" y="3217289"/>
            <a:ext cx="887412" cy="228600"/>
            <a:chOff x="1383" y="2620"/>
            <a:chExt cx="260" cy="100"/>
          </a:xfrm>
        </p:grpSpPr>
        <p:sp>
          <p:nvSpPr>
            <p:cNvPr id="171" name="Rectangle 135">
              <a:extLst>
                <a:ext uri="{FF2B5EF4-FFF2-40B4-BE49-F238E27FC236}">
                  <a16:creationId xmlns:a16="http://schemas.microsoft.com/office/drawing/2014/main" id="{CDC340F8-E46E-7E41-8E35-64383D0A1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2" name="Rectangle 136">
              <a:extLst>
                <a:ext uri="{FF2B5EF4-FFF2-40B4-BE49-F238E27FC236}">
                  <a16:creationId xmlns:a16="http://schemas.microsoft.com/office/drawing/2014/main" id="{CEB2486C-9B9D-0C40-80F1-0DB2CBB3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3" name="Rectangle 137">
              <a:extLst>
                <a:ext uri="{FF2B5EF4-FFF2-40B4-BE49-F238E27FC236}">
                  <a16:creationId xmlns:a16="http://schemas.microsoft.com/office/drawing/2014/main" id="{1376AAC2-B46A-1E4A-9BBE-A4B572F45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4" name="Rectangle 138">
              <a:extLst>
                <a:ext uri="{FF2B5EF4-FFF2-40B4-BE49-F238E27FC236}">
                  <a16:creationId xmlns:a16="http://schemas.microsoft.com/office/drawing/2014/main" id="{D0F29441-9D82-0744-927B-FB9235C64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5" name="Rectangle 23">
            <a:extLst>
              <a:ext uri="{FF2B5EF4-FFF2-40B4-BE49-F238E27FC236}">
                <a16:creationId xmlns:a16="http://schemas.microsoft.com/office/drawing/2014/main" id="{5DBC5F7E-FBFE-9545-9C61-2B1EE876B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4218" y="276643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Rectangle 24">
            <a:extLst>
              <a:ext uri="{FF2B5EF4-FFF2-40B4-BE49-F238E27FC236}">
                <a16:creationId xmlns:a16="http://schemas.microsoft.com/office/drawing/2014/main" id="{7B52E473-BC4F-2546-8F23-4292A3FB8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118" y="2820414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5">
            <a:extLst>
              <a:ext uri="{FF2B5EF4-FFF2-40B4-BE49-F238E27FC236}">
                <a16:creationId xmlns:a16="http://schemas.microsoft.com/office/drawing/2014/main" id="{803956DE-2FA5-4140-9507-22E455660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5643" y="3580826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47E3A0E5-1B3A-834F-8B2A-507EC67A3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2781" y="3563364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79" name="Line 27">
            <a:extLst>
              <a:ext uri="{FF2B5EF4-FFF2-40B4-BE49-F238E27FC236}">
                <a16:creationId xmlns:a16="http://schemas.microsoft.com/office/drawing/2014/main" id="{24C8311A-F267-2B40-8506-DF30931D1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3581" y="3901501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28">
            <a:extLst>
              <a:ext uri="{FF2B5EF4-FFF2-40B4-BE49-F238E27FC236}">
                <a16:creationId xmlns:a16="http://schemas.microsoft.com/office/drawing/2014/main" id="{90B576E6-B5C3-E047-92FE-7535DC868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9293" y="42110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1" name="Line 29">
            <a:extLst>
              <a:ext uri="{FF2B5EF4-FFF2-40B4-BE49-F238E27FC236}">
                <a16:creationId xmlns:a16="http://schemas.microsoft.com/office/drawing/2014/main" id="{DE510BC2-1C0A-3D45-B7F0-09B9A2AFD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9293" y="449681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2" name="Text Box 26">
            <a:extLst>
              <a:ext uri="{FF2B5EF4-FFF2-40B4-BE49-F238E27FC236}">
                <a16:creationId xmlns:a16="http://schemas.microsoft.com/office/drawing/2014/main" id="{DDAE1A42-ED4F-654B-87D0-169CF6BB1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706" y="2810889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83" name="Text Box 26">
            <a:extLst>
              <a:ext uri="{FF2B5EF4-FFF2-40B4-BE49-F238E27FC236}">
                <a16:creationId xmlns:a16="http://schemas.microsoft.com/office/drawing/2014/main" id="{7A014FEE-D35D-4D4E-A6F2-B759C9BE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256" y="4468239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84" name="Text Box 26">
            <a:extLst>
              <a:ext uri="{FF2B5EF4-FFF2-40B4-BE49-F238E27FC236}">
                <a16:creationId xmlns:a16="http://schemas.microsoft.com/office/drawing/2014/main" id="{7B48DF71-7962-E445-ACB0-EE3318149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2306" y="4182489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85" name="Text Box 26">
            <a:extLst>
              <a:ext uri="{FF2B5EF4-FFF2-40B4-BE49-F238E27FC236}">
                <a16:creationId xmlns:a16="http://schemas.microsoft.com/office/drawing/2014/main" id="{35F89933-4707-5D4A-921A-EC7B51E40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2781" y="3887214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86" name="Oval 153">
            <a:extLst>
              <a:ext uri="{FF2B5EF4-FFF2-40B4-BE49-F238E27FC236}">
                <a16:creationId xmlns:a16="http://schemas.microsoft.com/office/drawing/2014/main" id="{215E7B91-C0B7-B74C-B6E7-B5818A255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668" y="3118864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P4</a:t>
            </a:r>
          </a:p>
        </p:txBody>
      </p:sp>
      <p:sp>
        <p:nvSpPr>
          <p:cNvPr id="187" name="Freeform 154">
            <a:extLst>
              <a:ext uri="{FF2B5EF4-FFF2-40B4-BE49-F238E27FC236}">
                <a16:creationId xmlns:a16="http://schemas.microsoft.com/office/drawing/2014/main" id="{3380745A-BF26-D24C-8ACE-76BF4A51F666}"/>
              </a:ext>
            </a:extLst>
          </p:cNvPr>
          <p:cNvSpPr>
            <a:spLocks/>
          </p:cNvSpPr>
          <p:nvPr/>
        </p:nvSpPr>
        <p:spPr bwMode="auto">
          <a:xfrm>
            <a:off x="9613106" y="2787076"/>
            <a:ext cx="504825" cy="21336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8" name="Group 156">
            <a:extLst>
              <a:ext uri="{FF2B5EF4-FFF2-40B4-BE49-F238E27FC236}">
                <a16:creationId xmlns:a16="http://schemas.microsoft.com/office/drawing/2014/main" id="{4260C82D-FA4B-EA40-B99D-03E56D50D1BA}"/>
              </a:ext>
            </a:extLst>
          </p:cNvPr>
          <p:cNvGrpSpPr>
            <a:grpSpLocks/>
          </p:cNvGrpSpPr>
          <p:nvPr/>
        </p:nvGrpSpPr>
        <p:grpSpPr bwMode="auto">
          <a:xfrm>
            <a:off x="8646318" y="3450651"/>
            <a:ext cx="620713" cy="204788"/>
            <a:chOff x="1287" y="2524"/>
            <a:chExt cx="260" cy="100"/>
          </a:xfrm>
        </p:grpSpPr>
        <p:sp>
          <p:nvSpPr>
            <p:cNvPr id="189" name="Rectangle 157">
              <a:extLst>
                <a:ext uri="{FF2B5EF4-FFF2-40B4-BE49-F238E27FC236}">
                  <a16:creationId xmlns:a16="http://schemas.microsoft.com/office/drawing/2014/main" id="{3C55969E-575D-4843-85A0-C9288C89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Rectangle 158">
              <a:extLst>
                <a:ext uri="{FF2B5EF4-FFF2-40B4-BE49-F238E27FC236}">
                  <a16:creationId xmlns:a16="http://schemas.microsoft.com/office/drawing/2014/main" id="{1D81D694-BFCE-CD4C-8B46-411E3E05E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1" name="Rectangle 159">
              <a:extLst>
                <a:ext uri="{FF2B5EF4-FFF2-40B4-BE49-F238E27FC236}">
                  <a16:creationId xmlns:a16="http://schemas.microsoft.com/office/drawing/2014/main" id="{1E24AC3B-00C1-CD43-B2CA-0A3FFEF53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2" name="Rectangle 160">
              <a:extLst>
                <a:ext uri="{FF2B5EF4-FFF2-40B4-BE49-F238E27FC236}">
                  <a16:creationId xmlns:a16="http://schemas.microsoft.com/office/drawing/2014/main" id="{9B3524D6-8B31-5B45-AE62-56D9DEC06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3" name="Rectangle 173">
            <a:extLst>
              <a:ext uri="{FF2B5EF4-FFF2-40B4-BE49-F238E27FC236}">
                <a16:creationId xmlns:a16="http://schemas.microsoft.com/office/drawing/2014/main" id="{ACF402A0-C6AF-8D4B-9459-C028398F8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8800" y="2094763"/>
            <a:ext cx="4189623" cy="65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115888" marR="0" lvl="0" indent="-1158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DatagramSocket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mySocket1 = new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DatagramSocket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5775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);</a:t>
            </a:r>
          </a:p>
          <a:p>
            <a:pPr marL="115888" marR="0" lvl="0" indent="-1158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charset="0"/>
              <a:ea typeface="ＭＳ Ｐゴシック" charset="0"/>
              <a:cs typeface="+mn-cs"/>
            </a:endParaRPr>
          </a:p>
        </p:txBody>
      </p:sp>
      <p:sp>
        <p:nvSpPr>
          <p:cNvPr id="194" name="Rectangle 174">
            <a:extLst>
              <a:ext uri="{FF2B5EF4-FFF2-40B4-BE49-F238E27FC236}">
                <a16:creationId xmlns:a16="http://schemas.microsoft.com/office/drawing/2014/main" id="{4C60141B-5E00-944A-9D60-A427659E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29" y="2088579"/>
            <a:ext cx="3755375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115888" marR="0" lvl="0" indent="-1158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DatagramSocket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mySocket2 = new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DatagramSocket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charset="0"/>
              <a:ea typeface="ＭＳ Ｐゴシック" charset="0"/>
              <a:cs typeface="+mn-cs"/>
            </a:endParaRPr>
          </a:p>
          <a:p>
            <a:pPr marL="115888" marR="0" lvl="0" indent="-1158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9157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);</a:t>
            </a:r>
          </a:p>
          <a:p>
            <a:pPr marL="115888" marR="0" lvl="0" indent="-1158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charset="0"/>
              <a:ea typeface="ＭＳ Ｐゴシック" charset="0"/>
              <a:cs typeface="+mn-cs"/>
            </a:endParaRPr>
          </a:p>
        </p:txBody>
      </p:sp>
      <p:sp>
        <p:nvSpPr>
          <p:cNvPr id="195" name="Line 177">
            <a:extLst>
              <a:ext uri="{FF2B5EF4-FFF2-40B4-BE49-F238E27FC236}">
                <a16:creationId xmlns:a16="http://schemas.microsoft.com/office/drawing/2014/main" id="{3415A4E4-A8D6-0A45-87D5-0E83D0C0F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3393" y="3531614"/>
            <a:ext cx="0" cy="217646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6" name="Line 178">
            <a:extLst>
              <a:ext uri="{FF2B5EF4-FFF2-40B4-BE49-F238E27FC236}">
                <a16:creationId xmlns:a16="http://schemas.microsoft.com/office/drawing/2014/main" id="{A9D1D210-F533-114F-8A39-1FAA948B3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918" y="3290314"/>
            <a:ext cx="12700" cy="24082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7" name="Line 180">
            <a:extLst>
              <a:ext uri="{FF2B5EF4-FFF2-40B4-BE49-F238E27FC236}">
                <a16:creationId xmlns:a16="http://schemas.microsoft.com/office/drawing/2014/main" id="{6B5344BE-1CCC-B340-996D-3B09BDFBB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3393" y="5690614"/>
            <a:ext cx="29368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8" name="Line 181">
            <a:extLst>
              <a:ext uri="{FF2B5EF4-FFF2-40B4-BE49-F238E27FC236}">
                <a16:creationId xmlns:a16="http://schemas.microsoft.com/office/drawing/2014/main" id="{75872309-2BFC-8644-8732-E37B001E2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093" y="3303014"/>
            <a:ext cx="0" cy="22463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9" name="Line 182">
            <a:extLst>
              <a:ext uri="{FF2B5EF4-FFF2-40B4-BE49-F238E27FC236}">
                <a16:creationId xmlns:a16="http://schemas.microsoft.com/office/drawing/2014/main" id="{ED8FED43-69D8-CD40-86EB-26FB24C6E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1343" y="5531864"/>
            <a:ext cx="274002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0" name="Line 183">
            <a:extLst>
              <a:ext uri="{FF2B5EF4-FFF2-40B4-BE49-F238E27FC236}">
                <a16:creationId xmlns:a16="http://schemas.microsoft.com/office/drawing/2014/main" id="{4E77B951-325F-9646-965F-1E9415527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993" y="3518914"/>
            <a:ext cx="12700" cy="20177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1" name="Line 184">
            <a:extLst>
              <a:ext uri="{FF2B5EF4-FFF2-40B4-BE49-F238E27FC236}">
                <a16:creationId xmlns:a16="http://schemas.microsoft.com/office/drawing/2014/main" id="{DE96BAA3-92F8-8647-B475-DC04328C3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3668" y="3569714"/>
            <a:ext cx="0" cy="217646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2" name="Line 185">
            <a:extLst>
              <a:ext uri="{FF2B5EF4-FFF2-40B4-BE49-F238E27FC236}">
                <a16:creationId xmlns:a16="http://schemas.microsoft.com/office/drawing/2014/main" id="{98C53D0E-36E0-9746-B2E0-7A179BBFF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6193" y="3537964"/>
            <a:ext cx="12700" cy="20177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3" name="Line 186">
            <a:extLst>
              <a:ext uri="{FF2B5EF4-FFF2-40B4-BE49-F238E27FC236}">
                <a16:creationId xmlns:a16="http://schemas.microsoft.com/office/drawing/2014/main" id="{5CF7BEF4-FCF9-5245-97E3-9295F72AB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793" y="3309364"/>
            <a:ext cx="12700" cy="24082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4" name="Line 187">
            <a:extLst>
              <a:ext uri="{FF2B5EF4-FFF2-40B4-BE49-F238E27FC236}">
                <a16:creationId xmlns:a16="http://schemas.microsoft.com/office/drawing/2014/main" id="{2FEDDAA8-4D5A-F644-8D9D-D75448B5A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143" y="3322064"/>
            <a:ext cx="0" cy="22463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5" name="Line 188">
            <a:extLst>
              <a:ext uri="{FF2B5EF4-FFF2-40B4-BE49-F238E27FC236}">
                <a16:creationId xmlns:a16="http://schemas.microsoft.com/office/drawing/2014/main" id="{785832B0-11E2-7D42-892F-39130A945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9018" y="5709664"/>
            <a:ext cx="29368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6" name="Line 189">
            <a:extLst>
              <a:ext uri="{FF2B5EF4-FFF2-40B4-BE49-F238E27FC236}">
                <a16:creationId xmlns:a16="http://schemas.microsoft.com/office/drawing/2014/main" id="{CB7F98CB-6143-EE46-9171-A611901AA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4743" y="5541389"/>
            <a:ext cx="274002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07" name="Group 196">
            <a:extLst>
              <a:ext uri="{FF2B5EF4-FFF2-40B4-BE49-F238E27FC236}">
                <a16:creationId xmlns:a16="http://schemas.microsoft.com/office/drawing/2014/main" id="{3B303B9E-D7B6-B44F-B2C6-EAF4FBBE0075}"/>
              </a:ext>
            </a:extLst>
          </p:cNvPr>
          <p:cNvGrpSpPr>
            <a:grpSpLocks/>
          </p:cNvGrpSpPr>
          <p:nvPr/>
        </p:nvGrpSpPr>
        <p:grpSpPr bwMode="auto">
          <a:xfrm>
            <a:off x="2740818" y="5790626"/>
            <a:ext cx="1644650" cy="652463"/>
            <a:chOff x="1318" y="3697"/>
            <a:chExt cx="1036" cy="411"/>
          </a:xfrm>
        </p:grpSpPr>
        <p:sp>
          <p:nvSpPr>
            <p:cNvPr id="208" name="Rectangle 193">
              <a:extLst>
                <a:ext uri="{FF2B5EF4-FFF2-40B4-BE49-F238E27FC236}">
                  <a16:creationId xmlns:a16="http://schemas.microsoft.com/office/drawing/2014/main" id="{5E867730-FF86-E94C-84E9-3C3B7F865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9" name="Line 194">
              <a:extLst>
                <a:ext uri="{FF2B5EF4-FFF2-40B4-BE49-F238E27FC236}">
                  <a16:creationId xmlns:a16="http://schemas.microsoft.com/office/drawing/2014/main" id="{DCB14944-9918-094E-A124-FFAF2CCC0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Text Box 195">
              <a:extLst>
                <a:ext uri="{FF2B5EF4-FFF2-40B4-BE49-F238E27FC236}">
                  <a16:creationId xmlns:a16="http://schemas.microsoft.com/office/drawing/2014/main" id="{7F105679-9AE1-A34E-A646-23B52D1B8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" y="3822"/>
              <a:ext cx="99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port: 9157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port: 6428</a:t>
              </a:r>
            </a:p>
          </p:txBody>
        </p:sp>
      </p:grpSp>
      <p:grpSp>
        <p:nvGrpSpPr>
          <p:cNvPr id="211" name="Group 201">
            <a:extLst>
              <a:ext uri="{FF2B5EF4-FFF2-40B4-BE49-F238E27FC236}">
                <a16:creationId xmlns:a16="http://schemas.microsoft.com/office/drawing/2014/main" id="{C26B3BDC-40D0-554B-BF75-79BA0C664254}"/>
              </a:ext>
            </a:extLst>
          </p:cNvPr>
          <p:cNvGrpSpPr>
            <a:grpSpLocks/>
          </p:cNvGrpSpPr>
          <p:nvPr/>
        </p:nvGrpSpPr>
        <p:grpSpPr bwMode="auto">
          <a:xfrm>
            <a:off x="4039393" y="4914326"/>
            <a:ext cx="1692275" cy="652463"/>
            <a:chOff x="2741" y="3750"/>
            <a:chExt cx="1066" cy="411"/>
          </a:xfrm>
        </p:grpSpPr>
        <p:sp>
          <p:nvSpPr>
            <p:cNvPr id="212" name="Rectangle 198">
              <a:extLst>
                <a:ext uri="{FF2B5EF4-FFF2-40B4-BE49-F238E27FC236}">
                  <a16:creationId xmlns:a16="http://schemas.microsoft.com/office/drawing/2014/main" id="{2AEC7827-74B2-8F4D-A5B2-46F174C8B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Line 199">
              <a:extLst>
                <a:ext uri="{FF2B5EF4-FFF2-40B4-BE49-F238E27FC236}">
                  <a16:creationId xmlns:a16="http://schemas.microsoft.com/office/drawing/2014/main" id="{51BE463B-088F-174F-AFA2-906D7DEE3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4" name="Text Box 200">
              <a:extLst>
                <a:ext uri="{FF2B5EF4-FFF2-40B4-BE49-F238E27FC236}">
                  <a16:creationId xmlns:a16="http://schemas.microsoft.com/office/drawing/2014/main" id="{0F6793CB-ABA9-534D-B627-3241E6084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99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port: 6428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port: 9157</a:t>
              </a:r>
            </a:p>
          </p:txBody>
        </p:sp>
      </p:grpSp>
      <p:grpSp>
        <p:nvGrpSpPr>
          <p:cNvPr id="215" name="Group 202">
            <a:extLst>
              <a:ext uri="{FF2B5EF4-FFF2-40B4-BE49-F238E27FC236}">
                <a16:creationId xmlns:a16="http://schemas.microsoft.com/office/drawing/2014/main" id="{2BA0D7D3-1E9F-874D-9578-106CF426BDAB}"/>
              </a:ext>
            </a:extLst>
          </p:cNvPr>
          <p:cNvGrpSpPr>
            <a:grpSpLocks/>
          </p:cNvGrpSpPr>
          <p:nvPr/>
        </p:nvGrpSpPr>
        <p:grpSpPr bwMode="auto">
          <a:xfrm>
            <a:off x="7063581" y="4914326"/>
            <a:ext cx="1341437" cy="652463"/>
            <a:chOff x="1509" y="3697"/>
            <a:chExt cx="845" cy="411"/>
          </a:xfrm>
        </p:grpSpPr>
        <p:sp>
          <p:nvSpPr>
            <p:cNvPr id="216" name="Rectangle 203">
              <a:extLst>
                <a:ext uri="{FF2B5EF4-FFF2-40B4-BE49-F238E27FC236}">
                  <a16:creationId xmlns:a16="http://schemas.microsoft.com/office/drawing/2014/main" id="{B2A9891A-642F-6D49-A890-0C106C26F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7" name="Line 204">
              <a:extLst>
                <a:ext uri="{FF2B5EF4-FFF2-40B4-BE49-F238E27FC236}">
                  <a16:creationId xmlns:a16="http://schemas.microsoft.com/office/drawing/2014/main" id="{521F25C6-A7B0-BD43-AB39-10E85195A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Text Box 205">
              <a:extLst>
                <a:ext uri="{FF2B5EF4-FFF2-40B4-BE49-F238E27FC236}">
                  <a16:creationId xmlns:a16="http://schemas.microsoft.com/office/drawing/2014/main" id="{A375B067-6627-F24A-ADAA-564841EB8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3822"/>
              <a:ext cx="80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port: ?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port: ?</a:t>
              </a:r>
            </a:p>
          </p:txBody>
        </p:sp>
      </p:grpSp>
      <p:grpSp>
        <p:nvGrpSpPr>
          <p:cNvPr id="219" name="Group 206">
            <a:extLst>
              <a:ext uri="{FF2B5EF4-FFF2-40B4-BE49-F238E27FC236}">
                <a16:creationId xmlns:a16="http://schemas.microsoft.com/office/drawing/2014/main" id="{B5181A21-D7E7-3E42-9344-472D54222757}"/>
              </a:ext>
            </a:extLst>
          </p:cNvPr>
          <p:cNvGrpSpPr>
            <a:grpSpLocks/>
          </p:cNvGrpSpPr>
          <p:nvPr/>
        </p:nvGrpSpPr>
        <p:grpSpPr bwMode="auto">
          <a:xfrm>
            <a:off x="6304756" y="5768401"/>
            <a:ext cx="1389062" cy="652463"/>
            <a:chOff x="2741" y="3750"/>
            <a:chExt cx="875" cy="411"/>
          </a:xfrm>
        </p:grpSpPr>
        <p:sp>
          <p:nvSpPr>
            <p:cNvPr id="220" name="Rectangle 207">
              <a:extLst>
                <a:ext uri="{FF2B5EF4-FFF2-40B4-BE49-F238E27FC236}">
                  <a16:creationId xmlns:a16="http://schemas.microsoft.com/office/drawing/2014/main" id="{92ECB27B-35D3-E94B-A9F9-6AB2E4D0E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1" name="Line 208">
              <a:extLst>
                <a:ext uri="{FF2B5EF4-FFF2-40B4-BE49-F238E27FC236}">
                  <a16:creationId xmlns:a16="http://schemas.microsoft.com/office/drawing/2014/main" id="{7683B80C-70E1-9C44-94AD-C7C88A9E0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Text Box 209">
              <a:extLst>
                <a:ext uri="{FF2B5EF4-FFF2-40B4-BE49-F238E27FC236}">
                  <a16:creationId xmlns:a16="http://schemas.microsoft.com/office/drawing/2014/main" id="{A346B1BA-6406-6F45-9B45-BAB032C59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80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port: ?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port: ?</a:t>
              </a:r>
            </a:p>
          </p:txBody>
        </p:sp>
      </p:grpSp>
      <p:grpSp>
        <p:nvGrpSpPr>
          <p:cNvPr id="223" name="Group 214">
            <a:extLst>
              <a:ext uri="{FF2B5EF4-FFF2-40B4-BE49-F238E27FC236}">
                <a16:creationId xmlns:a16="http://schemas.microsoft.com/office/drawing/2014/main" id="{E39C7ED5-8B2C-DE4F-80CB-990D1AA7B49F}"/>
              </a:ext>
            </a:extLst>
          </p:cNvPr>
          <p:cNvGrpSpPr>
            <a:grpSpLocks/>
          </p:cNvGrpSpPr>
          <p:nvPr/>
        </p:nvGrpSpPr>
        <p:grpSpPr bwMode="auto">
          <a:xfrm>
            <a:off x="1610518" y="4406326"/>
            <a:ext cx="711200" cy="669925"/>
            <a:chOff x="-44" y="1473"/>
            <a:chExt cx="981" cy="1105"/>
          </a:xfrm>
        </p:grpSpPr>
        <p:pic>
          <p:nvPicPr>
            <p:cNvPr id="224" name="Picture 215" descr="desktop_computer_stylized_medium">
              <a:extLst>
                <a:ext uri="{FF2B5EF4-FFF2-40B4-BE49-F238E27FC236}">
                  <a16:creationId xmlns:a16="http://schemas.microsoft.com/office/drawing/2014/main" id="{E6F7AF8C-6139-A44A-B799-9DB1A49382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" name="Freeform 216">
              <a:extLst>
                <a:ext uri="{FF2B5EF4-FFF2-40B4-BE49-F238E27FC236}">
                  <a16:creationId xmlns:a16="http://schemas.microsoft.com/office/drawing/2014/main" id="{E7BE33D7-3BA9-1847-9AD9-95F7E1DEA0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6" name="Group 217">
            <a:extLst>
              <a:ext uri="{FF2B5EF4-FFF2-40B4-BE49-F238E27FC236}">
                <a16:creationId xmlns:a16="http://schemas.microsoft.com/office/drawing/2014/main" id="{ECE9DF28-DF72-7544-9229-870F2565D5F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879806" y="4530151"/>
            <a:ext cx="711200" cy="669925"/>
            <a:chOff x="-44" y="1473"/>
            <a:chExt cx="981" cy="1105"/>
          </a:xfrm>
        </p:grpSpPr>
        <p:pic>
          <p:nvPicPr>
            <p:cNvPr id="227" name="Picture 218" descr="desktop_computer_stylized_medium">
              <a:extLst>
                <a:ext uri="{FF2B5EF4-FFF2-40B4-BE49-F238E27FC236}">
                  <a16:creationId xmlns:a16="http://schemas.microsoft.com/office/drawing/2014/main" id="{AAE1CD7B-71E4-DA44-B3BA-A6BCDDB83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8" name="Freeform 219">
              <a:extLst>
                <a:ext uri="{FF2B5EF4-FFF2-40B4-BE49-F238E27FC236}">
                  <a16:creationId xmlns:a16="http://schemas.microsoft.com/office/drawing/2014/main" id="{E273E05C-F934-1B44-AA55-C146C99BC6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9" name="Group 220">
            <a:extLst>
              <a:ext uri="{FF2B5EF4-FFF2-40B4-BE49-F238E27FC236}">
                <a16:creationId xmlns:a16="http://schemas.microsoft.com/office/drawing/2014/main" id="{4338C4B1-DA10-CF42-9E12-96B6998CDA7B}"/>
              </a:ext>
            </a:extLst>
          </p:cNvPr>
          <p:cNvGrpSpPr>
            <a:grpSpLocks/>
          </p:cNvGrpSpPr>
          <p:nvPr/>
        </p:nvGrpSpPr>
        <p:grpSpPr bwMode="auto">
          <a:xfrm>
            <a:off x="4702968" y="3928489"/>
            <a:ext cx="358775" cy="704850"/>
            <a:chOff x="4140" y="429"/>
            <a:chExt cx="1425" cy="2396"/>
          </a:xfrm>
        </p:grpSpPr>
        <p:sp>
          <p:nvSpPr>
            <p:cNvPr id="230" name="Freeform 221">
              <a:extLst>
                <a:ext uri="{FF2B5EF4-FFF2-40B4-BE49-F238E27FC236}">
                  <a16:creationId xmlns:a16="http://schemas.microsoft.com/office/drawing/2014/main" id="{72E2375B-D2CD-524D-99CC-9AA1332B0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1" name="Rectangle 222">
              <a:extLst>
                <a:ext uri="{FF2B5EF4-FFF2-40B4-BE49-F238E27FC236}">
                  <a16:creationId xmlns:a16="http://schemas.microsoft.com/office/drawing/2014/main" id="{9A46A85F-576F-5549-8CE1-4D6375E6E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Freeform 223">
              <a:extLst>
                <a:ext uri="{FF2B5EF4-FFF2-40B4-BE49-F238E27FC236}">
                  <a16:creationId xmlns:a16="http://schemas.microsoft.com/office/drawing/2014/main" id="{2AC2D8E6-5479-B547-832A-A4D633663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3" name="Freeform 224">
              <a:extLst>
                <a:ext uri="{FF2B5EF4-FFF2-40B4-BE49-F238E27FC236}">
                  <a16:creationId xmlns:a16="http://schemas.microsoft.com/office/drawing/2014/main" id="{F5154C64-E9B4-9B4B-ADCB-BF7CEFAA6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225">
              <a:extLst>
                <a:ext uri="{FF2B5EF4-FFF2-40B4-BE49-F238E27FC236}">
                  <a16:creationId xmlns:a16="http://schemas.microsoft.com/office/drawing/2014/main" id="{20BD3C08-A36B-8C47-A9E1-98E61BCD2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5" name="Group 226">
              <a:extLst>
                <a:ext uri="{FF2B5EF4-FFF2-40B4-BE49-F238E27FC236}">
                  <a16:creationId xmlns:a16="http://schemas.microsoft.com/office/drawing/2014/main" id="{BA9CB11E-6522-2A4E-B926-6BB8F2D61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0" name="AutoShape 227">
                <a:extLst>
                  <a:ext uri="{FF2B5EF4-FFF2-40B4-BE49-F238E27FC236}">
                    <a16:creationId xmlns:a16="http://schemas.microsoft.com/office/drawing/2014/main" id="{A66F61C7-D146-2444-9233-EEEFDA6DB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1" name="AutoShape 228">
                <a:extLst>
                  <a:ext uri="{FF2B5EF4-FFF2-40B4-BE49-F238E27FC236}">
                    <a16:creationId xmlns:a16="http://schemas.microsoft.com/office/drawing/2014/main" id="{C237943C-1D9E-C340-92B4-E279FE5EB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29">
              <a:extLst>
                <a:ext uri="{FF2B5EF4-FFF2-40B4-BE49-F238E27FC236}">
                  <a16:creationId xmlns:a16="http://schemas.microsoft.com/office/drawing/2014/main" id="{C81D6CA2-B425-4946-AE7A-8E40C0836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7" name="Group 230">
              <a:extLst>
                <a:ext uri="{FF2B5EF4-FFF2-40B4-BE49-F238E27FC236}">
                  <a16:creationId xmlns:a16="http://schemas.microsoft.com/office/drawing/2014/main" id="{E1CF8BC0-EDFE-2A4B-A9FD-D7352BEF9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8" name="AutoShape 231">
                <a:extLst>
                  <a:ext uri="{FF2B5EF4-FFF2-40B4-BE49-F238E27FC236}">
                    <a16:creationId xmlns:a16="http://schemas.microsoft.com/office/drawing/2014/main" id="{0A9026E3-01D2-A044-85D9-3C22E36B9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9" name="AutoShape 232">
                <a:extLst>
                  <a:ext uri="{FF2B5EF4-FFF2-40B4-BE49-F238E27FC236}">
                    <a16:creationId xmlns:a16="http://schemas.microsoft.com/office/drawing/2014/main" id="{89380DF0-55D0-544B-ABE2-D6ADD8851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8" name="Rectangle 233">
              <a:extLst>
                <a:ext uri="{FF2B5EF4-FFF2-40B4-BE49-F238E27FC236}">
                  <a16:creationId xmlns:a16="http://schemas.microsoft.com/office/drawing/2014/main" id="{DF34371F-6EF2-844A-9475-6B8ECC1E2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9" name="Rectangle 234">
              <a:extLst>
                <a:ext uri="{FF2B5EF4-FFF2-40B4-BE49-F238E27FC236}">
                  <a16:creationId xmlns:a16="http://schemas.microsoft.com/office/drawing/2014/main" id="{7BF59601-B231-7F4D-B6B7-74CA58AE9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235">
              <a:extLst>
                <a:ext uri="{FF2B5EF4-FFF2-40B4-BE49-F238E27FC236}">
                  <a16:creationId xmlns:a16="http://schemas.microsoft.com/office/drawing/2014/main" id="{653CAD17-3E1A-0A44-BF50-DB027FAD87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" name="AutoShape 236">
                <a:extLst>
                  <a:ext uri="{FF2B5EF4-FFF2-40B4-BE49-F238E27FC236}">
                    <a16:creationId xmlns:a16="http://schemas.microsoft.com/office/drawing/2014/main" id="{2AB347AE-B389-704D-8A3A-F1B0478B7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7" name="AutoShape 237">
                <a:extLst>
                  <a:ext uri="{FF2B5EF4-FFF2-40B4-BE49-F238E27FC236}">
                    <a16:creationId xmlns:a16="http://schemas.microsoft.com/office/drawing/2014/main" id="{F96FEA1E-5620-D24E-93C8-5E69D78BD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Freeform 238">
              <a:extLst>
                <a:ext uri="{FF2B5EF4-FFF2-40B4-BE49-F238E27FC236}">
                  <a16:creationId xmlns:a16="http://schemas.microsoft.com/office/drawing/2014/main" id="{84910C8E-8844-DE49-A1A3-762F8BB12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239">
              <a:extLst>
                <a:ext uri="{FF2B5EF4-FFF2-40B4-BE49-F238E27FC236}">
                  <a16:creationId xmlns:a16="http://schemas.microsoft.com/office/drawing/2014/main" id="{BBBD2321-95AE-9C40-B018-8ECE1F278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4" name="AutoShape 240">
                <a:extLst>
                  <a:ext uri="{FF2B5EF4-FFF2-40B4-BE49-F238E27FC236}">
                    <a16:creationId xmlns:a16="http://schemas.microsoft.com/office/drawing/2014/main" id="{5F0A8B0F-BFF3-D645-8BC2-E03084A73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5" name="AutoShape 241">
                <a:extLst>
                  <a:ext uri="{FF2B5EF4-FFF2-40B4-BE49-F238E27FC236}">
                    <a16:creationId xmlns:a16="http://schemas.microsoft.com/office/drawing/2014/main" id="{F04409C4-53CF-1E47-924D-AAE899D78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79FB686-7827-8648-B573-39D9BD56A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FDD2EBD5-F1D6-1A40-89DB-A8C30D931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CE0C4D67-AE5D-BA4D-8695-DB491DDD2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37BD5E1-82F5-4442-A0E8-832E39193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65CB1E0E-0881-3D44-874F-DFDC02FDD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AutoShape 247">
              <a:extLst>
                <a:ext uri="{FF2B5EF4-FFF2-40B4-BE49-F238E27FC236}">
                  <a16:creationId xmlns:a16="http://schemas.microsoft.com/office/drawing/2014/main" id="{6DADA001-6CFD-B446-972E-A78724803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AutoShape 248">
              <a:extLst>
                <a:ext uri="{FF2B5EF4-FFF2-40B4-BE49-F238E27FC236}">
                  <a16:creationId xmlns:a16="http://schemas.microsoft.com/office/drawing/2014/main" id="{3A9F1280-193F-A148-B533-A4E2BCD4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64151D18-1A99-BB43-8662-5409F09FC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6E3B505-373D-FA41-AC57-224E553E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3E492A9C-D2EF-444F-9F40-D87F1FF8E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B30ABD37-057E-DC41-B1A5-29A2C4236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7" name="Slide Number Placeholder 2">
            <a:extLst>
              <a:ext uri="{FF2B5EF4-FFF2-40B4-BE49-F238E27FC236}">
                <a16:creationId xmlns:a16="http://schemas.microsoft.com/office/drawing/2014/main" id="{7A20C98F-8CB3-904A-A136-78573229D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0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build="p"/>
      <p:bldP spid="19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Connection-oriented demultiplexing</a:t>
            </a: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798689" y="1495768"/>
            <a:ext cx="4770837" cy="294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marR="0" lvl="0" indent="-2762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socket identified by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4-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tuple: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IP address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port number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IP address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port number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C6672EA0-BD4C-AA4C-B327-560672E6A24F}"/>
              </a:ext>
            </a:extLst>
          </p:cNvPr>
          <p:cNvSpPr txBox="1">
            <a:spLocks noChangeArrowheads="1"/>
          </p:cNvSpPr>
          <p:nvPr/>
        </p:nvSpPr>
        <p:spPr>
          <a:xfrm>
            <a:off x="6476415" y="1510775"/>
            <a:ext cx="5036711" cy="4974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313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 may support many simultaneous TCP sockets: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socket identified by its own 4-tuple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socket associated with a different connecting client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784324" y="4284442"/>
            <a:ext cx="4770837" cy="2228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demux: receiver uses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four values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(4-tuple)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direct segment to appropriate socket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E4D1361-EDC2-E64C-B2A5-339968681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49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Connection-oriented demultiplexing: example</a:t>
            </a:r>
          </a:p>
        </p:txBody>
      </p:sp>
      <p:sp>
        <p:nvSpPr>
          <p:cNvPr id="525" name="Freeform 5">
            <a:extLst>
              <a:ext uri="{FF2B5EF4-FFF2-40B4-BE49-F238E27FC236}">
                <a16:creationId xmlns:a16="http://schemas.microsoft.com/office/drawing/2014/main" id="{7563D6BB-009E-434A-9515-A6EAB0387E14}"/>
              </a:ext>
            </a:extLst>
          </p:cNvPr>
          <p:cNvSpPr>
            <a:spLocks/>
          </p:cNvSpPr>
          <p:nvPr/>
        </p:nvSpPr>
        <p:spPr bwMode="auto">
          <a:xfrm>
            <a:off x="4454236" y="1478017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6" name="Freeform 6">
            <a:extLst>
              <a:ext uri="{FF2B5EF4-FFF2-40B4-BE49-F238E27FC236}">
                <a16:creationId xmlns:a16="http://schemas.microsoft.com/office/drawing/2014/main" id="{C4ABCFDA-E140-9C42-81C9-A5B5F6C446B3}"/>
              </a:ext>
            </a:extLst>
          </p:cNvPr>
          <p:cNvSpPr>
            <a:spLocks/>
          </p:cNvSpPr>
          <p:nvPr/>
        </p:nvSpPr>
        <p:spPr bwMode="auto">
          <a:xfrm>
            <a:off x="2052349" y="1657405"/>
            <a:ext cx="460375" cy="2193925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7" name="Rectangle 23">
            <a:extLst>
              <a:ext uri="{FF2B5EF4-FFF2-40B4-BE49-F238E27FC236}">
                <a16:creationId xmlns:a16="http://schemas.microsoft.com/office/drawing/2014/main" id="{614F9B0E-1109-CC4B-8E75-55A6C74E6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286" y="162406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8" name="Rectangle 24">
            <a:extLst>
              <a:ext uri="{FF2B5EF4-FFF2-40B4-BE49-F238E27FC236}">
                <a16:creationId xmlns:a16="http://schemas.microsoft.com/office/drawing/2014/main" id="{CBD89C10-5030-2D42-A25D-BFEC970A8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186" y="1678042"/>
            <a:ext cx="12731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9" name="Line 25">
            <a:extLst>
              <a:ext uri="{FF2B5EF4-FFF2-40B4-BE49-F238E27FC236}">
                <a16:creationId xmlns:a16="http://schemas.microsoft.com/office/drawing/2014/main" id="{8D7EF085-D57A-E243-98DA-BEAC54BDE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9711" y="243845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0" name="Text Box 26">
            <a:extLst>
              <a:ext uri="{FF2B5EF4-FFF2-40B4-BE49-F238E27FC236}">
                <a16:creationId xmlns:a16="http://schemas.microsoft.com/office/drawing/2014/main" id="{0ED9175A-7497-DD4F-9C18-ACF0B19F7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849" y="2420992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531" name="Line 27">
            <a:extLst>
              <a:ext uri="{FF2B5EF4-FFF2-40B4-BE49-F238E27FC236}">
                <a16:creationId xmlns:a16="http://schemas.microsoft.com/office/drawing/2014/main" id="{FD58D124-018E-3848-9BB8-DBD51A4D8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7649" y="275913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" name="Line 28">
            <a:extLst>
              <a:ext uri="{FF2B5EF4-FFF2-40B4-BE49-F238E27FC236}">
                <a16:creationId xmlns:a16="http://schemas.microsoft.com/office/drawing/2014/main" id="{15074162-585A-BC41-91A3-96670F676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361" y="306869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3" name="Line 29">
            <a:extLst>
              <a:ext uri="{FF2B5EF4-FFF2-40B4-BE49-F238E27FC236}">
                <a16:creationId xmlns:a16="http://schemas.microsoft.com/office/drawing/2014/main" id="{23B1C83D-9CD1-7141-80E9-B23AF1A12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361" y="335444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4" name="Text Box 26">
            <a:extLst>
              <a:ext uri="{FF2B5EF4-FFF2-40B4-BE49-F238E27FC236}">
                <a16:creationId xmlns:a16="http://schemas.microsoft.com/office/drawing/2014/main" id="{18FD1BAC-22E0-E743-8D85-AD83603D9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774" y="166851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535" name="Text Box 26">
            <a:extLst>
              <a:ext uri="{FF2B5EF4-FFF2-40B4-BE49-F238E27FC236}">
                <a16:creationId xmlns:a16="http://schemas.microsoft.com/office/drawing/2014/main" id="{FA894B51-006F-1749-B20E-08F2DE801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324" y="332586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536" name="Text Box 26">
            <a:extLst>
              <a:ext uri="{FF2B5EF4-FFF2-40B4-BE49-F238E27FC236}">
                <a16:creationId xmlns:a16="http://schemas.microsoft.com/office/drawing/2014/main" id="{986C06D0-2FCC-3C4A-8B26-E47FEACB6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374" y="304011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537" name="Text Box 26">
            <a:extLst>
              <a:ext uri="{FF2B5EF4-FFF2-40B4-BE49-F238E27FC236}">
                <a16:creationId xmlns:a16="http://schemas.microsoft.com/office/drawing/2014/main" id="{D076C0F4-C178-3E40-A5A0-D9949817A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849" y="2744842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538" name="Oval 19">
            <a:extLst>
              <a:ext uri="{FF2B5EF4-FFF2-40B4-BE49-F238E27FC236}">
                <a16:creationId xmlns:a16="http://schemas.microsoft.com/office/drawing/2014/main" id="{2A71094C-18F7-1C46-8C86-7D8D2BCF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6736" y="195426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539" name="Group 20">
            <a:extLst>
              <a:ext uri="{FF2B5EF4-FFF2-40B4-BE49-F238E27FC236}">
                <a16:creationId xmlns:a16="http://schemas.microsoft.com/office/drawing/2014/main" id="{554821E9-E611-EF4C-B4ED-D5A7C0CB1055}"/>
              </a:ext>
            </a:extLst>
          </p:cNvPr>
          <p:cNvGrpSpPr>
            <a:grpSpLocks/>
          </p:cNvGrpSpPr>
          <p:nvPr/>
        </p:nvGrpSpPr>
        <p:grpSpPr bwMode="auto">
          <a:xfrm>
            <a:off x="2834986" y="2278117"/>
            <a:ext cx="620713" cy="228600"/>
            <a:chOff x="1287" y="2524"/>
            <a:chExt cx="260" cy="100"/>
          </a:xfrm>
        </p:grpSpPr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BEBEC012-39DF-A541-830E-6FF13ADAE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C54558CA-8722-654B-8BA0-93D5C1A67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4ECE78D1-C229-D44C-8946-E5D845D77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5E3A5BD1-1D56-EA42-9427-8F0D4DE45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44" name="Rectangle 23">
            <a:extLst>
              <a:ext uri="{FF2B5EF4-FFF2-40B4-BE49-F238E27FC236}">
                <a16:creationId xmlns:a16="http://schemas.microsoft.com/office/drawing/2014/main" id="{9E1F493A-E899-D74E-919F-F4A60AE1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011" y="1390705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5" name="Rectangle 24">
            <a:extLst>
              <a:ext uri="{FF2B5EF4-FFF2-40B4-BE49-F238E27FC236}">
                <a16:creationId xmlns:a16="http://schemas.microsoft.com/office/drawing/2014/main" id="{49A0180F-5303-6E4C-99BF-19A56AAC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036" y="1468492"/>
            <a:ext cx="22256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6" name="Text Box 26">
            <a:extLst>
              <a:ext uri="{FF2B5EF4-FFF2-40B4-BE49-F238E27FC236}">
                <a16:creationId xmlns:a16="http://schemas.microsoft.com/office/drawing/2014/main" id="{23645F4E-01B1-3349-9A7F-2F24FC4C2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486" y="219715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547" name="Text Box 26">
            <a:extLst>
              <a:ext uri="{FF2B5EF4-FFF2-40B4-BE49-F238E27FC236}">
                <a16:creationId xmlns:a16="http://schemas.microsoft.com/office/drawing/2014/main" id="{9BED65C6-B309-8B4D-A068-E19EDFD11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461" y="142086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548" name="Text Box 26">
            <a:extLst>
              <a:ext uri="{FF2B5EF4-FFF2-40B4-BE49-F238E27FC236}">
                <a16:creationId xmlns:a16="http://schemas.microsoft.com/office/drawing/2014/main" id="{3CB9E7E9-E087-BE49-8C38-35C7E48BA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136" y="310203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549" name="Text Box 26">
            <a:extLst>
              <a:ext uri="{FF2B5EF4-FFF2-40B4-BE49-F238E27FC236}">
                <a16:creationId xmlns:a16="http://schemas.microsoft.com/office/drawing/2014/main" id="{75F58D18-0976-1447-9AE8-E0B265BD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136" y="281628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550" name="Oval 36">
            <a:extLst>
              <a:ext uri="{FF2B5EF4-FFF2-40B4-BE49-F238E27FC236}">
                <a16:creationId xmlns:a16="http://schemas.microsoft.com/office/drawing/2014/main" id="{2A7F5798-BB67-5141-90FB-F51D589E3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099" y="1727255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P4</a:t>
            </a:r>
          </a:p>
        </p:txBody>
      </p:sp>
      <p:sp>
        <p:nvSpPr>
          <p:cNvPr id="551" name="Rectangle 23">
            <a:extLst>
              <a:ext uri="{FF2B5EF4-FFF2-40B4-BE49-F238E27FC236}">
                <a16:creationId xmlns:a16="http://schemas.microsoft.com/office/drawing/2014/main" id="{32D4A7B1-DBDA-2B47-8511-4BF8176AC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2324" y="1616130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2" name="Rectangle 24">
            <a:extLst>
              <a:ext uri="{FF2B5EF4-FFF2-40B4-BE49-F238E27FC236}">
                <a16:creationId xmlns:a16="http://schemas.microsoft.com/office/drawing/2014/main" id="{DAED2C2D-612B-9147-A573-0082B4910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474" y="1657405"/>
            <a:ext cx="1631950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3" name="Text Box 26">
            <a:extLst>
              <a:ext uri="{FF2B5EF4-FFF2-40B4-BE49-F238E27FC236}">
                <a16:creationId xmlns:a16="http://schemas.microsoft.com/office/drawing/2014/main" id="{892F681F-FE7B-A849-886C-3DB4B7150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886" y="241305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554" name="Text Box 26">
            <a:extLst>
              <a:ext uri="{FF2B5EF4-FFF2-40B4-BE49-F238E27FC236}">
                <a16:creationId xmlns:a16="http://schemas.microsoft.com/office/drawing/2014/main" id="{5491EDD3-2B63-BB4B-87FA-02E376F65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811" y="166058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555" name="Text Box 26">
            <a:extLst>
              <a:ext uri="{FF2B5EF4-FFF2-40B4-BE49-F238E27FC236}">
                <a16:creationId xmlns:a16="http://schemas.microsoft.com/office/drawing/2014/main" id="{0FB3A86D-FFE9-EE49-AD2D-1E57E4F89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49" y="331793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556" name="Text Box 26">
            <a:extLst>
              <a:ext uri="{FF2B5EF4-FFF2-40B4-BE49-F238E27FC236}">
                <a16:creationId xmlns:a16="http://schemas.microsoft.com/office/drawing/2014/main" id="{9835580D-BB7F-E64A-B442-691428929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0411" y="303218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557" name="Text Box 26">
            <a:extLst>
              <a:ext uri="{FF2B5EF4-FFF2-40B4-BE49-F238E27FC236}">
                <a16:creationId xmlns:a16="http://schemas.microsoft.com/office/drawing/2014/main" id="{31A0CB7D-BCCB-D34A-A890-C07347817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886" y="273690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558" name="Oval 53">
            <a:extLst>
              <a:ext uri="{FF2B5EF4-FFF2-40B4-BE49-F238E27FC236}">
                <a16:creationId xmlns:a16="http://schemas.microsoft.com/office/drawing/2014/main" id="{F992062B-7A21-DE43-9A4C-83CB3E9C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436" y="195426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P2</a:t>
            </a:r>
          </a:p>
        </p:txBody>
      </p:sp>
      <p:sp>
        <p:nvSpPr>
          <p:cNvPr id="559" name="Freeform 54">
            <a:extLst>
              <a:ext uri="{FF2B5EF4-FFF2-40B4-BE49-F238E27FC236}">
                <a16:creationId xmlns:a16="http://schemas.microsoft.com/office/drawing/2014/main" id="{AC38FC98-798D-384B-B25B-E64D646DDFC5}"/>
              </a:ext>
            </a:extLst>
          </p:cNvPr>
          <p:cNvSpPr>
            <a:spLocks/>
          </p:cNvSpPr>
          <p:nvPr/>
        </p:nvSpPr>
        <p:spPr bwMode="auto">
          <a:xfrm>
            <a:off x="9661236" y="1636767"/>
            <a:ext cx="504825" cy="21336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68" name="Text Box 93">
            <a:extLst>
              <a:ext uri="{FF2B5EF4-FFF2-40B4-BE49-F238E27FC236}">
                <a16:creationId xmlns:a16="http://schemas.microsoft.com/office/drawing/2014/main" id="{28913095-A052-0A42-8972-4D75538256A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723736" y="4418067"/>
            <a:ext cx="11477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host: IP address A</a:t>
            </a:r>
          </a:p>
        </p:txBody>
      </p:sp>
      <p:sp>
        <p:nvSpPr>
          <p:cNvPr id="569" name="Text Box 94">
            <a:extLst>
              <a:ext uri="{FF2B5EF4-FFF2-40B4-BE49-F238E27FC236}">
                <a16:creationId xmlns:a16="http://schemas.microsoft.com/office/drawing/2014/main" id="{E982CF1A-0928-6A45-8462-D083EBC09BA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480261" y="4314880"/>
            <a:ext cx="11477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host: IP address C</a:t>
            </a:r>
          </a:p>
        </p:txBody>
      </p:sp>
      <p:sp>
        <p:nvSpPr>
          <p:cNvPr id="570" name="Line 96">
            <a:extLst>
              <a:ext uri="{FF2B5EF4-FFF2-40B4-BE49-F238E27FC236}">
                <a16:creationId xmlns:a16="http://schemas.microsoft.com/office/drawing/2014/main" id="{2EEED614-F433-E440-B256-A6E56708B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9224" y="3144892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1" name="Line 97">
            <a:extLst>
              <a:ext uri="{FF2B5EF4-FFF2-40B4-BE49-F238E27FC236}">
                <a16:creationId xmlns:a16="http://schemas.microsoft.com/office/drawing/2014/main" id="{098FD8B8-DDC2-8146-812C-346AC97FA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5099" y="2843267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2" name="Text Box 26">
            <a:extLst>
              <a:ext uri="{FF2B5EF4-FFF2-40B4-BE49-F238E27FC236}">
                <a16:creationId xmlns:a16="http://schemas.microsoft.com/office/drawing/2014/main" id="{8BEC305F-DB39-A945-9B16-8D9FBE53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449" y="250830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573" name="Line 99">
            <a:extLst>
              <a:ext uri="{FF2B5EF4-FFF2-40B4-BE49-F238E27FC236}">
                <a16:creationId xmlns:a16="http://schemas.microsoft.com/office/drawing/2014/main" id="{7CB610F0-F0BE-7D49-8D7A-0F03DEB1C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274" y="2521005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4" name="Line 100">
            <a:extLst>
              <a:ext uri="{FF2B5EF4-FFF2-40B4-BE49-F238E27FC236}">
                <a16:creationId xmlns:a16="http://schemas.microsoft.com/office/drawing/2014/main" id="{1D31CBE9-4A8E-BC4A-A036-BA509B6CF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1449" y="2198742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75" name="Group 101">
            <a:extLst>
              <a:ext uri="{FF2B5EF4-FFF2-40B4-BE49-F238E27FC236}">
                <a16:creationId xmlns:a16="http://schemas.microsoft.com/office/drawing/2014/main" id="{91441727-AAD7-1140-AF05-A3D324B8DC6B}"/>
              </a:ext>
            </a:extLst>
          </p:cNvPr>
          <p:cNvGrpSpPr>
            <a:grpSpLocks/>
          </p:cNvGrpSpPr>
          <p:nvPr/>
        </p:nvGrpSpPr>
        <p:grpSpPr bwMode="auto">
          <a:xfrm>
            <a:off x="5187661" y="2060630"/>
            <a:ext cx="473075" cy="228600"/>
            <a:chOff x="1287" y="2524"/>
            <a:chExt cx="260" cy="100"/>
          </a:xfrm>
        </p:grpSpPr>
        <p:sp>
          <p:nvSpPr>
            <p:cNvPr id="576" name="Rectangle 102">
              <a:extLst>
                <a:ext uri="{FF2B5EF4-FFF2-40B4-BE49-F238E27FC236}">
                  <a16:creationId xmlns:a16="http://schemas.microsoft.com/office/drawing/2014/main" id="{70206F36-B050-C844-A36F-47D4A71EE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7" name="Rectangle 103">
              <a:extLst>
                <a:ext uri="{FF2B5EF4-FFF2-40B4-BE49-F238E27FC236}">
                  <a16:creationId xmlns:a16="http://schemas.microsoft.com/office/drawing/2014/main" id="{5F70B84F-C600-BF41-9794-BB79AB85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8" name="Rectangle 104">
              <a:extLst>
                <a:ext uri="{FF2B5EF4-FFF2-40B4-BE49-F238E27FC236}">
                  <a16:creationId xmlns:a16="http://schemas.microsoft.com/office/drawing/2014/main" id="{9352E66B-31B1-0244-9A00-013E38F0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9" name="Rectangle 105">
              <a:extLst>
                <a:ext uri="{FF2B5EF4-FFF2-40B4-BE49-F238E27FC236}">
                  <a16:creationId xmlns:a16="http://schemas.microsoft.com/office/drawing/2014/main" id="{A72F3B32-D2F7-184C-B710-25A136D5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80" name="Oval 106">
            <a:extLst>
              <a:ext uri="{FF2B5EF4-FFF2-40B4-BE49-F238E27FC236}">
                <a16:creationId xmlns:a16="http://schemas.microsoft.com/office/drawing/2014/main" id="{775F6544-1FEC-F148-8D8D-09EF67871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936" y="173201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P6</a:t>
            </a:r>
          </a:p>
        </p:txBody>
      </p:sp>
      <p:sp>
        <p:nvSpPr>
          <p:cNvPr id="581" name="Oval 112">
            <a:extLst>
              <a:ext uri="{FF2B5EF4-FFF2-40B4-BE49-F238E27FC236}">
                <a16:creationId xmlns:a16="http://schemas.microsoft.com/office/drawing/2014/main" id="{1A7AFB65-C131-864D-BB01-D752C9A2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424" y="1730430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P5</a:t>
            </a:r>
          </a:p>
        </p:txBody>
      </p:sp>
      <p:grpSp>
        <p:nvGrpSpPr>
          <p:cNvPr id="582" name="Group 118">
            <a:extLst>
              <a:ext uri="{FF2B5EF4-FFF2-40B4-BE49-F238E27FC236}">
                <a16:creationId xmlns:a16="http://schemas.microsoft.com/office/drawing/2014/main" id="{72BEDA86-D9D6-634C-B8D0-F4A3A594F27F}"/>
              </a:ext>
            </a:extLst>
          </p:cNvPr>
          <p:cNvGrpSpPr>
            <a:grpSpLocks/>
          </p:cNvGrpSpPr>
          <p:nvPr/>
        </p:nvGrpSpPr>
        <p:grpSpPr bwMode="auto">
          <a:xfrm>
            <a:off x="5892511" y="2065392"/>
            <a:ext cx="473075" cy="228600"/>
            <a:chOff x="1287" y="2524"/>
            <a:chExt cx="260" cy="100"/>
          </a:xfrm>
        </p:grpSpPr>
        <p:sp>
          <p:nvSpPr>
            <p:cNvPr id="583" name="Rectangle 119">
              <a:extLst>
                <a:ext uri="{FF2B5EF4-FFF2-40B4-BE49-F238E27FC236}">
                  <a16:creationId xmlns:a16="http://schemas.microsoft.com/office/drawing/2014/main" id="{967F16BC-79F0-D947-BF48-B3D4DFC37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4" name="Rectangle 120">
              <a:extLst>
                <a:ext uri="{FF2B5EF4-FFF2-40B4-BE49-F238E27FC236}">
                  <a16:creationId xmlns:a16="http://schemas.microsoft.com/office/drawing/2014/main" id="{E857091F-6411-DE41-A408-86F15977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Rectangle 121">
              <a:extLst>
                <a:ext uri="{FF2B5EF4-FFF2-40B4-BE49-F238E27FC236}">
                  <a16:creationId xmlns:a16="http://schemas.microsoft.com/office/drawing/2014/main" id="{10EEFABE-8406-A849-8F8B-3E87430B8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Rectangle 122">
              <a:extLst>
                <a:ext uri="{FF2B5EF4-FFF2-40B4-BE49-F238E27FC236}">
                  <a16:creationId xmlns:a16="http://schemas.microsoft.com/office/drawing/2014/main" id="{65CA8326-C8A6-0740-8CBC-12905C529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87" name="Group 123">
            <a:extLst>
              <a:ext uri="{FF2B5EF4-FFF2-40B4-BE49-F238E27FC236}">
                <a16:creationId xmlns:a16="http://schemas.microsoft.com/office/drawing/2014/main" id="{997E9D96-904C-5A46-A87E-C65B0FD83028}"/>
              </a:ext>
            </a:extLst>
          </p:cNvPr>
          <p:cNvGrpSpPr>
            <a:grpSpLocks/>
          </p:cNvGrpSpPr>
          <p:nvPr/>
        </p:nvGrpSpPr>
        <p:grpSpPr bwMode="auto">
          <a:xfrm>
            <a:off x="6564024" y="2070155"/>
            <a:ext cx="473075" cy="228600"/>
            <a:chOff x="1287" y="2524"/>
            <a:chExt cx="260" cy="100"/>
          </a:xfrm>
        </p:grpSpPr>
        <p:sp>
          <p:nvSpPr>
            <p:cNvPr id="588" name="Rectangle 124">
              <a:extLst>
                <a:ext uri="{FF2B5EF4-FFF2-40B4-BE49-F238E27FC236}">
                  <a16:creationId xmlns:a16="http://schemas.microsoft.com/office/drawing/2014/main" id="{83A5305C-938A-3540-92FC-D9E6B3AA5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9" name="Rectangle 125">
              <a:extLst>
                <a:ext uri="{FF2B5EF4-FFF2-40B4-BE49-F238E27FC236}">
                  <a16:creationId xmlns:a16="http://schemas.microsoft.com/office/drawing/2014/main" id="{5B51F3FA-BED2-9741-B674-7BC7A9E26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0" name="Rectangle 126">
              <a:extLst>
                <a:ext uri="{FF2B5EF4-FFF2-40B4-BE49-F238E27FC236}">
                  <a16:creationId xmlns:a16="http://schemas.microsoft.com/office/drawing/2014/main" id="{79C8DFFC-9ECB-D741-B85F-80F0EF753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1" name="Rectangle 127">
              <a:extLst>
                <a:ext uri="{FF2B5EF4-FFF2-40B4-BE49-F238E27FC236}">
                  <a16:creationId xmlns:a16="http://schemas.microsoft.com/office/drawing/2014/main" id="{978D323D-4AE7-9141-B532-67630F402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92" name="Line 133">
            <a:extLst>
              <a:ext uri="{FF2B5EF4-FFF2-40B4-BE49-F238E27FC236}">
                <a16:creationId xmlns:a16="http://schemas.microsoft.com/office/drawing/2014/main" id="{B3924FC9-2487-424F-B323-57225BB1F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7536" y="3360792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3" name="Line 134">
            <a:extLst>
              <a:ext uri="{FF2B5EF4-FFF2-40B4-BE49-F238E27FC236}">
                <a16:creationId xmlns:a16="http://schemas.microsoft.com/office/drawing/2014/main" id="{8C5E5D9B-06EC-8040-963A-0448FFE65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011" y="3065517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4" name="Line 135">
            <a:extLst>
              <a:ext uri="{FF2B5EF4-FFF2-40B4-BE49-F238E27FC236}">
                <a16:creationId xmlns:a16="http://schemas.microsoft.com/office/drawing/2014/main" id="{B6E44884-802F-C140-8F4F-ECCAD20C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011" y="2770242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5" name="Line 136">
            <a:extLst>
              <a:ext uri="{FF2B5EF4-FFF2-40B4-BE49-F238E27FC236}">
                <a16:creationId xmlns:a16="http://schemas.microsoft.com/office/drawing/2014/main" id="{267911A5-63F3-4640-87F3-C5B06264C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011" y="2465442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96" name="Group 128">
            <a:extLst>
              <a:ext uri="{FF2B5EF4-FFF2-40B4-BE49-F238E27FC236}">
                <a16:creationId xmlns:a16="http://schemas.microsoft.com/office/drawing/2014/main" id="{7EE1E98D-B6C0-2C4E-AD21-6D19C0FB7F86}"/>
              </a:ext>
            </a:extLst>
          </p:cNvPr>
          <p:cNvGrpSpPr>
            <a:grpSpLocks/>
          </p:cNvGrpSpPr>
          <p:nvPr/>
        </p:nvGrpSpPr>
        <p:grpSpPr bwMode="auto">
          <a:xfrm>
            <a:off x="8140411" y="2292405"/>
            <a:ext cx="473075" cy="228600"/>
            <a:chOff x="1287" y="2524"/>
            <a:chExt cx="260" cy="100"/>
          </a:xfrm>
        </p:grpSpPr>
        <p:sp>
          <p:nvSpPr>
            <p:cNvPr id="597" name="Rectangle 129">
              <a:extLst>
                <a:ext uri="{FF2B5EF4-FFF2-40B4-BE49-F238E27FC236}">
                  <a16:creationId xmlns:a16="http://schemas.microsoft.com/office/drawing/2014/main" id="{61B34E55-D106-A049-9E71-650BFC4F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8" name="Rectangle 130">
              <a:extLst>
                <a:ext uri="{FF2B5EF4-FFF2-40B4-BE49-F238E27FC236}">
                  <a16:creationId xmlns:a16="http://schemas.microsoft.com/office/drawing/2014/main" id="{11316511-2186-B14B-B2A0-0967B623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9" name="Rectangle 131">
              <a:extLst>
                <a:ext uri="{FF2B5EF4-FFF2-40B4-BE49-F238E27FC236}">
                  <a16:creationId xmlns:a16="http://schemas.microsoft.com/office/drawing/2014/main" id="{7A116F04-A632-B845-B528-4E4C72A9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0" name="Rectangle 132">
              <a:extLst>
                <a:ext uri="{FF2B5EF4-FFF2-40B4-BE49-F238E27FC236}">
                  <a16:creationId xmlns:a16="http://schemas.microsoft.com/office/drawing/2014/main" id="{4A85FADB-4AF1-F94D-8774-770D5D087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01" name="Group 137">
            <a:extLst>
              <a:ext uri="{FF2B5EF4-FFF2-40B4-BE49-F238E27FC236}">
                <a16:creationId xmlns:a16="http://schemas.microsoft.com/office/drawing/2014/main" id="{9F60C830-B1B4-8D40-9EFA-BCF609F3183A}"/>
              </a:ext>
            </a:extLst>
          </p:cNvPr>
          <p:cNvGrpSpPr>
            <a:grpSpLocks/>
          </p:cNvGrpSpPr>
          <p:nvPr/>
        </p:nvGrpSpPr>
        <p:grpSpPr bwMode="auto">
          <a:xfrm>
            <a:off x="8935749" y="2282880"/>
            <a:ext cx="473075" cy="228600"/>
            <a:chOff x="1287" y="2524"/>
            <a:chExt cx="260" cy="100"/>
          </a:xfrm>
        </p:grpSpPr>
        <p:sp>
          <p:nvSpPr>
            <p:cNvPr id="602" name="Rectangle 138">
              <a:extLst>
                <a:ext uri="{FF2B5EF4-FFF2-40B4-BE49-F238E27FC236}">
                  <a16:creationId xmlns:a16="http://schemas.microsoft.com/office/drawing/2014/main" id="{6EF6EEDA-22BF-6241-8415-4BAB32D12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3" name="Rectangle 139">
              <a:extLst>
                <a:ext uri="{FF2B5EF4-FFF2-40B4-BE49-F238E27FC236}">
                  <a16:creationId xmlns:a16="http://schemas.microsoft.com/office/drawing/2014/main" id="{3DD5FE6D-6228-3940-8146-E91BBCD9F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4" name="Rectangle 140">
              <a:extLst>
                <a:ext uri="{FF2B5EF4-FFF2-40B4-BE49-F238E27FC236}">
                  <a16:creationId xmlns:a16="http://schemas.microsoft.com/office/drawing/2014/main" id="{15547CDB-C790-C348-AE10-9B28B2C54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5" name="Rectangle 141">
              <a:extLst>
                <a:ext uri="{FF2B5EF4-FFF2-40B4-BE49-F238E27FC236}">
                  <a16:creationId xmlns:a16="http://schemas.microsoft.com/office/drawing/2014/main" id="{59BAD7A1-391C-F44A-8C97-BB2749F44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606" name="Oval 143">
            <a:extLst>
              <a:ext uri="{FF2B5EF4-FFF2-40B4-BE49-F238E27FC236}">
                <a16:creationId xmlns:a16="http://schemas.microsoft.com/office/drawing/2014/main" id="{714C3193-ABA3-E549-9000-1B9EA9428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011" y="1949505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128674" y="2152705"/>
            <a:ext cx="2695575" cy="3382962"/>
            <a:chOff x="3128674" y="2152705"/>
            <a:chExt cx="2695575" cy="3382962"/>
          </a:xfrm>
        </p:grpSpPr>
        <p:grpSp>
          <p:nvGrpSpPr>
            <p:cNvPr id="4" name="Group 3"/>
            <p:cNvGrpSpPr/>
            <p:nvPr/>
          </p:nvGrpSpPr>
          <p:grpSpPr>
            <a:xfrm>
              <a:off x="3301711" y="4192642"/>
              <a:ext cx="2173288" cy="1343025"/>
              <a:chOff x="3301711" y="4192642"/>
              <a:chExt cx="2173288" cy="1343025"/>
            </a:xfrm>
          </p:grpSpPr>
          <p:grpSp>
            <p:nvGrpSpPr>
              <p:cNvPr id="560" name="Group 76">
                <a:extLst>
                  <a:ext uri="{FF2B5EF4-FFF2-40B4-BE49-F238E27FC236}">
                    <a16:creationId xmlns:a16="http://schemas.microsoft.com/office/drawing/2014/main" id="{54B1DF71-9399-154E-A326-E57B31715B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0936" y="4883205"/>
                <a:ext cx="2024063" cy="652462"/>
                <a:chOff x="1079" y="3697"/>
                <a:chExt cx="1275" cy="411"/>
              </a:xfrm>
            </p:grpSpPr>
            <p:sp>
              <p:nvSpPr>
                <p:cNvPr id="561" name="Rectangle 77">
                  <a:extLst>
                    <a:ext uri="{FF2B5EF4-FFF2-40B4-BE49-F238E27FC236}">
                      <a16:creationId xmlns:a16="http://schemas.microsoft.com/office/drawing/2014/main" id="{126F8F0C-1620-8242-B2D8-31D60CE3B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3697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2" name="Line 78">
                  <a:extLst>
                    <a:ext uri="{FF2B5EF4-FFF2-40B4-BE49-F238E27FC236}">
                      <a16:creationId xmlns:a16="http://schemas.microsoft.com/office/drawing/2014/main" id="{B4AFF46B-1913-5749-A0C2-475F8713C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9" y="3770"/>
                  <a:ext cx="175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3" name="Text Box 79">
                  <a:extLst>
                    <a:ext uri="{FF2B5EF4-FFF2-40B4-BE49-F238E27FC236}">
                      <a16:creationId xmlns:a16="http://schemas.microsoft.com/office/drawing/2014/main" id="{CE607ED2-10F4-764C-A00E-207E57A6B5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9" y="3822"/>
                  <a:ext cx="123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source </a:t>
                  </a:r>
                  <a:r>
                    <a:rPr kumimoji="0" lang="en-US" sz="14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IP,port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: A,9157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dest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 IP, port: B,80</a:t>
                  </a:r>
                </a:p>
              </p:txBody>
            </p:sp>
          </p:grpSp>
          <p:grpSp>
            <p:nvGrpSpPr>
              <p:cNvPr id="564" name="Group 80">
                <a:extLst>
                  <a:ext uri="{FF2B5EF4-FFF2-40B4-BE49-F238E27FC236}">
                    <a16:creationId xmlns:a16="http://schemas.microsoft.com/office/drawing/2014/main" id="{BE97DD4B-C63C-784B-AC3B-62C82E3DEA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1711" y="4192642"/>
                <a:ext cx="1887538" cy="652463"/>
                <a:chOff x="2741" y="3750"/>
                <a:chExt cx="1189" cy="411"/>
              </a:xfrm>
            </p:grpSpPr>
            <p:sp>
              <p:nvSpPr>
                <p:cNvPr id="565" name="Rectangle 81">
                  <a:extLst>
                    <a:ext uri="{FF2B5EF4-FFF2-40B4-BE49-F238E27FC236}">
                      <a16:creationId xmlns:a16="http://schemas.microsoft.com/office/drawing/2014/main" id="{4CBF1123-14B9-314E-90DC-C336B1E56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59" y="3750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6" name="Line 82">
                  <a:extLst>
                    <a:ext uri="{FF2B5EF4-FFF2-40B4-BE49-F238E27FC236}">
                      <a16:creationId xmlns:a16="http://schemas.microsoft.com/office/drawing/2014/main" id="{C63CC2F7-6C69-D341-8C27-77AE238CB1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41" y="3837"/>
                  <a:ext cx="175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7" name="Text Box 83">
                  <a:extLst>
                    <a:ext uri="{FF2B5EF4-FFF2-40B4-BE49-F238E27FC236}">
                      <a16:creationId xmlns:a16="http://schemas.microsoft.com/office/drawing/2014/main" id="{FEC19C07-3FF2-1243-80F2-5776AC478D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3" y="3875"/>
                  <a:ext cx="1117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source IP,port: B,80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dest IP,port: A,9157</a:t>
                  </a:r>
                </a:p>
              </p:txBody>
            </p:sp>
          </p:grpSp>
        </p:grpSp>
        <p:sp>
          <p:nvSpPr>
            <p:cNvPr id="607" name="Freeform 144">
              <a:extLst>
                <a:ext uri="{FF2B5EF4-FFF2-40B4-BE49-F238E27FC236}">
                  <a16:creationId xmlns:a16="http://schemas.microsoft.com/office/drawing/2014/main" id="{C20C0751-24F4-5540-AE77-1F150DE4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674" y="2152705"/>
              <a:ext cx="2695575" cy="2695575"/>
            </a:xfrm>
            <a:custGeom>
              <a:avLst/>
              <a:gdLst>
                <a:gd name="T0" fmla="*/ 0 w 1698"/>
                <a:gd name="T1" fmla="*/ 2147483647 h 1698"/>
                <a:gd name="T2" fmla="*/ 0 w 1698"/>
                <a:gd name="T3" fmla="*/ 2147483647 h 1698"/>
                <a:gd name="T4" fmla="*/ 2147483647 w 1698"/>
                <a:gd name="T5" fmla="*/ 2147483647 h 1698"/>
                <a:gd name="T6" fmla="*/ 2147483647 w 1698"/>
                <a:gd name="T7" fmla="*/ 2147483647 h 1698"/>
                <a:gd name="T8" fmla="*/ 2147483647 w 1698"/>
                <a:gd name="T9" fmla="*/ 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8" h="1698">
                  <a:moveTo>
                    <a:pt x="0" y="131"/>
                  </a:moveTo>
                  <a:lnTo>
                    <a:pt x="0" y="1698"/>
                  </a:lnTo>
                  <a:lnTo>
                    <a:pt x="1698" y="1690"/>
                  </a:lnTo>
                  <a:lnTo>
                    <a:pt x="1691" y="148"/>
                  </a:lnTo>
                  <a:lnTo>
                    <a:pt x="1443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8" name="Freeform 145">
            <a:extLst>
              <a:ext uri="{FF2B5EF4-FFF2-40B4-BE49-F238E27FC236}">
                <a16:creationId xmlns:a16="http://schemas.microsoft.com/office/drawing/2014/main" id="{29302AA3-50A5-1244-9A33-D38F93F145D5}"/>
              </a:ext>
            </a:extLst>
          </p:cNvPr>
          <p:cNvSpPr>
            <a:spLocks/>
          </p:cNvSpPr>
          <p:nvPr/>
        </p:nvSpPr>
        <p:spPr bwMode="auto">
          <a:xfrm>
            <a:off x="6114761" y="2184455"/>
            <a:ext cx="3089275" cy="3252787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7 h 1801"/>
              <a:gd name="T4" fmla="*/ 2147483647 w 1946"/>
              <a:gd name="T5" fmla="*/ 2147483647 h 1801"/>
              <a:gd name="T6" fmla="*/ 2147483647 w 1946"/>
              <a:gd name="T7" fmla="*/ 2147483647 h 18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773574" y="2173342"/>
            <a:ext cx="2170112" cy="2876550"/>
            <a:chOff x="6773574" y="2173342"/>
            <a:chExt cx="2170112" cy="2876550"/>
          </a:xfrm>
        </p:grpSpPr>
        <p:sp>
          <p:nvSpPr>
            <p:cNvPr id="609" name="Freeform 146">
              <a:extLst>
                <a:ext uri="{FF2B5EF4-FFF2-40B4-BE49-F238E27FC236}">
                  <a16:creationId xmlns:a16="http://schemas.microsoft.com/office/drawing/2014/main" id="{6BB33F5D-182F-DB4B-A83A-42910CF0B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574" y="2173342"/>
              <a:ext cx="1609725" cy="2465388"/>
            </a:xfrm>
            <a:custGeom>
              <a:avLst/>
              <a:gdLst>
                <a:gd name="T0" fmla="*/ 0 w 1014"/>
                <a:gd name="T1" fmla="*/ 0 h 1480"/>
                <a:gd name="T2" fmla="*/ 0 w 1014"/>
                <a:gd name="T3" fmla="*/ 2147483647 h 1480"/>
                <a:gd name="T4" fmla="*/ 2147483647 w 1014"/>
                <a:gd name="T5" fmla="*/ 2147483647 h 1480"/>
                <a:gd name="T6" fmla="*/ 2147483647 w 1014"/>
                <a:gd name="T7" fmla="*/ 2147483647 h 1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4" h="1480">
                  <a:moveTo>
                    <a:pt x="0" y="0"/>
                  </a:moveTo>
                  <a:lnTo>
                    <a:pt x="0" y="1480"/>
                  </a:lnTo>
                  <a:lnTo>
                    <a:pt x="1014" y="1480"/>
                  </a:lnTo>
                  <a:lnTo>
                    <a:pt x="1014" y="146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10" name="Group 147">
              <a:extLst>
                <a:ext uri="{FF2B5EF4-FFF2-40B4-BE49-F238E27FC236}">
                  <a16:creationId xmlns:a16="http://schemas.microsoft.com/office/drawing/2014/main" id="{8F2EC129-42A1-CA45-9C29-F66369B611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1999" y="4397430"/>
              <a:ext cx="2071687" cy="652462"/>
              <a:chOff x="2741" y="3750"/>
              <a:chExt cx="1305" cy="411"/>
            </a:xfrm>
          </p:grpSpPr>
          <p:sp>
            <p:nvSpPr>
              <p:cNvPr id="611" name="Rectangle 148">
                <a:extLst>
                  <a:ext uri="{FF2B5EF4-FFF2-40B4-BE49-F238E27FC236}">
                    <a16:creationId xmlns:a16="http://schemas.microsoft.com/office/drawing/2014/main" id="{5531015F-C493-CC46-9820-D16FD2137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9" y="3750"/>
                <a:ext cx="678" cy="138"/>
              </a:xfrm>
              <a:prstGeom prst="rect">
                <a:avLst/>
              </a:prstGeom>
              <a:solidFill>
                <a:srgbClr val="3C6CD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12" name="Line 149">
                <a:extLst>
                  <a:ext uri="{FF2B5EF4-FFF2-40B4-BE49-F238E27FC236}">
                    <a16:creationId xmlns:a16="http://schemas.microsoft.com/office/drawing/2014/main" id="{2E6849E0-3812-A84C-9E80-84DB1D6B0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41" y="3837"/>
                <a:ext cx="175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13" name="Text Box 150">
                <a:extLst>
                  <a:ext uri="{FF2B5EF4-FFF2-40B4-BE49-F238E27FC236}">
                    <a16:creationId xmlns:a16="http://schemas.microsoft.com/office/drawing/2014/main" id="{EC838B59-7BC3-3F46-8B4A-83CBD6DB5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3" y="3875"/>
                <a:ext cx="1233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source IP,port: C,5775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dest IP,port: B,80</a:t>
                </a:r>
              </a:p>
            </p:txBody>
          </p:sp>
        </p:grpSp>
      </p:grpSp>
      <p:grpSp>
        <p:nvGrpSpPr>
          <p:cNvPr id="614" name="Group 151">
            <a:extLst>
              <a:ext uri="{FF2B5EF4-FFF2-40B4-BE49-F238E27FC236}">
                <a16:creationId xmlns:a16="http://schemas.microsoft.com/office/drawing/2014/main" id="{69105778-FE71-EB4F-B01B-3760910DFB08}"/>
              </a:ext>
            </a:extLst>
          </p:cNvPr>
          <p:cNvGrpSpPr>
            <a:grpSpLocks/>
          </p:cNvGrpSpPr>
          <p:nvPr/>
        </p:nvGrpSpPr>
        <p:grpSpPr bwMode="auto">
          <a:xfrm>
            <a:off x="6941849" y="5186417"/>
            <a:ext cx="2063750" cy="661988"/>
            <a:chOff x="2741" y="3750"/>
            <a:chExt cx="1300" cy="417"/>
          </a:xfrm>
        </p:grpSpPr>
        <p:sp>
          <p:nvSpPr>
            <p:cNvPr id="615" name="Rectangle 152">
              <a:extLst>
                <a:ext uri="{FF2B5EF4-FFF2-40B4-BE49-F238E27FC236}">
                  <a16:creationId xmlns:a16="http://schemas.microsoft.com/office/drawing/2014/main" id="{885FFA84-ACB8-0744-B24C-9A28B058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6" name="Line 153">
              <a:extLst>
                <a:ext uri="{FF2B5EF4-FFF2-40B4-BE49-F238E27FC236}">
                  <a16:creationId xmlns:a16="http://schemas.microsoft.com/office/drawing/2014/main" id="{0B2DDB46-0A9D-004F-9F24-788225385A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Text Box 154">
              <a:extLst>
                <a:ext uri="{FF2B5EF4-FFF2-40B4-BE49-F238E27FC236}">
                  <a16:creationId xmlns:a16="http://schemas.microsoft.com/office/drawing/2014/main" id="{33813E80-F8C8-1546-93E7-7005B836E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IP,port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: C,9157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IP,port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: B,80</a:t>
              </a:r>
            </a:p>
          </p:txBody>
        </p:sp>
      </p:grpSp>
      <p:sp>
        <p:nvSpPr>
          <p:cNvPr id="621" name="Text Box 160">
            <a:extLst>
              <a:ext uri="{FF2B5EF4-FFF2-40B4-BE49-F238E27FC236}">
                <a16:creationId xmlns:a16="http://schemas.microsoft.com/office/drawing/2014/main" id="{49EFE28C-CCBF-994C-948D-5E439252E1F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681499" y="3414767"/>
            <a:ext cx="114776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server: IP address B</a:t>
            </a:r>
          </a:p>
        </p:txBody>
      </p:sp>
      <p:grpSp>
        <p:nvGrpSpPr>
          <p:cNvPr id="622" name="Group 161">
            <a:extLst>
              <a:ext uri="{FF2B5EF4-FFF2-40B4-BE49-F238E27FC236}">
                <a16:creationId xmlns:a16="http://schemas.microsoft.com/office/drawing/2014/main" id="{F577BA28-7CF9-6040-97DF-D64452645ABD}"/>
              </a:ext>
            </a:extLst>
          </p:cNvPr>
          <p:cNvGrpSpPr>
            <a:grpSpLocks/>
          </p:cNvGrpSpPr>
          <p:nvPr/>
        </p:nvGrpSpPr>
        <p:grpSpPr bwMode="auto">
          <a:xfrm>
            <a:off x="4455824" y="2905180"/>
            <a:ext cx="358775" cy="704850"/>
            <a:chOff x="4140" y="429"/>
            <a:chExt cx="1425" cy="2396"/>
          </a:xfrm>
        </p:grpSpPr>
        <p:sp>
          <p:nvSpPr>
            <p:cNvPr id="623" name="Freeform 162">
              <a:extLst>
                <a:ext uri="{FF2B5EF4-FFF2-40B4-BE49-F238E27FC236}">
                  <a16:creationId xmlns:a16="http://schemas.microsoft.com/office/drawing/2014/main" id="{933B9AE8-1AB5-0247-896A-09244B66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4" name="Rectangle 163">
              <a:extLst>
                <a:ext uri="{FF2B5EF4-FFF2-40B4-BE49-F238E27FC236}">
                  <a16:creationId xmlns:a16="http://schemas.microsoft.com/office/drawing/2014/main" id="{69892481-5981-1C41-BD9D-4791FA8BA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5" name="Freeform 164">
              <a:extLst>
                <a:ext uri="{FF2B5EF4-FFF2-40B4-BE49-F238E27FC236}">
                  <a16:creationId xmlns:a16="http://schemas.microsoft.com/office/drawing/2014/main" id="{354758CC-97E4-CA41-BF22-FC3AA11AB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6" name="Freeform 165">
              <a:extLst>
                <a:ext uri="{FF2B5EF4-FFF2-40B4-BE49-F238E27FC236}">
                  <a16:creationId xmlns:a16="http://schemas.microsoft.com/office/drawing/2014/main" id="{452D8B73-C85C-AF42-85A5-B7F8AAB96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7" name="Rectangle 166">
              <a:extLst>
                <a:ext uri="{FF2B5EF4-FFF2-40B4-BE49-F238E27FC236}">
                  <a16:creationId xmlns:a16="http://schemas.microsoft.com/office/drawing/2014/main" id="{4CB417AA-005D-CD44-9481-C2F209630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28" name="Group 167">
              <a:extLst>
                <a:ext uri="{FF2B5EF4-FFF2-40B4-BE49-F238E27FC236}">
                  <a16:creationId xmlns:a16="http://schemas.microsoft.com/office/drawing/2014/main" id="{54399D05-60E0-3447-A0B8-793547A7F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3" name="AutoShape 168">
                <a:extLst>
                  <a:ext uri="{FF2B5EF4-FFF2-40B4-BE49-F238E27FC236}">
                    <a16:creationId xmlns:a16="http://schemas.microsoft.com/office/drawing/2014/main" id="{0E8C1976-030F-F746-864E-A99490854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4" name="AutoShape 169">
                <a:extLst>
                  <a:ext uri="{FF2B5EF4-FFF2-40B4-BE49-F238E27FC236}">
                    <a16:creationId xmlns:a16="http://schemas.microsoft.com/office/drawing/2014/main" id="{C0F343F2-B11A-FB40-AC3A-93CAC1E9A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29" name="Rectangle 170">
              <a:extLst>
                <a:ext uri="{FF2B5EF4-FFF2-40B4-BE49-F238E27FC236}">
                  <a16:creationId xmlns:a16="http://schemas.microsoft.com/office/drawing/2014/main" id="{72257BB6-BE40-C84A-9F2C-7D75F5B34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30" name="Group 171">
              <a:extLst>
                <a:ext uri="{FF2B5EF4-FFF2-40B4-BE49-F238E27FC236}">
                  <a16:creationId xmlns:a16="http://schemas.microsoft.com/office/drawing/2014/main" id="{249FAA90-2012-A843-9B2F-CC46D3894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1" name="AutoShape 172">
                <a:extLst>
                  <a:ext uri="{FF2B5EF4-FFF2-40B4-BE49-F238E27FC236}">
                    <a16:creationId xmlns:a16="http://schemas.microsoft.com/office/drawing/2014/main" id="{1EEEC70E-1D82-B143-BDE1-8B59092C0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2" name="AutoShape 173">
                <a:extLst>
                  <a:ext uri="{FF2B5EF4-FFF2-40B4-BE49-F238E27FC236}">
                    <a16:creationId xmlns:a16="http://schemas.microsoft.com/office/drawing/2014/main" id="{EAE13528-3255-7344-B721-B6980B90F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31" name="Rectangle 174">
              <a:extLst>
                <a:ext uri="{FF2B5EF4-FFF2-40B4-BE49-F238E27FC236}">
                  <a16:creationId xmlns:a16="http://schemas.microsoft.com/office/drawing/2014/main" id="{7188C30C-A22A-5D45-91C2-1ACAE8C1C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Rectangle 175">
              <a:extLst>
                <a:ext uri="{FF2B5EF4-FFF2-40B4-BE49-F238E27FC236}">
                  <a16:creationId xmlns:a16="http://schemas.microsoft.com/office/drawing/2014/main" id="{F5086B84-99D0-6841-BE96-8395BC062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33" name="Group 176">
              <a:extLst>
                <a:ext uri="{FF2B5EF4-FFF2-40B4-BE49-F238E27FC236}">
                  <a16:creationId xmlns:a16="http://schemas.microsoft.com/office/drawing/2014/main" id="{962F32CB-2CBA-0D4F-B8E2-EFFEF093D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49" name="AutoShape 177">
                <a:extLst>
                  <a:ext uri="{FF2B5EF4-FFF2-40B4-BE49-F238E27FC236}">
                    <a16:creationId xmlns:a16="http://schemas.microsoft.com/office/drawing/2014/main" id="{EE96D227-3E09-6043-A826-C244873EE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0" name="AutoShape 178">
                <a:extLst>
                  <a:ext uri="{FF2B5EF4-FFF2-40B4-BE49-F238E27FC236}">
                    <a16:creationId xmlns:a16="http://schemas.microsoft.com/office/drawing/2014/main" id="{EE37F51B-AE5B-774A-9400-F6B84CC89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34" name="Freeform 179">
              <a:extLst>
                <a:ext uri="{FF2B5EF4-FFF2-40B4-BE49-F238E27FC236}">
                  <a16:creationId xmlns:a16="http://schemas.microsoft.com/office/drawing/2014/main" id="{BB4E54F7-0208-D144-94CD-AE16252B0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35" name="Group 180">
              <a:extLst>
                <a:ext uri="{FF2B5EF4-FFF2-40B4-BE49-F238E27FC236}">
                  <a16:creationId xmlns:a16="http://schemas.microsoft.com/office/drawing/2014/main" id="{CDDF1C6E-720C-1C4E-97D6-FEEA034A4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7" name="AutoShape 181">
                <a:extLst>
                  <a:ext uri="{FF2B5EF4-FFF2-40B4-BE49-F238E27FC236}">
                    <a16:creationId xmlns:a16="http://schemas.microsoft.com/office/drawing/2014/main" id="{FCE1B24C-C6D5-A74E-BCC9-1790A4477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8" name="AutoShape 182">
                <a:extLst>
                  <a:ext uri="{FF2B5EF4-FFF2-40B4-BE49-F238E27FC236}">
                    <a16:creationId xmlns:a16="http://schemas.microsoft.com/office/drawing/2014/main" id="{ECD7FAA8-997C-6741-B542-8F6CB8A79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36" name="Rectangle 183">
              <a:extLst>
                <a:ext uri="{FF2B5EF4-FFF2-40B4-BE49-F238E27FC236}">
                  <a16:creationId xmlns:a16="http://schemas.microsoft.com/office/drawing/2014/main" id="{FABC00AC-70CA-7043-A832-BD8E42059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7" name="Freeform 184">
              <a:extLst>
                <a:ext uri="{FF2B5EF4-FFF2-40B4-BE49-F238E27FC236}">
                  <a16:creationId xmlns:a16="http://schemas.microsoft.com/office/drawing/2014/main" id="{113F4917-6305-434E-A2A6-9F8FC8CD2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8" name="Freeform 185">
              <a:extLst>
                <a:ext uri="{FF2B5EF4-FFF2-40B4-BE49-F238E27FC236}">
                  <a16:creationId xmlns:a16="http://schemas.microsoft.com/office/drawing/2014/main" id="{14DDB482-D40B-9E4B-B569-8524D8E8F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9" name="Oval 186">
              <a:extLst>
                <a:ext uri="{FF2B5EF4-FFF2-40B4-BE49-F238E27FC236}">
                  <a16:creationId xmlns:a16="http://schemas.microsoft.com/office/drawing/2014/main" id="{44EB568A-9CE3-C54A-9206-BDCE5E179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0" name="Freeform 187">
              <a:extLst>
                <a:ext uri="{FF2B5EF4-FFF2-40B4-BE49-F238E27FC236}">
                  <a16:creationId xmlns:a16="http://schemas.microsoft.com/office/drawing/2014/main" id="{47334A5D-96E6-664D-926C-2595FA583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1" name="AutoShape 188">
              <a:extLst>
                <a:ext uri="{FF2B5EF4-FFF2-40B4-BE49-F238E27FC236}">
                  <a16:creationId xmlns:a16="http://schemas.microsoft.com/office/drawing/2014/main" id="{013B8477-EEF2-7747-8060-985EE5C53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2" name="AutoShape 189">
              <a:extLst>
                <a:ext uri="{FF2B5EF4-FFF2-40B4-BE49-F238E27FC236}">
                  <a16:creationId xmlns:a16="http://schemas.microsoft.com/office/drawing/2014/main" id="{8385C752-6DAC-4A48-9BB5-AEA57D6A9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3" name="Oval 190">
              <a:extLst>
                <a:ext uri="{FF2B5EF4-FFF2-40B4-BE49-F238E27FC236}">
                  <a16:creationId xmlns:a16="http://schemas.microsoft.com/office/drawing/2014/main" id="{0B04B216-03CD-F645-ACA2-BD47FCE98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191">
              <a:extLst>
                <a:ext uri="{FF2B5EF4-FFF2-40B4-BE49-F238E27FC236}">
                  <a16:creationId xmlns:a16="http://schemas.microsoft.com/office/drawing/2014/main" id="{268FC658-A568-D546-9053-FA503C84E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45" name="Oval 192">
              <a:extLst>
                <a:ext uri="{FF2B5EF4-FFF2-40B4-BE49-F238E27FC236}">
                  <a16:creationId xmlns:a16="http://schemas.microsoft.com/office/drawing/2014/main" id="{E3521055-5803-D44C-B1AC-A56EE246B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6" name="Rectangle 193">
              <a:extLst>
                <a:ext uri="{FF2B5EF4-FFF2-40B4-BE49-F238E27FC236}">
                  <a16:creationId xmlns:a16="http://schemas.microsoft.com/office/drawing/2014/main" id="{B01113D0-7A5F-2845-BBE5-E5DEE7D3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55" name="Group 194">
            <a:extLst>
              <a:ext uri="{FF2B5EF4-FFF2-40B4-BE49-F238E27FC236}">
                <a16:creationId xmlns:a16="http://schemas.microsoft.com/office/drawing/2014/main" id="{AE6C24AF-B399-914A-BD00-8F2930D965CE}"/>
              </a:ext>
            </a:extLst>
          </p:cNvPr>
          <p:cNvGrpSpPr>
            <a:grpSpLocks/>
          </p:cNvGrpSpPr>
          <p:nvPr/>
        </p:nvGrpSpPr>
        <p:grpSpPr bwMode="auto">
          <a:xfrm>
            <a:off x="1590386" y="3325867"/>
            <a:ext cx="711200" cy="669925"/>
            <a:chOff x="-44" y="1473"/>
            <a:chExt cx="981" cy="1105"/>
          </a:xfrm>
        </p:grpSpPr>
        <p:pic>
          <p:nvPicPr>
            <p:cNvPr id="656" name="Picture 195" descr="desktop_computer_stylized_medium">
              <a:extLst>
                <a:ext uri="{FF2B5EF4-FFF2-40B4-BE49-F238E27FC236}">
                  <a16:creationId xmlns:a16="http://schemas.microsoft.com/office/drawing/2014/main" id="{449668ED-5F76-8646-97D9-D6F2A29D0D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7" name="Freeform 196">
              <a:extLst>
                <a:ext uri="{FF2B5EF4-FFF2-40B4-BE49-F238E27FC236}">
                  <a16:creationId xmlns:a16="http://schemas.microsoft.com/office/drawing/2014/main" id="{AF9581BE-4372-754E-A062-1EE3EABE6A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58" name="Group 197">
            <a:extLst>
              <a:ext uri="{FF2B5EF4-FFF2-40B4-BE49-F238E27FC236}">
                <a16:creationId xmlns:a16="http://schemas.microsoft.com/office/drawing/2014/main" id="{30AD3BDA-F1F4-4640-8F27-22736C618AA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893011" y="3241730"/>
            <a:ext cx="711200" cy="669925"/>
            <a:chOff x="-44" y="1473"/>
            <a:chExt cx="981" cy="1105"/>
          </a:xfrm>
        </p:grpSpPr>
        <p:pic>
          <p:nvPicPr>
            <p:cNvPr id="659" name="Picture 198" descr="desktop_computer_stylized_medium">
              <a:extLst>
                <a:ext uri="{FF2B5EF4-FFF2-40B4-BE49-F238E27FC236}">
                  <a16:creationId xmlns:a16="http://schemas.microsoft.com/office/drawing/2014/main" id="{C3C56932-EC72-5E4B-9CCA-7833A8B91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0" name="Freeform 199">
              <a:extLst>
                <a:ext uri="{FF2B5EF4-FFF2-40B4-BE49-F238E27FC236}">
                  <a16:creationId xmlns:a16="http://schemas.microsoft.com/office/drawing/2014/main" id="{6742962E-DBDD-4F4E-8296-B71CC5A6A68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61" name="Text Box 155">
            <a:extLst>
              <a:ext uri="{FF2B5EF4-FFF2-40B4-BE49-F238E27FC236}">
                <a16:creationId xmlns:a16="http://schemas.microsoft.com/office/drawing/2014/main" id="{05C5CCE5-0F17-B045-BA74-C5A452C2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86" y="5737235"/>
            <a:ext cx="66428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Three segments, all destined to IP address: B,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port: 80 are demultiplexed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different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sockets</a:t>
            </a:r>
          </a:p>
        </p:txBody>
      </p:sp>
      <p:sp>
        <p:nvSpPr>
          <p:cNvPr id="6" name="Oval 5"/>
          <p:cNvSpPr/>
          <p:nvPr/>
        </p:nvSpPr>
        <p:spPr>
          <a:xfrm>
            <a:off x="4454237" y="5186417"/>
            <a:ext cx="1017672" cy="412705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577600" y="4694310"/>
            <a:ext cx="1017672" cy="412705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631575" y="5530882"/>
            <a:ext cx="1017672" cy="412705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7" name="Picture 4" descr="Image result for apache web server logo">
            <a:extLst>
              <a:ext uri="{FF2B5EF4-FFF2-40B4-BE49-F238E27FC236}">
                <a16:creationId xmlns:a16="http://schemas.microsoft.com/office/drawing/2014/main" id="{2DA3452A-DE33-3D41-95D5-C755A4191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538" y="1073700"/>
            <a:ext cx="1474756" cy="6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Slide Number Placeholder 2">
            <a:extLst>
              <a:ext uri="{FF2B5EF4-FFF2-40B4-BE49-F238E27FC236}">
                <a16:creationId xmlns:a16="http://schemas.microsoft.com/office/drawing/2014/main" id="{AAD45FF3-B333-6B47-9ECE-46B770CFE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1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" grpId="0" animBg="1"/>
      <p:bldP spid="661" grpId="0"/>
      <p:bldP spid="6" grpId="0" animBg="1"/>
      <p:bldP spid="145" grpId="0" animBg="1"/>
      <p:bldP spid="1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70DED9-87F6-FB46-A967-6223B68A3E96}"/>
              </a:ext>
            </a:extLst>
          </p:cNvPr>
          <p:cNvSpPr txBox="1">
            <a:spLocks noChangeArrowheads="1"/>
          </p:cNvSpPr>
          <p:nvPr/>
        </p:nvSpPr>
        <p:spPr>
          <a:xfrm>
            <a:off x="618385" y="1528553"/>
            <a:ext cx="5550595" cy="29275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“no frills,” “bare bones” Internet transport protocol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“best effort” service, UDP segments may be:</a:t>
            </a:r>
          </a:p>
          <a:p>
            <a:pPr marL="808038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lost</a:t>
            </a:r>
          </a:p>
          <a:p>
            <a:pPr marL="808038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delivered out-of-order to app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E8D3DA-F7E2-3144-9365-F468AE5A3F1F}"/>
              </a:ext>
            </a:extLst>
          </p:cNvPr>
          <p:cNvGrpSpPr/>
          <p:nvPr/>
        </p:nvGrpSpPr>
        <p:grpSpPr>
          <a:xfrm>
            <a:off x="6568225" y="1335368"/>
            <a:ext cx="5029004" cy="5014363"/>
            <a:chOff x="4979987" y="2821302"/>
            <a:chExt cx="6630121" cy="3829830"/>
          </a:xfrm>
        </p:grpSpPr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F9D9BC33-5F55-F54A-B992-1DDB07422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8112" y="3235273"/>
              <a:ext cx="6059488" cy="304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no connection establishment (which can add RTT delay)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simple: no connection state at sender, receiver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small header size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no congestion control</a:t>
              </a:r>
            </a:p>
            <a:p>
              <a:pPr marL="687388" marR="0" lvl="1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UDP can blast away as fast as desired!</a:t>
              </a:r>
            </a:p>
            <a:p>
              <a:pPr marL="687388" marR="0" lvl="1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can function in the face of congestion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E3B96135-5F05-0D44-B7B9-9BD478D4E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7" y="2988017"/>
              <a:ext cx="6630121" cy="3663115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3BFEAB49-E79F-FF40-AAAE-C9820F502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449" y="2821302"/>
              <a:ext cx="5102112" cy="378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charset="0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</a:t>
              </a:r>
              <a:r>
                <a:rPr kumimoji="0" lang="en-US" sz="3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hy</a:t>
              </a: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is there a UDP?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B958CE44-F1A4-924D-8CEA-640B52DBA4DF}"/>
              </a:ext>
            </a:extLst>
          </p:cNvPr>
          <p:cNvSpPr txBox="1">
            <a:spLocks noChangeArrowheads="1"/>
          </p:cNvSpPr>
          <p:nvPr/>
        </p:nvSpPr>
        <p:spPr>
          <a:xfrm>
            <a:off x="641997" y="4404835"/>
            <a:ext cx="5550595" cy="2060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33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connectionless: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handshaking between UDP sender, receiver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UDP segment handled independently of others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469890C8-B9BA-F74B-84CA-6B1BAB0F6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01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EFE9DD4-40BF-D54C-B457-743C8EAA5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543058"/>
            <a:ext cx="11100625" cy="4888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UDP use: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streaming multimedia apps (loss tolerant, rate sensitive)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DNS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SNMP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HTTP/3</a:t>
            </a: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if reliable transfer needed over UDP (e.g., HTTP/3): 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add needed reliability at application layer</a:t>
            </a:r>
          </a:p>
          <a:p>
            <a:pPr marL="688975" marR="0" lvl="1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add congestion control at application layer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160F1B7-DEB2-9342-B89A-69E5B6639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01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User Datagram Protocol </a:t>
            </a:r>
            <a:r>
              <a:rPr lang="en-US" sz="3600" dirty="0"/>
              <a:t>[RFC 768]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B0D4F-D972-B342-BA50-EC030780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243" y="1232551"/>
            <a:ext cx="6509995" cy="5467403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2BA1565-8605-154A-895B-C65D5D0B1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43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E97DC1-5C01-E843-A657-ADC5FEA14075}"/>
              </a:ext>
            </a:extLst>
          </p:cNvPr>
          <p:cNvCxnSpPr>
            <a:cxnSpLocks/>
            <a:stCxn id="151" idx="2"/>
          </p:cNvCxnSpPr>
          <p:nvPr/>
        </p:nvCxnSpPr>
        <p:spPr>
          <a:xfrm flipH="1">
            <a:off x="7972023" y="4973372"/>
            <a:ext cx="1473513" cy="47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C57AC1A-9B60-DC47-A97D-E9C39D845828}"/>
              </a:ext>
            </a:extLst>
          </p:cNvPr>
          <p:cNvCxnSpPr>
            <a:cxnSpLocks/>
          </p:cNvCxnSpPr>
          <p:nvPr/>
        </p:nvCxnSpPr>
        <p:spPr>
          <a:xfrm>
            <a:off x="2578811" y="5062556"/>
            <a:ext cx="1582832" cy="302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062521" y="4965666"/>
            <a:ext cx="4036903" cy="1028731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3" name="Freeform 70">
            <a:extLst>
              <a:ext uri="{FF2B5EF4-FFF2-40B4-BE49-F238E27FC236}">
                <a16:creationId xmlns:a16="http://schemas.microsoft.com/office/drawing/2014/main" id="{93CF945F-B7C1-9B4F-9438-D2DF7708E687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A415DCF-A2D2-344B-9A45-F3F58006C5EE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165" name="Rectangle 23">
              <a:extLst>
                <a:ext uri="{FF2B5EF4-FFF2-40B4-BE49-F238E27FC236}">
                  <a16:creationId xmlns:a16="http://schemas.microsoft.com/office/drawing/2014/main" id="{20790EF2-7EC4-BF46-AE61-5F193F08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Rectangle 24">
              <a:extLst>
                <a:ext uri="{FF2B5EF4-FFF2-40B4-BE49-F238E27FC236}">
                  <a16:creationId xmlns:a16="http://schemas.microsoft.com/office/drawing/2014/main" id="{DF6E9285-B785-804B-BB24-0405637B9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Line 25">
              <a:extLst>
                <a:ext uri="{FF2B5EF4-FFF2-40B4-BE49-F238E27FC236}">
                  <a16:creationId xmlns:a16="http://schemas.microsoft.com/office/drawing/2014/main" id="{C2F7FFF2-43B5-A648-8DB9-1244002B1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Text Box 26">
              <a:extLst>
                <a:ext uri="{FF2B5EF4-FFF2-40B4-BE49-F238E27FC236}">
                  <a16:creationId xmlns:a16="http://schemas.microsoft.com/office/drawing/2014/main" id="{38AC5752-2E10-AE4C-AE2E-F2F12589A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E6411346-D908-6048-94E9-4C9C6A9C9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26">
              <a:extLst>
                <a:ext uri="{FF2B5EF4-FFF2-40B4-BE49-F238E27FC236}">
                  <a16:creationId xmlns:a16="http://schemas.microsoft.com/office/drawing/2014/main" id="{2BD45E5F-4032-7A44-91A7-D2ED37DE3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1" name="Text Box 26">
              <a:extLst>
                <a:ext uri="{FF2B5EF4-FFF2-40B4-BE49-F238E27FC236}">
                  <a16:creationId xmlns:a16="http://schemas.microsoft.com/office/drawing/2014/main" id="{067129BD-4E72-804E-9941-0CFB2ABB0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72" name="Text Box 26">
              <a:extLst>
                <a:ext uri="{FF2B5EF4-FFF2-40B4-BE49-F238E27FC236}">
                  <a16:creationId xmlns:a16="http://schemas.microsoft.com/office/drawing/2014/main" id="{586097BE-C9CD-2B44-A610-13D1A1572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73" name="Line 27">
              <a:extLst>
                <a:ext uri="{FF2B5EF4-FFF2-40B4-BE49-F238E27FC236}">
                  <a16:creationId xmlns:a16="http://schemas.microsoft.com/office/drawing/2014/main" id="{9A1DE5DC-7E6A-4747-9541-02B87C77A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9B2D570F-120B-6D41-8FE2-002A2DC12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Text Box 26">
              <a:extLst>
                <a:ext uri="{FF2B5EF4-FFF2-40B4-BE49-F238E27FC236}">
                  <a16:creationId xmlns:a16="http://schemas.microsoft.com/office/drawing/2014/main" id="{3C035217-7FD4-6C48-AB72-7561321B3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C64A43A-1B07-3348-A5EB-9B76F69646C0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DB8B5ED-7F25-B645-878C-116DE6CD5E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AFB4D1D4-1D5D-7C46-A31B-48B19CA0A81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D1FB4E3-A216-1446-87E1-A06F139F80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B930530-1BA2-8049-A625-480A1F84B91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C5B65EDD-F107-4D4D-8254-28F27CB3355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52D8468-97DE-CD48-9220-0D7B5D1582B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CD0FBE04-ADDE-184C-8DFE-2575EA709AD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7" name="Group 149">
            <a:extLst>
              <a:ext uri="{FF2B5EF4-FFF2-40B4-BE49-F238E27FC236}">
                <a16:creationId xmlns:a16="http://schemas.microsoft.com/office/drawing/2014/main" id="{1F890155-D0B7-364C-891D-EC128001048E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98" name="Rectangle 73">
              <a:extLst>
                <a:ext uri="{FF2B5EF4-FFF2-40B4-BE49-F238E27FC236}">
                  <a16:creationId xmlns:a16="http://schemas.microsoft.com/office/drawing/2014/main" id="{590049C7-843C-1B4A-89F9-80D6028F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Rectangle 74">
              <a:extLst>
                <a:ext uri="{FF2B5EF4-FFF2-40B4-BE49-F238E27FC236}">
                  <a16:creationId xmlns:a16="http://schemas.microsoft.com/office/drawing/2014/main" id="{060ED392-F3E2-5445-9D40-5D86C1A7E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75">
              <a:extLst>
                <a:ext uri="{FF2B5EF4-FFF2-40B4-BE49-F238E27FC236}">
                  <a16:creationId xmlns:a16="http://schemas.microsoft.com/office/drawing/2014/main" id="{33BE5C08-8C7C-7149-875A-3BD200DF7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Rectangle 129">
              <a:extLst>
                <a:ext uri="{FF2B5EF4-FFF2-40B4-BE49-F238E27FC236}">
                  <a16:creationId xmlns:a16="http://schemas.microsoft.com/office/drawing/2014/main" id="{0140B062-405E-0A48-ABA2-65AE09DF9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85" name="Group 149">
            <a:extLst>
              <a:ext uri="{FF2B5EF4-FFF2-40B4-BE49-F238E27FC236}">
                <a16:creationId xmlns:a16="http://schemas.microsoft.com/office/drawing/2014/main" id="{2BE2291A-54C4-114A-8062-D743A8CDF9EC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86" name="Rectangle 73">
              <a:extLst>
                <a:ext uri="{FF2B5EF4-FFF2-40B4-BE49-F238E27FC236}">
                  <a16:creationId xmlns:a16="http://schemas.microsoft.com/office/drawing/2014/main" id="{A98E76A7-87AD-8242-988E-0E4DFC27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Rectangle 74">
              <a:extLst>
                <a:ext uri="{FF2B5EF4-FFF2-40B4-BE49-F238E27FC236}">
                  <a16:creationId xmlns:a16="http://schemas.microsoft.com/office/drawing/2014/main" id="{05A0AED4-CB55-8B44-A573-91C3CC519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" name="Rectangle 75">
              <a:extLst>
                <a:ext uri="{FF2B5EF4-FFF2-40B4-BE49-F238E27FC236}">
                  <a16:creationId xmlns:a16="http://schemas.microsoft.com/office/drawing/2014/main" id="{E473A3B0-4DB9-E148-95E3-5518DB46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" name="Rectangle 129">
              <a:extLst>
                <a:ext uri="{FF2B5EF4-FFF2-40B4-BE49-F238E27FC236}">
                  <a16:creationId xmlns:a16="http://schemas.microsoft.com/office/drawing/2014/main" id="{E9ED0EE1-76D9-D04D-8893-5E36E5A75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1B520EE5-2EFC-4746-B182-97170136E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581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02B4EA-0158-774A-877D-888807F574B5}"/>
              </a:ext>
            </a:extLst>
          </p:cNvPr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63EEB6-87F6-D847-AD1E-3BFDCE6A9543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1" y="5062556"/>
              <a:ext cx="1582832" cy="3026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891B45-180E-B341-A7C6-D10A683BB102}"/>
                </a:ext>
              </a:extLst>
            </p:cNvPr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16BE7B71-3412-8546-BD1A-8BF76DC472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2023" y="4973372"/>
                <a:ext cx="1473513" cy="4743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6DFDE96-5B04-984C-B72D-22D074DF3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521" y="4965666"/>
                <a:ext cx="4036903" cy="1028731"/>
              </a:xfrm>
              <a:custGeom>
                <a:avLst/>
                <a:gdLst>
                  <a:gd name="T0" fmla="*/ 2147483647 w 1877"/>
                  <a:gd name="T1" fmla="*/ 2147483647 h 917"/>
                  <a:gd name="T2" fmla="*/ 2147483647 w 1877"/>
                  <a:gd name="T3" fmla="*/ 2147483647 h 917"/>
                  <a:gd name="T4" fmla="*/ 2147483647 w 1877"/>
                  <a:gd name="T5" fmla="*/ 2147483647 h 917"/>
                  <a:gd name="T6" fmla="*/ 2147483647 w 1877"/>
                  <a:gd name="T7" fmla="*/ 2147483647 h 917"/>
                  <a:gd name="T8" fmla="*/ 2147483647 w 1877"/>
                  <a:gd name="T9" fmla="*/ 2147483647 h 917"/>
                  <a:gd name="T10" fmla="*/ 2147483647 w 1877"/>
                  <a:gd name="T11" fmla="*/ 2147483647 h 917"/>
                  <a:gd name="T12" fmla="*/ 2147483647 w 1877"/>
                  <a:gd name="T13" fmla="*/ 2147483647 h 917"/>
                  <a:gd name="T14" fmla="*/ 2147483647 w 1877"/>
                  <a:gd name="T15" fmla="*/ 2147483647 h 917"/>
                  <a:gd name="T16" fmla="*/ 2147483647 w 1877"/>
                  <a:gd name="T17" fmla="*/ 2147483647 h 917"/>
                  <a:gd name="T18" fmla="*/ 2147483647 w 1877"/>
                  <a:gd name="T19" fmla="*/ 2147483647 h 917"/>
                  <a:gd name="T20" fmla="*/ 2147483647 w 1877"/>
                  <a:gd name="T21" fmla="*/ 2147483647 h 917"/>
                  <a:gd name="T22" fmla="*/ 2147483647 w 1877"/>
                  <a:gd name="T23" fmla="*/ 2147483647 h 917"/>
                  <a:gd name="T24" fmla="*/ 2147483647 w 1877"/>
                  <a:gd name="T25" fmla="*/ 2147483647 h 917"/>
                  <a:gd name="T26" fmla="*/ 2147483647 w 1877"/>
                  <a:gd name="T27" fmla="*/ 2147483647 h 917"/>
                  <a:gd name="T28" fmla="*/ 2147483647 w 1877"/>
                  <a:gd name="T29" fmla="*/ 2147483647 h 917"/>
                  <a:gd name="T30" fmla="*/ 2147483647 w 1877"/>
                  <a:gd name="T31" fmla="*/ 2147483647 h 9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77"/>
                  <a:gd name="T49" fmla="*/ 0 h 917"/>
                  <a:gd name="T50" fmla="*/ 1877 w 1877"/>
                  <a:gd name="T51" fmla="*/ 917 h 91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77" h="91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Arial"/>
                  </a:rPr>
                  <a:t>             </a:t>
                </a:r>
              </a:p>
            </p:txBody>
          </p:sp>
        </p:grpSp>
      </p:grp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sender actions: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8502120" y="2078245"/>
            <a:ext cx="1986815" cy="29383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passed an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88186" y="2990916"/>
            <a:ext cx="382545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determines UDP segment header fields values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D6C411-175C-8D4E-9A66-3E03AAA9F0F9}"/>
              </a:ext>
            </a:extLst>
          </p:cNvPr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creates UDP segment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passes segment to IP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B709716-FAB0-AB45-BCAE-75F8CF2AEC09}"/>
              </a:ext>
            </a:extLst>
          </p:cNvPr>
          <p:cNvSpPr/>
          <p:nvPr/>
        </p:nvSpPr>
        <p:spPr>
          <a:xfrm>
            <a:off x="169333" y="1343378"/>
            <a:ext cx="3723445" cy="4402666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3FB16D4-A4BA-C046-940D-43D50465EB6F}"/>
              </a:ext>
            </a:extLst>
          </p:cNvPr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A58A03E-5455-0E40-8FB9-71E1E5E2CADE}"/>
                </a:ext>
              </a:extLst>
            </p:cNvPr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7A208B0-D27E-5D40-B156-11CB7075B098}"/>
                </a:ext>
              </a:extLst>
            </p:cNvPr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UDP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8545052" y="3003638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UDP</a:t>
                </a:r>
                <a:r>
                  <a:rPr kumimoji="0" lang="en-US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  <a:endPara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SNMP msg</a:t>
                </a:r>
              </a:p>
            </p:txBody>
          </p:sp>
        </p:grpSp>
      </p:grpSp>
      <p:sp>
        <p:nvSpPr>
          <p:cNvPr id="129" name="Slide Number Placeholder 2">
            <a:extLst>
              <a:ext uri="{FF2B5EF4-FFF2-40B4-BE49-F238E27FC236}">
                <a16:creationId xmlns:a16="http://schemas.microsoft.com/office/drawing/2014/main" id="{D1B0B0FD-EB4E-1D48-A59A-E3237644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7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00065 0.1013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06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0.00052 0.0930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65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9098 L -0.00221 0.25996 L -0.11419 0.32385 L -0.4332 0.31806 L -0.55885 0.275 L -0.55885 0.275 " pathEditMode="relative" ptsTypes="AAAA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5" grpId="0"/>
      <p:bldP spid="9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10295012" y="2167472"/>
            <a:ext cx="890436" cy="291255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854349" y="2256655"/>
            <a:ext cx="846644" cy="2922199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E1F04B-A3B3-534D-A252-A4AC29C657DE}"/>
              </a:ext>
            </a:extLst>
          </p:cNvPr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server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C4B02DA-C340-9945-87C2-952E1901FB43}"/>
              </a:ext>
            </a:extLst>
          </p:cNvPr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SNMP client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AFD9EC-1CA1-D34D-965E-2E8D95748C38}"/>
              </a:ext>
            </a:extLst>
          </p:cNvPr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201" y="3602458"/>
              <a:ext cx="22333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 Box 26">
              <a:extLst>
                <a:ext uri="{FF2B5EF4-FFF2-40B4-BE49-F238E27FC236}">
                  <a16:creationId xmlns:a16="http://schemas.microsoft.com/office/drawing/2014/main" id="{D8A757BB-1762-8B47-A046-060F718CB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5C4C69-3F64-BA46-87DE-D8D9E085DAC9}"/>
              </a:ext>
            </a:extLst>
          </p:cNvPr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12A4D2D3-BB7A-1141-97E1-1746F6A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C2D939F-B2EB-B142-B2EB-F3519897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Line 25">
              <a:extLst>
                <a:ext uri="{FF2B5EF4-FFF2-40B4-BE49-F238E27FC236}">
                  <a16:creationId xmlns:a16="http://schemas.microsoft.com/office/drawing/2014/main" id="{29206320-7227-5C45-BF48-477A94FE1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8956" y="2749010"/>
              <a:ext cx="2238254" cy="48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09388CA4-5912-3745-991A-9A3E60719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(UDP)</a:t>
              </a:r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7462DAE7-AE3D-CD41-8750-E700715A5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1121" y="3602458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B868290D-DE89-8749-A32C-C5FCE36D7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83" name="Text Box 26">
              <a:extLst>
                <a:ext uri="{FF2B5EF4-FFF2-40B4-BE49-F238E27FC236}">
                  <a16:creationId xmlns:a16="http://schemas.microsoft.com/office/drawing/2014/main" id="{18546DEE-76AB-C744-936A-7F4DF6389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9DE3AC7C-D9B1-ED4C-B925-37B317677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 (IP)</a:t>
              </a: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66E1BE0-4561-9344-ACBD-29F42E90D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6255" y="4074895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ED696C7-AECF-C14F-8CD8-7153D36CB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1389" y="4528049"/>
              <a:ext cx="2233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42139D70-AB44-E047-B37E-AABECE12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7BEBF-82FA-3440-93DD-AFB07D2DDF8D}"/>
              </a:ext>
            </a:extLst>
          </p:cNvPr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D49C136-01B9-DB45-BCCD-F4E48238714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DF9189A-C970-C34D-8402-F20083341C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1F5139E-A5EB-E64B-B1E6-C3669AE818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F7CB1D2-0FD2-A14F-A399-1C2D3650F2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88C61D0-9947-2E41-89C2-D2B4591C1F3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DE46CF5-DF22-8F48-87EF-A46F29E0F1A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EACF782-B549-1D4E-B840-69A6AFFE6A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4" name="Title 1">
            <a:extLst>
              <a:ext uri="{FF2B5EF4-FFF2-40B4-BE49-F238E27FC236}">
                <a16:creationId xmlns:a16="http://schemas.microsoft.com/office/drawing/2014/main" id="{1464CB5C-96D6-3645-94B5-DB9FA7097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UDP: Transport Layer Actions</a:t>
            </a:r>
          </a:p>
        </p:txBody>
      </p:sp>
      <p:grpSp>
        <p:nvGrpSpPr>
          <p:cNvPr id="115" name="Group 149">
            <a:extLst>
              <a:ext uri="{FF2B5EF4-FFF2-40B4-BE49-F238E27FC236}">
                <a16:creationId xmlns:a16="http://schemas.microsoft.com/office/drawing/2014/main" id="{D80894D4-838A-2B47-82E9-ED060F8608E9}"/>
              </a:ext>
            </a:extLst>
          </p:cNvPr>
          <p:cNvGrpSpPr>
            <a:grpSpLocks/>
          </p:cNvGrpSpPr>
          <p:nvPr/>
        </p:nvGrpSpPr>
        <p:grpSpPr bwMode="auto"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16" name="Rectangle 73">
              <a:extLst>
                <a:ext uri="{FF2B5EF4-FFF2-40B4-BE49-F238E27FC236}">
                  <a16:creationId xmlns:a16="http://schemas.microsoft.com/office/drawing/2014/main" id="{4F7EB976-F7A9-464D-96B7-3FE5D6F41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74">
              <a:extLst>
                <a:ext uri="{FF2B5EF4-FFF2-40B4-BE49-F238E27FC236}">
                  <a16:creationId xmlns:a16="http://schemas.microsoft.com/office/drawing/2014/main" id="{4368CF72-2B59-FB4B-92FA-68E13D10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75">
              <a:extLst>
                <a:ext uri="{FF2B5EF4-FFF2-40B4-BE49-F238E27FC236}">
                  <a16:creationId xmlns:a16="http://schemas.microsoft.com/office/drawing/2014/main" id="{0D0AC942-AA10-F747-BEAC-52DAFF24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129">
              <a:extLst>
                <a:ext uri="{FF2B5EF4-FFF2-40B4-BE49-F238E27FC236}">
                  <a16:creationId xmlns:a16="http://schemas.microsoft.com/office/drawing/2014/main" id="{C51B66A9-7495-DF44-B4DE-37BC9E90E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0" name="Group 149">
            <a:extLst>
              <a:ext uri="{FF2B5EF4-FFF2-40B4-BE49-F238E27FC236}">
                <a16:creationId xmlns:a16="http://schemas.microsoft.com/office/drawing/2014/main" id="{B5F38E94-4EF7-1F4B-AAC4-BF50DC083CD9}"/>
              </a:ext>
            </a:extLst>
          </p:cNvPr>
          <p:cNvGrpSpPr>
            <a:grpSpLocks/>
          </p:cNvGrpSpPr>
          <p:nvPr/>
        </p:nvGrpSpPr>
        <p:grpSpPr bwMode="auto"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21" name="Rectangle 73">
              <a:extLst>
                <a:ext uri="{FF2B5EF4-FFF2-40B4-BE49-F238E27FC236}">
                  <a16:creationId xmlns:a16="http://schemas.microsoft.com/office/drawing/2014/main" id="{71D7BEDA-E8D6-9F4F-8EE3-D5290D9A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74">
              <a:extLst>
                <a:ext uri="{FF2B5EF4-FFF2-40B4-BE49-F238E27FC236}">
                  <a16:creationId xmlns:a16="http://schemas.microsoft.com/office/drawing/2014/main" id="{D93A8064-E5FB-2844-9B3D-C598CCB6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75">
              <a:extLst>
                <a:ext uri="{FF2B5EF4-FFF2-40B4-BE49-F238E27FC236}">
                  <a16:creationId xmlns:a16="http://schemas.microsoft.com/office/drawing/2014/main" id="{DF7AA994-9DC7-8349-BB16-6DED06C8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129">
              <a:extLst>
                <a:ext uri="{FF2B5EF4-FFF2-40B4-BE49-F238E27FC236}">
                  <a16:creationId xmlns:a16="http://schemas.microsoft.com/office/drawing/2014/main" id="{06FC6EA9-9071-D843-8C39-AFF854F3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2BB341-9BE1-8640-8E8B-7EC80706964E}"/>
              </a:ext>
            </a:extLst>
          </p:cNvPr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receiver actions:</a:t>
            </a:r>
          </a:p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480FBEB-6DAE-6343-96A8-03D66CDE01DB}"/>
              </a:ext>
            </a:extLst>
          </p:cNvPr>
          <p:cNvSpPr/>
          <p:nvPr/>
        </p:nvSpPr>
        <p:spPr>
          <a:xfrm>
            <a:off x="1655121" y="2160335"/>
            <a:ext cx="2199790" cy="29383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A134BD1-8CE1-DD46-92D0-46AEECA91934}"/>
              </a:ext>
            </a:extLst>
          </p:cNvPr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A02A536-E595-E54F-85ED-50268229A5F1}"/>
                </a:ext>
              </a:extLst>
            </p:cNvPr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EE5E72-5714-C64B-A3D2-C89CD03AFF69}"/>
                </a:ext>
              </a:extLst>
            </p:cNvPr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SNMP msg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4FC0E6A-CBE5-AC4B-BF65-426B6D4CBC72}"/>
              </a:ext>
            </a:extLst>
          </p:cNvPr>
          <p:cNvSpPr txBox="1"/>
          <p:nvPr/>
        </p:nvSpPr>
        <p:spPr>
          <a:xfrm>
            <a:off x="4380155" y="3324883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extracts application-layer message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421943-E484-5046-BEAC-6D59475EF6C3}"/>
              </a:ext>
            </a:extLst>
          </p:cNvPr>
          <p:cNvSpPr txBox="1"/>
          <p:nvPr/>
        </p:nvSpPr>
        <p:spPr>
          <a:xfrm>
            <a:off x="4378217" y="2693557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checks UDP checksum header value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8394C2-8FDA-8F48-B59B-B744ABBDA541}"/>
              </a:ext>
            </a:extLst>
          </p:cNvPr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segment from IP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3E5E98-A439-0647-8DF1-844937CD72A0}"/>
              </a:ext>
            </a:extLst>
          </p:cNvPr>
          <p:cNvGrpSpPr/>
          <p:nvPr/>
        </p:nvGrpSpPr>
        <p:grpSpPr>
          <a:xfrm>
            <a:off x="1795827" y="3762839"/>
            <a:ext cx="1818022" cy="369332"/>
            <a:chOff x="7863122" y="5632673"/>
            <a:chExt cx="1818022" cy="3693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9CCB6B2-1F81-ED45-AF48-A3187F0215CC}"/>
                </a:ext>
              </a:extLst>
            </p:cNvPr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77AF83C-DA1E-A642-9E78-5EEE36A0AD7E}"/>
                  </a:ext>
                </a:extLst>
              </p:cNvPr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B8C9E1E-8C93-DA4B-813F-B38E4305D2BE}"/>
                  </a:ext>
                </a:extLst>
              </p:cNvPr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UDP</a:t>
                </a:r>
                <a:r>
                  <a:rPr kumimoji="0" lang="en-US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</a:t>
                </a:r>
                <a:endPara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B56BF3A-3903-6343-9BD8-2E85489C092E}"/>
                </a:ext>
              </a:extLst>
            </p:cNvPr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0632306-DF2A-5145-82E2-F627C1E9171F}"/>
                  </a:ext>
                </a:extLst>
              </p:cNvPr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104975E-6986-5E45-89F2-36AAE86B3B12}"/>
                  </a:ext>
                </a:extLst>
              </p:cNvPr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SNMP msg</a:t>
                </a:r>
              </a:p>
            </p:txBody>
          </p:sp>
        </p:grp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F6FF1BE-CC44-0642-B5BA-79CC246557BD}"/>
              </a:ext>
            </a:extLst>
          </p:cNvPr>
          <p:cNvSpPr txBox="1"/>
          <p:nvPr/>
        </p:nvSpPr>
        <p:spPr>
          <a:xfrm>
            <a:off x="4379533" y="3932414"/>
            <a:ext cx="3825456" cy="7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19075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demultiplexes message up to application via socket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79B4C12-D49E-4A40-9C38-F2E92ECDF43A}"/>
              </a:ext>
            </a:extLst>
          </p:cNvPr>
          <p:cNvSpPr/>
          <p:nvPr/>
        </p:nvSpPr>
        <p:spPr>
          <a:xfrm>
            <a:off x="8348341" y="2027305"/>
            <a:ext cx="3416536" cy="3302845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F72514-945E-EB40-9BEE-202BF670272C}"/>
              </a:ext>
            </a:extLst>
          </p:cNvPr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w="2540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5A91E20-BDA5-C441-B395-6979D211F34E}"/>
              </a:ext>
            </a:extLst>
          </p:cNvPr>
          <p:cNvCxnSpPr>
            <a:cxnSpLocks/>
          </p:cNvCxnSpPr>
          <p:nvPr/>
        </p:nvCxnSpPr>
        <p:spPr>
          <a:xfrm flipH="1">
            <a:off x="7972023" y="4973372"/>
            <a:ext cx="1473513" cy="4743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8285317-4714-1541-BC02-BED132E59B23}"/>
              </a:ext>
            </a:extLst>
          </p:cNvPr>
          <p:cNvCxnSpPr>
            <a:cxnSpLocks/>
          </p:cNvCxnSpPr>
          <p:nvPr/>
        </p:nvCxnSpPr>
        <p:spPr>
          <a:xfrm>
            <a:off x="2578811" y="5062556"/>
            <a:ext cx="1582832" cy="3026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062521" y="4965666"/>
            <a:ext cx="4036903" cy="1028731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06" name="Slide Number Placeholder 2">
            <a:extLst>
              <a:ext uri="{FF2B5EF4-FFF2-40B4-BE49-F238E27FC236}">
                <a16:creationId xmlns:a16="http://schemas.microsoft.com/office/drawing/2014/main" id="{427E91C8-0248-584A-817F-DE7D57562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3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4 -0.00208 L 0.00014 -0.0967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4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0013 -0.1076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4" grpId="0"/>
      <p:bldP spid="97" grpId="0"/>
      <p:bldP spid="127" grpId="0"/>
      <p:bldP spid="4" grpId="0" animBg="1"/>
      <p:bldP spid="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segment </a:t>
            </a:r>
            <a:r>
              <a:rPr lang="en-US" dirty="0"/>
              <a:t>h</a:t>
            </a:r>
            <a:r>
              <a:rPr lang="en-US" sz="4400" dirty="0"/>
              <a:t>eader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F52AC6CB-EA5F-E34E-A84B-F6174293B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299" y="2017713"/>
            <a:ext cx="3324225" cy="3200400"/>
          </a:xfrm>
          <a:prstGeom prst="rect">
            <a:avLst/>
          </a:prstGeom>
          <a:solidFill>
            <a:srgbClr val="FFFFFF"/>
          </a:solidFill>
          <a:ln w="349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C8E7AF66-85A4-6B43-AFFD-45ABC021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987" y="2030413"/>
            <a:ext cx="1563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source port #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2F2912E8-AD40-5541-9C73-5856C97AF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924" y="2030413"/>
            <a:ext cx="13287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dest port #</a:t>
            </a:r>
          </a:p>
        </p:txBody>
      </p:sp>
      <p:sp>
        <p:nvSpPr>
          <p:cNvPr id="32" name="Line 11">
            <a:extLst>
              <a:ext uri="{FF2B5EF4-FFF2-40B4-BE49-F238E27FC236}">
                <a16:creationId xmlns:a16="http://schemas.microsoft.com/office/drawing/2014/main" id="{D9BFD291-F38C-E245-812B-D4A7B44A29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2774" y="2417763"/>
            <a:ext cx="33289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" name="Line 12">
            <a:extLst>
              <a:ext uri="{FF2B5EF4-FFF2-40B4-BE49-F238E27FC236}">
                <a16:creationId xmlns:a16="http://schemas.microsoft.com/office/drawing/2014/main" id="{3CE7F4CE-E33B-FD4E-B07F-F5A9DE9885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3249" y="2817813"/>
            <a:ext cx="3324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Line 13">
            <a:extLst>
              <a:ext uri="{FF2B5EF4-FFF2-40B4-BE49-F238E27FC236}">
                <a16:creationId xmlns:a16="http://schemas.microsoft.com/office/drawing/2014/main" id="{F55DFF34-EECA-F046-9F88-B6CF84CB8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0599" y="2017713"/>
            <a:ext cx="0" cy="3952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99267DCE-8159-FC45-B743-B474F3D45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474" y="155257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32 bits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8D62C2C2-8FA0-A54C-8811-9A937D96C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799" y="1784350"/>
            <a:ext cx="12001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DE702B00-23E1-474A-9072-DDEE50F76714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88012" y="1793875"/>
            <a:ext cx="11287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7A899027-0169-0E41-A632-97B068C6D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262" y="3376613"/>
            <a:ext cx="13890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data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(payload)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CD850B08-5706-0344-961A-224002B3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862" y="5292725"/>
            <a:ext cx="2524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UDP segment format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23E18502-A4AB-B441-8247-C60D9AD14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0599" y="2427288"/>
            <a:ext cx="0" cy="3952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7C44E6B5-339B-1741-B9C3-A1E3E372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887" y="2420938"/>
            <a:ext cx="814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length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2" name="Text Box 23">
            <a:extLst>
              <a:ext uri="{FF2B5EF4-FFF2-40B4-BE49-F238E27FC236}">
                <a16:creationId xmlns:a16="http://schemas.microsoft.com/office/drawing/2014/main" id="{47FFCC22-7372-6744-AEF8-0A8B78529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1112" y="2411413"/>
            <a:ext cx="1176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checksum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485622D4-EF6A-C34A-A27B-A6B8F83BC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398" y="3421856"/>
            <a:ext cx="24066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length, in bytes of UDP segment, including header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1D6A5808-0448-DB49-AF97-08E63607B4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42136" y="2597149"/>
            <a:ext cx="3113157" cy="12853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55F1E7-7CEF-EC4F-9C9D-C612D6BAA462}"/>
              </a:ext>
            </a:extLst>
          </p:cNvPr>
          <p:cNvSpPr/>
          <p:nvPr/>
        </p:nvSpPr>
        <p:spPr>
          <a:xfrm>
            <a:off x="3695142" y="1957213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69DAA7-4CE3-5A48-B429-6D40B6035291}"/>
              </a:ext>
            </a:extLst>
          </p:cNvPr>
          <p:cNvSpPr/>
          <p:nvPr/>
        </p:nvSpPr>
        <p:spPr>
          <a:xfrm>
            <a:off x="5331049" y="1955208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8B7A60-8E66-CD4B-B67F-657454C69C5D}"/>
              </a:ext>
            </a:extLst>
          </p:cNvPr>
          <p:cNvSpPr/>
          <p:nvPr/>
        </p:nvSpPr>
        <p:spPr>
          <a:xfrm>
            <a:off x="3657042" y="2362801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E79E99F-83A4-EE4E-9BAB-1946BFD0A4A1}"/>
              </a:ext>
            </a:extLst>
          </p:cNvPr>
          <p:cNvSpPr/>
          <p:nvPr/>
        </p:nvSpPr>
        <p:spPr>
          <a:xfrm>
            <a:off x="5290176" y="2341229"/>
            <a:ext cx="2097870" cy="534469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AA4BE2E-C7FD-E34F-9626-C89B0B4F43FB}"/>
              </a:ext>
            </a:extLst>
          </p:cNvPr>
          <p:cNvSpPr/>
          <p:nvPr/>
        </p:nvSpPr>
        <p:spPr>
          <a:xfrm>
            <a:off x="4386800" y="3148706"/>
            <a:ext cx="2097870" cy="1560711"/>
          </a:xfrm>
          <a:prstGeom prst="ellipse">
            <a:avLst/>
          </a:prstGeom>
          <a:noFill/>
          <a:ln w="31750">
            <a:solidFill>
              <a:srgbClr val="CD00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Line 25">
            <a:extLst>
              <a:ext uri="{FF2B5EF4-FFF2-40B4-BE49-F238E27FC236}">
                <a16:creationId xmlns:a16="http://schemas.microsoft.com/office/drawing/2014/main" id="{F10F9304-7E0A-6542-A023-9D119B25A0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15202" y="3972404"/>
            <a:ext cx="3113157" cy="12853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E81BCD01-79B1-A943-81E4-83B20B558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927" y="4969559"/>
            <a:ext cx="24066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data to/from application layer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43CF0894-FFF1-6D45-9D05-752E85B0B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7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5" grpId="0" animBg="1"/>
      <p:bldP spid="26" grpId="0" animBg="1"/>
      <p:bldP spid="27" grpId="0" animBg="1"/>
      <p:bldP spid="48" grpId="0" animBg="1"/>
      <p:bldP spid="49" grpId="0" animBg="1"/>
      <p:bldP spid="50" grpId="0" animBg="1"/>
      <p:bldP spid="5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checksum</a:t>
            </a: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1270863" y="2652793"/>
            <a:ext cx="10241312" cy="57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Transmitted:            5               6                11</a:t>
            </a: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flipped bits) in transmitted segment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6366BE9-1119-E949-B583-83377BE7B2FA}"/>
              </a:ext>
            </a:extLst>
          </p:cNvPr>
          <p:cNvSpPr txBox="1">
            <a:spLocks noChangeArrowheads="1"/>
          </p:cNvSpPr>
          <p:nvPr/>
        </p:nvSpPr>
        <p:spPr>
          <a:xfrm>
            <a:off x="1717730" y="4429929"/>
            <a:ext cx="10241312" cy="573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Received:            4               6                11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3263DD-30EB-3A47-BB43-1008E7B8EB3B}"/>
              </a:ext>
            </a:extLst>
          </p:cNvPr>
          <p:cNvGrpSpPr/>
          <p:nvPr/>
        </p:nvGrpSpPr>
        <p:grpSpPr>
          <a:xfrm>
            <a:off x="3781587" y="2118101"/>
            <a:ext cx="3789990" cy="374499"/>
            <a:chOff x="3781587" y="2118101"/>
            <a:chExt cx="3789990" cy="3744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75CCDE0-7CCA-374E-AAE6-7714B8510863}"/>
                </a:ext>
              </a:extLst>
            </p:cNvPr>
            <p:cNvSpPr txBox="1"/>
            <p:nvPr/>
          </p:nvSpPr>
          <p:spPr>
            <a:xfrm>
              <a:off x="3781587" y="2123268"/>
              <a:ext cx="1210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number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036BB1-E12C-9F45-B7AC-A46C43550AB8}"/>
                </a:ext>
              </a:extLst>
            </p:cNvPr>
            <p:cNvSpPr txBox="1"/>
            <p:nvPr/>
          </p:nvSpPr>
          <p:spPr>
            <a:xfrm>
              <a:off x="5173851" y="2120685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number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F766B9-0BC5-B243-8C87-21D6B656B474}"/>
                </a:ext>
              </a:extLst>
            </p:cNvPr>
            <p:cNvSpPr txBox="1"/>
            <p:nvPr/>
          </p:nvSpPr>
          <p:spPr>
            <a:xfrm>
              <a:off x="6938070" y="211810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sum</a:t>
              </a:r>
            </a:p>
          </p:txBody>
        </p:sp>
      </p:grpSp>
      <p:sp>
        <p:nvSpPr>
          <p:cNvPr id="5" name="Down Arrow 4">
            <a:extLst>
              <a:ext uri="{FF2B5EF4-FFF2-40B4-BE49-F238E27FC236}">
                <a16:creationId xmlns:a16="http://schemas.microsoft.com/office/drawing/2014/main" id="{25D45AF0-1848-CC41-9B94-776A4F00467D}"/>
              </a:ext>
            </a:extLst>
          </p:cNvPr>
          <p:cNvSpPr/>
          <p:nvPr/>
        </p:nvSpPr>
        <p:spPr>
          <a:xfrm>
            <a:off x="5269424" y="3316637"/>
            <a:ext cx="1131376" cy="97840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rgbClr val="E47E9F"/>
              </a:gs>
              <a:gs pos="83000">
                <a:srgbClr val="CD0004"/>
              </a:gs>
              <a:gs pos="100000">
                <a:srgbClr val="C0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D0B8C6-3F4F-D744-B0D5-012F7CCC8026}"/>
              </a:ext>
            </a:extLst>
          </p:cNvPr>
          <p:cNvGrpSpPr/>
          <p:nvPr/>
        </p:nvGrpSpPr>
        <p:grpSpPr>
          <a:xfrm>
            <a:off x="4005390" y="4866468"/>
            <a:ext cx="2218236" cy="1079841"/>
            <a:chOff x="4005390" y="4866468"/>
            <a:chExt cx="2218236" cy="10798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290089-A408-1F4D-AD89-57B6FA475BD4}"/>
                </a:ext>
              </a:extLst>
            </p:cNvPr>
            <p:cNvSpPr txBox="1"/>
            <p:nvPr/>
          </p:nvSpPr>
          <p:spPr>
            <a:xfrm>
              <a:off x="4005390" y="5238423"/>
              <a:ext cx="22182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receiver-computed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checksum</a:t>
              </a: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0805D62-6F2B-1F49-A297-2C93A181F097}"/>
                </a:ext>
              </a:extLst>
            </p:cNvPr>
            <p:cNvSpPr/>
            <p:nvPr/>
          </p:nvSpPr>
          <p:spPr>
            <a:xfrm rot="5400000">
              <a:off x="5005953" y="4107051"/>
              <a:ext cx="302449" cy="1821283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99C2F8-4129-1B44-8C70-BBDF08BD1536}"/>
              </a:ext>
            </a:extLst>
          </p:cNvPr>
          <p:cNvGrpSpPr/>
          <p:nvPr/>
        </p:nvGrpSpPr>
        <p:grpSpPr>
          <a:xfrm>
            <a:off x="6880470" y="4879385"/>
            <a:ext cx="2604945" cy="1064342"/>
            <a:chOff x="6880470" y="4879385"/>
            <a:chExt cx="2604945" cy="106434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DCA310-B7D2-5B47-90B9-563B10E091FB}"/>
                </a:ext>
              </a:extLst>
            </p:cNvPr>
            <p:cNvSpPr txBox="1"/>
            <p:nvPr/>
          </p:nvSpPr>
          <p:spPr>
            <a:xfrm>
              <a:off x="6880470" y="5235841"/>
              <a:ext cx="26049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sender-computed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checksum (as received)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DA615DF0-68E8-EC4F-807E-D486A3197601}"/>
                </a:ext>
              </a:extLst>
            </p:cNvPr>
            <p:cNvSpPr/>
            <p:nvPr/>
          </p:nvSpPr>
          <p:spPr>
            <a:xfrm rot="5400000">
              <a:off x="7219627" y="4631412"/>
              <a:ext cx="266054" cy="761999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01925F-F602-844A-BEF4-A6395DF560AD}"/>
              </a:ext>
            </a:extLst>
          </p:cNvPr>
          <p:cNvGrpSpPr/>
          <p:nvPr/>
        </p:nvGrpSpPr>
        <p:grpSpPr>
          <a:xfrm>
            <a:off x="6121831" y="5201334"/>
            <a:ext cx="821411" cy="1346699"/>
            <a:chOff x="6121831" y="5201334"/>
            <a:chExt cx="821411" cy="1346699"/>
          </a:xfrm>
        </p:grpSpPr>
        <p:pic>
          <p:nvPicPr>
            <p:cNvPr id="1026" name="Picture 2" descr="Image result for error">
              <a:extLst>
                <a:ext uri="{FF2B5EF4-FFF2-40B4-BE49-F238E27FC236}">
                  <a16:creationId xmlns:a16="http://schemas.microsoft.com/office/drawing/2014/main" id="{0F8C0CDD-8B63-9A4B-B799-33D82D530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1831" y="5782776"/>
              <a:ext cx="821411" cy="765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916598-558E-9245-AD24-594E54348A33}"/>
                </a:ext>
              </a:extLst>
            </p:cNvPr>
            <p:cNvSpPr txBox="1"/>
            <p:nvPr/>
          </p:nvSpPr>
          <p:spPr>
            <a:xfrm>
              <a:off x="6307811" y="5201334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CD000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=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E17EE6-50CC-C042-BC48-5E6E3B972272}"/>
                </a:ext>
              </a:extLst>
            </p:cNvPr>
            <p:cNvCxnSpPr/>
            <p:nvPr/>
          </p:nvCxnSpPr>
          <p:spPr>
            <a:xfrm flipH="1">
              <a:off x="6460174" y="5418195"/>
              <a:ext cx="108488" cy="247973"/>
            </a:xfrm>
            <a:prstGeom prst="line">
              <a:avLst/>
            </a:prstGeom>
            <a:ln w="31750">
              <a:solidFill>
                <a:srgbClr val="CD000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D5723390-FF65-C242-9B32-1814D9E35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8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" grpId="0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UDP checksum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990599" y="2218943"/>
            <a:ext cx="4662055" cy="4478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sender: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treat contents of UDP segment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(including UDP header fields and IP addresses)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sequence of 16-bit integers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(one’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complement sum)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segment content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checksum value put into UDP checksum field</a:t>
            </a: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receiver</a:t>
            </a:r>
            <a:r>
              <a:rPr kumimoji="0" lang="en-US" alt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compute checksum of received segment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check if computed checksum equals checksum field value: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 equal - error detected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Equal - no error detected.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But maybe errors nonetheless?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later ….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flipped bits) in transmitted segment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9262EE8-BA51-1D4E-A36D-BDC09C45F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82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checksum: an example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391" y="3069774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checksum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228BD91C-645B-7B49-B807-EF571877C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0" y="5071610"/>
            <a:ext cx="10367961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Note: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when adding numbers, a carryout from the most significant bit needs to be added to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898A9607-38BF-9544-B70F-067CC64A3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466" y="6260898"/>
            <a:ext cx="98572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kurose_ross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/interactive/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1 1 0 1 1 1 0 1 1 1 0 1 1 1 0 1 1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23B7D25F-DD2D-6943-A612-1B140865E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833" y="3264149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02C19D06-A871-3D4E-A141-88A98E4A3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33" y="3201536"/>
            <a:ext cx="1457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wraparound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D9BAD80C-425E-F145-9700-2D1823022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0633" y="3788911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5AD71209-A9E2-794D-88A1-4B84AF2607D1}"/>
              </a:ext>
            </a:extLst>
          </p:cNvPr>
          <p:cNvSpPr>
            <a:spLocks/>
          </p:cNvSpPr>
          <p:nvPr/>
        </p:nvSpPr>
        <p:spPr bwMode="auto">
          <a:xfrm>
            <a:off x="2669233" y="3576532"/>
            <a:ext cx="5795540" cy="95077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94788-E9D3-5D40-89C2-5666242ECA9E}"/>
              </a:ext>
            </a:extLst>
          </p:cNvPr>
          <p:cNvSpPr txBox="1"/>
          <p:nvPr/>
        </p:nvSpPr>
        <p:spPr>
          <a:xfrm>
            <a:off x="2475478" y="3863610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1 0 1 1 1 0 1 1 1 0 1 1 1 1 0 0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0 1 0 0 0 1 0 0 0 1 0 0 0 0 1 1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27145B4A-DA47-BA4F-95DB-F98A913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9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0" grpId="0"/>
      <p:bldP spid="10" grpId="0" animBg="1"/>
      <p:bldP spid="11" grpId="0"/>
      <p:bldP spid="14" grpId="0" animBg="1"/>
      <p:bldP spid="15" grpId="0" animBg="1"/>
      <p:bldP spid="21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Internet checksum: weak protection!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C7658E3-6D58-8445-A9E1-703A91A67575}"/>
              </a:ext>
            </a:extLst>
          </p:cNvPr>
          <p:cNvSpPr txBox="1">
            <a:spLocks noChangeArrowheads="1"/>
          </p:cNvSpPr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add two 16-bit integers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763B3A78-1E2C-5A4B-AA3C-267B38DDCC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391" y="3069774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5EB760DD-5067-0241-ACCB-6E4282E94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sum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58D347C-3618-AD46-999E-771E7BB4E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med"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checksum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FACF2-9C75-D845-963C-B6B5F2FFE843}"/>
              </a:ext>
            </a:extLst>
          </p:cNvPr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1 1 1 0 0 1 1 0 0 1 1 0 0 1 1 0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134F71-DAF2-4A4A-8007-D61D5E84A131}"/>
              </a:ext>
            </a:extLst>
          </p:cNvPr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1 1 0 1 0 1 0 1 0 1 0 1 0 1 0 1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C7D96-F575-4046-84E4-2FDF9898E9B2}"/>
              </a:ext>
            </a:extLst>
          </p:cNvPr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1 1 0 1 1 1 0 1 1 1 0 1 1 1 0 1 1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70902B-ACCE-A04E-88F8-76E3A68380F6}"/>
              </a:ext>
            </a:extLst>
          </p:cNvPr>
          <p:cNvGrpSpPr/>
          <p:nvPr/>
        </p:nvGrpSpPr>
        <p:grpSpPr>
          <a:xfrm>
            <a:off x="942391" y="3201536"/>
            <a:ext cx="8001000" cy="1123739"/>
            <a:chOff x="942391" y="3201536"/>
            <a:chExt cx="8001000" cy="1123739"/>
          </a:xfrm>
        </p:grpSpPr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23B7D25F-DD2D-6943-A612-1B140865E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591" y="3264149"/>
              <a:ext cx="304800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02C19D06-A871-3D4E-A141-88A98E4A3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391" y="3201536"/>
              <a:ext cx="145770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 type="none" w="sm" len="med"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wraparound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D9BAD80C-425E-F145-9700-2D1823022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6391" y="3788911"/>
              <a:ext cx="647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5AD71209-A9E2-794D-88A1-4B84AF26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991" y="3576532"/>
              <a:ext cx="5795540" cy="95077"/>
            </a:xfrm>
            <a:custGeom>
              <a:avLst/>
              <a:gdLst>
                <a:gd name="T0" fmla="*/ 0 w 3788"/>
                <a:gd name="T1" fmla="*/ 0 h 58"/>
                <a:gd name="T2" fmla="*/ 0 w 3788"/>
                <a:gd name="T3" fmla="*/ 2147483647 h 58"/>
                <a:gd name="T4" fmla="*/ 2147483647 w 3788"/>
                <a:gd name="T5" fmla="*/ 2147483647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88" h="5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994788-E9D3-5D40-89C2-5666242ECA9E}"/>
                </a:ext>
              </a:extLst>
            </p:cNvPr>
            <p:cNvSpPr txBox="1"/>
            <p:nvPr/>
          </p:nvSpPr>
          <p:spPr>
            <a:xfrm>
              <a:off x="2501236" y="3863610"/>
              <a:ext cx="6268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1 0 1 1 1 0 1 1 1 0 1 1 1 1 0 0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DD65BC-0FF7-354F-9157-61D155DA77EA}"/>
              </a:ext>
            </a:extLst>
          </p:cNvPr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0 1 0 0 0 1 0 0 0 1 0 0 0 0 1 1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762320-BD6D-C948-B1B7-DB283C97C3F4}"/>
              </a:ext>
            </a:extLst>
          </p:cNvPr>
          <p:cNvGrpSpPr/>
          <p:nvPr/>
        </p:nvGrpSpPr>
        <p:grpSpPr>
          <a:xfrm>
            <a:off x="7895417" y="1927511"/>
            <a:ext cx="2249559" cy="712515"/>
            <a:chOff x="9436187" y="4862446"/>
            <a:chExt cx="2249559" cy="71251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4FB029-4B65-2048-954A-3FF0EC7EB970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76E060C-7039-6D4E-922A-B4F2B25FA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DC7E60-52B8-E24C-AD91-442CF1A81D58}"/>
                </a:ext>
              </a:extLst>
            </p:cNvPr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0 1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67688F-D990-804C-9C00-CC1C467BE801}"/>
              </a:ext>
            </a:extLst>
          </p:cNvPr>
          <p:cNvGrpSpPr/>
          <p:nvPr/>
        </p:nvGrpSpPr>
        <p:grpSpPr>
          <a:xfrm>
            <a:off x="7910407" y="2289202"/>
            <a:ext cx="2249559" cy="712515"/>
            <a:chOff x="9436187" y="4862446"/>
            <a:chExt cx="2249559" cy="71251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22365B-07EC-4545-B454-E8C0FAD379FA}"/>
                </a:ext>
              </a:extLst>
            </p:cNvPr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D4A8702-0D2D-8243-9C39-DC082DD83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8282" y="5111429"/>
              <a:ext cx="546739" cy="21268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E21CCB-6730-9040-AA0C-B91C9765D0AC}"/>
                </a:ext>
              </a:extLst>
            </p:cNvPr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+mn-ea"/>
                  <a:cs typeface="+mn-cs"/>
                </a:rPr>
                <a:t>  1 0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699F57-48BE-454E-800A-4CC5A118241E}"/>
              </a:ext>
            </a:extLst>
          </p:cNvPr>
          <p:cNvGrpSpPr/>
          <p:nvPr/>
        </p:nvGrpSpPr>
        <p:grpSpPr>
          <a:xfrm>
            <a:off x="8933167" y="3121843"/>
            <a:ext cx="2729496" cy="1754326"/>
            <a:chOff x="8933167" y="3121843"/>
            <a:chExt cx="2729496" cy="1754326"/>
          </a:xfrm>
        </p:grpSpPr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BC6D80E3-4974-474B-9338-024650CB8A51}"/>
                </a:ext>
              </a:extLst>
            </p:cNvPr>
            <p:cNvSpPr/>
            <p:nvPr/>
          </p:nvSpPr>
          <p:spPr>
            <a:xfrm>
              <a:off x="8933167" y="3244723"/>
              <a:ext cx="247697" cy="1504855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F87D51E-FE73-0B41-A199-876E1DAEB87D}"/>
                </a:ext>
              </a:extLst>
            </p:cNvPr>
            <p:cNvSpPr txBox="1"/>
            <p:nvPr/>
          </p:nvSpPr>
          <p:spPr>
            <a:xfrm>
              <a:off x="9259241" y="3121843"/>
              <a:ext cx="24034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Even though numbers have changed (bit flips),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change in checksum!</a:t>
              </a:r>
            </a:p>
          </p:txBody>
        </p:sp>
      </p:grp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D233B24E-8C39-314A-B31B-073F993E5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4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1206442"/>
          </a:xfrm>
        </p:spPr>
        <p:txBody>
          <a:bodyPr>
            <a:normAutofit/>
          </a:bodyPr>
          <a:lstStyle/>
          <a:p>
            <a:r>
              <a:rPr lang="en-US" sz="5400" dirty="0"/>
              <a:t>Summary</a:t>
            </a:r>
            <a:endParaRPr lang="en-US" sz="6000" dirty="0"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610067"/>
            <a:ext cx="11100625" cy="524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Multiplexing, demultiplexing: based on segment, datagram header field values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demultiplexing using destination port number (only)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TCP: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demultiplexing using 4-tuple: source and destination IP addresses, and port numbers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Multiplexing/demultiplexing happen at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layers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1F71E3E-46C8-564B-892B-6C69AC246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0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4" y="196879"/>
            <a:ext cx="11100625" cy="1206442"/>
          </a:xfrm>
        </p:spPr>
        <p:txBody>
          <a:bodyPr>
            <a:normAutofit/>
          </a:bodyPr>
          <a:lstStyle/>
          <a:p>
            <a:r>
              <a:rPr lang="en-US" sz="5400" b="0" dirty="0"/>
              <a:t>Summary</a:t>
            </a:r>
            <a:r>
              <a:rPr lang="en-US" sz="4800" b="0" dirty="0"/>
              <a:t>: UDP</a:t>
            </a: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2C2F9B28-FDD9-B047-936F-1DE26AECFD6E}"/>
              </a:ext>
            </a:extLst>
          </p:cNvPr>
          <p:cNvSpPr txBox="1">
            <a:spLocks noChangeArrowheads="1"/>
          </p:cNvSpPr>
          <p:nvPr/>
        </p:nvSpPr>
        <p:spPr>
          <a:xfrm>
            <a:off x="525681" y="1403321"/>
            <a:ext cx="11373633" cy="5247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“no frills” protocol: 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segments may be lost, delivered out of order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effort service: “send and hope for the best”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UDP has its plusses: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setup/handshaking needed (no RTT incurred)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function when network service is compromised</a:t>
            </a:r>
          </a:p>
          <a:p>
            <a:pPr marL="808038" marR="0" lvl="1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helps with reliability (checksum)</a:t>
            </a:r>
          </a:p>
          <a:p>
            <a:pPr marL="463550" marR="0" lvl="0" indent="-3397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additional functionality on top of UDP in application layer (e.g., HTTP/3)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26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6324E8-804D-814E-80CA-306D385C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>
                <a:ea typeface="ＭＳ Ｐゴシック" panose="020B0600070205080204" pitchFamily="34" charset="-128"/>
              </a:rPr>
              <a:t>Questions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5037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2356</Words>
  <Application>Microsoft Macintosh PowerPoint</Application>
  <PresentationFormat>Widescreen</PresentationFormat>
  <Paragraphs>706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ＭＳ Ｐゴシック</vt:lpstr>
      <vt:lpstr>Arial</vt:lpstr>
      <vt:lpstr>Calibri</vt:lpstr>
      <vt:lpstr>Calibri Light</vt:lpstr>
      <vt:lpstr>Comic Sans MS</vt:lpstr>
      <vt:lpstr>Courier</vt:lpstr>
      <vt:lpstr>Courier New</vt:lpstr>
      <vt:lpstr>Gill Sans MT</vt:lpstr>
      <vt:lpstr>Tahoma</vt:lpstr>
      <vt:lpstr>Times New Roman</vt:lpstr>
      <vt:lpstr>Wingdings</vt:lpstr>
      <vt:lpstr>Office Theme</vt:lpstr>
      <vt:lpstr>PowerPoint Presentation</vt:lpstr>
      <vt:lpstr>Transport layer: overview</vt:lpstr>
      <vt:lpstr>Transport layer: roadmap</vt:lpstr>
      <vt:lpstr>Transport services and protocols</vt:lpstr>
      <vt:lpstr>Transport vs. network layer services and protocols</vt:lpstr>
      <vt:lpstr>Transport vs. network layer services and protocols</vt:lpstr>
      <vt:lpstr>Transport Layer Actions</vt:lpstr>
      <vt:lpstr>Transport Layer Actions</vt:lpstr>
      <vt:lpstr>Two principal Internet transport protocols</vt:lpstr>
      <vt:lpstr>Chapter 3: roadmap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Multiplexing/demultiplexing</vt:lpstr>
      <vt:lpstr>How demultiplexing works</vt:lpstr>
      <vt:lpstr>Connectionless demultiplexing</vt:lpstr>
      <vt:lpstr>Connectionless demultiplexing: an example</vt:lpstr>
      <vt:lpstr>Connection-oriented demultiplexing</vt:lpstr>
      <vt:lpstr>Connection-oriented demultiplexing: example</vt:lpstr>
      <vt:lpstr>UDP: User Datagram Protocol</vt:lpstr>
      <vt:lpstr>UDP: User Datagram Protocol</vt:lpstr>
      <vt:lpstr>UDP: User Datagram Protocol [RFC 768]</vt:lpstr>
      <vt:lpstr>UDP: Transport Layer Actions</vt:lpstr>
      <vt:lpstr>UDP: Transport Layer Actions</vt:lpstr>
      <vt:lpstr>UDP: Transport Layer Actions</vt:lpstr>
      <vt:lpstr>UDP segment header</vt:lpstr>
      <vt:lpstr>UDP checksum</vt:lpstr>
      <vt:lpstr>UDP checksum</vt:lpstr>
      <vt:lpstr>Internet checksum: an example</vt:lpstr>
      <vt:lpstr>Internet checksum: weak protection!</vt:lpstr>
      <vt:lpstr>Summary</vt:lpstr>
      <vt:lpstr>Summary: UDP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Ali Zeeshan</cp:lastModifiedBy>
  <cp:revision>2</cp:revision>
  <dcterms:created xsi:type="dcterms:W3CDTF">2024-08-13T06:10:58Z</dcterms:created>
  <dcterms:modified xsi:type="dcterms:W3CDTF">2025-09-24T11:43:44Z</dcterms:modified>
</cp:coreProperties>
</file>