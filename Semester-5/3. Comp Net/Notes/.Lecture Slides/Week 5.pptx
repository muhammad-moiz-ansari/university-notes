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1053" r:id="rId2"/>
    <p:sldId id="1148" r:id="rId3"/>
    <p:sldId id="1160" r:id="rId4"/>
    <p:sldId id="1161" r:id="rId5"/>
    <p:sldId id="1149" r:id="rId6"/>
    <p:sldId id="1173" r:id="rId7"/>
    <p:sldId id="1154" r:id="rId8"/>
    <p:sldId id="1162" r:id="rId9"/>
    <p:sldId id="1163" r:id="rId10"/>
    <p:sldId id="1164" r:id="rId11"/>
    <p:sldId id="1165" r:id="rId12"/>
    <p:sldId id="1170" r:id="rId13"/>
    <p:sldId id="1171" r:id="rId14"/>
    <p:sldId id="1172" r:id="rId15"/>
    <p:sldId id="1150" r:id="rId16"/>
    <p:sldId id="1166" r:id="rId17"/>
    <p:sldId id="1169" r:id="rId18"/>
    <p:sldId id="1167" r:id="rId19"/>
    <p:sldId id="1158" r:id="rId20"/>
    <p:sldId id="1159" r:id="rId21"/>
    <p:sldId id="1048" r:id="rId22"/>
    <p:sldId id="1175" r:id="rId23"/>
    <p:sldId id="1176" r:id="rId24"/>
    <p:sldId id="1177" r:id="rId25"/>
    <p:sldId id="11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26"/>
    <p:restoredTop sz="94646"/>
  </p:normalViewPr>
  <p:slideViewPr>
    <p:cSldViewPr snapToGrid="0">
      <p:cViewPr>
        <p:scale>
          <a:sx n="100" d="100"/>
          <a:sy n="100" d="100"/>
        </p:scale>
        <p:origin x="2320" y="2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BD755-5389-404C-810C-7D11876ADF3D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A3518-DB2B-4995-9FA3-237D3CA0A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1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40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489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91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13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D289A-F7F3-15AB-6FFF-212B6B0A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7EE84-A7CB-4359-BC23-6F84C2B6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1106D-B56A-9FCA-90A9-D1DFB01F7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EC91D-2675-446F-012A-518071159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269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EDC2-EA10-2EDA-0647-F08FF96F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69D8B-2A60-3B89-B2D4-2B9E97CC2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BCE78-F059-E093-864F-FCD1ECBFF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C2A51-77E5-417C-D1D2-1916F1755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736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519A-7263-03F4-4F80-5A5D536A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D75C6-8A95-559B-59AD-73E263D1F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01E81-0539-5741-F9E8-AC67AED81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AA6CE-AA06-A2FF-A267-450DB66A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234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0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4DA1-CECB-D34B-A027-140FDB9C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46956-0549-52F1-8369-45C68F63B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2F4EE-D721-73AC-95F0-80DBE2B29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43A33-AA09-523C-4FC4-D7A88D376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741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5F8D-1935-064D-8E38-C38767F8E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8068C-C3E3-02AC-0A62-D7EA3E13B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4D3E1-C2F0-6FB6-AA39-677F2B2E4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CEF65-EEFA-D9A0-999A-12120DB35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090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6690-F5C9-E3D8-B6E0-8B663098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D6694-377C-16F7-46E2-4E1A10E68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770FD-0287-219F-8EBF-9C7821017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17FBE-0BFD-B8B0-EE2B-7F90F048D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679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315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131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4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CD9C-0405-5DCB-1D90-5315D1290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532C2-9EE3-DF01-0BCA-D8CF744EA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7570-576A-FFEA-ADA2-72A0459C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1C712-37DC-0EFD-F85C-58CA393B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E4F7C-20BE-1DF8-38C6-DD125AFD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4120-B216-40DB-069C-B47074B9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9416D-50D4-9161-AB27-383D4076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E91EE-CE2C-1F5B-D4D6-C54D312E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80BE-9EA1-D93E-7772-949B6F78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6F9F2-0190-8FCD-25FF-7D82CA1A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2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E837-DBEE-D966-C04C-44DBB55D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90C42-E4E7-7713-2421-428D7C71A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9DEA-04EE-0BB8-1FFE-DA1046A3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DCE9-8572-209F-84AF-7B059B11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71630-77C4-7791-2C36-DF3A014F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8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FF90-0292-2A8F-E281-B725A66F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6415-30AC-8F97-1E35-624CB9FD2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AA365-929D-E1FA-5A0C-60BF62079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BBE76-6B21-4321-3452-7710FB3C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17D21-459B-390B-01BE-D998D49B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D3C01-C0BA-F9A4-55C1-0C410C12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D26B-C6BB-A891-6446-01D6B47A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24C37-19DF-EE4D-770F-E5BD6496E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8ADD6-A911-B680-33EB-34F9471D3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3E77F-4DA0-4759-98BD-D1B1EF3A5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CA210-A07F-4A1A-5795-B5E75655C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69F69-5861-5FB7-4A59-A7AE96A3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EDBA1-6E2F-8ADA-574A-6764F3C5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A570B-C3B7-C8B7-D5FD-7178EE8A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3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0E56-D2B0-155C-62C4-A0AFC6CA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0C005-F571-587F-4C28-E0DAA663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DF45A-5D9E-B8B7-DA00-AD96E534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9FAE-A949-5EB6-3848-50D92BB6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2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7BE9F-C25C-0D08-5086-949E4BAA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B81FA-23A7-F182-F06A-78E35593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FC927-3602-34EA-E179-3E461676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2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7E67-6239-477D-6807-CB843ADA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056F-35B8-ADF2-C5E9-D9EB04988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8A496-AABF-4D56-070A-A3A3F73F9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95FCB-EA64-96A7-302E-409E788C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EC59C-491C-706D-7867-F1863BCF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26B28-969E-B521-FB0A-DB27535C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5938-15DC-44A8-3152-DE11FB40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87934-E5FA-2C50-10C3-F49BD580D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D52E5-A1DE-2787-7CE8-31BCDF5E8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E0054-7878-025C-9308-35DAD866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A7C15-C32B-B1A3-6E4C-67C7A8A3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B0D1D-86AA-3FD7-63CF-008193BA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11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8D7C-BE8F-312D-350D-8B694BE6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70135-9560-771A-C528-D15DFFC7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3061D-61F5-50EA-3E89-1A9CD9E5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4B513-D413-1B91-617A-E147194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23D84-735E-1B92-C867-83325768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0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FE1FE-ABA2-40FE-AEF4-56E9C14FA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B100F-14BF-3947-D8C3-53952B1F8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3E0B0-D632-3229-6226-7AE9C8B4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17E5-9219-449D-38CC-81CD541B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FED9E-170E-AA78-51D2-0C453020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C3B9B-9189-BDB1-F04D-3E6EFB75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E347F-043C-204B-B18F-B56D9E2A1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4E7B-6423-8FEB-91DD-E3B9B6DAA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BBB0A-1B25-4460-B536-CA358872BE2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F6F4B-999E-1903-FEED-2035CCC09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1792-E0CC-FA95-E017-7FB1C6D4C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3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32D6009B-3949-F544-A9DE-CB9BC7D5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DE711DC5-9C34-FB4F-827E-14567B91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6842"/>
            <a:ext cx="11124616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goal: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learn how to build client/server applications that communicate using sockets</a:t>
            </a:r>
            <a:endParaRPr kumimoji="0" lang="en-US" altLang="en-US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door between application process and end-end-transport protocol </a:t>
            </a:r>
          </a:p>
        </p:txBody>
      </p:sp>
      <p:sp>
        <p:nvSpPr>
          <p:cNvPr id="117" name="Freeform 66">
            <a:extLst>
              <a:ext uri="{FF2B5EF4-FFF2-40B4-BE49-F238E27FC236}">
                <a16:creationId xmlns:a16="http://schemas.microsoft.com/office/drawing/2014/main" id="{532EF64A-98FA-854C-BC6E-37DCF5442402}"/>
              </a:ext>
            </a:extLst>
          </p:cNvPr>
          <p:cNvSpPr>
            <a:spLocks/>
          </p:cNvSpPr>
          <p:nvPr/>
        </p:nvSpPr>
        <p:spPr bwMode="auto">
          <a:xfrm>
            <a:off x="8379242" y="359823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10800000" scaled="0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7">
            <a:extLst>
              <a:ext uri="{FF2B5EF4-FFF2-40B4-BE49-F238E27FC236}">
                <a16:creationId xmlns:a16="http://schemas.microsoft.com/office/drawing/2014/main" id="{0B3FAB7F-D751-694B-8438-BA60B5BE46B5}"/>
              </a:ext>
            </a:extLst>
          </p:cNvPr>
          <p:cNvSpPr>
            <a:spLocks/>
          </p:cNvSpPr>
          <p:nvPr/>
        </p:nvSpPr>
        <p:spPr bwMode="auto">
          <a:xfrm>
            <a:off x="5064542" y="4895220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9" name="Text Box 51">
            <a:extLst>
              <a:ext uri="{FF2B5EF4-FFF2-40B4-BE49-F238E27FC236}">
                <a16:creationId xmlns:a16="http://schemas.microsoft.com/office/drawing/2014/main" id="{31F42B0C-9D7E-B148-8731-AA200CC8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692" y="502698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120" name="Line 52">
            <a:extLst>
              <a:ext uri="{FF2B5EF4-FFF2-40B4-BE49-F238E27FC236}">
                <a16:creationId xmlns:a16="http://schemas.microsoft.com/office/drawing/2014/main" id="{4BBAA32D-9FE8-6946-993E-FD9CF5FF2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3242" y="5438145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1" name="Text Box 53">
            <a:extLst>
              <a:ext uri="{FF2B5EF4-FFF2-40B4-BE49-F238E27FC236}">
                <a16:creationId xmlns:a16="http://schemas.microsoft.com/office/drawing/2014/main" id="{8DD3EB16-70D9-0E41-9219-8BACFD2F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4379" y="466344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" name="Text Box 56">
            <a:extLst>
              <a:ext uri="{FF2B5EF4-FFF2-40B4-BE49-F238E27FC236}">
                <a16:creationId xmlns:a16="http://schemas.microsoft.com/office/drawing/2014/main" id="{DE211F08-2700-6642-9DC3-1997DC8E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154" y="376333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123" name="Freeform 45">
            <a:extLst>
              <a:ext uri="{FF2B5EF4-FFF2-40B4-BE49-F238E27FC236}">
                <a16:creationId xmlns:a16="http://schemas.microsoft.com/office/drawing/2014/main" id="{07B0F571-0623-E94E-AC3A-B1389138AC28}"/>
              </a:ext>
            </a:extLst>
          </p:cNvPr>
          <p:cNvSpPr>
            <a:spLocks/>
          </p:cNvSpPr>
          <p:nvPr/>
        </p:nvSpPr>
        <p:spPr bwMode="auto">
          <a:xfrm>
            <a:off x="2638842" y="3661733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Rectangle 23">
            <a:extLst>
              <a:ext uri="{FF2B5EF4-FFF2-40B4-BE49-F238E27FC236}">
                <a16:creationId xmlns:a16="http://schemas.microsoft.com/office/drawing/2014/main" id="{5F3EC8D2-BC57-284F-B438-D2889E96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17" y="361728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48E3F4A8-8297-154C-8417-C2DCBDE2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017" y="3671258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Line 25">
            <a:extLst>
              <a:ext uri="{FF2B5EF4-FFF2-40B4-BE49-F238E27FC236}">
                <a16:creationId xmlns:a16="http://schemas.microsoft.com/office/drawing/2014/main" id="{105AE91D-03CF-5F44-82E5-D8920536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542" y="44316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7" name="Text Box 26">
            <a:extLst>
              <a:ext uri="{FF2B5EF4-FFF2-40B4-BE49-F238E27FC236}">
                <a16:creationId xmlns:a16="http://schemas.microsoft.com/office/drawing/2014/main" id="{68C4EA48-A98F-F641-BB8C-5DF3E390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4142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E85BFD82-4C55-F145-9B37-39406E46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1479" y="475234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Line 28">
            <a:extLst>
              <a:ext uri="{FF2B5EF4-FFF2-40B4-BE49-F238E27FC236}">
                <a16:creationId xmlns:a16="http://schemas.microsoft.com/office/drawing/2014/main" id="{428A6E03-2BA0-6243-85AC-2DD8D7EB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06190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Line 29">
            <a:extLst>
              <a:ext uri="{FF2B5EF4-FFF2-40B4-BE49-F238E27FC236}">
                <a16:creationId xmlns:a16="http://schemas.microsoft.com/office/drawing/2014/main" id="{80E8C02C-0DBA-6E4F-BBEC-8772FE1F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34765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E521FADF-C422-1E4C-A4EF-0C457D01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04" y="36617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32" name="Text Box 26">
            <a:extLst>
              <a:ext uri="{FF2B5EF4-FFF2-40B4-BE49-F238E27FC236}">
                <a16:creationId xmlns:a16="http://schemas.microsoft.com/office/drawing/2014/main" id="{2BD2A730-1670-1444-BFD6-C3B745F2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1154" y="53190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33" name="Text Box 26">
            <a:extLst>
              <a:ext uri="{FF2B5EF4-FFF2-40B4-BE49-F238E27FC236}">
                <a16:creationId xmlns:a16="http://schemas.microsoft.com/office/drawing/2014/main" id="{F1BA5AB6-F404-DF48-BA11-738F64F0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204" y="50333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34" name="Text Box 26">
            <a:extLst>
              <a:ext uri="{FF2B5EF4-FFF2-40B4-BE49-F238E27FC236}">
                <a16:creationId xmlns:a16="http://schemas.microsoft.com/office/drawing/2014/main" id="{E65C1E73-F682-E145-9DAF-B7E55EC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7380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35" name="Oval 57">
            <a:extLst>
              <a:ext uri="{FF2B5EF4-FFF2-40B4-BE49-F238E27FC236}">
                <a16:creationId xmlns:a16="http://schemas.microsoft.com/office/drawing/2014/main" id="{64DC0B32-AD14-4F4C-AA5D-A0175C3E0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954" y="393637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54E0D8CA-A90B-D443-A809-60E5D3C4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479" y="358870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68855CF6-22DF-7942-990A-E44BCC26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379" y="3642683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333B2DFF-19AD-5D41-A13A-CAD8D4D1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904" y="440309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ABD5AE77-C968-524B-8267-F5F9D07A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3856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655A70A-1998-F04C-9071-DB527B718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842" y="47237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FFFB9613-6926-D64E-9BCE-95B470FE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03333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4AA23EE-17EA-094E-A14C-C35EF1D4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31908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159414D4-A31C-4C4B-AD86-719BE126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967" y="36331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6D188352-EF4C-FE42-8176-6AE1E535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517" y="52905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2E91368D-F47D-2247-9B9B-1AA9BD1A5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567" y="50047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CF4D2E62-8AC3-6447-8A4A-38E1546D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7094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78">
            <a:extLst>
              <a:ext uri="{FF2B5EF4-FFF2-40B4-BE49-F238E27FC236}">
                <a16:creationId xmlns:a16="http://schemas.microsoft.com/office/drawing/2014/main" id="{24268CA0-4017-FA41-A0A9-063CDE36F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317" y="390779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58" name="Line 88">
            <a:extLst>
              <a:ext uri="{FF2B5EF4-FFF2-40B4-BE49-F238E27FC236}">
                <a16:creationId xmlns:a16="http://schemas.microsoft.com/office/drawing/2014/main" id="{357D04DF-5A8F-3946-A05F-B134A0815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8592" y="403955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Line 89">
            <a:extLst>
              <a:ext uri="{FF2B5EF4-FFF2-40B4-BE49-F238E27FC236}">
                <a16:creationId xmlns:a16="http://schemas.microsoft.com/office/drawing/2014/main" id="{1F64B7FA-0FDF-AA41-954C-B46F96B6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4017" y="446500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90">
            <a:extLst>
              <a:ext uri="{FF2B5EF4-FFF2-40B4-BE49-F238E27FC236}">
                <a16:creationId xmlns:a16="http://schemas.microsoft.com/office/drawing/2014/main" id="{1C49FAA4-451C-9346-B2A1-9DADDB373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07829" y="496507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6F8F39-CC95-5944-86C7-18592B3F79C2}"/>
              </a:ext>
            </a:extLst>
          </p:cNvPr>
          <p:cNvGrpSpPr/>
          <p:nvPr/>
        </p:nvGrpSpPr>
        <p:grpSpPr>
          <a:xfrm>
            <a:off x="3786604" y="3720470"/>
            <a:ext cx="4208463" cy="801688"/>
            <a:chOff x="3786604" y="3720470"/>
            <a:chExt cx="4208463" cy="801688"/>
          </a:xfrm>
        </p:grpSpPr>
        <p:grpSp>
          <p:nvGrpSpPr>
            <p:cNvPr id="136" name="Group 58">
              <a:extLst>
                <a:ext uri="{FF2B5EF4-FFF2-40B4-BE49-F238E27FC236}">
                  <a16:creationId xmlns:a16="http://schemas.microsoft.com/office/drawing/2014/main" id="{E675645C-771D-1C4D-BD09-0A50219A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37" name="Rectangle 59">
                <a:extLst>
                  <a:ext uri="{FF2B5EF4-FFF2-40B4-BE49-F238E27FC236}">
                    <a16:creationId xmlns:a16="http://schemas.microsoft.com/office/drawing/2014/main" id="{4BD7EDAC-534F-D84F-8E24-977FE250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Rectangle 60">
                <a:extLst>
                  <a:ext uri="{FF2B5EF4-FFF2-40B4-BE49-F238E27FC236}">
                    <a16:creationId xmlns:a16="http://schemas.microsoft.com/office/drawing/2014/main" id="{522C0AA5-89A7-AE45-9EA6-0984C3D3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Rectangle 61">
                <a:extLst>
                  <a:ext uri="{FF2B5EF4-FFF2-40B4-BE49-F238E27FC236}">
                    <a16:creationId xmlns:a16="http://schemas.microsoft.com/office/drawing/2014/main" id="{E45B888C-A7C7-C04F-96C2-AC549590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62">
                <a:extLst>
                  <a:ext uri="{FF2B5EF4-FFF2-40B4-BE49-F238E27FC236}">
                    <a16:creationId xmlns:a16="http://schemas.microsoft.com/office/drawing/2014/main" id="{6D259067-30CA-3A43-B969-2FED80C1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2953A696-2D0B-4946-96FC-8F6534A2F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54" name="Rectangle 80">
                <a:extLst>
                  <a:ext uri="{FF2B5EF4-FFF2-40B4-BE49-F238E27FC236}">
                    <a16:creationId xmlns:a16="http://schemas.microsoft.com/office/drawing/2014/main" id="{313605CC-1AC5-8944-94FF-94268AD80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1">
                <a:extLst>
                  <a:ext uri="{FF2B5EF4-FFF2-40B4-BE49-F238E27FC236}">
                    <a16:creationId xmlns:a16="http://schemas.microsoft.com/office/drawing/2014/main" id="{BAFE64F2-A025-9F4E-99C9-ACC9BFF2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Rectangle 82">
                <a:extLst>
                  <a:ext uri="{FF2B5EF4-FFF2-40B4-BE49-F238E27FC236}">
                    <a16:creationId xmlns:a16="http://schemas.microsoft.com/office/drawing/2014/main" id="{3829DF34-8663-6146-9BA0-7632285C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83">
                <a:extLst>
                  <a:ext uri="{FF2B5EF4-FFF2-40B4-BE49-F238E27FC236}">
                    <a16:creationId xmlns:a16="http://schemas.microsoft.com/office/drawing/2014/main" id="{D148D136-2E3F-5745-9E50-2A0525F6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1" name="Text Box 56">
              <a:extLst>
                <a:ext uri="{FF2B5EF4-FFF2-40B4-BE49-F238E27FC236}">
                  <a16:creationId xmlns:a16="http://schemas.microsoft.com/office/drawing/2014/main" id="{0AD3AB67-1B7A-DC4C-8CF0-ED4CE6AD6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socket</a:t>
              </a:r>
            </a:p>
          </p:txBody>
        </p:sp>
        <p:sp>
          <p:nvSpPr>
            <p:cNvPr id="162" name="Line 92">
              <a:extLst>
                <a:ext uri="{FF2B5EF4-FFF2-40B4-BE49-F238E27FC236}">
                  <a16:creationId xmlns:a16="http://schemas.microsoft.com/office/drawing/2014/main" id="{143E3CCF-902D-1B48-A226-00DCF5BF0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779" y="3920495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Line 93">
              <a:extLst>
                <a:ext uri="{FF2B5EF4-FFF2-40B4-BE49-F238E27FC236}">
                  <a16:creationId xmlns:a16="http://schemas.microsoft.com/office/drawing/2014/main" id="{C4134BE9-E71D-0348-B019-E892502C5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59942" y="3909383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4" name="Group 96">
            <a:extLst>
              <a:ext uri="{FF2B5EF4-FFF2-40B4-BE49-F238E27FC236}">
                <a16:creationId xmlns:a16="http://schemas.microsoft.com/office/drawing/2014/main" id="{9A6CA79B-4989-1B42-B637-EB423445684E}"/>
              </a:ext>
            </a:extLst>
          </p:cNvPr>
          <p:cNvGrpSpPr>
            <a:grpSpLocks/>
          </p:cNvGrpSpPr>
          <p:nvPr/>
        </p:nvGrpSpPr>
        <p:grpSpPr bwMode="auto">
          <a:xfrm>
            <a:off x="2214979" y="4974595"/>
            <a:ext cx="719138" cy="773113"/>
            <a:chOff x="-44" y="1473"/>
            <a:chExt cx="981" cy="1105"/>
          </a:xfrm>
        </p:grpSpPr>
        <p:pic>
          <p:nvPicPr>
            <p:cNvPr id="165" name="Picture 97" descr="desktop_computer_stylized_medium">
              <a:extLst>
                <a:ext uri="{FF2B5EF4-FFF2-40B4-BE49-F238E27FC236}">
                  <a16:creationId xmlns:a16="http://schemas.microsoft.com/office/drawing/2014/main" id="{52A0739D-A2B2-9B4C-808E-15A031326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Freeform 98">
              <a:extLst>
                <a:ext uri="{FF2B5EF4-FFF2-40B4-BE49-F238E27FC236}">
                  <a16:creationId xmlns:a16="http://schemas.microsoft.com/office/drawing/2014/main" id="{DA46FEF0-4E21-2249-B7F5-7F6F7B7F0D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7" name="Group 99">
            <a:extLst>
              <a:ext uri="{FF2B5EF4-FFF2-40B4-BE49-F238E27FC236}">
                <a16:creationId xmlns:a16="http://schemas.microsoft.com/office/drawing/2014/main" id="{05F61B1A-C7F7-544F-B009-739C54EFEA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911054" y="5169858"/>
            <a:ext cx="719138" cy="773112"/>
            <a:chOff x="-44" y="1473"/>
            <a:chExt cx="981" cy="1105"/>
          </a:xfrm>
        </p:grpSpPr>
        <p:pic>
          <p:nvPicPr>
            <p:cNvPr id="168" name="Picture 100" descr="desktop_computer_stylized_medium">
              <a:extLst>
                <a:ext uri="{FF2B5EF4-FFF2-40B4-BE49-F238E27FC236}">
                  <a16:creationId xmlns:a16="http://schemas.microsoft.com/office/drawing/2014/main" id="{23181BD9-C2D1-5E4C-A8EE-29F5422B9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Freeform 101">
              <a:extLst>
                <a:ext uri="{FF2B5EF4-FFF2-40B4-BE49-F238E27FC236}">
                  <a16:creationId xmlns:a16="http://schemas.microsoft.com/office/drawing/2014/main" id="{2BA7DD97-C4EE-0C4B-B331-0E1CF367E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Slide Number Placeholder 2">
            <a:extLst>
              <a:ext uri="{FF2B5EF4-FFF2-40B4-BE49-F238E27FC236}">
                <a16:creationId xmlns:a16="http://schemas.microsoft.com/office/drawing/2014/main" id="{1C5A2542-7006-334B-B956-C24DF5F2D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E779-7164-D080-2EE0-6FD10C10B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5AEEE-9E31-D3E0-29B1-36115153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computer networks, communication happens between processes on different or same hosts.</a:t>
            </a:r>
          </a:p>
          <a:p>
            <a:r>
              <a:rPr lang="en-US" dirty="0"/>
              <a:t>IP Addresses identify devices; Port Numbers identify processes.</a:t>
            </a:r>
          </a:p>
          <a:p>
            <a:r>
              <a:rPr lang="en-US" dirty="0"/>
              <a:t>Example: 192.168.1.10:80</a:t>
            </a:r>
          </a:p>
          <a:p>
            <a:pPr lvl="1"/>
            <a:r>
              <a:rPr lang="en-US" dirty="0"/>
              <a:t>IP for the host: 192.168.1.10</a:t>
            </a:r>
          </a:p>
          <a:p>
            <a:pPr lvl="1"/>
            <a:r>
              <a:rPr lang="en-US" dirty="0"/>
              <a:t>Port for the webserver process: 80</a:t>
            </a:r>
          </a:p>
          <a:p>
            <a:r>
              <a:rPr lang="en-US" dirty="0"/>
              <a:t>A </a:t>
            </a:r>
            <a:r>
              <a:rPr lang="en-US" b="1" i="1" dirty="0"/>
              <a:t>socket</a:t>
            </a:r>
            <a:r>
              <a:rPr lang="en-US" dirty="0"/>
              <a:t> is an endpoint for communication between two processes. It abstracts network communication and </a:t>
            </a:r>
            <a:r>
              <a:rPr lang="en-US" i="1" dirty="0"/>
              <a:t>provides APIs for sending and receiving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6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6173-8FF6-5243-D7DD-9C6FABF7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B0D10-6B5D-ED10-44F4-54CA7F873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88306"/>
            <a:ext cx="10798277" cy="348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Application Example: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reads a line of characters (data) from its keyboard and sends data to server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receives the data and converts characters to uppercase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sends modified data to client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receives modified data and displays line on its screen</a:t>
            </a:r>
          </a:p>
        </p:txBody>
      </p:sp>
    </p:spTree>
    <p:extLst>
      <p:ext uri="{BB962C8B-B14F-4D97-AF65-F5344CB8AC3E}">
        <p14:creationId xmlns:p14="http://schemas.microsoft.com/office/powerpoint/2010/main" val="307965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16F4545-210A-A74D-A31A-E4339596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3591"/>
            <a:ext cx="10798277" cy="4260395"/>
          </a:xfrm>
        </p:spPr>
        <p:txBody>
          <a:bodyPr>
            <a:normAutofit fontScale="92500"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32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sz="3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unreliable</a:t>
            </a:r>
          </a:p>
          <a:p>
            <a:pPr marL="1089025" lvl="2" indent="-457200"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</a:rPr>
              <a:t>Datagram Sockets (SOCK_DGRAM)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sz="3200" dirty="0">
                <a:ea typeface="ＭＳ Ｐゴシック" panose="020B0600070205080204" pitchFamily="34" charset="-128"/>
              </a:rPr>
              <a:t> reliable</a:t>
            </a:r>
          </a:p>
          <a:p>
            <a:pPr marL="1089025" lvl="2" indent="-457200"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</a:rPr>
              <a:t>Stream Sockets (SOCK_STREAM) </a:t>
            </a:r>
          </a:p>
          <a:p>
            <a:pPr marL="631825" lvl="2" indent="0">
              <a:buSzPct val="100000"/>
              <a:buNone/>
            </a:pPr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174625" lvl="1" indent="0">
              <a:buSzPct val="100000"/>
              <a:buNone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Address families: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sz="3200" dirty="0"/>
              <a:t>AF_UNIX (local), if you want to use sockets on the same host.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sz="3200" b="1" dirty="0"/>
              <a:t>AF_INET (network)</a:t>
            </a:r>
            <a:r>
              <a:rPr lang="en-US" sz="3200" dirty="0"/>
              <a:t>, if you want to use sockets on the network.</a:t>
            </a:r>
          </a:p>
          <a:p>
            <a:pPr marL="1089025" lvl="2" indent="-457200">
              <a:buSzPct val="100000"/>
              <a:buFont typeface="Wingdings" pitchFamily="2" charset="2"/>
              <a:buChar char="§"/>
            </a:pPr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0" indent="0">
              <a:buSzPct val="100000"/>
              <a:buNone/>
            </a:pPr>
            <a:endParaRPr lang="en-US" altLang="en-US" sz="36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86523E8-8571-1B4B-B7F3-5188B3168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9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745A-262B-06B3-94CF-D1271405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77950-8364-D1C5-C5D3-62029DA52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071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structure: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This structure is used to store </a:t>
            </a:r>
            <a:r>
              <a:rPr lang="en-US" b="1" dirty="0"/>
              <a:t>Internet Protocol (IP) addresses and port numbers</a:t>
            </a:r>
            <a:r>
              <a:rPr lang="en-US" dirty="0"/>
              <a:t> for network communication. Think of it as the "address label" for a network endpoint.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8B767-F1CB-DEAC-6152-110039E52A74}"/>
              </a:ext>
            </a:extLst>
          </p:cNvPr>
          <p:cNvSpPr txBox="1"/>
          <p:nvPr/>
        </p:nvSpPr>
        <p:spPr>
          <a:xfrm>
            <a:off x="1297173" y="3771272"/>
            <a:ext cx="1044228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short int 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sin_family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 // Address family (e.g.,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AF_INET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unsigned short 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sin_port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   //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Port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number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in_addr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sin_addr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   //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address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unsigned char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sin_zero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[8]; // Padding (not used, but for size alignment)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in_addr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unsigned long 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s_addr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      // IP address in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network byte order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1540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 </a:t>
            </a:r>
            <a:r>
              <a:rPr lang="en-US" altLang="en-US" sz="4400" dirty="0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with TCP</a:t>
            </a:r>
            <a:endParaRPr lang="en-US" altLang="en-US" sz="5400" dirty="0">
              <a:solidFill>
                <a:srgbClr val="C00000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F8F00D4-4B13-DD4C-9070-F4C3E1AA319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29" y="1455785"/>
            <a:ext cx="5074444" cy="509053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must have created socket (door) that welcomes client’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contact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pPr marL="466725" indent="-292100"/>
            <a:r>
              <a:rPr lang="en-US" altLang="en-US" sz="2400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pPr marL="466725" indent="-233363"/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 client creates socket: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client TCP establishes connection to server TCP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1AC5695-3887-C247-97DD-C7F6FB635E1B}"/>
              </a:ext>
            </a:extLst>
          </p:cNvPr>
          <p:cNvSpPr txBox="1">
            <a:spLocks noChangeArrowheads="1"/>
          </p:cNvSpPr>
          <p:nvPr/>
        </p:nvSpPr>
        <p:spPr>
          <a:xfrm>
            <a:off x="5735469" y="1426964"/>
            <a:ext cx="5724832" cy="3000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contacted by client,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 TCP creates new socket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for server process to communicate with that particular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allows server to talk with multiple clients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source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port numbers used to distinguish clients (more in Chap 3)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E49A6-28AD-904A-9A83-FE9DE35715C0}"/>
              </a:ext>
            </a:extLst>
          </p:cNvPr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FDF457-3529-1A4B-B2F1-0A6DF5BAF2E1}"/>
                </a:ext>
              </a:extLst>
            </p:cNvPr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Box 6">
              <a:extLst>
                <a:ext uri="{FF2B5EF4-FFF2-40B4-BE49-F238E27FC236}">
                  <a16:creationId xmlns:a16="http://schemas.microsoft.com/office/drawing/2014/main" id="{3290FC86-CCC3-9042-8394-E0092848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TCP provides reliable, in-order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byte-stream transfer 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pipe”)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between client and server processes</a:t>
              </a:r>
            </a:p>
          </p:txBody>
        </p: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8B55559B-7D61-6147-A322-49E351E9D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4B1395F7-3763-B74C-AF37-1DAC6BC4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EC474FEA-9E73-5248-89ED-9528E3BFB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viewpoint</a:t>
                </a:r>
              </a:p>
            </p:txBody>
          </p:sp>
        </p:grp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3ECFECD-C9B5-E345-AAD0-01569E2A9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9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762A-8BAE-B9FB-559E-6C5B5A837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 – Server (TCP)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737DF-CC6D-C62C-01B3-D9AF2577A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socket()</a:t>
            </a:r>
          </a:p>
          <a:p>
            <a:pPr lvl="1"/>
            <a:r>
              <a:rPr lang="en-US" dirty="0"/>
              <a:t>First, a server application creates a socket, which like a file descriptor, is a resource assigned to the server process and that process </a:t>
            </a:r>
            <a:r>
              <a:rPr lang="en-US" b="1" dirty="0"/>
              <a:t>alone</a:t>
            </a:r>
            <a:r>
              <a:rPr lang="en-US" dirty="0"/>
              <a:t>.</a:t>
            </a:r>
          </a:p>
          <a:p>
            <a:r>
              <a:rPr lang="en-US" dirty="0"/>
              <a:t>bind()</a:t>
            </a:r>
          </a:p>
          <a:p>
            <a:pPr lvl="1"/>
            <a:r>
              <a:rPr lang="en-US" dirty="0"/>
              <a:t>Next, the server process gives the socket a </a:t>
            </a:r>
            <a:r>
              <a:rPr lang="en-US" b="1" dirty="0"/>
              <a:t>name</a:t>
            </a:r>
            <a:r>
              <a:rPr lang="en-US" dirty="0"/>
              <a:t>.</a:t>
            </a:r>
          </a:p>
          <a:p>
            <a:r>
              <a:rPr lang="en-US" dirty="0"/>
              <a:t>listen()</a:t>
            </a:r>
          </a:p>
          <a:p>
            <a:pPr lvl="1"/>
            <a:r>
              <a:rPr lang="en-US" dirty="0"/>
              <a:t>The server process then </a:t>
            </a:r>
            <a:r>
              <a:rPr lang="en-US" b="1" dirty="0"/>
              <a:t>waits</a:t>
            </a:r>
            <a:r>
              <a:rPr lang="en-US" dirty="0"/>
              <a:t> for a client to connect to the named socket.</a:t>
            </a:r>
          </a:p>
          <a:p>
            <a:pPr lvl="1"/>
            <a:r>
              <a:rPr lang="en-US" dirty="0"/>
              <a:t>listen() creates a </a:t>
            </a:r>
            <a:r>
              <a:rPr lang="en-US" b="1" dirty="0"/>
              <a:t>queue</a:t>
            </a:r>
            <a:r>
              <a:rPr lang="en-US" dirty="0"/>
              <a:t> for incoming connections.</a:t>
            </a:r>
          </a:p>
          <a:p>
            <a:r>
              <a:rPr lang="en-US" dirty="0"/>
              <a:t>accept()</a:t>
            </a:r>
          </a:p>
          <a:p>
            <a:pPr lvl="1"/>
            <a:r>
              <a:rPr lang="en-US" dirty="0"/>
              <a:t>The server can </a:t>
            </a:r>
            <a:r>
              <a:rPr lang="en-US" b="1" dirty="0"/>
              <a:t>accept</a:t>
            </a:r>
            <a:r>
              <a:rPr lang="en-US" dirty="0"/>
              <a:t> them using the system call accept().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9CDF-078C-547B-E5A5-877F31C8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 – Server (TCP)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6A29-DFEC-5FC0-4800-FA390BE03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server calls accept(), it </a:t>
            </a:r>
            <a:r>
              <a:rPr lang="en-US" b="1" dirty="0"/>
              <a:t>blocks</a:t>
            </a:r>
            <a:r>
              <a:rPr lang="en-US" dirty="0"/>
              <a:t>.</a:t>
            </a:r>
          </a:p>
          <a:p>
            <a:r>
              <a:rPr lang="en-US" b="1" dirty="0"/>
              <a:t>An incoming client connection unblocks </a:t>
            </a:r>
            <a:r>
              <a:rPr lang="en-US" dirty="0"/>
              <a:t>accept().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new</a:t>
            </a:r>
            <a:r>
              <a:rPr lang="en-US" dirty="0"/>
              <a:t> socket is created and returned by accept() is</a:t>
            </a:r>
          </a:p>
          <a:p>
            <a:pPr lvl="2"/>
            <a:r>
              <a:rPr lang="en-US" b="1" dirty="0"/>
              <a:t>Distinct</a:t>
            </a:r>
            <a:r>
              <a:rPr lang="en-US" dirty="0"/>
              <a:t> from the named (server) socket.</a:t>
            </a:r>
          </a:p>
          <a:p>
            <a:r>
              <a:rPr lang="en-US" dirty="0"/>
              <a:t>This new socket is used solely for communication with the particular client.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The named socket (created in the start) remains intact to intercept more client connections.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184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9D5A-AB1E-BF9A-B675-AF9D8489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 – Client (TCP)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A9F79-BFEA-EF6F-1E20-DD5AACFCC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socket()</a:t>
            </a:r>
          </a:p>
          <a:p>
            <a:pPr lvl="1"/>
            <a:r>
              <a:rPr lang="en-US" dirty="0"/>
              <a:t>The client side of a socket-based system is more straightforward. The client creates </a:t>
            </a:r>
            <a:r>
              <a:rPr lang="en-US" b="1" dirty="0"/>
              <a:t>an unnamed socket </a:t>
            </a:r>
            <a:r>
              <a:rPr lang="en-US" dirty="0"/>
              <a:t>by calling socket().</a:t>
            </a:r>
          </a:p>
          <a:p>
            <a:r>
              <a:rPr lang="en-US" dirty="0"/>
              <a:t>connect()</a:t>
            </a:r>
          </a:p>
          <a:p>
            <a:pPr lvl="1"/>
            <a:r>
              <a:rPr lang="en-US" dirty="0"/>
              <a:t>It then calls connect() </a:t>
            </a:r>
            <a:r>
              <a:rPr lang="en-US" b="1" dirty="0"/>
              <a:t>to establish a connection with the server </a:t>
            </a:r>
            <a:r>
              <a:rPr lang="en-US" dirty="0"/>
              <a:t>by using the server’s named socket as an address.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Once established, sockets can be used like </a:t>
            </a:r>
            <a:r>
              <a:rPr lang="en-US" b="1" dirty="0"/>
              <a:t>low-level file descriptors</a:t>
            </a:r>
            <a:r>
              <a:rPr lang="en-US" dirty="0"/>
              <a:t>, providing two-way data communications.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179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578EF765-09EE-8E7D-2B1E-8D08B3893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482600"/>
            <a:ext cx="71120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8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D31C-0087-0B4E-3A7F-6EC57708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69569EC1-F0BA-BC85-AAA3-56C7DA54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0D3DAED0-1028-EDBF-B929-119CF3EF3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Line 17">
            <a:extLst>
              <a:ext uri="{FF2B5EF4-FFF2-40B4-BE49-F238E27FC236}">
                <a16:creationId xmlns:a16="http://schemas.microsoft.com/office/drawing/2014/main" id="{ECC43AC3-4A81-5E2E-8883-911587C32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3319183"/>
            <a:ext cx="3123615" cy="13255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903B685A-3603-4154-A46C-BCD7AFC96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171" y="3438756"/>
            <a:ext cx="12231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51F7A219-B5CD-713E-BC92-140087EFA6E1}"/>
              </a:ext>
            </a:extLst>
          </p:cNvPr>
          <p:cNvGrpSpPr>
            <a:grpSpLocks/>
          </p:cNvGrpSpPr>
          <p:nvPr/>
        </p:nvGrpSpPr>
        <p:grpSpPr bwMode="auto">
          <a:xfrm>
            <a:off x="1066517" y="336591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CAD0C45-6D4F-9EFB-8796-005E5EB6E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08DC496A-6637-C87E-174C-C876B7403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7BEE9AEB-85BB-8195-0DC6-0166A334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BB9EFAA6-F56A-40A5-754C-7C376FBC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ADD100F-DC4B-414B-55F7-A488022D5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C5AB5B67-F59C-F3DE-6161-B2C62C1F2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C5AF3D87-2227-B37B-72CF-B1FD4F393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DC81F2BC-CCC8-6128-769C-17AD93A32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88A080B-695A-5CA6-B7A5-018EA1325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D760588F-DD10-3236-B7FC-D8F3E121E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06FE2F54-FF4E-007C-BC6D-9D326549A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51EA6312-5BD3-FEB5-E650-C11AFD6CD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D04426D0-FD53-71E3-0AE4-B5CC5DF8E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80A57229-E668-A3B6-243D-2B47A6E3A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CEB20D26-D160-CBBA-376E-462953944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110A0546-7CE6-8A9E-BB5C-9AC3EB971D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599243C4-2A20-0487-0A3F-5A38AB5B2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932D0511-3EF3-3080-7635-707AC8703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43B68A07-7D13-2593-1E38-0C5A89CB9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5DD5AB94-1747-A225-A990-7247E8A25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82B1684C-7952-FB99-4BEA-9345FF281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CDE9EB4-C798-C89A-2FDA-C47115CD6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481CBDE0-CF59-A7C9-3DAE-EED28356A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7568186E-FE9B-F092-984A-80FB9B5FE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4BF3A008-878F-9836-1607-6F8246EC1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5E2134D6-350A-9B7B-4514-811AA58D9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61E52CC4-F252-506A-0437-DF2DBA5E4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F046E3BC-2A48-17CF-5723-1F62FCAD9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53050-2F61-6D0B-AE73-3D9AC24D2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2D2CA466-D781-52E5-1CC6-D918F4E09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8B722E9B-E924-ADE9-0734-71E58058A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2A84D823-3755-9AAC-3784-F59260182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103108EC-F6E8-B524-B885-A291A56A2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B67E03AD-1D9E-7152-2200-85AD42B2D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016" y="2111379"/>
            <a:ext cx="578683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result;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char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='A';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socket(AF_INET, SOCK_STREAM, 0);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S_address.sin_family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AF_INET;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S_address.sin_addr.s_addr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inet_addr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("127.0.0.1");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S_address.sin_port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htons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(9734);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bind(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(struct 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 &amp;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S_address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S_len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listen(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5);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172A5-62B0-2550-AB00-8BC59AAAD077}"/>
              </a:ext>
            </a:extLst>
          </p:cNvPr>
          <p:cNvSpPr txBox="1"/>
          <p:nvPr/>
        </p:nvSpPr>
        <p:spPr>
          <a:xfrm>
            <a:off x="9219615" y="2602689"/>
            <a:ext cx="2332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host-to-network-short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converts 16bit integer from host byte order to network byte order</a:t>
            </a:r>
          </a:p>
        </p:txBody>
      </p:sp>
    </p:spTree>
    <p:extLst>
      <p:ext uri="{BB962C8B-B14F-4D97-AF65-F5344CB8AC3E}">
        <p14:creationId xmlns:p14="http://schemas.microsoft.com/office/powerpoint/2010/main" val="103493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8391-68C5-5874-D22A-D6144E88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8E0C3D11-0FA8-DED4-8852-2300E021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A49C1DB3-08B7-66B8-50BD-3EDF4586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491E5E0F-04D2-2F58-A1C4-1A8F13116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171" y="3438756"/>
            <a:ext cx="12231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A79DAB5F-1A0D-2EE1-750A-68C6F5DE154B}"/>
              </a:ext>
            </a:extLst>
          </p:cNvPr>
          <p:cNvGrpSpPr>
            <a:grpSpLocks/>
          </p:cNvGrpSpPr>
          <p:nvPr/>
        </p:nvGrpSpPr>
        <p:grpSpPr bwMode="auto">
          <a:xfrm>
            <a:off x="1066517" y="336591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38BC4269-84E1-81A1-7703-25C2BFF83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B3F01A0A-CE2A-FB6B-4FB8-2499F20E1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A4AADCDA-1370-2589-2215-1F975E518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7ED25C82-AAE3-7194-684D-DEB44A49B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98C476B0-F6F4-FFF0-373E-CAE552FC4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43D50EF5-8709-9BCD-8204-68FDD8458E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378C1AB6-CE18-B945-8839-6E1447AA4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424EB377-E895-400C-1007-4FF9ED356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1BA2AA5B-0DF6-0BD2-9240-73671AE79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4E70AF50-F7AA-DD14-35CF-2D0EFACFBA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C26D53FD-9F85-CCAF-4FAF-6C3ABBFA3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FF727DB7-4C77-384E-42D5-05CA583DD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25E01BB7-C308-DE10-B837-5D7CF84A5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07D8E7CB-5113-6286-1474-6D653E20F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C293EC6B-C73D-B99B-EE73-C292F37F7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794B5ADF-7A56-F553-C4DB-712E015A9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8105E9DD-5ED0-C702-A948-0A82103CE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593E821-43C9-59DD-25FF-FED75C67B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F4A5947F-12E9-C016-D762-F0271C949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8F39328E-C3A2-AEB7-1732-9A2DFC749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701AD974-6D02-A64D-26EE-F3BBA50D3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AC91EC1-4790-8141-9995-A138386F4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617FD195-8B3F-4C7C-53AC-E844890CA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5CB1960D-3067-F49B-5085-6155FD137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F4290AEE-9017-B2E4-989B-AE58BACDC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4E772F34-F4B0-FD53-FF21-43B55F40B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D39224F0-93C5-BC77-1FB6-575F8C76C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8ABFC934-3829-EB43-5640-8795A498C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213BA1AE-466E-DC11-816C-5B25E9D93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ACB6669F-A3A8-3D41-FE07-39D1BA0B2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9DFCB25C-44A1-5BEA-30C8-46030E29E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34C292E5-38D8-518C-D913-7F4611926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7F25B93C-6EEC-879C-29DC-9AD13B376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47B0C766-4C4B-5024-B891-917E63BD3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95" y="1235563"/>
            <a:ext cx="9941299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while(1)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char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("Server %d waiting\n",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accept(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(struct 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*)&amp;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== -1){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("accept");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continue;  // Continue to next iteration instead of exiting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read(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if (result == -1){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("read");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close(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continue;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write(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if (result == -1){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("write");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close(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close(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105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E03C-5437-3BAC-12C6-A4D6E9C0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4022C9E1-DC45-A46C-CE22-9997D20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50EB3E7D-91AC-417B-E96C-69459F797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7B2656BB-62F4-F513-CC43-CAE6A9EE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154" y="3498949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97" name="Group 67">
            <a:extLst>
              <a:ext uri="{FF2B5EF4-FFF2-40B4-BE49-F238E27FC236}">
                <a16:creationId xmlns:a16="http://schemas.microsoft.com/office/drawing/2014/main" id="{A6EBABAA-D0B2-5ED8-05FA-13DDD4C8BED0}"/>
              </a:ext>
            </a:extLst>
          </p:cNvPr>
          <p:cNvGrpSpPr>
            <a:grpSpLocks/>
          </p:cNvGrpSpPr>
          <p:nvPr/>
        </p:nvGrpSpPr>
        <p:grpSpPr bwMode="auto">
          <a:xfrm>
            <a:off x="2477507" y="3429000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D522CC0B-2A69-A718-166C-D7A12787E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C490849D-700F-6E09-AE86-E390494EE69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3A39808B-7660-EA0B-CEB0-764B1611C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A227BFC9-3E72-ACCB-76E3-D05E0659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386" y="1252447"/>
            <a:ext cx="61545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address;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result;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char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='A';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socket(AF_INET, SOCK_STREAM, 0);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address.sin_family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AF_INET;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address.sin_addr.s_addr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inet_addr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("127.0.0.1");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address.sin_port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htons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(9734);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(address);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result = connect(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(struct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*)&amp;address,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if (result == -1){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("client3");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exit(1);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write(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1);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read(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1);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("char from server = %c\n",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close(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10A0CB37-CF3B-77BC-EAC4-EB8317EFC6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8135" y="3145273"/>
            <a:ext cx="3532786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C91F82-3F39-B392-CDC5-10C4EBE6F20C}"/>
              </a:ext>
            </a:extLst>
          </p:cNvPr>
          <p:cNvSpPr txBox="1"/>
          <p:nvPr/>
        </p:nvSpPr>
        <p:spPr>
          <a:xfrm>
            <a:off x="9859159" y="2406609"/>
            <a:ext cx="2332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host-to-network-short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converts 16bit integer from host byte order to network byte order</a:t>
            </a:r>
          </a:p>
        </p:txBody>
      </p:sp>
    </p:spTree>
    <p:extLst>
      <p:ext uri="{BB962C8B-B14F-4D97-AF65-F5344CB8AC3E}">
        <p14:creationId xmlns:p14="http://schemas.microsoft.com/office/powerpoint/2010/main" val="256256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33328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with UDP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F53D30-07DA-0041-8212-FA74FE4546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14803" y="1318820"/>
            <a:ext cx="6363331" cy="48533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E341AE-C6C9-1C45-BF8F-D552077CBC01}"/>
              </a:ext>
            </a:extLst>
          </p:cNvPr>
          <p:cNvSpPr txBox="1">
            <a:spLocks noChangeArrowheads="1"/>
          </p:cNvSpPr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 data may be lost or received out-of-order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viewpoint: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10086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provides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transfer  of groups of bytes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datagrams”) 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2626431-77B6-C54A-8DC7-1033C90BA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0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C54B-87F8-EA42-ECEA-DB3C8431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F184ECBF-EBA6-EBD8-DEEE-8302FAA1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77423134-2B06-6AC4-90B5-78B77D853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Line 17">
            <a:extLst>
              <a:ext uri="{FF2B5EF4-FFF2-40B4-BE49-F238E27FC236}">
                <a16:creationId xmlns:a16="http://schemas.microsoft.com/office/drawing/2014/main" id="{5DE64ADC-A49F-40F0-6081-B73F82B941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3881" y="3561301"/>
            <a:ext cx="1285735" cy="1062046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81A2B431-E89A-7CE1-6B33-D6E8B0F7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171" y="3438756"/>
            <a:ext cx="12231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F3E4DDF7-EA89-3521-30A5-1BE4BB1C8767}"/>
              </a:ext>
            </a:extLst>
          </p:cNvPr>
          <p:cNvGrpSpPr>
            <a:grpSpLocks/>
          </p:cNvGrpSpPr>
          <p:nvPr/>
        </p:nvGrpSpPr>
        <p:grpSpPr bwMode="auto">
          <a:xfrm>
            <a:off x="1066517" y="336591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55AFD14D-DC20-E2E7-F1A8-F480093E1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20EC7639-1159-68AF-BFBB-D19287D1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B9E1BB93-03FE-2FF0-E133-9E9557892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27AEC84E-C18C-AB9F-40C1-BA17518E1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35BDEE50-BFC4-84C6-3AA4-F931A6B1A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A647BDEB-72AB-1D7A-88EE-E618C360CB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4A6D9E3F-F362-20E6-AF71-87D9FFD41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C2C899DE-FE13-F6E1-2D2A-7992BDCBD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0E87BEB3-43FC-82DB-EF58-4CB2E854D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C5F78E70-4D8E-0A2A-6AC3-2451F2CA44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9D59B8FD-A742-C087-35A7-10EA208E4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A8C780BB-2856-2B50-9380-602698649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C0899DFA-827F-1978-FE32-3B834B9B1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60CF5BE-67E5-48A7-9310-06FEFB73F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F5853B96-4270-2A3C-011F-EB493991A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933380BA-1224-9E6B-9E5D-4235E1AD1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40F93A86-A0A1-A7AE-8BA4-E0BE50DCB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AC612A78-B6C4-E127-086D-25FAEDD5C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4AD7FED9-5C8C-2ABB-4151-AD6FDFB8EC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28DADE93-D12B-0CC3-B0BB-FCCAA3423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C54140BD-63C4-FD68-32C4-EE80B9824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A9E422BB-01D3-07BC-5106-EBD68E6BB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4ADFAA2D-D3A7-C08C-A96D-ED4C4F5C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CB7BB78-5D3D-0E84-EB4B-BF388D5F8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3C394BAB-7E9F-D70C-80CA-054AEDD4E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3A590DE7-33FC-7C0F-BC5E-910268B1F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AF72D11F-45D3-69BD-DF30-F8538F669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E637893-CF71-3572-5E3D-C73E7DD7D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4085602D-A9D0-AF5E-3389-13CA9FACF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5563863A-3582-7E0C-1CF2-B5A1E4A05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C07028A9-C13B-F707-679F-883867BE3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024B37E1-CDD4-858B-AC07-5478FD8B3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35661887-E971-6CE2-886E-CED4FEEFD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532F5C3B-10AC-CECA-3634-894FC8591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016" y="2203712"/>
            <a:ext cx="8133343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result;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char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='A’;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socket(AF_INET, SOCK_DGRAM, 0);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S_address.sin_family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AF_INET;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S_address.sin_addr.s_addr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inet_addr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("127.0.0.1");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S_address.sin_port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htons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(9734);  // Added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htons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() for proper byte order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bind(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(struct 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 &amp;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S_address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S_len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679FE-354A-4DDB-108C-CE6F665FFCCC}"/>
              </a:ext>
            </a:extLst>
          </p:cNvPr>
          <p:cNvSpPr txBox="1"/>
          <p:nvPr/>
        </p:nvSpPr>
        <p:spPr>
          <a:xfrm>
            <a:off x="9219615" y="2602689"/>
            <a:ext cx="2332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host-to-network-short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converts 16bit integer from host byte order to network byte order</a:t>
            </a:r>
          </a:p>
        </p:txBody>
      </p:sp>
    </p:spTree>
    <p:extLst>
      <p:ext uri="{BB962C8B-B14F-4D97-AF65-F5344CB8AC3E}">
        <p14:creationId xmlns:p14="http://schemas.microsoft.com/office/powerpoint/2010/main" val="299232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88C3-0D05-031A-5852-06B9C43F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C5C269F1-57D8-4435-CDCB-3B3EBD66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765F14FA-76E5-2D16-26BE-ABCF9EBB2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EE02A465-4E6D-7E7F-7A7C-FA9AE9325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171" y="3438756"/>
            <a:ext cx="12231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C6823859-D25E-C7E2-90F7-76036F22F194}"/>
              </a:ext>
            </a:extLst>
          </p:cNvPr>
          <p:cNvGrpSpPr>
            <a:grpSpLocks/>
          </p:cNvGrpSpPr>
          <p:nvPr/>
        </p:nvGrpSpPr>
        <p:grpSpPr bwMode="auto">
          <a:xfrm>
            <a:off x="1066517" y="336591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C2ED6051-5A75-CE6F-D2D3-A7CF253FC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483A99DE-B424-1A93-3FA7-A1D5732D2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A8C31020-8DAE-DEA1-5CE6-D94E88395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3592F75-31D1-683F-55AF-84B818CC5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A73D07B4-9813-CBC7-4856-A23F0F332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22493A8A-32F9-950D-BDE0-9A1EDD067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66605919-EF6D-5E52-5DF9-A6230A8D4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164024BB-8BA9-523C-42AF-271514BB9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2A871E98-01ED-564A-FD19-86A9D62AC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172E47-DEB2-57E9-699F-A54B0C297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B1033C71-B3F0-2C13-CAEA-14B701513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46BE6D09-C464-553B-0595-A5A4AA1C8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4E0F0BBD-2BC3-FB56-58A9-19937900E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4A4A7B79-F8C8-E4CD-4F7A-50A2AC935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02356466-B217-1F4A-BBC1-C2BE3F79F6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5C038997-F4E1-0F99-7087-0D8ACC950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FEBAC7FA-6968-56AC-72F7-B2B5F1C96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681277D9-C188-D879-60E4-727DBDFB0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3150C14-AFBB-8463-BEA7-BDE239EBD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03D9B2E6-BB92-F204-50A5-C4A79F00A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1A9D6D67-7531-D852-43CE-00A04E2FB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12C85D2C-885D-A2FE-6255-186B755E4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EE46ACE7-1834-4012-ED3A-859B7C611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ED84C644-BCEF-8393-C05F-96BA569AA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11B95297-EAB9-1184-F663-75A8E9D16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6476AAE0-FD5D-2DEC-FFD1-F6B50C3AC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7C821A9A-2AAB-2885-686C-61176CD8D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23339E43-AE8D-44B9-F6A9-05331DA44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A70EA9FE-210B-2D66-A35D-3DFFE968B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9AA8D56E-2B98-C4BC-C9B1-DAA72E1A5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205086BA-3974-743A-1B83-EA55E64CC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6C3B69E6-53AD-7369-FD00-48BBFD492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7AFF35AF-6327-4801-ED5D-C9F72E2BE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3AA6E564-C7A2-A501-98D4-6461532F7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714" y="1280383"/>
            <a:ext cx="9941299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while(1)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char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("Server %d waiting\n",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recvfrom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1, 0, (struct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if (result == -1)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recvfrom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continue;  // Continue to next iteration instead of exiting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sendto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1, 0, (struct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C_address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C_len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if (result == -1)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sendto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// No need to close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 UDP uses same socket for all clients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close(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S_sockfd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4979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EDCF-3707-BA6E-21CE-5ECE23CA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D9A6AFE4-5210-E64B-1715-62BD5C09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CE0A2863-2EA6-F4C4-F260-E5BBB447B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F6EE420A-13C1-C256-8C15-24C165E7A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154" y="3498949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97" name="Group 67">
            <a:extLst>
              <a:ext uri="{FF2B5EF4-FFF2-40B4-BE49-F238E27FC236}">
                <a16:creationId xmlns:a16="http://schemas.microsoft.com/office/drawing/2014/main" id="{62A285FE-529E-BA50-F809-4A86B2D2E64E}"/>
              </a:ext>
            </a:extLst>
          </p:cNvPr>
          <p:cNvGrpSpPr>
            <a:grpSpLocks/>
          </p:cNvGrpSpPr>
          <p:nvPr/>
        </p:nvGrpSpPr>
        <p:grpSpPr bwMode="auto">
          <a:xfrm>
            <a:off x="2477507" y="3429000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B18A26CD-731F-2008-B404-9A5C27EB3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D41F8F9F-CCF6-598A-A724-0A52E499CE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CFF94119-49FC-3072-85D7-5F9D75C7B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A3873462-10EE-A7CB-8B65-B4622677D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720" y="1158400"/>
            <a:ext cx="6615773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struct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sockaddr_in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address;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 result;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char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='A’;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socket(AF_INET, SOCK_DGRAM, 0);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address.sin_family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AF_INET;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address.sin_addr.s_addr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inet_addr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("127.0.0.1");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address.sin_port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htons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(9734);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(address);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sendto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1, 0, (struct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*)&amp;address,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if (result == -1)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("client3");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exit(1);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recvfrom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1, 0, (struct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*)&amp;address, &amp;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if (result == -1)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perror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("client3");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exit(1);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("char from server = %c\n",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close(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2C892B48-B128-BF1B-77B5-B98E52DD1B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7515" y="3200399"/>
            <a:ext cx="3681643" cy="173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812B8-D4BC-168A-4C2A-C673720F9DEF}"/>
              </a:ext>
            </a:extLst>
          </p:cNvPr>
          <p:cNvSpPr txBox="1"/>
          <p:nvPr/>
        </p:nvSpPr>
        <p:spPr>
          <a:xfrm>
            <a:off x="9859159" y="2406609"/>
            <a:ext cx="2332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host-to-network-short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converts 16bit integer from host byte order to network byte order</a:t>
            </a:r>
          </a:p>
        </p:txBody>
      </p:sp>
    </p:spTree>
    <p:extLst>
      <p:ext uri="{BB962C8B-B14F-4D97-AF65-F5344CB8AC3E}">
        <p14:creationId xmlns:p14="http://schemas.microsoft.com/office/powerpoint/2010/main" val="271197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Chapter 2: Summary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30235C8-CBF2-BC40-8C2F-CC9AFE97994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2094161"/>
            <a:ext cx="5710084" cy="4194034"/>
          </a:xfrm>
        </p:spPr>
        <p:txBody>
          <a:bodyPr>
            <a:normAutofit/>
          </a:bodyPr>
          <a:lstStyle/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application architectures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client-server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P2P</a:t>
            </a:r>
          </a:p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application service requirements:</a:t>
            </a:r>
          </a:p>
          <a:p>
            <a:pPr marL="682625" lvl="1" indent="-228600">
              <a:buFont typeface="Arial"/>
              <a:buChar char="•"/>
              <a:defRPr/>
            </a:pPr>
            <a:r>
              <a:rPr lang="en-US" dirty="0"/>
              <a:t>reliability, bandwidth, delay</a:t>
            </a:r>
          </a:p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Internet transport service model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connection-oriented, reliable: TCP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unreliable, datagrams: UDP</a:t>
            </a:r>
            <a:endParaRPr lang="en-US" sz="2000" dirty="0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28601A5-E42C-D440-B994-5748EBF18265}"/>
              </a:ext>
            </a:extLst>
          </p:cNvPr>
          <p:cNvSpPr txBox="1">
            <a:spLocks noChangeArrowheads="1"/>
          </p:cNvSpPr>
          <p:nvPr/>
        </p:nvSpPr>
        <p:spPr>
          <a:xfrm>
            <a:off x="704849" y="1392072"/>
            <a:ext cx="10208957" cy="6762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our study of network application layer is now complete!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64F252F4-9047-6D40-8B28-18D2E553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specific protocols: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HTTP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SMTP, IMAP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DNS</a:t>
            </a: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socket programming: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   TCP, UDP sockets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FBD60C3-995D-4948-A95F-E9B0A2239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41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Chapter 2: Summary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28601A5-E42C-D440-B994-5748EBF18265}"/>
              </a:ext>
            </a:extLst>
          </p:cNvPr>
          <p:cNvSpPr txBox="1">
            <a:spLocks noChangeArrowheads="1"/>
          </p:cNvSpPr>
          <p:nvPr/>
        </p:nvSpPr>
        <p:spPr>
          <a:xfrm>
            <a:off x="704849" y="1392072"/>
            <a:ext cx="10208957" cy="6762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Most importantly: learned about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protocols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!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2B1E62A-5D04-3E42-88B2-20CD0FBD1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069589"/>
            <a:ext cx="5695335" cy="4351338"/>
          </a:xfrm>
        </p:spPr>
        <p:txBody>
          <a:bodyPr>
            <a:normAutofit/>
          </a:bodyPr>
          <a:lstStyle/>
          <a:p>
            <a:pPr marL="287338" indent="-287338"/>
            <a:r>
              <a:rPr lang="en-US" altLang="en-US" dirty="0">
                <a:ea typeface="ＭＳ Ｐゴシック" panose="020B0600070205080204" pitchFamily="34" charset="-128"/>
              </a:rPr>
              <a:t>typical request/reply message exchange:</a:t>
            </a:r>
          </a:p>
          <a:p>
            <a:pPr marL="681038" lvl="1" indent="-223838"/>
            <a:r>
              <a:rPr lang="en-US" altLang="en-US" dirty="0">
                <a:ea typeface="ＭＳ Ｐゴシック" panose="020B0600070205080204" pitchFamily="34" charset="-128"/>
              </a:rPr>
              <a:t>client requests info or service</a:t>
            </a:r>
          </a:p>
          <a:p>
            <a:pPr marL="681038" lvl="1" indent="-223838"/>
            <a:r>
              <a:rPr lang="en-US" altLang="en-US" dirty="0">
                <a:ea typeface="ＭＳ Ｐゴシック" panose="020B0600070205080204" pitchFamily="34" charset="-128"/>
              </a:rPr>
              <a:t>server responds with data, status code</a:t>
            </a:r>
          </a:p>
          <a:p>
            <a:pPr marL="287338" indent="-287338"/>
            <a:r>
              <a:rPr lang="en-US" altLang="en-US" dirty="0">
                <a:ea typeface="ＭＳ Ｐゴシック" panose="020B0600070205080204" pitchFamily="34" charset="-128"/>
              </a:rPr>
              <a:t>message formats:</a:t>
            </a:r>
          </a:p>
          <a:p>
            <a:pPr marL="681038" lvl="1" indent="-223838"/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headers</a:t>
            </a:r>
            <a:r>
              <a:rPr lang="en-US" altLang="en-US" dirty="0">
                <a:ea typeface="ＭＳ Ｐゴシック" panose="020B0600070205080204" pitchFamily="34" charset="-128"/>
              </a:rPr>
              <a:t>: fields giving info about data</a:t>
            </a:r>
          </a:p>
          <a:p>
            <a:pPr marL="681038" lvl="1" indent="-223838"/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data: </a:t>
            </a:r>
            <a:r>
              <a:rPr lang="en-US" altLang="en-US" dirty="0">
                <a:ea typeface="ＭＳ Ｐゴシック" panose="020B0600070205080204" pitchFamily="34" charset="-128"/>
              </a:rPr>
              <a:t>info(payload)  being communicated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9AD5240-FBC2-9D46-B622-22B9C356A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343" y="2015039"/>
            <a:ext cx="4654808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7013" indent="-227013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important themes: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centralized vs. decentralized 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stateless vs. stateful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scalability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vs. unreliable message transfer 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“complexity at network 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E0ABB88-CECD-DD4A-8A5D-BE0426218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9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6324E8-804D-814E-80CA-306D385C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>
                <a:ea typeface="ＭＳ Ｐゴシック" panose="020B0600070205080204" pitchFamily="34" charset="-128"/>
              </a:rPr>
              <a:t>Questions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50370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8FCB-B1F9-7B30-7D60-10C6C098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87C8C-0FA4-0FE6-8EB2-8CF5B0332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346" y="1498154"/>
            <a:ext cx="10953307" cy="242005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 socket(int domain, int type, int protocol);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Creates a new socket (communication endpoint).</a:t>
            </a:r>
          </a:p>
          <a:p>
            <a:pPr marL="0" indent="0">
              <a:buNone/>
            </a:pPr>
            <a:r>
              <a:rPr lang="en-US" b="1" dirty="0"/>
              <a:t>domain</a:t>
            </a:r>
            <a:r>
              <a:rPr lang="en-US" dirty="0"/>
              <a:t>: Address family (e.g., AF_INET, AF_UNIX).</a:t>
            </a:r>
          </a:p>
          <a:p>
            <a:pPr marL="0" indent="0">
              <a:buNone/>
            </a:pPr>
            <a:r>
              <a:rPr lang="en-US" b="1" dirty="0"/>
              <a:t>type</a:t>
            </a:r>
            <a:r>
              <a:rPr lang="en-US" dirty="0"/>
              <a:t>: Communication type (SOCK_STREAM for TCP, SOCK_DGRAM for UDP).</a:t>
            </a:r>
          </a:p>
          <a:p>
            <a:pPr marL="0" indent="0">
              <a:buNone/>
            </a:pPr>
            <a:r>
              <a:rPr lang="en-US" b="1" dirty="0"/>
              <a:t>protocol</a:t>
            </a:r>
            <a:r>
              <a:rPr lang="en-US" dirty="0"/>
              <a:t>: Usually 0 (system chooses default).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037FEF-D68D-775F-D3AE-292F5CFB6C5C}"/>
              </a:ext>
            </a:extLst>
          </p:cNvPr>
          <p:cNvSpPr txBox="1">
            <a:spLocks/>
          </p:cNvSpPr>
          <p:nvPr/>
        </p:nvSpPr>
        <p:spPr>
          <a:xfrm>
            <a:off x="619346" y="4149819"/>
            <a:ext cx="10953307" cy="25729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 bind(int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const struct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socklen_t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addrlen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Assigns a local address (IP + port) to the socket.</a:t>
            </a:r>
          </a:p>
          <a:p>
            <a:pPr marL="0" indent="0">
              <a:buNone/>
            </a:pPr>
            <a:r>
              <a:rPr lang="en-US" b="1" dirty="0" err="1"/>
              <a:t>sockfd</a:t>
            </a:r>
            <a:r>
              <a:rPr lang="en-US" dirty="0"/>
              <a:t>: The socket descriptor.</a:t>
            </a:r>
          </a:p>
          <a:p>
            <a:pPr marL="0" indent="0">
              <a:buNone/>
            </a:pPr>
            <a:r>
              <a:rPr lang="en-US" b="1" dirty="0" err="1"/>
              <a:t>addr</a:t>
            </a:r>
            <a:r>
              <a:rPr lang="en-US" dirty="0"/>
              <a:t>: Address structure (e.g., </a:t>
            </a:r>
            <a:r>
              <a:rPr lang="en-US" dirty="0" err="1"/>
              <a:t>sockaddr_in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b="1" dirty="0" err="1"/>
              <a:t>addrlen</a:t>
            </a:r>
            <a:r>
              <a:rPr lang="en-US" dirty="0"/>
              <a:t>: Size of address structure.</a:t>
            </a:r>
          </a:p>
        </p:txBody>
      </p:sp>
    </p:spTree>
    <p:extLst>
      <p:ext uri="{BB962C8B-B14F-4D97-AF65-F5344CB8AC3E}">
        <p14:creationId xmlns:p14="http://schemas.microsoft.com/office/powerpoint/2010/main" val="2352309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1A47-6294-CA5F-FE4D-9EF9AE40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B2B5-F424-BF60-FA77-6DBB6BF5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BA428-3F16-DBA6-222D-FD29BF9D7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346" y="1498155"/>
            <a:ext cx="10953307" cy="212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 listen(int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int backlog);</a:t>
            </a:r>
          </a:p>
          <a:p>
            <a:pPr marL="0" indent="0">
              <a:buNone/>
            </a:pPr>
            <a:r>
              <a:rPr lang="en-US" dirty="0"/>
              <a:t>Marks the socket as passive (server) and sets up a connection queue.</a:t>
            </a:r>
          </a:p>
          <a:p>
            <a:pPr marL="0" indent="0">
              <a:buNone/>
            </a:pPr>
            <a:r>
              <a:rPr lang="en-US" b="1" dirty="0" err="1"/>
              <a:t>sockfd</a:t>
            </a:r>
            <a:r>
              <a:rPr lang="en-US" dirty="0"/>
              <a:t>: Bound TCP socket.</a:t>
            </a:r>
          </a:p>
          <a:p>
            <a:pPr marL="0" indent="0">
              <a:buNone/>
            </a:pPr>
            <a:r>
              <a:rPr lang="en-US" b="1" dirty="0"/>
              <a:t>backlog</a:t>
            </a:r>
            <a:r>
              <a:rPr lang="en-US" dirty="0"/>
              <a:t>: Max number of pending connections allowed.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BCE44C-1E22-067E-C79F-F18B7ABB4CF3}"/>
              </a:ext>
            </a:extLst>
          </p:cNvPr>
          <p:cNvSpPr txBox="1">
            <a:spLocks/>
          </p:cNvSpPr>
          <p:nvPr/>
        </p:nvSpPr>
        <p:spPr>
          <a:xfrm>
            <a:off x="619346" y="3733801"/>
            <a:ext cx="10734454" cy="2988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 accept(int 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 struct 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socklen_t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 *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addrlen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US" dirty="0"/>
              <a:t>Extracts the first connection request from the queue.</a:t>
            </a:r>
          </a:p>
          <a:p>
            <a:pPr marL="0" indent="0">
              <a:buNone/>
            </a:pPr>
            <a:r>
              <a:rPr lang="en-US" b="1" dirty="0" err="1"/>
              <a:t>sockfd</a:t>
            </a:r>
            <a:r>
              <a:rPr lang="en-US" dirty="0"/>
              <a:t>: Listening socket.</a:t>
            </a:r>
          </a:p>
          <a:p>
            <a:pPr marL="0" indent="0">
              <a:buNone/>
            </a:pPr>
            <a:r>
              <a:rPr lang="en-US" b="1" dirty="0" err="1"/>
              <a:t>addr</a:t>
            </a:r>
            <a:r>
              <a:rPr lang="en-US" dirty="0"/>
              <a:t>: Filled with client’s address info.</a:t>
            </a:r>
          </a:p>
          <a:p>
            <a:pPr marL="0" indent="0">
              <a:buNone/>
            </a:pPr>
            <a:r>
              <a:rPr lang="en-US" b="1" dirty="0" err="1"/>
              <a:t>addrlen</a:t>
            </a:r>
            <a:r>
              <a:rPr lang="en-US" dirty="0"/>
              <a:t>: Input = size of structure, Output = actual size returned.</a:t>
            </a:r>
          </a:p>
          <a:p>
            <a:pPr marL="0" indent="0">
              <a:buNone/>
            </a:pPr>
            <a:r>
              <a:rPr lang="en-US" i="1" dirty="0"/>
              <a:t>Returns new socket descriptor for that client.</a:t>
            </a:r>
          </a:p>
        </p:txBody>
      </p:sp>
    </p:spTree>
    <p:extLst>
      <p:ext uri="{BB962C8B-B14F-4D97-AF65-F5344CB8AC3E}">
        <p14:creationId xmlns:p14="http://schemas.microsoft.com/office/powerpoint/2010/main" val="2928754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9FD8-96AA-03BD-4F1D-3FD6E484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A41A3-DF7D-25A3-B0CC-F09BA4BDA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 connect(int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const struct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socklen_t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addrlen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US" dirty="0"/>
              <a:t>Initiates a connection on a socket.</a:t>
            </a:r>
          </a:p>
          <a:p>
            <a:pPr marL="0" indent="0">
              <a:buNone/>
            </a:pPr>
            <a:r>
              <a:rPr lang="en-US" b="1" dirty="0" err="1"/>
              <a:t>sockfd</a:t>
            </a:r>
            <a:r>
              <a:rPr lang="en-US" dirty="0"/>
              <a:t>: Your TCP client socket.</a:t>
            </a:r>
          </a:p>
          <a:p>
            <a:pPr marL="0" indent="0">
              <a:buNone/>
            </a:pPr>
            <a:r>
              <a:rPr lang="en-US" b="1" dirty="0" err="1"/>
              <a:t>addr</a:t>
            </a:r>
            <a:r>
              <a:rPr lang="en-US" dirty="0"/>
              <a:t>: The server's address (IP + port) to connect to.</a:t>
            </a:r>
          </a:p>
          <a:p>
            <a:pPr marL="0" indent="0">
              <a:buNone/>
            </a:pPr>
            <a:r>
              <a:rPr lang="en-US" b="1" dirty="0" err="1"/>
              <a:t>addrlen</a:t>
            </a:r>
            <a:r>
              <a:rPr lang="en-US" dirty="0"/>
              <a:t>: Size of the server's address structure.</a:t>
            </a:r>
          </a:p>
          <a:p>
            <a:pPr marL="0" indent="0">
              <a:buNone/>
            </a:pPr>
            <a:r>
              <a:rPr lang="en-US" i="1" dirty="0"/>
              <a:t>Purpose: For TCP clients, this function actively attempts to establish a connection with a listening server. Once successful, </a:t>
            </a:r>
            <a:r>
              <a:rPr lang="en-US" i="1" dirty="0" err="1"/>
              <a:t>sockfd</a:t>
            </a:r>
            <a:r>
              <a:rPr lang="en-US" i="1" dirty="0"/>
              <a:t> is then connected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2627458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3FBB-AB7D-DEFC-209A-1BA29B5B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Socket programming with UDP – </a:t>
            </a:r>
            <a:r>
              <a:rPr lang="en-US" altLang="en-US" dirty="0" err="1">
                <a:ea typeface="ＭＳ Ｐゴシック" panose="020B0600070205080204" pitchFamily="34" charset="-128"/>
              </a:rPr>
              <a:t>sendto</a:t>
            </a:r>
            <a:r>
              <a:rPr lang="en-US" altLang="en-US" dirty="0">
                <a:ea typeface="ＭＳ Ｐゴシック" panose="020B0600070205080204" pitchFamily="34" charset="-128"/>
              </a:rPr>
              <a:t>/</a:t>
            </a:r>
            <a:r>
              <a:rPr lang="en-US" altLang="en-US" dirty="0" err="1">
                <a:ea typeface="ＭＳ Ｐゴシック" panose="020B0600070205080204" pitchFamily="34" charset="-128"/>
              </a:rPr>
              <a:t>recvfrom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D99F6-F0E0-A1AA-DE79-CF230FD12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66" y="1825625"/>
            <a:ext cx="11111022" cy="202336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ssize_t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sendto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const void *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int flags,  const struct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dest_addr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socklen_t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addrlen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ssize_t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recvfrom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sockfd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void *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int flags,  struct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sockaddr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src_addr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socklen_t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*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addrlen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F1EE7-16AA-6518-51DE-B9126090227B}"/>
              </a:ext>
            </a:extLst>
          </p:cNvPr>
          <p:cNvSpPr txBox="1"/>
          <p:nvPr/>
        </p:nvSpPr>
        <p:spPr>
          <a:xfrm>
            <a:off x="2711302" y="43912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0022A-C752-6522-4D8D-9AE6D127B134}"/>
              </a:ext>
            </a:extLst>
          </p:cNvPr>
          <p:cNvSpPr txBox="1"/>
          <p:nvPr/>
        </p:nvSpPr>
        <p:spPr>
          <a:xfrm>
            <a:off x="2119423" y="4141243"/>
            <a:ext cx="79531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ssize_t</a:t>
            </a:r>
            <a:r>
              <a:rPr lang="en-US" sz="2000" dirty="0"/>
              <a:t> → return value = number of bytes sent/received, or -1 on error.</a:t>
            </a:r>
          </a:p>
          <a:p>
            <a:r>
              <a:rPr lang="en-US" sz="2000" dirty="0" err="1"/>
              <a:t>sockfd</a:t>
            </a:r>
            <a:r>
              <a:rPr lang="en-US" sz="2000" dirty="0"/>
              <a:t> → socket descriptor (must be UDP for connectionless use).</a:t>
            </a:r>
          </a:p>
          <a:p>
            <a:r>
              <a:rPr lang="en-US" sz="2000" dirty="0" err="1"/>
              <a:t>buf</a:t>
            </a:r>
            <a:r>
              <a:rPr lang="en-US" sz="2000" dirty="0"/>
              <a:t>/</a:t>
            </a:r>
            <a:r>
              <a:rPr lang="en-US" sz="2000" dirty="0" err="1"/>
              <a:t>len</a:t>
            </a:r>
            <a:r>
              <a:rPr lang="en-US" sz="2000" dirty="0"/>
              <a:t> → actual data buffer and its size.</a:t>
            </a:r>
          </a:p>
          <a:p>
            <a:r>
              <a:rPr lang="en-US" sz="2000" dirty="0"/>
              <a:t>flags → usually 0.</a:t>
            </a:r>
          </a:p>
          <a:p>
            <a:r>
              <a:rPr lang="en-US" sz="2000" dirty="0" err="1"/>
              <a:t>dest_addr</a:t>
            </a:r>
            <a:r>
              <a:rPr lang="en-US" sz="2000" dirty="0"/>
              <a:t>/</a:t>
            </a:r>
            <a:r>
              <a:rPr lang="en-US" sz="2000" dirty="0" err="1"/>
              <a:t>addrlen</a:t>
            </a:r>
            <a:r>
              <a:rPr lang="en-US" sz="2000" dirty="0"/>
              <a:t> (</a:t>
            </a:r>
            <a:r>
              <a:rPr lang="en-US" sz="2000" dirty="0" err="1"/>
              <a:t>sendto</a:t>
            </a:r>
            <a:r>
              <a:rPr lang="en-US" sz="2000" dirty="0"/>
              <a:t>) → specify recipient’s IP + port.</a:t>
            </a:r>
          </a:p>
          <a:p>
            <a:r>
              <a:rPr lang="en-US" sz="2000" dirty="0" err="1"/>
              <a:t>src_addr</a:t>
            </a:r>
            <a:r>
              <a:rPr lang="en-US" sz="2000" dirty="0"/>
              <a:t>/</a:t>
            </a:r>
            <a:r>
              <a:rPr lang="en-US" sz="2000" dirty="0" err="1"/>
              <a:t>addrlen</a:t>
            </a:r>
            <a:r>
              <a:rPr lang="en-US" sz="2000" dirty="0"/>
              <a:t> (</a:t>
            </a:r>
            <a:r>
              <a:rPr lang="en-US" sz="2000" dirty="0" err="1"/>
              <a:t>recvfrom</a:t>
            </a:r>
            <a:r>
              <a:rPr lang="en-US" sz="2000" dirty="0"/>
              <a:t>) → filled in with sender’s IP + port.</a:t>
            </a:r>
          </a:p>
        </p:txBody>
      </p:sp>
    </p:spTree>
    <p:extLst>
      <p:ext uri="{BB962C8B-B14F-4D97-AF65-F5344CB8AC3E}">
        <p14:creationId xmlns:p14="http://schemas.microsoft.com/office/powerpoint/2010/main" val="346143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2594</Words>
  <Application>Microsoft Macintosh PowerPoint</Application>
  <PresentationFormat>Widescreen</PresentationFormat>
  <Paragraphs>416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ＭＳ Ｐゴシック</vt:lpstr>
      <vt:lpstr>Arial</vt:lpstr>
      <vt:lpstr>Calibri</vt:lpstr>
      <vt:lpstr>Calibri Light</vt:lpstr>
      <vt:lpstr>Comic Sans MS</vt:lpstr>
      <vt:lpstr>Consolas</vt:lpstr>
      <vt:lpstr>Gill Sans MT</vt:lpstr>
      <vt:lpstr>Tahoma</vt:lpstr>
      <vt:lpstr>Times New Roman</vt:lpstr>
      <vt:lpstr>Wingdings</vt:lpstr>
      <vt:lpstr>ZapfDingbats</vt:lpstr>
      <vt:lpstr>Office Theme</vt:lpstr>
      <vt:lpstr>Application Layer: Overview</vt:lpstr>
      <vt:lpstr>Socket programming </vt:lpstr>
      <vt:lpstr>Socket programming</vt:lpstr>
      <vt:lpstr>Socket programming</vt:lpstr>
      <vt:lpstr>Socket programming </vt:lpstr>
      <vt:lpstr>Socket programming</vt:lpstr>
      <vt:lpstr>Socket programming with TCP</vt:lpstr>
      <vt:lpstr>Socket programming – Server (TCP)</vt:lpstr>
      <vt:lpstr>Socket programming – Server (TCP)</vt:lpstr>
      <vt:lpstr>Socket programming – Client (TCP)</vt:lpstr>
      <vt:lpstr>PowerPoint Presentation</vt:lpstr>
      <vt:lpstr>Client/server socket interaction: TCP</vt:lpstr>
      <vt:lpstr>Client/server socket interaction: TCP</vt:lpstr>
      <vt:lpstr>Client/server socket interaction: TCP</vt:lpstr>
      <vt:lpstr>Socket programming with UDP </vt:lpstr>
      <vt:lpstr>Client/server socket interaction: UDP</vt:lpstr>
      <vt:lpstr>Client/server socket interaction: UDP</vt:lpstr>
      <vt:lpstr>Client/server socket interaction: UDP</vt:lpstr>
      <vt:lpstr>Chapter 2: Summary</vt:lpstr>
      <vt:lpstr>Chapter 2: Summary</vt:lpstr>
      <vt:lpstr>Questions</vt:lpstr>
      <vt:lpstr>Socket Programming</vt:lpstr>
      <vt:lpstr>Socket Programming</vt:lpstr>
      <vt:lpstr>Socket Programming</vt:lpstr>
      <vt:lpstr>Socket programming with UDP – sendto/recvfrom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Ali Zeeshan</cp:lastModifiedBy>
  <cp:revision>14</cp:revision>
  <dcterms:created xsi:type="dcterms:W3CDTF">2024-08-13T06:07:40Z</dcterms:created>
  <dcterms:modified xsi:type="dcterms:W3CDTF">2025-09-14T12:19:03Z</dcterms:modified>
</cp:coreProperties>
</file>